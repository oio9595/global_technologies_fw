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3" r:id="rId47"/>
    <p:sldId id="302" r:id="rId48"/>
  </p:sldIdLst>
  <p:sldSz cx="6858000" cy="9906000" type="A4"/>
  <p:notesSz cx="6858000" cy="9906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4441" autoAdjust="0"/>
    <p:restoredTop sz="96076" autoAdjust="0"/>
  </p:normalViewPr>
  <p:slideViewPr>
    <p:cSldViewPr snapToGrid="0">
      <p:cViewPr>
        <p:scale>
          <a:sx n="125" d="100"/>
          <a:sy n="125" d="100"/>
        </p:scale>
        <p:origin x="2658" y="-354"/>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514350" y="3070860"/>
            <a:ext cx="5829300" cy="2080259"/>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028700" y="5547360"/>
            <a:ext cx="4800600" cy="2476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defRPr sz="1400" b="1" i="0">
                <a:solidFill>
                  <a:srgbClr val="FF0000"/>
                </a:solidFill>
                <a:latin typeface="Perpetua Titling MT"/>
                <a:cs typeface="Perpetua Titling MT"/>
              </a:defRPr>
            </a:lvl1pPr>
          </a:lstStyle>
          <a:p>
            <a:pPr marL="84455">
              <a:lnSpc>
                <a:spcPts val="1435"/>
              </a:lnSpc>
            </a:pPr>
            <a:r>
              <a:rPr dirty="0"/>
              <a:t>CONFIDENTIAL</a:t>
            </a:r>
          </a:p>
          <a:p>
            <a:pPr marL="12700">
              <a:lnSpc>
                <a:spcPct val="100000"/>
              </a:lnSpc>
              <a:spcBef>
                <a:spcPts val="960"/>
              </a:spcBef>
            </a:pPr>
            <a:r>
              <a:rPr sz="1050" b="0" dirty="0">
                <a:solidFill>
                  <a:srgbClr val="000000"/>
                </a:solidFill>
                <a:latin typeface="Arial"/>
                <a:cs typeface="Arial"/>
              </a:rPr>
              <a:t>Dated</a:t>
            </a:r>
            <a:r>
              <a:rPr sz="1050" b="0" spc="-30" dirty="0">
                <a:solidFill>
                  <a:srgbClr val="000000"/>
                </a:solidFill>
                <a:latin typeface="Arial"/>
                <a:cs typeface="Arial"/>
              </a:rPr>
              <a:t> </a:t>
            </a:r>
            <a:r>
              <a:rPr lang="en-US" sz="1050" b="0" dirty="0">
                <a:solidFill>
                  <a:srgbClr val="000000"/>
                </a:solidFill>
                <a:latin typeface="Arial"/>
                <a:cs typeface="Arial"/>
              </a:rPr>
              <a:t>July/04/2023 </a:t>
            </a:r>
            <a:r>
              <a:rPr sz="1050" b="0" spc="-5" dirty="0">
                <a:solidFill>
                  <a:srgbClr val="000000"/>
                </a:solidFill>
                <a:latin typeface="Arial"/>
                <a:cs typeface="Arial"/>
              </a:rPr>
              <a:t>Rev.</a:t>
            </a:r>
            <a:r>
              <a:rPr sz="1050" b="0" spc="-20" dirty="0">
                <a:solidFill>
                  <a:srgbClr val="000000"/>
                </a:solidFill>
                <a:latin typeface="Arial"/>
                <a:cs typeface="Arial"/>
              </a:rPr>
              <a:t> </a:t>
            </a:r>
            <a:r>
              <a:rPr sz="1050" b="0" dirty="0">
                <a:solidFill>
                  <a:srgbClr val="000000"/>
                </a:solidFill>
                <a:latin typeface="Arial"/>
                <a:cs typeface="Arial"/>
              </a:rPr>
              <a:t>0.0</a:t>
            </a:r>
            <a:endParaRPr sz="1050" dirty="0">
              <a:latin typeface="Arial"/>
              <a:cs typeface="Arial"/>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1/18/2024</a:t>
            </a:fld>
            <a:endParaRPr lang="en-US" dirty="0"/>
          </a:p>
        </p:txBody>
      </p:sp>
      <p:sp>
        <p:nvSpPr>
          <p:cNvPr id="6" name="Holder 6"/>
          <p:cNvSpPr>
            <a:spLocks noGrp="1"/>
          </p:cNvSpPr>
          <p:nvPr>
            <p:ph type="sldNum" sz="quarter" idx="7"/>
          </p:nvPr>
        </p:nvSpPr>
        <p:spPr/>
        <p:txBody>
          <a:bodyPr lIns="0" tIns="0" rIns="0" bIns="0"/>
          <a:lstStyle>
            <a:lvl1pPr>
              <a:defRPr sz="1050" b="0" i="0">
                <a:solidFill>
                  <a:schemeClr val="tx1"/>
                </a:solidFill>
                <a:latin typeface="Arial"/>
                <a:cs typeface="Arial"/>
              </a:defRPr>
            </a:lvl1pPr>
          </a:lstStyle>
          <a:p>
            <a:pPr marL="12700">
              <a:lnSpc>
                <a:spcPct val="100000"/>
              </a:lnSpc>
              <a:spcBef>
                <a:spcPts val="5"/>
              </a:spcBef>
            </a:pPr>
            <a:r>
              <a:rPr dirty="0"/>
              <a:t>Page</a:t>
            </a:r>
            <a:r>
              <a:rPr spc="-55" dirty="0"/>
              <a:t> </a:t>
            </a:r>
            <a:fld id="{81D60167-4931-47E6-BA6A-407CBD079E47}" type="slidenum">
              <a:rPr dirty="0"/>
              <a:t>‹#›</a:t>
            </a:fld>
            <a:endParaRPr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1" i="0">
                <a:solidFill>
                  <a:srgbClr val="7E7E7E"/>
                </a:solidFill>
                <a:latin typeface="Arial"/>
                <a:cs typeface="Arial"/>
              </a:defRPr>
            </a:lvl1pPr>
          </a:lstStyle>
          <a:p>
            <a:endParaRPr/>
          </a:p>
        </p:txBody>
      </p:sp>
      <p:sp>
        <p:nvSpPr>
          <p:cNvPr id="3" name="Holder 3"/>
          <p:cNvSpPr>
            <a:spLocks noGrp="1"/>
          </p:cNvSpPr>
          <p:nvPr>
            <p:ph type="body" idx="1"/>
          </p:nvPr>
        </p:nvSpPr>
        <p:spPr/>
        <p:txBody>
          <a:bodyPr lIns="0" tIns="0" rIns="0" bIns="0"/>
          <a:lstStyle>
            <a:lvl1pPr>
              <a:defRPr/>
            </a:lvl1pPr>
          </a:lstStyle>
          <a:p>
            <a:endParaRPr/>
          </a:p>
        </p:txBody>
      </p:sp>
      <p:sp>
        <p:nvSpPr>
          <p:cNvPr id="4" name="Holder 4"/>
          <p:cNvSpPr>
            <a:spLocks noGrp="1"/>
          </p:cNvSpPr>
          <p:nvPr>
            <p:ph type="ftr" sz="quarter" idx="5"/>
          </p:nvPr>
        </p:nvSpPr>
        <p:spPr/>
        <p:txBody>
          <a:bodyPr lIns="0" tIns="0" rIns="0" bIns="0"/>
          <a:lstStyle>
            <a:lvl1pPr>
              <a:defRPr sz="1400" b="1" i="0">
                <a:solidFill>
                  <a:srgbClr val="FF0000"/>
                </a:solidFill>
                <a:latin typeface="Perpetua Titling MT"/>
                <a:cs typeface="Perpetua Titling MT"/>
              </a:defRPr>
            </a:lvl1pPr>
          </a:lstStyle>
          <a:p>
            <a:pPr marL="84455">
              <a:lnSpc>
                <a:spcPts val="1435"/>
              </a:lnSpc>
            </a:pPr>
            <a:r>
              <a:rPr dirty="0"/>
              <a:t>CONFIDENTIAL</a:t>
            </a:r>
          </a:p>
          <a:p>
            <a:pPr marL="12700">
              <a:lnSpc>
                <a:spcPct val="100000"/>
              </a:lnSpc>
              <a:spcBef>
                <a:spcPts val="960"/>
              </a:spcBef>
            </a:pPr>
            <a:r>
              <a:rPr sz="1050" b="0" dirty="0">
                <a:solidFill>
                  <a:srgbClr val="000000"/>
                </a:solidFill>
                <a:latin typeface="Arial"/>
                <a:cs typeface="Arial"/>
              </a:rPr>
              <a:t>Dated</a:t>
            </a:r>
            <a:r>
              <a:rPr sz="1050" b="0" spc="-30" dirty="0">
                <a:solidFill>
                  <a:srgbClr val="000000"/>
                </a:solidFill>
                <a:latin typeface="Arial"/>
                <a:cs typeface="Arial"/>
              </a:rPr>
              <a:t> </a:t>
            </a:r>
            <a:r>
              <a:rPr lang="en-US" sz="1050" b="0" dirty="0">
                <a:solidFill>
                  <a:srgbClr val="000000"/>
                </a:solidFill>
                <a:latin typeface="Arial"/>
                <a:cs typeface="Arial"/>
              </a:rPr>
              <a:t>July/04/2023 </a:t>
            </a:r>
            <a:r>
              <a:rPr sz="1050" b="0" spc="-5" dirty="0">
                <a:solidFill>
                  <a:srgbClr val="000000"/>
                </a:solidFill>
                <a:latin typeface="Arial"/>
                <a:cs typeface="Arial"/>
              </a:rPr>
              <a:t>Rev.</a:t>
            </a:r>
            <a:r>
              <a:rPr sz="1050" b="0" spc="-20" dirty="0">
                <a:solidFill>
                  <a:srgbClr val="000000"/>
                </a:solidFill>
                <a:latin typeface="Arial"/>
                <a:cs typeface="Arial"/>
              </a:rPr>
              <a:t> </a:t>
            </a:r>
            <a:r>
              <a:rPr sz="1050" b="0" dirty="0">
                <a:solidFill>
                  <a:srgbClr val="000000"/>
                </a:solidFill>
                <a:latin typeface="Arial"/>
                <a:cs typeface="Arial"/>
              </a:rPr>
              <a:t>0.0</a:t>
            </a:r>
            <a:endParaRPr sz="1050" dirty="0">
              <a:latin typeface="Arial"/>
              <a:cs typeface="Arial"/>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1/18/2024</a:t>
            </a:fld>
            <a:endParaRPr lang="en-US" dirty="0"/>
          </a:p>
        </p:txBody>
      </p:sp>
      <p:sp>
        <p:nvSpPr>
          <p:cNvPr id="6" name="Holder 6"/>
          <p:cNvSpPr>
            <a:spLocks noGrp="1"/>
          </p:cNvSpPr>
          <p:nvPr>
            <p:ph type="sldNum" sz="quarter" idx="7"/>
          </p:nvPr>
        </p:nvSpPr>
        <p:spPr/>
        <p:txBody>
          <a:bodyPr lIns="0" tIns="0" rIns="0" bIns="0"/>
          <a:lstStyle>
            <a:lvl1pPr>
              <a:defRPr sz="1050" b="0" i="0">
                <a:solidFill>
                  <a:schemeClr val="tx1"/>
                </a:solidFill>
                <a:latin typeface="Arial"/>
                <a:cs typeface="Arial"/>
              </a:defRPr>
            </a:lvl1pPr>
          </a:lstStyle>
          <a:p>
            <a:pPr marL="12700">
              <a:lnSpc>
                <a:spcPct val="100000"/>
              </a:lnSpc>
              <a:spcBef>
                <a:spcPts val="5"/>
              </a:spcBef>
            </a:pPr>
            <a:r>
              <a:rPr dirty="0"/>
              <a:t>Page</a:t>
            </a:r>
            <a:r>
              <a:rPr spc="-55" dirty="0"/>
              <a:t> </a:t>
            </a:r>
            <a:fld id="{81D60167-4931-47E6-BA6A-407CBD079E47}" type="slidenum">
              <a:rPr dirty="0"/>
              <a:t>‹#›</a:t>
            </a:fld>
            <a:endParaRPr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1" i="0">
                <a:solidFill>
                  <a:srgbClr val="7E7E7E"/>
                </a:solidFill>
                <a:latin typeface="Arial"/>
                <a:cs typeface="Arial"/>
              </a:defRPr>
            </a:lvl1pPr>
          </a:lstStyle>
          <a:p>
            <a:endParaRPr/>
          </a:p>
        </p:txBody>
      </p:sp>
      <p:sp>
        <p:nvSpPr>
          <p:cNvPr id="3" name="Holder 3"/>
          <p:cNvSpPr>
            <a:spLocks noGrp="1"/>
          </p:cNvSpPr>
          <p:nvPr>
            <p:ph sz="half" idx="2"/>
          </p:nvPr>
        </p:nvSpPr>
        <p:spPr>
          <a:xfrm>
            <a:off x="342900" y="2278380"/>
            <a:ext cx="2983230" cy="653796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3531870" y="2278380"/>
            <a:ext cx="2983230" cy="653796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1400" b="1" i="0">
                <a:solidFill>
                  <a:srgbClr val="FF0000"/>
                </a:solidFill>
                <a:latin typeface="Perpetua Titling MT"/>
                <a:cs typeface="Perpetua Titling MT"/>
              </a:defRPr>
            </a:lvl1pPr>
          </a:lstStyle>
          <a:p>
            <a:pPr marL="84455">
              <a:lnSpc>
                <a:spcPts val="1435"/>
              </a:lnSpc>
            </a:pPr>
            <a:r>
              <a:rPr dirty="0"/>
              <a:t>CONFIDENTIAL</a:t>
            </a:r>
          </a:p>
          <a:p>
            <a:pPr marL="12700">
              <a:lnSpc>
                <a:spcPct val="100000"/>
              </a:lnSpc>
              <a:spcBef>
                <a:spcPts val="960"/>
              </a:spcBef>
            </a:pPr>
            <a:r>
              <a:rPr sz="1050" b="0" dirty="0">
                <a:solidFill>
                  <a:srgbClr val="000000"/>
                </a:solidFill>
                <a:latin typeface="Arial"/>
                <a:cs typeface="Arial"/>
              </a:rPr>
              <a:t>Dated</a:t>
            </a:r>
            <a:r>
              <a:rPr sz="1050" b="0" spc="-30" dirty="0">
                <a:solidFill>
                  <a:srgbClr val="000000"/>
                </a:solidFill>
                <a:latin typeface="Arial"/>
                <a:cs typeface="Arial"/>
              </a:rPr>
              <a:t> </a:t>
            </a:r>
            <a:r>
              <a:rPr lang="en-US" sz="1050" b="0" dirty="0">
                <a:solidFill>
                  <a:srgbClr val="000000"/>
                </a:solidFill>
                <a:latin typeface="Arial"/>
                <a:cs typeface="Arial"/>
              </a:rPr>
              <a:t>July/04/2023 </a:t>
            </a:r>
            <a:r>
              <a:rPr sz="1050" b="0" spc="-5" dirty="0">
                <a:solidFill>
                  <a:srgbClr val="000000"/>
                </a:solidFill>
                <a:latin typeface="Arial"/>
                <a:cs typeface="Arial"/>
              </a:rPr>
              <a:t>Rev.</a:t>
            </a:r>
            <a:r>
              <a:rPr sz="1050" b="0" spc="-20" dirty="0">
                <a:solidFill>
                  <a:srgbClr val="000000"/>
                </a:solidFill>
                <a:latin typeface="Arial"/>
                <a:cs typeface="Arial"/>
              </a:rPr>
              <a:t> </a:t>
            </a:r>
            <a:r>
              <a:rPr sz="1050" b="0" dirty="0">
                <a:solidFill>
                  <a:srgbClr val="000000"/>
                </a:solidFill>
                <a:latin typeface="Arial"/>
                <a:cs typeface="Arial"/>
              </a:rPr>
              <a:t>0.0</a:t>
            </a:r>
            <a:endParaRPr sz="1050" dirty="0">
              <a:latin typeface="Arial"/>
              <a:cs typeface="Arial"/>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1/18/2024</a:t>
            </a:fld>
            <a:endParaRPr lang="en-US" dirty="0"/>
          </a:p>
        </p:txBody>
      </p:sp>
      <p:sp>
        <p:nvSpPr>
          <p:cNvPr id="7" name="Holder 7"/>
          <p:cNvSpPr>
            <a:spLocks noGrp="1"/>
          </p:cNvSpPr>
          <p:nvPr>
            <p:ph type="sldNum" sz="quarter" idx="7"/>
          </p:nvPr>
        </p:nvSpPr>
        <p:spPr/>
        <p:txBody>
          <a:bodyPr lIns="0" tIns="0" rIns="0" bIns="0"/>
          <a:lstStyle>
            <a:lvl1pPr>
              <a:defRPr sz="1050" b="0" i="0">
                <a:solidFill>
                  <a:schemeClr val="tx1"/>
                </a:solidFill>
                <a:latin typeface="Arial"/>
                <a:cs typeface="Arial"/>
              </a:defRPr>
            </a:lvl1pPr>
          </a:lstStyle>
          <a:p>
            <a:pPr marL="12700">
              <a:lnSpc>
                <a:spcPct val="100000"/>
              </a:lnSpc>
              <a:spcBef>
                <a:spcPts val="5"/>
              </a:spcBef>
            </a:pPr>
            <a:r>
              <a:rPr dirty="0"/>
              <a:t>Page</a:t>
            </a:r>
            <a:r>
              <a:rPr spc="-55" dirty="0"/>
              <a:t> </a:t>
            </a:r>
            <a:fld id="{81D60167-4931-47E6-BA6A-407CBD079E47}" type="slidenum">
              <a:rPr dirty="0"/>
              <a:t>‹#›</a:t>
            </a:fld>
            <a:endParaRPr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1" i="0">
                <a:solidFill>
                  <a:srgbClr val="7E7E7E"/>
                </a:solidFill>
                <a:latin typeface="Arial"/>
                <a:cs typeface="Arial"/>
              </a:defRPr>
            </a:lvl1pPr>
          </a:lstStyle>
          <a:p>
            <a:endParaRPr/>
          </a:p>
        </p:txBody>
      </p:sp>
      <p:sp>
        <p:nvSpPr>
          <p:cNvPr id="3" name="Holder 3"/>
          <p:cNvSpPr>
            <a:spLocks noGrp="1"/>
          </p:cNvSpPr>
          <p:nvPr>
            <p:ph type="ftr" sz="quarter" idx="5"/>
          </p:nvPr>
        </p:nvSpPr>
        <p:spPr/>
        <p:txBody>
          <a:bodyPr lIns="0" tIns="0" rIns="0" bIns="0"/>
          <a:lstStyle>
            <a:lvl1pPr>
              <a:defRPr sz="1400" b="1" i="0">
                <a:solidFill>
                  <a:srgbClr val="FF0000"/>
                </a:solidFill>
                <a:latin typeface="Perpetua Titling MT"/>
                <a:cs typeface="Perpetua Titling MT"/>
              </a:defRPr>
            </a:lvl1pPr>
          </a:lstStyle>
          <a:p>
            <a:pPr marL="84455">
              <a:lnSpc>
                <a:spcPts val="1435"/>
              </a:lnSpc>
            </a:pPr>
            <a:r>
              <a:rPr dirty="0"/>
              <a:t>CONFIDENTIAL</a:t>
            </a:r>
          </a:p>
          <a:p>
            <a:pPr marL="12700">
              <a:lnSpc>
                <a:spcPct val="100000"/>
              </a:lnSpc>
              <a:spcBef>
                <a:spcPts val="960"/>
              </a:spcBef>
            </a:pPr>
            <a:r>
              <a:rPr sz="1050" b="0" dirty="0">
                <a:solidFill>
                  <a:srgbClr val="000000"/>
                </a:solidFill>
                <a:latin typeface="Arial"/>
                <a:cs typeface="Arial"/>
              </a:rPr>
              <a:t>Dated</a:t>
            </a:r>
            <a:r>
              <a:rPr sz="1050" b="0" spc="-30" dirty="0">
                <a:solidFill>
                  <a:srgbClr val="000000"/>
                </a:solidFill>
                <a:latin typeface="Arial"/>
                <a:cs typeface="Arial"/>
              </a:rPr>
              <a:t> </a:t>
            </a:r>
            <a:r>
              <a:rPr lang="en-US" sz="1050" b="0" dirty="0">
                <a:solidFill>
                  <a:srgbClr val="000000"/>
                </a:solidFill>
                <a:latin typeface="Arial"/>
                <a:cs typeface="Arial"/>
              </a:rPr>
              <a:t>July/04/2023 </a:t>
            </a:r>
            <a:r>
              <a:rPr sz="1050" b="0" spc="-5" dirty="0">
                <a:solidFill>
                  <a:srgbClr val="000000"/>
                </a:solidFill>
                <a:latin typeface="Arial"/>
                <a:cs typeface="Arial"/>
              </a:rPr>
              <a:t>Rev.</a:t>
            </a:r>
            <a:r>
              <a:rPr sz="1050" b="0" spc="-20" dirty="0">
                <a:solidFill>
                  <a:srgbClr val="000000"/>
                </a:solidFill>
                <a:latin typeface="Arial"/>
                <a:cs typeface="Arial"/>
              </a:rPr>
              <a:t> </a:t>
            </a:r>
            <a:r>
              <a:rPr sz="1050" b="0" dirty="0">
                <a:solidFill>
                  <a:srgbClr val="000000"/>
                </a:solidFill>
                <a:latin typeface="Arial"/>
                <a:cs typeface="Arial"/>
              </a:rPr>
              <a:t>0.0</a:t>
            </a:r>
            <a:endParaRPr sz="1050" dirty="0">
              <a:latin typeface="Arial"/>
              <a:cs typeface="Arial"/>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1/18/2024</a:t>
            </a:fld>
            <a:endParaRPr lang="en-US" dirty="0"/>
          </a:p>
        </p:txBody>
      </p:sp>
      <p:sp>
        <p:nvSpPr>
          <p:cNvPr id="5" name="Holder 5"/>
          <p:cNvSpPr>
            <a:spLocks noGrp="1"/>
          </p:cNvSpPr>
          <p:nvPr>
            <p:ph type="sldNum" sz="quarter" idx="7"/>
          </p:nvPr>
        </p:nvSpPr>
        <p:spPr/>
        <p:txBody>
          <a:bodyPr lIns="0" tIns="0" rIns="0" bIns="0"/>
          <a:lstStyle>
            <a:lvl1pPr>
              <a:defRPr sz="1050" b="0" i="0">
                <a:solidFill>
                  <a:schemeClr val="tx1"/>
                </a:solidFill>
                <a:latin typeface="Arial"/>
                <a:cs typeface="Arial"/>
              </a:defRPr>
            </a:lvl1pPr>
          </a:lstStyle>
          <a:p>
            <a:pPr marL="12700">
              <a:lnSpc>
                <a:spcPct val="100000"/>
              </a:lnSpc>
              <a:spcBef>
                <a:spcPts val="5"/>
              </a:spcBef>
            </a:pPr>
            <a:r>
              <a:rPr dirty="0"/>
              <a:t>Page</a:t>
            </a:r>
            <a:r>
              <a:rPr spc="-55" dirty="0"/>
              <a:t> </a:t>
            </a:r>
            <a:fld id="{81D60167-4931-47E6-BA6A-407CBD079E47}" type="slidenum">
              <a:rPr dirty="0"/>
              <a:t>‹#›</a:t>
            </a:fld>
            <a:endParaRPr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1400" b="1" i="0">
                <a:solidFill>
                  <a:srgbClr val="FF0000"/>
                </a:solidFill>
                <a:latin typeface="Perpetua Titling MT"/>
                <a:cs typeface="Perpetua Titling MT"/>
              </a:defRPr>
            </a:lvl1pPr>
          </a:lstStyle>
          <a:p>
            <a:pPr marL="84455">
              <a:lnSpc>
                <a:spcPts val="1435"/>
              </a:lnSpc>
            </a:pPr>
            <a:r>
              <a:rPr dirty="0"/>
              <a:t>CONFIDENTIAL</a:t>
            </a:r>
          </a:p>
          <a:p>
            <a:pPr marL="12700">
              <a:lnSpc>
                <a:spcPct val="100000"/>
              </a:lnSpc>
              <a:spcBef>
                <a:spcPts val="960"/>
              </a:spcBef>
            </a:pPr>
            <a:r>
              <a:rPr sz="1050" b="0" dirty="0">
                <a:solidFill>
                  <a:srgbClr val="000000"/>
                </a:solidFill>
                <a:latin typeface="Arial"/>
                <a:cs typeface="Arial"/>
              </a:rPr>
              <a:t>Dated</a:t>
            </a:r>
            <a:r>
              <a:rPr sz="1050" b="0" spc="-30" dirty="0">
                <a:solidFill>
                  <a:srgbClr val="000000"/>
                </a:solidFill>
                <a:latin typeface="Arial"/>
                <a:cs typeface="Arial"/>
              </a:rPr>
              <a:t> </a:t>
            </a:r>
            <a:r>
              <a:rPr lang="en-US" sz="1050" b="0" dirty="0">
                <a:solidFill>
                  <a:srgbClr val="000000"/>
                </a:solidFill>
                <a:latin typeface="Arial"/>
                <a:cs typeface="Arial"/>
              </a:rPr>
              <a:t>July/04/2023 </a:t>
            </a:r>
            <a:r>
              <a:rPr sz="1050" b="0" spc="-5" dirty="0">
                <a:solidFill>
                  <a:srgbClr val="000000"/>
                </a:solidFill>
                <a:latin typeface="Arial"/>
                <a:cs typeface="Arial"/>
              </a:rPr>
              <a:t>Rev.</a:t>
            </a:r>
            <a:r>
              <a:rPr sz="1050" b="0" spc="-20" dirty="0">
                <a:solidFill>
                  <a:srgbClr val="000000"/>
                </a:solidFill>
                <a:latin typeface="Arial"/>
                <a:cs typeface="Arial"/>
              </a:rPr>
              <a:t> </a:t>
            </a:r>
            <a:r>
              <a:rPr sz="1050" b="0" dirty="0">
                <a:solidFill>
                  <a:srgbClr val="000000"/>
                </a:solidFill>
                <a:latin typeface="Arial"/>
                <a:cs typeface="Arial"/>
              </a:rPr>
              <a:t>0.0</a:t>
            </a:r>
            <a:endParaRPr sz="1050" dirty="0">
              <a:latin typeface="Arial"/>
              <a:cs typeface="Arial"/>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1/18/2024</a:t>
            </a:fld>
            <a:endParaRPr lang="en-US" dirty="0"/>
          </a:p>
        </p:txBody>
      </p:sp>
      <p:sp>
        <p:nvSpPr>
          <p:cNvPr id="4" name="Holder 4"/>
          <p:cNvSpPr>
            <a:spLocks noGrp="1"/>
          </p:cNvSpPr>
          <p:nvPr>
            <p:ph type="sldNum" sz="quarter" idx="7"/>
          </p:nvPr>
        </p:nvSpPr>
        <p:spPr/>
        <p:txBody>
          <a:bodyPr lIns="0" tIns="0" rIns="0" bIns="0"/>
          <a:lstStyle>
            <a:lvl1pPr>
              <a:defRPr sz="1050" b="0" i="0">
                <a:solidFill>
                  <a:schemeClr val="tx1"/>
                </a:solidFill>
                <a:latin typeface="Arial"/>
                <a:cs typeface="Arial"/>
              </a:defRPr>
            </a:lvl1pPr>
          </a:lstStyle>
          <a:p>
            <a:pPr marL="12700">
              <a:lnSpc>
                <a:spcPct val="100000"/>
              </a:lnSpc>
              <a:spcBef>
                <a:spcPts val="5"/>
              </a:spcBef>
            </a:pPr>
            <a:r>
              <a:rPr dirty="0"/>
              <a:t>Page</a:t>
            </a:r>
            <a:r>
              <a:rPr spc="-55" dirty="0"/>
              <a:t> </a:t>
            </a:r>
            <a:fld id="{81D60167-4931-47E6-BA6A-407CBD079E47}" type="slidenum">
              <a:rPr dirty="0"/>
              <a:t>‹#›</a:t>
            </a:fld>
            <a:endParaRPr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405384" y="637031"/>
            <a:ext cx="6049010" cy="0"/>
          </a:xfrm>
          <a:custGeom>
            <a:avLst/>
            <a:gdLst/>
            <a:ahLst/>
            <a:cxnLst/>
            <a:rect l="l" t="t" r="r" b="b"/>
            <a:pathLst>
              <a:path w="6049010">
                <a:moveTo>
                  <a:pt x="0" y="0"/>
                </a:moveTo>
                <a:lnTo>
                  <a:pt x="6048629" y="0"/>
                </a:lnTo>
              </a:path>
            </a:pathLst>
          </a:custGeom>
          <a:ln w="6350">
            <a:solidFill>
              <a:srgbClr val="000000"/>
            </a:solidFill>
          </a:ln>
        </p:spPr>
        <p:txBody>
          <a:bodyPr wrap="square" lIns="0" tIns="0" rIns="0" bIns="0" rtlCol="0"/>
          <a:lstStyle/>
          <a:p>
            <a:endParaRPr dirty="0"/>
          </a:p>
        </p:txBody>
      </p:sp>
      <p:sp>
        <p:nvSpPr>
          <p:cNvPr id="2" name="Holder 2"/>
          <p:cNvSpPr>
            <a:spLocks noGrp="1"/>
          </p:cNvSpPr>
          <p:nvPr>
            <p:ph type="title"/>
          </p:nvPr>
        </p:nvSpPr>
        <p:spPr>
          <a:xfrm>
            <a:off x="2610357" y="1599437"/>
            <a:ext cx="1637284" cy="513714"/>
          </a:xfrm>
          <a:prstGeom prst="rect">
            <a:avLst/>
          </a:prstGeom>
        </p:spPr>
        <p:txBody>
          <a:bodyPr wrap="square" lIns="0" tIns="0" rIns="0" bIns="0">
            <a:spAutoFit/>
          </a:bodyPr>
          <a:lstStyle>
            <a:lvl1pPr>
              <a:defRPr sz="3200" b="1" i="0">
                <a:solidFill>
                  <a:srgbClr val="7E7E7E"/>
                </a:solidFill>
                <a:latin typeface="Arial"/>
                <a:cs typeface="Arial"/>
              </a:defRPr>
            </a:lvl1pPr>
          </a:lstStyle>
          <a:p>
            <a:endParaRPr/>
          </a:p>
        </p:txBody>
      </p:sp>
      <p:sp>
        <p:nvSpPr>
          <p:cNvPr id="3" name="Holder 3"/>
          <p:cNvSpPr>
            <a:spLocks noGrp="1"/>
          </p:cNvSpPr>
          <p:nvPr>
            <p:ph type="body" idx="1"/>
          </p:nvPr>
        </p:nvSpPr>
        <p:spPr>
          <a:xfrm>
            <a:off x="342900" y="2278380"/>
            <a:ext cx="6172200" cy="653796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392684" y="9260001"/>
            <a:ext cx="1764030" cy="478790"/>
          </a:xfrm>
          <a:prstGeom prst="rect">
            <a:avLst/>
          </a:prstGeom>
        </p:spPr>
        <p:txBody>
          <a:bodyPr wrap="square" lIns="0" tIns="0" rIns="0" bIns="0">
            <a:spAutoFit/>
          </a:bodyPr>
          <a:lstStyle>
            <a:lvl1pPr>
              <a:defRPr sz="1400" b="1" i="0">
                <a:solidFill>
                  <a:srgbClr val="FF0000"/>
                </a:solidFill>
                <a:latin typeface="Perpetua Titling MT"/>
                <a:cs typeface="Perpetua Titling MT"/>
              </a:defRPr>
            </a:lvl1pPr>
          </a:lstStyle>
          <a:p>
            <a:pPr marL="84455">
              <a:lnSpc>
                <a:spcPts val="1435"/>
              </a:lnSpc>
            </a:pPr>
            <a:r>
              <a:rPr dirty="0"/>
              <a:t>CONFIDENTIAL</a:t>
            </a:r>
          </a:p>
          <a:p>
            <a:pPr marL="12700">
              <a:lnSpc>
                <a:spcPct val="100000"/>
              </a:lnSpc>
              <a:spcBef>
                <a:spcPts val="960"/>
              </a:spcBef>
            </a:pPr>
            <a:r>
              <a:rPr sz="1050" b="0" dirty="0">
                <a:solidFill>
                  <a:srgbClr val="000000"/>
                </a:solidFill>
                <a:latin typeface="Arial"/>
                <a:cs typeface="Arial"/>
              </a:rPr>
              <a:t>Dated</a:t>
            </a:r>
            <a:r>
              <a:rPr sz="1050" b="0" spc="-30" dirty="0">
                <a:solidFill>
                  <a:srgbClr val="000000"/>
                </a:solidFill>
                <a:latin typeface="Arial"/>
                <a:cs typeface="Arial"/>
              </a:rPr>
              <a:t> </a:t>
            </a:r>
            <a:r>
              <a:rPr lang="en-US" sz="1050" b="0" dirty="0">
                <a:solidFill>
                  <a:srgbClr val="000000"/>
                </a:solidFill>
                <a:latin typeface="Arial"/>
                <a:cs typeface="Arial"/>
              </a:rPr>
              <a:t>July/04/2023 </a:t>
            </a:r>
            <a:r>
              <a:rPr sz="1050" b="0" spc="-5" dirty="0">
                <a:solidFill>
                  <a:srgbClr val="000000"/>
                </a:solidFill>
                <a:latin typeface="Arial"/>
                <a:cs typeface="Arial"/>
              </a:rPr>
              <a:t>Rev.</a:t>
            </a:r>
            <a:r>
              <a:rPr sz="1050" b="0" spc="-20" dirty="0">
                <a:solidFill>
                  <a:srgbClr val="000000"/>
                </a:solidFill>
                <a:latin typeface="Arial"/>
                <a:cs typeface="Arial"/>
              </a:rPr>
              <a:t> </a:t>
            </a:r>
            <a:r>
              <a:rPr sz="1050" b="0" dirty="0">
                <a:solidFill>
                  <a:srgbClr val="000000"/>
                </a:solidFill>
                <a:latin typeface="Arial"/>
                <a:cs typeface="Arial"/>
              </a:rPr>
              <a:t>0.0</a:t>
            </a:r>
            <a:endParaRPr sz="1050" dirty="0">
              <a:latin typeface="Arial"/>
              <a:cs typeface="Arial"/>
            </a:endParaRPr>
          </a:p>
        </p:txBody>
      </p:sp>
      <p:sp>
        <p:nvSpPr>
          <p:cNvPr id="5" name="Holder 5"/>
          <p:cNvSpPr>
            <a:spLocks noGrp="1"/>
          </p:cNvSpPr>
          <p:nvPr>
            <p:ph type="dt" sz="half" idx="6"/>
          </p:nvPr>
        </p:nvSpPr>
        <p:spPr>
          <a:xfrm>
            <a:off x="342900" y="9212580"/>
            <a:ext cx="1577340" cy="4953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1/18/2024</a:t>
            </a:fld>
            <a:endParaRPr lang="en-US" dirty="0"/>
          </a:p>
        </p:txBody>
      </p:sp>
      <p:sp>
        <p:nvSpPr>
          <p:cNvPr id="6" name="Holder 6"/>
          <p:cNvSpPr>
            <a:spLocks noGrp="1"/>
          </p:cNvSpPr>
          <p:nvPr>
            <p:ph type="sldNum" sz="quarter" idx="7"/>
          </p:nvPr>
        </p:nvSpPr>
        <p:spPr>
          <a:xfrm>
            <a:off x="3167888" y="9563103"/>
            <a:ext cx="562610" cy="175259"/>
          </a:xfrm>
          <a:prstGeom prst="rect">
            <a:avLst/>
          </a:prstGeom>
        </p:spPr>
        <p:txBody>
          <a:bodyPr wrap="square" lIns="0" tIns="0" rIns="0" bIns="0">
            <a:spAutoFit/>
          </a:bodyPr>
          <a:lstStyle>
            <a:lvl1pPr>
              <a:defRPr sz="1050" b="0" i="0">
                <a:solidFill>
                  <a:schemeClr val="tx1"/>
                </a:solidFill>
                <a:latin typeface="Arial"/>
                <a:cs typeface="Arial"/>
              </a:defRPr>
            </a:lvl1pPr>
          </a:lstStyle>
          <a:p>
            <a:pPr marL="12700">
              <a:lnSpc>
                <a:spcPct val="100000"/>
              </a:lnSpc>
              <a:spcBef>
                <a:spcPts val="5"/>
              </a:spcBef>
            </a:pPr>
            <a:r>
              <a:rPr dirty="0"/>
              <a:t>Page</a:t>
            </a:r>
            <a:r>
              <a:rPr spc="-55" dirty="0"/>
              <a:t> </a:t>
            </a:r>
            <a:fld id="{81D60167-4931-47E6-BA6A-407CBD079E47}" type="slidenum">
              <a:rPr dirty="0"/>
              <a:t>‹#›</a:t>
            </a:fld>
            <a:endParaRPr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glbltech.com/" TargetMode="External"/><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hyperlink" Target="http://glbltech.com/" TargetMode="Externa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Layout" Target="../slideLayouts/slideLayout5.xml"/><Relationship Id="rId4" Type="http://schemas.openxmlformats.org/officeDocument/2006/relationships/hyperlink" Target="http://glbltech.com/" TargetMode="External"/></Relationships>
</file>

<file path=ppt/slides/_rels/slide4.xml.rels><?xml version="1.0" encoding="UTF-8" standalone="yes"?>
<Relationships xmlns="http://schemas.openxmlformats.org/package/2006/relationships"><Relationship Id="rId3" Type="http://schemas.openxmlformats.org/officeDocument/2006/relationships/hyperlink" Target="http://glbltech.com/" TargetMode="External"/><Relationship Id="rId2" Type="http://schemas.openxmlformats.org/officeDocument/2006/relationships/image" Target="../media/image4.jpg"/><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hyperlink" Target="http://glbltech.com/" TargetMode="Externa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hyperlink" Target="http://glbltech.com/" TargetMode="Externa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5.xml"/><Relationship Id="rId5" Type="http://schemas.openxmlformats.org/officeDocument/2006/relationships/hyperlink" Target="http://glbltech.com/" TargetMode="Externa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5.xml"/><Relationship Id="rId5" Type="http://schemas.openxmlformats.org/officeDocument/2006/relationships/hyperlink" Target="http://glbltech.com/" TargetMode="Externa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2" Type="http://schemas.openxmlformats.org/officeDocument/2006/relationships/hyperlink" Target="http://glbltech.com/" TargetMode="Externa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hyperlink" Target="http://glbltech.com/" TargetMode="Externa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hyperlink" Target="http://glbltech.com/" TargetMode="Externa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hyperlink" Target="http://glbltech.com/" TargetMode="Externa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hyperlink" Target="http://glbltech.com/" TargetMode="External"/><Relationship Id="rId2" Type="http://schemas.openxmlformats.org/officeDocument/2006/relationships/image" Target="../media/image10.png"/><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hyperlink" Target="http://glbltech.com/" TargetMode="External"/><Relationship Id="rId2" Type="http://schemas.openxmlformats.org/officeDocument/2006/relationships/image" Target="../media/image11.png"/><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5.xml"/><Relationship Id="rId6" Type="http://schemas.openxmlformats.org/officeDocument/2006/relationships/image" Target="../media/image15.png"/><Relationship Id="rId5" Type="http://schemas.openxmlformats.org/officeDocument/2006/relationships/hyperlink" Target="http://glbltech.com/" TargetMode="External"/><Relationship Id="rId4" Type="http://schemas.openxmlformats.org/officeDocument/2006/relationships/image" Target="../media/image14.png"/></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5.xml"/><Relationship Id="rId5" Type="http://schemas.openxmlformats.org/officeDocument/2006/relationships/hyperlink" Target="http://glbltech.com/" TargetMode="External"/><Relationship Id="rId4" Type="http://schemas.openxmlformats.org/officeDocument/2006/relationships/image" Target="../media/image18.png"/></Relationships>
</file>

<file path=ppt/slides/_rels/slide1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5.xml"/><Relationship Id="rId4" Type="http://schemas.openxmlformats.org/officeDocument/2006/relationships/hyperlink" Target="http://glbltech.com/" TargetMode="External"/></Relationships>
</file>

<file path=ppt/slides/_rels/slide1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5.xml"/><Relationship Id="rId4" Type="http://schemas.openxmlformats.org/officeDocument/2006/relationships/hyperlink" Target="http://glbltech.com/" TargetMode="External"/></Relationships>
</file>

<file path=ppt/slides/_rels/slide1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5.xml"/><Relationship Id="rId4" Type="http://schemas.openxmlformats.org/officeDocument/2006/relationships/hyperlink" Target="http://glbltech.com/" TargetMode="External"/></Relationships>
</file>

<file path=ppt/slides/_rels/slide2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5.xml"/><Relationship Id="rId5" Type="http://schemas.openxmlformats.org/officeDocument/2006/relationships/hyperlink" Target="http://glbltech.com/" TargetMode="External"/><Relationship Id="rId4" Type="http://schemas.openxmlformats.org/officeDocument/2006/relationships/image" Target="../media/image25.png"/></Relationships>
</file>

<file path=ppt/slides/_rels/slide21.xml.rels><?xml version="1.0" encoding="UTF-8" standalone="yes"?>
<Relationships xmlns="http://schemas.openxmlformats.org/package/2006/relationships"><Relationship Id="rId3" Type="http://schemas.openxmlformats.org/officeDocument/2006/relationships/hyperlink" Target="http://glbltech.com/" TargetMode="External"/><Relationship Id="rId2" Type="http://schemas.openxmlformats.org/officeDocument/2006/relationships/image" Target="../media/image26.png"/><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3" Type="http://schemas.openxmlformats.org/officeDocument/2006/relationships/image" Target="../media/image28.jpg"/><Relationship Id="rId2" Type="http://schemas.openxmlformats.org/officeDocument/2006/relationships/image" Target="../media/image27.jpg"/><Relationship Id="rId1" Type="http://schemas.openxmlformats.org/officeDocument/2006/relationships/slideLayout" Target="../slideLayouts/slideLayout5.xml"/><Relationship Id="rId4" Type="http://schemas.openxmlformats.org/officeDocument/2006/relationships/hyperlink" Target="http://glbltech.com/" TargetMode="External"/></Relationships>
</file>

<file path=ppt/slides/_rels/slide23.xml.rels><?xml version="1.0" encoding="UTF-8" standalone="yes"?>
<Relationships xmlns="http://schemas.openxmlformats.org/package/2006/relationships"><Relationship Id="rId3" Type="http://schemas.openxmlformats.org/officeDocument/2006/relationships/image" Target="../media/image30.jpg"/><Relationship Id="rId2" Type="http://schemas.openxmlformats.org/officeDocument/2006/relationships/image" Target="../media/image29.jpg"/><Relationship Id="rId1" Type="http://schemas.openxmlformats.org/officeDocument/2006/relationships/slideLayout" Target="../slideLayouts/slideLayout5.xml"/><Relationship Id="rId6" Type="http://schemas.openxmlformats.org/officeDocument/2006/relationships/hyperlink" Target="http://glbltech.com/" TargetMode="External"/><Relationship Id="rId5" Type="http://schemas.openxmlformats.org/officeDocument/2006/relationships/image" Target="../media/image32.jpg"/><Relationship Id="rId4" Type="http://schemas.openxmlformats.org/officeDocument/2006/relationships/image" Target="../media/image31.jpg"/></Relationships>
</file>

<file path=ppt/slides/_rels/slide2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5.xml"/><Relationship Id="rId5" Type="http://schemas.openxmlformats.org/officeDocument/2006/relationships/hyperlink" Target="http://glbltech.com/" TargetMode="External"/><Relationship Id="rId4" Type="http://schemas.openxmlformats.org/officeDocument/2006/relationships/image" Target="../media/image35.png"/></Relationships>
</file>

<file path=ppt/slides/_rels/slide2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5.xml"/><Relationship Id="rId4" Type="http://schemas.openxmlformats.org/officeDocument/2006/relationships/hyperlink" Target="http://glbltech.com/" TargetMode="External"/></Relationships>
</file>

<file path=ppt/slides/_rels/slide26.xml.rels><?xml version="1.0" encoding="UTF-8" standalone="yes"?>
<Relationships xmlns="http://schemas.openxmlformats.org/package/2006/relationships"><Relationship Id="rId3" Type="http://schemas.openxmlformats.org/officeDocument/2006/relationships/hyperlink" Target="http://glbltech.com/" TargetMode="External"/><Relationship Id="rId2" Type="http://schemas.openxmlformats.org/officeDocument/2006/relationships/image" Target="../media/image38.png"/><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3" Type="http://schemas.openxmlformats.org/officeDocument/2006/relationships/hyperlink" Target="http://glbltech.com/" TargetMode="External"/><Relationship Id="rId2" Type="http://schemas.openxmlformats.org/officeDocument/2006/relationships/image" Target="../media/image39.png"/><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5.xml"/><Relationship Id="rId4" Type="http://schemas.openxmlformats.org/officeDocument/2006/relationships/hyperlink" Target="http://glbltech.com/" TargetMode="External"/></Relationships>
</file>

<file path=ppt/slides/_rels/slide29.xml.rels><?xml version="1.0" encoding="UTF-8" standalone="yes"?>
<Relationships xmlns="http://schemas.openxmlformats.org/package/2006/relationships"><Relationship Id="rId3" Type="http://schemas.openxmlformats.org/officeDocument/2006/relationships/hyperlink" Target="http://glbltech.com/" TargetMode="External"/><Relationship Id="rId2" Type="http://schemas.openxmlformats.org/officeDocument/2006/relationships/image" Target="../media/image42.png"/><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2" Type="http://schemas.openxmlformats.org/officeDocument/2006/relationships/hyperlink" Target="http://glbltech.com/" TargetMode="Externa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2" Type="http://schemas.openxmlformats.org/officeDocument/2006/relationships/hyperlink" Target="http://glbltech.com/" TargetMode="External"/><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2" Type="http://schemas.openxmlformats.org/officeDocument/2006/relationships/hyperlink" Target="http://glbltech.com/" TargetMode="External"/><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2" Type="http://schemas.openxmlformats.org/officeDocument/2006/relationships/hyperlink" Target="http://glbltech.com/" TargetMode="Externa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2" Type="http://schemas.openxmlformats.org/officeDocument/2006/relationships/hyperlink" Target="http://glbltech.com/" TargetMode="External"/><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2" Type="http://schemas.openxmlformats.org/officeDocument/2006/relationships/hyperlink" Target="http://glbltech.com/" TargetMode="External"/><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2" Type="http://schemas.openxmlformats.org/officeDocument/2006/relationships/hyperlink" Target="http://glbltech.com/" TargetMode="External"/><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2" Type="http://schemas.openxmlformats.org/officeDocument/2006/relationships/hyperlink" Target="http://glbltech.com/" TargetMode="External"/><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2" Type="http://schemas.openxmlformats.org/officeDocument/2006/relationships/hyperlink" Target="http://glbltech.com/" TargetMode="External"/><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2" Type="http://schemas.openxmlformats.org/officeDocument/2006/relationships/hyperlink" Target="http://glbltech.com/" TargetMode="External"/><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2" Type="http://schemas.openxmlformats.org/officeDocument/2006/relationships/hyperlink" Target="http://glbltech.com/" TargetMode="External"/><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2" Type="http://schemas.openxmlformats.org/officeDocument/2006/relationships/hyperlink" Target="http://glbltech.com/" TargetMode="External"/><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2" Type="http://schemas.openxmlformats.org/officeDocument/2006/relationships/hyperlink" Target="http://glbltech.com/" TargetMode="External"/><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2" Type="http://schemas.openxmlformats.org/officeDocument/2006/relationships/hyperlink" Target="http://glbltech.com/" TargetMode="External"/><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2" Type="http://schemas.openxmlformats.org/officeDocument/2006/relationships/hyperlink" Target="http://glbltech.com/" TargetMode="External"/><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3" Type="http://schemas.openxmlformats.org/officeDocument/2006/relationships/image" Target="../media/image43.png"/><Relationship Id="rId7" Type="http://schemas.openxmlformats.org/officeDocument/2006/relationships/image" Target="../media/image47.png"/><Relationship Id="rId2" Type="http://schemas.openxmlformats.org/officeDocument/2006/relationships/hyperlink" Target="http://glbltech.com/" TargetMode="External"/><Relationship Id="rId1" Type="http://schemas.openxmlformats.org/officeDocument/2006/relationships/slideLayout" Target="../slideLayouts/slideLayout5.xml"/><Relationship Id="rId6" Type="http://schemas.openxmlformats.org/officeDocument/2006/relationships/image" Target="../media/image46.png"/><Relationship Id="rId5" Type="http://schemas.openxmlformats.org/officeDocument/2006/relationships/image" Target="../media/image45.png"/><Relationship Id="rId4" Type="http://schemas.openxmlformats.org/officeDocument/2006/relationships/image" Target="../media/image44.png"/></Relationships>
</file>

<file path=ppt/slides/_rels/slide46.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hyperlink" Target="http://glbltech.com/" TargetMode="External"/><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3" Type="http://schemas.openxmlformats.org/officeDocument/2006/relationships/hyperlink" Target="http://glbltech.com/" TargetMode="External"/><Relationship Id="rId2" Type="http://schemas.openxmlformats.org/officeDocument/2006/relationships/image" Target="../media/image49.png"/><Relationship Id="rId1" Type="http://schemas.openxmlformats.org/officeDocument/2006/relationships/slideLayout" Target="../slideLayouts/slideLayout5.xml"/><Relationship Id="rId4" Type="http://schemas.openxmlformats.org/officeDocument/2006/relationships/image" Target="../media/image50.png"/></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610357" y="1599437"/>
            <a:ext cx="1088390" cy="513715"/>
          </a:xfrm>
          <a:prstGeom prst="rect">
            <a:avLst/>
          </a:prstGeom>
        </p:spPr>
        <p:txBody>
          <a:bodyPr vert="horz" wrap="square" lIns="0" tIns="12700" rIns="0" bIns="0" rtlCol="0">
            <a:spAutoFit/>
          </a:bodyPr>
          <a:lstStyle/>
          <a:p>
            <a:pPr marL="12700">
              <a:lnSpc>
                <a:spcPct val="100000"/>
              </a:lnSpc>
              <a:spcBef>
                <a:spcPts val="100"/>
              </a:spcBef>
            </a:pPr>
            <a:r>
              <a:rPr dirty="0"/>
              <a:t>CQ24</a:t>
            </a:r>
          </a:p>
        </p:txBody>
      </p:sp>
      <p:sp>
        <p:nvSpPr>
          <p:cNvPr id="3" name="object 3"/>
          <p:cNvSpPr txBox="1"/>
          <p:nvPr/>
        </p:nvSpPr>
        <p:spPr>
          <a:xfrm>
            <a:off x="2610357" y="2238248"/>
            <a:ext cx="3678554" cy="565150"/>
          </a:xfrm>
          <a:prstGeom prst="rect">
            <a:avLst/>
          </a:prstGeom>
        </p:spPr>
        <p:txBody>
          <a:bodyPr vert="horz" wrap="square" lIns="0" tIns="12700" rIns="0" bIns="0" rtlCol="0">
            <a:spAutoFit/>
          </a:bodyPr>
          <a:lstStyle/>
          <a:p>
            <a:pPr marL="23495">
              <a:lnSpc>
                <a:spcPct val="100000"/>
              </a:lnSpc>
              <a:spcBef>
                <a:spcPts val="100"/>
              </a:spcBef>
            </a:pPr>
            <a:r>
              <a:rPr sz="1400" b="1" spc="-5" dirty="0">
                <a:solidFill>
                  <a:srgbClr val="7E7E7E"/>
                </a:solidFill>
                <a:latin typeface="Arial"/>
                <a:cs typeface="Arial"/>
              </a:rPr>
              <a:t>The</a:t>
            </a:r>
            <a:r>
              <a:rPr sz="1400" b="1" spc="-10" dirty="0">
                <a:solidFill>
                  <a:srgbClr val="7E7E7E"/>
                </a:solidFill>
                <a:latin typeface="Arial"/>
                <a:cs typeface="Arial"/>
              </a:rPr>
              <a:t> </a:t>
            </a:r>
            <a:r>
              <a:rPr sz="1400" b="1" spc="-5" dirty="0">
                <a:solidFill>
                  <a:srgbClr val="7E7E7E"/>
                </a:solidFill>
                <a:latin typeface="Arial"/>
                <a:cs typeface="Arial"/>
              </a:rPr>
              <a:t>Controller</a:t>
            </a:r>
            <a:r>
              <a:rPr sz="1400" b="1" spc="-40" dirty="0">
                <a:solidFill>
                  <a:srgbClr val="7E7E7E"/>
                </a:solidFill>
                <a:latin typeface="Arial"/>
                <a:cs typeface="Arial"/>
              </a:rPr>
              <a:t> </a:t>
            </a:r>
            <a:r>
              <a:rPr sz="1400" b="1" spc="-5" dirty="0">
                <a:solidFill>
                  <a:srgbClr val="7E7E7E"/>
                </a:solidFill>
                <a:latin typeface="Arial"/>
                <a:cs typeface="Arial"/>
              </a:rPr>
              <a:t>for </a:t>
            </a:r>
            <a:r>
              <a:rPr sz="1400" b="1" spc="-20" dirty="0">
                <a:solidFill>
                  <a:srgbClr val="7E7E7E"/>
                </a:solidFill>
                <a:latin typeface="Arial"/>
                <a:cs typeface="Arial"/>
              </a:rPr>
              <a:t>Voltage</a:t>
            </a:r>
            <a:r>
              <a:rPr sz="1400" b="1" spc="-30" dirty="0">
                <a:solidFill>
                  <a:srgbClr val="7E7E7E"/>
                </a:solidFill>
                <a:latin typeface="Arial"/>
                <a:cs typeface="Arial"/>
              </a:rPr>
              <a:t> </a:t>
            </a:r>
            <a:r>
              <a:rPr sz="1400" b="1" dirty="0">
                <a:solidFill>
                  <a:srgbClr val="7E7E7E"/>
                </a:solidFill>
                <a:latin typeface="Arial"/>
                <a:cs typeface="Arial"/>
              </a:rPr>
              <a:t>to</a:t>
            </a:r>
            <a:r>
              <a:rPr sz="1400" b="1" spc="-10" dirty="0">
                <a:solidFill>
                  <a:srgbClr val="7E7E7E"/>
                </a:solidFill>
                <a:latin typeface="Arial"/>
                <a:cs typeface="Arial"/>
              </a:rPr>
              <a:t> </a:t>
            </a:r>
            <a:r>
              <a:rPr sz="1400" b="1" spc="-5" dirty="0">
                <a:solidFill>
                  <a:srgbClr val="7E7E7E"/>
                </a:solidFill>
                <a:latin typeface="Arial"/>
                <a:cs typeface="Arial"/>
              </a:rPr>
              <a:t>Current</a:t>
            </a:r>
            <a:r>
              <a:rPr sz="1400" b="1" spc="-15" dirty="0">
                <a:solidFill>
                  <a:srgbClr val="7E7E7E"/>
                </a:solidFill>
                <a:latin typeface="Arial"/>
                <a:cs typeface="Arial"/>
              </a:rPr>
              <a:t> </a:t>
            </a:r>
            <a:r>
              <a:rPr sz="1400" b="1" spc="-5" dirty="0">
                <a:solidFill>
                  <a:srgbClr val="7E7E7E"/>
                </a:solidFill>
                <a:latin typeface="Arial"/>
                <a:cs typeface="Arial"/>
              </a:rPr>
              <a:t>Driver</a:t>
            </a:r>
            <a:endParaRPr sz="1400" dirty="0">
              <a:latin typeface="Arial"/>
              <a:cs typeface="Arial"/>
            </a:endParaRPr>
          </a:p>
          <a:p>
            <a:pPr marL="12700">
              <a:lnSpc>
                <a:spcPct val="100000"/>
              </a:lnSpc>
              <a:spcBef>
                <a:spcPts val="1245"/>
              </a:spcBef>
            </a:pPr>
            <a:r>
              <a:rPr sz="1100" b="1" dirty="0">
                <a:solidFill>
                  <a:srgbClr val="7E7E7E"/>
                </a:solidFill>
                <a:latin typeface="Arial"/>
                <a:cs typeface="Arial"/>
              </a:rPr>
              <a:t>24</a:t>
            </a:r>
            <a:r>
              <a:rPr sz="1100" b="1" spc="-40" dirty="0">
                <a:solidFill>
                  <a:srgbClr val="7E7E7E"/>
                </a:solidFill>
                <a:latin typeface="Arial"/>
                <a:cs typeface="Arial"/>
              </a:rPr>
              <a:t> </a:t>
            </a:r>
            <a:r>
              <a:rPr sz="1100" b="1" spc="-5" dirty="0">
                <a:solidFill>
                  <a:srgbClr val="7E7E7E"/>
                </a:solidFill>
                <a:latin typeface="Arial"/>
                <a:cs typeface="Arial"/>
              </a:rPr>
              <a:t>Channels</a:t>
            </a:r>
            <a:endParaRPr sz="1100" dirty="0">
              <a:latin typeface="Arial"/>
              <a:cs typeface="Arial"/>
            </a:endParaRPr>
          </a:p>
        </p:txBody>
      </p:sp>
      <p:sp>
        <p:nvSpPr>
          <p:cNvPr id="6" name="object 6"/>
          <p:cNvSpPr txBox="1"/>
          <p:nvPr/>
        </p:nvSpPr>
        <p:spPr>
          <a:xfrm>
            <a:off x="380796" y="3890898"/>
            <a:ext cx="1714500" cy="239395"/>
          </a:xfrm>
          <a:prstGeom prst="rect">
            <a:avLst/>
          </a:prstGeom>
        </p:spPr>
        <p:txBody>
          <a:bodyPr vert="horz" wrap="square" lIns="0" tIns="13335" rIns="0" bIns="0" rtlCol="0">
            <a:spAutoFit/>
          </a:bodyPr>
          <a:lstStyle/>
          <a:p>
            <a:pPr marL="12700">
              <a:lnSpc>
                <a:spcPct val="100000"/>
              </a:lnSpc>
              <a:spcBef>
                <a:spcPts val="105"/>
              </a:spcBef>
            </a:pPr>
            <a:r>
              <a:rPr sz="1400" b="1" dirty="0">
                <a:latin typeface="Arial"/>
                <a:cs typeface="Arial"/>
              </a:rPr>
              <a:t>General</a:t>
            </a:r>
            <a:r>
              <a:rPr sz="1400" b="1" spc="-70" dirty="0">
                <a:latin typeface="Arial"/>
                <a:cs typeface="Arial"/>
              </a:rPr>
              <a:t> </a:t>
            </a:r>
            <a:r>
              <a:rPr sz="1400" b="1" spc="-5" dirty="0">
                <a:latin typeface="Arial"/>
                <a:cs typeface="Arial"/>
              </a:rPr>
              <a:t>Description</a:t>
            </a:r>
            <a:endParaRPr sz="1400" dirty="0">
              <a:latin typeface="Arial"/>
              <a:cs typeface="Arial"/>
            </a:endParaRPr>
          </a:p>
        </p:txBody>
      </p:sp>
      <p:sp>
        <p:nvSpPr>
          <p:cNvPr id="7" name="object 7"/>
          <p:cNvSpPr txBox="1"/>
          <p:nvPr/>
        </p:nvSpPr>
        <p:spPr>
          <a:xfrm>
            <a:off x="2610357" y="3971927"/>
            <a:ext cx="3866847" cy="3219311"/>
          </a:xfrm>
          <a:prstGeom prst="rect">
            <a:avLst/>
          </a:prstGeom>
        </p:spPr>
        <p:txBody>
          <a:bodyPr vert="horz" wrap="square" lIns="0" tIns="0" rIns="0" bIns="0" rtlCol="0">
            <a:noAutofit/>
          </a:bodyPr>
          <a:lstStyle/>
          <a:p>
            <a:pPr marL="12700" marR="50165" algn="just">
              <a:lnSpc>
                <a:spcPct val="100000"/>
              </a:lnSpc>
              <a:spcBef>
                <a:spcPts val="95"/>
              </a:spcBef>
            </a:pPr>
            <a:r>
              <a:rPr sz="1000" dirty="0">
                <a:latin typeface="Arial"/>
                <a:cs typeface="Arial"/>
              </a:rPr>
              <a:t>The</a:t>
            </a:r>
            <a:r>
              <a:rPr sz="1000" spc="-20" dirty="0">
                <a:latin typeface="Arial"/>
                <a:cs typeface="Arial"/>
              </a:rPr>
              <a:t> </a:t>
            </a:r>
            <a:r>
              <a:rPr sz="1000" spc="-5" dirty="0">
                <a:latin typeface="Arial"/>
                <a:cs typeface="Arial"/>
              </a:rPr>
              <a:t>CQ24</a:t>
            </a:r>
            <a:r>
              <a:rPr sz="1000" spc="-20" dirty="0">
                <a:latin typeface="Arial"/>
                <a:cs typeface="Arial"/>
              </a:rPr>
              <a:t> </a:t>
            </a:r>
            <a:r>
              <a:rPr sz="1000" spc="-5" dirty="0">
                <a:latin typeface="Arial"/>
                <a:cs typeface="Arial"/>
              </a:rPr>
              <a:t>is</a:t>
            </a:r>
            <a:r>
              <a:rPr sz="1000" spc="15" dirty="0">
                <a:latin typeface="Arial"/>
                <a:cs typeface="Arial"/>
              </a:rPr>
              <a:t> </a:t>
            </a:r>
            <a:r>
              <a:rPr sz="1000" spc="-5" dirty="0">
                <a:latin typeface="Arial"/>
                <a:cs typeface="Arial"/>
              </a:rPr>
              <a:t>a</a:t>
            </a:r>
            <a:r>
              <a:rPr sz="1000" spc="-20" dirty="0">
                <a:latin typeface="Arial"/>
                <a:cs typeface="Arial"/>
              </a:rPr>
              <a:t> </a:t>
            </a:r>
            <a:r>
              <a:rPr sz="1000" dirty="0">
                <a:latin typeface="Arial"/>
                <a:cs typeface="Arial"/>
              </a:rPr>
              <a:t>high-performance</a:t>
            </a:r>
            <a:r>
              <a:rPr sz="1000" spc="-40" dirty="0">
                <a:latin typeface="Arial"/>
                <a:cs typeface="Arial"/>
              </a:rPr>
              <a:t> </a:t>
            </a:r>
            <a:r>
              <a:rPr sz="1000" spc="-5" dirty="0">
                <a:latin typeface="Arial"/>
                <a:cs typeface="Arial"/>
              </a:rPr>
              <a:t>local</a:t>
            </a:r>
            <a:r>
              <a:rPr sz="1000" spc="5" dirty="0">
                <a:latin typeface="Arial"/>
                <a:cs typeface="Arial"/>
              </a:rPr>
              <a:t> </a:t>
            </a:r>
            <a:r>
              <a:rPr sz="1000" dirty="0">
                <a:latin typeface="Arial"/>
                <a:cs typeface="Arial"/>
              </a:rPr>
              <a:t>dimming</a:t>
            </a:r>
            <a:r>
              <a:rPr sz="1000" spc="-25" dirty="0">
                <a:latin typeface="Arial"/>
                <a:cs typeface="Arial"/>
              </a:rPr>
              <a:t> </a:t>
            </a:r>
            <a:r>
              <a:rPr sz="1000" spc="-5" dirty="0">
                <a:latin typeface="Arial"/>
                <a:cs typeface="Arial"/>
              </a:rPr>
              <a:t>dedicated controller </a:t>
            </a:r>
            <a:r>
              <a:rPr sz="1000" spc="-260" dirty="0">
                <a:latin typeface="Arial"/>
                <a:cs typeface="Arial"/>
              </a:rPr>
              <a:t> </a:t>
            </a:r>
            <a:r>
              <a:rPr sz="1000" spc="-5" dirty="0">
                <a:latin typeface="Arial"/>
                <a:cs typeface="Arial"/>
              </a:rPr>
              <a:t>featuring 24 channels to drive its companion chips, AQ06 and AQ08 </a:t>
            </a:r>
            <a:r>
              <a:rPr sz="1000" spc="-265" dirty="0">
                <a:latin typeface="Arial"/>
                <a:cs typeface="Arial"/>
              </a:rPr>
              <a:t> </a:t>
            </a:r>
            <a:r>
              <a:rPr sz="1000" spc="-10" dirty="0">
                <a:latin typeface="Arial"/>
                <a:cs typeface="Arial"/>
              </a:rPr>
              <a:t>LED</a:t>
            </a:r>
            <a:r>
              <a:rPr sz="1000" spc="-5" dirty="0">
                <a:latin typeface="Arial"/>
                <a:cs typeface="Arial"/>
              </a:rPr>
              <a:t> drivers</a:t>
            </a:r>
            <a:r>
              <a:rPr sz="1000" spc="20" dirty="0">
                <a:latin typeface="Arial"/>
                <a:cs typeface="Arial"/>
              </a:rPr>
              <a:t> </a:t>
            </a:r>
            <a:r>
              <a:rPr sz="1000" spc="-5" dirty="0">
                <a:latin typeface="Arial"/>
                <a:cs typeface="Arial"/>
              </a:rPr>
              <a:t>that act</a:t>
            </a:r>
            <a:r>
              <a:rPr sz="1000" spc="-10" dirty="0">
                <a:latin typeface="Arial"/>
                <a:cs typeface="Arial"/>
              </a:rPr>
              <a:t> </a:t>
            </a:r>
            <a:r>
              <a:rPr sz="1000" spc="-5" dirty="0">
                <a:latin typeface="Arial"/>
                <a:cs typeface="Arial"/>
              </a:rPr>
              <a:t>as</a:t>
            </a:r>
            <a:r>
              <a:rPr sz="1000" spc="-15" dirty="0">
                <a:latin typeface="Arial"/>
                <a:cs typeface="Arial"/>
              </a:rPr>
              <a:t> </a:t>
            </a:r>
            <a:r>
              <a:rPr sz="1000" spc="-5" dirty="0">
                <a:latin typeface="Arial"/>
                <a:cs typeface="Arial"/>
              </a:rPr>
              <a:t>the</a:t>
            </a:r>
            <a:r>
              <a:rPr sz="1000" dirty="0">
                <a:latin typeface="Arial"/>
                <a:cs typeface="Arial"/>
              </a:rPr>
              <a:t> </a:t>
            </a:r>
            <a:r>
              <a:rPr sz="1000" spc="-5" dirty="0">
                <a:latin typeface="Arial"/>
                <a:cs typeface="Arial"/>
              </a:rPr>
              <a:t>voltage-based</a:t>
            </a:r>
            <a:r>
              <a:rPr sz="1000" dirty="0">
                <a:latin typeface="Arial"/>
                <a:cs typeface="Arial"/>
              </a:rPr>
              <a:t> </a:t>
            </a:r>
            <a:r>
              <a:rPr sz="1000" spc="-10" dirty="0">
                <a:latin typeface="Arial"/>
                <a:cs typeface="Arial"/>
              </a:rPr>
              <a:t>low</a:t>
            </a:r>
            <a:r>
              <a:rPr sz="1000" spc="5" dirty="0">
                <a:latin typeface="Arial"/>
                <a:cs typeface="Arial"/>
              </a:rPr>
              <a:t> </a:t>
            </a:r>
            <a:r>
              <a:rPr sz="1000" spc="-5" dirty="0">
                <a:latin typeface="Arial"/>
                <a:cs typeface="Arial"/>
              </a:rPr>
              <a:t>side</a:t>
            </a:r>
            <a:r>
              <a:rPr sz="1000" dirty="0">
                <a:latin typeface="Arial"/>
                <a:cs typeface="Arial"/>
              </a:rPr>
              <a:t> </a:t>
            </a:r>
            <a:r>
              <a:rPr sz="1000" spc="-5" dirty="0">
                <a:latin typeface="Arial"/>
                <a:cs typeface="Arial"/>
              </a:rPr>
              <a:t>current</a:t>
            </a:r>
            <a:r>
              <a:rPr sz="1000" spc="-15" dirty="0">
                <a:latin typeface="Arial"/>
                <a:cs typeface="Arial"/>
              </a:rPr>
              <a:t> </a:t>
            </a:r>
            <a:r>
              <a:rPr sz="1000" spc="-5" dirty="0">
                <a:latin typeface="Arial"/>
                <a:cs typeface="Arial"/>
              </a:rPr>
              <a:t>sink</a:t>
            </a:r>
            <a:r>
              <a:rPr sz="1000" spc="5" dirty="0">
                <a:latin typeface="Arial"/>
                <a:cs typeface="Arial"/>
              </a:rPr>
              <a:t> </a:t>
            </a:r>
            <a:r>
              <a:rPr sz="1000" dirty="0">
                <a:latin typeface="Arial"/>
                <a:cs typeface="Arial"/>
              </a:rPr>
              <a:t>for </a:t>
            </a:r>
            <a:r>
              <a:rPr sz="1000" spc="5" dirty="0">
                <a:latin typeface="Arial"/>
                <a:cs typeface="Arial"/>
              </a:rPr>
              <a:t> </a:t>
            </a:r>
            <a:r>
              <a:rPr sz="1000" dirty="0">
                <a:latin typeface="Arial"/>
                <a:cs typeface="Arial"/>
              </a:rPr>
              <a:t>White</a:t>
            </a:r>
            <a:r>
              <a:rPr sz="1000" spc="-50" dirty="0">
                <a:latin typeface="Arial"/>
                <a:cs typeface="Arial"/>
              </a:rPr>
              <a:t> </a:t>
            </a:r>
            <a:r>
              <a:rPr sz="1000" spc="-10" dirty="0">
                <a:latin typeface="Arial"/>
                <a:cs typeface="Arial"/>
              </a:rPr>
              <a:t>LED</a:t>
            </a:r>
            <a:r>
              <a:rPr sz="1000" spc="10" dirty="0">
                <a:latin typeface="Arial"/>
                <a:cs typeface="Arial"/>
              </a:rPr>
              <a:t> </a:t>
            </a:r>
            <a:r>
              <a:rPr sz="1000" spc="-5" dirty="0">
                <a:latin typeface="Arial"/>
                <a:cs typeface="Arial"/>
              </a:rPr>
              <a:t>back-lighting</a:t>
            </a:r>
            <a:r>
              <a:rPr sz="1000" spc="-20" dirty="0">
                <a:latin typeface="Arial"/>
                <a:cs typeface="Arial"/>
              </a:rPr>
              <a:t> </a:t>
            </a:r>
            <a:r>
              <a:rPr sz="1000" spc="-5" dirty="0">
                <a:latin typeface="Arial"/>
                <a:cs typeface="Arial"/>
              </a:rPr>
              <a:t>solution.</a:t>
            </a:r>
            <a:endParaRPr lang="en-US" sz="1000" spc="-5" dirty="0">
              <a:latin typeface="Arial"/>
              <a:cs typeface="Arial"/>
            </a:endParaRPr>
          </a:p>
          <a:p>
            <a:pPr marL="12700" marR="50165" algn="just">
              <a:lnSpc>
                <a:spcPct val="100000"/>
              </a:lnSpc>
              <a:spcBef>
                <a:spcPts val="95"/>
              </a:spcBef>
            </a:pPr>
            <a:endParaRPr lang="en-US" sz="1000" spc="-5" dirty="0">
              <a:latin typeface="Arial"/>
              <a:cs typeface="Arial"/>
            </a:endParaRPr>
          </a:p>
          <a:p>
            <a:pPr marL="12700" marR="50165" algn="just">
              <a:lnSpc>
                <a:spcPct val="100000"/>
              </a:lnSpc>
              <a:spcBef>
                <a:spcPts val="95"/>
              </a:spcBef>
            </a:pPr>
            <a:r>
              <a:rPr lang="en-US" sz="1000" dirty="0">
                <a:latin typeface="Arial"/>
                <a:cs typeface="Arial"/>
              </a:rPr>
              <a:t>This controller can show high-quality local dimming performance in active-matrix type together with AQ06 or AQ08 driver and can drive maximum 128 sub-frames for high-resolution back-lighting.</a:t>
            </a:r>
          </a:p>
          <a:p>
            <a:pPr marL="12700" algn="just">
              <a:lnSpc>
                <a:spcPct val="100000"/>
              </a:lnSpc>
              <a:spcBef>
                <a:spcPts val="95"/>
              </a:spcBef>
            </a:pPr>
            <a:endParaRPr lang="en-US" altLang="ko-KR" sz="1000" dirty="0">
              <a:latin typeface="Arial"/>
              <a:cs typeface="Arial"/>
            </a:endParaRPr>
          </a:p>
          <a:p>
            <a:pPr marL="12700" algn="just">
              <a:lnSpc>
                <a:spcPct val="100000"/>
              </a:lnSpc>
              <a:spcBef>
                <a:spcPts val="95"/>
              </a:spcBef>
            </a:pPr>
            <a:r>
              <a:rPr lang="en-US" altLang="ko-KR" sz="1000" dirty="0">
                <a:latin typeface="Arial"/>
                <a:cs typeface="Arial"/>
              </a:rPr>
              <a:t>The SPI input data of each CQ24 can support to be connected in a daisy chain method for large scale back-light LED block array and perate up to maximum 30MHz.</a:t>
            </a:r>
          </a:p>
          <a:p>
            <a:pPr marL="12700" algn="just">
              <a:lnSpc>
                <a:spcPct val="100000"/>
              </a:lnSpc>
              <a:spcBef>
                <a:spcPts val="95"/>
              </a:spcBef>
            </a:pPr>
            <a:endParaRPr lang="en-US" altLang="ko-KR" sz="1000" dirty="0">
              <a:latin typeface="Arial"/>
              <a:cs typeface="Arial"/>
            </a:endParaRPr>
          </a:p>
          <a:p>
            <a:pPr algn="just">
              <a:lnSpc>
                <a:spcPct val="100000"/>
              </a:lnSpc>
              <a:spcBef>
                <a:spcPts val="50"/>
              </a:spcBef>
            </a:pPr>
            <a:r>
              <a:rPr lang="en-US" altLang="ko-KR" sz="1000" dirty="0">
                <a:latin typeface="Arial"/>
                <a:cs typeface="Arial"/>
              </a:rPr>
              <a:t>Each channel is quipped with a 12-bit DAC for fine current dimming and its independent 12-bit global reference DAC to set each frame’s max current level so that those combination can support maximum 16,383-step current dimming control.</a:t>
            </a:r>
          </a:p>
          <a:p>
            <a:pPr algn="just">
              <a:lnSpc>
                <a:spcPct val="100000"/>
              </a:lnSpc>
              <a:spcBef>
                <a:spcPts val="50"/>
              </a:spcBef>
            </a:pPr>
            <a:endParaRPr lang="en-US" altLang="ko-KR" sz="1000" dirty="0">
              <a:latin typeface="Arial"/>
              <a:cs typeface="Arial"/>
            </a:endParaRPr>
          </a:p>
          <a:p>
            <a:pPr algn="just">
              <a:lnSpc>
                <a:spcPct val="100000"/>
              </a:lnSpc>
              <a:spcBef>
                <a:spcPts val="50"/>
              </a:spcBef>
            </a:pPr>
            <a:r>
              <a:rPr lang="en-US" altLang="ko-KR" sz="1000" dirty="0">
                <a:latin typeface="Arial"/>
                <a:cs typeface="Arial"/>
              </a:rPr>
              <a:t>The main clock can be supported internally or an external clock source.</a:t>
            </a:r>
            <a:endParaRPr sz="1000" dirty="0">
              <a:latin typeface="Arial"/>
              <a:cs typeface="Arial"/>
            </a:endParaRPr>
          </a:p>
        </p:txBody>
      </p:sp>
      <p:sp>
        <p:nvSpPr>
          <p:cNvPr id="9" name="object 9"/>
          <p:cNvSpPr txBox="1"/>
          <p:nvPr/>
        </p:nvSpPr>
        <p:spPr>
          <a:xfrm>
            <a:off x="228600" y="228600"/>
            <a:ext cx="2078355" cy="289823"/>
          </a:xfrm>
          <a:prstGeom prst="rect">
            <a:avLst/>
          </a:prstGeom>
        </p:spPr>
        <p:txBody>
          <a:bodyPr vert="horz" wrap="square" lIns="0" tIns="12700" rIns="0" bIns="0" rtlCol="0">
            <a:spAutoFit/>
          </a:bodyPr>
          <a:lstStyle/>
          <a:p>
            <a:pPr marL="12700">
              <a:lnSpc>
                <a:spcPct val="100000"/>
              </a:lnSpc>
              <a:spcBef>
                <a:spcPts val="100"/>
              </a:spcBef>
            </a:pPr>
            <a:r>
              <a:rPr b="1" spc="-5" dirty="0">
                <a:solidFill>
                  <a:srgbClr val="FF0000"/>
                </a:solidFill>
                <a:cs typeface="Perpetua Titling MT"/>
              </a:rPr>
              <a:t>CONFIDENTIAL</a:t>
            </a:r>
            <a:endParaRPr dirty="0">
              <a:cs typeface="Perpetua Titling MT"/>
            </a:endParaRPr>
          </a:p>
        </p:txBody>
      </p:sp>
      <p:sp>
        <p:nvSpPr>
          <p:cNvPr id="10" name="object 10"/>
          <p:cNvSpPr txBox="1"/>
          <p:nvPr/>
        </p:nvSpPr>
        <p:spPr>
          <a:xfrm>
            <a:off x="380796" y="7466838"/>
            <a:ext cx="990600" cy="239395"/>
          </a:xfrm>
          <a:prstGeom prst="rect">
            <a:avLst/>
          </a:prstGeom>
        </p:spPr>
        <p:txBody>
          <a:bodyPr vert="horz" wrap="square" lIns="0" tIns="12700" rIns="0" bIns="0" rtlCol="0">
            <a:spAutoFit/>
          </a:bodyPr>
          <a:lstStyle/>
          <a:p>
            <a:pPr marL="12700">
              <a:lnSpc>
                <a:spcPct val="100000"/>
              </a:lnSpc>
              <a:spcBef>
                <a:spcPts val="100"/>
              </a:spcBef>
            </a:pPr>
            <a:r>
              <a:rPr sz="1400" b="1" spc="-45" dirty="0">
                <a:latin typeface="Arial"/>
                <a:cs typeface="Arial"/>
              </a:rPr>
              <a:t>A</a:t>
            </a:r>
            <a:r>
              <a:rPr sz="1400" b="1" spc="-10" dirty="0">
                <a:latin typeface="Arial"/>
                <a:cs typeface="Arial"/>
              </a:rPr>
              <a:t>pp</a:t>
            </a:r>
            <a:r>
              <a:rPr sz="1400" b="1" dirty="0">
                <a:latin typeface="Arial"/>
                <a:cs typeface="Arial"/>
              </a:rPr>
              <a:t>licati</a:t>
            </a:r>
            <a:r>
              <a:rPr sz="1400" b="1" spc="-10" dirty="0">
                <a:latin typeface="Arial"/>
                <a:cs typeface="Arial"/>
              </a:rPr>
              <a:t>o</a:t>
            </a:r>
            <a:r>
              <a:rPr sz="1400" b="1" dirty="0">
                <a:latin typeface="Arial"/>
                <a:cs typeface="Arial"/>
              </a:rPr>
              <a:t>n</a:t>
            </a:r>
            <a:endParaRPr sz="1400" dirty="0">
              <a:latin typeface="Arial"/>
              <a:cs typeface="Arial"/>
            </a:endParaRPr>
          </a:p>
        </p:txBody>
      </p:sp>
      <p:sp>
        <p:nvSpPr>
          <p:cNvPr id="11" name="object 11"/>
          <p:cNvSpPr txBox="1"/>
          <p:nvPr/>
        </p:nvSpPr>
        <p:spPr>
          <a:xfrm>
            <a:off x="2621660" y="7526528"/>
            <a:ext cx="2204720" cy="177800"/>
          </a:xfrm>
          <a:prstGeom prst="rect">
            <a:avLst/>
          </a:prstGeom>
        </p:spPr>
        <p:txBody>
          <a:bodyPr vert="horz" wrap="square" lIns="0" tIns="12065" rIns="0" bIns="0" rtlCol="0">
            <a:spAutoFit/>
          </a:bodyPr>
          <a:lstStyle/>
          <a:p>
            <a:pPr marL="12700">
              <a:lnSpc>
                <a:spcPct val="100000"/>
              </a:lnSpc>
              <a:spcBef>
                <a:spcPts val="95"/>
              </a:spcBef>
            </a:pPr>
            <a:r>
              <a:rPr sz="1000" spc="-10" dirty="0">
                <a:latin typeface="Arial"/>
                <a:cs typeface="Arial"/>
              </a:rPr>
              <a:t>LED </a:t>
            </a:r>
            <a:r>
              <a:rPr sz="1000" spc="-5" dirty="0">
                <a:latin typeface="Arial"/>
                <a:cs typeface="Arial"/>
              </a:rPr>
              <a:t>back-lighting</a:t>
            </a:r>
            <a:r>
              <a:rPr sz="1000" spc="-10" dirty="0">
                <a:latin typeface="Arial"/>
                <a:cs typeface="Arial"/>
              </a:rPr>
              <a:t> with</a:t>
            </a:r>
            <a:r>
              <a:rPr sz="1000" spc="15" dirty="0">
                <a:latin typeface="Arial"/>
                <a:cs typeface="Arial"/>
              </a:rPr>
              <a:t> </a:t>
            </a:r>
            <a:r>
              <a:rPr sz="1000" dirty="0">
                <a:latin typeface="Arial"/>
                <a:cs typeface="Arial"/>
              </a:rPr>
              <a:t>dimming</a:t>
            </a:r>
            <a:r>
              <a:rPr sz="1000" spc="-35" dirty="0">
                <a:latin typeface="Arial"/>
                <a:cs typeface="Arial"/>
              </a:rPr>
              <a:t> </a:t>
            </a:r>
            <a:r>
              <a:rPr sz="1000" spc="-5" dirty="0">
                <a:latin typeface="Arial"/>
                <a:cs typeface="Arial"/>
              </a:rPr>
              <a:t>control</a:t>
            </a:r>
            <a:endParaRPr sz="1000" dirty="0">
              <a:latin typeface="Arial"/>
              <a:cs typeface="Arial"/>
            </a:endParaRPr>
          </a:p>
        </p:txBody>
      </p:sp>
      <p:grpSp>
        <p:nvGrpSpPr>
          <p:cNvPr id="18" name="그룹 17">
            <a:extLst>
              <a:ext uri="{FF2B5EF4-FFF2-40B4-BE49-F238E27FC236}">
                <a16:creationId xmlns:a16="http://schemas.microsoft.com/office/drawing/2014/main" id="{D2499BCE-7E4F-53DE-D923-3E6644F06006}"/>
              </a:ext>
            </a:extLst>
          </p:cNvPr>
          <p:cNvGrpSpPr/>
          <p:nvPr/>
        </p:nvGrpSpPr>
        <p:grpSpPr>
          <a:xfrm>
            <a:off x="4386792" y="337728"/>
            <a:ext cx="2132781" cy="769004"/>
            <a:chOff x="4136310" y="299116"/>
            <a:chExt cx="2597866" cy="873507"/>
          </a:xfrm>
        </p:grpSpPr>
        <p:pic>
          <p:nvPicPr>
            <p:cNvPr id="19" name="그림 18">
              <a:extLst>
                <a:ext uri="{FF2B5EF4-FFF2-40B4-BE49-F238E27FC236}">
                  <a16:creationId xmlns:a16="http://schemas.microsoft.com/office/drawing/2014/main" id="{F65541BB-D7BB-7DB1-4583-84888338E798}"/>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4136310" y="299116"/>
              <a:ext cx="639895" cy="873507"/>
            </a:xfrm>
            <a:prstGeom prst="rect">
              <a:avLst/>
            </a:prstGeom>
          </p:spPr>
        </p:pic>
        <p:sp>
          <p:nvSpPr>
            <p:cNvPr id="20" name="TextBox 19">
              <a:extLst>
                <a:ext uri="{FF2B5EF4-FFF2-40B4-BE49-F238E27FC236}">
                  <a16:creationId xmlns:a16="http://schemas.microsoft.com/office/drawing/2014/main" id="{DB21ACB0-06C4-738A-0E73-71A997616B0E}"/>
                </a:ext>
              </a:extLst>
            </p:cNvPr>
            <p:cNvSpPr txBox="1"/>
            <p:nvPr/>
          </p:nvSpPr>
          <p:spPr>
            <a:xfrm>
              <a:off x="4604472" y="550651"/>
              <a:ext cx="2129704" cy="349602"/>
            </a:xfrm>
            <a:prstGeom prst="rect">
              <a:avLst/>
            </a:prstGeom>
            <a:noFill/>
          </p:spPr>
          <p:txBody>
            <a:bodyPr wrap="square" rtlCol="0">
              <a:spAutoFit/>
            </a:bodyPr>
            <a:lstStyle/>
            <a:p>
              <a:pPr marL="0" marR="0" lvl="0" indent="0" defTabSz="859627" eaLnBrk="1" fontAlgn="auto" latinLnBrk="0" hangingPunct="1">
                <a:lnSpc>
                  <a:spcPct val="100000"/>
                </a:lnSpc>
                <a:spcBef>
                  <a:spcPts val="0"/>
                </a:spcBef>
                <a:spcAft>
                  <a:spcPts val="0"/>
                </a:spcAft>
                <a:buClrTx/>
                <a:buSzTx/>
                <a:buFontTx/>
                <a:buNone/>
                <a:tabLst/>
                <a:defRPr/>
              </a:pPr>
              <a:r>
                <a:rPr kumimoji="0" lang="en-US" altLang="ko-KR" sz="1400" b="0" i="0" u="none" strike="noStrike" kern="0" cap="none" spc="0" normalizeH="0" baseline="0" noProof="0" dirty="0">
                  <a:ln>
                    <a:noFill/>
                  </a:ln>
                  <a:solidFill>
                    <a:prstClr val="black"/>
                  </a:solidFill>
                  <a:effectLst/>
                  <a:uLnTx/>
                  <a:uFillTx/>
                </a:rPr>
                <a:t>Global Technologies</a:t>
              </a:r>
              <a:endParaRPr kumimoji="0" lang="ko-KR" altLang="en-US" sz="1400" b="0" i="0" u="none" strike="noStrike" kern="0" cap="none" spc="0" normalizeH="0" baseline="0" noProof="0" dirty="0">
                <a:ln>
                  <a:noFill/>
                </a:ln>
                <a:solidFill>
                  <a:prstClr val="black"/>
                </a:solidFill>
                <a:effectLst/>
                <a:uLnTx/>
                <a:uFillTx/>
              </a:endParaRPr>
            </a:p>
          </p:txBody>
        </p:sp>
      </p:grpSp>
      <p:sp>
        <p:nvSpPr>
          <p:cNvPr id="21" name="Holder 3">
            <a:extLst>
              <a:ext uri="{FF2B5EF4-FFF2-40B4-BE49-F238E27FC236}">
                <a16:creationId xmlns:a16="http://schemas.microsoft.com/office/drawing/2014/main" id="{9D829D46-4F49-6C3B-23D7-E27266D1653E}"/>
              </a:ext>
            </a:extLst>
          </p:cNvPr>
          <p:cNvSpPr txBox="1">
            <a:spLocks/>
          </p:cNvSpPr>
          <p:nvPr/>
        </p:nvSpPr>
        <p:spPr>
          <a:xfrm>
            <a:off x="5147476" y="203944"/>
            <a:ext cx="1447800" cy="276999"/>
          </a:xfrm>
          <a:prstGeom prst="rect">
            <a:avLst/>
          </a:prstGeom>
        </p:spPr>
        <p:txBody>
          <a:bodyPr wrap="square" lIns="0" tIns="0" rIns="0" bIns="0">
            <a:spAutoFit/>
          </a:bodyPr>
          <a:lstStyle>
            <a:lvl1pPr marL="0">
              <a:defRPr>
                <a:solidFill>
                  <a:srgbClr val="FF99FF"/>
                </a:solidFill>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FF99FF"/>
                </a:solidFill>
                <a:effectLst/>
                <a:uLnTx/>
                <a:uFillTx/>
                <a:latin typeface="Calibri"/>
                <a:ea typeface="+mn-ea"/>
                <a:cs typeface="+mn-cs"/>
              </a:rPr>
              <a:t>&lt;Preliminary&gt;</a:t>
            </a:r>
          </a:p>
        </p:txBody>
      </p:sp>
      <p:sp>
        <p:nvSpPr>
          <p:cNvPr id="22" name="object 6">
            <a:extLst>
              <a:ext uri="{FF2B5EF4-FFF2-40B4-BE49-F238E27FC236}">
                <a16:creationId xmlns:a16="http://schemas.microsoft.com/office/drawing/2014/main" id="{B3C87A5A-F128-95DF-E11C-7F43050B5CFA}"/>
              </a:ext>
            </a:extLst>
          </p:cNvPr>
          <p:cNvSpPr/>
          <p:nvPr/>
        </p:nvSpPr>
        <p:spPr>
          <a:xfrm>
            <a:off x="301676" y="9458756"/>
            <a:ext cx="6246495" cy="0"/>
          </a:xfrm>
          <a:custGeom>
            <a:avLst/>
            <a:gdLst/>
            <a:ahLst/>
            <a:cxnLst/>
            <a:rect l="l" t="t" r="r" b="b"/>
            <a:pathLst>
              <a:path w="6246495">
                <a:moveTo>
                  <a:pt x="0" y="0"/>
                </a:moveTo>
                <a:lnTo>
                  <a:pt x="6245999" y="0"/>
                </a:lnTo>
              </a:path>
            </a:pathLst>
          </a:custGeom>
          <a:ln w="25920">
            <a:solidFill>
              <a:srgbClr val="BFBFBF"/>
            </a:solidFill>
          </a:ln>
        </p:spPr>
        <p:txBody>
          <a:bodyPr wrap="square" lIns="0" tIns="0" rIns="0" bIns="0" rtlCol="0"/>
          <a:lstStyle/>
          <a:p>
            <a:endParaRPr/>
          </a:p>
        </p:txBody>
      </p:sp>
      <p:sp>
        <p:nvSpPr>
          <p:cNvPr id="23" name="슬라이드 번호 개체 틀 3">
            <a:hlinkClick r:id="rId3"/>
            <a:extLst>
              <a:ext uri="{FF2B5EF4-FFF2-40B4-BE49-F238E27FC236}">
                <a16:creationId xmlns:a16="http://schemas.microsoft.com/office/drawing/2014/main" id="{D3F50272-376A-AAEA-F5D8-D39BEAD00C5C}"/>
              </a:ext>
            </a:extLst>
          </p:cNvPr>
          <p:cNvSpPr txBox="1">
            <a:spLocks/>
          </p:cNvSpPr>
          <p:nvPr/>
        </p:nvSpPr>
        <p:spPr>
          <a:xfrm>
            <a:off x="5151602" y="9452864"/>
            <a:ext cx="1487550"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dirty="0">
                <a:solidFill>
                  <a:prstClr val="black"/>
                </a:solidFill>
                <a:latin typeface="Arial" panose="020B0604020202020204" pitchFamily="34" charset="0"/>
                <a:cs typeface="Arial" panose="020B0604020202020204" pitchFamily="34" charset="0"/>
              </a:rPr>
              <a:t>http://www.glbltech.com/</a:t>
            </a:r>
            <a:endParaRPr lang="ko-KR" altLang="en-US" dirty="0">
              <a:solidFill>
                <a:prstClr val="black"/>
              </a:solidFill>
              <a:latin typeface="Arial" panose="020B0604020202020204" pitchFamily="34" charset="0"/>
              <a:cs typeface="Arial" panose="020B0604020202020204" pitchFamily="34" charset="0"/>
            </a:endParaRPr>
          </a:p>
        </p:txBody>
      </p:sp>
      <p:sp>
        <p:nvSpPr>
          <p:cNvPr id="24" name="object 38">
            <a:extLst>
              <a:ext uri="{FF2B5EF4-FFF2-40B4-BE49-F238E27FC236}">
                <a16:creationId xmlns:a16="http://schemas.microsoft.com/office/drawing/2014/main" id="{314176A1-4682-83CE-3B87-ACB6870915CD}"/>
              </a:ext>
            </a:extLst>
          </p:cNvPr>
          <p:cNvSpPr txBox="1">
            <a:spLocks/>
          </p:cNvSpPr>
          <p:nvPr/>
        </p:nvSpPr>
        <p:spPr>
          <a:xfrm>
            <a:off x="3309066" y="9547988"/>
            <a:ext cx="487045" cy="139141"/>
          </a:xfrm>
          <a:prstGeom prst="rect">
            <a:avLst/>
          </a:prstGeom>
        </p:spPr>
        <p:txBody>
          <a:bodyPr vert="horz" wrap="square" lIns="0" tIns="635" rIns="0" bIns="0" rtlCol="0">
            <a:spAutoFit/>
          </a:bodyPr>
          <a:lstStyle>
            <a:defPPr>
              <a:defRPr lang="ko-KR"/>
            </a:defPPr>
            <a:lvl1pPr marL="0" algn="l" defTabSz="914400" rtl="0" eaLnBrk="1" latinLnBrk="1" hangingPunct="1">
              <a:defRPr sz="1050" b="0" i="0" kern="1200">
                <a:solidFill>
                  <a:schemeClr val="tx1"/>
                </a:solidFill>
                <a:latin typeface="Arial"/>
                <a:ea typeface="+mn-ea"/>
                <a:cs typeface="Arial"/>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marL="12700">
              <a:spcBef>
                <a:spcPts val="5"/>
              </a:spcBef>
              <a:defRPr/>
            </a:pPr>
            <a:r>
              <a:rPr lang="en-US" sz="900" dirty="0">
                <a:solidFill>
                  <a:prstClr val="black"/>
                </a:solidFill>
              </a:rPr>
              <a:t>Page</a:t>
            </a:r>
            <a:r>
              <a:rPr lang="en-US" sz="900" spc="-60" dirty="0">
                <a:solidFill>
                  <a:prstClr val="black"/>
                </a:solidFill>
              </a:rPr>
              <a:t> </a:t>
            </a:r>
            <a:fld id="{81D60167-4931-47E6-BA6A-407CBD079E47}" type="slidenum">
              <a:rPr sz="900">
                <a:solidFill>
                  <a:prstClr val="black"/>
                </a:solidFill>
              </a:rPr>
              <a:pPr marL="12700">
                <a:spcBef>
                  <a:spcPts val="5"/>
                </a:spcBef>
                <a:defRPr/>
              </a:pPr>
              <a:t>1</a:t>
            </a:fld>
            <a:endParaRPr sz="900" dirty="0">
              <a:solidFill>
                <a:prstClr val="black"/>
              </a:solidFill>
            </a:endParaRPr>
          </a:p>
        </p:txBody>
      </p:sp>
      <p:sp>
        <p:nvSpPr>
          <p:cNvPr id="25" name="슬라이드 번호 개체 틀 3">
            <a:extLst>
              <a:ext uri="{FF2B5EF4-FFF2-40B4-BE49-F238E27FC236}">
                <a16:creationId xmlns:a16="http://schemas.microsoft.com/office/drawing/2014/main" id="{9A21628C-1AC0-3186-5242-45675467C775}"/>
              </a:ext>
            </a:extLst>
          </p:cNvPr>
          <p:cNvSpPr txBox="1">
            <a:spLocks/>
          </p:cNvSpPr>
          <p:nvPr/>
        </p:nvSpPr>
        <p:spPr>
          <a:xfrm>
            <a:off x="299401" y="9520856"/>
            <a:ext cx="2060991" cy="175259"/>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lang="en-US" altLang="ko-KR" dirty="0">
                <a:solidFill>
                  <a:prstClr val="black"/>
                </a:solidFill>
                <a:latin typeface="Arial" panose="020B0604020202020204" pitchFamily="34" charset="0"/>
                <a:cs typeface="Arial" panose="020B0604020202020204" pitchFamily="34" charset="0"/>
              </a:rPr>
              <a:t>Dated 30-Nov 23  Rev. 01</a:t>
            </a:r>
            <a:endParaRPr lang="ko-KR" altLang="en-US" dirty="0">
              <a:solidFill>
                <a:prstClr val="black"/>
              </a:solidFill>
              <a:latin typeface="Arial" panose="020B0604020202020204" pitchFamily="34" charset="0"/>
              <a:cs typeface="Arial" panose="020B060402020202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p:nvPr/>
        </p:nvSpPr>
        <p:spPr>
          <a:xfrm>
            <a:off x="405384" y="637031"/>
            <a:ext cx="6049010" cy="0"/>
          </a:xfrm>
          <a:custGeom>
            <a:avLst/>
            <a:gdLst/>
            <a:ahLst/>
            <a:cxnLst/>
            <a:rect l="l" t="t" r="r" b="b"/>
            <a:pathLst>
              <a:path w="6049010">
                <a:moveTo>
                  <a:pt x="0" y="0"/>
                </a:moveTo>
                <a:lnTo>
                  <a:pt x="6048629" y="0"/>
                </a:lnTo>
              </a:path>
            </a:pathLst>
          </a:custGeom>
          <a:ln w="6350">
            <a:solidFill>
              <a:srgbClr val="000000"/>
            </a:solidFill>
          </a:ln>
        </p:spPr>
        <p:txBody>
          <a:bodyPr wrap="square" lIns="0" tIns="0" rIns="0" bIns="0" rtlCol="0"/>
          <a:lstStyle/>
          <a:p>
            <a:endParaRPr dirty="0"/>
          </a:p>
        </p:txBody>
      </p:sp>
      <p:sp>
        <p:nvSpPr>
          <p:cNvPr id="4" name="object 4"/>
          <p:cNvSpPr txBox="1"/>
          <p:nvPr/>
        </p:nvSpPr>
        <p:spPr>
          <a:xfrm>
            <a:off x="400913" y="301879"/>
            <a:ext cx="622935" cy="299720"/>
          </a:xfrm>
          <a:prstGeom prst="rect">
            <a:avLst/>
          </a:prstGeom>
        </p:spPr>
        <p:txBody>
          <a:bodyPr vert="horz" wrap="square" lIns="0" tIns="12700" rIns="0" bIns="0" rtlCol="0">
            <a:spAutoFit/>
          </a:bodyPr>
          <a:lstStyle/>
          <a:p>
            <a:pPr marL="12700">
              <a:lnSpc>
                <a:spcPct val="100000"/>
              </a:lnSpc>
              <a:spcBef>
                <a:spcPts val="100"/>
              </a:spcBef>
            </a:pPr>
            <a:r>
              <a:rPr sz="1800" b="1" spc="-5" dirty="0">
                <a:latin typeface="Arial"/>
                <a:cs typeface="Arial"/>
              </a:rPr>
              <a:t>CQ24</a:t>
            </a:r>
            <a:endParaRPr sz="1800" dirty="0">
              <a:latin typeface="Arial"/>
              <a:cs typeface="Arial"/>
            </a:endParaRPr>
          </a:p>
        </p:txBody>
      </p:sp>
      <p:sp>
        <p:nvSpPr>
          <p:cNvPr id="6" name="object 6"/>
          <p:cNvSpPr txBox="1"/>
          <p:nvPr/>
        </p:nvSpPr>
        <p:spPr>
          <a:xfrm>
            <a:off x="400913" y="914400"/>
            <a:ext cx="6053481" cy="6299160"/>
          </a:xfrm>
          <a:prstGeom prst="rect">
            <a:avLst/>
          </a:prstGeom>
        </p:spPr>
        <p:txBody>
          <a:bodyPr vert="horz" wrap="square" lIns="0" tIns="12700" rIns="0" bIns="0" rtlCol="0">
            <a:spAutoFit/>
          </a:bodyPr>
          <a:lstStyle/>
          <a:p>
            <a:pPr marL="12700">
              <a:lnSpc>
                <a:spcPct val="100000"/>
              </a:lnSpc>
              <a:spcBef>
                <a:spcPts val="100"/>
              </a:spcBef>
            </a:pPr>
            <a:r>
              <a:rPr sz="1400" b="1" dirty="0">
                <a:latin typeface="Arial"/>
                <a:cs typeface="Arial"/>
              </a:rPr>
              <a:t>Feature</a:t>
            </a:r>
            <a:endParaRPr sz="1400" dirty="0">
              <a:latin typeface="Arial"/>
              <a:cs typeface="Arial"/>
            </a:endParaRPr>
          </a:p>
          <a:p>
            <a:pPr>
              <a:lnSpc>
                <a:spcPct val="100000"/>
              </a:lnSpc>
            </a:pPr>
            <a:endParaRPr sz="1500" dirty="0">
              <a:latin typeface="Arial"/>
              <a:cs typeface="Arial"/>
            </a:endParaRPr>
          </a:p>
          <a:p>
            <a:pPr marL="184785" indent="-172720">
              <a:lnSpc>
                <a:spcPct val="100000"/>
              </a:lnSpc>
              <a:spcBef>
                <a:spcPts val="900"/>
              </a:spcBef>
              <a:buChar char="•"/>
              <a:tabLst>
                <a:tab pos="184785" algn="l"/>
                <a:tab pos="185420" algn="l"/>
              </a:tabLst>
            </a:pPr>
            <a:r>
              <a:rPr sz="1000" spc="-5" dirty="0">
                <a:latin typeface="Arial"/>
                <a:cs typeface="Arial"/>
              </a:rPr>
              <a:t>24-channel</a:t>
            </a:r>
            <a:r>
              <a:rPr sz="1000" spc="-30" dirty="0">
                <a:latin typeface="Arial"/>
                <a:cs typeface="Arial"/>
              </a:rPr>
              <a:t> </a:t>
            </a:r>
            <a:r>
              <a:rPr sz="1000" spc="-5" dirty="0">
                <a:latin typeface="Arial"/>
                <a:cs typeface="Arial"/>
              </a:rPr>
              <a:t>local</a:t>
            </a:r>
            <a:r>
              <a:rPr sz="1000" dirty="0">
                <a:latin typeface="Arial"/>
                <a:cs typeface="Arial"/>
              </a:rPr>
              <a:t> dimming</a:t>
            </a:r>
            <a:r>
              <a:rPr sz="1000" spc="-25" dirty="0">
                <a:latin typeface="Arial"/>
                <a:cs typeface="Arial"/>
              </a:rPr>
              <a:t> </a:t>
            </a:r>
            <a:r>
              <a:rPr sz="1000" spc="-5" dirty="0">
                <a:latin typeface="Arial"/>
                <a:cs typeface="Arial"/>
              </a:rPr>
              <a:t>controller </a:t>
            </a:r>
            <a:r>
              <a:rPr sz="1000" dirty="0">
                <a:latin typeface="Arial"/>
                <a:cs typeface="Arial"/>
              </a:rPr>
              <a:t>for</a:t>
            </a:r>
            <a:r>
              <a:rPr sz="1000" spc="-15" dirty="0">
                <a:latin typeface="Arial"/>
                <a:cs typeface="Arial"/>
              </a:rPr>
              <a:t> </a:t>
            </a:r>
            <a:r>
              <a:rPr sz="1000" spc="-10" dirty="0">
                <a:latin typeface="Arial"/>
                <a:cs typeface="Arial"/>
              </a:rPr>
              <a:t>LED </a:t>
            </a:r>
            <a:r>
              <a:rPr sz="1000" spc="-5" dirty="0">
                <a:latin typeface="Arial"/>
                <a:cs typeface="Arial"/>
              </a:rPr>
              <a:t>drive</a:t>
            </a:r>
            <a:r>
              <a:rPr sz="1000" spc="5" dirty="0">
                <a:latin typeface="Arial"/>
                <a:cs typeface="Arial"/>
              </a:rPr>
              <a:t> </a:t>
            </a:r>
            <a:r>
              <a:rPr sz="1000" spc="-5" dirty="0">
                <a:latin typeface="Arial"/>
                <a:cs typeface="Arial"/>
              </a:rPr>
              <a:t>ICs</a:t>
            </a:r>
            <a:endParaRPr sz="1000" dirty="0">
              <a:latin typeface="Arial"/>
              <a:cs typeface="Arial"/>
            </a:endParaRPr>
          </a:p>
          <a:p>
            <a:pPr>
              <a:lnSpc>
                <a:spcPct val="100000"/>
              </a:lnSpc>
              <a:spcBef>
                <a:spcPts val="45"/>
              </a:spcBef>
              <a:buFont typeface="Arial"/>
              <a:buChar char="•"/>
            </a:pPr>
            <a:endParaRPr sz="1000" dirty="0">
              <a:latin typeface="Arial"/>
              <a:cs typeface="Arial"/>
            </a:endParaRPr>
          </a:p>
          <a:p>
            <a:pPr marL="184785" indent="-172720">
              <a:lnSpc>
                <a:spcPct val="100000"/>
              </a:lnSpc>
              <a:spcBef>
                <a:spcPts val="5"/>
              </a:spcBef>
              <a:buChar char="•"/>
              <a:tabLst>
                <a:tab pos="184785" algn="l"/>
                <a:tab pos="185420" algn="l"/>
              </a:tabLst>
            </a:pPr>
            <a:r>
              <a:rPr sz="1000" spc="-5" dirty="0">
                <a:latin typeface="Arial"/>
                <a:cs typeface="Arial"/>
              </a:rPr>
              <a:t>High-speed</a:t>
            </a:r>
            <a:r>
              <a:rPr sz="1000" spc="-15" dirty="0">
                <a:latin typeface="Arial"/>
                <a:cs typeface="Arial"/>
              </a:rPr>
              <a:t> </a:t>
            </a:r>
            <a:r>
              <a:rPr sz="1000" dirty="0">
                <a:latin typeface="Arial"/>
                <a:cs typeface="Arial"/>
              </a:rPr>
              <a:t>sub-frame</a:t>
            </a:r>
            <a:r>
              <a:rPr sz="1000" spc="-45" dirty="0">
                <a:latin typeface="Arial"/>
                <a:cs typeface="Arial"/>
              </a:rPr>
              <a:t> </a:t>
            </a:r>
            <a:r>
              <a:rPr sz="1000" spc="-5" dirty="0">
                <a:latin typeface="Arial"/>
                <a:cs typeface="Arial"/>
              </a:rPr>
              <a:t>based</a:t>
            </a:r>
            <a:r>
              <a:rPr sz="1000" spc="-25" dirty="0">
                <a:latin typeface="Arial"/>
                <a:cs typeface="Arial"/>
              </a:rPr>
              <a:t> </a:t>
            </a:r>
            <a:r>
              <a:rPr sz="1000" dirty="0">
                <a:latin typeface="Arial"/>
                <a:cs typeface="Arial"/>
              </a:rPr>
              <a:t>dimming</a:t>
            </a:r>
            <a:r>
              <a:rPr sz="1000" spc="-40" dirty="0">
                <a:latin typeface="Arial"/>
                <a:cs typeface="Arial"/>
              </a:rPr>
              <a:t> </a:t>
            </a:r>
            <a:r>
              <a:rPr sz="1000" spc="-5" dirty="0">
                <a:latin typeface="Arial"/>
                <a:cs typeface="Arial"/>
              </a:rPr>
              <a:t>control</a:t>
            </a:r>
            <a:endParaRPr sz="1000" dirty="0">
              <a:latin typeface="Arial"/>
              <a:cs typeface="Arial"/>
            </a:endParaRPr>
          </a:p>
          <a:p>
            <a:pPr marL="400050" lvl="1" indent="-109220">
              <a:lnSpc>
                <a:spcPct val="100000"/>
              </a:lnSpc>
              <a:spcBef>
                <a:spcPts val="755"/>
              </a:spcBef>
              <a:buFont typeface="Wingdings"/>
              <a:buChar char=""/>
              <a:tabLst>
                <a:tab pos="400685" algn="l"/>
              </a:tabLst>
            </a:pPr>
            <a:r>
              <a:rPr sz="1000" spc="-5" dirty="0">
                <a:latin typeface="Arial"/>
                <a:cs typeface="Arial"/>
              </a:rPr>
              <a:t>Max</a:t>
            </a:r>
            <a:r>
              <a:rPr sz="1000" spc="-30" dirty="0">
                <a:latin typeface="Arial"/>
                <a:cs typeface="Arial"/>
              </a:rPr>
              <a:t> </a:t>
            </a:r>
            <a:r>
              <a:rPr sz="1000" spc="-5" dirty="0">
                <a:latin typeface="Arial"/>
                <a:cs typeface="Arial"/>
              </a:rPr>
              <a:t>128</a:t>
            </a:r>
            <a:r>
              <a:rPr sz="1000" spc="-35" dirty="0">
                <a:latin typeface="Arial"/>
                <a:cs typeface="Arial"/>
              </a:rPr>
              <a:t> </a:t>
            </a:r>
            <a:r>
              <a:rPr sz="1000" dirty="0">
                <a:latin typeface="Arial"/>
                <a:cs typeface="Arial"/>
              </a:rPr>
              <a:t>sub-frames</a:t>
            </a:r>
          </a:p>
          <a:p>
            <a:pPr marL="400050" lvl="1" indent="-109220">
              <a:lnSpc>
                <a:spcPct val="100000"/>
              </a:lnSpc>
              <a:spcBef>
                <a:spcPts val="600"/>
              </a:spcBef>
              <a:buFont typeface="Wingdings"/>
              <a:buChar char=""/>
              <a:tabLst>
                <a:tab pos="400685" algn="l"/>
              </a:tabLst>
            </a:pPr>
            <a:r>
              <a:rPr sz="1000" spc="-5" dirty="0">
                <a:latin typeface="Arial"/>
                <a:cs typeface="Arial"/>
              </a:rPr>
              <a:t>Supporting</a:t>
            </a:r>
            <a:r>
              <a:rPr sz="1000" spc="-30" dirty="0">
                <a:latin typeface="Arial"/>
                <a:cs typeface="Arial"/>
              </a:rPr>
              <a:t> </a:t>
            </a:r>
            <a:r>
              <a:rPr sz="1000" spc="-10" dirty="0">
                <a:latin typeface="Arial"/>
                <a:cs typeface="Arial"/>
              </a:rPr>
              <a:t>960hz/800hz</a:t>
            </a:r>
            <a:endParaRPr sz="1000" dirty="0">
              <a:latin typeface="Arial"/>
              <a:cs typeface="Arial"/>
            </a:endParaRPr>
          </a:p>
          <a:p>
            <a:pPr marL="400050" lvl="1" indent="-109220">
              <a:lnSpc>
                <a:spcPct val="100000"/>
              </a:lnSpc>
              <a:spcBef>
                <a:spcPts val="600"/>
              </a:spcBef>
              <a:buFont typeface="Wingdings"/>
              <a:buChar char=""/>
              <a:tabLst>
                <a:tab pos="400685" algn="l"/>
              </a:tabLst>
            </a:pPr>
            <a:r>
              <a:rPr sz="1000" spc="-5" dirty="0">
                <a:latin typeface="Arial"/>
                <a:cs typeface="Arial"/>
              </a:rPr>
              <a:t>Supporting</a:t>
            </a:r>
            <a:r>
              <a:rPr sz="1000" spc="-25" dirty="0">
                <a:latin typeface="Arial"/>
                <a:cs typeface="Arial"/>
              </a:rPr>
              <a:t> </a:t>
            </a:r>
            <a:r>
              <a:rPr sz="1000" spc="-5" dirty="0">
                <a:latin typeface="Arial"/>
                <a:cs typeface="Arial"/>
              </a:rPr>
              <a:t>flexible</a:t>
            </a:r>
            <a:r>
              <a:rPr sz="1000" spc="-25" dirty="0">
                <a:latin typeface="Arial"/>
                <a:cs typeface="Arial"/>
              </a:rPr>
              <a:t> </a:t>
            </a:r>
            <a:r>
              <a:rPr sz="1000" spc="-10" dirty="0">
                <a:latin typeface="Arial"/>
                <a:cs typeface="Arial"/>
              </a:rPr>
              <a:t>line</a:t>
            </a:r>
            <a:r>
              <a:rPr sz="1000" spc="-20" dirty="0">
                <a:latin typeface="Arial"/>
                <a:cs typeface="Arial"/>
              </a:rPr>
              <a:t> </a:t>
            </a:r>
            <a:r>
              <a:rPr sz="1000" spc="-5" dirty="0">
                <a:latin typeface="Arial"/>
                <a:cs typeface="Arial"/>
              </a:rPr>
              <a:t>delay</a:t>
            </a:r>
            <a:endParaRPr sz="1000" dirty="0">
              <a:latin typeface="Arial"/>
              <a:cs typeface="Arial"/>
            </a:endParaRPr>
          </a:p>
          <a:p>
            <a:pPr lvl="1">
              <a:lnSpc>
                <a:spcPct val="100000"/>
              </a:lnSpc>
              <a:spcBef>
                <a:spcPts val="5"/>
              </a:spcBef>
              <a:buFont typeface="Wingdings"/>
              <a:buChar char=""/>
            </a:pPr>
            <a:endParaRPr sz="900" dirty="0">
              <a:latin typeface="Arial"/>
              <a:cs typeface="Arial"/>
            </a:endParaRPr>
          </a:p>
          <a:p>
            <a:pPr marL="184785" indent="-172720">
              <a:lnSpc>
                <a:spcPct val="100000"/>
              </a:lnSpc>
              <a:spcBef>
                <a:spcPts val="5"/>
              </a:spcBef>
              <a:buChar char="•"/>
              <a:tabLst>
                <a:tab pos="184785" algn="l"/>
                <a:tab pos="185420" algn="l"/>
              </a:tabLst>
            </a:pPr>
            <a:r>
              <a:rPr sz="1000" spc="-10" dirty="0">
                <a:latin typeface="Arial"/>
                <a:cs typeface="Arial"/>
              </a:rPr>
              <a:t>High-quality</a:t>
            </a:r>
            <a:r>
              <a:rPr sz="1000" spc="15" dirty="0">
                <a:latin typeface="Arial"/>
                <a:cs typeface="Arial"/>
              </a:rPr>
              <a:t> </a:t>
            </a:r>
            <a:r>
              <a:rPr sz="1000" spc="-5" dirty="0">
                <a:latin typeface="Arial"/>
                <a:cs typeface="Arial"/>
              </a:rPr>
              <a:t>current</a:t>
            </a:r>
            <a:r>
              <a:rPr sz="1000" dirty="0">
                <a:latin typeface="Arial"/>
                <a:cs typeface="Arial"/>
              </a:rPr>
              <a:t> </a:t>
            </a:r>
            <a:r>
              <a:rPr sz="1000" spc="-5" dirty="0">
                <a:latin typeface="Arial"/>
                <a:cs typeface="Arial"/>
              </a:rPr>
              <a:t>dimming</a:t>
            </a:r>
            <a:r>
              <a:rPr sz="1000" spc="-25" dirty="0">
                <a:latin typeface="Arial"/>
                <a:cs typeface="Arial"/>
              </a:rPr>
              <a:t> </a:t>
            </a:r>
            <a:r>
              <a:rPr sz="1000" spc="-5" dirty="0">
                <a:latin typeface="Arial"/>
                <a:cs typeface="Arial"/>
              </a:rPr>
              <a:t>control</a:t>
            </a:r>
            <a:endParaRPr sz="1000" dirty="0">
              <a:latin typeface="Arial"/>
              <a:cs typeface="Arial"/>
            </a:endParaRPr>
          </a:p>
          <a:p>
            <a:pPr marL="400050" lvl="1" indent="-109220">
              <a:lnSpc>
                <a:spcPct val="100000"/>
              </a:lnSpc>
              <a:spcBef>
                <a:spcPts val="755"/>
              </a:spcBef>
              <a:buFont typeface="Wingdings"/>
              <a:buChar char=""/>
              <a:tabLst>
                <a:tab pos="400685" algn="l"/>
              </a:tabLst>
            </a:pPr>
            <a:r>
              <a:rPr sz="1000" spc="-10" dirty="0">
                <a:latin typeface="Arial"/>
                <a:cs typeface="Arial"/>
              </a:rPr>
              <a:t>2-type</a:t>
            </a:r>
            <a:r>
              <a:rPr sz="1000" spc="25" dirty="0">
                <a:latin typeface="Arial"/>
                <a:cs typeface="Arial"/>
              </a:rPr>
              <a:t> </a:t>
            </a:r>
            <a:r>
              <a:rPr sz="1000" spc="-5" dirty="0">
                <a:latin typeface="Arial"/>
                <a:cs typeface="Arial"/>
              </a:rPr>
              <a:t>current </a:t>
            </a:r>
            <a:r>
              <a:rPr sz="1000" dirty="0">
                <a:latin typeface="Arial"/>
                <a:cs typeface="Arial"/>
              </a:rPr>
              <a:t>dimming</a:t>
            </a:r>
            <a:r>
              <a:rPr sz="1000" spc="-10" dirty="0">
                <a:latin typeface="Arial"/>
                <a:cs typeface="Arial"/>
              </a:rPr>
              <a:t> </a:t>
            </a:r>
            <a:r>
              <a:rPr sz="1000" spc="-5" dirty="0">
                <a:latin typeface="Arial"/>
                <a:cs typeface="Arial"/>
              </a:rPr>
              <a:t>:</a:t>
            </a:r>
            <a:r>
              <a:rPr sz="1000" spc="10" dirty="0">
                <a:latin typeface="Arial"/>
                <a:cs typeface="Arial"/>
              </a:rPr>
              <a:t> </a:t>
            </a:r>
            <a:r>
              <a:rPr sz="1000" spc="-10" dirty="0">
                <a:latin typeface="Arial"/>
                <a:cs typeface="Arial"/>
              </a:rPr>
              <a:t>duty-based</a:t>
            </a:r>
            <a:r>
              <a:rPr sz="1000" spc="15" dirty="0">
                <a:latin typeface="Arial"/>
                <a:cs typeface="Arial"/>
              </a:rPr>
              <a:t> </a:t>
            </a:r>
            <a:r>
              <a:rPr sz="1000" spc="-5" dirty="0">
                <a:latin typeface="Arial"/>
                <a:cs typeface="Arial"/>
              </a:rPr>
              <a:t>accumulated</a:t>
            </a:r>
            <a:r>
              <a:rPr sz="1000" spc="-20" dirty="0">
                <a:latin typeface="Arial"/>
                <a:cs typeface="Arial"/>
              </a:rPr>
              <a:t> </a:t>
            </a:r>
            <a:r>
              <a:rPr sz="1000" spc="-5" dirty="0">
                <a:latin typeface="Arial"/>
                <a:cs typeface="Arial"/>
              </a:rPr>
              <a:t>stepping</a:t>
            </a:r>
            <a:r>
              <a:rPr sz="1000" spc="-10" dirty="0">
                <a:latin typeface="Arial"/>
                <a:cs typeface="Arial"/>
              </a:rPr>
              <a:t> </a:t>
            </a:r>
            <a:r>
              <a:rPr sz="1000" spc="-5" dirty="0">
                <a:latin typeface="Arial"/>
                <a:cs typeface="Arial"/>
              </a:rPr>
              <a:t>and</a:t>
            </a:r>
            <a:r>
              <a:rPr sz="1000" spc="5" dirty="0">
                <a:latin typeface="Arial"/>
                <a:cs typeface="Arial"/>
              </a:rPr>
              <a:t> </a:t>
            </a:r>
            <a:r>
              <a:rPr sz="1000" spc="-10" dirty="0">
                <a:latin typeface="Arial"/>
                <a:cs typeface="Arial"/>
              </a:rPr>
              <a:t>duty-based</a:t>
            </a:r>
            <a:r>
              <a:rPr sz="1000" spc="20" dirty="0">
                <a:latin typeface="Arial"/>
                <a:cs typeface="Arial"/>
              </a:rPr>
              <a:t> </a:t>
            </a:r>
            <a:r>
              <a:rPr sz="1000" spc="-5" dirty="0">
                <a:latin typeface="Arial"/>
                <a:cs typeface="Arial"/>
              </a:rPr>
              <a:t>linear</a:t>
            </a:r>
            <a:r>
              <a:rPr sz="1000" spc="20" dirty="0">
                <a:latin typeface="Arial"/>
                <a:cs typeface="Arial"/>
              </a:rPr>
              <a:t> </a:t>
            </a:r>
            <a:r>
              <a:rPr sz="1000" spc="-5" dirty="0">
                <a:latin typeface="Arial"/>
                <a:cs typeface="Arial"/>
              </a:rPr>
              <a:t>stepping</a:t>
            </a:r>
            <a:endParaRPr sz="1000" dirty="0">
              <a:latin typeface="Arial"/>
              <a:cs typeface="Arial"/>
            </a:endParaRPr>
          </a:p>
          <a:p>
            <a:pPr marL="400050" lvl="1" indent="-109220">
              <a:lnSpc>
                <a:spcPct val="100000"/>
              </a:lnSpc>
              <a:spcBef>
                <a:spcPts val="600"/>
              </a:spcBef>
              <a:buFont typeface="Wingdings"/>
              <a:buChar char=""/>
              <a:tabLst>
                <a:tab pos="400685" algn="l"/>
              </a:tabLst>
            </a:pPr>
            <a:r>
              <a:rPr sz="1000" spc="-5" dirty="0">
                <a:latin typeface="Arial"/>
                <a:cs typeface="Arial"/>
              </a:rPr>
              <a:t>Supporting</a:t>
            </a:r>
            <a:r>
              <a:rPr sz="1000" spc="-20" dirty="0">
                <a:latin typeface="Arial"/>
                <a:cs typeface="Arial"/>
              </a:rPr>
              <a:t> </a:t>
            </a:r>
            <a:r>
              <a:rPr sz="1000" dirty="0">
                <a:latin typeface="Arial"/>
                <a:cs typeface="Arial"/>
              </a:rPr>
              <a:t>max</a:t>
            </a:r>
            <a:r>
              <a:rPr sz="1000" spc="-40" dirty="0">
                <a:latin typeface="Arial"/>
                <a:cs typeface="Arial"/>
              </a:rPr>
              <a:t> </a:t>
            </a:r>
            <a:r>
              <a:rPr sz="1000" spc="-5" dirty="0">
                <a:latin typeface="Arial"/>
                <a:cs typeface="Arial"/>
              </a:rPr>
              <a:t>16,383</a:t>
            </a:r>
            <a:r>
              <a:rPr sz="1000" spc="-35" dirty="0">
                <a:latin typeface="Arial"/>
                <a:cs typeface="Arial"/>
              </a:rPr>
              <a:t> </a:t>
            </a:r>
            <a:r>
              <a:rPr sz="1000" spc="-5" dirty="0">
                <a:latin typeface="Arial"/>
                <a:cs typeface="Arial"/>
              </a:rPr>
              <a:t>steps</a:t>
            </a:r>
            <a:endParaRPr sz="1000" dirty="0">
              <a:latin typeface="Arial"/>
              <a:cs typeface="Arial"/>
            </a:endParaRPr>
          </a:p>
          <a:p>
            <a:pPr marL="400050" lvl="1" indent="-109220">
              <a:lnSpc>
                <a:spcPct val="100000"/>
              </a:lnSpc>
              <a:spcBef>
                <a:spcPts val="600"/>
              </a:spcBef>
              <a:buFont typeface="Wingdings"/>
              <a:buChar char=""/>
              <a:tabLst>
                <a:tab pos="400685" algn="l"/>
              </a:tabLst>
            </a:pPr>
            <a:r>
              <a:rPr sz="1000" spc="-5" dirty="0">
                <a:latin typeface="Arial"/>
                <a:cs typeface="Arial"/>
              </a:rPr>
              <a:t>Supporting</a:t>
            </a:r>
            <a:r>
              <a:rPr sz="1000" dirty="0">
                <a:latin typeface="Arial"/>
                <a:cs typeface="Arial"/>
              </a:rPr>
              <a:t> </a:t>
            </a:r>
            <a:r>
              <a:rPr sz="1000" spc="-5" dirty="0">
                <a:latin typeface="Arial"/>
                <a:cs typeface="Arial"/>
              </a:rPr>
              <a:t>the</a:t>
            </a:r>
            <a:r>
              <a:rPr sz="1000" spc="-15" dirty="0">
                <a:latin typeface="Arial"/>
                <a:cs typeface="Arial"/>
              </a:rPr>
              <a:t> </a:t>
            </a:r>
            <a:r>
              <a:rPr sz="1000" spc="-5" dirty="0">
                <a:latin typeface="Arial"/>
                <a:cs typeface="Arial"/>
              </a:rPr>
              <a:t>flexible</a:t>
            </a:r>
            <a:r>
              <a:rPr sz="1000" spc="15" dirty="0">
                <a:latin typeface="Arial"/>
                <a:cs typeface="Arial"/>
              </a:rPr>
              <a:t> </a:t>
            </a:r>
            <a:r>
              <a:rPr sz="1000" dirty="0">
                <a:latin typeface="Arial"/>
                <a:cs typeface="Arial"/>
              </a:rPr>
              <a:t>max</a:t>
            </a:r>
            <a:r>
              <a:rPr sz="1000" spc="-20" dirty="0">
                <a:latin typeface="Arial"/>
                <a:cs typeface="Arial"/>
              </a:rPr>
              <a:t> </a:t>
            </a:r>
            <a:r>
              <a:rPr sz="1000" spc="-5" dirty="0">
                <a:latin typeface="Arial"/>
                <a:cs typeface="Arial"/>
              </a:rPr>
              <a:t>current</a:t>
            </a:r>
            <a:r>
              <a:rPr sz="1000" spc="-10" dirty="0">
                <a:latin typeface="Arial"/>
                <a:cs typeface="Arial"/>
              </a:rPr>
              <a:t> </a:t>
            </a:r>
            <a:r>
              <a:rPr lang="en-US" sz="1000" spc="-5" dirty="0">
                <a:latin typeface="Arial"/>
                <a:cs typeface="Arial"/>
              </a:rPr>
              <a:t>control</a:t>
            </a:r>
            <a:r>
              <a:rPr sz="1000" spc="15" dirty="0">
                <a:latin typeface="Arial"/>
                <a:cs typeface="Arial"/>
              </a:rPr>
              <a:t> </a:t>
            </a:r>
            <a:r>
              <a:rPr sz="1000" spc="-10" dirty="0">
                <a:latin typeface="Arial"/>
                <a:cs typeface="Arial"/>
              </a:rPr>
              <a:t>with</a:t>
            </a:r>
            <a:r>
              <a:rPr sz="1000" spc="20" dirty="0">
                <a:latin typeface="Arial"/>
                <a:cs typeface="Arial"/>
              </a:rPr>
              <a:t> </a:t>
            </a:r>
            <a:r>
              <a:rPr lang="en-US" sz="1000" spc="-5" dirty="0">
                <a:latin typeface="Arial"/>
                <a:cs typeface="Arial"/>
              </a:rPr>
              <a:t>a global </a:t>
            </a:r>
            <a:r>
              <a:rPr sz="1000" spc="-5" dirty="0">
                <a:latin typeface="Arial"/>
                <a:cs typeface="Arial"/>
              </a:rPr>
              <a:t>12-bit</a:t>
            </a:r>
            <a:r>
              <a:rPr sz="1000" dirty="0">
                <a:latin typeface="Arial"/>
                <a:cs typeface="Arial"/>
              </a:rPr>
              <a:t> </a:t>
            </a:r>
            <a:r>
              <a:rPr sz="1000" spc="-5" dirty="0">
                <a:latin typeface="Arial"/>
                <a:cs typeface="Arial"/>
              </a:rPr>
              <a:t>Reference</a:t>
            </a:r>
            <a:r>
              <a:rPr sz="1000" spc="-25" dirty="0">
                <a:latin typeface="Arial"/>
                <a:cs typeface="Arial"/>
              </a:rPr>
              <a:t> </a:t>
            </a:r>
            <a:r>
              <a:rPr sz="1000" spc="-5" dirty="0">
                <a:latin typeface="Arial"/>
                <a:cs typeface="Arial"/>
              </a:rPr>
              <a:t>DAC</a:t>
            </a:r>
            <a:endParaRPr sz="1000" dirty="0">
              <a:latin typeface="Arial"/>
              <a:cs typeface="Arial"/>
            </a:endParaRPr>
          </a:p>
          <a:p>
            <a:pPr marL="400050" lvl="1" indent="-109220">
              <a:lnSpc>
                <a:spcPct val="100000"/>
              </a:lnSpc>
              <a:spcBef>
                <a:spcPts val="600"/>
              </a:spcBef>
              <a:buFont typeface="Wingdings"/>
              <a:buChar char=""/>
              <a:tabLst>
                <a:tab pos="400685" algn="l"/>
              </a:tabLst>
            </a:pPr>
            <a:r>
              <a:rPr sz="1000" spc="-5" dirty="0">
                <a:latin typeface="Arial"/>
                <a:cs typeface="Arial"/>
              </a:rPr>
              <a:t>Supporting the</a:t>
            </a:r>
            <a:r>
              <a:rPr sz="1000" spc="-20" dirty="0">
                <a:latin typeface="Arial"/>
                <a:cs typeface="Arial"/>
              </a:rPr>
              <a:t> </a:t>
            </a:r>
            <a:r>
              <a:rPr lang="en-US" sz="1000" spc="-5" dirty="0">
                <a:latin typeface="Arial"/>
                <a:cs typeface="Arial"/>
              </a:rPr>
              <a:t>fine current</a:t>
            </a:r>
            <a:r>
              <a:rPr sz="1000" dirty="0">
                <a:latin typeface="Arial"/>
                <a:cs typeface="Arial"/>
              </a:rPr>
              <a:t> </a:t>
            </a:r>
            <a:r>
              <a:rPr sz="1000" spc="-5" dirty="0">
                <a:latin typeface="Arial"/>
                <a:cs typeface="Arial"/>
              </a:rPr>
              <a:t>control</a:t>
            </a:r>
            <a:r>
              <a:rPr sz="1000" spc="-10" dirty="0">
                <a:latin typeface="Arial"/>
                <a:cs typeface="Arial"/>
              </a:rPr>
              <a:t> with</a:t>
            </a:r>
            <a:r>
              <a:rPr sz="1000" spc="20" dirty="0">
                <a:latin typeface="Arial"/>
                <a:cs typeface="Arial"/>
              </a:rPr>
              <a:t> </a:t>
            </a:r>
            <a:r>
              <a:rPr lang="en-US" sz="1000" spc="-5" dirty="0">
                <a:latin typeface="Arial"/>
                <a:cs typeface="Arial"/>
              </a:rPr>
              <a:t>an</a:t>
            </a:r>
            <a:r>
              <a:rPr sz="1000" spc="-20" dirty="0">
                <a:latin typeface="Arial"/>
                <a:cs typeface="Arial"/>
              </a:rPr>
              <a:t> </a:t>
            </a:r>
            <a:r>
              <a:rPr sz="1000" spc="-5" dirty="0">
                <a:latin typeface="Arial"/>
                <a:cs typeface="Arial"/>
              </a:rPr>
              <a:t>independent</a:t>
            </a:r>
            <a:r>
              <a:rPr sz="1000" spc="-20" dirty="0">
                <a:latin typeface="Arial"/>
                <a:cs typeface="Arial"/>
              </a:rPr>
              <a:t> </a:t>
            </a:r>
            <a:r>
              <a:rPr sz="1000" spc="-5" dirty="0">
                <a:latin typeface="Arial"/>
                <a:cs typeface="Arial"/>
              </a:rPr>
              <a:t>12-bit</a:t>
            </a:r>
            <a:r>
              <a:rPr sz="1000" spc="10" dirty="0">
                <a:latin typeface="Arial"/>
                <a:cs typeface="Arial"/>
              </a:rPr>
              <a:t> </a:t>
            </a:r>
            <a:r>
              <a:rPr sz="1000" spc="-5" dirty="0">
                <a:latin typeface="Arial"/>
                <a:cs typeface="Arial"/>
              </a:rPr>
              <a:t>DAC</a:t>
            </a:r>
            <a:endParaRPr sz="1000" dirty="0">
              <a:latin typeface="Arial"/>
              <a:cs typeface="Arial"/>
            </a:endParaRPr>
          </a:p>
          <a:p>
            <a:pPr marL="400050" lvl="1" indent="-109220">
              <a:lnSpc>
                <a:spcPct val="100000"/>
              </a:lnSpc>
              <a:spcBef>
                <a:spcPts val="600"/>
              </a:spcBef>
              <a:buFont typeface="Wingdings"/>
              <a:buChar char=""/>
              <a:tabLst>
                <a:tab pos="400685" algn="l"/>
              </a:tabLst>
            </a:pPr>
            <a:r>
              <a:rPr sz="1000" spc="-5" dirty="0">
                <a:latin typeface="Arial"/>
                <a:cs typeface="Arial"/>
              </a:rPr>
              <a:t>Channel-to Channel</a:t>
            </a:r>
            <a:r>
              <a:rPr sz="1000" spc="-10" dirty="0">
                <a:latin typeface="Arial"/>
                <a:cs typeface="Arial"/>
              </a:rPr>
              <a:t> </a:t>
            </a:r>
            <a:r>
              <a:rPr sz="1000" spc="-5" dirty="0">
                <a:latin typeface="Arial"/>
                <a:cs typeface="Arial"/>
              </a:rPr>
              <a:t>accuracy </a:t>
            </a:r>
            <a:r>
              <a:rPr sz="1000" spc="-5" dirty="0">
                <a:latin typeface="맑은 고딕"/>
                <a:cs typeface="맑은 고딕"/>
              </a:rPr>
              <a:t>±</a:t>
            </a:r>
            <a:r>
              <a:rPr sz="1000" spc="-5" dirty="0">
                <a:latin typeface="Arial"/>
                <a:cs typeface="Arial"/>
              </a:rPr>
              <a:t>2%</a:t>
            </a:r>
            <a:r>
              <a:rPr sz="1000" dirty="0">
                <a:latin typeface="Arial"/>
                <a:cs typeface="Arial"/>
              </a:rPr>
              <a:t> </a:t>
            </a:r>
            <a:r>
              <a:rPr lang="en-US" sz="1000" dirty="0">
                <a:latin typeface="Arial"/>
                <a:cs typeface="Arial"/>
              </a:rPr>
              <a:t>at</a:t>
            </a:r>
            <a:r>
              <a:rPr sz="1000" spc="-25" dirty="0">
                <a:latin typeface="Arial"/>
                <a:cs typeface="Arial"/>
              </a:rPr>
              <a:t> </a:t>
            </a:r>
            <a:r>
              <a:rPr sz="1000" spc="-5" dirty="0">
                <a:latin typeface="Arial"/>
                <a:cs typeface="Arial"/>
              </a:rPr>
              <a:t>analog output</a:t>
            </a:r>
            <a:r>
              <a:rPr sz="1000" spc="-15" dirty="0">
                <a:latin typeface="Arial"/>
                <a:cs typeface="Arial"/>
              </a:rPr>
              <a:t> </a:t>
            </a:r>
            <a:r>
              <a:rPr sz="1000" spc="-10" dirty="0">
                <a:latin typeface="Arial"/>
                <a:cs typeface="Arial"/>
              </a:rPr>
              <a:t>voltage</a:t>
            </a:r>
            <a:r>
              <a:rPr sz="1000" spc="10" dirty="0">
                <a:latin typeface="Arial"/>
                <a:cs typeface="Arial"/>
              </a:rPr>
              <a:t> </a:t>
            </a:r>
            <a:r>
              <a:rPr sz="1000" spc="-5" dirty="0">
                <a:latin typeface="Arial"/>
                <a:cs typeface="Arial"/>
              </a:rPr>
              <a:t>2.0V</a:t>
            </a:r>
            <a:endParaRPr sz="1000" dirty="0">
              <a:latin typeface="Arial"/>
              <a:cs typeface="Arial"/>
            </a:endParaRPr>
          </a:p>
          <a:p>
            <a:pPr marL="184785" indent="-172720">
              <a:lnSpc>
                <a:spcPct val="100000"/>
              </a:lnSpc>
              <a:spcBef>
                <a:spcPts val="1045"/>
              </a:spcBef>
              <a:buChar char="•"/>
              <a:tabLst>
                <a:tab pos="184785" algn="l"/>
                <a:tab pos="185420" algn="l"/>
              </a:tabLst>
            </a:pPr>
            <a:r>
              <a:rPr sz="1000" spc="-5" dirty="0">
                <a:latin typeface="Arial"/>
                <a:cs typeface="Arial"/>
              </a:rPr>
              <a:t>High-speed</a:t>
            </a:r>
            <a:r>
              <a:rPr sz="1000" dirty="0">
                <a:latin typeface="Arial"/>
                <a:cs typeface="Arial"/>
              </a:rPr>
              <a:t> </a:t>
            </a:r>
            <a:r>
              <a:rPr sz="1000" spc="-5" dirty="0">
                <a:latin typeface="Arial"/>
                <a:cs typeface="Arial"/>
              </a:rPr>
              <a:t>local</a:t>
            </a:r>
            <a:r>
              <a:rPr sz="1000" spc="5" dirty="0">
                <a:latin typeface="Arial"/>
                <a:cs typeface="Arial"/>
              </a:rPr>
              <a:t> </a:t>
            </a:r>
            <a:r>
              <a:rPr sz="1000" dirty="0">
                <a:latin typeface="Arial"/>
                <a:cs typeface="Arial"/>
              </a:rPr>
              <a:t>dimming</a:t>
            </a:r>
            <a:r>
              <a:rPr sz="1000" spc="-30" dirty="0">
                <a:latin typeface="Arial"/>
                <a:cs typeface="Arial"/>
              </a:rPr>
              <a:t> </a:t>
            </a:r>
            <a:r>
              <a:rPr sz="1000" spc="-5" dirty="0">
                <a:latin typeface="Arial"/>
                <a:cs typeface="Arial"/>
              </a:rPr>
              <a:t>data</a:t>
            </a:r>
            <a:r>
              <a:rPr sz="1000" spc="-15" dirty="0">
                <a:latin typeface="Arial"/>
                <a:cs typeface="Arial"/>
              </a:rPr>
              <a:t> </a:t>
            </a:r>
            <a:r>
              <a:rPr sz="1000" spc="-5" dirty="0">
                <a:latin typeface="Arial"/>
                <a:cs typeface="Arial"/>
              </a:rPr>
              <a:t>transfer</a:t>
            </a:r>
            <a:r>
              <a:rPr sz="1000" spc="-10" dirty="0">
                <a:latin typeface="Arial"/>
                <a:cs typeface="Arial"/>
              </a:rPr>
              <a:t> </a:t>
            </a:r>
            <a:r>
              <a:rPr sz="1000" spc="-5" dirty="0">
                <a:latin typeface="Arial"/>
                <a:cs typeface="Arial"/>
              </a:rPr>
              <a:t>through</a:t>
            </a:r>
            <a:r>
              <a:rPr sz="1000" spc="-15" dirty="0">
                <a:latin typeface="Arial"/>
                <a:cs typeface="Arial"/>
              </a:rPr>
              <a:t> </a:t>
            </a:r>
            <a:r>
              <a:rPr sz="1000" spc="-10" dirty="0">
                <a:latin typeface="Arial"/>
                <a:cs typeface="Arial"/>
              </a:rPr>
              <a:t>SPI</a:t>
            </a:r>
            <a:r>
              <a:rPr sz="1000" dirty="0">
                <a:latin typeface="Arial"/>
                <a:cs typeface="Arial"/>
              </a:rPr>
              <a:t> </a:t>
            </a:r>
            <a:r>
              <a:rPr sz="1000" spc="-5" dirty="0">
                <a:latin typeface="Arial"/>
                <a:cs typeface="Arial"/>
              </a:rPr>
              <a:t>Interface</a:t>
            </a:r>
            <a:endParaRPr sz="1000" dirty="0">
              <a:latin typeface="Arial"/>
              <a:cs typeface="Arial"/>
            </a:endParaRPr>
          </a:p>
          <a:p>
            <a:pPr marL="400050" lvl="1" indent="-109220">
              <a:lnSpc>
                <a:spcPct val="100000"/>
              </a:lnSpc>
              <a:spcBef>
                <a:spcPts val="755"/>
              </a:spcBef>
              <a:buFont typeface="Wingdings"/>
              <a:buChar char=""/>
              <a:tabLst>
                <a:tab pos="400685" algn="l"/>
              </a:tabLst>
            </a:pPr>
            <a:r>
              <a:rPr sz="1000" spc="-5" dirty="0">
                <a:latin typeface="Arial"/>
                <a:cs typeface="Arial"/>
              </a:rPr>
              <a:t>Operating</a:t>
            </a:r>
            <a:r>
              <a:rPr sz="1000" spc="-45" dirty="0">
                <a:latin typeface="Arial"/>
                <a:cs typeface="Arial"/>
              </a:rPr>
              <a:t> </a:t>
            </a:r>
            <a:r>
              <a:rPr sz="1000" dirty="0">
                <a:latin typeface="Arial"/>
                <a:cs typeface="Arial"/>
              </a:rPr>
              <a:t>max</a:t>
            </a:r>
            <a:r>
              <a:rPr sz="1000" spc="-35" dirty="0">
                <a:latin typeface="Arial"/>
                <a:cs typeface="Arial"/>
              </a:rPr>
              <a:t> </a:t>
            </a:r>
            <a:r>
              <a:rPr sz="1000" spc="-5" dirty="0">
                <a:latin typeface="Arial"/>
                <a:cs typeface="Arial"/>
              </a:rPr>
              <a:t>30MHz</a:t>
            </a:r>
            <a:endParaRPr sz="1000" dirty="0">
              <a:latin typeface="Arial"/>
              <a:cs typeface="Arial"/>
            </a:endParaRPr>
          </a:p>
          <a:p>
            <a:pPr marL="400050" lvl="1" indent="-109220">
              <a:lnSpc>
                <a:spcPct val="100000"/>
              </a:lnSpc>
              <a:spcBef>
                <a:spcPts val="600"/>
              </a:spcBef>
              <a:buFont typeface="Wingdings"/>
              <a:buChar char=""/>
              <a:tabLst>
                <a:tab pos="400685" algn="l"/>
              </a:tabLst>
            </a:pPr>
            <a:r>
              <a:rPr sz="1000" spc="-5" dirty="0">
                <a:latin typeface="Arial"/>
                <a:cs typeface="Arial"/>
              </a:rPr>
              <a:t>Supporting</a:t>
            </a:r>
            <a:r>
              <a:rPr sz="1000" spc="-10" dirty="0">
                <a:latin typeface="Arial"/>
                <a:cs typeface="Arial"/>
              </a:rPr>
              <a:t> </a:t>
            </a:r>
            <a:r>
              <a:rPr sz="1000" spc="-5" dirty="0">
                <a:latin typeface="Arial"/>
                <a:cs typeface="Arial"/>
              </a:rPr>
              <a:t>the</a:t>
            </a:r>
            <a:r>
              <a:rPr sz="1000" spc="-20" dirty="0">
                <a:latin typeface="Arial"/>
                <a:cs typeface="Arial"/>
              </a:rPr>
              <a:t> </a:t>
            </a:r>
            <a:r>
              <a:rPr sz="1000" spc="-5" dirty="0">
                <a:latin typeface="Arial"/>
                <a:cs typeface="Arial"/>
              </a:rPr>
              <a:t>daisy</a:t>
            </a:r>
            <a:r>
              <a:rPr sz="1000" dirty="0">
                <a:latin typeface="Arial"/>
                <a:cs typeface="Arial"/>
              </a:rPr>
              <a:t> </a:t>
            </a:r>
            <a:r>
              <a:rPr sz="1000" spc="-5" dirty="0">
                <a:latin typeface="Arial"/>
                <a:cs typeface="Arial"/>
              </a:rPr>
              <a:t>chain connection</a:t>
            </a:r>
            <a:r>
              <a:rPr sz="1000" spc="-20" dirty="0">
                <a:latin typeface="Arial"/>
                <a:cs typeface="Arial"/>
              </a:rPr>
              <a:t> </a:t>
            </a:r>
            <a:r>
              <a:rPr sz="1000" spc="-5" dirty="0">
                <a:latin typeface="Arial"/>
                <a:cs typeface="Arial"/>
              </a:rPr>
              <a:t>at </a:t>
            </a:r>
            <a:r>
              <a:rPr sz="1000" dirty="0">
                <a:latin typeface="Arial"/>
                <a:cs typeface="Arial"/>
              </a:rPr>
              <a:t>max</a:t>
            </a:r>
            <a:r>
              <a:rPr sz="1000" spc="-25" dirty="0">
                <a:latin typeface="Arial"/>
                <a:cs typeface="Arial"/>
              </a:rPr>
              <a:t> </a:t>
            </a:r>
            <a:r>
              <a:rPr sz="1000" spc="-5" dirty="0">
                <a:latin typeface="Arial"/>
                <a:cs typeface="Arial"/>
              </a:rPr>
              <a:t>frequency</a:t>
            </a:r>
            <a:r>
              <a:rPr sz="1000" spc="-35" dirty="0">
                <a:latin typeface="Arial"/>
                <a:cs typeface="Arial"/>
              </a:rPr>
              <a:t> </a:t>
            </a:r>
            <a:r>
              <a:rPr sz="1000" spc="-5" dirty="0">
                <a:latin typeface="Arial"/>
                <a:cs typeface="Arial"/>
              </a:rPr>
              <a:t>speed</a:t>
            </a:r>
            <a:endParaRPr sz="1000" dirty="0">
              <a:latin typeface="Arial"/>
              <a:cs typeface="Arial"/>
            </a:endParaRPr>
          </a:p>
          <a:p>
            <a:pPr lvl="1">
              <a:lnSpc>
                <a:spcPct val="100000"/>
              </a:lnSpc>
              <a:spcBef>
                <a:spcPts val="10"/>
              </a:spcBef>
              <a:buFont typeface="Wingdings"/>
              <a:buChar char=""/>
            </a:pPr>
            <a:endParaRPr sz="900" dirty="0">
              <a:latin typeface="Arial"/>
              <a:cs typeface="Arial"/>
            </a:endParaRPr>
          </a:p>
          <a:p>
            <a:pPr marL="184785" indent="-172720">
              <a:lnSpc>
                <a:spcPct val="100000"/>
              </a:lnSpc>
              <a:buChar char="•"/>
              <a:tabLst>
                <a:tab pos="184785" algn="l"/>
                <a:tab pos="185420" algn="l"/>
              </a:tabLst>
            </a:pPr>
            <a:r>
              <a:rPr sz="1000" spc="-10" dirty="0">
                <a:latin typeface="Arial"/>
                <a:cs typeface="Arial"/>
              </a:rPr>
              <a:t>Various </a:t>
            </a:r>
            <a:r>
              <a:rPr sz="1000" spc="-5" dirty="0">
                <a:latin typeface="Arial"/>
                <a:cs typeface="Arial"/>
              </a:rPr>
              <a:t>main</a:t>
            </a:r>
            <a:r>
              <a:rPr sz="1000" spc="-30" dirty="0">
                <a:latin typeface="Arial"/>
                <a:cs typeface="Arial"/>
              </a:rPr>
              <a:t> </a:t>
            </a:r>
            <a:r>
              <a:rPr sz="1000" spc="-5" dirty="0">
                <a:latin typeface="Arial"/>
                <a:cs typeface="Arial"/>
              </a:rPr>
              <a:t>clock source</a:t>
            </a:r>
            <a:endParaRPr sz="1000" dirty="0">
              <a:latin typeface="Arial"/>
              <a:cs typeface="Arial"/>
            </a:endParaRPr>
          </a:p>
          <a:p>
            <a:pPr marL="400050" lvl="1" indent="-109220">
              <a:lnSpc>
                <a:spcPct val="100000"/>
              </a:lnSpc>
              <a:spcBef>
                <a:spcPts val="760"/>
              </a:spcBef>
              <a:buFont typeface="Wingdings"/>
              <a:buChar char=""/>
              <a:tabLst>
                <a:tab pos="400685" algn="l"/>
              </a:tabLst>
            </a:pPr>
            <a:r>
              <a:rPr sz="1000" spc="-5" dirty="0">
                <a:latin typeface="Arial"/>
                <a:cs typeface="Arial"/>
              </a:rPr>
              <a:t>Internal</a:t>
            </a:r>
            <a:r>
              <a:rPr sz="1000" spc="-10" dirty="0">
                <a:latin typeface="Arial"/>
                <a:cs typeface="Arial"/>
              </a:rPr>
              <a:t> </a:t>
            </a:r>
            <a:r>
              <a:rPr sz="1000" spc="-5" dirty="0">
                <a:latin typeface="Arial"/>
                <a:cs typeface="Arial"/>
              </a:rPr>
              <a:t>DPLL</a:t>
            </a:r>
            <a:r>
              <a:rPr sz="1000" dirty="0">
                <a:latin typeface="Arial"/>
                <a:cs typeface="Arial"/>
              </a:rPr>
              <a:t> </a:t>
            </a:r>
            <a:r>
              <a:rPr sz="1000" spc="-5" dirty="0">
                <a:latin typeface="Arial"/>
                <a:cs typeface="Arial"/>
              </a:rPr>
              <a:t>:</a:t>
            </a:r>
            <a:r>
              <a:rPr sz="1000" dirty="0">
                <a:latin typeface="Arial"/>
                <a:cs typeface="Arial"/>
              </a:rPr>
              <a:t> </a:t>
            </a:r>
            <a:r>
              <a:rPr sz="1000" spc="-5" dirty="0">
                <a:latin typeface="Arial"/>
                <a:cs typeface="Arial"/>
              </a:rPr>
              <a:t>Reference</a:t>
            </a:r>
            <a:r>
              <a:rPr sz="1000" spc="-25" dirty="0">
                <a:latin typeface="Arial"/>
                <a:cs typeface="Arial"/>
              </a:rPr>
              <a:t> </a:t>
            </a:r>
            <a:r>
              <a:rPr sz="1000" spc="-5" dirty="0">
                <a:latin typeface="Arial"/>
                <a:cs typeface="Arial"/>
              </a:rPr>
              <a:t>clock</a:t>
            </a:r>
            <a:r>
              <a:rPr sz="1000" spc="5" dirty="0">
                <a:latin typeface="Arial"/>
                <a:cs typeface="Arial"/>
              </a:rPr>
              <a:t> </a:t>
            </a:r>
            <a:r>
              <a:rPr sz="1000" spc="-5" dirty="0">
                <a:latin typeface="Arial"/>
                <a:cs typeface="Arial"/>
              </a:rPr>
              <a:t>source</a:t>
            </a:r>
            <a:r>
              <a:rPr sz="1000" spc="-15" dirty="0">
                <a:latin typeface="Arial"/>
                <a:cs typeface="Arial"/>
              </a:rPr>
              <a:t> </a:t>
            </a:r>
            <a:r>
              <a:rPr sz="1000" spc="-5" dirty="0">
                <a:latin typeface="Arial"/>
                <a:cs typeface="Arial"/>
              </a:rPr>
              <a:t>16.128MHz locked</a:t>
            </a:r>
            <a:r>
              <a:rPr sz="1000" spc="-15" dirty="0">
                <a:latin typeface="Arial"/>
                <a:cs typeface="Arial"/>
              </a:rPr>
              <a:t> </a:t>
            </a:r>
            <a:r>
              <a:rPr sz="1000" spc="-5" dirty="0">
                <a:latin typeface="Arial"/>
                <a:cs typeface="Arial"/>
              </a:rPr>
              <a:t>by</a:t>
            </a:r>
            <a:r>
              <a:rPr sz="1000" spc="-10" dirty="0">
                <a:latin typeface="Arial"/>
                <a:cs typeface="Arial"/>
              </a:rPr>
              <a:t> </a:t>
            </a:r>
            <a:r>
              <a:rPr lang="en-US" sz="1000" spc="-10" dirty="0">
                <a:latin typeface="Arial"/>
                <a:cs typeface="Arial"/>
              </a:rPr>
              <a:t>a </a:t>
            </a:r>
            <a:r>
              <a:rPr sz="1000" spc="-10" dirty="0">
                <a:latin typeface="Arial"/>
                <a:cs typeface="Arial"/>
              </a:rPr>
              <a:t>VSYNC</a:t>
            </a:r>
            <a:r>
              <a:rPr lang="en-US" sz="1000" spc="-10" dirty="0">
                <a:latin typeface="Arial"/>
                <a:cs typeface="Arial"/>
              </a:rPr>
              <a:t>. (not recommended)</a:t>
            </a:r>
            <a:endParaRPr sz="1000" dirty="0">
              <a:latin typeface="Arial"/>
              <a:cs typeface="Arial"/>
            </a:endParaRPr>
          </a:p>
          <a:p>
            <a:pPr marL="400050" lvl="1" indent="-109220">
              <a:lnSpc>
                <a:spcPct val="100000"/>
              </a:lnSpc>
              <a:spcBef>
                <a:spcPts val="600"/>
              </a:spcBef>
              <a:buFont typeface="Wingdings"/>
              <a:buChar char=""/>
              <a:tabLst>
                <a:tab pos="400685" algn="l"/>
              </a:tabLst>
            </a:pPr>
            <a:r>
              <a:rPr sz="1000" dirty="0">
                <a:latin typeface="Arial"/>
                <a:cs typeface="Arial"/>
              </a:rPr>
              <a:t>The</a:t>
            </a:r>
            <a:r>
              <a:rPr sz="1000" spc="-15" dirty="0">
                <a:latin typeface="Arial"/>
                <a:cs typeface="Arial"/>
              </a:rPr>
              <a:t> </a:t>
            </a:r>
            <a:r>
              <a:rPr sz="1000" spc="-5" dirty="0">
                <a:latin typeface="Arial"/>
                <a:cs typeface="Arial"/>
              </a:rPr>
              <a:t>external</a:t>
            </a:r>
            <a:r>
              <a:rPr sz="1000" spc="-20" dirty="0">
                <a:latin typeface="Arial"/>
                <a:cs typeface="Arial"/>
              </a:rPr>
              <a:t> </a:t>
            </a:r>
            <a:r>
              <a:rPr sz="1000" spc="-5" dirty="0">
                <a:latin typeface="Arial"/>
                <a:cs typeface="Arial"/>
              </a:rPr>
              <a:t>clock</a:t>
            </a:r>
            <a:r>
              <a:rPr sz="1000" spc="5" dirty="0">
                <a:latin typeface="Arial"/>
                <a:cs typeface="Arial"/>
              </a:rPr>
              <a:t> </a:t>
            </a:r>
            <a:r>
              <a:rPr sz="1000" spc="-5" dirty="0">
                <a:latin typeface="Arial"/>
                <a:cs typeface="Arial"/>
              </a:rPr>
              <a:t>source</a:t>
            </a:r>
            <a:r>
              <a:rPr sz="1000" spc="-15" dirty="0">
                <a:latin typeface="Arial"/>
                <a:cs typeface="Arial"/>
              </a:rPr>
              <a:t> </a:t>
            </a:r>
            <a:r>
              <a:rPr sz="1000" spc="-5" dirty="0">
                <a:latin typeface="Arial"/>
                <a:cs typeface="Arial"/>
              </a:rPr>
              <a:t>up</a:t>
            </a:r>
            <a:r>
              <a:rPr sz="1000" spc="-10" dirty="0">
                <a:latin typeface="Arial"/>
                <a:cs typeface="Arial"/>
              </a:rPr>
              <a:t> </a:t>
            </a:r>
            <a:r>
              <a:rPr sz="1000" spc="-5" dirty="0">
                <a:latin typeface="Arial"/>
                <a:cs typeface="Arial"/>
              </a:rPr>
              <a:t>to</a:t>
            </a:r>
            <a:r>
              <a:rPr sz="1000" dirty="0">
                <a:latin typeface="Arial"/>
                <a:cs typeface="Arial"/>
              </a:rPr>
              <a:t> </a:t>
            </a:r>
            <a:r>
              <a:rPr sz="1000" spc="-5" dirty="0">
                <a:latin typeface="Arial"/>
                <a:cs typeface="Arial"/>
              </a:rPr>
              <a:t>30MHz</a:t>
            </a:r>
            <a:r>
              <a:rPr sz="1000" spc="5" dirty="0">
                <a:latin typeface="Arial"/>
                <a:cs typeface="Arial"/>
              </a:rPr>
              <a:t> </a:t>
            </a:r>
            <a:r>
              <a:rPr sz="1000" spc="-5" dirty="0">
                <a:latin typeface="Arial"/>
                <a:cs typeface="Arial"/>
              </a:rPr>
              <a:t>(depends on</a:t>
            </a:r>
            <a:r>
              <a:rPr sz="1000" spc="5" dirty="0">
                <a:latin typeface="Arial"/>
                <a:cs typeface="Arial"/>
              </a:rPr>
              <a:t> </a:t>
            </a:r>
            <a:r>
              <a:rPr sz="1000" spc="-5" dirty="0">
                <a:latin typeface="Arial"/>
                <a:cs typeface="Arial"/>
              </a:rPr>
              <a:t>the</a:t>
            </a:r>
            <a:r>
              <a:rPr sz="1000" spc="-15" dirty="0">
                <a:latin typeface="Arial"/>
                <a:cs typeface="Arial"/>
              </a:rPr>
              <a:t> </a:t>
            </a:r>
            <a:r>
              <a:rPr sz="1000" spc="-10" dirty="0">
                <a:latin typeface="Arial"/>
                <a:cs typeface="Arial"/>
              </a:rPr>
              <a:t>system</a:t>
            </a:r>
            <a:r>
              <a:rPr sz="1000" spc="30" dirty="0">
                <a:latin typeface="Arial"/>
                <a:cs typeface="Arial"/>
              </a:rPr>
              <a:t> </a:t>
            </a:r>
            <a:r>
              <a:rPr sz="1000" spc="-5" dirty="0">
                <a:latin typeface="Arial"/>
                <a:cs typeface="Arial"/>
              </a:rPr>
              <a:t>design</a:t>
            </a:r>
            <a:r>
              <a:rPr sz="1000" spc="-15" dirty="0">
                <a:latin typeface="Arial"/>
                <a:cs typeface="Arial"/>
              </a:rPr>
              <a:t> </a:t>
            </a:r>
            <a:r>
              <a:rPr sz="1000" spc="-5" dirty="0">
                <a:latin typeface="Arial"/>
                <a:cs typeface="Arial"/>
              </a:rPr>
              <a:t>specification)</a:t>
            </a:r>
            <a:endParaRPr sz="1000" dirty="0">
              <a:latin typeface="Arial"/>
              <a:cs typeface="Arial"/>
            </a:endParaRPr>
          </a:p>
          <a:p>
            <a:pPr lvl="1">
              <a:lnSpc>
                <a:spcPct val="100000"/>
              </a:lnSpc>
              <a:spcBef>
                <a:spcPts val="5"/>
              </a:spcBef>
              <a:buFont typeface="Wingdings"/>
              <a:buChar char=""/>
            </a:pPr>
            <a:endParaRPr sz="900" dirty="0">
              <a:latin typeface="Arial"/>
              <a:cs typeface="Arial"/>
            </a:endParaRPr>
          </a:p>
          <a:p>
            <a:pPr marL="184785" indent="-172720">
              <a:lnSpc>
                <a:spcPct val="100000"/>
              </a:lnSpc>
              <a:spcBef>
                <a:spcPts val="5"/>
              </a:spcBef>
              <a:buChar char="•"/>
              <a:tabLst>
                <a:tab pos="184785" algn="l"/>
                <a:tab pos="185420" algn="l"/>
              </a:tabLst>
            </a:pPr>
            <a:r>
              <a:rPr sz="1000" spc="-5" dirty="0">
                <a:latin typeface="Arial"/>
                <a:cs typeface="Arial"/>
              </a:rPr>
              <a:t>TTL-level</a:t>
            </a:r>
            <a:r>
              <a:rPr sz="1000" spc="-30" dirty="0">
                <a:latin typeface="Arial"/>
                <a:cs typeface="Arial"/>
              </a:rPr>
              <a:t> </a:t>
            </a:r>
            <a:r>
              <a:rPr sz="1000" spc="-5" dirty="0">
                <a:latin typeface="Arial"/>
                <a:cs typeface="Arial"/>
              </a:rPr>
              <a:t>input</a:t>
            </a:r>
            <a:r>
              <a:rPr sz="1000" spc="-20" dirty="0">
                <a:latin typeface="Arial"/>
                <a:cs typeface="Arial"/>
              </a:rPr>
              <a:t> </a:t>
            </a:r>
            <a:r>
              <a:rPr sz="1000" spc="-5" dirty="0">
                <a:latin typeface="Arial"/>
                <a:cs typeface="Arial"/>
              </a:rPr>
              <a:t>range</a:t>
            </a:r>
            <a:endParaRPr sz="1000" dirty="0">
              <a:latin typeface="Arial"/>
              <a:cs typeface="Arial"/>
            </a:endParaRPr>
          </a:p>
          <a:p>
            <a:pPr>
              <a:lnSpc>
                <a:spcPct val="100000"/>
              </a:lnSpc>
              <a:spcBef>
                <a:spcPts val="45"/>
              </a:spcBef>
              <a:buFont typeface="Arial"/>
              <a:buChar char="•"/>
            </a:pPr>
            <a:endParaRPr sz="1000" dirty="0">
              <a:latin typeface="Arial"/>
              <a:cs typeface="Arial"/>
            </a:endParaRPr>
          </a:p>
          <a:p>
            <a:pPr marL="184785" indent="-172720">
              <a:lnSpc>
                <a:spcPct val="100000"/>
              </a:lnSpc>
              <a:spcBef>
                <a:spcPts val="5"/>
              </a:spcBef>
              <a:buChar char="•"/>
              <a:tabLst>
                <a:tab pos="184785" algn="l"/>
                <a:tab pos="185420" algn="l"/>
              </a:tabLst>
            </a:pPr>
            <a:r>
              <a:rPr sz="1000" spc="-10" dirty="0">
                <a:latin typeface="Arial"/>
                <a:cs typeface="Arial"/>
              </a:rPr>
              <a:t>Supply</a:t>
            </a:r>
            <a:r>
              <a:rPr sz="1000" spc="-5" dirty="0">
                <a:latin typeface="Arial"/>
                <a:cs typeface="Arial"/>
              </a:rPr>
              <a:t> </a:t>
            </a:r>
            <a:r>
              <a:rPr sz="1000" spc="-10" dirty="0">
                <a:latin typeface="Arial"/>
                <a:cs typeface="Arial"/>
              </a:rPr>
              <a:t>voltage</a:t>
            </a:r>
            <a:r>
              <a:rPr sz="1000" dirty="0">
                <a:latin typeface="Arial"/>
                <a:cs typeface="Arial"/>
              </a:rPr>
              <a:t> </a:t>
            </a:r>
            <a:r>
              <a:rPr sz="1000" spc="-5" dirty="0">
                <a:latin typeface="Arial"/>
                <a:cs typeface="Arial"/>
              </a:rPr>
              <a:t>4.5V</a:t>
            </a:r>
            <a:r>
              <a:rPr sz="1000" spc="-25" dirty="0">
                <a:latin typeface="Arial"/>
                <a:cs typeface="Arial"/>
              </a:rPr>
              <a:t> </a:t>
            </a:r>
            <a:r>
              <a:rPr sz="1000" spc="-5" dirty="0">
                <a:latin typeface="Arial"/>
                <a:cs typeface="Arial"/>
              </a:rPr>
              <a:t>~ 5.5V</a:t>
            </a:r>
            <a:endParaRPr sz="1000" dirty="0">
              <a:latin typeface="Arial"/>
              <a:cs typeface="Arial"/>
            </a:endParaRPr>
          </a:p>
          <a:p>
            <a:pPr>
              <a:lnSpc>
                <a:spcPct val="100000"/>
              </a:lnSpc>
              <a:spcBef>
                <a:spcPts val="45"/>
              </a:spcBef>
              <a:buFont typeface="Arial"/>
              <a:buChar char="•"/>
            </a:pPr>
            <a:endParaRPr sz="1000" dirty="0">
              <a:latin typeface="Arial"/>
              <a:cs typeface="Arial"/>
            </a:endParaRPr>
          </a:p>
          <a:p>
            <a:pPr marL="184785" indent="-172720">
              <a:lnSpc>
                <a:spcPct val="100000"/>
              </a:lnSpc>
              <a:spcBef>
                <a:spcPts val="5"/>
              </a:spcBef>
              <a:buChar char="•"/>
              <a:tabLst>
                <a:tab pos="184785" algn="l"/>
                <a:tab pos="185420" algn="l"/>
              </a:tabLst>
            </a:pPr>
            <a:r>
              <a:rPr sz="1000" spc="-10" dirty="0">
                <a:latin typeface="Arial"/>
                <a:cs typeface="Arial"/>
              </a:rPr>
              <a:t>68pin</a:t>
            </a:r>
            <a:r>
              <a:rPr sz="1000" spc="-20" dirty="0">
                <a:latin typeface="Arial"/>
                <a:cs typeface="Arial"/>
              </a:rPr>
              <a:t> </a:t>
            </a:r>
            <a:r>
              <a:rPr sz="1000" spc="-5" dirty="0">
                <a:latin typeface="Arial"/>
                <a:cs typeface="Arial"/>
              </a:rPr>
              <a:t>QFN</a:t>
            </a:r>
            <a:r>
              <a:rPr sz="1000" spc="-15" dirty="0">
                <a:latin typeface="Arial"/>
                <a:cs typeface="Arial"/>
              </a:rPr>
              <a:t> </a:t>
            </a:r>
            <a:r>
              <a:rPr sz="1000" spc="-5" dirty="0">
                <a:latin typeface="Arial"/>
                <a:cs typeface="Arial"/>
              </a:rPr>
              <a:t>Package</a:t>
            </a:r>
            <a:endParaRPr sz="1000" dirty="0">
              <a:latin typeface="Arial"/>
              <a:cs typeface="Arial"/>
            </a:endParaRPr>
          </a:p>
          <a:p>
            <a:pPr>
              <a:lnSpc>
                <a:spcPct val="100000"/>
              </a:lnSpc>
              <a:spcBef>
                <a:spcPts val="45"/>
              </a:spcBef>
              <a:buFont typeface="Arial"/>
              <a:buChar char="•"/>
            </a:pPr>
            <a:endParaRPr sz="1000" dirty="0">
              <a:latin typeface="Arial"/>
              <a:cs typeface="Arial"/>
            </a:endParaRPr>
          </a:p>
          <a:p>
            <a:pPr marL="184785" indent="-172720">
              <a:lnSpc>
                <a:spcPct val="100000"/>
              </a:lnSpc>
              <a:spcBef>
                <a:spcPts val="5"/>
              </a:spcBef>
              <a:buChar char="•"/>
              <a:tabLst>
                <a:tab pos="184785" algn="l"/>
                <a:tab pos="185420" algn="l"/>
              </a:tabLst>
            </a:pPr>
            <a:r>
              <a:rPr sz="1000" spc="-5" dirty="0">
                <a:latin typeface="Arial"/>
                <a:cs typeface="Arial"/>
              </a:rPr>
              <a:t>Latch-up</a:t>
            </a:r>
            <a:r>
              <a:rPr sz="1000" spc="-25" dirty="0">
                <a:latin typeface="Arial"/>
                <a:cs typeface="Arial"/>
              </a:rPr>
              <a:t> </a:t>
            </a:r>
            <a:r>
              <a:rPr sz="1000" dirty="0">
                <a:latin typeface="Arial"/>
                <a:cs typeface="Arial"/>
              </a:rPr>
              <a:t>Immunity</a:t>
            </a:r>
            <a:r>
              <a:rPr sz="1000" spc="-35" dirty="0">
                <a:latin typeface="Arial"/>
                <a:cs typeface="Arial"/>
              </a:rPr>
              <a:t> </a:t>
            </a:r>
            <a:r>
              <a:rPr sz="1000" spc="-5" dirty="0">
                <a:latin typeface="Arial"/>
                <a:cs typeface="Arial"/>
              </a:rPr>
              <a:t>ILATCH: JEDEC</a:t>
            </a:r>
            <a:r>
              <a:rPr sz="1000" spc="10" dirty="0">
                <a:latin typeface="Arial"/>
                <a:cs typeface="Arial"/>
              </a:rPr>
              <a:t> </a:t>
            </a:r>
            <a:r>
              <a:rPr sz="1000" spc="-5" dirty="0">
                <a:latin typeface="Arial"/>
                <a:cs typeface="Arial"/>
              </a:rPr>
              <a:t>JESD78D Nov 2011: </a:t>
            </a:r>
            <a:r>
              <a:rPr sz="1000" spc="-5" dirty="0">
                <a:latin typeface="맑은 고딕"/>
                <a:cs typeface="맑은 고딕"/>
              </a:rPr>
              <a:t>±</a:t>
            </a:r>
            <a:r>
              <a:rPr sz="1000" spc="-5" dirty="0">
                <a:latin typeface="Arial"/>
                <a:cs typeface="Arial"/>
              </a:rPr>
              <a:t>100mA</a:t>
            </a:r>
            <a:endParaRPr sz="1000" dirty="0">
              <a:latin typeface="Arial"/>
              <a:cs typeface="Arial"/>
            </a:endParaRPr>
          </a:p>
          <a:p>
            <a:pPr>
              <a:lnSpc>
                <a:spcPct val="100000"/>
              </a:lnSpc>
              <a:spcBef>
                <a:spcPts val="45"/>
              </a:spcBef>
              <a:buFont typeface="Arial"/>
              <a:buChar char="•"/>
            </a:pPr>
            <a:endParaRPr sz="1000" dirty="0">
              <a:latin typeface="Arial"/>
              <a:cs typeface="Arial"/>
            </a:endParaRPr>
          </a:p>
          <a:p>
            <a:pPr marL="184785" indent="-172720">
              <a:lnSpc>
                <a:spcPct val="100000"/>
              </a:lnSpc>
              <a:spcBef>
                <a:spcPts val="5"/>
              </a:spcBef>
              <a:buChar char="•"/>
              <a:tabLst>
                <a:tab pos="184785" algn="l"/>
                <a:tab pos="185420" algn="l"/>
              </a:tabLst>
            </a:pPr>
            <a:r>
              <a:rPr sz="1000" spc="-5" dirty="0">
                <a:latin typeface="Arial"/>
                <a:cs typeface="Arial"/>
              </a:rPr>
              <a:t>ESD,</a:t>
            </a:r>
            <a:r>
              <a:rPr sz="1000" dirty="0">
                <a:latin typeface="Arial"/>
                <a:cs typeface="Arial"/>
              </a:rPr>
              <a:t> </a:t>
            </a:r>
            <a:r>
              <a:rPr sz="1000" spc="-5" dirty="0">
                <a:latin typeface="Arial"/>
                <a:cs typeface="Arial"/>
              </a:rPr>
              <a:t>HBM</a:t>
            </a:r>
            <a:r>
              <a:rPr sz="1000" spc="5" dirty="0">
                <a:latin typeface="Arial"/>
                <a:cs typeface="Arial"/>
              </a:rPr>
              <a:t> </a:t>
            </a:r>
            <a:r>
              <a:rPr sz="1000" spc="-5" dirty="0">
                <a:latin typeface="Arial"/>
                <a:cs typeface="Arial"/>
              </a:rPr>
              <a:t>protection</a:t>
            </a:r>
            <a:r>
              <a:rPr sz="1000" spc="-25" dirty="0">
                <a:latin typeface="Arial"/>
                <a:cs typeface="Arial"/>
              </a:rPr>
              <a:t> </a:t>
            </a:r>
            <a:r>
              <a:rPr sz="1000" dirty="0">
                <a:latin typeface="Arial"/>
                <a:cs typeface="Arial"/>
              </a:rPr>
              <a:t>(Norm:</a:t>
            </a:r>
            <a:r>
              <a:rPr sz="1000" spc="-5" dirty="0">
                <a:latin typeface="Arial"/>
                <a:cs typeface="Arial"/>
              </a:rPr>
              <a:t> MIL 883</a:t>
            </a:r>
            <a:r>
              <a:rPr sz="1000" spc="-25" dirty="0">
                <a:latin typeface="Arial"/>
                <a:cs typeface="Arial"/>
              </a:rPr>
              <a:t> </a:t>
            </a:r>
            <a:r>
              <a:rPr sz="1000" spc="-5" dirty="0">
                <a:latin typeface="Arial"/>
                <a:cs typeface="Arial"/>
              </a:rPr>
              <a:t>E</a:t>
            </a:r>
            <a:r>
              <a:rPr sz="1000" spc="5" dirty="0">
                <a:latin typeface="Arial"/>
                <a:cs typeface="Arial"/>
              </a:rPr>
              <a:t> </a:t>
            </a:r>
            <a:r>
              <a:rPr sz="1000" spc="-5" dirty="0">
                <a:latin typeface="Arial"/>
                <a:cs typeface="Arial"/>
              </a:rPr>
              <a:t>Method</a:t>
            </a:r>
            <a:r>
              <a:rPr sz="1000" spc="-10" dirty="0">
                <a:latin typeface="Arial"/>
                <a:cs typeface="Arial"/>
              </a:rPr>
              <a:t> </a:t>
            </a:r>
            <a:r>
              <a:rPr sz="1000" spc="-5" dirty="0">
                <a:latin typeface="Arial"/>
                <a:cs typeface="Arial"/>
              </a:rPr>
              <a:t>3015</a:t>
            </a:r>
            <a:r>
              <a:rPr sz="1000" spc="-20" dirty="0">
                <a:latin typeface="Arial"/>
                <a:cs typeface="Arial"/>
              </a:rPr>
              <a:t> </a:t>
            </a:r>
            <a:r>
              <a:rPr sz="1000" dirty="0">
                <a:latin typeface="Arial"/>
                <a:cs typeface="Arial"/>
              </a:rPr>
              <a:t>Human</a:t>
            </a:r>
            <a:r>
              <a:rPr sz="1000" spc="-30" dirty="0">
                <a:latin typeface="Arial"/>
                <a:cs typeface="Arial"/>
              </a:rPr>
              <a:t> </a:t>
            </a:r>
            <a:r>
              <a:rPr sz="1000" spc="-5" dirty="0">
                <a:latin typeface="Arial"/>
                <a:cs typeface="Arial"/>
              </a:rPr>
              <a:t>Body Model):</a:t>
            </a:r>
            <a:r>
              <a:rPr sz="1000" spc="25" dirty="0">
                <a:latin typeface="Arial"/>
                <a:cs typeface="Arial"/>
              </a:rPr>
              <a:t> </a:t>
            </a:r>
            <a:r>
              <a:rPr sz="1000" spc="-5" dirty="0">
                <a:latin typeface="맑은 고딕"/>
                <a:cs typeface="맑은 고딕"/>
              </a:rPr>
              <a:t>±</a:t>
            </a:r>
            <a:r>
              <a:rPr sz="1000" spc="-5" dirty="0">
                <a:latin typeface="Arial"/>
                <a:cs typeface="Arial"/>
              </a:rPr>
              <a:t>2kV</a:t>
            </a:r>
            <a:endParaRPr sz="1000" dirty="0">
              <a:latin typeface="Arial"/>
              <a:cs typeface="Arial"/>
            </a:endParaRPr>
          </a:p>
        </p:txBody>
      </p:sp>
      <p:sp>
        <p:nvSpPr>
          <p:cNvPr id="10" name="object 9">
            <a:extLst>
              <a:ext uri="{FF2B5EF4-FFF2-40B4-BE49-F238E27FC236}">
                <a16:creationId xmlns:a16="http://schemas.microsoft.com/office/drawing/2014/main" id="{DD56D143-6889-9E89-7A03-537B0524475F}"/>
              </a:ext>
            </a:extLst>
          </p:cNvPr>
          <p:cNvSpPr txBox="1"/>
          <p:nvPr/>
        </p:nvSpPr>
        <p:spPr>
          <a:xfrm>
            <a:off x="304800" y="9067800"/>
            <a:ext cx="2078355" cy="289823"/>
          </a:xfrm>
          <a:prstGeom prst="rect">
            <a:avLst/>
          </a:prstGeom>
        </p:spPr>
        <p:txBody>
          <a:bodyPr vert="horz" wrap="square" lIns="0" tIns="12700" rIns="0" bIns="0" rtlCol="0">
            <a:spAutoFit/>
          </a:bodyPr>
          <a:lstStyle/>
          <a:p>
            <a:pPr marL="12700">
              <a:lnSpc>
                <a:spcPct val="100000"/>
              </a:lnSpc>
              <a:spcBef>
                <a:spcPts val="100"/>
              </a:spcBef>
            </a:pPr>
            <a:r>
              <a:rPr b="1" spc="-5" dirty="0">
                <a:solidFill>
                  <a:srgbClr val="FF0000"/>
                </a:solidFill>
                <a:cs typeface="Perpetua Titling MT"/>
              </a:rPr>
              <a:t>CONFIDENTIAL</a:t>
            </a:r>
            <a:endParaRPr dirty="0">
              <a:cs typeface="Perpetua Titling MT"/>
            </a:endParaRPr>
          </a:p>
        </p:txBody>
      </p:sp>
      <p:sp>
        <p:nvSpPr>
          <p:cNvPr id="11" name="object 6">
            <a:extLst>
              <a:ext uri="{FF2B5EF4-FFF2-40B4-BE49-F238E27FC236}">
                <a16:creationId xmlns:a16="http://schemas.microsoft.com/office/drawing/2014/main" id="{05A51F05-BC8E-8D4E-13CC-B9F9EE63AF35}"/>
              </a:ext>
            </a:extLst>
          </p:cNvPr>
          <p:cNvSpPr/>
          <p:nvPr/>
        </p:nvSpPr>
        <p:spPr>
          <a:xfrm>
            <a:off x="301676" y="9458756"/>
            <a:ext cx="6246495" cy="0"/>
          </a:xfrm>
          <a:custGeom>
            <a:avLst/>
            <a:gdLst/>
            <a:ahLst/>
            <a:cxnLst/>
            <a:rect l="l" t="t" r="r" b="b"/>
            <a:pathLst>
              <a:path w="6246495">
                <a:moveTo>
                  <a:pt x="0" y="0"/>
                </a:moveTo>
                <a:lnTo>
                  <a:pt x="6245999" y="0"/>
                </a:lnTo>
              </a:path>
            </a:pathLst>
          </a:custGeom>
          <a:ln w="25920">
            <a:solidFill>
              <a:srgbClr val="BFBFBF"/>
            </a:solidFill>
          </a:ln>
        </p:spPr>
        <p:txBody>
          <a:bodyPr wrap="square" lIns="0" tIns="0" rIns="0" bIns="0" rtlCol="0"/>
          <a:lstStyle/>
          <a:p>
            <a:endParaRPr/>
          </a:p>
        </p:txBody>
      </p:sp>
      <p:sp>
        <p:nvSpPr>
          <p:cNvPr id="12" name="슬라이드 번호 개체 틀 3">
            <a:hlinkClick r:id="rId2"/>
            <a:extLst>
              <a:ext uri="{FF2B5EF4-FFF2-40B4-BE49-F238E27FC236}">
                <a16:creationId xmlns:a16="http://schemas.microsoft.com/office/drawing/2014/main" id="{A6BBDC93-A704-0069-52E9-34F2A16E0F14}"/>
              </a:ext>
            </a:extLst>
          </p:cNvPr>
          <p:cNvSpPr txBox="1">
            <a:spLocks/>
          </p:cNvSpPr>
          <p:nvPr/>
        </p:nvSpPr>
        <p:spPr>
          <a:xfrm>
            <a:off x="5151602" y="9452864"/>
            <a:ext cx="1487550"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dirty="0">
                <a:solidFill>
                  <a:prstClr val="black"/>
                </a:solidFill>
                <a:latin typeface="Arial" panose="020B0604020202020204" pitchFamily="34" charset="0"/>
                <a:cs typeface="Arial" panose="020B0604020202020204" pitchFamily="34" charset="0"/>
              </a:rPr>
              <a:t>http://www.glbltech.com/</a:t>
            </a:r>
            <a:endParaRPr lang="ko-KR" altLang="en-US" dirty="0">
              <a:solidFill>
                <a:prstClr val="black"/>
              </a:solidFill>
              <a:latin typeface="Arial" panose="020B0604020202020204" pitchFamily="34" charset="0"/>
              <a:cs typeface="Arial" panose="020B0604020202020204" pitchFamily="34" charset="0"/>
            </a:endParaRPr>
          </a:p>
        </p:txBody>
      </p:sp>
      <p:sp>
        <p:nvSpPr>
          <p:cNvPr id="13" name="object 38">
            <a:extLst>
              <a:ext uri="{FF2B5EF4-FFF2-40B4-BE49-F238E27FC236}">
                <a16:creationId xmlns:a16="http://schemas.microsoft.com/office/drawing/2014/main" id="{BDBFB0E7-628A-A8C9-FE06-4AC58770A414}"/>
              </a:ext>
            </a:extLst>
          </p:cNvPr>
          <p:cNvSpPr txBox="1">
            <a:spLocks/>
          </p:cNvSpPr>
          <p:nvPr/>
        </p:nvSpPr>
        <p:spPr>
          <a:xfrm>
            <a:off x="3309066" y="9547988"/>
            <a:ext cx="487045" cy="139141"/>
          </a:xfrm>
          <a:prstGeom prst="rect">
            <a:avLst/>
          </a:prstGeom>
        </p:spPr>
        <p:txBody>
          <a:bodyPr vert="horz" wrap="square" lIns="0" tIns="635" rIns="0" bIns="0" rtlCol="0">
            <a:spAutoFit/>
          </a:bodyPr>
          <a:lstStyle>
            <a:defPPr>
              <a:defRPr lang="ko-KR"/>
            </a:defPPr>
            <a:lvl1pPr marL="0" algn="l" defTabSz="914400" rtl="0" eaLnBrk="1" latinLnBrk="1" hangingPunct="1">
              <a:defRPr sz="1050" b="0" i="0" kern="1200">
                <a:solidFill>
                  <a:schemeClr val="tx1"/>
                </a:solidFill>
                <a:latin typeface="Arial"/>
                <a:ea typeface="+mn-ea"/>
                <a:cs typeface="Arial"/>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marL="12700">
              <a:spcBef>
                <a:spcPts val="5"/>
              </a:spcBef>
              <a:defRPr/>
            </a:pPr>
            <a:r>
              <a:rPr lang="en-US" sz="900" dirty="0">
                <a:solidFill>
                  <a:prstClr val="black"/>
                </a:solidFill>
              </a:rPr>
              <a:t>Page</a:t>
            </a:r>
            <a:r>
              <a:rPr lang="en-US" sz="900" spc="-60" dirty="0">
                <a:solidFill>
                  <a:prstClr val="black"/>
                </a:solidFill>
              </a:rPr>
              <a:t> </a:t>
            </a:r>
            <a:fld id="{81D60167-4931-47E6-BA6A-407CBD079E47}" type="slidenum">
              <a:rPr sz="900">
                <a:solidFill>
                  <a:prstClr val="black"/>
                </a:solidFill>
              </a:rPr>
              <a:pPr marL="12700">
                <a:spcBef>
                  <a:spcPts val="5"/>
                </a:spcBef>
                <a:defRPr/>
              </a:pPr>
              <a:t>2</a:t>
            </a:fld>
            <a:endParaRPr sz="900" dirty="0">
              <a:solidFill>
                <a:prstClr val="black"/>
              </a:solidFill>
            </a:endParaRPr>
          </a:p>
        </p:txBody>
      </p:sp>
      <p:sp>
        <p:nvSpPr>
          <p:cNvPr id="14" name="슬라이드 번호 개체 틀 3">
            <a:extLst>
              <a:ext uri="{FF2B5EF4-FFF2-40B4-BE49-F238E27FC236}">
                <a16:creationId xmlns:a16="http://schemas.microsoft.com/office/drawing/2014/main" id="{2683E891-64C2-D512-DAA6-C2AF8F86782F}"/>
              </a:ext>
            </a:extLst>
          </p:cNvPr>
          <p:cNvSpPr txBox="1">
            <a:spLocks/>
          </p:cNvSpPr>
          <p:nvPr/>
        </p:nvSpPr>
        <p:spPr>
          <a:xfrm>
            <a:off x="299401" y="9520856"/>
            <a:ext cx="2060991" cy="175259"/>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lang="en-US" altLang="ko-KR" dirty="0">
                <a:solidFill>
                  <a:prstClr val="black"/>
                </a:solidFill>
                <a:latin typeface="Arial" panose="020B0604020202020204" pitchFamily="34" charset="0"/>
                <a:cs typeface="Arial" panose="020B0604020202020204" pitchFamily="34" charset="0"/>
              </a:rPr>
              <a:t>Dated 30-Nov 23  Rev. 01</a:t>
            </a:r>
            <a:endParaRPr lang="ko-KR" altLang="en-US" dirty="0">
              <a:solidFill>
                <a:prstClr val="black"/>
              </a:solidFill>
              <a:latin typeface="Arial" panose="020B0604020202020204" pitchFamily="34" charset="0"/>
              <a:cs typeface="Arial" panose="020B0604020202020204" pitchFamily="34" charset="0"/>
            </a:endParaRPr>
          </a:p>
        </p:txBody>
      </p:sp>
      <p:sp>
        <p:nvSpPr>
          <p:cNvPr id="15" name="Holder 3">
            <a:extLst>
              <a:ext uri="{FF2B5EF4-FFF2-40B4-BE49-F238E27FC236}">
                <a16:creationId xmlns:a16="http://schemas.microsoft.com/office/drawing/2014/main" id="{FDFD67AA-6AEC-AEEF-CA7C-B19B95D2F8F5}"/>
              </a:ext>
            </a:extLst>
          </p:cNvPr>
          <p:cNvSpPr txBox="1">
            <a:spLocks/>
          </p:cNvSpPr>
          <p:nvPr/>
        </p:nvSpPr>
        <p:spPr>
          <a:xfrm>
            <a:off x="5147476" y="203944"/>
            <a:ext cx="1447800" cy="276999"/>
          </a:xfrm>
          <a:prstGeom prst="rect">
            <a:avLst/>
          </a:prstGeom>
        </p:spPr>
        <p:txBody>
          <a:bodyPr wrap="square" lIns="0" tIns="0" rIns="0" bIns="0">
            <a:spAutoFit/>
          </a:bodyPr>
          <a:lstStyle>
            <a:lvl1pPr marL="0">
              <a:defRPr>
                <a:solidFill>
                  <a:srgbClr val="FF99FF"/>
                </a:solidFill>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defTabSz="914400" latinLnBrk="0"/>
            <a:r>
              <a:rPr lang="en-US" sz="1800" kern="0" dirty="0"/>
              <a:t>&lt;Preliminary&gt;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407314" y="929766"/>
            <a:ext cx="1273810" cy="239395"/>
          </a:xfrm>
          <a:prstGeom prst="rect">
            <a:avLst/>
          </a:prstGeom>
        </p:spPr>
        <p:txBody>
          <a:bodyPr vert="horz" wrap="square" lIns="0" tIns="12700" rIns="0" bIns="0" rtlCol="0">
            <a:spAutoFit/>
          </a:bodyPr>
          <a:lstStyle/>
          <a:p>
            <a:pPr marL="12700">
              <a:lnSpc>
                <a:spcPct val="100000"/>
              </a:lnSpc>
              <a:spcBef>
                <a:spcPts val="100"/>
              </a:spcBef>
            </a:pPr>
            <a:r>
              <a:rPr sz="1400" b="1" dirty="0">
                <a:latin typeface="Arial"/>
                <a:cs typeface="Arial"/>
              </a:rPr>
              <a:t>Block</a:t>
            </a:r>
            <a:r>
              <a:rPr sz="1400" b="1" spc="-70" dirty="0">
                <a:latin typeface="Arial"/>
                <a:cs typeface="Arial"/>
              </a:rPr>
              <a:t> </a:t>
            </a:r>
            <a:r>
              <a:rPr sz="1400" b="1" dirty="0">
                <a:latin typeface="Arial"/>
                <a:cs typeface="Arial"/>
              </a:rPr>
              <a:t>Diagram</a:t>
            </a:r>
            <a:endParaRPr sz="1400" dirty="0">
              <a:latin typeface="Arial"/>
              <a:cs typeface="Arial"/>
            </a:endParaRPr>
          </a:p>
        </p:txBody>
      </p:sp>
      <p:sp>
        <p:nvSpPr>
          <p:cNvPr id="6" name="object 6"/>
          <p:cNvSpPr txBox="1"/>
          <p:nvPr/>
        </p:nvSpPr>
        <p:spPr>
          <a:xfrm>
            <a:off x="400913" y="301879"/>
            <a:ext cx="622935" cy="299720"/>
          </a:xfrm>
          <a:prstGeom prst="rect">
            <a:avLst/>
          </a:prstGeom>
        </p:spPr>
        <p:txBody>
          <a:bodyPr vert="horz" wrap="square" lIns="0" tIns="12700" rIns="0" bIns="0" rtlCol="0">
            <a:spAutoFit/>
          </a:bodyPr>
          <a:lstStyle/>
          <a:p>
            <a:pPr marL="12700">
              <a:lnSpc>
                <a:spcPct val="100000"/>
              </a:lnSpc>
              <a:spcBef>
                <a:spcPts val="100"/>
              </a:spcBef>
            </a:pPr>
            <a:r>
              <a:rPr sz="1800" b="1" spc="-5" dirty="0">
                <a:latin typeface="Arial"/>
                <a:cs typeface="Arial"/>
              </a:rPr>
              <a:t>CQ24</a:t>
            </a:r>
            <a:endParaRPr sz="1800" dirty="0">
              <a:latin typeface="Arial"/>
              <a:cs typeface="Arial"/>
            </a:endParaRPr>
          </a:p>
        </p:txBody>
      </p:sp>
      <p:sp>
        <p:nvSpPr>
          <p:cNvPr id="7" name="object 7"/>
          <p:cNvSpPr txBox="1"/>
          <p:nvPr/>
        </p:nvSpPr>
        <p:spPr>
          <a:xfrm>
            <a:off x="400914" y="8461277"/>
            <a:ext cx="6038542" cy="436880"/>
          </a:xfrm>
          <a:prstGeom prst="rect">
            <a:avLst/>
          </a:prstGeom>
        </p:spPr>
        <p:txBody>
          <a:bodyPr vert="horz" wrap="square" lIns="0" tIns="12700" rIns="0" bIns="0" rtlCol="0">
            <a:spAutoFit/>
          </a:bodyPr>
          <a:lstStyle/>
          <a:p>
            <a:pPr marL="12700" algn="just">
              <a:lnSpc>
                <a:spcPct val="100000"/>
              </a:lnSpc>
              <a:spcBef>
                <a:spcPts val="100"/>
              </a:spcBef>
            </a:pPr>
            <a:r>
              <a:rPr sz="900" spc="-5" dirty="0">
                <a:latin typeface="Arial"/>
                <a:cs typeface="Arial"/>
              </a:rPr>
              <a:t>Note</a:t>
            </a:r>
            <a:r>
              <a:rPr sz="900" spc="-50" dirty="0">
                <a:latin typeface="Arial"/>
                <a:cs typeface="Arial"/>
              </a:rPr>
              <a:t> </a:t>
            </a:r>
            <a:r>
              <a:rPr sz="900" dirty="0">
                <a:latin typeface="Arial"/>
                <a:cs typeface="Arial"/>
              </a:rPr>
              <a:t>:</a:t>
            </a:r>
          </a:p>
          <a:p>
            <a:pPr marL="241300" indent="-228600" algn="just">
              <a:lnSpc>
                <a:spcPct val="100000"/>
              </a:lnSpc>
              <a:buAutoNum type="arabicParenBoth"/>
              <a:tabLst>
                <a:tab pos="241300" algn="l"/>
              </a:tabLst>
            </a:pPr>
            <a:r>
              <a:rPr sz="900" spc="-5" dirty="0">
                <a:latin typeface="Arial"/>
                <a:cs typeface="Arial"/>
              </a:rPr>
              <a:t>The</a:t>
            </a:r>
            <a:r>
              <a:rPr sz="900" dirty="0">
                <a:latin typeface="Arial"/>
                <a:cs typeface="Arial"/>
              </a:rPr>
              <a:t> </a:t>
            </a:r>
            <a:r>
              <a:rPr sz="900" spc="-5" dirty="0">
                <a:latin typeface="Arial"/>
                <a:cs typeface="Arial"/>
              </a:rPr>
              <a:t>values</a:t>
            </a:r>
            <a:r>
              <a:rPr sz="900" spc="-20" dirty="0">
                <a:latin typeface="Arial"/>
                <a:cs typeface="Arial"/>
              </a:rPr>
              <a:t> </a:t>
            </a:r>
            <a:r>
              <a:rPr sz="900" spc="-5" dirty="0">
                <a:latin typeface="Arial"/>
                <a:cs typeface="Arial"/>
              </a:rPr>
              <a:t>depend</a:t>
            </a:r>
            <a:r>
              <a:rPr sz="900" spc="-15" dirty="0">
                <a:latin typeface="Arial"/>
                <a:cs typeface="Arial"/>
              </a:rPr>
              <a:t> </a:t>
            </a:r>
            <a:r>
              <a:rPr sz="900" spc="-5" dirty="0">
                <a:latin typeface="Arial"/>
                <a:cs typeface="Arial"/>
              </a:rPr>
              <a:t>on</a:t>
            </a:r>
            <a:r>
              <a:rPr sz="900" spc="-10" dirty="0">
                <a:latin typeface="Arial"/>
                <a:cs typeface="Arial"/>
              </a:rPr>
              <a:t> </a:t>
            </a:r>
            <a:r>
              <a:rPr sz="900" dirty="0">
                <a:latin typeface="Arial"/>
                <a:cs typeface="Arial"/>
              </a:rPr>
              <a:t>the</a:t>
            </a:r>
            <a:r>
              <a:rPr sz="900" spc="-5" dirty="0">
                <a:latin typeface="Arial"/>
                <a:cs typeface="Arial"/>
              </a:rPr>
              <a:t> </a:t>
            </a:r>
            <a:r>
              <a:rPr sz="900" dirty="0">
                <a:latin typeface="Arial"/>
                <a:cs typeface="Arial"/>
              </a:rPr>
              <a:t>system</a:t>
            </a:r>
            <a:r>
              <a:rPr sz="900" spc="-5" dirty="0">
                <a:latin typeface="Arial"/>
                <a:cs typeface="Arial"/>
              </a:rPr>
              <a:t> </a:t>
            </a:r>
            <a:r>
              <a:rPr sz="900" dirty="0">
                <a:latin typeface="Arial"/>
                <a:cs typeface="Arial"/>
              </a:rPr>
              <a:t>design</a:t>
            </a:r>
            <a:r>
              <a:rPr sz="900" spc="-15" dirty="0">
                <a:latin typeface="Arial"/>
                <a:cs typeface="Arial"/>
              </a:rPr>
              <a:t> </a:t>
            </a:r>
            <a:r>
              <a:rPr sz="900" dirty="0">
                <a:latin typeface="Arial"/>
                <a:cs typeface="Arial"/>
              </a:rPr>
              <a:t>factors,</a:t>
            </a:r>
            <a:r>
              <a:rPr sz="900" spc="-35" dirty="0">
                <a:latin typeface="Arial"/>
                <a:cs typeface="Arial"/>
              </a:rPr>
              <a:t> </a:t>
            </a:r>
            <a:r>
              <a:rPr sz="900" dirty="0">
                <a:latin typeface="Arial"/>
                <a:cs typeface="Arial"/>
              </a:rPr>
              <a:t>the</a:t>
            </a:r>
            <a:r>
              <a:rPr sz="900" spc="-10" dirty="0">
                <a:latin typeface="Arial"/>
                <a:cs typeface="Arial"/>
              </a:rPr>
              <a:t> </a:t>
            </a:r>
            <a:r>
              <a:rPr sz="900" dirty="0">
                <a:latin typeface="Arial"/>
                <a:cs typeface="Arial"/>
              </a:rPr>
              <a:t>dimming</a:t>
            </a:r>
            <a:r>
              <a:rPr sz="900" spc="-30" dirty="0">
                <a:latin typeface="Arial"/>
                <a:cs typeface="Arial"/>
              </a:rPr>
              <a:t> </a:t>
            </a:r>
            <a:r>
              <a:rPr sz="900" dirty="0">
                <a:latin typeface="Arial"/>
                <a:cs typeface="Arial"/>
              </a:rPr>
              <a:t>speed,</a:t>
            </a:r>
            <a:r>
              <a:rPr sz="900" spc="-25" dirty="0">
                <a:latin typeface="Arial"/>
                <a:cs typeface="Arial"/>
              </a:rPr>
              <a:t> </a:t>
            </a:r>
            <a:r>
              <a:rPr sz="900" dirty="0">
                <a:latin typeface="Arial"/>
                <a:cs typeface="Arial"/>
              </a:rPr>
              <a:t>the</a:t>
            </a:r>
            <a:r>
              <a:rPr sz="900" spc="-5" dirty="0">
                <a:latin typeface="Arial"/>
                <a:cs typeface="Arial"/>
              </a:rPr>
              <a:t> </a:t>
            </a:r>
            <a:r>
              <a:rPr sz="900" spc="5" dirty="0">
                <a:latin typeface="Arial"/>
                <a:cs typeface="Arial"/>
              </a:rPr>
              <a:t>fan-out,</a:t>
            </a:r>
            <a:r>
              <a:rPr sz="900" spc="-20" dirty="0">
                <a:latin typeface="Arial"/>
                <a:cs typeface="Arial"/>
              </a:rPr>
              <a:t> </a:t>
            </a:r>
            <a:r>
              <a:rPr sz="900" dirty="0">
                <a:latin typeface="Arial"/>
                <a:cs typeface="Arial"/>
              </a:rPr>
              <a:t>the</a:t>
            </a:r>
            <a:r>
              <a:rPr sz="900" spc="-5" dirty="0">
                <a:latin typeface="Arial"/>
                <a:cs typeface="Arial"/>
              </a:rPr>
              <a:t> </a:t>
            </a:r>
            <a:r>
              <a:rPr sz="900" dirty="0">
                <a:latin typeface="Arial"/>
                <a:cs typeface="Arial"/>
              </a:rPr>
              <a:t>PCB </a:t>
            </a:r>
            <a:r>
              <a:rPr sz="900" spc="-5" dirty="0">
                <a:latin typeface="Arial"/>
                <a:cs typeface="Arial"/>
              </a:rPr>
              <a:t>layout </a:t>
            </a:r>
            <a:r>
              <a:rPr sz="900" dirty="0">
                <a:latin typeface="Arial"/>
                <a:cs typeface="Arial"/>
              </a:rPr>
              <a:t>condition,</a:t>
            </a:r>
            <a:r>
              <a:rPr sz="900" spc="-35" dirty="0">
                <a:latin typeface="Arial"/>
                <a:cs typeface="Arial"/>
              </a:rPr>
              <a:t> </a:t>
            </a:r>
            <a:r>
              <a:rPr sz="900" dirty="0">
                <a:latin typeface="Arial"/>
                <a:cs typeface="Arial"/>
              </a:rPr>
              <a:t>etc.</a:t>
            </a:r>
          </a:p>
          <a:p>
            <a:pPr marL="247015" indent="-234950" algn="just">
              <a:lnSpc>
                <a:spcPct val="100000"/>
              </a:lnSpc>
              <a:buAutoNum type="arabicParenBoth"/>
              <a:tabLst>
                <a:tab pos="247650" algn="l"/>
              </a:tabLst>
            </a:pPr>
            <a:r>
              <a:rPr sz="900" spc="-5" dirty="0">
                <a:latin typeface="Arial"/>
                <a:cs typeface="Arial"/>
              </a:rPr>
              <a:t>The</a:t>
            </a:r>
            <a:r>
              <a:rPr sz="900" spc="5" dirty="0">
                <a:latin typeface="Arial"/>
                <a:cs typeface="Arial"/>
              </a:rPr>
              <a:t> </a:t>
            </a:r>
            <a:r>
              <a:rPr sz="900" dirty="0">
                <a:latin typeface="Arial"/>
                <a:cs typeface="Arial"/>
              </a:rPr>
              <a:t>assignment</a:t>
            </a:r>
            <a:r>
              <a:rPr sz="900" spc="-45" dirty="0">
                <a:latin typeface="Arial"/>
                <a:cs typeface="Arial"/>
              </a:rPr>
              <a:t> </a:t>
            </a:r>
            <a:r>
              <a:rPr sz="900" dirty="0">
                <a:latin typeface="Arial"/>
                <a:cs typeface="Arial"/>
              </a:rPr>
              <a:t>of</a:t>
            </a:r>
            <a:r>
              <a:rPr sz="900" spc="10" dirty="0">
                <a:latin typeface="Arial"/>
                <a:cs typeface="Arial"/>
              </a:rPr>
              <a:t> </a:t>
            </a:r>
            <a:r>
              <a:rPr sz="900" dirty="0">
                <a:latin typeface="Arial"/>
                <a:cs typeface="Arial"/>
              </a:rPr>
              <a:t>ADO</a:t>
            </a:r>
            <a:r>
              <a:rPr sz="900" spc="-5" dirty="0">
                <a:latin typeface="Arial"/>
                <a:cs typeface="Arial"/>
              </a:rPr>
              <a:t> </a:t>
            </a:r>
            <a:r>
              <a:rPr sz="900" dirty="0">
                <a:latin typeface="Arial"/>
                <a:cs typeface="Arial"/>
              </a:rPr>
              <a:t>channels</a:t>
            </a:r>
            <a:r>
              <a:rPr sz="900" spc="-25" dirty="0">
                <a:latin typeface="Arial"/>
                <a:cs typeface="Arial"/>
              </a:rPr>
              <a:t> </a:t>
            </a:r>
            <a:r>
              <a:rPr sz="900" spc="-5" dirty="0">
                <a:latin typeface="Arial"/>
                <a:cs typeface="Arial"/>
              </a:rPr>
              <a:t>and CS/HOLD</a:t>
            </a:r>
            <a:r>
              <a:rPr sz="900" spc="5" dirty="0">
                <a:latin typeface="Arial"/>
                <a:cs typeface="Arial"/>
              </a:rPr>
              <a:t> </a:t>
            </a:r>
            <a:r>
              <a:rPr sz="900" dirty="0">
                <a:latin typeface="Arial"/>
                <a:cs typeface="Arial"/>
              </a:rPr>
              <a:t>channels</a:t>
            </a:r>
            <a:r>
              <a:rPr sz="900" spc="-25" dirty="0">
                <a:latin typeface="Arial"/>
                <a:cs typeface="Arial"/>
              </a:rPr>
              <a:t> </a:t>
            </a:r>
            <a:r>
              <a:rPr sz="900" spc="-5" dirty="0">
                <a:latin typeface="Arial"/>
                <a:cs typeface="Arial"/>
              </a:rPr>
              <a:t>depends</a:t>
            </a:r>
            <a:r>
              <a:rPr sz="900" spc="-25" dirty="0">
                <a:latin typeface="Arial"/>
                <a:cs typeface="Arial"/>
              </a:rPr>
              <a:t> </a:t>
            </a:r>
            <a:r>
              <a:rPr sz="900" spc="-5" dirty="0">
                <a:latin typeface="Arial"/>
                <a:cs typeface="Arial"/>
              </a:rPr>
              <a:t>on </a:t>
            </a:r>
            <a:r>
              <a:rPr sz="900" dirty="0">
                <a:latin typeface="Arial"/>
                <a:cs typeface="Arial"/>
              </a:rPr>
              <a:t>the</a:t>
            </a:r>
            <a:r>
              <a:rPr sz="900" spc="-5" dirty="0">
                <a:latin typeface="Arial"/>
                <a:cs typeface="Arial"/>
              </a:rPr>
              <a:t> drive</a:t>
            </a:r>
            <a:r>
              <a:rPr sz="900" spc="5" dirty="0">
                <a:latin typeface="Arial"/>
                <a:cs typeface="Arial"/>
              </a:rPr>
              <a:t> </a:t>
            </a:r>
            <a:r>
              <a:rPr sz="900" dirty="0">
                <a:latin typeface="Arial"/>
                <a:cs typeface="Arial"/>
              </a:rPr>
              <a:t>mode,</a:t>
            </a:r>
            <a:r>
              <a:rPr sz="900" spc="-20" dirty="0">
                <a:latin typeface="Arial"/>
                <a:cs typeface="Arial"/>
              </a:rPr>
              <a:t> </a:t>
            </a:r>
            <a:r>
              <a:rPr sz="900" dirty="0">
                <a:latin typeface="Arial"/>
                <a:cs typeface="Arial"/>
              </a:rPr>
              <a:t>single</a:t>
            </a:r>
            <a:r>
              <a:rPr sz="900" spc="-30" dirty="0">
                <a:latin typeface="Arial"/>
                <a:cs typeface="Arial"/>
              </a:rPr>
              <a:t> </a:t>
            </a:r>
            <a:r>
              <a:rPr sz="900" spc="-5" dirty="0">
                <a:latin typeface="Arial"/>
                <a:cs typeface="Arial"/>
              </a:rPr>
              <a:t>and dual drive.</a:t>
            </a:r>
            <a:endParaRPr sz="900" dirty="0">
              <a:latin typeface="Arial"/>
              <a:cs typeface="Arial"/>
            </a:endParaRPr>
          </a:p>
        </p:txBody>
      </p:sp>
      <p:pic>
        <p:nvPicPr>
          <p:cNvPr id="8" name="object 8"/>
          <p:cNvPicPr/>
          <p:nvPr/>
        </p:nvPicPr>
        <p:blipFill>
          <a:blip r:embed="rId2" cstate="print"/>
          <a:stretch>
            <a:fillRect/>
          </a:stretch>
        </p:blipFill>
        <p:spPr>
          <a:xfrm>
            <a:off x="456524" y="5012161"/>
            <a:ext cx="5825823" cy="3300546"/>
          </a:xfrm>
          <a:prstGeom prst="rect">
            <a:avLst/>
          </a:prstGeom>
        </p:spPr>
      </p:pic>
      <p:sp>
        <p:nvSpPr>
          <p:cNvPr id="9" name="object 9"/>
          <p:cNvSpPr txBox="1"/>
          <p:nvPr/>
        </p:nvSpPr>
        <p:spPr>
          <a:xfrm>
            <a:off x="4415154" y="5310377"/>
            <a:ext cx="103505" cy="102235"/>
          </a:xfrm>
          <a:prstGeom prst="rect">
            <a:avLst/>
          </a:prstGeom>
        </p:spPr>
        <p:txBody>
          <a:bodyPr vert="horz" wrap="square" lIns="0" tIns="13335" rIns="0" bIns="0" rtlCol="0">
            <a:spAutoFit/>
          </a:bodyPr>
          <a:lstStyle/>
          <a:p>
            <a:pPr marL="12700">
              <a:lnSpc>
                <a:spcPct val="100000"/>
              </a:lnSpc>
              <a:spcBef>
                <a:spcPts val="105"/>
              </a:spcBef>
            </a:pPr>
            <a:r>
              <a:rPr sz="500" dirty="0">
                <a:latin typeface="Arial"/>
                <a:cs typeface="Arial"/>
              </a:rPr>
              <a:t>(</a:t>
            </a:r>
            <a:r>
              <a:rPr sz="500" spc="-5" dirty="0">
                <a:latin typeface="Arial"/>
                <a:cs typeface="Arial"/>
              </a:rPr>
              <a:t>2</a:t>
            </a:r>
            <a:r>
              <a:rPr sz="500" dirty="0">
                <a:latin typeface="Arial"/>
                <a:cs typeface="Arial"/>
              </a:rPr>
              <a:t>)</a:t>
            </a:r>
          </a:p>
        </p:txBody>
      </p:sp>
      <p:sp>
        <p:nvSpPr>
          <p:cNvPr id="10" name="object 10"/>
          <p:cNvSpPr txBox="1"/>
          <p:nvPr/>
        </p:nvSpPr>
        <p:spPr>
          <a:xfrm>
            <a:off x="6035421" y="4954015"/>
            <a:ext cx="103505" cy="102235"/>
          </a:xfrm>
          <a:prstGeom prst="rect">
            <a:avLst/>
          </a:prstGeom>
        </p:spPr>
        <p:txBody>
          <a:bodyPr vert="horz" wrap="square" lIns="0" tIns="13335" rIns="0" bIns="0" rtlCol="0">
            <a:spAutoFit/>
          </a:bodyPr>
          <a:lstStyle/>
          <a:p>
            <a:pPr marL="12700">
              <a:lnSpc>
                <a:spcPct val="100000"/>
              </a:lnSpc>
              <a:spcBef>
                <a:spcPts val="105"/>
              </a:spcBef>
            </a:pPr>
            <a:r>
              <a:rPr sz="500" dirty="0">
                <a:latin typeface="Arial"/>
                <a:cs typeface="Arial"/>
              </a:rPr>
              <a:t>(</a:t>
            </a:r>
            <a:r>
              <a:rPr sz="500" spc="-5" dirty="0">
                <a:latin typeface="Arial"/>
                <a:cs typeface="Arial"/>
              </a:rPr>
              <a:t>2</a:t>
            </a:r>
            <a:r>
              <a:rPr sz="500" dirty="0">
                <a:latin typeface="Arial"/>
                <a:cs typeface="Arial"/>
              </a:rPr>
              <a:t>)</a:t>
            </a:r>
          </a:p>
        </p:txBody>
      </p:sp>
      <p:sp>
        <p:nvSpPr>
          <p:cNvPr id="12" name="object 12"/>
          <p:cNvSpPr txBox="1"/>
          <p:nvPr/>
        </p:nvSpPr>
        <p:spPr>
          <a:xfrm>
            <a:off x="1677923" y="6274308"/>
            <a:ext cx="439420" cy="230504"/>
          </a:xfrm>
          <a:prstGeom prst="rect">
            <a:avLst/>
          </a:prstGeom>
          <a:solidFill>
            <a:srgbClr val="FFFFFF"/>
          </a:solidFill>
        </p:spPr>
        <p:txBody>
          <a:bodyPr vert="horz" wrap="square" lIns="0" tIns="38100" rIns="0" bIns="0" rtlCol="0">
            <a:spAutoFit/>
          </a:bodyPr>
          <a:lstStyle/>
          <a:p>
            <a:pPr marL="92075">
              <a:lnSpc>
                <a:spcPct val="100000"/>
              </a:lnSpc>
              <a:spcBef>
                <a:spcPts val="300"/>
              </a:spcBef>
            </a:pPr>
            <a:r>
              <a:rPr sz="900" spc="-5" dirty="0">
                <a:latin typeface="Calibri"/>
                <a:cs typeface="Calibri"/>
              </a:rPr>
              <a:t>CQ24</a:t>
            </a:r>
            <a:endParaRPr sz="900" dirty="0">
              <a:latin typeface="Calibri"/>
              <a:cs typeface="Calibri"/>
            </a:endParaRPr>
          </a:p>
        </p:txBody>
      </p:sp>
      <p:grpSp>
        <p:nvGrpSpPr>
          <p:cNvPr id="18" name="그룹 17">
            <a:extLst>
              <a:ext uri="{FF2B5EF4-FFF2-40B4-BE49-F238E27FC236}">
                <a16:creationId xmlns:a16="http://schemas.microsoft.com/office/drawing/2014/main" id="{74A1BA09-DDB6-B9C1-FB47-315F6D87D213}"/>
              </a:ext>
            </a:extLst>
          </p:cNvPr>
          <p:cNvGrpSpPr/>
          <p:nvPr/>
        </p:nvGrpSpPr>
        <p:grpSpPr>
          <a:xfrm>
            <a:off x="1539542" y="1331876"/>
            <a:ext cx="3509482" cy="2938405"/>
            <a:chOff x="1539542" y="1331876"/>
            <a:chExt cx="3509482" cy="2938405"/>
          </a:xfrm>
        </p:grpSpPr>
        <p:pic>
          <p:nvPicPr>
            <p:cNvPr id="11" name="object 11"/>
            <p:cNvPicPr/>
            <p:nvPr/>
          </p:nvPicPr>
          <p:blipFill>
            <a:blip r:embed="rId3" cstate="print"/>
            <a:stretch>
              <a:fillRect/>
            </a:stretch>
          </p:blipFill>
          <p:spPr>
            <a:xfrm>
              <a:off x="1539542" y="1346260"/>
              <a:ext cx="3509482" cy="2924021"/>
            </a:xfrm>
            <a:prstGeom prst="rect">
              <a:avLst/>
            </a:prstGeom>
          </p:spPr>
        </p:pic>
        <p:sp>
          <p:nvSpPr>
            <p:cNvPr id="17" name="TextBox 16">
              <a:extLst>
                <a:ext uri="{FF2B5EF4-FFF2-40B4-BE49-F238E27FC236}">
                  <a16:creationId xmlns:a16="http://schemas.microsoft.com/office/drawing/2014/main" id="{31382577-F719-CDD5-E557-039DFAC21826}"/>
                </a:ext>
              </a:extLst>
            </p:cNvPr>
            <p:cNvSpPr txBox="1"/>
            <p:nvPr/>
          </p:nvSpPr>
          <p:spPr>
            <a:xfrm>
              <a:off x="1950539" y="1331876"/>
              <a:ext cx="220144" cy="107722"/>
            </a:xfrm>
            <a:prstGeom prst="rect">
              <a:avLst/>
            </a:prstGeom>
            <a:solidFill>
              <a:schemeClr val="bg1"/>
            </a:solidFill>
          </p:spPr>
          <p:txBody>
            <a:bodyPr wrap="square" lIns="0" tIns="0" rIns="0" bIns="0" rtlCol="0">
              <a:spAutoFit/>
            </a:bodyPr>
            <a:lstStyle/>
            <a:p>
              <a:r>
                <a:rPr lang="en-US" altLang="ko-KR" sz="700" dirty="0"/>
                <a:t>VDDD</a:t>
              </a:r>
              <a:endParaRPr lang="ko-KR" altLang="en-US" sz="500" dirty="0"/>
            </a:p>
          </p:txBody>
        </p:sp>
      </p:grpSp>
      <p:sp>
        <p:nvSpPr>
          <p:cNvPr id="16" name="object 9">
            <a:extLst>
              <a:ext uri="{FF2B5EF4-FFF2-40B4-BE49-F238E27FC236}">
                <a16:creationId xmlns:a16="http://schemas.microsoft.com/office/drawing/2014/main" id="{040CF65C-45E3-03B0-D65F-646EA0C6B6D2}"/>
              </a:ext>
            </a:extLst>
          </p:cNvPr>
          <p:cNvSpPr txBox="1"/>
          <p:nvPr/>
        </p:nvSpPr>
        <p:spPr>
          <a:xfrm>
            <a:off x="304800" y="9067800"/>
            <a:ext cx="2078355" cy="289823"/>
          </a:xfrm>
          <a:prstGeom prst="rect">
            <a:avLst/>
          </a:prstGeom>
        </p:spPr>
        <p:txBody>
          <a:bodyPr vert="horz" wrap="square" lIns="0" tIns="12700" rIns="0" bIns="0" rtlCol="0">
            <a:spAutoFit/>
          </a:bodyPr>
          <a:lstStyle/>
          <a:p>
            <a:pPr marL="12700">
              <a:lnSpc>
                <a:spcPct val="100000"/>
              </a:lnSpc>
              <a:spcBef>
                <a:spcPts val="100"/>
              </a:spcBef>
            </a:pPr>
            <a:r>
              <a:rPr b="1" spc="-5" dirty="0">
                <a:solidFill>
                  <a:srgbClr val="FF0000"/>
                </a:solidFill>
                <a:cs typeface="Perpetua Titling MT"/>
              </a:rPr>
              <a:t>CONFIDENTIAL</a:t>
            </a:r>
            <a:endParaRPr dirty="0">
              <a:cs typeface="Perpetua Titling MT"/>
            </a:endParaRPr>
          </a:p>
        </p:txBody>
      </p:sp>
      <p:sp>
        <p:nvSpPr>
          <p:cNvPr id="19" name="object 6">
            <a:extLst>
              <a:ext uri="{FF2B5EF4-FFF2-40B4-BE49-F238E27FC236}">
                <a16:creationId xmlns:a16="http://schemas.microsoft.com/office/drawing/2014/main" id="{33975739-5FF4-DA35-3207-10CB71A85F31}"/>
              </a:ext>
            </a:extLst>
          </p:cNvPr>
          <p:cNvSpPr/>
          <p:nvPr/>
        </p:nvSpPr>
        <p:spPr>
          <a:xfrm>
            <a:off x="301676" y="9458756"/>
            <a:ext cx="6246495" cy="0"/>
          </a:xfrm>
          <a:custGeom>
            <a:avLst/>
            <a:gdLst/>
            <a:ahLst/>
            <a:cxnLst/>
            <a:rect l="l" t="t" r="r" b="b"/>
            <a:pathLst>
              <a:path w="6246495">
                <a:moveTo>
                  <a:pt x="0" y="0"/>
                </a:moveTo>
                <a:lnTo>
                  <a:pt x="6245999" y="0"/>
                </a:lnTo>
              </a:path>
            </a:pathLst>
          </a:custGeom>
          <a:ln w="25920">
            <a:solidFill>
              <a:srgbClr val="BFBFBF"/>
            </a:solidFill>
          </a:ln>
        </p:spPr>
        <p:txBody>
          <a:bodyPr wrap="square" lIns="0" tIns="0" rIns="0" bIns="0" rtlCol="0"/>
          <a:lstStyle/>
          <a:p>
            <a:endParaRPr/>
          </a:p>
        </p:txBody>
      </p:sp>
      <p:sp>
        <p:nvSpPr>
          <p:cNvPr id="20" name="슬라이드 번호 개체 틀 3">
            <a:hlinkClick r:id="rId4"/>
            <a:extLst>
              <a:ext uri="{FF2B5EF4-FFF2-40B4-BE49-F238E27FC236}">
                <a16:creationId xmlns:a16="http://schemas.microsoft.com/office/drawing/2014/main" id="{86BB16E4-F2E7-BF3A-BAA5-FA6C5155805B}"/>
              </a:ext>
            </a:extLst>
          </p:cNvPr>
          <p:cNvSpPr txBox="1">
            <a:spLocks/>
          </p:cNvSpPr>
          <p:nvPr/>
        </p:nvSpPr>
        <p:spPr>
          <a:xfrm>
            <a:off x="5151602" y="9452864"/>
            <a:ext cx="1487550"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dirty="0">
                <a:solidFill>
                  <a:prstClr val="black"/>
                </a:solidFill>
                <a:latin typeface="Arial" panose="020B0604020202020204" pitchFamily="34" charset="0"/>
                <a:cs typeface="Arial" panose="020B0604020202020204" pitchFamily="34" charset="0"/>
              </a:rPr>
              <a:t>http://www.glbltech.com/</a:t>
            </a:r>
            <a:endParaRPr lang="ko-KR" altLang="en-US" dirty="0">
              <a:solidFill>
                <a:prstClr val="black"/>
              </a:solidFill>
              <a:latin typeface="Arial" panose="020B0604020202020204" pitchFamily="34" charset="0"/>
              <a:cs typeface="Arial" panose="020B0604020202020204" pitchFamily="34" charset="0"/>
            </a:endParaRPr>
          </a:p>
        </p:txBody>
      </p:sp>
      <p:sp>
        <p:nvSpPr>
          <p:cNvPr id="21" name="object 38">
            <a:extLst>
              <a:ext uri="{FF2B5EF4-FFF2-40B4-BE49-F238E27FC236}">
                <a16:creationId xmlns:a16="http://schemas.microsoft.com/office/drawing/2014/main" id="{CA72F7CA-9AB4-B03C-3132-3371A05534C9}"/>
              </a:ext>
            </a:extLst>
          </p:cNvPr>
          <p:cNvSpPr txBox="1">
            <a:spLocks/>
          </p:cNvSpPr>
          <p:nvPr/>
        </p:nvSpPr>
        <p:spPr>
          <a:xfrm>
            <a:off x="3309066" y="9547988"/>
            <a:ext cx="487045" cy="139141"/>
          </a:xfrm>
          <a:prstGeom prst="rect">
            <a:avLst/>
          </a:prstGeom>
        </p:spPr>
        <p:txBody>
          <a:bodyPr vert="horz" wrap="square" lIns="0" tIns="635" rIns="0" bIns="0" rtlCol="0">
            <a:spAutoFit/>
          </a:bodyPr>
          <a:lstStyle>
            <a:defPPr>
              <a:defRPr lang="ko-KR"/>
            </a:defPPr>
            <a:lvl1pPr marL="0" algn="l" defTabSz="914400" rtl="0" eaLnBrk="1" latinLnBrk="1" hangingPunct="1">
              <a:defRPr sz="1050" b="0" i="0" kern="1200">
                <a:solidFill>
                  <a:schemeClr val="tx1"/>
                </a:solidFill>
                <a:latin typeface="Arial"/>
                <a:ea typeface="+mn-ea"/>
                <a:cs typeface="Arial"/>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marL="12700">
              <a:spcBef>
                <a:spcPts val="5"/>
              </a:spcBef>
              <a:defRPr/>
            </a:pPr>
            <a:r>
              <a:rPr lang="en-US" sz="900" dirty="0">
                <a:solidFill>
                  <a:prstClr val="black"/>
                </a:solidFill>
              </a:rPr>
              <a:t>Page</a:t>
            </a:r>
            <a:r>
              <a:rPr lang="en-US" sz="900" spc="-60" dirty="0">
                <a:solidFill>
                  <a:prstClr val="black"/>
                </a:solidFill>
              </a:rPr>
              <a:t> </a:t>
            </a:r>
            <a:fld id="{81D60167-4931-47E6-BA6A-407CBD079E47}" type="slidenum">
              <a:rPr sz="900">
                <a:solidFill>
                  <a:prstClr val="black"/>
                </a:solidFill>
              </a:rPr>
              <a:pPr marL="12700">
                <a:spcBef>
                  <a:spcPts val="5"/>
                </a:spcBef>
                <a:defRPr/>
              </a:pPr>
              <a:t>3</a:t>
            </a:fld>
            <a:endParaRPr sz="900" dirty="0">
              <a:solidFill>
                <a:prstClr val="black"/>
              </a:solidFill>
            </a:endParaRPr>
          </a:p>
        </p:txBody>
      </p:sp>
      <p:sp>
        <p:nvSpPr>
          <p:cNvPr id="22" name="슬라이드 번호 개체 틀 3">
            <a:extLst>
              <a:ext uri="{FF2B5EF4-FFF2-40B4-BE49-F238E27FC236}">
                <a16:creationId xmlns:a16="http://schemas.microsoft.com/office/drawing/2014/main" id="{7A271832-A016-78C8-D4B6-D01B88AC767A}"/>
              </a:ext>
            </a:extLst>
          </p:cNvPr>
          <p:cNvSpPr txBox="1">
            <a:spLocks/>
          </p:cNvSpPr>
          <p:nvPr/>
        </p:nvSpPr>
        <p:spPr>
          <a:xfrm>
            <a:off x="299401" y="9520856"/>
            <a:ext cx="2060991" cy="175259"/>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lang="en-US" altLang="ko-KR" dirty="0">
                <a:solidFill>
                  <a:prstClr val="black"/>
                </a:solidFill>
                <a:latin typeface="Arial" panose="020B0604020202020204" pitchFamily="34" charset="0"/>
                <a:cs typeface="Arial" panose="020B0604020202020204" pitchFamily="34" charset="0"/>
              </a:rPr>
              <a:t>Dated 30-Nov 23  Rev. 01</a:t>
            </a:r>
            <a:endParaRPr lang="ko-KR" altLang="en-US" dirty="0">
              <a:solidFill>
                <a:prstClr val="black"/>
              </a:solidFill>
              <a:latin typeface="Arial" panose="020B0604020202020204" pitchFamily="34" charset="0"/>
              <a:cs typeface="Arial" panose="020B0604020202020204" pitchFamily="34" charset="0"/>
            </a:endParaRPr>
          </a:p>
        </p:txBody>
      </p:sp>
      <p:sp>
        <p:nvSpPr>
          <p:cNvPr id="23" name="Holder 3">
            <a:extLst>
              <a:ext uri="{FF2B5EF4-FFF2-40B4-BE49-F238E27FC236}">
                <a16:creationId xmlns:a16="http://schemas.microsoft.com/office/drawing/2014/main" id="{7237E17A-B066-A663-BA1C-F5C0E6F1F2A6}"/>
              </a:ext>
            </a:extLst>
          </p:cNvPr>
          <p:cNvSpPr txBox="1">
            <a:spLocks/>
          </p:cNvSpPr>
          <p:nvPr/>
        </p:nvSpPr>
        <p:spPr>
          <a:xfrm>
            <a:off x="5147476" y="203944"/>
            <a:ext cx="1447800" cy="276999"/>
          </a:xfrm>
          <a:prstGeom prst="rect">
            <a:avLst/>
          </a:prstGeom>
        </p:spPr>
        <p:txBody>
          <a:bodyPr wrap="square" lIns="0" tIns="0" rIns="0" bIns="0">
            <a:spAutoFit/>
          </a:bodyPr>
          <a:lstStyle>
            <a:lvl1pPr marL="0">
              <a:defRPr>
                <a:solidFill>
                  <a:srgbClr val="FF99FF"/>
                </a:solidFill>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defTabSz="914400" latinLnBrk="0"/>
            <a:r>
              <a:rPr lang="en-US" sz="1800" kern="0" dirty="0"/>
              <a:t>&lt;Preliminary&gt;</a:t>
            </a:r>
          </a:p>
        </p:txBody>
      </p:sp>
      <p:sp>
        <p:nvSpPr>
          <p:cNvPr id="4" name="object 84">
            <a:extLst>
              <a:ext uri="{FF2B5EF4-FFF2-40B4-BE49-F238E27FC236}">
                <a16:creationId xmlns:a16="http://schemas.microsoft.com/office/drawing/2014/main" id="{BC7B4D5B-2575-339D-A2F1-9F0A34A351E7}"/>
              </a:ext>
            </a:extLst>
          </p:cNvPr>
          <p:cNvSpPr txBox="1"/>
          <p:nvPr/>
        </p:nvSpPr>
        <p:spPr>
          <a:xfrm>
            <a:off x="2456526" y="4482960"/>
            <a:ext cx="2276000" cy="153888"/>
          </a:xfrm>
          <a:prstGeom prst="rect">
            <a:avLst/>
          </a:prstGeom>
        </p:spPr>
        <p:txBody>
          <a:bodyPr vert="horz" wrap="square" lIns="0" tIns="15240" rIns="0" bIns="0" rtlCol="0">
            <a:spAutoFit/>
          </a:bodyPr>
          <a:lstStyle/>
          <a:p>
            <a:pPr marL="12700">
              <a:lnSpc>
                <a:spcPct val="100000"/>
              </a:lnSpc>
              <a:spcBef>
                <a:spcPts val="120"/>
              </a:spcBef>
            </a:pPr>
            <a:r>
              <a:rPr lang="en-US" sz="900" b="1" spc="15" dirty="0">
                <a:latin typeface="Arial" panose="020B0604020202020204" pitchFamily="34" charset="0"/>
                <a:cs typeface="Arial" panose="020B0604020202020204" pitchFamily="34" charset="0"/>
              </a:rPr>
              <a:t>Fig 1.  Block diagram</a:t>
            </a:r>
          </a:p>
        </p:txBody>
      </p:sp>
      <p:sp>
        <p:nvSpPr>
          <p:cNvPr id="2" name="object 2"/>
          <p:cNvSpPr txBox="1"/>
          <p:nvPr/>
        </p:nvSpPr>
        <p:spPr>
          <a:xfrm>
            <a:off x="430174" y="4782617"/>
            <a:ext cx="1603375" cy="239395"/>
          </a:xfrm>
          <a:prstGeom prst="rect">
            <a:avLst/>
          </a:prstGeom>
        </p:spPr>
        <p:txBody>
          <a:bodyPr vert="horz" wrap="square" lIns="0" tIns="13335" rIns="0" bIns="0" rtlCol="0">
            <a:spAutoFit/>
          </a:bodyPr>
          <a:lstStyle/>
          <a:p>
            <a:pPr marL="12700">
              <a:lnSpc>
                <a:spcPct val="100000"/>
              </a:lnSpc>
              <a:spcBef>
                <a:spcPts val="105"/>
              </a:spcBef>
            </a:pPr>
            <a:r>
              <a:rPr sz="1400" b="1" spc="-5" dirty="0">
                <a:latin typeface="Arial"/>
                <a:cs typeface="Arial"/>
              </a:rPr>
              <a:t>Application</a:t>
            </a:r>
            <a:r>
              <a:rPr sz="1400" b="1" spc="-60" dirty="0">
                <a:latin typeface="Arial"/>
                <a:cs typeface="Arial"/>
              </a:rPr>
              <a:t> </a:t>
            </a:r>
            <a:r>
              <a:rPr sz="1400" b="1" spc="-5" dirty="0">
                <a:latin typeface="Arial"/>
                <a:cs typeface="Arial"/>
              </a:rPr>
              <a:t>Circuit</a:t>
            </a:r>
            <a:endParaRPr sz="1400" dirty="0">
              <a:latin typeface="Arial"/>
              <a:cs typeface="Arial"/>
            </a:endParaRPr>
          </a:p>
        </p:txBody>
      </p:sp>
      <p:sp>
        <p:nvSpPr>
          <p:cNvPr id="5" name="object 84">
            <a:extLst>
              <a:ext uri="{FF2B5EF4-FFF2-40B4-BE49-F238E27FC236}">
                <a16:creationId xmlns:a16="http://schemas.microsoft.com/office/drawing/2014/main" id="{2D961E88-E285-DF9E-E7D9-DFCD582F2858}"/>
              </a:ext>
            </a:extLst>
          </p:cNvPr>
          <p:cNvSpPr txBox="1"/>
          <p:nvPr/>
        </p:nvSpPr>
        <p:spPr>
          <a:xfrm>
            <a:off x="2201031" y="8234690"/>
            <a:ext cx="2922297" cy="153888"/>
          </a:xfrm>
          <a:prstGeom prst="rect">
            <a:avLst/>
          </a:prstGeom>
        </p:spPr>
        <p:txBody>
          <a:bodyPr vert="horz" wrap="square" lIns="0" tIns="15240" rIns="0" bIns="0" rtlCol="0">
            <a:spAutoFit/>
          </a:bodyPr>
          <a:lstStyle/>
          <a:p>
            <a:pPr marL="12700">
              <a:lnSpc>
                <a:spcPct val="100000"/>
              </a:lnSpc>
              <a:spcBef>
                <a:spcPts val="120"/>
              </a:spcBef>
            </a:pPr>
            <a:r>
              <a:rPr lang="en-US" sz="900" b="1" spc="15" dirty="0">
                <a:latin typeface="Arial" panose="020B0604020202020204" pitchFamily="34" charset="0"/>
                <a:cs typeface="Arial" panose="020B0604020202020204" pitchFamily="34" charset="0"/>
              </a:rPr>
              <a:t>Fig 2. Application Circuit diagram</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07314" y="929766"/>
            <a:ext cx="2571115" cy="239395"/>
          </a:xfrm>
          <a:prstGeom prst="rect">
            <a:avLst/>
          </a:prstGeom>
        </p:spPr>
        <p:txBody>
          <a:bodyPr vert="horz" wrap="square" lIns="0" tIns="12700" rIns="0" bIns="0" rtlCol="0">
            <a:spAutoFit/>
          </a:bodyPr>
          <a:lstStyle/>
          <a:p>
            <a:pPr marL="12700">
              <a:lnSpc>
                <a:spcPct val="100000"/>
              </a:lnSpc>
              <a:spcBef>
                <a:spcPts val="100"/>
              </a:spcBef>
            </a:pPr>
            <a:r>
              <a:rPr sz="1400" b="1" dirty="0">
                <a:latin typeface="Arial"/>
                <a:cs typeface="Arial"/>
              </a:rPr>
              <a:t>Pin</a:t>
            </a:r>
            <a:r>
              <a:rPr sz="1400" b="1" spc="-15" dirty="0">
                <a:latin typeface="Arial"/>
                <a:cs typeface="Arial"/>
              </a:rPr>
              <a:t> </a:t>
            </a:r>
            <a:r>
              <a:rPr sz="1400" b="1" spc="-5" dirty="0">
                <a:latin typeface="Arial"/>
                <a:cs typeface="Arial"/>
              </a:rPr>
              <a:t>out</a:t>
            </a:r>
            <a:r>
              <a:rPr sz="1400" b="1" spc="-20" dirty="0">
                <a:latin typeface="Arial"/>
                <a:cs typeface="Arial"/>
              </a:rPr>
              <a:t> </a:t>
            </a:r>
            <a:r>
              <a:rPr sz="1400" b="1" dirty="0">
                <a:latin typeface="Arial"/>
                <a:cs typeface="Arial"/>
              </a:rPr>
              <a:t>description</a:t>
            </a:r>
            <a:r>
              <a:rPr sz="1400" b="1" spc="-50" dirty="0">
                <a:latin typeface="Arial"/>
                <a:cs typeface="Arial"/>
              </a:rPr>
              <a:t> </a:t>
            </a:r>
            <a:r>
              <a:rPr sz="1400" b="1" spc="-30" dirty="0">
                <a:latin typeface="Arial"/>
                <a:cs typeface="Arial"/>
              </a:rPr>
              <a:t>(Top</a:t>
            </a:r>
            <a:r>
              <a:rPr sz="1400" b="1" spc="-15" dirty="0">
                <a:latin typeface="Arial"/>
                <a:cs typeface="Arial"/>
              </a:rPr>
              <a:t> </a:t>
            </a:r>
            <a:r>
              <a:rPr sz="1400" b="1" dirty="0">
                <a:latin typeface="Arial"/>
                <a:cs typeface="Arial"/>
              </a:rPr>
              <a:t>View)</a:t>
            </a:r>
            <a:endParaRPr sz="1400" dirty="0">
              <a:latin typeface="Arial"/>
              <a:cs typeface="Arial"/>
            </a:endParaRPr>
          </a:p>
        </p:txBody>
      </p:sp>
      <p:sp>
        <p:nvSpPr>
          <p:cNvPr id="3" name="object 3"/>
          <p:cNvSpPr txBox="1"/>
          <p:nvPr/>
        </p:nvSpPr>
        <p:spPr>
          <a:xfrm>
            <a:off x="392074" y="5373370"/>
            <a:ext cx="1315720" cy="239395"/>
          </a:xfrm>
          <a:prstGeom prst="rect">
            <a:avLst/>
          </a:prstGeom>
        </p:spPr>
        <p:txBody>
          <a:bodyPr vert="horz" wrap="square" lIns="0" tIns="13335" rIns="0" bIns="0" rtlCol="0">
            <a:spAutoFit/>
          </a:bodyPr>
          <a:lstStyle/>
          <a:p>
            <a:pPr marL="12700">
              <a:lnSpc>
                <a:spcPct val="100000"/>
              </a:lnSpc>
              <a:spcBef>
                <a:spcPts val="105"/>
              </a:spcBef>
            </a:pPr>
            <a:r>
              <a:rPr sz="1400" b="1" dirty="0">
                <a:latin typeface="Arial"/>
                <a:cs typeface="Arial"/>
              </a:rPr>
              <a:t>Pin</a:t>
            </a:r>
            <a:r>
              <a:rPr sz="1400" b="1" spc="-60" dirty="0">
                <a:latin typeface="Arial"/>
                <a:cs typeface="Arial"/>
              </a:rPr>
              <a:t> </a:t>
            </a:r>
            <a:r>
              <a:rPr sz="1400" b="1" dirty="0">
                <a:latin typeface="Arial"/>
                <a:cs typeface="Arial"/>
              </a:rPr>
              <a:t>description</a:t>
            </a:r>
            <a:endParaRPr sz="1400" dirty="0">
              <a:latin typeface="Arial"/>
              <a:cs typeface="Arial"/>
            </a:endParaRPr>
          </a:p>
        </p:txBody>
      </p:sp>
      <p:graphicFrame>
        <p:nvGraphicFramePr>
          <p:cNvPr id="4" name="object 4"/>
          <p:cNvGraphicFramePr>
            <a:graphicFrameLocks noGrp="1"/>
          </p:cNvGraphicFramePr>
          <p:nvPr/>
        </p:nvGraphicFramePr>
        <p:xfrm>
          <a:off x="398462" y="5732145"/>
          <a:ext cx="6090282" cy="3185160"/>
        </p:xfrm>
        <a:graphic>
          <a:graphicData uri="http://schemas.openxmlformats.org/drawingml/2006/table">
            <a:tbl>
              <a:tblPr firstRow="1" bandRow="1">
                <a:tableStyleId>{2D5ABB26-0587-4C30-8999-92F81FD0307C}</a:tableStyleId>
              </a:tblPr>
              <a:tblGrid>
                <a:gridCol w="771525">
                  <a:extLst>
                    <a:ext uri="{9D8B030D-6E8A-4147-A177-3AD203B41FA5}">
                      <a16:colId xmlns:a16="http://schemas.microsoft.com/office/drawing/2014/main" val="20000"/>
                    </a:ext>
                  </a:extLst>
                </a:gridCol>
                <a:gridCol w="561340">
                  <a:extLst>
                    <a:ext uri="{9D8B030D-6E8A-4147-A177-3AD203B41FA5}">
                      <a16:colId xmlns:a16="http://schemas.microsoft.com/office/drawing/2014/main" val="20001"/>
                    </a:ext>
                  </a:extLst>
                </a:gridCol>
                <a:gridCol w="518159">
                  <a:extLst>
                    <a:ext uri="{9D8B030D-6E8A-4147-A177-3AD203B41FA5}">
                      <a16:colId xmlns:a16="http://schemas.microsoft.com/office/drawing/2014/main" val="20002"/>
                    </a:ext>
                  </a:extLst>
                </a:gridCol>
                <a:gridCol w="1177289">
                  <a:extLst>
                    <a:ext uri="{9D8B030D-6E8A-4147-A177-3AD203B41FA5}">
                      <a16:colId xmlns:a16="http://schemas.microsoft.com/office/drawing/2014/main" val="20003"/>
                    </a:ext>
                  </a:extLst>
                </a:gridCol>
                <a:gridCol w="2084705">
                  <a:extLst>
                    <a:ext uri="{9D8B030D-6E8A-4147-A177-3AD203B41FA5}">
                      <a16:colId xmlns:a16="http://schemas.microsoft.com/office/drawing/2014/main" val="20004"/>
                    </a:ext>
                  </a:extLst>
                </a:gridCol>
                <a:gridCol w="977264">
                  <a:extLst>
                    <a:ext uri="{9D8B030D-6E8A-4147-A177-3AD203B41FA5}">
                      <a16:colId xmlns:a16="http://schemas.microsoft.com/office/drawing/2014/main" val="20005"/>
                    </a:ext>
                  </a:extLst>
                </a:gridCol>
              </a:tblGrid>
              <a:tr h="244475">
                <a:tc>
                  <a:txBody>
                    <a:bodyPr/>
                    <a:lstStyle/>
                    <a:p>
                      <a:pPr algn="ctr">
                        <a:lnSpc>
                          <a:spcPct val="100000"/>
                        </a:lnSpc>
                        <a:spcBef>
                          <a:spcPts val="384"/>
                        </a:spcBef>
                      </a:pPr>
                      <a:r>
                        <a:rPr sz="900" b="1" dirty="0">
                          <a:latin typeface="Arial"/>
                          <a:cs typeface="Arial"/>
                        </a:rPr>
                        <a:t>Pin</a:t>
                      </a:r>
                      <a:r>
                        <a:rPr sz="900" b="1" spc="-50" dirty="0">
                          <a:latin typeface="Arial"/>
                          <a:cs typeface="Arial"/>
                        </a:rPr>
                        <a:t> </a:t>
                      </a:r>
                      <a:r>
                        <a:rPr sz="900" b="1" spc="-5" dirty="0">
                          <a:latin typeface="Arial"/>
                          <a:cs typeface="Arial"/>
                        </a:rPr>
                        <a:t>Name</a:t>
                      </a:r>
                      <a:endParaRPr sz="900" dirty="0">
                        <a:latin typeface="Arial"/>
                        <a:cs typeface="Arial"/>
                      </a:endParaRPr>
                    </a:p>
                  </a:txBody>
                  <a:tcPr marL="0" marR="0" marT="48894" marB="0">
                    <a:lnL w="12700">
                      <a:solidFill>
                        <a:srgbClr val="FFFFFF"/>
                      </a:solidFill>
                      <a:prstDash val="solid"/>
                    </a:lnL>
                    <a:lnR w="3175">
                      <a:solidFill>
                        <a:srgbClr val="000000"/>
                      </a:solidFill>
                      <a:prstDash val="solid"/>
                    </a:lnR>
                    <a:lnT w="12700">
                      <a:solidFill>
                        <a:srgbClr val="000000"/>
                      </a:solidFill>
                      <a:prstDash val="solid"/>
                    </a:lnT>
                    <a:lnB w="3175">
                      <a:solidFill>
                        <a:srgbClr val="000000"/>
                      </a:solidFill>
                      <a:prstDash val="solid"/>
                    </a:lnB>
                    <a:solidFill>
                      <a:srgbClr val="F1F1F1"/>
                    </a:solidFill>
                  </a:tcPr>
                </a:tc>
                <a:tc>
                  <a:txBody>
                    <a:bodyPr/>
                    <a:lstStyle/>
                    <a:p>
                      <a:pPr marL="635" algn="ctr">
                        <a:lnSpc>
                          <a:spcPct val="100000"/>
                        </a:lnSpc>
                        <a:spcBef>
                          <a:spcPts val="384"/>
                        </a:spcBef>
                      </a:pPr>
                      <a:r>
                        <a:rPr sz="900" b="1" dirty="0">
                          <a:latin typeface="Arial"/>
                          <a:cs typeface="Arial"/>
                        </a:rPr>
                        <a:t>Pin</a:t>
                      </a:r>
                      <a:r>
                        <a:rPr sz="900" b="1" spc="-55" dirty="0">
                          <a:latin typeface="Arial"/>
                          <a:cs typeface="Arial"/>
                        </a:rPr>
                        <a:t> </a:t>
                      </a:r>
                      <a:r>
                        <a:rPr sz="900" b="1" dirty="0">
                          <a:latin typeface="Arial"/>
                          <a:cs typeface="Arial"/>
                        </a:rPr>
                        <a:t>No.</a:t>
                      </a:r>
                      <a:endParaRPr sz="900" dirty="0">
                        <a:latin typeface="Arial"/>
                        <a:cs typeface="Arial"/>
                      </a:endParaRPr>
                    </a:p>
                  </a:txBody>
                  <a:tcPr marL="0" marR="0" marT="48894" marB="0">
                    <a:lnL w="3175">
                      <a:solidFill>
                        <a:srgbClr val="000000"/>
                      </a:solidFill>
                      <a:prstDash val="solid"/>
                    </a:lnL>
                    <a:lnR w="3175">
                      <a:solidFill>
                        <a:srgbClr val="000000"/>
                      </a:solidFill>
                      <a:prstDash val="solid"/>
                    </a:lnR>
                    <a:lnT w="12700">
                      <a:solidFill>
                        <a:srgbClr val="000000"/>
                      </a:solidFill>
                      <a:prstDash val="solid"/>
                    </a:lnT>
                    <a:lnB w="3175">
                      <a:solidFill>
                        <a:srgbClr val="000000"/>
                      </a:solidFill>
                      <a:prstDash val="solid"/>
                    </a:lnB>
                    <a:solidFill>
                      <a:srgbClr val="F1F1F1"/>
                    </a:solidFill>
                  </a:tcPr>
                </a:tc>
                <a:tc>
                  <a:txBody>
                    <a:bodyPr/>
                    <a:lstStyle/>
                    <a:p>
                      <a:pPr marL="2540" algn="ctr">
                        <a:lnSpc>
                          <a:spcPct val="100000"/>
                        </a:lnSpc>
                        <a:spcBef>
                          <a:spcPts val="384"/>
                        </a:spcBef>
                      </a:pPr>
                      <a:r>
                        <a:rPr sz="900" b="1" dirty="0">
                          <a:latin typeface="Arial"/>
                          <a:cs typeface="Arial"/>
                        </a:rPr>
                        <a:t>I/O</a:t>
                      </a:r>
                      <a:endParaRPr sz="900" dirty="0">
                        <a:latin typeface="Arial"/>
                        <a:cs typeface="Arial"/>
                      </a:endParaRPr>
                    </a:p>
                  </a:txBody>
                  <a:tcPr marL="0" marR="0" marT="48894" marB="0">
                    <a:lnL w="3175">
                      <a:solidFill>
                        <a:srgbClr val="000000"/>
                      </a:solidFill>
                      <a:prstDash val="solid"/>
                    </a:lnL>
                    <a:lnR w="3175">
                      <a:solidFill>
                        <a:srgbClr val="000000"/>
                      </a:solidFill>
                      <a:prstDash val="solid"/>
                    </a:lnR>
                    <a:lnT w="12700">
                      <a:solidFill>
                        <a:srgbClr val="000000"/>
                      </a:solidFill>
                      <a:prstDash val="solid"/>
                    </a:lnT>
                    <a:lnB w="3175">
                      <a:solidFill>
                        <a:srgbClr val="000000"/>
                      </a:solidFill>
                      <a:prstDash val="solid"/>
                    </a:lnB>
                    <a:solidFill>
                      <a:srgbClr val="F1F1F1"/>
                    </a:solidFill>
                  </a:tcPr>
                </a:tc>
                <a:tc>
                  <a:txBody>
                    <a:bodyPr/>
                    <a:lstStyle/>
                    <a:p>
                      <a:pPr marL="635" algn="ctr">
                        <a:lnSpc>
                          <a:spcPct val="100000"/>
                        </a:lnSpc>
                        <a:spcBef>
                          <a:spcPts val="384"/>
                        </a:spcBef>
                      </a:pPr>
                      <a:r>
                        <a:rPr sz="900" b="1" spc="-15" dirty="0">
                          <a:latin typeface="Arial"/>
                          <a:cs typeface="Arial"/>
                        </a:rPr>
                        <a:t>Type</a:t>
                      </a:r>
                      <a:endParaRPr sz="900" dirty="0">
                        <a:latin typeface="Arial"/>
                        <a:cs typeface="Arial"/>
                      </a:endParaRPr>
                    </a:p>
                  </a:txBody>
                  <a:tcPr marL="0" marR="0" marT="48894" marB="0">
                    <a:lnL w="3175">
                      <a:solidFill>
                        <a:srgbClr val="000000"/>
                      </a:solidFill>
                      <a:prstDash val="solid"/>
                    </a:lnL>
                    <a:lnR w="3175">
                      <a:solidFill>
                        <a:srgbClr val="000000"/>
                      </a:solidFill>
                      <a:prstDash val="solid"/>
                    </a:lnR>
                    <a:lnT w="12700">
                      <a:solidFill>
                        <a:srgbClr val="000000"/>
                      </a:solidFill>
                      <a:prstDash val="solid"/>
                    </a:lnT>
                    <a:lnB w="3175">
                      <a:solidFill>
                        <a:srgbClr val="000000"/>
                      </a:solidFill>
                      <a:prstDash val="solid"/>
                    </a:lnB>
                    <a:solidFill>
                      <a:srgbClr val="F1F1F1"/>
                    </a:solidFill>
                  </a:tcPr>
                </a:tc>
                <a:tc>
                  <a:txBody>
                    <a:bodyPr/>
                    <a:lstStyle/>
                    <a:p>
                      <a:pPr marL="1270" algn="ctr">
                        <a:lnSpc>
                          <a:spcPct val="100000"/>
                        </a:lnSpc>
                        <a:spcBef>
                          <a:spcPts val="384"/>
                        </a:spcBef>
                      </a:pPr>
                      <a:r>
                        <a:rPr sz="900" b="1" dirty="0">
                          <a:latin typeface="Arial"/>
                          <a:cs typeface="Arial"/>
                        </a:rPr>
                        <a:t>Description</a:t>
                      </a:r>
                      <a:endParaRPr sz="900" dirty="0">
                        <a:latin typeface="Arial"/>
                        <a:cs typeface="Arial"/>
                      </a:endParaRPr>
                    </a:p>
                  </a:txBody>
                  <a:tcPr marL="0" marR="0" marT="48894" marB="0">
                    <a:lnL w="3175">
                      <a:solidFill>
                        <a:srgbClr val="000000"/>
                      </a:solidFill>
                      <a:prstDash val="solid"/>
                    </a:lnL>
                    <a:lnR w="3175">
                      <a:solidFill>
                        <a:srgbClr val="000000"/>
                      </a:solidFill>
                      <a:prstDash val="solid"/>
                    </a:lnR>
                    <a:lnT w="12700">
                      <a:solidFill>
                        <a:srgbClr val="000000"/>
                      </a:solidFill>
                      <a:prstDash val="solid"/>
                    </a:lnT>
                    <a:lnB w="3175">
                      <a:solidFill>
                        <a:srgbClr val="000000"/>
                      </a:solidFill>
                      <a:prstDash val="solid"/>
                    </a:lnB>
                    <a:solidFill>
                      <a:srgbClr val="F1F1F1"/>
                    </a:solidFill>
                  </a:tcPr>
                </a:tc>
                <a:tc>
                  <a:txBody>
                    <a:bodyPr/>
                    <a:lstStyle/>
                    <a:p>
                      <a:pPr marL="1270" algn="ctr">
                        <a:lnSpc>
                          <a:spcPct val="100000"/>
                        </a:lnSpc>
                        <a:spcBef>
                          <a:spcPts val="384"/>
                        </a:spcBef>
                      </a:pPr>
                      <a:r>
                        <a:rPr sz="900" b="1" spc="-5" dirty="0">
                          <a:latin typeface="Arial"/>
                          <a:cs typeface="Arial"/>
                        </a:rPr>
                        <a:t>Remark</a:t>
                      </a:r>
                      <a:endParaRPr sz="900" dirty="0">
                        <a:latin typeface="Arial"/>
                        <a:cs typeface="Arial"/>
                      </a:endParaRPr>
                    </a:p>
                  </a:txBody>
                  <a:tcPr marL="0" marR="0" marT="48894" marB="0">
                    <a:lnL w="3175">
                      <a:solidFill>
                        <a:srgbClr val="000000"/>
                      </a:solidFill>
                      <a:prstDash val="solid"/>
                    </a:lnL>
                    <a:lnR w="12700">
                      <a:solidFill>
                        <a:srgbClr val="FFFFFF"/>
                      </a:solidFill>
                      <a:prstDash val="solid"/>
                    </a:lnR>
                    <a:lnT w="12700">
                      <a:solidFill>
                        <a:srgbClr val="000000"/>
                      </a:solidFill>
                      <a:prstDash val="solid"/>
                    </a:lnT>
                    <a:lnB w="3175">
                      <a:solidFill>
                        <a:srgbClr val="000000"/>
                      </a:solidFill>
                      <a:prstDash val="solid"/>
                    </a:lnB>
                    <a:solidFill>
                      <a:srgbClr val="F1F1F1"/>
                    </a:solidFill>
                  </a:tcPr>
                </a:tc>
                <a:extLst>
                  <a:ext uri="{0D108BD9-81ED-4DB2-BD59-A6C34878D82A}">
                    <a16:rowId xmlns:a16="http://schemas.microsoft.com/office/drawing/2014/main" val="10000"/>
                  </a:ext>
                </a:extLst>
              </a:tr>
              <a:tr h="245110">
                <a:tc>
                  <a:txBody>
                    <a:bodyPr/>
                    <a:lstStyle/>
                    <a:p>
                      <a:pPr algn="ctr">
                        <a:lnSpc>
                          <a:spcPct val="100000"/>
                        </a:lnSpc>
                        <a:spcBef>
                          <a:spcPts val="380"/>
                        </a:spcBef>
                      </a:pPr>
                      <a:r>
                        <a:rPr sz="900" spc="-5" dirty="0">
                          <a:latin typeface="Arial"/>
                          <a:cs typeface="Arial"/>
                        </a:rPr>
                        <a:t>SCLK</a:t>
                      </a:r>
                      <a:endParaRPr sz="900" dirty="0">
                        <a:latin typeface="Arial"/>
                        <a:cs typeface="Arial"/>
                      </a:endParaRPr>
                    </a:p>
                  </a:txBody>
                  <a:tcPr marL="0" marR="0" marT="48260" marB="0">
                    <a:lnL w="12700">
                      <a:solidFill>
                        <a:srgbClr val="FFFFFF"/>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L="635" algn="ctr">
                        <a:lnSpc>
                          <a:spcPct val="100000"/>
                        </a:lnSpc>
                        <a:spcBef>
                          <a:spcPts val="380"/>
                        </a:spcBef>
                      </a:pPr>
                      <a:r>
                        <a:rPr sz="900" dirty="0">
                          <a:latin typeface="Arial"/>
                          <a:cs typeface="Arial"/>
                        </a:rPr>
                        <a:t>1</a:t>
                      </a:r>
                    </a:p>
                  </a:txBody>
                  <a:tcPr marL="0" marR="0" marT="4826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gn="ctr">
                        <a:lnSpc>
                          <a:spcPct val="100000"/>
                        </a:lnSpc>
                        <a:spcBef>
                          <a:spcPts val="380"/>
                        </a:spcBef>
                      </a:pPr>
                      <a:r>
                        <a:rPr sz="900" dirty="0">
                          <a:latin typeface="Arial"/>
                          <a:cs typeface="Arial"/>
                        </a:rPr>
                        <a:t>I</a:t>
                      </a:r>
                    </a:p>
                  </a:txBody>
                  <a:tcPr marL="0" marR="0" marT="4826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L="635" algn="ctr">
                        <a:lnSpc>
                          <a:spcPct val="100000"/>
                        </a:lnSpc>
                        <a:spcBef>
                          <a:spcPts val="380"/>
                        </a:spcBef>
                      </a:pPr>
                      <a:r>
                        <a:rPr sz="900" dirty="0">
                          <a:latin typeface="Arial"/>
                          <a:cs typeface="Arial"/>
                        </a:rPr>
                        <a:t>Digital</a:t>
                      </a:r>
                    </a:p>
                  </a:txBody>
                  <a:tcPr marL="0" marR="0" marT="4826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gn="ctr">
                        <a:lnSpc>
                          <a:spcPct val="100000"/>
                        </a:lnSpc>
                        <a:spcBef>
                          <a:spcPts val="380"/>
                        </a:spcBef>
                      </a:pPr>
                      <a:r>
                        <a:rPr sz="900" dirty="0">
                          <a:latin typeface="Arial"/>
                          <a:cs typeface="Arial"/>
                        </a:rPr>
                        <a:t>SPI</a:t>
                      </a:r>
                      <a:r>
                        <a:rPr sz="900" spc="-45" dirty="0">
                          <a:latin typeface="Arial"/>
                          <a:cs typeface="Arial"/>
                        </a:rPr>
                        <a:t> </a:t>
                      </a:r>
                      <a:r>
                        <a:rPr sz="900" dirty="0">
                          <a:latin typeface="Arial"/>
                          <a:cs typeface="Arial"/>
                        </a:rPr>
                        <a:t>Clock</a:t>
                      </a:r>
                    </a:p>
                  </a:txBody>
                  <a:tcPr marL="0" marR="0" marT="4826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nSpc>
                          <a:spcPct val="100000"/>
                        </a:lnSpc>
                      </a:pPr>
                      <a:endParaRPr sz="900" dirty="0">
                        <a:latin typeface="Times New Roman"/>
                        <a:cs typeface="Times New Roman"/>
                      </a:endParaRPr>
                    </a:p>
                  </a:txBody>
                  <a:tcPr marL="0" marR="0" marT="0" marB="0">
                    <a:lnL w="3175">
                      <a:solidFill>
                        <a:srgbClr val="000000"/>
                      </a:solidFill>
                      <a:prstDash val="solid"/>
                    </a:lnL>
                    <a:lnR w="12700">
                      <a:solidFill>
                        <a:srgbClr val="FFFFFF"/>
                      </a:solidFill>
                      <a:prstDash val="solid"/>
                    </a:lnR>
                    <a:lnT w="3175">
                      <a:solidFill>
                        <a:srgbClr val="000000"/>
                      </a:solidFill>
                      <a:prstDash val="solid"/>
                    </a:lnT>
                    <a:lnB w="3175">
                      <a:solidFill>
                        <a:srgbClr val="000000"/>
                      </a:solidFill>
                      <a:prstDash val="solid"/>
                    </a:lnB>
                  </a:tcPr>
                </a:tc>
                <a:extLst>
                  <a:ext uri="{0D108BD9-81ED-4DB2-BD59-A6C34878D82A}">
                    <a16:rowId xmlns:a16="http://schemas.microsoft.com/office/drawing/2014/main" val="10001"/>
                  </a:ext>
                </a:extLst>
              </a:tr>
              <a:tr h="245110">
                <a:tc>
                  <a:txBody>
                    <a:bodyPr/>
                    <a:lstStyle/>
                    <a:p>
                      <a:pPr algn="ctr">
                        <a:lnSpc>
                          <a:spcPct val="100000"/>
                        </a:lnSpc>
                        <a:spcBef>
                          <a:spcPts val="384"/>
                        </a:spcBef>
                      </a:pPr>
                      <a:r>
                        <a:rPr sz="900" spc="-5" dirty="0">
                          <a:latin typeface="Arial"/>
                          <a:cs typeface="Arial"/>
                        </a:rPr>
                        <a:t>nSCS</a:t>
                      </a:r>
                      <a:endParaRPr sz="900" dirty="0">
                        <a:latin typeface="Arial"/>
                        <a:cs typeface="Arial"/>
                      </a:endParaRPr>
                    </a:p>
                  </a:txBody>
                  <a:tcPr marL="0" marR="0" marT="48894" marB="0">
                    <a:lnL w="12700">
                      <a:solidFill>
                        <a:srgbClr val="FFFFFF"/>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L="635" algn="ctr">
                        <a:lnSpc>
                          <a:spcPct val="100000"/>
                        </a:lnSpc>
                        <a:spcBef>
                          <a:spcPts val="384"/>
                        </a:spcBef>
                      </a:pPr>
                      <a:r>
                        <a:rPr sz="900" dirty="0">
                          <a:latin typeface="Arial"/>
                          <a:cs typeface="Arial"/>
                        </a:rPr>
                        <a:t>2</a:t>
                      </a:r>
                    </a:p>
                  </a:txBody>
                  <a:tcPr marL="0" marR="0" marT="48894"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gn="ctr">
                        <a:lnSpc>
                          <a:spcPct val="100000"/>
                        </a:lnSpc>
                        <a:spcBef>
                          <a:spcPts val="384"/>
                        </a:spcBef>
                      </a:pPr>
                      <a:r>
                        <a:rPr sz="900" dirty="0">
                          <a:latin typeface="Arial"/>
                          <a:cs typeface="Arial"/>
                        </a:rPr>
                        <a:t>I</a:t>
                      </a:r>
                    </a:p>
                  </a:txBody>
                  <a:tcPr marL="0" marR="0" marT="48894"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L="635" algn="ctr">
                        <a:lnSpc>
                          <a:spcPct val="100000"/>
                        </a:lnSpc>
                        <a:spcBef>
                          <a:spcPts val="384"/>
                        </a:spcBef>
                      </a:pPr>
                      <a:r>
                        <a:rPr sz="900" dirty="0">
                          <a:latin typeface="Arial"/>
                          <a:cs typeface="Arial"/>
                        </a:rPr>
                        <a:t>Digital</a:t>
                      </a:r>
                    </a:p>
                  </a:txBody>
                  <a:tcPr marL="0" marR="0" marT="48894"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L="641350">
                        <a:lnSpc>
                          <a:spcPct val="100000"/>
                        </a:lnSpc>
                        <a:spcBef>
                          <a:spcPts val="384"/>
                        </a:spcBef>
                      </a:pPr>
                      <a:r>
                        <a:rPr sz="900" dirty="0">
                          <a:latin typeface="Arial"/>
                          <a:cs typeface="Arial"/>
                        </a:rPr>
                        <a:t>SPI</a:t>
                      </a:r>
                      <a:r>
                        <a:rPr sz="900" spc="-30" dirty="0">
                          <a:latin typeface="Arial"/>
                          <a:cs typeface="Arial"/>
                        </a:rPr>
                        <a:t> </a:t>
                      </a:r>
                      <a:r>
                        <a:rPr sz="900" dirty="0">
                          <a:latin typeface="Arial"/>
                          <a:cs typeface="Arial"/>
                        </a:rPr>
                        <a:t>Chip</a:t>
                      </a:r>
                      <a:r>
                        <a:rPr sz="900" spc="-40" dirty="0">
                          <a:latin typeface="Arial"/>
                          <a:cs typeface="Arial"/>
                        </a:rPr>
                        <a:t> </a:t>
                      </a:r>
                      <a:r>
                        <a:rPr sz="900" dirty="0">
                          <a:latin typeface="Arial"/>
                          <a:cs typeface="Arial"/>
                        </a:rPr>
                        <a:t>Select</a:t>
                      </a:r>
                    </a:p>
                  </a:txBody>
                  <a:tcPr marL="0" marR="0" marT="48894"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nSpc>
                          <a:spcPct val="100000"/>
                        </a:lnSpc>
                      </a:pPr>
                      <a:endParaRPr sz="900" dirty="0">
                        <a:latin typeface="Times New Roman"/>
                        <a:cs typeface="Times New Roman"/>
                      </a:endParaRPr>
                    </a:p>
                  </a:txBody>
                  <a:tcPr marL="0" marR="0" marT="0" marB="0">
                    <a:lnL w="3175">
                      <a:solidFill>
                        <a:srgbClr val="000000"/>
                      </a:solidFill>
                      <a:prstDash val="solid"/>
                    </a:lnL>
                    <a:lnR w="12700">
                      <a:solidFill>
                        <a:srgbClr val="FFFFFF"/>
                      </a:solidFill>
                      <a:prstDash val="solid"/>
                    </a:lnR>
                    <a:lnT w="3175">
                      <a:solidFill>
                        <a:srgbClr val="000000"/>
                      </a:solidFill>
                      <a:prstDash val="solid"/>
                    </a:lnT>
                    <a:lnB w="3175">
                      <a:solidFill>
                        <a:srgbClr val="000000"/>
                      </a:solidFill>
                      <a:prstDash val="solid"/>
                    </a:lnB>
                  </a:tcPr>
                </a:tc>
                <a:extLst>
                  <a:ext uri="{0D108BD9-81ED-4DB2-BD59-A6C34878D82A}">
                    <a16:rowId xmlns:a16="http://schemas.microsoft.com/office/drawing/2014/main" val="10002"/>
                  </a:ext>
                </a:extLst>
              </a:tr>
              <a:tr h="245110">
                <a:tc>
                  <a:txBody>
                    <a:bodyPr/>
                    <a:lstStyle/>
                    <a:p>
                      <a:pPr algn="ctr">
                        <a:lnSpc>
                          <a:spcPct val="100000"/>
                        </a:lnSpc>
                        <a:spcBef>
                          <a:spcPts val="384"/>
                        </a:spcBef>
                      </a:pPr>
                      <a:r>
                        <a:rPr sz="900" spc="-10" dirty="0">
                          <a:latin typeface="Arial"/>
                          <a:cs typeface="Arial"/>
                        </a:rPr>
                        <a:t>MOSI</a:t>
                      </a:r>
                      <a:endParaRPr sz="900" dirty="0">
                        <a:latin typeface="Arial"/>
                        <a:cs typeface="Arial"/>
                      </a:endParaRPr>
                    </a:p>
                  </a:txBody>
                  <a:tcPr marL="0" marR="0" marT="48894" marB="0">
                    <a:lnL w="12700">
                      <a:solidFill>
                        <a:srgbClr val="FFFFFF"/>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L="635" algn="ctr">
                        <a:lnSpc>
                          <a:spcPct val="100000"/>
                        </a:lnSpc>
                        <a:spcBef>
                          <a:spcPts val="384"/>
                        </a:spcBef>
                      </a:pPr>
                      <a:r>
                        <a:rPr sz="900" dirty="0">
                          <a:latin typeface="Arial"/>
                          <a:cs typeface="Arial"/>
                        </a:rPr>
                        <a:t>3</a:t>
                      </a:r>
                    </a:p>
                  </a:txBody>
                  <a:tcPr marL="0" marR="0" marT="48894"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gn="ctr">
                        <a:lnSpc>
                          <a:spcPct val="100000"/>
                        </a:lnSpc>
                        <a:spcBef>
                          <a:spcPts val="384"/>
                        </a:spcBef>
                      </a:pPr>
                      <a:r>
                        <a:rPr sz="900" dirty="0">
                          <a:latin typeface="Arial"/>
                          <a:cs typeface="Arial"/>
                        </a:rPr>
                        <a:t>I</a:t>
                      </a:r>
                    </a:p>
                  </a:txBody>
                  <a:tcPr marL="0" marR="0" marT="48894"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L="635" algn="ctr">
                        <a:lnSpc>
                          <a:spcPct val="100000"/>
                        </a:lnSpc>
                        <a:spcBef>
                          <a:spcPts val="384"/>
                        </a:spcBef>
                      </a:pPr>
                      <a:r>
                        <a:rPr sz="900" dirty="0">
                          <a:latin typeface="Arial"/>
                          <a:cs typeface="Arial"/>
                        </a:rPr>
                        <a:t>Digital</a:t>
                      </a:r>
                    </a:p>
                  </a:txBody>
                  <a:tcPr marL="0" marR="0" marT="48894"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L="1905" algn="ctr">
                        <a:lnSpc>
                          <a:spcPct val="100000"/>
                        </a:lnSpc>
                        <a:spcBef>
                          <a:spcPts val="384"/>
                        </a:spcBef>
                      </a:pPr>
                      <a:r>
                        <a:rPr sz="900" dirty="0">
                          <a:latin typeface="Arial"/>
                          <a:cs typeface="Arial"/>
                        </a:rPr>
                        <a:t>SPI</a:t>
                      </a:r>
                      <a:r>
                        <a:rPr sz="900" spc="-40" dirty="0">
                          <a:latin typeface="Arial"/>
                          <a:cs typeface="Arial"/>
                        </a:rPr>
                        <a:t> </a:t>
                      </a:r>
                      <a:r>
                        <a:rPr sz="900" spc="-10" dirty="0">
                          <a:latin typeface="Arial"/>
                          <a:cs typeface="Arial"/>
                        </a:rPr>
                        <a:t>MOSI</a:t>
                      </a:r>
                      <a:endParaRPr sz="900" dirty="0">
                        <a:latin typeface="Arial"/>
                        <a:cs typeface="Arial"/>
                      </a:endParaRPr>
                    </a:p>
                  </a:txBody>
                  <a:tcPr marL="0" marR="0" marT="48894"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nSpc>
                          <a:spcPct val="100000"/>
                        </a:lnSpc>
                      </a:pPr>
                      <a:endParaRPr sz="900" dirty="0">
                        <a:latin typeface="Times New Roman"/>
                        <a:cs typeface="Times New Roman"/>
                      </a:endParaRPr>
                    </a:p>
                  </a:txBody>
                  <a:tcPr marL="0" marR="0" marT="0" marB="0">
                    <a:lnL w="3175">
                      <a:solidFill>
                        <a:srgbClr val="000000"/>
                      </a:solidFill>
                      <a:prstDash val="solid"/>
                    </a:lnL>
                    <a:lnR w="12700">
                      <a:solidFill>
                        <a:srgbClr val="FFFFFF"/>
                      </a:solidFill>
                      <a:prstDash val="solid"/>
                    </a:lnR>
                    <a:lnT w="3175">
                      <a:solidFill>
                        <a:srgbClr val="000000"/>
                      </a:solidFill>
                      <a:prstDash val="solid"/>
                    </a:lnT>
                    <a:lnB w="3175">
                      <a:solidFill>
                        <a:srgbClr val="000000"/>
                      </a:solidFill>
                      <a:prstDash val="solid"/>
                    </a:lnB>
                  </a:tcPr>
                </a:tc>
                <a:extLst>
                  <a:ext uri="{0D108BD9-81ED-4DB2-BD59-A6C34878D82A}">
                    <a16:rowId xmlns:a16="http://schemas.microsoft.com/office/drawing/2014/main" val="10003"/>
                  </a:ext>
                </a:extLst>
              </a:tr>
              <a:tr h="245110">
                <a:tc>
                  <a:txBody>
                    <a:bodyPr/>
                    <a:lstStyle/>
                    <a:p>
                      <a:pPr algn="ctr">
                        <a:lnSpc>
                          <a:spcPct val="100000"/>
                        </a:lnSpc>
                        <a:spcBef>
                          <a:spcPts val="385"/>
                        </a:spcBef>
                      </a:pPr>
                      <a:r>
                        <a:rPr sz="900" spc="-5" dirty="0">
                          <a:latin typeface="Arial"/>
                          <a:cs typeface="Arial"/>
                        </a:rPr>
                        <a:t>MISO</a:t>
                      </a:r>
                      <a:endParaRPr sz="900" dirty="0">
                        <a:latin typeface="Arial"/>
                        <a:cs typeface="Arial"/>
                      </a:endParaRPr>
                    </a:p>
                  </a:txBody>
                  <a:tcPr marL="0" marR="0" marT="48895" marB="0">
                    <a:lnL w="12700">
                      <a:solidFill>
                        <a:srgbClr val="FFFFFF"/>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L="635" algn="ctr">
                        <a:lnSpc>
                          <a:spcPct val="100000"/>
                        </a:lnSpc>
                        <a:spcBef>
                          <a:spcPts val="385"/>
                        </a:spcBef>
                      </a:pPr>
                      <a:r>
                        <a:rPr sz="900" dirty="0">
                          <a:latin typeface="Arial"/>
                          <a:cs typeface="Arial"/>
                        </a:rPr>
                        <a:t>4</a:t>
                      </a:r>
                    </a:p>
                  </a:txBody>
                  <a:tcPr marL="0" marR="0" marT="48895"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L="1905" algn="ctr">
                        <a:lnSpc>
                          <a:spcPct val="100000"/>
                        </a:lnSpc>
                        <a:spcBef>
                          <a:spcPts val="385"/>
                        </a:spcBef>
                      </a:pPr>
                      <a:r>
                        <a:rPr sz="900" dirty="0">
                          <a:latin typeface="Arial"/>
                          <a:cs typeface="Arial"/>
                        </a:rPr>
                        <a:t>O</a:t>
                      </a:r>
                    </a:p>
                  </a:txBody>
                  <a:tcPr marL="0" marR="0" marT="48895"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L="635" algn="ctr">
                        <a:lnSpc>
                          <a:spcPct val="100000"/>
                        </a:lnSpc>
                        <a:spcBef>
                          <a:spcPts val="385"/>
                        </a:spcBef>
                      </a:pPr>
                      <a:r>
                        <a:rPr sz="900" dirty="0">
                          <a:latin typeface="Arial"/>
                          <a:cs typeface="Arial"/>
                        </a:rPr>
                        <a:t>Digital</a:t>
                      </a:r>
                    </a:p>
                  </a:txBody>
                  <a:tcPr marL="0" marR="0" marT="48895"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L="2540" algn="ctr">
                        <a:lnSpc>
                          <a:spcPct val="100000"/>
                        </a:lnSpc>
                        <a:spcBef>
                          <a:spcPts val="385"/>
                        </a:spcBef>
                      </a:pPr>
                      <a:r>
                        <a:rPr sz="900" dirty="0">
                          <a:latin typeface="Arial"/>
                          <a:cs typeface="Arial"/>
                        </a:rPr>
                        <a:t>SPI</a:t>
                      </a:r>
                      <a:r>
                        <a:rPr sz="900" spc="-50" dirty="0">
                          <a:latin typeface="Arial"/>
                          <a:cs typeface="Arial"/>
                        </a:rPr>
                        <a:t> </a:t>
                      </a:r>
                      <a:r>
                        <a:rPr sz="900" spc="-5" dirty="0">
                          <a:latin typeface="Arial"/>
                          <a:cs typeface="Arial"/>
                        </a:rPr>
                        <a:t>MISO</a:t>
                      </a:r>
                      <a:endParaRPr sz="900" dirty="0">
                        <a:latin typeface="Arial"/>
                        <a:cs typeface="Arial"/>
                      </a:endParaRPr>
                    </a:p>
                  </a:txBody>
                  <a:tcPr marL="0" marR="0" marT="48895"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L="1905" algn="ctr">
                        <a:lnSpc>
                          <a:spcPct val="100000"/>
                        </a:lnSpc>
                        <a:spcBef>
                          <a:spcPts val="385"/>
                        </a:spcBef>
                      </a:pPr>
                      <a:r>
                        <a:rPr sz="900" dirty="0">
                          <a:latin typeface="Arial"/>
                          <a:cs typeface="Arial"/>
                        </a:rPr>
                        <a:t>Unused</a:t>
                      </a:r>
                      <a:r>
                        <a:rPr sz="900" spc="-40" dirty="0">
                          <a:latin typeface="Arial"/>
                          <a:cs typeface="Arial"/>
                        </a:rPr>
                        <a:t> </a:t>
                      </a:r>
                      <a:r>
                        <a:rPr sz="900" dirty="0">
                          <a:latin typeface="Arial"/>
                          <a:cs typeface="Arial"/>
                        </a:rPr>
                        <a:t>:</a:t>
                      </a:r>
                      <a:r>
                        <a:rPr sz="900" spc="-20" dirty="0">
                          <a:latin typeface="Arial"/>
                          <a:cs typeface="Arial"/>
                        </a:rPr>
                        <a:t> </a:t>
                      </a:r>
                      <a:r>
                        <a:rPr sz="900" dirty="0">
                          <a:latin typeface="Arial"/>
                          <a:cs typeface="Arial"/>
                        </a:rPr>
                        <a:t>10KΩ</a:t>
                      </a:r>
                      <a:r>
                        <a:rPr sz="900" spc="-40" dirty="0">
                          <a:latin typeface="Arial"/>
                          <a:cs typeface="Arial"/>
                        </a:rPr>
                        <a:t> </a:t>
                      </a:r>
                      <a:r>
                        <a:rPr sz="900" spc="-10" dirty="0">
                          <a:latin typeface="Arial"/>
                          <a:cs typeface="Arial"/>
                        </a:rPr>
                        <a:t>PD</a:t>
                      </a:r>
                      <a:endParaRPr sz="900" dirty="0">
                        <a:latin typeface="Arial"/>
                        <a:cs typeface="Arial"/>
                      </a:endParaRPr>
                    </a:p>
                  </a:txBody>
                  <a:tcPr marL="0" marR="0" marT="48895" marB="0">
                    <a:lnL w="3175">
                      <a:solidFill>
                        <a:srgbClr val="000000"/>
                      </a:solidFill>
                      <a:prstDash val="solid"/>
                    </a:lnL>
                    <a:lnR w="12700">
                      <a:solidFill>
                        <a:srgbClr val="FFFFFF"/>
                      </a:solidFill>
                      <a:prstDash val="solid"/>
                    </a:lnR>
                    <a:lnT w="3175">
                      <a:solidFill>
                        <a:srgbClr val="000000"/>
                      </a:solidFill>
                      <a:prstDash val="solid"/>
                    </a:lnT>
                    <a:lnB w="3175">
                      <a:solidFill>
                        <a:srgbClr val="000000"/>
                      </a:solidFill>
                      <a:prstDash val="solid"/>
                    </a:lnB>
                  </a:tcPr>
                </a:tc>
                <a:extLst>
                  <a:ext uri="{0D108BD9-81ED-4DB2-BD59-A6C34878D82A}">
                    <a16:rowId xmlns:a16="http://schemas.microsoft.com/office/drawing/2014/main" val="10004"/>
                  </a:ext>
                </a:extLst>
              </a:tr>
              <a:tr h="245110">
                <a:tc>
                  <a:txBody>
                    <a:bodyPr/>
                    <a:lstStyle/>
                    <a:p>
                      <a:pPr algn="ctr">
                        <a:lnSpc>
                          <a:spcPct val="100000"/>
                        </a:lnSpc>
                        <a:spcBef>
                          <a:spcPts val="385"/>
                        </a:spcBef>
                      </a:pPr>
                      <a:r>
                        <a:rPr sz="900" spc="-5" dirty="0">
                          <a:latin typeface="Arial"/>
                          <a:cs typeface="Arial"/>
                        </a:rPr>
                        <a:t>VSYNC</a:t>
                      </a:r>
                      <a:endParaRPr sz="900" dirty="0">
                        <a:latin typeface="Arial"/>
                        <a:cs typeface="Arial"/>
                      </a:endParaRPr>
                    </a:p>
                  </a:txBody>
                  <a:tcPr marL="0" marR="0" marT="48895" marB="0">
                    <a:lnL w="12700">
                      <a:solidFill>
                        <a:srgbClr val="FFFFFF"/>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L="635" algn="ctr">
                        <a:lnSpc>
                          <a:spcPct val="100000"/>
                        </a:lnSpc>
                        <a:spcBef>
                          <a:spcPts val="385"/>
                        </a:spcBef>
                      </a:pPr>
                      <a:r>
                        <a:rPr sz="900" dirty="0">
                          <a:latin typeface="Arial"/>
                          <a:cs typeface="Arial"/>
                        </a:rPr>
                        <a:t>5</a:t>
                      </a:r>
                    </a:p>
                  </a:txBody>
                  <a:tcPr marL="0" marR="0" marT="48895"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gn="ctr">
                        <a:lnSpc>
                          <a:spcPct val="100000"/>
                        </a:lnSpc>
                        <a:spcBef>
                          <a:spcPts val="385"/>
                        </a:spcBef>
                      </a:pPr>
                      <a:r>
                        <a:rPr sz="900" dirty="0">
                          <a:latin typeface="Arial"/>
                          <a:cs typeface="Arial"/>
                        </a:rPr>
                        <a:t>I</a:t>
                      </a:r>
                    </a:p>
                  </a:txBody>
                  <a:tcPr marL="0" marR="0" marT="48895"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L="635" algn="ctr">
                        <a:lnSpc>
                          <a:spcPct val="100000"/>
                        </a:lnSpc>
                        <a:spcBef>
                          <a:spcPts val="385"/>
                        </a:spcBef>
                      </a:pPr>
                      <a:r>
                        <a:rPr sz="900" dirty="0">
                          <a:latin typeface="Arial"/>
                          <a:cs typeface="Arial"/>
                        </a:rPr>
                        <a:t>Digital</a:t>
                      </a:r>
                    </a:p>
                  </a:txBody>
                  <a:tcPr marL="0" marR="0" marT="48895"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R="457200" algn="r">
                        <a:lnSpc>
                          <a:spcPct val="100000"/>
                        </a:lnSpc>
                        <a:spcBef>
                          <a:spcPts val="385"/>
                        </a:spcBef>
                      </a:pPr>
                      <a:r>
                        <a:rPr sz="900" dirty="0">
                          <a:latin typeface="Arial"/>
                          <a:cs typeface="Arial"/>
                        </a:rPr>
                        <a:t>Frame</a:t>
                      </a:r>
                      <a:r>
                        <a:rPr sz="900" spc="-30" dirty="0">
                          <a:latin typeface="Arial"/>
                          <a:cs typeface="Arial"/>
                        </a:rPr>
                        <a:t> </a:t>
                      </a:r>
                      <a:r>
                        <a:rPr sz="900" spc="-5" dirty="0">
                          <a:latin typeface="Arial"/>
                          <a:cs typeface="Arial"/>
                        </a:rPr>
                        <a:t>synchronization</a:t>
                      </a:r>
                      <a:endParaRPr sz="900" dirty="0">
                        <a:latin typeface="Arial"/>
                        <a:cs typeface="Arial"/>
                      </a:endParaRPr>
                    </a:p>
                  </a:txBody>
                  <a:tcPr marL="0" marR="0" marT="48895"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nSpc>
                          <a:spcPct val="100000"/>
                        </a:lnSpc>
                      </a:pPr>
                      <a:endParaRPr sz="900" dirty="0">
                        <a:latin typeface="Times New Roman"/>
                        <a:cs typeface="Times New Roman"/>
                      </a:endParaRPr>
                    </a:p>
                  </a:txBody>
                  <a:tcPr marL="0" marR="0" marT="0" marB="0">
                    <a:lnL w="3175">
                      <a:solidFill>
                        <a:srgbClr val="000000"/>
                      </a:solidFill>
                      <a:prstDash val="solid"/>
                    </a:lnL>
                    <a:lnR w="12700">
                      <a:solidFill>
                        <a:srgbClr val="FFFFFF"/>
                      </a:solidFill>
                      <a:prstDash val="solid"/>
                    </a:lnR>
                    <a:lnT w="3175">
                      <a:solidFill>
                        <a:srgbClr val="000000"/>
                      </a:solidFill>
                      <a:prstDash val="solid"/>
                    </a:lnT>
                    <a:lnB w="3175">
                      <a:solidFill>
                        <a:srgbClr val="000000"/>
                      </a:solidFill>
                      <a:prstDash val="solid"/>
                    </a:lnB>
                  </a:tcPr>
                </a:tc>
                <a:extLst>
                  <a:ext uri="{0D108BD9-81ED-4DB2-BD59-A6C34878D82A}">
                    <a16:rowId xmlns:a16="http://schemas.microsoft.com/office/drawing/2014/main" val="10005"/>
                  </a:ext>
                </a:extLst>
              </a:tr>
              <a:tr h="245110">
                <a:tc>
                  <a:txBody>
                    <a:bodyPr/>
                    <a:lstStyle/>
                    <a:p>
                      <a:pPr algn="ctr">
                        <a:lnSpc>
                          <a:spcPct val="100000"/>
                        </a:lnSpc>
                        <a:spcBef>
                          <a:spcPts val="380"/>
                        </a:spcBef>
                      </a:pPr>
                      <a:r>
                        <a:rPr sz="900" spc="-5" dirty="0">
                          <a:latin typeface="Arial"/>
                          <a:cs typeface="Arial"/>
                        </a:rPr>
                        <a:t>VSSD1</a:t>
                      </a:r>
                      <a:endParaRPr sz="900" dirty="0">
                        <a:latin typeface="Arial"/>
                        <a:cs typeface="Arial"/>
                      </a:endParaRPr>
                    </a:p>
                  </a:txBody>
                  <a:tcPr marL="0" marR="0" marT="48260" marB="0">
                    <a:lnL w="12700">
                      <a:solidFill>
                        <a:srgbClr val="FFFFFF"/>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L="635" algn="ctr">
                        <a:lnSpc>
                          <a:spcPct val="100000"/>
                        </a:lnSpc>
                        <a:spcBef>
                          <a:spcPts val="380"/>
                        </a:spcBef>
                      </a:pPr>
                      <a:r>
                        <a:rPr sz="900" dirty="0">
                          <a:latin typeface="Arial"/>
                          <a:cs typeface="Arial"/>
                        </a:rPr>
                        <a:t>6</a:t>
                      </a:r>
                    </a:p>
                  </a:txBody>
                  <a:tcPr marL="0" marR="0" marT="4826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gn="ctr">
                        <a:lnSpc>
                          <a:spcPct val="100000"/>
                        </a:lnSpc>
                        <a:spcBef>
                          <a:spcPts val="380"/>
                        </a:spcBef>
                      </a:pPr>
                      <a:r>
                        <a:rPr sz="900" dirty="0">
                          <a:latin typeface="Arial"/>
                          <a:cs typeface="Arial"/>
                        </a:rPr>
                        <a:t>-</a:t>
                      </a:r>
                    </a:p>
                  </a:txBody>
                  <a:tcPr marL="0" marR="0" marT="4826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L="1905" algn="ctr">
                        <a:lnSpc>
                          <a:spcPct val="100000"/>
                        </a:lnSpc>
                        <a:spcBef>
                          <a:spcPts val="380"/>
                        </a:spcBef>
                      </a:pPr>
                      <a:r>
                        <a:rPr sz="900" spc="-5" dirty="0">
                          <a:latin typeface="Arial"/>
                          <a:cs typeface="Arial"/>
                        </a:rPr>
                        <a:t>GND</a:t>
                      </a:r>
                      <a:endParaRPr sz="900" dirty="0">
                        <a:latin typeface="Arial"/>
                        <a:cs typeface="Arial"/>
                      </a:endParaRPr>
                    </a:p>
                  </a:txBody>
                  <a:tcPr marL="0" marR="0" marT="4826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L="635" algn="ctr">
                        <a:lnSpc>
                          <a:spcPct val="100000"/>
                        </a:lnSpc>
                        <a:spcBef>
                          <a:spcPts val="380"/>
                        </a:spcBef>
                      </a:pPr>
                      <a:r>
                        <a:rPr sz="900" dirty="0">
                          <a:latin typeface="Arial"/>
                          <a:cs typeface="Arial"/>
                        </a:rPr>
                        <a:t>Digital</a:t>
                      </a:r>
                      <a:r>
                        <a:rPr sz="900" spc="-60" dirty="0">
                          <a:latin typeface="Arial"/>
                          <a:cs typeface="Arial"/>
                        </a:rPr>
                        <a:t> </a:t>
                      </a:r>
                      <a:r>
                        <a:rPr sz="900" spc="-5" dirty="0">
                          <a:latin typeface="Arial"/>
                          <a:cs typeface="Arial"/>
                        </a:rPr>
                        <a:t>GND</a:t>
                      </a:r>
                      <a:endParaRPr sz="900" dirty="0">
                        <a:latin typeface="Arial"/>
                        <a:cs typeface="Arial"/>
                      </a:endParaRPr>
                    </a:p>
                  </a:txBody>
                  <a:tcPr marL="0" marR="0" marT="4826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nSpc>
                          <a:spcPct val="100000"/>
                        </a:lnSpc>
                      </a:pPr>
                      <a:endParaRPr sz="900" dirty="0">
                        <a:latin typeface="Times New Roman"/>
                        <a:cs typeface="Times New Roman"/>
                      </a:endParaRPr>
                    </a:p>
                  </a:txBody>
                  <a:tcPr marL="0" marR="0" marT="0" marB="0">
                    <a:lnL w="3175">
                      <a:solidFill>
                        <a:srgbClr val="000000"/>
                      </a:solidFill>
                      <a:prstDash val="solid"/>
                    </a:lnL>
                    <a:lnR w="12700">
                      <a:solidFill>
                        <a:srgbClr val="FFFFFF"/>
                      </a:solidFill>
                      <a:prstDash val="solid"/>
                    </a:lnR>
                    <a:lnT w="3175">
                      <a:solidFill>
                        <a:srgbClr val="000000"/>
                      </a:solidFill>
                      <a:prstDash val="solid"/>
                    </a:lnT>
                    <a:lnB w="3175">
                      <a:solidFill>
                        <a:srgbClr val="000000"/>
                      </a:solidFill>
                      <a:prstDash val="solid"/>
                    </a:lnB>
                  </a:tcPr>
                </a:tc>
                <a:extLst>
                  <a:ext uri="{0D108BD9-81ED-4DB2-BD59-A6C34878D82A}">
                    <a16:rowId xmlns:a16="http://schemas.microsoft.com/office/drawing/2014/main" val="10006"/>
                  </a:ext>
                </a:extLst>
              </a:tr>
              <a:tr h="245110">
                <a:tc>
                  <a:txBody>
                    <a:bodyPr/>
                    <a:lstStyle/>
                    <a:p>
                      <a:pPr algn="ctr">
                        <a:lnSpc>
                          <a:spcPct val="100000"/>
                        </a:lnSpc>
                        <a:spcBef>
                          <a:spcPts val="385"/>
                        </a:spcBef>
                      </a:pPr>
                      <a:r>
                        <a:rPr sz="900" spc="-10" dirty="0">
                          <a:latin typeface="Arial"/>
                          <a:cs typeface="Arial"/>
                        </a:rPr>
                        <a:t>MCLK</a:t>
                      </a:r>
                      <a:endParaRPr sz="900" dirty="0">
                        <a:latin typeface="Arial"/>
                        <a:cs typeface="Arial"/>
                      </a:endParaRPr>
                    </a:p>
                  </a:txBody>
                  <a:tcPr marL="0" marR="0" marT="48895" marB="0">
                    <a:lnL w="12700">
                      <a:solidFill>
                        <a:srgbClr val="FFFFFF"/>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L="635" algn="ctr">
                        <a:lnSpc>
                          <a:spcPct val="100000"/>
                        </a:lnSpc>
                        <a:spcBef>
                          <a:spcPts val="385"/>
                        </a:spcBef>
                      </a:pPr>
                      <a:r>
                        <a:rPr sz="900" dirty="0">
                          <a:latin typeface="Arial"/>
                          <a:cs typeface="Arial"/>
                        </a:rPr>
                        <a:t>7</a:t>
                      </a:r>
                    </a:p>
                  </a:txBody>
                  <a:tcPr marL="0" marR="0" marT="48895"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gn="ctr">
                        <a:lnSpc>
                          <a:spcPct val="100000"/>
                        </a:lnSpc>
                        <a:spcBef>
                          <a:spcPts val="385"/>
                        </a:spcBef>
                      </a:pPr>
                      <a:r>
                        <a:rPr sz="900" dirty="0">
                          <a:latin typeface="Arial"/>
                          <a:cs typeface="Arial"/>
                        </a:rPr>
                        <a:t>I</a:t>
                      </a:r>
                    </a:p>
                  </a:txBody>
                  <a:tcPr marL="0" marR="0" marT="48895"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L="635" algn="ctr">
                        <a:lnSpc>
                          <a:spcPct val="100000"/>
                        </a:lnSpc>
                        <a:spcBef>
                          <a:spcPts val="385"/>
                        </a:spcBef>
                      </a:pPr>
                      <a:r>
                        <a:rPr sz="900" dirty="0">
                          <a:latin typeface="Arial"/>
                          <a:cs typeface="Arial"/>
                        </a:rPr>
                        <a:t>Digital</a:t>
                      </a:r>
                    </a:p>
                  </a:txBody>
                  <a:tcPr marL="0" marR="0" marT="48895"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gn="ctr">
                        <a:lnSpc>
                          <a:spcPct val="100000"/>
                        </a:lnSpc>
                        <a:spcBef>
                          <a:spcPts val="385"/>
                        </a:spcBef>
                      </a:pPr>
                      <a:r>
                        <a:rPr sz="900" spc="-5" dirty="0">
                          <a:latin typeface="Arial"/>
                          <a:cs typeface="Arial"/>
                        </a:rPr>
                        <a:t>Master</a:t>
                      </a:r>
                      <a:r>
                        <a:rPr sz="900" spc="-40" dirty="0">
                          <a:latin typeface="Arial"/>
                          <a:cs typeface="Arial"/>
                        </a:rPr>
                        <a:t> </a:t>
                      </a:r>
                      <a:r>
                        <a:rPr sz="900" dirty="0">
                          <a:latin typeface="Arial"/>
                          <a:cs typeface="Arial"/>
                        </a:rPr>
                        <a:t>Clock</a:t>
                      </a:r>
                    </a:p>
                  </a:txBody>
                  <a:tcPr marL="0" marR="0" marT="48895"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L="1905" algn="ctr">
                        <a:lnSpc>
                          <a:spcPct val="100000"/>
                        </a:lnSpc>
                        <a:spcBef>
                          <a:spcPts val="385"/>
                        </a:spcBef>
                      </a:pPr>
                      <a:r>
                        <a:rPr sz="900" dirty="0">
                          <a:latin typeface="Arial"/>
                          <a:cs typeface="Arial"/>
                        </a:rPr>
                        <a:t>Unused</a:t>
                      </a:r>
                      <a:r>
                        <a:rPr sz="900" spc="-40" dirty="0">
                          <a:latin typeface="Arial"/>
                          <a:cs typeface="Arial"/>
                        </a:rPr>
                        <a:t> </a:t>
                      </a:r>
                      <a:r>
                        <a:rPr sz="900" dirty="0">
                          <a:latin typeface="Arial"/>
                          <a:cs typeface="Arial"/>
                        </a:rPr>
                        <a:t>:</a:t>
                      </a:r>
                      <a:r>
                        <a:rPr sz="900" spc="-20" dirty="0">
                          <a:latin typeface="Arial"/>
                          <a:cs typeface="Arial"/>
                        </a:rPr>
                        <a:t> </a:t>
                      </a:r>
                      <a:r>
                        <a:rPr sz="900" dirty="0">
                          <a:latin typeface="Arial"/>
                          <a:cs typeface="Arial"/>
                        </a:rPr>
                        <a:t>10KΩ</a:t>
                      </a:r>
                      <a:r>
                        <a:rPr sz="900" spc="-40" dirty="0">
                          <a:latin typeface="Arial"/>
                          <a:cs typeface="Arial"/>
                        </a:rPr>
                        <a:t> </a:t>
                      </a:r>
                      <a:r>
                        <a:rPr sz="900" spc="-10" dirty="0">
                          <a:latin typeface="Arial"/>
                          <a:cs typeface="Arial"/>
                        </a:rPr>
                        <a:t>PD</a:t>
                      </a:r>
                      <a:endParaRPr sz="900" dirty="0">
                        <a:latin typeface="Arial"/>
                        <a:cs typeface="Arial"/>
                      </a:endParaRPr>
                    </a:p>
                  </a:txBody>
                  <a:tcPr marL="0" marR="0" marT="48895" marB="0">
                    <a:lnL w="3175">
                      <a:solidFill>
                        <a:srgbClr val="000000"/>
                      </a:solidFill>
                      <a:prstDash val="solid"/>
                    </a:lnL>
                    <a:lnR w="12700">
                      <a:solidFill>
                        <a:srgbClr val="FFFFFF"/>
                      </a:solidFill>
                      <a:prstDash val="solid"/>
                    </a:lnR>
                    <a:lnT w="3175">
                      <a:solidFill>
                        <a:srgbClr val="000000"/>
                      </a:solidFill>
                      <a:prstDash val="solid"/>
                    </a:lnT>
                    <a:lnB w="3175">
                      <a:solidFill>
                        <a:srgbClr val="000000"/>
                      </a:solidFill>
                      <a:prstDash val="solid"/>
                    </a:lnB>
                  </a:tcPr>
                </a:tc>
                <a:extLst>
                  <a:ext uri="{0D108BD9-81ED-4DB2-BD59-A6C34878D82A}">
                    <a16:rowId xmlns:a16="http://schemas.microsoft.com/office/drawing/2014/main" val="10007"/>
                  </a:ext>
                </a:extLst>
              </a:tr>
              <a:tr h="245110">
                <a:tc>
                  <a:txBody>
                    <a:bodyPr/>
                    <a:lstStyle/>
                    <a:p>
                      <a:pPr algn="ctr">
                        <a:lnSpc>
                          <a:spcPct val="100000"/>
                        </a:lnSpc>
                        <a:spcBef>
                          <a:spcPts val="385"/>
                        </a:spcBef>
                      </a:pPr>
                      <a:r>
                        <a:rPr sz="900" spc="-5" dirty="0">
                          <a:latin typeface="Arial"/>
                          <a:cs typeface="Arial"/>
                        </a:rPr>
                        <a:t>VDDD1</a:t>
                      </a:r>
                      <a:endParaRPr sz="900" dirty="0">
                        <a:latin typeface="Arial"/>
                        <a:cs typeface="Arial"/>
                      </a:endParaRPr>
                    </a:p>
                  </a:txBody>
                  <a:tcPr marL="0" marR="0" marT="48895" marB="0">
                    <a:lnL w="12700">
                      <a:solidFill>
                        <a:srgbClr val="FFFFFF"/>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L="635" algn="ctr">
                        <a:lnSpc>
                          <a:spcPct val="100000"/>
                        </a:lnSpc>
                        <a:spcBef>
                          <a:spcPts val="385"/>
                        </a:spcBef>
                      </a:pPr>
                      <a:r>
                        <a:rPr sz="900" dirty="0">
                          <a:latin typeface="Arial"/>
                          <a:cs typeface="Arial"/>
                        </a:rPr>
                        <a:t>8</a:t>
                      </a:r>
                    </a:p>
                  </a:txBody>
                  <a:tcPr marL="0" marR="0" marT="48895"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gn="ctr">
                        <a:lnSpc>
                          <a:spcPct val="100000"/>
                        </a:lnSpc>
                        <a:spcBef>
                          <a:spcPts val="385"/>
                        </a:spcBef>
                      </a:pPr>
                      <a:r>
                        <a:rPr sz="900" dirty="0">
                          <a:latin typeface="Arial"/>
                          <a:cs typeface="Arial"/>
                        </a:rPr>
                        <a:t>-</a:t>
                      </a:r>
                    </a:p>
                  </a:txBody>
                  <a:tcPr marL="0" marR="0" marT="48895"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L="1270" algn="ctr">
                        <a:lnSpc>
                          <a:spcPct val="100000"/>
                        </a:lnSpc>
                        <a:spcBef>
                          <a:spcPts val="385"/>
                        </a:spcBef>
                      </a:pPr>
                      <a:r>
                        <a:rPr sz="900" spc="-5" dirty="0">
                          <a:latin typeface="Arial"/>
                          <a:cs typeface="Arial"/>
                        </a:rPr>
                        <a:t>Power</a:t>
                      </a:r>
                      <a:endParaRPr sz="900" dirty="0">
                        <a:latin typeface="Arial"/>
                        <a:cs typeface="Arial"/>
                      </a:endParaRPr>
                    </a:p>
                  </a:txBody>
                  <a:tcPr marL="0" marR="0" marT="48895"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L="635" algn="ctr">
                        <a:lnSpc>
                          <a:spcPct val="100000"/>
                        </a:lnSpc>
                        <a:spcBef>
                          <a:spcPts val="385"/>
                        </a:spcBef>
                      </a:pPr>
                      <a:r>
                        <a:rPr sz="900" dirty="0">
                          <a:latin typeface="Arial"/>
                          <a:cs typeface="Arial"/>
                        </a:rPr>
                        <a:t>Digital</a:t>
                      </a:r>
                      <a:r>
                        <a:rPr sz="900" spc="-60" dirty="0">
                          <a:latin typeface="Arial"/>
                          <a:cs typeface="Arial"/>
                        </a:rPr>
                        <a:t> </a:t>
                      </a:r>
                      <a:r>
                        <a:rPr sz="900" spc="-5" dirty="0">
                          <a:latin typeface="Arial"/>
                          <a:cs typeface="Arial"/>
                        </a:rPr>
                        <a:t>VDD</a:t>
                      </a:r>
                      <a:endParaRPr sz="900" dirty="0">
                        <a:latin typeface="Arial"/>
                        <a:cs typeface="Arial"/>
                      </a:endParaRPr>
                    </a:p>
                  </a:txBody>
                  <a:tcPr marL="0" marR="0" marT="48895"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nSpc>
                          <a:spcPct val="100000"/>
                        </a:lnSpc>
                      </a:pPr>
                      <a:endParaRPr sz="900" dirty="0">
                        <a:latin typeface="Times New Roman"/>
                        <a:cs typeface="Times New Roman"/>
                      </a:endParaRPr>
                    </a:p>
                  </a:txBody>
                  <a:tcPr marL="0" marR="0" marT="0" marB="0">
                    <a:lnL w="3175">
                      <a:solidFill>
                        <a:srgbClr val="000000"/>
                      </a:solidFill>
                      <a:prstDash val="solid"/>
                    </a:lnL>
                    <a:lnR w="12700">
                      <a:solidFill>
                        <a:srgbClr val="FFFFFF"/>
                      </a:solidFill>
                      <a:prstDash val="solid"/>
                    </a:lnR>
                    <a:lnT w="3175">
                      <a:solidFill>
                        <a:srgbClr val="000000"/>
                      </a:solidFill>
                      <a:prstDash val="solid"/>
                    </a:lnT>
                    <a:lnB w="3175">
                      <a:solidFill>
                        <a:srgbClr val="000000"/>
                      </a:solidFill>
                      <a:prstDash val="solid"/>
                    </a:lnB>
                  </a:tcPr>
                </a:tc>
                <a:extLst>
                  <a:ext uri="{0D108BD9-81ED-4DB2-BD59-A6C34878D82A}">
                    <a16:rowId xmlns:a16="http://schemas.microsoft.com/office/drawing/2014/main" val="10008"/>
                  </a:ext>
                </a:extLst>
              </a:tr>
              <a:tr h="244475">
                <a:tc>
                  <a:txBody>
                    <a:bodyPr/>
                    <a:lstStyle/>
                    <a:p>
                      <a:pPr algn="ctr">
                        <a:lnSpc>
                          <a:spcPct val="100000"/>
                        </a:lnSpc>
                        <a:spcBef>
                          <a:spcPts val="385"/>
                        </a:spcBef>
                      </a:pPr>
                      <a:r>
                        <a:rPr sz="900" spc="-5" dirty="0">
                          <a:latin typeface="Arial"/>
                          <a:cs typeface="Arial"/>
                        </a:rPr>
                        <a:t>HOLD10</a:t>
                      </a:r>
                      <a:endParaRPr sz="900" dirty="0">
                        <a:latin typeface="Arial"/>
                        <a:cs typeface="Arial"/>
                      </a:endParaRPr>
                    </a:p>
                  </a:txBody>
                  <a:tcPr marL="0" marR="0" marT="48895" marB="0">
                    <a:lnL w="12700">
                      <a:solidFill>
                        <a:srgbClr val="FFFFFF"/>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L="635" algn="ctr">
                        <a:lnSpc>
                          <a:spcPct val="100000"/>
                        </a:lnSpc>
                        <a:spcBef>
                          <a:spcPts val="385"/>
                        </a:spcBef>
                      </a:pPr>
                      <a:r>
                        <a:rPr sz="900" dirty="0">
                          <a:latin typeface="Arial"/>
                          <a:cs typeface="Arial"/>
                        </a:rPr>
                        <a:t>9</a:t>
                      </a:r>
                    </a:p>
                  </a:txBody>
                  <a:tcPr marL="0" marR="0" marT="48895"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L="1905" algn="ctr">
                        <a:lnSpc>
                          <a:spcPct val="100000"/>
                        </a:lnSpc>
                        <a:spcBef>
                          <a:spcPts val="385"/>
                        </a:spcBef>
                      </a:pPr>
                      <a:r>
                        <a:rPr sz="900" dirty="0">
                          <a:latin typeface="Arial"/>
                          <a:cs typeface="Arial"/>
                        </a:rPr>
                        <a:t>O</a:t>
                      </a:r>
                    </a:p>
                  </a:txBody>
                  <a:tcPr marL="0" marR="0" marT="48895"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L="635" algn="ctr">
                        <a:lnSpc>
                          <a:spcPct val="100000"/>
                        </a:lnSpc>
                        <a:spcBef>
                          <a:spcPts val="385"/>
                        </a:spcBef>
                      </a:pPr>
                      <a:r>
                        <a:rPr sz="900" dirty="0">
                          <a:latin typeface="Arial"/>
                          <a:cs typeface="Arial"/>
                        </a:rPr>
                        <a:t>Digital</a:t>
                      </a:r>
                    </a:p>
                  </a:txBody>
                  <a:tcPr marL="0" marR="0" marT="48895"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L="543560">
                        <a:lnSpc>
                          <a:spcPct val="100000"/>
                        </a:lnSpc>
                        <a:spcBef>
                          <a:spcPts val="385"/>
                        </a:spcBef>
                      </a:pPr>
                      <a:r>
                        <a:rPr sz="900" dirty="0">
                          <a:latin typeface="Arial"/>
                          <a:cs typeface="Arial"/>
                        </a:rPr>
                        <a:t>Strobe</a:t>
                      </a:r>
                      <a:r>
                        <a:rPr sz="900" spc="-35" dirty="0">
                          <a:latin typeface="Arial"/>
                          <a:cs typeface="Arial"/>
                        </a:rPr>
                        <a:t> </a:t>
                      </a:r>
                      <a:r>
                        <a:rPr sz="900" dirty="0">
                          <a:latin typeface="Arial"/>
                          <a:cs typeface="Arial"/>
                        </a:rPr>
                        <a:t>to</a:t>
                      </a:r>
                      <a:r>
                        <a:rPr sz="900" spc="-30" dirty="0">
                          <a:latin typeface="Arial"/>
                          <a:cs typeface="Arial"/>
                        </a:rPr>
                        <a:t> </a:t>
                      </a:r>
                      <a:r>
                        <a:rPr sz="900" dirty="0">
                          <a:latin typeface="Arial"/>
                          <a:cs typeface="Arial"/>
                        </a:rPr>
                        <a:t>AQ</a:t>
                      </a:r>
                      <a:r>
                        <a:rPr sz="900" spc="-30" dirty="0">
                          <a:latin typeface="Arial"/>
                          <a:cs typeface="Arial"/>
                        </a:rPr>
                        <a:t> </a:t>
                      </a:r>
                      <a:r>
                        <a:rPr sz="900" dirty="0">
                          <a:latin typeface="Arial"/>
                          <a:cs typeface="Arial"/>
                        </a:rPr>
                        <a:t>series</a:t>
                      </a:r>
                    </a:p>
                  </a:txBody>
                  <a:tcPr marL="0" marR="0" marT="48895"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nSpc>
                          <a:spcPct val="100000"/>
                        </a:lnSpc>
                      </a:pPr>
                      <a:endParaRPr sz="900" dirty="0">
                        <a:latin typeface="Times New Roman"/>
                        <a:cs typeface="Times New Roman"/>
                      </a:endParaRPr>
                    </a:p>
                  </a:txBody>
                  <a:tcPr marL="0" marR="0" marT="0" marB="0">
                    <a:lnL w="3175">
                      <a:solidFill>
                        <a:srgbClr val="000000"/>
                      </a:solidFill>
                      <a:prstDash val="solid"/>
                    </a:lnL>
                    <a:lnR w="12700">
                      <a:solidFill>
                        <a:srgbClr val="FFFFFF"/>
                      </a:solidFill>
                      <a:prstDash val="solid"/>
                    </a:lnR>
                    <a:lnT w="3175">
                      <a:solidFill>
                        <a:srgbClr val="000000"/>
                      </a:solidFill>
                      <a:prstDash val="solid"/>
                    </a:lnT>
                    <a:lnB w="3175">
                      <a:solidFill>
                        <a:srgbClr val="000000"/>
                      </a:solidFill>
                      <a:prstDash val="solid"/>
                    </a:lnB>
                  </a:tcPr>
                </a:tc>
                <a:extLst>
                  <a:ext uri="{0D108BD9-81ED-4DB2-BD59-A6C34878D82A}">
                    <a16:rowId xmlns:a16="http://schemas.microsoft.com/office/drawing/2014/main" val="10009"/>
                  </a:ext>
                </a:extLst>
              </a:tr>
              <a:tr h="245110">
                <a:tc>
                  <a:txBody>
                    <a:bodyPr/>
                    <a:lstStyle/>
                    <a:p>
                      <a:pPr algn="ctr">
                        <a:lnSpc>
                          <a:spcPct val="100000"/>
                        </a:lnSpc>
                        <a:spcBef>
                          <a:spcPts val="385"/>
                        </a:spcBef>
                      </a:pPr>
                      <a:r>
                        <a:rPr sz="900" spc="-5" dirty="0">
                          <a:latin typeface="Arial"/>
                          <a:cs typeface="Arial"/>
                        </a:rPr>
                        <a:t>CS10</a:t>
                      </a:r>
                      <a:endParaRPr sz="900" dirty="0">
                        <a:latin typeface="Arial"/>
                        <a:cs typeface="Arial"/>
                      </a:endParaRPr>
                    </a:p>
                  </a:txBody>
                  <a:tcPr marL="0" marR="0" marT="48895" marB="0">
                    <a:lnL w="12700">
                      <a:solidFill>
                        <a:srgbClr val="FFFFFF"/>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L="1270" algn="ctr">
                        <a:lnSpc>
                          <a:spcPct val="100000"/>
                        </a:lnSpc>
                        <a:spcBef>
                          <a:spcPts val="385"/>
                        </a:spcBef>
                      </a:pPr>
                      <a:r>
                        <a:rPr sz="900" spc="-5" dirty="0">
                          <a:latin typeface="Arial"/>
                          <a:cs typeface="Arial"/>
                        </a:rPr>
                        <a:t>10</a:t>
                      </a:r>
                      <a:endParaRPr sz="900" dirty="0">
                        <a:latin typeface="Arial"/>
                        <a:cs typeface="Arial"/>
                      </a:endParaRPr>
                    </a:p>
                  </a:txBody>
                  <a:tcPr marL="0" marR="0" marT="48895"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L="1905" algn="ctr">
                        <a:lnSpc>
                          <a:spcPct val="100000"/>
                        </a:lnSpc>
                        <a:spcBef>
                          <a:spcPts val="385"/>
                        </a:spcBef>
                      </a:pPr>
                      <a:r>
                        <a:rPr sz="900" dirty="0">
                          <a:latin typeface="Arial"/>
                          <a:cs typeface="Arial"/>
                        </a:rPr>
                        <a:t>O</a:t>
                      </a:r>
                    </a:p>
                  </a:txBody>
                  <a:tcPr marL="0" marR="0" marT="48895"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L="635" algn="ctr">
                        <a:lnSpc>
                          <a:spcPct val="100000"/>
                        </a:lnSpc>
                        <a:spcBef>
                          <a:spcPts val="385"/>
                        </a:spcBef>
                      </a:pPr>
                      <a:r>
                        <a:rPr sz="900" dirty="0">
                          <a:latin typeface="Arial"/>
                          <a:cs typeface="Arial"/>
                        </a:rPr>
                        <a:t>Digital</a:t>
                      </a:r>
                    </a:p>
                  </a:txBody>
                  <a:tcPr marL="0" marR="0" marT="48895"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R="412115" algn="r">
                        <a:lnSpc>
                          <a:spcPct val="100000"/>
                        </a:lnSpc>
                        <a:spcBef>
                          <a:spcPts val="385"/>
                        </a:spcBef>
                      </a:pPr>
                      <a:r>
                        <a:rPr sz="900" dirty="0">
                          <a:latin typeface="Arial"/>
                          <a:cs typeface="Arial"/>
                        </a:rPr>
                        <a:t>Chip</a:t>
                      </a:r>
                      <a:r>
                        <a:rPr sz="900" spc="-30" dirty="0">
                          <a:latin typeface="Arial"/>
                          <a:cs typeface="Arial"/>
                        </a:rPr>
                        <a:t> </a:t>
                      </a:r>
                      <a:r>
                        <a:rPr sz="900" dirty="0">
                          <a:latin typeface="Arial"/>
                          <a:cs typeface="Arial"/>
                        </a:rPr>
                        <a:t>Select</a:t>
                      </a:r>
                      <a:r>
                        <a:rPr sz="900" spc="-40" dirty="0">
                          <a:latin typeface="Arial"/>
                          <a:cs typeface="Arial"/>
                        </a:rPr>
                        <a:t> </a:t>
                      </a:r>
                      <a:r>
                        <a:rPr sz="900" dirty="0">
                          <a:latin typeface="Arial"/>
                          <a:cs typeface="Arial"/>
                        </a:rPr>
                        <a:t>to</a:t>
                      </a:r>
                      <a:r>
                        <a:rPr sz="900" spc="-25" dirty="0">
                          <a:latin typeface="Arial"/>
                          <a:cs typeface="Arial"/>
                        </a:rPr>
                        <a:t> </a:t>
                      </a:r>
                      <a:r>
                        <a:rPr sz="900" dirty="0">
                          <a:latin typeface="Arial"/>
                          <a:cs typeface="Arial"/>
                        </a:rPr>
                        <a:t>AQ</a:t>
                      </a:r>
                      <a:r>
                        <a:rPr sz="900" spc="-15" dirty="0">
                          <a:latin typeface="Arial"/>
                          <a:cs typeface="Arial"/>
                        </a:rPr>
                        <a:t> </a:t>
                      </a:r>
                      <a:r>
                        <a:rPr sz="900" dirty="0">
                          <a:latin typeface="Arial"/>
                          <a:cs typeface="Arial"/>
                        </a:rPr>
                        <a:t>series</a:t>
                      </a:r>
                    </a:p>
                  </a:txBody>
                  <a:tcPr marL="0" marR="0" marT="48895"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nSpc>
                          <a:spcPct val="100000"/>
                        </a:lnSpc>
                      </a:pPr>
                      <a:endParaRPr sz="900" dirty="0">
                        <a:latin typeface="Times New Roman"/>
                        <a:cs typeface="Times New Roman"/>
                      </a:endParaRPr>
                    </a:p>
                  </a:txBody>
                  <a:tcPr marL="0" marR="0" marT="0" marB="0">
                    <a:lnL w="3175">
                      <a:solidFill>
                        <a:srgbClr val="000000"/>
                      </a:solidFill>
                      <a:prstDash val="solid"/>
                    </a:lnL>
                    <a:lnR w="12700">
                      <a:solidFill>
                        <a:srgbClr val="FFFFFF"/>
                      </a:solidFill>
                      <a:prstDash val="solid"/>
                    </a:lnR>
                    <a:lnT w="3175">
                      <a:solidFill>
                        <a:srgbClr val="000000"/>
                      </a:solidFill>
                      <a:prstDash val="solid"/>
                    </a:lnT>
                    <a:lnB w="3175">
                      <a:solidFill>
                        <a:srgbClr val="000000"/>
                      </a:solidFill>
                      <a:prstDash val="solid"/>
                    </a:lnB>
                  </a:tcPr>
                </a:tc>
                <a:extLst>
                  <a:ext uri="{0D108BD9-81ED-4DB2-BD59-A6C34878D82A}">
                    <a16:rowId xmlns:a16="http://schemas.microsoft.com/office/drawing/2014/main" val="10010"/>
                  </a:ext>
                </a:extLst>
              </a:tr>
              <a:tr h="245110">
                <a:tc>
                  <a:txBody>
                    <a:bodyPr/>
                    <a:lstStyle/>
                    <a:p>
                      <a:pPr algn="ctr">
                        <a:lnSpc>
                          <a:spcPct val="100000"/>
                        </a:lnSpc>
                        <a:spcBef>
                          <a:spcPts val="409"/>
                        </a:spcBef>
                      </a:pPr>
                      <a:r>
                        <a:rPr sz="900" spc="-5" dirty="0">
                          <a:latin typeface="Arial"/>
                          <a:cs typeface="Arial"/>
                        </a:rPr>
                        <a:t>HOLD9</a:t>
                      </a:r>
                      <a:endParaRPr sz="900" dirty="0">
                        <a:latin typeface="Arial"/>
                        <a:cs typeface="Arial"/>
                      </a:endParaRPr>
                    </a:p>
                  </a:txBody>
                  <a:tcPr marL="0" marR="0" marT="52069" marB="0">
                    <a:lnL w="12700">
                      <a:solidFill>
                        <a:srgbClr val="FFFFFF"/>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gn="ctr">
                        <a:lnSpc>
                          <a:spcPct val="100000"/>
                        </a:lnSpc>
                        <a:spcBef>
                          <a:spcPts val="409"/>
                        </a:spcBef>
                      </a:pPr>
                      <a:r>
                        <a:rPr sz="900" spc="-5" dirty="0">
                          <a:latin typeface="Arial"/>
                          <a:cs typeface="Arial"/>
                        </a:rPr>
                        <a:t>11</a:t>
                      </a:r>
                      <a:endParaRPr sz="900" dirty="0">
                        <a:latin typeface="Arial"/>
                        <a:cs typeface="Arial"/>
                      </a:endParaRPr>
                    </a:p>
                  </a:txBody>
                  <a:tcPr marL="0" marR="0" marT="52069"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L="1905" algn="ctr">
                        <a:lnSpc>
                          <a:spcPct val="100000"/>
                        </a:lnSpc>
                        <a:spcBef>
                          <a:spcPts val="385"/>
                        </a:spcBef>
                      </a:pPr>
                      <a:r>
                        <a:rPr sz="900" dirty="0">
                          <a:latin typeface="Arial"/>
                          <a:cs typeface="Arial"/>
                        </a:rPr>
                        <a:t>O</a:t>
                      </a:r>
                    </a:p>
                  </a:txBody>
                  <a:tcPr marL="0" marR="0" marT="48895"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L="635" algn="ctr">
                        <a:lnSpc>
                          <a:spcPct val="100000"/>
                        </a:lnSpc>
                        <a:spcBef>
                          <a:spcPts val="385"/>
                        </a:spcBef>
                      </a:pPr>
                      <a:r>
                        <a:rPr sz="900" dirty="0">
                          <a:latin typeface="Arial"/>
                          <a:cs typeface="Arial"/>
                        </a:rPr>
                        <a:t>Digital</a:t>
                      </a:r>
                    </a:p>
                  </a:txBody>
                  <a:tcPr marL="0" marR="0" marT="48895"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L="543560">
                        <a:lnSpc>
                          <a:spcPct val="100000"/>
                        </a:lnSpc>
                        <a:spcBef>
                          <a:spcPts val="385"/>
                        </a:spcBef>
                      </a:pPr>
                      <a:r>
                        <a:rPr sz="900" dirty="0">
                          <a:latin typeface="Arial"/>
                          <a:cs typeface="Arial"/>
                        </a:rPr>
                        <a:t>Strobe</a:t>
                      </a:r>
                      <a:r>
                        <a:rPr sz="900" spc="-35" dirty="0">
                          <a:latin typeface="Arial"/>
                          <a:cs typeface="Arial"/>
                        </a:rPr>
                        <a:t> </a:t>
                      </a:r>
                      <a:r>
                        <a:rPr sz="900" dirty="0">
                          <a:latin typeface="Arial"/>
                          <a:cs typeface="Arial"/>
                        </a:rPr>
                        <a:t>to</a:t>
                      </a:r>
                      <a:r>
                        <a:rPr sz="900" spc="-30" dirty="0">
                          <a:latin typeface="Arial"/>
                          <a:cs typeface="Arial"/>
                        </a:rPr>
                        <a:t> </a:t>
                      </a:r>
                      <a:r>
                        <a:rPr sz="900" dirty="0">
                          <a:latin typeface="Arial"/>
                          <a:cs typeface="Arial"/>
                        </a:rPr>
                        <a:t>AQ</a:t>
                      </a:r>
                      <a:r>
                        <a:rPr sz="900" spc="-30" dirty="0">
                          <a:latin typeface="Arial"/>
                          <a:cs typeface="Arial"/>
                        </a:rPr>
                        <a:t> </a:t>
                      </a:r>
                      <a:r>
                        <a:rPr sz="900" dirty="0">
                          <a:latin typeface="Arial"/>
                          <a:cs typeface="Arial"/>
                        </a:rPr>
                        <a:t>series</a:t>
                      </a:r>
                    </a:p>
                  </a:txBody>
                  <a:tcPr marL="0" marR="0" marT="48895"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nSpc>
                          <a:spcPct val="100000"/>
                        </a:lnSpc>
                      </a:pPr>
                      <a:endParaRPr sz="900" dirty="0">
                        <a:latin typeface="Times New Roman"/>
                        <a:cs typeface="Times New Roman"/>
                      </a:endParaRPr>
                    </a:p>
                  </a:txBody>
                  <a:tcPr marL="0" marR="0" marT="0" marB="0">
                    <a:lnL w="3175">
                      <a:solidFill>
                        <a:srgbClr val="000000"/>
                      </a:solidFill>
                      <a:prstDash val="solid"/>
                    </a:lnL>
                    <a:lnR w="12700">
                      <a:solidFill>
                        <a:srgbClr val="FFFFFF"/>
                      </a:solidFill>
                      <a:prstDash val="solid"/>
                    </a:lnR>
                    <a:lnT w="3175">
                      <a:solidFill>
                        <a:srgbClr val="000000"/>
                      </a:solidFill>
                      <a:prstDash val="solid"/>
                    </a:lnT>
                    <a:lnB w="3175">
                      <a:solidFill>
                        <a:srgbClr val="000000"/>
                      </a:solidFill>
                      <a:prstDash val="solid"/>
                    </a:lnB>
                  </a:tcPr>
                </a:tc>
                <a:extLst>
                  <a:ext uri="{0D108BD9-81ED-4DB2-BD59-A6C34878D82A}">
                    <a16:rowId xmlns:a16="http://schemas.microsoft.com/office/drawing/2014/main" val="10011"/>
                  </a:ext>
                </a:extLst>
              </a:tr>
              <a:tr h="245110">
                <a:tc>
                  <a:txBody>
                    <a:bodyPr/>
                    <a:lstStyle/>
                    <a:p>
                      <a:pPr algn="ctr">
                        <a:lnSpc>
                          <a:spcPct val="100000"/>
                        </a:lnSpc>
                        <a:spcBef>
                          <a:spcPts val="409"/>
                        </a:spcBef>
                      </a:pPr>
                      <a:r>
                        <a:rPr sz="900" spc="-5" dirty="0">
                          <a:latin typeface="Arial"/>
                          <a:cs typeface="Arial"/>
                        </a:rPr>
                        <a:t>CS9</a:t>
                      </a:r>
                      <a:endParaRPr sz="900" dirty="0">
                        <a:latin typeface="Arial"/>
                        <a:cs typeface="Arial"/>
                      </a:endParaRPr>
                    </a:p>
                  </a:txBody>
                  <a:tcPr marL="0" marR="0" marT="52069" marB="0">
                    <a:lnL w="12700">
                      <a:solidFill>
                        <a:srgbClr val="FFFFFF"/>
                      </a:solidFill>
                      <a:prstDash val="solid"/>
                    </a:lnL>
                    <a:lnR w="3175">
                      <a:solidFill>
                        <a:srgbClr val="000000"/>
                      </a:solidFill>
                      <a:prstDash val="solid"/>
                    </a:lnR>
                    <a:lnT w="3175">
                      <a:solidFill>
                        <a:srgbClr val="000000"/>
                      </a:solidFill>
                      <a:prstDash val="solid"/>
                    </a:lnT>
                    <a:lnB w="12700">
                      <a:solidFill>
                        <a:srgbClr val="000000"/>
                      </a:solidFill>
                      <a:prstDash val="solid"/>
                    </a:lnB>
                  </a:tcPr>
                </a:tc>
                <a:tc>
                  <a:txBody>
                    <a:bodyPr/>
                    <a:lstStyle/>
                    <a:p>
                      <a:pPr algn="ctr">
                        <a:lnSpc>
                          <a:spcPct val="100000"/>
                        </a:lnSpc>
                        <a:spcBef>
                          <a:spcPts val="409"/>
                        </a:spcBef>
                      </a:pPr>
                      <a:r>
                        <a:rPr sz="900" spc="-5" dirty="0">
                          <a:latin typeface="Arial"/>
                          <a:cs typeface="Arial"/>
                        </a:rPr>
                        <a:t>12</a:t>
                      </a:r>
                      <a:endParaRPr sz="900" dirty="0">
                        <a:latin typeface="Arial"/>
                        <a:cs typeface="Arial"/>
                      </a:endParaRPr>
                    </a:p>
                  </a:txBody>
                  <a:tcPr marL="0" marR="0" marT="52069" marB="0">
                    <a:lnL w="3175">
                      <a:solidFill>
                        <a:srgbClr val="000000"/>
                      </a:solidFill>
                      <a:prstDash val="solid"/>
                    </a:lnL>
                    <a:lnR w="3175">
                      <a:solidFill>
                        <a:srgbClr val="000000"/>
                      </a:solidFill>
                      <a:prstDash val="solid"/>
                    </a:lnR>
                    <a:lnT w="3175">
                      <a:solidFill>
                        <a:srgbClr val="000000"/>
                      </a:solidFill>
                      <a:prstDash val="solid"/>
                    </a:lnT>
                    <a:lnB w="12700">
                      <a:solidFill>
                        <a:srgbClr val="000000"/>
                      </a:solidFill>
                      <a:prstDash val="solid"/>
                    </a:lnB>
                  </a:tcPr>
                </a:tc>
                <a:tc>
                  <a:txBody>
                    <a:bodyPr/>
                    <a:lstStyle/>
                    <a:p>
                      <a:pPr marL="1905" algn="ctr">
                        <a:lnSpc>
                          <a:spcPct val="100000"/>
                        </a:lnSpc>
                        <a:spcBef>
                          <a:spcPts val="385"/>
                        </a:spcBef>
                      </a:pPr>
                      <a:r>
                        <a:rPr sz="900" dirty="0">
                          <a:latin typeface="Arial"/>
                          <a:cs typeface="Arial"/>
                        </a:rPr>
                        <a:t>O</a:t>
                      </a:r>
                    </a:p>
                  </a:txBody>
                  <a:tcPr marL="0" marR="0" marT="48895" marB="0">
                    <a:lnL w="3175">
                      <a:solidFill>
                        <a:srgbClr val="000000"/>
                      </a:solidFill>
                      <a:prstDash val="solid"/>
                    </a:lnL>
                    <a:lnR w="3175">
                      <a:solidFill>
                        <a:srgbClr val="000000"/>
                      </a:solidFill>
                      <a:prstDash val="solid"/>
                    </a:lnR>
                    <a:lnT w="3175">
                      <a:solidFill>
                        <a:srgbClr val="000000"/>
                      </a:solidFill>
                      <a:prstDash val="solid"/>
                    </a:lnT>
                    <a:lnB w="12700">
                      <a:solidFill>
                        <a:srgbClr val="000000"/>
                      </a:solidFill>
                      <a:prstDash val="solid"/>
                    </a:lnB>
                  </a:tcPr>
                </a:tc>
                <a:tc>
                  <a:txBody>
                    <a:bodyPr/>
                    <a:lstStyle/>
                    <a:p>
                      <a:pPr marL="635" algn="ctr">
                        <a:lnSpc>
                          <a:spcPct val="100000"/>
                        </a:lnSpc>
                        <a:spcBef>
                          <a:spcPts val="385"/>
                        </a:spcBef>
                      </a:pPr>
                      <a:r>
                        <a:rPr sz="900" dirty="0">
                          <a:latin typeface="Arial"/>
                          <a:cs typeface="Arial"/>
                        </a:rPr>
                        <a:t>Digital</a:t>
                      </a:r>
                    </a:p>
                  </a:txBody>
                  <a:tcPr marL="0" marR="0" marT="48895" marB="0">
                    <a:lnL w="3175">
                      <a:solidFill>
                        <a:srgbClr val="000000"/>
                      </a:solidFill>
                      <a:prstDash val="solid"/>
                    </a:lnL>
                    <a:lnR w="3175">
                      <a:solidFill>
                        <a:srgbClr val="000000"/>
                      </a:solidFill>
                      <a:prstDash val="solid"/>
                    </a:lnR>
                    <a:lnT w="3175">
                      <a:solidFill>
                        <a:srgbClr val="000000"/>
                      </a:solidFill>
                      <a:prstDash val="solid"/>
                    </a:lnT>
                    <a:lnB w="12700">
                      <a:solidFill>
                        <a:srgbClr val="000000"/>
                      </a:solidFill>
                      <a:prstDash val="solid"/>
                    </a:lnB>
                  </a:tcPr>
                </a:tc>
                <a:tc>
                  <a:txBody>
                    <a:bodyPr/>
                    <a:lstStyle/>
                    <a:p>
                      <a:pPr marR="412115" algn="r">
                        <a:lnSpc>
                          <a:spcPct val="100000"/>
                        </a:lnSpc>
                        <a:spcBef>
                          <a:spcPts val="385"/>
                        </a:spcBef>
                      </a:pPr>
                      <a:r>
                        <a:rPr sz="900" dirty="0">
                          <a:latin typeface="Arial"/>
                          <a:cs typeface="Arial"/>
                        </a:rPr>
                        <a:t>Chip</a:t>
                      </a:r>
                      <a:r>
                        <a:rPr sz="900" spc="-30" dirty="0">
                          <a:latin typeface="Arial"/>
                          <a:cs typeface="Arial"/>
                        </a:rPr>
                        <a:t> </a:t>
                      </a:r>
                      <a:r>
                        <a:rPr sz="900" dirty="0">
                          <a:latin typeface="Arial"/>
                          <a:cs typeface="Arial"/>
                        </a:rPr>
                        <a:t>Select</a:t>
                      </a:r>
                      <a:r>
                        <a:rPr sz="900" spc="-40" dirty="0">
                          <a:latin typeface="Arial"/>
                          <a:cs typeface="Arial"/>
                        </a:rPr>
                        <a:t> </a:t>
                      </a:r>
                      <a:r>
                        <a:rPr sz="900" dirty="0">
                          <a:latin typeface="Arial"/>
                          <a:cs typeface="Arial"/>
                        </a:rPr>
                        <a:t>to</a:t>
                      </a:r>
                      <a:r>
                        <a:rPr sz="900" spc="-25" dirty="0">
                          <a:latin typeface="Arial"/>
                          <a:cs typeface="Arial"/>
                        </a:rPr>
                        <a:t> </a:t>
                      </a:r>
                      <a:r>
                        <a:rPr sz="900" dirty="0">
                          <a:latin typeface="Arial"/>
                          <a:cs typeface="Arial"/>
                        </a:rPr>
                        <a:t>AQ</a:t>
                      </a:r>
                      <a:r>
                        <a:rPr sz="900" spc="-15" dirty="0">
                          <a:latin typeface="Arial"/>
                          <a:cs typeface="Arial"/>
                        </a:rPr>
                        <a:t> </a:t>
                      </a:r>
                      <a:r>
                        <a:rPr sz="900" dirty="0">
                          <a:latin typeface="Arial"/>
                          <a:cs typeface="Arial"/>
                        </a:rPr>
                        <a:t>series</a:t>
                      </a:r>
                    </a:p>
                  </a:txBody>
                  <a:tcPr marL="0" marR="0" marT="48895" marB="0">
                    <a:lnL w="3175">
                      <a:solidFill>
                        <a:srgbClr val="000000"/>
                      </a:solidFill>
                      <a:prstDash val="solid"/>
                    </a:lnL>
                    <a:lnR w="3175">
                      <a:solidFill>
                        <a:srgbClr val="000000"/>
                      </a:solidFill>
                      <a:prstDash val="solid"/>
                    </a:lnR>
                    <a:lnT w="3175">
                      <a:solidFill>
                        <a:srgbClr val="000000"/>
                      </a:solidFill>
                      <a:prstDash val="solid"/>
                    </a:lnT>
                    <a:lnB w="12700">
                      <a:solidFill>
                        <a:srgbClr val="000000"/>
                      </a:solidFill>
                      <a:prstDash val="solid"/>
                    </a:lnB>
                  </a:tcPr>
                </a:tc>
                <a:tc>
                  <a:txBody>
                    <a:bodyPr/>
                    <a:lstStyle/>
                    <a:p>
                      <a:pPr>
                        <a:lnSpc>
                          <a:spcPct val="100000"/>
                        </a:lnSpc>
                      </a:pPr>
                      <a:endParaRPr sz="900" dirty="0">
                        <a:latin typeface="Times New Roman"/>
                        <a:cs typeface="Times New Roman"/>
                      </a:endParaRPr>
                    </a:p>
                  </a:txBody>
                  <a:tcPr marL="0" marR="0" marT="0" marB="0">
                    <a:lnL w="3175">
                      <a:solidFill>
                        <a:srgbClr val="000000"/>
                      </a:solidFill>
                      <a:prstDash val="solid"/>
                    </a:lnL>
                    <a:lnR w="12700">
                      <a:solidFill>
                        <a:srgbClr val="FFFFFF"/>
                      </a:solidFill>
                      <a:prstDash val="solid"/>
                    </a:lnR>
                    <a:lnT w="3175">
                      <a:solidFill>
                        <a:srgbClr val="000000"/>
                      </a:solidFill>
                      <a:prstDash val="solid"/>
                    </a:lnT>
                    <a:lnB w="12700">
                      <a:solidFill>
                        <a:srgbClr val="000000"/>
                      </a:solidFill>
                      <a:prstDash val="solid"/>
                    </a:lnB>
                  </a:tcPr>
                </a:tc>
                <a:extLst>
                  <a:ext uri="{0D108BD9-81ED-4DB2-BD59-A6C34878D82A}">
                    <a16:rowId xmlns:a16="http://schemas.microsoft.com/office/drawing/2014/main" val="10012"/>
                  </a:ext>
                </a:extLst>
              </a:tr>
            </a:tbl>
          </a:graphicData>
        </a:graphic>
      </p:graphicFrame>
      <p:sp>
        <p:nvSpPr>
          <p:cNvPr id="7" name="object 7"/>
          <p:cNvSpPr txBox="1"/>
          <p:nvPr/>
        </p:nvSpPr>
        <p:spPr>
          <a:xfrm>
            <a:off x="400913" y="301879"/>
            <a:ext cx="622935" cy="299720"/>
          </a:xfrm>
          <a:prstGeom prst="rect">
            <a:avLst/>
          </a:prstGeom>
        </p:spPr>
        <p:txBody>
          <a:bodyPr vert="horz" wrap="square" lIns="0" tIns="12700" rIns="0" bIns="0" rtlCol="0">
            <a:spAutoFit/>
          </a:bodyPr>
          <a:lstStyle/>
          <a:p>
            <a:pPr marL="12700">
              <a:lnSpc>
                <a:spcPct val="100000"/>
              </a:lnSpc>
              <a:spcBef>
                <a:spcPts val="100"/>
              </a:spcBef>
            </a:pPr>
            <a:r>
              <a:rPr sz="1800" b="1" spc="-5" dirty="0">
                <a:latin typeface="Arial"/>
                <a:cs typeface="Arial"/>
              </a:rPr>
              <a:t>CQ24</a:t>
            </a:r>
            <a:endParaRPr sz="1800" dirty="0">
              <a:latin typeface="Arial"/>
              <a:cs typeface="Arial"/>
            </a:endParaRPr>
          </a:p>
        </p:txBody>
      </p:sp>
      <p:pic>
        <p:nvPicPr>
          <p:cNvPr id="8" name="object 8"/>
          <p:cNvPicPr/>
          <p:nvPr/>
        </p:nvPicPr>
        <p:blipFill>
          <a:blip r:embed="rId2" cstate="print"/>
          <a:stretch>
            <a:fillRect/>
          </a:stretch>
        </p:blipFill>
        <p:spPr>
          <a:xfrm>
            <a:off x="1438021" y="1336695"/>
            <a:ext cx="4011164" cy="3796278"/>
          </a:xfrm>
          <a:prstGeom prst="rect">
            <a:avLst/>
          </a:prstGeom>
        </p:spPr>
      </p:pic>
      <p:sp>
        <p:nvSpPr>
          <p:cNvPr id="12" name="object 9">
            <a:extLst>
              <a:ext uri="{FF2B5EF4-FFF2-40B4-BE49-F238E27FC236}">
                <a16:creationId xmlns:a16="http://schemas.microsoft.com/office/drawing/2014/main" id="{5B49981D-762A-754A-032F-11C814E4ECD2}"/>
              </a:ext>
            </a:extLst>
          </p:cNvPr>
          <p:cNvSpPr txBox="1"/>
          <p:nvPr/>
        </p:nvSpPr>
        <p:spPr>
          <a:xfrm>
            <a:off x="304800" y="9067800"/>
            <a:ext cx="2078355" cy="289823"/>
          </a:xfrm>
          <a:prstGeom prst="rect">
            <a:avLst/>
          </a:prstGeom>
        </p:spPr>
        <p:txBody>
          <a:bodyPr vert="horz" wrap="square" lIns="0" tIns="12700" rIns="0" bIns="0" rtlCol="0">
            <a:spAutoFit/>
          </a:bodyPr>
          <a:lstStyle/>
          <a:p>
            <a:pPr marL="12700">
              <a:lnSpc>
                <a:spcPct val="100000"/>
              </a:lnSpc>
              <a:spcBef>
                <a:spcPts val="100"/>
              </a:spcBef>
            </a:pPr>
            <a:r>
              <a:rPr b="1" spc="-5" dirty="0">
                <a:solidFill>
                  <a:srgbClr val="FF0000"/>
                </a:solidFill>
                <a:cs typeface="Perpetua Titling MT"/>
              </a:rPr>
              <a:t>CONFIDENTIAL</a:t>
            </a:r>
            <a:endParaRPr dirty="0">
              <a:cs typeface="Perpetua Titling MT"/>
            </a:endParaRPr>
          </a:p>
        </p:txBody>
      </p:sp>
      <p:sp>
        <p:nvSpPr>
          <p:cNvPr id="13" name="object 6">
            <a:extLst>
              <a:ext uri="{FF2B5EF4-FFF2-40B4-BE49-F238E27FC236}">
                <a16:creationId xmlns:a16="http://schemas.microsoft.com/office/drawing/2014/main" id="{EB823C40-85DD-42E1-A292-04E2CBB5D417}"/>
              </a:ext>
            </a:extLst>
          </p:cNvPr>
          <p:cNvSpPr/>
          <p:nvPr/>
        </p:nvSpPr>
        <p:spPr>
          <a:xfrm>
            <a:off x="301676" y="9458756"/>
            <a:ext cx="6246495" cy="0"/>
          </a:xfrm>
          <a:custGeom>
            <a:avLst/>
            <a:gdLst/>
            <a:ahLst/>
            <a:cxnLst/>
            <a:rect l="l" t="t" r="r" b="b"/>
            <a:pathLst>
              <a:path w="6246495">
                <a:moveTo>
                  <a:pt x="0" y="0"/>
                </a:moveTo>
                <a:lnTo>
                  <a:pt x="6245999" y="0"/>
                </a:lnTo>
              </a:path>
            </a:pathLst>
          </a:custGeom>
          <a:ln w="25920">
            <a:solidFill>
              <a:srgbClr val="BFBFBF"/>
            </a:solidFill>
          </a:ln>
        </p:spPr>
        <p:txBody>
          <a:bodyPr wrap="square" lIns="0" tIns="0" rIns="0" bIns="0" rtlCol="0"/>
          <a:lstStyle/>
          <a:p>
            <a:endParaRPr/>
          </a:p>
        </p:txBody>
      </p:sp>
      <p:sp>
        <p:nvSpPr>
          <p:cNvPr id="14" name="슬라이드 번호 개체 틀 3">
            <a:hlinkClick r:id="rId3"/>
            <a:extLst>
              <a:ext uri="{FF2B5EF4-FFF2-40B4-BE49-F238E27FC236}">
                <a16:creationId xmlns:a16="http://schemas.microsoft.com/office/drawing/2014/main" id="{604CB8F5-8CF5-58D6-476C-14427C45F66F}"/>
              </a:ext>
            </a:extLst>
          </p:cNvPr>
          <p:cNvSpPr txBox="1">
            <a:spLocks/>
          </p:cNvSpPr>
          <p:nvPr/>
        </p:nvSpPr>
        <p:spPr>
          <a:xfrm>
            <a:off x="5151602" y="9452864"/>
            <a:ext cx="1487550"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dirty="0">
                <a:solidFill>
                  <a:prstClr val="black"/>
                </a:solidFill>
                <a:latin typeface="Arial" panose="020B0604020202020204" pitchFamily="34" charset="0"/>
                <a:cs typeface="Arial" panose="020B0604020202020204" pitchFamily="34" charset="0"/>
              </a:rPr>
              <a:t>http://www.glbltech.com/</a:t>
            </a:r>
            <a:endParaRPr lang="ko-KR" altLang="en-US" dirty="0">
              <a:solidFill>
                <a:prstClr val="black"/>
              </a:solidFill>
              <a:latin typeface="Arial" panose="020B0604020202020204" pitchFamily="34" charset="0"/>
              <a:cs typeface="Arial" panose="020B0604020202020204" pitchFamily="34" charset="0"/>
            </a:endParaRPr>
          </a:p>
        </p:txBody>
      </p:sp>
      <p:sp>
        <p:nvSpPr>
          <p:cNvPr id="15" name="object 38">
            <a:extLst>
              <a:ext uri="{FF2B5EF4-FFF2-40B4-BE49-F238E27FC236}">
                <a16:creationId xmlns:a16="http://schemas.microsoft.com/office/drawing/2014/main" id="{6BEDA424-9E2B-80B8-42BB-682676C34235}"/>
              </a:ext>
            </a:extLst>
          </p:cNvPr>
          <p:cNvSpPr txBox="1">
            <a:spLocks/>
          </p:cNvSpPr>
          <p:nvPr/>
        </p:nvSpPr>
        <p:spPr>
          <a:xfrm>
            <a:off x="3309066" y="9547988"/>
            <a:ext cx="487045" cy="139141"/>
          </a:xfrm>
          <a:prstGeom prst="rect">
            <a:avLst/>
          </a:prstGeom>
        </p:spPr>
        <p:txBody>
          <a:bodyPr vert="horz" wrap="square" lIns="0" tIns="635" rIns="0" bIns="0" rtlCol="0">
            <a:spAutoFit/>
          </a:bodyPr>
          <a:lstStyle>
            <a:defPPr>
              <a:defRPr lang="ko-KR"/>
            </a:defPPr>
            <a:lvl1pPr marL="0" algn="l" defTabSz="914400" rtl="0" eaLnBrk="1" latinLnBrk="1" hangingPunct="1">
              <a:defRPr sz="1050" b="0" i="0" kern="1200">
                <a:solidFill>
                  <a:schemeClr val="tx1"/>
                </a:solidFill>
                <a:latin typeface="Arial"/>
                <a:ea typeface="+mn-ea"/>
                <a:cs typeface="Arial"/>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marL="12700">
              <a:spcBef>
                <a:spcPts val="5"/>
              </a:spcBef>
              <a:defRPr/>
            </a:pPr>
            <a:r>
              <a:rPr lang="en-US" sz="900" dirty="0">
                <a:solidFill>
                  <a:prstClr val="black"/>
                </a:solidFill>
              </a:rPr>
              <a:t>Page</a:t>
            </a:r>
            <a:r>
              <a:rPr lang="en-US" sz="900" spc="-60" dirty="0">
                <a:solidFill>
                  <a:prstClr val="black"/>
                </a:solidFill>
              </a:rPr>
              <a:t> </a:t>
            </a:r>
            <a:fld id="{81D60167-4931-47E6-BA6A-407CBD079E47}" type="slidenum">
              <a:rPr sz="900">
                <a:solidFill>
                  <a:prstClr val="black"/>
                </a:solidFill>
              </a:rPr>
              <a:pPr marL="12700">
                <a:spcBef>
                  <a:spcPts val="5"/>
                </a:spcBef>
                <a:defRPr/>
              </a:pPr>
              <a:t>4</a:t>
            </a:fld>
            <a:endParaRPr sz="900" dirty="0">
              <a:solidFill>
                <a:prstClr val="black"/>
              </a:solidFill>
            </a:endParaRPr>
          </a:p>
        </p:txBody>
      </p:sp>
      <p:sp>
        <p:nvSpPr>
          <p:cNvPr id="16" name="슬라이드 번호 개체 틀 3">
            <a:extLst>
              <a:ext uri="{FF2B5EF4-FFF2-40B4-BE49-F238E27FC236}">
                <a16:creationId xmlns:a16="http://schemas.microsoft.com/office/drawing/2014/main" id="{9B29F3A4-5339-023E-D751-A9C13926A979}"/>
              </a:ext>
            </a:extLst>
          </p:cNvPr>
          <p:cNvSpPr txBox="1">
            <a:spLocks/>
          </p:cNvSpPr>
          <p:nvPr/>
        </p:nvSpPr>
        <p:spPr>
          <a:xfrm>
            <a:off x="299401" y="9520856"/>
            <a:ext cx="2060991" cy="175259"/>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lang="en-US" altLang="ko-KR" dirty="0">
                <a:solidFill>
                  <a:prstClr val="black"/>
                </a:solidFill>
                <a:latin typeface="Arial" panose="020B0604020202020204" pitchFamily="34" charset="0"/>
                <a:cs typeface="Arial" panose="020B0604020202020204" pitchFamily="34" charset="0"/>
              </a:rPr>
              <a:t>Dated 30-Nov 23  Rev. 01</a:t>
            </a:r>
            <a:endParaRPr lang="ko-KR" altLang="en-US" dirty="0">
              <a:solidFill>
                <a:prstClr val="black"/>
              </a:solidFill>
              <a:latin typeface="Arial" panose="020B0604020202020204" pitchFamily="34" charset="0"/>
              <a:cs typeface="Arial" panose="020B0604020202020204" pitchFamily="34" charset="0"/>
            </a:endParaRPr>
          </a:p>
        </p:txBody>
      </p:sp>
      <p:sp>
        <p:nvSpPr>
          <p:cNvPr id="17" name="Holder 3">
            <a:extLst>
              <a:ext uri="{FF2B5EF4-FFF2-40B4-BE49-F238E27FC236}">
                <a16:creationId xmlns:a16="http://schemas.microsoft.com/office/drawing/2014/main" id="{8D787CB6-8739-EEDE-7723-C6D9AE109A80}"/>
              </a:ext>
            </a:extLst>
          </p:cNvPr>
          <p:cNvSpPr txBox="1">
            <a:spLocks/>
          </p:cNvSpPr>
          <p:nvPr/>
        </p:nvSpPr>
        <p:spPr>
          <a:xfrm>
            <a:off x="5147476" y="203944"/>
            <a:ext cx="1447800" cy="276999"/>
          </a:xfrm>
          <a:prstGeom prst="rect">
            <a:avLst/>
          </a:prstGeom>
        </p:spPr>
        <p:txBody>
          <a:bodyPr wrap="square" lIns="0" tIns="0" rIns="0" bIns="0">
            <a:spAutoFit/>
          </a:bodyPr>
          <a:lstStyle>
            <a:lvl1pPr marL="0">
              <a:defRPr>
                <a:solidFill>
                  <a:srgbClr val="FF99FF"/>
                </a:solidFill>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defTabSz="914400" latinLnBrk="0"/>
            <a:r>
              <a:rPr lang="en-US" sz="1800" kern="0" dirty="0"/>
              <a:t>&lt;Preliminary&gt;</a:t>
            </a:r>
          </a:p>
        </p:txBody>
      </p:sp>
      <p:sp>
        <p:nvSpPr>
          <p:cNvPr id="5" name="object 84">
            <a:extLst>
              <a:ext uri="{FF2B5EF4-FFF2-40B4-BE49-F238E27FC236}">
                <a16:creationId xmlns:a16="http://schemas.microsoft.com/office/drawing/2014/main" id="{792E8D91-F12E-5EC1-8120-207D8E5E25D3}"/>
              </a:ext>
            </a:extLst>
          </p:cNvPr>
          <p:cNvSpPr txBox="1"/>
          <p:nvPr/>
        </p:nvSpPr>
        <p:spPr>
          <a:xfrm>
            <a:off x="2755443" y="5289784"/>
            <a:ext cx="2276000" cy="153888"/>
          </a:xfrm>
          <a:prstGeom prst="rect">
            <a:avLst/>
          </a:prstGeom>
        </p:spPr>
        <p:txBody>
          <a:bodyPr vert="horz" wrap="square" lIns="0" tIns="15240" rIns="0" bIns="0" rtlCol="0">
            <a:spAutoFit/>
          </a:bodyPr>
          <a:lstStyle/>
          <a:p>
            <a:pPr marL="12700">
              <a:lnSpc>
                <a:spcPct val="100000"/>
              </a:lnSpc>
              <a:spcBef>
                <a:spcPts val="120"/>
              </a:spcBef>
            </a:pPr>
            <a:r>
              <a:rPr lang="en-US" sz="900" b="1" spc="15" dirty="0">
                <a:latin typeface="Arial" panose="020B0604020202020204" pitchFamily="34" charset="0"/>
                <a:cs typeface="Arial" panose="020B0604020202020204" pitchFamily="34" charset="0"/>
              </a:rPr>
              <a:t>Fig 3.  Pin diagram</a:t>
            </a:r>
          </a:p>
        </p:txBody>
      </p:sp>
      <p:sp>
        <p:nvSpPr>
          <p:cNvPr id="6" name="object 11">
            <a:extLst>
              <a:ext uri="{FF2B5EF4-FFF2-40B4-BE49-F238E27FC236}">
                <a16:creationId xmlns:a16="http://schemas.microsoft.com/office/drawing/2014/main" id="{C3F1C789-74BB-16A2-A21A-9EA8BCB5AABB}"/>
              </a:ext>
            </a:extLst>
          </p:cNvPr>
          <p:cNvSpPr txBox="1"/>
          <p:nvPr/>
        </p:nvSpPr>
        <p:spPr>
          <a:xfrm>
            <a:off x="2201812" y="9056432"/>
            <a:ext cx="2640623" cy="144848"/>
          </a:xfrm>
          <a:prstGeom prst="rect">
            <a:avLst/>
          </a:prstGeom>
        </p:spPr>
        <p:txBody>
          <a:bodyPr vert="horz" wrap="square" lIns="0" tIns="12700" rIns="0" bIns="0" rtlCol="0">
            <a:spAutoFit/>
          </a:bodyPr>
          <a:lstStyle/>
          <a:p>
            <a:pPr marL="63500" algn="ctr">
              <a:lnSpc>
                <a:spcPts val="1065"/>
              </a:lnSpc>
              <a:spcBef>
                <a:spcPts val="100"/>
              </a:spcBef>
              <a:tabLst>
                <a:tab pos="673100" algn="l"/>
              </a:tabLst>
            </a:pPr>
            <a:r>
              <a:rPr sz="900" b="1" spc="-65" dirty="0">
                <a:latin typeface="Arial" panose="020B0604020202020204" pitchFamily="34" charset="0"/>
                <a:cs typeface="Arial" panose="020B0604020202020204" pitchFamily="34" charset="0"/>
              </a:rPr>
              <a:t>T</a:t>
            </a:r>
            <a:r>
              <a:rPr sz="900" b="1" spc="-10" dirty="0">
                <a:latin typeface="Arial" panose="020B0604020202020204" pitchFamily="34" charset="0"/>
                <a:cs typeface="Arial" panose="020B0604020202020204" pitchFamily="34" charset="0"/>
              </a:rPr>
              <a:t>a</a:t>
            </a:r>
            <a:r>
              <a:rPr sz="900" b="1" spc="-5" dirty="0">
                <a:latin typeface="Arial" panose="020B0604020202020204" pitchFamily="34" charset="0"/>
                <a:cs typeface="Arial" panose="020B0604020202020204" pitchFamily="34" charset="0"/>
              </a:rPr>
              <a:t>bl</a:t>
            </a:r>
            <a:r>
              <a:rPr sz="900" b="1" dirty="0">
                <a:latin typeface="Arial" panose="020B0604020202020204" pitchFamily="34" charset="0"/>
                <a:cs typeface="Arial" panose="020B0604020202020204" pitchFamily="34" charset="0"/>
              </a:rPr>
              <a:t>e </a:t>
            </a:r>
            <a:r>
              <a:rPr lang="en-US" sz="900" b="1" dirty="0">
                <a:latin typeface="Arial" panose="020B0604020202020204" pitchFamily="34" charset="0"/>
                <a:cs typeface="Arial" panose="020B0604020202020204" pitchFamily="34" charset="0"/>
              </a:rPr>
              <a:t>1</a:t>
            </a:r>
            <a:r>
              <a:rPr sz="900" b="1" dirty="0">
                <a:latin typeface="Arial" panose="020B0604020202020204" pitchFamily="34" charset="0"/>
                <a:cs typeface="Arial" panose="020B0604020202020204" pitchFamily="34" charset="0"/>
              </a:rPr>
              <a:t>.</a:t>
            </a:r>
            <a:r>
              <a:rPr lang="en-US" sz="900" b="1" dirty="0">
                <a:latin typeface="Arial" panose="020B0604020202020204" pitchFamily="34" charset="0"/>
                <a:cs typeface="Arial" panose="020B0604020202020204" pitchFamily="34" charset="0"/>
              </a:rPr>
              <a:t> Pin description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2074" y="889508"/>
            <a:ext cx="1315720" cy="239395"/>
          </a:xfrm>
          <a:prstGeom prst="rect">
            <a:avLst/>
          </a:prstGeom>
        </p:spPr>
        <p:txBody>
          <a:bodyPr vert="horz" wrap="square" lIns="0" tIns="12700" rIns="0" bIns="0" rtlCol="0">
            <a:spAutoFit/>
          </a:bodyPr>
          <a:lstStyle/>
          <a:p>
            <a:pPr marL="12700">
              <a:lnSpc>
                <a:spcPct val="100000"/>
              </a:lnSpc>
              <a:spcBef>
                <a:spcPts val="100"/>
              </a:spcBef>
            </a:pPr>
            <a:r>
              <a:rPr sz="1400" b="1" dirty="0">
                <a:latin typeface="Arial"/>
                <a:cs typeface="Arial"/>
              </a:rPr>
              <a:t>Pin</a:t>
            </a:r>
            <a:r>
              <a:rPr sz="1400" b="1" spc="-60" dirty="0">
                <a:latin typeface="Arial"/>
                <a:cs typeface="Arial"/>
              </a:rPr>
              <a:t> </a:t>
            </a:r>
            <a:r>
              <a:rPr sz="1400" b="1" dirty="0">
                <a:latin typeface="Arial"/>
                <a:cs typeface="Arial"/>
              </a:rPr>
              <a:t>description</a:t>
            </a:r>
            <a:endParaRPr sz="1400" dirty="0">
              <a:latin typeface="Arial"/>
              <a:cs typeface="Arial"/>
            </a:endParaRPr>
          </a:p>
        </p:txBody>
      </p:sp>
      <p:graphicFrame>
        <p:nvGraphicFramePr>
          <p:cNvPr id="3" name="object 3"/>
          <p:cNvGraphicFramePr>
            <a:graphicFrameLocks noGrp="1"/>
          </p:cNvGraphicFramePr>
          <p:nvPr/>
        </p:nvGraphicFramePr>
        <p:xfrm>
          <a:off x="398462" y="1219708"/>
          <a:ext cx="6107428" cy="7840345"/>
        </p:xfrm>
        <a:graphic>
          <a:graphicData uri="http://schemas.openxmlformats.org/drawingml/2006/table">
            <a:tbl>
              <a:tblPr firstRow="1" bandRow="1">
                <a:tableStyleId>{2D5ABB26-0587-4C30-8999-92F81FD0307C}</a:tableStyleId>
              </a:tblPr>
              <a:tblGrid>
                <a:gridCol w="775335">
                  <a:extLst>
                    <a:ext uri="{9D8B030D-6E8A-4147-A177-3AD203B41FA5}">
                      <a16:colId xmlns:a16="http://schemas.microsoft.com/office/drawing/2014/main" val="20000"/>
                    </a:ext>
                  </a:extLst>
                </a:gridCol>
                <a:gridCol w="558165">
                  <a:extLst>
                    <a:ext uri="{9D8B030D-6E8A-4147-A177-3AD203B41FA5}">
                      <a16:colId xmlns:a16="http://schemas.microsoft.com/office/drawing/2014/main" val="20001"/>
                    </a:ext>
                  </a:extLst>
                </a:gridCol>
                <a:gridCol w="526414">
                  <a:extLst>
                    <a:ext uri="{9D8B030D-6E8A-4147-A177-3AD203B41FA5}">
                      <a16:colId xmlns:a16="http://schemas.microsoft.com/office/drawing/2014/main" val="20002"/>
                    </a:ext>
                  </a:extLst>
                </a:gridCol>
                <a:gridCol w="1158875">
                  <a:extLst>
                    <a:ext uri="{9D8B030D-6E8A-4147-A177-3AD203B41FA5}">
                      <a16:colId xmlns:a16="http://schemas.microsoft.com/office/drawing/2014/main" val="20003"/>
                    </a:ext>
                  </a:extLst>
                </a:gridCol>
                <a:gridCol w="2089150">
                  <a:extLst>
                    <a:ext uri="{9D8B030D-6E8A-4147-A177-3AD203B41FA5}">
                      <a16:colId xmlns:a16="http://schemas.microsoft.com/office/drawing/2014/main" val="20004"/>
                    </a:ext>
                  </a:extLst>
                </a:gridCol>
                <a:gridCol w="999489">
                  <a:extLst>
                    <a:ext uri="{9D8B030D-6E8A-4147-A177-3AD203B41FA5}">
                      <a16:colId xmlns:a16="http://schemas.microsoft.com/office/drawing/2014/main" val="20005"/>
                    </a:ext>
                  </a:extLst>
                </a:gridCol>
              </a:tblGrid>
              <a:tr h="245110">
                <a:tc>
                  <a:txBody>
                    <a:bodyPr/>
                    <a:lstStyle/>
                    <a:p>
                      <a:pPr marR="120014" algn="r">
                        <a:lnSpc>
                          <a:spcPct val="100000"/>
                        </a:lnSpc>
                        <a:spcBef>
                          <a:spcPts val="375"/>
                        </a:spcBef>
                      </a:pPr>
                      <a:r>
                        <a:rPr sz="900" b="1" dirty="0">
                          <a:latin typeface="Arial"/>
                          <a:cs typeface="Arial"/>
                        </a:rPr>
                        <a:t>Pin</a:t>
                      </a:r>
                      <a:r>
                        <a:rPr sz="900" b="1" spc="-50" dirty="0">
                          <a:latin typeface="Arial"/>
                          <a:cs typeface="Arial"/>
                        </a:rPr>
                        <a:t> </a:t>
                      </a:r>
                      <a:r>
                        <a:rPr sz="900" b="1" spc="-5" dirty="0">
                          <a:latin typeface="Arial"/>
                          <a:cs typeface="Arial"/>
                        </a:rPr>
                        <a:t>Name</a:t>
                      </a:r>
                      <a:endParaRPr sz="900" dirty="0">
                        <a:latin typeface="Arial"/>
                        <a:cs typeface="Arial"/>
                      </a:endParaRPr>
                    </a:p>
                  </a:txBody>
                  <a:tcPr marL="0" marR="0" marT="47625" marB="0">
                    <a:lnL w="12700">
                      <a:solidFill>
                        <a:srgbClr val="FFFFFF"/>
                      </a:solidFill>
                      <a:prstDash val="solid"/>
                    </a:lnL>
                    <a:lnR w="3175">
                      <a:solidFill>
                        <a:srgbClr val="000000"/>
                      </a:solidFill>
                      <a:prstDash val="solid"/>
                    </a:lnR>
                    <a:lnT w="12700">
                      <a:solidFill>
                        <a:srgbClr val="000000"/>
                      </a:solidFill>
                      <a:prstDash val="solid"/>
                    </a:lnT>
                    <a:lnB w="3175">
                      <a:solidFill>
                        <a:srgbClr val="000000"/>
                      </a:solidFill>
                      <a:prstDash val="solid"/>
                    </a:lnB>
                    <a:solidFill>
                      <a:srgbClr val="F1F1F1"/>
                    </a:solidFill>
                  </a:tcPr>
                </a:tc>
                <a:tc>
                  <a:txBody>
                    <a:bodyPr/>
                    <a:lstStyle/>
                    <a:p>
                      <a:pPr marL="635" algn="ctr">
                        <a:lnSpc>
                          <a:spcPct val="100000"/>
                        </a:lnSpc>
                        <a:spcBef>
                          <a:spcPts val="375"/>
                        </a:spcBef>
                      </a:pPr>
                      <a:r>
                        <a:rPr sz="900" b="1" dirty="0">
                          <a:latin typeface="Arial"/>
                          <a:cs typeface="Arial"/>
                        </a:rPr>
                        <a:t>Pin</a:t>
                      </a:r>
                      <a:r>
                        <a:rPr sz="900" b="1" spc="-55" dirty="0">
                          <a:latin typeface="Arial"/>
                          <a:cs typeface="Arial"/>
                        </a:rPr>
                        <a:t> </a:t>
                      </a:r>
                      <a:r>
                        <a:rPr sz="900" b="1" dirty="0">
                          <a:latin typeface="Arial"/>
                          <a:cs typeface="Arial"/>
                        </a:rPr>
                        <a:t>No.</a:t>
                      </a:r>
                      <a:endParaRPr sz="900" dirty="0">
                        <a:latin typeface="Arial"/>
                        <a:cs typeface="Arial"/>
                      </a:endParaRPr>
                    </a:p>
                  </a:txBody>
                  <a:tcPr marL="0" marR="0" marT="47625" marB="0">
                    <a:lnL w="3175">
                      <a:solidFill>
                        <a:srgbClr val="000000"/>
                      </a:solidFill>
                      <a:prstDash val="solid"/>
                    </a:lnL>
                    <a:lnR w="3175">
                      <a:solidFill>
                        <a:srgbClr val="000000"/>
                      </a:solidFill>
                      <a:prstDash val="solid"/>
                    </a:lnR>
                    <a:lnT w="12700">
                      <a:solidFill>
                        <a:srgbClr val="000000"/>
                      </a:solidFill>
                      <a:prstDash val="solid"/>
                    </a:lnT>
                    <a:lnB w="3175">
                      <a:solidFill>
                        <a:srgbClr val="000000"/>
                      </a:solidFill>
                      <a:prstDash val="solid"/>
                    </a:lnB>
                    <a:solidFill>
                      <a:srgbClr val="F1F1F1"/>
                    </a:solidFill>
                  </a:tcPr>
                </a:tc>
                <a:tc>
                  <a:txBody>
                    <a:bodyPr/>
                    <a:lstStyle/>
                    <a:p>
                      <a:pPr marR="178435" algn="r">
                        <a:lnSpc>
                          <a:spcPct val="100000"/>
                        </a:lnSpc>
                        <a:spcBef>
                          <a:spcPts val="375"/>
                        </a:spcBef>
                      </a:pPr>
                      <a:r>
                        <a:rPr sz="900" b="1" dirty="0">
                          <a:latin typeface="Arial"/>
                          <a:cs typeface="Arial"/>
                        </a:rPr>
                        <a:t>I/O</a:t>
                      </a:r>
                      <a:endParaRPr sz="900" dirty="0">
                        <a:latin typeface="Arial"/>
                        <a:cs typeface="Arial"/>
                      </a:endParaRPr>
                    </a:p>
                  </a:txBody>
                  <a:tcPr marL="0" marR="0" marT="47625" marB="0">
                    <a:lnL w="3175">
                      <a:solidFill>
                        <a:srgbClr val="000000"/>
                      </a:solidFill>
                      <a:prstDash val="solid"/>
                    </a:lnL>
                    <a:lnR w="3175">
                      <a:solidFill>
                        <a:srgbClr val="000000"/>
                      </a:solidFill>
                      <a:prstDash val="solid"/>
                    </a:lnR>
                    <a:lnT w="12700">
                      <a:solidFill>
                        <a:srgbClr val="000000"/>
                      </a:solidFill>
                      <a:prstDash val="solid"/>
                    </a:lnT>
                    <a:lnB w="3175">
                      <a:solidFill>
                        <a:srgbClr val="000000"/>
                      </a:solidFill>
                      <a:prstDash val="solid"/>
                    </a:lnB>
                    <a:solidFill>
                      <a:srgbClr val="F1F1F1"/>
                    </a:solidFill>
                  </a:tcPr>
                </a:tc>
                <a:tc>
                  <a:txBody>
                    <a:bodyPr/>
                    <a:lstStyle/>
                    <a:p>
                      <a:pPr marR="440690" algn="r">
                        <a:lnSpc>
                          <a:spcPct val="100000"/>
                        </a:lnSpc>
                        <a:spcBef>
                          <a:spcPts val="375"/>
                        </a:spcBef>
                      </a:pPr>
                      <a:r>
                        <a:rPr sz="900" b="1" spc="-15" dirty="0">
                          <a:latin typeface="Arial"/>
                          <a:cs typeface="Arial"/>
                        </a:rPr>
                        <a:t>Type</a:t>
                      </a:r>
                      <a:endParaRPr sz="900" dirty="0">
                        <a:latin typeface="Arial"/>
                        <a:cs typeface="Arial"/>
                      </a:endParaRPr>
                    </a:p>
                  </a:txBody>
                  <a:tcPr marL="0" marR="0" marT="47625" marB="0">
                    <a:lnL w="3175">
                      <a:solidFill>
                        <a:srgbClr val="000000"/>
                      </a:solidFill>
                      <a:prstDash val="solid"/>
                    </a:lnL>
                    <a:lnR w="3175">
                      <a:solidFill>
                        <a:srgbClr val="000000"/>
                      </a:solidFill>
                      <a:prstDash val="solid"/>
                    </a:lnR>
                    <a:lnT w="12700">
                      <a:solidFill>
                        <a:srgbClr val="000000"/>
                      </a:solidFill>
                      <a:prstDash val="solid"/>
                    </a:lnT>
                    <a:lnB w="3175">
                      <a:solidFill>
                        <a:srgbClr val="000000"/>
                      </a:solidFill>
                      <a:prstDash val="solid"/>
                    </a:lnB>
                    <a:solidFill>
                      <a:srgbClr val="F1F1F1"/>
                    </a:solidFill>
                  </a:tcPr>
                </a:tc>
                <a:tc>
                  <a:txBody>
                    <a:bodyPr/>
                    <a:lstStyle/>
                    <a:p>
                      <a:pPr algn="ctr">
                        <a:lnSpc>
                          <a:spcPct val="100000"/>
                        </a:lnSpc>
                        <a:spcBef>
                          <a:spcPts val="375"/>
                        </a:spcBef>
                      </a:pPr>
                      <a:r>
                        <a:rPr sz="900" b="1" dirty="0">
                          <a:latin typeface="Arial"/>
                          <a:cs typeface="Arial"/>
                        </a:rPr>
                        <a:t>Description</a:t>
                      </a:r>
                      <a:endParaRPr sz="900" dirty="0">
                        <a:latin typeface="Arial"/>
                        <a:cs typeface="Arial"/>
                      </a:endParaRPr>
                    </a:p>
                  </a:txBody>
                  <a:tcPr marL="0" marR="0" marT="47625" marB="0">
                    <a:lnL w="3175">
                      <a:solidFill>
                        <a:srgbClr val="000000"/>
                      </a:solidFill>
                      <a:prstDash val="solid"/>
                    </a:lnL>
                    <a:lnR w="3175">
                      <a:solidFill>
                        <a:srgbClr val="000000"/>
                      </a:solidFill>
                      <a:prstDash val="solid"/>
                    </a:lnR>
                    <a:lnT w="12700">
                      <a:solidFill>
                        <a:srgbClr val="000000"/>
                      </a:solidFill>
                      <a:prstDash val="solid"/>
                    </a:lnT>
                    <a:lnB w="3175">
                      <a:solidFill>
                        <a:srgbClr val="000000"/>
                      </a:solidFill>
                      <a:prstDash val="solid"/>
                    </a:lnB>
                    <a:solidFill>
                      <a:srgbClr val="F1F1F1"/>
                    </a:solidFill>
                  </a:tcPr>
                </a:tc>
                <a:tc>
                  <a:txBody>
                    <a:bodyPr/>
                    <a:lstStyle/>
                    <a:p>
                      <a:pPr marL="289560">
                        <a:lnSpc>
                          <a:spcPct val="100000"/>
                        </a:lnSpc>
                        <a:spcBef>
                          <a:spcPts val="375"/>
                        </a:spcBef>
                      </a:pPr>
                      <a:r>
                        <a:rPr sz="900" b="1" dirty="0">
                          <a:latin typeface="Arial"/>
                          <a:cs typeface="Arial"/>
                        </a:rPr>
                        <a:t>Remark</a:t>
                      </a:r>
                      <a:endParaRPr sz="900" dirty="0">
                        <a:latin typeface="Arial"/>
                        <a:cs typeface="Arial"/>
                      </a:endParaRPr>
                    </a:p>
                  </a:txBody>
                  <a:tcPr marL="0" marR="0" marT="47625" marB="0">
                    <a:lnL w="3175">
                      <a:solidFill>
                        <a:srgbClr val="000000"/>
                      </a:solidFill>
                      <a:prstDash val="solid"/>
                    </a:lnL>
                    <a:lnR w="12700">
                      <a:solidFill>
                        <a:srgbClr val="FFFFFF"/>
                      </a:solidFill>
                      <a:prstDash val="solid"/>
                    </a:lnR>
                    <a:lnT w="12700">
                      <a:solidFill>
                        <a:srgbClr val="000000"/>
                      </a:solidFill>
                      <a:prstDash val="solid"/>
                    </a:lnT>
                    <a:lnB w="3175">
                      <a:solidFill>
                        <a:srgbClr val="000000"/>
                      </a:solidFill>
                      <a:prstDash val="solid"/>
                    </a:lnB>
                    <a:solidFill>
                      <a:srgbClr val="F1F1F1"/>
                    </a:solidFill>
                  </a:tcPr>
                </a:tc>
                <a:extLst>
                  <a:ext uri="{0D108BD9-81ED-4DB2-BD59-A6C34878D82A}">
                    <a16:rowId xmlns:a16="http://schemas.microsoft.com/office/drawing/2014/main" val="10000"/>
                  </a:ext>
                </a:extLst>
              </a:tr>
              <a:tr h="245110">
                <a:tc>
                  <a:txBody>
                    <a:bodyPr/>
                    <a:lstStyle/>
                    <a:p>
                      <a:pPr marL="196850">
                        <a:lnSpc>
                          <a:spcPct val="100000"/>
                        </a:lnSpc>
                        <a:spcBef>
                          <a:spcPts val="380"/>
                        </a:spcBef>
                      </a:pPr>
                      <a:r>
                        <a:rPr sz="900" spc="-5" dirty="0">
                          <a:latin typeface="Arial"/>
                          <a:cs typeface="Arial"/>
                        </a:rPr>
                        <a:t>HOLD8</a:t>
                      </a:r>
                      <a:endParaRPr sz="900" dirty="0">
                        <a:latin typeface="Arial"/>
                        <a:cs typeface="Arial"/>
                      </a:endParaRPr>
                    </a:p>
                  </a:txBody>
                  <a:tcPr marL="0" marR="0" marT="48260" marB="0">
                    <a:lnL w="12700">
                      <a:solidFill>
                        <a:srgbClr val="FFFFFF"/>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L="1270" algn="ctr">
                        <a:lnSpc>
                          <a:spcPct val="100000"/>
                        </a:lnSpc>
                        <a:spcBef>
                          <a:spcPts val="380"/>
                        </a:spcBef>
                      </a:pPr>
                      <a:r>
                        <a:rPr sz="900" spc="-5" dirty="0">
                          <a:latin typeface="Arial"/>
                          <a:cs typeface="Arial"/>
                        </a:rPr>
                        <a:t>13</a:t>
                      </a:r>
                      <a:endParaRPr sz="900" dirty="0">
                        <a:latin typeface="Arial"/>
                        <a:cs typeface="Arial"/>
                      </a:endParaRPr>
                    </a:p>
                  </a:txBody>
                  <a:tcPr marL="0" marR="0" marT="4826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R="210185" algn="r">
                        <a:lnSpc>
                          <a:spcPct val="100000"/>
                        </a:lnSpc>
                        <a:spcBef>
                          <a:spcPts val="380"/>
                        </a:spcBef>
                      </a:pPr>
                      <a:r>
                        <a:rPr sz="900" dirty="0">
                          <a:latin typeface="Arial"/>
                          <a:cs typeface="Arial"/>
                        </a:rPr>
                        <a:t>O</a:t>
                      </a:r>
                    </a:p>
                  </a:txBody>
                  <a:tcPr marL="0" marR="0" marT="4826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R="412115" algn="r">
                        <a:lnSpc>
                          <a:spcPct val="100000"/>
                        </a:lnSpc>
                        <a:spcBef>
                          <a:spcPts val="380"/>
                        </a:spcBef>
                      </a:pPr>
                      <a:r>
                        <a:rPr sz="900" dirty="0">
                          <a:latin typeface="Arial"/>
                          <a:cs typeface="Arial"/>
                        </a:rPr>
                        <a:t>Digital</a:t>
                      </a:r>
                    </a:p>
                  </a:txBody>
                  <a:tcPr marL="0" marR="0" marT="4826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gn="ctr">
                        <a:lnSpc>
                          <a:spcPct val="100000"/>
                        </a:lnSpc>
                        <a:spcBef>
                          <a:spcPts val="380"/>
                        </a:spcBef>
                      </a:pPr>
                      <a:r>
                        <a:rPr sz="900" dirty="0">
                          <a:latin typeface="Arial"/>
                          <a:cs typeface="Arial"/>
                        </a:rPr>
                        <a:t>Strobe</a:t>
                      </a:r>
                      <a:r>
                        <a:rPr sz="900" spc="-35" dirty="0">
                          <a:latin typeface="Arial"/>
                          <a:cs typeface="Arial"/>
                        </a:rPr>
                        <a:t> </a:t>
                      </a:r>
                      <a:r>
                        <a:rPr sz="900" dirty="0">
                          <a:latin typeface="Arial"/>
                          <a:cs typeface="Arial"/>
                        </a:rPr>
                        <a:t>to</a:t>
                      </a:r>
                      <a:r>
                        <a:rPr sz="900" spc="-30" dirty="0">
                          <a:latin typeface="Arial"/>
                          <a:cs typeface="Arial"/>
                        </a:rPr>
                        <a:t> </a:t>
                      </a:r>
                      <a:r>
                        <a:rPr sz="900" dirty="0">
                          <a:latin typeface="Arial"/>
                          <a:cs typeface="Arial"/>
                        </a:rPr>
                        <a:t>AQ</a:t>
                      </a:r>
                      <a:r>
                        <a:rPr sz="900" spc="-30" dirty="0">
                          <a:latin typeface="Arial"/>
                          <a:cs typeface="Arial"/>
                        </a:rPr>
                        <a:t> </a:t>
                      </a:r>
                      <a:r>
                        <a:rPr sz="900" dirty="0">
                          <a:latin typeface="Arial"/>
                          <a:cs typeface="Arial"/>
                        </a:rPr>
                        <a:t>series</a:t>
                      </a:r>
                    </a:p>
                  </a:txBody>
                  <a:tcPr marL="0" marR="0" marT="4826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nSpc>
                          <a:spcPct val="100000"/>
                        </a:lnSpc>
                      </a:pPr>
                      <a:endParaRPr sz="900" dirty="0">
                        <a:latin typeface="Times New Roman"/>
                        <a:cs typeface="Times New Roman"/>
                      </a:endParaRPr>
                    </a:p>
                  </a:txBody>
                  <a:tcPr marL="0" marR="0" marT="0" marB="0">
                    <a:lnL w="3175">
                      <a:solidFill>
                        <a:srgbClr val="000000"/>
                      </a:solidFill>
                      <a:prstDash val="solid"/>
                    </a:lnL>
                    <a:lnR w="12700">
                      <a:solidFill>
                        <a:srgbClr val="FFFFFF"/>
                      </a:solidFill>
                      <a:prstDash val="solid"/>
                    </a:lnR>
                    <a:lnT w="3175">
                      <a:solidFill>
                        <a:srgbClr val="000000"/>
                      </a:solidFill>
                      <a:prstDash val="solid"/>
                    </a:lnT>
                    <a:lnB w="3175">
                      <a:solidFill>
                        <a:srgbClr val="000000"/>
                      </a:solidFill>
                      <a:prstDash val="solid"/>
                    </a:lnB>
                  </a:tcPr>
                </a:tc>
                <a:extLst>
                  <a:ext uri="{0D108BD9-81ED-4DB2-BD59-A6C34878D82A}">
                    <a16:rowId xmlns:a16="http://schemas.microsoft.com/office/drawing/2014/main" val="10001"/>
                  </a:ext>
                </a:extLst>
              </a:tr>
              <a:tr h="245110">
                <a:tc>
                  <a:txBody>
                    <a:bodyPr/>
                    <a:lstStyle/>
                    <a:p>
                      <a:pPr algn="ctr">
                        <a:lnSpc>
                          <a:spcPct val="100000"/>
                        </a:lnSpc>
                        <a:spcBef>
                          <a:spcPts val="380"/>
                        </a:spcBef>
                      </a:pPr>
                      <a:r>
                        <a:rPr sz="900" spc="-5" dirty="0">
                          <a:latin typeface="Arial"/>
                          <a:cs typeface="Arial"/>
                        </a:rPr>
                        <a:t>CS8</a:t>
                      </a:r>
                      <a:endParaRPr sz="900" dirty="0">
                        <a:latin typeface="Arial"/>
                        <a:cs typeface="Arial"/>
                      </a:endParaRPr>
                    </a:p>
                  </a:txBody>
                  <a:tcPr marL="0" marR="0" marT="48260" marB="0">
                    <a:lnL w="12700">
                      <a:solidFill>
                        <a:srgbClr val="FFFFFF"/>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L="1270" algn="ctr">
                        <a:lnSpc>
                          <a:spcPct val="100000"/>
                        </a:lnSpc>
                        <a:spcBef>
                          <a:spcPts val="380"/>
                        </a:spcBef>
                      </a:pPr>
                      <a:r>
                        <a:rPr sz="900" spc="-5" dirty="0">
                          <a:latin typeface="Arial"/>
                          <a:cs typeface="Arial"/>
                        </a:rPr>
                        <a:t>14</a:t>
                      </a:r>
                      <a:endParaRPr sz="900" dirty="0">
                        <a:latin typeface="Arial"/>
                        <a:cs typeface="Arial"/>
                      </a:endParaRPr>
                    </a:p>
                  </a:txBody>
                  <a:tcPr marL="0" marR="0" marT="4826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R="210185" algn="r">
                        <a:lnSpc>
                          <a:spcPct val="100000"/>
                        </a:lnSpc>
                        <a:spcBef>
                          <a:spcPts val="380"/>
                        </a:spcBef>
                      </a:pPr>
                      <a:r>
                        <a:rPr sz="900" dirty="0">
                          <a:latin typeface="Arial"/>
                          <a:cs typeface="Arial"/>
                        </a:rPr>
                        <a:t>O</a:t>
                      </a:r>
                    </a:p>
                  </a:txBody>
                  <a:tcPr marL="0" marR="0" marT="4826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R="412115" algn="r">
                        <a:lnSpc>
                          <a:spcPct val="100000"/>
                        </a:lnSpc>
                        <a:spcBef>
                          <a:spcPts val="380"/>
                        </a:spcBef>
                      </a:pPr>
                      <a:r>
                        <a:rPr sz="900" dirty="0">
                          <a:latin typeface="Arial"/>
                          <a:cs typeface="Arial"/>
                        </a:rPr>
                        <a:t>Digital</a:t>
                      </a:r>
                    </a:p>
                  </a:txBody>
                  <a:tcPr marL="0" marR="0" marT="4826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gn="ctr">
                        <a:lnSpc>
                          <a:spcPct val="100000"/>
                        </a:lnSpc>
                        <a:spcBef>
                          <a:spcPts val="380"/>
                        </a:spcBef>
                      </a:pPr>
                      <a:r>
                        <a:rPr sz="900" dirty="0">
                          <a:latin typeface="Arial"/>
                          <a:cs typeface="Arial"/>
                        </a:rPr>
                        <a:t>Chip</a:t>
                      </a:r>
                      <a:r>
                        <a:rPr sz="900" spc="-30" dirty="0">
                          <a:latin typeface="Arial"/>
                          <a:cs typeface="Arial"/>
                        </a:rPr>
                        <a:t> </a:t>
                      </a:r>
                      <a:r>
                        <a:rPr sz="900" dirty="0">
                          <a:latin typeface="Arial"/>
                          <a:cs typeface="Arial"/>
                        </a:rPr>
                        <a:t>Select</a:t>
                      </a:r>
                      <a:r>
                        <a:rPr sz="900" spc="-40" dirty="0">
                          <a:latin typeface="Arial"/>
                          <a:cs typeface="Arial"/>
                        </a:rPr>
                        <a:t> </a:t>
                      </a:r>
                      <a:r>
                        <a:rPr sz="900" dirty="0">
                          <a:latin typeface="Arial"/>
                          <a:cs typeface="Arial"/>
                        </a:rPr>
                        <a:t>to</a:t>
                      </a:r>
                      <a:r>
                        <a:rPr sz="900" spc="-25" dirty="0">
                          <a:latin typeface="Arial"/>
                          <a:cs typeface="Arial"/>
                        </a:rPr>
                        <a:t> </a:t>
                      </a:r>
                      <a:r>
                        <a:rPr sz="900" dirty="0">
                          <a:latin typeface="Arial"/>
                          <a:cs typeface="Arial"/>
                        </a:rPr>
                        <a:t>AQ</a:t>
                      </a:r>
                      <a:r>
                        <a:rPr sz="900" spc="-15" dirty="0">
                          <a:latin typeface="Arial"/>
                          <a:cs typeface="Arial"/>
                        </a:rPr>
                        <a:t> </a:t>
                      </a:r>
                      <a:r>
                        <a:rPr sz="900" dirty="0">
                          <a:latin typeface="Arial"/>
                          <a:cs typeface="Arial"/>
                        </a:rPr>
                        <a:t>series</a:t>
                      </a:r>
                    </a:p>
                  </a:txBody>
                  <a:tcPr marL="0" marR="0" marT="4826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nSpc>
                          <a:spcPct val="100000"/>
                        </a:lnSpc>
                      </a:pPr>
                      <a:endParaRPr sz="900" dirty="0">
                        <a:latin typeface="Times New Roman"/>
                        <a:cs typeface="Times New Roman"/>
                      </a:endParaRPr>
                    </a:p>
                  </a:txBody>
                  <a:tcPr marL="0" marR="0" marT="0" marB="0">
                    <a:lnL w="3175">
                      <a:solidFill>
                        <a:srgbClr val="000000"/>
                      </a:solidFill>
                      <a:prstDash val="solid"/>
                    </a:lnL>
                    <a:lnR w="12700">
                      <a:solidFill>
                        <a:srgbClr val="FFFFFF"/>
                      </a:solidFill>
                      <a:prstDash val="solid"/>
                    </a:lnR>
                    <a:lnT w="3175">
                      <a:solidFill>
                        <a:srgbClr val="000000"/>
                      </a:solidFill>
                      <a:prstDash val="solid"/>
                    </a:lnT>
                    <a:lnB w="3175">
                      <a:solidFill>
                        <a:srgbClr val="000000"/>
                      </a:solidFill>
                      <a:prstDash val="solid"/>
                    </a:lnB>
                  </a:tcPr>
                </a:tc>
                <a:extLst>
                  <a:ext uri="{0D108BD9-81ED-4DB2-BD59-A6C34878D82A}">
                    <a16:rowId xmlns:a16="http://schemas.microsoft.com/office/drawing/2014/main" val="10002"/>
                  </a:ext>
                </a:extLst>
              </a:tr>
              <a:tr h="244475">
                <a:tc>
                  <a:txBody>
                    <a:bodyPr/>
                    <a:lstStyle/>
                    <a:p>
                      <a:pPr marL="196850">
                        <a:lnSpc>
                          <a:spcPct val="100000"/>
                        </a:lnSpc>
                        <a:spcBef>
                          <a:spcPts val="380"/>
                        </a:spcBef>
                      </a:pPr>
                      <a:r>
                        <a:rPr sz="900" spc="-5" dirty="0">
                          <a:latin typeface="Arial"/>
                          <a:cs typeface="Arial"/>
                        </a:rPr>
                        <a:t>HOLD7</a:t>
                      </a:r>
                      <a:endParaRPr sz="900" dirty="0">
                        <a:latin typeface="Arial"/>
                        <a:cs typeface="Arial"/>
                      </a:endParaRPr>
                    </a:p>
                  </a:txBody>
                  <a:tcPr marL="0" marR="0" marT="48260" marB="0">
                    <a:lnL w="12700">
                      <a:solidFill>
                        <a:srgbClr val="FFFFFF"/>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L="1270" algn="ctr">
                        <a:lnSpc>
                          <a:spcPct val="100000"/>
                        </a:lnSpc>
                        <a:spcBef>
                          <a:spcPts val="380"/>
                        </a:spcBef>
                      </a:pPr>
                      <a:r>
                        <a:rPr sz="900" spc="-5" dirty="0">
                          <a:latin typeface="Arial"/>
                          <a:cs typeface="Arial"/>
                        </a:rPr>
                        <a:t>15</a:t>
                      </a:r>
                      <a:endParaRPr sz="900" dirty="0">
                        <a:latin typeface="Arial"/>
                        <a:cs typeface="Arial"/>
                      </a:endParaRPr>
                    </a:p>
                  </a:txBody>
                  <a:tcPr marL="0" marR="0" marT="4826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R="210185" algn="r">
                        <a:lnSpc>
                          <a:spcPct val="100000"/>
                        </a:lnSpc>
                        <a:spcBef>
                          <a:spcPts val="380"/>
                        </a:spcBef>
                      </a:pPr>
                      <a:r>
                        <a:rPr sz="900" dirty="0">
                          <a:latin typeface="Arial"/>
                          <a:cs typeface="Arial"/>
                        </a:rPr>
                        <a:t>O</a:t>
                      </a:r>
                    </a:p>
                  </a:txBody>
                  <a:tcPr marL="0" marR="0" marT="4826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R="412115" algn="r">
                        <a:lnSpc>
                          <a:spcPct val="100000"/>
                        </a:lnSpc>
                        <a:spcBef>
                          <a:spcPts val="380"/>
                        </a:spcBef>
                      </a:pPr>
                      <a:r>
                        <a:rPr sz="900" dirty="0">
                          <a:latin typeface="Arial"/>
                          <a:cs typeface="Arial"/>
                        </a:rPr>
                        <a:t>Digital</a:t>
                      </a:r>
                    </a:p>
                  </a:txBody>
                  <a:tcPr marL="0" marR="0" marT="4826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gn="ctr">
                        <a:lnSpc>
                          <a:spcPct val="100000"/>
                        </a:lnSpc>
                        <a:spcBef>
                          <a:spcPts val="380"/>
                        </a:spcBef>
                      </a:pPr>
                      <a:r>
                        <a:rPr sz="900" dirty="0">
                          <a:latin typeface="Arial"/>
                          <a:cs typeface="Arial"/>
                        </a:rPr>
                        <a:t>Strobe</a:t>
                      </a:r>
                      <a:r>
                        <a:rPr sz="900" spc="-35" dirty="0">
                          <a:latin typeface="Arial"/>
                          <a:cs typeface="Arial"/>
                        </a:rPr>
                        <a:t> </a:t>
                      </a:r>
                      <a:r>
                        <a:rPr sz="900" dirty="0">
                          <a:latin typeface="Arial"/>
                          <a:cs typeface="Arial"/>
                        </a:rPr>
                        <a:t>to</a:t>
                      </a:r>
                      <a:r>
                        <a:rPr sz="900" spc="-30" dirty="0">
                          <a:latin typeface="Arial"/>
                          <a:cs typeface="Arial"/>
                        </a:rPr>
                        <a:t> </a:t>
                      </a:r>
                      <a:r>
                        <a:rPr sz="900" dirty="0">
                          <a:latin typeface="Arial"/>
                          <a:cs typeface="Arial"/>
                        </a:rPr>
                        <a:t>AQ</a:t>
                      </a:r>
                      <a:r>
                        <a:rPr sz="900" spc="-30" dirty="0">
                          <a:latin typeface="Arial"/>
                          <a:cs typeface="Arial"/>
                        </a:rPr>
                        <a:t> </a:t>
                      </a:r>
                      <a:r>
                        <a:rPr sz="900" dirty="0">
                          <a:latin typeface="Arial"/>
                          <a:cs typeface="Arial"/>
                        </a:rPr>
                        <a:t>series</a:t>
                      </a:r>
                    </a:p>
                  </a:txBody>
                  <a:tcPr marL="0" marR="0" marT="4826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nSpc>
                          <a:spcPct val="100000"/>
                        </a:lnSpc>
                      </a:pPr>
                      <a:endParaRPr sz="900" dirty="0">
                        <a:latin typeface="Times New Roman"/>
                        <a:cs typeface="Times New Roman"/>
                      </a:endParaRPr>
                    </a:p>
                  </a:txBody>
                  <a:tcPr marL="0" marR="0" marT="0" marB="0">
                    <a:lnL w="3175">
                      <a:solidFill>
                        <a:srgbClr val="000000"/>
                      </a:solidFill>
                      <a:prstDash val="solid"/>
                    </a:lnL>
                    <a:lnR w="12700">
                      <a:solidFill>
                        <a:srgbClr val="FFFFFF"/>
                      </a:solidFill>
                      <a:prstDash val="solid"/>
                    </a:lnR>
                    <a:lnT w="3175">
                      <a:solidFill>
                        <a:srgbClr val="000000"/>
                      </a:solidFill>
                      <a:prstDash val="solid"/>
                    </a:lnT>
                    <a:lnB w="3175">
                      <a:solidFill>
                        <a:srgbClr val="000000"/>
                      </a:solidFill>
                      <a:prstDash val="solid"/>
                    </a:lnB>
                  </a:tcPr>
                </a:tc>
                <a:extLst>
                  <a:ext uri="{0D108BD9-81ED-4DB2-BD59-A6C34878D82A}">
                    <a16:rowId xmlns:a16="http://schemas.microsoft.com/office/drawing/2014/main" val="10003"/>
                  </a:ext>
                </a:extLst>
              </a:tr>
              <a:tr h="245110">
                <a:tc>
                  <a:txBody>
                    <a:bodyPr/>
                    <a:lstStyle/>
                    <a:p>
                      <a:pPr algn="ctr">
                        <a:lnSpc>
                          <a:spcPct val="100000"/>
                        </a:lnSpc>
                        <a:spcBef>
                          <a:spcPts val="380"/>
                        </a:spcBef>
                      </a:pPr>
                      <a:r>
                        <a:rPr sz="900" spc="-5" dirty="0">
                          <a:latin typeface="Arial"/>
                          <a:cs typeface="Arial"/>
                        </a:rPr>
                        <a:t>CS7</a:t>
                      </a:r>
                      <a:endParaRPr sz="900" dirty="0">
                        <a:latin typeface="Arial"/>
                        <a:cs typeface="Arial"/>
                      </a:endParaRPr>
                    </a:p>
                  </a:txBody>
                  <a:tcPr marL="0" marR="0" marT="48260" marB="0">
                    <a:lnL w="12700">
                      <a:solidFill>
                        <a:srgbClr val="FFFFFF"/>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L="1270" algn="ctr">
                        <a:lnSpc>
                          <a:spcPct val="100000"/>
                        </a:lnSpc>
                        <a:spcBef>
                          <a:spcPts val="380"/>
                        </a:spcBef>
                      </a:pPr>
                      <a:r>
                        <a:rPr sz="900" spc="-5" dirty="0">
                          <a:latin typeface="Arial"/>
                          <a:cs typeface="Arial"/>
                        </a:rPr>
                        <a:t>16</a:t>
                      </a:r>
                      <a:endParaRPr sz="900" dirty="0">
                        <a:latin typeface="Arial"/>
                        <a:cs typeface="Arial"/>
                      </a:endParaRPr>
                    </a:p>
                  </a:txBody>
                  <a:tcPr marL="0" marR="0" marT="4826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R="210185" algn="r">
                        <a:lnSpc>
                          <a:spcPct val="100000"/>
                        </a:lnSpc>
                        <a:spcBef>
                          <a:spcPts val="380"/>
                        </a:spcBef>
                      </a:pPr>
                      <a:r>
                        <a:rPr sz="900" dirty="0">
                          <a:latin typeface="Arial"/>
                          <a:cs typeface="Arial"/>
                        </a:rPr>
                        <a:t>O</a:t>
                      </a:r>
                    </a:p>
                  </a:txBody>
                  <a:tcPr marL="0" marR="0" marT="4826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R="412115" algn="r">
                        <a:lnSpc>
                          <a:spcPct val="100000"/>
                        </a:lnSpc>
                        <a:spcBef>
                          <a:spcPts val="380"/>
                        </a:spcBef>
                      </a:pPr>
                      <a:r>
                        <a:rPr sz="900" dirty="0">
                          <a:latin typeface="Arial"/>
                          <a:cs typeface="Arial"/>
                        </a:rPr>
                        <a:t>Digital</a:t>
                      </a:r>
                    </a:p>
                  </a:txBody>
                  <a:tcPr marL="0" marR="0" marT="4826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gn="ctr">
                        <a:lnSpc>
                          <a:spcPct val="100000"/>
                        </a:lnSpc>
                        <a:spcBef>
                          <a:spcPts val="380"/>
                        </a:spcBef>
                      </a:pPr>
                      <a:r>
                        <a:rPr sz="900" dirty="0">
                          <a:latin typeface="Arial"/>
                          <a:cs typeface="Arial"/>
                        </a:rPr>
                        <a:t>Chip</a:t>
                      </a:r>
                      <a:r>
                        <a:rPr sz="900" spc="-30" dirty="0">
                          <a:latin typeface="Arial"/>
                          <a:cs typeface="Arial"/>
                        </a:rPr>
                        <a:t> </a:t>
                      </a:r>
                      <a:r>
                        <a:rPr sz="900" dirty="0">
                          <a:latin typeface="Arial"/>
                          <a:cs typeface="Arial"/>
                        </a:rPr>
                        <a:t>Select</a:t>
                      </a:r>
                      <a:r>
                        <a:rPr sz="900" spc="-40" dirty="0">
                          <a:latin typeface="Arial"/>
                          <a:cs typeface="Arial"/>
                        </a:rPr>
                        <a:t> </a:t>
                      </a:r>
                      <a:r>
                        <a:rPr sz="900" dirty="0">
                          <a:latin typeface="Arial"/>
                          <a:cs typeface="Arial"/>
                        </a:rPr>
                        <a:t>to</a:t>
                      </a:r>
                      <a:r>
                        <a:rPr sz="900" spc="-25" dirty="0">
                          <a:latin typeface="Arial"/>
                          <a:cs typeface="Arial"/>
                        </a:rPr>
                        <a:t> </a:t>
                      </a:r>
                      <a:r>
                        <a:rPr sz="900" dirty="0">
                          <a:latin typeface="Arial"/>
                          <a:cs typeface="Arial"/>
                        </a:rPr>
                        <a:t>AQ</a:t>
                      </a:r>
                      <a:r>
                        <a:rPr sz="900" spc="-15" dirty="0">
                          <a:latin typeface="Arial"/>
                          <a:cs typeface="Arial"/>
                        </a:rPr>
                        <a:t> </a:t>
                      </a:r>
                      <a:r>
                        <a:rPr sz="900" dirty="0">
                          <a:latin typeface="Arial"/>
                          <a:cs typeface="Arial"/>
                        </a:rPr>
                        <a:t>series</a:t>
                      </a:r>
                    </a:p>
                  </a:txBody>
                  <a:tcPr marL="0" marR="0" marT="4826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nSpc>
                          <a:spcPct val="100000"/>
                        </a:lnSpc>
                      </a:pPr>
                      <a:endParaRPr sz="900" dirty="0">
                        <a:latin typeface="Times New Roman"/>
                        <a:cs typeface="Times New Roman"/>
                      </a:endParaRPr>
                    </a:p>
                  </a:txBody>
                  <a:tcPr marL="0" marR="0" marT="0" marB="0">
                    <a:lnL w="3175">
                      <a:solidFill>
                        <a:srgbClr val="000000"/>
                      </a:solidFill>
                      <a:prstDash val="solid"/>
                    </a:lnL>
                    <a:lnR w="12700">
                      <a:solidFill>
                        <a:srgbClr val="FFFFFF"/>
                      </a:solidFill>
                      <a:prstDash val="solid"/>
                    </a:lnR>
                    <a:lnT w="3175">
                      <a:solidFill>
                        <a:srgbClr val="000000"/>
                      </a:solidFill>
                      <a:prstDash val="solid"/>
                    </a:lnT>
                    <a:lnB w="3175">
                      <a:solidFill>
                        <a:srgbClr val="000000"/>
                      </a:solidFill>
                      <a:prstDash val="solid"/>
                    </a:lnB>
                  </a:tcPr>
                </a:tc>
                <a:extLst>
                  <a:ext uri="{0D108BD9-81ED-4DB2-BD59-A6C34878D82A}">
                    <a16:rowId xmlns:a16="http://schemas.microsoft.com/office/drawing/2014/main" val="10004"/>
                  </a:ext>
                </a:extLst>
              </a:tr>
              <a:tr h="245110">
                <a:tc>
                  <a:txBody>
                    <a:bodyPr/>
                    <a:lstStyle/>
                    <a:p>
                      <a:pPr marL="196850">
                        <a:lnSpc>
                          <a:spcPct val="100000"/>
                        </a:lnSpc>
                        <a:spcBef>
                          <a:spcPts val="375"/>
                        </a:spcBef>
                      </a:pPr>
                      <a:r>
                        <a:rPr sz="900" spc="-5" dirty="0">
                          <a:latin typeface="Arial"/>
                          <a:cs typeface="Arial"/>
                        </a:rPr>
                        <a:t>HOLD6</a:t>
                      </a:r>
                      <a:endParaRPr sz="900" dirty="0">
                        <a:latin typeface="Arial"/>
                        <a:cs typeface="Arial"/>
                      </a:endParaRPr>
                    </a:p>
                  </a:txBody>
                  <a:tcPr marL="0" marR="0" marT="47625" marB="0">
                    <a:lnL w="12700">
                      <a:solidFill>
                        <a:srgbClr val="FFFFFF"/>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L="1270" algn="ctr">
                        <a:lnSpc>
                          <a:spcPct val="100000"/>
                        </a:lnSpc>
                        <a:spcBef>
                          <a:spcPts val="375"/>
                        </a:spcBef>
                      </a:pPr>
                      <a:r>
                        <a:rPr sz="900" dirty="0">
                          <a:latin typeface="Arial"/>
                          <a:cs typeface="Arial"/>
                        </a:rPr>
                        <a:t>17</a:t>
                      </a:r>
                    </a:p>
                  </a:txBody>
                  <a:tcPr marL="0" marR="0" marT="47625"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R="210185" algn="r">
                        <a:lnSpc>
                          <a:spcPct val="100000"/>
                        </a:lnSpc>
                        <a:spcBef>
                          <a:spcPts val="375"/>
                        </a:spcBef>
                      </a:pPr>
                      <a:r>
                        <a:rPr sz="900" dirty="0">
                          <a:latin typeface="Arial"/>
                          <a:cs typeface="Arial"/>
                        </a:rPr>
                        <a:t>O</a:t>
                      </a:r>
                    </a:p>
                  </a:txBody>
                  <a:tcPr marL="0" marR="0" marT="47625"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R="411480" algn="r">
                        <a:lnSpc>
                          <a:spcPct val="100000"/>
                        </a:lnSpc>
                        <a:spcBef>
                          <a:spcPts val="375"/>
                        </a:spcBef>
                      </a:pPr>
                      <a:r>
                        <a:rPr sz="900" dirty="0">
                          <a:latin typeface="Arial"/>
                          <a:cs typeface="Arial"/>
                        </a:rPr>
                        <a:t>Digital</a:t>
                      </a:r>
                    </a:p>
                  </a:txBody>
                  <a:tcPr marL="0" marR="0" marT="47625"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gn="ctr">
                        <a:lnSpc>
                          <a:spcPct val="100000"/>
                        </a:lnSpc>
                        <a:spcBef>
                          <a:spcPts val="375"/>
                        </a:spcBef>
                      </a:pPr>
                      <a:r>
                        <a:rPr sz="900" dirty="0">
                          <a:latin typeface="Arial"/>
                          <a:cs typeface="Arial"/>
                        </a:rPr>
                        <a:t>Strobe</a:t>
                      </a:r>
                      <a:r>
                        <a:rPr sz="900" spc="-30" dirty="0">
                          <a:latin typeface="Arial"/>
                          <a:cs typeface="Arial"/>
                        </a:rPr>
                        <a:t> </a:t>
                      </a:r>
                      <a:r>
                        <a:rPr sz="900" dirty="0">
                          <a:latin typeface="Arial"/>
                          <a:cs typeface="Arial"/>
                        </a:rPr>
                        <a:t>to</a:t>
                      </a:r>
                      <a:r>
                        <a:rPr sz="900" spc="-30" dirty="0">
                          <a:latin typeface="Arial"/>
                          <a:cs typeface="Arial"/>
                        </a:rPr>
                        <a:t> </a:t>
                      </a:r>
                      <a:r>
                        <a:rPr sz="900" dirty="0">
                          <a:latin typeface="Arial"/>
                          <a:cs typeface="Arial"/>
                        </a:rPr>
                        <a:t>AQ</a:t>
                      </a:r>
                      <a:r>
                        <a:rPr sz="900" spc="-25" dirty="0">
                          <a:latin typeface="Arial"/>
                          <a:cs typeface="Arial"/>
                        </a:rPr>
                        <a:t> </a:t>
                      </a:r>
                      <a:r>
                        <a:rPr sz="900" dirty="0">
                          <a:latin typeface="Arial"/>
                          <a:cs typeface="Arial"/>
                        </a:rPr>
                        <a:t>series</a:t>
                      </a:r>
                    </a:p>
                  </a:txBody>
                  <a:tcPr marL="0" marR="0" marT="47625"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nSpc>
                          <a:spcPct val="100000"/>
                        </a:lnSpc>
                      </a:pPr>
                      <a:endParaRPr sz="900" dirty="0">
                        <a:latin typeface="Times New Roman"/>
                        <a:cs typeface="Times New Roman"/>
                      </a:endParaRPr>
                    </a:p>
                  </a:txBody>
                  <a:tcPr marL="0" marR="0" marT="0" marB="0">
                    <a:lnL w="3175">
                      <a:solidFill>
                        <a:srgbClr val="000000"/>
                      </a:solidFill>
                      <a:prstDash val="solid"/>
                    </a:lnL>
                    <a:lnR w="12700">
                      <a:solidFill>
                        <a:srgbClr val="FFFFFF"/>
                      </a:solidFill>
                      <a:prstDash val="solid"/>
                    </a:lnR>
                    <a:lnT w="3175">
                      <a:solidFill>
                        <a:srgbClr val="000000"/>
                      </a:solidFill>
                      <a:prstDash val="solid"/>
                    </a:lnT>
                    <a:lnB w="3175">
                      <a:solidFill>
                        <a:srgbClr val="000000"/>
                      </a:solidFill>
                      <a:prstDash val="solid"/>
                    </a:lnB>
                  </a:tcPr>
                </a:tc>
                <a:extLst>
                  <a:ext uri="{0D108BD9-81ED-4DB2-BD59-A6C34878D82A}">
                    <a16:rowId xmlns:a16="http://schemas.microsoft.com/office/drawing/2014/main" val="10005"/>
                  </a:ext>
                </a:extLst>
              </a:tr>
              <a:tr h="245110">
                <a:tc>
                  <a:txBody>
                    <a:bodyPr/>
                    <a:lstStyle/>
                    <a:p>
                      <a:pPr algn="ctr">
                        <a:lnSpc>
                          <a:spcPct val="100000"/>
                        </a:lnSpc>
                        <a:spcBef>
                          <a:spcPts val="380"/>
                        </a:spcBef>
                      </a:pPr>
                      <a:r>
                        <a:rPr sz="900" spc="-5" dirty="0">
                          <a:latin typeface="Arial"/>
                          <a:cs typeface="Arial"/>
                        </a:rPr>
                        <a:t>CS6</a:t>
                      </a:r>
                      <a:endParaRPr sz="900" dirty="0">
                        <a:latin typeface="Arial"/>
                        <a:cs typeface="Arial"/>
                      </a:endParaRPr>
                    </a:p>
                  </a:txBody>
                  <a:tcPr marL="0" marR="0" marT="48260" marB="0">
                    <a:lnL w="12700">
                      <a:solidFill>
                        <a:srgbClr val="FFFFFF"/>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L="1270" algn="ctr">
                        <a:lnSpc>
                          <a:spcPct val="100000"/>
                        </a:lnSpc>
                        <a:spcBef>
                          <a:spcPts val="380"/>
                        </a:spcBef>
                      </a:pPr>
                      <a:r>
                        <a:rPr sz="900" spc="-5" dirty="0">
                          <a:latin typeface="Arial"/>
                          <a:cs typeface="Arial"/>
                        </a:rPr>
                        <a:t>18</a:t>
                      </a:r>
                      <a:endParaRPr sz="900" dirty="0">
                        <a:latin typeface="Arial"/>
                        <a:cs typeface="Arial"/>
                      </a:endParaRPr>
                    </a:p>
                  </a:txBody>
                  <a:tcPr marL="0" marR="0" marT="4826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R="210185" algn="r">
                        <a:lnSpc>
                          <a:spcPct val="100000"/>
                        </a:lnSpc>
                        <a:spcBef>
                          <a:spcPts val="380"/>
                        </a:spcBef>
                      </a:pPr>
                      <a:r>
                        <a:rPr sz="900" dirty="0">
                          <a:latin typeface="Arial"/>
                          <a:cs typeface="Arial"/>
                        </a:rPr>
                        <a:t>O</a:t>
                      </a:r>
                    </a:p>
                  </a:txBody>
                  <a:tcPr marL="0" marR="0" marT="4826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R="412115" algn="r">
                        <a:lnSpc>
                          <a:spcPct val="100000"/>
                        </a:lnSpc>
                        <a:spcBef>
                          <a:spcPts val="380"/>
                        </a:spcBef>
                      </a:pPr>
                      <a:r>
                        <a:rPr sz="900" dirty="0">
                          <a:latin typeface="Arial"/>
                          <a:cs typeface="Arial"/>
                        </a:rPr>
                        <a:t>Digital</a:t>
                      </a:r>
                    </a:p>
                  </a:txBody>
                  <a:tcPr marL="0" marR="0" marT="4826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gn="ctr">
                        <a:lnSpc>
                          <a:spcPct val="100000"/>
                        </a:lnSpc>
                        <a:spcBef>
                          <a:spcPts val="380"/>
                        </a:spcBef>
                      </a:pPr>
                      <a:r>
                        <a:rPr sz="900" dirty="0">
                          <a:latin typeface="Arial"/>
                          <a:cs typeface="Arial"/>
                        </a:rPr>
                        <a:t>Chip</a:t>
                      </a:r>
                      <a:r>
                        <a:rPr sz="900" spc="-30" dirty="0">
                          <a:latin typeface="Arial"/>
                          <a:cs typeface="Arial"/>
                        </a:rPr>
                        <a:t> </a:t>
                      </a:r>
                      <a:r>
                        <a:rPr sz="900" dirty="0">
                          <a:latin typeface="Arial"/>
                          <a:cs typeface="Arial"/>
                        </a:rPr>
                        <a:t>Select</a:t>
                      </a:r>
                      <a:r>
                        <a:rPr sz="900" spc="-40" dirty="0">
                          <a:latin typeface="Arial"/>
                          <a:cs typeface="Arial"/>
                        </a:rPr>
                        <a:t> </a:t>
                      </a:r>
                      <a:r>
                        <a:rPr sz="900" dirty="0">
                          <a:latin typeface="Arial"/>
                          <a:cs typeface="Arial"/>
                        </a:rPr>
                        <a:t>to</a:t>
                      </a:r>
                      <a:r>
                        <a:rPr sz="900" spc="-25" dirty="0">
                          <a:latin typeface="Arial"/>
                          <a:cs typeface="Arial"/>
                        </a:rPr>
                        <a:t> </a:t>
                      </a:r>
                      <a:r>
                        <a:rPr sz="900" dirty="0">
                          <a:latin typeface="Arial"/>
                          <a:cs typeface="Arial"/>
                        </a:rPr>
                        <a:t>AQ</a:t>
                      </a:r>
                      <a:r>
                        <a:rPr sz="900" spc="-15" dirty="0">
                          <a:latin typeface="Arial"/>
                          <a:cs typeface="Arial"/>
                        </a:rPr>
                        <a:t> </a:t>
                      </a:r>
                      <a:r>
                        <a:rPr sz="900" dirty="0">
                          <a:latin typeface="Arial"/>
                          <a:cs typeface="Arial"/>
                        </a:rPr>
                        <a:t>series</a:t>
                      </a:r>
                    </a:p>
                  </a:txBody>
                  <a:tcPr marL="0" marR="0" marT="4826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nSpc>
                          <a:spcPct val="100000"/>
                        </a:lnSpc>
                      </a:pPr>
                      <a:endParaRPr sz="900" dirty="0">
                        <a:latin typeface="Times New Roman"/>
                        <a:cs typeface="Times New Roman"/>
                      </a:endParaRPr>
                    </a:p>
                  </a:txBody>
                  <a:tcPr marL="0" marR="0" marT="0" marB="0">
                    <a:lnL w="3175">
                      <a:solidFill>
                        <a:srgbClr val="000000"/>
                      </a:solidFill>
                      <a:prstDash val="solid"/>
                    </a:lnL>
                    <a:lnR w="12700">
                      <a:solidFill>
                        <a:srgbClr val="FFFFFF"/>
                      </a:solidFill>
                      <a:prstDash val="solid"/>
                    </a:lnR>
                    <a:lnT w="3175">
                      <a:solidFill>
                        <a:srgbClr val="000000"/>
                      </a:solidFill>
                      <a:prstDash val="solid"/>
                    </a:lnT>
                    <a:lnB w="3175">
                      <a:solidFill>
                        <a:srgbClr val="000000"/>
                      </a:solidFill>
                      <a:prstDash val="solid"/>
                    </a:lnB>
                  </a:tcPr>
                </a:tc>
                <a:extLst>
                  <a:ext uri="{0D108BD9-81ED-4DB2-BD59-A6C34878D82A}">
                    <a16:rowId xmlns:a16="http://schemas.microsoft.com/office/drawing/2014/main" val="10006"/>
                  </a:ext>
                </a:extLst>
              </a:tr>
              <a:tr h="245110">
                <a:tc>
                  <a:txBody>
                    <a:bodyPr/>
                    <a:lstStyle/>
                    <a:p>
                      <a:pPr marL="203200">
                        <a:lnSpc>
                          <a:spcPct val="100000"/>
                        </a:lnSpc>
                        <a:spcBef>
                          <a:spcPts val="380"/>
                        </a:spcBef>
                      </a:pPr>
                      <a:r>
                        <a:rPr sz="900" spc="-5" dirty="0">
                          <a:latin typeface="Arial"/>
                          <a:cs typeface="Arial"/>
                        </a:rPr>
                        <a:t>VSSA1</a:t>
                      </a:r>
                      <a:endParaRPr sz="900" dirty="0">
                        <a:latin typeface="Arial"/>
                        <a:cs typeface="Arial"/>
                      </a:endParaRPr>
                    </a:p>
                  </a:txBody>
                  <a:tcPr marL="0" marR="0" marT="48260" marB="0">
                    <a:lnL w="12700">
                      <a:solidFill>
                        <a:srgbClr val="FFFFFF"/>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L="1270" algn="ctr">
                        <a:lnSpc>
                          <a:spcPct val="100000"/>
                        </a:lnSpc>
                        <a:spcBef>
                          <a:spcPts val="380"/>
                        </a:spcBef>
                      </a:pPr>
                      <a:r>
                        <a:rPr sz="900" spc="-5" dirty="0">
                          <a:latin typeface="Arial"/>
                          <a:cs typeface="Arial"/>
                        </a:rPr>
                        <a:t>19</a:t>
                      </a:r>
                      <a:endParaRPr sz="900" dirty="0">
                        <a:latin typeface="Arial"/>
                        <a:cs typeface="Arial"/>
                      </a:endParaRPr>
                    </a:p>
                  </a:txBody>
                  <a:tcPr marL="0" marR="0" marT="4826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R="235585" algn="r">
                        <a:lnSpc>
                          <a:spcPct val="100000"/>
                        </a:lnSpc>
                        <a:spcBef>
                          <a:spcPts val="380"/>
                        </a:spcBef>
                      </a:pPr>
                      <a:r>
                        <a:rPr sz="900" dirty="0">
                          <a:latin typeface="Arial"/>
                          <a:cs typeface="Arial"/>
                        </a:rPr>
                        <a:t>-</a:t>
                      </a:r>
                    </a:p>
                  </a:txBody>
                  <a:tcPr marL="0" marR="0" marT="4826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L="1270" algn="ctr">
                        <a:lnSpc>
                          <a:spcPct val="100000"/>
                        </a:lnSpc>
                        <a:spcBef>
                          <a:spcPts val="380"/>
                        </a:spcBef>
                      </a:pPr>
                      <a:r>
                        <a:rPr sz="900" spc="-5" dirty="0">
                          <a:latin typeface="Arial"/>
                          <a:cs typeface="Arial"/>
                        </a:rPr>
                        <a:t>GND</a:t>
                      </a:r>
                      <a:endParaRPr sz="900" dirty="0">
                        <a:latin typeface="Arial"/>
                        <a:cs typeface="Arial"/>
                      </a:endParaRPr>
                    </a:p>
                  </a:txBody>
                  <a:tcPr marL="0" marR="0" marT="4826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gn="ctr">
                        <a:lnSpc>
                          <a:spcPct val="100000"/>
                        </a:lnSpc>
                        <a:spcBef>
                          <a:spcPts val="380"/>
                        </a:spcBef>
                      </a:pPr>
                      <a:r>
                        <a:rPr sz="900" spc="-5" dirty="0">
                          <a:latin typeface="Arial"/>
                          <a:cs typeface="Arial"/>
                        </a:rPr>
                        <a:t>Analog</a:t>
                      </a:r>
                      <a:r>
                        <a:rPr sz="900" spc="-50" dirty="0">
                          <a:latin typeface="Arial"/>
                          <a:cs typeface="Arial"/>
                        </a:rPr>
                        <a:t> </a:t>
                      </a:r>
                      <a:r>
                        <a:rPr sz="900" spc="-5" dirty="0">
                          <a:latin typeface="Arial"/>
                          <a:cs typeface="Arial"/>
                        </a:rPr>
                        <a:t>GND</a:t>
                      </a:r>
                      <a:endParaRPr sz="900" dirty="0">
                        <a:latin typeface="Arial"/>
                        <a:cs typeface="Arial"/>
                      </a:endParaRPr>
                    </a:p>
                  </a:txBody>
                  <a:tcPr marL="0" marR="0" marT="4826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nSpc>
                          <a:spcPct val="100000"/>
                        </a:lnSpc>
                      </a:pPr>
                      <a:endParaRPr sz="900" dirty="0">
                        <a:latin typeface="Times New Roman"/>
                        <a:cs typeface="Times New Roman"/>
                      </a:endParaRPr>
                    </a:p>
                  </a:txBody>
                  <a:tcPr marL="0" marR="0" marT="0" marB="0">
                    <a:lnL w="3175">
                      <a:solidFill>
                        <a:srgbClr val="000000"/>
                      </a:solidFill>
                      <a:prstDash val="solid"/>
                    </a:lnL>
                    <a:lnR w="12700">
                      <a:solidFill>
                        <a:srgbClr val="FFFFFF"/>
                      </a:solidFill>
                      <a:prstDash val="solid"/>
                    </a:lnR>
                    <a:lnT w="3175">
                      <a:solidFill>
                        <a:srgbClr val="000000"/>
                      </a:solidFill>
                      <a:prstDash val="solid"/>
                    </a:lnT>
                    <a:lnB w="3175">
                      <a:solidFill>
                        <a:srgbClr val="000000"/>
                      </a:solidFill>
                      <a:prstDash val="solid"/>
                    </a:lnB>
                  </a:tcPr>
                </a:tc>
                <a:extLst>
                  <a:ext uri="{0D108BD9-81ED-4DB2-BD59-A6C34878D82A}">
                    <a16:rowId xmlns:a16="http://schemas.microsoft.com/office/drawing/2014/main" val="10007"/>
                  </a:ext>
                </a:extLst>
              </a:tr>
              <a:tr h="244475">
                <a:tc>
                  <a:txBody>
                    <a:bodyPr/>
                    <a:lstStyle/>
                    <a:p>
                      <a:pPr marL="200025">
                        <a:lnSpc>
                          <a:spcPct val="100000"/>
                        </a:lnSpc>
                        <a:spcBef>
                          <a:spcPts val="380"/>
                        </a:spcBef>
                      </a:pPr>
                      <a:r>
                        <a:rPr sz="900" spc="-5" dirty="0">
                          <a:latin typeface="Arial"/>
                          <a:cs typeface="Arial"/>
                        </a:rPr>
                        <a:t>ADO24</a:t>
                      </a:r>
                      <a:endParaRPr sz="900" dirty="0">
                        <a:latin typeface="Arial"/>
                        <a:cs typeface="Arial"/>
                      </a:endParaRPr>
                    </a:p>
                  </a:txBody>
                  <a:tcPr marL="0" marR="0" marT="48260" marB="0">
                    <a:lnL w="12700">
                      <a:solidFill>
                        <a:srgbClr val="FFFFFF"/>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L="1270" algn="ctr">
                        <a:lnSpc>
                          <a:spcPct val="100000"/>
                        </a:lnSpc>
                        <a:spcBef>
                          <a:spcPts val="380"/>
                        </a:spcBef>
                      </a:pPr>
                      <a:r>
                        <a:rPr sz="900" spc="-5" dirty="0">
                          <a:latin typeface="Arial"/>
                          <a:cs typeface="Arial"/>
                        </a:rPr>
                        <a:t>20</a:t>
                      </a:r>
                      <a:endParaRPr sz="900" dirty="0">
                        <a:latin typeface="Arial"/>
                        <a:cs typeface="Arial"/>
                      </a:endParaRPr>
                    </a:p>
                  </a:txBody>
                  <a:tcPr marL="0" marR="0" marT="4826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R="210185" algn="r">
                        <a:lnSpc>
                          <a:spcPct val="100000"/>
                        </a:lnSpc>
                        <a:spcBef>
                          <a:spcPts val="380"/>
                        </a:spcBef>
                      </a:pPr>
                      <a:r>
                        <a:rPr sz="900" dirty="0">
                          <a:latin typeface="Arial"/>
                          <a:cs typeface="Arial"/>
                        </a:rPr>
                        <a:t>O</a:t>
                      </a:r>
                    </a:p>
                  </a:txBody>
                  <a:tcPr marL="0" marR="0" marT="4826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R="393700" algn="r">
                        <a:lnSpc>
                          <a:spcPct val="100000"/>
                        </a:lnSpc>
                        <a:spcBef>
                          <a:spcPts val="380"/>
                        </a:spcBef>
                      </a:pPr>
                      <a:r>
                        <a:rPr sz="900" spc="-5" dirty="0">
                          <a:latin typeface="Arial"/>
                          <a:cs typeface="Arial"/>
                        </a:rPr>
                        <a:t>Analog</a:t>
                      </a:r>
                      <a:endParaRPr sz="900" dirty="0">
                        <a:latin typeface="Arial"/>
                        <a:cs typeface="Arial"/>
                      </a:endParaRPr>
                    </a:p>
                  </a:txBody>
                  <a:tcPr marL="0" marR="0" marT="4826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gn="ctr">
                        <a:lnSpc>
                          <a:spcPct val="100000"/>
                        </a:lnSpc>
                        <a:spcBef>
                          <a:spcPts val="380"/>
                        </a:spcBef>
                      </a:pPr>
                      <a:r>
                        <a:rPr sz="900" spc="-5" dirty="0">
                          <a:latin typeface="Arial"/>
                          <a:cs typeface="Arial"/>
                        </a:rPr>
                        <a:t>Analog</a:t>
                      </a:r>
                      <a:r>
                        <a:rPr sz="900" spc="-40" dirty="0">
                          <a:latin typeface="Arial"/>
                          <a:cs typeface="Arial"/>
                        </a:rPr>
                        <a:t> </a:t>
                      </a:r>
                      <a:r>
                        <a:rPr sz="900" dirty="0">
                          <a:latin typeface="Arial"/>
                          <a:cs typeface="Arial"/>
                        </a:rPr>
                        <a:t>Data</a:t>
                      </a:r>
                      <a:r>
                        <a:rPr sz="900" spc="-30" dirty="0">
                          <a:latin typeface="Arial"/>
                          <a:cs typeface="Arial"/>
                        </a:rPr>
                        <a:t> </a:t>
                      </a:r>
                      <a:r>
                        <a:rPr sz="900" spc="-5" dirty="0">
                          <a:latin typeface="Arial"/>
                          <a:cs typeface="Arial"/>
                        </a:rPr>
                        <a:t>Out</a:t>
                      </a:r>
                      <a:endParaRPr sz="900" dirty="0">
                        <a:latin typeface="Arial"/>
                        <a:cs typeface="Arial"/>
                      </a:endParaRPr>
                    </a:p>
                  </a:txBody>
                  <a:tcPr marL="0" marR="0" marT="4826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nSpc>
                          <a:spcPct val="100000"/>
                        </a:lnSpc>
                      </a:pPr>
                      <a:endParaRPr sz="900" dirty="0">
                        <a:latin typeface="Times New Roman"/>
                        <a:cs typeface="Times New Roman"/>
                      </a:endParaRPr>
                    </a:p>
                  </a:txBody>
                  <a:tcPr marL="0" marR="0" marT="0" marB="0">
                    <a:lnL w="3175">
                      <a:solidFill>
                        <a:srgbClr val="000000"/>
                      </a:solidFill>
                      <a:prstDash val="solid"/>
                    </a:lnL>
                    <a:lnR w="12700">
                      <a:solidFill>
                        <a:srgbClr val="FFFFFF"/>
                      </a:solidFill>
                      <a:prstDash val="solid"/>
                    </a:lnR>
                    <a:lnT w="3175">
                      <a:solidFill>
                        <a:srgbClr val="000000"/>
                      </a:solidFill>
                      <a:prstDash val="solid"/>
                    </a:lnT>
                    <a:lnB w="3175">
                      <a:solidFill>
                        <a:srgbClr val="000000"/>
                      </a:solidFill>
                      <a:prstDash val="solid"/>
                    </a:lnB>
                  </a:tcPr>
                </a:tc>
                <a:extLst>
                  <a:ext uri="{0D108BD9-81ED-4DB2-BD59-A6C34878D82A}">
                    <a16:rowId xmlns:a16="http://schemas.microsoft.com/office/drawing/2014/main" val="10008"/>
                  </a:ext>
                </a:extLst>
              </a:tr>
              <a:tr h="245110">
                <a:tc>
                  <a:txBody>
                    <a:bodyPr/>
                    <a:lstStyle/>
                    <a:p>
                      <a:pPr marL="200025">
                        <a:lnSpc>
                          <a:spcPct val="100000"/>
                        </a:lnSpc>
                        <a:spcBef>
                          <a:spcPts val="380"/>
                        </a:spcBef>
                      </a:pPr>
                      <a:r>
                        <a:rPr sz="900" spc="-5" dirty="0">
                          <a:latin typeface="Arial"/>
                          <a:cs typeface="Arial"/>
                        </a:rPr>
                        <a:t>ADO23</a:t>
                      </a:r>
                      <a:endParaRPr sz="900" dirty="0">
                        <a:latin typeface="Arial"/>
                        <a:cs typeface="Arial"/>
                      </a:endParaRPr>
                    </a:p>
                  </a:txBody>
                  <a:tcPr marL="0" marR="0" marT="48260" marB="0">
                    <a:lnL w="12700">
                      <a:solidFill>
                        <a:srgbClr val="FFFFFF"/>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L="1270" algn="ctr">
                        <a:lnSpc>
                          <a:spcPct val="100000"/>
                        </a:lnSpc>
                        <a:spcBef>
                          <a:spcPts val="380"/>
                        </a:spcBef>
                      </a:pPr>
                      <a:r>
                        <a:rPr sz="900" spc="-5" dirty="0">
                          <a:latin typeface="Arial"/>
                          <a:cs typeface="Arial"/>
                        </a:rPr>
                        <a:t>21</a:t>
                      </a:r>
                      <a:endParaRPr sz="900" dirty="0">
                        <a:latin typeface="Arial"/>
                        <a:cs typeface="Arial"/>
                      </a:endParaRPr>
                    </a:p>
                  </a:txBody>
                  <a:tcPr marL="0" marR="0" marT="4826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R="210185" algn="r">
                        <a:lnSpc>
                          <a:spcPct val="100000"/>
                        </a:lnSpc>
                        <a:spcBef>
                          <a:spcPts val="380"/>
                        </a:spcBef>
                      </a:pPr>
                      <a:r>
                        <a:rPr sz="900" dirty="0">
                          <a:latin typeface="Arial"/>
                          <a:cs typeface="Arial"/>
                        </a:rPr>
                        <a:t>O</a:t>
                      </a:r>
                    </a:p>
                  </a:txBody>
                  <a:tcPr marL="0" marR="0" marT="4826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R="393700" algn="r">
                        <a:lnSpc>
                          <a:spcPct val="100000"/>
                        </a:lnSpc>
                        <a:spcBef>
                          <a:spcPts val="380"/>
                        </a:spcBef>
                      </a:pPr>
                      <a:r>
                        <a:rPr sz="900" spc="-5" dirty="0">
                          <a:latin typeface="Arial"/>
                          <a:cs typeface="Arial"/>
                        </a:rPr>
                        <a:t>Analog</a:t>
                      </a:r>
                      <a:endParaRPr sz="900" dirty="0">
                        <a:latin typeface="Arial"/>
                        <a:cs typeface="Arial"/>
                      </a:endParaRPr>
                    </a:p>
                  </a:txBody>
                  <a:tcPr marL="0" marR="0" marT="4826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gn="ctr">
                        <a:lnSpc>
                          <a:spcPct val="100000"/>
                        </a:lnSpc>
                        <a:spcBef>
                          <a:spcPts val="380"/>
                        </a:spcBef>
                      </a:pPr>
                      <a:r>
                        <a:rPr sz="900" spc="-5" dirty="0">
                          <a:latin typeface="Arial"/>
                          <a:cs typeface="Arial"/>
                        </a:rPr>
                        <a:t>Analog</a:t>
                      </a:r>
                      <a:r>
                        <a:rPr sz="900" spc="-40" dirty="0">
                          <a:latin typeface="Arial"/>
                          <a:cs typeface="Arial"/>
                        </a:rPr>
                        <a:t> </a:t>
                      </a:r>
                      <a:r>
                        <a:rPr sz="900" dirty="0">
                          <a:latin typeface="Arial"/>
                          <a:cs typeface="Arial"/>
                        </a:rPr>
                        <a:t>Data</a:t>
                      </a:r>
                      <a:r>
                        <a:rPr sz="900" spc="-30" dirty="0">
                          <a:latin typeface="Arial"/>
                          <a:cs typeface="Arial"/>
                        </a:rPr>
                        <a:t> </a:t>
                      </a:r>
                      <a:r>
                        <a:rPr sz="900" spc="-5" dirty="0">
                          <a:latin typeface="Arial"/>
                          <a:cs typeface="Arial"/>
                        </a:rPr>
                        <a:t>Out</a:t>
                      </a:r>
                      <a:endParaRPr sz="900" dirty="0">
                        <a:latin typeface="Arial"/>
                        <a:cs typeface="Arial"/>
                      </a:endParaRPr>
                    </a:p>
                  </a:txBody>
                  <a:tcPr marL="0" marR="0" marT="4826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nSpc>
                          <a:spcPct val="100000"/>
                        </a:lnSpc>
                      </a:pPr>
                      <a:endParaRPr sz="900" dirty="0">
                        <a:latin typeface="Times New Roman"/>
                        <a:cs typeface="Times New Roman"/>
                      </a:endParaRPr>
                    </a:p>
                  </a:txBody>
                  <a:tcPr marL="0" marR="0" marT="0" marB="0">
                    <a:lnL w="3175">
                      <a:solidFill>
                        <a:srgbClr val="000000"/>
                      </a:solidFill>
                      <a:prstDash val="solid"/>
                    </a:lnL>
                    <a:lnR w="12700">
                      <a:solidFill>
                        <a:srgbClr val="FFFFFF"/>
                      </a:solidFill>
                      <a:prstDash val="solid"/>
                    </a:lnR>
                    <a:lnT w="3175">
                      <a:solidFill>
                        <a:srgbClr val="000000"/>
                      </a:solidFill>
                      <a:prstDash val="solid"/>
                    </a:lnT>
                    <a:lnB w="3175">
                      <a:solidFill>
                        <a:srgbClr val="000000"/>
                      </a:solidFill>
                      <a:prstDash val="solid"/>
                    </a:lnB>
                  </a:tcPr>
                </a:tc>
                <a:extLst>
                  <a:ext uri="{0D108BD9-81ED-4DB2-BD59-A6C34878D82A}">
                    <a16:rowId xmlns:a16="http://schemas.microsoft.com/office/drawing/2014/main" val="10009"/>
                  </a:ext>
                </a:extLst>
              </a:tr>
              <a:tr h="245110">
                <a:tc>
                  <a:txBody>
                    <a:bodyPr/>
                    <a:lstStyle/>
                    <a:p>
                      <a:pPr marL="200025">
                        <a:lnSpc>
                          <a:spcPct val="100000"/>
                        </a:lnSpc>
                        <a:spcBef>
                          <a:spcPts val="380"/>
                        </a:spcBef>
                      </a:pPr>
                      <a:r>
                        <a:rPr sz="900" spc="-5" dirty="0">
                          <a:latin typeface="Arial"/>
                          <a:cs typeface="Arial"/>
                        </a:rPr>
                        <a:t>ADO22</a:t>
                      </a:r>
                      <a:endParaRPr sz="900" dirty="0">
                        <a:latin typeface="Arial"/>
                        <a:cs typeface="Arial"/>
                      </a:endParaRPr>
                    </a:p>
                  </a:txBody>
                  <a:tcPr marL="0" marR="0" marT="48260" marB="0">
                    <a:lnL w="12700">
                      <a:solidFill>
                        <a:srgbClr val="FFFFFF"/>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L="1270" algn="ctr">
                        <a:lnSpc>
                          <a:spcPct val="100000"/>
                        </a:lnSpc>
                        <a:spcBef>
                          <a:spcPts val="380"/>
                        </a:spcBef>
                      </a:pPr>
                      <a:r>
                        <a:rPr sz="900" spc="-5" dirty="0">
                          <a:latin typeface="Arial"/>
                          <a:cs typeface="Arial"/>
                        </a:rPr>
                        <a:t>22</a:t>
                      </a:r>
                      <a:endParaRPr sz="900" dirty="0">
                        <a:latin typeface="Arial"/>
                        <a:cs typeface="Arial"/>
                      </a:endParaRPr>
                    </a:p>
                  </a:txBody>
                  <a:tcPr marL="0" marR="0" marT="4826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R="210185" algn="r">
                        <a:lnSpc>
                          <a:spcPct val="100000"/>
                        </a:lnSpc>
                        <a:spcBef>
                          <a:spcPts val="380"/>
                        </a:spcBef>
                      </a:pPr>
                      <a:r>
                        <a:rPr sz="900" dirty="0">
                          <a:latin typeface="Arial"/>
                          <a:cs typeface="Arial"/>
                        </a:rPr>
                        <a:t>O</a:t>
                      </a:r>
                    </a:p>
                  </a:txBody>
                  <a:tcPr marL="0" marR="0" marT="4826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R="393700" algn="r">
                        <a:lnSpc>
                          <a:spcPct val="100000"/>
                        </a:lnSpc>
                        <a:spcBef>
                          <a:spcPts val="380"/>
                        </a:spcBef>
                      </a:pPr>
                      <a:r>
                        <a:rPr sz="900" spc="-5" dirty="0">
                          <a:latin typeface="Arial"/>
                          <a:cs typeface="Arial"/>
                        </a:rPr>
                        <a:t>Analog</a:t>
                      </a:r>
                      <a:endParaRPr sz="900" dirty="0">
                        <a:latin typeface="Arial"/>
                        <a:cs typeface="Arial"/>
                      </a:endParaRPr>
                    </a:p>
                  </a:txBody>
                  <a:tcPr marL="0" marR="0" marT="4826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gn="ctr">
                        <a:lnSpc>
                          <a:spcPct val="100000"/>
                        </a:lnSpc>
                        <a:spcBef>
                          <a:spcPts val="380"/>
                        </a:spcBef>
                      </a:pPr>
                      <a:r>
                        <a:rPr sz="900" spc="-5" dirty="0">
                          <a:latin typeface="Arial"/>
                          <a:cs typeface="Arial"/>
                        </a:rPr>
                        <a:t>Analog</a:t>
                      </a:r>
                      <a:r>
                        <a:rPr sz="900" spc="-40" dirty="0">
                          <a:latin typeface="Arial"/>
                          <a:cs typeface="Arial"/>
                        </a:rPr>
                        <a:t> </a:t>
                      </a:r>
                      <a:r>
                        <a:rPr sz="900" dirty="0">
                          <a:latin typeface="Arial"/>
                          <a:cs typeface="Arial"/>
                        </a:rPr>
                        <a:t>Data</a:t>
                      </a:r>
                      <a:r>
                        <a:rPr sz="900" spc="-30" dirty="0">
                          <a:latin typeface="Arial"/>
                          <a:cs typeface="Arial"/>
                        </a:rPr>
                        <a:t> </a:t>
                      </a:r>
                      <a:r>
                        <a:rPr sz="900" spc="-5" dirty="0">
                          <a:latin typeface="Arial"/>
                          <a:cs typeface="Arial"/>
                        </a:rPr>
                        <a:t>Out</a:t>
                      </a:r>
                      <a:endParaRPr sz="900" dirty="0">
                        <a:latin typeface="Arial"/>
                        <a:cs typeface="Arial"/>
                      </a:endParaRPr>
                    </a:p>
                  </a:txBody>
                  <a:tcPr marL="0" marR="0" marT="4826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nSpc>
                          <a:spcPct val="100000"/>
                        </a:lnSpc>
                      </a:pPr>
                      <a:endParaRPr sz="900" dirty="0">
                        <a:latin typeface="Times New Roman"/>
                        <a:cs typeface="Times New Roman"/>
                      </a:endParaRPr>
                    </a:p>
                  </a:txBody>
                  <a:tcPr marL="0" marR="0" marT="0" marB="0">
                    <a:lnL w="3175">
                      <a:solidFill>
                        <a:srgbClr val="000000"/>
                      </a:solidFill>
                      <a:prstDash val="solid"/>
                    </a:lnL>
                    <a:lnR w="12700">
                      <a:solidFill>
                        <a:srgbClr val="FFFFFF"/>
                      </a:solidFill>
                      <a:prstDash val="solid"/>
                    </a:lnR>
                    <a:lnT w="3175">
                      <a:solidFill>
                        <a:srgbClr val="000000"/>
                      </a:solidFill>
                      <a:prstDash val="solid"/>
                    </a:lnT>
                    <a:lnB w="3175">
                      <a:solidFill>
                        <a:srgbClr val="000000"/>
                      </a:solidFill>
                      <a:prstDash val="solid"/>
                    </a:lnB>
                  </a:tcPr>
                </a:tc>
                <a:extLst>
                  <a:ext uri="{0D108BD9-81ED-4DB2-BD59-A6C34878D82A}">
                    <a16:rowId xmlns:a16="http://schemas.microsoft.com/office/drawing/2014/main" val="10010"/>
                  </a:ext>
                </a:extLst>
              </a:tr>
              <a:tr h="245110">
                <a:tc>
                  <a:txBody>
                    <a:bodyPr/>
                    <a:lstStyle/>
                    <a:p>
                      <a:pPr marL="200025">
                        <a:lnSpc>
                          <a:spcPct val="100000"/>
                        </a:lnSpc>
                        <a:spcBef>
                          <a:spcPts val="380"/>
                        </a:spcBef>
                      </a:pPr>
                      <a:r>
                        <a:rPr sz="900" spc="-5" dirty="0">
                          <a:latin typeface="Arial"/>
                          <a:cs typeface="Arial"/>
                        </a:rPr>
                        <a:t>ADO21</a:t>
                      </a:r>
                      <a:endParaRPr sz="900" dirty="0">
                        <a:latin typeface="Arial"/>
                        <a:cs typeface="Arial"/>
                      </a:endParaRPr>
                    </a:p>
                  </a:txBody>
                  <a:tcPr marL="0" marR="0" marT="48260" marB="0">
                    <a:lnL w="12700">
                      <a:solidFill>
                        <a:srgbClr val="FFFFFF"/>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L="1270" algn="ctr">
                        <a:lnSpc>
                          <a:spcPct val="100000"/>
                        </a:lnSpc>
                        <a:spcBef>
                          <a:spcPts val="380"/>
                        </a:spcBef>
                      </a:pPr>
                      <a:r>
                        <a:rPr sz="900" spc="-5" dirty="0">
                          <a:latin typeface="Arial"/>
                          <a:cs typeface="Arial"/>
                        </a:rPr>
                        <a:t>23</a:t>
                      </a:r>
                      <a:endParaRPr sz="900" dirty="0">
                        <a:latin typeface="Arial"/>
                        <a:cs typeface="Arial"/>
                      </a:endParaRPr>
                    </a:p>
                  </a:txBody>
                  <a:tcPr marL="0" marR="0" marT="4826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R="210185" algn="r">
                        <a:lnSpc>
                          <a:spcPct val="100000"/>
                        </a:lnSpc>
                        <a:spcBef>
                          <a:spcPts val="380"/>
                        </a:spcBef>
                      </a:pPr>
                      <a:r>
                        <a:rPr sz="900" dirty="0">
                          <a:latin typeface="Arial"/>
                          <a:cs typeface="Arial"/>
                        </a:rPr>
                        <a:t>O</a:t>
                      </a:r>
                    </a:p>
                  </a:txBody>
                  <a:tcPr marL="0" marR="0" marT="4826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R="393700" algn="r">
                        <a:lnSpc>
                          <a:spcPct val="100000"/>
                        </a:lnSpc>
                        <a:spcBef>
                          <a:spcPts val="380"/>
                        </a:spcBef>
                      </a:pPr>
                      <a:r>
                        <a:rPr sz="900" spc="-5" dirty="0">
                          <a:latin typeface="Arial"/>
                          <a:cs typeface="Arial"/>
                        </a:rPr>
                        <a:t>Analog</a:t>
                      </a:r>
                      <a:endParaRPr sz="900" dirty="0">
                        <a:latin typeface="Arial"/>
                        <a:cs typeface="Arial"/>
                      </a:endParaRPr>
                    </a:p>
                  </a:txBody>
                  <a:tcPr marL="0" marR="0" marT="4826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gn="ctr">
                        <a:lnSpc>
                          <a:spcPct val="100000"/>
                        </a:lnSpc>
                        <a:spcBef>
                          <a:spcPts val="380"/>
                        </a:spcBef>
                      </a:pPr>
                      <a:r>
                        <a:rPr sz="900" spc="-5" dirty="0">
                          <a:latin typeface="Arial"/>
                          <a:cs typeface="Arial"/>
                        </a:rPr>
                        <a:t>Analog</a:t>
                      </a:r>
                      <a:r>
                        <a:rPr sz="900" spc="-40" dirty="0">
                          <a:latin typeface="Arial"/>
                          <a:cs typeface="Arial"/>
                        </a:rPr>
                        <a:t> </a:t>
                      </a:r>
                      <a:r>
                        <a:rPr sz="900" dirty="0">
                          <a:latin typeface="Arial"/>
                          <a:cs typeface="Arial"/>
                        </a:rPr>
                        <a:t>Data</a:t>
                      </a:r>
                      <a:r>
                        <a:rPr sz="900" spc="-30" dirty="0">
                          <a:latin typeface="Arial"/>
                          <a:cs typeface="Arial"/>
                        </a:rPr>
                        <a:t> </a:t>
                      </a:r>
                      <a:r>
                        <a:rPr sz="900" spc="-5" dirty="0">
                          <a:latin typeface="Arial"/>
                          <a:cs typeface="Arial"/>
                        </a:rPr>
                        <a:t>Out</a:t>
                      </a:r>
                      <a:endParaRPr sz="900" dirty="0">
                        <a:latin typeface="Arial"/>
                        <a:cs typeface="Arial"/>
                      </a:endParaRPr>
                    </a:p>
                  </a:txBody>
                  <a:tcPr marL="0" marR="0" marT="4826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nSpc>
                          <a:spcPct val="100000"/>
                        </a:lnSpc>
                      </a:pPr>
                      <a:endParaRPr sz="900" dirty="0">
                        <a:latin typeface="Times New Roman"/>
                        <a:cs typeface="Times New Roman"/>
                      </a:endParaRPr>
                    </a:p>
                  </a:txBody>
                  <a:tcPr marL="0" marR="0" marT="0" marB="0">
                    <a:lnL w="3175">
                      <a:solidFill>
                        <a:srgbClr val="000000"/>
                      </a:solidFill>
                      <a:prstDash val="solid"/>
                    </a:lnL>
                    <a:lnR w="12700">
                      <a:solidFill>
                        <a:srgbClr val="FFFFFF"/>
                      </a:solidFill>
                      <a:prstDash val="solid"/>
                    </a:lnR>
                    <a:lnT w="3175">
                      <a:solidFill>
                        <a:srgbClr val="000000"/>
                      </a:solidFill>
                      <a:prstDash val="solid"/>
                    </a:lnT>
                    <a:lnB w="3175">
                      <a:solidFill>
                        <a:srgbClr val="000000"/>
                      </a:solidFill>
                      <a:prstDash val="solid"/>
                    </a:lnB>
                  </a:tcPr>
                </a:tc>
                <a:extLst>
                  <a:ext uri="{0D108BD9-81ED-4DB2-BD59-A6C34878D82A}">
                    <a16:rowId xmlns:a16="http://schemas.microsoft.com/office/drawing/2014/main" val="10011"/>
                  </a:ext>
                </a:extLst>
              </a:tr>
              <a:tr h="245110">
                <a:tc>
                  <a:txBody>
                    <a:bodyPr/>
                    <a:lstStyle/>
                    <a:p>
                      <a:pPr marL="200025">
                        <a:lnSpc>
                          <a:spcPct val="100000"/>
                        </a:lnSpc>
                        <a:spcBef>
                          <a:spcPts val="380"/>
                        </a:spcBef>
                      </a:pPr>
                      <a:r>
                        <a:rPr sz="900" spc="-5" dirty="0">
                          <a:latin typeface="Arial"/>
                          <a:cs typeface="Arial"/>
                        </a:rPr>
                        <a:t>ADO20</a:t>
                      </a:r>
                      <a:endParaRPr sz="900" dirty="0">
                        <a:latin typeface="Arial"/>
                        <a:cs typeface="Arial"/>
                      </a:endParaRPr>
                    </a:p>
                  </a:txBody>
                  <a:tcPr marL="0" marR="0" marT="48260" marB="0">
                    <a:lnL w="12700">
                      <a:solidFill>
                        <a:srgbClr val="FFFFFF"/>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L="1270" algn="ctr">
                        <a:lnSpc>
                          <a:spcPct val="100000"/>
                        </a:lnSpc>
                        <a:spcBef>
                          <a:spcPts val="380"/>
                        </a:spcBef>
                      </a:pPr>
                      <a:r>
                        <a:rPr sz="900" spc="-5" dirty="0">
                          <a:latin typeface="Arial"/>
                          <a:cs typeface="Arial"/>
                        </a:rPr>
                        <a:t>24</a:t>
                      </a:r>
                      <a:endParaRPr sz="900" dirty="0">
                        <a:latin typeface="Arial"/>
                        <a:cs typeface="Arial"/>
                      </a:endParaRPr>
                    </a:p>
                  </a:txBody>
                  <a:tcPr marL="0" marR="0" marT="4826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R="210185" algn="r">
                        <a:lnSpc>
                          <a:spcPct val="100000"/>
                        </a:lnSpc>
                        <a:spcBef>
                          <a:spcPts val="380"/>
                        </a:spcBef>
                      </a:pPr>
                      <a:r>
                        <a:rPr sz="900" dirty="0">
                          <a:latin typeface="Arial"/>
                          <a:cs typeface="Arial"/>
                        </a:rPr>
                        <a:t>O</a:t>
                      </a:r>
                    </a:p>
                  </a:txBody>
                  <a:tcPr marL="0" marR="0" marT="4826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R="393700" algn="r">
                        <a:lnSpc>
                          <a:spcPct val="100000"/>
                        </a:lnSpc>
                        <a:spcBef>
                          <a:spcPts val="380"/>
                        </a:spcBef>
                      </a:pPr>
                      <a:r>
                        <a:rPr sz="900" spc="-5" dirty="0">
                          <a:latin typeface="Arial"/>
                          <a:cs typeface="Arial"/>
                        </a:rPr>
                        <a:t>Analog</a:t>
                      </a:r>
                      <a:endParaRPr sz="900" dirty="0">
                        <a:latin typeface="Arial"/>
                        <a:cs typeface="Arial"/>
                      </a:endParaRPr>
                    </a:p>
                  </a:txBody>
                  <a:tcPr marL="0" marR="0" marT="4826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gn="ctr">
                        <a:lnSpc>
                          <a:spcPct val="100000"/>
                        </a:lnSpc>
                        <a:spcBef>
                          <a:spcPts val="380"/>
                        </a:spcBef>
                      </a:pPr>
                      <a:r>
                        <a:rPr sz="900" spc="-5" dirty="0">
                          <a:latin typeface="Arial"/>
                          <a:cs typeface="Arial"/>
                        </a:rPr>
                        <a:t>Analog</a:t>
                      </a:r>
                      <a:r>
                        <a:rPr sz="900" spc="-40" dirty="0">
                          <a:latin typeface="Arial"/>
                          <a:cs typeface="Arial"/>
                        </a:rPr>
                        <a:t> </a:t>
                      </a:r>
                      <a:r>
                        <a:rPr sz="900" dirty="0">
                          <a:latin typeface="Arial"/>
                          <a:cs typeface="Arial"/>
                        </a:rPr>
                        <a:t>Data</a:t>
                      </a:r>
                      <a:r>
                        <a:rPr sz="900" spc="-30" dirty="0">
                          <a:latin typeface="Arial"/>
                          <a:cs typeface="Arial"/>
                        </a:rPr>
                        <a:t> </a:t>
                      </a:r>
                      <a:r>
                        <a:rPr sz="900" spc="-5" dirty="0">
                          <a:latin typeface="Arial"/>
                          <a:cs typeface="Arial"/>
                        </a:rPr>
                        <a:t>Out</a:t>
                      </a:r>
                      <a:endParaRPr sz="900" dirty="0">
                        <a:latin typeface="Arial"/>
                        <a:cs typeface="Arial"/>
                      </a:endParaRPr>
                    </a:p>
                  </a:txBody>
                  <a:tcPr marL="0" marR="0" marT="4826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nSpc>
                          <a:spcPct val="100000"/>
                        </a:lnSpc>
                      </a:pPr>
                      <a:endParaRPr sz="900" dirty="0">
                        <a:latin typeface="Times New Roman"/>
                        <a:cs typeface="Times New Roman"/>
                      </a:endParaRPr>
                    </a:p>
                  </a:txBody>
                  <a:tcPr marL="0" marR="0" marT="0" marB="0">
                    <a:lnL w="3175">
                      <a:solidFill>
                        <a:srgbClr val="000000"/>
                      </a:solidFill>
                      <a:prstDash val="solid"/>
                    </a:lnL>
                    <a:lnR w="12700">
                      <a:solidFill>
                        <a:srgbClr val="FFFFFF"/>
                      </a:solidFill>
                      <a:prstDash val="solid"/>
                    </a:lnR>
                    <a:lnT w="3175">
                      <a:solidFill>
                        <a:srgbClr val="000000"/>
                      </a:solidFill>
                      <a:prstDash val="solid"/>
                    </a:lnT>
                    <a:lnB w="3175">
                      <a:solidFill>
                        <a:srgbClr val="000000"/>
                      </a:solidFill>
                      <a:prstDash val="solid"/>
                    </a:lnB>
                  </a:tcPr>
                </a:tc>
                <a:extLst>
                  <a:ext uri="{0D108BD9-81ED-4DB2-BD59-A6C34878D82A}">
                    <a16:rowId xmlns:a16="http://schemas.microsoft.com/office/drawing/2014/main" val="10012"/>
                  </a:ext>
                </a:extLst>
              </a:tr>
              <a:tr h="245110">
                <a:tc>
                  <a:txBody>
                    <a:bodyPr/>
                    <a:lstStyle/>
                    <a:p>
                      <a:pPr marL="200025">
                        <a:lnSpc>
                          <a:spcPct val="100000"/>
                        </a:lnSpc>
                        <a:spcBef>
                          <a:spcPts val="380"/>
                        </a:spcBef>
                      </a:pPr>
                      <a:r>
                        <a:rPr sz="900" spc="-5" dirty="0">
                          <a:latin typeface="Arial"/>
                          <a:cs typeface="Arial"/>
                        </a:rPr>
                        <a:t>ADO19</a:t>
                      </a:r>
                      <a:endParaRPr sz="900" dirty="0">
                        <a:latin typeface="Arial"/>
                        <a:cs typeface="Arial"/>
                      </a:endParaRPr>
                    </a:p>
                  </a:txBody>
                  <a:tcPr marL="0" marR="0" marT="48260" marB="0">
                    <a:lnL w="12700">
                      <a:solidFill>
                        <a:srgbClr val="FFFFFF"/>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L="1270" algn="ctr">
                        <a:lnSpc>
                          <a:spcPct val="100000"/>
                        </a:lnSpc>
                        <a:spcBef>
                          <a:spcPts val="380"/>
                        </a:spcBef>
                      </a:pPr>
                      <a:r>
                        <a:rPr sz="900" spc="-5" dirty="0">
                          <a:latin typeface="Arial"/>
                          <a:cs typeface="Arial"/>
                        </a:rPr>
                        <a:t>25</a:t>
                      </a:r>
                      <a:endParaRPr sz="900" dirty="0">
                        <a:latin typeface="Arial"/>
                        <a:cs typeface="Arial"/>
                      </a:endParaRPr>
                    </a:p>
                  </a:txBody>
                  <a:tcPr marL="0" marR="0" marT="4826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R="210185" algn="r">
                        <a:lnSpc>
                          <a:spcPct val="100000"/>
                        </a:lnSpc>
                        <a:spcBef>
                          <a:spcPts val="380"/>
                        </a:spcBef>
                      </a:pPr>
                      <a:r>
                        <a:rPr sz="900" dirty="0">
                          <a:latin typeface="Arial"/>
                          <a:cs typeface="Arial"/>
                        </a:rPr>
                        <a:t>O</a:t>
                      </a:r>
                    </a:p>
                  </a:txBody>
                  <a:tcPr marL="0" marR="0" marT="4826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R="393700" algn="r">
                        <a:lnSpc>
                          <a:spcPct val="100000"/>
                        </a:lnSpc>
                        <a:spcBef>
                          <a:spcPts val="380"/>
                        </a:spcBef>
                      </a:pPr>
                      <a:r>
                        <a:rPr sz="900" spc="-5" dirty="0">
                          <a:latin typeface="Arial"/>
                          <a:cs typeface="Arial"/>
                        </a:rPr>
                        <a:t>Analog</a:t>
                      </a:r>
                      <a:endParaRPr sz="900" dirty="0">
                        <a:latin typeface="Arial"/>
                        <a:cs typeface="Arial"/>
                      </a:endParaRPr>
                    </a:p>
                  </a:txBody>
                  <a:tcPr marL="0" marR="0" marT="4826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gn="ctr">
                        <a:lnSpc>
                          <a:spcPct val="100000"/>
                        </a:lnSpc>
                        <a:spcBef>
                          <a:spcPts val="380"/>
                        </a:spcBef>
                      </a:pPr>
                      <a:r>
                        <a:rPr sz="900" spc="-5" dirty="0">
                          <a:latin typeface="Arial"/>
                          <a:cs typeface="Arial"/>
                        </a:rPr>
                        <a:t>Analog</a:t>
                      </a:r>
                      <a:r>
                        <a:rPr sz="900" spc="-40" dirty="0">
                          <a:latin typeface="Arial"/>
                          <a:cs typeface="Arial"/>
                        </a:rPr>
                        <a:t> </a:t>
                      </a:r>
                      <a:r>
                        <a:rPr sz="900" dirty="0">
                          <a:latin typeface="Arial"/>
                          <a:cs typeface="Arial"/>
                        </a:rPr>
                        <a:t>Data</a:t>
                      </a:r>
                      <a:r>
                        <a:rPr sz="900" spc="-30" dirty="0">
                          <a:latin typeface="Arial"/>
                          <a:cs typeface="Arial"/>
                        </a:rPr>
                        <a:t> </a:t>
                      </a:r>
                      <a:r>
                        <a:rPr sz="900" spc="-5" dirty="0">
                          <a:latin typeface="Arial"/>
                          <a:cs typeface="Arial"/>
                        </a:rPr>
                        <a:t>Out</a:t>
                      </a:r>
                      <a:endParaRPr sz="900" dirty="0">
                        <a:latin typeface="Arial"/>
                        <a:cs typeface="Arial"/>
                      </a:endParaRPr>
                    </a:p>
                  </a:txBody>
                  <a:tcPr marL="0" marR="0" marT="4826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nSpc>
                          <a:spcPct val="100000"/>
                        </a:lnSpc>
                      </a:pPr>
                      <a:endParaRPr sz="900" dirty="0">
                        <a:latin typeface="Times New Roman"/>
                        <a:cs typeface="Times New Roman"/>
                      </a:endParaRPr>
                    </a:p>
                  </a:txBody>
                  <a:tcPr marL="0" marR="0" marT="0" marB="0">
                    <a:lnL w="3175">
                      <a:solidFill>
                        <a:srgbClr val="000000"/>
                      </a:solidFill>
                      <a:prstDash val="solid"/>
                    </a:lnL>
                    <a:lnR w="12700">
                      <a:solidFill>
                        <a:srgbClr val="FFFFFF"/>
                      </a:solidFill>
                      <a:prstDash val="solid"/>
                    </a:lnR>
                    <a:lnT w="3175">
                      <a:solidFill>
                        <a:srgbClr val="000000"/>
                      </a:solidFill>
                      <a:prstDash val="solid"/>
                    </a:lnT>
                    <a:lnB w="3175">
                      <a:solidFill>
                        <a:srgbClr val="000000"/>
                      </a:solidFill>
                      <a:prstDash val="solid"/>
                    </a:lnB>
                  </a:tcPr>
                </a:tc>
                <a:extLst>
                  <a:ext uri="{0D108BD9-81ED-4DB2-BD59-A6C34878D82A}">
                    <a16:rowId xmlns:a16="http://schemas.microsoft.com/office/drawing/2014/main" val="10013"/>
                  </a:ext>
                </a:extLst>
              </a:tr>
              <a:tr h="245110">
                <a:tc>
                  <a:txBody>
                    <a:bodyPr/>
                    <a:lstStyle/>
                    <a:p>
                      <a:pPr marL="196850">
                        <a:lnSpc>
                          <a:spcPct val="100000"/>
                        </a:lnSpc>
                        <a:spcBef>
                          <a:spcPts val="380"/>
                        </a:spcBef>
                      </a:pPr>
                      <a:r>
                        <a:rPr sz="900" spc="-5" dirty="0">
                          <a:latin typeface="Arial"/>
                          <a:cs typeface="Arial"/>
                        </a:rPr>
                        <a:t>VDDA1</a:t>
                      </a:r>
                      <a:endParaRPr sz="900" dirty="0">
                        <a:latin typeface="Arial"/>
                        <a:cs typeface="Arial"/>
                      </a:endParaRPr>
                    </a:p>
                  </a:txBody>
                  <a:tcPr marL="0" marR="0" marT="48260" marB="0">
                    <a:lnL w="12700">
                      <a:solidFill>
                        <a:srgbClr val="FFFFFF"/>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L="1270" algn="ctr">
                        <a:lnSpc>
                          <a:spcPct val="100000"/>
                        </a:lnSpc>
                        <a:spcBef>
                          <a:spcPts val="380"/>
                        </a:spcBef>
                      </a:pPr>
                      <a:r>
                        <a:rPr sz="900" dirty="0">
                          <a:latin typeface="Arial"/>
                          <a:cs typeface="Arial"/>
                        </a:rPr>
                        <a:t>26</a:t>
                      </a:r>
                    </a:p>
                  </a:txBody>
                  <a:tcPr marL="0" marR="0" marT="4826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R="235585" algn="r">
                        <a:lnSpc>
                          <a:spcPct val="100000"/>
                        </a:lnSpc>
                        <a:spcBef>
                          <a:spcPts val="380"/>
                        </a:spcBef>
                      </a:pPr>
                      <a:r>
                        <a:rPr sz="900" dirty="0">
                          <a:latin typeface="Arial"/>
                          <a:cs typeface="Arial"/>
                        </a:rPr>
                        <a:t>-</a:t>
                      </a:r>
                    </a:p>
                  </a:txBody>
                  <a:tcPr marL="0" marR="0" marT="4826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R="409575" algn="r">
                        <a:lnSpc>
                          <a:spcPct val="100000"/>
                        </a:lnSpc>
                        <a:spcBef>
                          <a:spcPts val="380"/>
                        </a:spcBef>
                      </a:pPr>
                      <a:r>
                        <a:rPr sz="900" spc="-5" dirty="0">
                          <a:latin typeface="Arial"/>
                          <a:cs typeface="Arial"/>
                        </a:rPr>
                        <a:t>Power</a:t>
                      </a:r>
                      <a:endParaRPr sz="900" dirty="0">
                        <a:latin typeface="Arial"/>
                        <a:cs typeface="Arial"/>
                      </a:endParaRPr>
                    </a:p>
                  </a:txBody>
                  <a:tcPr marL="0" marR="0" marT="4826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L="635" algn="ctr">
                        <a:lnSpc>
                          <a:spcPct val="100000"/>
                        </a:lnSpc>
                        <a:spcBef>
                          <a:spcPts val="380"/>
                        </a:spcBef>
                      </a:pPr>
                      <a:r>
                        <a:rPr sz="900" dirty="0">
                          <a:latin typeface="Arial"/>
                          <a:cs typeface="Arial"/>
                        </a:rPr>
                        <a:t>Analog</a:t>
                      </a:r>
                      <a:r>
                        <a:rPr sz="900" spc="-55" dirty="0">
                          <a:latin typeface="Arial"/>
                          <a:cs typeface="Arial"/>
                        </a:rPr>
                        <a:t> </a:t>
                      </a:r>
                      <a:r>
                        <a:rPr sz="900" spc="-5" dirty="0">
                          <a:latin typeface="Arial"/>
                          <a:cs typeface="Arial"/>
                        </a:rPr>
                        <a:t>VDD</a:t>
                      </a:r>
                      <a:endParaRPr sz="900" dirty="0">
                        <a:latin typeface="Arial"/>
                        <a:cs typeface="Arial"/>
                      </a:endParaRPr>
                    </a:p>
                  </a:txBody>
                  <a:tcPr marL="0" marR="0" marT="4826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nSpc>
                          <a:spcPct val="100000"/>
                        </a:lnSpc>
                      </a:pPr>
                      <a:endParaRPr sz="900" dirty="0">
                        <a:latin typeface="Times New Roman"/>
                        <a:cs typeface="Times New Roman"/>
                      </a:endParaRPr>
                    </a:p>
                  </a:txBody>
                  <a:tcPr marL="0" marR="0" marT="0" marB="0">
                    <a:lnL w="3175">
                      <a:solidFill>
                        <a:srgbClr val="000000"/>
                      </a:solidFill>
                      <a:prstDash val="solid"/>
                    </a:lnL>
                    <a:lnR w="12700">
                      <a:solidFill>
                        <a:srgbClr val="FFFFFF"/>
                      </a:solidFill>
                      <a:prstDash val="solid"/>
                    </a:lnR>
                    <a:lnT w="3175">
                      <a:solidFill>
                        <a:srgbClr val="000000"/>
                      </a:solidFill>
                      <a:prstDash val="solid"/>
                    </a:lnT>
                    <a:lnB w="3175">
                      <a:solidFill>
                        <a:srgbClr val="000000"/>
                      </a:solidFill>
                      <a:prstDash val="solid"/>
                    </a:lnB>
                  </a:tcPr>
                </a:tc>
                <a:extLst>
                  <a:ext uri="{0D108BD9-81ED-4DB2-BD59-A6C34878D82A}">
                    <a16:rowId xmlns:a16="http://schemas.microsoft.com/office/drawing/2014/main" val="10014"/>
                  </a:ext>
                </a:extLst>
              </a:tr>
              <a:tr h="244475">
                <a:tc>
                  <a:txBody>
                    <a:bodyPr/>
                    <a:lstStyle/>
                    <a:p>
                      <a:pPr marL="200025">
                        <a:lnSpc>
                          <a:spcPct val="100000"/>
                        </a:lnSpc>
                        <a:spcBef>
                          <a:spcPts val="380"/>
                        </a:spcBef>
                      </a:pPr>
                      <a:r>
                        <a:rPr sz="900" spc="-5" dirty="0">
                          <a:latin typeface="Arial"/>
                          <a:cs typeface="Arial"/>
                        </a:rPr>
                        <a:t>ADO18</a:t>
                      </a:r>
                      <a:endParaRPr sz="900" dirty="0">
                        <a:latin typeface="Arial"/>
                        <a:cs typeface="Arial"/>
                      </a:endParaRPr>
                    </a:p>
                  </a:txBody>
                  <a:tcPr marL="0" marR="0" marT="48260" marB="0">
                    <a:lnL w="12700">
                      <a:solidFill>
                        <a:srgbClr val="FFFFFF"/>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L="1270" algn="ctr">
                        <a:lnSpc>
                          <a:spcPct val="100000"/>
                        </a:lnSpc>
                        <a:spcBef>
                          <a:spcPts val="380"/>
                        </a:spcBef>
                      </a:pPr>
                      <a:r>
                        <a:rPr sz="900" spc="-5" dirty="0">
                          <a:latin typeface="Arial"/>
                          <a:cs typeface="Arial"/>
                        </a:rPr>
                        <a:t>27</a:t>
                      </a:r>
                      <a:endParaRPr sz="900" dirty="0">
                        <a:latin typeface="Arial"/>
                        <a:cs typeface="Arial"/>
                      </a:endParaRPr>
                    </a:p>
                  </a:txBody>
                  <a:tcPr marL="0" marR="0" marT="4826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R="210185" algn="r">
                        <a:lnSpc>
                          <a:spcPct val="100000"/>
                        </a:lnSpc>
                        <a:spcBef>
                          <a:spcPts val="380"/>
                        </a:spcBef>
                      </a:pPr>
                      <a:r>
                        <a:rPr sz="900" dirty="0">
                          <a:latin typeface="Arial"/>
                          <a:cs typeface="Arial"/>
                        </a:rPr>
                        <a:t>O</a:t>
                      </a:r>
                    </a:p>
                  </a:txBody>
                  <a:tcPr marL="0" marR="0" marT="4826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R="393700" algn="r">
                        <a:lnSpc>
                          <a:spcPct val="100000"/>
                        </a:lnSpc>
                        <a:spcBef>
                          <a:spcPts val="380"/>
                        </a:spcBef>
                      </a:pPr>
                      <a:r>
                        <a:rPr sz="900" spc="-5" dirty="0">
                          <a:latin typeface="Arial"/>
                          <a:cs typeface="Arial"/>
                        </a:rPr>
                        <a:t>Analog</a:t>
                      </a:r>
                      <a:endParaRPr sz="900" dirty="0">
                        <a:latin typeface="Arial"/>
                        <a:cs typeface="Arial"/>
                      </a:endParaRPr>
                    </a:p>
                  </a:txBody>
                  <a:tcPr marL="0" marR="0" marT="4826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gn="ctr">
                        <a:lnSpc>
                          <a:spcPct val="100000"/>
                        </a:lnSpc>
                        <a:spcBef>
                          <a:spcPts val="380"/>
                        </a:spcBef>
                      </a:pPr>
                      <a:r>
                        <a:rPr sz="900" spc="-5" dirty="0">
                          <a:latin typeface="Arial"/>
                          <a:cs typeface="Arial"/>
                        </a:rPr>
                        <a:t>Analog</a:t>
                      </a:r>
                      <a:r>
                        <a:rPr sz="900" spc="-40" dirty="0">
                          <a:latin typeface="Arial"/>
                          <a:cs typeface="Arial"/>
                        </a:rPr>
                        <a:t> </a:t>
                      </a:r>
                      <a:r>
                        <a:rPr sz="900" dirty="0">
                          <a:latin typeface="Arial"/>
                          <a:cs typeface="Arial"/>
                        </a:rPr>
                        <a:t>Data</a:t>
                      </a:r>
                      <a:r>
                        <a:rPr sz="900" spc="-30" dirty="0">
                          <a:latin typeface="Arial"/>
                          <a:cs typeface="Arial"/>
                        </a:rPr>
                        <a:t> </a:t>
                      </a:r>
                      <a:r>
                        <a:rPr sz="900" spc="-5" dirty="0">
                          <a:latin typeface="Arial"/>
                          <a:cs typeface="Arial"/>
                        </a:rPr>
                        <a:t>Out</a:t>
                      </a:r>
                      <a:endParaRPr sz="900" dirty="0">
                        <a:latin typeface="Arial"/>
                        <a:cs typeface="Arial"/>
                      </a:endParaRPr>
                    </a:p>
                  </a:txBody>
                  <a:tcPr marL="0" marR="0" marT="4826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nSpc>
                          <a:spcPct val="100000"/>
                        </a:lnSpc>
                      </a:pPr>
                      <a:endParaRPr sz="900" dirty="0">
                        <a:latin typeface="Times New Roman"/>
                        <a:cs typeface="Times New Roman"/>
                      </a:endParaRPr>
                    </a:p>
                  </a:txBody>
                  <a:tcPr marL="0" marR="0" marT="0" marB="0">
                    <a:lnL w="3175">
                      <a:solidFill>
                        <a:srgbClr val="000000"/>
                      </a:solidFill>
                      <a:prstDash val="solid"/>
                    </a:lnL>
                    <a:lnR w="12700">
                      <a:solidFill>
                        <a:srgbClr val="FFFFFF"/>
                      </a:solidFill>
                      <a:prstDash val="solid"/>
                    </a:lnR>
                    <a:lnT w="3175">
                      <a:solidFill>
                        <a:srgbClr val="000000"/>
                      </a:solidFill>
                      <a:prstDash val="solid"/>
                    </a:lnT>
                    <a:lnB w="3175">
                      <a:solidFill>
                        <a:srgbClr val="000000"/>
                      </a:solidFill>
                      <a:prstDash val="solid"/>
                    </a:lnB>
                  </a:tcPr>
                </a:tc>
                <a:extLst>
                  <a:ext uri="{0D108BD9-81ED-4DB2-BD59-A6C34878D82A}">
                    <a16:rowId xmlns:a16="http://schemas.microsoft.com/office/drawing/2014/main" val="10015"/>
                  </a:ext>
                </a:extLst>
              </a:tr>
              <a:tr h="245110">
                <a:tc>
                  <a:txBody>
                    <a:bodyPr/>
                    <a:lstStyle/>
                    <a:p>
                      <a:pPr marL="200025">
                        <a:lnSpc>
                          <a:spcPct val="100000"/>
                        </a:lnSpc>
                        <a:spcBef>
                          <a:spcPts val="380"/>
                        </a:spcBef>
                      </a:pPr>
                      <a:r>
                        <a:rPr sz="900" spc="-5" dirty="0">
                          <a:latin typeface="Arial"/>
                          <a:cs typeface="Arial"/>
                        </a:rPr>
                        <a:t>ADO17</a:t>
                      </a:r>
                      <a:endParaRPr sz="900" dirty="0">
                        <a:latin typeface="Arial"/>
                        <a:cs typeface="Arial"/>
                      </a:endParaRPr>
                    </a:p>
                  </a:txBody>
                  <a:tcPr marL="0" marR="0" marT="48260" marB="0">
                    <a:lnL w="12700">
                      <a:solidFill>
                        <a:srgbClr val="FFFFFF"/>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L="1270" algn="ctr">
                        <a:lnSpc>
                          <a:spcPct val="100000"/>
                        </a:lnSpc>
                        <a:spcBef>
                          <a:spcPts val="380"/>
                        </a:spcBef>
                      </a:pPr>
                      <a:r>
                        <a:rPr sz="900" spc="-5" dirty="0">
                          <a:latin typeface="Arial"/>
                          <a:cs typeface="Arial"/>
                        </a:rPr>
                        <a:t>28</a:t>
                      </a:r>
                      <a:endParaRPr sz="900" dirty="0">
                        <a:latin typeface="Arial"/>
                        <a:cs typeface="Arial"/>
                      </a:endParaRPr>
                    </a:p>
                  </a:txBody>
                  <a:tcPr marL="0" marR="0" marT="4826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R="210185" algn="r">
                        <a:lnSpc>
                          <a:spcPct val="100000"/>
                        </a:lnSpc>
                        <a:spcBef>
                          <a:spcPts val="380"/>
                        </a:spcBef>
                      </a:pPr>
                      <a:r>
                        <a:rPr sz="900" dirty="0">
                          <a:latin typeface="Arial"/>
                          <a:cs typeface="Arial"/>
                        </a:rPr>
                        <a:t>O</a:t>
                      </a:r>
                    </a:p>
                  </a:txBody>
                  <a:tcPr marL="0" marR="0" marT="4826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R="393700" algn="r">
                        <a:lnSpc>
                          <a:spcPct val="100000"/>
                        </a:lnSpc>
                        <a:spcBef>
                          <a:spcPts val="380"/>
                        </a:spcBef>
                      </a:pPr>
                      <a:r>
                        <a:rPr sz="900" spc="-5" dirty="0">
                          <a:latin typeface="Arial"/>
                          <a:cs typeface="Arial"/>
                        </a:rPr>
                        <a:t>Analog</a:t>
                      </a:r>
                      <a:endParaRPr sz="900" dirty="0">
                        <a:latin typeface="Arial"/>
                        <a:cs typeface="Arial"/>
                      </a:endParaRPr>
                    </a:p>
                  </a:txBody>
                  <a:tcPr marL="0" marR="0" marT="4826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gn="ctr">
                        <a:lnSpc>
                          <a:spcPct val="100000"/>
                        </a:lnSpc>
                        <a:spcBef>
                          <a:spcPts val="380"/>
                        </a:spcBef>
                      </a:pPr>
                      <a:r>
                        <a:rPr sz="900" spc="-5" dirty="0">
                          <a:latin typeface="Arial"/>
                          <a:cs typeface="Arial"/>
                        </a:rPr>
                        <a:t>Analog</a:t>
                      </a:r>
                      <a:r>
                        <a:rPr sz="900" spc="-40" dirty="0">
                          <a:latin typeface="Arial"/>
                          <a:cs typeface="Arial"/>
                        </a:rPr>
                        <a:t> </a:t>
                      </a:r>
                      <a:r>
                        <a:rPr sz="900" dirty="0">
                          <a:latin typeface="Arial"/>
                          <a:cs typeface="Arial"/>
                        </a:rPr>
                        <a:t>Data</a:t>
                      </a:r>
                      <a:r>
                        <a:rPr sz="900" spc="-30" dirty="0">
                          <a:latin typeface="Arial"/>
                          <a:cs typeface="Arial"/>
                        </a:rPr>
                        <a:t> </a:t>
                      </a:r>
                      <a:r>
                        <a:rPr sz="900" spc="-5" dirty="0">
                          <a:latin typeface="Arial"/>
                          <a:cs typeface="Arial"/>
                        </a:rPr>
                        <a:t>Out</a:t>
                      </a:r>
                      <a:endParaRPr sz="900" dirty="0">
                        <a:latin typeface="Arial"/>
                        <a:cs typeface="Arial"/>
                      </a:endParaRPr>
                    </a:p>
                  </a:txBody>
                  <a:tcPr marL="0" marR="0" marT="4826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nSpc>
                          <a:spcPct val="100000"/>
                        </a:lnSpc>
                      </a:pPr>
                      <a:endParaRPr sz="900" dirty="0">
                        <a:latin typeface="Times New Roman"/>
                        <a:cs typeface="Times New Roman"/>
                      </a:endParaRPr>
                    </a:p>
                  </a:txBody>
                  <a:tcPr marL="0" marR="0" marT="0" marB="0">
                    <a:lnL w="3175">
                      <a:solidFill>
                        <a:srgbClr val="000000"/>
                      </a:solidFill>
                      <a:prstDash val="solid"/>
                    </a:lnL>
                    <a:lnR w="12700">
                      <a:solidFill>
                        <a:srgbClr val="FFFFFF"/>
                      </a:solidFill>
                      <a:prstDash val="solid"/>
                    </a:lnR>
                    <a:lnT w="3175">
                      <a:solidFill>
                        <a:srgbClr val="000000"/>
                      </a:solidFill>
                      <a:prstDash val="solid"/>
                    </a:lnT>
                    <a:lnB w="3175">
                      <a:solidFill>
                        <a:srgbClr val="000000"/>
                      </a:solidFill>
                      <a:prstDash val="solid"/>
                    </a:lnB>
                  </a:tcPr>
                </a:tc>
                <a:extLst>
                  <a:ext uri="{0D108BD9-81ED-4DB2-BD59-A6C34878D82A}">
                    <a16:rowId xmlns:a16="http://schemas.microsoft.com/office/drawing/2014/main" val="10016"/>
                  </a:ext>
                </a:extLst>
              </a:tr>
              <a:tr h="245110">
                <a:tc>
                  <a:txBody>
                    <a:bodyPr/>
                    <a:lstStyle/>
                    <a:p>
                      <a:pPr marL="200025">
                        <a:lnSpc>
                          <a:spcPct val="100000"/>
                        </a:lnSpc>
                        <a:spcBef>
                          <a:spcPts val="384"/>
                        </a:spcBef>
                      </a:pPr>
                      <a:r>
                        <a:rPr sz="900" spc="-5" dirty="0">
                          <a:latin typeface="Arial"/>
                          <a:cs typeface="Arial"/>
                        </a:rPr>
                        <a:t>ADO16</a:t>
                      </a:r>
                      <a:endParaRPr sz="900" dirty="0">
                        <a:latin typeface="Arial"/>
                        <a:cs typeface="Arial"/>
                      </a:endParaRPr>
                    </a:p>
                  </a:txBody>
                  <a:tcPr marL="0" marR="0" marT="48894" marB="0">
                    <a:lnL w="12700">
                      <a:solidFill>
                        <a:srgbClr val="FFFFFF"/>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L="1270" algn="ctr">
                        <a:lnSpc>
                          <a:spcPct val="100000"/>
                        </a:lnSpc>
                        <a:spcBef>
                          <a:spcPts val="384"/>
                        </a:spcBef>
                      </a:pPr>
                      <a:r>
                        <a:rPr sz="900" spc="-5" dirty="0">
                          <a:latin typeface="Arial"/>
                          <a:cs typeface="Arial"/>
                        </a:rPr>
                        <a:t>29</a:t>
                      </a:r>
                      <a:endParaRPr sz="900" dirty="0">
                        <a:latin typeface="Arial"/>
                        <a:cs typeface="Arial"/>
                      </a:endParaRPr>
                    </a:p>
                  </a:txBody>
                  <a:tcPr marL="0" marR="0" marT="48894"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R="210185" algn="r">
                        <a:lnSpc>
                          <a:spcPct val="100000"/>
                        </a:lnSpc>
                        <a:spcBef>
                          <a:spcPts val="384"/>
                        </a:spcBef>
                      </a:pPr>
                      <a:r>
                        <a:rPr sz="900" dirty="0">
                          <a:latin typeface="Arial"/>
                          <a:cs typeface="Arial"/>
                        </a:rPr>
                        <a:t>O</a:t>
                      </a:r>
                    </a:p>
                  </a:txBody>
                  <a:tcPr marL="0" marR="0" marT="48894"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R="393700" algn="r">
                        <a:lnSpc>
                          <a:spcPct val="100000"/>
                        </a:lnSpc>
                        <a:spcBef>
                          <a:spcPts val="384"/>
                        </a:spcBef>
                      </a:pPr>
                      <a:r>
                        <a:rPr sz="900" spc="-5" dirty="0">
                          <a:latin typeface="Arial"/>
                          <a:cs typeface="Arial"/>
                        </a:rPr>
                        <a:t>Analog</a:t>
                      </a:r>
                      <a:endParaRPr sz="900" dirty="0">
                        <a:latin typeface="Arial"/>
                        <a:cs typeface="Arial"/>
                      </a:endParaRPr>
                    </a:p>
                  </a:txBody>
                  <a:tcPr marL="0" marR="0" marT="48894"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gn="ctr">
                        <a:lnSpc>
                          <a:spcPct val="100000"/>
                        </a:lnSpc>
                        <a:spcBef>
                          <a:spcPts val="384"/>
                        </a:spcBef>
                      </a:pPr>
                      <a:r>
                        <a:rPr sz="900" spc="-5" dirty="0">
                          <a:latin typeface="Arial"/>
                          <a:cs typeface="Arial"/>
                        </a:rPr>
                        <a:t>Analog</a:t>
                      </a:r>
                      <a:r>
                        <a:rPr sz="900" spc="-40" dirty="0">
                          <a:latin typeface="Arial"/>
                          <a:cs typeface="Arial"/>
                        </a:rPr>
                        <a:t> </a:t>
                      </a:r>
                      <a:r>
                        <a:rPr sz="900" dirty="0">
                          <a:latin typeface="Arial"/>
                          <a:cs typeface="Arial"/>
                        </a:rPr>
                        <a:t>Data</a:t>
                      </a:r>
                      <a:r>
                        <a:rPr sz="900" spc="-30" dirty="0">
                          <a:latin typeface="Arial"/>
                          <a:cs typeface="Arial"/>
                        </a:rPr>
                        <a:t> </a:t>
                      </a:r>
                      <a:r>
                        <a:rPr sz="900" spc="-5" dirty="0">
                          <a:latin typeface="Arial"/>
                          <a:cs typeface="Arial"/>
                        </a:rPr>
                        <a:t>Out</a:t>
                      </a:r>
                      <a:endParaRPr sz="900" dirty="0">
                        <a:latin typeface="Arial"/>
                        <a:cs typeface="Arial"/>
                      </a:endParaRPr>
                    </a:p>
                  </a:txBody>
                  <a:tcPr marL="0" marR="0" marT="48894"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nSpc>
                          <a:spcPct val="100000"/>
                        </a:lnSpc>
                      </a:pPr>
                      <a:endParaRPr sz="900" dirty="0">
                        <a:latin typeface="Times New Roman"/>
                        <a:cs typeface="Times New Roman"/>
                      </a:endParaRPr>
                    </a:p>
                  </a:txBody>
                  <a:tcPr marL="0" marR="0" marT="0" marB="0">
                    <a:lnL w="3175">
                      <a:solidFill>
                        <a:srgbClr val="000000"/>
                      </a:solidFill>
                      <a:prstDash val="solid"/>
                    </a:lnL>
                    <a:lnR w="12700">
                      <a:solidFill>
                        <a:srgbClr val="FFFFFF"/>
                      </a:solidFill>
                      <a:prstDash val="solid"/>
                    </a:lnR>
                    <a:lnT w="3175">
                      <a:solidFill>
                        <a:srgbClr val="000000"/>
                      </a:solidFill>
                      <a:prstDash val="solid"/>
                    </a:lnT>
                    <a:lnB w="3175">
                      <a:solidFill>
                        <a:srgbClr val="000000"/>
                      </a:solidFill>
                      <a:prstDash val="solid"/>
                    </a:lnB>
                  </a:tcPr>
                </a:tc>
                <a:extLst>
                  <a:ext uri="{0D108BD9-81ED-4DB2-BD59-A6C34878D82A}">
                    <a16:rowId xmlns:a16="http://schemas.microsoft.com/office/drawing/2014/main" val="10017"/>
                  </a:ext>
                </a:extLst>
              </a:tr>
              <a:tr h="245110">
                <a:tc>
                  <a:txBody>
                    <a:bodyPr/>
                    <a:lstStyle/>
                    <a:p>
                      <a:pPr marL="200025">
                        <a:lnSpc>
                          <a:spcPct val="100000"/>
                        </a:lnSpc>
                        <a:spcBef>
                          <a:spcPts val="380"/>
                        </a:spcBef>
                      </a:pPr>
                      <a:r>
                        <a:rPr sz="900" spc="-5" dirty="0">
                          <a:latin typeface="Arial"/>
                          <a:cs typeface="Arial"/>
                        </a:rPr>
                        <a:t>ADO15</a:t>
                      </a:r>
                      <a:endParaRPr sz="900" dirty="0">
                        <a:latin typeface="Arial"/>
                        <a:cs typeface="Arial"/>
                      </a:endParaRPr>
                    </a:p>
                  </a:txBody>
                  <a:tcPr marL="0" marR="0" marT="48260" marB="0">
                    <a:lnL w="12700">
                      <a:solidFill>
                        <a:srgbClr val="FFFFFF"/>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L="1270" algn="ctr">
                        <a:lnSpc>
                          <a:spcPct val="100000"/>
                        </a:lnSpc>
                        <a:spcBef>
                          <a:spcPts val="380"/>
                        </a:spcBef>
                      </a:pPr>
                      <a:r>
                        <a:rPr sz="900" spc="-5" dirty="0">
                          <a:latin typeface="Arial"/>
                          <a:cs typeface="Arial"/>
                        </a:rPr>
                        <a:t>30</a:t>
                      </a:r>
                      <a:endParaRPr sz="900" dirty="0">
                        <a:latin typeface="Arial"/>
                        <a:cs typeface="Arial"/>
                      </a:endParaRPr>
                    </a:p>
                  </a:txBody>
                  <a:tcPr marL="0" marR="0" marT="4826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R="210185" algn="r">
                        <a:lnSpc>
                          <a:spcPct val="100000"/>
                        </a:lnSpc>
                        <a:spcBef>
                          <a:spcPts val="380"/>
                        </a:spcBef>
                      </a:pPr>
                      <a:r>
                        <a:rPr sz="900" dirty="0">
                          <a:latin typeface="Arial"/>
                          <a:cs typeface="Arial"/>
                        </a:rPr>
                        <a:t>O</a:t>
                      </a:r>
                    </a:p>
                  </a:txBody>
                  <a:tcPr marL="0" marR="0" marT="4826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R="393700" algn="r">
                        <a:lnSpc>
                          <a:spcPct val="100000"/>
                        </a:lnSpc>
                        <a:spcBef>
                          <a:spcPts val="380"/>
                        </a:spcBef>
                      </a:pPr>
                      <a:r>
                        <a:rPr sz="900" spc="-5" dirty="0">
                          <a:latin typeface="Arial"/>
                          <a:cs typeface="Arial"/>
                        </a:rPr>
                        <a:t>Analog</a:t>
                      </a:r>
                      <a:endParaRPr sz="900" dirty="0">
                        <a:latin typeface="Arial"/>
                        <a:cs typeface="Arial"/>
                      </a:endParaRPr>
                    </a:p>
                  </a:txBody>
                  <a:tcPr marL="0" marR="0" marT="4826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gn="ctr">
                        <a:lnSpc>
                          <a:spcPct val="100000"/>
                        </a:lnSpc>
                        <a:spcBef>
                          <a:spcPts val="380"/>
                        </a:spcBef>
                      </a:pPr>
                      <a:r>
                        <a:rPr sz="900" spc="-5" dirty="0">
                          <a:latin typeface="Arial"/>
                          <a:cs typeface="Arial"/>
                        </a:rPr>
                        <a:t>Analog</a:t>
                      </a:r>
                      <a:r>
                        <a:rPr sz="900" spc="-40" dirty="0">
                          <a:latin typeface="Arial"/>
                          <a:cs typeface="Arial"/>
                        </a:rPr>
                        <a:t> </a:t>
                      </a:r>
                      <a:r>
                        <a:rPr sz="900" dirty="0">
                          <a:latin typeface="Arial"/>
                          <a:cs typeface="Arial"/>
                        </a:rPr>
                        <a:t>Data</a:t>
                      </a:r>
                      <a:r>
                        <a:rPr sz="900" spc="-30" dirty="0">
                          <a:latin typeface="Arial"/>
                          <a:cs typeface="Arial"/>
                        </a:rPr>
                        <a:t> </a:t>
                      </a:r>
                      <a:r>
                        <a:rPr sz="900" spc="-5" dirty="0">
                          <a:latin typeface="Arial"/>
                          <a:cs typeface="Arial"/>
                        </a:rPr>
                        <a:t>Out</a:t>
                      </a:r>
                      <a:endParaRPr sz="900" dirty="0">
                        <a:latin typeface="Arial"/>
                        <a:cs typeface="Arial"/>
                      </a:endParaRPr>
                    </a:p>
                  </a:txBody>
                  <a:tcPr marL="0" marR="0" marT="4826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nSpc>
                          <a:spcPct val="100000"/>
                        </a:lnSpc>
                      </a:pPr>
                      <a:endParaRPr sz="900" dirty="0">
                        <a:latin typeface="Times New Roman"/>
                        <a:cs typeface="Times New Roman"/>
                      </a:endParaRPr>
                    </a:p>
                  </a:txBody>
                  <a:tcPr marL="0" marR="0" marT="0" marB="0">
                    <a:lnL w="3175">
                      <a:solidFill>
                        <a:srgbClr val="000000"/>
                      </a:solidFill>
                      <a:prstDash val="solid"/>
                    </a:lnL>
                    <a:lnR w="12700">
                      <a:solidFill>
                        <a:srgbClr val="FFFFFF"/>
                      </a:solidFill>
                      <a:prstDash val="solid"/>
                    </a:lnR>
                    <a:lnT w="3175">
                      <a:solidFill>
                        <a:srgbClr val="000000"/>
                      </a:solidFill>
                      <a:prstDash val="solid"/>
                    </a:lnT>
                    <a:lnB w="3175">
                      <a:solidFill>
                        <a:srgbClr val="000000"/>
                      </a:solidFill>
                      <a:prstDash val="solid"/>
                    </a:lnB>
                  </a:tcPr>
                </a:tc>
                <a:extLst>
                  <a:ext uri="{0D108BD9-81ED-4DB2-BD59-A6C34878D82A}">
                    <a16:rowId xmlns:a16="http://schemas.microsoft.com/office/drawing/2014/main" val="10018"/>
                  </a:ext>
                </a:extLst>
              </a:tr>
              <a:tr h="245110">
                <a:tc>
                  <a:txBody>
                    <a:bodyPr/>
                    <a:lstStyle/>
                    <a:p>
                      <a:pPr marL="200025">
                        <a:lnSpc>
                          <a:spcPct val="100000"/>
                        </a:lnSpc>
                        <a:spcBef>
                          <a:spcPts val="385"/>
                        </a:spcBef>
                      </a:pPr>
                      <a:r>
                        <a:rPr sz="900" spc="-5" dirty="0">
                          <a:latin typeface="Arial"/>
                          <a:cs typeface="Arial"/>
                        </a:rPr>
                        <a:t>ADO14</a:t>
                      </a:r>
                      <a:endParaRPr sz="900" dirty="0">
                        <a:latin typeface="Arial"/>
                        <a:cs typeface="Arial"/>
                      </a:endParaRPr>
                    </a:p>
                  </a:txBody>
                  <a:tcPr marL="0" marR="0" marT="48895" marB="0">
                    <a:lnL w="12700">
                      <a:solidFill>
                        <a:srgbClr val="FFFFFF"/>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L="1270" algn="ctr">
                        <a:lnSpc>
                          <a:spcPct val="100000"/>
                        </a:lnSpc>
                        <a:spcBef>
                          <a:spcPts val="385"/>
                        </a:spcBef>
                      </a:pPr>
                      <a:r>
                        <a:rPr sz="900" spc="-5" dirty="0">
                          <a:latin typeface="Arial"/>
                          <a:cs typeface="Arial"/>
                        </a:rPr>
                        <a:t>31</a:t>
                      </a:r>
                      <a:endParaRPr sz="900" dirty="0">
                        <a:latin typeface="Arial"/>
                        <a:cs typeface="Arial"/>
                      </a:endParaRPr>
                    </a:p>
                  </a:txBody>
                  <a:tcPr marL="0" marR="0" marT="48895"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R="210185" algn="r">
                        <a:lnSpc>
                          <a:spcPct val="100000"/>
                        </a:lnSpc>
                        <a:spcBef>
                          <a:spcPts val="385"/>
                        </a:spcBef>
                      </a:pPr>
                      <a:r>
                        <a:rPr sz="900" dirty="0">
                          <a:latin typeface="Arial"/>
                          <a:cs typeface="Arial"/>
                        </a:rPr>
                        <a:t>O</a:t>
                      </a:r>
                    </a:p>
                  </a:txBody>
                  <a:tcPr marL="0" marR="0" marT="48895"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R="393700" algn="r">
                        <a:lnSpc>
                          <a:spcPct val="100000"/>
                        </a:lnSpc>
                        <a:spcBef>
                          <a:spcPts val="385"/>
                        </a:spcBef>
                      </a:pPr>
                      <a:r>
                        <a:rPr sz="900" spc="-5" dirty="0">
                          <a:latin typeface="Arial"/>
                          <a:cs typeface="Arial"/>
                        </a:rPr>
                        <a:t>Analog</a:t>
                      </a:r>
                      <a:endParaRPr sz="900" dirty="0">
                        <a:latin typeface="Arial"/>
                        <a:cs typeface="Arial"/>
                      </a:endParaRPr>
                    </a:p>
                  </a:txBody>
                  <a:tcPr marL="0" marR="0" marT="48895"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gn="ctr">
                        <a:lnSpc>
                          <a:spcPct val="100000"/>
                        </a:lnSpc>
                        <a:spcBef>
                          <a:spcPts val="385"/>
                        </a:spcBef>
                      </a:pPr>
                      <a:r>
                        <a:rPr sz="900" spc="-5" dirty="0">
                          <a:latin typeface="Arial"/>
                          <a:cs typeface="Arial"/>
                        </a:rPr>
                        <a:t>Analog</a:t>
                      </a:r>
                      <a:r>
                        <a:rPr sz="900" spc="-40" dirty="0">
                          <a:latin typeface="Arial"/>
                          <a:cs typeface="Arial"/>
                        </a:rPr>
                        <a:t> </a:t>
                      </a:r>
                      <a:r>
                        <a:rPr sz="900" dirty="0">
                          <a:latin typeface="Arial"/>
                          <a:cs typeface="Arial"/>
                        </a:rPr>
                        <a:t>Data</a:t>
                      </a:r>
                      <a:r>
                        <a:rPr sz="900" spc="-30" dirty="0">
                          <a:latin typeface="Arial"/>
                          <a:cs typeface="Arial"/>
                        </a:rPr>
                        <a:t> </a:t>
                      </a:r>
                      <a:r>
                        <a:rPr sz="900" spc="-5" dirty="0">
                          <a:latin typeface="Arial"/>
                          <a:cs typeface="Arial"/>
                        </a:rPr>
                        <a:t>Out</a:t>
                      </a:r>
                      <a:endParaRPr sz="900" dirty="0">
                        <a:latin typeface="Arial"/>
                        <a:cs typeface="Arial"/>
                      </a:endParaRPr>
                    </a:p>
                  </a:txBody>
                  <a:tcPr marL="0" marR="0" marT="48895"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nSpc>
                          <a:spcPct val="100000"/>
                        </a:lnSpc>
                      </a:pPr>
                      <a:endParaRPr sz="900" dirty="0">
                        <a:latin typeface="Times New Roman"/>
                        <a:cs typeface="Times New Roman"/>
                      </a:endParaRPr>
                    </a:p>
                  </a:txBody>
                  <a:tcPr marL="0" marR="0" marT="0" marB="0">
                    <a:lnL w="3175">
                      <a:solidFill>
                        <a:srgbClr val="000000"/>
                      </a:solidFill>
                      <a:prstDash val="solid"/>
                    </a:lnL>
                    <a:lnR w="12700">
                      <a:solidFill>
                        <a:srgbClr val="FFFFFF"/>
                      </a:solidFill>
                      <a:prstDash val="solid"/>
                    </a:lnR>
                    <a:lnT w="3175">
                      <a:solidFill>
                        <a:srgbClr val="000000"/>
                      </a:solidFill>
                      <a:prstDash val="solid"/>
                    </a:lnT>
                    <a:lnB w="3175">
                      <a:solidFill>
                        <a:srgbClr val="000000"/>
                      </a:solidFill>
                      <a:prstDash val="solid"/>
                    </a:lnB>
                  </a:tcPr>
                </a:tc>
                <a:extLst>
                  <a:ext uri="{0D108BD9-81ED-4DB2-BD59-A6C34878D82A}">
                    <a16:rowId xmlns:a16="http://schemas.microsoft.com/office/drawing/2014/main" val="10019"/>
                  </a:ext>
                </a:extLst>
              </a:tr>
              <a:tr h="245110">
                <a:tc>
                  <a:txBody>
                    <a:bodyPr/>
                    <a:lstStyle/>
                    <a:p>
                      <a:pPr marL="200025">
                        <a:lnSpc>
                          <a:spcPct val="100000"/>
                        </a:lnSpc>
                        <a:spcBef>
                          <a:spcPts val="380"/>
                        </a:spcBef>
                      </a:pPr>
                      <a:r>
                        <a:rPr sz="900" spc="-5" dirty="0">
                          <a:latin typeface="Arial"/>
                          <a:cs typeface="Arial"/>
                        </a:rPr>
                        <a:t>ADO13</a:t>
                      </a:r>
                      <a:endParaRPr sz="900" dirty="0">
                        <a:latin typeface="Arial"/>
                        <a:cs typeface="Arial"/>
                      </a:endParaRPr>
                    </a:p>
                  </a:txBody>
                  <a:tcPr marL="0" marR="0" marT="48260" marB="0">
                    <a:lnL w="12700">
                      <a:solidFill>
                        <a:srgbClr val="FFFFFF"/>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L="1270" algn="ctr">
                        <a:lnSpc>
                          <a:spcPct val="100000"/>
                        </a:lnSpc>
                        <a:spcBef>
                          <a:spcPts val="380"/>
                        </a:spcBef>
                      </a:pPr>
                      <a:r>
                        <a:rPr sz="900" spc="-5" dirty="0">
                          <a:latin typeface="Arial"/>
                          <a:cs typeface="Arial"/>
                        </a:rPr>
                        <a:t>32</a:t>
                      </a:r>
                      <a:endParaRPr sz="900" dirty="0">
                        <a:latin typeface="Arial"/>
                        <a:cs typeface="Arial"/>
                      </a:endParaRPr>
                    </a:p>
                  </a:txBody>
                  <a:tcPr marL="0" marR="0" marT="4826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R="210185" algn="r">
                        <a:lnSpc>
                          <a:spcPct val="100000"/>
                        </a:lnSpc>
                        <a:spcBef>
                          <a:spcPts val="380"/>
                        </a:spcBef>
                      </a:pPr>
                      <a:r>
                        <a:rPr sz="900" dirty="0">
                          <a:latin typeface="Arial"/>
                          <a:cs typeface="Arial"/>
                        </a:rPr>
                        <a:t>O</a:t>
                      </a:r>
                    </a:p>
                  </a:txBody>
                  <a:tcPr marL="0" marR="0" marT="4826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R="393700" algn="r">
                        <a:lnSpc>
                          <a:spcPct val="100000"/>
                        </a:lnSpc>
                        <a:spcBef>
                          <a:spcPts val="380"/>
                        </a:spcBef>
                      </a:pPr>
                      <a:r>
                        <a:rPr sz="900" spc="-5" dirty="0">
                          <a:latin typeface="Arial"/>
                          <a:cs typeface="Arial"/>
                        </a:rPr>
                        <a:t>Analog</a:t>
                      </a:r>
                      <a:endParaRPr sz="900" dirty="0">
                        <a:latin typeface="Arial"/>
                        <a:cs typeface="Arial"/>
                      </a:endParaRPr>
                    </a:p>
                  </a:txBody>
                  <a:tcPr marL="0" marR="0" marT="4826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gn="ctr">
                        <a:lnSpc>
                          <a:spcPct val="100000"/>
                        </a:lnSpc>
                        <a:spcBef>
                          <a:spcPts val="380"/>
                        </a:spcBef>
                      </a:pPr>
                      <a:r>
                        <a:rPr sz="900" spc="-5" dirty="0">
                          <a:latin typeface="Arial"/>
                          <a:cs typeface="Arial"/>
                        </a:rPr>
                        <a:t>Analog</a:t>
                      </a:r>
                      <a:r>
                        <a:rPr sz="900" spc="-40" dirty="0">
                          <a:latin typeface="Arial"/>
                          <a:cs typeface="Arial"/>
                        </a:rPr>
                        <a:t> </a:t>
                      </a:r>
                      <a:r>
                        <a:rPr sz="900" dirty="0">
                          <a:latin typeface="Arial"/>
                          <a:cs typeface="Arial"/>
                        </a:rPr>
                        <a:t>Data</a:t>
                      </a:r>
                      <a:r>
                        <a:rPr sz="900" spc="-30" dirty="0">
                          <a:latin typeface="Arial"/>
                          <a:cs typeface="Arial"/>
                        </a:rPr>
                        <a:t> </a:t>
                      </a:r>
                      <a:r>
                        <a:rPr sz="900" spc="-5" dirty="0">
                          <a:latin typeface="Arial"/>
                          <a:cs typeface="Arial"/>
                        </a:rPr>
                        <a:t>Out</a:t>
                      </a:r>
                      <a:endParaRPr sz="900" dirty="0">
                        <a:latin typeface="Arial"/>
                        <a:cs typeface="Arial"/>
                      </a:endParaRPr>
                    </a:p>
                  </a:txBody>
                  <a:tcPr marL="0" marR="0" marT="4826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nSpc>
                          <a:spcPct val="100000"/>
                        </a:lnSpc>
                      </a:pPr>
                      <a:endParaRPr sz="900" dirty="0">
                        <a:latin typeface="Times New Roman"/>
                        <a:cs typeface="Times New Roman"/>
                      </a:endParaRPr>
                    </a:p>
                  </a:txBody>
                  <a:tcPr marL="0" marR="0" marT="0" marB="0">
                    <a:lnL w="3175">
                      <a:solidFill>
                        <a:srgbClr val="000000"/>
                      </a:solidFill>
                      <a:prstDash val="solid"/>
                    </a:lnL>
                    <a:lnR w="12700">
                      <a:solidFill>
                        <a:srgbClr val="FFFFFF"/>
                      </a:solidFill>
                      <a:prstDash val="solid"/>
                    </a:lnR>
                    <a:lnT w="3175">
                      <a:solidFill>
                        <a:srgbClr val="000000"/>
                      </a:solidFill>
                      <a:prstDash val="solid"/>
                    </a:lnT>
                    <a:lnB w="3175">
                      <a:solidFill>
                        <a:srgbClr val="000000"/>
                      </a:solidFill>
                      <a:prstDash val="solid"/>
                    </a:lnB>
                  </a:tcPr>
                </a:tc>
                <a:extLst>
                  <a:ext uri="{0D108BD9-81ED-4DB2-BD59-A6C34878D82A}">
                    <a16:rowId xmlns:a16="http://schemas.microsoft.com/office/drawing/2014/main" val="10020"/>
                  </a:ext>
                </a:extLst>
              </a:tr>
              <a:tr h="245110">
                <a:tc>
                  <a:txBody>
                    <a:bodyPr/>
                    <a:lstStyle/>
                    <a:p>
                      <a:pPr marL="196850">
                        <a:lnSpc>
                          <a:spcPct val="100000"/>
                        </a:lnSpc>
                        <a:spcBef>
                          <a:spcPts val="385"/>
                        </a:spcBef>
                      </a:pPr>
                      <a:r>
                        <a:rPr sz="900" spc="-5" dirty="0">
                          <a:latin typeface="Arial"/>
                          <a:cs typeface="Arial"/>
                        </a:rPr>
                        <a:t>VDDA2</a:t>
                      </a:r>
                      <a:endParaRPr sz="900" dirty="0">
                        <a:latin typeface="Arial"/>
                        <a:cs typeface="Arial"/>
                      </a:endParaRPr>
                    </a:p>
                  </a:txBody>
                  <a:tcPr marL="0" marR="0" marT="48895" marB="0">
                    <a:lnL w="12700">
                      <a:solidFill>
                        <a:srgbClr val="FFFFFF"/>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L="1270" algn="ctr">
                        <a:lnSpc>
                          <a:spcPct val="100000"/>
                        </a:lnSpc>
                        <a:spcBef>
                          <a:spcPts val="385"/>
                        </a:spcBef>
                      </a:pPr>
                      <a:r>
                        <a:rPr sz="900" spc="-5" dirty="0">
                          <a:latin typeface="Arial"/>
                          <a:cs typeface="Arial"/>
                        </a:rPr>
                        <a:t>33</a:t>
                      </a:r>
                      <a:endParaRPr sz="900" dirty="0">
                        <a:latin typeface="Arial"/>
                        <a:cs typeface="Arial"/>
                      </a:endParaRPr>
                    </a:p>
                  </a:txBody>
                  <a:tcPr marL="0" marR="0" marT="48895"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R="235585" algn="r">
                        <a:lnSpc>
                          <a:spcPct val="100000"/>
                        </a:lnSpc>
                        <a:spcBef>
                          <a:spcPts val="385"/>
                        </a:spcBef>
                      </a:pPr>
                      <a:r>
                        <a:rPr sz="900" dirty="0">
                          <a:latin typeface="Arial"/>
                          <a:cs typeface="Arial"/>
                        </a:rPr>
                        <a:t>-</a:t>
                      </a:r>
                    </a:p>
                  </a:txBody>
                  <a:tcPr marL="0" marR="0" marT="48895"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R="409575" algn="r">
                        <a:lnSpc>
                          <a:spcPct val="100000"/>
                        </a:lnSpc>
                        <a:spcBef>
                          <a:spcPts val="385"/>
                        </a:spcBef>
                      </a:pPr>
                      <a:r>
                        <a:rPr sz="900" spc="-5" dirty="0">
                          <a:latin typeface="Arial"/>
                          <a:cs typeface="Arial"/>
                        </a:rPr>
                        <a:t>Power</a:t>
                      </a:r>
                      <a:endParaRPr sz="900" dirty="0">
                        <a:latin typeface="Arial"/>
                        <a:cs typeface="Arial"/>
                      </a:endParaRPr>
                    </a:p>
                  </a:txBody>
                  <a:tcPr marL="0" marR="0" marT="48895"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gn="ctr">
                        <a:lnSpc>
                          <a:spcPct val="100000"/>
                        </a:lnSpc>
                        <a:spcBef>
                          <a:spcPts val="385"/>
                        </a:spcBef>
                      </a:pPr>
                      <a:r>
                        <a:rPr sz="900" spc="-5" dirty="0">
                          <a:latin typeface="Arial"/>
                          <a:cs typeface="Arial"/>
                        </a:rPr>
                        <a:t>Analog</a:t>
                      </a:r>
                      <a:r>
                        <a:rPr sz="900" spc="-45" dirty="0">
                          <a:latin typeface="Arial"/>
                          <a:cs typeface="Arial"/>
                        </a:rPr>
                        <a:t> </a:t>
                      </a:r>
                      <a:r>
                        <a:rPr sz="900" spc="-5" dirty="0">
                          <a:latin typeface="Arial"/>
                          <a:cs typeface="Arial"/>
                        </a:rPr>
                        <a:t>VDD</a:t>
                      </a:r>
                      <a:endParaRPr sz="900" dirty="0">
                        <a:latin typeface="Arial"/>
                        <a:cs typeface="Arial"/>
                      </a:endParaRPr>
                    </a:p>
                  </a:txBody>
                  <a:tcPr marL="0" marR="0" marT="48895"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nSpc>
                          <a:spcPct val="100000"/>
                        </a:lnSpc>
                      </a:pPr>
                      <a:endParaRPr sz="900" dirty="0">
                        <a:latin typeface="Times New Roman"/>
                        <a:cs typeface="Times New Roman"/>
                      </a:endParaRPr>
                    </a:p>
                  </a:txBody>
                  <a:tcPr marL="0" marR="0" marT="0" marB="0">
                    <a:lnL w="3175">
                      <a:solidFill>
                        <a:srgbClr val="000000"/>
                      </a:solidFill>
                      <a:prstDash val="solid"/>
                    </a:lnL>
                    <a:lnR w="12700">
                      <a:solidFill>
                        <a:srgbClr val="FFFFFF"/>
                      </a:solidFill>
                      <a:prstDash val="solid"/>
                    </a:lnR>
                    <a:lnT w="3175">
                      <a:solidFill>
                        <a:srgbClr val="000000"/>
                      </a:solidFill>
                      <a:prstDash val="solid"/>
                    </a:lnT>
                    <a:lnB w="3175">
                      <a:solidFill>
                        <a:srgbClr val="000000"/>
                      </a:solidFill>
                      <a:prstDash val="solid"/>
                    </a:lnB>
                  </a:tcPr>
                </a:tc>
                <a:extLst>
                  <a:ext uri="{0D108BD9-81ED-4DB2-BD59-A6C34878D82A}">
                    <a16:rowId xmlns:a16="http://schemas.microsoft.com/office/drawing/2014/main" val="10021"/>
                  </a:ext>
                </a:extLst>
              </a:tr>
              <a:tr h="245110">
                <a:tc>
                  <a:txBody>
                    <a:bodyPr/>
                    <a:lstStyle/>
                    <a:p>
                      <a:pPr marL="184785">
                        <a:lnSpc>
                          <a:spcPct val="100000"/>
                        </a:lnSpc>
                        <a:spcBef>
                          <a:spcPts val="385"/>
                        </a:spcBef>
                      </a:pPr>
                      <a:r>
                        <a:rPr sz="900" spc="-5" dirty="0">
                          <a:latin typeface="Arial"/>
                          <a:cs typeface="Arial"/>
                        </a:rPr>
                        <a:t>MODE2</a:t>
                      </a:r>
                      <a:endParaRPr sz="900" dirty="0">
                        <a:latin typeface="Arial"/>
                        <a:cs typeface="Arial"/>
                      </a:endParaRPr>
                    </a:p>
                  </a:txBody>
                  <a:tcPr marL="0" marR="0" marT="48895" marB="0">
                    <a:lnL w="12700">
                      <a:solidFill>
                        <a:srgbClr val="FFFFFF"/>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L="1270" algn="ctr">
                        <a:lnSpc>
                          <a:spcPct val="100000"/>
                        </a:lnSpc>
                        <a:spcBef>
                          <a:spcPts val="385"/>
                        </a:spcBef>
                      </a:pPr>
                      <a:r>
                        <a:rPr sz="900" spc="-5" dirty="0">
                          <a:latin typeface="Arial"/>
                          <a:cs typeface="Arial"/>
                        </a:rPr>
                        <a:t>34</a:t>
                      </a:r>
                      <a:endParaRPr sz="900" dirty="0">
                        <a:latin typeface="Arial"/>
                        <a:cs typeface="Arial"/>
                      </a:endParaRPr>
                    </a:p>
                  </a:txBody>
                  <a:tcPr marL="0" marR="0" marT="48895"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R="210185" algn="r">
                        <a:lnSpc>
                          <a:spcPct val="100000"/>
                        </a:lnSpc>
                        <a:spcBef>
                          <a:spcPts val="385"/>
                        </a:spcBef>
                      </a:pPr>
                      <a:r>
                        <a:rPr sz="900" dirty="0">
                          <a:latin typeface="Arial"/>
                          <a:cs typeface="Arial"/>
                        </a:rPr>
                        <a:t>O</a:t>
                      </a:r>
                    </a:p>
                  </a:txBody>
                  <a:tcPr marL="0" marR="0" marT="48895"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R="393700" algn="r">
                        <a:lnSpc>
                          <a:spcPct val="100000"/>
                        </a:lnSpc>
                        <a:spcBef>
                          <a:spcPts val="385"/>
                        </a:spcBef>
                      </a:pPr>
                      <a:r>
                        <a:rPr sz="900" spc="-5" dirty="0">
                          <a:latin typeface="Arial"/>
                          <a:cs typeface="Arial"/>
                        </a:rPr>
                        <a:t>Analog</a:t>
                      </a:r>
                      <a:endParaRPr sz="900" dirty="0">
                        <a:latin typeface="Arial"/>
                        <a:cs typeface="Arial"/>
                      </a:endParaRPr>
                    </a:p>
                  </a:txBody>
                  <a:tcPr marL="0" marR="0" marT="48895"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L="635" algn="ctr">
                        <a:lnSpc>
                          <a:spcPct val="100000"/>
                        </a:lnSpc>
                        <a:spcBef>
                          <a:spcPts val="385"/>
                        </a:spcBef>
                      </a:pPr>
                      <a:r>
                        <a:rPr sz="900" spc="-10" dirty="0">
                          <a:latin typeface="Arial"/>
                          <a:cs typeface="Arial"/>
                        </a:rPr>
                        <a:t>Mode</a:t>
                      </a:r>
                      <a:r>
                        <a:rPr sz="900" spc="-20" dirty="0">
                          <a:latin typeface="Arial"/>
                          <a:cs typeface="Arial"/>
                        </a:rPr>
                        <a:t> </a:t>
                      </a:r>
                      <a:r>
                        <a:rPr sz="900" spc="-5" dirty="0">
                          <a:latin typeface="Arial"/>
                          <a:cs typeface="Arial"/>
                        </a:rPr>
                        <a:t>Level</a:t>
                      </a:r>
                      <a:r>
                        <a:rPr sz="900" spc="-25" dirty="0">
                          <a:latin typeface="Arial"/>
                          <a:cs typeface="Arial"/>
                        </a:rPr>
                        <a:t> </a:t>
                      </a:r>
                      <a:r>
                        <a:rPr sz="900" spc="-5" dirty="0">
                          <a:latin typeface="Arial"/>
                          <a:cs typeface="Arial"/>
                        </a:rPr>
                        <a:t>Out</a:t>
                      </a:r>
                      <a:endParaRPr sz="900" dirty="0">
                        <a:latin typeface="Arial"/>
                        <a:cs typeface="Arial"/>
                      </a:endParaRPr>
                    </a:p>
                  </a:txBody>
                  <a:tcPr marL="0" marR="0" marT="48895"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nSpc>
                          <a:spcPct val="100000"/>
                        </a:lnSpc>
                      </a:pPr>
                      <a:endParaRPr sz="900" dirty="0">
                        <a:latin typeface="Times New Roman"/>
                        <a:cs typeface="Times New Roman"/>
                      </a:endParaRPr>
                    </a:p>
                  </a:txBody>
                  <a:tcPr marL="0" marR="0" marT="0" marB="0">
                    <a:lnL w="3175">
                      <a:solidFill>
                        <a:srgbClr val="000000"/>
                      </a:solidFill>
                      <a:prstDash val="solid"/>
                    </a:lnL>
                    <a:lnR w="12700">
                      <a:solidFill>
                        <a:srgbClr val="FFFFFF"/>
                      </a:solidFill>
                      <a:prstDash val="solid"/>
                    </a:lnR>
                    <a:lnT w="3175">
                      <a:solidFill>
                        <a:srgbClr val="000000"/>
                      </a:solidFill>
                      <a:prstDash val="solid"/>
                    </a:lnT>
                    <a:lnB w="3175">
                      <a:solidFill>
                        <a:srgbClr val="000000"/>
                      </a:solidFill>
                      <a:prstDash val="solid"/>
                    </a:lnB>
                  </a:tcPr>
                </a:tc>
                <a:extLst>
                  <a:ext uri="{0D108BD9-81ED-4DB2-BD59-A6C34878D82A}">
                    <a16:rowId xmlns:a16="http://schemas.microsoft.com/office/drawing/2014/main" val="10022"/>
                  </a:ext>
                </a:extLst>
              </a:tr>
              <a:tr h="245110">
                <a:tc>
                  <a:txBody>
                    <a:bodyPr/>
                    <a:lstStyle/>
                    <a:p>
                      <a:pPr marL="218440">
                        <a:lnSpc>
                          <a:spcPct val="100000"/>
                        </a:lnSpc>
                        <a:spcBef>
                          <a:spcPts val="380"/>
                        </a:spcBef>
                      </a:pPr>
                      <a:r>
                        <a:rPr sz="900" dirty="0">
                          <a:latin typeface="Arial"/>
                          <a:cs typeface="Arial"/>
                        </a:rPr>
                        <a:t>VREFI</a:t>
                      </a:r>
                    </a:p>
                  </a:txBody>
                  <a:tcPr marL="0" marR="0" marT="48260" marB="0">
                    <a:lnL w="12700">
                      <a:solidFill>
                        <a:srgbClr val="FFFFFF"/>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L="1270" algn="ctr">
                        <a:lnSpc>
                          <a:spcPct val="100000"/>
                        </a:lnSpc>
                        <a:spcBef>
                          <a:spcPts val="380"/>
                        </a:spcBef>
                      </a:pPr>
                      <a:r>
                        <a:rPr sz="900" spc="-5" dirty="0">
                          <a:latin typeface="Arial"/>
                          <a:cs typeface="Arial"/>
                        </a:rPr>
                        <a:t>35</a:t>
                      </a:r>
                      <a:endParaRPr sz="900" dirty="0">
                        <a:latin typeface="Arial"/>
                        <a:cs typeface="Arial"/>
                      </a:endParaRPr>
                    </a:p>
                  </a:txBody>
                  <a:tcPr marL="0" marR="0" marT="4826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R="238760" algn="r">
                        <a:lnSpc>
                          <a:spcPct val="100000"/>
                        </a:lnSpc>
                        <a:spcBef>
                          <a:spcPts val="380"/>
                        </a:spcBef>
                      </a:pPr>
                      <a:r>
                        <a:rPr sz="900" dirty="0">
                          <a:latin typeface="Arial"/>
                          <a:cs typeface="Arial"/>
                        </a:rPr>
                        <a:t>I</a:t>
                      </a:r>
                    </a:p>
                  </a:txBody>
                  <a:tcPr marL="0" marR="0" marT="4826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R="409575" algn="r">
                        <a:lnSpc>
                          <a:spcPct val="100000"/>
                        </a:lnSpc>
                        <a:spcBef>
                          <a:spcPts val="380"/>
                        </a:spcBef>
                      </a:pPr>
                      <a:r>
                        <a:rPr sz="900" spc="-5" dirty="0">
                          <a:latin typeface="Arial"/>
                          <a:cs typeface="Arial"/>
                        </a:rPr>
                        <a:t>Power</a:t>
                      </a:r>
                      <a:endParaRPr sz="900" dirty="0">
                        <a:latin typeface="Arial"/>
                        <a:cs typeface="Arial"/>
                      </a:endParaRPr>
                    </a:p>
                  </a:txBody>
                  <a:tcPr marL="0" marR="0" marT="4826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L="1270" algn="ctr">
                        <a:lnSpc>
                          <a:spcPct val="100000"/>
                        </a:lnSpc>
                        <a:spcBef>
                          <a:spcPts val="380"/>
                        </a:spcBef>
                      </a:pPr>
                      <a:r>
                        <a:rPr sz="900" dirty="0">
                          <a:latin typeface="Arial"/>
                          <a:cs typeface="Arial"/>
                        </a:rPr>
                        <a:t>VREF</a:t>
                      </a:r>
                      <a:r>
                        <a:rPr sz="900" spc="-35" dirty="0">
                          <a:latin typeface="Arial"/>
                          <a:cs typeface="Arial"/>
                        </a:rPr>
                        <a:t> </a:t>
                      </a:r>
                      <a:r>
                        <a:rPr sz="900" spc="-5" dirty="0">
                          <a:latin typeface="Arial"/>
                          <a:cs typeface="Arial"/>
                        </a:rPr>
                        <a:t>input</a:t>
                      </a:r>
                      <a:endParaRPr sz="900" dirty="0">
                        <a:latin typeface="Arial"/>
                        <a:cs typeface="Arial"/>
                      </a:endParaRPr>
                    </a:p>
                  </a:txBody>
                  <a:tcPr marL="0" marR="0" marT="4826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R="74930" algn="r">
                        <a:lnSpc>
                          <a:spcPct val="100000"/>
                        </a:lnSpc>
                        <a:spcBef>
                          <a:spcPts val="380"/>
                        </a:spcBef>
                      </a:pPr>
                      <a:r>
                        <a:rPr sz="900" spc="-5" dirty="0">
                          <a:latin typeface="Arial"/>
                          <a:cs typeface="Arial"/>
                        </a:rPr>
                        <a:t>Must</a:t>
                      </a:r>
                      <a:r>
                        <a:rPr sz="900" spc="-30" dirty="0">
                          <a:latin typeface="Arial"/>
                          <a:cs typeface="Arial"/>
                        </a:rPr>
                        <a:t> </a:t>
                      </a:r>
                      <a:r>
                        <a:rPr sz="900" dirty="0">
                          <a:latin typeface="Arial"/>
                          <a:cs typeface="Arial"/>
                        </a:rPr>
                        <a:t>Attach</a:t>
                      </a:r>
                      <a:r>
                        <a:rPr sz="900" spc="-40" dirty="0">
                          <a:latin typeface="Arial"/>
                          <a:cs typeface="Arial"/>
                        </a:rPr>
                        <a:t> </a:t>
                      </a:r>
                      <a:r>
                        <a:rPr sz="900" dirty="0">
                          <a:latin typeface="Arial"/>
                          <a:cs typeface="Arial"/>
                        </a:rPr>
                        <a:t>1uF</a:t>
                      </a:r>
                    </a:p>
                  </a:txBody>
                  <a:tcPr marL="0" marR="0" marT="48260" marB="0">
                    <a:lnL w="3175">
                      <a:solidFill>
                        <a:srgbClr val="000000"/>
                      </a:solidFill>
                      <a:prstDash val="solid"/>
                    </a:lnL>
                    <a:lnR w="12700">
                      <a:solidFill>
                        <a:srgbClr val="FFFFFF"/>
                      </a:solidFill>
                      <a:prstDash val="solid"/>
                    </a:lnR>
                    <a:lnT w="3175">
                      <a:solidFill>
                        <a:srgbClr val="000000"/>
                      </a:solidFill>
                      <a:prstDash val="solid"/>
                    </a:lnT>
                    <a:lnB w="3175">
                      <a:solidFill>
                        <a:srgbClr val="000000"/>
                      </a:solidFill>
                      <a:prstDash val="solid"/>
                    </a:lnB>
                  </a:tcPr>
                </a:tc>
                <a:extLst>
                  <a:ext uri="{0D108BD9-81ED-4DB2-BD59-A6C34878D82A}">
                    <a16:rowId xmlns:a16="http://schemas.microsoft.com/office/drawing/2014/main" val="10023"/>
                  </a:ext>
                </a:extLst>
              </a:tr>
              <a:tr h="245110">
                <a:tc>
                  <a:txBody>
                    <a:bodyPr/>
                    <a:lstStyle/>
                    <a:p>
                      <a:pPr marL="190500">
                        <a:lnSpc>
                          <a:spcPct val="100000"/>
                        </a:lnSpc>
                        <a:spcBef>
                          <a:spcPts val="385"/>
                        </a:spcBef>
                      </a:pPr>
                      <a:r>
                        <a:rPr sz="900" dirty="0">
                          <a:latin typeface="Arial"/>
                          <a:cs typeface="Arial"/>
                        </a:rPr>
                        <a:t>VREFO</a:t>
                      </a:r>
                    </a:p>
                  </a:txBody>
                  <a:tcPr marL="0" marR="0" marT="48895" marB="0">
                    <a:lnL w="12700">
                      <a:solidFill>
                        <a:srgbClr val="FFFFFF"/>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L="1270" algn="ctr">
                        <a:lnSpc>
                          <a:spcPct val="100000"/>
                        </a:lnSpc>
                        <a:spcBef>
                          <a:spcPts val="385"/>
                        </a:spcBef>
                      </a:pPr>
                      <a:r>
                        <a:rPr sz="900" spc="-5" dirty="0">
                          <a:latin typeface="Arial"/>
                          <a:cs typeface="Arial"/>
                        </a:rPr>
                        <a:t>36</a:t>
                      </a:r>
                      <a:endParaRPr sz="900" dirty="0">
                        <a:latin typeface="Arial"/>
                        <a:cs typeface="Arial"/>
                      </a:endParaRPr>
                    </a:p>
                  </a:txBody>
                  <a:tcPr marL="0" marR="0" marT="48895"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R="210185" algn="r">
                        <a:lnSpc>
                          <a:spcPct val="100000"/>
                        </a:lnSpc>
                        <a:spcBef>
                          <a:spcPts val="385"/>
                        </a:spcBef>
                      </a:pPr>
                      <a:r>
                        <a:rPr sz="900" dirty="0">
                          <a:latin typeface="Arial"/>
                          <a:cs typeface="Arial"/>
                        </a:rPr>
                        <a:t>O</a:t>
                      </a:r>
                    </a:p>
                  </a:txBody>
                  <a:tcPr marL="0" marR="0" marT="48895"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R="409575" algn="r">
                        <a:lnSpc>
                          <a:spcPct val="100000"/>
                        </a:lnSpc>
                        <a:spcBef>
                          <a:spcPts val="385"/>
                        </a:spcBef>
                      </a:pPr>
                      <a:r>
                        <a:rPr sz="900" spc="-5" dirty="0">
                          <a:latin typeface="Arial"/>
                          <a:cs typeface="Arial"/>
                        </a:rPr>
                        <a:t>Power</a:t>
                      </a:r>
                      <a:endParaRPr sz="900" dirty="0">
                        <a:latin typeface="Arial"/>
                        <a:cs typeface="Arial"/>
                      </a:endParaRPr>
                    </a:p>
                  </a:txBody>
                  <a:tcPr marL="0" marR="0" marT="48895"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L="1270" algn="ctr">
                        <a:lnSpc>
                          <a:spcPct val="100000"/>
                        </a:lnSpc>
                        <a:spcBef>
                          <a:spcPts val="385"/>
                        </a:spcBef>
                      </a:pPr>
                      <a:r>
                        <a:rPr sz="900" dirty="0">
                          <a:latin typeface="Arial"/>
                          <a:cs typeface="Arial"/>
                        </a:rPr>
                        <a:t>VREF</a:t>
                      </a:r>
                      <a:r>
                        <a:rPr sz="900" spc="-50" dirty="0">
                          <a:latin typeface="Arial"/>
                          <a:cs typeface="Arial"/>
                        </a:rPr>
                        <a:t> </a:t>
                      </a:r>
                      <a:r>
                        <a:rPr sz="900" dirty="0">
                          <a:latin typeface="Arial"/>
                          <a:cs typeface="Arial"/>
                        </a:rPr>
                        <a:t>output</a:t>
                      </a:r>
                    </a:p>
                  </a:txBody>
                  <a:tcPr marL="0" marR="0" marT="48895"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R="31750" algn="r">
                        <a:lnSpc>
                          <a:spcPct val="100000"/>
                        </a:lnSpc>
                        <a:spcBef>
                          <a:spcPts val="385"/>
                        </a:spcBef>
                      </a:pPr>
                      <a:r>
                        <a:rPr sz="900" dirty="0">
                          <a:latin typeface="Arial"/>
                          <a:cs typeface="Arial"/>
                        </a:rPr>
                        <a:t>Connect</a:t>
                      </a:r>
                      <a:r>
                        <a:rPr sz="900" spc="-55" dirty="0">
                          <a:latin typeface="Arial"/>
                          <a:cs typeface="Arial"/>
                        </a:rPr>
                        <a:t> </a:t>
                      </a:r>
                      <a:r>
                        <a:rPr sz="900" dirty="0">
                          <a:latin typeface="Arial"/>
                          <a:cs typeface="Arial"/>
                        </a:rPr>
                        <a:t>to</a:t>
                      </a:r>
                      <a:r>
                        <a:rPr sz="900" spc="-40" dirty="0">
                          <a:latin typeface="Arial"/>
                          <a:cs typeface="Arial"/>
                        </a:rPr>
                        <a:t> </a:t>
                      </a:r>
                      <a:r>
                        <a:rPr sz="900" dirty="0">
                          <a:latin typeface="Arial"/>
                          <a:cs typeface="Arial"/>
                        </a:rPr>
                        <a:t>VREFI</a:t>
                      </a:r>
                    </a:p>
                  </a:txBody>
                  <a:tcPr marL="0" marR="0" marT="48895" marB="0">
                    <a:lnL w="3175">
                      <a:solidFill>
                        <a:srgbClr val="000000"/>
                      </a:solidFill>
                      <a:prstDash val="solid"/>
                    </a:lnL>
                    <a:lnR w="12700">
                      <a:solidFill>
                        <a:srgbClr val="FFFFFF"/>
                      </a:solidFill>
                      <a:prstDash val="solid"/>
                    </a:lnR>
                    <a:lnT w="3175">
                      <a:solidFill>
                        <a:srgbClr val="000000"/>
                      </a:solidFill>
                      <a:prstDash val="solid"/>
                    </a:lnT>
                    <a:lnB w="3175">
                      <a:solidFill>
                        <a:srgbClr val="000000"/>
                      </a:solidFill>
                      <a:prstDash val="solid"/>
                    </a:lnB>
                  </a:tcPr>
                </a:tc>
                <a:extLst>
                  <a:ext uri="{0D108BD9-81ED-4DB2-BD59-A6C34878D82A}">
                    <a16:rowId xmlns:a16="http://schemas.microsoft.com/office/drawing/2014/main" val="10024"/>
                  </a:ext>
                </a:extLst>
              </a:tr>
              <a:tr h="245110">
                <a:tc>
                  <a:txBody>
                    <a:bodyPr/>
                    <a:lstStyle/>
                    <a:p>
                      <a:pPr marR="154305" algn="r">
                        <a:lnSpc>
                          <a:spcPct val="100000"/>
                        </a:lnSpc>
                        <a:spcBef>
                          <a:spcPts val="380"/>
                        </a:spcBef>
                      </a:pPr>
                      <a:r>
                        <a:rPr sz="900" spc="-5" dirty="0">
                          <a:latin typeface="Arial"/>
                          <a:cs typeface="Arial"/>
                        </a:rPr>
                        <a:t>VDD15D</a:t>
                      </a:r>
                      <a:endParaRPr sz="900" dirty="0">
                        <a:latin typeface="Arial"/>
                        <a:cs typeface="Arial"/>
                      </a:endParaRPr>
                    </a:p>
                  </a:txBody>
                  <a:tcPr marL="0" marR="0" marT="48260" marB="0">
                    <a:lnL w="12700">
                      <a:solidFill>
                        <a:srgbClr val="FFFFFF"/>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L="1270" algn="ctr">
                        <a:lnSpc>
                          <a:spcPct val="100000"/>
                        </a:lnSpc>
                        <a:spcBef>
                          <a:spcPts val="380"/>
                        </a:spcBef>
                      </a:pPr>
                      <a:r>
                        <a:rPr sz="900" spc="-5" dirty="0">
                          <a:latin typeface="Arial"/>
                          <a:cs typeface="Arial"/>
                        </a:rPr>
                        <a:t>37</a:t>
                      </a:r>
                      <a:endParaRPr sz="900" dirty="0">
                        <a:latin typeface="Arial"/>
                        <a:cs typeface="Arial"/>
                      </a:endParaRPr>
                    </a:p>
                  </a:txBody>
                  <a:tcPr marL="0" marR="0" marT="4826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R="235585" algn="r">
                        <a:lnSpc>
                          <a:spcPct val="100000"/>
                        </a:lnSpc>
                        <a:spcBef>
                          <a:spcPts val="380"/>
                        </a:spcBef>
                      </a:pPr>
                      <a:r>
                        <a:rPr sz="900" dirty="0">
                          <a:latin typeface="Arial"/>
                          <a:cs typeface="Arial"/>
                        </a:rPr>
                        <a:t>-</a:t>
                      </a:r>
                    </a:p>
                  </a:txBody>
                  <a:tcPr marL="0" marR="0" marT="4826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R="409575" algn="r">
                        <a:lnSpc>
                          <a:spcPct val="100000"/>
                        </a:lnSpc>
                        <a:spcBef>
                          <a:spcPts val="380"/>
                        </a:spcBef>
                      </a:pPr>
                      <a:r>
                        <a:rPr sz="900" spc="-5" dirty="0">
                          <a:latin typeface="Arial"/>
                          <a:cs typeface="Arial"/>
                        </a:rPr>
                        <a:t>Power</a:t>
                      </a:r>
                      <a:endParaRPr sz="900" dirty="0">
                        <a:latin typeface="Arial"/>
                        <a:cs typeface="Arial"/>
                      </a:endParaRPr>
                    </a:p>
                  </a:txBody>
                  <a:tcPr marL="0" marR="0" marT="4826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gn="ctr">
                        <a:lnSpc>
                          <a:spcPct val="100000"/>
                        </a:lnSpc>
                        <a:spcBef>
                          <a:spcPts val="380"/>
                        </a:spcBef>
                      </a:pPr>
                      <a:r>
                        <a:rPr sz="900" dirty="0">
                          <a:latin typeface="Arial"/>
                          <a:cs typeface="Arial"/>
                        </a:rPr>
                        <a:t>Internal</a:t>
                      </a:r>
                      <a:r>
                        <a:rPr sz="900" spc="-35" dirty="0">
                          <a:latin typeface="Arial"/>
                          <a:cs typeface="Arial"/>
                        </a:rPr>
                        <a:t> </a:t>
                      </a:r>
                      <a:r>
                        <a:rPr sz="900" dirty="0">
                          <a:latin typeface="Arial"/>
                          <a:cs typeface="Arial"/>
                        </a:rPr>
                        <a:t>LDO</a:t>
                      </a:r>
                      <a:r>
                        <a:rPr sz="900" spc="-20" dirty="0">
                          <a:latin typeface="Arial"/>
                          <a:cs typeface="Arial"/>
                        </a:rPr>
                        <a:t> </a:t>
                      </a:r>
                      <a:r>
                        <a:rPr sz="900" dirty="0">
                          <a:latin typeface="Arial"/>
                          <a:cs typeface="Arial"/>
                        </a:rPr>
                        <a:t>1.5V</a:t>
                      </a:r>
                      <a:r>
                        <a:rPr sz="900" spc="-25" dirty="0">
                          <a:latin typeface="Arial"/>
                          <a:cs typeface="Arial"/>
                        </a:rPr>
                        <a:t> </a:t>
                      </a:r>
                      <a:r>
                        <a:rPr sz="900" spc="-5" dirty="0">
                          <a:latin typeface="Arial"/>
                          <a:cs typeface="Arial"/>
                        </a:rPr>
                        <a:t>Out,</a:t>
                      </a:r>
                      <a:r>
                        <a:rPr sz="900" spc="215" dirty="0">
                          <a:latin typeface="Arial"/>
                          <a:cs typeface="Arial"/>
                        </a:rPr>
                        <a:t> </a:t>
                      </a:r>
                      <a:r>
                        <a:rPr sz="900" dirty="0">
                          <a:latin typeface="Arial"/>
                          <a:cs typeface="Arial"/>
                        </a:rPr>
                        <a:t>Attach</a:t>
                      </a:r>
                      <a:r>
                        <a:rPr sz="900" spc="-20" dirty="0">
                          <a:latin typeface="Arial"/>
                          <a:cs typeface="Arial"/>
                        </a:rPr>
                        <a:t> </a:t>
                      </a:r>
                      <a:r>
                        <a:rPr sz="900" dirty="0">
                          <a:latin typeface="Arial"/>
                          <a:cs typeface="Arial"/>
                        </a:rPr>
                        <a:t>1uF</a:t>
                      </a:r>
                    </a:p>
                  </a:txBody>
                  <a:tcPr marL="0" marR="0" marT="4826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R="74930" algn="r">
                        <a:lnSpc>
                          <a:spcPct val="100000"/>
                        </a:lnSpc>
                        <a:spcBef>
                          <a:spcPts val="380"/>
                        </a:spcBef>
                      </a:pPr>
                      <a:r>
                        <a:rPr sz="900" spc="-5" dirty="0">
                          <a:latin typeface="Arial"/>
                          <a:cs typeface="Arial"/>
                        </a:rPr>
                        <a:t>Must</a:t>
                      </a:r>
                      <a:r>
                        <a:rPr sz="900" spc="-30" dirty="0">
                          <a:latin typeface="Arial"/>
                          <a:cs typeface="Arial"/>
                        </a:rPr>
                        <a:t> </a:t>
                      </a:r>
                      <a:r>
                        <a:rPr sz="900" dirty="0">
                          <a:latin typeface="Arial"/>
                          <a:cs typeface="Arial"/>
                        </a:rPr>
                        <a:t>Attach</a:t>
                      </a:r>
                      <a:r>
                        <a:rPr sz="900" spc="-40" dirty="0">
                          <a:latin typeface="Arial"/>
                          <a:cs typeface="Arial"/>
                        </a:rPr>
                        <a:t> </a:t>
                      </a:r>
                      <a:r>
                        <a:rPr sz="900" dirty="0">
                          <a:latin typeface="Arial"/>
                          <a:cs typeface="Arial"/>
                        </a:rPr>
                        <a:t>1uF</a:t>
                      </a:r>
                    </a:p>
                  </a:txBody>
                  <a:tcPr marL="0" marR="0" marT="48260" marB="0">
                    <a:lnL w="3175">
                      <a:solidFill>
                        <a:srgbClr val="000000"/>
                      </a:solidFill>
                      <a:prstDash val="solid"/>
                    </a:lnL>
                    <a:lnR w="12700">
                      <a:solidFill>
                        <a:srgbClr val="FFFFFF"/>
                      </a:solidFill>
                      <a:prstDash val="solid"/>
                    </a:lnR>
                    <a:lnT w="3175">
                      <a:solidFill>
                        <a:srgbClr val="000000"/>
                      </a:solidFill>
                      <a:prstDash val="solid"/>
                    </a:lnT>
                    <a:lnB w="3175">
                      <a:solidFill>
                        <a:srgbClr val="000000"/>
                      </a:solidFill>
                      <a:prstDash val="solid"/>
                    </a:lnB>
                  </a:tcPr>
                </a:tc>
                <a:extLst>
                  <a:ext uri="{0D108BD9-81ED-4DB2-BD59-A6C34878D82A}">
                    <a16:rowId xmlns:a16="http://schemas.microsoft.com/office/drawing/2014/main" val="10025"/>
                  </a:ext>
                </a:extLst>
              </a:tr>
              <a:tr h="245110">
                <a:tc>
                  <a:txBody>
                    <a:bodyPr/>
                    <a:lstStyle/>
                    <a:p>
                      <a:pPr marL="196850">
                        <a:lnSpc>
                          <a:spcPct val="100000"/>
                        </a:lnSpc>
                        <a:spcBef>
                          <a:spcPts val="385"/>
                        </a:spcBef>
                      </a:pPr>
                      <a:r>
                        <a:rPr sz="900" spc="-5" dirty="0">
                          <a:latin typeface="Arial"/>
                          <a:cs typeface="Arial"/>
                        </a:rPr>
                        <a:t>HOLD5</a:t>
                      </a:r>
                      <a:endParaRPr sz="900" dirty="0">
                        <a:latin typeface="Arial"/>
                        <a:cs typeface="Arial"/>
                      </a:endParaRPr>
                    </a:p>
                  </a:txBody>
                  <a:tcPr marL="0" marR="0" marT="48895" marB="0">
                    <a:lnL w="12700">
                      <a:solidFill>
                        <a:srgbClr val="FFFFFF"/>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gn="ctr">
                        <a:lnSpc>
                          <a:spcPct val="100000"/>
                        </a:lnSpc>
                        <a:spcBef>
                          <a:spcPts val="385"/>
                        </a:spcBef>
                      </a:pPr>
                      <a:r>
                        <a:rPr sz="900" spc="-5" dirty="0">
                          <a:latin typeface="Arial"/>
                          <a:cs typeface="Arial"/>
                        </a:rPr>
                        <a:t>38</a:t>
                      </a:r>
                      <a:endParaRPr sz="900" dirty="0">
                        <a:latin typeface="Arial"/>
                        <a:cs typeface="Arial"/>
                      </a:endParaRPr>
                    </a:p>
                  </a:txBody>
                  <a:tcPr marL="0" marR="0" marT="48895"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R="210185" algn="r">
                        <a:lnSpc>
                          <a:spcPct val="100000"/>
                        </a:lnSpc>
                        <a:spcBef>
                          <a:spcPts val="385"/>
                        </a:spcBef>
                      </a:pPr>
                      <a:r>
                        <a:rPr sz="900" dirty="0">
                          <a:latin typeface="Arial"/>
                          <a:cs typeface="Arial"/>
                        </a:rPr>
                        <a:t>O</a:t>
                      </a:r>
                    </a:p>
                  </a:txBody>
                  <a:tcPr marL="0" marR="0" marT="48895"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R="412115" algn="r">
                        <a:lnSpc>
                          <a:spcPct val="100000"/>
                        </a:lnSpc>
                        <a:spcBef>
                          <a:spcPts val="385"/>
                        </a:spcBef>
                      </a:pPr>
                      <a:r>
                        <a:rPr sz="900" dirty="0">
                          <a:latin typeface="Arial"/>
                          <a:cs typeface="Arial"/>
                        </a:rPr>
                        <a:t>Digital</a:t>
                      </a:r>
                    </a:p>
                  </a:txBody>
                  <a:tcPr marL="0" marR="0" marT="48895"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gn="ctr">
                        <a:lnSpc>
                          <a:spcPct val="100000"/>
                        </a:lnSpc>
                        <a:spcBef>
                          <a:spcPts val="385"/>
                        </a:spcBef>
                      </a:pPr>
                      <a:r>
                        <a:rPr sz="900" dirty="0">
                          <a:latin typeface="Arial"/>
                          <a:cs typeface="Arial"/>
                        </a:rPr>
                        <a:t>Strobe</a:t>
                      </a:r>
                      <a:r>
                        <a:rPr sz="900" spc="-35" dirty="0">
                          <a:latin typeface="Arial"/>
                          <a:cs typeface="Arial"/>
                        </a:rPr>
                        <a:t> </a:t>
                      </a:r>
                      <a:r>
                        <a:rPr sz="900" dirty="0">
                          <a:latin typeface="Arial"/>
                          <a:cs typeface="Arial"/>
                        </a:rPr>
                        <a:t>to</a:t>
                      </a:r>
                      <a:r>
                        <a:rPr sz="900" spc="-30" dirty="0">
                          <a:latin typeface="Arial"/>
                          <a:cs typeface="Arial"/>
                        </a:rPr>
                        <a:t> </a:t>
                      </a:r>
                      <a:r>
                        <a:rPr sz="900" dirty="0">
                          <a:latin typeface="Arial"/>
                          <a:cs typeface="Arial"/>
                        </a:rPr>
                        <a:t>AQ</a:t>
                      </a:r>
                      <a:r>
                        <a:rPr sz="900" spc="-30" dirty="0">
                          <a:latin typeface="Arial"/>
                          <a:cs typeface="Arial"/>
                        </a:rPr>
                        <a:t> </a:t>
                      </a:r>
                      <a:r>
                        <a:rPr sz="900" dirty="0">
                          <a:latin typeface="Arial"/>
                          <a:cs typeface="Arial"/>
                        </a:rPr>
                        <a:t>series</a:t>
                      </a:r>
                    </a:p>
                  </a:txBody>
                  <a:tcPr marL="0" marR="0" marT="48895"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nSpc>
                          <a:spcPct val="100000"/>
                        </a:lnSpc>
                      </a:pPr>
                      <a:endParaRPr sz="900" dirty="0">
                        <a:latin typeface="Times New Roman"/>
                        <a:cs typeface="Times New Roman"/>
                      </a:endParaRPr>
                    </a:p>
                  </a:txBody>
                  <a:tcPr marL="0" marR="0" marT="0" marB="0">
                    <a:lnL w="3175">
                      <a:solidFill>
                        <a:srgbClr val="000000"/>
                      </a:solidFill>
                      <a:prstDash val="solid"/>
                    </a:lnL>
                    <a:lnR w="12700">
                      <a:solidFill>
                        <a:srgbClr val="FFFFFF"/>
                      </a:solidFill>
                      <a:prstDash val="solid"/>
                    </a:lnR>
                    <a:lnT w="3175">
                      <a:solidFill>
                        <a:srgbClr val="000000"/>
                      </a:solidFill>
                      <a:prstDash val="solid"/>
                    </a:lnT>
                    <a:lnB w="3175">
                      <a:solidFill>
                        <a:srgbClr val="000000"/>
                      </a:solidFill>
                      <a:prstDash val="solid"/>
                    </a:lnB>
                  </a:tcPr>
                </a:tc>
                <a:extLst>
                  <a:ext uri="{0D108BD9-81ED-4DB2-BD59-A6C34878D82A}">
                    <a16:rowId xmlns:a16="http://schemas.microsoft.com/office/drawing/2014/main" val="10026"/>
                  </a:ext>
                </a:extLst>
              </a:tr>
              <a:tr h="245110">
                <a:tc>
                  <a:txBody>
                    <a:bodyPr/>
                    <a:lstStyle/>
                    <a:p>
                      <a:pPr algn="ctr">
                        <a:lnSpc>
                          <a:spcPct val="100000"/>
                        </a:lnSpc>
                        <a:spcBef>
                          <a:spcPts val="385"/>
                        </a:spcBef>
                      </a:pPr>
                      <a:r>
                        <a:rPr sz="900" spc="-5" dirty="0">
                          <a:latin typeface="Arial"/>
                          <a:cs typeface="Arial"/>
                        </a:rPr>
                        <a:t>CS5</a:t>
                      </a:r>
                      <a:endParaRPr sz="900" dirty="0">
                        <a:latin typeface="Arial"/>
                        <a:cs typeface="Arial"/>
                      </a:endParaRPr>
                    </a:p>
                  </a:txBody>
                  <a:tcPr marL="0" marR="0" marT="48895" marB="0">
                    <a:lnL w="12700">
                      <a:solidFill>
                        <a:srgbClr val="FFFFFF"/>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gn="ctr">
                        <a:lnSpc>
                          <a:spcPct val="100000"/>
                        </a:lnSpc>
                        <a:spcBef>
                          <a:spcPts val="385"/>
                        </a:spcBef>
                      </a:pPr>
                      <a:r>
                        <a:rPr sz="900" spc="-5" dirty="0">
                          <a:latin typeface="Arial"/>
                          <a:cs typeface="Arial"/>
                        </a:rPr>
                        <a:t>39</a:t>
                      </a:r>
                      <a:endParaRPr sz="900" dirty="0">
                        <a:latin typeface="Arial"/>
                        <a:cs typeface="Arial"/>
                      </a:endParaRPr>
                    </a:p>
                  </a:txBody>
                  <a:tcPr marL="0" marR="0" marT="48895"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R="210185" algn="r">
                        <a:lnSpc>
                          <a:spcPct val="100000"/>
                        </a:lnSpc>
                        <a:spcBef>
                          <a:spcPts val="385"/>
                        </a:spcBef>
                      </a:pPr>
                      <a:r>
                        <a:rPr sz="900" dirty="0">
                          <a:latin typeface="Arial"/>
                          <a:cs typeface="Arial"/>
                        </a:rPr>
                        <a:t>O</a:t>
                      </a:r>
                    </a:p>
                  </a:txBody>
                  <a:tcPr marL="0" marR="0" marT="48895"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R="412115" algn="r">
                        <a:lnSpc>
                          <a:spcPct val="100000"/>
                        </a:lnSpc>
                        <a:spcBef>
                          <a:spcPts val="385"/>
                        </a:spcBef>
                      </a:pPr>
                      <a:r>
                        <a:rPr sz="900" dirty="0">
                          <a:latin typeface="Arial"/>
                          <a:cs typeface="Arial"/>
                        </a:rPr>
                        <a:t>Digital</a:t>
                      </a:r>
                    </a:p>
                  </a:txBody>
                  <a:tcPr marL="0" marR="0" marT="48895"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gn="ctr">
                        <a:lnSpc>
                          <a:spcPct val="100000"/>
                        </a:lnSpc>
                        <a:spcBef>
                          <a:spcPts val="385"/>
                        </a:spcBef>
                      </a:pPr>
                      <a:r>
                        <a:rPr sz="900" dirty="0">
                          <a:latin typeface="Arial"/>
                          <a:cs typeface="Arial"/>
                        </a:rPr>
                        <a:t>Chip</a:t>
                      </a:r>
                      <a:r>
                        <a:rPr sz="900" spc="-30" dirty="0">
                          <a:latin typeface="Arial"/>
                          <a:cs typeface="Arial"/>
                        </a:rPr>
                        <a:t> </a:t>
                      </a:r>
                      <a:r>
                        <a:rPr sz="900" dirty="0">
                          <a:latin typeface="Arial"/>
                          <a:cs typeface="Arial"/>
                        </a:rPr>
                        <a:t>Select</a:t>
                      </a:r>
                      <a:r>
                        <a:rPr sz="900" spc="-40" dirty="0">
                          <a:latin typeface="Arial"/>
                          <a:cs typeface="Arial"/>
                        </a:rPr>
                        <a:t> </a:t>
                      </a:r>
                      <a:r>
                        <a:rPr sz="900" dirty="0">
                          <a:latin typeface="Arial"/>
                          <a:cs typeface="Arial"/>
                        </a:rPr>
                        <a:t>to</a:t>
                      </a:r>
                      <a:r>
                        <a:rPr sz="900" spc="-25" dirty="0">
                          <a:latin typeface="Arial"/>
                          <a:cs typeface="Arial"/>
                        </a:rPr>
                        <a:t> </a:t>
                      </a:r>
                      <a:r>
                        <a:rPr sz="900" dirty="0">
                          <a:latin typeface="Arial"/>
                          <a:cs typeface="Arial"/>
                        </a:rPr>
                        <a:t>AQ</a:t>
                      </a:r>
                      <a:r>
                        <a:rPr sz="900" spc="-15" dirty="0">
                          <a:latin typeface="Arial"/>
                          <a:cs typeface="Arial"/>
                        </a:rPr>
                        <a:t> </a:t>
                      </a:r>
                      <a:r>
                        <a:rPr sz="900" dirty="0">
                          <a:latin typeface="Arial"/>
                          <a:cs typeface="Arial"/>
                        </a:rPr>
                        <a:t>series</a:t>
                      </a:r>
                    </a:p>
                  </a:txBody>
                  <a:tcPr marL="0" marR="0" marT="48895"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nSpc>
                          <a:spcPct val="100000"/>
                        </a:lnSpc>
                      </a:pPr>
                      <a:endParaRPr sz="900" dirty="0">
                        <a:latin typeface="Times New Roman"/>
                        <a:cs typeface="Times New Roman"/>
                      </a:endParaRPr>
                    </a:p>
                  </a:txBody>
                  <a:tcPr marL="0" marR="0" marT="0" marB="0">
                    <a:lnL w="3175">
                      <a:solidFill>
                        <a:srgbClr val="000000"/>
                      </a:solidFill>
                      <a:prstDash val="solid"/>
                    </a:lnL>
                    <a:lnR w="12700">
                      <a:solidFill>
                        <a:srgbClr val="FFFFFF"/>
                      </a:solidFill>
                      <a:prstDash val="solid"/>
                    </a:lnR>
                    <a:lnT w="3175">
                      <a:solidFill>
                        <a:srgbClr val="000000"/>
                      </a:solidFill>
                      <a:prstDash val="solid"/>
                    </a:lnT>
                    <a:lnB w="3175">
                      <a:solidFill>
                        <a:srgbClr val="000000"/>
                      </a:solidFill>
                      <a:prstDash val="solid"/>
                    </a:lnB>
                  </a:tcPr>
                </a:tc>
                <a:extLst>
                  <a:ext uri="{0D108BD9-81ED-4DB2-BD59-A6C34878D82A}">
                    <a16:rowId xmlns:a16="http://schemas.microsoft.com/office/drawing/2014/main" val="10027"/>
                  </a:ext>
                </a:extLst>
              </a:tr>
              <a:tr h="244475">
                <a:tc>
                  <a:txBody>
                    <a:bodyPr/>
                    <a:lstStyle/>
                    <a:p>
                      <a:pPr marL="196850">
                        <a:lnSpc>
                          <a:spcPct val="100000"/>
                        </a:lnSpc>
                        <a:spcBef>
                          <a:spcPts val="409"/>
                        </a:spcBef>
                      </a:pPr>
                      <a:r>
                        <a:rPr sz="900" spc="-5" dirty="0">
                          <a:latin typeface="Arial"/>
                          <a:cs typeface="Arial"/>
                        </a:rPr>
                        <a:t>HOLD4</a:t>
                      </a:r>
                      <a:endParaRPr sz="900" dirty="0">
                        <a:latin typeface="Arial"/>
                        <a:cs typeface="Arial"/>
                      </a:endParaRPr>
                    </a:p>
                  </a:txBody>
                  <a:tcPr marL="0" marR="0" marT="52069" marB="0">
                    <a:lnL w="12700">
                      <a:solidFill>
                        <a:srgbClr val="FFFFFF"/>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gn="ctr">
                        <a:lnSpc>
                          <a:spcPct val="100000"/>
                        </a:lnSpc>
                        <a:spcBef>
                          <a:spcPts val="409"/>
                        </a:spcBef>
                      </a:pPr>
                      <a:r>
                        <a:rPr sz="900" spc="-5" dirty="0">
                          <a:latin typeface="Arial"/>
                          <a:cs typeface="Arial"/>
                        </a:rPr>
                        <a:t>40</a:t>
                      </a:r>
                      <a:endParaRPr sz="900" dirty="0">
                        <a:latin typeface="Arial"/>
                        <a:cs typeface="Arial"/>
                      </a:endParaRPr>
                    </a:p>
                  </a:txBody>
                  <a:tcPr marL="0" marR="0" marT="52069"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R="210185" algn="r">
                        <a:lnSpc>
                          <a:spcPct val="100000"/>
                        </a:lnSpc>
                        <a:spcBef>
                          <a:spcPts val="385"/>
                        </a:spcBef>
                      </a:pPr>
                      <a:r>
                        <a:rPr sz="900" dirty="0">
                          <a:latin typeface="Arial"/>
                          <a:cs typeface="Arial"/>
                        </a:rPr>
                        <a:t>O</a:t>
                      </a:r>
                    </a:p>
                  </a:txBody>
                  <a:tcPr marL="0" marR="0" marT="48895"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R="412115" algn="r">
                        <a:lnSpc>
                          <a:spcPct val="100000"/>
                        </a:lnSpc>
                        <a:spcBef>
                          <a:spcPts val="385"/>
                        </a:spcBef>
                      </a:pPr>
                      <a:r>
                        <a:rPr sz="900" dirty="0">
                          <a:latin typeface="Arial"/>
                          <a:cs typeface="Arial"/>
                        </a:rPr>
                        <a:t>Digital</a:t>
                      </a:r>
                    </a:p>
                  </a:txBody>
                  <a:tcPr marL="0" marR="0" marT="48895"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gn="ctr">
                        <a:lnSpc>
                          <a:spcPct val="100000"/>
                        </a:lnSpc>
                        <a:spcBef>
                          <a:spcPts val="385"/>
                        </a:spcBef>
                      </a:pPr>
                      <a:r>
                        <a:rPr sz="900" dirty="0">
                          <a:latin typeface="Arial"/>
                          <a:cs typeface="Arial"/>
                        </a:rPr>
                        <a:t>Strobe</a:t>
                      </a:r>
                      <a:r>
                        <a:rPr sz="900" spc="-35" dirty="0">
                          <a:latin typeface="Arial"/>
                          <a:cs typeface="Arial"/>
                        </a:rPr>
                        <a:t> </a:t>
                      </a:r>
                      <a:r>
                        <a:rPr sz="900" dirty="0">
                          <a:latin typeface="Arial"/>
                          <a:cs typeface="Arial"/>
                        </a:rPr>
                        <a:t>to</a:t>
                      </a:r>
                      <a:r>
                        <a:rPr sz="900" spc="-30" dirty="0">
                          <a:latin typeface="Arial"/>
                          <a:cs typeface="Arial"/>
                        </a:rPr>
                        <a:t> </a:t>
                      </a:r>
                      <a:r>
                        <a:rPr sz="900" dirty="0">
                          <a:latin typeface="Arial"/>
                          <a:cs typeface="Arial"/>
                        </a:rPr>
                        <a:t>AQ</a:t>
                      </a:r>
                      <a:r>
                        <a:rPr sz="900" spc="-30" dirty="0">
                          <a:latin typeface="Arial"/>
                          <a:cs typeface="Arial"/>
                        </a:rPr>
                        <a:t> </a:t>
                      </a:r>
                      <a:r>
                        <a:rPr sz="900" dirty="0">
                          <a:latin typeface="Arial"/>
                          <a:cs typeface="Arial"/>
                        </a:rPr>
                        <a:t>series</a:t>
                      </a:r>
                    </a:p>
                  </a:txBody>
                  <a:tcPr marL="0" marR="0" marT="48895"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nSpc>
                          <a:spcPct val="100000"/>
                        </a:lnSpc>
                      </a:pPr>
                      <a:endParaRPr sz="900" dirty="0">
                        <a:latin typeface="Times New Roman"/>
                        <a:cs typeface="Times New Roman"/>
                      </a:endParaRPr>
                    </a:p>
                  </a:txBody>
                  <a:tcPr marL="0" marR="0" marT="0" marB="0">
                    <a:lnL w="3175">
                      <a:solidFill>
                        <a:srgbClr val="000000"/>
                      </a:solidFill>
                      <a:prstDash val="solid"/>
                    </a:lnL>
                    <a:lnR w="12700">
                      <a:solidFill>
                        <a:srgbClr val="FFFFFF"/>
                      </a:solidFill>
                      <a:prstDash val="solid"/>
                    </a:lnR>
                    <a:lnT w="3175">
                      <a:solidFill>
                        <a:srgbClr val="000000"/>
                      </a:solidFill>
                      <a:prstDash val="solid"/>
                    </a:lnT>
                    <a:lnB w="3175">
                      <a:solidFill>
                        <a:srgbClr val="000000"/>
                      </a:solidFill>
                      <a:prstDash val="solid"/>
                    </a:lnB>
                  </a:tcPr>
                </a:tc>
                <a:extLst>
                  <a:ext uri="{0D108BD9-81ED-4DB2-BD59-A6C34878D82A}">
                    <a16:rowId xmlns:a16="http://schemas.microsoft.com/office/drawing/2014/main" val="10028"/>
                  </a:ext>
                </a:extLst>
              </a:tr>
              <a:tr h="245110">
                <a:tc>
                  <a:txBody>
                    <a:bodyPr/>
                    <a:lstStyle/>
                    <a:p>
                      <a:pPr algn="ctr">
                        <a:lnSpc>
                          <a:spcPct val="100000"/>
                        </a:lnSpc>
                        <a:spcBef>
                          <a:spcPts val="409"/>
                        </a:spcBef>
                      </a:pPr>
                      <a:r>
                        <a:rPr sz="900" spc="-5" dirty="0">
                          <a:latin typeface="Arial"/>
                          <a:cs typeface="Arial"/>
                        </a:rPr>
                        <a:t>CS4</a:t>
                      </a:r>
                      <a:endParaRPr sz="900" dirty="0">
                        <a:latin typeface="Arial"/>
                        <a:cs typeface="Arial"/>
                      </a:endParaRPr>
                    </a:p>
                  </a:txBody>
                  <a:tcPr marL="0" marR="0" marT="52069" marB="0">
                    <a:lnL w="12700">
                      <a:solidFill>
                        <a:srgbClr val="FFFFFF"/>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gn="ctr">
                        <a:lnSpc>
                          <a:spcPct val="100000"/>
                        </a:lnSpc>
                        <a:spcBef>
                          <a:spcPts val="409"/>
                        </a:spcBef>
                      </a:pPr>
                      <a:r>
                        <a:rPr sz="900" spc="-5" dirty="0">
                          <a:latin typeface="Arial"/>
                          <a:cs typeface="Arial"/>
                        </a:rPr>
                        <a:t>41</a:t>
                      </a:r>
                      <a:endParaRPr sz="900" dirty="0">
                        <a:latin typeface="Arial"/>
                        <a:cs typeface="Arial"/>
                      </a:endParaRPr>
                    </a:p>
                  </a:txBody>
                  <a:tcPr marL="0" marR="0" marT="52069"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R="210185" algn="r">
                        <a:lnSpc>
                          <a:spcPct val="100000"/>
                        </a:lnSpc>
                        <a:spcBef>
                          <a:spcPts val="385"/>
                        </a:spcBef>
                      </a:pPr>
                      <a:r>
                        <a:rPr sz="900" dirty="0">
                          <a:latin typeface="Arial"/>
                          <a:cs typeface="Arial"/>
                        </a:rPr>
                        <a:t>O</a:t>
                      </a:r>
                    </a:p>
                  </a:txBody>
                  <a:tcPr marL="0" marR="0" marT="48895"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R="412115" algn="r">
                        <a:lnSpc>
                          <a:spcPct val="100000"/>
                        </a:lnSpc>
                        <a:spcBef>
                          <a:spcPts val="385"/>
                        </a:spcBef>
                      </a:pPr>
                      <a:r>
                        <a:rPr sz="900" dirty="0">
                          <a:latin typeface="Arial"/>
                          <a:cs typeface="Arial"/>
                        </a:rPr>
                        <a:t>Digital</a:t>
                      </a:r>
                    </a:p>
                  </a:txBody>
                  <a:tcPr marL="0" marR="0" marT="48895"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gn="ctr">
                        <a:lnSpc>
                          <a:spcPct val="100000"/>
                        </a:lnSpc>
                        <a:spcBef>
                          <a:spcPts val="385"/>
                        </a:spcBef>
                      </a:pPr>
                      <a:r>
                        <a:rPr sz="900" dirty="0">
                          <a:latin typeface="Arial"/>
                          <a:cs typeface="Arial"/>
                        </a:rPr>
                        <a:t>Chip</a:t>
                      </a:r>
                      <a:r>
                        <a:rPr sz="900" spc="-30" dirty="0">
                          <a:latin typeface="Arial"/>
                          <a:cs typeface="Arial"/>
                        </a:rPr>
                        <a:t> </a:t>
                      </a:r>
                      <a:r>
                        <a:rPr sz="900" dirty="0">
                          <a:latin typeface="Arial"/>
                          <a:cs typeface="Arial"/>
                        </a:rPr>
                        <a:t>Select</a:t>
                      </a:r>
                      <a:r>
                        <a:rPr sz="900" spc="-40" dirty="0">
                          <a:latin typeface="Arial"/>
                          <a:cs typeface="Arial"/>
                        </a:rPr>
                        <a:t> </a:t>
                      </a:r>
                      <a:r>
                        <a:rPr sz="900" dirty="0">
                          <a:latin typeface="Arial"/>
                          <a:cs typeface="Arial"/>
                        </a:rPr>
                        <a:t>to</a:t>
                      </a:r>
                      <a:r>
                        <a:rPr sz="900" spc="-25" dirty="0">
                          <a:latin typeface="Arial"/>
                          <a:cs typeface="Arial"/>
                        </a:rPr>
                        <a:t> </a:t>
                      </a:r>
                      <a:r>
                        <a:rPr sz="900" dirty="0">
                          <a:latin typeface="Arial"/>
                          <a:cs typeface="Arial"/>
                        </a:rPr>
                        <a:t>AQ</a:t>
                      </a:r>
                      <a:r>
                        <a:rPr sz="900" spc="-15" dirty="0">
                          <a:latin typeface="Arial"/>
                          <a:cs typeface="Arial"/>
                        </a:rPr>
                        <a:t> </a:t>
                      </a:r>
                      <a:r>
                        <a:rPr sz="900" dirty="0">
                          <a:latin typeface="Arial"/>
                          <a:cs typeface="Arial"/>
                        </a:rPr>
                        <a:t>series</a:t>
                      </a:r>
                    </a:p>
                  </a:txBody>
                  <a:tcPr marL="0" marR="0" marT="48895"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nSpc>
                          <a:spcPct val="100000"/>
                        </a:lnSpc>
                      </a:pPr>
                      <a:endParaRPr sz="900" dirty="0">
                        <a:latin typeface="Times New Roman"/>
                        <a:cs typeface="Times New Roman"/>
                      </a:endParaRPr>
                    </a:p>
                  </a:txBody>
                  <a:tcPr marL="0" marR="0" marT="0" marB="0">
                    <a:lnL w="3175">
                      <a:solidFill>
                        <a:srgbClr val="000000"/>
                      </a:solidFill>
                      <a:prstDash val="solid"/>
                    </a:lnL>
                    <a:lnR w="12700">
                      <a:solidFill>
                        <a:srgbClr val="FFFFFF"/>
                      </a:solidFill>
                      <a:prstDash val="solid"/>
                    </a:lnR>
                    <a:lnT w="3175">
                      <a:solidFill>
                        <a:srgbClr val="000000"/>
                      </a:solidFill>
                      <a:prstDash val="solid"/>
                    </a:lnT>
                    <a:lnB w="3175">
                      <a:solidFill>
                        <a:srgbClr val="000000"/>
                      </a:solidFill>
                      <a:prstDash val="solid"/>
                    </a:lnB>
                  </a:tcPr>
                </a:tc>
                <a:extLst>
                  <a:ext uri="{0D108BD9-81ED-4DB2-BD59-A6C34878D82A}">
                    <a16:rowId xmlns:a16="http://schemas.microsoft.com/office/drawing/2014/main" val="10029"/>
                  </a:ext>
                </a:extLst>
              </a:tr>
              <a:tr h="244475">
                <a:tc>
                  <a:txBody>
                    <a:bodyPr/>
                    <a:lstStyle/>
                    <a:p>
                      <a:pPr marL="196850">
                        <a:lnSpc>
                          <a:spcPct val="100000"/>
                        </a:lnSpc>
                        <a:spcBef>
                          <a:spcPts val="409"/>
                        </a:spcBef>
                      </a:pPr>
                      <a:r>
                        <a:rPr sz="900" spc="-5" dirty="0">
                          <a:latin typeface="Arial"/>
                          <a:cs typeface="Arial"/>
                        </a:rPr>
                        <a:t>HOLD3</a:t>
                      </a:r>
                      <a:endParaRPr sz="900" dirty="0">
                        <a:latin typeface="Arial"/>
                        <a:cs typeface="Arial"/>
                      </a:endParaRPr>
                    </a:p>
                  </a:txBody>
                  <a:tcPr marL="0" marR="0" marT="52069" marB="0">
                    <a:lnL w="12700">
                      <a:solidFill>
                        <a:srgbClr val="FFFFFF"/>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gn="ctr">
                        <a:lnSpc>
                          <a:spcPct val="100000"/>
                        </a:lnSpc>
                        <a:spcBef>
                          <a:spcPts val="409"/>
                        </a:spcBef>
                      </a:pPr>
                      <a:r>
                        <a:rPr sz="900" spc="-5" dirty="0">
                          <a:latin typeface="Arial"/>
                          <a:cs typeface="Arial"/>
                        </a:rPr>
                        <a:t>42</a:t>
                      </a:r>
                      <a:endParaRPr sz="900" dirty="0">
                        <a:latin typeface="Arial"/>
                        <a:cs typeface="Arial"/>
                      </a:endParaRPr>
                    </a:p>
                  </a:txBody>
                  <a:tcPr marL="0" marR="0" marT="52069"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R="210185" algn="r">
                        <a:lnSpc>
                          <a:spcPct val="100000"/>
                        </a:lnSpc>
                        <a:spcBef>
                          <a:spcPts val="385"/>
                        </a:spcBef>
                      </a:pPr>
                      <a:r>
                        <a:rPr sz="900" dirty="0">
                          <a:latin typeface="Arial"/>
                          <a:cs typeface="Arial"/>
                        </a:rPr>
                        <a:t>O</a:t>
                      </a:r>
                    </a:p>
                  </a:txBody>
                  <a:tcPr marL="0" marR="0" marT="48895"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R="412115" algn="r">
                        <a:lnSpc>
                          <a:spcPct val="100000"/>
                        </a:lnSpc>
                        <a:spcBef>
                          <a:spcPts val="385"/>
                        </a:spcBef>
                      </a:pPr>
                      <a:r>
                        <a:rPr sz="900" dirty="0">
                          <a:latin typeface="Arial"/>
                          <a:cs typeface="Arial"/>
                        </a:rPr>
                        <a:t>Digital</a:t>
                      </a:r>
                    </a:p>
                  </a:txBody>
                  <a:tcPr marL="0" marR="0" marT="48895"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gn="ctr">
                        <a:lnSpc>
                          <a:spcPct val="100000"/>
                        </a:lnSpc>
                        <a:spcBef>
                          <a:spcPts val="385"/>
                        </a:spcBef>
                      </a:pPr>
                      <a:r>
                        <a:rPr sz="900" dirty="0">
                          <a:latin typeface="Arial"/>
                          <a:cs typeface="Arial"/>
                        </a:rPr>
                        <a:t>Strobe</a:t>
                      </a:r>
                      <a:r>
                        <a:rPr sz="900" spc="-35" dirty="0">
                          <a:latin typeface="Arial"/>
                          <a:cs typeface="Arial"/>
                        </a:rPr>
                        <a:t> </a:t>
                      </a:r>
                      <a:r>
                        <a:rPr sz="900" dirty="0">
                          <a:latin typeface="Arial"/>
                          <a:cs typeface="Arial"/>
                        </a:rPr>
                        <a:t>to</a:t>
                      </a:r>
                      <a:r>
                        <a:rPr sz="900" spc="-30" dirty="0">
                          <a:latin typeface="Arial"/>
                          <a:cs typeface="Arial"/>
                        </a:rPr>
                        <a:t> </a:t>
                      </a:r>
                      <a:r>
                        <a:rPr sz="900" dirty="0">
                          <a:latin typeface="Arial"/>
                          <a:cs typeface="Arial"/>
                        </a:rPr>
                        <a:t>AQ</a:t>
                      </a:r>
                      <a:r>
                        <a:rPr sz="900" spc="-30" dirty="0">
                          <a:latin typeface="Arial"/>
                          <a:cs typeface="Arial"/>
                        </a:rPr>
                        <a:t> </a:t>
                      </a:r>
                      <a:r>
                        <a:rPr sz="900" dirty="0">
                          <a:latin typeface="Arial"/>
                          <a:cs typeface="Arial"/>
                        </a:rPr>
                        <a:t>series</a:t>
                      </a:r>
                    </a:p>
                  </a:txBody>
                  <a:tcPr marL="0" marR="0" marT="48895"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nSpc>
                          <a:spcPct val="100000"/>
                        </a:lnSpc>
                      </a:pPr>
                      <a:endParaRPr sz="900" dirty="0">
                        <a:latin typeface="Times New Roman"/>
                        <a:cs typeface="Times New Roman"/>
                      </a:endParaRPr>
                    </a:p>
                  </a:txBody>
                  <a:tcPr marL="0" marR="0" marT="0" marB="0">
                    <a:lnL w="3175">
                      <a:solidFill>
                        <a:srgbClr val="000000"/>
                      </a:solidFill>
                      <a:prstDash val="solid"/>
                    </a:lnL>
                    <a:lnR w="12700">
                      <a:solidFill>
                        <a:srgbClr val="FFFFFF"/>
                      </a:solidFill>
                      <a:prstDash val="solid"/>
                    </a:lnR>
                    <a:lnT w="3175">
                      <a:solidFill>
                        <a:srgbClr val="000000"/>
                      </a:solidFill>
                      <a:prstDash val="solid"/>
                    </a:lnT>
                    <a:lnB w="3175">
                      <a:solidFill>
                        <a:srgbClr val="000000"/>
                      </a:solidFill>
                      <a:prstDash val="solid"/>
                    </a:lnB>
                  </a:tcPr>
                </a:tc>
                <a:extLst>
                  <a:ext uri="{0D108BD9-81ED-4DB2-BD59-A6C34878D82A}">
                    <a16:rowId xmlns:a16="http://schemas.microsoft.com/office/drawing/2014/main" val="10030"/>
                  </a:ext>
                </a:extLst>
              </a:tr>
              <a:tr h="245110">
                <a:tc>
                  <a:txBody>
                    <a:bodyPr/>
                    <a:lstStyle/>
                    <a:p>
                      <a:pPr algn="ctr">
                        <a:lnSpc>
                          <a:spcPct val="100000"/>
                        </a:lnSpc>
                        <a:spcBef>
                          <a:spcPts val="409"/>
                        </a:spcBef>
                      </a:pPr>
                      <a:r>
                        <a:rPr sz="900" spc="-5" dirty="0">
                          <a:latin typeface="Arial"/>
                          <a:cs typeface="Arial"/>
                        </a:rPr>
                        <a:t>CS3</a:t>
                      </a:r>
                      <a:endParaRPr sz="900" dirty="0">
                        <a:latin typeface="Arial"/>
                        <a:cs typeface="Arial"/>
                      </a:endParaRPr>
                    </a:p>
                  </a:txBody>
                  <a:tcPr marL="0" marR="0" marT="52069" marB="0">
                    <a:lnL w="12700">
                      <a:solidFill>
                        <a:srgbClr val="FFFFFF"/>
                      </a:solidFill>
                      <a:prstDash val="solid"/>
                    </a:lnL>
                    <a:lnR w="3175">
                      <a:solidFill>
                        <a:srgbClr val="000000"/>
                      </a:solidFill>
                      <a:prstDash val="solid"/>
                    </a:lnR>
                    <a:lnT w="3175">
                      <a:solidFill>
                        <a:srgbClr val="000000"/>
                      </a:solidFill>
                      <a:prstDash val="solid"/>
                    </a:lnT>
                    <a:lnB w="12700">
                      <a:solidFill>
                        <a:srgbClr val="000000"/>
                      </a:solidFill>
                      <a:prstDash val="solid"/>
                    </a:lnB>
                  </a:tcPr>
                </a:tc>
                <a:tc>
                  <a:txBody>
                    <a:bodyPr/>
                    <a:lstStyle/>
                    <a:p>
                      <a:pPr algn="ctr">
                        <a:lnSpc>
                          <a:spcPct val="100000"/>
                        </a:lnSpc>
                        <a:spcBef>
                          <a:spcPts val="409"/>
                        </a:spcBef>
                      </a:pPr>
                      <a:r>
                        <a:rPr sz="900" spc="-5" dirty="0">
                          <a:latin typeface="Arial"/>
                          <a:cs typeface="Arial"/>
                        </a:rPr>
                        <a:t>43</a:t>
                      </a:r>
                      <a:endParaRPr sz="900" dirty="0">
                        <a:latin typeface="Arial"/>
                        <a:cs typeface="Arial"/>
                      </a:endParaRPr>
                    </a:p>
                  </a:txBody>
                  <a:tcPr marL="0" marR="0" marT="52069" marB="0">
                    <a:lnL w="3175">
                      <a:solidFill>
                        <a:srgbClr val="000000"/>
                      </a:solidFill>
                      <a:prstDash val="solid"/>
                    </a:lnL>
                    <a:lnR w="3175">
                      <a:solidFill>
                        <a:srgbClr val="000000"/>
                      </a:solidFill>
                      <a:prstDash val="solid"/>
                    </a:lnR>
                    <a:lnT w="3175">
                      <a:solidFill>
                        <a:srgbClr val="000000"/>
                      </a:solidFill>
                      <a:prstDash val="solid"/>
                    </a:lnT>
                    <a:lnB w="12700">
                      <a:solidFill>
                        <a:srgbClr val="000000"/>
                      </a:solidFill>
                      <a:prstDash val="solid"/>
                    </a:lnB>
                  </a:tcPr>
                </a:tc>
                <a:tc>
                  <a:txBody>
                    <a:bodyPr/>
                    <a:lstStyle/>
                    <a:p>
                      <a:pPr marR="210185" algn="r">
                        <a:lnSpc>
                          <a:spcPct val="100000"/>
                        </a:lnSpc>
                        <a:spcBef>
                          <a:spcPts val="385"/>
                        </a:spcBef>
                      </a:pPr>
                      <a:r>
                        <a:rPr sz="900" dirty="0">
                          <a:latin typeface="Arial"/>
                          <a:cs typeface="Arial"/>
                        </a:rPr>
                        <a:t>O</a:t>
                      </a:r>
                    </a:p>
                  </a:txBody>
                  <a:tcPr marL="0" marR="0" marT="48895" marB="0">
                    <a:lnL w="3175">
                      <a:solidFill>
                        <a:srgbClr val="000000"/>
                      </a:solidFill>
                      <a:prstDash val="solid"/>
                    </a:lnL>
                    <a:lnR w="3175">
                      <a:solidFill>
                        <a:srgbClr val="000000"/>
                      </a:solidFill>
                      <a:prstDash val="solid"/>
                    </a:lnR>
                    <a:lnT w="3175">
                      <a:solidFill>
                        <a:srgbClr val="000000"/>
                      </a:solidFill>
                      <a:prstDash val="solid"/>
                    </a:lnT>
                    <a:lnB w="12700">
                      <a:solidFill>
                        <a:srgbClr val="000000"/>
                      </a:solidFill>
                      <a:prstDash val="solid"/>
                    </a:lnB>
                  </a:tcPr>
                </a:tc>
                <a:tc>
                  <a:txBody>
                    <a:bodyPr/>
                    <a:lstStyle/>
                    <a:p>
                      <a:pPr marR="412115" algn="r">
                        <a:lnSpc>
                          <a:spcPct val="100000"/>
                        </a:lnSpc>
                        <a:spcBef>
                          <a:spcPts val="385"/>
                        </a:spcBef>
                      </a:pPr>
                      <a:r>
                        <a:rPr sz="900" dirty="0">
                          <a:latin typeface="Arial"/>
                          <a:cs typeface="Arial"/>
                        </a:rPr>
                        <a:t>Digital</a:t>
                      </a:r>
                    </a:p>
                  </a:txBody>
                  <a:tcPr marL="0" marR="0" marT="48895" marB="0">
                    <a:lnL w="3175">
                      <a:solidFill>
                        <a:srgbClr val="000000"/>
                      </a:solidFill>
                      <a:prstDash val="solid"/>
                    </a:lnL>
                    <a:lnR w="3175">
                      <a:solidFill>
                        <a:srgbClr val="000000"/>
                      </a:solidFill>
                      <a:prstDash val="solid"/>
                    </a:lnR>
                    <a:lnT w="3175">
                      <a:solidFill>
                        <a:srgbClr val="000000"/>
                      </a:solidFill>
                      <a:prstDash val="solid"/>
                    </a:lnT>
                    <a:lnB w="12700">
                      <a:solidFill>
                        <a:srgbClr val="000000"/>
                      </a:solidFill>
                      <a:prstDash val="solid"/>
                    </a:lnB>
                  </a:tcPr>
                </a:tc>
                <a:tc>
                  <a:txBody>
                    <a:bodyPr/>
                    <a:lstStyle/>
                    <a:p>
                      <a:pPr algn="ctr">
                        <a:lnSpc>
                          <a:spcPct val="100000"/>
                        </a:lnSpc>
                        <a:spcBef>
                          <a:spcPts val="385"/>
                        </a:spcBef>
                      </a:pPr>
                      <a:r>
                        <a:rPr sz="900" dirty="0">
                          <a:latin typeface="Arial"/>
                          <a:cs typeface="Arial"/>
                        </a:rPr>
                        <a:t>Chip</a:t>
                      </a:r>
                      <a:r>
                        <a:rPr sz="900" spc="-30" dirty="0">
                          <a:latin typeface="Arial"/>
                          <a:cs typeface="Arial"/>
                        </a:rPr>
                        <a:t> </a:t>
                      </a:r>
                      <a:r>
                        <a:rPr sz="900" dirty="0">
                          <a:latin typeface="Arial"/>
                          <a:cs typeface="Arial"/>
                        </a:rPr>
                        <a:t>Select</a:t>
                      </a:r>
                      <a:r>
                        <a:rPr sz="900" spc="-40" dirty="0">
                          <a:latin typeface="Arial"/>
                          <a:cs typeface="Arial"/>
                        </a:rPr>
                        <a:t> </a:t>
                      </a:r>
                      <a:r>
                        <a:rPr sz="900" dirty="0">
                          <a:latin typeface="Arial"/>
                          <a:cs typeface="Arial"/>
                        </a:rPr>
                        <a:t>to</a:t>
                      </a:r>
                      <a:r>
                        <a:rPr sz="900" spc="-25" dirty="0">
                          <a:latin typeface="Arial"/>
                          <a:cs typeface="Arial"/>
                        </a:rPr>
                        <a:t> </a:t>
                      </a:r>
                      <a:r>
                        <a:rPr sz="900" dirty="0">
                          <a:latin typeface="Arial"/>
                          <a:cs typeface="Arial"/>
                        </a:rPr>
                        <a:t>AQ</a:t>
                      </a:r>
                      <a:r>
                        <a:rPr sz="900" spc="-15" dirty="0">
                          <a:latin typeface="Arial"/>
                          <a:cs typeface="Arial"/>
                        </a:rPr>
                        <a:t> </a:t>
                      </a:r>
                      <a:r>
                        <a:rPr sz="900" dirty="0">
                          <a:latin typeface="Arial"/>
                          <a:cs typeface="Arial"/>
                        </a:rPr>
                        <a:t>series</a:t>
                      </a:r>
                    </a:p>
                  </a:txBody>
                  <a:tcPr marL="0" marR="0" marT="48895" marB="0">
                    <a:lnL w="3175">
                      <a:solidFill>
                        <a:srgbClr val="000000"/>
                      </a:solidFill>
                      <a:prstDash val="solid"/>
                    </a:lnL>
                    <a:lnR w="3175">
                      <a:solidFill>
                        <a:srgbClr val="000000"/>
                      </a:solidFill>
                      <a:prstDash val="solid"/>
                    </a:lnR>
                    <a:lnT w="3175">
                      <a:solidFill>
                        <a:srgbClr val="000000"/>
                      </a:solidFill>
                      <a:prstDash val="solid"/>
                    </a:lnT>
                    <a:lnB w="12700">
                      <a:solidFill>
                        <a:srgbClr val="000000"/>
                      </a:solidFill>
                      <a:prstDash val="solid"/>
                    </a:lnB>
                  </a:tcPr>
                </a:tc>
                <a:tc>
                  <a:txBody>
                    <a:bodyPr/>
                    <a:lstStyle/>
                    <a:p>
                      <a:pPr>
                        <a:lnSpc>
                          <a:spcPct val="100000"/>
                        </a:lnSpc>
                      </a:pPr>
                      <a:endParaRPr sz="900" dirty="0">
                        <a:latin typeface="Times New Roman"/>
                        <a:cs typeface="Times New Roman"/>
                      </a:endParaRPr>
                    </a:p>
                  </a:txBody>
                  <a:tcPr marL="0" marR="0" marT="0" marB="0">
                    <a:lnL w="3175">
                      <a:solidFill>
                        <a:srgbClr val="000000"/>
                      </a:solidFill>
                      <a:prstDash val="solid"/>
                    </a:lnL>
                    <a:lnR w="12700">
                      <a:solidFill>
                        <a:srgbClr val="FFFFFF"/>
                      </a:solidFill>
                      <a:prstDash val="solid"/>
                    </a:lnR>
                    <a:lnT w="3175">
                      <a:solidFill>
                        <a:srgbClr val="000000"/>
                      </a:solidFill>
                      <a:prstDash val="solid"/>
                    </a:lnT>
                    <a:lnB w="12700">
                      <a:solidFill>
                        <a:srgbClr val="000000"/>
                      </a:solidFill>
                      <a:prstDash val="solid"/>
                    </a:lnB>
                  </a:tcPr>
                </a:tc>
                <a:extLst>
                  <a:ext uri="{0D108BD9-81ED-4DB2-BD59-A6C34878D82A}">
                    <a16:rowId xmlns:a16="http://schemas.microsoft.com/office/drawing/2014/main" val="10031"/>
                  </a:ext>
                </a:extLst>
              </a:tr>
            </a:tbl>
          </a:graphicData>
        </a:graphic>
      </p:graphicFrame>
      <p:sp>
        <p:nvSpPr>
          <p:cNvPr id="6" name="object 6"/>
          <p:cNvSpPr txBox="1"/>
          <p:nvPr/>
        </p:nvSpPr>
        <p:spPr>
          <a:xfrm>
            <a:off x="400913" y="301879"/>
            <a:ext cx="622935" cy="299720"/>
          </a:xfrm>
          <a:prstGeom prst="rect">
            <a:avLst/>
          </a:prstGeom>
        </p:spPr>
        <p:txBody>
          <a:bodyPr vert="horz" wrap="square" lIns="0" tIns="12700" rIns="0" bIns="0" rtlCol="0">
            <a:spAutoFit/>
          </a:bodyPr>
          <a:lstStyle/>
          <a:p>
            <a:pPr marL="12700">
              <a:lnSpc>
                <a:spcPct val="100000"/>
              </a:lnSpc>
              <a:spcBef>
                <a:spcPts val="100"/>
              </a:spcBef>
            </a:pPr>
            <a:r>
              <a:rPr sz="1800" b="1" spc="-5" dirty="0">
                <a:latin typeface="Arial"/>
                <a:cs typeface="Arial"/>
              </a:rPr>
              <a:t>CQ24</a:t>
            </a:r>
            <a:endParaRPr sz="1800" dirty="0">
              <a:latin typeface="Arial"/>
              <a:cs typeface="Arial"/>
            </a:endParaRPr>
          </a:p>
        </p:txBody>
      </p:sp>
      <p:sp>
        <p:nvSpPr>
          <p:cNvPr id="10" name="object 9">
            <a:extLst>
              <a:ext uri="{FF2B5EF4-FFF2-40B4-BE49-F238E27FC236}">
                <a16:creationId xmlns:a16="http://schemas.microsoft.com/office/drawing/2014/main" id="{99E8B1A6-3ABA-4D1C-88F7-5C75C57081CB}"/>
              </a:ext>
            </a:extLst>
          </p:cNvPr>
          <p:cNvSpPr txBox="1"/>
          <p:nvPr/>
        </p:nvSpPr>
        <p:spPr>
          <a:xfrm>
            <a:off x="304800" y="9067800"/>
            <a:ext cx="2078355" cy="289823"/>
          </a:xfrm>
          <a:prstGeom prst="rect">
            <a:avLst/>
          </a:prstGeom>
        </p:spPr>
        <p:txBody>
          <a:bodyPr vert="horz" wrap="square" lIns="0" tIns="12700" rIns="0" bIns="0" rtlCol="0">
            <a:spAutoFit/>
          </a:bodyPr>
          <a:lstStyle/>
          <a:p>
            <a:pPr marL="12700">
              <a:lnSpc>
                <a:spcPct val="100000"/>
              </a:lnSpc>
              <a:spcBef>
                <a:spcPts val="100"/>
              </a:spcBef>
            </a:pPr>
            <a:r>
              <a:rPr b="1" spc="-5" dirty="0">
                <a:solidFill>
                  <a:srgbClr val="FF0000"/>
                </a:solidFill>
                <a:cs typeface="Perpetua Titling MT"/>
              </a:rPr>
              <a:t>CONFIDENTIAL</a:t>
            </a:r>
            <a:endParaRPr dirty="0">
              <a:cs typeface="Perpetua Titling MT"/>
            </a:endParaRPr>
          </a:p>
        </p:txBody>
      </p:sp>
      <p:sp>
        <p:nvSpPr>
          <p:cNvPr id="11" name="object 6">
            <a:extLst>
              <a:ext uri="{FF2B5EF4-FFF2-40B4-BE49-F238E27FC236}">
                <a16:creationId xmlns:a16="http://schemas.microsoft.com/office/drawing/2014/main" id="{DC6E5ED5-FE9E-5589-E0A6-6EA6FF045F3E}"/>
              </a:ext>
            </a:extLst>
          </p:cNvPr>
          <p:cNvSpPr/>
          <p:nvPr/>
        </p:nvSpPr>
        <p:spPr>
          <a:xfrm>
            <a:off x="301676" y="9458756"/>
            <a:ext cx="6246495" cy="0"/>
          </a:xfrm>
          <a:custGeom>
            <a:avLst/>
            <a:gdLst/>
            <a:ahLst/>
            <a:cxnLst/>
            <a:rect l="l" t="t" r="r" b="b"/>
            <a:pathLst>
              <a:path w="6246495">
                <a:moveTo>
                  <a:pt x="0" y="0"/>
                </a:moveTo>
                <a:lnTo>
                  <a:pt x="6245999" y="0"/>
                </a:lnTo>
              </a:path>
            </a:pathLst>
          </a:custGeom>
          <a:ln w="25920">
            <a:solidFill>
              <a:srgbClr val="BFBFBF"/>
            </a:solidFill>
          </a:ln>
        </p:spPr>
        <p:txBody>
          <a:bodyPr wrap="square" lIns="0" tIns="0" rIns="0" bIns="0" rtlCol="0"/>
          <a:lstStyle/>
          <a:p>
            <a:endParaRPr/>
          </a:p>
        </p:txBody>
      </p:sp>
      <p:sp>
        <p:nvSpPr>
          <p:cNvPr id="12" name="슬라이드 번호 개체 틀 3">
            <a:hlinkClick r:id="rId2"/>
            <a:extLst>
              <a:ext uri="{FF2B5EF4-FFF2-40B4-BE49-F238E27FC236}">
                <a16:creationId xmlns:a16="http://schemas.microsoft.com/office/drawing/2014/main" id="{22E64702-70A6-3CE3-BE29-566AEC697D97}"/>
              </a:ext>
            </a:extLst>
          </p:cNvPr>
          <p:cNvSpPr txBox="1">
            <a:spLocks/>
          </p:cNvSpPr>
          <p:nvPr/>
        </p:nvSpPr>
        <p:spPr>
          <a:xfrm>
            <a:off x="5151602" y="9452864"/>
            <a:ext cx="1487550"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dirty="0">
                <a:solidFill>
                  <a:prstClr val="black"/>
                </a:solidFill>
                <a:latin typeface="Arial" panose="020B0604020202020204" pitchFamily="34" charset="0"/>
                <a:cs typeface="Arial" panose="020B0604020202020204" pitchFamily="34" charset="0"/>
              </a:rPr>
              <a:t>http://www.glbltech.com/</a:t>
            </a:r>
            <a:endParaRPr lang="ko-KR" altLang="en-US" dirty="0">
              <a:solidFill>
                <a:prstClr val="black"/>
              </a:solidFill>
              <a:latin typeface="Arial" panose="020B0604020202020204" pitchFamily="34" charset="0"/>
              <a:cs typeface="Arial" panose="020B0604020202020204" pitchFamily="34" charset="0"/>
            </a:endParaRPr>
          </a:p>
        </p:txBody>
      </p:sp>
      <p:sp>
        <p:nvSpPr>
          <p:cNvPr id="13" name="object 38">
            <a:extLst>
              <a:ext uri="{FF2B5EF4-FFF2-40B4-BE49-F238E27FC236}">
                <a16:creationId xmlns:a16="http://schemas.microsoft.com/office/drawing/2014/main" id="{474E9DE5-1842-8DCA-38D6-6D4B3889C5D2}"/>
              </a:ext>
            </a:extLst>
          </p:cNvPr>
          <p:cNvSpPr txBox="1">
            <a:spLocks/>
          </p:cNvSpPr>
          <p:nvPr/>
        </p:nvSpPr>
        <p:spPr>
          <a:xfrm>
            <a:off x="3309066" y="9547988"/>
            <a:ext cx="487045" cy="139141"/>
          </a:xfrm>
          <a:prstGeom prst="rect">
            <a:avLst/>
          </a:prstGeom>
        </p:spPr>
        <p:txBody>
          <a:bodyPr vert="horz" wrap="square" lIns="0" tIns="635" rIns="0" bIns="0" rtlCol="0">
            <a:spAutoFit/>
          </a:bodyPr>
          <a:lstStyle>
            <a:defPPr>
              <a:defRPr lang="ko-KR"/>
            </a:defPPr>
            <a:lvl1pPr marL="0" algn="l" defTabSz="914400" rtl="0" eaLnBrk="1" latinLnBrk="1" hangingPunct="1">
              <a:defRPr sz="1050" b="0" i="0" kern="1200">
                <a:solidFill>
                  <a:schemeClr val="tx1"/>
                </a:solidFill>
                <a:latin typeface="Arial"/>
                <a:ea typeface="+mn-ea"/>
                <a:cs typeface="Arial"/>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marL="12700">
              <a:spcBef>
                <a:spcPts val="5"/>
              </a:spcBef>
              <a:defRPr/>
            </a:pPr>
            <a:r>
              <a:rPr lang="en-US" sz="900" dirty="0">
                <a:solidFill>
                  <a:prstClr val="black"/>
                </a:solidFill>
              </a:rPr>
              <a:t>Page</a:t>
            </a:r>
            <a:r>
              <a:rPr lang="en-US" sz="900" spc="-60" dirty="0">
                <a:solidFill>
                  <a:prstClr val="black"/>
                </a:solidFill>
              </a:rPr>
              <a:t> </a:t>
            </a:r>
            <a:fld id="{81D60167-4931-47E6-BA6A-407CBD079E47}" type="slidenum">
              <a:rPr sz="900">
                <a:solidFill>
                  <a:prstClr val="black"/>
                </a:solidFill>
              </a:rPr>
              <a:pPr marL="12700">
                <a:spcBef>
                  <a:spcPts val="5"/>
                </a:spcBef>
                <a:defRPr/>
              </a:pPr>
              <a:t>5</a:t>
            </a:fld>
            <a:endParaRPr sz="900" dirty="0">
              <a:solidFill>
                <a:prstClr val="black"/>
              </a:solidFill>
            </a:endParaRPr>
          </a:p>
        </p:txBody>
      </p:sp>
      <p:sp>
        <p:nvSpPr>
          <p:cNvPr id="14" name="슬라이드 번호 개체 틀 3">
            <a:extLst>
              <a:ext uri="{FF2B5EF4-FFF2-40B4-BE49-F238E27FC236}">
                <a16:creationId xmlns:a16="http://schemas.microsoft.com/office/drawing/2014/main" id="{F86EA173-AC77-EA08-51C4-D30B5BD505F2}"/>
              </a:ext>
            </a:extLst>
          </p:cNvPr>
          <p:cNvSpPr txBox="1">
            <a:spLocks/>
          </p:cNvSpPr>
          <p:nvPr/>
        </p:nvSpPr>
        <p:spPr>
          <a:xfrm>
            <a:off x="299401" y="9520856"/>
            <a:ext cx="2060991" cy="175259"/>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lang="en-US" altLang="ko-KR" dirty="0">
                <a:solidFill>
                  <a:prstClr val="black"/>
                </a:solidFill>
                <a:latin typeface="Arial" panose="020B0604020202020204" pitchFamily="34" charset="0"/>
                <a:cs typeface="Arial" panose="020B0604020202020204" pitchFamily="34" charset="0"/>
              </a:rPr>
              <a:t>Dated 30-Nov 23  Rev. 01</a:t>
            </a:r>
            <a:endParaRPr lang="ko-KR" altLang="en-US" dirty="0">
              <a:solidFill>
                <a:prstClr val="black"/>
              </a:solidFill>
              <a:latin typeface="Arial" panose="020B0604020202020204" pitchFamily="34" charset="0"/>
              <a:cs typeface="Arial" panose="020B0604020202020204" pitchFamily="34" charset="0"/>
            </a:endParaRPr>
          </a:p>
        </p:txBody>
      </p:sp>
      <p:sp>
        <p:nvSpPr>
          <p:cNvPr id="15" name="Holder 3">
            <a:extLst>
              <a:ext uri="{FF2B5EF4-FFF2-40B4-BE49-F238E27FC236}">
                <a16:creationId xmlns:a16="http://schemas.microsoft.com/office/drawing/2014/main" id="{E8A85F5F-76A7-1AB4-45C4-2CC79FEF4D61}"/>
              </a:ext>
            </a:extLst>
          </p:cNvPr>
          <p:cNvSpPr txBox="1">
            <a:spLocks/>
          </p:cNvSpPr>
          <p:nvPr/>
        </p:nvSpPr>
        <p:spPr>
          <a:xfrm>
            <a:off x="5147476" y="203944"/>
            <a:ext cx="1447800" cy="276999"/>
          </a:xfrm>
          <a:prstGeom prst="rect">
            <a:avLst/>
          </a:prstGeom>
        </p:spPr>
        <p:txBody>
          <a:bodyPr wrap="square" lIns="0" tIns="0" rIns="0" bIns="0">
            <a:spAutoFit/>
          </a:bodyPr>
          <a:lstStyle>
            <a:lvl1pPr marL="0">
              <a:defRPr>
                <a:solidFill>
                  <a:srgbClr val="FF99FF"/>
                </a:solidFill>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defTabSz="914400" latinLnBrk="0"/>
            <a:r>
              <a:rPr lang="en-US" sz="1800" kern="0" dirty="0"/>
              <a:t>&lt;Preliminary&gt;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2074" y="889508"/>
            <a:ext cx="1315720" cy="239395"/>
          </a:xfrm>
          <a:prstGeom prst="rect">
            <a:avLst/>
          </a:prstGeom>
        </p:spPr>
        <p:txBody>
          <a:bodyPr vert="horz" wrap="square" lIns="0" tIns="12700" rIns="0" bIns="0" rtlCol="0">
            <a:spAutoFit/>
          </a:bodyPr>
          <a:lstStyle/>
          <a:p>
            <a:pPr marL="12700">
              <a:lnSpc>
                <a:spcPct val="100000"/>
              </a:lnSpc>
              <a:spcBef>
                <a:spcPts val="100"/>
              </a:spcBef>
            </a:pPr>
            <a:r>
              <a:rPr sz="1400" b="1" dirty="0">
                <a:latin typeface="Arial"/>
                <a:cs typeface="Arial"/>
              </a:rPr>
              <a:t>Pin</a:t>
            </a:r>
            <a:r>
              <a:rPr sz="1400" b="1" spc="-60" dirty="0">
                <a:latin typeface="Arial"/>
                <a:cs typeface="Arial"/>
              </a:rPr>
              <a:t> </a:t>
            </a:r>
            <a:r>
              <a:rPr sz="1400" b="1" dirty="0">
                <a:latin typeface="Arial"/>
                <a:cs typeface="Arial"/>
              </a:rPr>
              <a:t>description</a:t>
            </a:r>
            <a:endParaRPr sz="1400" dirty="0">
              <a:latin typeface="Arial"/>
              <a:cs typeface="Arial"/>
            </a:endParaRPr>
          </a:p>
        </p:txBody>
      </p:sp>
      <p:graphicFrame>
        <p:nvGraphicFramePr>
          <p:cNvPr id="3" name="object 3"/>
          <p:cNvGraphicFramePr>
            <a:graphicFrameLocks noGrp="1"/>
          </p:cNvGraphicFramePr>
          <p:nvPr/>
        </p:nvGraphicFramePr>
        <p:xfrm>
          <a:off x="398462" y="1219708"/>
          <a:ext cx="6093456" cy="6406515"/>
        </p:xfrm>
        <a:graphic>
          <a:graphicData uri="http://schemas.openxmlformats.org/drawingml/2006/table">
            <a:tbl>
              <a:tblPr firstRow="1" bandRow="1">
                <a:tableStyleId>{2D5ABB26-0587-4C30-8999-92F81FD0307C}</a:tableStyleId>
              </a:tblPr>
              <a:tblGrid>
                <a:gridCol w="770255">
                  <a:extLst>
                    <a:ext uri="{9D8B030D-6E8A-4147-A177-3AD203B41FA5}">
                      <a16:colId xmlns:a16="http://schemas.microsoft.com/office/drawing/2014/main" val="20000"/>
                    </a:ext>
                  </a:extLst>
                </a:gridCol>
                <a:gridCol w="568959">
                  <a:extLst>
                    <a:ext uri="{9D8B030D-6E8A-4147-A177-3AD203B41FA5}">
                      <a16:colId xmlns:a16="http://schemas.microsoft.com/office/drawing/2014/main" val="20001"/>
                    </a:ext>
                  </a:extLst>
                </a:gridCol>
                <a:gridCol w="510539">
                  <a:extLst>
                    <a:ext uri="{9D8B030D-6E8A-4147-A177-3AD203B41FA5}">
                      <a16:colId xmlns:a16="http://schemas.microsoft.com/office/drawing/2014/main" val="20002"/>
                    </a:ext>
                  </a:extLst>
                </a:gridCol>
                <a:gridCol w="1180464">
                  <a:extLst>
                    <a:ext uri="{9D8B030D-6E8A-4147-A177-3AD203B41FA5}">
                      <a16:colId xmlns:a16="http://schemas.microsoft.com/office/drawing/2014/main" val="20003"/>
                    </a:ext>
                  </a:extLst>
                </a:gridCol>
                <a:gridCol w="2089785">
                  <a:extLst>
                    <a:ext uri="{9D8B030D-6E8A-4147-A177-3AD203B41FA5}">
                      <a16:colId xmlns:a16="http://schemas.microsoft.com/office/drawing/2014/main" val="20004"/>
                    </a:ext>
                  </a:extLst>
                </a:gridCol>
                <a:gridCol w="973454">
                  <a:extLst>
                    <a:ext uri="{9D8B030D-6E8A-4147-A177-3AD203B41FA5}">
                      <a16:colId xmlns:a16="http://schemas.microsoft.com/office/drawing/2014/main" val="20005"/>
                    </a:ext>
                  </a:extLst>
                </a:gridCol>
              </a:tblGrid>
              <a:tr h="283210">
                <a:tc>
                  <a:txBody>
                    <a:bodyPr/>
                    <a:lstStyle/>
                    <a:p>
                      <a:pPr algn="ctr">
                        <a:lnSpc>
                          <a:spcPct val="100000"/>
                        </a:lnSpc>
                        <a:spcBef>
                          <a:spcPts val="530"/>
                        </a:spcBef>
                      </a:pPr>
                      <a:r>
                        <a:rPr sz="900" b="1" dirty="0">
                          <a:latin typeface="Arial"/>
                          <a:cs typeface="Arial"/>
                        </a:rPr>
                        <a:t>Pin</a:t>
                      </a:r>
                      <a:r>
                        <a:rPr sz="900" b="1" spc="-50" dirty="0">
                          <a:latin typeface="Arial"/>
                          <a:cs typeface="Arial"/>
                        </a:rPr>
                        <a:t> </a:t>
                      </a:r>
                      <a:r>
                        <a:rPr sz="900" b="1" spc="-5" dirty="0">
                          <a:latin typeface="Arial"/>
                          <a:cs typeface="Arial"/>
                        </a:rPr>
                        <a:t>Name</a:t>
                      </a:r>
                      <a:endParaRPr sz="900" dirty="0">
                        <a:latin typeface="Arial"/>
                        <a:cs typeface="Arial"/>
                      </a:endParaRPr>
                    </a:p>
                  </a:txBody>
                  <a:tcPr marL="0" marR="0" marT="67310" marB="0">
                    <a:lnL w="12700">
                      <a:solidFill>
                        <a:srgbClr val="FFFFFF"/>
                      </a:solidFill>
                      <a:prstDash val="solid"/>
                    </a:lnL>
                    <a:lnR w="3175">
                      <a:solidFill>
                        <a:srgbClr val="000000"/>
                      </a:solidFill>
                      <a:prstDash val="solid"/>
                    </a:lnR>
                    <a:lnT w="12700">
                      <a:solidFill>
                        <a:srgbClr val="000000"/>
                      </a:solidFill>
                      <a:prstDash val="solid"/>
                    </a:lnT>
                    <a:lnB w="3175">
                      <a:solidFill>
                        <a:srgbClr val="000000"/>
                      </a:solidFill>
                      <a:prstDash val="solid"/>
                    </a:lnB>
                    <a:solidFill>
                      <a:srgbClr val="F1F1F1"/>
                    </a:solidFill>
                  </a:tcPr>
                </a:tc>
                <a:tc>
                  <a:txBody>
                    <a:bodyPr/>
                    <a:lstStyle/>
                    <a:p>
                      <a:pPr algn="ctr">
                        <a:lnSpc>
                          <a:spcPct val="100000"/>
                        </a:lnSpc>
                        <a:spcBef>
                          <a:spcPts val="530"/>
                        </a:spcBef>
                      </a:pPr>
                      <a:r>
                        <a:rPr sz="900" b="1" dirty="0">
                          <a:latin typeface="Arial"/>
                          <a:cs typeface="Arial"/>
                        </a:rPr>
                        <a:t>Pin</a:t>
                      </a:r>
                      <a:r>
                        <a:rPr sz="900" b="1" spc="-55" dirty="0">
                          <a:latin typeface="Arial"/>
                          <a:cs typeface="Arial"/>
                        </a:rPr>
                        <a:t> </a:t>
                      </a:r>
                      <a:r>
                        <a:rPr sz="900" b="1" dirty="0">
                          <a:latin typeface="Arial"/>
                          <a:cs typeface="Arial"/>
                        </a:rPr>
                        <a:t>No.</a:t>
                      </a:r>
                      <a:endParaRPr sz="900" dirty="0">
                        <a:latin typeface="Arial"/>
                        <a:cs typeface="Arial"/>
                      </a:endParaRPr>
                    </a:p>
                  </a:txBody>
                  <a:tcPr marL="0" marR="0" marT="67310" marB="0">
                    <a:lnL w="3175">
                      <a:solidFill>
                        <a:srgbClr val="000000"/>
                      </a:solidFill>
                      <a:prstDash val="solid"/>
                    </a:lnL>
                    <a:lnR w="3175">
                      <a:solidFill>
                        <a:srgbClr val="000000"/>
                      </a:solidFill>
                      <a:prstDash val="solid"/>
                    </a:lnR>
                    <a:lnT w="12700">
                      <a:solidFill>
                        <a:srgbClr val="000000"/>
                      </a:solidFill>
                      <a:prstDash val="solid"/>
                    </a:lnT>
                    <a:lnB w="3175">
                      <a:solidFill>
                        <a:srgbClr val="000000"/>
                      </a:solidFill>
                      <a:prstDash val="solid"/>
                    </a:lnB>
                    <a:solidFill>
                      <a:srgbClr val="F1F1F1"/>
                    </a:solidFill>
                  </a:tcPr>
                </a:tc>
                <a:tc>
                  <a:txBody>
                    <a:bodyPr/>
                    <a:lstStyle/>
                    <a:p>
                      <a:pPr marL="1270" algn="ctr">
                        <a:lnSpc>
                          <a:spcPct val="100000"/>
                        </a:lnSpc>
                        <a:spcBef>
                          <a:spcPts val="530"/>
                        </a:spcBef>
                      </a:pPr>
                      <a:r>
                        <a:rPr sz="900" b="1" dirty="0">
                          <a:latin typeface="Arial"/>
                          <a:cs typeface="Arial"/>
                        </a:rPr>
                        <a:t>I/O</a:t>
                      </a:r>
                      <a:endParaRPr sz="900" dirty="0">
                        <a:latin typeface="Arial"/>
                        <a:cs typeface="Arial"/>
                      </a:endParaRPr>
                    </a:p>
                  </a:txBody>
                  <a:tcPr marL="0" marR="0" marT="67310" marB="0">
                    <a:lnL w="3175">
                      <a:solidFill>
                        <a:srgbClr val="000000"/>
                      </a:solidFill>
                      <a:prstDash val="solid"/>
                    </a:lnL>
                    <a:lnR w="3175">
                      <a:solidFill>
                        <a:srgbClr val="000000"/>
                      </a:solidFill>
                      <a:prstDash val="solid"/>
                    </a:lnR>
                    <a:lnT w="12700">
                      <a:solidFill>
                        <a:srgbClr val="000000"/>
                      </a:solidFill>
                      <a:prstDash val="solid"/>
                    </a:lnT>
                    <a:lnB w="3175">
                      <a:solidFill>
                        <a:srgbClr val="000000"/>
                      </a:solidFill>
                      <a:prstDash val="solid"/>
                    </a:lnB>
                    <a:solidFill>
                      <a:srgbClr val="F1F1F1"/>
                    </a:solidFill>
                  </a:tcPr>
                </a:tc>
                <a:tc>
                  <a:txBody>
                    <a:bodyPr/>
                    <a:lstStyle/>
                    <a:p>
                      <a:pPr marR="450850" algn="r">
                        <a:lnSpc>
                          <a:spcPct val="100000"/>
                        </a:lnSpc>
                        <a:spcBef>
                          <a:spcPts val="530"/>
                        </a:spcBef>
                      </a:pPr>
                      <a:r>
                        <a:rPr sz="900" b="1" spc="-15" dirty="0">
                          <a:latin typeface="Arial"/>
                          <a:cs typeface="Arial"/>
                        </a:rPr>
                        <a:t>Type</a:t>
                      </a:r>
                      <a:endParaRPr sz="900" dirty="0">
                        <a:latin typeface="Arial"/>
                        <a:cs typeface="Arial"/>
                      </a:endParaRPr>
                    </a:p>
                  </a:txBody>
                  <a:tcPr marL="0" marR="0" marT="67310" marB="0">
                    <a:lnL w="3175">
                      <a:solidFill>
                        <a:srgbClr val="000000"/>
                      </a:solidFill>
                      <a:prstDash val="solid"/>
                    </a:lnL>
                    <a:lnR w="3175">
                      <a:solidFill>
                        <a:srgbClr val="000000"/>
                      </a:solidFill>
                      <a:prstDash val="solid"/>
                    </a:lnR>
                    <a:lnT w="12700">
                      <a:solidFill>
                        <a:srgbClr val="000000"/>
                      </a:solidFill>
                      <a:prstDash val="solid"/>
                    </a:lnT>
                    <a:lnB w="3175">
                      <a:solidFill>
                        <a:srgbClr val="000000"/>
                      </a:solidFill>
                      <a:prstDash val="solid"/>
                    </a:lnB>
                    <a:solidFill>
                      <a:srgbClr val="F1F1F1"/>
                    </a:solidFill>
                  </a:tcPr>
                </a:tc>
                <a:tc>
                  <a:txBody>
                    <a:bodyPr/>
                    <a:lstStyle/>
                    <a:p>
                      <a:pPr algn="ctr">
                        <a:lnSpc>
                          <a:spcPct val="100000"/>
                        </a:lnSpc>
                        <a:spcBef>
                          <a:spcPts val="530"/>
                        </a:spcBef>
                      </a:pPr>
                      <a:r>
                        <a:rPr sz="900" b="1" dirty="0">
                          <a:latin typeface="Arial"/>
                          <a:cs typeface="Arial"/>
                        </a:rPr>
                        <a:t>Description</a:t>
                      </a:r>
                      <a:endParaRPr sz="900" dirty="0">
                        <a:latin typeface="Arial"/>
                        <a:cs typeface="Arial"/>
                      </a:endParaRPr>
                    </a:p>
                  </a:txBody>
                  <a:tcPr marL="0" marR="0" marT="67310" marB="0">
                    <a:lnL w="3175">
                      <a:solidFill>
                        <a:srgbClr val="000000"/>
                      </a:solidFill>
                      <a:prstDash val="solid"/>
                    </a:lnL>
                    <a:lnR w="3175">
                      <a:solidFill>
                        <a:srgbClr val="000000"/>
                      </a:solidFill>
                      <a:prstDash val="solid"/>
                    </a:lnR>
                    <a:lnT w="12700">
                      <a:solidFill>
                        <a:srgbClr val="000000"/>
                      </a:solidFill>
                      <a:prstDash val="solid"/>
                    </a:lnT>
                    <a:lnB w="3175">
                      <a:solidFill>
                        <a:srgbClr val="000000"/>
                      </a:solidFill>
                      <a:prstDash val="solid"/>
                    </a:lnB>
                    <a:solidFill>
                      <a:srgbClr val="F1F1F1"/>
                    </a:solidFill>
                  </a:tcPr>
                </a:tc>
                <a:tc>
                  <a:txBody>
                    <a:bodyPr/>
                    <a:lstStyle/>
                    <a:p>
                      <a:pPr marL="635" algn="ctr">
                        <a:lnSpc>
                          <a:spcPct val="100000"/>
                        </a:lnSpc>
                        <a:spcBef>
                          <a:spcPts val="530"/>
                        </a:spcBef>
                      </a:pPr>
                      <a:r>
                        <a:rPr sz="900" b="1" dirty="0">
                          <a:latin typeface="Arial"/>
                          <a:cs typeface="Arial"/>
                        </a:rPr>
                        <a:t>If</a:t>
                      </a:r>
                      <a:r>
                        <a:rPr sz="900" b="1" spc="-25" dirty="0">
                          <a:latin typeface="Arial"/>
                          <a:cs typeface="Arial"/>
                        </a:rPr>
                        <a:t> </a:t>
                      </a:r>
                      <a:r>
                        <a:rPr sz="900" b="1" dirty="0">
                          <a:latin typeface="Arial"/>
                          <a:cs typeface="Arial"/>
                        </a:rPr>
                        <a:t>unused,</a:t>
                      </a:r>
                      <a:r>
                        <a:rPr sz="900" b="1" spc="-45" dirty="0">
                          <a:latin typeface="Arial"/>
                          <a:cs typeface="Arial"/>
                        </a:rPr>
                        <a:t> </a:t>
                      </a:r>
                      <a:r>
                        <a:rPr sz="900" b="1" dirty="0">
                          <a:latin typeface="Arial"/>
                          <a:cs typeface="Arial"/>
                        </a:rPr>
                        <a:t>to</a:t>
                      </a:r>
                      <a:r>
                        <a:rPr sz="900" b="1" spc="-25" dirty="0">
                          <a:latin typeface="Arial"/>
                          <a:cs typeface="Arial"/>
                        </a:rPr>
                        <a:t> </a:t>
                      </a:r>
                      <a:r>
                        <a:rPr sz="900" b="1" dirty="0">
                          <a:latin typeface="Arial"/>
                          <a:cs typeface="Arial"/>
                        </a:rPr>
                        <a:t>be</a:t>
                      </a:r>
                      <a:endParaRPr sz="900" dirty="0">
                        <a:latin typeface="Arial"/>
                        <a:cs typeface="Arial"/>
                      </a:endParaRPr>
                    </a:p>
                  </a:txBody>
                  <a:tcPr marL="0" marR="0" marT="67310" marB="0">
                    <a:lnL w="3175">
                      <a:solidFill>
                        <a:srgbClr val="000000"/>
                      </a:solidFill>
                      <a:prstDash val="solid"/>
                    </a:lnL>
                    <a:lnR w="12700">
                      <a:solidFill>
                        <a:srgbClr val="FFFFFF"/>
                      </a:solidFill>
                      <a:prstDash val="solid"/>
                    </a:lnR>
                    <a:lnT w="12700">
                      <a:solidFill>
                        <a:srgbClr val="000000"/>
                      </a:solidFill>
                      <a:prstDash val="solid"/>
                    </a:lnT>
                    <a:lnB w="3175">
                      <a:solidFill>
                        <a:srgbClr val="000000"/>
                      </a:solidFill>
                      <a:prstDash val="solid"/>
                    </a:lnB>
                    <a:solidFill>
                      <a:srgbClr val="F1F1F1"/>
                    </a:solidFill>
                  </a:tcPr>
                </a:tc>
                <a:extLst>
                  <a:ext uri="{0D108BD9-81ED-4DB2-BD59-A6C34878D82A}">
                    <a16:rowId xmlns:a16="http://schemas.microsoft.com/office/drawing/2014/main" val="10000"/>
                  </a:ext>
                </a:extLst>
              </a:tr>
              <a:tr h="244475">
                <a:tc>
                  <a:txBody>
                    <a:bodyPr/>
                    <a:lstStyle/>
                    <a:p>
                      <a:pPr algn="ctr">
                        <a:lnSpc>
                          <a:spcPct val="100000"/>
                        </a:lnSpc>
                        <a:spcBef>
                          <a:spcPts val="380"/>
                        </a:spcBef>
                      </a:pPr>
                      <a:r>
                        <a:rPr sz="900" spc="-5" dirty="0">
                          <a:latin typeface="Arial"/>
                          <a:cs typeface="Arial"/>
                        </a:rPr>
                        <a:t>HOLD2</a:t>
                      </a:r>
                      <a:endParaRPr sz="900" dirty="0">
                        <a:latin typeface="Arial"/>
                        <a:cs typeface="Arial"/>
                      </a:endParaRPr>
                    </a:p>
                  </a:txBody>
                  <a:tcPr marL="0" marR="0" marT="48260" marB="0">
                    <a:lnL w="12700">
                      <a:solidFill>
                        <a:srgbClr val="FFFFFF"/>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gn="ctr">
                        <a:lnSpc>
                          <a:spcPct val="100000"/>
                        </a:lnSpc>
                        <a:spcBef>
                          <a:spcPts val="380"/>
                        </a:spcBef>
                      </a:pPr>
                      <a:r>
                        <a:rPr sz="900" spc="-5" dirty="0">
                          <a:latin typeface="Arial"/>
                          <a:cs typeface="Arial"/>
                        </a:rPr>
                        <a:t>44</a:t>
                      </a:r>
                      <a:endParaRPr sz="900" dirty="0">
                        <a:latin typeface="Arial"/>
                        <a:cs typeface="Arial"/>
                      </a:endParaRPr>
                    </a:p>
                  </a:txBody>
                  <a:tcPr marL="0" marR="0" marT="4826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L="635" algn="ctr">
                        <a:lnSpc>
                          <a:spcPct val="100000"/>
                        </a:lnSpc>
                        <a:spcBef>
                          <a:spcPts val="380"/>
                        </a:spcBef>
                      </a:pPr>
                      <a:r>
                        <a:rPr sz="900" dirty="0">
                          <a:latin typeface="Arial"/>
                          <a:cs typeface="Arial"/>
                        </a:rPr>
                        <a:t>O</a:t>
                      </a:r>
                    </a:p>
                  </a:txBody>
                  <a:tcPr marL="0" marR="0" marT="4826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R="422275" algn="r">
                        <a:lnSpc>
                          <a:spcPct val="100000"/>
                        </a:lnSpc>
                        <a:spcBef>
                          <a:spcPts val="380"/>
                        </a:spcBef>
                      </a:pPr>
                      <a:r>
                        <a:rPr sz="900" dirty="0">
                          <a:latin typeface="Arial"/>
                          <a:cs typeface="Arial"/>
                        </a:rPr>
                        <a:t>Digital</a:t>
                      </a:r>
                    </a:p>
                  </a:txBody>
                  <a:tcPr marL="0" marR="0" marT="4826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gn="ctr">
                        <a:lnSpc>
                          <a:spcPct val="100000"/>
                        </a:lnSpc>
                        <a:spcBef>
                          <a:spcPts val="380"/>
                        </a:spcBef>
                      </a:pPr>
                      <a:r>
                        <a:rPr sz="900" dirty="0">
                          <a:latin typeface="Arial"/>
                          <a:cs typeface="Arial"/>
                        </a:rPr>
                        <a:t>Strobe</a:t>
                      </a:r>
                      <a:r>
                        <a:rPr sz="900" spc="-35" dirty="0">
                          <a:latin typeface="Arial"/>
                          <a:cs typeface="Arial"/>
                        </a:rPr>
                        <a:t> </a:t>
                      </a:r>
                      <a:r>
                        <a:rPr sz="900" dirty="0">
                          <a:latin typeface="Arial"/>
                          <a:cs typeface="Arial"/>
                        </a:rPr>
                        <a:t>to</a:t>
                      </a:r>
                      <a:r>
                        <a:rPr sz="900" spc="-30" dirty="0">
                          <a:latin typeface="Arial"/>
                          <a:cs typeface="Arial"/>
                        </a:rPr>
                        <a:t> </a:t>
                      </a:r>
                      <a:r>
                        <a:rPr sz="900" dirty="0">
                          <a:latin typeface="Arial"/>
                          <a:cs typeface="Arial"/>
                        </a:rPr>
                        <a:t>AQ</a:t>
                      </a:r>
                      <a:r>
                        <a:rPr sz="900" spc="-30" dirty="0">
                          <a:latin typeface="Arial"/>
                          <a:cs typeface="Arial"/>
                        </a:rPr>
                        <a:t> </a:t>
                      </a:r>
                      <a:r>
                        <a:rPr sz="900" dirty="0">
                          <a:latin typeface="Arial"/>
                          <a:cs typeface="Arial"/>
                        </a:rPr>
                        <a:t>series</a:t>
                      </a:r>
                    </a:p>
                  </a:txBody>
                  <a:tcPr marL="0" marR="0" marT="4826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nSpc>
                          <a:spcPct val="100000"/>
                        </a:lnSpc>
                      </a:pPr>
                      <a:endParaRPr sz="900" dirty="0">
                        <a:latin typeface="Times New Roman"/>
                        <a:cs typeface="Times New Roman"/>
                      </a:endParaRPr>
                    </a:p>
                  </a:txBody>
                  <a:tcPr marL="0" marR="0" marT="0" marB="0">
                    <a:lnL w="3175">
                      <a:solidFill>
                        <a:srgbClr val="000000"/>
                      </a:solidFill>
                      <a:prstDash val="solid"/>
                    </a:lnL>
                    <a:lnR w="12700">
                      <a:solidFill>
                        <a:srgbClr val="FFFFFF"/>
                      </a:solidFill>
                      <a:prstDash val="solid"/>
                    </a:lnR>
                    <a:lnT w="3175">
                      <a:solidFill>
                        <a:srgbClr val="000000"/>
                      </a:solidFill>
                      <a:prstDash val="solid"/>
                    </a:lnT>
                    <a:lnB w="3175">
                      <a:solidFill>
                        <a:srgbClr val="000000"/>
                      </a:solidFill>
                      <a:prstDash val="solid"/>
                    </a:lnB>
                  </a:tcPr>
                </a:tc>
                <a:extLst>
                  <a:ext uri="{0D108BD9-81ED-4DB2-BD59-A6C34878D82A}">
                    <a16:rowId xmlns:a16="http://schemas.microsoft.com/office/drawing/2014/main" val="10001"/>
                  </a:ext>
                </a:extLst>
              </a:tr>
              <a:tr h="245110">
                <a:tc>
                  <a:txBody>
                    <a:bodyPr/>
                    <a:lstStyle/>
                    <a:p>
                      <a:pPr algn="ctr">
                        <a:lnSpc>
                          <a:spcPct val="100000"/>
                        </a:lnSpc>
                        <a:spcBef>
                          <a:spcPts val="380"/>
                        </a:spcBef>
                      </a:pPr>
                      <a:r>
                        <a:rPr sz="900" spc="-5" dirty="0">
                          <a:latin typeface="Arial"/>
                          <a:cs typeface="Arial"/>
                        </a:rPr>
                        <a:t>CS2</a:t>
                      </a:r>
                      <a:endParaRPr sz="900" dirty="0">
                        <a:latin typeface="Arial"/>
                        <a:cs typeface="Arial"/>
                      </a:endParaRPr>
                    </a:p>
                  </a:txBody>
                  <a:tcPr marL="0" marR="0" marT="48260" marB="0">
                    <a:lnL w="12700">
                      <a:solidFill>
                        <a:srgbClr val="FFFFFF"/>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gn="ctr">
                        <a:lnSpc>
                          <a:spcPct val="100000"/>
                        </a:lnSpc>
                        <a:spcBef>
                          <a:spcPts val="380"/>
                        </a:spcBef>
                      </a:pPr>
                      <a:r>
                        <a:rPr sz="900" spc="-5" dirty="0">
                          <a:latin typeface="Arial"/>
                          <a:cs typeface="Arial"/>
                        </a:rPr>
                        <a:t>45</a:t>
                      </a:r>
                      <a:endParaRPr sz="900" dirty="0">
                        <a:latin typeface="Arial"/>
                        <a:cs typeface="Arial"/>
                      </a:endParaRPr>
                    </a:p>
                  </a:txBody>
                  <a:tcPr marL="0" marR="0" marT="4826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L="635" algn="ctr">
                        <a:lnSpc>
                          <a:spcPct val="100000"/>
                        </a:lnSpc>
                        <a:spcBef>
                          <a:spcPts val="380"/>
                        </a:spcBef>
                      </a:pPr>
                      <a:r>
                        <a:rPr sz="900" dirty="0">
                          <a:latin typeface="Arial"/>
                          <a:cs typeface="Arial"/>
                        </a:rPr>
                        <a:t>O</a:t>
                      </a:r>
                    </a:p>
                  </a:txBody>
                  <a:tcPr marL="0" marR="0" marT="4826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R="422275" algn="r">
                        <a:lnSpc>
                          <a:spcPct val="100000"/>
                        </a:lnSpc>
                        <a:spcBef>
                          <a:spcPts val="380"/>
                        </a:spcBef>
                      </a:pPr>
                      <a:r>
                        <a:rPr sz="900" dirty="0">
                          <a:latin typeface="Arial"/>
                          <a:cs typeface="Arial"/>
                        </a:rPr>
                        <a:t>Digital</a:t>
                      </a:r>
                    </a:p>
                  </a:txBody>
                  <a:tcPr marL="0" marR="0" marT="4826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gn="ctr">
                        <a:lnSpc>
                          <a:spcPct val="100000"/>
                        </a:lnSpc>
                        <a:spcBef>
                          <a:spcPts val="380"/>
                        </a:spcBef>
                      </a:pPr>
                      <a:r>
                        <a:rPr sz="900" dirty="0">
                          <a:latin typeface="Arial"/>
                          <a:cs typeface="Arial"/>
                        </a:rPr>
                        <a:t>Chip</a:t>
                      </a:r>
                      <a:r>
                        <a:rPr sz="900" spc="-30" dirty="0">
                          <a:latin typeface="Arial"/>
                          <a:cs typeface="Arial"/>
                        </a:rPr>
                        <a:t> </a:t>
                      </a:r>
                      <a:r>
                        <a:rPr sz="900" dirty="0">
                          <a:latin typeface="Arial"/>
                          <a:cs typeface="Arial"/>
                        </a:rPr>
                        <a:t>Select</a:t>
                      </a:r>
                      <a:r>
                        <a:rPr sz="900" spc="-40" dirty="0">
                          <a:latin typeface="Arial"/>
                          <a:cs typeface="Arial"/>
                        </a:rPr>
                        <a:t> </a:t>
                      </a:r>
                      <a:r>
                        <a:rPr sz="900" dirty="0">
                          <a:latin typeface="Arial"/>
                          <a:cs typeface="Arial"/>
                        </a:rPr>
                        <a:t>to</a:t>
                      </a:r>
                      <a:r>
                        <a:rPr sz="900" spc="-25" dirty="0">
                          <a:latin typeface="Arial"/>
                          <a:cs typeface="Arial"/>
                        </a:rPr>
                        <a:t> </a:t>
                      </a:r>
                      <a:r>
                        <a:rPr sz="900" dirty="0">
                          <a:latin typeface="Arial"/>
                          <a:cs typeface="Arial"/>
                        </a:rPr>
                        <a:t>AQ</a:t>
                      </a:r>
                      <a:r>
                        <a:rPr sz="900" spc="-15" dirty="0">
                          <a:latin typeface="Arial"/>
                          <a:cs typeface="Arial"/>
                        </a:rPr>
                        <a:t> </a:t>
                      </a:r>
                      <a:r>
                        <a:rPr sz="900" dirty="0">
                          <a:latin typeface="Arial"/>
                          <a:cs typeface="Arial"/>
                        </a:rPr>
                        <a:t>series</a:t>
                      </a:r>
                    </a:p>
                  </a:txBody>
                  <a:tcPr marL="0" marR="0" marT="4826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nSpc>
                          <a:spcPct val="100000"/>
                        </a:lnSpc>
                      </a:pPr>
                      <a:endParaRPr sz="900" dirty="0">
                        <a:latin typeface="Times New Roman"/>
                        <a:cs typeface="Times New Roman"/>
                      </a:endParaRPr>
                    </a:p>
                  </a:txBody>
                  <a:tcPr marL="0" marR="0" marT="0" marB="0">
                    <a:lnL w="3175">
                      <a:solidFill>
                        <a:srgbClr val="000000"/>
                      </a:solidFill>
                      <a:prstDash val="solid"/>
                    </a:lnL>
                    <a:lnR w="12700">
                      <a:solidFill>
                        <a:srgbClr val="FFFFFF"/>
                      </a:solidFill>
                      <a:prstDash val="solid"/>
                    </a:lnR>
                    <a:lnT w="3175">
                      <a:solidFill>
                        <a:srgbClr val="000000"/>
                      </a:solidFill>
                      <a:prstDash val="solid"/>
                    </a:lnT>
                    <a:lnB w="3175">
                      <a:solidFill>
                        <a:srgbClr val="000000"/>
                      </a:solidFill>
                      <a:prstDash val="solid"/>
                    </a:lnB>
                  </a:tcPr>
                </a:tc>
                <a:extLst>
                  <a:ext uri="{0D108BD9-81ED-4DB2-BD59-A6C34878D82A}">
                    <a16:rowId xmlns:a16="http://schemas.microsoft.com/office/drawing/2014/main" val="10002"/>
                  </a:ext>
                </a:extLst>
              </a:tr>
              <a:tr h="244475">
                <a:tc>
                  <a:txBody>
                    <a:bodyPr/>
                    <a:lstStyle/>
                    <a:p>
                      <a:pPr algn="ctr">
                        <a:lnSpc>
                          <a:spcPct val="100000"/>
                        </a:lnSpc>
                        <a:spcBef>
                          <a:spcPts val="380"/>
                        </a:spcBef>
                      </a:pPr>
                      <a:r>
                        <a:rPr sz="900" spc="-5" dirty="0">
                          <a:latin typeface="Arial"/>
                          <a:cs typeface="Arial"/>
                        </a:rPr>
                        <a:t>HOLD1</a:t>
                      </a:r>
                      <a:endParaRPr sz="900" dirty="0">
                        <a:latin typeface="Arial"/>
                        <a:cs typeface="Arial"/>
                      </a:endParaRPr>
                    </a:p>
                  </a:txBody>
                  <a:tcPr marL="0" marR="0" marT="48260" marB="0">
                    <a:lnL w="12700">
                      <a:solidFill>
                        <a:srgbClr val="FFFFFF"/>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gn="ctr">
                        <a:lnSpc>
                          <a:spcPct val="100000"/>
                        </a:lnSpc>
                        <a:spcBef>
                          <a:spcPts val="380"/>
                        </a:spcBef>
                      </a:pPr>
                      <a:r>
                        <a:rPr sz="900" spc="-5" dirty="0">
                          <a:latin typeface="Arial"/>
                          <a:cs typeface="Arial"/>
                        </a:rPr>
                        <a:t>46</a:t>
                      </a:r>
                      <a:endParaRPr sz="900" dirty="0">
                        <a:latin typeface="Arial"/>
                        <a:cs typeface="Arial"/>
                      </a:endParaRPr>
                    </a:p>
                  </a:txBody>
                  <a:tcPr marL="0" marR="0" marT="4826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L="635" algn="ctr">
                        <a:lnSpc>
                          <a:spcPct val="100000"/>
                        </a:lnSpc>
                        <a:spcBef>
                          <a:spcPts val="380"/>
                        </a:spcBef>
                      </a:pPr>
                      <a:r>
                        <a:rPr sz="900" dirty="0">
                          <a:latin typeface="Arial"/>
                          <a:cs typeface="Arial"/>
                        </a:rPr>
                        <a:t>O</a:t>
                      </a:r>
                    </a:p>
                  </a:txBody>
                  <a:tcPr marL="0" marR="0" marT="4826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R="422275" algn="r">
                        <a:lnSpc>
                          <a:spcPct val="100000"/>
                        </a:lnSpc>
                        <a:spcBef>
                          <a:spcPts val="380"/>
                        </a:spcBef>
                      </a:pPr>
                      <a:r>
                        <a:rPr sz="900" dirty="0">
                          <a:latin typeface="Arial"/>
                          <a:cs typeface="Arial"/>
                        </a:rPr>
                        <a:t>Digital</a:t>
                      </a:r>
                    </a:p>
                  </a:txBody>
                  <a:tcPr marL="0" marR="0" marT="4826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gn="ctr">
                        <a:lnSpc>
                          <a:spcPct val="100000"/>
                        </a:lnSpc>
                        <a:spcBef>
                          <a:spcPts val="380"/>
                        </a:spcBef>
                      </a:pPr>
                      <a:r>
                        <a:rPr sz="900" dirty="0">
                          <a:latin typeface="Arial"/>
                          <a:cs typeface="Arial"/>
                        </a:rPr>
                        <a:t>Strobe</a:t>
                      </a:r>
                      <a:r>
                        <a:rPr sz="900" spc="-35" dirty="0">
                          <a:latin typeface="Arial"/>
                          <a:cs typeface="Arial"/>
                        </a:rPr>
                        <a:t> </a:t>
                      </a:r>
                      <a:r>
                        <a:rPr sz="900" dirty="0">
                          <a:latin typeface="Arial"/>
                          <a:cs typeface="Arial"/>
                        </a:rPr>
                        <a:t>to</a:t>
                      </a:r>
                      <a:r>
                        <a:rPr sz="900" spc="-30" dirty="0">
                          <a:latin typeface="Arial"/>
                          <a:cs typeface="Arial"/>
                        </a:rPr>
                        <a:t> </a:t>
                      </a:r>
                      <a:r>
                        <a:rPr sz="900" dirty="0">
                          <a:latin typeface="Arial"/>
                          <a:cs typeface="Arial"/>
                        </a:rPr>
                        <a:t>AQ</a:t>
                      </a:r>
                      <a:r>
                        <a:rPr sz="900" spc="-30" dirty="0">
                          <a:latin typeface="Arial"/>
                          <a:cs typeface="Arial"/>
                        </a:rPr>
                        <a:t> </a:t>
                      </a:r>
                      <a:r>
                        <a:rPr sz="900" dirty="0">
                          <a:latin typeface="Arial"/>
                          <a:cs typeface="Arial"/>
                        </a:rPr>
                        <a:t>series</a:t>
                      </a:r>
                    </a:p>
                  </a:txBody>
                  <a:tcPr marL="0" marR="0" marT="4826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nSpc>
                          <a:spcPct val="100000"/>
                        </a:lnSpc>
                      </a:pPr>
                      <a:endParaRPr sz="900" dirty="0">
                        <a:latin typeface="Times New Roman"/>
                        <a:cs typeface="Times New Roman"/>
                      </a:endParaRPr>
                    </a:p>
                  </a:txBody>
                  <a:tcPr marL="0" marR="0" marT="0" marB="0">
                    <a:lnL w="3175">
                      <a:solidFill>
                        <a:srgbClr val="000000"/>
                      </a:solidFill>
                      <a:prstDash val="solid"/>
                    </a:lnL>
                    <a:lnR w="12700">
                      <a:solidFill>
                        <a:srgbClr val="FFFFFF"/>
                      </a:solidFill>
                      <a:prstDash val="solid"/>
                    </a:lnR>
                    <a:lnT w="3175">
                      <a:solidFill>
                        <a:srgbClr val="000000"/>
                      </a:solidFill>
                      <a:prstDash val="solid"/>
                    </a:lnT>
                    <a:lnB w="3175">
                      <a:solidFill>
                        <a:srgbClr val="000000"/>
                      </a:solidFill>
                      <a:prstDash val="solid"/>
                    </a:lnB>
                  </a:tcPr>
                </a:tc>
                <a:extLst>
                  <a:ext uri="{0D108BD9-81ED-4DB2-BD59-A6C34878D82A}">
                    <a16:rowId xmlns:a16="http://schemas.microsoft.com/office/drawing/2014/main" val="10003"/>
                  </a:ext>
                </a:extLst>
              </a:tr>
              <a:tr h="245110">
                <a:tc>
                  <a:txBody>
                    <a:bodyPr/>
                    <a:lstStyle/>
                    <a:p>
                      <a:pPr algn="ctr">
                        <a:lnSpc>
                          <a:spcPct val="100000"/>
                        </a:lnSpc>
                        <a:spcBef>
                          <a:spcPts val="380"/>
                        </a:spcBef>
                      </a:pPr>
                      <a:r>
                        <a:rPr sz="900" spc="-5" dirty="0">
                          <a:latin typeface="Arial"/>
                          <a:cs typeface="Arial"/>
                        </a:rPr>
                        <a:t>CS1</a:t>
                      </a:r>
                      <a:endParaRPr sz="900" dirty="0">
                        <a:latin typeface="Arial"/>
                        <a:cs typeface="Arial"/>
                      </a:endParaRPr>
                    </a:p>
                  </a:txBody>
                  <a:tcPr marL="0" marR="0" marT="48260" marB="0">
                    <a:lnL w="12700">
                      <a:solidFill>
                        <a:srgbClr val="FFFFFF"/>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gn="ctr">
                        <a:lnSpc>
                          <a:spcPct val="100000"/>
                        </a:lnSpc>
                        <a:spcBef>
                          <a:spcPts val="380"/>
                        </a:spcBef>
                      </a:pPr>
                      <a:r>
                        <a:rPr sz="900" spc="-5" dirty="0">
                          <a:latin typeface="Arial"/>
                          <a:cs typeface="Arial"/>
                        </a:rPr>
                        <a:t>47</a:t>
                      </a:r>
                      <a:endParaRPr sz="900" dirty="0">
                        <a:latin typeface="Arial"/>
                        <a:cs typeface="Arial"/>
                      </a:endParaRPr>
                    </a:p>
                  </a:txBody>
                  <a:tcPr marL="0" marR="0" marT="4826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L="635" algn="ctr">
                        <a:lnSpc>
                          <a:spcPct val="100000"/>
                        </a:lnSpc>
                        <a:spcBef>
                          <a:spcPts val="380"/>
                        </a:spcBef>
                      </a:pPr>
                      <a:r>
                        <a:rPr sz="900" dirty="0">
                          <a:latin typeface="Arial"/>
                          <a:cs typeface="Arial"/>
                        </a:rPr>
                        <a:t>O</a:t>
                      </a:r>
                    </a:p>
                  </a:txBody>
                  <a:tcPr marL="0" marR="0" marT="4826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R="422275" algn="r">
                        <a:lnSpc>
                          <a:spcPct val="100000"/>
                        </a:lnSpc>
                        <a:spcBef>
                          <a:spcPts val="380"/>
                        </a:spcBef>
                      </a:pPr>
                      <a:r>
                        <a:rPr sz="900" dirty="0">
                          <a:latin typeface="Arial"/>
                          <a:cs typeface="Arial"/>
                        </a:rPr>
                        <a:t>Digital</a:t>
                      </a:r>
                    </a:p>
                  </a:txBody>
                  <a:tcPr marL="0" marR="0" marT="4826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gn="ctr">
                        <a:lnSpc>
                          <a:spcPct val="100000"/>
                        </a:lnSpc>
                        <a:spcBef>
                          <a:spcPts val="380"/>
                        </a:spcBef>
                      </a:pPr>
                      <a:r>
                        <a:rPr sz="900" dirty="0">
                          <a:latin typeface="Arial"/>
                          <a:cs typeface="Arial"/>
                        </a:rPr>
                        <a:t>Chip</a:t>
                      </a:r>
                      <a:r>
                        <a:rPr sz="900" spc="-30" dirty="0">
                          <a:latin typeface="Arial"/>
                          <a:cs typeface="Arial"/>
                        </a:rPr>
                        <a:t> </a:t>
                      </a:r>
                      <a:r>
                        <a:rPr sz="900" dirty="0">
                          <a:latin typeface="Arial"/>
                          <a:cs typeface="Arial"/>
                        </a:rPr>
                        <a:t>Select</a:t>
                      </a:r>
                      <a:r>
                        <a:rPr sz="900" spc="-40" dirty="0">
                          <a:latin typeface="Arial"/>
                          <a:cs typeface="Arial"/>
                        </a:rPr>
                        <a:t> </a:t>
                      </a:r>
                      <a:r>
                        <a:rPr sz="900" dirty="0">
                          <a:latin typeface="Arial"/>
                          <a:cs typeface="Arial"/>
                        </a:rPr>
                        <a:t>to</a:t>
                      </a:r>
                      <a:r>
                        <a:rPr sz="900" spc="-25" dirty="0">
                          <a:latin typeface="Arial"/>
                          <a:cs typeface="Arial"/>
                        </a:rPr>
                        <a:t> </a:t>
                      </a:r>
                      <a:r>
                        <a:rPr sz="900" dirty="0">
                          <a:latin typeface="Arial"/>
                          <a:cs typeface="Arial"/>
                        </a:rPr>
                        <a:t>AQ</a:t>
                      </a:r>
                      <a:r>
                        <a:rPr sz="900" spc="-15" dirty="0">
                          <a:latin typeface="Arial"/>
                          <a:cs typeface="Arial"/>
                        </a:rPr>
                        <a:t> </a:t>
                      </a:r>
                      <a:r>
                        <a:rPr sz="900" dirty="0">
                          <a:latin typeface="Arial"/>
                          <a:cs typeface="Arial"/>
                        </a:rPr>
                        <a:t>series</a:t>
                      </a:r>
                    </a:p>
                  </a:txBody>
                  <a:tcPr marL="0" marR="0" marT="4826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nSpc>
                          <a:spcPct val="100000"/>
                        </a:lnSpc>
                      </a:pPr>
                      <a:endParaRPr sz="900" dirty="0">
                        <a:latin typeface="Times New Roman"/>
                        <a:cs typeface="Times New Roman"/>
                      </a:endParaRPr>
                    </a:p>
                  </a:txBody>
                  <a:tcPr marL="0" marR="0" marT="0" marB="0">
                    <a:lnL w="3175">
                      <a:solidFill>
                        <a:srgbClr val="000000"/>
                      </a:solidFill>
                      <a:prstDash val="solid"/>
                    </a:lnL>
                    <a:lnR w="12700">
                      <a:solidFill>
                        <a:srgbClr val="FFFFFF"/>
                      </a:solidFill>
                      <a:prstDash val="solid"/>
                    </a:lnR>
                    <a:lnT w="3175">
                      <a:solidFill>
                        <a:srgbClr val="000000"/>
                      </a:solidFill>
                      <a:prstDash val="solid"/>
                    </a:lnT>
                    <a:lnB w="3175">
                      <a:solidFill>
                        <a:srgbClr val="000000"/>
                      </a:solidFill>
                      <a:prstDash val="solid"/>
                    </a:lnB>
                  </a:tcPr>
                </a:tc>
                <a:extLst>
                  <a:ext uri="{0D108BD9-81ED-4DB2-BD59-A6C34878D82A}">
                    <a16:rowId xmlns:a16="http://schemas.microsoft.com/office/drawing/2014/main" val="10004"/>
                  </a:ext>
                </a:extLst>
              </a:tr>
              <a:tr h="245110">
                <a:tc>
                  <a:txBody>
                    <a:bodyPr/>
                    <a:lstStyle/>
                    <a:p>
                      <a:pPr algn="ctr">
                        <a:lnSpc>
                          <a:spcPct val="100000"/>
                        </a:lnSpc>
                        <a:spcBef>
                          <a:spcPts val="375"/>
                        </a:spcBef>
                      </a:pPr>
                      <a:r>
                        <a:rPr sz="900" spc="-5" dirty="0">
                          <a:latin typeface="Arial"/>
                          <a:cs typeface="Arial"/>
                        </a:rPr>
                        <a:t>VDDD2</a:t>
                      </a:r>
                      <a:endParaRPr sz="900" dirty="0">
                        <a:latin typeface="Arial"/>
                        <a:cs typeface="Arial"/>
                      </a:endParaRPr>
                    </a:p>
                  </a:txBody>
                  <a:tcPr marL="0" marR="0" marT="47625" marB="0">
                    <a:lnL w="12700">
                      <a:solidFill>
                        <a:srgbClr val="FFFFFF"/>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gn="ctr">
                        <a:lnSpc>
                          <a:spcPct val="100000"/>
                        </a:lnSpc>
                        <a:spcBef>
                          <a:spcPts val="375"/>
                        </a:spcBef>
                      </a:pPr>
                      <a:r>
                        <a:rPr sz="900" spc="-5" dirty="0">
                          <a:latin typeface="Arial"/>
                          <a:cs typeface="Arial"/>
                        </a:rPr>
                        <a:t>48</a:t>
                      </a:r>
                      <a:endParaRPr sz="900" dirty="0">
                        <a:latin typeface="Arial"/>
                        <a:cs typeface="Arial"/>
                      </a:endParaRPr>
                    </a:p>
                  </a:txBody>
                  <a:tcPr marL="0" marR="0" marT="47625"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gn="ctr">
                        <a:lnSpc>
                          <a:spcPct val="100000"/>
                        </a:lnSpc>
                        <a:spcBef>
                          <a:spcPts val="375"/>
                        </a:spcBef>
                      </a:pPr>
                      <a:r>
                        <a:rPr sz="900" dirty="0">
                          <a:latin typeface="Arial"/>
                          <a:cs typeface="Arial"/>
                        </a:rPr>
                        <a:t>-</a:t>
                      </a:r>
                    </a:p>
                  </a:txBody>
                  <a:tcPr marL="0" marR="0" marT="47625"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R="419734" algn="r">
                        <a:lnSpc>
                          <a:spcPct val="100000"/>
                        </a:lnSpc>
                        <a:spcBef>
                          <a:spcPts val="375"/>
                        </a:spcBef>
                      </a:pPr>
                      <a:r>
                        <a:rPr sz="900" spc="-5" dirty="0">
                          <a:latin typeface="Arial"/>
                          <a:cs typeface="Arial"/>
                        </a:rPr>
                        <a:t>Power</a:t>
                      </a:r>
                      <a:endParaRPr sz="900" dirty="0">
                        <a:latin typeface="Arial"/>
                        <a:cs typeface="Arial"/>
                      </a:endParaRPr>
                    </a:p>
                  </a:txBody>
                  <a:tcPr marL="0" marR="0" marT="47625"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L="1905" algn="ctr">
                        <a:lnSpc>
                          <a:spcPct val="100000"/>
                        </a:lnSpc>
                        <a:spcBef>
                          <a:spcPts val="375"/>
                        </a:spcBef>
                      </a:pPr>
                      <a:r>
                        <a:rPr sz="900" dirty="0">
                          <a:latin typeface="Arial"/>
                          <a:cs typeface="Arial"/>
                        </a:rPr>
                        <a:t>Digital</a:t>
                      </a:r>
                      <a:r>
                        <a:rPr sz="900" spc="-60" dirty="0">
                          <a:latin typeface="Arial"/>
                          <a:cs typeface="Arial"/>
                        </a:rPr>
                        <a:t> </a:t>
                      </a:r>
                      <a:r>
                        <a:rPr sz="900" spc="-5" dirty="0">
                          <a:latin typeface="Arial"/>
                          <a:cs typeface="Arial"/>
                        </a:rPr>
                        <a:t>VDD</a:t>
                      </a:r>
                      <a:endParaRPr sz="900" dirty="0">
                        <a:latin typeface="Arial"/>
                        <a:cs typeface="Arial"/>
                      </a:endParaRPr>
                    </a:p>
                  </a:txBody>
                  <a:tcPr marL="0" marR="0" marT="47625"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nSpc>
                          <a:spcPct val="100000"/>
                        </a:lnSpc>
                      </a:pPr>
                      <a:endParaRPr sz="900" dirty="0">
                        <a:latin typeface="Times New Roman"/>
                        <a:cs typeface="Times New Roman"/>
                      </a:endParaRPr>
                    </a:p>
                  </a:txBody>
                  <a:tcPr marL="0" marR="0" marT="0" marB="0">
                    <a:lnL w="3175">
                      <a:solidFill>
                        <a:srgbClr val="000000"/>
                      </a:solidFill>
                      <a:prstDash val="solid"/>
                    </a:lnL>
                    <a:lnR w="12700">
                      <a:solidFill>
                        <a:srgbClr val="FFFFFF"/>
                      </a:solidFill>
                      <a:prstDash val="solid"/>
                    </a:lnR>
                    <a:lnT w="3175">
                      <a:solidFill>
                        <a:srgbClr val="000000"/>
                      </a:solidFill>
                      <a:prstDash val="solid"/>
                    </a:lnT>
                    <a:lnB w="3175">
                      <a:solidFill>
                        <a:srgbClr val="000000"/>
                      </a:solidFill>
                      <a:prstDash val="solid"/>
                    </a:lnB>
                  </a:tcPr>
                </a:tc>
                <a:extLst>
                  <a:ext uri="{0D108BD9-81ED-4DB2-BD59-A6C34878D82A}">
                    <a16:rowId xmlns:a16="http://schemas.microsoft.com/office/drawing/2014/main" val="10005"/>
                  </a:ext>
                </a:extLst>
              </a:tr>
              <a:tr h="244475">
                <a:tc>
                  <a:txBody>
                    <a:bodyPr/>
                    <a:lstStyle/>
                    <a:p>
                      <a:pPr algn="ctr">
                        <a:lnSpc>
                          <a:spcPct val="100000"/>
                        </a:lnSpc>
                        <a:spcBef>
                          <a:spcPts val="380"/>
                        </a:spcBef>
                      </a:pPr>
                      <a:r>
                        <a:rPr sz="900" dirty="0">
                          <a:latin typeface="Arial"/>
                          <a:cs typeface="Arial"/>
                        </a:rPr>
                        <a:t>SDO</a:t>
                      </a:r>
                    </a:p>
                  </a:txBody>
                  <a:tcPr marL="0" marR="0" marT="48260" marB="0">
                    <a:lnL w="12700">
                      <a:solidFill>
                        <a:srgbClr val="FFFFFF"/>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gn="ctr">
                        <a:lnSpc>
                          <a:spcPct val="100000"/>
                        </a:lnSpc>
                        <a:spcBef>
                          <a:spcPts val="380"/>
                        </a:spcBef>
                      </a:pPr>
                      <a:r>
                        <a:rPr sz="900" spc="-5" dirty="0">
                          <a:latin typeface="Arial"/>
                          <a:cs typeface="Arial"/>
                        </a:rPr>
                        <a:t>49</a:t>
                      </a:r>
                      <a:endParaRPr sz="900" dirty="0">
                        <a:latin typeface="Arial"/>
                        <a:cs typeface="Arial"/>
                      </a:endParaRPr>
                    </a:p>
                  </a:txBody>
                  <a:tcPr marL="0" marR="0" marT="4826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L="635" algn="ctr">
                        <a:lnSpc>
                          <a:spcPct val="100000"/>
                        </a:lnSpc>
                        <a:spcBef>
                          <a:spcPts val="380"/>
                        </a:spcBef>
                      </a:pPr>
                      <a:r>
                        <a:rPr sz="900" dirty="0">
                          <a:latin typeface="Arial"/>
                          <a:cs typeface="Arial"/>
                        </a:rPr>
                        <a:t>O</a:t>
                      </a:r>
                    </a:p>
                  </a:txBody>
                  <a:tcPr marL="0" marR="0" marT="4826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R="422275" algn="r">
                        <a:lnSpc>
                          <a:spcPct val="100000"/>
                        </a:lnSpc>
                        <a:spcBef>
                          <a:spcPts val="380"/>
                        </a:spcBef>
                      </a:pPr>
                      <a:r>
                        <a:rPr sz="900" dirty="0">
                          <a:latin typeface="Arial"/>
                          <a:cs typeface="Arial"/>
                        </a:rPr>
                        <a:t>Digital</a:t>
                      </a:r>
                    </a:p>
                  </a:txBody>
                  <a:tcPr marL="0" marR="0" marT="4826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gn="ctr">
                        <a:lnSpc>
                          <a:spcPct val="100000"/>
                        </a:lnSpc>
                        <a:spcBef>
                          <a:spcPts val="380"/>
                        </a:spcBef>
                      </a:pPr>
                      <a:r>
                        <a:rPr sz="900" dirty="0">
                          <a:latin typeface="Arial"/>
                          <a:cs typeface="Arial"/>
                        </a:rPr>
                        <a:t>SPI</a:t>
                      </a:r>
                      <a:r>
                        <a:rPr sz="900" spc="-20" dirty="0">
                          <a:latin typeface="Arial"/>
                          <a:cs typeface="Arial"/>
                        </a:rPr>
                        <a:t> </a:t>
                      </a:r>
                      <a:r>
                        <a:rPr sz="900" dirty="0">
                          <a:latin typeface="Arial"/>
                          <a:cs typeface="Arial"/>
                        </a:rPr>
                        <a:t>Daisy</a:t>
                      </a:r>
                      <a:r>
                        <a:rPr sz="900" spc="-40" dirty="0">
                          <a:latin typeface="Arial"/>
                          <a:cs typeface="Arial"/>
                        </a:rPr>
                        <a:t> </a:t>
                      </a:r>
                      <a:r>
                        <a:rPr sz="900" dirty="0">
                          <a:latin typeface="Arial"/>
                          <a:cs typeface="Arial"/>
                        </a:rPr>
                        <a:t>Data</a:t>
                      </a:r>
                      <a:r>
                        <a:rPr sz="900" spc="-30" dirty="0">
                          <a:latin typeface="Arial"/>
                          <a:cs typeface="Arial"/>
                        </a:rPr>
                        <a:t> </a:t>
                      </a:r>
                      <a:r>
                        <a:rPr sz="900" spc="-5" dirty="0">
                          <a:latin typeface="Arial"/>
                          <a:cs typeface="Arial"/>
                        </a:rPr>
                        <a:t>Out</a:t>
                      </a:r>
                      <a:endParaRPr sz="900" dirty="0">
                        <a:latin typeface="Arial"/>
                        <a:cs typeface="Arial"/>
                      </a:endParaRPr>
                    </a:p>
                  </a:txBody>
                  <a:tcPr marL="0" marR="0" marT="4826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L="1270" algn="ctr">
                        <a:lnSpc>
                          <a:spcPct val="100000"/>
                        </a:lnSpc>
                        <a:spcBef>
                          <a:spcPts val="380"/>
                        </a:spcBef>
                      </a:pPr>
                      <a:r>
                        <a:rPr sz="900" dirty="0">
                          <a:latin typeface="Arial"/>
                          <a:cs typeface="Arial"/>
                        </a:rPr>
                        <a:t>Unused</a:t>
                      </a:r>
                      <a:r>
                        <a:rPr sz="900" spc="-40" dirty="0">
                          <a:latin typeface="Arial"/>
                          <a:cs typeface="Arial"/>
                        </a:rPr>
                        <a:t> </a:t>
                      </a:r>
                      <a:r>
                        <a:rPr sz="900" dirty="0">
                          <a:latin typeface="Arial"/>
                          <a:cs typeface="Arial"/>
                        </a:rPr>
                        <a:t>:</a:t>
                      </a:r>
                      <a:r>
                        <a:rPr sz="900" spc="-15" dirty="0">
                          <a:latin typeface="Arial"/>
                          <a:cs typeface="Arial"/>
                        </a:rPr>
                        <a:t> </a:t>
                      </a:r>
                      <a:r>
                        <a:rPr sz="900" spc="-5" dirty="0">
                          <a:latin typeface="Arial"/>
                          <a:cs typeface="Arial"/>
                        </a:rPr>
                        <a:t>10K</a:t>
                      </a:r>
                      <a:r>
                        <a:rPr sz="900" spc="-30" dirty="0">
                          <a:latin typeface="Arial"/>
                          <a:cs typeface="Arial"/>
                        </a:rPr>
                        <a:t> </a:t>
                      </a:r>
                      <a:r>
                        <a:rPr sz="900" spc="-5" dirty="0">
                          <a:latin typeface="Arial"/>
                          <a:cs typeface="Arial"/>
                        </a:rPr>
                        <a:t>PD</a:t>
                      </a:r>
                      <a:endParaRPr sz="900" dirty="0">
                        <a:latin typeface="Arial"/>
                        <a:cs typeface="Arial"/>
                      </a:endParaRPr>
                    </a:p>
                  </a:txBody>
                  <a:tcPr marL="0" marR="0" marT="48260" marB="0">
                    <a:lnL w="3175">
                      <a:solidFill>
                        <a:srgbClr val="000000"/>
                      </a:solidFill>
                      <a:prstDash val="solid"/>
                    </a:lnL>
                    <a:lnR w="12700">
                      <a:solidFill>
                        <a:srgbClr val="FFFFFF"/>
                      </a:solidFill>
                      <a:prstDash val="solid"/>
                    </a:lnR>
                    <a:lnT w="3175">
                      <a:solidFill>
                        <a:srgbClr val="000000"/>
                      </a:solidFill>
                      <a:prstDash val="solid"/>
                    </a:lnT>
                    <a:lnB w="3175">
                      <a:solidFill>
                        <a:srgbClr val="000000"/>
                      </a:solidFill>
                      <a:prstDash val="solid"/>
                    </a:lnB>
                  </a:tcPr>
                </a:tc>
                <a:extLst>
                  <a:ext uri="{0D108BD9-81ED-4DB2-BD59-A6C34878D82A}">
                    <a16:rowId xmlns:a16="http://schemas.microsoft.com/office/drawing/2014/main" val="10006"/>
                  </a:ext>
                </a:extLst>
              </a:tr>
              <a:tr h="245110">
                <a:tc>
                  <a:txBody>
                    <a:bodyPr/>
                    <a:lstStyle/>
                    <a:p>
                      <a:pPr algn="ctr">
                        <a:lnSpc>
                          <a:spcPct val="100000"/>
                        </a:lnSpc>
                        <a:spcBef>
                          <a:spcPts val="380"/>
                        </a:spcBef>
                      </a:pPr>
                      <a:r>
                        <a:rPr sz="900" spc="-5" dirty="0">
                          <a:latin typeface="Arial"/>
                          <a:cs typeface="Arial"/>
                        </a:rPr>
                        <a:t>VSSD2</a:t>
                      </a:r>
                      <a:endParaRPr sz="900" dirty="0">
                        <a:latin typeface="Arial"/>
                        <a:cs typeface="Arial"/>
                      </a:endParaRPr>
                    </a:p>
                  </a:txBody>
                  <a:tcPr marL="0" marR="0" marT="48260" marB="0">
                    <a:lnL w="12700">
                      <a:solidFill>
                        <a:srgbClr val="FFFFFF"/>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gn="ctr">
                        <a:lnSpc>
                          <a:spcPct val="100000"/>
                        </a:lnSpc>
                        <a:spcBef>
                          <a:spcPts val="380"/>
                        </a:spcBef>
                      </a:pPr>
                      <a:r>
                        <a:rPr sz="900" spc="-5" dirty="0">
                          <a:latin typeface="Arial"/>
                          <a:cs typeface="Arial"/>
                        </a:rPr>
                        <a:t>50</a:t>
                      </a:r>
                      <a:endParaRPr sz="900" dirty="0">
                        <a:latin typeface="Arial"/>
                        <a:cs typeface="Arial"/>
                      </a:endParaRPr>
                    </a:p>
                  </a:txBody>
                  <a:tcPr marL="0" marR="0" marT="4826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gn="ctr">
                        <a:lnSpc>
                          <a:spcPct val="100000"/>
                        </a:lnSpc>
                        <a:spcBef>
                          <a:spcPts val="380"/>
                        </a:spcBef>
                      </a:pPr>
                      <a:r>
                        <a:rPr sz="900" dirty="0">
                          <a:latin typeface="Arial"/>
                          <a:cs typeface="Arial"/>
                        </a:rPr>
                        <a:t>-</a:t>
                      </a:r>
                    </a:p>
                  </a:txBody>
                  <a:tcPr marL="0" marR="0" marT="4826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R="454659" algn="r">
                        <a:lnSpc>
                          <a:spcPct val="100000"/>
                        </a:lnSpc>
                        <a:spcBef>
                          <a:spcPts val="380"/>
                        </a:spcBef>
                      </a:pPr>
                      <a:r>
                        <a:rPr sz="900" spc="-5" dirty="0">
                          <a:latin typeface="Arial"/>
                          <a:cs typeface="Arial"/>
                        </a:rPr>
                        <a:t>GND</a:t>
                      </a:r>
                      <a:endParaRPr sz="900" dirty="0">
                        <a:latin typeface="Arial"/>
                        <a:cs typeface="Arial"/>
                      </a:endParaRPr>
                    </a:p>
                  </a:txBody>
                  <a:tcPr marL="0" marR="0" marT="4826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L="1905" algn="ctr">
                        <a:lnSpc>
                          <a:spcPct val="100000"/>
                        </a:lnSpc>
                        <a:spcBef>
                          <a:spcPts val="380"/>
                        </a:spcBef>
                      </a:pPr>
                      <a:r>
                        <a:rPr sz="900" dirty="0">
                          <a:latin typeface="Arial"/>
                          <a:cs typeface="Arial"/>
                        </a:rPr>
                        <a:t>Digital</a:t>
                      </a:r>
                      <a:r>
                        <a:rPr sz="900" spc="-60" dirty="0">
                          <a:latin typeface="Arial"/>
                          <a:cs typeface="Arial"/>
                        </a:rPr>
                        <a:t> </a:t>
                      </a:r>
                      <a:r>
                        <a:rPr sz="900" spc="-5" dirty="0">
                          <a:latin typeface="Arial"/>
                          <a:cs typeface="Arial"/>
                        </a:rPr>
                        <a:t>GND</a:t>
                      </a:r>
                      <a:endParaRPr sz="900" dirty="0">
                        <a:latin typeface="Arial"/>
                        <a:cs typeface="Arial"/>
                      </a:endParaRPr>
                    </a:p>
                  </a:txBody>
                  <a:tcPr marL="0" marR="0" marT="4826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nSpc>
                          <a:spcPct val="100000"/>
                        </a:lnSpc>
                      </a:pPr>
                      <a:endParaRPr sz="900" dirty="0">
                        <a:latin typeface="Times New Roman"/>
                        <a:cs typeface="Times New Roman"/>
                      </a:endParaRPr>
                    </a:p>
                  </a:txBody>
                  <a:tcPr marL="0" marR="0" marT="0" marB="0">
                    <a:lnL w="3175">
                      <a:solidFill>
                        <a:srgbClr val="000000"/>
                      </a:solidFill>
                      <a:prstDash val="solid"/>
                    </a:lnL>
                    <a:lnR w="12700">
                      <a:solidFill>
                        <a:srgbClr val="FFFFFF"/>
                      </a:solidFill>
                      <a:prstDash val="solid"/>
                    </a:lnR>
                    <a:lnT w="3175">
                      <a:solidFill>
                        <a:srgbClr val="000000"/>
                      </a:solidFill>
                      <a:prstDash val="solid"/>
                    </a:lnT>
                    <a:lnB w="3175">
                      <a:solidFill>
                        <a:srgbClr val="000000"/>
                      </a:solidFill>
                      <a:prstDash val="solid"/>
                    </a:lnB>
                  </a:tcPr>
                </a:tc>
                <a:extLst>
                  <a:ext uri="{0D108BD9-81ED-4DB2-BD59-A6C34878D82A}">
                    <a16:rowId xmlns:a16="http://schemas.microsoft.com/office/drawing/2014/main" val="10007"/>
                  </a:ext>
                </a:extLst>
              </a:tr>
              <a:tr h="244475">
                <a:tc>
                  <a:txBody>
                    <a:bodyPr/>
                    <a:lstStyle/>
                    <a:p>
                      <a:pPr algn="ctr">
                        <a:lnSpc>
                          <a:spcPct val="100000"/>
                        </a:lnSpc>
                        <a:spcBef>
                          <a:spcPts val="380"/>
                        </a:spcBef>
                      </a:pPr>
                      <a:r>
                        <a:rPr sz="900" dirty="0">
                          <a:latin typeface="Arial"/>
                          <a:cs typeface="Arial"/>
                        </a:rPr>
                        <a:t>SCLKO</a:t>
                      </a:r>
                    </a:p>
                  </a:txBody>
                  <a:tcPr marL="0" marR="0" marT="48260" marB="0">
                    <a:lnL w="12700">
                      <a:solidFill>
                        <a:srgbClr val="FFFFFF"/>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gn="ctr">
                        <a:lnSpc>
                          <a:spcPct val="100000"/>
                        </a:lnSpc>
                        <a:spcBef>
                          <a:spcPts val="380"/>
                        </a:spcBef>
                      </a:pPr>
                      <a:r>
                        <a:rPr sz="900" spc="-5" dirty="0">
                          <a:latin typeface="Arial"/>
                          <a:cs typeface="Arial"/>
                        </a:rPr>
                        <a:t>51</a:t>
                      </a:r>
                      <a:endParaRPr sz="900" dirty="0">
                        <a:latin typeface="Arial"/>
                        <a:cs typeface="Arial"/>
                      </a:endParaRPr>
                    </a:p>
                  </a:txBody>
                  <a:tcPr marL="0" marR="0" marT="4826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L="635" algn="ctr">
                        <a:lnSpc>
                          <a:spcPct val="100000"/>
                        </a:lnSpc>
                        <a:spcBef>
                          <a:spcPts val="380"/>
                        </a:spcBef>
                      </a:pPr>
                      <a:r>
                        <a:rPr sz="900" dirty="0">
                          <a:latin typeface="Arial"/>
                          <a:cs typeface="Arial"/>
                        </a:rPr>
                        <a:t>O</a:t>
                      </a:r>
                    </a:p>
                  </a:txBody>
                  <a:tcPr marL="0" marR="0" marT="4826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R="422275" algn="r">
                        <a:lnSpc>
                          <a:spcPct val="100000"/>
                        </a:lnSpc>
                        <a:spcBef>
                          <a:spcPts val="380"/>
                        </a:spcBef>
                      </a:pPr>
                      <a:r>
                        <a:rPr sz="900" dirty="0">
                          <a:latin typeface="Arial"/>
                          <a:cs typeface="Arial"/>
                        </a:rPr>
                        <a:t>Digital</a:t>
                      </a:r>
                    </a:p>
                  </a:txBody>
                  <a:tcPr marL="0" marR="0" marT="4826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L="635" algn="ctr">
                        <a:lnSpc>
                          <a:spcPct val="100000"/>
                        </a:lnSpc>
                        <a:spcBef>
                          <a:spcPts val="380"/>
                        </a:spcBef>
                      </a:pPr>
                      <a:r>
                        <a:rPr sz="900" dirty="0">
                          <a:latin typeface="Arial"/>
                          <a:cs typeface="Arial"/>
                        </a:rPr>
                        <a:t>SPI</a:t>
                      </a:r>
                      <a:r>
                        <a:rPr sz="900" spc="-20" dirty="0">
                          <a:latin typeface="Arial"/>
                          <a:cs typeface="Arial"/>
                        </a:rPr>
                        <a:t> </a:t>
                      </a:r>
                      <a:r>
                        <a:rPr sz="900" dirty="0">
                          <a:latin typeface="Arial"/>
                          <a:cs typeface="Arial"/>
                        </a:rPr>
                        <a:t>Daisy</a:t>
                      </a:r>
                      <a:r>
                        <a:rPr sz="900" spc="-35" dirty="0">
                          <a:latin typeface="Arial"/>
                          <a:cs typeface="Arial"/>
                        </a:rPr>
                        <a:t> </a:t>
                      </a:r>
                      <a:r>
                        <a:rPr sz="900" dirty="0">
                          <a:latin typeface="Arial"/>
                          <a:cs typeface="Arial"/>
                        </a:rPr>
                        <a:t>Clock</a:t>
                      </a:r>
                      <a:r>
                        <a:rPr sz="900" spc="-35" dirty="0">
                          <a:latin typeface="Arial"/>
                          <a:cs typeface="Arial"/>
                        </a:rPr>
                        <a:t> </a:t>
                      </a:r>
                      <a:r>
                        <a:rPr sz="900" spc="-5" dirty="0">
                          <a:latin typeface="Arial"/>
                          <a:cs typeface="Arial"/>
                        </a:rPr>
                        <a:t>Out</a:t>
                      </a:r>
                      <a:endParaRPr sz="900" dirty="0">
                        <a:latin typeface="Arial"/>
                        <a:cs typeface="Arial"/>
                      </a:endParaRPr>
                    </a:p>
                  </a:txBody>
                  <a:tcPr marL="0" marR="0" marT="4826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L="1270" algn="ctr">
                        <a:lnSpc>
                          <a:spcPct val="100000"/>
                        </a:lnSpc>
                        <a:spcBef>
                          <a:spcPts val="380"/>
                        </a:spcBef>
                      </a:pPr>
                      <a:r>
                        <a:rPr sz="900" dirty="0">
                          <a:latin typeface="Arial"/>
                          <a:cs typeface="Arial"/>
                        </a:rPr>
                        <a:t>Unused</a:t>
                      </a:r>
                      <a:r>
                        <a:rPr sz="900" spc="-40" dirty="0">
                          <a:latin typeface="Arial"/>
                          <a:cs typeface="Arial"/>
                        </a:rPr>
                        <a:t> </a:t>
                      </a:r>
                      <a:r>
                        <a:rPr sz="900" dirty="0">
                          <a:latin typeface="Arial"/>
                          <a:cs typeface="Arial"/>
                        </a:rPr>
                        <a:t>:</a:t>
                      </a:r>
                      <a:r>
                        <a:rPr sz="900" spc="-15" dirty="0">
                          <a:latin typeface="Arial"/>
                          <a:cs typeface="Arial"/>
                        </a:rPr>
                        <a:t> </a:t>
                      </a:r>
                      <a:r>
                        <a:rPr sz="900" spc="-5" dirty="0">
                          <a:latin typeface="Arial"/>
                          <a:cs typeface="Arial"/>
                        </a:rPr>
                        <a:t>10K</a:t>
                      </a:r>
                      <a:r>
                        <a:rPr sz="900" spc="-30" dirty="0">
                          <a:latin typeface="Arial"/>
                          <a:cs typeface="Arial"/>
                        </a:rPr>
                        <a:t> </a:t>
                      </a:r>
                      <a:r>
                        <a:rPr sz="900" spc="-5" dirty="0">
                          <a:latin typeface="Arial"/>
                          <a:cs typeface="Arial"/>
                        </a:rPr>
                        <a:t>PD</a:t>
                      </a:r>
                      <a:endParaRPr sz="900" dirty="0">
                        <a:latin typeface="Arial"/>
                        <a:cs typeface="Arial"/>
                      </a:endParaRPr>
                    </a:p>
                  </a:txBody>
                  <a:tcPr marL="0" marR="0" marT="48260" marB="0">
                    <a:lnL w="3175">
                      <a:solidFill>
                        <a:srgbClr val="000000"/>
                      </a:solidFill>
                      <a:prstDash val="solid"/>
                    </a:lnL>
                    <a:lnR w="12700">
                      <a:solidFill>
                        <a:srgbClr val="FFFFFF"/>
                      </a:solidFill>
                      <a:prstDash val="solid"/>
                    </a:lnR>
                    <a:lnT w="3175">
                      <a:solidFill>
                        <a:srgbClr val="000000"/>
                      </a:solidFill>
                      <a:prstDash val="solid"/>
                    </a:lnT>
                    <a:lnB w="3175">
                      <a:solidFill>
                        <a:srgbClr val="000000"/>
                      </a:solidFill>
                      <a:prstDash val="solid"/>
                    </a:lnB>
                  </a:tcPr>
                </a:tc>
                <a:extLst>
                  <a:ext uri="{0D108BD9-81ED-4DB2-BD59-A6C34878D82A}">
                    <a16:rowId xmlns:a16="http://schemas.microsoft.com/office/drawing/2014/main" val="10008"/>
                  </a:ext>
                </a:extLst>
              </a:tr>
              <a:tr h="245110">
                <a:tc>
                  <a:txBody>
                    <a:bodyPr/>
                    <a:lstStyle/>
                    <a:p>
                      <a:pPr algn="ctr">
                        <a:lnSpc>
                          <a:spcPct val="100000"/>
                        </a:lnSpc>
                        <a:spcBef>
                          <a:spcPts val="380"/>
                        </a:spcBef>
                      </a:pPr>
                      <a:r>
                        <a:rPr sz="900" spc="-5" dirty="0">
                          <a:latin typeface="Arial"/>
                          <a:cs typeface="Arial"/>
                        </a:rPr>
                        <a:t>MODE1</a:t>
                      </a:r>
                      <a:endParaRPr sz="900" dirty="0">
                        <a:latin typeface="Arial"/>
                        <a:cs typeface="Arial"/>
                      </a:endParaRPr>
                    </a:p>
                  </a:txBody>
                  <a:tcPr marL="0" marR="0" marT="48260" marB="0">
                    <a:lnL w="12700">
                      <a:solidFill>
                        <a:srgbClr val="FFFFFF"/>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gn="ctr">
                        <a:lnSpc>
                          <a:spcPct val="100000"/>
                        </a:lnSpc>
                        <a:spcBef>
                          <a:spcPts val="380"/>
                        </a:spcBef>
                      </a:pPr>
                      <a:r>
                        <a:rPr sz="900" spc="-5" dirty="0">
                          <a:latin typeface="Arial"/>
                          <a:cs typeface="Arial"/>
                        </a:rPr>
                        <a:t>52</a:t>
                      </a:r>
                      <a:endParaRPr sz="900" dirty="0">
                        <a:latin typeface="Arial"/>
                        <a:cs typeface="Arial"/>
                      </a:endParaRPr>
                    </a:p>
                  </a:txBody>
                  <a:tcPr marL="0" marR="0" marT="4826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L="635" algn="ctr">
                        <a:lnSpc>
                          <a:spcPct val="100000"/>
                        </a:lnSpc>
                        <a:spcBef>
                          <a:spcPts val="380"/>
                        </a:spcBef>
                      </a:pPr>
                      <a:r>
                        <a:rPr sz="900" dirty="0">
                          <a:latin typeface="Arial"/>
                          <a:cs typeface="Arial"/>
                        </a:rPr>
                        <a:t>O</a:t>
                      </a:r>
                    </a:p>
                  </a:txBody>
                  <a:tcPr marL="0" marR="0" marT="4826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R="403860" algn="r">
                        <a:lnSpc>
                          <a:spcPct val="100000"/>
                        </a:lnSpc>
                        <a:spcBef>
                          <a:spcPts val="380"/>
                        </a:spcBef>
                      </a:pPr>
                      <a:r>
                        <a:rPr sz="900" spc="-5" dirty="0">
                          <a:latin typeface="Arial"/>
                          <a:cs typeface="Arial"/>
                        </a:rPr>
                        <a:t>Analog</a:t>
                      </a:r>
                      <a:endParaRPr sz="900" dirty="0">
                        <a:latin typeface="Arial"/>
                        <a:cs typeface="Arial"/>
                      </a:endParaRPr>
                    </a:p>
                  </a:txBody>
                  <a:tcPr marL="0" marR="0" marT="4826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L="635" algn="ctr">
                        <a:lnSpc>
                          <a:spcPct val="100000"/>
                        </a:lnSpc>
                        <a:spcBef>
                          <a:spcPts val="380"/>
                        </a:spcBef>
                      </a:pPr>
                      <a:r>
                        <a:rPr sz="900" spc="-10" dirty="0">
                          <a:latin typeface="Arial"/>
                          <a:cs typeface="Arial"/>
                        </a:rPr>
                        <a:t>Mode</a:t>
                      </a:r>
                      <a:r>
                        <a:rPr sz="900" spc="-20" dirty="0">
                          <a:latin typeface="Arial"/>
                          <a:cs typeface="Arial"/>
                        </a:rPr>
                        <a:t> </a:t>
                      </a:r>
                      <a:r>
                        <a:rPr sz="900" spc="-5" dirty="0">
                          <a:latin typeface="Arial"/>
                          <a:cs typeface="Arial"/>
                        </a:rPr>
                        <a:t>Level</a:t>
                      </a:r>
                      <a:r>
                        <a:rPr sz="900" spc="-25" dirty="0">
                          <a:latin typeface="Arial"/>
                          <a:cs typeface="Arial"/>
                        </a:rPr>
                        <a:t> </a:t>
                      </a:r>
                      <a:r>
                        <a:rPr sz="900" spc="-5" dirty="0">
                          <a:latin typeface="Arial"/>
                          <a:cs typeface="Arial"/>
                        </a:rPr>
                        <a:t>Out</a:t>
                      </a:r>
                      <a:endParaRPr sz="900" dirty="0">
                        <a:latin typeface="Arial"/>
                        <a:cs typeface="Arial"/>
                      </a:endParaRPr>
                    </a:p>
                  </a:txBody>
                  <a:tcPr marL="0" marR="0" marT="4826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nSpc>
                          <a:spcPct val="100000"/>
                        </a:lnSpc>
                      </a:pPr>
                      <a:endParaRPr sz="900" dirty="0">
                        <a:latin typeface="Times New Roman"/>
                        <a:cs typeface="Times New Roman"/>
                      </a:endParaRPr>
                    </a:p>
                  </a:txBody>
                  <a:tcPr marL="0" marR="0" marT="0" marB="0">
                    <a:lnL w="3175">
                      <a:solidFill>
                        <a:srgbClr val="000000"/>
                      </a:solidFill>
                      <a:prstDash val="solid"/>
                    </a:lnL>
                    <a:lnR w="12700">
                      <a:solidFill>
                        <a:srgbClr val="FFFFFF"/>
                      </a:solidFill>
                      <a:prstDash val="solid"/>
                    </a:lnR>
                    <a:lnT w="3175">
                      <a:solidFill>
                        <a:srgbClr val="000000"/>
                      </a:solidFill>
                      <a:prstDash val="solid"/>
                    </a:lnT>
                    <a:lnB w="3175">
                      <a:solidFill>
                        <a:srgbClr val="000000"/>
                      </a:solidFill>
                      <a:prstDash val="solid"/>
                    </a:lnB>
                  </a:tcPr>
                </a:tc>
                <a:extLst>
                  <a:ext uri="{0D108BD9-81ED-4DB2-BD59-A6C34878D82A}">
                    <a16:rowId xmlns:a16="http://schemas.microsoft.com/office/drawing/2014/main" val="10009"/>
                  </a:ext>
                </a:extLst>
              </a:tr>
              <a:tr h="245110">
                <a:tc>
                  <a:txBody>
                    <a:bodyPr/>
                    <a:lstStyle/>
                    <a:p>
                      <a:pPr algn="ctr">
                        <a:lnSpc>
                          <a:spcPct val="100000"/>
                        </a:lnSpc>
                        <a:spcBef>
                          <a:spcPts val="380"/>
                        </a:spcBef>
                      </a:pPr>
                      <a:r>
                        <a:rPr sz="900" spc="-5" dirty="0">
                          <a:latin typeface="Arial"/>
                          <a:cs typeface="Arial"/>
                        </a:rPr>
                        <a:t>VSSA2</a:t>
                      </a:r>
                      <a:endParaRPr sz="900" dirty="0">
                        <a:latin typeface="Arial"/>
                        <a:cs typeface="Arial"/>
                      </a:endParaRPr>
                    </a:p>
                  </a:txBody>
                  <a:tcPr marL="0" marR="0" marT="48260" marB="0">
                    <a:lnL w="12700">
                      <a:solidFill>
                        <a:srgbClr val="FFFFFF"/>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gn="ctr">
                        <a:lnSpc>
                          <a:spcPct val="100000"/>
                        </a:lnSpc>
                        <a:spcBef>
                          <a:spcPts val="380"/>
                        </a:spcBef>
                      </a:pPr>
                      <a:r>
                        <a:rPr sz="900" spc="-5" dirty="0">
                          <a:latin typeface="Arial"/>
                          <a:cs typeface="Arial"/>
                        </a:rPr>
                        <a:t>53</a:t>
                      </a:r>
                      <a:endParaRPr sz="900" dirty="0">
                        <a:latin typeface="Arial"/>
                        <a:cs typeface="Arial"/>
                      </a:endParaRPr>
                    </a:p>
                  </a:txBody>
                  <a:tcPr marL="0" marR="0" marT="4826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gn="ctr">
                        <a:lnSpc>
                          <a:spcPct val="100000"/>
                        </a:lnSpc>
                        <a:spcBef>
                          <a:spcPts val="380"/>
                        </a:spcBef>
                      </a:pPr>
                      <a:r>
                        <a:rPr sz="900" dirty="0">
                          <a:latin typeface="Arial"/>
                          <a:cs typeface="Arial"/>
                        </a:rPr>
                        <a:t>-</a:t>
                      </a:r>
                    </a:p>
                  </a:txBody>
                  <a:tcPr marL="0" marR="0" marT="4826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R="454659" algn="r">
                        <a:lnSpc>
                          <a:spcPct val="100000"/>
                        </a:lnSpc>
                        <a:spcBef>
                          <a:spcPts val="380"/>
                        </a:spcBef>
                      </a:pPr>
                      <a:r>
                        <a:rPr sz="900" spc="-5" dirty="0">
                          <a:latin typeface="Arial"/>
                          <a:cs typeface="Arial"/>
                        </a:rPr>
                        <a:t>GND</a:t>
                      </a:r>
                      <a:endParaRPr sz="900" dirty="0">
                        <a:latin typeface="Arial"/>
                        <a:cs typeface="Arial"/>
                      </a:endParaRPr>
                    </a:p>
                  </a:txBody>
                  <a:tcPr marL="0" marR="0" marT="4826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gn="ctr">
                        <a:lnSpc>
                          <a:spcPct val="100000"/>
                        </a:lnSpc>
                        <a:spcBef>
                          <a:spcPts val="380"/>
                        </a:spcBef>
                      </a:pPr>
                      <a:r>
                        <a:rPr sz="900" spc="-5" dirty="0">
                          <a:latin typeface="Arial"/>
                          <a:cs typeface="Arial"/>
                        </a:rPr>
                        <a:t>Analog</a:t>
                      </a:r>
                      <a:r>
                        <a:rPr sz="900" spc="-50" dirty="0">
                          <a:latin typeface="Arial"/>
                          <a:cs typeface="Arial"/>
                        </a:rPr>
                        <a:t> </a:t>
                      </a:r>
                      <a:r>
                        <a:rPr sz="900" spc="-5" dirty="0">
                          <a:latin typeface="Arial"/>
                          <a:cs typeface="Arial"/>
                        </a:rPr>
                        <a:t>GND</a:t>
                      </a:r>
                      <a:endParaRPr sz="900" dirty="0">
                        <a:latin typeface="Arial"/>
                        <a:cs typeface="Arial"/>
                      </a:endParaRPr>
                    </a:p>
                  </a:txBody>
                  <a:tcPr marL="0" marR="0" marT="4826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nSpc>
                          <a:spcPct val="100000"/>
                        </a:lnSpc>
                      </a:pPr>
                      <a:endParaRPr sz="900" dirty="0">
                        <a:latin typeface="Times New Roman"/>
                        <a:cs typeface="Times New Roman"/>
                      </a:endParaRPr>
                    </a:p>
                  </a:txBody>
                  <a:tcPr marL="0" marR="0" marT="0" marB="0">
                    <a:lnL w="3175">
                      <a:solidFill>
                        <a:srgbClr val="000000"/>
                      </a:solidFill>
                      <a:prstDash val="solid"/>
                    </a:lnL>
                    <a:lnR w="12700">
                      <a:solidFill>
                        <a:srgbClr val="FFFFFF"/>
                      </a:solidFill>
                      <a:prstDash val="solid"/>
                    </a:lnR>
                    <a:lnT w="3175">
                      <a:solidFill>
                        <a:srgbClr val="000000"/>
                      </a:solidFill>
                      <a:prstDash val="solid"/>
                    </a:lnT>
                    <a:lnB w="3175">
                      <a:solidFill>
                        <a:srgbClr val="000000"/>
                      </a:solidFill>
                      <a:prstDash val="solid"/>
                    </a:lnB>
                  </a:tcPr>
                </a:tc>
                <a:extLst>
                  <a:ext uri="{0D108BD9-81ED-4DB2-BD59-A6C34878D82A}">
                    <a16:rowId xmlns:a16="http://schemas.microsoft.com/office/drawing/2014/main" val="10010"/>
                  </a:ext>
                </a:extLst>
              </a:tr>
              <a:tr h="245110">
                <a:tc>
                  <a:txBody>
                    <a:bodyPr/>
                    <a:lstStyle/>
                    <a:p>
                      <a:pPr algn="ctr">
                        <a:lnSpc>
                          <a:spcPct val="100000"/>
                        </a:lnSpc>
                        <a:spcBef>
                          <a:spcPts val="380"/>
                        </a:spcBef>
                      </a:pPr>
                      <a:r>
                        <a:rPr sz="900" spc="-5" dirty="0">
                          <a:latin typeface="Arial"/>
                          <a:cs typeface="Arial"/>
                        </a:rPr>
                        <a:t>ADO12</a:t>
                      </a:r>
                      <a:endParaRPr sz="900" dirty="0">
                        <a:latin typeface="Arial"/>
                        <a:cs typeface="Arial"/>
                      </a:endParaRPr>
                    </a:p>
                  </a:txBody>
                  <a:tcPr marL="0" marR="0" marT="48260" marB="0">
                    <a:lnL w="12700">
                      <a:solidFill>
                        <a:srgbClr val="FFFFFF"/>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gn="ctr">
                        <a:lnSpc>
                          <a:spcPct val="100000"/>
                        </a:lnSpc>
                        <a:spcBef>
                          <a:spcPts val="380"/>
                        </a:spcBef>
                      </a:pPr>
                      <a:r>
                        <a:rPr sz="900" spc="-5" dirty="0">
                          <a:latin typeface="Arial"/>
                          <a:cs typeface="Arial"/>
                        </a:rPr>
                        <a:t>54</a:t>
                      </a:r>
                      <a:endParaRPr sz="900" dirty="0">
                        <a:latin typeface="Arial"/>
                        <a:cs typeface="Arial"/>
                      </a:endParaRPr>
                    </a:p>
                  </a:txBody>
                  <a:tcPr marL="0" marR="0" marT="4826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L="635" algn="ctr">
                        <a:lnSpc>
                          <a:spcPct val="100000"/>
                        </a:lnSpc>
                        <a:spcBef>
                          <a:spcPts val="380"/>
                        </a:spcBef>
                      </a:pPr>
                      <a:r>
                        <a:rPr sz="900" dirty="0">
                          <a:latin typeface="Arial"/>
                          <a:cs typeface="Arial"/>
                        </a:rPr>
                        <a:t>O</a:t>
                      </a:r>
                    </a:p>
                  </a:txBody>
                  <a:tcPr marL="0" marR="0" marT="4826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R="403860" algn="r">
                        <a:lnSpc>
                          <a:spcPct val="100000"/>
                        </a:lnSpc>
                        <a:spcBef>
                          <a:spcPts val="380"/>
                        </a:spcBef>
                      </a:pPr>
                      <a:r>
                        <a:rPr sz="900" spc="-5" dirty="0">
                          <a:latin typeface="Arial"/>
                          <a:cs typeface="Arial"/>
                        </a:rPr>
                        <a:t>Analog</a:t>
                      </a:r>
                      <a:endParaRPr sz="900" dirty="0">
                        <a:latin typeface="Arial"/>
                        <a:cs typeface="Arial"/>
                      </a:endParaRPr>
                    </a:p>
                  </a:txBody>
                  <a:tcPr marL="0" marR="0" marT="4826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gn="ctr">
                        <a:lnSpc>
                          <a:spcPct val="100000"/>
                        </a:lnSpc>
                        <a:spcBef>
                          <a:spcPts val="380"/>
                        </a:spcBef>
                      </a:pPr>
                      <a:r>
                        <a:rPr sz="900" spc="-5" dirty="0">
                          <a:latin typeface="Arial"/>
                          <a:cs typeface="Arial"/>
                        </a:rPr>
                        <a:t>Analog</a:t>
                      </a:r>
                      <a:r>
                        <a:rPr sz="900" spc="-40" dirty="0">
                          <a:latin typeface="Arial"/>
                          <a:cs typeface="Arial"/>
                        </a:rPr>
                        <a:t> </a:t>
                      </a:r>
                      <a:r>
                        <a:rPr sz="900" dirty="0">
                          <a:latin typeface="Arial"/>
                          <a:cs typeface="Arial"/>
                        </a:rPr>
                        <a:t>Data</a:t>
                      </a:r>
                      <a:r>
                        <a:rPr sz="900" spc="-30" dirty="0">
                          <a:latin typeface="Arial"/>
                          <a:cs typeface="Arial"/>
                        </a:rPr>
                        <a:t> </a:t>
                      </a:r>
                      <a:r>
                        <a:rPr sz="900" spc="-5" dirty="0">
                          <a:latin typeface="Arial"/>
                          <a:cs typeface="Arial"/>
                        </a:rPr>
                        <a:t>Out</a:t>
                      </a:r>
                      <a:endParaRPr sz="900" dirty="0">
                        <a:latin typeface="Arial"/>
                        <a:cs typeface="Arial"/>
                      </a:endParaRPr>
                    </a:p>
                  </a:txBody>
                  <a:tcPr marL="0" marR="0" marT="4826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nSpc>
                          <a:spcPct val="100000"/>
                        </a:lnSpc>
                      </a:pPr>
                      <a:endParaRPr sz="900" dirty="0">
                        <a:latin typeface="Times New Roman"/>
                        <a:cs typeface="Times New Roman"/>
                      </a:endParaRPr>
                    </a:p>
                  </a:txBody>
                  <a:tcPr marL="0" marR="0" marT="0" marB="0">
                    <a:lnL w="3175">
                      <a:solidFill>
                        <a:srgbClr val="000000"/>
                      </a:solidFill>
                      <a:prstDash val="solid"/>
                    </a:lnL>
                    <a:lnR w="12700">
                      <a:solidFill>
                        <a:srgbClr val="FFFFFF"/>
                      </a:solidFill>
                      <a:prstDash val="solid"/>
                    </a:lnR>
                    <a:lnT w="3175">
                      <a:solidFill>
                        <a:srgbClr val="000000"/>
                      </a:solidFill>
                      <a:prstDash val="solid"/>
                    </a:lnT>
                    <a:lnB w="3175">
                      <a:solidFill>
                        <a:srgbClr val="000000"/>
                      </a:solidFill>
                      <a:prstDash val="solid"/>
                    </a:lnB>
                  </a:tcPr>
                </a:tc>
                <a:extLst>
                  <a:ext uri="{0D108BD9-81ED-4DB2-BD59-A6C34878D82A}">
                    <a16:rowId xmlns:a16="http://schemas.microsoft.com/office/drawing/2014/main" val="10011"/>
                  </a:ext>
                </a:extLst>
              </a:tr>
              <a:tr h="245110">
                <a:tc>
                  <a:txBody>
                    <a:bodyPr/>
                    <a:lstStyle/>
                    <a:p>
                      <a:pPr algn="ctr">
                        <a:lnSpc>
                          <a:spcPct val="100000"/>
                        </a:lnSpc>
                        <a:spcBef>
                          <a:spcPts val="380"/>
                        </a:spcBef>
                      </a:pPr>
                      <a:r>
                        <a:rPr sz="900" spc="-5" dirty="0">
                          <a:latin typeface="Arial"/>
                          <a:cs typeface="Arial"/>
                        </a:rPr>
                        <a:t>ADO11</a:t>
                      </a:r>
                      <a:endParaRPr sz="900" dirty="0">
                        <a:latin typeface="Arial"/>
                        <a:cs typeface="Arial"/>
                      </a:endParaRPr>
                    </a:p>
                  </a:txBody>
                  <a:tcPr marL="0" marR="0" marT="48260" marB="0">
                    <a:lnL w="12700">
                      <a:solidFill>
                        <a:srgbClr val="FFFFFF"/>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gn="ctr">
                        <a:lnSpc>
                          <a:spcPct val="100000"/>
                        </a:lnSpc>
                        <a:spcBef>
                          <a:spcPts val="380"/>
                        </a:spcBef>
                      </a:pPr>
                      <a:r>
                        <a:rPr sz="900" spc="-5" dirty="0">
                          <a:latin typeface="Arial"/>
                          <a:cs typeface="Arial"/>
                        </a:rPr>
                        <a:t>55</a:t>
                      </a:r>
                      <a:endParaRPr sz="900" dirty="0">
                        <a:latin typeface="Arial"/>
                        <a:cs typeface="Arial"/>
                      </a:endParaRPr>
                    </a:p>
                  </a:txBody>
                  <a:tcPr marL="0" marR="0" marT="4826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L="635" algn="ctr">
                        <a:lnSpc>
                          <a:spcPct val="100000"/>
                        </a:lnSpc>
                        <a:spcBef>
                          <a:spcPts val="380"/>
                        </a:spcBef>
                      </a:pPr>
                      <a:r>
                        <a:rPr sz="900" dirty="0">
                          <a:latin typeface="Arial"/>
                          <a:cs typeface="Arial"/>
                        </a:rPr>
                        <a:t>O</a:t>
                      </a:r>
                    </a:p>
                  </a:txBody>
                  <a:tcPr marL="0" marR="0" marT="4826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R="403860" algn="r">
                        <a:lnSpc>
                          <a:spcPct val="100000"/>
                        </a:lnSpc>
                        <a:spcBef>
                          <a:spcPts val="380"/>
                        </a:spcBef>
                      </a:pPr>
                      <a:r>
                        <a:rPr sz="900" spc="-5" dirty="0">
                          <a:latin typeface="Arial"/>
                          <a:cs typeface="Arial"/>
                        </a:rPr>
                        <a:t>Analog</a:t>
                      </a:r>
                      <a:endParaRPr sz="900" dirty="0">
                        <a:latin typeface="Arial"/>
                        <a:cs typeface="Arial"/>
                      </a:endParaRPr>
                    </a:p>
                  </a:txBody>
                  <a:tcPr marL="0" marR="0" marT="4826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gn="ctr">
                        <a:lnSpc>
                          <a:spcPct val="100000"/>
                        </a:lnSpc>
                        <a:spcBef>
                          <a:spcPts val="380"/>
                        </a:spcBef>
                      </a:pPr>
                      <a:r>
                        <a:rPr sz="900" spc="-5" dirty="0">
                          <a:latin typeface="Arial"/>
                          <a:cs typeface="Arial"/>
                        </a:rPr>
                        <a:t>Analog</a:t>
                      </a:r>
                      <a:r>
                        <a:rPr sz="900" spc="-40" dirty="0">
                          <a:latin typeface="Arial"/>
                          <a:cs typeface="Arial"/>
                        </a:rPr>
                        <a:t> </a:t>
                      </a:r>
                      <a:r>
                        <a:rPr sz="900" dirty="0">
                          <a:latin typeface="Arial"/>
                          <a:cs typeface="Arial"/>
                        </a:rPr>
                        <a:t>Data</a:t>
                      </a:r>
                      <a:r>
                        <a:rPr sz="900" spc="-30" dirty="0">
                          <a:latin typeface="Arial"/>
                          <a:cs typeface="Arial"/>
                        </a:rPr>
                        <a:t> </a:t>
                      </a:r>
                      <a:r>
                        <a:rPr sz="900" spc="-5" dirty="0">
                          <a:latin typeface="Arial"/>
                          <a:cs typeface="Arial"/>
                        </a:rPr>
                        <a:t>Out</a:t>
                      </a:r>
                      <a:endParaRPr sz="900" dirty="0">
                        <a:latin typeface="Arial"/>
                        <a:cs typeface="Arial"/>
                      </a:endParaRPr>
                    </a:p>
                  </a:txBody>
                  <a:tcPr marL="0" marR="0" marT="4826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nSpc>
                          <a:spcPct val="100000"/>
                        </a:lnSpc>
                      </a:pPr>
                      <a:endParaRPr sz="900" dirty="0">
                        <a:latin typeface="Times New Roman"/>
                        <a:cs typeface="Times New Roman"/>
                      </a:endParaRPr>
                    </a:p>
                  </a:txBody>
                  <a:tcPr marL="0" marR="0" marT="0" marB="0">
                    <a:lnL w="3175">
                      <a:solidFill>
                        <a:srgbClr val="000000"/>
                      </a:solidFill>
                      <a:prstDash val="solid"/>
                    </a:lnL>
                    <a:lnR w="12700">
                      <a:solidFill>
                        <a:srgbClr val="FFFFFF"/>
                      </a:solidFill>
                      <a:prstDash val="solid"/>
                    </a:lnR>
                    <a:lnT w="3175">
                      <a:solidFill>
                        <a:srgbClr val="000000"/>
                      </a:solidFill>
                      <a:prstDash val="solid"/>
                    </a:lnT>
                    <a:lnB w="3175">
                      <a:solidFill>
                        <a:srgbClr val="000000"/>
                      </a:solidFill>
                      <a:prstDash val="solid"/>
                    </a:lnB>
                  </a:tcPr>
                </a:tc>
                <a:extLst>
                  <a:ext uri="{0D108BD9-81ED-4DB2-BD59-A6C34878D82A}">
                    <a16:rowId xmlns:a16="http://schemas.microsoft.com/office/drawing/2014/main" val="10012"/>
                  </a:ext>
                </a:extLst>
              </a:tr>
              <a:tr h="245110">
                <a:tc>
                  <a:txBody>
                    <a:bodyPr/>
                    <a:lstStyle/>
                    <a:p>
                      <a:pPr algn="ctr">
                        <a:lnSpc>
                          <a:spcPct val="100000"/>
                        </a:lnSpc>
                        <a:spcBef>
                          <a:spcPts val="380"/>
                        </a:spcBef>
                      </a:pPr>
                      <a:r>
                        <a:rPr sz="900" spc="-5" dirty="0">
                          <a:latin typeface="Arial"/>
                          <a:cs typeface="Arial"/>
                        </a:rPr>
                        <a:t>ADO10</a:t>
                      </a:r>
                      <a:endParaRPr sz="900" dirty="0">
                        <a:latin typeface="Arial"/>
                        <a:cs typeface="Arial"/>
                      </a:endParaRPr>
                    </a:p>
                  </a:txBody>
                  <a:tcPr marL="0" marR="0" marT="48260" marB="0">
                    <a:lnL w="12700">
                      <a:solidFill>
                        <a:srgbClr val="FFFFFF"/>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gn="ctr">
                        <a:lnSpc>
                          <a:spcPct val="100000"/>
                        </a:lnSpc>
                        <a:spcBef>
                          <a:spcPts val="380"/>
                        </a:spcBef>
                      </a:pPr>
                      <a:r>
                        <a:rPr sz="900" spc="-5" dirty="0">
                          <a:latin typeface="Arial"/>
                          <a:cs typeface="Arial"/>
                        </a:rPr>
                        <a:t>56</a:t>
                      </a:r>
                      <a:endParaRPr sz="900" dirty="0">
                        <a:latin typeface="Arial"/>
                        <a:cs typeface="Arial"/>
                      </a:endParaRPr>
                    </a:p>
                  </a:txBody>
                  <a:tcPr marL="0" marR="0" marT="4826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L="635" algn="ctr">
                        <a:lnSpc>
                          <a:spcPct val="100000"/>
                        </a:lnSpc>
                        <a:spcBef>
                          <a:spcPts val="380"/>
                        </a:spcBef>
                      </a:pPr>
                      <a:r>
                        <a:rPr sz="900" dirty="0">
                          <a:latin typeface="Arial"/>
                          <a:cs typeface="Arial"/>
                        </a:rPr>
                        <a:t>O</a:t>
                      </a:r>
                    </a:p>
                  </a:txBody>
                  <a:tcPr marL="0" marR="0" marT="4826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R="403860" algn="r">
                        <a:lnSpc>
                          <a:spcPct val="100000"/>
                        </a:lnSpc>
                        <a:spcBef>
                          <a:spcPts val="380"/>
                        </a:spcBef>
                      </a:pPr>
                      <a:r>
                        <a:rPr sz="900" spc="-5" dirty="0">
                          <a:latin typeface="Arial"/>
                          <a:cs typeface="Arial"/>
                        </a:rPr>
                        <a:t>Analog</a:t>
                      </a:r>
                      <a:endParaRPr sz="900" dirty="0">
                        <a:latin typeface="Arial"/>
                        <a:cs typeface="Arial"/>
                      </a:endParaRPr>
                    </a:p>
                  </a:txBody>
                  <a:tcPr marL="0" marR="0" marT="4826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gn="ctr">
                        <a:lnSpc>
                          <a:spcPct val="100000"/>
                        </a:lnSpc>
                        <a:spcBef>
                          <a:spcPts val="380"/>
                        </a:spcBef>
                      </a:pPr>
                      <a:r>
                        <a:rPr sz="900" spc="-5" dirty="0">
                          <a:latin typeface="Arial"/>
                          <a:cs typeface="Arial"/>
                        </a:rPr>
                        <a:t>Analog</a:t>
                      </a:r>
                      <a:r>
                        <a:rPr sz="900" spc="-40" dirty="0">
                          <a:latin typeface="Arial"/>
                          <a:cs typeface="Arial"/>
                        </a:rPr>
                        <a:t> </a:t>
                      </a:r>
                      <a:r>
                        <a:rPr sz="900" dirty="0">
                          <a:latin typeface="Arial"/>
                          <a:cs typeface="Arial"/>
                        </a:rPr>
                        <a:t>Data</a:t>
                      </a:r>
                      <a:r>
                        <a:rPr sz="900" spc="-30" dirty="0">
                          <a:latin typeface="Arial"/>
                          <a:cs typeface="Arial"/>
                        </a:rPr>
                        <a:t> </a:t>
                      </a:r>
                      <a:r>
                        <a:rPr sz="900" spc="-5" dirty="0">
                          <a:latin typeface="Arial"/>
                          <a:cs typeface="Arial"/>
                        </a:rPr>
                        <a:t>Out</a:t>
                      </a:r>
                      <a:endParaRPr sz="900" dirty="0">
                        <a:latin typeface="Arial"/>
                        <a:cs typeface="Arial"/>
                      </a:endParaRPr>
                    </a:p>
                  </a:txBody>
                  <a:tcPr marL="0" marR="0" marT="4826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nSpc>
                          <a:spcPct val="100000"/>
                        </a:lnSpc>
                      </a:pPr>
                      <a:endParaRPr sz="900" dirty="0">
                        <a:latin typeface="Times New Roman"/>
                        <a:cs typeface="Times New Roman"/>
                      </a:endParaRPr>
                    </a:p>
                  </a:txBody>
                  <a:tcPr marL="0" marR="0" marT="0" marB="0">
                    <a:lnL w="3175">
                      <a:solidFill>
                        <a:srgbClr val="000000"/>
                      </a:solidFill>
                      <a:prstDash val="solid"/>
                    </a:lnL>
                    <a:lnR w="12700">
                      <a:solidFill>
                        <a:srgbClr val="FFFFFF"/>
                      </a:solidFill>
                      <a:prstDash val="solid"/>
                    </a:lnR>
                    <a:lnT w="3175">
                      <a:solidFill>
                        <a:srgbClr val="000000"/>
                      </a:solidFill>
                      <a:prstDash val="solid"/>
                    </a:lnT>
                    <a:lnB w="3175">
                      <a:solidFill>
                        <a:srgbClr val="000000"/>
                      </a:solidFill>
                      <a:prstDash val="solid"/>
                    </a:lnB>
                  </a:tcPr>
                </a:tc>
                <a:extLst>
                  <a:ext uri="{0D108BD9-81ED-4DB2-BD59-A6C34878D82A}">
                    <a16:rowId xmlns:a16="http://schemas.microsoft.com/office/drawing/2014/main" val="10013"/>
                  </a:ext>
                </a:extLst>
              </a:tr>
              <a:tr h="245110">
                <a:tc>
                  <a:txBody>
                    <a:bodyPr/>
                    <a:lstStyle/>
                    <a:p>
                      <a:pPr algn="ctr">
                        <a:lnSpc>
                          <a:spcPct val="100000"/>
                        </a:lnSpc>
                        <a:spcBef>
                          <a:spcPts val="380"/>
                        </a:spcBef>
                      </a:pPr>
                      <a:r>
                        <a:rPr sz="900" spc="-5" dirty="0">
                          <a:latin typeface="Arial"/>
                          <a:cs typeface="Arial"/>
                        </a:rPr>
                        <a:t>ADO9</a:t>
                      </a:r>
                      <a:endParaRPr sz="900" dirty="0">
                        <a:latin typeface="Arial"/>
                        <a:cs typeface="Arial"/>
                      </a:endParaRPr>
                    </a:p>
                  </a:txBody>
                  <a:tcPr marL="0" marR="0" marT="48260" marB="0">
                    <a:lnL w="12700">
                      <a:solidFill>
                        <a:srgbClr val="FFFFFF"/>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gn="ctr">
                        <a:lnSpc>
                          <a:spcPct val="100000"/>
                        </a:lnSpc>
                        <a:spcBef>
                          <a:spcPts val="380"/>
                        </a:spcBef>
                      </a:pPr>
                      <a:r>
                        <a:rPr sz="900" spc="-5" dirty="0">
                          <a:latin typeface="Arial"/>
                          <a:cs typeface="Arial"/>
                        </a:rPr>
                        <a:t>57</a:t>
                      </a:r>
                      <a:endParaRPr sz="900" dirty="0">
                        <a:latin typeface="Arial"/>
                        <a:cs typeface="Arial"/>
                      </a:endParaRPr>
                    </a:p>
                  </a:txBody>
                  <a:tcPr marL="0" marR="0" marT="4826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L="635" algn="ctr">
                        <a:lnSpc>
                          <a:spcPct val="100000"/>
                        </a:lnSpc>
                        <a:spcBef>
                          <a:spcPts val="380"/>
                        </a:spcBef>
                      </a:pPr>
                      <a:r>
                        <a:rPr sz="900" dirty="0">
                          <a:latin typeface="Arial"/>
                          <a:cs typeface="Arial"/>
                        </a:rPr>
                        <a:t>O</a:t>
                      </a:r>
                    </a:p>
                  </a:txBody>
                  <a:tcPr marL="0" marR="0" marT="4826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R="403860" algn="r">
                        <a:lnSpc>
                          <a:spcPct val="100000"/>
                        </a:lnSpc>
                        <a:spcBef>
                          <a:spcPts val="380"/>
                        </a:spcBef>
                      </a:pPr>
                      <a:r>
                        <a:rPr sz="900" spc="-5" dirty="0">
                          <a:latin typeface="Arial"/>
                          <a:cs typeface="Arial"/>
                        </a:rPr>
                        <a:t>Analog</a:t>
                      </a:r>
                      <a:endParaRPr sz="900" dirty="0">
                        <a:latin typeface="Arial"/>
                        <a:cs typeface="Arial"/>
                      </a:endParaRPr>
                    </a:p>
                  </a:txBody>
                  <a:tcPr marL="0" marR="0" marT="4826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gn="ctr">
                        <a:lnSpc>
                          <a:spcPct val="100000"/>
                        </a:lnSpc>
                        <a:spcBef>
                          <a:spcPts val="380"/>
                        </a:spcBef>
                      </a:pPr>
                      <a:r>
                        <a:rPr sz="900" spc="-5" dirty="0">
                          <a:latin typeface="Arial"/>
                          <a:cs typeface="Arial"/>
                        </a:rPr>
                        <a:t>Analog</a:t>
                      </a:r>
                      <a:r>
                        <a:rPr sz="900" spc="-40" dirty="0">
                          <a:latin typeface="Arial"/>
                          <a:cs typeface="Arial"/>
                        </a:rPr>
                        <a:t> </a:t>
                      </a:r>
                      <a:r>
                        <a:rPr sz="900" dirty="0">
                          <a:latin typeface="Arial"/>
                          <a:cs typeface="Arial"/>
                        </a:rPr>
                        <a:t>Data</a:t>
                      </a:r>
                      <a:r>
                        <a:rPr sz="900" spc="-30" dirty="0">
                          <a:latin typeface="Arial"/>
                          <a:cs typeface="Arial"/>
                        </a:rPr>
                        <a:t> </a:t>
                      </a:r>
                      <a:r>
                        <a:rPr sz="900" spc="-5" dirty="0">
                          <a:latin typeface="Arial"/>
                          <a:cs typeface="Arial"/>
                        </a:rPr>
                        <a:t>Out</a:t>
                      </a:r>
                      <a:endParaRPr sz="900" dirty="0">
                        <a:latin typeface="Arial"/>
                        <a:cs typeface="Arial"/>
                      </a:endParaRPr>
                    </a:p>
                  </a:txBody>
                  <a:tcPr marL="0" marR="0" marT="4826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nSpc>
                          <a:spcPct val="100000"/>
                        </a:lnSpc>
                      </a:pPr>
                      <a:endParaRPr sz="900" dirty="0">
                        <a:latin typeface="Times New Roman"/>
                        <a:cs typeface="Times New Roman"/>
                      </a:endParaRPr>
                    </a:p>
                  </a:txBody>
                  <a:tcPr marL="0" marR="0" marT="0" marB="0">
                    <a:lnL w="3175">
                      <a:solidFill>
                        <a:srgbClr val="000000"/>
                      </a:solidFill>
                      <a:prstDash val="solid"/>
                    </a:lnL>
                    <a:lnR w="12700">
                      <a:solidFill>
                        <a:srgbClr val="FFFFFF"/>
                      </a:solidFill>
                      <a:prstDash val="solid"/>
                    </a:lnR>
                    <a:lnT w="3175">
                      <a:solidFill>
                        <a:srgbClr val="000000"/>
                      </a:solidFill>
                      <a:prstDash val="solid"/>
                    </a:lnT>
                    <a:lnB w="3175">
                      <a:solidFill>
                        <a:srgbClr val="000000"/>
                      </a:solidFill>
                      <a:prstDash val="solid"/>
                    </a:lnB>
                  </a:tcPr>
                </a:tc>
                <a:extLst>
                  <a:ext uri="{0D108BD9-81ED-4DB2-BD59-A6C34878D82A}">
                    <a16:rowId xmlns:a16="http://schemas.microsoft.com/office/drawing/2014/main" val="10014"/>
                  </a:ext>
                </a:extLst>
              </a:tr>
              <a:tr h="244475">
                <a:tc>
                  <a:txBody>
                    <a:bodyPr/>
                    <a:lstStyle/>
                    <a:p>
                      <a:pPr algn="ctr">
                        <a:lnSpc>
                          <a:spcPct val="100000"/>
                        </a:lnSpc>
                        <a:spcBef>
                          <a:spcPts val="380"/>
                        </a:spcBef>
                      </a:pPr>
                      <a:r>
                        <a:rPr sz="900" spc="-5" dirty="0">
                          <a:latin typeface="Arial"/>
                          <a:cs typeface="Arial"/>
                        </a:rPr>
                        <a:t>ADO8</a:t>
                      </a:r>
                      <a:endParaRPr sz="900" dirty="0">
                        <a:latin typeface="Arial"/>
                        <a:cs typeface="Arial"/>
                      </a:endParaRPr>
                    </a:p>
                  </a:txBody>
                  <a:tcPr marL="0" marR="0" marT="48260" marB="0">
                    <a:lnL w="12700">
                      <a:solidFill>
                        <a:srgbClr val="FFFFFF"/>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gn="ctr">
                        <a:lnSpc>
                          <a:spcPct val="100000"/>
                        </a:lnSpc>
                        <a:spcBef>
                          <a:spcPts val="380"/>
                        </a:spcBef>
                      </a:pPr>
                      <a:r>
                        <a:rPr sz="900" spc="-5" dirty="0">
                          <a:latin typeface="Arial"/>
                          <a:cs typeface="Arial"/>
                        </a:rPr>
                        <a:t>58</a:t>
                      </a:r>
                      <a:endParaRPr sz="900" dirty="0">
                        <a:latin typeface="Arial"/>
                        <a:cs typeface="Arial"/>
                      </a:endParaRPr>
                    </a:p>
                  </a:txBody>
                  <a:tcPr marL="0" marR="0" marT="4826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L="635" algn="ctr">
                        <a:lnSpc>
                          <a:spcPct val="100000"/>
                        </a:lnSpc>
                        <a:spcBef>
                          <a:spcPts val="380"/>
                        </a:spcBef>
                      </a:pPr>
                      <a:r>
                        <a:rPr sz="900" dirty="0">
                          <a:latin typeface="Arial"/>
                          <a:cs typeface="Arial"/>
                        </a:rPr>
                        <a:t>O</a:t>
                      </a:r>
                    </a:p>
                  </a:txBody>
                  <a:tcPr marL="0" marR="0" marT="4826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R="403860" algn="r">
                        <a:lnSpc>
                          <a:spcPct val="100000"/>
                        </a:lnSpc>
                        <a:spcBef>
                          <a:spcPts val="380"/>
                        </a:spcBef>
                      </a:pPr>
                      <a:r>
                        <a:rPr sz="900" spc="-5" dirty="0">
                          <a:latin typeface="Arial"/>
                          <a:cs typeface="Arial"/>
                        </a:rPr>
                        <a:t>Analog</a:t>
                      </a:r>
                      <a:endParaRPr sz="900" dirty="0">
                        <a:latin typeface="Arial"/>
                        <a:cs typeface="Arial"/>
                      </a:endParaRPr>
                    </a:p>
                  </a:txBody>
                  <a:tcPr marL="0" marR="0" marT="4826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gn="ctr">
                        <a:lnSpc>
                          <a:spcPct val="100000"/>
                        </a:lnSpc>
                        <a:spcBef>
                          <a:spcPts val="380"/>
                        </a:spcBef>
                      </a:pPr>
                      <a:r>
                        <a:rPr sz="900" spc="-5" dirty="0">
                          <a:latin typeface="Arial"/>
                          <a:cs typeface="Arial"/>
                        </a:rPr>
                        <a:t>Analog</a:t>
                      </a:r>
                      <a:r>
                        <a:rPr sz="900" spc="-40" dirty="0">
                          <a:latin typeface="Arial"/>
                          <a:cs typeface="Arial"/>
                        </a:rPr>
                        <a:t> </a:t>
                      </a:r>
                      <a:r>
                        <a:rPr sz="900" dirty="0">
                          <a:latin typeface="Arial"/>
                          <a:cs typeface="Arial"/>
                        </a:rPr>
                        <a:t>Data</a:t>
                      </a:r>
                      <a:r>
                        <a:rPr sz="900" spc="-30" dirty="0">
                          <a:latin typeface="Arial"/>
                          <a:cs typeface="Arial"/>
                        </a:rPr>
                        <a:t> </a:t>
                      </a:r>
                      <a:r>
                        <a:rPr sz="900" spc="-5" dirty="0">
                          <a:latin typeface="Arial"/>
                          <a:cs typeface="Arial"/>
                        </a:rPr>
                        <a:t>Out</a:t>
                      </a:r>
                      <a:endParaRPr sz="900" dirty="0">
                        <a:latin typeface="Arial"/>
                        <a:cs typeface="Arial"/>
                      </a:endParaRPr>
                    </a:p>
                  </a:txBody>
                  <a:tcPr marL="0" marR="0" marT="4826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nSpc>
                          <a:spcPct val="100000"/>
                        </a:lnSpc>
                      </a:pPr>
                      <a:endParaRPr sz="900" dirty="0">
                        <a:latin typeface="Times New Roman"/>
                        <a:cs typeface="Times New Roman"/>
                      </a:endParaRPr>
                    </a:p>
                  </a:txBody>
                  <a:tcPr marL="0" marR="0" marT="0" marB="0">
                    <a:lnL w="3175">
                      <a:solidFill>
                        <a:srgbClr val="000000"/>
                      </a:solidFill>
                      <a:prstDash val="solid"/>
                    </a:lnL>
                    <a:lnR w="12700">
                      <a:solidFill>
                        <a:srgbClr val="FFFFFF"/>
                      </a:solidFill>
                      <a:prstDash val="solid"/>
                    </a:lnR>
                    <a:lnT w="3175">
                      <a:solidFill>
                        <a:srgbClr val="000000"/>
                      </a:solidFill>
                      <a:prstDash val="solid"/>
                    </a:lnT>
                    <a:lnB w="3175">
                      <a:solidFill>
                        <a:srgbClr val="000000"/>
                      </a:solidFill>
                      <a:prstDash val="solid"/>
                    </a:lnB>
                  </a:tcPr>
                </a:tc>
                <a:extLst>
                  <a:ext uri="{0D108BD9-81ED-4DB2-BD59-A6C34878D82A}">
                    <a16:rowId xmlns:a16="http://schemas.microsoft.com/office/drawing/2014/main" val="10015"/>
                  </a:ext>
                </a:extLst>
              </a:tr>
              <a:tr h="245110">
                <a:tc>
                  <a:txBody>
                    <a:bodyPr/>
                    <a:lstStyle/>
                    <a:p>
                      <a:pPr algn="ctr">
                        <a:lnSpc>
                          <a:spcPct val="100000"/>
                        </a:lnSpc>
                        <a:spcBef>
                          <a:spcPts val="380"/>
                        </a:spcBef>
                      </a:pPr>
                      <a:r>
                        <a:rPr sz="900" spc="-5" dirty="0">
                          <a:latin typeface="Arial"/>
                          <a:cs typeface="Arial"/>
                        </a:rPr>
                        <a:t>ADO7</a:t>
                      </a:r>
                      <a:endParaRPr sz="900" dirty="0">
                        <a:latin typeface="Arial"/>
                        <a:cs typeface="Arial"/>
                      </a:endParaRPr>
                    </a:p>
                  </a:txBody>
                  <a:tcPr marL="0" marR="0" marT="48260" marB="0">
                    <a:lnL w="12700">
                      <a:solidFill>
                        <a:srgbClr val="FFFFFF"/>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gn="ctr">
                        <a:lnSpc>
                          <a:spcPct val="100000"/>
                        </a:lnSpc>
                        <a:spcBef>
                          <a:spcPts val="380"/>
                        </a:spcBef>
                      </a:pPr>
                      <a:r>
                        <a:rPr sz="900" spc="-5" dirty="0">
                          <a:latin typeface="Arial"/>
                          <a:cs typeface="Arial"/>
                        </a:rPr>
                        <a:t>59</a:t>
                      </a:r>
                      <a:endParaRPr sz="900" dirty="0">
                        <a:latin typeface="Arial"/>
                        <a:cs typeface="Arial"/>
                      </a:endParaRPr>
                    </a:p>
                  </a:txBody>
                  <a:tcPr marL="0" marR="0" marT="4826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L="635" algn="ctr">
                        <a:lnSpc>
                          <a:spcPct val="100000"/>
                        </a:lnSpc>
                        <a:spcBef>
                          <a:spcPts val="380"/>
                        </a:spcBef>
                      </a:pPr>
                      <a:r>
                        <a:rPr sz="900" dirty="0">
                          <a:latin typeface="Arial"/>
                          <a:cs typeface="Arial"/>
                        </a:rPr>
                        <a:t>O</a:t>
                      </a:r>
                    </a:p>
                  </a:txBody>
                  <a:tcPr marL="0" marR="0" marT="4826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R="403860" algn="r">
                        <a:lnSpc>
                          <a:spcPct val="100000"/>
                        </a:lnSpc>
                        <a:spcBef>
                          <a:spcPts val="380"/>
                        </a:spcBef>
                      </a:pPr>
                      <a:r>
                        <a:rPr sz="900" spc="-5" dirty="0">
                          <a:latin typeface="Arial"/>
                          <a:cs typeface="Arial"/>
                        </a:rPr>
                        <a:t>Analog</a:t>
                      </a:r>
                      <a:endParaRPr sz="900" dirty="0">
                        <a:latin typeface="Arial"/>
                        <a:cs typeface="Arial"/>
                      </a:endParaRPr>
                    </a:p>
                  </a:txBody>
                  <a:tcPr marL="0" marR="0" marT="4826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gn="ctr">
                        <a:lnSpc>
                          <a:spcPct val="100000"/>
                        </a:lnSpc>
                        <a:spcBef>
                          <a:spcPts val="380"/>
                        </a:spcBef>
                      </a:pPr>
                      <a:r>
                        <a:rPr sz="900" spc="-5" dirty="0">
                          <a:latin typeface="Arial"/>
                          <a:cs typeface="Arial"/>
                        </a:rPr>
                        <a:t>Analog</a:t>
                      </a:r>
                      <a:r>
                        <a:rPr sz="900" spc="-40" dirty="0">
                          <a:latin typeface="Arial"/>
                          <a:cs typeface="Arial"/>
                        </a:rPr>
                        <a:t> </a:t>
                      </a:r>
                      <a:r>
                        <a:rPr sz="900" dirty="0">
                          <a:latin typeface="Arial"/>
                          <a:cs typeface="Arial"/>
                        </a:rPr>
                        <a:t>Data</a:t>
                      </a:r>
                      <a:r>
                        <a:rPr sz="900" spc="-30" dirty="0">
                          <a:latin typeface="Arial"/>
                          <a:cs typeface="Arial"/>
                        </a:rPr>
                        <a:t> </a:t>
                      </a:r>
                      <a:r>
                        <a:rPr sz="900" spc="-5" dirty="0">
                          <a:latin typeface="Arial"/>
                          <a:cs typeface="Arial"/>
                        </a:rPr>
                        <a:t>Out</a:t>
                      </a:r>
                      <a:endParaRPr sz="900" dirty="0">
                        <a:latin typeface="Arial"/>
                        <a:cs typeface="Arial"/>
                      </a:endParaRPr>
                    </a:p>
                  </a:txBody>
                  <a:tcPr marL="0" marR="0" marT="4826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nSpc>
                          <a:spcPct val="100000"/>
                        </a:lnSpc>
                      </a:pPr>
                      <a:endParaRPr sz="900" dirty="0">
                        <a:latin typeface="Times New Roman"/>
                        <a:cs typeface="Times New Roman"/>
                      </a:endParaRPr>
                    </a:p>
                  </a:txBody>
                  <a:tcPr marL="0" marR="0" marT="0" marB="0">
                    <a:lnL w="3175">
                      <a:solidFill>
                        <a:srgbClr val="000000"/>
                      </a:solidFill>
                      <a:prstDash val="solid"/>
                    </a:lnL>
                    <a:lnR w="12700">
                      <a:solidFill>
                        <a:srgbClr val="FFFFFF"/>
                      </a:solidFill>
                      <a:prstDash val="solid"/>
                    </a:lnR>
                    <a:lnT w="3175">
                      <a:solidFill>
                        <a:srgbClr val="000000"/>
                      </a:solidFill>
                      <a:prstDash val="solid"/>
                    </a:lnT>
                    <a:lnB w="3175">
                      <a:solidFill>
                        <a:srgbClr val="000000"/>
                      </a:solidFill>
                      <a:prstDash val="solid"/>
                    </a:lnB>
                  </a:tcPr>
                </a:tc>
                <a:extLst>
                  <a:ext uri="{0D108BD9-81ED-4DB2-BD59-A6C34878D82A}">
                    <a16:rowId xmlns:a16="http://schemas.microsoft.com/office/drawing/2014/main" val="10016"/>
                  </a:ext>
                </a:extLst>
              </a:tr>
              <a:tr h="245110">
                <a:tc>
                  <a:txBody>
                    <a:bodyPr/>
                    <a:lstStyle/>
                    <a:p>
                      <a:pPr algn="ctr">
                        <a:lnSpc>
                          <a:spcPct val="100000"/>
                        </a:lnSpc>
                        <a:spcBef>
                          <a:spcPts val="384"/>
                        </a:spcBef>
                      </a:pPr>
                      <a:r>
                        <a:rPr sz="900" spc="-5" dirty="0">
                          <a:latin typeface="Arial"/>
                          <a:cs typeface="Arial"/>
                        </a:rPr>
                        <a:t>VDDA3</a:t>
                      </a:r>
                      <a:endParaRPr sz="900" dirty="0">
                        <a:latin typeface="Arial"/>
                        <a:cs typeface="Arial"/>
                      </a:endParaRPr>
                    </a:p>
                  </a:txBody>
                  <a:tcPr marL="0" marR="0" marT="48894" marB="0">
                    <a:lnL w="12700">
                      <a:solidFill>
                        <a:srgbClr val="FFFFFF"/>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gn="ctr">
                        <a:lnSpc>
                          <a:spcPct val="100000"/>
                        </a:lnSpc>
                        <a:spcBef>
                          <a:spcPts val="384"/>
                        </a:spcBef>
                      </a:pPr>
                      <a:r>
                        <a:rPr sz="900" spc="-5" dirty="0">
                          <a:latin typeface="Arial"/>
                          <a:cs typeface="Arial"/>
                        </a:rPr>
                        <a:t>60</a:t>
                      </a:r>
                      <a:endParaRPr sz="900" dirty="0">
                        <a:latin typeface="Arial"/>
                        <a:cs typeface="Arial"/>
                      </a:endParaRPr>
                    </a:p>
                  </a:txBody>
                  <a:tcPr marL="0" marR="0" marT="48894"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gn="ctr">
                        <a:lnSpc>
                          <a:spcPct val="100000"/>
                        </a:lnSpc>
                        <a:spcBef>
                          <a:spcPts val="384"/>
                        </a:spcBef>
                      </a:pPr>
                      <a:r>
                        <a:rPr sz="900" dirty="0">
                          <a:latin typeface="Arial"/>
                          <a:cs typeface="Arial"/>
                        </a:rPr>
                        <a:t>-</a:t>
                      </a:r>
                    </a:p>
                  </a:txBody>
                  <a:tcPr marL="0" marR="0" marT="48894"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R="419734" algn="r">
                        <a:lnSpc>
                          <a:spcPct val="100000"/>
                        </a:lnSpc>
                        <a:spcBef>
                          <a:spcPts val="384"/>
                        </a:spcBef>
                      </a:pPr>
                      <a:r>
                        <a:rPr sz="900" spc="-5" dirty="0">
                          <a:latin typeface="Arial"/>
                          <a:cs typeface="Arial"/>
                        </a:rPr>
                        <a:t>Power</a:t>
                      </a:r>
                      <a:endParaRPr sz="900" dirty="0">
                        <a:latin typeface="Arial"/>
                        <a:cs typeface="Arial"/>
                      </a:endParaRPr>
                    </a:p>
                  </a:txBody>
                  <a:tcPr marL="0" marR="0" marT="48894"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gn="ctr">
                        <a:lnSpc>
                          <a:spcPct val="100000"/>
                        </a:lnSpc>
                        <a:spcBef>
                          <a:spcPts val="384"/>
                        </a:spcBef>
                      </a:pPr>
                      <a:r>
                        <a:rPr sz="900" spc="-5" dirty="0">
                          <a:latin typeface="Arial"/>
                          <a:cs typeface="Arial"/>
                        </a:rPr>
                        <a:t>Analog</a:t>
                      </a:r>
                      <a:r>
                        <a:rPr sz="900" spc="-45" dirty="0">
                          <a:latin typeface="Arial"/>
                          <a:cs typeface="Arial"/>
                        </a:rPr>
                        <a:t> </a:t>
                      </a:r>
                      <a:r>
                        <a:rPr sz="900" spc="-5" dirty="0">
                          <a:latin typeface="Arial"/>
                          <a:cs typeface="Arial"/>
                        </a:rPr>
                        <a:t>VDD</a:t>
                      </a:r>
                      <a:endParaRPr sz="900" dirty="0">
                        <a:latin typeface="Arial"/>
                        <a:cs typeface="Arial"/>
                      </a:endParaRPr>
                    </a:p>
                  </a:txBody>
                  <a:tcPr marL="0" marR="0" marT="48894"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nSpc>
                          <a:spcPct val="100000"/>
                        </a:lnSpc>
                      </a:pPr>
                      <a:endParaRPr sz="900" dirty="0">
                        <a:latin typeface="Times New Roman"/>
                        <a:cs typeface="Times New Roman"/>
                      </a:endParaRPr>
                    </a:p>
                  </a:txBody>
                  <a:tcPr marL="0" marR="0" marT="0" marB="0">
                    <a:lnL w="3175">
                      <a:solidFill>
                        <a:srgbClr val="000000"/>
                      </a:solidFill>
                      <a:prstDash val="solid"/>
                    </a:lnL>
                    <a:lnR w="12700">
                      <a:solidFill>
                        <a:srgbClr val="FFFFFF"/>
                      </a:solidFill>
                      <a:prstDash val="solid"/>
                    </a:lnR>
                    <a:lnT w="3175">
                      <a:solidFill>
                        <a:srgbClr val="000000"/>
                      </a:solidFill>
                      <a:prstDash val="solid"/>
                    </a:lnT>
                    <a:lnB w="3175">
                      <a:solidFill>
                        <a:srgbClr val="000000"/>
                      </a:solidFill>
                      <a:prstDash val="solid"/>
                    </a:lnB>
                  </a:tcPr>
                </a:tc>
                <a:extLst>
                  <a:ext uri="{0D108BD9-81ED-4DB2-BD59-A6C34878D82A}">
                    <a16:rowId xmlns:a16="http://schemas.microsoft.com/office/drawing/2014/main" val="10017"/>
                  </a:ext>
                </a:extLst>
              </a:tr>
              <a:tr h="245110">
                <a:tc>
                  <a:txBody>
                    <a:bodyPr/>
                    <a:lstStyle/>
                    <a:p>
                      <a:pPr algn="ctr">
                        <a:lnSpc>
                          <a:spcPct val="100000"/>
                        </a:lnSpc>
                        <a:spcBef>
                          <a:spcPts val="380"/>
                        </a:spcBef>
                      </a:pPr>
                      <a:r>
                        <a:rPr sz="900" spc="-5" dirty="0">
                          <a:latin typeface="Arial"/>
                          <a:cs typeface="Arial"/>
                        </a:rPr>
                        <a:t>ADO6</a:t>
                      </a:r>
                      <a:endParaRPr sz="900" dirty="0">
                        <a:latin typeface="Arial"/>
                        <a:cs typeface="Arial"/>
                      </a:endParaRPr>
                    </a:p>
                  </a:txBody>
                  <a:tcPr marL="0" marR="0" marT="48260" marB="0">
                    <a:lnL w="12700">
                      <a:solidFill>
                        <a:srgbClr val="FFFFFF"/>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gn="ctr">
                        <a:lnSpc>
                          <a:spcPct val="100000"/>
                        </a:lnSpc>
                        <a:spcBef>
                          <a:spcPts val="380"/>
                        </a:spcBef>
                      </a:pPr>
                      <a:r>
                        <a:rPr sz="900" spc="-5" dirty="0">
                          <a:latin typeface="Arial"/>
                          <a:cs typeface="Arial"/>
                        </a:rPr>
                        <a:t>61</a:t>
                      </a:r>
                      <a:endParaRPr sz="900" dirty="0">
                        <a:latin typeface="Arial"/>
                        <a:cs typeface="Arial"/>
                      </a:endParaRPr>
                    </a:p>
                  </a:txBody>
                  <a:tcPr marL="0" marR="0" marT="4826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L="635" algn="ctr">
                        <a:lnSpc>
                          <a:spcPct val="100000"/>
                        </a:lnSpc>
                        <a:spcBef>
                          <a:spcPts val="380"/>
                        </a:spcBef>
                      </a:pPr>
                      <a:r>
                        <a:rPr sz="900" dirty="0">
                          <a:latin typeface="Arial"/>
                          <a:cs typeface="Arial"/>
                        </a:rPr>
                        <a:t>O</a:t>
                      </a:r>
                    </a:p>
                  </a:txBody>
                  <a:tcPr marL="0" marR="0" marT="4826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R="403860" algn="r">
                        <a:lnSpc>
                          <a:spcPct val="100000"/>
                        </a:lnSpc>
                        <a:spcBef>
                          <a:spcPts val="380"/>
                        </a:spcBef>
                      </a:pPr>
                      <a:r>
                        <a:rPr sz="900" spc="-5" dirty="0">
                          <a:latin typeface="Arial"/>
                          <a:cs typeface="Arial"/>
                        </a:rPr>
                        <a:t>Analog</a:t>
                      </a:r>
                      <a:endParaRPr sz="900" dirty="0">
                        <a:latin typeface="Arial"/>
                        <a:cs typeface="Arial"/>
                      </a:endParaRPr>
                    </a:p>
                  </a:txBody>
                  <a:tcPr marL="0" marR="0" marT="4826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gn="ctr">
                        <a:lnSpc>
                          <a:spcPct val="100000"/>
                        </a:lnSpc>
                        <a:spcBef>
                          <a:spcPts val="380"/>
                        </a:spcBef>
                      </a:pPr>
                      <a:r>
                        <a:rPr sz="900" spc="-5" dirty="0">
                          <a:latin typeface="Arial"/>
                          <a:cs typeface="Arial"/>
                        </a:rPr>
                        <a:t>Analog</a:t>
                      </a:r>
                      <a:r>
                        <a:rPr sz="900" spc="-40" dirty="0">
                          <a:latin typeface="Arial"/>
                          <a:cs typeface="Arial"/>
                        </a:rPr>
                        <a:t> </a:t>
                      </a:r>
                      <a:r>
                        <a:rPr sz="900" dirty="0">
                          <a:latin typeface="Arial"/>
                          <a:cs typeface="Arial"/>
                        </a:rPr>
                        <a:t>Data</a:t>
                      </a:r>
                      <a:r>
                        <a:rPr sz="900" spc="-30" dirty="0">
                          <a:latin typeface="Arial"/>
                          <a:cs typeface="Arial"/>
                        </a:rPr>
                        <a:t> </a:t>
                      </a:r>
                      <a:r>
                        <a:rPr sz="900" spc="-5" dirty="0">
                          <a:latin typeface="Arial"/>
                          <a:cs typeface="Arial"/>
                        </a:rPr>
                        <a:t>Out</a:t>
                      </a:r>
                      <a:endParaRPr sz="900" dirty="0">
                        <a:latin typeface="Arial"/>
                        <a:cs typeface="Arial"/>
                      </a:endParaRPr>
                    </a:p>
                  </a:txBody>
                  <a:tcPr marL="0" marR="0" marT="4826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nSpc>
                          <a:spcPct val="100000"/>
                        </a:lnSpc>
                      </a:pPr>
                      <a:endParaRPr sz="900" dirty="0">
                        <a:latin typeface="Times New Roman"/>
                        <a:cs typeface="Times New Roman"/>
                      </a:endParaRPr>
                    </a:p>
                  </a:txBody>
                  <a:tcPr marL="0" marR="0" marT="0" marB="0">
                    <a:lnL w="3175">
                      <a:solidFill>
                        <a:srgbClr val="000000"/>
                      </a:solidFill>
                      <a:prstDash val="solid"/>
                    </a:lnL>
                    <a:lnR w="12700">
                      <a:solidFill>
                        <a:srgbClr val="FFFFFF"/>
                      </a:solidFill>
                      <a:prstDash val="solid"/>
                    </a:lnR>
                    <a:lnT w="3175">
                      <a:solidFill>
                        <a:srgbClr val="000000"/>
                      </a:solidFill>
                      <a:prstDash val="solid"/>
                    </a:lnT>
                    <a:lnB w="3175">
                      <a:solidFill>
                        <a:srgbClr val="000000"/>
                      </a:solidFill>
                      <a:prstDash val="solid"/>
                    </a:lnB>
                  </a:tcPr>
                </a:tc>
                <a:extLst>
                  <a:ext uri="{0D108BD9-81ED-4DB2-BD59-A6C34878D82A}">
                    <a16:rowId xmlns:a16="http://schemas.microsoft.com/office/drawing/2014/main" val="10018"/>
                  </a:ext>
                </a:extLst>
              </a:tr>
              <a:tr h="245110">
                <a:tc>
                  <a:txBody>
                    <a:bodyPr/>
                    <a:lstStyle/>
                    <a:p>
                      <a:pPr algn="ctr">
                        <a:lnSpc>
                          <a:spcPct val="100000"/>
                        </a:lnSpc>
                        <a:spcBef>
                          <a:spcPts val="385"/>
                        </a:spcBef>
                      </a:pPr>
                      <a:r>
                        <a:rPr sz="900" spc="-5" dirty="0">
                          <a:latin typeface="Arial"/>
                          <a:cs typeface="Arial"/>
                        </a:rPr>
                        <a:t>ADO5</a:t>
                      </a:r>
                      <a:endParaRPr sz="900" dirty="0">
                        <a:latin typeface="Arial"/>
                        <a:cs typeface="Arial"/>
                      </a:endParaRPr>
                    </a:p>
                  </a:txBody>
                  <a:tcPr marL="0" marR="0" marT="48895" marB="0">
                    <a:lnL w="12700">
                      <a:solidFill>
                        <a:srgbClr val="FFFFFF"/>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gn="ctr">
                        <a:lnSpc>
                          <a:spcPct val="100000"/>
                        </a:lnSpc>
                        <a:spcBef>
                          <a:spcPts val="385"/>
                        </a:spcBef>
                      </a:pPr>
                      <a:r>
                        <a:rPr sz="900" spc="-5" dirty="0">
                          <a:latin typeface="Arial"/>
                          <a:cs typeface="Arial"/>
                        </a:rPr>
                        <a:t>62</a:t>
                      </a:r>
                      <a:endParaRPr sz="900" dirty="0">
                        <a:latin typeface="Arial"/>
                        <a:cs typeface="Arial"/>
                      </a:endParaRPr>
                    </a:p>
                  </a:txBody>
                  <a:tcPr marL="0" marR="0" marT="48895"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L="635" algn="ctr">
                        <a:lnSpc>
                          <a:spcPct val="100000"/>
                        </a:lnSpc>
                        <a:spcBef>
                          <a:spcPts val="385"/>
                        </a:spcBef>
                      </a:pPr>
                      <a:r>
                        <a:rPr sz="900" dirty="0">
                          <a:latin typeface="Arial"/>
                          <a:cs typeface="Arial"/>
                        </a:rPr>
                        <a:t>O</a:t>
                      </a:r>
                    </a:p>
                  </a:txBody>
                  <a:tcPr marL="0" marR="0" marT="48895"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R="403860" algn="r">
                        <a:lnSpc>
                          <a:spcPct val="100000"/>
                        </a:lnSpc>
                        <a:spcBef>
                          <a:spcPts val="385"/>
                        </a:spcBef>
                      </a:pPr>
                      <a:r>
                        <a:rPr sz="900" spc="-5" dirty="0">
                          <a:latin typeface="Arial"/>
                          <a:cs typeface="Arial"/>
                        </a:rPr>
                        <a:t>Analog</a:t>
                      </a:r>
                      <a:endParaRPr sz="900" dirty="0">
                        <a:latin typeface="Arial"/>
                        <a:cs typeface="Arial"/>
                      </a:endParaRPr>
                    </a:p>
                  </a:txBody>
                  <a:tcPr marL="0" marR="0" marT="48895"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gn="ctr">
                        <a:lnSpc>
                          <a:spcPct val="100000"/>
                        </a:lnSpc>
                        <a:spcBef>
                          <a:spcPts val="385"/>
                        </a:spcBef>
                      </a:pPr>
                      <a:r>
                        <a:rPr sz="900" spc="-5" dirty="0">
                          <a:latin typeface="Arial"/>
                          <a:cs typeface="Arial"/>
                        </a:rPr>
                        <a:t>Analog</a:t>
                      </a:r>
                      <a:r>
                        <a:rPr sz="900" spc="-40" dirty="0">
                          <a:latin typeface="Arial"/>
                          <a:cs typeface="Arial"/>
                        </a:rPr>
                        <a:t> </a:t>
                      </a:r>
                      <a:r>
                        <a:rPr sz="900" dirty="0">
                          <a:latin typeface="Arial"/>
                          <a:cs typeface="Arial"/>
                        </a:rPr>
                        <a:t>Data</a:t>
                      </a:r>
                      <a:r>
                        <a:rPr sz="900" spc="-30" dirty="0">
                          <a:latin typeface="Arial"/>
                          <a:cs typeface="Arial"/>
                        </a:rPr>
                        <a:t> </a:t>
                      </a:r>
                      <a:r>
                        <a:rPr sz="900" spc="-5" dirty="0">
                          <a:latin typeface="Arial"/>
                          <a:cs typeface="Arial"/>
                        </a:rPr>
                        <a:t>Out</a:t>
                      </a:r>
                      <a:endParaRPr sz="900" dirty="0">
                        <a:latin typeface="Arial"/>
                        <a:cs typeface="Arial"/>
                      </a:endParaRPr>
                    </a:p>
                  </a:txBody>
                  <a:tcPr marL="0" marR="0" marT="48895"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nSpc>
                          <a:spcPct val="100000"/>
                        </a:lnSpc>
                      </a:pPr>
                      <a:endParaRPr sz="900" dirty="0">
                        <a:latin typeface="Times New Roman"/>
                        <a:cs typeface="Times New Roman"/>
                      </a:endParaRPr>
                    </a:p>
                  </a:txBody>
                  <a:tcPr marL="0" marR="0" marT="0" marB="0">
                    <a:lnL w="3175">
                      <a:solidFill>
                        <a:srgbClr val="000000"/>
                      </a:solidFill>
                      <a:prstDash val="solid"/>
                    </a:lnL>
                    <a:lnR w="12700">
                      <a:solidFill>
                        <a:srgbClr val="FFFFFF"/>
                      </a:solidFill>
                      <a:prstDash val="solid"/>
                    </a:lnR>
                    <a:lnT w="3175">
                      <a:solidFill>
                        <a:srgbClr val="000000"/>
                      </a:solidFill>
                      <a:prstDash val="solid"/>
                    </a:lnT>
                    <a:lnB w="3175">
                      <a:solidFill>
                        <a:srgbClr val="000000"/>
                      </a:solidFill>
                      <a:prstDash val="solid"/>
                    </a:lnB>
                  </a:tcPr>
                </a:tc>
                <a:extLst>
                  <a:ext uri="{0D108BD9-81ED-4DB2-BD59-A6C34878D82A}">
                    <a16:rowId xmlns:a16="http://schemas.microsoft.com/office/drawing/2014/main" val="10019"/>
                  </a:ext>
                </a:extLst>
              </a:tr>
              <a:tr h="245110">
                <a:tc>
                  <a:txBody>
                    <a:bodyPr/>
                    <a:lstStyle/>
                    <a:p>
                      <a:pPr algn="ctr">
                        <a:lnSpc>
                          <a:spcPct val="100000"/>
                        </a:lnSpc>
                        <a:spcBef>
                          <a:spcPts val="384"/>
                        </a:spcBef>
                      </a:pPr>
                      <a:r>
                        <a:rPr sz="900" spc="-5" dirty="0">
                          <a:latin typeface="Arial"/>
                          <a:cs typeface="Arial"/>
                        </a:rPr>
                        <a:t>ADO4</a:t>
                      </a:r>
                      <a:endParaRPr sz="900" dirty="0">
                        <a:latin typeface="Arial"/>
                        <a:cs typeface="Arial"/>
                      </a:endParaRPr>
                    </a:p>
                  </a:txBody>
                  <a:tcPr marL="0" marR="0" marT="48894" marB="0">
                    <a:lnL w="12700">
                      <a:solidFill>
                        <a:srgbClr val="FFFFFF"/>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gn="ctr">
                        <a:lnSpc>
                          <a:spcPct val="100000"/>
                        </a:lnSpc>
                        <a:spcBef>
                          <a:spcPts val="384"/>
                        </a:spcBef>
                      </a:pPr>
                      <a:r>
                        <a:rPr sz="900" spc="-5" dirty="0">
                          <a:latin typeface="Arial"/>
                          <a:cs typeface="Arial"/>
                        </a:rPr>
                        <a:t>63</a:t>
                      </a:r>
                      <a:endParaRPr sz="900" dirty="0">
                        <a:latin typeface="Arial"/>
                        <a:cs typeface="Arial"/>
                      </a:endParaRPr>
                    </a:p>
                  </a:txBody>
                  <a:tcPr marL="0" marR="0" marT="48894"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L="635" algn="ctr">
                        <a:lnSpc>
                          <a:spcPct val="100000"/>
                        </a:lnSpc>
                        <a:spcBef>
                          <a:spcPts val="384"/>
                        </a:spcBef>
                      </a:pPr>
                      <a:r>
                        <a:rPr sz="900" dirty="0">
                          <a:latin typeface="Arial"/>
                          <a:cs typeface="Arial"/>
                        </a:rPr>
                        <a:t>O</a:t>
                      </a:r>
                    </a:p>
                  </a:txBody>
                  <a:tcPr marL="0" marR="0" marT="48894"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R="403860" algn="r">
                        <a:lnSpc>
                          <a:spcPct val="100000"/>
                        </a:lnSpc>
                        <a:spcBef>
                          <a:spcPts val="384"/>
                        </a:spcBef>
                      </a:pPr>
                      <a:r>
                        <a:rPr sz="900" spc="-5" dirty="0">
                          <a:latin typeface="Arial"/>
                          <a:cs typeface="Arial"/>
                        </a:rPr>
                        <a:t>Analog</a:t>
                      </a:r>
                      <a:endParaRPr sz="900" dirty="0">
                        <a:latin typeface="Arial"/>
                        <a:cs typeface="Arial"/>
                      </a:endParaRPr>
                    </a:p>
                  </a:txBody>
                  <a:tcPr marL="0" marR="0" marT="48894"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gn="ctr">
                        <a:lnSpc>
                          <a:spcPct val="100000"/>
                        </a:lnSpc>
                        <a:spcBef>
                          <a:spcPts val="384"/>
                        </a:spcBef>
                      </a:pPr>
                      <a:r>
                        <a:rPr sz="900" spc="-5" dirty="0">
                          <a:latin typeface="Arial"/>
                          <a:cs typeface="Arial"/>
                        </a:rPr>
                        <a:t>Analog</a:t>
                      </a:r>
                      <a:r>
                        <a:rPr sz="900" spc="-40" dirty="0">
                          <a:latin typeface="Arial"/>
                          <a:cs typeface="Arial"/>
                        </a:rPr>
                        <a:t> </a:t>
                      </a:r>
                      <a:r>
                        <a:rPr sz="900" dirty="0">
                          <a:latin typeface="Arial"/>
                          <a:cs typeface="Arial"/>
                        </a:rPr>
                        <a:t>Data</a:t>
                      </a:r>
                      <a:r>
                        <a:rPr sz="900" spc="-30" dirty="0">
                          <a:latin typeface="Arial"/>
                          <a:cs typeface="Arial"/>
                        </a:rPr>
                        <a:t> </a:t>
                      </a:r>
                      <a:r>
                        <a:rPr sz="900" spc="-5" dirty="0">
                          <a:latin typeface="Arial"/>
                          <a:cs typeface="Arial"/>
                        </a:rPr>
                        <a:t>Out</a:t>
                      </a:r>
                      <a:endParaRPr sz="900" dirty="0">
                        <a:latin typeface="Arial"/>
                        <a:cs typeface="Arial"/>
                      </a:endParaRPr>
                    </a:p>
                  </a:txBody>
                  <a:tcPr marL="0" marR="0" marT="48894"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nSpc>
                          <a:spcPct val="100000"/>
                        </a:lnSpc>
                      </a:pPr>
                      <a:endParaRPr sz="900" dirty="0">
                        <a:latin typeface="Times New Roman"/>
                        <a:cs typeface="Times New Roman"/>
                      </a:endParaRPr>
                    </a:p>
                  </a:txBody>
                  <a:tcPr marL="0" marR="0" marT="0" marB="0">
                    <a:lnL w="3175">
                      <a:solidFill>
                        <a:srgbClr val="000000"/>
                      </a:solidFill>
                      <a:prstDash val="solid"/>
                    </a:lnL>
                    <a:lnR w="12700">
                      <a:solidFill>
                        <a:srgbClr val="FFFFFF"/>
                      </a:solidFill>
                      <a:prstDash val="solid"/>
                    </a:lnR>
                    <a:lnT w="3175">
                      <a:solidFill>
                        <a:srgbClr val="000000"/>
                      </a:solidFill>
                      <a:prstDash val="solid"/>
                    </a:lnT>
                    <a:lnB w="3175">
                      <a:solidFill>
                        <a:srgbClr val="000000"/>
                      </a:solidFill>
                      <a:prstDash val="solid"/>
                    </a:lnB>
                  </a:tcPr>
                </a:tc>
                <a:extLst>
                  <a:ext uri="{0D108BD9-81ED-4DB2-BD59-A6C34878D82A}">
                    <a16:rowId xmlns:a16="http://schemas.microsoft.com/office/drawing/2014/main" val="10020"/>
                  </a:ext>
                </a:extLst>
              </a:tr>
              <a:tr h="244475">
                <a:tc>
                  <a:txBody>
                    <a:bodyPr/>
                    <a:lstStyle/>
                    <a:p>
                      <a:pPr algn="ctr">
                        <a:lnSpc>
                          <a:spcPct val="100000"/>
                        </a:lnSpc>
                        <a:spcBef>
                          <a:spcPts val="385"/>
                        </a:spcBef>
                      </a:pPr>
                      <a:r>
                        <a:rPr sz="900" spc="-5" dirty="0">
                          <a:latin typeface="Arial"/>
                          <a:cs typeface="Arial"/>
                        </a:rPr>
                        <a:t>ADO3</a:t>
                      </a:r>
                      <a:endParaRPr sz="900" dirty="0">
                        <a:latin typeface="Arial"/>
                        <a:cs typeface="Arial"/>
                      </a:endParaRPr>
                    </a:p>
                  </a:txBody>
                  <a:tcPr marL="0" marR="0" marT="48895" marB="0">
                    <a:lnL w="12700">
                      <a:solidFill>
                        <a:srgbClr val="FFFFFF"/>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gn="ctr">
                        <a:lnSpc>
                          <a:spcPct val="100000"/>
                        </a:lnSpc>
                        <a:spcBef>
                          <a:spcPts val="385"/>
                        </a:spcBef>
                      </a:pPr>
                      <a:r>
                        <a:rPr sz="900" spc="-5" dirty="0">
                          <a:latin typeface="Arial"/>
                          <a:cs typeface="Arial"/>
                        </a:rPr>
                        <a:t>64</a:t>
                      </a:r>
                      <a:endParaRPr sz="900" dirty="0">
                        <a:latin typeface="Arial"/>
                        <a:cs typeface="Arial"/>
                      </a:endParaRPr>
                    </a:p>
                  </a:txBody>
                  <a:tcPr marL="0" marR="0" marT="48895"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L="635" algn="ctr">
                        <a:lnSpc>
                          <a:spcPct val="100000"/>
                        </a:lnSpc>
                        <a:spcBef>
                          <a:spcPts val="385"/>
                        </a:spcBef>
                      </a:pPr>
                      <a:r>
                        <a:rPr sz="900" dirty="0">
                          <a:latin typeface="Arial"/>
                          <a:cs typeface="Arial"/>
                        </a:rPr>
                        <a:t>O</a:t>
                      </a:r>
                    </a:p>
                  </a:txBody>
                  <a:tcPr marL="0" marR="0" marT="48895"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R="403860" algn="r">
                        <a:lnSpc>
                          <a:spcPct val="100000"/>
                        </a:lnSpc>
                        <a:spcBef>
                          <a:spcPts val="385"/>
                        </a:spcBef>
                      </a:pPr>
                      <a:r>
                        <a:rPr sz="900" spc="-5" dirty="0">
                          <a:latin typeface="Arial"/>
                          <a:cs typeface="Arial"/>
                        </a:rPr>
                        <a:t>Analog</a:t>
                      </a:r>
                      <a:endParaRPr sz="900" dirty="0">
                        <a:latin typeface="Arial"/>
                        <a:cs typeface="Arial"/>
                      </a:endParaRPr>
                    </a:p>
                  </a:txBody>
                  <a:tcPr marL="0" marR="0" marT="48895"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gn="ctr">
                        <a:lnSpc>
                          <a:spcPct val="100000"/>
                        </a:lnSpc>
                        <a:spcBef>
                          <a:spcPts val="385"/>
                        </a:spcBef>
                      </a:pPr>
                      <a:r>
                        <a:rPr sz="900" spc="-5" dirty="0">
                          <a:latin typeface="Arial"/>
                          <a:cs typeface="Arial"/>
                        </a:rPr>
                        <a:t>Analog</a:t>
                      </a:r>
                      <a:r>
                        <a:rPr sz="900" spc="-40" dirty="0">
                          <a:latin typeface="Arial"/>
                          <a:cs typeface="Arial"/>
                        </a:rPr>
                        <a:t> </a:t>
                      </a:r>
                      <a:r>
                        <a:rPr sz="900" dirty="0">
                          <a:latin typeface="Arial"/>
                          <a:cs typeface="Arial"/>
                        </a:rPr>
                        <a:t>Data</a:t>
                      </a:r>
                      <a:r>
                        <a:rPr sz="900" spc="-30" dirty="0">
                          <a:latin typeface="Arial"/>
                          <a:cs typeface="Arial"/>
                        </a:rPr>
                        <a:t> </a:t>
                      </a:r>
                      <a:r>
                        <a:rPr sz="900" spc="-5" dirty="0">
                          <a:latin typeface="Arial"/>
                          <a:cs typeface="Arial"/>
                        </a:rPr>
                        <a:t>Out</a:t>
                      </a:r>
                      <a:endParaRPr sz="900" dirty="0">
                        <a:latin typeface="Arial"/>
                        <a:cs typeface="Arial"/>
                      </a:endParaRPr>
                    </a:p>
                  </a:txBody>
                  <a:tcPr marL="0" marR="0" marT="48895"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nSpc>
                          <a:spcPct val="100000"/>
                        </a:lnSpc>
                      </a:pPr>
                      <a:endParaRPr sz="900" dirty="0">
                        <a:latin typeface="Times New Roman"/>
                        <a:cs typeface="Times New Roman"/>
                      </a:endParaRPr>
                    </a:p>
                  </a:txBody>
                  <a:tcPr marL="0" marR="0" marT="0" marB="0">
                    <a:lnL w="3175">
                      <a:solidFill>
                        <a:srgbClr val="000000"/>
                      </a:solidFill>
                      <a:prstDash val="solid"/>
                    </a:lnL>
                    <a:lnR w="12700">
                      <a:solidFill>
                        <a:srgbClr val="FFFFFF"/>
                      </a:solidFill>
                      <a:prstDash val="solid"/>
                    </a:lnR>
                    <a:lnT w="3175">
                      <a:solidFill>
                        <a:srgbClr val="000000"/>
                      </a:solidFill>
                      <a:prstDash val="solid"/>
                    </a:lnT>
                    <a:lnB w="3175">
                      <a:solidFill>
                        <a:srgbClr val="000000"/>
                      </a:solidFill>
                      <a:prstDash val="solid"/>
                    </a:lnB>
                  </a:tcPr>
                </a:tc>
                <a:extLst>
                  <a:ext uri="{0D108BD9-81ED-4DB2-BD59-A6C34878D82A}">
                    <a16:rowId xmlns:a16="http://schemas.microsoft.com/office/drawing/2014/main" val="10021"/>
                  </a:ext>
                </a:extLst>
              </a:tr>
              <a:tr h="245110">
                <a:tc>
                  <a:txBody>
                    <a:bodyPr/>
                    <a:lstStyle/>
                    <a:p>
                      <a:pPr algn="ctr">
                        <a:lnSpc>
                          <a:spcPct val="100000"/>
                        </a:lnSpc>
                        <a:spcBef>
                          <a:spcPts val="385"/>
                        </a:spcBef>
                      </a:pPr>
                      <a:r>
                        <a:rPr sz="900" spc="-5" dirty="0">
                          <a:latin typeface="Arial"/>
                          <a:cs typeface="Arial"/>
                        </a:rPr>
                        <a:t>ADO2</a:t>
                      </a:r>
                      <a:endParaRPr sz="900" dirty="0">
                        <a:latin typeface="Arial"/>
                        <a:cs typeface="Arial"/>
                      </a:endParaRPr>
                    </a:p>
                  </a:txBody>
                  <a:tcPr marL="0" marR="0" marT="48895" marB="0">
                    <a:lnL w="12700">
                      <a:solidFill>
                        <a:srgbClr val="FFFFFF"/>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gn="ctr">
                        <a:lnSpc>
                          <a:spcPct val="100000"/>
                        </a:lnSpc>
                        <a:spcBef>
                          <a:spcPts val="385"/>
                        </a:spcBef>
                      </a:pPr>
                      <a:r>
                        <a:rPr sz="900" spc="-5" dirty="0">
                          <a:latin typeface="Arial"/>
                          <a:cs typeface="Arial"/>
                        </a:rPr>
                        <a:t>65</a:t>
                      </a:r>
                      <a:endParaRPr sz="900" dirty="0">
                        <a:latin typeface="Arial"/>
                        <a:cs typeface="Arial"/>
                      </a:endParaRPr>
                    </a:p>
                  </a:txBody>
                  <a:tcPr marL="0" marR="0" marT="48895"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L="635" algn="ctr">
                        <a:lnSpc>
                          <a:spcPct val="100000"/>
                        </a:lnSpc>
                        <a:spcBef>
                          <a:spcPts val="385"/>
                        </a:spcBef>
                      </a:pPr>
                      <a:r>
                        <a:rPr sz="900" dirty="0">
                          <a:latin typeface="Arial"/>
                          <a:cs typeface="Arial"/>
                        </a:rPr>
                        <a:t>O</a:t>
                      </a:r>
                    </a:p>
                  </a:txBody>
                  <a:tcPr marL="0" marR="0" marT="48895"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R="403860" algn="r">
                        <a:lnSpc>
                          <a:spcPct val="100000"/>
                        </a:lnSpc>
                        <a:spcBef>
                          <a:spcPts val="385"/>
                        </a:spcBef>
                      </a:pPr>
                      <a:r>
                        <a:rPr sz="900" spc="-5" dirty="0">
                          <a:latin typeface="Arial"/>
                          <a:cs typeface="Arial"/>
                        </a:rPr>
                        <a:t>Analog</a:t>
                      </a:r>
                      <a:endParaRPr sz="900" dirty="0">
                        <a:latin typeface="Arial"/>
                        <a:cs typeface="Arial"/>
                      </a:endParaRPr>
                    </a:p>
                  </a:txBody>
                  <a:tcPr marL="0" marR="0" marT="48895"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gn="ctr">
                        <a:lnSpc>
                          <a:spcPct val="100000"/>
                        </a:lnSpc>
                        <a:spcBef>
                          <a:spcPts val="385"/>
                        </a:spcBef>
                      </a:pPr>
                      <a:r>
                        <a:rPr sz="900" spc="-5" dirty="0">
                          <a:latin typeface="Arial"/>
                          <a:cs typeface="Arial"/>
                        </a:rPr>
                        <a:t>Analog</a:t>
                      </a:r>
                      <a:r>
                        <a:rPr sz="900" spc="-40" dirty="0">
                          <a:latin typeface="Arial"/>
                          <a:cs typeface="Arial"/>
                        </a:rPr>
                        <a:t> </a:t>
                      </a:r>
                      <a:r>
                        <a:rPr sz="900" dirty="0">
                          <a:latin typeface="Arial"/>
                          <a:cs typeface="Arial"/>
                        </a:rPr>
                        <a:t>Data</a:t>
                      </a:r>
                      <a:r>
                        <a:rPr sz="900" spc="-30" dirty="0">
                          <a:latin typeface="Arial"/>
                          <a:cs typeface="Arial"/>
                        </a:rPr>
                        <a:t> </a:t>
                      </a:r>
                      <a:r>
                        <a:rPr sz="900" spc="-5" dirty="0">
                          <a:latin typeface="Arial"/>
                          <a:cs typeface="Arial"/>
                        </a:rPr>
                        <a:t>Out</a:t>
                      </a:r>
                      <a:endParaRPr sz="900" dirty="0">
                        <a:latin typeface="Arial"/>
                        <a:cs typeface="Arial"/>
                      </a:endParaRPr>
                    </a:p>
                  </a:txBody>
                  <a:tcPr marL="0" marR="0" marT="48895"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nSpc>
                          <a:spcPct val="100000"/>
                        </a:lnSpc>
                      </a:pPr>
                      <a:endParaRPr sz="900" dirty="0">
                        <a:latin typeface="Times New Roman"/>
                        <a:cs typeface="Times New Roman"/>
                      </a:endParaRPr>
                    </a:p>
                  </a:txBody>
                  <a:tcPr marL="0" marR="0" marT="0" marB="0">
                    <a:lnL w="3175">
                      <a:solidFill>
                        <a:srgbClr val="000000"/>
                      </a:solidFill>
                      <a:prstDash val="solid"/>
                    </a:lnL>
                    <a:lnR w="12700">
                      <a:solidFill>
                        <a:srgbClr val="FFFFFF"/>
                      </a:solidFill>
                      <a:prstDash val="solid"/>
                    </a:lnR>
                    <a:lnT w="3175">
                      <a:solidFill>
                        <a:srgbClr val="000000"/>
                      </a:solidFill>
                      <a:prstDash val="solid"/>
                    </a:lnT>
                    <a:lnB w="3175">
                      <a:solidFill>
                        <a:srgbClr val="000000"/>
                      </a:solidFill>
                      <a:prstDash val="solid"/>
                    </a:lnB>
                  </a:tcPr>
                </a:tc>
                <a:extLst>
                  <a:ext uri="{0D108BD9-81ED-4DB2-BD59-A6C34878D82A}">
                    <a16:rowId xmlns:a16="http://schemas.microsoft.com/office/drawing/2014/main" val="10022"/>
                  </a:ext>
                </a:extLst>
              </a:tr>
              <a:tr h="245110">
                <a:tc>
                  <a:txBody>
                    <a:bodyPr/>
                    <a:lstStyle/>
                    <a:p>
                      <a:pPr algn="ctr">
                        <a:lnSpc>
                          <a:spcPct val="100000"/>
                        </a:lnSpc>
                        <a:spcBef>
                          <a:spcPts val="380"/>
                        </a:spcBef>
                      </a:pPr>
                      <a:r>
                        <a:rPr sz="900" spc="-5" dirty="0">
                          <a:latin typeface="Arial"/>
                          <a:cs typeface="Arial"/>
                        </a:rPr>
                        <a:t>ADO1</a:t>
                      </a:r>
                      <a:endParaRPr sz="900" dirty="0">
                        <a:latin typeface="Arial"/>
                        <a:cs typeface="Arial"/>
                      </a:endParaRPr>
                    </a:p>
                  </a:txBody>
                  <a:tcPr marL="0" marR="0" marT="48260" marB="0">
                    <a:lnL w="12700">
                      <a:solidFill>
                        <a:srgbClr val="FFFFFF"/>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gn="ctr">
                        <a:lnSpc>
                          <a:spcPct val="100000"/>
                        </a:lnSpc>
                        <a:spcBef>
                          <a:spcPts val="380"/>
                        </a:spcBef>
                      </a:pPr>
                      <a:r>
                        <a:rPr sz="900" spc="-5" dirty="0">
                          <a:latin typeface="Arial"/>
                          <a:cs typeface="Arial"/>
                        </a:rPr>
                        <a:t>66</a:t>
                      </a:r>
                      <a:endParaRPr sz="900" dirty="0">
                        <a:latin typeface="Arial"/>
                        <a:cs typeface="Arial"/>
                      </a:endParaRPr>
                    </a:p>
                  </a:txBody>
                  <a:tcPr marL="0" marR="0" marT="4826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L="635" algn="ctr">
                        <a:lnSpc>
                          <a:spcPct val="100000"/>
                        </a:lnSpc>
                        <a:spcBef>
                          <a:spcPts val="380"/>
                        </a:spcBef>
                      </a:pPr>
                      <a:r>
                        <a:rPr sz="900" dirty="0">
                          <a:latin typeface="Arial"/>
                          <a:cs typeface="Arial"/>
                        </a:rPr>
                        <a:t>O</a:t>
                      </a:r>
                    </a:p>
                  </a:txBody>
                  <a:tcPr marL="0" marR="0" marT="4826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R="403860" algn="r">
                        <a:lnSpc>
                          <a:spcPct val="100000"/>
                        </a:lnSpc>
                        <a:spcBef>
                          <a:spcPts val="380"/>
                        </a:spcBef>
                      </a:pPr>
                      <a:r>
                        <a:rPr sz="900" spc="-5" dirty="0">
                          <a:latin typeface="Arial"/>
                          <a:cs typeface="Arial"/>
                        </a:rPr>
                        <a:t>Analog</a:t>
                      </a:r>
                      <a:endParaRPr sz="900" dirty="0">
                        <a:latin typeface="Arial"/>
                        <a:cs typeface="Arial"/>
                      </a:endParaRPr>
                    </a:p>
                  </a:txBody>
                  <a:tcPr marL="0" marR="0" marT="4826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gn="ctr">
                        <a:lnSpc>
                          <a:spcPct val="100000"/>
                        </a:lnSpc>
                        <a:spcBef>
                          <a:spcPts val="380"/>
                        </a:spcBef>
                      </a:pPr>
                      <a:r>
                        <a:rPr sz="900" spc="-5" dirty="0">
                          <a:latin typeface="Arial"/>
                          <a:cs typeface="Arial"/>
                        </a:rPr>
                        <a:t>Analog</a:t>
                      </a:r>
                      <a:r>
                        <a:rPr sz="900" spc="-40" dirty="0">
                          <a:latin typeface="Arial"/>
                          <a:cs typeface="Arial"/>
                        </a:rPr>
                        <a:t> </a:t>
                      </a:r>
                      <a:r>
                        <a:rPr sz="900" dirty="0">
                          <a:latin typeface="Arial"/>
                          <a:cs typeface="Arial"/>
                        </a:rPr>
                        <a:t>Data</a:t>
                      </a:r>
                      <a:r>
                        <a:rPr sz="900" spc="-30" dirty="0">
                          <a:latin typeface="Arial"/>
                          <a:cs typeface="Arial"/>
                        </a:rPr>
                        <a:t> </a:t>
                      </a:r>
                      <a:r>
                        <a:rPr sz="900" spc="-5" dirty="0">
                          <a:latin typeface="Arial"/>
                          <a:cs typeface="Arial"/>
                        </a:rPr>
                        <a:t>Out</a:t>
                      </a:r>
                      <a:endParaRPr sz="900" dirty="0">
                        <a:latin typeface="Arial"/>
                        <a:cs typeface="Arial"/>
                      </a:endParaRPr>
                    </a:p>
                  </a:txBody>
                  <a:tcPr marL="0" marR="0" marT="4826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nSpc>
                          <a:spcPct val="100000"/>
                        </a:lnSpc>
                      </a:pPr>
                      <a:endParaRPr sz="900" dirty="0">
                        <a:latin typeface="Times New Roman"/>
                        <a:cs typeface="Times New Roman"/>
                      </a:endParaRPr>
                    </a:p>
                  </a:txBody>
                  <a:tcPr marL="0" marR="0" marT="0" marB="0">
                    <a:lnL w="3175">
                      <a:solidFill>
                        <a:srgbClr val="000000"/>
                      </a:solidFill>
                      <a:prstDash val="solid"/>
                    </a:lnL>
                    <a:lnR w="12700">
                      <a:solidFill>
                        <a:srgbClr val="FFFFFF"/>
                      </a:solidFill>
                      <a:prstDash val="solid"/>
                    </a:lnR>
                    <a:lnT w="3175">
                      <a:solidFill>
                        <a:srgbClr val="000000"/>
                      </a:solidFill>
                      <a:prstDash val="solid"/>
                    </a:lnT>
                    <a:lnB w="3175">
                      <a:solidFill>
                        <a:srgbClr val="000000"/>
                      </a:solidFill>
                      <a:prstDash val="solid"/>
                    </a:lnB>
                  </a:tcPr>
                </a:tc>
                <a:extLst>
                  <a:ext uri="{0D108BD9-81ED-4DB2-BD59-A6C34878D82A}">
                    <a16:rowId xmlns:a16="http://schemas.microsoft.com/office/drawing/2014/main" val="10023"/>
                  </a:ext>
                </a:extLst>
              </a:tr>
              <a:tr h="244475">
                <a:tc>
                  <a:txBody>
                    <a:bodyPr/>
                    <a:lstStyle/>
                    <a:p>
                      <a:pPr algn="ctr">
                        <a:lnSpc>
                          <a:spcPct val="100000"/>
                        </a:lnSpc>
                        <a:spcBef>
                          <a:spcPts val="385"/>
                        </a:spcBef>
                      </a:pPr>
                      <a:r>
                        <a:rPr sz="900" spc="-5" dirty="0">
                          <a:latin typeface="Arial"/>
                          <a:cs typeface="Arial"/>
                        </a:rPr>
                        <a:t>VSSA3</a:t>
                      </a:r>
                      <a:endParaRPr sz="900" dirty="0">
                        <a:latin typeface="Arial"/>
                        <a:cs typeface="Arial"/>
                      </a:endParaRPr>
                    </a:p>
                  </a:txBody>
                  <a:tcPr marL="0" marR="0" marT="48895" marB="0">
                    <a:lnL w="12700">
                      <a:solidFill>
                        <a:srgbClr val="FFFFFF"/>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gn="ctr">
                        <a:lnSpc>
                          <a:spcPct val="100000"/>
                        </a:lnSpc>
                        <a:spcBef>
                          <a:spcPts val="385"/>
                        </a:spcBef>
                      </a:pPr>
                      <a:r>
                        <a:rPr sz="900" spc="-5" dirty="0">
                          <a:latin typeface="Arial"/>
                          <a:cs typeface="Arial"/>
                        </a:rPr>
                        <a:t>67</a:t>
                      </a:r>
                      <a:endParaRPr sz="900" dirty="0">
                        <a:latin typeface="Arial"/>
                        <a:cs typeface="Arial"/>
                      </a:endParaRPr>
                    </a:p>
                  </a:txBody>
                  <a:tcPr marL="0" marR="0" marT="48895"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gn="ctr">
                        <a:lnSpc>
                          <a:spcPct val="100000"/>
                        </a:lnSpc>
                        <a:spcBef>
                          <a:spcPts val="385"/>
                        </a:spcBef>
                      </a:pPr>
                      <a:r>
                        <a:rPr sz="900" dirty="0">
                          <a:latin typeface="Arial"/>
                          <a:cs typeface="Arial"/>
                        </a:rPr>
                        <a:t>-</a:t>
                      </a:r>
                    </a:p>
                  </a:txBody>
                  <a:tcPr marL="0" marR="0" marT="48895"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R="454659" algn="r">
                        <a:lnSpc>
                          <a:spcPct val="100000"/>
                        </a:lnSpc>
                        <a:spcBef>
                          <a:spcPts val="385"/>
                        </a:spcBef>
                      </a:pPr>
                      <a:r>
                        <a:rPr sz="900" spc="-5" dirty="0">
                          <a:latin typeface="Arial"/>
                          <a:cs typeface="Arial"/>
                        </a:rPr>
                        <a:t>GND</a:t>
                      </a:r>
                      <a:endParaRPr sz="900" dirty="0">
                        <a:latin typeface="Arial"/>
                        <a:cs typeface="Arial"/>
                      </a:endParaRPr>
                    </a:p>
                  </a:txBody>
                  <a:tcPr marL="0" marR="0" marT="48895"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gn="ctr">
                        <a:lnSpc>
                          <a:spcPct val="100000"/>
                        </a:lnSpc>
                        <a:spcBef>
                          <a:spcPts val="385"/>
                        </a:spcBef>
                      </a:pPr>
                      <a:r>
                        <a:rPr sz="900" spc="-5" dirty="0">
                          <a:latin typeface="Arial"/>
                          <a:cs typeface="Arial"/>
                        </a:rPr>
                        <a:t>Analog</a:t>
                      </a:r>
                      <a:r>
                        <a:rPr sz="900" spc="-50" dirty="0">
                          <a:latin typeface="Arial"/>
                          <a:cs typeface="Arial"/>
                        </a:rPr>
                        <a:t> </a:t>
                      </a:r>
                      <a:r>
                        <a:rPr sz="900" spc="-5" dirty="0">
                          <a:latin typeface="Arial"/>
                          <a:cs typeface="Arial"/>
                        </a:rPr>
                        <a:t>GND</a:t>
                      </a:r>
                      <a:endParaRPr sz="900" dirty="0">
                        <a:latin typeface="Arial"/>
                        <a:cs typeface="Arial"/>
                      </a:endParaRPr>
                    </a:p>
                  </a:txBody>
                  <a:tcPr marL="0" marR="0" marT="48895"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nSpc>
                          <a:spcPct val="100000"/>
                        </a:lnSpc>
                      </a:pPr>
                      <a:endParaRPr sz="900" dirty="0">
                        <a:latin typeface="Times New Roman"/>
                        <a:cs typeface="Times New Roman"/>
                      </a:endParaRPr>
                    </a:p>
                  </a:txBody>
                  <a:tcPr marL="0" marR="0" marT="0" marB="0">
                    <a:lnL w="3175">
                      <a:solidFill>
                        <a:srgbClr val="000000"/>
                      </a:solidFill>
                      <a:prstDash val="solid"/>
                    </a:lnL>
                    <a:lnR w="12700">
                      <a:solidFill>
                        <a:srgbClr val="FFFFFF"/>
                      </a:solidFill>
                      <a:prstDash val="solid"/>
                    </a:lnR>
                    <a:lnT w="3175">
                      <a:solidFill>
                        <a:srgbClr val="000000"/>
                      </a:solidFill>
                      <a:prstDash val="solid"/>
                    </a:lnT>
                    <a:lnB w="3175">
                      <a:solidFill>
                        <a:srgbClr val="000000"/>
                      </a:solidFill>
                      <a:prstDash val="solid"/>
                    </a:lnB>
                  </a:tcPr>
                </a:tc>
                <a:extLst>
                  <a:ext uri="{0D108BD9-81ED-4DB2-BD59-A6C34878D82A}">
                    <a16:rowId xmlns:a16="http://schemas.microsoft.com/office/drawing/2014/main" val="10024"/>
                  </a:ext>
                </a:extLst>
              </a:tr>
              <a:tr h="245110">
                <a:tc>
                  <a:txBody>
                    <a:bodyPr/>
                    <a:lstStyle/>
                    <a:p>
                      <a:pPr algn="ctr">
                        <a:lnSpc>
                          <a:spcPct val="100000"/>
                        </a:lnSpc>
                        <a:spcBef>
                          <a:spcPts val="384"/>
                        </a:spcBef>
                      </a:pPr>
                      <a:r>
                        <a:rPr sz="900" spc="-5" dirty="0">
                          <a:latin typeface="Arial"/>
                          <a:cs typeface="Arial"/>
                        </a:rPr>
                        <a:t>TEST</a:t>
                      </a:r>
                      <a:endParaRPr sz="900" dirty="0">
                        <a:latin typeface="Arial"/>
                        <a:cs typeface="Arial"/>
                      </a:endParaRPr>
                    </a:p>
                  </a:txBody>
                  <a:tcPr marL="0" marR="0" marT="48894" marB="0">
                    <a:lnL w="12700">
                      <a:solidFill>
                        <a:srgbClr val="FFFFFF"/>
                      </a:solidFill>
                      <a:prstDash val="solid"/>
                    </a:lnL>
                    <a:lnR w="3175">
                      <a:solidFill>
                        <a:srgbClr val="000000"/>
                      </a:solidFill>
                      <a:prstDash val="solid"/>
                    </a:lnR>
                    <a:lnT w="3175">
                      <a:solidFill>
                        <a:srgbClr val="000000"/>
                      </a:solidFill>
                      <a:prstDash val="solid"/>
                    </a:lnT>
                    <a:lnB w="12700">
                      <a:solidFill>
                        <a:srgbClr val="000000"/>
                      </a:solidFill>
                      <a:prstDash val="solid"/>
                    </a:lnB>
                  </a:tcPr>
                </a:tc>
                <a:tc>
                  <a:txBody>
                    <a:bodyPr/>
                    <a:lstStyle/>
                    <a:p>
                      <a:pPr algn="ctr">
                        <a:lnSpc>
                          <a:spcPct val="100000"/>
                        </a:lnSpc>
                        <a:spcBef>
                          <a:spcPts val="384"/>
                        </a:spcBef>
                      </a:pPr>
                      <a:r>
                        <a:rPr sz="900" spc="-5" dirty="0">
                          <a:latin typeface="Arial"/>
                          <a:cs typeface="Arial"/>
                        </a:rPr>
                        <a:t>68</a:t>
                      </a:r>
                      <a:endParaRPr sz="900" dirty="0">
                        <a:latin typeface="Arial"/>
                        <a:cs typeface="Arial"/>
                      </a:endParaRPr>
                    </a:p>
                  </a:txBody>
                  <a:tcPr marL="0" marR="0" marT="48894" marB="0">
                    <a:lnL w="3175">
                      <a:solidFill>
                        <a:srgbClr val="000000"/>
                      </a:solidFill>
                      <a:prstDash val="solid"/>
                    </a:lnL>
                    <a:lnR w="3175">
                      <a:solidFill>
                        <a:srgbClr val="000000"/>
                      </a:solidFill>
                      <a:prstDash val="solid"/>
                    </a:lnR>
                    <a:lnT w="3175">
                      <a:solidFill>
                        <a:srgbClr val="000000"/>
                      </a:solidFill>
                      <a:prstDash val="solid"/>
                    </a:lnT>
                    <a:lnB w="12700">
                      <a:solidFill>
                        <a:srgbClr val="000000"/>
                      </a:solidFill>
                      <a:prstDash val="solid"/>
                    </a:lnB>
                  </a:tcPr>
                </a:tc>
                <a:tc>
                  <a:txBody>
                    <a:bodyPr/>
                    <a:lstStyle/>
                    <a:p>
                      <a:pPr algn="ctr">
                        <a:lnSpc>
                          <a:spcPct val="100000"/>
                        </a:lnSpc>
                        <a:spcBef>
                          <a:spcPts val="384"/>
                        </a:spcBef>
                      </a:pPr>
                      <a:r>
                        <a:rPr sz="900" dirty="0">
                          <a:latin typeface="Arial"/>
                          <a:cs typeface="Arial"/>
                        </a:rPr>
                        <a:t>I</a:t>
                      </a:r>
                    </a:p>
                  </a:txBody>
                  <a:tcPr marL="0" marR="0" marT="48894" marB="0">
                    <a:lnL w="3175">
                      <a:solidFill>
                        <a:srgbClr val="000000"/>
                      </a:solidFill>
                      <a:prstDash val="solid"/>
                    </a:lnL>
                    <a:lnR w="3175">
                      <a:solidFill>
                        <a:srgbClr val="000000"/>
                      </a:solidFill>
                      <a:prstDash val="solid"/>
                    </a:lnR>
                    <a:lnT w="3175">
                      <a:solidFill>
                        <a:srgbClr val="000000"/>
                      </a:solidFill>
                      <a:prstDash val="solid"/>
                    </a:lnT>
                    <a:lnB w="12700">
                      <a:solidFill>
                        <a:srgbClr val="000000"/>
                      </a:solidFill>
                      <a:prstDash val="solid"/>
                    </a:lnB>
                  </a:tcPr>
                </a:tc>
                <a:tc>
                  <a:txBody>
                    <a:bodyPr/>
                    <a:lstStyle/>
                    <a:p>
                      <a:pPr marL="635" algn="ctr">
                        <a:lnSpc>
                          <a:spcPct val="100000"/>
                        </a:lnSpc>
                        <a:spcBef>
                          <a:spcPts val="384"/>
                        </a:spcBef>
                      </a:pPr>
                      <a:r>
                        <a:rPr sz="900" spc="-5" dirty="0">
                          <a:latin typeface="Arial"/>
                          <a:cs typeface="Arial"/>
                        </a:rPr>
                        <a:t>Test</a:t>
                      </a:r>
                      <a:endParaRPr sz="900" dirty="0">
                        <a:latin typeface="Arial"/>
                        <a:cs typeface="Arial"/>
                      </a:endParaRPr>
                    </a:p>
                  </a:txBody>
                  <a:tcPr marL="0" marR="0" marT="48894" marB="0">
                    <a:lnL w="3175">
                      <a:solidFill>
                        <a:srgbClr val="000000"/>
                      </a:solidFill>
                      <a:prstDash val="solid"/>
                    </a:lnL>
                    <a:lnR w="3175">
                      <a:solidFill>
                        <a:srgbClr val="000000"/>
                      </a:solidFill>
                      <a:prstDash val="solid"/>
                    </a:lnR>
                    <a:lnT w="3175">
                      <a:solidFill>
                        <a:srgbClr val="000000"/>
                      </a:solidFill>
                      <a:prstDash val="solid"/>
                    </a:lnT>
                    <a:lnB w="12700">
                      <a:solidFill>
                        <a:srgbClr val="000000"/>
                      </a:solidFill>
                      <a:prstDash val="solid"/>
                    </a:lnB>
                  </a:tcPr>
                </a:tc>
                <a:tc>
                  <a:txBody>
                    <a:bodyPr/>
                    <a:lstStyle/>
                    <a:p>
                      <a:pPr algn="ctr">
                        <a:lnSpc>
                          <a:spcPct val="100000"/>
                        </a:lnSpc>
                        <a:spcBef>
                          <a:spcPts val="384"/>
                        </a:spcBef>
                      </a:pPr>
                      <a:r>
                        <a:rPr sz="900" spc="-5" dirty="0">
                          <a:latin typeface="Arial"/>
                          <a:cs typeface="Arial"/>
                        </a:rPr>
                        <a:t>Test</a:t>
                      </a:r>
                      <a:r>
                        <a:rPr sz="900" spc="-30" dirty="0">
                          <a:latin typeface="Arial"/>
                          <a:cs typeface="Arial"/>
                        </a:rPr>
                        <a:t> </a:t>
                      </a:r>
                      <a:r>
                        <a:rPr sz="900" spc="-5" dirty="0">
                          <a:latin typeface="Arial"/>
                          <a:cs typeface="Arial"/>
                        </a:rPr>
                        <a:t>Enable</a:t>
                      </a:r>
                      <a:endParaRPr sz="900" dirty="0">
                        <a:latin typeface="Arial"/>
                        <a:cs typeface="Arial"/>
                      </a:endParaRPr>
                    </a:p>
                  </a:txBody>
                  <a:tcPr marL="0" marR="0" marT="48894" marB="0">
                    <a:lnL w="3175">
                      <a:solidFill>
                        <a:srgbClr val="000000"/>
                      </a:solidFill>
                      <a:prstDash val="solid"/>
                    </a:lnL>
                    <a:lnR w="3175">
                      <a:solidFill>
                        <a:srgbClr val="000000"/>
                      </a:solidFill>
                      <a:prstDash val="solid"/>
                    </a:lnR>
                    <a:lnT w="3175">
                      <a:solidFill>
                        <a:srgbClr val="000000"/>
                      </a:solidFill>
                      <a:prstDash val="solid"/>
                    </a:lnT>
                    <a:lnB w="12700">
                      <a:solidFill>
                        <a:srgbClr val="000000"/>
                      </a:solidFill>
                      <a:prstDash val="solid"/>
                    </a:lnB>
                  </a:tcPr>
                </a:tc>
                <a:tc>
                  <a:txBody>
                    <a:bodyPr/>
                    <a:lstStyle/>
                    <a:p>
                      <a:pPr marL="1905" algn="ctr">
                        <a:lnSpc>
                          <a:spcPct val="100000"/>
                        </a:lnSpc>
                        <a:spcBef>
                          <a:spcPts val="384"/>
                        </a:spcBef>
                      </a:pPr>
                      <a:r>
                        <a:rPr sz="900" spc="-5" dirty="0">
                          <a:latin typeface="Arial"/>
                          <a:cs typeface="Arial"/>
                        </a:rPr>
                        <a:t>Must</a:t>
                      </a:r>
                      <a:r>
                        <a:rPr sz="900" spc="-25" dirty="0">
                          <a:latin typeface="Arial"/>
                          <a:cs typeface="Arial"/>
                        </a:rPr>
                        <a:t> </a:t>
                      </a:r>
                      <a:r>
                        <a:rPr sz="900" spc="-5" dirty="0">
                          <a:latin typeface="Arial"/>
                          <a:cs typeface="Arial"/>
                        </a:rPr>
                        <a:t>10KΩ</a:t>
                      </a:r>
                      <a:r>
                        <a:rPr sz="900" spc="-30" dirty="0">
                          <a:latin typeface="Arial"/>
                          <a:cs typeface="Arial"/>
                        </a:rPr>
                        <a:t> </a:t>
                      </a:r>
                      <a:r>
                        <a:rPr sz="900" spc="-10" dirty="0">
                          <a:latin typeface="Arial"/>
                          <a:cs typeface="Arial"/>
                        </a:rPr>
                        <a:t>PD</a:t>
                      </a:r>
                      <a:endParaRPr sz="900" dirty="0">
                        <a:latin typeface="Arial"/>
                        <a:cs typeface="Arial"/>
                      </a:endParaRPr>
                    </a:p>
                  </a:txBody>
                  <a:tcPr marL="0" marR="0" marT="48894" marB="0">
                    <a:lnL w="3175">
                      <a:solidFill>
                        <a:srgbClr val="000000"/>
                      </a:solidFill>
                      <a:prstDash val="solid"/>
                    </a:lnL>
                    <a:lnR w="12700">
                      <a:solidFill>
                        <a:srgbClr val="FFFFFF"/>
                      </a:solidFill>
                      <a:prstDash val="solid"/>
                    </a:lnR>
                    <a:lnT w="3175">
                      <a:solidFill>
                        <a:srgbClr val="000000"/>
                      </a:solidFill>
                      <a:prstDash val="solid"/>
                    </a:lnT>
                    <a:lnB w="12700">
                      <a:solidFill>
                        <a:srgbClr val="000000"/>
                      </a:solidFill>
                      <a:prstDash val="solid"/>
                    </a:lnB>
                  </a:tcPr>
                </a:tc>
                <a:extLst>
                  <a:ext uri="{0D108BD9-81ED-4DB2-BD59-A6C34878D82A}">
                    <a16:rowId xmlns:a16="http://schemas.microsoft.com/office/drawing/2014/main" val="10025"/>
                  </a:ext>
                </a:extLst>
              </a:tr>
            </a:tbl>
          </a:graphicData>
        </a:graphic>
      </p:graphicFrame>
      <p:sp>
        <p:nvSpPr>
          <p:cNvPr id="6" name="object 6"/>
          <p:cNvSpPr txBox="1"/>
          <p:nvPr/>
        </p:nvSpPr>
        <p:spPr>
          <a:xfrm>
            <a:off x="400913" y="301879"/>
            <a:ext cx="622935" cy="299720"/>
          </a:xfrm>
          <a:prstGeom prst="rect">
            <a:avLst/>
          </a:prstGeom>
        </p:spPr>
        <p:txBody>
          <a:bodyPr vert="horz" wrap="square" lIns="0" tIns="12700" rIns="0" bIns="0" rtlCol="0">
            <a:spAutoFit/>
          </a:bodyPr>
          <a:lstStyle/>
          <a:p>
            <a:pPr marL="12700">
              <a:lnSpc>
                <a:spcPct val="100000"/>
              </a:lnSpc>
              <a:spcBef>
                <a:spcPts val="100"/>
              </a:spcBef>
            </a:pPr>
            <a:r>
              <a:rPr sz="1800" b="1" spc="-5" dirty="0">
                <a:latin typeface="Arial"/>
                <a:cs typeface="Arial"/>
              </a:rPr>
              <a:t>CQ24</a:t>
            </a:r>
            <a:endParaRPr sz="1800" dirty="0">
              <a:latin typeface="Arial"/>
              <a:cs typeface="Arial"/>
            </a:endParaRPr>
          </a:p>
        </p:txBody>
      </p:sp>
      <p:sp>
        <p:nvSpPr>
          <p:cNvPr id="10" name="object 9">
            <a:extLst>
              <a:ext uri="{FF2B5EF4-FFF2-40B4-BE49-F238E27FC236}">
                <a16:creationId xmlns:a16="http://schemas.microsoft.com/office/drawing/2014/main" id="{EBA5D36E-CB6F-16EA-BDA9-8F90DF58A027}"/>
              </a:ext>
            </a:extLst>
          </p:cNvPr>
          <p:cNvSpPr txBox="1"/>
          <p:nvPr/>
        </p:nvSpPr>
        <p:spPr>
          <a:xfrm>
            <a:off x="304800" y="9067800"/>
            <a:ext cx="2078355" cy="289823"/>
          </a:xfrm>
          <a:prstGeom prst="rect">
            <a:avLst/>
          </a:prstGeom>
        </p:spPr>
        <p:txBody>
          <a:bodyPr vert="horz" wrap="square" lIns="0" tIns="12700" rIns="0" bIns="0" rtlCol="0">
            <a:spAutoFit/>
          </a:bodyPr>
          <a:lstStyle/>
          <a:p>
            <a:pPr marL="12700">
              <a:lnSpc>
                <a:spcPct val="100000"/>
              </a:lnSpc>
              <a:spcBef>
                <a:spcPts val="100"/>
              </a:spcBef>
            </a:pPr>
            <a:r>
              <a:rPr b="1" spc="-5" dirty="0">
                <a:solidFill>
                  <a:srgbClr val="FF0000"/>
                </a:solidFill>
                <a:cs typeface="Perpetua Titling MT"/>
              </a:rPr>
              <a:t>CONFIDENTIAL</a:t>
            </a:r>
            <a:endParaRPr dirty="0">
              <a:cs typeface="Perpetua Titling MT"/>
            </a:endParaRPr>
          </a:p>
        </p:txBody>
      </p:sp>
      <p:sp>
        <p:nvSpPr>
          <p:cNvPr id="11" name="object 6">
            <a:extLst>
              <a:ext uri="{FF2B5EF4-FFF2-40B4-BE49-F238E27FC236}">
                <a16:creationId xmlns:a16="http://schemas.microsoft.com/office/drawing/2014/main" id="{EBD48BA7-2362-4F9E-13B1-D00381891D69}"/>
              </a:ext>
            </a:extLst>
          </p:cNvPr>
          <p:cNvSpPr/>
          <p:nvPr/>
        </p:nvSpPr>
        <p:spPr>
          <a:xfrm>
            <a:off x="301676" y="9458756"/>
            <a:ext cx="6246495" cy="0"/>
          </a:xfrm>
          <a:custGeom>
            <a:avLst/>
            <a:gdLst/>
            <a:ahLst/>
            <a:cxnLst/>
            <a:rect l="l" t="t" r="r" b="b"/>
            <a:pathLst>
              <a:path w="6246495">
                <a:moveTo>
                  <a:pt x="0" y="0"/>
                </a:moveTo>
                <a:lnTo>
                  <a:pt x="6245999" y="0"/>
                </a:lnTo>
              </a:path>
            </a:pathLst>
          </a:custGeom>
          <a:ln w="25920">
            <a:solidFill>
              <a:srgbClr val="BFBFBF"/>
            </a:solidFill>
          </a:ln>
        </p:spPr>
        <p:txBody>
          <a:bodyPr wrap="square" lIns="0" tIns="0" rIns="0" bIns="0" rtlCol="0"/>
          <a:lstStyle/>
          <a:p>
            <a:endParaRPr/>
          </a:p>
        </p:txBody>
      </p:sp>
      <p:sp>
        <p:nvSpPr>
          <p:cNvPr id="12" name="슬라이드 번호 개체 틀 3">
            <a:hlinkClick r:id="rId2"/>
            <a:extLst>
              <a:ext uri="{FF2B5EF4-FFF2-40B4-BE49-F238E27FC236}">
                <a16:creationId xmlns:a16="http://schemas.microsoft.com/office/drawing/2014/main" id="{94974E6A-F582-2B4D-85ED-A7DC39AF295C}"/>
              </a:ext>
            </a:extLst>
          </p:cNvPr>
          <p:cNvSpPr txBox="1">
            <a:spLocks/>
          </p:cNvSpPr>
          <p:nvPr/>
        </p:nvSpPr>
        <p:spPr>
          <a:xfrm>
            <a:off x="5151602" y="9452864"/>
            <a:ext cx="1487550"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dirty="0">
                <a:solidFill>
                  <a:prstClr val="black"/>
                </a:solidFill>
                <a:latin typeface="Arial" panose="020B0604020202020204" pitchFamily="34" charset="0"/>
                <a:cs typeface="Arial" panose="020B0604020202020204" pitchFamily="34" charset="0"/>
              </a:rPr>
              <a:t>http://www.glbltech.com/</a:t>
            </a:r>
            <a:endParaRPr lang="ko-KR" altLang="en-US" dirty="0">
              <a:solidFill>
                <a:prstClr val="black"/>
              </a:solidFill>
              <a:latin typeface="Arial" panose="020B0604020202020204" pitchFamily="34" charset="0"/>
              <a:cs typeface="Arial" panose="020B0604020202020204" pitchFamily="34" charset="0"/>
            </a:endParaRPr>
          </a:p>
        </p:txBody>
      </p:sp>
      <p:sp>
        <p:nvSpPr>
          <p:cNvPr id="13" name="object 38">
            <a:extLst>
              <a:ext uri="{FF2B5EF4-FFF2-40B4-BE49-F238E27FC236}">
                <a16:creationId xmlns:a16="http://schemas.microsoft.com/office/drawing/2014/main" id="{1D3D48CA-6676-391E-D7D8-2D597A5683F2}"/>
              </a:ext>
            </a:extLst>
          </p:cNvPr>
          <p:cNvSpPr txBox="1">
            <a:spLocks/>
          </p:cNvSpPr>
          <p:nvPr/>
        </p:nvSpPr>
        <p:spPr>
          <a:xfrm>
            <a:off x="3309066" y="9547988"/>
            <a:ext cx="487045" cy="139141"/>
          </a:xfrm>
          <a:prstGeom prst="rect">
            <a:avLst/>
          </a:prstGeom>
        </p:spPr>
        <p:txBody>
          <a:bodyPr vert="horz" wrap="square" lIns="0" tIns="635" rIns="0" bIns="0" rtlCol="0">
            <a:spAutoFit/>
          </a:bodyPr>
          <a:lstStyle>
            <a:defPPr>
              <a:defRPr lang="ko-KR"/>
            </a:defPPr>
            <a:lvl1pPr marL="0" algn="l" defTabSz="914400" rtl="0" eaLnBrk="1" latinLnBrk="1" hangingPunct="1">
              <a:defRPr sz="1050" b="0" i="0" kern="1200">
                <a:solidFill>
                  <a:schemeClr val="tx1"/>
                </a:solidFill>
                <a:latin typeface="Arial"/>
                <a:ea typeface="+mn-ea"/>
                <a:cs typeface="Arial"/>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marL="12700">
              <a:spcBef>
                <a:spcPts val="5"/>
              </a:spcBef>
              <a:defRPr/>
            </a:pPr>
            <a:r>
              <a:rPr lang="en-US" sz="900" dirty="0">
                <a:solidFill>
                  <a:prstClr val="black"/>
                </a:solidFill>
              </a:rPr>
              <a:t>Page</a:t>
            </a:r>
            <a:r>
              <a:rPr lang="en-US" sz="900" spc="-60" dirty="0">
                <a:solidFill>
                  <a:prstClr val="black"/>
                </a:solidFill>
              </a:rPr>
              <a:t> </a:t>
            </a:r>
            <a:fld id="{81D60167-4931-47E6-BA6A-407CBD079E47}" type="slidenum">
              <a:rPr sz="900">
                <a:solidFill>
                  <a:prstClr val="black"/>
                </a:solidFill>
              </a:rPr>
              <a:pPr marL="12700">
                <a:spcBef>
                  <a:spcPts val="5"/>
                </a:spcBef>
                <a:defRPr/>
              </a:pPr>
              <a:t>6</a:t>
            </a:fld>
            <a:endParaRPr sz="900" dirty="0">
              <a:solidFill>
                <a:prstClr val="black"/>
              </a:solidFill>
            </a:endParaRPr>
          </a:p>
        </p:txBody>
      </p:sp>
      <p:sp>
        <p:nvSpPr>
          <p:cNvPr id="14" name="슬라이드 번호 개체 틀 3">
            <a:extLst>
              <a:ext uri="{FF2B5EF4-FFF2-40B4-BE49-F238E27FC236}">
                <a16:creationId xmlns:a16="http://schemas.microsoft.com/office/drawing/2014/main" id="{A5438AC9-0797-E0E7-BE41-60BF006FB744}"/>
              </a:ext>
            </a:extLst>
          </p:cNvPr>
          <p:cNvSpPr txBox="1">
            <a:spLocks/>
          </p:cNvSpPr>
          <p:nvPr/>
        </p:nvSpPr>
        <p:spPr>
          <a:xfrm>
            <a:off x="299401" y="9520856"/>
            <a:ext cx="2060991" cy="175259"/>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lang="en-US" altLang="ko-KR" dirty="0">
                <a:solidFill>
                  <a:prstClr val="black"/>
                </a:solidFill>
                <a:latin typeface="Arial" panose="020B0604020202020204" pitchFamily="34" charset="0"/>
                <a:cs typeface="Arial" panose="020B0604020202020204" pitchFamily="34" charset="0"/>
              </a:rPr>
              <a:t>Dated 30-Nov 23  Rev. 01</a:t>
            </a:r>
            <a:endParaRPr lang="ko-KR" altLang="en-US" dirty="0">
              <a:solidFill>
                <a:prstClr val="black"/>
              </a:solidFill>
              <a:latin typeface="Arial" panose="020B0604020202020204" pitchFamily="34" charset="0"/>
              <a:cs typeface="Arial" panose="020B0604020202020204" pitchFamily="34" charset="0"/>
            </a:endParaRPr>
          </a:p>
        </p:txBody>
      </p:sp>
      <p:sp>
        <p:nvSpPr>
          <p:cNvPr id="15" name="Holder 3">
            <a:extLst>
              <a:ext uri="{FF2B5EF4-FFF2-40B4-BE49-F238E27FC236}">
                <a16:creationId xmlns:a16="http://schemas.microsoft.com/office/drawing/2014/main" id="{D39F7579-9E4A-6C52-BCEF-B0F38077C2D2}"/>
              </a:ext>
            </a:extLst>
          </p:cNvPr>
          <p:cNvSpPr txBox="1">
            <a:spLocks/>
          </p:cNvSpPr>
          <p:nvPr/>
        </p:nvSpPr>
        <p:spPr>
          <a:xfrm>
            <a:off x="5147476" y="203944"/>
            <a:ext cx="1447800" cy="276999"/>
          </a:xfrm>
          <a:prstGeom prst="rect">
            <a:avLst/>
          </a:prstGeom>
        </p:spPr>
        <p:txBody>
          <a:bodyPr wrap="square" lIns="0" tIns="0" rIns="0" bIns="0">
            <a:spAutoFit/>
          </a:bodyPr>
          <a:lstStyle>
            <a:lvl1pPr marL="0">
              <a:defRPr>
                <a:solidFill>
                  <a:srgbClr val="FF99FF"/>
                </a:solidFill>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defTabSz="914400" latinLnBrk="0"/>
            <a:r>
              <a:rPr lang="en-US" sz="1800" kern="0" dirty="0"/>
              <a:t>&lt;Preliminary&gt;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2074" y="889508"/>
            <a:ext cx="3146425" cy="239395"/>
          </a:xfrm>
          <a:prstGeom prst="rect">
            <a:avLst/>
          </a:prstGeom>
        </p:spPr>
        <p:txBody>
          <a:bodyPr vert="horz" wrap="square" lIns="0" tIns="12700" rIns="0" bIns="0" rtlCol="0">
            <a:spAutoFit/>
          </a:bodyPr>
          <a:lstStyle/>
          <a:p>
            <a:pPr marL="12700">
              <a:lnSpc>
                <a:spcPct val="100000"/>
              </a:lnSpc>
              <a:spcBef>
                <a:spcPts val="100"/>
              </a:spcBef>
            </a:pPr>
            <a:r>
              <a:rPr sz="1400" b="1" dirty="0">
                <a:latin typeface="Arial"/>
                <a:cs typeface="Arial"/>
              </a:rPr>
              <a:t>Equivalent</a:t>
            </a:r>
            <a:r>
              <a:rPr sz="1400" b="1" spc="-45" dirty="0">
                <a:latin typeface="Arial"/>
                <a:cs typeface="Arial"/>
              </a:rPr>
              <a:t> </a:t>
            </a:r>
            <a:r>
              <a:rPr sz="1400" b="1" dirty="0">
                <a:latin typeface="Arial"/>
                <a:cs typeface="Arial"/>
              </a:rPr>
              <a:t>Circuits</a:t>
            </a:r>
            <a:r>
              <a:rPr sz="1400" b="1" spc="-50" dirty="0">
                <a:latin typeface="Arial"/>
                <a:cs typeface="Arial"/>
              </a:rPr>
              <a:t> </a:t>
            </a:r>
            <a:r>
              <a:rPr sz="1400" b="1" dirty="0">
                <a:latin typeface="Arial"/>
                <a:cs typeface="Arial"/>
              </a:rPr>
              <a:t>of</a:t>
            </a:r>
            <a:r>
              <a:rPr sz="1400" b="1" spc="-15" dirty="0">
                <a:latin typeface="Arial"/>
                <a:cs typeface="Arial"/>
              </a:rPr>
              <a:t> </a:t>
            </a:r>
            <a:r>
              <a:rPr sz="1400" b="1" dirty="0">
                <a:latin typeface="Arial"/>
                <a:cs typeface="Arial"/>
              </a:rPr>
              <a:t>individual</a:t>
            </a:r>
            <a:r>
              <a:rPr sz="1400" b="1" spc="-40" dirty="0">
                <a:latin typeface="Arial"/>
                <a:cs typeface="Arial"/>
              </a:rPr>
              <a:t> </a:t>
            </a:r>
            <a:r>
              <a:rPr sz="1400" b="1" dirty="0">
                <a:latin typeface="Arial"/>
                <a:cs typeface="Arial"/>
              </a:rPr>
              <a:t>pins</a:t>
            </a:r>
            <a:endParaRPr sz="1400" dirty="0">
              <a:latin typeface="Arial"/>
              <a:cs typeface="Arial"/>
            </a:endParaRPr>
          </a:p>
        </p:txBody>
      </p:sp>
      <p:graphicFrame>
        <p:nvGraphicFramePr>
          <p:cNvPr id="3" name="object 3"/>
          <p:cNvGraphicFramePr>
            <a:graphicFrameLocks noGrp="1"/>
          </p:cNvGraphicFramePr>
          <p:nvPr/>
        </p:nvGraphicFramePr>
        <p:xfrm>
          <a:off x="407200" y="1207516"/>
          <a:ext cx="6049008" cy="7827645"/>
        </p:xfrm>
        <a:graphic>
          <a:graphicData uri="http://schemas.openxmlformats.org/drawingml/2006/table">
            <a:tbl>
              <a:tblPr firstRow="1" bandRow="1">
                <a:tableStyleId>{2D5ABB26-0587-4C30-8999-92F81FD0307C}</a:tableStyleId>
              </a:tblPr>
              <a:tblGrid>
                <a:gridCol w="847725">
                  <a:extLst>
                    <a:ext uri="{9D8B030D-6E8A-4147-A177-3AD203B41FA5}">
                      <a16:colId xmlns:a16="http://schemas.microsoft.com/office/drawing/2014/main" val="20000"/>
                    </a:ext>
                  </a:extLst>
                </a:gridCol>
                <a:gridCol w="375919">
                  <a:extLst>
                    <a:ext uri="{9D8B030D-6E8A-4147-A177-3AD203B41FA5}">
                      <a16:colId xmlns:a16="http://schemas.microsoft.com/office/drawing/2014/main" val="20001"/>
                    </a:ext>
                  </a:extLst>
                </a:gridCol>
                <a:gridCol w="3657600">
                  <a:extLst>
                    <a:ext uri="{9D8B030D-6E8A-4147-A177-3AD203B41FA5}">
                      <a16:colId xmlns:a16="http://schemas.microsoft.com/office/drawing/2014/main" val="20002"/>
                    </a:ext>
                  </a:extLst>
                </a:gridCol>
                <a:gridCol w="1167764">
                  <a:extLst>
                    <a:ext uri="{9D8B030D-6E8A-4147-A177-3AD203B41FA5}">
                      <a16:colId xmlns:a16="http://schemas.microsoft.com/office/drawing/2014/main" val="20003"/>
                    </a:ext>
                  </a:extLst>
                </a:gridCol>
              </a:tblGrid>
              <a:tr h="267335">
                <a:tc>
                  <a:txBody>
                    <a:bodyPr/>
                    <a:lstStyle/>
                    <a:p>
                      <a:pPr algn="ctr">
                        <a:lnSpc>
                          <a:spcPct val="100000"/>
                        </a:lnSpc>
                        <a:spcBef>
                          <a:spcPts val="480"/>
                        </a:spcBef>
                      </a:pPr>
                      <a:r>
                        <a:rPr sz="900" b="1" dirty="0">
                          <a:latin typeface="Arial"/>
                          <a:cs typeface="Arial"/>
                        </a:rPr>
                        <a:t>Pad</a:t>
                      </a:r>
                      <a:r>
                        <a:rPr sz="900" b="1" spc="-50" dirty="0">
                          <a:latin typeface="Arial"/>
                          <a:cs typeface="Arial"/>
                        </a:rPr>
                        <a:t> </a:t>
                      </a:r>
                      <a:r>
                        <a:rPr sz="900" b="1" spc="-5" dirty="0">
                          <a:latin typeface="Arial"/>
                          <a:cs typeface="Arial"/>
                        </a:rPr>
                        <a:t>Name</a:t>
                      </a:r>
                      <a:endParaRPr sz="900" dirty="0">
                        <a:latin typeface="Arial"/>
                        <a:cs typeface="Arial"/>
                      </a:endParaRPr>
                    </a:p>
                  </a:txBody>
                  <a:tcPr marL="0" marR="0" marT="60960" marB="0">
                    <a:lnL w="12700">
                      <a:solidFill>
                        <a:srgbClr val="FFFFFF"/>
                      </a:solidFill>
                      <a:prstDash val="solid"/>
                    </a:lnL>
                    <a:lnR w="3175">
                      <a:solidFill>
                        <a:srgbClr val="000000"/>
                      </a:solidFill>
                      <a:prstDash val="solid"/>
                    </a:lnR>
                    <a:lnT w="12700">
                      <a:solidFill>
                        <a:srgbClr val="000000"/>
                      </a:solidFill>
                      <a:prstDash val="solid"/>
                    </a:lnT>
                    <a:lnB w="3175">
                      <a:solidFill>
                        <a:srgbClr val="000000"/>
                      </a:solidFill>
                      <a:prstDash val="solid"/>
                    </a:lnB>
                    <a:solidFill>
                      <a:srgbClr val="F1F1F1"/>
                    </a:solidFill>
                  </a:tcPr>
                </a:tc>
                <a:tc>
                  <a:txBody>
                    <a:bodyPr/>
                    <a:lstStyle/>
                    <a:p>
                      <a:pPr algn="ctr">
                        <a:lnSpc>
                          <a:spcPct val="100000"/>
                        </a:lnSpc>
                        <a:spcBef>
                          <a:spcPts val="480"/>
                        </a:spcBef>
                      </a:pPr>
                      <a:r>
                        <a:rPr sz="900" b="1" dirty="0">
                          <a:latin typeface="Arial"/>
                          <a:cs typeface="Arial"/>
                        </a:rPr>
                        <a:t>I/O</a:t>
                      </a:r>
                      <a:endParaRPr sz="900" dirty="0">
                        <a:latin typeface="Arial"/>
                        <a:cs typeface="Arial"/>
                      </a:endParaRPr>
                    </a:p>
                  </a:txBody>
                  <a:tcPr marL="0" marR="0" marT="60960" marB="0">
                    <a:lnL w="3175">
                      <a:solidFill>
                        <a:srgbClr val="000000"/>
                      </a:solidFill>
                      <a:prstDash val="solid"/>
                    </a:lnL>
                    <a:lnR w="3175">
                      <a:solidFill>
                        <a:srgbClr val="000000"/>
                      </a:solidFill>
                      <a:prstDash val="solid"/>
                    </a:lnR>
                    <a:lnT w="12700">
                      <a:solidFill>
                        <a:srgbClr val="000000"/>
                      </a:solidFill>
                      <a:prstDash val="solid"/>
                    </a:lnT>
                    <a:lnB w="3175">
                      <a:solidFill>
                        <a:srgbClr val="000000"/>
                      </a:solidFill>
                      <a:prstDash val="solid"/>
                    </a:lnB>
                    <a:solidFill>
                      <a:srgbClr val="F1F1F1"/>
                    </a:solidFill>
                  </a:tcPr>
                </a:tc>
                <a:tc>
                  <a:txBody>
                    <a:bodyPr/>
                    <a:lstStyle/>
                    <a:p>
                      <a:pPr marL="635" algn="ctr">
                        <a:lnSpc>
                          <a:spcPct val="100000"/>
                        </a:lnSpc>
                        <a:spcBef>
                          <a:spcPts val="480"/>
                        </a:spcBef>
                      </a:pPr>
                      <a:r>
                        <a:rPr sz="900" b="1" dirty="0">
                          <a:latin typeface="Arial"/>
                          <a:cs typeface="Arial"/>
                        </a:rPr>
                        <a:t>Internal</a:t>
                      </a:r>
                      <a:r>
                        <a:rPr sz="900" b="1" spc="-55" dirty="0">
                          <a:latin typeface="Arial"/>
                          <a:cs typeface="Arial"/>
                        </a:rPr>
                        <a:t> </a:t>
                      </a:r>
                      <a:r>
                        <a:rPr sz="900" b="1" dirty="0">
                          <a:latin typeface="Arial"/>
                          <a:cs typeface="Arial"/>
                        </a:rPr>
                        <a:t>Circuit</a:t>
                      </a:r>
                      <a:endParaRPr sz="900" dirty="0">
                        <a:latin typeface="Arial"/>
                        <a:cs typeface="Arial"/>
                      </a:endParaRPr>
                    </a:p>
                  </a:txBody>
                  <a:tcPr marL="0" marR="0" marT="60960" marB="0">
                    <a:lnL w="3175">
                      <a:solidFill>
                        <a:srgbClr val="000000"/>
                      </a:solidFill>
                      <a:prstDash val="solid"/>
                    </a:lnL>
                    <a:lnR w="3175">
                      <a:solidFill>
                        <a:srgbClr val="000000"/>
                      </a:solidFill>
                      <a:prstDash val="solid"/>
                    </a:lnR>
                    <a:lnT w="12700">
                      <a:solidFill>
                        <a:srgbClr val="000000"/>
                      </a:solidFill>
                      <a:prstDash val="solid"/>
                    </a:lnT>
                    <a:lnB w="3175">
                      <a:solidFill>
                        <a:srgbClr val="000000"/>
                      </a:solidFill>
                      <a:prstDash val="solid"/>
                    </a:lnB>
                    <a:solidFill>
                      <a:srgbClr val="F1F1F1"/>
                    </a:solidFill>
                  </a:tcPr>
                </a:tc>
                <a:tc>
                  <a:txBody>
                    <a:bodyPr/>
                    <a:lstStyle/>
                    <a:p>
                      <a:pPr marL="1270" algn="ctr">
                        <a:lnSpc>
                          <a:spcPct val="100000"/>
                        </a:lnSpc>
                        <a:spcBef>
                          <a:spcPts val="480"/>
                        </a:spcBef>
                      </a:pPr>
                      <a:r>
                        <a:rPr sz="900" b="1" dirty="0">
                          <a:latin typeface="Arial"/>
                          <a:cs typeface="Arial"/>
                        </a:rPr>
                        <a:t>Description</a:t>
                      </a:r>
                      <a:endParaRPr sz="900" dirty="0">
                        <a:latin typeface="Arial"/>
                        <a:cs typeface="Arial"/>
                      </a:endParaRPr>
                    </a:p>
                  </a:txBody>
                  <a:tcPr marL="0" marR="0" marT="60960" marB="0">
                    <a:lnL w="3175">
                      <a:solidFill>
                        <a:srgbClr val="000000"/>
                      </a:solidFill>
                      <a:prstDash val="solid"/>
                    </a:lnL>
                    <a:lnT w="12700">
                      <a:solidFill>
                        <a:srgbClr val="000000"/>
                      </a:solidFill>
                      <a:prstDash val="solid"/>
                    </a:lnT>
                    <a:lnB w="3175">
                      <a:solidFill>
                        <a:srgbClr val="000000"/>
                      </a:solidFill>
                      <a:prstDash val="solid"/>
                    </a:lnB>
                    <a:solidFill>
                      <a:srgbClr val="F1F1F1"/>
                    </a:solidFill>
                  </a:tcPr>
                </a:tc>
                <a:extLst>
                  <a:ext uri="{0D108BD9-81ED-4DB2-BD59-A6C34878D82A}">
                    <a16:rowId xmlns:a16="http://schemas.microsoft.com/office/drawing/2014/main" val="10000"/>
                  </a:ext>
                </a:extLst>
              </a:tr>
              <a:tr h="1005205">
                <a:tc>
                  <a:txBody>
                    <a:bodyPr/>
                    <a:lstStyle/>
                    <a:p>
                      <a:pPr>
                        <a:lnSpc>
                          <a:spcPct val="100000"/>
                        </a:lnSpc>
                      </a:pPr>
                      <a:endParaRPr sz="1000" dirty="0">
                        <a:latin typeface="Times New Roman"/>
                        <a:cs typeface="Times New Roman"/>
                      </a:endParaRPr>
                    </a:p>
                    <a:p>
                      <a:pPr>
                        <a:lnSpc>
                          <a:spcPct val="100000"/>
                        </a:lnSpc>
                      </a:pPr>
                      <a:endParaRPr sz="1000" dirty="0">
                        <a:latin typeface="Times New Roman"/>
                        <a:cs typeface="Times New Roman"/>
                      </a:endParaRPr>
                    </a:p>
                    <a:p>
                      <a:pPr>
                        <a:lnSpc>
                          <a:spcPct val="100000"/>
                        </a:lnSpc>
                        <a:spcBef>
                          <a:spcPts val="15"/>
                        </a:spcBef>
                      </a:pPr>
                      <a:endParaRPr sz="950" dirty="0">
                        <a:latin typeface="Times New Roman"/>
                        <a:cs typeface="Times New Roman"/>
                      </a:endParaRPr>
                    </a:p>
                    <a:p>
                      <a:pPr marL="635" algn="ctr">
                        <a:lnSpc>
                          <a:spcPct val="100000"/>
                        </a:lnSpc>
                      </a:pPr>
                      <a:r>
                        <a:rPr sz="900" spc="-5" dirty="0">
                          <a:latin typeface="Arial"/>
                          <a:cs typeface="Arial"/>
                        </a:rPr>
                        <a:t>nSCS</a:t>
                      </a:r>
                      <a:endParaRPr sz="900" dirty="0">
                        <a:latin typeface="Arial"/>
                        <a:cs typeface="Arial"/>
                      </a:endParaRPr>
                    </a:p>
                  </a:txBody>
                  <a:tcPr marL="0" marR="0" marT="0" marB="0">
                    <a:lnL w="12700">
                      <a:solidFill>
                        <a:srgbClr val="FFFFFF"/>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nSpc>
                          <a:spcPct val="100000"/>
                        </a:lnSpc>
                      </a:pPr>
                      <a:endParaRPr sz="1000" dirty="0">
                        <a:latin typeface="Times New Roman"/>
                        <a:cs typeface="Times New Roman"/>
                      </a:endParaRPr>
                    </a:p>
                    <a:p>
                      <a:pPr>
                        <a:lnSpc>
                          <a:spcPct val="100000"/>
                        </a:lnSpc>
                      </a:pPr>
                      <a:endParaRPr sz="1000" dirty="0">
                        <a:latin typeface="Times New Roman"/>
                        <a:cs typeface="Times New Roman"/>
                      </a:endParaRPr>
                    </a:p>
                    <a:p>
                      <a:pPr>
                        <a:lnSpc>
                          <a:spcPct val="100000"/>
                        </a:lnSpc>
                        <a:spcBef>
                          <a:spcPts val="15"/>
                        </a:spcBef>
                      </a:pPr>
                      <a:endParaRPr sz="950" dirty="0">
                        <a:latin typeface="Times New Roman"/>
                        <a:cs typeface="Times New Roman"/>
                      </a:endParaRPr>
                    </a:p>
                    <a:p>
                      <a:pPr algn="ctr">
                        <a:lnSpc>
                          <a:spcPct val="100000"/>
                        </a:lnSpc>
                      </a:pPr>
                      <a:r>
                        <a:rPr sz="900" dirty="0">
                          <a:latin typeface="Arial"/>
                          <a:cs typeface="Arial"/>
                        </a:rPr>
                        <a:t>I</a:t>
                      </a:r>
                    </a:p>
                  </a:txBody>
                  <a:tcPr marL="0" marR="0" marT="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nSpc>
                          <a:spcPct val="100000"/>
                        </a:lnSpc>
                      </a:pPr>
                      <a:endParaRPr sz="1000" dirty="0">
                        <a:latin typeface="Times New Roman"/>
                        <a:cs typeface="Times New Roman"/>
                      </a:endParaRPr>
                    </a:p>
                  </a:txBody>
                  <a:tcPr marL="0" marR="0" marT="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nSpc>
                          <a:spcPct val="100000"/>
                        </a:lnSpc>
                      </a:pPr>
                      <a:endParaRPr sz="1000" dirty="0">
                        <a:latin typeface="Times New Roman"/>
                        <a:cs typeface="Times New Roman"/>
                      </a:endParaRPr>
                    </a:p>
                    <a:p>
                      <a:pPr>
                        <a:lnSpc>
                          <a:spcPct val="100000"/>
                        </a:lnSpc>
                      </a:pPr>
                      <a:endParaRPr sz="1000" dirty="0">
                        <a:latin typeface="Times New Roman"/>
                        <a:cs typeface="Times New Roman"/>
                      </a:endParaRPr>
                    </a:p>
                    <a:p>
                      <a:pPr>
                        <a:lnSpc>
                          <a:spcPct val="100000"/>
                        </a:lnSpc>
                        <a:spcBef>
                          <a:spcPts val="55"/>
                        </a:spcBef>
                      </a:pPr>
                      <a:endParaRPr sz="900" dirty="0">
                        <a:latin typeface="Times New Roman"/>
                        <a:cs typeface="Times New Roman"/>
                      </a:endParaRPr>
                    </a:p>
                    <a:p>
                      <a:pPr algn="ctr">
                        <a:lnSpc>
                          <a:spcPct val="100000"/>
                        </a:lnSpc>
                      </a:pPr>
                      <a:r>
                        <a:rPr sz="900" dirty="0">
                          <a:latin typeface="Arial"/>
                          <a:cs typeface="Arial"/>
                        </a:rPr>
                        <a:t>SPI</a:t>
                      </a:r>
                      <a:r>
                        <a:rPr sz="900" spc="-30" dirty="0">
                          <a:latin typeface="Arial"/>
                          <a:cs typeface="Arial"/>
                        </a:rPr>
                        <a:t> </a:t>
                      </a:r>
                      <a:r>
                        <a:rPr sz="900" dirty="0">
                          <a:latin typeface="Arial"/>
                          <a:cs typeface="Arial"/>
                        </a:rPr>
                        <a:t>Chip</a:t>
                      </a:r>
                      <a:r>
                        <a:rPr sz="900" spc="-40" dirty="0">
                          <a:latin typeface="Arial"/>
                          <a:cs typeface="Arial"/>
                        </a:rPr>
                        <a:t> </a:t>
                      </a:r>
                      <a:r>
                        <a:rPr sz="900" dirty="0">
                          <a:latin typeface="Arial"/>
                          <a:cs typeface="Arial"/>
                        </a:rPr>
                        <a:t>Select</a:t>
                      </a:r>
                    </a:p>
                  </a:txBody>
                  <a:tcPr marL="0" marR="0" marT="0" marB="0">
                    <a:lnL w="3175">
                      <a:solidFill>
                        <a:srgbClr val="000000"/>
                      </a:solidFill>
                      <a:prstDash val="solid"/>
                    </a:lnL>
                    <a:lnT w="3175">
                      <a:solidFill>
                        <a:srgbClr val="000000"/>
                      </a:solidFill>
                      <a:prstDash val="solid"/>
                    </a:lnT>
                    <a:lnB w="3175">
                      <a:solidFill>
                        <a:srgbClr val="000000"/>
                      </a:solidFill>
                      <a:prstDash val="solid"/>
                    </a:lnB>
                  </a:tcPr>
                </a:tc>
                <a:extLst>
                  <a:ext uri="{0D108BD9-81ED-4DB2-BD59-A6C34878D82A}">
                    <a16:rowId xmlns:a16="http://schemas.microsoft.com/office/drawing/2014/main" val="10001"/>
                  </a:ext>
                </a:extLst>
              </a:tr>
              <a:tr h="1026160">
                <a:tc>
                  <a:txBody>
                    <a:bodyPr/>
                    <a:lstStyle/>
                    <a:p>
                      <a:pPr>
                        <a:lnSpc>
                          <a:spcPct val="100000"/>
                        </a:lnSpc>
                      </a:pPr>
                      <a:endParaRPr sz="1000" dirty="0">
                        <a:latin typeface="Times New Roman"/>
                        <a:cs typeface="Times New Roman"/>
                      </a:endParaRPr>
                    </a:p>
                    <a:p>
                      <a:pPr>
                        <a:lnSpc>
                          <a:spcPct val="100000"/>
                        </a:lnSpc>
                      </a:pPr>
                      <a:endParaRPr sz="1000" dirty="0">
                        <a:latin typeface="Times New Roman"/>
                        <a:cs typeface="Times New Roman"/>
                      </a:endParaRPr>
                    </a:p>
                    <a:p>
                      <a:pPr>
                        <a:lnSpc>
                          <a:spcPct val="100000"/>
                        </a:lnSpc>
                        <a:spcBef>
                          <a:spcPts val="40"/>
                        </a:spcBef>
                      </a:pPr>
                      <a:endParaRPr sz="1000" dirty="0">
                        <a:latin typeface="Times New Roman"/>
                        <a:cs typeface="Times New Roman"/>
                      </a:endParaRPr>
                    </a:p>
                    <a:p>
                      <a:pPr marL="635" algn="ctr">
                        <a:lnSpc>
                          <a:spcPct val="100000"/>
                        </a:lnSpc>
                      </a:pPr>
                      <a:r>
                        <a:rPr sz="900" spc="-5" dirty="0">
                          <a:latin typeface="Arial"/>
                          <a:cs typeface="Arial"/>
                        </a:rPr>
                        <a:t>SCLK</a:t>
                      </a:r>
                      <a:endParaRPr sz="900" dirty="0">
                        <a:latin typeface="Arial"/>
                        <a:cs typeface="Arial"/>
                      </a:endParaRPr>
                    </a:p>
                  </a:txBody>
                  <a:tcPr marL="0" marR="0" marT="0" marB="0">
                    <a:lnL w="12700">
                      <a:solidFill>
                        <a:srgbClr val="FFFFFF"/>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nSpc>
                          <a:spcPct val="100000"/>
                        </a:lnSpc>
                      </a:pPr>
                      <a:endParaRPr sz="1000" dirty="0">
                        <a:latin typeface="Times New Roman"/>
                        <a:cs typeface="Times New Roman"/>
                      </a:endParaRPr>
                    </a:p>
                    <a:p>
                      <a:pPr>
                        <a:lnSpc>
                          <a:spcPct val="100000"/>
                        </a:lnSpc>
                      </a:pPr>
                      <a:endParaRPr sz="1000" dirty="0">
                        <a:latin typeface="Times New Roman"/>
                        <a:cs typeface="Times New Roman"/>
                      </a:endParaRPr>
                    </a:p>
                    <a:p>
                      <a:pPr>
                        <a:lnSpc>
                          <a:spcPct val="100000"/>
                        </a:lnSpc>
                        <a:spcBef>
                          <a:spcPts val="40"/>
                        </a:spcBef>
                      </a:pPr>
                      <a:endParaRPr sz="1000" dirty="0">
                        <a:latin typeface="Times New Roman"/>
                        <a:cs typeface="Times New Roman"/>
                      </a:endParaRPr>
                    </a:p>
                    <a:p>
                      <a:pPr algn="ctr">
                        <a:lnSpc>
                          <a:spcPct val="100000"/>
                        </a:lnSpc>
                      </a:pPr>
                      <a:r>
                        <a:rPr sz="900" dirty="0">
                          <a:latin typeface="Arial"/>
                          <a:cs typeface="Arial"/>
                        </a:rPr>
                        <a:t>I</a:t>
                      </a:r>
                    </a:p>
                  </a:txBody>
                  <a:tcPr marL="0" marR="0" marT="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nSpc>
                          <a:spcPct val="100000"/>
                        </a:lnSpc>
                      </a:pPr>
                      <a:endParaRPr sz="1000" dirty="0">
                        <a:latin typeface="Times New Roman"/>
                        <a:cs typeface="Times New Roman"/>
                      </a:endParaRPr>
                    </a:p>
                  </a:txBody>
                  <a:tcPr marL="0" marR="0" marT="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nSpc>
                          <a:spcPct val="100000"/>
                        </a:lnSpc>
                      </a:pPr>
                      <a:endParaRPr sz="1000" dirty="0">
                        <a:latin typeface="Times New Roman"/>
                        <a:cs typeface="Times New Roman"/>
                      </a:endParaRPr>
                    </a:p>
                    <a:p>
                      <a:pPr>
                        <a:lnSpc>
                          <a:spcPct val="100000"/>
                        </a:lnSpc>
                      </a:pPr>
                      <a:endParaRPr sz="1000" dirty="0">
                        <a:latin typeface="Times New Roman"/>
                        <a:cs typeface="Times New Roman"/>
                      </a:endParaRPr>
                    </a:p>
                    <a:p>
                      <a:pPr>
                        <a:lnSpc>
                          <a:spcPct val="100000"/>
                        </a:lnSpc>
                        <a:spcBef>
                          <a:spcPts val="20"/>
                        </a:spcBef>
                      </a:pPr>
                      <a:endParaRPr sz="1000" dirty="0">
                        <a:latin typeface="Times New Roman"/>
                        <a:cs typeface="Times New Roman"/>
                      </a:endParaRPr>
                    </a:p>
                    <a:p>
                      <a:pPr marL="635" algn="ctr">
                        <a:lnSpc>
                          <a:spcPct val="100000"/>
                        </a:lnSpc>
                      </a:pPr>
                      <a:r>
                        <a:rPr sz="900" dirty="0">
                          <a:latin typeface="Arial"/>
                          <a:cs typeface="Arial"/>
                        </a:rPr>
                        <a:t>SPI</a:t>
                      </a:r>
                      <a:r>
                        <a:rPr sz="900" spc="-30" dirty="0">
                          <a:latin typeface="Arial"/>
                          <a:cs typeface="Arial"/>
                        </a:rPr>
                        <a:t> </a:t>
                      </a:r>
                      <a:r>
                        <a:rPr sz="900" dirty="0">
                          <a:latin typeface="Arial"/>
                          <a:cs typeface="Arial"/>
                        </a:rPr>
                        <a:t>Clock</a:t>
                      </a:r>
                      <a:r>
                        <a:rPr sz="900" spc="-50" dirty="0">
                          <a:latin typeface="Arial"/>
                          <a:cs typeface="Arial"/>
                        </a:rPr>
                        <a:t> </a:t>
                      </a:r>
                      <a:r>
                        <a:rPr sz="900" dirty="0">
                          <a:latin typeface="Arial"/>
                          <a:cs typeface="Arial"/>
                        </a:rPr>
                        <a:t>Input</a:t>
                      </a:r>
                    </a:p>
                  </a:txBody>
                  <a:tcPr marL="0" marR="0" marT="0" marB="0">
                    <a:lnL w="3175">
                      <a:solidFill>
                        <a:srgbClr val="000000"/>
                      </a:solidFill>
                      <a:prstDash val="solid"/>
                    </a:lnL>
                    <a:lnT w="3175">
                      <a:solidFill>
                        <a:srgbClr val="000000"/>
                      </a:solidFill>
                      <a:prstDash val="solid"/>
                    </a:lnT>
                    <a:lnB w="3175">
                      <a:solidFill>
                        <a:srgbClr val="000000"/>
                      </a:solidFill>
                      <a:prstDash val="solid"/>
                    </a:lnB>
                  </a:tcPr>
                </a:tc>
                <a:extLst>
                  <a:ext uri="{0D108BD9-81ED-4DB2-BD59-A6C34878D82A}">
                    <a16:rowId xmlns:a16="http://schemas.microsoft.com/office/drawing/2014/main" val="10002"/>
                  </a:ext>
                </a:extLst>
              </a:tr>
              <a:tr h="1076960">
                <a:tc>
                  <a:txBody>
                    <a:bodyPr/>
                    <a:lstStyle/>
                    <a:p>
                      <a:pPr>
                        <a:lnSpc>
                          <a:spcPct val="100000"/>
                        </a:lnSpc>
                      </a:pPr>
                      <a:endParaRPr sz="1000" dirty="0">
                        <a:latin typeface="Times New Roman"/>
                        <a:cs typeface="Times New Roman"/>
                      </a:endParaRPr>
                    </a:p>
                    <a:p>
                      <a:pPr>
                        <a:lnSpc>
                          <a:spcPct val="100000"/>
                        </a:lnSpc>
                      </a:pPr>
                      <a:endParaRPr sz="1000" dirty="0">
                        <a:latin typeface="Times New Roman"/>
                        <a:cs typeface="Times New Roman"/>
                      </a:endParaRPr>
                    </a:p>
                    <a:p>
                      <a:pPr>
                        <a:lnSpc>
                          <a:spcPct val="100000"/>
                        </a:lnSpc>
                        <a:spcBef>
                          <a:spcPts val="10"/>
                        </a:spcBef>
                      </a:pPr>
                      <a:endParaRPr sz="1200" dirty="0">
                        <a:latin typeface="Times New Roman"/>
                        <a:cs typeface="Times New Roman"/>
                      </a:endParaRPr>
                    </a:p>
                    <a:p>
                      <a:pPr marL="635" algn="ctr">
                        <a:lnSpc>
                          <a:spcPct val="100000"/>
                        </a:lnSpc>
                        <a:spcBef>
                          <a:spcPts val="5"/>
                        </a:spcBef>
                      </a:pPr>
                      <a:r>
                        <a:rPr sz="900" spc="-10" dirty="0">
                          <a:latin typeface="Arial"/>
                          <a:cs typeface="Arial"/>
                        </a:rPr>
                        <a:t>MOSI</a:t>
                      </a:r>
                      <a:endParaRPr sz="900" dirty="0">
                        <a:latin typeface="Arial"/>
                        <a:cs typeface="Arial"/>
                      </a:endParaRPr>
                    </a:p>
                  </a:txBody>
                  <a:tcPr marL="0" marR="0" marT="0" marB="0">
                    <a:lnL w="12700">
                      <a:solidFill>
                        <a:srgbClr val="FFFFFF"/>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nSpc>
                          <a:spcPct val="100000"/>
                        </a:lnSpc>
                      </a:pPr>
                      <a:endParaRPr sz="1000" dirty="0">
                        <a:latin typeface="Times New Roman"/>
                        <a:cs typeface="Times New Roman"/>
                      </a:endParaRPr>
                    </a:p>
                    <a:p>
                      <a:pPr>
                        <a:lnSpc>
                          <a:spcPct val="100000"/>
                        </a:lnSpc>
                      </a:pPr>
                      <a:endParaRPr sz="1000" dirty="0">
                        <a:latin typeface="Times New Roman"/>
                        <a:cs typeface="Times New Roman"/>
                      </a:endParaRPr>
                    </a:p>
                    <a:p>
                      <a:pPr>
                        <a:lnSpc>
                          <a:spcPct val="100000"/>
                        </a:lnSpc>
                        <a:spcBef>
                          <a:spcPts val="10"/>
                        </a:spcBef>
                      </a:pPr>
                      <a:endParaRPr sz="1200" dirty="0">
                        <a:latin typeface="Times New Roman"/>
                        <a:cs typeface="Times New Roman"/>
                      </a:endParaRPr>
                    </a:p>
                    <a:p>
                      <a:pPr algn="ctr">
                        <a:lnSpc>
                          <a:spcPct val="100000"/>
                        </a:lnSpc>
                        <a:spcBef>
                          <a:spcPts val="5"/>
                        </a:spcBef>
                      </a:pPr>
                      <a:r>
                        <a:rPr sz="900" dirty="0">
                          <a:latin typeface="Arial"/>
                          <a:cs typeface="Arial"/>
                        </a:rPr>
                        <a:t>I</a:t>
                      </a:r>
                    </a:p>
                  </a:txBody>
                  <a:tcPr marL="0" marR="0" marT="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nSpc>
                          <a:spcPct val="100000"/>
                        </a:lnSpc>
                      </a:pPr>
                      <a:endParaRPr sz="1000" dirty="0">
                        <a:latin typeface="Times New Roman"/>
                        <a:cs typeface="Times New Roman"/>
                      </a:endParaRPr>
                    </a:p>
                  </a:txBody>
                  <a:tcPr marL="0" marR="0" marT="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nSpc>
                          <a:spcPct val="100000"/>
                        </a:lnSpc>
                      </a:pPr>
                      <a:endParaRPr sz="1000" dirty="0">
                        <a:latin typeface="Times New Roman"/>
                        <a:cs typeface="Times New Roman"/>
                      </a:endParaRPr>
                    </a:p>
                    <a:p>
                      <a:pPr>
                        <a:lnSpc>
                          <a:spcPct val="100000"/>
                        </a:lnSpc>
                      </a:pPr>
                      <a:endParaRPr sz="1000" dirty="0">
                        <a:latin typeface="Times New Roman"/>
                        <a:cs typeface="Times New Roman"/>
                      </a:endParaRPr>
                    </a:p>
                    <a:p>
                      <a:pPr>
                        <a:lnSpc>
                          <a:spcPct val="100000"/>
                        </a:lnSpc>
                        <a:spcBef>
                          <a:spcPts val="50"/>
                        </a:spcBef>
                      </a:pPr>
                      <a:endParaRPr sz="1150" dirty="0">
                        <a:latin typeface="Times New Roman"/>
                        <a:cs typeface="Times New Roman"/>
                      </a:endParaRPr>
                    </a:p>
                    <a:p>
                      <a:pPr marL="1905" algn="ctr">
                        <a:lnSpc>
                          <a:spcPct val="100000"/>
                        </a:lnSpc>
                      </a:pPr>
                      <a:r>
                        <a:rPr sz="900" spc="-5" dirty="0">
                          <a:latin typeface="Arial"/>
                          <a:cs typeface="Arial"/>
                        </a:rPr>
                        <a:t>SPI</a:t>
                      </a:r>
                      <a:r>
                        <a:rPr sz="900" spc="-35" dirty="0">
                          <a:latin typeface="Arial"/>
                          <a:cs typeface="Arial"/>
                        </a:rPr>
                        <a:t> </a:t>
                      </a:r>
                      <a:r>
                        <a:rPr sz="900" spc="-10" dirty="0">
                          <a:latin typeface="Arial"/>
                          <a:cs typeface="Arial"/>
                        </a:rPr>
                        <a:t>MOSI</a:t>
                      </a:r>
                      <a:endParaRPr sz="900" dirty="0">
                        <a:latin typeface="Arial"/>
                        <a:cs typeface="Arial"/>
                      </a:endParaRPr>
                    </a:p>
                  </a:txBody>
                  <a:tcPr marL="0" marR="0" marT="0" marB="0">
                    <a:lnL w="3175">
                      <a:solidFill>
                        <a:srgbClr val="000000"/>
                      </a:solidFill>
                      <a:prstDash val="solid"/>
                    </a:lnL>
                    <a:lnT w="3175">
                      <a:solidFill>
                        <a:srgbClr val="000000"/>
                      </a:solidFill>
                      <a:prstDash val="solid"/>
                    </a:lnT>
                    <a:lnB w="3175">
                      <a:solidFill>
                        <a:srgbClr val="000000"/>
                      </a:solidFill>
                      <a:prstDash val="solid"/>
                    </a:lnB>
                  </a:tcPr>
                </a:tc>
                <a:extLst>
                  <a:ext uri="{0D108BD9-81ED-4DB2-BD59-A6C34878D82A}">
                    <a16:rowId xmlns:a16="http://schemas.microsoft.com/office/drawing/2014/main" val="10003"/>
                  </a:ext>
                </a:extLst>
              </a:tr>
              <a:tr h="1107440">
                <a:tc>
                  <a:txBody>
                    <a:bodyPr/>
                    <a:lstStyle/>
                    <a:p>
                      <a:pPr>
                        <a:lnSpc>
                          <a:spcPct val="100000"/>
                        </a:lnSpc>
                      </a:pPr>
                      <a:endParaRPr sz="1000" dirty="0">
                        <a:latin typeface="Times New Roman"/>
                        <a:cs typeface="Times New Roman"/>
                      </a:endParaRPr>
                    </a:p>
                    <a:p>
                      <a:pPr>
                        <a:lnSpc>
                          <a:spcPct val="100000"/>
                        </a:lnSpc>
                      </a:pPr>
                      <a:endParaRPr sz="1000" dirty="0">
                        <a:latin typeface="Times New Roman"/>
                        <a:cs typeface="Times New Roman"/>
                      </a:endParaRPr>
                    </a:p>
                    <a:p>
                      <a:pPr>
                        <a:lnSpc>
                          <a:spcPct val="100000"/>
                        </a:lnSpc>
                        <a:spcBef>
                          <a:spcPts val="20"/>
                        </a:spcBef>
                      </a:pPr>
                      <a:endParaRPr sz="1300" dirty="0">
                        <a:latin typeface="Times New Roman"/>
                        <a:cs typeface="Times New Roman"/>
                      </a:endParaRPr>
                    </a:p>
                    <a:p>
                      <a:pPr algn="ctr">
                        <a:lnSpc>
                          <a:spcPct val="100000"/>
                        </a:lnSpc>
                      </a:pPr>
                      <a:r>
                        <a:rPr sz="900" spc="-5" dirty="0">
                          <a:latin typeface="Arial"/>
                          <a:cs typeface="Arial"/>
                        </a:rPr>
                        <a:t>VSYNC</a:t>
                      </a:r>
                      <a:endParaRPr sz="900" dirty="0">
                        <a:latin typeface="Arial"/>
                        <a:cs typeface="Arial"/>
                      </a:endParaRPr>
                    </a:p>
                  </a:txBody>
                  <a:tcPr marL="0" marR="0" marT="0" marB="0">
                    <a:lnL w="12700">
                      <a:solidFill>
                        <a:srgbClr val="FFFFFF"/>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nSpc>
                          <a:spcPct val="100000"/>
                        </a:lnSpc>
                      </a:pPr>
                      <a:endParaRPr sz="1000" dirty="0">
                        <a:latin typeface="Times New Roman"/>
                        <a:cs typeface="Times New Roman"/>
                      </a:endParaRPr>
                    </a:p>
                    <a:p>
                      <a:pPr>
                        <a:lnSpc>
                          <a:spcPct val="100000"/>
                        </a:lnSpc>
                      </a:pPr>
                      <a:endParaRPr sz="1000" dirty="0">
                        <a:latin typeface="Times New Roman"/>
                        <a:cs typeface="Times New Roman"/>
                      </a:endParaRPr>
                    </a:p>
                    <a:p>
                      <a:pPr>
                        <a:lnSpc>
                          <a:spcPct val="100000"/>
                        </a:lnSpc>
                        <a:spcBef>
                          <a:spcPts val="20"/>
                        </a:spcBef>
                      </a:pPr>
                      <a:endParaRPr sz="1300" dirty="0">
                        <a:latin typeface="Times New Roman"/>
                        <a:cs typeface="Times New Roman"/>
                      </a:endParaRPr>
                    </a:p>
                    <a:p>
                      <a:pPr algn="ctr">
                        <a:lnSpc>
                          <a:spcPct val="100000"/>
                        </a:lnSpc>
                      </a:pPr>
                      <a:r>
                        <a:rPr sz="900" dirty="0">
                          <a:latin typeface="Arial"/>
                          <a:cs typeface="Arial"/>
                        </a:rPr>
                        <a:t>I</a:t>
                      </a:r>
                    </a:p>
                  </a:txBody>
                  <a:tcPr marL="0" marR="0" marT="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nSpc>
                          <a:spcPct val="100000"/>
                        </a:lnSpc>
                      </a:pPr>
                      <a:endParaRPr sz="1000" dirty="0">
                        <a:latin typeface="Times New Roman"/>
                        <a:cs typeface="Times New Roman"/>
                      </a:endParaRPr>
                    </a:p>
                  </a:txBody>
                  <a:tcPr marL="0" marR="0" marT="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nSpc>
                          <a:spcPct val="100000"/>
                        </a:lnSpc>
                      </a:pPr>
                      <a:endParaRPr sz="1000" dirty="0">
                        <a:latin typeface="Times New Roman"/>
                        <a:cs typeface="Times New Roman"/>
                      </a:endParaRPr>
                    </a:p>
                    <a:p>
                      <a:pPr>
                        <a:lnSpc>
                          <a:spcPct val="100000"/>
                        </a:lnSpc>
                      </a:pPr>
                      <a:endParaRPr sz="1000" dirty="0">
                        <a:latin typeface="Times New Roman"/>
                        <a:cs typeface="Times New Roman"/>
                      </a:endParaRPr>
                    </a:p>
                    <a:p>
                      <a:pPr>
                        <a:lnSpc>
                          <a:spcPct val="100000"/>
                        </a:lnSpc>
                      </a:pPr>
                      <a:endParaRPr sz="1300" dirty="0">
                        <a:latin typeface="Times New Roman"/>
                        <a:cs typeface="Times New Roman"/>
                      </a:endParaRPr>
                    </a:p>
                    <a:p>
                      <a:pPr algn="ctr">
                        <a:lnSpc>
                          <a:spcPct val="100000"/>
                        </a:lnSpc>
                      </a:pPr>
                      <a:r>
                        <a:rPr sz="900" dirty="0">
                          <a:latin typeface="Arial"/>
                          <a:cs typeface="Arial"/>
                        </a:rPr>
                        <a:t>Frame</a:t>
                      </a:r>
                      <a:r>
                        <a:rPr sz="900" spc="-55" dirty="0">
                          <a:latin typeface="Arial"/>
                          <a:cs typeface="Arial"/>
                        </a:rPr>
                        <a:t> </a:t>
                      </a:r>
                      <a:r>
                        <a:rPr sz="900" spc="-5" dirty="0">
                          <a:latin typeface="Arial"/>
                          <a:cs typeface="Arial"/>
                        </a:rPr>
                        <a:t>Sync.</a:t>
                      </a:r>
                      <a:endParaRPr sz="900" dirty="0">
                        <a:latin typeface="Arial"/>
                        <a:cs typeface="Arial"/>
                      </a:endParaRPr>
                    </a:p>
                  </a:txBody>
                  <a:tcPr marL="0" marR="0" marT="0" marB="0">
                    <a:lnL w="3175">
                      <a:solidFill>
                        <a:srgbClr val="000000"/>
                      </a:solidFill>
                      <a:prstDash val="solid"/>
                    </a:lnL>
                    <a:lnT w="3175">
                      <a:solidFill>
                        <a:srgbClr val="000000"/>
                      </a:solidFill>
                      <a:prstDash val="solid"/>
                    </a:lnT>
                    <a:lnB w="3175">
                      <a:solidFill>
                        <a:srgbClr val="000000"/>
                      </a:solidFill>
                      <a:prstDash val="solid"/>
                    </a:lnB>
                  </a:tcPr>
                </a:tc>
                <a:extLst>
                  <a:ext uri="{0D108BD9-81ED-4DB2-BD59-A6C34878D82A}">
                    <a16:rowId xmlns:a16="http://schemas.microsoft.com/office/drawing/2014/main" val="10004"/>
                  </a:ext>
                </a:extLst>
              </a:tr>
              <a:tr h="1121410">
                <a:tc>
                  <a:txBody>
                    <a:bodyPr/>
                    <a:lstStyle/>
                    <a:p>
                      <a:pPr>
                        <a:lnSpc>
                          <a:spcPct val="100000"/>
                        </a:lnSpc>
                      </a:pPr>
                      <a:endParaRPr sz="1000" dirty="0">
                        <a:latin typeface="Times New Roman"/>
                        <a:cs typeface="Times New Roman"/>
                      </a:endParaRPr>
                    </a:p>
                    <a:p>
                      <a:pPr>
                        <a:lnSpc>
                          <a:spcPct val="100000"/>
                        </a:lnSpc>
                      </a:pPr>
                      <a:endParaRPr sz="1000" dirty="0">
                        <a:latin typeface="Times New Roman"/>
                        <a:cs typeface="Times New Roman"/>
                      </a:endParaRPr>
                    </a:p>
                    <a:p>
                      <a:pPr>
                        <a:lnSpc>
                          <a:spcPct val="100000"/>
                        </a:lnSpc>
                        <a:spcBef>
                          <a:spcPts val="15"/>
                        </a:spcBef>
                      </a:pPr>
                      <a:endParaRPr sz="1350" dirty="0">
                        <a:latin typeface="Times New Roman"/>
                        <a:cs typeface="Times New Roman"/>
                      </a:endParaRPr>
                    </a:p>
                    <a:p>
                      <a:pPr algn="ctr">
                        <a:lnSpc>
                          <a:spcPct val="100000"/>
                        </a:lnSpc>
                        <a:spcBef>
                          <a:spcPts val="5"/>
                        </a:spcBef>
                      </a:pPr>
                      <a:r>
                        <a:rPr sz="900" spc="-10" dirty="0">
                          <a:latin typeface="Arial"/>
                          <a:cs typeface="Arial"/>
                        </a:rPr>
                        <a:t>MCLK</a:t>
                      </a:r>
                      <a:endParaRPr sz="900" dirty="0">
                        <a:latin typeface="Arial"/>
                        <a:cs typeface="Arial"/>
                      </a:endParaRPr>
                    </a:p>
                  </a:txBody>
                  <a:tcPr marL="0" marR="0" marT="0" marB="0">
                    <a:lnL w="12700">
                      <a:solidFill>
                        <a:srgbClr val="FFFFFF"/>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nSpc>
                          <a:spcPct val="100000"/>
                        </a:lnSpc>
                      </a:pPr>
                      <a:endParaRPr sz="1000" dirty="0">
                        <a:latin typeface="Times New Roman"/>
                        <a:cs typeface="Times New Roman"/>
                      </a:endParaRPr>
                    </a:p>
                    <a:p>
                      <a:pPr>
                        <a:lnSpc>
                          <a:spcPct val="100000"/>
                        </a:lnSpc>
                      </a:pPr>
                      <a:endParaRPr sz="1000" dirty="0">
                        <a:latin typeface="Times New Roman"/>
                        <a:cs typeface="Times New Roman"/>
                      </a:endParaRPr>
                    </a:p>
                    <a:p>
                      <a:pPr>
                        <a:lnSpc>
                          <a:spcPct val="100000"/>
                        </a:lnSpc>
                        <a:spcBef>
                          <a:spcPts val="15"/>
                        </a:spcBef>
                      </a:pPr>
                      <a:endParaRPr sz="1350" dirty="0">
                        <a:latin typeface="Times New Roman"/>
                        <a:cs typeface="Times New Roman"/>
                      </a:endParaRPr>
                    </a:p>
                    <a:p>
                      <a:pPr algn="ctr">
                        <a:lnSpc>
                          <a:spcPct val="100000"/>
                        </a:lnSpc>
                        <a:spcBef>
                          <a:spcPts val="5"/>
                        </a:spcBef>
                      </a:pPr>
                      <a:r>
                        <a:rPr sz="900" dirty="0">
                          <a:latin typeface="Arial"/>
                          <a:cs typeface="Arial"/>
                        </a:rPr>
                        <a:t>I</a:t>
                      </a:r>
                    </a:p>
                  </a:txBody>
                  <a:tcPr marL="0" marR="0" marT="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nSpc>
                          <a:spcPct val="100000"/>
                        </a:lnSpc>
                      </a:pPr>
                      <a:endParaRPr sz="1000" dirty="0">
                        <a:latin typeface="Times New Roman"/>
                        <a:cs typeface="Times New Roman"/>
                      </a:endParaRPr>
                    </a:p>
                  </a:txBody>
                  <a:tcPr marL="0" marR="0" marT="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nSpc>
                          <a:spcPct val="100000"/>
                        </a:lnSpc>
                      </a:pPr>
                      <a:endParaRPr sz="1000" dirty="0">
                        <a:latin typeface="Times New Roman"/>
                        <a:cs typeface="Times New Roman"/>
                      </a:endParaRPr>
                    </a:p>
                    <a:p>
                      <a:pPr>
                        <a:lnSpc>
                          <a:spcPct val="100000"/>
                        </a:lnSpc>
                      </a:pPr>
                      <a:endParaRPr sz="1000" dirty="0">
                        <a:latin typeface="Times New Roman"/>
                        <a:cs typeface="Times New Roman"/>
                      </a:endParaRPr>
                    </a:p>
                    <a:p>
                      <a:pPr>
                        <a:lnSpc>
                          <a:spcPct val="100000"/>
                        </a:lnSpc>
                        <a:spcBef>
                          <a:spcPts val="55"/>
                        </a:spcBef>
                      </a:pPr>
                      <a:endParaRPr sz="1300" dirty="0">
                        <a:latin typeface="Times New Roman"/>
                        <a:cs typeface="Times New Roman"/>
                      </a:endParaRPr>
                    </a:p>
                    <a:p>
                      <a:pPr algn="ctr">
                        <a:lnSpc>
                          <a:spcPct val="100000"/>
                        </a:lnSpc>
                      </a:pPr>
                      <a:r>
                        <a:rPr sz="900" spc="-5" dirty="0">
                          <a:latin typeface="Arial"/>
                          <a:cs typeface="Arial"/>
                        </a:rPr>
                        <a:t>Mater</a:t>
                      </a:r>
                      <a:r>
                        <a:rPr sz="900" spc="-45" dirty="0">
                          <a:latin typeface="Arial"/>
                          <a:cs typeface="Arial"/>
                        </a:rPr>
                        <a:t> </a:t>
                      </a:r>
                      <a:r>
                        <a:rPr sz="900" dirty="0">
                          <a:latin typeface="Arial"/>
                          <a:cs typeface="Arial"/>
                        </a:rPr>
                        <a:t>Clock</a:t>
                      </a:r>
                    </a:p>
                  </a:txBody>
                  <a:tcPr marL="0" marR="0" marT="0" marB="0">
                    <a:lnL w="3175">
                      <a:solidFill>
                        <a:srgbClr val="000000"/>
                      </a:solidFill>
                      <a:prstDash val="solid"/>
                    </a:lnL>
                    <a:lnT w="3175">
                      <a:solidFill>
                        <a:srgbClr val="000000"/>
                      </a:solidFill>
                      <a:prstDash val="solid"/>
                    </a:lnT>
                    <a:lnB w="3175">
                      <a:solidFill>
                        <a:srgbClr val="000000"/>
                      </a:solidFill>
                      <a:prstDash val="solid"/>
                    </a:lnB>
                  </a:tcPr>
                </a:tc>
                <a:extLst>
                  <a:ext uri="{0D108BD9-81ED-4DB2-BD59-A6C34878D82A}">
                    <a16:rowId xmlns:a16="http://schemas.microsoft.com/office/drawing/2014/main" val="10005"/>
                  </a:ext>
                </a:extLst>
              </a:tr>
              <a:tr h="1148080">
                <a:tc>
                  <a:txBody>
                    <a:bodyPr/>
                    <a:lstStyle/>
                    <a:p>
                      <a:pPr>
                        <a:lnSpc>
                          <a:spcPct val="100000"/>
                        </a:lnSpc>
                      </a:pPr>
                      <a:endParaRPr sz="1000" dirty="0">
                        <a:latin typeface="Times New Roman"/>
                        <a:cs typeface="Times New Roman"/>
                      </a:endParaRPr>
                    </a:p>
                    <a:p>
                      <a:pPr>
                        <a:lnSpc>
                          <a:spcPct val="100000"/>
                        </a:lnSpc>
                      </a:pPr>
                      <a:endParaRPr sz="1000" dirty="0">
                        <a:latin typeface="Times New Roman"/>
                        <a:cs typeface="Times New Roman"/>
                      </a:endParaRPr>
                    </a:p>
                    <a:p>
                      <a:pPr>
                        <a:lnSpc>
                          <a:spcPct val="100000"/>
                        </a:lnSpc>
                        <a:spcBef>
                          <a:spcPts val="10"/>
                        </a:spcBef>
                      </a:pPr>
                      <a:endParaRPr sz="1450" dirty="0">
                        <a:latin typeface="Times New Roman"/>
                        <a:cs typeface="Times New Roman"/>
                      </a:endParaRPr>
                    </a:p>
                    <a:p>
                      <a:pPr marL="1270" algn="ctr">
                        <a:lnSpc>
                          <a:spcPct val="100000"/>
                        </a:lnSpc>
                      </a:pPr>
                      <a:r>
                        <a:rPr sz="900" dirty="0">
                          <a:latin typeface="Arial"/>
                          <a:cs typeface="Arial"/>
                        </a:rPr>
                        <a:t>SCLKO</a:t>
                      </a:r>
                    </a:p>
                  </a:txBody>
                  <a:tcPr marL="0" marR="0" marT="0" marB="0">
                    <a:lnL w="12700">
                      <a:solidFill>
                        <a:srgbClr val="FFFFFF"/>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nSpc>
                          <a:spcPct val="100000"/>
                        </a:lnSpc>
                      </a:pPr>
                      <a:endParaRPr sz="1000" dirty="0">
                        <a:latin typeface="Times New Roman"/>
                        <a:cs typeface="Times New Roman"/>
                      </a:endParaRPr>
                    </a:p>
                    <a:p>
                      <a:pPr>
                        <a:lnSpc>
                          <a:spcPct val="100000"/>
                        </a:lnSpc>
                      </a:pPr>
                      <a:endParaRPr sz="1000" dirty="0">
                        <a:latin typeface="Times New Roman"/>
                        <a:cs typeface="Times New Roman"/>
                      </a:endParaRPr>
                    </a:p>
                    <a:p>
                      <a:pPr>
                        <a:lnSpc>
                          <a:spcPct val="100000"/>
                        </a:lnSpc>
                        <a:spcBef>
                          <a:spcPts val="10"/>
                        </a:spcBef>
                      </a:pPr>
                      <a:endParaRPr sz="1450" dirty="0">
                        <a:latin typeface="Times New Roman"/>
                        <a:cs typeface="Times New Roman"/>
                      </a:endParaRPr>
                    </a:p>
                    <a:p>
                      <a:pPr algn="ctr">
                        <a:lnSpc>
                          <a:spcPct val="100000"/>
                        </a:lnSpc>
                      </a:pPr>
                      <a:r>
                        <a:rPr sz="900" dirty="0">
                          <a:latin typeface="Arial"/>
                          <a:cs typeface="Arial"/>
                        </a:rPr>
                        <a:t>O</a:t>
                      </a:r>
                    </a:p>
                  </a:txBody>
                  <a:tcPr marL="0" marR="0" marT="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nSpc>
                          <a:spcPct val="100000"/>
                        </a:lnSpc>
                      </a:pPr>
                      <a:endParaRPr sz="1000" dirty="0">
                        <a:latin typeface="Times New Roman"/>
                        <a:cs typeface="Times New Roman"/>
                      </a:endParaRPr>
                    </a:p>
                  </a:txBody>
                  <a:tcPr marL="0" marR="0" marT="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nSpc>
                          <a:spcPct val="100000"/>
                        </a:lnSpc>
                      </a:pPr>
                      <a:endParaRPr sz="1000" dirty="0">
                        <a:latin typeface="Times New Roman"/>
                        <a:cs typeface="Times New Roman"/>
                      </a:endParaRPr>
                    </a:p>
                    <a:p>
                      <a:pPr>
                        <a:lnSpc>
                          <a:spcPct val="100000"/>
                        </a:lnSpc>
                      </a:pPr>
                      <a:endParaRPr sz="1000" dirty="0">
                        <a:latin typeface="Times New Roman"/>
                        <a:cs typeface="Times New Roman"/>
                      </a:endParaRPr>
                    </a:p>
                    <a:p>
                      <a:pPr>
                        <a:lnSpc>
                          <a:spcPct val="100000"/>
                        </a:lnSpc>
                        <a:spcBef>
                          <a:spcPts val="45"/>
                        </a:spcBef>
                      </a:pPr>
                      <a:endParaRPr sz="1400" dirty="0">
                        <a:latin typeface="Times New Roman"/>
                        <a:cs typeface="Times New Roman"/>
                      </a:endParaRPr>
                    </a:p>
                    <a:p>
                      <a:pPr marL="1905" algn="ctr">
                        <a:lnSpc>
                          <a:spcPct val="100000"/>
                        </a:lnSpc>
                        <a:spcBef>
                          <a:spcPts val="5"/>
                        </a:spcBef>
                      </a:pPr>
                      <a:r>
                        <a:rPr sz="900" dirty="0">
                          <a:latin typeface="Arial"/>
                          <a:cs typeface="Arial"/>
                        </a:rPr>
                        <a:t>SPI</a:t>
                      </a:r>
                      <a:r>
                        <a:rPr sz="900" spc="-20" dirty="0">
                          <a:latin typeface="Arial"/>
                          <a:cs typeface="Arial"/>
                        </a:rPr>
                        <a:t> </a:t>
                      </a:r>
                      <a:r>
                        <a:rPr sz="900" dirty="0">
                          <a:latin typeface="Arial"/>
                          <a:cs typeface="Arial"/>
                        </a:rPr>
                        <a:t>Daisy</a:t>
                      </a:r>
                      <a:r>
                        <a:rPr sz="900" spc="-35" dirty="0">
                          <a:latin typeface="Arial"/>
                          <a:cs typeface="Arial"/>
                        </a:rPr>
                        <a:t> </a:t>
                      </a:r>
                      <a:r>
                        <a:rPr sz="900" dirty="0">
                          <a:latin typeface="Arial"/>
                          <a:cs typeface="Arial"/>
                        </a:rPr>
                        <a:t>Clock</a:t>
                      </a:r>
                      <a:r>
                        <a:rPr sz="900" spc="-40" dirty="0">
                          <a:latin typeface="Arial"/>
                          <a:cs typeface="Arial"/>
                        </a:rPr>
                        <a:t> </a:t>
                      </a:r>
                      <a:r>
                        <a:rPr sz="900" dirty="0">
                          <a:latin typeface="Arial"/>
                          <a:cs typeface="Arial"/>
                        </a:rPr>
                        <a:t>Out</a:t>
                      </a:r>
                    </a:p>
                  </a:txBody>
                  <a:tcPr marL="0" marR="0" marT="0" marB="0">
                    <a:lnL w="3175">
                      <a:solidFill>
                        <a:srgbClr val="000000"/>
                      </a:solidFill>
                      <a:prstDash val="solid"/>
                    </a:lnL>
                    <a:lnT w="3175">
                      <a:solidFill>
                        <a:srgbClr val="000000"/>
                      </a:solidFill>
                      <a:prstDash val="solid"/>
                    </a:lnT>
                    <a:lnB w="3175">
                      <a:solidFill>
                        <a:srgbClr val="000000"/>
                      </a:solidFill>
                      <a:prstDash val="solid"/>
                    </a:lnB>
                  </a:tcPr>
                </a:tc>
                <a:extLst>
                  <a:ext uri="{0D108BD9-81ED-4DB2-BD59-A6C34878D82A}">
                    <a16:rowId xmlns:a16="http://schemas.microsoft.com/office/drawing/2014/main" val="10006"/>
                  </a:ext>
                </a:extLst>
              </a:tr>
              <a:tr h="1075055">
                <a:tc>
                  <a:txBody>
                    <a:bodyPr/>
                    <a:lstStyle/>
                    <a:p>
                      <a:pPr>
                        <a:lnSpc>
                          <a:spcPct val="100000"/>
                        </a:lnSpc>
                      </a:pPr>
                      <a:endParaRPr sz="1000" dirty="0">
                        <a:latin typeface="Times New Roman"/>
                        <a:cs typeface="Times New Roman"/>
                      </a:endParaRPr>
                    </a:p>
                    <a:p>
                      <a:pPr>
                        <a:lnSpc>
                          <a:spcPct val="100000"/>
                        </a:lnSpc>
                      </a:pPr>
                      <a:endParaRPr sz="1000" dirty="0">
                        <a:latin typeface="Times New Roman"/>
                        <a:cs typeface="Times New Roman"/>
                      </a:endParaRPr>
                    </a:p>
                    <a:p>
                      <a:pPr>
                        <a:lnSpc>
                          <a:spcPct val="100000"/>
                        </a:lnSpc>
                        <a:spcBef>
                          <a:spcPts val="10"/>
                        </a:spcBef>
                      </a:pPr>
                      <a:endParaRPr sz="1200" dirty="0">
                        <a:latin typeface="Times New Roman"/>
                        <a:cs typeface="Times New Roman"/>
                      </a:endParaRPr>
                    </a:p>
                    <a:p>
                      <a:pPr marL="1270" algn="ctr">
                        <a:lnSpc>
                          <a:spcPct val="100000"/>
                        </a:lnSpc>
                      </a:pPr>
                      <a:r>
                        <a:rPr sz="900" dirty="0">
                          <a:latin typeface="Arial"/>
                          <a:cs typeface="Arial"/>
                        </a:rPr>
                        <a:t>SDO</a:t>
                      </a:r>
                    </a:p>
                  </a:txBody>
                  <a:tcPr marL="0" marR="0" marT="0" marB="0">
                    <a:lnL w="12700">
                      <a:solidFill>
                        <a:srgbClr val="FFFFFF"/>
                      </a:solidFill>
                      <a:prstDash val="solid"/>
                    </a:lnL>
                    <a:lnR w="3175">
                      <a:solidFill>
                        <a:srgbClr val="000000"/>
                      </a:solidFill>
                      <a:prstDash val="solid"/>
                    </a:lnR>
                    <a:lnT w="3175">
                      <a:solidFill>
                        <a:srgbClr val="000000"/>
                      </a:solidFill>
                      <a:prstDash val="solid"/>
                    </a:lnT>
                    <a:lnB w="12700">
                      <a:solidFill>
                        <a:srgbClr val="000000"/>
                      </a:solidFill>
                      <a:prstDash val="solid"/>
                    </a:lnB>
                  </a:tcPr>
                </a:tc>
                <a:tc>
                  <a:txBody>
                    <a:bodyPr/>
                    <a:lstStyle/>
                    <a:p>
                      <a:pPr>
                        <a:lnSpc>
                          <a:spcPct val="100000"/>
                        </a:lnSpc>
                      </a:pPr>
                      <a:endParaRPr sz="1000" dirty="0">
                        <a:latin typeface="Times New Roman"/>
                        <a:cs typeface="Times New Roman"/>
                      </a:endParaRPr>
                    </a:p>
                    <a:p>
                      <a:pPr>
                        <a:lnSpc>
                          <a:spcPct val="100000"/>
                        </a:lnSpc>
                      </a:pPr>
                      <a:endParaRPr sz="1000" dirty="0">
                        <a:latin typeface="Times New Roman"/>
                        <a:cs typeface="Times New Roman"/>
                      </a:endParaRPr>
                    </a:p>
                    <a:p>
                      <a:pPr>
                        <a:lnSpc>
                          <a:spcPct val="100000"/>
                        </a:lnSpc>
                        <a:spcBef>
                          <a:spcPts val="10"/>
                        </a:spcBef>
                      </a:pPr>
                      <a:endParaRPr sz="1200" dirty="0">
                        <a:latin typeface="Times New Roman"/>
                        <a:cs typeface="Times New Roman"/>
                      </a:endParaRPr>
                    </a:p>
                    <a:p>
                      <a:pPr algn="ctr">
                        <a:lnSpc>
                          <a:spcPct val="100000"/>
                        </a:lnSpc>
                      </a:pPr>
                      <a:r>
                        <a:rPr sz="900" dirty="0">
                          <a:latin typeface="Arial"/>
                          <a:cs typeface="Arial"/>
                        </a:rPr>
                        <a:t>O</a:t>
                      </a:r>
                    </a:p>
                  </a:txBody>
                  <a:tcPr marL="0" marR="0" marT="0" marB="0">
                    <a:lnL w="3175">
                      <a:solidFill>
                        <a:srgbClr val="000000"/>
                      </a:solidFill>
                      <a:prstDash val="solid"/>
                    </a:lnL>
                    <a:lnR w="3175">
                      <a:solidFill>
                        <a:srgbClr val="000000"/>
                      </a:solidFill>
                      <a:prstDash val="solid"/>
                    </a:lnR>
                    <a:lnT w="3175">
                      <a:solidFill>
                        <a:srgbClr val="000000"/>
                      </a:solidFill>
                      <a:prstDash val="solid"/>
                    </a:lnT>
                    <a:lnB w="12700">
                      <a:solidFill>
                        <a:srgbClr val="000000"/>
                      </a:solidFill>
                      <a:prstDash val="solid"/>
                    </a:lnB>
                  </a:tcPr>
                </a:tc>
                <a:tc>
                  <a:txBody>
                    <a:bodyPr/>
                    <a:lstStyle/>
                    <a:p>
                      <a:pPr>
                        <a:lnSpc>
                          <a:spcPct val="100000"/>
                        </a:lnSpc>
                      </a:pPr>
                      <a:endParaRPr sz="1000" dirty="0">
                        <a:latin typeface="Times New Roman"/>
                        <a:cs typeface="Times New Roman"/>
                      </a:endParaRPr>
                    </a:p>
                  </a:txBody>
                  <a:tcPr marL="0" marR="0" marT="0" marB="0">
                    <a:lnL w="3175">
                      <a:solidFill>
                        <a:srgbClr val="000000"/>
                      </a:solidFill>
                      <a:prstDash val="solid"/>
                    </a:lnL>
                    <a:lnR w="3175">
                      <a:solidFill>
                        <a:srgbClr val="000000"/>
                      </a:solidFill>
                      <a:prstDash val="solid"/>
                    </a:lnR>
                    <a:lnT w="3175">
                      <a:solidFill>
                        <a:srgbClr val="000000"/>
                      </a:solidFill>
                      <a:prstDash val="solid"/>
                    </a:lnT>
                    <a:lnB w="12700">
                      <a:solidFill>
                        <a:srgbClr val="000000"/>
                      </a:solidFill>
                      <a:prstDash val="solid"/>
                    </a:lnB>
                  </a:tcPr>
                </a:tc>
                <a:tc>
                  <a:txBody>
                    <a:bodyPr/>
                    <a:lstStyle/>
                    <a:p>
                      <a:pPr>
                        <a:lnSpc>
                          <a:spcPct val="100000"/>
                        </a:lnSpc>
                      </a:pPr>
                      <a:endParaRPr sz="1000" dirty="0">
                        <a:latin typeface="Times New Roman"/>
                        <a:cs typeface="Times New Roman"/>
                      </a:endParaRPr>
                    </a:p>
                    <a:p>
                      <a:pPr>
                        <a:lnSpc>
                          <a:spcPct val="100000"/>
                        </a:lnSpc>
                      </a:pPr>
                      <a:endParaRPr sz="1000" dirty="0">
                        <a:latin typeface="Times New Roman"/>
                        <a:cs typeface="Times New Roman"/>
                      </a:endParaRPr>
                    </a:p>
                    <a:p>
                      <a:pPr>
                        <a:lnSpc>
                          <a:spcPct val="100000"/>
                        </a:lnSpc>
                        <a:spcBef>
                          <a:spcPts val="45"/>
                        </a:spcBef>
                      </a:pPr>
                      <a:endParaRPr sz="1150" dirty="0">
                        <a:latin typeface="Times New Roman"/>
                        <a:cs typeface="Times New Roman"/>
                      </a:endParaRPr>
                    </a:p>
                    <a:p>
                      <a:pPr marL="1270" algn="ctr">
                        <a:lnSpc>
                          <a:spcPct val="100000"/>
                        </a:lnSpc>
                        <a:spcBef>
                          <a:spcPts val="5"/>
                        </a:spcBef>
                      </a:pPr>
                      <a:r>
                        <a:rPr sz="900" dirty="0">
                          <a:latin typeface="Arial"/>
                          <a:cs typeface="Arial"/>
                        </a:rPr>
                        <a:t>SPI</a:t>
                      </a:r>
                      <a:r>
                        <a:rPr sz="900" spc="-20" dirty="0">
                          <a:latin typeface="Arial"/>
                          <a:cs typeface="Arial"/>
                        </a:rPr>
                        <a:t> </a:t>
                      </a:r>
                      <a:r>
                        <a:rPr sz="900" dirty="0">
                          <a:latin typeface="Arial"/>
                          <a:cs typeface="Arial"/>
                        </a:rPr>
                        <a:t>Daisy</a:t>
                      </a:r>
                      <a:r>
                        <a:rPr sz="900" spc="-40" dirty="0">
                          <a:latin typeface="Arial"/>
                          <a:cs typeface="Arial"/>
                        </a:rPr>
                        <a:t> </a:t>
                      </a:r>
                      <a:r>
                        <a:rPr sz="900" dirty="0">
                          <a:latin typeface="Arial"/>
                          <a:cs typeface="Arial"/>
                        </a:rPr>
                        <a:t>Data</a:t>
                      </a:r>
                      <a:r>
                        <a:rPr sz="900" spc="-30" dirty="0">
                          <a:latin typeface="Arial"/>
                          <a:cs typeface="Arial"/>
                        </a:rPr>
                        <a:t> </a:t>
                      </a:r>
                      <a:r>
                        <a:rPr sz="900" spc="-5" dirty="0">
                          <a:latin typeface="Arial"/>
                          <a:cs typeface="Arial"/>
                        </a:rPr>
                        <a:t>Out</a:t>
                      </a:r>
                      <a:endParaRPr sz="900" dirty="0">
                        <a:latin typeface="Arial"/>
                        <a:cs typeface="Arial"/>
                      </a:endParaRPr>
                    </a:p>
                  </a:txBody>
                  <a:tcPr marL="0" marR="0" marT="0" marB="0">
                    <a:lnL w="3175">
                      <a:solidFill>
                        <a:srgbClr val="000000"/>
                      </a:solidFill>
                      <a:prstDash val="solid"/>
                    </a:lnL>
                    <a:lnT w="3175">
                      <a:solidFill>
                        <a:srgbClr val="000000"/>
                      </a:solidFill>
                      <a:prstDash val="solid"/>
                    </a:lnT>
                    <a:lnB w="12700">
                      <a:solidFill>
                        <a:srgbClr val="000000"/>
                      </a:solidFill>
                      <a:prstDash val="solid"/>
                    </a:lnB>
                  </a:tcPr>
                </a:tc>
                <a:extLst>
                  <a:ext uri="{0D108BD9-81ED-4DB2-BD59-A6C34878D82A}">
                    <a16:rowId xmlns:a16="http://schemas.microsoft.com/office/drawing/2014/main" val="10007"/>
                  </a:ext>
                </a:extLst>
              </a:tr>
            </a:tbl>
          </a:graphicData>
        </a:graphic>
      </p:graphicFrame>
      <p:pic>
        <p:nvPicPr>
          <p:cNvPr id="4" name="object 4"/>
          <p:cNvPicPr/>
          <p:nvPr/>
        </p:nvPicPr>
        <p:blipFill>
          <a:blip r:embed="rId2" cstate="print"/>
          <a:stretch>
            <a:fillRect/>
          </a:stretch>
        </p:blipFill>
        <p:spPr>
          <a:xfrm>
            <a:off x="2741886" y="1516701"/>
            <a:ext cx="1181991" cy="942713"/>
          </a:xfrm>
          <a:prstGeom prst="rect">
            <a:avLst/>
          </a:prstGeom>
        </p:spPr>
      </p:pic>
      <p:pic>
        <p:nvPicPr>
          <p:cNvPr id="5" name="object 5"/>
          <p:cNvPicPr/>
          <p:nvPr/>
        </p:nvPicPr>
        <p:blipFill>
          <a:blip r:embed="rId3" cstate="print"/>
          <a:stretch>
            <a:fillRect/>
          </a:stretch>
        </p:blipFill>
        <p:spPr>
          <a:xfrm>
            <a:off x="2726435" y="2535935"/>
            <a:ext cx="1228343" cy="989075"/>
          </a:xfrm>
          <a:prstGeom prst="rect">
            <a:avLst/>
          </a:prstGeom>
        </p:spPr>
      </p:pic>
      <p:pic>
        <p:nvPicPr>
          <p:cNvPr id="6" name="object 6"/>
          <p:cNvPicPr/>
          <p:nvPr/>
        </p:nvPicPr>
        <p:blipFill>
          <a:blip r:embed="rId2" cstate="print"/>
          <a:stretch>
            <a:fillRect/>
          </a:stretch>
        </p:blipFill>
        <p:spPr>
          <a:xfrm>
            <a:off x="2741886" y="3601533"/>
            <a:ext cx="1181991" cy="942713"/>
          </a:xfrm>
          <a:prstGeom prst="rect">
            <a:avLst/>
          </a:prstGeom>
        </p:spPr>
      </p:pic>
      <p:sp>
        <p:nvSpPr>
          <p:cNvPr id="9" name="object 9"/>
          <p:cNvSpPr txBox="1"/>
          <p:nvPr/>
        </p:nvSpPr>
        <p:spPr>
          <a:xfrm>
            <a:off x="400913" y="301879"/>
            <a:ext cx="622935" cy="299720"/>
          </a:xfrm>
          <a:prstGeom prst="rect">
            <a:avLst/>
          </a:prstGeom>
        </p:spPr>
        <p:txBody>
          <a:bodyPr vert="horz" wrap="square" lIns="0" tIns="12700" rIns="0" bIns="0" rtlCol="0">
            <a:spAutoFit/>
          </a:bodyPr>
          <a:lstStyle/>
          <a:p>
            <a:pPr marL="12700">
              <a:lnSpc>
                <a:spcPct val="100000"/>
              </a:lnSpc>
              <a:spcBef>
                <a:spcPts val="100"/>
              </a:spcBef>
            </a:pPr>
            <a:r>
              <a:rPr sz="1800" b="1" spc="-5" dirty="0">
                <a:latin typeface="Arial"/>
                <a:cs typeface="Arial"/>
              </a:rPr>
              <a:t>CQ24</a:t>
            </a:r>
            <a:endParaRPr sz="1800" dirty="0">
              <a:latin typeface="Arial"/>
              <a:cs typeface="Arial"/>
            </a:endParaRPr>
          </a:p>
        </p:txBody>
      </p:sp>
      <p:pic>
        <p:nvPicPr>
          <p:cNvPr id="10" name="object 10"/>
          <p:cNvPicPr/>
          <p:nvPr/>
        </p:nvPicPr>
        <p:blipFill>
          <a:blip r:embed="rId2" cstate="print"/>
          <a:stretch>
            <a:fillRect/>
          </a:stretch>
        </p:blipFill>
        <p:spPr>
          <a:xfrm>
            <a:off x="2741886" y="4680525"/>
            <a:ext cx="1181991" cy="942713"/>
          </a:xfrm>
          <a:prstGeom prst="rect">
            <a:avLst/>
          </a:prstGeom>
        </p:spPr>
      </p:pic>
      <p:pic>
        <p:nvPicPr>
          <p:cNvPr id="11" name="object 11"/>
          <p:cNvPicPr/>
          <p:nvPr/>
        </p:nvPicPr>
        <p:blipFill>
          <a:blip r:embed="rId2" cstate="print"/>
          <a:stretch>
            <a:fillRect/>
          </a:stretch>
        </p:blipFill>
        <p:spPr>
          <a:xfrm>
            <a:off x="2741886" y="5783901"/>
            <a:ext cx="1181991" cy="942713"/>
          </a:xfrm>
          <a:prstGeom prst="rect">
            <a:avLst/>
          </a:prstGeom>
        </p:spPr>
      </p:pic>
      <p:pic>
        <p:nvPicPr>
          <p:cNvPr id="12" name="object 12"/>
          <p:cNvPicPr/>
          <p:nvPr/>
        </p:nvPicPr>
        <p:blipFill>
          <a:blip r:embed="rId4" cstate="print"/>
          <a:stretch>
            <a:fillRect/>
          </a:stretch>
        </p:blipFill>
        <p:spPr>
          <a:xfrm>
            <a:off x="2662427" y="6928192"/>
            <a:ext cx="950976" cy="918817"/>
          </a:xfrm>
          <a:prstGeom prst="rect">
            <a:avLst/>
          </a:prstGeom>
        </p:spPr>
      </p:pic>
      <p:pic>
        <p:nvPicPr>
          <p:cNvPr id="13" name="object 13"/>
          <p:cNvPicPr/>
          <p:nvPr/>
        </p:nvPicPr>
        <p:blipFill>
          <a:blip r:embed="rId4" cstate="print"/>
          <a:stretch>
            <a:fillRect/>
          </a:stretch>
        </p:blipFill>
        <p:spPr>
          <a:xfrm>
            <a:off x="2680716" y="8054399"/>
            <a:ext cx="950976" cy="917344"/>
          </a:xfrm>
          <a:prstGeom prst="rect">
            <a:avLst/>
          </a:prstGeom>
        </p:spPr>
      </p:pic>
      <p:sp>
        <p:nvSpPr>
          <p:cNvPr id="18" name="TextBox 17">
            <a:extLst>
              <a:ext uri="{FF2B5EF4-FFF2-40B4-BE49-F238E27FC236}">
                <a16:creationId xmlns:a16="http://schemas.microsoft.com/office/drawing/2014/main" id="{CCB22AB0-B5B8-1C88-7403-E74858F8CB4F}"/>
              </a:ext>
            </a:extLst>
          </p:cNvPr>
          <p:cNvSpPr txBox="1"/>
          <p:nvPr/>
        </p:nvSpPr>
        <p:spPr>
          <a:xfrm>
            <a:off x="2990088" y="1496568"/>
            <a:ext cx="220144" cy="107722"/>
          </a:xfrm>
          <a:prstGeom prst="rect">
            <a:avLst/>
          </a:prstGeom>
          <a:solidFill>
            <a:schemeClr val="bg1"/>
          </a:solidFill>
        </p:spPr>
        <p:txBody>
          <a:bodyPr wrap="square" lIns="0" tIns="0" rIns="0" bIns="0" rtlCol="0">
            <a:spAutoFit/>
          </a:bodyPr>
          <a:lstStyle/>
          <a:p>
            <a:r>
              <a:rPr lang="en-US" altLang="ko-KR" sz="700" dirty="0"/>
              <a:t>VDDD</a:t>
            </a:r>
            <a:endParaRPr lang="ko-KR" altLang="en-US" sz="500" dirty="0"/>
          </a:p>
        </p:txBody>
      </p:sp>
      <p:sp>
        <p:nvSpPr>
          <p:cNvPr id="19" name="TextBox 18">
            <a:extLst>
              <a:ext uri="{FF2B5EF4-FFF2-40B4-BE49-F238E27FC236}">
                <a16:creationId xmlns:a16="http://schemas.microsoft.com/office/drawing/2014/main" id="{9A823604-9963-0E0B-DB74-B5B490998118}"/>
              </a:ext>
            </a:extLst>
          </p:cNvPr>
          <p:cNvSpPr txBox="1"/>
          <p:nvPr/>
        </p:nvSpPr>
        <p:spPr>
          <a:xfrm>
            <a:off x="2990088" y="2541832"/>
            <a:ext cx="220144" cy="107722"/>
          </a:xfrm>
          <a:prstGeom prst="rect">
            <a:avLst/>
          </a:prstGeom>
          <a:solidFill>
            <a:schemeClr val="bg1"/>
          </a:solidFill>
        </p:spPr>
        <p:txBody>
          <a:bodyPr wrap="square" lIns="0" tIns="0" rIns="0" bIns="0" rtlCol="0">
            <a:spAutoFit/>
          </a:bodyPr>
          <a:lstStyle/>
          <a:p>
            <a:r>
              <a:rPr lang="en-US" altLang="ko-KR" sz="700" dirty="0"/>
              <a:t>VDDD</a:t>
            </a:r>
            <a:endParaRPr lang="ko-KR" altLang="en-US" sz="500" dirty="0"/>
          </a:p>
        </p:txBody>
      </p:sp>
      <p:sp>
        <p:nvSpPr>
          <p:cNvPr id="20" name="TextBox 19">
            <a:extLst>
              <a:ext uri="{FF2B5EF4-FFF2-40B4-BE49-F238E27FC236}">
                <a16:creationId xmlns:a16="http://schemas.microsoft.com/office/drawing/2014/main" id="{ACDD758F-0FDF-41FE-00E4-AA0E4F9CF93B}"/>
              </a:ext>
            </a:extLst>
          </p:cNvPr>
          <p:cNvSpPr txBox="1"/>
          <p:nvPr/>
        </p:nvSpPr>
        <p:spPr>
          <a:xfrm>
            <a:off x="2990088" y="3602913"/>
            <a:ext cx="220144" cy="107722"/>
          </a:xfrm>
          <a:prstGeom prst="rect">
            <a:avLst/>
          </a:prstGeom>
          <a:solidFill>
            <a:schemeClr val="bg1"/>
          </a:solidFill>
        </p:spPr>
        <p:txBody>
          <a:bodyPr wrap="square" lIns="0" tIns="0" rIns="0" bIns="0" rtlCol="0">
            <a:spAutoFit/>
          </a:bodyPr>
          <a:lstStyle/>
          <a:p>
            <a:r>
              <a:rPr lang="en-US" altLang="ko-KR" sz="700" dirty="0"/>
              <a:t>VDDD</a:t>
            </a:r>
            <a:endParaRPr lang="ko-KR" altLang="en-US" sz="500" dirty="0"/>
          </a:p>
        </p:txBody>
      </p:sp>
      <p:sp>
        <p:nvSpPr>
          <p:cNvPr id="21" name="TextBox 20">
            <a:extLst>
              <a:ext uri="{FF2B5EF4-FFF2-40B4-BE49-F238E27FC236}">
                <a16:creationId xmlns:a16="http://schemas.microsoft.com/office/drawing/2014/main" id="{A246A29F-5530-037D-0D3C-DEF8B0B2C946}"/>
              </a:ext>
            </a:extLst>
          </p:cNvPr>
          <p:cNvSpPr txBox="1"/>
          <p:nvPr/>
        </p:nvSpPr>
        <p:spPr>
          <a:xfrm>
            <a:off x="2990088" y="4655555"/>
            <a:ext cx="220144" cy="107722"/>
          </a:xfrm>
          <a:prstGeom prst="rect">
            <a:avLst/>
          </a:prstGeom>
          <a:solidFill>
            <a:schemeClr val="bg1"/>
          </a:solidFill>
        </p:spPr>
        <p:txBody>
          <a:bodyPr wrap="square" lIns="0" tIns="0" rIns="0" bIns="0" rtlCol="0">
            <a:spAutoFit/>
          </a:bodyPr>
          <a:lstStyle/>
          <a:p>
            <a:r>
              <a:rPr lang="en-US" altLang="ko-KR" sz="700" dirty="0"/>
              <a:t>VDDD</a:t>
            </a:r>
            <a:endParaRPr lang="ko-KR" altLang="en-US" sz="500" dirty="0"/>
          </a:p>
        </p:txBody>
      </p:sp>
      <p:sp>
        <p:nvSpPr>
          <p:cNvPr id="22" name="TextBox 21">
            <a:extLst>
              <a:ext uri="{FF2B5EF4-FFF2-40B4-BE49-F238E27FC236}">
                <a16:creationId xmlns:a16="http://schemas.microsoft.com/office/drawing/2014/main" id="{BD5E777A-D3CF-1038-DB4F-F658048E4EB4}"/>
              </a:ext>
            </a:extLst>
          </p:cNvPr>
          <p:cNvSpPr txBox="1"/>
          <p:nvPr/>
        </p:nvSpPr>
        <p:spPr>
          <a:xfrm>
            <a:off x="2990088" y="5764309"/>
            <a:ext cx="220144" cy="107722"/>
          </a:xfrm>
          <a:prstGeom prst="rect">
            <a:avLst/>
          </a:prstGeom>
          <a:solidFill>
            <a:schemeClr val="bg1"/>
          </a:solidFill>
        </p:spPr>
        <p:txBody>
          <a:bodyPr wrap="square" lIns="0" tIns="0" rIns="0" bIns="0" rtlCol="0">
            <a:spAutoFit/>
          </a:bodyPr>
          <a:lstStyle/>
          <a:p>
            <a:r>
              <a:rPr lang="en-US" altLang="ko-KR" sz="700" dirty="0"/>
              <a:t>VDDD</a:t>
            </a:r>
            <a:endParaRPr lang="ko-KR" altLang="en-US" sz="500" dirty="0"/>
          </a:p>
        </p:txBody>
      </p:sp>
      <p:sp>
        <p:nvSpPr>
          <p:cNvPr id="23" name="TextBox 22">
            <a:extLst>
              <a:ext uri="{FF2B5EF4-FFF2-40B4-BE49-F238E27FC236}">
                <a16:creationId xmlns:a16="http://schemas.microsoft.com/office/drawing/2014/main" id="{59F257F4-0300-5A9A-867B-643E12FE43D4}"/>
              </a:ext>
            </a:extLst>
          </p:cNvPr>
          <p:cNvSpPr txBox="1"/>
          <p:nvPr/>
        </p:nvSpPr>
        <p:spPr>
          <a:xfrm>
            <a:off x="2990088" y="6874331"/>
            <a:ext cx="220144" cy="107722"/>
          </a:xfrm>
          <a:prstGeom prst="rect">
            <a:avLst/>
          </a:prstGeom>
          <a:solidFill>
            <a:schemeClr val="bg1"/>
          </a:solidFill>
        </p:spPr>
        <p:txBody>
          <a:bodyPr wrap="square" lIns="0" tIns="0" rIns="0" bIns="0" rtlCol="0">
            <a:spAutoFit/>
          </a:bodyPr>
          <a:lstStyle/>
          <a:p>
            <a:r>
              <a:rPr lang="en-US" altLang="ko-KR" sz="700" dirty="0"/>
              <a:t>VDDD</a:t>
            </a:r>
            <a:endParaRPr lang="ko-KR" altLang="en-US" sz="500" dirty="0"/>
          </a:p>
        </p:txBody>
      </p:sp>
      <p:sp>
        <p:nvSpPr>
          <p:cNvPr id="24" name="TextBox 23">
            <a:extLst>
              <a:ext uri="{FF2B5EF4-FFF2-40B4-BE49-F238E27FC236}">
                <a16:creationId xmlns:a16="http://schemas.microsoft.com/office/drawing/2014/main" id="{F4CCE1EA-102A-E43F-B8C1-F8E5621FF3CC}"/>
              </a:ext>
            </a:extLst>
          </p:cNvPr>
          <p:cNvSpPr txBox="1"/>
          <p:nvPr/>
        </p:nvSpPr>
        <p:spPr>
          <a:xfrm>
            <a:off x="2990088" y="8003258"/>
            <a:ext cx="220144" cy="107722"/>
          </a:xfrm>
          <a:prstGeom prst="rect">
            <a:avLst/>
          </a:prstGeom>
          <a:solidFill>
            <a:schemeClr val="bg1"/>
          </a:solidFill>
        </p:spPr>
        <p:txBody>
          <a:bodyPr wrap="square" lIns="0" tIns="0" rIns="0" bIns="0" rtlCol="0">
            <a:spAutoFit/>
          </a:bodyPr>
          <a:lstStyle/>
          <a:p>
            <a:r>
              <a:rPr lang="en-US" altLang="ko-KR" sz="700" dirty="0"/>
              <a:t>VDDD</a:t>
            </a:r>
            <a:endParaRPr lang="ko-KR" altLang="en-US" sz="500" dirty="0"/>
          </a:p>
        </p:txBody>
      </p:sp>
      <p:sp>
        <p:nvSpPr>
          <p:cNvPr id="17" name="object 9">
            <a:extLst>
              <a:ext uri="{FF2B5EF4-FFF2-40B4-BE49-F238E27FC236}">
                <a16:creationId xmlns:a16="http://schemas.microsoft.com/office/drawing/2014/main" id="{DF80A9C6-E387-03FA-F602-1CF8DB7DAEA8}"/>
              </a:ext>
            </a:extLst>
          </p:cNvPr>
          <p:cNvSpPr txBox="1"/>
          <p:nvPr/>
        </p:nvSpPr>
        <p:spPr>
          <a:xfrm>
            <a:off x="304800" y="9067800"/>
            <a:ext cx="2078355" cy="289823"/>
          </a:xfrm>
          <a:prstGeom prst="rect">
            <a:avLst/>
          </a:prstGeom>
        </p:spPr>
        <p:txBody>
          <a:bodyPr vert="horz" wrap="square" lIns="0" tIns="12700" rIns="0" bIns="0" rtlCol="0">
            <a:spAutoFit/>
          </a:bodyPr>
          <a:lstStyle/>
          <a:p>
            <a:pPr marL="12700">
              <a:lnSpc>
                <a:spcPct val="100000"/>
              </a:lnSpc>
              <a:spcBef>
                <a:spcPts val="100"/>
              </a:spcBef>
            </a:pPr>
            <a:r>
              <a:rPr b="1" spc="-5" dirty="0">
                <a:solidFill>
                  <a:srgbClr val="FF0000"/>
                </a:solidFill>
                <a:cs typeface="Perpetua Titling MT"/>
              </a:rPr>
              <a:t>CONFIDENTIAL</a:t>
            </a:r>
            <a:endParaRPr dirty="0">
              <a:cs typeface="Perpetua Titling MT"/>
            </a:endParaRPr>
          </a:p>
        </p:txBody>
      </p:sp>
      <p:sp>
        <p:nvSpPr>
          <p:cNvPr id="25" name="object 6">
            <a:extLst>
              <a:ext uri="{FF2B5EF4-FFF2-40B4-BE49-F238E27FC236}">
                <a16:creationId xmlns:a16="http://schemas.microsoft.com/office/drawing/2014/main" id="{FEFC4685-672F-96B3-5C48-00CCF1A54FAC}"/>
              </a:ext>
            </a:extLst>
          </p:cNvPr>
          <p:cNvSpPr/>
          <p:nvPr/>
        </p:nvSpPr>
        <p:spPr>
          <a:xfrm>
            <a:off x="301676" y="9458756"/>
            <a:ext cx="6246495" cy="0"/>
          </a:xfrm>
          <a:custGeom>
            <a:avLst/>
            <a:gdLst/>
            <a:ahLst/>
            <a:cxnLst/>
            <a:rect l="l" t="t" r="r" b="b"/>
            <a:pathLst>
              <a:path w="6246495">
                <a:moveTo>
                  <a:pt x="0" y="0"/>
                </a:moveTo>
                <a:lnTo>
                  <a:pt x="6245999" y="0"/>
                </a:lnTo>
              </a:path>
            </a:pathLst>
          </a:custGeom>
          <a:ln w="25920">
            <a:solidFill>
              <a:srgbClr val="BFBFBF"/>
            </a:solidFill>
          </a:ln>
        </p:spPr>
        <p:txBody>
          <a:bodyPr wrap="square" lIns="0" tIns="0" rIns="0" bIns="0" rtlCol="0"/>
          <a:lstStyle/>
          <a:p>
            <a:endParaRPr/>
          </a:p>
        </p:txBody>
      </p:sp>
      <p:sp>
        <p:nvSpPr>
          <p:cNvPr id="26" name="슬라이드 번호 개체 틀 3">
            <a:hlinkClick r:id="rId5"/>
            <a:extLst>
              <a:ext uri="{FF2B5EF4-FFF2-40B4-BE49-F238E27FC236}">
                <a16:creationId xmlns:a16="http://schemas.microsoft.com/office/drawing/2014/main" id="{16E986EF-7EBA-E39B-C8AF-591F959AB065}"/>
              </a:ext>
            </a:extLst>
          </p:cNvPr>
          <p:cNvSpPr txBox="1">
            <a:spLocks/>
          </p:cNvSpPr>
          <p:nvPr/>
        </p:nvSpPr>
        <p:spPr>
          <a:xfrm>
            <a:off x="5151602" y="9452864"/>
            <a:ext cx="1487550"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dirty="0">
                <a:solidFill>
                  <a:prstClr val="black"/>
                </a:solidFill>
                <a:latin typeface="Arial" panose="020B0604020202020204" pitchFamily="34" charset="0"/>
                <a:cs typeface="Arial" panose="020B0604020202020204" pitchFamily="34" charset="0"/>
              </a:rPr>
              <a:t>http://www.glbltech.com/</a:t>
            </a:r>
            <a:endParaRPr lang="ko-KR" altLang="en-US" dirty="0">
              <a:solidFill>
                <a:prstClr val="black"/>
              </a:solidFill>
              <a:latin typeface="Arial" panose="020B0604020202020204" pitchFamily="34" charset="0"/>
              <a:cs typeface="Arial" panose="020B0604020202020204" pitchFamily="34" charset="0"/>
            </a:endParaRPr>
          </a:p>
        </p:txBody>
      </p:sp>
      <p:sp>
        <p:nvSpPr>
          <p:cNvPr id="27" name="object 38">
            <a:extLst>
              <a:ext uri="{FF2B5EF4-FFF2-40B4-BE49-F238E27FC236}">
                <a16:creationId xmlns:a16="http://schemas.microsoft.com/office/drawing/2014/main" id="{1D2E51DF-1D1C-567A-EDC3-CDC5D0FA21FC}"/>
              </a:ext>
            </a:extLst>
          </p:cNvPr>
          <p:cNvSpPr txBox="1">
            <a:spLocks/>
          </p:cNvSpPr>
          <p:nvPr/>
        </p:nvSpPr>
        <p:spPr>
          <a:xfrm>
            <a:off x="3309066" y="9547988"/>
            <a:ext cx="487045" cy="139141"/>
          </a:xfrm>
          <a:prstGeom prst="rect">
            <a:avLst/>
          </a:prstGeom>
        </p:spPr>
        <p:txBody>
          <a:bodyPr vert="horz" wrap="square" lIns="0" tIns="635" rIns="0" bIns="0" rtlCol="0">
            <a:spAutoFit/>
          </a:bodyPr>
          <a:lstStyle>
            <a:defPPr>
              <a:defRPr lang="ko-KR"/>
            </a:defPPr>
            <a:lvl1pPr marL="0" algn="l" defTabSz="914400" rtl="0" eaLnBrk="1" latinLnBrk="1" hangingPunct="1">
              <a:defRPr sz="1050" b="0" i="0" kern="1200">
                <a:solidFill>
                  <a:schemeClr val="tx1"/>
                </a:solidFill>
                <a:latin typeface="Arial"/>
                <a:ea typeface="+mn-ea"/>
                <a:cs typeface="Arial"/>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marL="12700">
              <a:spcBef>
                <a:spcPts val="5"/>
              </a:spcBef>
              <a:defRPr/>
            </a:pPr>
            <a:r>
              <a:rPr lang="en-US" sz="900" dirty="0">
                <a:solidFill>
                  <a:prstClr val="black"/>
                </a:solidFill>
              </a:rPr>
              <a:t>Page</a:t>
            </a:r>
            <a:r>
              <a:rPr lang="en-US" sz="900" spc="-60" dirty="0">
                <a:solidFill>
                  <a:prstClr val="black"/>
                </a:solidFill>
              </a:rPr>
              <a:t> </a:t>
            </a:r>
            <a:fld id="{81D60167-4931-47E6-BA6A-407CBD079E47}" type="slidenum">
              <a:rPr sz="900">
                <a:solidFill>
                  <a:prstClr val="black"/>
                </a:solidFill>
              </a:rPr>
              <a:pPr marL="12700">
                <a:spcBef>
                  <a:spcPts val="5"/>
                </a:spcBef>
                <a:defRPr/>
              </a:pPr>
              <a:t>7</a:t>
            </a:fld>
            <a:endParaRPr sz="900" dirty="0">
              <a:solidFill>
                <a:prstClr val="black"/>
              </a:solidFill>
            </a:endParaRPr>
          </a:p>
        </p:txBody>
      </p:sp>
      <p:sp>
        <p:nvSpPr>
          <p:cNvPr id="28" name="슬라이드 번호 개체 틀 3">
            <a:extLst>
              <a:ext uri="{FF2B5EF4-FFF2-40B4-BE49-F238E27FC236}">
                <a16:creationId xmlns:a16="http://schemas.microsoft.com/office/drawing/2014/main" id="{D7D84C52-507B-426D-CB24-9F0E210B51BA}"/>
              </a:ext>
            </a:extLst>
          </p:cNvPr>
          <p:cNvSpPr txBox="1">
            <a:spLocks/>
          </p:cNvSpPr>
          <p:nvPr/>
        </p:nvSpPr>
        <p:spPr>
          <a:xfrm>
            <a:off x="299401" y="9520856"/>
            <a:ext cx="2060991" cy="175259"/>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lang="en-US" altLang="ko-KR" dirty="0">
                <a:solidFill>
                  <a:prstClr val="black"/>
                </a:solidFill>
                <a:latin typeface="Arial" panose="020B0604020202020204" pitchFamily="34" charset="0"/>
                <a:cs typeface="Arial" panose="020B0604020202020204" pitchFamily="34" charset="0"/>
              </a:rPr>
              <a:t>Dated 30-Nov 23  Rev. 01</a:t>
            </a:r>
            <a:endParaRPr lang="ko-KR" altLang="en-US" dirty="0">
              <a:solidFill>
                <a:prstClr val="black"/>
              </a:solidFill>
              <a:latin typeface="Arial" panose="020B0604020202020204" pitchFamily="34" charset="0"/>
              <a:cs typeface="Arial" panose="020B0604020202020204" pitchFamily="34" charset="0"/>
            </a:endParaRPr>
          </a:p>
        </p:txBody>
      </p:sp>
      <p:sp>
        <p:nvSpPr>
          <p:cNvPr id="29" name="Holder 3">
            <a:extLst>
              <a:ext uri="{FF2B5EF4-FFF2-40B4-BE49-F238E27FC236}">
                <a16:creationId xmlns:a16="http://schemas.microsoft.com/office/drawing/2014/main" id="{B56FBC87-C39A-F396-FECF-F075D9A8E250}"/>
              </a:ext>
            </a:extLst>
          </p:cNvPr>
          <p:cNvSpPr txBox="1">
            <a:spLocks/>
          </p:cNvSpPr>
          <p:nvPr/>
        </p:nvSpPr>
        <p:spPr>
          <a:xfrm>
            <a:off x="5147476" y="203944"/>
            <a:ext cx="1447800" cy="276999"/>
          </a:xfrm>
          <a:prstGeom prst="rect">
            <a:avLst/>
          </a:prstGeom>
        </p:spPr>
        <p:txBody>
          <a:bodyPr wrap="square" lIns="0" tIns="0" rIns="0" bIns="0">
            <a:spAutoFit/>
          </a:bodyPr>
          <a:lstStyle>
            <a:lvl1pPr marL="0">
              <a:defRPr>
                <a:solidFill>
                  <a:srgbClr val="FF99FF"/>
                </a:solidFill>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defTabSz="914400" latinLnBrk="0"/>
            <a:r>
              <a:rPr lang="en-US" sz="1800" kern="0" dirty="0"/>
              <a:t>&lt;Preliminary&gt;</a:t>
            </a:r>
          </a:p>
        </p:txBody>
      </p:sp>
      <p:sp>
        <p:nvSpPr>
          <p:cNvPr id="7" name="object 11">
            <a:extLst>
              <a:ext uri="{FF2B5EF4-FFF2-40B4-BE49-F238E27FC236}">
                <a16:creationId xmlns:a16="http://schemas.microsoft.com/office/drawing/2014/main" id="{0A5C9E59-9EF1-852C-6751-114F7B3C5C24}"/>
              </a:ext>
            </a:extLst>
          </p:cNvPr>
          <p:cNvSpPr txBox="1"/>
          <p:nvPr/>
        </p:nvSpPr>
        <p:spPr>
          <a:xfrm>
            <a:off x="1676400" y="9111714"/>
            <a:ext cx="3467099" cy="144848"/>
          </a:xfrm>
          <a:prstGeom prst="rect">
            <a:avLst/>
          </a:prstGeom>
        </p:spPr>
        <p:txBody>
          <a:bodyPr vert="horz" wrap="square" lIns="0" tIns="12700" rIns="0" bIns="0" rtlCol="0">
            <a:spAutoFit/>
          </a:bodyPr>
          <a:lstStyle/>
          <a:p>
            <a:pPr marL="63500" algn="ctr">
              <a:lnSpc>
                <a:spcPts val="1065"/>
              </a:lnSpc>
              <a:spcBef>
                <a:spcPts val="100"/>
              </a:spcBef>
              <a:tabLst>
                <a:tab pos="673100" algn="l"/>
              </a:tabLst>
            </a:pPr>
            <a:r>
              <a:rPr sz="900" b="1" spc="-65" dirty="0">
                <a:latin typeface="Arial" panose="020B0604020202020204" pitchFamily="34" charset="0"/>
                <a:cs typeface="Arial" panose="020B0604020202020204" pitchFamily="34" charset="0"/>
              </a:rPr>
              <a:t>T</a:t>
            </a:r>
            <a:r>
              <a:rPr sz="900" b="1" spc="-10" dirty="0">
                <a:latin typeface="Arial" panose="020B0604020202020204" pitchFamily="34" charset="0"/>
                <a:cs typeface="Arial" panose="020B0604020202020204" pitchFamily="34" charset="0"/>
              </a:rPr>
              <a:t>a</a:t>
            </a:r>
            <a:r>
              <a:rPr sz="900" b="1" spc="-5" dirty="0">
                <a:latin typeface="Arial" panose="020B0604020202020204" pitchFamily="34" charset="0"/>
                <a:cs typeface="Arial" panose="020B0604020202020204" pitchFamily="34" charset="0"/>
              </a:rPr>
              <a:t>bl</a:t>
            </a:r>
            <a:r>
              <a:rPr sz="900" b="1" dirty="0">
                <a:latin typeface="Arial" panose="020B0604020202020204" pitchFamily="34" charset="0"/>
                <a:cs typeface="Arial" panose="020B0604020202020204" pitchFamily="34" charset="0"/>
              </a:rPr>
              <a:t>e </a:t>
            </a:r>
            <a:r>
              <a:rPr lang="en-US" sz="900" b="1" dirty="0">
                <a:latin typeface="Arial" panose="020B0604020202020204" pitchFamily="34" charset="0"/>
                <a:cs typeface="Arial" panose="020B0604020202020204" pitchFamily="34" charset="0"/>
              </a:rPr>
              <a:t>2</a:t>
            </a:r>
            <a:r>
              <a:rPr sz="900" b="1" dirty="0">
                <a:latin typeface="Arial" panose="020B0604020202020204" pitchFamily="34" charset="0"/>
                <a:cs typeface="Arial" panose="020B0604020202020204" pitchFamily="34" charset="0"/>
              </a:rPr>
              <a:t>.</a:t>
            </a:r>
            <a:r>
              <a:rPr lang="en-US" sz="900" b="1" dirty="0">
                <a:latin typeface="Arial" panose="020B0604020202020204" pitchFamily="34" charset="0"/>
                <a:cs typeface="Arial" panose="020B0604020202020204" pitchFamily="34" charset="0"/>
              </a:rPr>
              <a:t> Equivalent Circuits of Individual Pins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2074" y="889508"/>
            <a:ext cx="3146425" cy="239395"/>
          </a:xfrm>
          <a:prstGeom prst="rect">
            <a:avLst/>
          </a:prstGeom>
        </p:spPr>
        <p:txBody>
          <a:bodyPr vert="horz" wrap="square" lIns="0" tIns="12700" rIns="0" bIns="0" rtlCol="0">
            <a:spAutoFit/>
          </a:bodyPr>
          <a:lstStyle/>
          <a:p>
            <a:pPr marL="12700">
              <a:lnSpc>
                <a:spcPct val="100000"/>
              </a:lnSpc>
              <a:spcBef>
                <a:spcPts val="100"/>
              </a:spcBef>
            </a:pPr>
            <a:r>
              <a:rPr sz="1400" b="1" dirty="0">
                <a:latin typeface="Arial"/>
                <a:cs typeface="Arial"/>
              </a:rPr>
              <a:t>Equivalent</a:t>
            </a:r>
            <a:r>
              <a:rPr sz="1400" b="1" spc="-45" dirty="0">
                <a:latin typeface="Arial"/>
                <a:cs typeface="Arial"/>
              </a:rPr>
              <a:t> </a:t>
            </a:r>
            <a:r>
              <a:rPr sz="1400" b="1" dirty="0">
                <a:latin typeface="Arial"/>
                <a:cs typeface="Arial"/>
              </a:rPr>
              <a:t>Circuits</a:t>
            </a:r>
            <a:r>
              <a:rPr sz="1400" b="1" spc="-50" dirty="0">
                <a:latin typeface="Arial"/>
                <a:cs typeface="Arial"/>
              </a:rPr>
              <a:t> </a:t>
            </a:r>
            <a:r>
              <a:rPr sz="1400" b="1" dirty="0">
                <a:latin typeface="Arial"/>
                <a:cs typeface="Arial"/>
              </a:rPr>
              <a:t>of</a:t>
            </a:r>
            <a:r>
              <a:rPr sz="1400" b="1" spc="-15" dirty="0">
                <a:latin typeface="Arial"/>
                <a:cs typeface="Arial"/>
              </a:rPr>
              <a:t> </a:t>
            </a:r>
            <a:r>
              <a:rPr sz="1400" b="1" dirty="0">
                <a:latin typeface="Arial"/>
                <a:cs typeface="Arial"/>
              </a:rPr>
              <a:t>individual</a:t>
            </a:r>
            <a:r>
              <a:rPr sz="1400" b="1" spc="-40" dirty="0">
                <a:latin typeface="Arial"/>
                <a:cs typeface="Arial"/>
              </a:rPr>
              <a:t> </a:t>
            </a:r>
            <a:r>
              <a:rPr sz="1400" b="1" dirty="0">
                <a:latin typeface="Arial"/>
                <a:cs typeface="Arial"/>
              </a:rPr>
              <a:t>pins</a:t>
            </a:r>
            <a:endParaRPr sz="1400" dirty="0">
              <a:latin typeface="Arial"/>
              <a:cs typeface="Arial"/>
            </a:endParaRPr>
          </a:p>
        </p:txBody>
      </p:sp>
      <p:sp>
        <p:nvSpPr>
          <p:cNvPr id="5" name="object 5"/>
          <p:cNvSpPr txBox="1"/>
          <p:nvPr/>
        </p:nvSpPr>
        <p:spPr>
          <a:xfrm>
            <a:off x="400913" y="301879"/>
            <a:ext cx="622935" cy="299720"/>
          </a:xfrm>
          <a:prstGeom prst="rect">
            <a:avLst/>
          </a:prstGeom>
        </p:spPr>
        <p:txBody>
          <a:bodyPr vert="horz" wrap="square" lIns="0" tIns="12700" rIns="0" bIns="0" rtlCol="0">
            <a:spAutoFit/>
          </a:bodyPr>
          <a:lstStyle/>
          <a:p>
            <a:pPr marL="12700">
              <a:lnSpc>
                <a:spcPct val="100000"/>
              </a:lnSpc>
              <a:spcBef>
                <a:spcPts val="100"/>
              </a:spcBef>
            </a:pPr>
            <a:r>
              <a:rPr sz="1800" b="1" spc="-5" dirty="0">
                <a:latin typeface="Arial"/>
                <a:cs typeface="Arial"/>
              </a:rPr>
              <a:t>CQ24</a:t>
            </a:r>
            <a:endParaRPr sz="1800" dirty="0">
              <a:latin typeface="Arial"/>
              <a:cs typeface="Arial"/>
            </a:endParaRPr>
          </a:p>
        </p:txBody>
      </p:sp>
      <p:graphicFrame>
        <p:nvGraphicFramePr>
          <p:cNvPr id="6" name="object 6"/>
          <p:cNvGraphicFramePr>
            <a:graphicFrameLocks noGrp="1"/>
          </p:cNvGraphicFramePr>
          <p:nvPr/>
        </p:nvGraphicFramePr>
        <p:xfrm>
          <a:off x="407200" y="1207516"/>
          <a:ext cx="6049008" cy="6679565"/>
        </p:xfrm>
        <a:graphic>
          <a:graphicData uri="http://schemas.openxmlformats.org/drawingml/2006/table">
            <a:tbl>
              <a:tblPr firstRow="1" bandRow="1">
                <a:tableStyleId>{2D5ABB26-0587-4C30-8999-92F81FD0307C}</a:tableStyleId>
              </a:tblPr>
              <a:tblGrid>
                <a:gridCol w="847725">
                  <a:extLst>
                    <a:ext uri="{9D8B030D-6E8A-4147-A177-3AD203B41FA5}">
                      <a16:colId xmlns:a16="http://schemas.microsoft.com/office/drawing/2014/main" val="20000"/>
                    </a:ext>
                  </a:extLst>
                </a:gridCol>
                <a:gridCol w="375919">
                  <a:extLst>
                    <a:ext uri="{9D8B030D-6E8A-4147-A177-3AD203B41FA5}">
                      <a16:colId xmlns:a16="http://schemas.microsoft.com/office/drawing/2014/main" val="20001"/>
                    </a:ext>
                  </a:extLst>
                </a:gridCol>
                <a:gridCol w="3657600">
                  <a:extLst>
                    <a:ext uri="{9D8B030D-6E8A-4147-A177-3AD203B41FA5}">
                      <a16:colId xmlns:a16="http://schemas.microsoft.com/office/drawing/2014/main" val="20002"/>
                    </a:ext>
                  </a:extLst>
                </a:gridCol>
                <a:gridCol w="1167764">
                  <a:extLst>
                    <a:ext uri="{9D8B030D-6E8A-4147-A177-3AD203B41FA5}">
                      <a16:colId xmlns:a16="http://schemas.microsoft.com/office/drawing/2014/main" val="20003"/>
                    </a:ext>
                  </a:extLst>
                </a:gridCol>
              </a:tblGrid>
              <a:tr h="267335">
                <a:tc>
                  <a:txBody>
                    <a:bodyPr/>
                    <a:lstStyle/>
                    <a:p>
                      <a:pPr marR="141605" algn="r">
                        <a:lnSpc>
                          <a:spcPct val="100000"/>
                        </a:lnSpc>
                        <a:spcBef>
                          <a:spcPts val="480"/>
                        </a:spcBef>
                      </a:pPr>
                      <a:r>
                        <a:rPr sz="900" b="1" dirty="0">
                          <a:latin typeface="Arial"/>
                          <a:cs typeface="Arial"/>
                        </a:rPr>
                        <a:t>Pad</a:t>
                      </a:r>
                      <a:r>
                        <a:rPr sz="900" b="1" spc="-50" dirty="0">
                          <a:latin typeface="Arial"/>
                          <a:cs typeface="Arial"/>
                        </a:rPr>
                        <a:t> </a:t>
                      </a:r>
                      <a:r>
                        <a:rPr sz="900" b="1" spc="-5" dirty="0">
                          <a:latin typeface="Arial"/>
                          <a:cs typeface="Arial"/>
                        </a:rPr>
                        <a:t>Name</a:t>
                      </a:r>
                      <a:endParaRPr sz="900" dirty="0">
                        <a:latin typeface="Arial"/>
                        <a:cs typeface="Arial"/>
                      </a:endParaRPr>
                    </a:p>
                  </a:txBody>
                  <a:tcPr marL="0" marR="0" marT="60960" marB="0">
                    <a:lnL w="12700">
                      <a:solidFill>
                        <a:srgbClr val="FFFFFF"/>
                      </a:solidFill>
                      <a:prstDash val="solid"/>
                    </a:lnL>
                    <a:lnR w="3175">
                      <a:solidFill>
                        <a:srgbClr val="000000"/>
                      </a:solidFill>
                      <a:prstDash val="solid"/>
                    </a:lnR>
                    <a:lnT w="12700">
                      <a:solidFill>
                        <a:srgbClr val="000000"/>
                      </a:solidFill>
                      <a:prstDash val="solid"/>
                    </a:lnT>
                    <a:lnB w="3175">
                      <a:solidFill>
                        <a:srgbClr val="000000"/>
                      </a:solidFill>
                      <a:prstDash val="solid"/>
                    </a:lnB>
                    <a:solidFill>
                      <a:srgbClr val="F1F1F1"/>
                    </a:solidFill>
                  </a:tcPr>
                </a:tc>
                <a:tc>
                  <a:txBody>
                    <a:bodyPr/>
                    <a:lstStyle/>
                    <a:p>
                      <a:pPr algn="ctr">
                        <a:lnSpc>
                          <a:spcPct val="100000"/>
                        </a:lnSpc>
                        <a:spcBef>
                          <a:spcPts val="480"/>
                        </a:spcBef>
                      </a:pPr>
                      <a:r>
                        <a:rPr sz="900" b="1" dirty="0">
                          <a:latin typeface="Arial"/>
                          <a:cs typeface="Arial"/>
                        </a:rPr>
                        <a:t>I/O</a:t>
                      </a:r>
                      <a:endParaRPr sz="900" dirty="0">
                        <a:latin typeface="Arial"/>
                        <a:cs typeface="Arial"/>
                      </a:endParaRPr>
                    </a:p>
                  </a:txBody>
                  <a:tcPr marL="0" marR="0" marT="60960" marB="0">
                    <a:lnL w="3175">
                      <a:solidFill>
                        <a:srgbClr val="000000"/>
                      </a:solidFill>
                      <a:prstDash val="solid"/>
                    </a:lnL>
                    <a:lnR w="3175">
                      <a:solidFill>
                        <a:srgbClr val="000000"/>
                      </a:solidFill>
                      <a:prstDash val="solid"/>
                    </a:lnR>
                    <a:lnT w="12700">
                      <a:solidFill>
                        <a:srgbClr val="000000"/>
                      </a:solidFill>
                      <a:prstDash val="solid"/>
                    </a:lnT>
                    <a:lnB w="3175">
                      <a:solidFill>
                        <a:srgbClr val="000000"/>
                      </a:solidFill>
                      <a:prstDash val="solid"/>
                    </a:lnB>
                    <a:solidFill>
                      <a:srgbClr val="F1F1F1"/>
                    </a:solidFill>
                  </a:tcPr>
                </a:tc>
                <a:tc>
                  <a:txBody>
                    <a:bodyPr/>
                    <a:lstStyle/>
                    <a:p>
                      <a:pPr marL="635" algn="ctr">
                        <a:lnSpc>
                          <a:spcPct val="100000"/>
                        </a:lnSpc>
                        <a:spcBef>
                          <a:spcPts val="480"/>
                        </a:spcBef>
                      </a:pPr>
                      <a:r>
                        <a:rPr sz="900" b="1" dirty="0">
                          <a:latin typeface="Arial"/>
                          <a:cs typeface="Arial"/>
                        </a:rPr>
                        <a:t>Internal</a:t>
                      </a:r>
                      <a:r>
                        <a:rPr sz="900" b="1" spc="-55" dirty="0">
                          <a:latin typeface="Arial"/>
                          <a:cs typeface="Arial"/>
                        </a:rPr>
                        <a:t> </a:t>
                      </a:r>
                      <a:r>
                        <a:rPr sz="900" b="1" dirty="0">
                          <a:latin typeface="Arial"/>
                          <a:cs typeface="Arial"/>
                        </a:rPr>
                        <a:t>Circuit</a:t>
                      </a:r>
                      <a:endParaRPr sz="900" dirty="0">
                        <a:latin typeface="Arial"/>
                        <a:cs typeface="Arial"/>
                      </a:endParaRPr>
                    </a:p>
                  </a:txBody>
                  <a:tcPr marL="0" marR="0" marT="60960" marB="0">
                    <a:lnL w="3175">
                      <a:solidFill>
                        <a:srgbClr val="000000"/>
                      </a:solidFill>
                      <a:prstDash val="solid"/>
                    </a:lnL>
                    <a:lnR w="3175">
                      <a:solidFill>
                        <a:srgbClr val="000000"/>
                      </a:solidFill>
                      <a:prstDash val="solid"/>
                    </a:lnR>
                    <a:lnT w="12700">
                      <a:solidFill>
                        <a:srgbClr val="000000"/>
                      </a:solidFill>
                      <a:prstDash val="solid"/>
                    </a:lnT>
                    <a:lnB w="3175">
                      <a:solidFill>
                        <a:srgbClr val="000000"/>
                      </a:solidFill>
                      <a:prstDash val="solid"/>
                    </a:lnB>
                    <a:solidFill>
                      <a:srgbClr val="F1F1F1"/>
                    </a:solidFill>
                  </a:tcPr>
                </a:tc>
                <a:tc>
                  <a:txBody>
                    <a:bodyPr/>
                    <a:lstStyle/>
                    <a:p>
                      <a:pPr marL="1270" algn="ctr">
                        <a:lnSpc>
                          <a:spcPct val="100000"/>
                        </a:lnSpc>
                        <a:spcBef>
                          <a:spcPts val="480"/>
                        </a:spcBef>
                      </a:pPr>
                      <a:r>
                        <a:rPr sz="900" b="1" dirty="0">
                          <a:latin typeface="Arial"/>
                          <a:cs typeface="Arial"/>
                        </a:rPr>
                        <a:t>Description</a:t>
                      </a:r>
                      <a:endParaRPr sz="900" dirty="0">
                        <a:latin typeface="Arial"/>
                        <a:cs typeface="Arial"/>
                      </a:endParaRPr>
                    </a:p>
                  </a:txBody>
                  <a:tcPr marL="0" marR="0" marT="60960" marB="0">
                    <a:lnL w="3175">
                      <a:solidFill>
                        <a:srgbClr val="000000"/>
                      </a:solidFill>
                      <a:prstDash val="solid"/>
                    </a:lnL>
                    <a:lnT w="12700">
                      <a:solidFill>
                        <a:srgbClr val="000000"/>
                      </a:solidFill>
                      <a:prstDash val="solid"/>
                    </a:lnT>
                    <a:lnB w="3175">
                      <a:solidFill>
                        <a:srgbClr val="000000"/>
                      </a:solidFill>
                      <a:prstDash val="solid"/>
                    </a:lnB>
                    <a:solidFill>
                      <a:srgbClr val="F1F1F1"/>
                    </a:solidFill>
                  </a:tcPr>
                </a:tc>
                <a:extLst>
                  <a:ext uri="{0D108BD9-81ED-4DB2-BD59-A6C34878D82A}">
                    <a16:rowId xmlns:a16="http://schemas.microsoft.com/office/drawing/2014/main" val="10000"/>
                  </a:ext>
                </a:extLst>
              </a:tr>
              <a:tr h="1005205">
                <a:tc>
                  <a:txBody>
                    <a:bodyPr/>
                    <a:lstStyle/>
                    <a:p>
                      <a:pPr>
                        <a:lnSpc>
                          <a:spcPct val="100000"/>
                        </a:lnSpc>
                      </a:pPr>
                      <a:endParaRPr sz="1000" dirty="0">
                        <a:latin typeface="Times New Roman"/>
                        <a:cs typeface="Times New Roman"/>
                      </a:endParaRPr>
                    </a:p>
                    <a:p>
                      <a:pPr>
                        <a:lnSpc>
                          <a:spcPct val="100000"/>
                        </a:lnSpc>
                      </a:pPr>
                      <a:endParaRPr sz="1000" dirty="0">
                        <a:latin typeface="Times New Roman"/>
                        <a:cs typeface="Times New Roman"/>
                      </a:endParaRPr>
                    </a:p>
                    <a:p>
                      <a:pPr>
                        <a:lnSpc>
                          <a:spcPct val="100000"/>
                        </a:lnSpc>
                        <a:spcBef>
                          <a:spcPts val="15"/>
                        </a:spcBef>
                      </a:pPr>
                      <a:endParaRPr sz="950" dirty="0">
                        <a:latin typeface="Times New Roman"/>
                        <a:cs typeface="Times New Roman"/>
                      </a:endParaRPr>
                    </a:p>
                    <a:p>
                      <a:pPr marL="198755">
                        <a:lnSpc>
                          <a:spcPct val="100000"/>
                        </a:lnSpc>
                      </a:pPr>
                      <a:r>
                        <a:rPr sz="900" spc="-5" dirty="0">
                          <a:latin typeface="Arial"/>
                          <a:cs typeface="Arial"/>
                        </a:rPr>
                        <a:t>CS</a:t>
                      </a:r>
                      <a:r>
                        <a:rPr sz="900" spc="-40" dirty="0">
                          <a:latin typeface="Arial"/>
                          <a:cs typeface="Arial"/>
                        </a:rPr>
                        <a:t> </a:t>
                      </a:r>
                      <a:r>
                        <a:rPr sz="900" dirty="0">
                          <a:latin typeface="Arial"/>
                          <a:cs typeface="Arial"/>
                        </a:rPr>
                        <a:t>0~10</a:t>
                      </a:r>
                    </a:p>
                  </a:txBody>
                  <a:tcPr marL="0" marR="0" marT="0" marB="0">
                    <a:lnL w="12700">
                      <a:solidFill>
                        <a:srgbClr val="FFFFFF"/>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nSpc>
                          <a:spcPct val="100000"/>
                        </a:lnSpc>
                      </a:pPr>
                      <a:endParaRPr sz="1000" dirty="0">
                        <a:latin typeface="Times New Roman"/>
                        <a:cs typeface="Times New Roman"/>
                      </a:endParaRPr>
                    </a:p>
                    <a:p>
                      <a:pPr>
                        <a:lnSpc>
                          <a:spcPct val="100000"/>
                        </a:lnSpc>
                      </a:pPr>
                      <a:endParaRPr sz="1000" dirty="0">
                        <a:latin typeface="Times New Roman"/>
                        <a:cs typeface="Times New Roman"/>
                      </a:endParaRPr>
                    </a:p>
                    <a:p>
                      <a:pPr>
                        <a:lnSpc>
                          <a:spcPct val="100000"/>
                        </a:lnSpc>
                        <a:spcBef>
                          <a:spcPts val="15"/>
                        </a:spcBef>
                      </a:pPr>
                      <a:endParaRPr sz="950" dirty="0">
                        <a:latin typeface="Times New Roman"/>
                        <a:cs typeface="Times New Roman"/>
                      </a:endParaRPr>
                    </a:p>
                    <a:p>
                      <a:pPr algn="ctr">
                        <a:lnSpc>
                          <a:spcPct val="100000"/>
                        </a:lnSpc>
                      </a:pPr>
                      <a:r>
                        <a:rPr sz="900" dirty="0">
                          <a:latin typeface="Arial"/>
                          <a:cs typeface="Arial"/>
                        </a:rPr>
                        <a:t>O</a:t>
                      </a:r>
                    </a:p>
                  </a:txBody>
                  <a:tcPr marL="0" marR="0" marT="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nSpc>
                          <a:spcPct val="100000"/>
                        </a:lnSpc>
                      </a:pPr>
                      <a:endParaRPr sz="1000" dirty="0">
                        <a:latin typeface="Times New Roman"/>
                        <a:cs typeface="Times New Roman"/>
                      </a:endParaRPr>
                    </a:p>
                  </a:txBody>
                  <a:tcPr marL="0" marR="0" marT="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nSpc>
                          <a:spcPct val="100000"/>
                        </a:lnSpc>
                      </a:pPr>
                      <a:endParaRPr sz="1000" dirty="0">
                        <a:latin typeface="Times New Roman"/>
                        <a:cs typeface="Times New Roman"/>
                      </a:endParaRPr>
                    </a:p>
                    <a:p>
                      <a:pPr>
                        <a:lnSpc>
                          <a:spcPct val="100000"/>
                        </a:lnSpc>
                        <a:spcBef>
                          <a:spcPts val="30"/>
                        </a:spcBef>
                      </a:pPr>
                      <a:endParaRPr sz="1450" dirty="0">
                        <a:latin typeface="Times New Roman"/>
                        <a:cs typeface="Times New Roman"/>
                      </a:endParaRPr>
                    </a:p>
                    <a:p>
                      <a:pPr marL="322580" marR="220979" indent="-94615">
                        <a:lnSpc>
                          <a:spcPct val="100000"/>
                        </a:lnSpc>
                      </a:pPr>
                      <a:r>
                        <a:rPr sz="900" dirty="0">
                          <a:latin typeface="Arial"/>
                          <a:cs typeface="Arial"/>
                        </a:rPr>
                        <a:t>Ch</a:t>
                      </a:r>
                      <a:r>
                        <a:rPr sz="900" spc="5" dirty="0">
                          <a:latin typeface="Arial"/>
                          <a:cs typeface="Arial"/>
                        </a:rPr>
                        <a:t>i</a:t>
                      </a:r>
                      <a:r>
                        <a:rPr sz="900" dirty="0">
                          <a:latin typeface="Arial"/>
                          <a:cs typeface="Arial"/>
                        </a:rPr>
                        <a:t>p</a:t>
                      </a:r>
                      <a:r>
                        <a:rPr sz="900" spc="-10" dirty="0">
                          <a:latin typeface="Arial"/>
                          <a:cs typeface="Arial"/>
                        </a:rPr>
                        <a:t> </a:t>
                      </a:r>
                      <a:r>
                        <a:rPr sz="900" dirty="0">
                          <a:latin typeface="Arial"/>
                          <a:cs typeface="Arial"/>
                        </a:rPr>
                        <a:t>Sele</a:t>
                      </a:r>
                      <a:r>
                        <a:rPr sz="900" spc="5" dirty="0">
                          <a:latin typeface="Arial"/>
                          <a:cs typeface="Arial"/>
                        </a:rPr>
                        <a:t>c</a:t>
                      </a:r>
                      <a:r>
                        <a:rPr sz="900" dirty="0">
                          <a:latin typeface="Arial"/>
                          <a:cs typeface="Arial"/>
                        </a:rPr>
                        <a:t>t</a:t>
                      </a:r>
                      <a:r>
                        <a:rPr sz="900" spc="-25" dirty="0">
                          <a:latin typeface="Arial"/>
                          <a:cs typeface="Arial"/>
                        </a:rPr>
                        <a:t> </a:t>
                      </a:r>
                      <a:r>
                        <a:rPr sz="900" dirty="0">
                          <a:latin typeface="Arial"/>
                          <a:cs typeface="Arial"/>
                        </a:rPr>
                        <a:t>to  AQ</a:t>
                      </a:r>
                      <a:r>
                        <a:rPr sz="900" spc="-25" dirty="0">
                          <a:latin typeface="Arial"/>
                          <a:cs typeface="Arial"/>
                        </a:rPr>
                        <a:t> </a:t>
                      </a:r>
                      <a:r>
                        <a:rPr sz="900" spc="-5" dirty="0">
                          <a:latin typeface="Arial"/>
                          <a:cs typeface="Arial"/>
                        </a:rPr>
                        <a:t>Series</a:t>
                      </a:r>
                      <a:endParaRPr sz="900" dirty="0">
                        <a:latin typeface="Arial"/>
                        <a:cs typeface="Arial"/>
                      </a:endParaRPr>
                    </a:p>
                  </a:txBody>
                  <a:tcPr marL="0" marR="0" marT="0" marB="0">
                    <a:lnL w="3175">
                      <a:solidFill>
                        <a:srgbClr val="000000"/>
                      </a:solidFill>
                      <a:prstDash val="solid"/>
                    </a:lnL>
                    <a:lnT w="3175">
                      <a:solidFill>
                        <a:srgbClr val="000000"/>
                      </a:solidFill>
                      <a:prstDash val="solid"/>
                    </a:lnT>
                    <a:lnB w="3175">
                      <a:solidFill>
                        <a:srgbClr val="000000"/>
                      </a:solidFill>
                      <a:prstDash val="solid"/>
                    </a:lnB>
                  </a:tcPr>
                </a:tc>
                <a:extLst>
                  <a:ext uri="{0D108BD9-81ED-4DB2-BD59-A6C34878D82A}">
                    <a16:rowId xmlns:a16="http://schemas.microsoft.com/office/drawing/2014/main" val="10001"/>
                  </a:ext>
                </a:extLst>
              </a:tr>
              <a:tr h="1026160">
                <a:tc>
                  <a:txBody>
                    <a:bodyPr/>
                    <a:lstStyle/>
                    <a:p>
                      <a:pPr>
                        <a:lnSpc>
                          <a:spcPct val="100000"/>
                        </a:lnSpc>
                      </a:pPr>
                      <a:endParaRPr sz="1000" dirty="0">
                        <a:latin typeface="Times New Roman"/>
                        <a:cs typeface="Times New Roman"/>
                      </a:endParaRPr>
                    </a:p>
                    <a:p>
                      <a:pPr>
                        <a:lnSpc>
                          <a:spcPct val="100000"/>
                        </a:lnSpc>
                      </a:pPr>
                      <a:endParaRPr sz="1000" dirty="0">
                        <a:latin typeface="Times New Roman"/>
                        <a:cs typeface="Times New Roman"/>
                      </a:endParaRPr>
                    </a:p>
                    <a:p>
                      <a:pPr>
                        <a:lnSpc>
                          <a:spcPct val="100000"/>
                        </a:lnSpc>
                        <a:spcBef>
                          <a:spcPts val="40"/>
                        </a:spcBef>
                      </a:pPr>
                      <a:endParaRPr sz="1000" dirty="0">
                        <a:latin typeface="Times New Roman"/>
                        <a:cs typeface="Times New Roman"/>
                      </a:endParaRPr>
                    </a:p>
                    <a:p>
                      <a:pPr marR="113030" algn="r">
                        <a:lnSpc>
                          <a:spcPct val="100000"/>
                        </a:lnSpc>
                      </a:pPr>
                      <a:r>
                        <a:rPr sz="900" spc="-5" dirty="0">
                          <a:latin typeface="Arial"/>
                          <a:cs typeface="Arial"/>
                        </a:rPr>
                        <a:t>HOLD</a:t>
                      </a:r>
                      <a:r>
                        <a:rPr sz="900" spc="-40" dirty="0">
                          <a:latin typeface="Arial"/>
                          <a:cs typeface="Arial"/>
                        </a:rPr>
                        <a:t> </a:t>
                      </a:r>
                      <a:r>
                        <a:rPr sz="900" dirty="0">
                          <a:latin typeface="Arial"/>
                          <a:cs typeface="Arial"/>
                        </a:rPr>
                        <a:t>0~10</a:t>
                      </a:r>
                    </a:p>
                  </a:txBody>
                  <a:tcPr marL="0" marR="0" marT="0" marB="0">
                    <a:lnL w="12700">
                      <a:solidFill>
                        <a:srgbClr val="FFFFFF"/>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nSpc>
                          <a:spcPct val="100000"/>
                        </a:lnSpc>
                      </a:pPr>
                      <a:endParaRPr sz="1000" dirty="0">
                        <a:latin typeface="Times New Roman"/>
                        <a:cs typeface="Times New Roman"/>
                      </a:endParaRPr>
                    </a:p>
                    <a:p>
                      <a:pPr>
                        <a:lnSpc>
                          <a:spcPct val="100000"/>
                        </a:lnSpc>
                      </a:pPr>
                      <a:endParaRPr sz="1000" dirty="0">
                        <a:latin typeface="Times New Roman"/>
                        <a:cs typeface="Times New Roman"/>
                      </a:endParaRPr>
                    </a:p>
                    <a:p>
                      <a:pPr>
                        <a:lnSpc>
                          <a:spcPct val="100000"/>
                        </a:lnSpc>
                        <a:spcBef>
                          <a:spcPts val="40"/>
                        </a:spcBef>
                      </a:pPr>
                      <a:endParaRPr sz="1000" dirty="0">
                        <a:latin typeface="Times New Roman"/>
                        <a:cs typeface="Times New Roman"/>
                      </a:endParaRPr>
                    </a:p>
                    <a:p>
                      <a:pPr algn="ctr">
                        <a:lnSpc>
                          <a:spcPct val="100000"/>
                        </a:lnSpc>
                      </a:pPr>
                      <a:r>
                        <a:rPr sz="900" dirty="0">
                          <a:latin typeface="Arial"/>
                          <a:cs typeface="Arial"/>
                        </a:rPr>
                        <a:t>O</a:t>
                      </a:r>
                    </a:p>
                  </a:txBody>
                  <a:tcPr marL="0" marR="0" marT="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nSpc>
                          <a:spcPct val="100000"/>
                        </a:lnSpc>
                      </a:pPr>
                      <a:endParaRPr sz="1000" dirty="0">
                        <a:latin typeface="Times New Roman"/>
                        <a:cs typeface="Times New Roman"/>
                      </a:endParaRPr>
                    </a:p>
                  </a:txBody>
                  <a:tcPr marL="0" marR="0" marT="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nSpc>
                          <a:spcPct val="100000"/>
                        </a:lnSpc>
                      </a:pPr>
                      <a:endParaRPr sz="1000" dirty="0">
                        <a:latin typeface="Times New Roman"/>
                        <a:cs typeface="Times New Roman"/>
                      </a:endParaRPr>
                    </a:p>
                    <a:p>
                      <a:pPr>
                        <a:lnSpc>
                          <a:spcPct val="100000"/>
                        </a:lnSpc>
                      </a:pPr>
                      <a:endParaRPr sz="1000" dirty="0">
                        <a:latin typeface="Times New Roman"/>
                        <a:cs typeface="Times New Roman"/>
                      </a:endParaRPr>
                    </a:p>
                    <a:p>
                      <a:pPr marL="322580" marR="314960" indent="28575">
                        <a:lnSpc>
                          <a:spcPct val="100000"/>
                        </a:lnSpc>
                        <a:spcBef>
                          <a:spcPts val="630"/>
                        </a:spcBef>
                      </a:pPr>
                      <a:r>
                        <a:rPr sz="900" dirty="0">
                          <a:latin typeface="Arial"/>
                          <a:cs typeface="Arial"/>
                        </a:rPr>
                        <a:t>Strobe to </a:t>
                      </a:r>
                      <a:r>
                        <a:rPr sz="900" spc="-235" dirty="0">
                          <a:latin typeface="Arial"/>
                          <a:cs typeface="Arial"/>
                        </a:rPr>
                        <a:t> </a:t>
                      </a:r>
                      <a:r>
                        <a:rPr sz="900" dirty="0">
                          <a:latin typeface="Arial"/>
                          <a:cs typeface="Arial"/>
                        </a:rPr>
                        <a:t>AQ</a:t>
                      </a:r>
                      <a:r>
                        <a:rPr sz="900" spc="-5" dirty="0">
                          <a:latin typeface="Arial"/>
                          <a:cs typeface="Arial"/>
                        </a:rPr>
                        <a:t> </a:t>
                      </a:r>
                      <a:r>
                        <a:rPr sz="900" dirty="0">
                          <a:latin typeface="Arial"/>
                          <a:cs typeface="Arial"/>
                        </a:rPr>
                        <a:t>Series</a:t>
                      </a:r>
                    </a:p>
                  </a:txBody>
                  <a:tcPr marL="0" marR="0" marT="0" marB="0">
                    <a:lnL w="3175">
                      <a:solidFill>
                        <a:srgbClr val="000000"/>
                      </a:solidFill>
                      <a:prstDash val="solid"/>
                    </a:lnL>
                    <a:lnT w="3175">
                      <a:solidFill>
                        <a:srgbClr val="000000"/>
                      </a:solidFill>
                      <a:prstDash val="solid"/>
                    </a:lnT>
                    <a:lnB w="3175">
                      <a:solidFill>
                        <a:srgbClr val="000000"/>
                      </a:solidFill>
                      <a:prstDash val="solid"/>
                    </a:lnB>
                  </a:tcPr>
                </a:tc>
                <a:extLst>
                  <a:ext uri="{0D108BD9-81ED-4DB2-BD59-A6C34878D82A}">
                    <a16:rowId xmlns:a16="http://schemas.microsoft.com/office/drawing/2014/main" val="10002"/>
                  </a:ext>
                </a:extLst>
              </a:tr>
              <a:tr h="1076960">
                <a:tc>
                  <a:txBody>
                    <a:bodyPr/>
                    <a:lstStyle/>
                    <a:p>
                      <a:pPr>
                        <a:lnSpc>
                          <a:spcPct val="100000"/>
                        </a:lnSpc>
                      </a:pPr>
                      <a:endParaRPr sz="1000" dirty="0">
                        <a:latin typeface="Times New Roman"/>
                        <a:cs typeface="Times New Roman"/>
                      </a:endParaRPr>
                    </a:p>
                    <a:p>
                      <a:pPr>
                        <a:lnSpc>
                          <a:spcPct val="100000"/>
                        </a:lnSpc>
                      </a:pPr>
                      <a:endParaRPr sz="1000" dirty="0">
                        <a:latin typeface="Times New Roman"/>
                        <a:cs typeface="Times New Roman"/>
                      </a:endParaRPr>
                    </a:p>
                    <a:p>
                      <a:pPr>
                        <a:lnSpc>
                          <a:spcPct val="100000"/>
                        </a:lnSpc>
                        <a:spcBef>
                          <a:spcPts val="10"/>
                        </a:spcBef>
                      </a:pPr>
                      <a:endParaRPr sz="1200" dirty="0">
                        <a:latin typeface="Times New Roman"/>
                        <a:cs typeface="Times New Roman"/>
                      </a:endParaRPr>
                    </a:p>
                    <a:p>
                      <a:pPr marL="173990">
                        <a:lnSpc>
                          <a:spcPct val="100000"/>
                        </a:lnSpc>
                        <a:spcBef>
                          <a:spcPts val="5"/>
                        </a:spcBef>
                      </a:pPr>
                      <a:r>
                        <a:rPr sz="900" spc="-5" dirty="0">
                          <a:latin typeface="Arial"/>
                          <a:cs typeface="Arial"/>
                        </a:rPr>
                        <a:t>MODE1/2</a:t>
                      </a:r>
                      <a:endParaRPr sz="900" dirty="0">
                        <a:latin typeface="Arial"/>
                        <a:cs typeface="Arial"/>
                      </a:endParaRPr>
                    </a:p>
                  </a:txBody>
                  <a:tcPr marL="0" marR="0" marT="0" marB="0">
                    <a:lnL w="12700">
                      <a:solidFill>
                        <a:srgbClr val="FFFFFF"/>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nSpc>
                          <a:spcPct val="100000"/>
                        </a:lnSpc>
                      </a:pPr>
                      <a:endParaRPr sz="1000" dirty="0">
                        <a:latin typeface="Times New Roman"/>
                        <a:cs typeface="Times New Roman"/>
                      </a:endParaRPr>
                    </a:p>
                    <a:p>
                      <a:pPr>
                        <a:lnSpc>
                          <a:spcPct val="100000"/>
                        </a:lnSpc>
                      </a:pPr>
                      <a:endParaRPr sz="1000" dirty="0">
                        <a:latin typeface="Times New Roman"/>
                        <a:cs typeface="Times New Roman"/>
                      </a:endParaRPr>
                    </a:p>
                    <a:p>
                      <a:pPr>
                        <a:lnSpc>
                          <a:spcPct val="100000"/>
                        </a:lnSpc>
                        <a:spcBef>
                          <a:spcPts val="10"/>
                        </a:spcBef>
                      </a:pPr>
                      <a:endParaRPr sz="1200" dirty="0">
                        <a:latin typeface="Times New Roman"/>
                        <a:cs typeface="Times New Roman"/>
                      </a:endParaRPr>
                    </a:p>
                    <a:p>
                      <a:pPr algn="ctr">
                        <a:lnSpc>
                          <a:spcPct val="100000"/>
                        </a:lnSpc>
                        <a:spcBef>
                          <a:spcPts val="5"/>
                        </a:spcBef>
                      </a:pPr>
                      <a:r>
                        <a:rPr sz="900" dirty="0">
                          <a:latin typeface="Arial"/>
                          <a:cs typeface="Arial"/>
                        </a:rPr>
                        <a:t>O</a:t>
                      </a:r>
                    </a:p>
                  </a:txBody>
                  <a:tcPr marL="0" marR="0" marT="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nSpc>
                          <a:spcPct val="100000"/>
                        </a:lnSpc>
                      </a:pPr>
                      <a:endParaRPr sz="1000" dirty="0">
                        <a:latin typeface="Times New Roman"/>
                        <a:cs typeface="Times New Roman"/>
                      </a:endParaRPr>
                    </a:p>
                  </a:txBody>
                  <a:tcPr marL="0" marR="0" marT="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nSpc>
                          <a:spcPct val="100000"/>
                        </a:lnSpc>
                      </a:pPr>
                      <a:endParaRPr sz="1000" dirty="0">
                        <a:latin typeface="Times New Roman"/>
                        <a:cs typeface="Times New Roman"/>
                      </a:endParaRPr>
                    </a:p>
                    <a:p>
                      <a:pPr>
                        <a:lnSpc>
                          <a:spcPct val="100000"/>
                        </a:lnSpc>
                      </a:pPr>
                      <a:endParaRPr sz="1000" dirty="0">
                        <a:latin typeface="Times New Roman"/>
                        <a:cs typeface="Times New Roman"/>
                      </a:endParaRPr>
                    </a:p>
                    <a:p>
                      <a:pPr>
                        <a:lnSpc>
                          <a:spcPct val="100000"/>
                        </a:lnSpc>
                        <a:spcBef>
                          <a:spcPts val="50"/>
                        </a:spcBef>
                      </a:pPr>
                      <a:endParaRPr sz="1150" dirty="0">
                        <a:latin typeface="Times New Roman"/>
                        <a:cs typeface="Times New Roman"/>
                      </a:endParaRPr>
                    </a:p>
                    <a:p>
                      <a:pPr marL="635" algn="ctr">
                        <a:lnSpc>
                          <a:spcPct val="100000"/>
                        </a:lnSpc>
                      </a:pPr>
                      <a:r>
                        <a:rPr sz="900" spc="-10" dirty="0">
                          <a:latin typeface="Arial"/>
                          <a:cs typeface="Arial"/>
                        </a:rPr>
                        <a:t>MODE</a:t>
                      </a:r>
                      <a:r>
                        <a:rPr sz="900" spc="-15" dirty="0">
                          <a:latin typeface="Arial"/>
                          <a:cs typeface="Arial"/>
                        </a:rPr>
                        <a:t> </a:t>
                      </a:r>
                      <a:r>
                        <a:rPr sz="900" spc="-5" dirty="0">
                          <a:latin typeface="Arial"/>
                          <a:cs typeface="Arial"/>
                        </a:rPr>
                        <a:t>Level</a:t>
                      </a:r>
                      <a:endParaRPr sz="900" dirty="0">
                        <a:latin typeface="Arial"/>
                        <a:cs typeface="Arial"/>
                      </a:endParaRPr>
                    </a:p>
                  </a:txBody>
                  <a:tcPr marL="0" marR="0" marT="0" marB="0">
                    <a:lnL w="3175">
                      <a:solidFill>
                        <a:srgbClr val="000000"/>
                      </a:solidFill>
                      <a:prstDash val="solid"/>
                    </a:lnL>
                    <a:lnT w="3175">
                      <a:solidFill>
                        <a:srgbClr val="000000"/>
                      </a:solidFill>
                      <a:prstDash val="solid"/>
                    </a:lnT>
                    <a:lnB w="3175">
                      <a:solidFill>
                        <a:srgbClr val="000000"/>
                      </a:solidFill>
                      <a:prstDash val="solid"/>
                    </a:lnB>
                  </a:tcPr>
                </a:tc>
                <a:extLst>
                  <a:ext uri="{0D108BD9-81ED-4DB2-BD59-A6C34878D82A}">
                    <a16:rowId xmlns:a16="http://schemas.microsoft.com/office/drawing/2014/main" val="10003"/>
                  </a:ext>
                </a:extLst>
              </a:tr>
              <a:tr h="1107440">
                <a:tc>
                  <a:txBody>
                    <a:bodyPr/>
                    <a:lstStyle/>
                    <a:p>
                      <a:pPr>
                        <a:lnSpc>
                          <a:spcPct val="100000"/>
                        </a:lnSpc>
                      </a:pPr>
                      <a:endParaRPr sz="1000" dirty="0">
                        <a:latin typeface="Times New Roman"/>
                        <a:cs typeface="Times New Roman"/>
                      </a:endParaRPr>
                    </a:p>
                    <a:p>
                      <a:pPr>
                        <a:lnSpc>
                          <a:spcPct val="100000"/>
                        </a:lnSpc>
                      </a:pPr>
                      <a:endParaRPr sz="1000" dirty="0">
                        <a:latin typeface="Times New Roman"/>
                        <a:cs typeface="Times New Roman"/>
                      </a:endParaRPr>
                    </a:p>
                    <a:p>
                      <a:pPr>
                        <a:lnSpc>
                          <a:spcPct val="100000"/>
                        </a:lnSpc>
                        <a:spcBef>
                          <a:spcPts val="20"/>
                        </a:spcBef>
                      </a:pPr>
                      <a:endParaRPr sz="1300" dirty="0">
                        <a:latin typeface="Times New Roman"/>
                        <a:cs typeface="Times New Roman"/>
                      </a:endParaRPr>
                    </a:p>
                    <a:p>
                      <a:pPr marR="147955" algn="r">
                        <a:lnSpc>
                          <a:spcPct val="100000"/>
                        </a:lnSpc>
                      </a:pPr>
                      <a:r>
                        <a:rPr sz="900" dirty="0">
                          <a:latin typeface="Arial"/>
                          <a:cs typeface="Arial"/>
                        </a:rPr>
                        <a:t>ADO</a:t>
                      </a:r>
                      <a:r>
                        <a:rPr sz="900" spc="-55" dirty="0">
                          <a:latin typeface="Arial"/>
                          <a:cs typeface="Arial"/>
                        </a:rPr>
                        <a:t> </a:t>
                      </a:r>
                      <a:r>
                        <a:rPr sz="900" dirty="0">
                          <a:latin typeface="Arial"/>
                          <a:cs typeface="Arial"/>
                        </a:rPr>
                        <a:t>1~24</a:t>
                      </a:r>
                    </a:p>
                  </a:txBody>
                  <a:tcPr marL="0" marR="0" marT="0" marB="0">
                    <a:lnL w="12700">
                      <a:solidFill>
                        <a:srgbClr val="FFFFFF"/>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nSpc>
                          <a:spcPct val="100000"/>
                        </a:lnSpc>
                      </a:pPr>
                      <a:endParaRPr sz="1000" dirty="0">
                        <a:latin typeface="Times New Roman"/>
                        <a:cs typeface="Times New Roman"/>
                      </a:endParaRPr>
                    </a:p>
                    <a:p>
                      <a:pPr>
                        <a:lnSpc>
                          <a:spcPct val="100000"/>
                        </a:lnSpc>
                      </a:pPr>
                      <a:endParaRPr sz="1000" dirty="0">
                        <a:latin typeface="Times New Roman"/>
                        <a:cs typeface="Times New Roman"/>
                      </a:endParaRPr>
                    </a:p>
                    <a:p>
                      <a:pPr>
                        <a:lnSpc>
                          <a:spcPct val="100000"/>
                        </a:lnSpc>
                        <a:spcBef>
                          <a:spcPts val="20"/>
                        </a:spcBef>
                      </a:pPr>
                      <a:endParaRPr sz="1300" dirty="0">
                        <a:latin typeface="Times New Roman"/>
                        <a:cs typeface="Times New Roman"/>
                      </a:endParaRPr>
                    </a:p>
                    <a:p>
                      <a:pPr algn="ctr">
                        <a:lnSpc>
                          <a:spcPct val="100000"/>
                        </a:lnSpc>
                      </a:pPr>
                      <a:r>
                        <a:rPr sz="900" dirty="0">
                          <a:latin typeface="Arial"/>
                          <a:cs typeface="Arial"/>
                        </a:rPr>
                        <a:t>O</a:t>
                      </a:r>
                    </a:p>
                  </a:txBody>
                  <a:tcPr marL="0" marR="0" marT="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nSpc>
                          <a:spcPct val="100000"/>
                        </a:lnSpc>
                      </a:pPr>
                      <a:endParaRPr sz="1000" dirty="0">
                        <a:latin typeface="Times New Roman"/>
                        <a:cs typeface="Times New Roman"/>
                      </a:endParaRPr>
                    </a:p>
                  </a:txBody>
                  <a:tcPr marL="0" marR="0" marT="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nSpc>
                          <a:spcPct val="100000"/>
                        </a:lnSpc>
                      </a:pPr>
                      <a:endParaRPr sz="1000" dirty="0">
                        <a:latin typeface="Times New Roman"/>
                        <a:cs typeface="Times New Roman"/>
                      </a:endParaRPr>
                    </a:p>
                    <a:p>
                      <a:pPr>
                        <a:lnSpc>
                          <a:spcPct val="100000"/>
                        </a:lnSpc>
                      </a:pPr>
                      <a:endParaRPr sz="1000" dirty="0">
                        <a:latin typeface="Times New Roman"/>
                        <a:cs typeface="Times New Roman"/>
                      </a:endParaRPr>
                    </a:p>
                    <a:p>
                      <a:pPr>
                        <a:lnSpc>
                          <a:spcPct val="100000"/>
                        </a:lnSpc>
                      </a:pPr>
                      <a:endParaRPr sz="1300" dirty="0">
                        <a:latin typeface="Times New Roman"/>
                        <a:cs typeface="Times New Roman"/>
                      </a:endParaRPr>
                    </a:p>
                    <a:p>
                      <a:pPr marL="635" algn="ctr">
                        <a:lnSpc>
                          <a:spcPct val="100000"/>
                        </a:lnSpc>
                      </a:pPr>
                      <a:r>
                        <a:rPr sz="900" spc="-5" dirty="0">
                          <a:latin typeface="Arial"/>
                          <a:cs typeface="Arial"/>
                        </a:rPr>
                        <a:t>Analog</a:t>
                      </a:r>
                      <a:r>
                        <a:rPr sz="900" spc="-40" dirty="0">
                          <a:latin typeface="Arial"/>
                          <a:cs typeface="Arial"/>
                        </a:rPr>
                        <a:t> </a:t>
                      </a:r>
                      <a:r>
                        <a:rPr sz="900" dirty="0">
                          <a:latin typeface="Arial"/>
                          <a:cs typeface="Arial"/>
                        </a:rPr>
                        <a:t>Data</a:t>
                      </a:r>
                      <a:r>
                        <a:rPr sz="900" spc="-30" dirty="0">
                          <a:latin typeface="Arial"/>
                          <a:cs typeface="Arial"/>
                        </a:rPr>
                        <a:t> </a:t>
                      </a:r>
                      <a:r>
                        <a:rPr sz="900" spc="-5" dirty="0">
                          <a:latin typeface="Arial"/>
                          <a:cs typeface="Arial"/>
                        </a:rPr>
                        <a:t>Out</a:t>
                      </a:r>
                      <a:endParaRPr sz="900" dirty="0">
                        <a:latin typeface="Arial"/>
                        <a:cs typeface="Arial"/>
                      </a:endParaRPr>
                    </a:p>
                  </a:txBody>
                  <a:tcPr marL="0" marR="0" marT="0" marB="0">
                    <a:lnL w="3175">
                      <a:solidFill>
                        <a:srgbClr val="000000"/>
                      </a:solidFill>
                      <a:prstDash val="solid"/>
                    </a:lnL>
                    <a:lnT w="3175">
                      <a:solidFill>
                        <a:srgbClr val="000000"/>
                      </a:solidFill>
                      <a:prstDash val="solid"/>
                    </a:lnT>
                    <a:lnB w="3175">
                      <a:solidFill>
                        <a:srgbClr val="000000"/>
                      </a:solidFill>
                      <a:prstDash val="solid"/>
                    </a:lnB>
                  </a:tcPr>
                </a:tc>
                <a:extLst>
                  <a:ext uri="{0D108BD9-81ED-4DB2-BD59-A6C34878D82A}">
                    <a16:rowId xmlns:a16="http://schemas.microsoft.com/office/drawing/2014/main" val="10004"/>
                  </a:ext>
                </a:extLst>
              </a:tr>
              <a:tr h="1121410">
                <a:tc>
                  <a:txBody>
                    <a:bodyPr/>
                    <a:lstStyle/>
                    <a:p>
                      <a:pPr>
                        <a:lnSpc>
                          <a:spcPct val="100000"/>
                        </a:lnSpc>
                      </a:pPr>
                      <a:endParaRPr sz="1000" dirty="0">
                        <a:latin typeface="Times New Roman"/>
                        <a:cs typeface="Times New Roman"/>
                      </a:endParaRPr>
                    </a:p>
                    <a:p>
                      <a:pPr>
                        <a:lnSpc>
                          <a:spcPct val="100000"/>
                        </a:lnSpc>
                      </a:pPr>
                      <a:endParaRPr sz="1000" dirty="0">
                        <a:latin typeface="Times New Roman"/>
                        <a:cs typeface="Times New Roman"/>
                      </a:endParaRPr>
                    </a:p>
                    <a:p>
                      <a:pPr>
                        <a:lnSpc>
                          <a:spcPct val="100000"/>
                        </a:lnSpc>
                        <a:spcBef>
                          <a:spcPts val="15"/>
                        </a:spcBef>
                      </a:pPr>
                      <a:endParaRPr sz="1350" dirty="0">
                        <a:latin typeface="Times New Roman"/>
                        <a:cs typeface="Times New Roman"/>
                      </a:endParaRPr>
                    </a:p>
                    <a:p>
                      <a:pPr marL="262255">
                        <a:lnSpc>
                          <a:spcPct val="100000"/>
                        </a:lnSpc>
                        <a:spcBef>
                          <a:spcPts val="5"/>
                        </a:spcBef>
                      </a:pPr>
                      <a:r>
                        <a:rPr sz="900" spc="-5" dirty="0">
                          <a:latin typeface="Arial"/>
                          <a:cs typeface="Arial"/>
                        </a:rPr>
                        <a:t>VDDD</a:t>
                      </a:r>
                      <a:endParaRPr sz="900" dirty="0">
                        <a:latin typeface="Arial"/>
                        <a:cs typeface="Arial"/>
                      </a:endParaRPr>
                    </a:p>
                  </a:txBody>
                  <a:tcPr marL="0" marR="0" marT="0" marB="0">
                    <a:lnL w="12700">
                      <a:solidFill>
                        <a:srgbClr val="FFFFFF"/>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nSpc>
                          <a:spcPct val="100000"/>
                        </a:lnSpc>
                      </a:pPr>
                      <a:endParaRPr sz="1000" dirty="0">
                        <a:latin typeface="Times New Roman"/>
                        <a:cs typeface="Times New Roman"/>
                      </a:endParaRPr>
                    </a:p>
                    <a:p>
                      <a:pPr>
                        <a:lnSpc>
                          <a:spcPct val="100000"/>
                        </a:lnSpc>
                      </a:pPr>
                      <a:endParaRPr sz="1000" dirty="0">
                        <a:latin typeface="Times New Roman"/>
                        <a:cs typeface="Times New Roman"/>
                      </a:endParaRPr>
                    </a:p>
                    <a:p>
                      <a:pPr>
                        <a:lnSpc>
                          <a:spcPct val="100000"/>
                        </a:lnSpc>
                        <a:spcBef>
                          <a:spcPts val="15"/>
                        </a:spcBef>
                      </a:pPr>
                      <a:endParaRPr sz="1350" dirty="0">
                        <a:latin typeface="Times New Roman"/>
                        <a:cs typeface="Times New Roman"/>
                      </a:endParaRPr>
                    </a:p>
                    <a:p>
                      <a:pPr algn="ctr">
                        <a:lnSpc>
                          <a:spcPct val="100000"/>
                        </a:lnSpc>
                        <a:spcBef>
                          <a:spcPts val="5"/>
                        </a:spcBef>
                      </a:pPr>
                      <a:r>
                        <a:rPr sz="900" dirty="0">
                          <a:latin typeface="Arial"/>
                          <a:cs typeface="Arial"/>
                        </a:rPr>
                        <a:t>-</a:t>
                      </a:r>
                    </a:p>
                  </a:txBody>
                  <a:tcPr marL="0" marR="0" marT="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nSpc>
                          <a:spcPct val="100000"/>
                        </a:lnSpc>
                      </a:pPr>
                      <a:endParaRPr sz="1000" dirty="0">
                        <a:latin typeface="Times New Roman"/>
                        <a:cs typeface="Times New Roman"/>
                      </a:endParaRPr>
                    </a:p>
                  </a:txBody>
                  <a:tcPr marL="0" marR="0" marT="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nSpc>
                          <a:spcPct val="100000"/>
                        </a:lnSpc>
                      </a:pPr>
                      <a:endParaRPr sz="1000" dirty="0">
                        <a:latin typeface="Times New Roman"/>
                        <a:cs typeface="Times New Roman"/>
                      </a:endParaRPr>
                    </a:p>
                    <a:p>
                      <a:pPr>
                        <a:lnSpc>
                          <a:spcPct val="100000"/>
                        </a:lnSpc>
                      </a:pPr>
                      <a:endParaRPr sz="1000" dirty="0">
                        <a:latin typeface="Times New Roman"/>
                        <a:cs typeface="Times New Roman"/>
                      </a:endParaRPr>
                    </a:p>
                    <a:p>
                      <a:pPr>
                        <a:lnSpc>
                          <a:spcPct val="100000"/>
                        </a:lnSpc>
                        <a:spcBef>
                          <a:spcPts val="55"/>
                        </a:spcBef>
                      </a:pPr>
                      <a:endParaRPr sz="1300" dirty="0">
                        <a:latin typeface="Times New Roman"/>
                        <a:cs typeface="Times New Roman"/>
                      </a:endParaRPr>
                    </a:p>
                    <a:p>
                      <a:pPr marL="635" algn="ctr">
                        <a:lnSpc>
                          <a:spcPct val="100000"/>
                        </a:lnSpc>
                      </a:pPr>
                      <a:r>
                        <a:rPr sz="900" dirty="0">
                          <a:latin typeface="Arial"/>
                          <a:cs typeface="Arial"/>
                        </a:rPr>
                        <a:t>Digital</a:t>
                      </a:r>
                      <a:r>
                        <a:rPr sz="900" spc="-60" dirty="0">
                          <a:latin typeface="Arial"/>
                          <a:cs typeface="Arial"/>
                        </a:rPr>
                        <a:t> </a:t>
                      </a:r>
                      <a:r>
                        <a:rPr sz="900" spc="-5" dirty="0">
                          <a:latin typeface="Arial"/>
                          <a:cs typeface="Arial"/>
                        </a:rPr>
                        <a:t>VDD</a:t>
                      </a:r>
                      <a:endParaRPr sz="900" dirty="0">
                        <a:latin typeface="Arial"/>
                        <a:cs typeface="Arial"/>
                      </a:endParaRPr>
                    </a:p>
                  </a:txBody>
                  <a:tcPr marL="0" marR="0" marT="0" marB="0">
                    <a:lnL w="3175">
                      <a:solidFill>
                        <a:srgbClr val="000000"/>
                      </a:solidFill>
                      <a:prstDash val="solid"/>
                    </a:lnL>
                    <a:lnT w="3175">
                      <a:solidFill>
                        <a:srgbClr val="000000"/>
                      </a:solidFill>
                      <a:prstDash val="solid"/>
                    </a:lnT>
                    <a:lnB w="3175">
                      <a:solidFill>
                        <a:srgbClr val="000000"/>
                      </a:solidFill>
                      <a:prstDash val="solid"/>
                    </a:lnB>
                  </a:tcPr>
                </a:tc>
                <a:extLst>
                  <a:ext uri="{0D108BD9-81ED-4DB2-BD59-A6C34878D82A}">
                    <a16:rowId xmlns:a16="http://schemas.microsoft.com/office/drawing/2014/main" val="10005"/>
                  </a:ext>
                </a:extLst>
              </a:tr>
              <a:tr h="1075055">
                <a:tc>
                  <a:txBody>
                    <a:bodyPr/>
                    <a:lstStyle/>
                    <a:p>
                      <a:pPr>
                        <a:lnSpc>
                          <a:spcPct val="100000"/>
                        </a:lnSpc>
                      </a:pPr>
                      <a:endParaRPr sz="1000" dirty="0">
                        <a:latin typeface="Times New Roman"/>
                        <a:cs typeface="Times New Roman"/>
                      </a:endParaRPr>
                    </a:p>
                    <a:p>
                      <a:pPr>
                        <a:lnSpc>
                          <a:spcPct val="100000"/>
                        </a:lnSpc>
                      </a:pPr>
                      <a:endParaRPr sz="1000" dirty="0">
                        <a:latin typeface="Times New Roman"/>
                        <a:cs typeface="Times New Roman"/>
                      </a:endParaRPr>
                    </a:p>
                    <a:p>
                      <a:pPr>
                        <a:lnSpc>
                          <a:spcPct val="100000"/>
                        </a:lnSpc>
                        <a:spcBef>
                          <a:spcPts val="10"/>
                        </a:spcBef>
                      </a:pPr>
                      <a:endParaRPr sz="1200" dirty="0">
                        <a:latin typeface="Times New Roman"/>
                        <a:cs typeface="Times New Roman"/>
                      </a:endParaRPr>
                    </a:p>
                    <a:p>
                      <a:pPr marL="265430">
                        <a:lnSpc>
                          <a:spcPct val="100000"/>
                        </a:lnSpc>
                      </a:pPr>
                      <a:r>
                        <a:rPr sz="900" spc="-5" dirty="0">
                          <a:latin typeface="Arial"/>
                          <a:cs typeface="Arial"/>
                        </a:rPr>
                        <a:t>VDDA</a:t>
                      </a:r>
                      <a:endParaRPr sz="900" dirty="0">
                        <a:latin typeface="Arial"/>
                        <a:cs typeface="Arial"/>
                      </a:endParaRPr>
                    </a:p>
                  </a:txBody>
                  <a:tcPr marL="0" marR="0" marT="0" marB="0">
                    <a:lnL w="12700">
                      <a:solidFill>
                        <a:srgbClr val="FFFFFF"/>
                      </a:solidFill>
                      <a:prstDash val="solid"/>
                    </a:lnL>
                    <a:lnR w="3175">
                      <a:solidFill>
                        <a:srgbClr val="000000"/>
                      </a:solidFill>
                      <a:prstDash val="solid"/>
                    </a:lnR>
                    <a:lnT w="3175">
                      <a:solidFill>
                        <a:srgbClr val="000000"/>
                      </a:solidFill>
                      <a:prstDash val="solid"/>
                    </a:lnT>
                    <a:lnB w="12700">
                      <a:solidFill>
                        <a:srgbClr val="000000"/>
                      </a:solidFill>
                      <a:prstDash val="solid"/>
                    </a:lnB>
                  </a:tcPr>
                </a:tc>
                <a:tc>
                  <a:txBody>
                    <a:bodyPr/>
                    <a:lstStyle/>
                    <a:p>
                      <a:pPr>
                        <a:lnSpc>
                          <a:spcPct val="100000"/>
                        </a:lnSpc>
                      </a:pPr>
                      <a:endParaRPr sz="1000" dirty="0">
                        <a:latin typeface="Times New Roman"/>
                        <a:cs typeface="Times New Roman"/>
                      </a:endParaRPr>
                    </a:p>
                    <a:p>
                      <a:pPr>
                        <a:lnSpc>
                          <a:spcPct val="100000"/>
                        </a:lnSpc>
                      </a:pPr>
                      <a:endParaRPr sz="1000" dirty="0">
                        <a:latin typeface="Times New Roman"/>
                        <a:cs typeface="Times New Roman"/>
                      </a:endParaRPr>
                    </a:p>
                    <a:p>
                      <a:pPr>
                        <a:lnSpc>
                          <a:spcPct val="100000"/>
                        </a:lnSpc>
                        <a:spcBef>
                          <a:spcPts val="10"/>
                        </a:spcBef>
                      </a:pPr>
                      <a:endParaRPr sz="1200" dirty="0">
                        <a:latin typeface="Times New Roman"/>
                        <a:cs typeface="Times New Roman"/>
                      </a:endParaRPr>
                    </a:p>
                    <a:p>
                      <a:pPr algn="ctr">
                        <a:lnSpc>
                          <a:spcPct val="100000"/>
                        </a:lnSpc>
                      </a:pPr>
                      <a:r>
                        <a:rPr sz="900" dirty="0">
                          <a:latin typeface="Arial"/>
                          <a:cs typeface="Arial"/>
                        </a:rPr>
                        <a:t>-</a:t>
                      </a:r>
                    </a:p>
                  </a:txBody>
                  <a:tcPr marL="0" marR="0" marT="0" marB="0">
                    <a:lnL w="3175">
                      <a:solidFill>
                        <a:srgbClr val="000000"/>
                      </a:solidFill>
                      <a:prstDash val="solid"/>
                    </a:lnL>
                    <a:lnR w="3175">
                      <a:solidFill>
                        <a:srgbClr val="000000"/>
                      </a:solidFill>
                      <a:prstDash val="solid"/>
                    </a:lnR>
                    <a:lnT w="3175">
                      <a:solidFill>
                        <a:srgbClr val="000000"/>
                      </a:solidFill>
                      <a:prstDash val="solid"/>
                    </a:lnT>
                    <a:lnB w="12700">
                      <a:solidFill>
                        <a:srgbClr val="000000"/>
                      </a:solidFill>
                      <a:prstDash val="solid"/>
                    </a:lnB>
                  </a:tcPr>
                </a:tc>
                <a:tc>
                  <a:txBody>
                    <a:bodyPr/>
                    <a:lstStyle/>
                    <a:p>
                      <a:pPr>
                        <a:lnSpc>
                          <a:spcPct val="100000"/>
                        </a:lnSpc>
                      </a:pPr>
                      <a:endParaRPr sz="1000" dirty="0">
                        <a:latin typeface="Times New Roman"/>
                        <a:cs typeface="Times New Roman"/>
                      </a:endParaRPr>
                    </a:p>
                  </a:txBody>
                  <a:tcPr marL="0" marR="0" marT="0" marB="0">
                    <a:lnL w="3175">
                      <a:solidFill>
                        <a:srgbClr val="000000"/>
                      </a:solidFill>
                      <a:prstDash val="solid"/>
                    </a:lnL>
                    <a:lnR w="3175">
                      <a:solidFill>
                        <a:srgbClr val="000000"/>
                      </a:solidFill>
                      <a:prstDash val="solid"/>
                    </a:lnR>
                    <a:lnT w="3175">
                      <a:solidFill>
                        <a:srgbClr val="000000"/>
                      </a:solidFill>
                      <a:prstDash val="solid"/>
                    </a:lnT>
                    <a:lnB w="12700">
                      <a:solidFill>
                        <a:srgbClr val="000000"/>
                      </a:solidFill>
                      <a:prstDash val="solid"/>
                    </a:lnB>
                  </a:tcPr>
                </a:tc>
                <a:tc>
                  <a:txBody>
                    <a:bodyPr/>
                    <a:lstStyle/>
                    <a:p>
                      <a:pPr>
                        <a:lnSpc>
                          <a:spcPct val="100000"/>
                        </a:lnSpc>
                      </a:pPr>
                      <a:endParaRPr sz="1000" dirty="0">
                        <a:latin typeface="Times New Roman"/>
                        <a:cs typeface="Times New Roman"/>
                      </a:endParaRPr>
                    </a:p>
                    <a:p>
                      <a:pPr>
                        <a:lnSpc>
                          <a:spcPct val="100000"/>
                        </a:lnSpc>
                      </a:pPr>
                      <a:endParaRPr sz="1000" dirty="0">
                        <a:latin typeface="Times New Roman"/>
                        <a:cs typeface="Times New Roman"/>
                      </a:endParaRPr>
                    </a:p>
                    <a:p>
                      <a:pPr>
                        <a:lnSpc>
                          <a:spcPct val="100000"/>
                        </a:lnSpc>
                        <a:spcBef>
                          <a:spcPts val="45"/>
                        </a:spcBef>
                      </a:pPr>
                      <a:endParaRPr sz="1150" dirty="0">
                        <a:latin typeface="Times New Roman"/>
                        <a:cs typeface="Times New Roman"/>
                      </a:endParaRPr>
                    </a:p>
                    <a:p>
                      <a:pPr marL="1905" algn="ctr">
                        <a:lnSpc>
                          <a:spcPct val="100000"/>
                        </a:lnSpc>
                      </a:pPr>
                      <a:r>
                        <a:rPr sz="900" spc="-5" dirty="0">
                          <a:latin typeface="Arial"/>
                          <a:cs typeface="Arial"/>
                        </a:rPr>
                        <a:t>Analog</a:t>
                      </a:r>
                      <a:r>
                        <a:rPr sz="900" spc="-45" dirty="0">
                          <a:latin typeface="Arial"/>
                          <a:cs typeface="Arial"/>
                        </a:rPr>
                        <a:t> </a:t>
                      </a:r>
                      <a:r>
                        <a:rPr sz="900" spc="-5" dirty="0">
                          <a:latin typeface="Arial"/>
                          <a:cs typeface="Arial"/>
                        </a:rPr>
                        <a:t>VDD</a:t>
                      </a:r>
                      <a:endParaRPr sz="900" dirty="0">
                        <a:latin typeface="Arial"/>
                        <a:cs typeface="Arial"/>
                      </a:endParaRPr>
                    </a:p>
                  </a:txBody>
                  <a:tcPr marL="0" marR="0" marT="0" marB="0">
                    <a:lnL w="3175">
                      <a:solidFill>
                        <a:srgbClr val="000000"/>
                      </a:solidFill>
                      <a:prstDash val="solid"/>
                    </a:lnL>
                    <a:lnT w="3175">
                      <a:solidFill>
                        <a:srgbClr val="000000"/>
                      </a:solidFill>
                      <a:prstDash val="solid"/>
                    </a:lnT>
                    <a:lnB w="12700">
                      <a:solidFill>
                        <a:srgbClr val="000000"/>
                      </a:solidFill>
                      <a:prstDash val="solid"/>
                    </a:lnB>
                  </a:tcPr>
                </a:tc>
                <a:extLst>
                  <a:ext uri="{0D108BD9-81ED-4DB2-BD59-A6C34878D82A}">
                    <a16:rowId xmlns:a16="http://schemas.microsoft.com/office/drawing/2014/main" val="10006"/>
                  </a:ext>
                </a:extLst>
              </a:tr>
            </a:tbl>
          </a:graphicData>
        </a:graphic>
      </p:graphicFrame>
      <p:pic>
        <p:nvPicPr>
          <p:cNvPr id="7" name="object 7"/>
          <p:cNvPicPr/>
          <p:nvPr/>
        </p:nvPicPr>
        <p:blipFill>
          <a:blip r:embed="rId2" cstate="print"/>
          <a:stretch>
            <a:fillRect/>
          </a:stretch>
        </p:blipFill>
        <p:spPr>
          <a:xfrm>
            <a:off x="2883407" y="1508818"/>
            <a:ext cx="950975" cy="917344"/>
          </a:xfrm>
          <a:prstGeom prst="rect">
            <a:avLst/>
          </a:prstGeom>
        </p:spPr>
      </p:pic>
      <p:pic>
        <p:nvPicPr>
          <p:cNvPr id="8" name="object 8"/>
          <p:cNvPicPr/>
          <p:nvPr/>
        </p:nvPicPr>
        <p:blipFill>
          <a:blip r:embed="rId2" cstate="print"/>
          <a:stretch>
            <a:fillRect/>
          </a:stretch>
        </p:blipFill>
        <p:spPr>
          <a:xfrm>
            <a:off x="2883407" y="2560378"/>
            <a:ext cx="950975" cy="917344"/>
          </a:xfrm>
          <a:prstGeom prst="rect">
            <a:avLst/>
          </a:prstGeom>
        </p:spPr>
      </p:pic>
      <p:pic>
        <p:nvPicPr>
          <p:cNvPr id="9" name="object 9"/>
          <p:cNvPicPr/>
          <p:nvPr/>
        </p:nvPicPr>
        <p:blipFill>
          <a:blip r:embed="rId3" cstate="print"/>
          <a:stretch>
            <a:fillRect/>
          </a:stretch>
        </p:blipFill>
        <p:spPr>
          <a:xfrm>
            <a:off x="2906316" y="3613403"/>
            <a:ext cx="838151" cy="905255"/>
          </a:xfrm>
          <a:prstGeom prst="rect">
            <a:avLst/>
          </a:prstGeom>
        </p:spPr>
      </p:pic>
      <p:pic>
        <p:nvPicPr>
          <p:cNvPr id="10" name="object 10"/>
          <p:cNvPicPr/>
          <p:nvPr/>
        </p:nvPicPr>
        <p:blipFill>
          <a:blip r:embed="rId3" cstate="print"/>
          <a:stretch>
            <a:fillRect/>
          </a:stretch>
        </p:blipFill>
        <p:spPr>
          <a:xfrm>
            <a:off x="2906316" y="4675661"/>
            <a:ext cx="838151" cy="906720"/>
          </a:xfrm>
          <a:prstGeom prst="rect">
            <a:avLst/>
          </a:prstGeom>
        </p:spPr>
      </p:pic>
      <p:pic>
        <p:nvPicPr>
          <p:cNvPr id="11" name="object 11"/>
          <p:cNvPicPr/>
          <p:nvPr/>
        </p:nvPicPr>
        <p:blipFill>
          <a:blip r:embed="rId4" cstate="print"/>
          <a:stretch>
            <a:fillRect/>
          </a:stretch>
        </p:blipFill>
        <p:spPr>
          <a:xfrm>
            <a:off x="2920062" y="5956372"/>
            <a:ext cx="755816" cy="514386"/>
          </a:xfrm>
          <a:prstGeom prst="rect">
            <a:avLst/>
          </a:prstGeom>
        </p:spPr>
      </p:pic>
      <p:pic>
        <p:nvPicPr>
          <p:cNvPr id="12" name="object 12"/>
          <p:cNvPicPr/>
          <p:nvPr/>
        </p:nvPicPr>
        <p:blipFill>
          <a:blip r:embed="rId4" cstate="print"/>
          <a:stretch>
            <a:fillRect/>
          </a:stretch>
        </p:blipFill>
        <p:spPr>
          <a:xfrm>
            <a:off x="2906346" y="7091752"/>
            <a:ext cx="755816" cy="514386"/>
          </a:xfrm>
          <a:prstGeom prst="rect">
            <a:avLst/>
          </a:prstGeom>
        </p:spPr>
      </p:pic>
      <p:sp>
        <p:nvSpPr>
          <p:cNvPr id="16" name="TextBox 15">
            <a:extLst>
              <a:ext uri="{FF2B5EF4-FFF2-40B4-BE49-F238E27FC236}">
                <a16:creationId xmlns:a16="http://schemas.microsoft.com/office/drawing/2014/main" id="{B2327F5F-E87A-32F8-6B3F-5EA2ED9D8E81}"/>
              </a:ext>
            </a:extLst>
          </p:cNvPr>
          <p:cNvSpPr txBox="1"/>
          <p:nvPr/>
        </p:nvSpPr>
        <p:spPr>
          <a:xfrm>
            <a:off x="3188027" y="1490372"/>
            <a:ext cx="220144" cy="107722"/>
          </a:xfrm>
          <a:prstGeom prst="rect">
            <a:avLst/>
          </a:prstGeom>
          <a:solidFill>
            <a:schemeClr val="bg1"/>
          </a:solidFill>
        </p:spPr>
        <p:txBody>
          <a:bodyPr wrap="square" lIns="0" tIns="0" rIns="0" bIns="0" rtlCol="0">
            <a:spAutoFit/>
          </a:bodyPr>
          <a:lstStyle/>
          <a:p>
            <a:r>
              <a:rPr lang="en-US" altLang="ko-KR" sz="700" dirty="0"/>
              <a:t>VDDD</a:t>
            </a:r>
            <a:endParaRPr lang="ko-KR" altLang="en-US" sz="500" dirty="0"/>
          </a:p>
        </p:txBody>
      </p:sp>
      <p:sp>
        <p:nvSpPr>
          <p:cNvPr id="17" name="TextBox 16">
            <a:extLst>
              <a:ext uri="{FF2B5EF4-FFF2-40B4-BE49-F238E27FC236}">
                <a16:creationId xmlns:a16="http://schemas.microsoft.com/office/drawing/2014/main" id="{361BF631-2765-8E93-2218-FCAD334F5A4A}"/>
              </a:ext>
            </a:extLst>
          </p:cNvPr>
          <p:cNvSpPr txBox="1"/>
          <p:nvPr/>
        </p:nvSpPr>
        <p:spPr>
          <a:xfrm>
            <a:off x="3188027" y="2497532"/>
            <a:ext cx="220144" cy="107722"/>
          </a:xfrm>
          <a:prstGeom prst="rect">
            <a:avLst/>
          </a:prstGeom>
          <a:solidFill>
            <a:schemeClr val="bg1"/>
          </a:solidFill>
        </p:spPr>
        <p:txBody>
          <a:bodyPr wrap="square" lIns="0" tIns="0" rIns="0" bIns="0" rtlCol="0">
            <a:spAutoFit/>
          </a:bodyPr>
          <a:lstStyle/>
          <a:p>
            <a:r>
              <a:rPr lang="en-US" altLang="ko-KR" sz="700" dirty="0"/>
              <a:t>VDDD</a:t>
            </a:r>
            <a:endParaRPr lang="ko-KR" altLang="en-US" sz="500" dirty="0"/>
          </a:p>
        </p:txBody>
      </p:sp>
      <p:sp>
        <p:nvSpPr>
          <p:cNvPr id="18" name="TextBox 17">
            <a:extLst>
              <a:ext uri="{FF2B5EF4-FFF2-40B4-BE49-F238E27FC236}">
                <a16:creationId xmlns:a16="http://schemas.microsoft.com/office/drawing/2014/main" id="{2595D9C7-3057-8FBF-90BE-1ABAFFB26E3E}"/>
              </a:ext>
            </a:extLst>
          </p:cNvPr>
          <p:cNvSpPr txBox="1"/>
          <p:nvPr/>
        </p:nvSpPr>
        <p:spPr>
          <a:xfrm>
            <a:off x="3188027" y="3564332"/>
            <a:ext cx="220144" cy="107722"/>
          </a:xfrm>
          <a:prstGeom prst="rect">
            <a:avLst/>
          </a:prstGeom>
          <a:solidFill>
            <a:schemeClr val="bg1"/>
          </a:solidFill>
        </p:spPr>
        <p:txBody>
          <a:bodyPr wrap="square" lIns="0" tIns="0" rIns="0" bIns="0" rtlCol="0">
            <a:spAutoFit/>
          </a:bodyPr>
          <a:lstStyle/>
          <a:p>
            <a:r>
              <a:rPr lang="en-US" altLang="ko-KR" sz="700" dirty="0"/>
              <a:t>VDDD</a:t>
            </a:r>
            <a:endParaRPr lang="ko-KR" altLang="en-US" sz="500" dirty="0"/>
          </a:p>
        </p:txBody>
      </p:sp>
      <p:sp>
        <p:nvSpPr>
          <p:cNvPr id="19" name="TextBox 18">
            <a:extLst>
              <a:ext uri="{FF2B5EF4-FFF2-40B4-BE49-F238E27FC236}">
                <a16:creationId xmlns:a16="http://schemas.microsoft.com/office/drawing/2014/main" id="{C792C265-FCA6-D4E2-7246-6FF2E4D9569F}"/>
              </a:ext>
            </a:extLst>
          </p:cNvPr>
          <p:cNvSpPr txBox="1"/>
          <p:nvPr/>
        </p:nvSpPr>
        <p:spPr>
          <a:xfrm>
            <a:off x="3188027" y="4623026"/>
            <a:ext cx="220144" cy="107722"/>
          </a:xfrm>
          <a:prstGeom prst="rect">
            <a:avLst/>
          </a:prstGeom>
          <a:solidFill>
            <a:schemeClr val="bg1"/>
          </a:solidFill>
        </p:spPr>
        <p:txBody>
          <a:bodyPr wrap="square" lIns="0" tIns="0" rIns="0" bIns="0" rtlCol="0">
            <a:spAutoFit/>
          </a:bodyPr>
          <a:lstStyle/>
          <a:p>
            <a:r>
              <a:rPr lang="en-US" altLang="ko-KR" sz="700" dirty="0"/>
              <a:t>VDDD</a:t>
            </a:r>
            <a:endParaRPr lang="ko-KR" altLang="en-US" sz="500" dirty="0"/>
          </a:p>
        </p:txBody>
      </p:sp>
      <p:cxnSp>
        <p:nvCxnSpPr>
          <p:cNvPr id="21" name="직선 연결선 20">
            <a:extLst>
              <a:ext uri="{FF2B5EF4-FFF2-40B4-BE49-F238E27FC236}">
                <a16:creationId xmlns:a16="http://schemas.microsoft.com/office/drawing/2014/main" id="{0B6AA969-F415-A689-2F90-A2AA5E87C87F}"/>
              </a:ext>
            </a:extLst>
          </p:cNvPr>
          <p:cNvCxnSpPr/>
          <p:nvPr/>
        </p:nvCxnSpPr>
        <p:spPr>
          <a:xfrm>
            <a:off x="3238500" y="1605714"/>
            <a:ext cx="144780" cy="0"/>
          </a:xfrm>
          <a:prstGeom prst="line">
            <a:avLst/>
          </a:prstGeom>
        </p:spPr>
        <p:style>
          <a:lnRef idx="1">
            <a:schemeClr val="dk1"/>
          </a:lnRef>
          <a:fillRef idx="0">
            <a:schemeClr val="dk1"/>
          </a:fillRef>
          <a:effectRef idx="0">
            <a:schemeClr val="dk1"/>
          </a:effectRef>
          <a:fontRef idx="minor">
            <a:schemeClr val="tx1"/>
          </a:fontRef>
        </p:style>
      </p:cxnSp>
      <p:sp>
        <p:nvSpPr>
          <p:cNvPr id="20" name="object 9">
            <a:extLst>
              <a:ext uri="{FF2B5EF4-FFF2-40B4-BE49-F238E27FC236}">
                <a16:creationId xmlns:a16="http://schemas.microsoft.com/office/drawing/2014/main" id="{CC2705C5-B17F-A718-DF6C-A8305AEC50A7}"/>
              </a:ext>
            </a:extLst>
          </p:cNvPr>
          <p:cNvSpPr txBox="1"/>
          <p:nvPr/>
        </p:nvSpPr>
        <p:spPr>
          <a:xfrm>
            <a:off x="304800" y="9067800"/>
            <a:ext cx="2078355" cy="289823"/>
          </a:xfrm>
          <a:prstGeom prst="rect">
            <a:avLst/>
          </a:prstGeom>
        </p:spPr>
        <p:txBody>
          <a:bodyPr vert="horz" wrap="square" lIns="0" tIns="12700" rIns="0" bIns="0" rtlCol="0">
            <a:spAutoFit/>
          </a:bodyPr>
          <a:lstStyle/>
          <a:p>
            <a:pPr marL="12700">
              <a:lnSpc>
                <a:spcPct val="100000"/>
              </a:lnSpc>
              <a:spcBef>
                <a:spcPts val="100"/>
              </a:spcBef>
            </a:pPr>
            <a:r>
              <a:rPr b="1" spc="-5" dirty="0">
                <a:solidFill>
                  <a:srgbClr val="FF0000"/>
                </a:solidFill>
                <a:cs typeface="Perpetua Titling MT"/>
              </a:rPr>
              <a:t>CONFIDENTIAL</a:t>
            </a:r>
            <a:endParaRPr dirty="0">
              <a:cs typeface="Perpetua Titling MT"/>
            </a:endParaRPr>
          </a:p>
        </p:txBody>
      </p:sp>
      <p:sp>
        <p:nvSpPr>
          <p:cNvPr id="22" name="object 6">
            <a:extLst>
              <a:ext uri="{FF2B5EF4-FFF2-40B4-BE49-F238E27FC236}">
                <a16:creationId xmlns:a16="http://schemas.microsoft.com/office/drawing/2014/main" id="{1E242403-040E-764C-3562-DF76DD0583B7}"/>
              </a:ext>
            </a:extLst>
          </p:cNvPr>
          <p:cNvSpPr/>
          <p:nvPr/>
        </p:nvSpPr>
        <p:spPr>
          <a:xfrm>
            <a:off x="301676" y="9458756"/>
            <a:ext cx="6246495" cy="0"/>
          </a:xfrm>
          <a:custGeom>
            <a:avLst/>
            <a:gdLst/>
            <a:ahLst/>
            <a:cxnLst/>
            <a:rect l="l" t="t" r="r" b="b"/>
            <a:pathLst>
              <a:path w="6246495">
                <a:moveTo>
                  <a:pt x="0" y="0"/>
                </a:moveTo>
                <a:lnTo>
                  <a:pt x="6245999" y="0"/>
                </a:lnTo>
              </a:path>
            </a:pathLst>
          </a:custGeom>
          <a:ln w="25920">
            <a:solidFill>
              <a:srgbClr val="BFBFBF"/>
            </a:solidFill>
          </a:ln>
        </p:spPr>
        <p:txBody>
          <a:bodyPr wrap="square" lIns="0" tIns="0" rIns="0" bIns="0" rtlCol="0"/>
          <a:lstStyle/>
          <a:p>
            <a:endParaRPr/>
          </a:p>
        </p:txBody>
      </p:sp>
      <p:sp>
        <p:nvSpPr>
          <p:cNvPr id="23" name="슬라이드 번호 개체 틀 3">
            <a:hlinkClick r:id="rId5"/>
            <a:extLst>
              <a:ext uri="{FF2B5EF4-FFF2-40B4-BE49-F238E27FC236}">
                <a16:creationId xmlns:a16="http://schemas.microsoft.com/office/drawing/2014/main" id="{BEE3A6DD-9C79-7562-D80D-7E7DBFF67AAC}"/>
              </a:ext>
            </a:extLst>
          </p:cNvPr>
          <p:cNvSpPr txBox="1">
            <a:spLocks/>
          </p:cNvSpPr>
          <p:nvPr/>
        </p:nvSpPr>
        <p:spPr>
          <a:xfrm>
            <a:off x="5151602" y="9452864"/>
            <a:ext cx="1487550"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dirty="0">
                <a:solidFill>
                  <a:prstClr val="black"/>
                </a:solidFill>
                <a:latin typeface="Arial" panose="020B0604020202020204" pitchFamily="34" charset="0"/>
                <a:cs typeface="Arial" panose="020B0604020202020204" pitchFamily="34" charset="0"/>
              </a:rPr>
              <a:t>http://www.glbltech.com/</a:t>
            </a:r>
            <a:endParaRPr lang="ko-KR" altLang="en-US" dirty="0">
              <a:solidFill>
                <a:prstClr val="black"/>
              </a:solidFill>
              <a:latin typeface="Arial" panose="020B0604020202020204" pitchFamily="34" charset="0"/>
              <a:cs typeface="Arial" panose="020B0604020202020204" pitchFamily="34" charset="0"/>
            </a:endParaRPr>
          </a:p>
        </p:txBody>
      </p:sp>
      <p:sp>
        <p:nvSpPr>
          <p:cNvPr id="24" name="object 38">
            <a:extLst>
              <a:ext uri="{FF2B5EF4-FFF2-40B4-BE49-F238E27FC236}">
                <a16:creationId xmlns:a16="http://schemas.microsoft.com/office/drawing/2014/main" id="{3E5F8C36-7D35-A2D7-C892-F9AD2B5D49CF}"/>
              </a:ext>
            </a:extLst>
          </p:cNvPr>
          <p:cNvSpPr txBox="1">
            <a:spLocks/>
          </p:cNvSpPr>
          <p:nvPr/>
        </p:nvSpPr>
        <p:spPr>
          <a:xfrm>
            <a:off x="3309066" y="9547988"/>
            <a:ext cx="487045" cy="139141"/>
          </a:xfrm>
          <a:prstGeom prst="rect">
            <a:avLst/>
          </a:prstGeom>
        </p:spPr>
        <p:txBody>
          <a:bodyPr vert="horz" wrap="square" lIns="0" tIns="635" rIns="0" bIns="0" rtlCol="0">
            <a:spAutoFit/>
          </a:bodyPr>
          <a:lstStyle>
            <a:defPPr>
              <a:defRPr lang="ko-KR"/>
            </a:defPPr>
            <a:lvl1pPr marL="0" algn="l" defTabSz="914400" rtl="0" eaLnBrk="1" latinLnBrk="1" hangingPunct="1">
              <a:defRPr sz="1050" b="0" i="0" kern="1200">
                <a:solidFill>
                  <a:schemeClr val="tx1"/>
                </a:solidFill>
                <a:latin typeface="Arial"/>
                <a:ea typeface="+mn-ea"/>
                <a:cs typeface="Arial"/>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marL="12700">
              <a:spcBef>
                <a:spcPts val="5"/>
              </a:spcBef>
              <a:defRPr/>
            </a:pPr>
            <a:r>
              <a:rPr lang="en-US" sz="900" dirty="0">
                <a:solidFill>
                  <a:prstClr val="black"/>
                </a:solidFill>
              </a:rPr>
              <a:t>Page</a:t>
            </a:r>
            <a:r>
              <a:rPr lang="en-US" sz="900" spc="-60" dirty="0">
                <a:solidFill>
                  <a:prstClr val="black"/>
                </a:solidFill>
              </a:rPr>
              <a:t> </a:t>
            </a:r>
            <a:fld id="{81D60167-4931-47E6-BA6A-407CBD079E47}" type="slidenum">
              <a:rPr sz="900">
                <a:solidFill>
                  <a:prstClr val="black"/>
                </a:solidFill>
              </a:rPr>
              <a:pPr marL="12700">
                <a:spcBef>
                  <a:spcPts val="5"/>
                </a:spcBef>
                <a:defRPr/>
              </a:pPr>
              <a:t>8</a:t>
            </a:fld>
            <a:endParaRPr sz="900" dirty="0">
              <a:solidFill>
                <a:prstClr val="black"/>
              </a:solidFill>
            </a:endParaRPr>
          </a:p>
        </p:txBody>
      </p:sp>
      <p:sp>
        <p:nvSpPr>
          <p:cNvPr id="25" name="슬라이드 번호 개체 틀 3">
            <a:extLst>
              <a:ext uri="{FF2B5EF4-FFF2-40B4-BE49-F238E27FC236}">
                <a16:creationId xmlns:a16="http://schemas.microsoft.com/office/drawing/2014/main" id="{DA718DC6-04BD-B061-909B-C0436ED559E2}"/>
              </a:ext>
            </a:extLst>
          </p:cNvPr>
          <p:cNvSpPr txBox="1">
            <a:spLocks/>
          </p:cNvSpPr>
          <p:nvPr/>
        </p:nvSpPr>
        <p:spPr>
          <a:xfrm>
            <a:off x="299401" y="9520856"/>
            <a:ext cx="2060991" cy="175259"/>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lang="en-US" altLang="ko-KR" dirty="0">
                <a:solidFill>
                  <a:prstClr val="black"/>
                </a:solidFill>
                <a:latin typeface="Arial" panose="020B0604020202020204" pitchFamily="34" charset="0"/>
                <a:cs typeface="Arial" panose="020B0604020202020204" pitchFamily="34" charset="0"/>
              </a:rPr>
              <a:t>Dated 30-Nov 23  Rev. 01</a:t>
            </a:r>
            <a:endParaRPr lang="ko-KR" altLang="en-US" dirty="0">
              <a:solidFill>
                <a:prstClr val="black"/>
              </a:solidFill>
              <a:latin typeface="Arial" panose="020B0604020202020204" pitchFamily="34" charset="0"/>
              <a:cs typeface="Arial" panose="020B0604020202020204" pitchFamily="34" charset="0"/>
            </a:endParaRPr>
          </a:p>
        </p:txBody>
      </p:sp>
      <p:sp>
        <p:nvSpPr>
          <p:cNvPr id="26" name="Holder 3">
            <a:extLst>
              <a:ext uri="{FF2B5EF4-FFF2-40B4-BE49-F238E27FC236}">
                <a16:creationId xmlns:a16="http://schemas.microsoft.com/office/drawing/2014/main" id="{DB7B2638-9A1C-FFAA-2FAF-B3FB4DC4AE8A}"/>
              </a:ext>
            </a:extLst>
          </p:cNvPr>
          <p:cNvSpPr txBox="1">
            <a:spLocks/>
          </p:cNvSpPr>
          <p:nvPr/>
        </p:nvSpPr>
        <p:spPr>
          <a:xfrm>
            <a:off x="5147476" y="203944"/>
            <a:ext cx="1447800" cy="276999"/>
          </a:xfrm>
          <a:prstGeom prst="rect">
            <a:avLst/>
          </a:prstGeom>
        </p:spPr>
        <p:txBody>
          <a:bodyPr wrap="square" lIns="0" tIns="0" rIns="0" bIns="0">
            <a:spAutoFit/>
          </a:bodyPr>
          <a:lstStyle>
            <a:lvl1pPr marL="0">
              <a:defRPr>
                <a:solidFill>
                  <a:srgbClr val="FF99FF"/>
                </a:solidFill>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defTabSz="914400" latinLnBrk="0"/>
            <a:r>
              <a:rPr lang="en-US" sz="1800" kern="0" dirty="0"/>
              <a:t>&lt;Preliminary&gt;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07314" y="802005"/>
            <a:ext cx="4110990" cy="239395"/>
          </a:xfrm>
          <a:prstGeom prst="rect">
            <a:avLst/>
          </a:prstGeom>
        </p:spPr>
        <p:txBody>
          <a:bodyPr vert="horz" wrap="square" lIns="0" tIns="12700" rIns="0" bIns="0" rtlCol="0">
            <a:spAutoFit/>
          </a:bodyPr>
          <a:lstStyle/>
          <a:p>
            <a:pPr marL="12700">
              <a:lnSpc>
                <a:spcPct val="100000"/>
              </a:lnSpc>
              <a:spcBef>
                <a:spcPts val="100"/>
              </a:spcBef>
            </a:pPr>
            <a:r>
              <a:rPr sz="1400" b="1" dirty="0">
                <a:latin typeface="Arial"/>
                <a:cs typeface="Arial"/>
              </a:rPr>
              <a:t>Maximum</a:t>
            </a:r>
            <a:r>
              <a:rPr sz="1400" b="1" spc="-90" dirty="0">
                <a:latin typeface="Arial"/>
                <a:cs typeface="Arial"/>
              </a:rPr>
              <a:t> </a:t>
            </a:r>
            <a:r>
              <a:rPr sz="1400" b="1" spc="-5" dirty="0">
                <a:latin typeface="Arial"/>
                <a:cs typeface="Arial"/>
              </a:rPr>
              <a:t>Absolute</a:t>
            </a:r>
            <a:r>
              <a:rPr sz="1400" b="1" spc="30" dirty="0">
                <a:latin typeface="Arial"/>
                <a:cs typeface="Arial"/>
              </a:rPr>
              <a:t> </a:t>
            </a:r>
            <a:r>
              <a:rPr sz="1400" b="1" dirty="0">
                <a:latin typeface="Arial"/>
                <a:cs typeface="Arial"/>
              </a:rPr>
              <a:t>ratings</a:t>
            </a:r>
            <a:r>
              <a:rPr sz="1400" b="1" spc="-80" dirty="0">
                <a:latin typeface="Arial"/>
                <a:cs typeface="Arial"/>
              </a:rPr>
              <a:t> </a:t>
            </a:r>
            <a:r>
              <a:rPr sz="900" spc="-5" dirty="0">
                <a:latin typeface="Arial"/>
                <a:cs typeface="Arial"/>
              </a:rPr>
              <a:t>(Ta</a:t>
            </a:r>
            <a:r>
              <a:rPr sz="900" spc="15" dirty="0">
                <a:latin typeface="Arial"/>
                <a:cs typeface="Arial"/>
              </a:rPr>
              <a:t> </a:t>
            </a:r>
            <a:r>
              <a:rPr sz="900" dirty="0">
                <a:latin typeface="Arial"/>
                <a:cs typeface="Arial"/>
              </a:rPr>
              <a:t>=</a:t>
            </a:r>
            <a:r>
              <a:rPr sz="900" spc="-5" dirty="0">
                <a:latin typeface="Arial"/>
                <a:cs typeface="Arial"/>
              </a:rPr>
              <a:t> </a:t>
            </a:r>
            <a:r>
              <a:rPr sz="900" dirty="0">
                <a:latin typeface="Arial"/>
                <a:cs typeface="Arial"/>
              </a:rPr>
              <a:t>25</a:t>
            </a:r>
            <a:r>
              <a:rPr sz="900" dirty="0">
                <a:latin typeface="맑은 고딕"/>
                <a:cs typeface="맑은 고딕"/>
              </a:rPr>
              <a:t>℃</a:t>
            </a:r>
            <a:r>
              <a:rPr sz="900" spc="-75" dirty="0">
                <a:latin typeface="맑은 고딕"/>
                <a:cs typeface="맑은 고딕"/>
              </a:rPr>
              <a:t> </a:t>
            </a:r>
            <a:r>
              <a:rPr sz="900" dirty="0">
                <a:latin typeface="Arial"/>
                <a:cs typeface="Arial"/>
              </a:rPr>
              <a:t>unless</a:t>
            </a:r>
            <a:r>
              <a:rPr sz="900" spc="-15" dirty="0">
                <a:latin typeface="Arial"/>
                <a:cs typeface="Arial"/>
              </a:rPr>
              <a:t> </a:t>
            </a:r>
            <a:r>
              <a:rPr sz="900" spc="-5" dirty="0">
                <a:latin typeface="Arial"/>
                <a:cs typeface="Arial"/>
              </a:rPr>
              <a:t>otherwise</a:t>
            </a:r>
            <a:r>
              <a:rPr sz="900" spc="-10" dirty="0">
                <a:latin typeface="Arial"/>
                <a:cs typeface="Arial"/>
              </a:rPr>
              <a:t> </a:t>
            </a:r>
            <a:r>
              <a:rPr sz="900" spc="-5" dirty="0">
                <a:latin typeface="Arial"/>
                <a:cs typeface="Arial"/>
              </a:rPr>
              <a:t>noted)</a:t>
            </a:r>
            <a:endParaRPr sz="900" dirty="0">
              <a:latin typeface="Arial"/>
              <a:cs typeface="Arial"/>
            </a:endParaRPr>
          </a:p>
        </p:txBody>
      </p:sp>
      <p:sp>
        <p:nvSpPr>
          <p:cNvPr id="3" name="object 3"/>
          <p:cNvSpPr/>
          <p:nvPr/>
        </p:nvSpPr>
        <p:spPr>
          <a:xfrm>
            <a:off x="405384" y="637031"/>
            <a:ext cx="6049010" cy="0"/>
          </a:xfrm>
          <a:custGeom>
            <a:avLst/>
            <a:gdLst/>
            <a:ahLst/>
            <a:cxnLst/>
            <a:rect l="l" t="t" r="r" b="b"/>
            <a:pathLst>
              <a:path w="6049010">
                <a:moveTo>
                  <a:pt x="0" y="0"/>
                </a:moveTo>
                <a:lnTo>
                  <a:pt x="6048629" y="0"/>
                </a:lnTo>
              </a:path>
            </a:pathLst>
          </a:custGeom>
          <a:ln w="6350">
            <a:solidFill>
              <a:srgbClr val="000000"/>
            </a:solidFill>
          </a:ln>
        </p:spPr>
        <p:txBody>
          <a:bodyPr wrap="square" lIns="0" tIns="0" rIns="0" bIns="0" rtlCol="0"/>
          <a:lstStyle/>
          <a:p>
            <a:endParaRPr dirty="0"/>
          </a:p>
        </p:txBody>
      </p:sp>
      <p:sp>
        <p:nvSpPr>
          <p:cNvPr id="4" name="object 4"/>
          <p:cNvSpPr txBox="1"/>
          <p:nvPr/>
        </p:nvSpPr>
        <p:spPr>
          <a:xfrm>
            <a:off x="388111" y="6765857"/>
            <a:ext cx="5880100" cy="162560"/>
          </a:xfrm>
          <a:prstGeom prst="rect">
            <a:avLst/>
          </a:prstGeom>
        </p:spPr>
        <p:txBody>
          <a:bodyPr vert="horz" wrap="square" lIns="0" tIns="12700" rIns="0" bIns="0" rtlCol="0">
            <a:spAutoFit/>
          </a:bodyPr>
          <a:lstStyle/>
          <a:p>
            <a:pPr marL="12700">
              <a:lnSpc>
                <a:spcPct val="100000"/>
              </a:lnSpc>
              <a:spcBef>
                <a:spcPts val="100"/>
              </a:spcBef>
            </a:pPr>
            <a:r>
              <a:rPr sz="900" spc="-5" dirty="0">
                <a:latin typeface="Arial"/>
                <a:cs typeface="Arial"/>
              </a:rPr>
              <a:t>Notes</a:t>
            </a:r>
            <a:r>
              <a:rPr sz="900" spc="10" dirty="0">
                <a:latin typeface="Arial"/>
                <a:cs typeface="Arial"/>
              </a:rPr>
              <a:t> </a:t>
            </a:r>
            <a:r>
              <a:rPr sz="900" dirty="0">
                <a:latin typeface="Arial"/>
                <a:cs typeface="Arial"/>
              </a:rPr>
              <a:t>:</a:t>
            </a:r>
            <a:r>
              <a:rPr sz="900" spc="260" dirty="0">
                <a:latin typeface="Arial"/>
                <a:cs typeface="Arial"/>
              </a:rPr>
              <a:t> </a:t>
            </a:r>
            <a:r>
              <a:rPr sz="900" spc="-5" dirty="0">
                <a:latin typeface="Arial"/>
                <a:cs typeface="Arial"/>
              </a:rPr>
              <a:t>Stresses</a:t>
            </a:r>
            <a:r>
              <a:rPr sz="900" spc="-40" dirty="0">
                <a:latin typeface="Arial"/>
                <a:cs typeface="Arial"/>
              </a:rPr>
              <a:t> </a:t>
            </a:r>
            <a:r>
              <a:rPr sz="900" spc="-5" dirty="0">
                <a:latin typeface="Arial"/>
                <a:cs typeface="Arial"/>
              </a:rPr>
              <a:t>beyond</a:t>
            </a:r>
            <a:r>
              <a:rPr sz="900" spc="-35" dirty="0">
                <a:latin typeface="Arial"/>
                <a:cs typeface="Arial"/>
              </a:rPr>
              <a:t> </a:t>
            </a:r>
            <a:r>
              <a:rPr sz="900" dirty="0">
                <a:latin typeface="Arial"/>
                <a:cs typeface="Arial"/>
              </a:rPr>
              <a:t>those</a:t>
            </a:r>
            <a:r>
              <a:rPr sz="900" spc="-45" dirty="0">
                <a:latin typeface="Arial"/>
                <a:cs typeface="Arial"/>
              </a:rPr>
              <a:t> </a:t>
            </a:r>
            <a:r>
              <a:rPr sz="900" dirty="0">
                <a:latin typeface="Arial"/>
                <a:cs typeface="Arial"/>
              </a:rPr>
              <a:t>listed</a:t>
            </a:r>
            <a:r>
              <a:rPr sz="900" spc="-50" dirty="0">
                <a:latin typeface="Arial"/>
                <a:cs typeface="Arial"/>
              </a:rPr>
              <a:t> </a:t>
            </a:r>
            <a:r>
              <a:rPr sz="900" spc="-5" dirty="0">
                <a:latin typeface="Arial"/>
                <a:cs typeface="Arial"/>
              </a:rPr>
              <a:t>under</a:t>
            </a:r>
            <a:r>
              <a:rPr sz="900" spc="-40" dirty="0">
                <a:latin typeface="Arial"/>
                <a:cs typeface="Arial"/>
              </a:rPr>
              <a:t> </a:t>
            </a:r>
            <a:r>
              <a:rPr sz="900" spc="-5" dirty="0">
                <a:latin typeface="Arial"/>
                <a:cs typeface="Arial"/>
              </a:rPr>
              <a:t>Absolute</a:t>
            </a:r>
            <a:r>
              <a:rPr sz="900" spc="-35" dirty="0">
                <a:latin typeface="Arial"/>
                <a:cs typeface="Arial"/>
              </a:rPr>
              <a:t> </a:t>
            </a:r>
            <a:r>
              <a:rPr sz="900" spc="-10" dirty="0">
                <a:latin typeface="Arial"/>
                <a:cs typeface="Arial"/>
              </a:rPr>
              <a:t>Maximum </a:t>
            </a:r>
            <a:r>
              <a:rPr sz="900" spc="-5" dirty="0">
                <a:latin typeface="Arial"/>
                <a:cs typeface="Arial"/>
              </a:rPr>
              <a:t>Ratings</a:t>
            </a:r>
            <a:r>
              <a:rPr sz="900" spc="-50" dirty="0">
                <a:latin typeface="Arial"/>
                <a:cs typeface="Arial"/>
              </a:rPr>
              <a:t> </a:t>
            </a:r>
            <a:r>
              <a:rPr sz="900" dirty="0">
                <a:latin typeface="Arial"/>
                <a:cs typeface="Arial"/>
              </a:rPr>
              <a:t>may</a:t>
            </a:r>
            <a:r>
              <a:rPr sz="900" spc="-20" dirty="0">
                <a:latin typeface="Arial"/>
                <a:cs typeface="Arial"/>
              </a:rPr>
              <a:t> </a:t>
            </a:r>
            <a:r>
              <a:rPr sz="900" dirty="0">
                <a:latin typeface="Arial"/>
                <a:cs typeface="Arial"/>
              </a:rPr>
              <a:t>cause</a:t>
            </a:r>
            <a:r>
              <a:rPr sz="900" spc="-45" dirty="0">
                <a:latin typeface="Arial"/>
                <a:cs typeface="Arial"/>
              </a:rPr>
              <a:t> </a:t>
            </a:r>
            <a:r>
              <a:rPr sz="900" spc="-5" dirty="0">
                <a:latin typeface="Arial"/>
                <a:cs typeface="Arial"/>
              </a:rPr>
              <a:t>permanent</a:t>
            </a:r>
            <a:r>
              <a:rPr sz="900" spc="-55" dirty="0">
                <a:latin typeface="Arial"/>
                <a:cs typeface="Arial"/>
              </a:rPr>
              <a:t> </a:t>
            </a:r>
            <a:r>
              <a:rPr sz="900" spc="-5" dirty="0">
                <a:latin typeface="Arial"/>
                <a:cs typeface="Arial"/>
              </a:rPr>
              <a:t>damage</a:t>
            </a:r>
            <a:r>
              <a:rPr sz="900" spc="-35" dirty="0">
                <a:latin typeface="Arial"/>
                <a:cs typeface="Arial"/>
              </a:rPr>
              <a:t> </a:t>
            </a:r>
            <a:r>
              <a:rPr sz="900" dirty="0">
                <a:latin typeface="Arial"/>
                <a:cs typeface="Arial"/>
              </a:rPr>
              <a:t>to</a:t>
            </a:r>
            <a:r>
              <a:rPr sz="900" spc="-10" dirty="0">
                <a:latin typeface="Arial"/>
                <a:cs typeface="Arial"/>
              </a:rPr>
              <a:t> </a:t>
            </a:r>
            <a:r>
              <a:rPr sz="900" dirty="0">
                <a:latin typeface="Arial"/>
                <a:cs typeface="Arial"/>
              </a:rPr>
              <a:t>the</a:t>
            </a:r>
            <a:r>
              <a:rPr sz="900" spc="-10" dirty="0">
                <a:latin typeface="Arial"/>
                <a:cs typeface="Arial"/>
              </a:rPr>
              <a:t> </a:t>
            </a:r>
            <a:r>
              <a:rPr sz="900" spc="-5" dirty="0">
                <a:latin typeface="Arial"/>
                <a:cs typeface="Arial"/>
              </a:rPr>
              <a:t>device</a:t>
            </a:r>
            <a:endParaRPr sz="900" dirty="0">
              <a:latin typeface="Arial"/>
              <a:cs typeface="Arial"/>
            </a:endParaRPr>
          </a:p>
        </p:txBody>
      </p:sp>
      <p:graphicFrame>
        <p:nvGraphicFramePr>
          <p:cNvPr id="5" name="object 5"/>
          <p:cNvGraphicFramePr>
            <a:graphicFrameLocks noGrp="1"/>
          </p:cNvGraphicFramePr>
          <p:nvPr/>
        </p:nvGraphicFramePr>
        <p:xfrm>
          <a:off x="398462" y="1076325"/>
          <a:ext cx="6035674" cy="5284470"/>
        </p:xfrm>
        <a:graphic>
          <a:graphicData uri="http://schemas.openxmlformats.org/drawingml/2006/table">
            <a:tbl>
              <a:tblPr firstRow="1" bandRow="1">
                <a:tableStyleId>{2D5ABB26-0587-4C30-8999-92F81FD0307C}</a:tableStyleId>
              </a:tblPr>
              <a:tblGrid>
                <a:gridCol w="2424430">
                  <a:extLst>
                    <a:ext uri="{9D8B030D-6E8A-4147-A177-3AD203B41FA5}">
                      <a16:colId xmlns:a16="http://schemas.microsoft.com/office/drawing/2014/main" val="20000"/>
                    </a:ext>
                  </a:extLst>
                </a:gridCol>
                <a:gridCol w="934084">
                  <a:extLst>
                    <a:ext uri="{9D8B030D-6E8A-4147-A177-3AD203B41FA5}">
                      <a16:colId xmlns:a16="http://schemas.microsoft.com/office/drawing/2014/main" val="20001"/>
                    </a:ext>
                  </a:extLst>
                </a:gridCol>
                <a:gridCol w="2115185">
                  <a:extLst>
                    <a:ext uri="{9D8B030D-6E8A-4147-A177-3AD203B41FA5}">
                      <a16:colId xmlns:a16="http://schemas.microsoft.com/office/drawing/2014/main" val="20002"/>
                    </a:ext>
                  </a:extLst>
                </a:gridCol>
                <a:gridCol w="561975">
                  <a:extLst>
                    <a:ext uri="{9D8B030D-6E8A-4147-A177-3AD203B41FA5}">
                      <a16:colId xmlns:a16="http://schemas.microsoft.com/office/drawing/2014/main" val="20003"/>
                    </a:ext>
                  </a:extLst>
                </a:gridCol>
              </a:tblGrid>
              <a:tr h="278130">
                <a:tc>
                  <a:txBody>
                    <a:bodyPr/>
                    <a:lstStyle/>
                    <a:p>
                      <a:pPr algn="ctr">
                        <a:lnSpc>
                          <a:spcPct val="100000"/>
                        </a:lnSpc>
                        <a:spcBef>
                          <a:spcPts val="525"/>
                        </a:spcBef>
                      </a:pPr>
                      <a:r>
                        <a:rPr sz="900" b="1" spc="-5" dirty="0">
                          <a:latin typeface="Arial"/>
                          <a:cs typeface="Arial"/>
                        </a:rPr>
                        <a:t>Parameter</a:t>
                      </a:r>
                      <a:endParaRPr sz="900" dirty="0">
                        <a:latin typeface="Arial"/>
                        <a:cs typeface="Arial"/>
                      </a:endParaRPr>
                    </a:p>
                  </a:txBody>
                  <a:tcPr marL="0" marR="0" marT="66675" marB="0">
                    <a:lnL w="12700">
                      <a:solidFill>
                        <a:srgbClr val="FFFFFF"/>
                      </a:solidFill>
                      <a:prstDash val="solid"/>
                    </a:lnL>
                    <a:lnR w="3175">
                      <a:solidFill>
                        <a:srgbClr val="000000"/>
                      </a:solidFill>
                      <a:prstDash val="solid"/>
                    </a:lnR>
                    <a:lnT w="12700">
                      <a:solidFill>
                        <a:srgbClr val="000000"/>
                      </a:solidFill>
                      <a:prstDash val="solid"/>
                    </a:lnT>
                    <a:lnB w="3175">
                      <a:solidFill>
                        <a:srgbClr val="000000"/>
                      </a:solidFill>
                      <a:prstDash val="solid"/>
                    </a:lnB>
                    <a:solidFill>
                      <a:srgbClr val="F1F1F1"/>
                    </a:solidFill>
                  </a:tcPr>
                </a:tc>
                <a:tc>
                  <a:txBody>
                    <a:bodyPr/>
                    <a:lstStyle/>
                    <a:p>
                      <a:pPr algn="ctr">
                        <a:lnSpc>
                          <a:spcPct val="100000"/>
                        </a:lnSpc>
                        <a:spcBef>
                          <a:spcPts val="525"/>
                        </a:spcBef>
                      </a:pPr>
                      <a:r>
                        <a:rPr sz="900" b="1" spc="-10" dirty="0">
                          <a:latin typeface="Arial"/>
                          <a:cs typeface="Arial"/>
                        </a:rPr>
                        <a:t>Symbol</a:t>
                      </a:r>
                      <a:endParaRPr sz="900" dirty="0">
                        <a:latin typeface="Arial"/>
                        <a:cs typeface="Arial"/>
                      </a:endParaRPr>
                    </a:p>
                  </a:txBody>
                  <a:tcPr marL="0" marR="0" marT="66675" marB="0">
                    <a:lnL w="3175">
                      <a:solidFill>
                        <a:srgbClr val="000000"/>
                      </a:solidFill>
                      <a:prstDash val="solid"/>
                    </a:lnL>
                    <a:lnR w="3175">
                      <a:solidFill>
                        <a:srgbClr val="000000"/>
                      </a:solidFill>
                      <a:prstDash val="solid"/>
                    </a:lnR>
                    <a:lnT w="12700">
                      <a:solidFill>
                        <a:srgbClr val="000000"/>
                      </a:solidFill>
                      <a:prstDash val="solid"/>
                    </a:lnT>
                    <a:lnB w="3175">
                      <a:solidFill>
                        <a:srgbClr val="000000"/>
                      </a:solidFill>
                      <a:prstDash val="solid"/>
                    </a:lnB>
                    <a:solidFill>
                      <a:srgbClr val="F1F1F1"/>
                    </a:solidFill>
                  </a:tcPr>
                </a:tc>
                <a:tc>
                  <a:txBody>
                    <a:bodyPr/>
                    <a:lstStyle/>
                    <a:p>
                      <a:pPr marL="635" algn="ctr">
                        <a:lnSpc>
                          <a:spcPct val="100000"/>
                        </a:lnSpc>
                        <a:spcBef>
                          <a:spcPts val="525"/>
                        </a:spcBef>
                      </a:pPr>
                      <a:r>
                        <a:rPr sz="900" b="1" dirty="0">
                          <a:latin typeface="Arial"/>
                          <a:cs typeface="Arial"/>
                        </a:rPr>
                        <a:t>Value</a:t>
                      </a:r>
                      <a:endParaRPr sz="900" dirty="0">
                        <a:latin typeface="Arial"/>
                        <a:cs typeface="Arial"/>
                      </a:endParaRPr>
                    </a:p>
                  </a:txBody>
                  <a:tcPr marL="0" marR="0" marT="66675" marB="0">
                    <a:lnL w="3175">
                      <a:solidFill>
                        <a:srgbClr val="000000"/>
                      </a:solidFill>
                      <a:prstDash val="solid"/>
                    </a:lnL>
                    <a:lnR w="3175">
                      <a:solidFill>
                        <a:srgbClr val="000000"/>
                      </a:solidFill>
                      <a:prstDash val="solid"/>
                    </a:lnR>
                    <a:lnT w="12700">
                      <a:solidFill>
                        <a:srgbClr val="000000"/>
                      </a:solidFill>
                      <a:prstDash val="solid"/>
                    </a:lnT>
                    <a:lnB w="3175">
                      <a:solidFill>
                        <a:srgbClr val="000000"/>
                      </a:solidFill>
                      <a:prstDash val="solid"/>
                    </a:lnB>
                    <a:solidFill>
                      <a:srgbClr val="F1F1F1"/>
                    </a:solidFill>
                  </a:tcPr>
                </a:tc>
                <a:tc>
                  <a:txBody>
                    <a:bodyPr/>
                    <a:lstStyle/>
                    <a:p>
                      <a:pPr marL="1270" algn="ctr">
                        <a:lnSpc>
                          <a:spcPct val="100000"/>
                        </a:lnSpc>
                        <a:spcBef>
                          <a:spcPts val="525"/>
                        </a:spcBef>
                      </a:pPr>
                      <a:r>
                        <a:rPr sz="900" b="1" dirty="0">
                          <a:latin typeface="Arial"/>
                          <a:cs typeface="Arial"/>
                        </a:rPr>
                        <a:t>Unit</a:t>
                      </a:r>
                      <a:endParaRPr sz="900" dirty="0">
                        <a:latin typeface="Arial"/>
                        <a:cs typeface="Arial"/>
                      </a:endParaRPr>
                    </a:p>
                  </a:txBody>
                  <a:tcPr marL="0" marR="0" marT="66675" marB="0">
                    <a:lnL w="3175">
                      <a:solidFill>
                        <a:srgbClr val="000000"/>
                      </a:solidFill>
                      <a:prstDash val="solid"/>
                    </a:lnL>
                    <a:lnT w="12700">
                      <a:solidFill>
                        <a:srgbClr val="000000"/>
                      </a:solidFill>
                      <a:prstDash val="solid"/>
                    </a:lnT>
                    <a:lnB w="3175">
                      <a:solidFill>
                        <a:srgbClr val="000000"/>
                      </a:solidFill>
                      <a:prstDash val="solid"/>
                    </a:lnB>
                    <a:solidFill>
                      <a:srgbClr val="F1F1F1"/>
                    </a:solidFill>
                  </a:tcPr>
                </a:tc>
                <a:extLst>
                  <a:ext uri="{0D108BD9-81ED-4DB2-BD59-A6C34878D82A}">
                    <a16:rowId xmlns:a16="http://schemas.microsoft.com/office/drawing/2014/main" val="10000"/>
                  </a:ext>
                </a:extLst>
              </a:tr>
              <a:tr h="278130">
                <a:tc>
                  <a:txBody>
                    <a:bodyPr/>
                    <a:lstStyle/>
                    <a:p>
                      <a:pPr algn="ctr">
                        <a:lnSpc>
                          <a:spcPct val="100000"/>
                        </a:lnSpc>
                        <a:spcBef>
                          <a:spcPts val="545"/>
                        </a:spcBef>
                      </a:pPr>
                      <a:r>
                        <a:rPr sz="900" spc="-5" dirty="0">
                          <a:latin typeface="Arial"/>
                          <a:cs typeface="Arial"/>
                        </a:rPr>
                        <a:t>Supply</a:t>
                      </a:r>
                      <a:r>
                        <a:rPr sz="900" spc="-40" dirty="0">
                          <a:latin typeface="Arial"/>
                          <a:cs typeface="Arial"/>
                        </a:rPr>
                        <a:t> </a:t>
                      </a:r>
                      <a:r>
                        <a:rPr sz="900" spc="-5" dirty="0">
                          <a:latin typeface="Arial"/>
                          <a:cs typeface="Arial"/>
                        </a:rPr>
                        <a:t>voltage</a:t>
                      </a:r>
                      <a:endParaRPr sz="900" dirty="0">
                        <a:latin typeface="Arial"/>
                        <a:cs typeface="Arial"/>
                      </a:endParaRPr>
                    </a:p>
                  </a:txBody>
                  <a:tcPr marL="0" marR="0" marT="69215" marB="0">
                    <a:lnL w="12700">
                      <a:solidFill>
                        <a:srgbClr val="FFFFFF"/>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L="1905" algn="ctr">
                        <a:lnSpc>
                          <a:spcPct val="100000"/>
                        </a:lnSpc>
                        <a:spcBef>
                          <a:spcPts val="655"/>
                        </a:spcBef>
                      </a:pPr>
                      <a:r>
                        <a:rPr sz="1350" spc="-7" baseline="6172" dirty="0">
                          <a:latin typeface="Arial"/>
                          <a:cs typeface="Arial"/>
                        </a:rPr>
                        <a:t>V</a:t>
                      </a:r>
                      <a:r>
                        <a:rPr sz="600" spc="-5" dirty="0">
                          <a:latin typeface="Arial"/>
                          <a:cs typeface="Arial"/>
                        </a:rPr>
                        <a:t>DDD</a:t>
                      </a:r>
                      <a:r>
                        <a:rPr sz="1350" spc="-7" baseline="6172" dirty="0">
                          <a:latin typeface="Arial"/>
                          <a:cs typeface="Arial"/>
                        </a:rPr>
                        <a:t>,</a:t>
                      </a:r>
                      <a:r>
                        <a:rPr sz="1350" spc="-37" baseline="6172" dirty="0">
                          <a:latin typeface="Arial"/>
                          <a:cs typeface="Arial"/>
                        </a:rPr>
                        <a:t> </a:t>
                      </a:r>
                      <a:r>
                        <a:rPr sz="1350" spc="-15" baseline="6172" dirty="0">
                          <a:latin typeface="Arial"/>
                          <a:cs typeface="Arial"/>
                        </a:rPr>
                        <a:t>V</a:t>
                      </a:r>
                      <a:r>
                        <a:rPr sz="600" spc="-10" dirty="0">
                          <a:latin typeface="Arial"/>
                          <a:cs typeface="Arial"/>
                        </a:rPr>
                        <a:t>DDA</a:t>
                      </a:r>
                      <a:endParaRPr sz="600" dirty="0">
                        <a:latin typeface="Arial"/>
                        <a:cs typeface="Arial"/>
                      </a:endParaRPr>
                    </a:p>
                  </a:txBody>
                  <a:tcPr marL="0" marR="0" marT="83185"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gn="ctr">
                        <a:lnSpc>
                          <a:spcPct val="100000"/>
                        </a:lnSpc>
                        <a:spcBef>
                          <a:spcPts val="545"/>
                        </a:spcBef>
                      </a:pPr>
                      <a:r>
                        <a:rPr sz="900" dirty="0">
                          <a:latin typeface="Arial"/>
                          <a:cs typeface="Arial"/>
                        </a:rPr>
                        <a:t>-0.3</a:t>
                      </a:r>
                      <a:r>
                        <a:rPr sz="900" spc="-45" dirty="0">
                          <a:latin typeface="Arial"/>
                          <a:cs typeface="Arial"/>
                        </a:rPr>
                        <a:t> </a:t>
                      </a:r>
                      <a:r>
                        <a:rPr sz="900" dirty="0">
                          <a:latin typeface="Arial"/>
                          <a:cs typeface="Arial"/>
                        </a:rPr>
                        <a:t>~</a:t>
                      </a:r>
                      <a:r>
                        <a:rPr sz="900" spc="-30" dirty="0">
                          <a:latin typeface="Arial"/>
                          <a:cs typeface="Arial"/>
                        </a:rPr>
                        <a:t> </a:t>
                      </a:r>
                      <a:r>
                        <a:rPr sz="900" dirty="0">
                          <a:latin typeface="Arial"/>
                          <a:cs typeface="Arial"/>
                        </a:rPr>
                        <a:t>7.0</a:t>
                      </a:r>
                    </a:p>
                  </a:txBody>
                  <a:tcPr marL="0" marR="0" marT="69215"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L="1270" algn="ctr">
                        <a:lnSpc>
                          <a:spcPct val="100000"/>
                        </a:lnSpc>
                        <a:spcBef>
                          <a:spcPts val="545"/>
                        </a:spcBef>
                      </a:pPr>
                      <a:r>
                        <a:rPr sz="900" dirty="0">
                          <a:latin typeface="Arial"/>
                          <a:cs typeface="Arial"/>
                        </a:rPr>
                        <a:t>V</a:t>
                      </a:r>
                    </a:p>
                  </a:txBody>
                  <a:tcPr marL="0" marR="0" marT="69215" marB="0">
                    <a:lnL w="3175">
                      <a:solidFill>
                        <a:srgbClr val="000000"/>
                      </a:solidFill>
                      <a:prstDash val="solid"/>
                    </a:lnL>
                    <a:lnT w="3175">
                      <a:solidFill>
                        <a:srgbClr val="000000"/>
                      </a:solidFill>
                      <a:prstDash val="solid"/>
                    </a:lnT>
                    <a:lnB w="3175">
                      <a:solidFill>
                        <a:srgbClr val="000000"/>
                      </a:solidFill>
                      <a:prstDash val="solid"/>
                    </a:lnB>
                  </a:tcPr>
                </a:tc>
                <a:extLst>
                  <a:ext uri="{0D108BD9-81ED-4DB2-BD59-A6C34878D82A}">
                    <a16:rowId xmlns:a16="http://schemas.microsoft.com/office/drawing/2014/main" val="10001"/>
                  </a:ext>
                </a:extLst>
              </a:tr>
              <a:tr h="278130">
                <a:tc>
                  <a:txBody>
                    <a:bodyPr/>
                    <a:lstStyle/>
                    <a:p>
                      <a:pPr algn="ctr">
                        <a:lnSpc>
                          <a:spcPct val="100000"/>
                        </a:lnSpc>
                        <a:spcBef>
                          <a:spcPts val="545"/>
                        </a:spcBef>
                      </a:pPr>
                      <a:r>
                        <a:rPr sz="900" spc="-10" dirty="0">
                          <a:latin typeface="Arial"/>
                          <a:cs typeface="Arial"/>
                        </a:rPr>
                        <a:t>MCLK</a:t>
                      </a:r>
                      <a:r>
                        <a:rPr sz="900" spc="-5" dirty="0">
                          <a:latin typeface="Arial"/>
                          <a:cs typeface="Arial"/>
                        </a:rPr>
                        <a:t> </a:t>
                      </a:r>
                      <a:r>
                        <a:rPr sz="900" dirty="0">
                          <a:latin typeface="Arial"/>
                          <a:cs typeface="Arial"/>
                        </a:rPr>
                        <a:t>to</a:t>
                      </a:r>
                      <a:r>
                        <a:rPr sz="900" spc="-20" dirty="0">
                          <a:latin typeface="Arial"/>
                          <a:cs typeface="Arial"/>
                        </a:rPr>
                        <a:t> </a:t>
                      </a:r>
                      <a:r>
                        <a:rPr sz="900" spc="-5" dirty="0">
                          <a:latin typeface="Arial"/>
                          <a:cs typeface="Arial"/>
                        </a:rPr>
                        <a:t>GND voltage</a:t>
                      </a:r>
                      <a:endParaRPr sz="900" dirty="0">
                        <a:latin typeface="Arial"/>
                        <a:cs typeface="Arial"/>
                      </a:endParaRPr>
                    </a:p>
                  </a:txBody>
                  <a:tcPr marL="0" marR="0" marT="69215" marB="0">
                    <a:lnL w="12700">
                      <a:solidFill>
                        <a:srgbClr val="FFFFFF"/>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L="1905" algn="ctr">
                        <a:lnSpc>
                          <a:spcPct val="100000"/>
                        </a:lnSpc>
                        <a:spcBef>
                          <a:spcPts val="655"/>
                        </a:spcBef>
                      </a:pPr>
                      <a:r>
                        <a:rPr sz="1350" spc="-7" baseline="6172" dirty="0">
                          <a:latin typeface="Arial"/>
                          <a:cs typeface="Arial"/>
                        </a:rPr>
                        <a:t>V</a:t>
                      </a:r>
                      <a:r>
                        <a:rPr sz="600" spc="-5" dirty="0">
                          <a:latin typeface="Arial"/>
                          <a:cs typeface="Arial"/>
                        </a:rPr>
                        <a:t>MCLK</a:t>
                      </a:r>
                      <a:endParaRPr sz="600" dirty="0">
                        <a:latin typeface="Arial"/>
                        <a:cs typeface="Arial"/>
                      </a:endParaRPr>
                    </a:p>
                  </a:txBody>
                  <a:tcPr marL="0" marR="0" marT="83185"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L="635" algn="ctr">
                        <a:lnSpc>
                          <a:spcPct val="100000"/>
                        </a:lnSpc>
                        <a:spcBef>
                          <a:spcPts val="545"/>
                        </a:spcBef>
                      </a:pPr>
                      <a:r>
                        <a:rPr sz="900" dirty="0">
                          <a:latin typeface="Arial"/>
                          <a:cs typeface="Arial"/>
                        </a:rPr>
                        <a:t>-0.3</a:t>
                      </a:r>
                      <a:r>
                        <a:rPr sz="900" spc="-45" dirty="0">
                          <a:latin typeface="Arial"/>
                          <a:cs typeface="Arial"/>
                        </a:rPr>
                        <a:t> </a:t>
                      </a:r>
                      <a:r>
                        <a:rPr sz="900" dirty="0">
                          <a:latin typeface="Arial"/>
                          <a:cs typeface="Arial"/>
                        </a:rPr>
                        <a:t>~</a:t>
                      </a:r>
                      <a:r>
                        <a:rPr sz="900" spc="-30" dirty="0">
                          <a:latin typeface="Arial"/>
                          <a:cs typeface="Arial"/>
                        </a:rPr>
                        <a:t> </a:t>
                      </a:r>
                      <a:r>
                        <a:rPr sz="900" dirty="0">
                          <a:latin typeface="Arial"/>
                          <a:cs typeface="Arial"/>
                        </a:rPr>
                        <a:t>3.3V+0.3</a:t>
                      </a:r>
                    </a:p>
                  </a:txBody>
                  <a:tcPr marL="0" marR="0" marT="69215"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L="1270" algn="ctr">
                        <a:lnSpc>
                          <a:spcPct val="100000"/>
                        </a:lnSpc>
                        <a:spcBef>
                          <a:spcPts val="545"/>
                        </a:spcBef>
                      </a:pPr>
                      <a:r>
                        <a:rPr sz="900" dirty="0">
                          <a:latin typeface="Arial"/>
                          <a:cs typeface="Arial"/>
                        </a:rPr>
                        <a:t>V</a:t>
                      </a:r>
                    </a:p>
                  </a:txBody>
                  <a:tcPr marL="0" marR="0" marT="69215" marB="0">
                    <a:lnL w="3175">
                      <a:solidFill>
                        <a:srgbClr val="000000"/>
                      </a:solidFill>
                      <a:prstDash val="solid"/>
                    </a:lnL>
                    <a:lnT w="3175">
                      <a:solidFill>
                        <a:srgbClr val="000000"/>
                      </a:solidFill>
                      <a:prstDash val="solid"/>
                    </a:lnT>
                    <a:lnB w="3175">
                      <a:solidFill>
                        <a:srgbClr val="000000"/>
                      </a:solidFill>
                      <a:prstDash val="solid"/>
                    </a:lnB>
                  </a:tcPr>
                </a:tc>
                <a:extLst>
                  <a:ext uri="{0D108BD9-81ED-4DB2-BD59-A6C34878D82A}">
                    <a16:rowId xmlns:a16="http://schemas.microsoft.com/office/drawing/2014/main" val="10002"/>
                  </a:ext>
                </a:extLst>
              </a:tr>
              <a:tr h="278130">
                <a:tc>
                  <a:txBody>
                    <a:bodyPr/>
                    <a:lstStyle/>
                    <a:p>
                      <a:pPr algn="ctr">
                        <a:lnSpc>
                          <a:spcPct val="100000"/>
                        </a:lnSpc>
                        <a:spcBef>
                          <a:spcPts val="550"/>
                        </a:spcBef>
                      </a:pPr>
                      <a:r>
                        <a:rPr sz="900" spc="-5" dirty="0">
                          <a:latin typeface="Arial"/>
                          <a:cs typeface="Arial"/>
                        </a:rPr>
                        <a:t>VSYNC</a:t>
                      </a:r>
                      <a:r>
                        <a:rPr sz="900" spc="-10" dirty="0">
                          <a:latin typeface="Arial"/>
                          <a:cs typeface="Arial"/>
                        </a:rPr>
                        <a:t> </a:t>
                      </a:r>
                      <a:r>
                        <a:rPr sz="900" dirty="0">
                          <a:latin typeface="Arial"/>
                          <a:cs typeface="Arial"/>
                        </a:rPr>
                        <a:t>to</a:t>
                      </a:r>
                      <a:r>
                        <a:rPr sz="900" spc="-25" dirty="0">
                          <a:latin typeface="Arial"/>
                          <a:cs typeface="Arial"/>
                        </a:rPr>
                        <a:t> </a:t>
                      </a:r>
                      <a:r>
                        <a:rPr sz="900" spc="-5" dirty="0">
                          <a:latin typeface="Arial"/>
                          <a:cs typeface="Arial"/>
                        </a:rPr>
                        <a:t>GND voltage</a:t>
                      </a:r>
                      <a:endParaRPr sz="900" dirty="0">
                        <a:latin typeface="Arial"/>
                        <a:cs typeface="Arial"/>
                      </a:endParaRPr>
                    </a:p>
                  </a:txBody>
                  <a:tcPr marL="0" marR="0" marT="69850" marB="0">
                    <a:lnL w="12700">
                      <a:solidFill>
                        <a:srgbClr val="FFFFFF"/>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gn="ctr">
                        <a:lnSpc>
                          <a:spcPct val="100000"/>
                        </a:lnSpc>
                        <a:spcBef>
                          <a:spcPts val="655"/>
                        </a:spcBef>
                      </a:pPr>
                      <a:r>
                        <a:rPr sz="1350" spc="-7" baseline="6172" dirty="0">
                          <a:latin typeface="Arial"/>
                          <a:cs typeface="Arial"/>
                        </a:rPr>
                        <a:t>V</a:t>
                      </a:r>
                      <a:r>
                        <a:rPr sz="600" spc="-5" dirty="0">
                          <a:latin typeface="Arial"/>
                          <a:cs typeface="Arial"/>
                        </a:rPr>
                        <a:t>VSYNC</a:t>
                      </a:r>
                      <a:endParaRPr sz="600" dirty="0">
                        <a:latin typeface="Arial"/>
                        <a:cs typeface="Arial"/>
                      </a:endParaRPr>
                    </a:p>
                  </a:txBody>
                  <a:tcPr marL="0" marR="0" marT="83185"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L="635" algn="ctr">
                        <a:lnSpc>
                          <a:spcPct val="100000"/>
                        </a:lnSpc>
                        <a:spcBef>
                          <a:spcPts val="550"/>
                        </a:spcBef>
                      </a:pPr>
                      <a:r>
                        <a:rPr sz="900" dirty="0">
                          <a:latin typeface="Arial"/>
                          <a:cs typeface="Arial"/>
                        </a:rPr>
                        <a:t>-0.3</a:t>
                      </a:r>
                      <a:r>
                        <a:rPr sz="900" spc="-45" dirty="0">
                          <a:latin typeface="Arial"/>
                          <a:cs typeface="Arial"/>
                        </a:rPr>
                        <a:t> </a:t>
                      </a:r>
                      <a:r>
                        <a:rPr sz="900" dirty="0">
                          <a:latin typeface="Arial"/>
                          <a:cs typeface="Arial"/>
                        </a:rPr>
                        <a:t>~</a:t>
                      </a:r>
                      <a:r>
                        <a:rPr sz="900" spc="-30" dirty="0">
                          <a:latin typeface="Arial"/>
                          <a:cs typeface="Arial"/>
                        </a:rPr>
                        <a:t> </a:t>
                      </a:r>
                      <a:r>
                        <a:rPr sz="900" dirty="0">
                          <a:latin typeface="Arial"/>
                          <a:cs typeface="Arial"/>
                        </a:rPr>
                        <a:t>3.3V+0.3</a:t>
                      </a:r>
                    </a:p>
                  </a:txBody>
                  <a:tcPr marL="0" marR="0" marT="6985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L="1270" algn="ctr">
                        <a:lnSpc>
                          <a:spcPct val="100000"/>
                        </a:lnSpc>
                        <a:spcBef>
                          <a:spcPts val="550"/>
                        </a:spcBef>
                      </a:pPr>
                      <a:r>
                        <a:rPr sz="900" dirty="0">
                          <a:latin typeface="Arial"/>
                          <a:cs typeface="Arial"/>
                        </a:rPr>
                        <a:t>V</a:t>
                      </a:r>
                    </a:p>
                  </a:txBody>
                  <a:tcPr marL="0" marR="0" marT="69850" marB="0">
                    <a:lnL w="3175">
                      <a:solidFill>
                        <a:srgbClr val="000000"/>
                      </a:solidFill>
                      <a:prstDash val="solid"/>
                    </a:lnL>
                    <a:lnT w="3175">
                      <a:solidFill>
                        <a:srgbClr val="000000"/>
                      </a:solidFill>
                      <a:prstDash val="solid"/>
                    </a:lnT>
                    <a:lnB w="3175">
                      <a:solidFill>
                        <a:srgbClr val="000000"/>
                      </a:solidFill>
                      <a:prstDash val="solid"/>
                    </a:lnB>
                  </a:tcPr>
                </a:tc>
                <a:extLst>
                  <a:ext uri="{0D108BD9-81ED-4DB2-BD59-A6C34878D82A}">
                    <a16:rowId xmlns:a16="http://schemas.microsoft.com/office/drawing/2014/main" val="10003"/>
                  </a:ext>
                </a:extLst>
              </a:tr>
              <a:tr h="278130">
                <a:tc>
                  <a:txBody>
                    <a:bodyPr/>
                    <a:lstStyle/>
                    <a:p>
                      <a:pPr algn="ctr">
                        <a:lnSpc>
                          <a:spcPct val="100000"/>
                        </a:lnSpc>
                        <a:spcBef>
                          <a:spcPts val="550"/>
                        </a:spcBef>
                      </a:pPr>
                      <a:r>
                        <a:rPr sz="900" spc="-5" dirty="0">
                          <a:latin typeface="Arial"/>
                          <a:cs typeface="Arial"/>
                        </a:rPr>
                        <a:t>nSCS</a:t>
                      </a:r>
                      <a:r>
                        <a:rPr sz="900" spc="-10" dirty="0">
                          <a:latin typeface="Arial"/>
                          <a:cs typeface="Arial"/>
                        </a:rPr>
                        <a:t> </a:t>
                      </a:r>
                      <a:r>
                        <a:rPr sz="900" dirty="0">
                          <a:latin typeface="Arial"/>
                          <a:cs typeface="Arial"/>
                        </a:rPr>
                        <a:t>to</a:t>
                      </a:r>
                      <a:r>
                        <a:rPr sz="900" spc="-20" dirty="0">
                          <a:latin typeface="Arial"/>
                          <a:cs typeface="Arial"/>
                        </a:rPr>
                        <a:t> </a:t>
                      </a:r>
                      <a:r>
                        <a:rPr sz="900" spc="-5" dirty="0">
                          <a:latin typeface="Arial"/>
                          <a:cs typeface="Arial"/>
                        </a:rPr>
                        <a:t>GND</a:t>
                      </a:r>
                      <a:r>
                        <a:rPr sz="900" spc="-15" dirty="0">
                          <a:latin typeface="Arial"/>
                          <a:cs typeface="Arial"/>
                        </a:rPr>
                        <a:t> </a:t>
                      </a:r>
                      <a:r>
                        <a:rPr sz="900" spc="-5" dirty="0">
                          <a:latin typeface="Arial"/>
                          <a:cs typeface="Arial"/>
                        </a:rPr>
                        <a:t>voltage</a:t>
                      </a:r>
                      <a:endParaRPr sz="900" dirty="0">
                        <a:latin typeface="Arial"/>
                        <a:cs typeface="Arial"/>
                      </a:endParaRPr>
                    </a:p>
                  </a:txBody>
                  <a:tcPr marL="0" marR="0" marT="69850" marB="0">
                    <a:lnL w="12700">
                      <a:solidFill>
                        <a:srgbClr val="FFFFFF"/>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L="1905" algn="ctr">
                        <a:lnSpc>
                          <a:spcPct val="100000"/>
                        </a:lnSpc>
                        <a:spcBef>
                          <a:spcPts val="655"/>
                        </a:spcBef>
                      </a:pPr>
                      <a:r>
                        <a:rPr sz="1350" spc="-7" baseline="6172" dirty="0">
                          <a:latin typeface="Arial"/>
                          <a:cs typeface="Arial"/>
                        </a:rPr>
                        <a:t>V</a:t>
                      </a:r>
                      <a:r>
                        <a:rPr sz="600" spc="-5" dirty="0">
                          <a:latin typeface="Arial"/>
                          <a:cs typeface="Arial"/>
                        </a:rPr>
                        <a:t>SPI_ENB</a:t>
                      </a:r>
                      <a:endParaRPr sz="600" dirty="0">
                        <a:latin typeface="Arial"/>
                        <a:cs typeface="Arial"/>
                      </a:endParaRPr>
                    </a:p>
                  </a:txBody>
                  <a:tcPr marL="0" marR="0" marT="83185"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L="635" algn="ctr">
                        <a:lnSpc>
                          <a:spcPct val="100000"/>
                        </a:lnSpc>
                        <a:spcBef>
                          <a:spcPts val="550"/>
                        </a:spcBef>
                      </a:pPr>
                      <a:r>
                        <a:rPr sz="900" dirty="0">
                          <a:latin typeface="Arial"/>
                          <a:cs typeface="Arial"/>
                        </a:rPr>
                        <a:t>-0.3</a:t>
                      </a:r>
                      <a:r>
                        <a:rPr sz="900" spc="-45" dirty="0">
                          <a:latin typeface="Arial"/>
                          <a:cs typeface="Arial"/>
                        </a:rPr>
                        <a:t> </a:t>
                      </a:r>
                      <a:r>
                        <a:rPr sz="900" dirty="0">
                          <a:latin typeface="Arial"/>
                          <a:cs typeface="Arial"/>
                        </a:rPr>
                        <a:t>~</a:t>
                      </a:r>
                      <a:r>
                        <a:rPr sz="900" spc="-30" dirty="0">
                          <a:latin typeface="Arial"/>
                          <a:cs typeface="Arial"/>
                        </a:rPr>
                        <a:t> </a:t>
                      </a:r>
                      <a:r>
                        <a:rPr sz="900" dirty="0">
                          <a:latin typeface="Arial"/>
                          <a:cs typeface="Arial"/>
                        </a:rPr>
                        <a:t>3.3V+0.3</a:t>
                      </a:r>
                    </a:p>
                  </a:txBody>
                  <a:tcPr marL="0" marR="0" marT="6985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L="1270" algn="ctr">
                        <a:lnSpc>
                          <a:spcPct val="100000"/>
                        </a:lnSpc>
                        <a:spcBef>
                          <a:spcPts val="550"/>
                        </a:spcBef>
                      </a:pPr>
                      <a:r>
                        <a:rPr sz="900" dirty="0">
                          <a:latin typeface="Arial"/>
                          <a:cs typeface="Arial"/>
                        </a:rPr>
                        <a:t>V</a:t>
                      </a:r>
                    </a:p>
                  </a:txBody>
                  <a:tcPr marL="0" marR="0" marT="69850" marB="0">
                    <a:lnL w="3175">
                      <a:solidFill>
                        <a:srgbClr val="000000"/>
                      </a:solidFill>
                      <a:prstDash val="solid"/>
                    </a:lnL>
                    <a:lnT w="3175">
                      <a:solidFill>
                        <a:srgbClr val="000000"/>
                      </a:solidFill>
                      <a:prstDash val="solid"/>
                    </a:lnT>
                    <a:lnB w="3175">
                      <a:solidFill>
                        <a:srgbClr val="000000"/>
                      </a:solidFill>
                      <a:prstDash val="solid"/>
                    </a:lnB>
                  </a:tcPr>
                </a:tc>
                <a:extLst>
                  <a:ext uri="{0D108BD9-81ED-4DB2-BD59-A6C34878D82A}">
                    <a16:rowId xmlns:a16="http://schemas.microsoft.com/office/drawing/2014/main" val="10004"/>
                  </a:ext>
                </a:extLst>
              </a:tr>
              <a:tr h="278130">
                <a:tc>
                  <a:txBody>
                    <a:bodyPr/>
                    <a:lstStyle/>
                    <a:p>
                      <a:pPr algn="ctr">
                        <a:lnSpc>
                          <a:spcPct val="100000"/>
                        </a:lnSpc>
                        <a:spcBef>
                          <a:spcPts val="550"/>
                        </a:spcBef>
                      </a:pPr>
                      <a:r>
                        <a:rPr sz="900" spc="-5" dirty="0">
                          <a:latin typeface="Arial"/>
                          <a:cs typeface="Arial"/>
                        </a:rPr>
                        <a:t>SCLK</a:t>
                      </a:r>
                      <a:r>
                        <a:rPr sz="900" spc="-10" dirty="0">
                          <a:latin typeface="Arial"/>
                          <a:cs typeface="Arial"/>
                        </a:rPr>
                        <a:t> </a:t>
                      </a:r>
                      <a:r>
                        <a:rPr sz="900" dirty="0">
                          <a:latin typeface="Arial"/>
                          <a:cs typeface="Arial"/>
                        </a:rPr>
                        <a:t>to</a:t>
                      </a:r>
                      <a:r>
                        <a:rPr sz="900" spc="-20" dirty="0">
                          <a:latin typeface="Arial"/>
                          <a:cs typeface="Arial"/>
                        </a:rPr>
                        <a:t> </a:t>
                      </a:r>
                      <a:r>
                        <a:rPr sz="900" spc="-5" dirty="0">
                          <a:latin typeface="Arial"/>
                          <a:cs typeface="Arial"/>
                        </a:rPr>
                        <a:t>GND</a:t>
                      </a:r>
                      <a:r>
                        <a:rPr sz="900" spc="-15" dirty="0">
                          <a:latin typeface="Arial"/>
                          <a:cs typeface="Arial"/>
                        </a:rPr>
                        <a:t> </a:t>
                      </a:r>
                      <a:r>
                        <a:rPr sz="900" spc="-5" dirty="0">
                          <a:latin typeface="Arial"/>
                          <a:cs typeface="Arial"/>
                        </a:rPr>
                        <a:t>voltage</a:t>
                      </a:r>
                      <a:endParaRPr sz="900" dirty="0">
                        <a:latin typeface="Arial"/>
                        <a:cs typeface="Arial"/>
                      </a:endParaRPr>
                    </a:p>
                  </a:txBody>
                  <a:tcPr marL="0" marR="0" marT="69850" marB="0">
                    <a:lnL w="12700">
                      <a:solidFill>
                        <a:srgbClr val="FFFFFF"/>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L="1905" algn="ctr">
                        <a:lnSpc>
                          <a:spcPct val="100000"/>
                        </a:lnSpc>
                        <a:spcBef>
                          <a:spcPts val="655"/>
                        </a:spcBef>
                      </a:pPr>
                      <a:r>
                        <a:rPr sz="1350" spc="-7" baseline="6172" dirty="0">
                          <a:latin typeface="Arial"/>
                          <a:cs typeface="Arial"/>
                        </a:rPr>
                        <a:t>V</a:t>
                      </a:r>
                      <a:r>
                        <a:rPr sz="600" spc="-5" dirty="0">
                          <a:latin typeface="Arial"/>
                          <a:cs typeface="Arial"/>
                        </a:rPr>
                        <a:t>SCLK</a:t>
                      </a:r>
                      <a:endParaRPr sz="600" dirty="0">
                        <a:latin typeface="Arial"/>
                        <a:cs typeface="Arial"/>
                      </a:endParaRPr>
                    </a:p>
                  </a:txBody>
                  <a:tcPr marL="0" marR="0" marT="83185"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L="635" algn="ctr">
                        <a:lnSpc>
                          <a:spcPct val="100000"/>
                        </a:lnSpc>
                        <a:spcBef>
                          <a:spcPts val="550"/>
                        </a:spcBef>
                      </a:pPr>
                      <a:r>
                        <a:rPr sz="900" dirty="0">
                          <a:latin typeface="Arial"/>
                          <a:cs typeface="Arial"/>
                        </a:rPr>
                        <a:t>-0.3</a:t>
                      </a:r>
                      <a:r>
                        <a:rPr sz="900" spc="-45" dirty="0">
                          <a:latin typeface="Arial"/>
                          <a:cs typeface="Arial"/>
                        </a:rPr>
                        <a:t> </a:t>
                      </a:r>
                      <a:r>
                        <a:rPr sz="900" dirty="0">
                          <a:latin typeface="Arial"/>
                          <a:cs typeface="Arial"/>
                        </a:rPr>
                        <a:t>~</a:t>
                      </a:r>
                      <a:r>
                        <a:rPr sz="900" spc="-30" dirty="0">
                          <a:latin typeface="Arial"/>
                          <a:cs typeface="Arial"/>
                        </a:rPr>
                        <a:t> </a:t>
                      </a:r>
                      <a:r>
                        <a:rPr sz="900" dirty="0">
                          <a:latin typeface="Arial"/>
                          <a:cs typeface="Arial"/>
                        </a:rPr>
                        <a:t>3.3V+0.3</a:t>
                      </a:r>
                    </a:p>
                  </a:txBody>
                  <a:tcPr marL="0" marR="0" marT="6985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L="1270" algn="ctr">
                        <a:lnSpc>
                          <a:spcPct val="100000"/>
                        </a:lnSpc>
                        <a:spcBef>
                          <a:spcPts val="550"/>
                        </a:spcBef>
                      </a:pPr>
                      <a:r>
                        <a:rPr sz="900" dirty="0">
                          <a:latin typeface="Arial"/>
                          <a:cs typeface="Arial"/>
                        </a:rPr>
                        <a:t>V</a:t>
                      </a:r>
                    </a:p>
                  </a:txBody>
                  <a:tcPr marL="0" marR="0" marT="69850" marB="0">
                    <a:lnL w="3175">
                      <a:solidFill>
                        <a:srgbClr val="000000"/>
                      </a:solidFill>
                      <a:prstDash val="solid"/>
                    </a:lnL>
                    <a:lnT w="3175">
                      <a:solidFill>
                        <a:srgbClr val="000000"/>
                      </a:solidFill>
                      <a:prstDash val="solid"/>
                    </a:lnT>
                    <a:lnB w="3175">
                      <a:solidFill>
                        <a:srgbClr val="000000"/>
                      </a:solidFill>
                      <a:prstDash val="solid"/>
                    </a:lnB>
                  </a:tcPr>
                </a:tc>
                <a:extLst>
                  <a:ext uri="{0D108BD9-81ED-4DB2-BD59-A6C34878D82A}">
                    <a16:rowId xmlns:a16="http://schemas.microsoft.com/office/drawing/2014/main" val="10005"/>
                  </a:ext>
                </a:extLst>
              </a:tr>
              <a:tr h="278130">
                <a:tc>
                  <a:txBody>
                    <a:bodyPr/>
                    <a:lstStyle/>
                    <a:p>
                      <a:pPr algn="ctr">
                        <a:lnSpc>
                          <a:spcPct val="100000"/>
                        </a:lnSpc>
                        <a:spcBef>
                          <a:spcPts val="550"/>
                        </a:spcBef>
                      </a:pPr>
                      <a:r>
                        <a:rPr sz="900" spc="-10" dirty="0">
                          <a:latin typeface="Arial"/>
                          <a:cs typeface="Arial"/>
                        </a:rPr>
                        <a:t>MOSI</a:t>
                      </a:r>
                      <a:r>
                        <a:rPr sz="900" spc="-5" dirty="0">
                          <a:latin typeface="Arial"/>
                          <a:cs typeface="Arial"/>
                        </a:rPr>
                        <a:t> </a:t>
                      </a:r>
                      <a:r>
                        <a:rPr sz="900" dirty="0">
                          <a:latin typeface="Arial"/>
                          <a:cs typeface="Arial"/>
                        </a:rPr>
                        <a:t>to</a:t>
                      </a:r>
                      <a:r>
                        <a:rPr sz="900" spc="-10" dirty="0">
                          <a:latin typeface="Arial"/>
                          <a:cs typeface="Arial"/>
                        </a:rPr>
                        <a:t> </a:t>
                      </a:r>
                      <a:r>
                        <a:rPr sz="900" spc="-5" dirty="0">
                          <a:latin typeface="Arial"/>
                          <a:cs typeface="Arial"/>
                        </a:rPr>
                        <a:t>GND</a:t>
                      </a:r>
                      <a:r>
                        <a:rPr sz="900" spc="-15" dirty="0">
                          <a:latin typeface="Arial"/>
                          <a:cs typeface="Arial"/>
                        </a:rPr>
                        <a:t> </a:t>
                      </a:r>
                      <a:r>
                        <a:rPr sz="900" spc="-5" dirty="0">
                          <a:latin typeface="Arial"/>
                          <a:cs typeface="Arial"/>
                        </a:rPr>
                        <a:t>voltage</a:t>
                      </a:r>
                      <a:endParaRPr sz="900" dirty="0">
                        <a:latin typeface="Arial"/>
                        <a:cs typeface="Arial"/>
                      </a:endParaRPr>
                    </a:p>
                  </a:txBody>
                  <a:tcPr marL="0" marR="0" marT="69850" marB="0">
                    <a:lnL w="12700">
                      <a:solidFill>
                        <a:srgbClr val="FFFFFF"/>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gn="ctr">
                        <a:lnSpc>
                          <a:spcPct val="100000"/>
                        </a:lnSpc>
                        <a:spcBef>
                          <a:spcPts val="655"/>
                        </a:spcBef>
                      </a:pPr>
                      <a:r>
                        <a:rPr sz="1350" spc="-7" baseline="6172" dirty="0">
                          <a:latin typeface="Arial"/>
                          <a:cs typeface="Arial"/>
                        </a:rPr>
                        <a:t>V</a:t>
                      </a:r>
                      <a:r>
                        <a:rPr sz="600" spc="-5" dirty="0">
                          <a:latin typeface="Arial"/>
                          <a:cs typeface="Arial"/>
                        </a:rPr>
                        <a:t>MOSI</a:t>
                      </a:r>
                      <a:endParaRPr sz="600" dirty="0">
                        <a:latin typeface="Arial"/>
                        <a:cs typeface="Arial"/>
                      </a:endParaRPr>
                    </a:p>
                  </a:txBody>
                  <a:tcPr marL="0" marR="0" marT="83185"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L="635" algn="ctr">
                        <a:lnSpc>
                          <a:spcPct val="100000"/>
                        </a:lnSpc>
                        <a:spcBef>
                          <a:spcPts val="550"/>
                        </a:spcBef>
                      </a:pPr>
                      <a:r>
                        <a:rPr sz="900" dirty="0">
                          <a:latin typeface="Arial"/>
                          <a:cs typeface="Arial"/>
                        </a:rPr>
                        <a:t>-0.3</a:t>
                      </a:r>
                      <a:r>
                        <a:rPr sz="900" spc="-45" dirty="0">
                          <a:latin typeface="Arial"/>
                          <a:cs typeface="Arial"/>
                        </a:rPr>
                        <a:t> </a:t>
                      </a:r>
                      <a:r>
                        <a:rPr sz="900" dirty="0">
                          <a:latin typeface="Arial"/>
                          <a:cs typeface="Arial"/>
                        </a:rPr>
                        <a:t>~</a:t>
                      </a:r>
                      <a:r>
                        <a:rPr sz="900" spc="-30" dirty="0">
                          <a:latin typeface="Arial"/>
                          <a:cs typeface="Arial"/>
                        </a:rPr>
                        <a:t> </a:t>
                      </a:r>
                      <a:r>
                        <a:rPr sz="900" dirty="0">
                          <a:latin typeface="Arial"/>
                          <a:cs typeface="Arial"/>
                        </a:rPr>
                        <a:t>3.3V+0.3</a:t>
                      </a:r>
                    </a:p>
                  </a:txBody>
                  <a:tcPr marL="0" marR="0" marT="6985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L="1270" algn="ctr">
                        <a:lnSpc>
                          <a:spcPct val="100000"/>
                        </a:lnSpc>
                        <a:spcBef>
                          <a:spcPts val="550"/>
                        </a:spcBef>
                      </a:pPr>
                      <a:r>
                        <a:rPr sz="900" dirty="0">
                          <a:latin typeface="Arial"/>
                          <a:cs typeface="Arial"/>
                        </a:rPr>
                        <a:t>V</a:t>
                      </a:r>
                    </a:p>
                  </a:txBody>
                  <a:tcPr marL="0" marR="0" marT="69850" marB="0">
                    <a:lnL w="3175">
                      <a:solidFill>
                        <a:srgbClr val="000000"/>
                      </a:solidFill>
                      <a:prstDash val="solid"/>
                    </a:lnL>
                    <a:lnT w="3175">
                      <a:solidFill>
                        <a:srgbClr val="000000"/>
                      </a:solidFill>
                      <a:prstDash val="solid"/>
                    </a:lnT>
                    <a:lnB w="3175">
                      <a:solidFill>
                        <a:srgbClr val="000000"/>
                      </a:solidFill>
                      <a:prstDash val="solid"/>
                    </a:lnB>
                  </a:tcPr>
                </a:tc>
                <a:extLst>
                  <a:ext uri="{0D108BD9-81ED-4DB2-BD59-A6C34878D82A}">
                    <a16:rowId xmlns:a16="http://schemas.microsoft.com/office/drawing/2014/main" val="10006"/>
                  </a:ext>
                </a:extLst>
              </a:tr>
              <a:tr h="278130">
                <a:tc>
                  <a:txBody>
                    <a:bodyPr/>
                    <a:lstStyle/>
                    <a:p>
                      <a:pPr algn="ctr">
                        <a:lnSpc>
                          <a:spcPct val="100000"/>
                        </a:lnSpc>
                        <a:spcBef>
                          <a:spcPts val="550"/>
                        </a:spcBef>
                      </a:pPr>
                      <a:r>
                        <a:rPr sz="900" spc="-5" dirty="0">
                          <a:latin typeface="Arial"/>
                          <a:cs typeface="Arial"/>
                        </a:rPr>
                        <a:t>MISO</a:t>
                      </a:r>
                      <a:r>
                        <a:rPr sz="900" spc="-10" dirty="0">
                          <a:latin typeface="Arial"/>
                          <a:cs typeface="Arial"/>
                        </a:rPr>
                        <a:t> </a:t>
                      </a:r>
                      <a:r>
                        <a:rPr sz="900" dirty="0">
                          <a:latin typeface="Arial"/>
                          <a:cs typeface="Arial"/>
                        </a:rPr>
                        <a:t>to</a:t>
                      </a:r>
                      <a:r>
                        <a:rPr sz="900" spc="-15" dirty="0">
                          <a:latin typeface="Arial"/>
                          <a:cs typeface="Arial"/>
                        </a:rPr>
                        <a:t> </a:t>
                      </a:r>
                      <a:r>
                        <a:rPr sz="900" spc="-5" dirty="0">
                          <a:latin typeface="Arial"/>
                          <a:cs typeface="Arial"/>
                        </a:rPr>
                        <a:t>GND</a:t>
                      </a:r>
                      <a:r>
                        <a:rPr sz="900" spc="-15" dirty="0">
                          <a:latin typeface="Arial"/>
                          <a:cs typeface="Arial"/>
                        </a:rPr>
                        <a:t> </a:t>
                      </a:r>
                      <a:r>
                        <a:rPr sz="900" spc="-5" dirty="0">
                          <a:latin typeface="Arial"/>
                          <a:cs typeface="Arial"/>
                        </a:rPr>
                        <a:t>voltage</a:t>
                      </a:r>
                      <a:endParaRPr sz="900" dirty="0">
                        <a:latin typeface="Arial"/>
                        <a:cs typeface="Arial"/>
                      </a:endParaRPr>
                    </a:p>
                  </a:txBody>
                  <a:tcPr marL="0" marR="0" marT="69850" marB="0">
                    <a:lnL w="12700">
                      <a:solidFill>
                        <a:srgbClr val="FFFFFF"/>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gn="ctr">
                        <a:lnSpc>
                          <a:spcPct val="100000"/>
                        </a:lnSpc>
                        <a:spcBef>
                          <a:spcPts val="655"/>
                        </a:spcBef>
                      </a:pPr>
                      <a:r>
                        <a:rPr sz="1350" spc="-7" baseline="6172" dirty="0">
                          <a:latin typeface="Arial"/>
                          <a:cs typeface="Arial"/>
                        </a:rPr>
                        <a:t>V</a:t>
                      </a:r>
                      <a:r>
                        <a:rPr sz="600" spc="-5" dirty="0">
                          <a:latin typeface="Arial"/>
                          <a:cs typeface="Arial"/>
                        </a:rPr>
                        <a:t>MISO</a:t>
                      </a:r>
                      <a:endParaRPr sz="600" dirty="0">
                        <a:latin typeface="Arial"/>
                        <a:cs typeface="Arial"/>
                      </a:endParaRPr>
                    </a:p>
                  </a:txBody>
                  <a:tcPr marL="0" marR="0" marT="83185"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gn="ctr">
                        <a:lnSpc>
                          <a:spcPct val="100000"/>
                        </a:lnSpc>
                        <a:spcBef>
                          <a:spcPts val="550"/>
                        </a:spcBef>
                      </a:pPr>
                      <a:r>
                        <a:rPr sz="900" dirty="0">
                          <a:latin typeface="Arial"/>
                          <a:cs typeface="Arial"/>
                        </a:rPr>
                        <a:t>-0.3</a:t>
                      </a:r>
                      <a:r>
                        <a:rPr sz="900" spc="-35" dirty="0">
                          <a:latin typeface="Arial"/>
                          <a:cs typeface="Arial"/>
                        </a:rPr>
                        <a:t> </a:t>
                      </a:r>
                      <a:r>
                        <a:rPr sz="900" dirty="0">
                          <a:latin typeface="Arial"/>
                          <a:cs typeface="Arial"/>
                        </a:rPr>
                        <a:t>~</a:t>
                      </a:r>
                      <a:r>
                        <a:rPr sz="900" spc="-20" dirty="0">
                          <a:latin typeface="Arial"/>
                          <a:cs typeface="Arial"/>
                        </a:rPr>
                        <a:t> </a:t>
                      </a:r>
                      <a:r>
                        <a:rPr sz="900" spc="-5" dirty="0">
                          <a:latin typeface="Arial"/>
                          <a:cs typeface="Arial"/>
                        </a:rPr>
                        <a:t>V</a:t>
                      </a:r>
                      <a:r>
                        <a:rPr sz="900" spc="-7" baseline="-9259" dirty="0">
                          <a:latin typeface="Arial"/>
                          <a:cs typeface="Arial"/>
                        </a:rPr>
                        <a:t>DDD</a:t>
                      </a:r>
                      <a:r>
                        <a:rPr sz="900" spc="-5" dirty="0">
                          <a:latin typeface="Arial"/>
                          <a:cs typeface="Arial"/>
                        </a:rPr>
                        <a:t>+0.5</a:t>
                      </a:r>
                      <a:endParaRPr sz="900" dirty="0">
                        <a:latin typeface="Arial"/>
                        <a:cs typeface="Arial"/>
                      </a:endParaRPr>
                    </a:p>
                  </a:txBody>
                  <a:tcPr marL="0" marR="0" marT="6985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L="1270" algn="ctr">
                        <a:lnSpc>
                          <a:spcPct val="100000"/>
                        </a:lnSpc>
                        <a:spcBef>
                          <a:spcPts val="550"/>
                        </a:spcBef>
                      </a:pPr>
                      <a:r>
                        <a:rPr sz="900" dirty="0">
                          <a:latin typeface="Arial"/>
                          <a:cs typeface="Arial"/>
                        </a:rPr>
                        <a:t>V</a:t>
                      </a:r>
                    </a:p>
                  </a:txBody>
                  <a:tcPr marL="0" marR="0" marT="69850" marB="0">
                    <a:lnL w="3175">
                      <a:solidFill>
                        <a:srgbClr val="000000"/>
                      </a:solidFill>
                      <a:prstDash val="solid"/>
                    </a:lnL>
                    <a:lnT w="3175">
                      <a:solidFill>
                        <a:srgbClr val="000000"/>
                      </a:solidFill>
                      <a:prstDash val="solid"/>
                    </a:lnT>
                    <a:lnB w="3175">
                      <a:solidFill>
                        <a:srgbClr val="000000"/>
                      </a:solidFill>
                      <a:prstDash val="solid"/>
                    </a:lnB>
                  </a:tcPr>
                </a:tc>
                <a:extLst>
                  <a:ext uri="{0D108BD9-81ED-4DB2-BD59-A6C34878D82A}">
                    <a16:rowId xmlns:a16="http://schemas.microsoft.com/office/drawing/2014/main" val="10007"/>
                  </a:ext>
                </a:extLst>
              </a:tr>
              <a:tr h="278130">
                <a:tc>
                  <a:txBody>
                    <a:bodyPr/>
                    <a:lstStyle/>
                    <a:p>
                      <a:pPr algn="ctr">
                        <a:lnSpc>
                          <a:spcPct val="100000"/>
                        </a:lnSpc>
                        <a:spcBef>
                          <a:spcPts val="550"/>
                        </a:spcBef>
                      </a:pPr>
                      <a:r>
                        <a:rPr sz="900" dirty="0">
                          <a:latin typeface="Arial"/>
                          <a:cs typeface="Arial"/>
                        </a:rPr>
                        <a:t>SCLKO</a:t>
                      </a:r>
                      <a:r>
                        <a:rPr sz="900" spc="-25" dirty="0">
                          <a:latin typeface="Arial"/>
                          <a:cs typeface="Arial"/>
                        </a:rPr>
                        <a:t> </a:t>
                      </a:r>
                      <a:r>
                        <a:rPr sz="900" dirty="0">
                          <a:latin typeface="Arial"/>
                          <a:cs typeface="Arial"/>
                        </a:rPr>
                        <a:t>to</a:t>
                      </a:r>
                      <a:r>
                        <a:rPr sz="900" spc="-25" dirty="0">
                          <a:latin typeface="Arial"/>
                          <a:cs typeface="Arial"/>
                        </a:rPr>
                        <a:t> </a:t>
                      </a:r>
                      <a:r>
                        <a:rPr sz="900" spc="-5" dirty="0">
                          <a:latin typeface="Arial"/>
                          <a:cs typeface="Arial"/>
                        </a:rPr>
                        <a:t>GND</a:t>
                      </a:r>
                      <a:r>
                        <a:rPr sz="900" spc="-10" dirty="0">
                          <a:latin typeface="Arial"/>
                          <a:cs typeface="Arial"/>
                        </a:rPr>
                        <a:t> </a:t>
                      </a:r>
                      <a:r>
                        <a:rPr sz="900" spc="-5" dirty="0">
                          <a:latin typeface="Arial"/>
                          <a:cs typeface="Arial"/>
                        </a:rPr>
                        <a:t>voltage</a:t>
                      </a:r>
                      <a:endParaRPr sz="900" dirty="0">
                        <a:latin typeface="Arial"/>
                        <a:cs typeface="Arial"/>
                      </a:endParaRPr>
                    </a:p>
                  </a:txBody>
                  <a:tcPr marL="0" marR="0" marT="69850" marB="0">
                    <a:lnL w="12700">
                      <a:solidFill>
                        <a:srgbClr val="FFFFFF"/>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L="1905" algn="ctr">
                        <a:lnSpc>
                          <a:spcPct val="100000"/>
                        </a:lnSpc>
                        <a:spcBef>
                          <a:spcPts val="660"/>
                        </a:spcBef>
                      </a:pPr>
                      <a:r>
                        <a:rPr sz="1350" spc="-7" baseline="6172" dirty="0">
                          <a:latin typeface="Arial"/>
                          <a:cs typeface="Arial"/>
                        </a:rPr>
                        <a:t>V</a:t>
                      </a:r>
                      <a:r>
                        <a:rPr sz="600" spc="-5" dirty="0">
                          <a:latin typeface="Arial"/>
                          <a:cs typeface="Arial"/>
                        </a:rPr>
                        <a:t>SCLK</a:t>
                      </a:r>
                      <a:endParaRPr sz="600" dirty="0">
                        <a:latin typeface="Arial"/>
                        <a:cs typeface="Arial"/>
                      </a:endParaRPr>
                    </a:p>
                  </a:txBody>
                  <a:tcPr marL="0" marR="0" marT="8382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gn="ctr">
                        <a:lnSpc>
                          <a:spcPct val="100000"/>
                        </a:lnSpc>
                        <a:spcBef>
                          <a:spcPts val="550"/>
                        </a:spcBef>
                      </a:pPr>
                      <a:r>
                        <a:rPr sz="900" dirty="0">
                          <a:latin typeface="Arial"/>
                          <a:cs typeface="Arial"/>
                        </a:rPr>
                        <a:t>-0.3</a:t>
                      </a:r>
                      <a:r>
                        <a:rPr sz="900" spc="-35" dirty="0">
                          <a:latin typeface="Arial"/>
                          <a:cs typeface="Arial"/>
                        </a:rPr>
                        <a:t> </a:t>
                      </a:r>
                      <a:r>
                        <a:rPr sz="900" dirty="0">
                          <a:latin typeface="Arial"/>
                          <a:cs typeface="Arial"/>
                        </a:rPr>
                        <a:t>~</a:t>
                      </a:r>
                      <a:r>
                        <a:rPr sz="900" spc="-25" dirty="0">
                          <a:latin typeface="Arial"/>
                          <a:cs typeface="Arial"/>
                        </a:rPr>
                        <a:t> </a:t>
                      </a:r>
                      <a:r>
                        <a:rPr sz="900" spc="-5" dirty="0">
                          <a:latin typeface="Arial"/>
                          <a:cs typeface="Arial"/>
                        </a:rPr>
                        <a:t>V</a:t>
                      </a:r>
                      <a:r>
                        <a:rPr sz="900" spc="-7" baseline="-9259" dirty="0">
                          <a:latin typeface="Arial"/>
                          <a:cs typeface="Arial"/>
                        </a:rPr>
                        <a:t>DDD</a:t>
                      </a:r>
                      <a:r>
                        <a:rPr sz="900" spc="-5" dirty="0">
                          <a:latin typeface="Arial"/>
                          <a:cs typeface="Arial"/>
                        </a:rPr>
                        <a:t>+0.5</a:t>
                      </a:r>
                      <a:endParaRPr sz="900" dirty="0">
                        <a:latin typeface="Arial"/>
                        <a:cs typeface="Arial"/>
                      </a:endParaRPr>
                    </a:p>
                  </a:txBody>
                  <a:tcPr marL="0" marR="0" marT="6985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L="1270" algn="ctr">
                        <a:lnSpc>
                          <a:spcPct val="100000"/>
                        </a:lnSpc>
                        <a:spcBef>
                          <a:spcPts val="550"/>
                        </a:spcBef>
                      </a:pPr>
                      <a:r>
                        <a:rPr sz="900" dirty="0">
                          <a:latin typeface="Arial"/>
                          <a:cs typeface="Arial"/>
                        </a:rPr>
                        <a:t>V</a:t>
                      </a:r>
                    </a:p>
                  </a:txBody>
                  <a:tcPr marL="0" marR="0" marT="69850" marB="0">
                    <a:lnL w="3175">
                      <a:solidFill>
                        <a:srgbClr val="000000"/>
                      </a:solidFill>
                      <a:prstDash val="solid"/>
                    </a:lnL>
                    <a:lnT w="3175">
                      <a:solidFill>
                        <a:srgbClr val="000000"/>
                      </a:solidFill>
                      <a:prstDash val="solid"/>
                    </a:lnT>
                    <a:lnB w="3175">
                      <a:solidFill>
                        <a:srgbClr val="000000"/>
                      </a:solidFill>
                      <a:prstDash val="solid"/>
                    </a:lnB>
                  </a:tcPr>
                </a:tc>
                <a:extLst>
                  <a:ext uri="{0D108BD9-81ED-4DB2-BD59-A6C34878D82A}">
                    <a16:rowId xmlns:a16="http://schemas.microsoft.com/office/drawing/2014/main" val="10008"/>
                  </a:ext>
                </a:extLst>
              </a:tr>
              <a:tr h="278130">
                <a:tc>
                  <a:txBody>
                    <a:bodyPr/>
                    <a:lstStyle/>
                    <a:p>
                      <a:pPr algn="ctr">
                        <a:lnSpc>
                          <a:spcPct val="100000"/>
                        </a:lnSpc>
                        <a:spcBef>
                          <a:spcPts val="545"/>
                        </a:spcBef>
                      </a:pPr>
                      <a:r>
                        <a:rPr sz="900" spc="-5" dirty="0">
                          <a:latin typeface="Arial"/>
                          <a:cs typeface="Arial"/>
                        </a:rPr>
                        <a:t>SDO</a:t>
                      </a:r>
                      <a:r>
                        <a:rPr sz="900" spc="-30" dirty="0">
                          <a:latin typeface="Arial"/>
                          <a:cs typeface="Arial"/>
                        </a:rPr>
                        <a:t> </a:t>
                      </a:r>
                      <a:r>
                        <a:rPr sz="900" dirty="0">
                          <a:latin typeface="Arial"/>
                          <a:cs typeface="Arial"/>
                        </a:rPr>
                        <a:t>to</a:t>
                      </a:r>
                      <a:r>
                        <a:rPr sz="900" spc="-20" dirty="0">
                          <a:latin typeface="Arial"/>
                          <a:cs typeface="Arial"/>
                        </a:rPr>
                        <a:t> </a:t>
                      </a:r>
                      <a:r>
                        <a:rPr sz="900" spc="-5" dirty="0">
                          <a:latin typeface="Arial"/>
                          <a:cs typeface="Arial"/>
                        </a:rPr>
                        <a:t>GND</a:t>
                      </a:r>
                      <a:r>
                        <a:rPr sz="900" spc="-20" dirty="0">
                          <a:latin typeface="Arial"/>
                          <a:cs typeface="Arial"/>
                        </a:rPr>
                        <a:t> </a:t>
                      </a:r>
                      <a:r>
                        <a:rPr sz="900" dirty="0">
                          <a:latin typeface="Arial"/>
                          <a:cs typeface="Arial"/>
                        </a:rPr>
                        <a:t>voltage</a:t>
                      </a:r>
                    </a:p>
                  </a:txBody>
                  <a:tcPr marL="0" marR="0" marT="69215" marB="0">
                    <a:lnL w="12700">
                      <a:solidFill>
                        <a:srgbClr val="FFFFFF"/>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L="1270" algn="ctr">
                        <a:lnSpc>
                          <a:spcPct val="100000"/>
                        </a:lnSpc>
                        <a:spcBef>
                          <a:spcPts val="660"/>
                        </a:spcBef>
                      </a:pPr>
                      <a:r>
                        <a:rPr sz="1350" spc="-7" baseline="6172" dirty="0">
                          <a:latin typeface="Arial"/>
                          <a:cs typeface="Arial"/>
                        </a:rPr>
                        <a:t>V</a:t>
                      </a:r>
                      <a:r>
                        <a:rPr sz="600" spc="-5" dirty="0">
                          <a:latin typeface="Arial"/>
                          <a:cs typeface="Arial"/>
                        </a:rPr>
                        <a:t>SDO</a:t>
                      </a:r>
                      <a:endParaRPr sz="600" dirty="0">
                        <a:latin typeface="Arial"/>
                        <a:cs typeface="Arial"/>
                      </a:endParaRPr>
                    </a:p>
                  </a:txBody>
                  <a:tcPr marL="0" marR="0" marT="8382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L="635" algn="ctr">
                        <a:lnSpc>
                          <a:spcPct val="100000"/>
                        </a:lnSpc>
                        <a:spcBef>
                          <a:spcPts val="545"/>
                        </a:spcBef>
                      </a:pPr>
                      <a:r>
                        <a:rPr sz="900" spc="-5" dirty="0">
                          <a:latin typeface="Arial"/>
                          <a:cs typeface="Arial"/>
                        </a:rPr>
                        <a:t>-0.3</a:t>
                      </a:r>
                      <a:r>
                        <a:rPr sz="900" spc="-25" dirty="0">
                          <a:latin typeface="Arial"/>
                          <a:cs typeface="Arial"/>
                        </a:rPr>
                        <a:t> </a:t>
                      </a:r>
                      <a:r>
                        <a:rPr sz="900" dirty="0">
                          <a:latin typeface="Arial"/>
                          <a:cs typeface="Arial"/>
                        </a:rPr>
                        <a:t>~</a:t>
                      </a:r>
                      <a:r>
                        <a:rPr sz="900" spc="-20" dirty="0">
                          <a:latin typeface="Arial"/>
                          <a:cs typeface="Arial"/>
                        </a:rPr>
                        <a:t> </a:t>
                      </a:r>
                      <a:r>
                        <a:rPr sz="900" spc="-5" dirty="0">
                          <a:latin typeface="Arial"/>
                          <a:cs typeface="Arial"/>
                        </a:rPr>
                        <a:t>V</a:t>
                      </a:r>
                      <a:r>
                        <a:rPr sz="900" spc="-7" baseline="-9259" dirty="0">
                          <a:latin typeface="Arial"/>
                          <a:cs typeface="Arial"/>
                        </a:rPr>
                        <a:t>DDD</a:t>
                      </a:r>
                      <a:r>
                        <a:rPr sz="900" spc="-5" dirty="0">
                          <a:latin typeface="Arial"/>
                          <a:cs typeface="Arial"/>
                        </a:rPr>
                        <a:t>+0.5</a:t>
                      </a:r>
                      <a:endParaRPr sz="900" dirty="0">
                        <a:latin typeface="Arial"/>
                        <a:cs typeface="Arial"/>
                      </a:endParaRPr>
                    </a:p>
                  </a:txBody>
                  <a:tcPr marL="0" marR="0" marT="69215"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L="1270" algn="ctr">
                        <a:lnSpc>
                          <a:spcPct val="100000"/>
                        </a:lnSpc>
                        <a:spcBef>
                          <a:spcPts val="545"/>
                        </a:spcBef>
                      </a:pPr>
                      <a:r>
                        <a:rPr sz="900" dirty="0">
                          <a:latin typeface="Arial"/>
                          <a:cs typeface="Arial"/>
                        </a:rPr>
                        <a:t>V</a:t>
                      </a:r>
                    </a:p>
                  </a:txBody>
                  <a:tcPr marL="0" marR="0" marT="69215" marB="0">
                    <a:lnL w="3175">
                      <a:solidFill>
                        <a:srgbClr val="000000"/>
                      </a:solidFill>
                      <a:prstDash val="solid"/>
                    </a:lnL>
                    <a:lnT w="3175">
                      <a:solidFill>
                        <a:srgbClr val="000000"/>
                      </a:solidFill>
                      <a:prstDash val="solid"/>
                    </a:lnT>
                    <a:lnB w="3175">
                      <a:solidFill>
                        <a:srgbClr val="000000"/>
                      </a:solidFill>
                      <a:prstDash val="solid"/>
                    </a:lnB>
                  </a:tcPr>
                </a:tc>
                <a:extLst>
                  <a:ext uri="{0D108BD9-81ED-4DB2-BD59-A6C34878D82A}">
                    <a16:rowId xmlns:a16="http://schemas.microsoft.com/office/drawing/2014/main" val="10009"/>
                  </a:ext>
                </a:extLst>
              </a:tr>
              <a:tr h="278130">
                <a:tc>
                  <a:txBody>
                    <a:bodyPr/>
                    <a:lstStyle/>
                    <a:p>
                      <a:pPr algn="ctr">
                        <a:lnSpc>
                          <a:spcPct val="100000"/>
                        </a:lnSpc>
                        <a:spcBef>
                          <a:spcPts val="550"/>
                        </a:spcBef>
                      </a:pPr>
                      <a:r>
                        <a:rPr sz="900" spc="-5" dirty="0">
                          <a:latin typeface="Arial"/>
                          <a:cs typeface="Arial"/>
                        </a:rPr>
                        <a:t>CS</a:t>
                      </a:r>
                      <a:r>
                        <a:rPr sz="900" spc="-15" dirty="0">
                          <a:latin typeface="Arial"/>
                          <a:cs typeface="Arial"/>
                        </a:rPr>
                        <a:t> </a:t>
                      </a:r>
                      <a:r>
                        <a:rPr sz="900" dirty="0">
                          <a:latin typeface="Arial"/>
                          <a:cs typeface="Arial"/>
                        </a:rPr>
                        <a:t>to</a:t>
                      </a:r>
                      <a:r>
                        <a:rPr sz="900" spc="-25" dirty="0">
                          <a:latin typeface="Arial"/>
                          <a:cs typeface="Arial"/>
                        </a:rPr>
                        <a:t> </a:t>
                      </a:r>
                      <a:r>
                        <a:rPr sz="900" spc="-5" dirty="0">
                          <a:latin typeface="Arial"/>
                          <a:cs typeface="Arial"/>
                        </a:rPr>
                        <a:t>GND voltage</a:t>
                      </a:r>
                      <a:endParaRPr sz="900" dirty="0">
                        <a:latin typeface="Arial"/>
                        <a:cs typeface="Arial"/>
                      </a:endParaRPr>
                    </a:p>
                  </a:txBody>
                  <a:tcPr marL="0" marR="0" marT="69850" marB="0">
                    <a:lnL w="12700">
                      <a:solidFill>
                        <a:srgbClr val="FFFFFF"/>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gn="ctr">
                        <a:lnSpc>
                          <a:spcPct val="100000"/>
                        </a:lnSpc>
                        <a:spcBef>
                          <a:spcPts val="655"/>
                        </a:spcBef>
                      </a:pPr>
                      <a:r>
                        <a:rPr sz="1350" spc="-7" baseline="6172" dirty="0">
                          <a:latin typeface="Arial"/>
                          <a:cs typeface="Arial"/>
                        </a:rPr>
                        <a:t>V</a:t>
                      </a:r>
                      <a:r>
                        <a:rPr sz="600" spc="-5" dirty="0">
                          <a:latin typeface="Arial"/>
                          <a:cs typeface="Arial"/>
                        </a:rPr>
                        <a:t>CS</a:t>
                      </a:r>
                      <a:endParaRPr sz="600" dirty="0">
                        <a:latin typeface="Arial"/>
                        <a:cs typeface="Arial"/>
                      </a:endParaRPr>
                    </a:p>
                  </a:txBody>
                  <a:tcPr marL="0" marR="0" marT="83185"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gn="ctr">
                        <a:lnSpc>
                          <a:spcPct val="100000"/>
                        </a:lnSpc>
                        <a:spcBef>
                          <a:spcPts val="550"/>
                        </a:spcBef>
                      </a:pPr>
                      <a:r>
                        <a:rPr sz="900" dirty="0">
                          <a:latin typeface="Arial"/>
                          <a:cs typeface="Arial"/>
                        </a:rPr>
                        <a:t>-0.3</a:t>
                      </a:r>
                      <a:r>
                        <a:rPr sz="900" spc="-35" dirty="0">
                          <a:latin typeface="Arial"/>
                          <a:cs typeface="Arial"/>
                        </a:rPr>
                        <a:t> </a:t>
                      </a:r>
                      <a:r>
                        <a:rPr sz="900" dirty="0">
                          <a:latin typeface="Arial"/>
                          <a:cs typeface="Arial"/>
                        </a:rPr>
                        <a:t>~</a:t>
                      </a:r>
                      <a:r>
                        <a:rPr sz="900" spc="-25" dirty="0">
                          <a:latin typeface="Arial"/>
                          <a:cs typeface="Arial"/>
                        </a:rPr>
                        <a:t> </a:t>
                      </a:r>
                      <a:r>
                        <a:rPr sz="900" spc="-5" dirty="0">
                          <a:latin typeface="Arial"/>
                          <a:cs typeface="Arial"/>
                        </a:rPr>
                        <a:t>V</a:t>
                      </a:r>
                      <a:r>
                        <a:rPr sz="900" spc="-7" baseline="-9259" dirty="0">
                          <a:latin typeface="Arial"/>
                          <a:cs typeface="Arial"/>
                        </a:rPr>
                        <a:t>DDD</a:t>
                      </a:r>
                      <a:r>
                        <a:rPr sz="900" spc="-5" dirty="0">
                          <a:latin typeface="Arial"/>
                          <a:cs typeface="Arial"/>
                        </a:rPr>
                        <a:t>+0.5</a:t>
                      </a:r>
                      <a:endParaRPr sz="900" dirty="0">
                        <a:latin typeface="Arial"/>
                        <a:cs typeface="Arial"/>
                      </a:endParaRPr>
                    </a:p>
                  </a:txBody>
                  <a:tcPr marL="0" marR="0" marT="6985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L="1270" algn="ctr">
                        <a:lnSpc>
                          <a:spcPct val="100000"/>
                        </a:lnSpc>
                        <a:spcBef>
                          <a:spcPts val="550"/>
                        </a:spcBef>
                      </a:pPr>
                      <a:r>
                        <a:rPr sz="900" dirty="0">
                          <a:latin typeface="Arial"/>
                          <a:cs typeface="Arial"/>
                        </a:rPr>
                        <a:t>V</a:t>
                      </a:r>
                    </a:p>
                  </a:txBody>
                  <a:tcPr marL="0" marR="0" marT="69850" marB="0">
                    <a:lnL w="3175">
                      <a:solidFill>
                        <a:srgbClr val="000000"/>
                      </a:solidFill>
                      <a:prstDash val="solid"/>
                    </a:lnL>
                    <a:lnT w="3175">
                      <a:solidFill>
                        <a:srgbClr val="000000"/>
                      </a:solidFill>
                      <a:prstDash val="solid"/>
                    </a:lnT>
                    <a:lnB w="3175">
                      <a:solidFill>
                        <a:srgbClr val="000000"/>
                      </a:solidFill>
                      <a:prstDash val="solid"/>
                    </a:lnB>
                  </a:tcPr>
                </a:tc>
                <a:extLst>
                  <a:ext uri="{0D108BD9-81ED-4DB2-BD59-A6C34878D82A}">
                    <a16:rowId xmlns:a16="http://schemas.microsoft.com/office/drawing/2014/main" val="10010"/>
                  </a:ext>
                </a:extLst>
              </a:tr>
              <a:tr h="278130">
                <a:tc>
                  <a:txBody>
                    <a:bodyPr/>
                    <a:lstStyle/>
                    <a:p>
                      <a:pPr algn="ctr">
                        <a:lnSpc>
                          <a:spcPct val="100000"/>
                        </a:lnSpc>
                        <a:spcBef>
                          <a:spcPts val="550"/>
                        </a:spcBef>
                      </a:pPr>
                      <a:r>
                        <a:rPr sz="900" spc="-5" dirty="0">
                          <a:latin typeface="Arial"/>
                          <a:cs typeface="Arial"/>
                        </a:rPr>
                        <a:t>HOLD</a:t>
                      </a:r>
                      <a:r>
                        <a:rPr sz="900" spc="-15" dirty="0">
                          <a:latin typeface="Arial"/>
                          <a:cs typeface="Arial"/>
                        </a:rPr>
                        <a:t> </a:t>
                      </a:r>
                      <a:r>
                        <a:rPr sz="900" dirty="0">
                          <a:latin typeface="Arial"/>
                          <a:cs typeface="Arial"/>
                        </a:rPr>
                        <a:t>to</a:t>
                      </a:r>
                      <a:r>
                        <a:rPr sz="900" spc="-25" dirty="0">
                          <a:latin typeface="Arial"/>
                          <a:cs typeface="Arial"/>
                        </a:rPr>
                        <a:t> </a:t>
                      </a:r>
                      <a:r>
                        <a:rPr sz="900" spc="-5" dirty="0">
                          <a:latin typeface="Arial"/>
                          <a:cs typeface="Arial"/>
                        </a:rPr>
                        <a:t>GND voltage</a:t>
                      </a:r>
                      <a:endParaRPr sz="900" dirty="0">
                        <a:latin typeface="Arial"/>
                        <a:cs typeface="Arial"/>
                      </a:endParaRPr>
                    </a:p>
                  </a:txBody>
                  <a:tcPr marL="0" marR="0" marT="69850" marB="0">
                    <a:lnL w="12700">
                      <a:solidFill>
                        <a:srgbClr val="FFFFFF"/>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gn="ctr">
                        <a:lnSpc>
                          <a:spcPct val="100000"/>
                        </a:lnSpc>
                        <a:spcBef>
                          <a:spcPts val="655"/>
                        </a:spcBef>
                      </a:pPr>
                      <a:r>
                        <a:rPr sz="1350" spc="-7" baseline="6172" dirty="0">
                          <a:latin typeface="Arial"/>
                          <a:cs typeface="Arial"/>
                        </a:rPr>
                        <a:t>V</a:t>
                      </a:r>
                      <a:r>
                        <a:rPr sz="600" spc="-5" dirty="0">
                          <a:latin typeface="Arial"/>
                          <a:cs typeface="Arial"/>
                        </a:rPr>
                        <a:t>HOLD</a:t>
                      </a:r>
                      <a:endParaRPr sz="600" dirty="0">
                        <a:latin typeface="Arial"/>
                        <a:cs typeface="Arial"/>
                      </a:endParaRPr>
                    </a:p>
                  </a:txBody>
                  <a:tcPr marL="0" marR="0" marT="83185"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gn="ctr">
                        <a:lnSpc>
                          <a:spcPct val="100000"/>
                        </a:lnSpc>
                        <a:spcBef>
                          <a:spcPts val="550"/>
                        </a:spcBef>
                      </a:pPr>
                      <a:r>
                        <a:rPr sz="900" dirty="0">
                          <a:latin typeface="Arial"/>
                          <a:cs typeface="Arial"/>
                        </a:rPr>
                        <a:t>-0.3</a:t>
                      </a:r>
                      <a:r>
                        <a:rPr sz="900" spc="-35" dirty="0">
                          <a:latin typeface="Arial"/>
                          <a:cs typeface="Arial"/>
                        </a:rPr>
                        <a:t> </a:t>
                      </a:r>
                      <a:r>
                        <a:rPr sz="900" dirty="0">
                          <a:latin typeface="Arial"/>
                          <a:cs typeface="Arial"/>
                        </a:rPr>
                        <a:t>~</a:t>
                      </a:r>
                      <a:r>
                        <a:rPr sz="900" spc="-25" dirty="0">
                          <a:latin typeface="Arial"/>
                          <a:cs typeface="Arial"/>
                        </a:rPr>
                        <a:t> </a:t>
                      </a:r>
                      <a:r>
                        <a:rPr sz="900" spc="-5" dirty="0">
                          <a:latin typeface="Arial"/>
                          <a:cs typeface="Arial"/>
                        </a:rPr>
                        <a:t>V</a:t>
                      </a:r>
                      <a:r>
                        <a:rPr sz="900" spc="-7" baseline="-9259" dirty="0">
                          <a:latin typeface="Arial"/>
                          <a:cs typeface="Arial"/>
                        </a:rPr>
                        <a:t>DDD</a:t>
                      </a:r>
                      <a:r>
                        <a:rPr sz="900" spc="-5" dirty="0">
                          <a:latin typeface="Arial"/>
                          <a:cs typeface="Arial"/>
                        </a:rPr>
                        <a:t>+0.5</a:t>
                      </a:r>
                      <a:endParaRPr sz="900" dirty="0">
                        <a:latin typeface="Arial"/>
                        <a:cs typeface="Arial"/>
                      </a:endParaRPr>
                    </a:p>
                  </a:txBody>
                  <a:tcPr marL="0" marR="0" marT="6985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L="1270" algn="ctr">
                        <a:lnSpc>
                          <a:spcPct val="100000"/>
                        </a:lnSpc>
                        <a:spcBef>
                          <a:spcPts val="550"/>
                        </a:spcBef>
                      </a:pPr>
                      <a:r>
                        <a:rPr sz="900" dirty="0">
                          <a:latin typeface="Arial"/>
                          <a:cs typeface="Arial"/>
                        </a:rPr>
                        <a:t>V</a:t>
                      </a:r>
                    </a:p>
                  </a:txBody>
                  <a:tcPr marL="0" marR="0" marT="69850" marB="0">
                    <a:lnL w="3175">
                      <a:solidFill>
                        <a:srgbClr val="000000"/>
                      </a:solidFill>
                      <a:prstDash val="solid"/>
                    </a:lnL>
                    <a:lnT w="3175">
                      <a:solidFill>
                        <a:srgbClr val="000000"/>
                      </a:solidFill>
                      <a:prstDash val="solid"/>
                    </a:lnT>
                    <a:lnB w="3175">
                      <a:solidFill>
                        <a:srgbClr val="000000"/>
                      </a:solidFill>
                      <a:prstDash val="solid"/>
                    </a:lnB>
                  </a:tcPr>
                </a:tc>
                <a:extLst>
                  <a:ext uri="{0D108BD9-81ED-4DB2-BD59-A6C34878D82A}">
                    <a16:rowId xmlns:a16="http://schemas.microsoft.com/office/drawing/2014/main" val="10011"/>
                  </a:ext>
                </a:extLst>
              </a:tr>
              <a:tr h="278130">
                <a:tc>
                  <a:txBody>
                    <a:bodyPr/>
                    <a:lstStyle/>
                    <a:p>
                      <a:pPr algn="ctr">
                        <a:lnSpc>
                          <a:spcPct val="100000"/>
                        </a:lnSpc>
                        <a:spcBef>
                          <a:spcPts val="550"/>
                        </a:spcBef>
                      </a:pPr>
                      <a:r>
                        <a:rPr sz="900" dirty="0">
                          <a:latin typeface="Arial"/>
                          <a:cs typeface="Arial"/>
                        </a:rPr>
                        <a:t>ADO</a:t>
                      </a:r>
                      <a:r>
                        <a:rPr sz="900" spc="-30" dirty="0">
                          <a:latin typeface="Arial"/>
                          <a:cs typeface="Arial"/>
                        </a:rPr>
                        <a:t> </a:t>
                      </a:r>
                      <a:r>
                        <a:rPr sz="900" dirty="0">
                          <a:latin typeface="Arial"/>
                          <a:cs typeface="Arial"/>
                        </a:rPr>
                        <a:t>to</a:t>
                      </a:r>
                      <a:r>
                        <a:rPr sz="900" spc="-15" dirty="0">
                          <a:latin typeface="Arial"/>
                          <a:cs typeface="Arial"/>
                        </a:rPr>
                        <a:t> </a:t>
                      </a:r>
                      <a:r>
                        <a:rPr sz="900" spc="-5" dirty="0">
                          <a:latin typeface="Arial"/>
                          <a:cs typeface="Arial"/>
                        </a:rPr>
                        <a:t>GND</a:t>
                      </a:r>
                      <a:r>
                        <a:rPr sz="900" spc="-15" dirty="0">
                          <a:latin typeface="Arial"/>
                          <a:cs typeface="Arial"/>
                        </a:rPr>
                        <a:t> </a:t>
                      </a:r>
                      <a:r>
                        <a:rPr sz="900" spc="-5" dirty="0">
                          <a:latin typeface="Arial"/>
                          <a:cs typeface="Arial"/>
                        </a:rPr>
                        <a:t>voltage</a:t>
                      </a:r>
                      <a:endParaRPr sz="900" dirty="0">
                        <a:latin typeface="Arial"/>
                        <a:cs typeface="Arial"/>
                      </a:endParaRPr>
                    </a:p>
                  </a:txBody>
                  <a:tcPr marL="0" marR="0" marT="69850" marB="0">
                    <a:lnL w="12700">
                      <a:solidFill>
                        <a:srgbClr val="FFFFFF"/>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L="1270" algn="ctr">
                        <a:lnSpc>
                          <a:spcPct val="100000"/>
                        </a:lnSpc>
                        <a:spcBef>
                          <a:spcPts val="660"/>
                        </a:spcBef>
                      </a:pPr>
                      <a:r>
                        <a:rPr sz="1350" spc="-7" baseline="6172" dirty="0">
                          <a:latin typeface="Arial"/>
                          <a:cs typeface="Arial"/>
                        </a:rPr>
                        <a:t>V</a:t>
                      </a:r>
                      <a:r>
                        <a:rPr sz="600" spc="-5" dirty="0">
                          <a:latin typeface="Arial"/>
                          <a:cs typeface="Arial"/>
                        </a:rPr>
                        <a:t>ADO</a:t>
                      </a:r>
                      <a:endParaRPr sz="600" dirty="0">
                        <a:latin typeface="Arial"/>
                        <a:cs typeface="Arial"/>
                      </a:endParaRPr>
                    </a:p>
                  </a:txBody>
                  <a:tcPr marL="0" marR="0" marT="8382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gn="ctr">
                        <a:lnSpc>
                          <a:spcPct val="100000"/>
                        </a:lnSpc>
                        <a:spcBef>
                          <a:spcPts val="550"/>
                        </a:spcBef>
                      </a:pPr>
                      <a:r>
                        <a:rPr sz="900" dirty="0">
                          <a:latin typeface="Arial"/>
                          <a:cs typeface="Arial"/>
                        </a:rPr>
                        <a:t>-0.3</a:t>
                      </a:r>
                      <a:r>
                        <a:rPr sz="900" spc="-35" dirty="0">
                          <a:latin typeface="Arial"/>
                          <a:cs typeface="Arial"/>
                        </a:rPr>
                        <a:t> </a:t>
                      </a:r>
                      <a:r>
                        <a:rPr sz="900" dirty="0">
                          <a:latin typeface="Arial"/>
                          <a:cs typeface="Arial"/>
                        </a:rPr>
                        <a:t>~</a:t>
                      </a:r>
                      <a:r>
                        <a:rPr sz="900" spc="-25" dirty="0">
                          <a:latin typeface="Arial"/>
                          <a:cs typeface="Arial"/>
                        </a:rPr>
                        <a:t> </a:t>
                      </a:r>
                      <a:r>
                        <a:rPr sz="900" spc="-5" dirty="0">
                          <a:latin typeface="Arial"/>
                          <a:cs typeface="Arial"/>
                        </a:rPr>
                        <a:t>V</a:t>
                      </a:r>
                      <a:r>
                        <a:rPr sz="900" spc="-7" baseline="-9259" dirty="0">
                          <a:latin typeface="Arial"/>
                          <a:cs typeface="Arial"/>
                        </a:rPr>
                        <a:t>DDD</a:t>
                      </a:r>
                      <a:r>
                        <a:rPr sz="900" spc="-5" dirty="0">
                          <a:latin typeface="Arial"/>
                          <a:cs typeface="Arial"/>
                        </a:rPr>
                        <a:t>+0.5</a:t>
                      </a:r>
                      <a:endParaRPr sz="900" dirty="0">
                        <a:latin typeface="Arial"/>
                        <a:cs typeface="Arial"/>
                      </a:endParaRPr>
                    </a:p>
                  </a:txBody>
                  <a:tcPr marL="0" marR="0" marT="6985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L="1270" algn="ctr">
                        <a:lnSpc>
                          <a:spcPct val="100000"/>
                        </a:lnSpc>
                        <a:spcBef>
                          <a:spcPts val="550"/>
                        </a:spcBef>
                      </a:pPr>
                      <a:r>
                        <a:rPr sz="900" dirty="0">
                          <a:latin typeface="Arial"/>
                          <a:cs typeface="Arial"/>
                        </a:rPr>
                        <a:t>V</a:t>
                      </a:r>
                    </a:p>
                  </a:txBody>
                  <a:tcPr marL="0" marR="0" marT="69850" marB="0">
                    <a:lnL w="3175">
                      <a:solidFill>
                        <a:srgbClr val="000000"/>
                      </a:solidFill>
                      <a:prstDash val="solid"/>
                    </a:lnL>
                    <a:lnT w="3175">
                      <a:solidFill>
                        <a:srgbClr val="000000"/>
                      </a:solidFill>
                      <a:prstDash val="solid"/>
                    </a:lnT>
                    <a:lnB w="3175">
                      <a:solidFill>
                        <a:srgbClr val="000000"/>
                      </a:solidFill>
                      <a:prstDash val="solid"/>
                    </a:lnB>
                  </a:tcPr>
                </a:tc>
                <a:extLst>
                  <a:ext uri="{0D108BD9-81ED-4DB2-BD59-A6C34878D82A}">
                    <a16:rowId xmlns:a16="http://schemas.microsoft.com/office/drawing/2014/main" val="10012"/>
                  </a:ext>
                </a:extLst>
              </a:tr>
              <a:tr h="278130">
                <a:tc>
                  <a:txBody>
                    <a:bodyPr/>
                    <a:lstStyle/>
                    <a:p>
                      <a:pPr algn="ctr">
                        <a:lnSpc>
                          <a:spcPct val="100000"/>
                        </a:lnSpc>
                        <a:spcBef>
                          <a:spcPts val="550"/>
                        </a:spcBef>
                      </a:pPr>
                      <a:r>
                        <a:rPr sz="900" spc="-10" dirty="0">
                          <a:latin typeface="Arial"/>
                          <a:cs typeface="Arial"/>
                        </a:rPr>
                        <a:t>MODE</a:t>
                      </a:r>
                      <a:r>
                        <a:rPr sz="900" spc="5" dirty="0">
                          <a:latin typeface="Arial"/>
                          <a:cs typeface="Arial"/>
                        </a:rPr>
                        <a:t> </a:t>
                      </a:r>
                      <a:r>
                        <a:rPr sz="900" dirty="0">
                          <a:latin typeface="Arial"/>
                          <a:cs typeface="Arial"/>
                        </a:rPr>
                        <a:t>to</a:t>
                      </a:r>
                      <a:r>
                        <a:rPr sz="900" spc="-20" dirty="0">
                          <a:latin typeface="Arial"/>
                          <a:cs typeface="Arial"/>
                        </a:rPr>
                        <a:t> </a:t>
                      </a:r>
                      <a:r>
                        <a:rPr sz="900" spc="-5" dirty="0">
                          <a:latin typeface="Arial"/>
                          <a:cs typeface="Arial"/>
                        </a:rPr>
                        <a:t>GND</a:t>
                      </a:r>
                      <a:r>
                        <a:rPr sz="900" spc="-10" dirty="0">
                          <a:latin typeface="Arial"/>
                          <a:cs typeface="Arial"/>
                        </a:rPr>
                        <a:t> </a:t>
                      </a:r>
                      <a:r>
                        <a:rPr sz="900" spc="-5" dirty="0">
                          <a:latin typeface="Arial"/>
                          <a:cs typeface="Arial"/>
                        </a:rPr>
                        <a:t>voltage</a:t>
                      </a:r>
                      <a:endParaRPr sz="900" dirty="0">
                        <a:latin typeface="Arial"/>
                        <a:cs typeface="Arial"/>
                      </a:endParaRPr>
                    </a:p>
                  </a:txBody>
                  <a:tcPr marL="0" marR="0" marT="69850" marB="0">
                    <a:lnL w="12700">
                      <a:solidFill>
                        <a:srgbClr val="FFFFFF"/>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gn="ctr">
                        <a:lnSpc>
                          <a:spcPct val="100000"/>
                        </a:lnSpc>
                        <a:spcBef>
                          <a:spcPts val="660"/>
                        </a:spcBef>
                      </a:pPr>
                      <a:r>
                        <a:rPr sz="1350" spc="-7" baseline="6172" dirty="0">
                          <a:latin typeface="Arial"/>
                          <a:cs typeface="Arial"/>
                        </a:rPr>
                        <a:t>V</a:t>
                      </a:r>
                      <a:r>
                        <a:rPr sz="600" spc="-5" dirty="0">
                          <a:latin typeface="Arial"/>
                          <a:cs typeface="Arial"/>
                        </a:rPr>
                        <a:t>MODE</a:t>
                      </a:r>
                      <a:endParaRPr sz="600" dirty="0">
                        <a:latin typeface="Arial"/>
                        <a:cs typeface="Arial"/>
                      </a:endParaRPr>
                    </a:p>
                  </a:txBody>
                  <a:tcPr marL="0" marR="0" marT="8382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gn="ctr">
                        <a:lnSpc>
                          <a:spcPct val="100000"/>
                        </a:lnSpc>
                        <a:spcBef>
                          <a:spcPts val="550"/>
                        </a:spcBef>
                      </a:pPr>
                      <a:r>
                        <a:rPr sz="900" dirty="0">
                          <a:latin typeface="Arial"/>
                          <a:cs typeface="Arial"/>
                        </a:rPr>
                        <a:t>-0.3</a:t>
                      </a:r>
                      <a:r>
                        <a:rPr sz="900" spc="-35" dirty="0">
                          <a:latin typeface="Arial"/>
                          <a:cs typeface="Arial"/>
                        </a:rPr>
                        <a:t> </a:t>
                      </a:r>
                      <a:r>
                        <a:rPr sz="900" dirty="0">
                          <a:latin typeface="Arial"/>
                          <a:cs typeface="Arial"/>
                        </a:rPr>
                        <a:t>~</a:t>
                      </a:r>
                      <a:r>
                        <a:rPr sz="900" spc="-25" dirty="0">
                          <a:latin typeface="Arial"/>
                          <a:cs typeface="Arial"/>
                        </a:rPr>
                        <a:t> </a:t>
                      </a:r>
                      <a:r>
                        <a:rPr sz="900" spc="-5" dirty="0">
                          <a:latin typeface="Arial"/>
                          <a:cs typeface="Arial"/>
                        </a:rPr>
                        <a:t>V</a:t>
                      </a:r>
                      <a:r>
                        <a:rPr sz="900" spc="-7" baseline="-9259" dirty="0">
                          <a:latin typeface="Arial"/>
                          <a:cs typeface="Arial"/>
                        </a:rPr>
                        <a:t>DDD</a:t>
                      </a:r>
                      <a:r>
                        <a:rPr sz="900" spc="-5" dirty="0">
                          <a:latin typeface="Arial"/>
                          <a:cs typeface="Arial"/>
                        </a:rPr>
                        <a:t>+0.5</a:t>
                      </a:r>
                      <a:endParaRPr sz="900" dirty="0">
                        <a:latin typeface="Arial"/>
                        <a:cs typeface="Arial"/>
                      </a:endParaRPr>
                    </a:p>
                  </a:txBody>
                  <a:tcPr marL="0" marR="0" marT="6985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L="1270" algn="ctr">
                        <a:lnSpc>
                          <a:spcPct val="100000"/>
                        </a:lnSpc>
                        <a:spcBef>
                          <a:spcPts val="550"/>
                        </a:spcBef>
                      </a:pPr>
                      <a:r>
                        <a:rPr sz="900" dirty="0">
                          <a:latin typeface="Arial"/>
                          <a:cs typeface="Arial"/>
                        </a:rPr>
                        <a:t>V</a:t>
                      </a:r>
                    </a:p>
                  </a:txBody>
                  <a:tcPr marL="0" marR="0" marT="69850" marB="0">
                    <a:lnL w="3175">
                      <a:solidFill>
                        <a:srgbClr val="000000"/>
                      </a:solidFill>
                      <a:prstDash val="solid"/>
                    </a:lnL>
                    <a:lnT w="3175">
                      <a:solidFill>
                        <a:srgbClr val="000000"/>
                      </a:solidFill>
                      <a:prstDash val="solid"/>
                    </a:lnT>
                    <a:lnB w="3175">
                      <a:solidFill>
                        <a:srgbClr val="000000"/>
                      </a:solidFill>
                      <a:prstDash val="solid"/>
                    </a:lnB>
                  </a:tcPr>
                </a:tc>
                <a:extLst>
                  <a:ext uri="{0D108BD9-81ED-4DB2-BD59-A6C34878D82A}">
                    <a16:rowId xmlns:a16="http://schemas.microsoft.com/office/drawing/2014/main" val="10013"/>
                  </a:ext>
                </a:extLst>
              </a:tr>
              <a:tr h="278130">
                <a:tc>
                  <a:txBody>
                    <a:bodyPr/>
                    <a:lstStyle/>
                    <a:p>
                      <a:pPr algn="ctr">
                        <a:lnSpc>
                          <a:spcPct val="100000"/>
                        </a:lnSpc>
                        <a:spcBef>
                          <a:spcPts val="550"/>
                        </a:spcBef>
                      </a:pPr>
                      <a:r>
                        <a:rPr sz="900" spc="-5" dirty="0">
                          <a:latin typeface="Arial"/>
                          <a:cs typeface="Arial"/>
                        </a:rPr>
                        <a:t>Operating</a:t>
                      </a:r>
                      <a:r>
                        <a:rPr sz="900" spc="-45" dirty="0">
                          <a:latin typeface="Arial"/>
                          <a:cs typeface="Arial"/>
                        </a:rPr>
                        <a:t> </a:t>
                      </a:r>
                      <a:r>
                        <a:rPr sz="900" dirty="0">
                          <a:latin typeface="Arial"/>
                          <a:cs typeface="Arial"/>
                        </a:rPr>
                        <a:t>temperature</a:t>
                      </a:r>
                    </a:p>
                  </a:txBody>
                  <a:tcPr marL="0" marR="0" marT="69850" marB="0">
                    <a:lnL w="12700">
                      <a:solidFill>
                        <a:srgbClr val="FFFFFF"/>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L="1270" algn="ctr">
                        <a:lnSpc>
                          <a:spcPct val="100000"/>
                        </a:lnSpc>
                        <a:spcBef>
                          <a:spcPts val="550"/>
                        </a:spcBef>
                      </a:pPr>
                      <a:r>
                        <a:rPr sz="900" spc="-5" dirty="0">
                          <a:latin typeface="Arial"/>
                          <a:cs typeface="Arial"/>
                        </a:rPr>
                        <a:t>T</a:t>
                      </a:r>
                      <a:r>
                        <a:rPr sz="900" spc="-7" baseline="-9259" dirty="0">
                          <a:latin typeface="Arial"/>
                          <a:cs typeface="Arial"/>
                        </a:rPr>
                        <a:t>O</a:t>
                      </a:r>
                      <a:endParaRPr sz="900" baseline="-9259" dirty="0">
                        <a:latin typeface="Arial"/>
                        <a:cs typeface="Arial"/>
                      </a:endParaRPr>
                    </a:p>
                  </a:txBody>
                  <a:tcPr marL="0" marR="0" marT="6985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gn="ctr">
                        <a:lnSpc>
                          <a:spcPct val="100000"/>
                        </a:lnSpc>
                        <a:spcBef>
                          <a:spcPts val="550"/>
                        </a:spcBef>
                      </a:pPr>
                      <a:r>
                        <a:rPr sz="900" spc="-5" dirty="0">
                          <a:latin typeface="Arial"/>
                          <a:cs typeface="Arial"/>
                        </a:rPr>
                        <a:t>-20</a:t>
                      </a:r>
                      <a:r>
                        <a:rPr sz="900" spc="-35" dirty="0">
                          <a:latin typeface="Arial"/>
                          <a:cs typeface="Arial"/>
                        </a:rPr>
                        <a:t> </a:t>
                      </a:r>
                      <a:r>
                        <a:rPr sz="900" dirty="0">
                          <a:latin typeface="Arial"/>
                          <a:cs typeface="Arial"/>
                        </a:rPr>
                        <a:t>~</a:t>
                      </a:r>
                      <a:r>
                        <a:rPr sz="900" spc="-25" dirty="0">
                          <a:latin typeface="Arial"/>
                          <a:cs typeface="Arial"/>
                        </a:rPr>
                        <a:t> </a:t>
                      </a:r>
                      <a:r>
                        <a:rPr sz="900" spc="-5" dirty="0">
                          <a:latin typeface="Arial"/>
                          <a:cs typeface="Arial"/>
                        </a:rPr>
                        <a:t>85</a:t>
                      </a:r>
                      <a:endParaRPr sz="900" dirty="0">
                        <a:latin typeface="Arial"/>
                        <a:cs typeface="Arial"/>
                      </a:endParaRPr>
                    </a:p>
                  </a:txBody>
                  <a:tcPr marL="0" marR="0" marT="6985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L="3175" algn="ctr">
                        <a:lnSpc>
                          <a:spcPct val="100000"/>
                        </a:lnSpc>
                        <a:spcBef>
                          <a:spcPts val="620"/>
                        </a:spcBef>
                      </a:pPr>
                      <a:r>
                        <a:rPr sz="900" dirty="0">
                          <a:latin typeface="맑은 고딕"/>
                          <a:cs typeface="맑은 고딕"/>
                        </a:rPr>
                        <a:t>℃</a:t>
                      </a:r>
                    </a:p>
                  </a:txBody>
                  <a:tcPr marL="0" marR="0" marT="78740" marB="0">
                    <a:lnL w="3175">
                      <a:solidFill>
                        <a:srgbClr val="000000"/>
                      </a:solidFill>
                      <a:prstDash val="solid"/>
                    </a:lnL>
                    <a:lnT w="3175">
                      <a:solidFill>
                        <a:srgbClr val="000000"/>
                      </a:solidFill>
                      <a:prstDash val="solid"/>
                    </a:lnT>
                    <a:lnB w="3175">
                      <a:solidFill>
                        <a:srgbClr val="000000"/>
                      </a:solidFill>
                      <a:prstDash val="solid"/>
                    </a:lnB>
                  </a:tcPr>
                </a:tc>
                <a:extLst>
                  <a:ext uri="{0D108BD9-81ED-4DB2-BD59-A6C34878D82A}">
                    <a16:rowId xmlns:a16="http://schemas.microsoft.com/office/drawing/2014/main" val="10014"/>
                  </a:ext>
                </a:extLst>
              </a:tr>
              <a:tr h="278130">
                <a:tc>
                  <a:txBody>
                    <a:bodyPr/>
                    <a:lstStyle/>
                    <a:p>
                      <a:pPr algn="ctr">
                        <a:lnSpc>
                          <a:spcPct val="100000"/>
                        </a:lnSpc>
                        <a:spcBef>
                          <a:spcPts val="550"/>
                        </a:spcBef>
                      </a:pPr>
                      <a:r>
                        <a:rPr sz="900" spc="5" dirty="0">
                          <a:latin typeface="Arial"/>
                          <a:cs typeface="Arial"/>
                        </a:rPr>
                        <a:t>J</a:t>
                      </a:r>
                      <a:r>
                        <a:rPr sz="900" dirty="0">
                          <a:latin typeface="Arial"/>
                          <a:cs typeface="Arial"/>
                        </a:rPr>
                        <a:t>un</a:t>
                      </a:r>
                      <a:r>
                        <a:rPr sz="900" spc="5" dirty="0">
                          <a:latin typeface="Arial"/>
                          <a:cs typeface="Arial"/>
                        </a:rPr>
                        <a:t>c</a:t>
                      </a:r>
                      <a:r>
                        <a:rPr sz="900" dirty="0">
                          <a:latin typeface="Arial"/>
                          <a:cs typeface="Arial"/>
                        </a:rPr>
                        <a:t>t</a:t>
                      </a:r>
                      <a:r>
                        <a:rPr sz="900" spc="5" dirty="0">
                          <a:latin typeface="Arial"/>
                          <a:cs typeface="Arial"/>
                        </a:rPr>
                        <a:t>i</a:t>
                      </a:r>
                      <a:r>
                        <a:rPr sz="900" dirty="0">
                          <a:latin typeface="Arial"/>
                          <a:cs typeface="Arial"/>
                        </a:rPr>
                        <a:t>on</a:t>
                      </a:r>
                      <a:r>
                        <a:rPr sz="900" spc="-35" dirty="0">
                          <a:latin typeface="Arial"/>
                          <a:cs typeface="Arial"/>
                        </a:rPr>
                        <a:t> </a:t>
                      </a:r>
                      <a:r>
                        <a:rPr sz="900" dirty="0">
                          <a:latin typeface="Arial"/>
                          <a:cs typeface="Arial"/>
                        </a:rPr>
                        <a:t>te</a:t>
                      </a:r>
                      <a:r>
                        <a:rPr sz="900" spc="5" dirty="0">
                          <a:latin typeface="Arial"/>
                          <a:cs typeface="Arial"/>
                        </a:rPr>
                        <a:t>m</a:t>
                      </a:r>
                      <a:r>
                        <a:rPr sz="900" dirty="0">
                          <a:latin typeface="Arial"/>
                          <a:cs typeface="Arial"/>
                        </a:rPr>
                        <a:t>perature</a:t>
                      </a:r>
                    </a:p>
                  </a:txBody>
                  <a:tcPr marL="0" marR="0" marT="69850" marB="0">
                    <a:lnL w="12700">
                      <a:solidFill>
                        <a:srgbClr val="FFFFFF"/>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L="1270" algn="ctr">
                        <a:lnSpc>
                          <a:spcPct val="100000"/>
                        </a:lnSpc>
                        <a:spcBef>
                          <a:spcPts val="550"/>
                        </a:spcBef>
                      </a:pPr>
                      <a:r>
                        <a:rPr sz="900" spc="-5" dirty="0">
                          <a:latin typeface="Arial"/>
                          <a:cs typeface="Arial"/>
                        </a:rPr>
                        <a:t>T</a:t>
                      </a:r>
                      <a:r>
                        <a:rPr sz="900" spc="-7" baseline="-9259" dirty="0">
                          <a:latin typeface="Arial"/>
                          <a:cs typeface="Arial"/>
                        </a:rPr>
                        <a:t>J</a:t>
                      </a:r>
                      <a:endParaRPr sz="900" baseline="-9259" dirty="0">
                        <a:latin typeface="Arial"/>
                        <a:cs typeface="Arial"/>
                      </a:endParaRPr>
                    </a:p>
                  </a:txBody>
                  <a:tcPr marL="0" marR="0" marT="6985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gn="ctr">
                        <a:lnSpc>
                          <a:spcPct val="100000"/>
                        </a:lnSpc>
                        <a:spcBef>
                          <a:spcPts val="550"/>
                        </a:spcBef>
                      </a:pPr>
                      <a:r>
                        <a:rPr sz="900" spc="-5" dirty="0">
                          <a:latin typeface="Arial"/>
                          <a:cs typeface="Arial"/>
                        </a:rPr>
                        <a:t>-20</a:t>
                      </a:r>
                      <a:r>
                        <a:rPr sz="900" spc="-35" dirty="0">
                          <a:latin typeface="Arial"/>
                          <a:cs typeface="Arial"/>
                        </a:rPr>
                        <a:t> </a:t>
                      </a:r>
                      <a:r>
                        <a:rPr sz="900" dirty="0">
                          <a:latin typeface="Arial"/>
                          <a:cs typeface="Arial"/>
                        </a:rPr>
                        <a:t>~</a:t>
                      </a:r>
                      <a:r>
                        <a:rPr sz="900" spc="-20" dirty="0">
                          <a:latin typeface="Arial"/>
                          <a:cs typeface="Arial"/>
                        </a:rPr>
                        <a:t> </a:t>
                      </a:r>
                      <a:r>
                        <a:rPr sz="900" spc="-5" dirty="0">
                          <a:latin typeface="Arial"/>
                          <a:cs typeface="Arial"/>
                        </a:rPr>
                        <a:t>150</a:t>
                      </a:r>
                      <a:endParaRPr sz="900" dirty="0">
                        <a:latin typeface="Arial"/>
                        <a:cs typeface="Arial"/>
                      </a:endParaRPr>
                    </a:p>
                  </a:txBody>
                  <a:tcPr marL="0" marR="0" marT="6985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L="3175" algn="ctr">
                        <a:lnSpc>
                          <a:spcPct val="100000"/>
                        </a:lnSpc>
                        <a:spcBef>
                          <a:spcPts val="620"/>
                        </a:spcBef>
                      </a:pPr>
                      <a:r>
                        <a:rPr sz="900" dirty="0">
                          <a:latin typeface="맑은 고딕"/>
                          <a:cs typeface="맑은 고딕"/>
                        </a:rPr>
                        <a:t>℃</a:t>
                      </a:r>
                    </a:p>
                  </a:txBody>
                  <a:tcPr marL="0" marR="0" marT="78740" marB="0">
                    <a:lnL w="3175">
                      <a:solidFill>
                        <a:srgbClr val="000000"/>
                      </a:solidFill>
                      <a:prstDash val="solid"/>
                    </a:lnL>
                    <a:lnT w="3175">
                      <a:solidFill>
                        <a:srgbClr val="000000"/>
                      </a:solidFill>
                      <a:prstDash val="solid"/>
                    </a:lnT>
                    <a:lnB w="3175">
                      <a:solidFill>
                        <a:srgbClr val="000000"/>
                      </a:solidFill>
                      <a:prstDash val="solid"/>
                    </a:lnB>
                  </a:tcPr>
                </a:tc>
                <a:extLst>
                  <a:ext uri="{0D108BD9-81ED-4DB2-BD59-A6C34878D82A}">
                    <a16:rowId xmlns:a16="http://schemas.microsoft.com/office/drawing/2014/main" val="10015"/>
                  </a:ext>
                </a:extLst>
              </a:tr>
              <a:tr h="278130">
                <a:tc>
                  <a:txBody>
                    <a:bodyPr/>
                    <a:lstStyle/>
                    <a:p>
                      <a:pPr algn="ctr">
                        <a:lnSpc>
                          <a:spcPct val="100000"/>
                        </a:lnSpc>
                        <a:spcBef>
                          <a:spcPts val="550"/>
                        </a:spcBef>
                      </a:pPr>
                      <a:r>
                        <a:rPr sz="900" dirty="0">
                          <a:latin typeface="Arial"/>
                          <a:cs typeface="Arial"/>
                        </a:rPr>
                        <a:t>Storage</a:t>
                      </a:r>
                      <a:r>
                        <a:rPr sz="900" spc="-65" dirty="0">
                          <a:latin typeface="Arial"/>
                          <a:cs typeface="Arial"/>
                        </a:rPr>
                        <a:t> </a:t>
                      </a:r>
                      <a:r>
                        <a:rPr sz="900" dirty="0">
                          <a:latin typeface="Arial"/>
                          <a:cs typeface="Arial"/>
                        </a:rPr>
                        <a:t>temperature</a:t>
                      </a:r>
                    </a:p>
                  </a:txBody>
                  <a:tcPr marL="0" marR="0" marT="69850" marB="0">
                    <a:lnL w="12700">
                      <a:solidFill>
                        <a:srgbClr val="FFFFFF"/>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L="1270" algn="ctr">
                        <a:lnSpc>
                          <a:spcPct val="100000"/>
                        </a:lnSpc>
                        <a:spcBef>
                          <a:spcPts val="660"/>
                        </a:spcBef>
                      </a:pPr>
                      <a:r>
                        <a:rPr sz="1350" spc="-7" baseline="6172" dirty="0">
                          <a:latin typeface="Arial"/>
                          <a:cs typeface="Arial"/>
                        </a:rPr>
                        <a:t>T</a:t>
                      </a:r>
                      <a:r>
                        <a:rPr sz="600" spc="-5" dirty="0">
                          <a:latin typeface="Arial"/>
                          <a:cs typeface="Arial"/>
                        </a:rPr>
                        <a:t>STG</a:t>
                      </a:r>
                      <a:endParaRPr sz="600" dirty="0">
                        <a:latin typeface="Arial"/>
                        <a:cs typeface="Arial"/>
                      </a:endParaRPr>
                    </a:p>
                  </a:txBody>
                  <a:tcPr marL="0" marR="0" marT="8382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gn="ctr">
                        <a:lnSpc>
                          <a:spcPct val="100000"/>
                        </a:lnSpc>
                        <a:spcBef>
                          <a:spcPts val="550"/>
                        </a:spcBef>
                      </a:pPr>
                      <a:r>
                        <a:rPr sz="900" spc="-5" dirty="0">
                          <a:latin typeface="Arial"/>
                          <a:cs typeface="Arial"/>
                        </a:rPr>
                        <a:t>-45</a:t>
                      </a:r>
                      <a:r>
                        <a:rPr sz="900" spc="-35" dirty="0">
                          <a:latin typeface="Arial"/>
                          <a:cs typeface="Arial"/>
                        </a:rPr>
                        <a:t> </a:t>
                      </a:r>
                      <a:r>
                        <a:rPr sz="900" dirty="0">
                          <a:latin typeface="Arial"/>
                          <a:cs typeface="Arial"/>
                        </a:rPr>
                        <a:t>~</a:t>
                      </a:r>
                      <a:r>
                        <a:rPr sz="900" spc="-20" dirty="0">
                          <a:latin typeface="Arial"/>
                          <a:cs typeface="Arial"/>
                        </a:rPr>
                        <a:t> </a:t>
                      </a:r>
                      <a:r>
                        <a:rPr sz="900" spc="-5" dirty="0">
                          <a:latin typeface="Arial"/>
                          <a:cs typeface="Arial"/>
                        </a:rPr>
                        <a:t>150</a:t>
                      </a:r>
                      <a:endParaRPr sz="900" dirty="0">
                        <a:latin typeface="Arial"/>
                        <a:cs typeface="Arial"/>
                      </a:endParaRPr>
                    </a:p>
                  </a:txBody>
                  <a:tcPr marL="0" marR="0" marT="6985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L="3175" algn="ctr">
                        <a:lnSpc>
                          <a:spcPct val="100000"/>
                        </a:lnSpc>
                        <a:spcBef>
                          <a:spcPts val="625"/>
                        </a:spcBef>
                      </a:pPr>
                      <a:r>
                        <a:rPr sz="900" dirty="0">
                          <a:latin typeface="맑은 고딕"/>
                          <a:cs typeface="맑은 고딕"/>
                        </a:rPr>
                        <a:t>℃</a:t>
                      </a:r>
                    </a:p>
                  </a:txBody>
                  <a:tcPr marL="0" marR="0" marT="79375" marB="0">
                    <a:lnL w="3175">
                      <a:solidFill>
                        <a:srgbClr val="000000"/>
                      </a:solidFill>
                      <a:prstDash val="solid"/>
                    </a:lnL>
                    <a:lnT w="3175">
                      <a:solidFill>
                        <a:srgbClr val="000000"/>
                      </a:solidFill>
                      <a:prstDash val="solid"/>
                    </a:lnT>
                    <a:lnB w="3175">
                      <a:solidFill>
                        <a:srgbClr val="000000"/>
                      </a:solidFill>
                      <a:prstDash val="solid"/>
                    </a:lnB>
                  </a:tcPr>
                </a:tc>
                <a:extLst>
                  <a:ext uri="{0D108BD9-81ED-4DB2-BD59-A6C34878D82A}">
                    <a16:rowId xmlns:a16="http://schemas.microsoft.com/office/drawing/2014/main" val="10016"/>
                  </a:ext>
                </a:extLst>
              </a:tr>
              <a:tr h="278130">
                <a:tc>
                  <a:txBody>
                    <a:bodyPr/>
                    <a:lstStyle/>
                    <a:p>
                      <a:pPr algn="ctr">
                        <a:lnSpc>
                          <a:spcPct val="100000"/>
                        </a:lnSpc>
                        <a:spcBef>
                          <a:spcPts val="550"/>
                        </a:spcBef>
                      </a:pPr>
                      <a:r>
                        <a:rPr sz="900" spc="-5" dirty="0">
                          <a:latin typeface="Arial"/>
                          <a:cs typeface="Arial"/>
                        </a:rPr>
                        <a:t>Relative</a:t>
                      </a:r>
                      <a:r>
                        <a:rPr sz="900" spc="10" dirty="0">
                          <a:latin typeface="Arial"/>
                          <a:cs typeface="Arial"/>
                        </a:rPr>
                        <a:t> </a:t>
                      </a:r>
                      <a:r>
                        <a:rPr sz="900" spc="-5" dirty="0">
                          <a:latin typeface="Arial"/>
                          <a:cs typeface="Arial"/>
                        </a:rPr>
                        <a:t>Humidity(non-condensing)</a:t>
                      </a:r>
                      <a:endParaRPr sz="900" dirty="0">
                        <a:latin typeface="Arial"/>
                        <a:cs typeface="Arial"/>
                      </a:endParaRPr>
                    </a:p>
                  </a:txBody>
                  <a:tcPr marL="0" marR="0" marT="69850" marB="0">
                    <a:lnL w="12700">
                      <a:solidFill>
                        <a:srgbClr val="FFFFFF"/>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L="1270" algn="ctr">
                        <a:lnSpc>
                          <a:spcPct val="100000"/>
                        </a:lnSpc>
                        <a:spcBef>
                          <a:spcPts val="550"/>
                        </a:spcBef>
                      </a:pPr>
                      <a:r>
                        <a:rPr sz="900" spc="-10" dirty="0">
                          <a:latin typeface="Arial"/>
                          <a:cs typeface="Arial"/>
                        </a:rPr>
                        <a:t>RH</a:t>
                      </a:r>
                      <a:r>
                        <a:rPr sz="900" spc="-15" baseline="-9259" dirty="0">
                          <a:latin typeface="Arial"/>
                          <a:cs typeface="Arial"/>
                        </a:rPr>
                        <a:t>NC</a:t>
                      </a:r>
                      <a:endParaRPr sz="900" baseline="-9259" dirty="0">
                        <a:latin typeface="Arial"/>
                        <a:cs typeface="Arial"/>
                      </a:endParaRPr>
                    </a:p>
                  </a:txBody>
                  <a:tcPr marL="0" marR="0" marT="6985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L="1270" algn="ctr">
                        <a:lnSpc>
                          <a:spcPct val="100000"/>
                        </a:lnSpc>
                        <a:spcBef>
                          <a:spcPts val="550"/>
                        </a:spcBef>
                      </a:pPr>
                      <a:r>
                        <a:rPr sz="900" spc="-5" dirty="0">
                          <a:latin typeface="Arial"/>
                          <a:cs typeface="Arial"/>
                        </a:rPr>
                        <a:t>5</a:t>
                      </a:r>
                      <a:r>
                        <a:rPr sz="900" spc="-40" dirty="0">
                          <a:latin typeface="Arial"/>
                          <a:cs typeface="Arial"/>
                        </a:rPr>
                        <a:t> </a:t>
                      </a:r>
                      <a:r>
                        <a:rPr sz="900" dirty="0">
                          <a:latin typeface="Arial"/>
                          <a:cs typeface="Arial"/>
                        </a:rPr>
                        <a:t>~</a:t>
                      </a:r>
                      <a:r>
                        <a:rPr sz="900" spc="-25" dirty="0">
                          <a:latin typeface="Arial"/>
                          <a:cs typeface="Arial"/>
                        </a:rPr>
                        <a:t> </a:t>
                      </a:r>
                      <a:r>
                        <a:rPr sz="900" spc="-5" dirty="0">
                          <a:latin typeface="Arial"/>
                          <a:cs typeface="Arial"/>
                        </a:rPr>
                        <a:t>85</a:t>
                      </a:r>
                      <a:endParaRPr sz="900" dirty="0">
                        <a:latin typeface="Arial"/>
                        <a:cs typeface="Arial"/>
                      </a:endParaRPr>
                    </a:p>
                  </a:txBody>
                  <a:tcPr marL="0" marR="0" marT="6985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L="2540" algn="ctr">
                        <a:lnSpc>
                          <a:spcPct val="100000"/>
                        </a:lnSpc>
                        <a:spcBef>
                          <a:spcPts val="550"/>
                        </a:spcBef>
                      </a:pPr>
                      <a:r>
                        <a:rPr sz="900" dirty="0">
                          <a:latin typeface="Arial"/>
                          <a:cs typeface="Arial"/>
                        </a:rPr>
                        <a:t>%</a:t>
                      </a:r>
                    </a:p>
                  </a:txBody>
                  <a:tcPr marL="0" marR="0" marT="69850" marB="0">
                    <a:lnL w="3175">
                      <a:solidFill>
                        <a:srgbClr val="000000"/>
                      </a:solidFill>
                      <a:prstDash val="solid"/>
                    </a:lnL>
                    <a:lnT w="3175">
                      <a:solidFill>
                        <a:srgbClr val="000000"/>
                      </a:solidFill>
                      <a:prstDash val="solid"/>
                    </a:lnT>
                    <a:lnB w="3175">
                      <a:solidFill>
                        <a:srgbClr val="000000"/>
                      </a:solidFill>
                      <a:prstDash val="solid"/>
                    </a:lnB>
                  </a:tcPr>
                </a:tc>
                <a:extLst>
                  <a:ext uri="{0D108BD9-81ED-4DB2-BD59-A6C34878D82A}">
                    <a16:rowId xmlns:a16="http://schemas.microsoft.com/office/drawing/2014/main" val="10017"/>
                  </a:ext>
                </a:extLst>
              </a:tr>
              <a:tr h="278130">
                <a:tc>
                  <a:txBody>
                    <a:bodyPr/>
                    <a:lstStyle/>
                    <a:p>
                      <a:pPr algn="ctr">
                        <a:lnSpc>
                          <a:spcPct val="100000"/>
                        </a:lnSpc>
                        <a:spcBef>
                          <a:spcPts val="550"/>
                        </a:spcBef>
                      </a:pPr>
                      <a:r>
                        <a:rPr sz="900" spc="-5" dirty="0">
                          <a:latin typeface="Arial"/>
                          <a:cs typeface="Arial"/>
                        </a:rPr>
                        <a:t>Moisture</a:t>
                      </a:r>
                      <a:r>
                        <a:rPr sz="900" spc="-45" dirty="0">
                          <a:latin typeface="Arial"/>
                          <a:cs typeface="Arial"/>
                        </a:rPr>
                        <a:t> </a:t>
                      </a:r>
                      <a:r>
                        <a:rPr sz="900" dirty="0">
                          <a:latin typeface="Arial"/>
                          <a:cs typeface="Arial"/>
                        </a:rPr>
                        <a:t>Sensitivity</a:t>
                      </a:r>
                    </a:p>
                  </a:txBody>
                  <a:tcPr marL="0" marR="0" marT="69850" marB="0">
                    <a:lnL w="12700">
                      <a:solidFill>
                        <a:srgbClr val="FFFFFF"/>
                      </a:solidFill>
                      <a:prstDash val="solid"/>
                    </a:lnL>
                    <a:lnR w="3175">
                      <a:solidFill>
                        <a:srgbClr val="000000"/>
                      </a:solidFill>
                      <a:prstDash val="solid"/>
                    </a:lnR>
                    <a:lnT w="3175">
                      <a:solidFill>
                        <a:srgbClr val="000000"/>
                      </a:solidFill>
                      <a:prstDash val="solid"/>
                    </a:lnT>
                    <a:lnB w="12700">
                      <a:solidFill>
                        <a:srgbClr val="000000"/>
                      </a:solidFill>
                      <a:prstDash val="solid"/>
                    </a:lnB>
                  </a:tcPr>
                </a:tc>
                <a:tc>
                  <a:txBody>
                    <a:bodyPr/>
                    <a:lstStyle/>
                    <a:p>
                      <a:pPr algn="ctr">
                        <a:lnSpc>
                          <a:spcPct val="100000"/>
                        </a:lnSpc>
                        <a:spcBef>
                          <a:spcPts val="550"/>
                        </a:spcBef>
                      </a:pPr>
                      <a:r>
                        <a:rPr sz="900" spc="-10" dirty="0">
                          <a:latin typeface="Arial"/>
                          <a:cs typeface="Arial"/>
                        </a:rPr>
                        <a:t>MSL</a:t>
                      </a:r>
                      <a:endParaRPr sz="900" dirty="0">
                        <a:latin typeface="Arial"/>
                        <a:cs typeface="Arial"/>
                      </a:endParaRPr>
                    </a:p>
                  </a:txBody>
                  <a:tcPr marL="0" marR="0" marT="69850" marB="0">
                    <a:lnL w="3175">
                      <a:solidFill>
                        <a:srgbClr val="000000"/>
                      </a:solidFill>
                      <a:prstDash val="solid"/>
                    </a:lnL>
                    <a:lnR w="3175">
                      <a:solidFill>
                        <a:srgbClr val="000000"/>
                      </a:solidFill>
                      <a:prstDash val="solid"/>
                    </a:lnR>
                    <a:lnT w="3175">
                      <a:solidFill>
                        <a:srgbClr val="000000"/>
                      </a:solidFill>
                      <a:prstDash val="solid"/>
                    </a:lnT>
                    <a:lnB w="12700">
                      <a:solidFill>
                        <a:srgbClr val="000000"/>
                      </a:solidFill>
                      <a:prstDash val="solid"/>
                    </a:lnB>
                  </a:tcPr>
                </a:tc>
                <a:tc>
                  <a:txBody>
                    <a:bodyPr/>
                    <a:lstStyle/>
                    <a:p>
                      <a:pPr marL="1270" algn="ctr">
                        <a:lnSpc>
                          <a:spcPct val="100000"/>
                        </a:lnSpc>
                        <a:spcBef>
                          <a:spcPts val="550"/>
                        </a:spcBef>
                      </a:pPr>
                      <a:r>
                        <a:rPr sz="900" spc="-10" dirty="0">
                          <a:latin typeface="Arial"/>
                          <a:cs typeface="Arial"/>
                        </a:rPr>
                        <a:t>Maximum</a:t>
                      </a:r>
                      <a:r>
                        <a:rPr sz="900" dirty="0">
                          <a:latin typeface="Arial"/>
                          <a:cs typeface="Arial"/>
                        </a:rPr>
                        <a:t> Floor</a:t>
                      </a:r>
                      <a:r>
                        <a:rPr sz="900" spc="-35" dirty="0">
                          <a:latin typeface="Arial"/>
                          <a:cs typeface="Arial"/>
                        </a:rPr>
                        <a:t> </a:t>
                      </a:r>
                      <a:r>
                        <a:rPr sz="900" dirty="0">
                          <a:latin typeface="Arial"/>
                          <a:cs typeface="Arial"/>
                        </a:rPr>
                        <a:t>Life-time</a:t>
                      </a:r>
                    </a:p>
                  </a:txBody>
                  <a:tcPr marL="0" marR="0" marT="69850" marB="0">
                    <a:lnL w="3175">
                      <a:solidFill>
                        <a:srgbClr val="000000"/>
                      </a:solidFill>
                      <a:prstDash val="solid"/>
                    </a:lnL>
                    <a:lnR w="3175">
                      <a:solidFill>
                        <a:srgbClr val="000000"/>
                      </a:solidFill>
                      <a:prstDash val="solid"/>
                    </a:lnR>
                    <a:lnT w="3175">
                      <a:solidFill>
                        <a:srgbClr val="000000"/>
                      </a:solidFill>
                      <a:prstDash val="solid"/>
                    </a:lnT>
                    <a:lnB w="12700">
                      <a:solidFill>
                        <a:srgbClr val="000000"/>
                      </a:solidFill>
                      <a:prstDash val="solid"/>
                    </a:lnB>
                  </a:tcPr>
                </a:tc>
                <a:tc>
                  <a:txBody>
                    <a:bodyPr/>
                    <a:lstStyle/>
                    <a:p>
                      <a:pPr marL="635" algn="ctr">
                        <a:lnSpc>
                          <a:spcPct val="100000"/>
                        </a:lnSpc>
                        <a:spcBef>
                          <a:spcPts val="550"/>
                        </a:spcBef>
                      </a:pPr>
                      <a:r>
                        <a:rPr sz="900" dirty="0">
                          <a:latin typeface="Arial"/>
                          <a:cs typeface="Arial"/>
                        </a:rPr>
                        <a:t>3</a:t>
                      </a:r>
                    </a:p>
                  </a:txBody>
                  <a:tcPr marL="0" marR="0" marT="69850" marB="0">
                    <a:lnL w="3175">
                      <a:solidFill>
                        <a:srgbClr val="000000"/>
                      </a:solidFill>
                      <a:prstDash val="solid"/>
                    </a:lnL>
                    <a:lnT w="3175">
                      <a:solidFill>
                        <a:srgbClr val="000000"/>
                      </a:solidFill>
                      <a:prstDash val="solid"/>
                    </a:lnT>
                    <a:lnB w="12700">
                      <a:solidFill>
                        <a:srgbClr val="000000"/>
                      </a:solidFill>
                      <a:prstDash val="solid"/>
                    </a:lnB>
                  </a:tcPr>
                </a:tc>
                <a:extLst>
                  <a:ext uri="{0D108BD9-81ED-4DB2-BD59-A6C34878D82A}">
                    <a16:rowId xmlns:a16="http://schemas.microsoft.com/office/drawing/2014/main" val="10018"/>
                  </a:ext>
                </a:extLst>
              </a:tr>
            </a:tbl>
          </a:graphicData>
        </a:graphic>
      </p:graphicFrame>
      <p:graphicFrame>
        <p:nvGraphicFramePr>
          <p:cNvPr id="6" name="object 6"/>
          <p:cNvGraphicFramePr>
            <a:graphicFrameLocks noGrp="1"/>
          </p:cNvGraphicFramePr>
          <p:nvPr/>
        </p:nvGraphicFramePr>
        <p:xfrm>
          <a:off x="394754" y="7770241"/>
          <a:ext cx="6033135" cy="1098550"/>
        </p:xfrm>
        <a:graphic>
          <a:graphicData uri="http://schemas.openxmlformats.org/drawingml/2006/table">
            <a:tbl>
              <a:tblPr firstRow="1" bandRow="1">
                <a:tableStyleId>{2D5ABB26-0587-4C30-8999-92F81FD0307C}</a:tableStyleId>
              </a:tblPr>
              <a:tblGrid>
                <a:gridCol w="2418080">
                  <a:extLst>
                    <a:ext uri="{9D8B030D-6E8A-4147-A177-3AD203B41FA5}">
                      <a16:colId xmlns:a16="http://schemas.microsoft.com/office/drawing/2014/main" val="20000"/>
                    </a:ext>
                  </a:extLst>
                </a:gridCol>
                <a:gridCol w="939165">
                  <a:extLst>
                    <a:ext uri="{9D8B030D-6E8A-4147-A177-3AD203B41FA5}">
                      <a16:colId xmlns:a16="http://schemas.microsoft.com/office/drawing/2014/main" val="20001"/>
                    </a:ext>
                  </a:extLst>
                </a:gridCol>
                <a:gridCol w="803910">
                  <a:extLst>
                    <a:ext uri="{9D8B030D-6E8A-4147-A177-3AD203B41FA5}">
                      <a16:colId xmlns:a16="http://schemas.microsoft.com/office/drawing/2014/main" val="20002"/>
                    </a:ext>
                  </a:extLst>
                </a:gridCol>
                <a:gridCol w="400050">
                  <a:extLst>
                    <a:ext uri="{9D8B030D-6E8A-4147-A177-3AD203B41FA5}">
                      <a16:colId xmlns:a16="http://schemas.microsoft.com/office/drawing/2014/main" val="20003"/>
                    </a:ext>
                  </a:extLst>
                </a:gridCol>
                <a:gridCol w="1471930">
                  <a:extLst>
                    <a:ext uri="{9D8B030D-6E8A-4147-A177-3AD203B41FA5}">
                      <a16:colId xmlns:a16="http://schemas.microsoft.com/office/drawing/2014/main" val="20004"/>
                    </a:ext>
                  </a:extLst>
                </a:gridCol>
              </a:tblGrid>
              <a:tr h="263525">
                <a:tc>
                  <a:txBody>
                    <a:bodyPr/>
                    <a:lstStyle/>
                    <a:p>
                      <a:pPr algn="ctr">
                        <a:lnSpc>
                          <a:spcPct val="100000"/>
                        </a:lnSpc>
                        <a:spcBef>
                          <a:spcPts val="475"/>
                        </a:spcBef>
                      </a:pPr>
                      <a:r>
                        <a:rPr sz="900" b="1" spc="-5" dirty="0">
                          <a:latin typeface="Arial"/>
                          <a:cs typeface="Arial"/>
                        </a:rPr>
                        <a:t>Parameter</a:t>
                      </a:r>
                      <a:endParaRPr sz="900" dirty="0">
                        <a:latin typeface="Arial"/>
                        <a:cs typeface="Arial"/>
                      </a:endParaRPr>
                    </a:p>
                  </a:txBody>
                  <a:tcPr marL="0" marR="0" marT="60325" marB="0">
                    <a:lnL w="12700">
                      <a:solidFill>
                        <a:srgbClr val="FFFFFF"/>
                      </a:solidFill>
                      <a:prstDash val="solid"/>
                    </a:lnL>
                    <a:lnR w="3175">
                      <a:solidFill>
                        <a:srgbClr val="000000"/>
                      </a:solidFill>
                      <a:prstDash val="solid"/>
                    </a:lnR>
                    <a:lnT w="12700">
                      <a:solidFill>
                        <a:srgbClr val="000000"/>
                      </a:solidFill>
                      <a:prstDash val="solid"/>
                    </a:lnT>
                    <a:lnB w="3175">
                      <a:solidFill>
                        <a:srgbClr val="000000"/>
                      </a:solidFill>
                      <a:prstDash val="solid"/>
                    </a:lnB>
                    <a:solidFill>
                      <a:srgbClr val="F1F1F1"/>
                    </a:solidFill>
                  </a:tcPr>
                </a:tc>
                <a:tc>
                  <a:txBody>
                    <a:bodyPr/>
                    <a:lstStyle/>
                    <a:p>
                      <a:pPr algn="ctr">
                        <a:lnSpc>
                          <a:spcPct val="100000"/>
                        </a:lnSpc>
                        <a:spcBef>
                          <a:spcPts val="475"/>
                        </a:spcBef>
                      </a:pPr>
                      <a:r>
                        <a:rPr sz="900" b="1" spc="-10" dirty="0">
                          <a:latin typeface="Arial"/>
                          <a:cs typeface="Arial"/>
                        </a:rPr>
                        <a:t>Symbol</a:t>
                      </a:r>
                      <a:endParaRPr sz="900" dirty="0">
                        <a:latin typeface="Arial"/>
                        <a:cs typeface="Arial"/>
                      </a:endParaRPr>
                    </a:p>
                  </a:txBody>
                  <a:tcPr marL="0" marR="0" marT="60325" marB="0">
                    <a:lnL w="3175">
                      <a:solidFill>
                        <a:srgbClr val="000000"/>
                      </a:solidFill>
                      <a:prstDash val="solid"/>
                    </a:lnL>
                    <a:lnR w="3175">
                      <a:solidFill>
                        <a:srgbClr val="000000"/>
                      </a:solidFill>
                      <a:prstDash val="solid"/>
                    </a:lnR>
                    <a:lnT w="12700">
                      <a:solidFill>
                        <a:srgbClr val="000000"/>
                      </a:solidFill>
                      <a:prstDash val="solid"/>
                    </a:lnT>
                    <a:lnB w="3175">
                      <a:solidFill>
                        <a:srgbClr val="000000"/>
                      </a:solidFill>
                      <a:prstDash val="solid"/>
                    </a:lnB>
                    <a:solidFill>
                      <a:srgbClr val="F1F1F1"/>
                    </a:solidFill>
                  </a:tcPr>
                </a:tc>
                <a:tc>
                  <a:txBody>
                    <a:bodyPr/>
                    <a:lstStyle/>
                    <a:p>
                      <a:pPr marL="248920">
                        <a:lnSpc>
                          <a:spcPct val="100000"/>
                        </a:lnSpc>
                        <a:spcBef>
                          <a:spcPts val="475"/>
                        </a:spcBef>
                      </a:pPr>
                      <a:r>
                        <a:rPr sz="900" b="1" dirty="0">
                          <a:latin typeface="Arial"/>
                          <a:cs typeface="Arial"/>
                        </a:rPr>
                        <a:t>Value</a:t>
                      </a:r>
                      <a:endParaRPr sz="900" dirty="0">
                        <a:latin typeface="Arial"/>
                        <a:cs typeface="Arial"/>
                      </a:endParaRPr>
                    </a:p>
                  </a:txBody>
                  <a:tcPr marL="0" marR="0" marT="60325" marB="0">
                    <a:lnL w="3175">
                      <a:solidFill>
                        <a:srgbClr val="000000"/>
                      </a:solidFill>
                      <a:prstDash val="solid"/>
                    </a:lnL>
                    <a:lnR w="3175">
                      <a:solidFill>
                        <a:srgbClr val="000000"/>
                      </a:solidFill>
                      <a:prstDash val="solid"/>
                    </a:lnR>
                    <a:lnT w="12700">
                      <a:solidFill>
                        <a:srgbClr val="000000"/>
                      </a:solidFill>
                      <a:prstDash val="solid"/>
                    </a:lnT>
                    <a:lnB w="3175">
                      <a:solidFill>
                        <a:srgbClr val="000000"/>
                      </a:solidFill>
                      <a:prstDash val="solid"/>
                    </a:lnB>
                    <a:solidFill>
                      <a:srgbClr val="F1F1F1"/>
                    </a:solidFill>
                  </a:tcPr>
                </a:tc>
                <a:tc>
                  <a:txBody>
                    <a:bodyPr/>
                    <a:lstStyle/>
                    <a:p>
                      <a:pPr marL="1270" algn="ctr">
                        <a:lnSpc>
                          <a:spcPct val="100000"/>
                        </a:lnSpc>
                        <a:spcBef>
                          <a:spcPts val="475"/>
                        </a:spcBef>
                      </a:pPr>
                      <a:r>
                        <a:rPr sz="900" b="1" dirty="0">
                          <a:latin typeface="Arial"/>
                          <a:cs typeface="Arial"/>
                        </a:rPr>
                        <a:t>Unit</a:t>
                      </a:r>
                      <a:endParaRPr sz="900" dirty="0">
                        <a:latin typeface="Arial"/>
                        <a:cs typeface="Arial"/>
                      </a:endParaRPr>
                    </a:p>
                  </a:txBody>
                  <a:tcPr marL="0" marR="0" marT="60325" marB="0">
                    <a:lnL w="3175">
                      <a:solidFill>
                        <a:srgbClr val="000000"/>
                      </a:solidFill>
                      <a:prstDash val="solid"/>
                    </a:lnL>
                    <a:lnR w="3175">
                      <a:solidFill>
                        <a:srgbClr val="000000"/>
                      </a:solidFill>
                      <a:prstDash val="solid"/>
                    </a:lnR>
                    <a:lnT w="12700">
                      <a:solidFill>
                        <a:srgbClr val="000000"/>
                      </a:solidFill>
                      <a:prstDash val="solid"/>
                    </a:lnT>
                    <a:lnB w="3175">
                      <a:solidFill>
                        <a:srgbClr val="000000"/>
                      </a:solidFill>
                      <a:prstDash val="solid"/>
                    </a:lnB>
                    <a:solidFill>
                      <a:srgbClr val="F1F1F1"/>
                    </a:solidFill>
                  </a:tcPr>
                </a:tc>
                <a:tc>
                  <a:txBody>
                    <a:bodyPr/>
                    <a:lstStyle/>
                    <a:p>
                      <a:pPr algn="ctr">
                        <a:lnSpc>
                          <a:spcPct val="100000"/>
                        </a:lnSpc>
                        <a:spcBef>
                          <a:spcPts val="475"/>
                        </a:spcBef>
                      </a:pPr>
                      <a:r>
                        <a:rPr sz="900" b="1" spc="-5" dirty="0">
                          <a:latin typeface="Arial"/>
                          <a:cs typeface="Arial"/>
                        </a:rPr>
                        <a:t>Remark</a:t>
                      </a:r>
                      <a:endParaRPr sz="900" dirty="0">
                        <a:latin typeface="Arial"/>
                        <a:cs typeface="Arial"/>
                      </a:endParaRPr>
                    </a:p>
                  </a:txBody>
                  <a:tcPr marL="0" marR="0" marT="60325" marB="0">
                    <a:lnL w="3175">
                      <a:solidFill>
                        <a:srgbClr val="000000"/>
                      </a:solidFill>
                      <a:prstDash val="solid"/>
                    </a:lnL>
                    <a:lnT w="12700">
                      <a:solidFill>
                        <a:srgbClr val="000000"/>
                      </a:solidFill>
                      <a:prstDash val="solid"/>
                    </a:lnT>
                    <a:lnB w="3175">
                      <a:solidFill>
                        <a:srgbClr val="000000"/>
                      </a:solidFill>
                      <a:prstDash val="solid"/>
                    </a:lnB>
                    <a:solidFill>
                      <a:srgbClr val="F1F1F1"/>
                    </a:solidFill>
                  </a:tcPr>
                </a:tc>
                <a:extLst>
                  <a:ext uri="{0D108BD9-81ED-4DB2-BD59-A6C34878D82A}">
                    <a16:rowId xmlns:a16="http://schemas.microsoft.com/office/drawing/2014/main" val="10000"/>
                  </a:ext>
                </a:extLst>
              </a:tr>
              <a:tr h="417195">
                <a:tc>
                  <a:txBody>
                    <a:bodyPr/>
                    <a:lstStyle/>
                    <a:p>
                      <a:pPr marL="1270" algn="ctr">
                        <a:lnSpc>
                          <a:spcPts val="1045"/>
                        </a:lnSpc>
                        <a:spcBef>
                          <a:spcPts val="545"/>
                        </a:spcBef>
                      </a:pPr>
                      <a:r>
                        <a:rPr sz="900" dirty="0">
                          <a:latin typeface="Arial"/>
                          <a:cs typeface="Arial"/>
                        </a:rPr>
                        <a:t>Ele</a:t>
                      </a:r>
                      <a:r>
                        <a:rPr sz="900" spc="5" dirty="0">
                          <a:latin typeface="Arial"/>
                          <a:cs typeface="Arial"/>
                        </a:rPr>
                        <a:t>c</a:t>
                      </a:r>
                      <a:r>
                        <a:rPr sz="900" dirty="0">
                          <a:latin typeface="Arial"/>
                          <a:cs typeface="Arial"/>
                        </a:rPr>
                        <a:t>tro</a:t>
                      </a:r>
                      <a:r>
                        <a:rPr sz="900" spc="5" dirty="0">
                          <a:latin typeface="Arial"/>
                          <a:cs typeface="Arial"/>
                        </a:rPr>
                        <a:t>s</a:t>
                      </a:r>
                      <a:r>
                        <a:rPr sz="900" dirty="0">
                          <a:latin typeface="Arial"/>
                          <a:cs typeface="Arial"/>
                        </a:rPr>
                        <a:t>tat</a:t>
                      </a:r>
                      <a:r>
                        <a:rPr sz="900" spc="5" dirty="0">
                          <a:latin typeface="Arial"/>
                          <a:cs typeface="Arial"/>
                        </a:rPr>
                        <a:t>i</a:t>
                      </a:r>
                      <a:r>
                        <a:rPr sz="900" dirty="0">
                          <a:latin typeface="Arial"/>
                          <a:cs typeface="Arial"/>
                        </a:rPr>
                        <a:t>c</a:t>
                      </a:r>
                      <a:r>
                        <a:rPr sz="900" spc="-45" dirty="0">
                          <a:latin typeface="Arial"/>
                          <a:cs typeface="Arial"/>
                        </a:rPr>
                        <a:t> </a:t>
                      </a:r>
                      <a:r>
                        <a:rPr sz="900" dirty="0">
                          <a:latin typeface="Arial"/>
                          <a:cs typeface="Arial"/>
                        </a:rPr>
                        <a:t>Di</a:t>
                      </a:r>
                      <a:r>
                        <a:rPr sz="900" spc="5" dirty="0">
                          <a:latin typeface="Arial"/>
                          <a:cs typeface="Arial"/>
                        </a:rPr>
                        <a:t>sc</a:t>
                      </a:r>
                      <a:r>
                        <a:rPr sz="900" dirty="0">
                          <a:latin typeface="Arial"/>
                          <a:cs typeface="Arial"/>
                        </a:rPr>
                        <a:t>harge</a:t>
                      </a:r>
                      <a:r>
                        <a:rPr sz="900" spc="-35" dirty="0">
                          <a:latin typeface="Arial"/>
                          <a:cs typeface="Arial"/>
                        </a:rPr>
                        <a:t> </a:t>
                      </a:r>
                      <a:r>
                        <a:rPr sz="900" dirty="0">
                          <a:latin typeface="Arial"/>
                          <a:cs typeface="Arial"/>
                        </a:rPr>
                        <a:t>HBM</a:t>
                      </a:r>
                    </a:p>
                    <a:p>
                      <a:pPr algn="ctr">
                        <a:lnSpc>
                          <a:spcPts val="1045"/>
                        </a:lnSpc>
                      </a:pPr>
                      <a:r>
                        <a:rPr sz="900" dirty="0">
                          <a:latin typeface="Arial"/>
                          <a:cs typeface="Arial"/>
                        </a:rPr>
                        <a:t>;</a:t>
                      </a:r>
                      <a:r>
                        <a:rPr sz="900" spc="-45" dirty="0">
                          <a:latin typeface="Arial"/>
                          <a:cs typeface="Arial"/>
                        </a:rPr>
                        <a:t> </a:t>
                      </a:r>
                      <a:r>
                        <a:rPr sz="900" dirty="0">
                          <a:latin typeface="Arial"/>
                          <a:cs typeface="Arial"/>
                        </a:rPr>
                        <a:t>Contact</a:t>
                      </a:r>
                    </a:p>
                  </a:txBody>
                  <a:tcPr marL="0" marR="0" marT="69215" marB="0">
                    <a:lnL w="12700">
                      <a:solidFill>
                        <a:srgbClr val="FFFFFF"/>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nSpc>
                          <a:spcPct val="100000"/>
                        </a:lnSpc>
                        <a:spcBef>
                          <a:spcPts val="10"/>
                        </a:spcBef>
                      </a:pPr>
                      <a:endParaRPr sz="900" dirty="0">
                        <a:latin typeface="Times New Roman"/>
                        <a:cs typeface="Times New Roman"/>
                      </a:endParaRPr>
                    </a:p>
                    <a:p>
                      <a:pPr marL="1905" algn="ctr">
                        <a:lnSpc>
                          <a:spcPct val="100000"/>
                        </a:lnSpc>
                      </a:pPr>
                      <a:r>
                        <a:rPr sz="900" spc="-5" dirty="0">
                          <a:latin typeface="Arial"/>
                          <a:cs typeface="Arial"/>
                        </a:rPr>
                        <a:t>ESDHBM</a:t>
                      </a:r>
                      <a:endParaRPr sz="900" dirty="0">
                        <a:latin typeface="Arial"/>
                        <a:cs typeface="Arial"/>
                      </a:endParaRPr>
                    </a:p>
                  </a:txBody>
                  <a:tcPr marL="0" marR="0" marT="127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nSpc>
                          <a:spcPct val="100000"/>
                        </a:lnSpc>
                        <a:spcBef>
                          <a:spcPts val="45"/>
                        </a:spcBef>
                      </a:pPr>
                      <a:endParaRPr sz="850" dirty="0">
                        <a:latin typeface="Times New Roman"/>
                        <a:cs typeface="Times New Roman"/>
                      </a:endParaRPr>
                    </a:p>
                    <a:p>
                      <a:pPr marL="302895">
                        <a:lnSpc>
                          <a:spcPct val="100000"/>
                        </a:lnSpc>
                      </a:pPr>
                      <a:r>
                        <a:rPr sz="900" spc="-5" dirty="0">
                          <a:latin typeface="Calibri"/>
                          <a:cs typeface="Calibri"/>
                        </a:rPr>
                        <a:t>±</a:t>
                      </a:r>
                      <a:r>
                        <a:rPr sz="900" spc="-5" dirty="0">
                          <a:latin typeface="Arial"/>
                          <a:cs typeface="Arial"/>
                        </a:rPr>
                        <a:t>2K</a:t>
                      </a:r>
                      <a:endParaRPr sz="900" dirty="0">
                        <a:latin typeface="Arial"/>
                        <a:cs typeface="Arial"/>
                      </a:endParaRPr>
                    </a:p>
                  </a:txBody>
                  <a:tcPr marL="0" marR="0" marT="5715"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nSpc>
                          <a:spcPct val="100000"/>
                        </a:lnSpc>
                        <a:spcBef>
                          <a:spcPts val="10"/>
                        </a:spcBef>
                      </a:pPr>
                      <a:endParaRPr sz="900" dirty="0">
                        <a:latin typeface="Times New Roman"/>
                        <a:cs typeface="Times New Roman"/>
                      </a:endParaRPr>
                    </a:p>
                    <a:p>
                      <a:pPr marL="2540" algn="ctr">
                        <a:lnSpc>
                          <a:spcPct val="100000"/>
                        </a:lnSpc>
                      </a:pPr>
                      <a:r>
                        <a:rPr sz="900" dirty="0">
                          <a:latin typeface="Arial"/>
                          <a:cs typeface="Arial"/>
                        </a:rPr>
                        <a:t>V</a:t>
                      </a:r>
                    </a:p>
                  </a:txBody>
                  <a:tcPr marL="0" marR="0" marT="127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nSpc>
                          <a:spcPct val="100000"/>
                        </a:lnSpc>
                        <a:spcBef>
                          <a:spcPts val="10"/>
                        </a:spcBef>
                      </a:pPr>
                      <a:endParaRPr sz="900" dirty="0">
                        <a:latin typeface="Times New Roman"/>
                        <a:cs typeface="Times New Roman"/>
                      </a:endParaRPr>
                    </a:p>
                    <a:p>
                      <a:pPr marL="1270" algn="ctr">
                        <a:lnSpc>
                          <a:spcPct val="100000"/>
                        </a:lnSpc>
                      </a:pPr>
                      <a:r>
                        <a:rPr sz="900" spc="-5" dirty="0">
                          <a:latin typeface="Arial"/>
                          <a:cs typeface="Arial"/>
                        </a:rPr>
                        <a:t>C=100</a:t>
                      </a:r>
                      <a:r>
                        <a:rPr sz="900" spc="-25" dirty="0">
                          <a:latin typeface="Arial"/>
                          <a:cs typeface="Arial"/>
                        </a:rPr>
                        <a:t> </a:t>
                      </a:r>
                      <a:r>
                        <a:rPr sz="900" dirty="0">
                          <a:latin typeface="Arial"/>
                          <a:cs typeface="Arial"/>
                        </a:rPr>
                        <a:t>pF,</a:t>
                      </a:r>
                      <a:r>
                        <a:rPr sz="900" spc="-20" dirty="0">
                          <a:latin typeface="Arial"/>
                          <a:cs typeface="Arial"/>
                        </a:rPr>
                        <a:t> </a:t>
                      </a:r>
                      <a:r>
                        <a:rPr sz="900" spc="-5" dirty="0">
                          <a:latin typeface="Arial"/>
                          <a:cs typeface="Arial"/>
                        </a:rPr>
                        <a:t>R=1.5</a:t>
                      </a:r>
                      <a:r>
                        <a:rPr sz="900" spc="-25" dirty="0">
                          <a:latin typeface="Arial"/>
                          <a:cs typeface="Arial"/>
                        </a:rPr>
                        <a:t> </a:t>
                      </a:r>
                      <a:r>
                        <a:rPr sz="900" spc="5" dirty="0">
                          <a:latin typeface="Arial"/>
                          <a:cs typeface="Arial"/>
                        </a:rPr>
                        <a:t>kΩ</a:t>
                      </a:r>
                      <a:endParaRPr sz="900" dirty="0">
                        <a:latin typeface="Arial"/>
                        <a:cs typeface="Arial"/>
                      </a:endParaRPr>
                    </a:p>
                  </a:txBody>
                  <a:tcPr marL="0" marR="0" marT="1270" marB="0">
                    <a:lnL w="3175">
                      <a:solidFill>
                        <a:srgbClr val="000000"/>
                      </a:solidFill>
                      <a:prstDash val="solid"/>
                    </a:lnL>
                    <a:lnT w="3175">
                      <a:solidFill>
                        <a:srgbClr val="000000"/>
                      </a:solidFill>
                      <a:prstDash val="solid"/>
                    </a:lnT>
                    <a:lnB w="3175">
                      <a:solidFill>
                        <a:srgbClr val="000000"/>
                      </a:solidFill>
                      <a:prstDash val="solid"/>
                    </a:lnB>
                  </a:tcPr>
                </a:tc>
                <a:extLst>
                  <a:ext uri="{0D108BD9-81ED-4DB2-BD59-A6C34878D82A}">
                    <a16:rowId xmlns:a16="http://schemas.microsoft.com/office/drawing/2014/main" val="10001"/>
                  </a:ext>
                </a:extLst>
              </a:tr>
              <a:tr h="417830">
                <a:tc>
                  <a:txBody>
                    <a:bodyPr/>
                    <a:lstStyle/>
                    <a:p>
                      <a:pPr marL="1270" algn="ctr">
                        <a:lnSpc>
                          <a:spcPts val="1045"/>
                        </a:lnSpc>
                        <a:spcBef>
                          <a:spcPts val="545"/>
                        </a:spcBef>
                      </a:pPr>
                      <a:r>
                        <a:rPr sz="900" dirty="0">
                          <a:latin typeface="Arial"/>
                          <a:cs typeface="Arial"/>
                        </a:rPr>
                        <a:t>Ele</a:t>
                      </a:r>
                      <a:r>
                        <a:rPr sz="900" spc="5" dirty="0">
                          <a:latin typeface="Arial"/>
                          <a:cs typeface="Arial"/>
                        </a:rPr>
                        <a:t>c</a:t>
                      </a:r>
                      <a:r>
                        <a:rPr sz="900" dirty="0">
                          <a:latin typeface="Arial"/>
                          <a:cs typeface="Arial"/>
                        </a:rPr>
                        <a:t>tro</a:t>
                      </a:r>
                      <a:r>
                        <a:rPr sz="900" spc="5" dirty="0">
                          <a:latin typeface="Arial"/>
                          <a:cs typeface="Arial"/>
                        </a:rPr>
                        <a:t>s</a:t>
                      </a:r>
                      <a:r>
                        <a:rPr sz="900" dirty="0">
                          <a:latin typeface="Arial"/>
                          <a:cs typeface="Arial"/>
                        </a:rPr>
                        <a:t>tat</a:t>
                      </a:r>
                      <a:r>
                        <a:rPr sz="900" spc="5" dirty="0">
                          <a:latin typeface="Arial"/>
                          <a:cs typeface="Arial"/>
                        </a:rPr>
                        <a:t>i</a:t>
                      </a:r>
                      <a:r>
                        <a:rPr sz="900" dirty="0">
                          <a:latin typeface="Arial"/>
                          <a:cs typeface="Arial"/>
                        </a:rPr>
                        <a:t>c</a:t>
                      </a:r>
                      <a:r>
                        <a:rPr sz="900" spc="-45" dirty="0">
                          <a:latin typeface="Arial"/>
                          <a:cs typeface="Arial"/>
                        </a:rPr>
                        <a:t> </a:t>
                      </a:r>
                      <a:r>
                        <a:rPr sz="900" dirty="0">
                          <a:latin typeface="Arial"/>
                          <a:cs typeface="Arial"/>
                        </a:rPr>
                        <a:t>Di</a:t>
                      </a:r>
                      <a:r>
                        <a:rPr sz="900" spc="5" dirty="0">
                          <a:latin typeface="Arial"/>
                          <a:cs typeface="Arial"/>
                        </a:rPr>
                        <a:t>sc</a:t>
                      </a:r>
                      <a:r>
                        <a:rPr sz="900" dirty="0">
                          <a:latin typeface="Arial"/>
                          <a:cs typeface="Arial"/>
                        </a:rPr>
                        <a:t>harge</a:t>
                      </a:r>
                      <a:r>
                        <a:rPr sz="900" spc="-35" dirty="0">
                          <a:latin typeface="Arial"/>
                          <a:cs typeface="Arial"/>
                        </a:rPr>
                        <a:t> </a:t>
                      </a:r>
                      <a:r>
                        <a:rPr sz="900" dirty="0">
                          <a:latin typeface="Arial"/>
                          <a:cs typeface="Arial"/>
                        </a:rPr>
                        <a:t>C</a:t>
                      </a:r>
                      <a:r>
                        <a:rPr sz="900" spc="-5" dirty="0">
                          <a:latin typeface="Arial"/>
                          <a:cs typeface="Arial"/>
                        </a:rPr>
                        <a:t>D</a:t>
                      </a:r>
                      <a:r>
                        <a:rPr sz="900" dirty="0">
                          <a:latin typeface="Arial"/>
                          <a:cs typeface="Arial"/>
                        </a:rPr>
                        <a:t>M</a:t>
                      </a:r>
                    </a:p>
                    <a:p>
                      <a:pPr algn="ctr">
                        <a:lnSpc>
                          <a:spcPts val="1045"/>
                        </a:lnSpc>
                      </a:pPr>
                      <a:r>
                        <a:rPr sz="900" dirty="0">
                          <a:latin typeface="Arial"/>
                          <a:cs typeface="Arial"/>
                        </a:rPr>
                        <a:t>;</a:t>
                      </a:r>
                      <a:r>
                        <a:rPr sz="900" spc="-45" dirty="0">
                          <a:latin typeface="Arial"/>
                          <a:cs typeface="Arial"/>
                        </a:rPr>
                        <a:t> </a:t>
                      </a:r>
                      <a:r>
                        <a:rPr sz="900" dirty="0">
                          <a:latin typeface="Arial"/>
                          <a:cs typeface="Arial"/>
                        </a:rPr>
                        <a:t>Contact</a:t>
                      </a:r>
                    </a:p>
                  </a:txBody>
                  <a:tcPr marL="0" marR="0" marT="69215" marB="0">
                    <a:lnL w="12700">
                      <a:solidFill>
                        <a:srgbClr val="FFFFFF"/>
                      </a:solidFill>
                      <a:prstDash val="solid"/>
                    </a:lnL>
                    <a:lnR w="3175">
                      <a:solidFill>
                        <a:srgbClr val="000000"/>
                      </a:solidFill>
                      <a:prstDash val="solid"/>
                    </a:lnR>
                    <a:lnT w="3175">
                      <a:solidFill>
                        <a:srgbClr val="000000"/>
                      </a:solidFill>
                      <a:prstDash val="solid"/>
                    </a:lnT>
                    <a:lnB w="12700">
                      <a:solidFill>
                        <a:srgbClr val="000000"/>
                      </a:solidFill>
                      <a:prstDash val="solid"/>
                    </a:lnB>
                  </a:tcPr>
                </a:tc>
                <a:tc>
                  <a:txBody>
                    <a:bodyPr/>
                    <a:lstStyle/>
                    <a:p>
                      <a:pPr>
                        <a:lnSpc>
                          <a:spcPct val="100000"/>
                        </a:lnSpc>
                        <a:spcBef>
                          <a:spcPts val="10"/>
                        </a:spcBef>
                      </a:pPr>
                      <a:endParaRPr sz="900" dirty="0">
                        <a:latin typeface="Times New Roman"/>
                        <a:cs typeface="Times New Roman"/>
                      </a:endParaRPr>
                    </a:p>
                    <a:p>
                      <a:pPr marL="1270" algn="ctr">
                        <a:lnSpc>
                          <a:spcPct val="100000"/>
                        </a:lnSpc>
                      </a:pPr>
                      <a:r>
                        <a:rPr sz="900" spc="-5" dirty="0">
                          <a:latin typeface="Arial"/>
                          <a:cs typeface="Arial"/>
                        </a:rPr>
                        <a:t>ESDCDM</a:t>
                      </a:r>
                      <a:endParaRPr sz="900" dirty="0">
                        <a:latin typeface="Arial"/>
                        <a:cs typeface="Arial"/>
                      </a:endParaRPr>
                    </a:p>
                  </a:txBody>
                  <a:tcPr marL="0" marR="0" marT="1270" marB="0">
                    <a:lnL w="3175">
                      <a:solidFill>
                        <a:srgbClr val="000000"/>
                      </a:solidFill>
                      <a:prstDash val="solid"/>
                    </a:lnL>
                    <a:lnR w="3175">
                      <a:solidFill>
                        <a:srgbClr val="000000"/>
                      </a:solidFill>
                      <a:prstDash val="solid"/>
                    </a:lnR>
                    <a:lnT w="3175">
                      <a:solidFill>
                        <a:srgbClr val="000000"/>
                      </a:solidFill>
                      <a:prstDash val="solid"/>
                    </a:lnT>
                    <a:lnB w="12700">
                      <a:solidFill>
                        <a:srgbClr val="000000"/>
                      </a:solidFill>
                      <a:prstDash val="solid"/>
                    </a:lnB>
                  </a:tcPr>
                </a:tc>
                <a:tc>
                  <a:txBody>
                    <a:bodyPr/>
                    <a:lstStyle/>
                    <a:p>
                      <a:pPr>
                        <a:lnSpc>
                          <a:spcPct val="100000"/>
                        </a:lnSpc>
                        <a:spcBef>
                          <a:spcPts val="45"/>
                        </a:spcBef>
                      </a:pPr>
                      <a:endParaRPr sz="850" dirty="0">
                        <a:latin typeface="Times New Roman"/>
                        <a:cs typeface="Times New Roman"/>
                      </a:endParaRPr>
                    </a:p>
                    <a:p>
                      <a:pPr marL="277495">
                        <a:lnSpc>
                          <a:spcPct val="100000"/>
                        </a:lnSpc>
                      </a:pPr>
                      <a:r>
                        <a:rPr sz="900" spc="-5" dirty="0">
                          <a:latin typeface="Calibri"/>
                          <a:cs typeface="Calibri"/>
                        </a:rPr>
                        <a:t>±</a:t>
                      </a:r>
                      <a:r>
                        <a:rPr sz="900" spc="-5" dirty="0">
                          <a:latin typeface="Arial"/>
                          <a:cs typeface="Arial"/>
                        </a:rPr>
                        <a:t>500</a:t>
                      </a:r>
                      <a:endParaRPr sz="900" dirty="0">
                        <a:latin typeface="Arial"/>
                        <a:cs typeface="Arial"/>
                      </a:endParaRPr>
                    </a:p>
                  </a:txBody>
                  <a:tcPr marL="0" marR="0" marT="5715" marB="0">
                    <a:lnL w="3175">
                      <a:solidFill>
                        <a:srgbClr val="000000"/>
                      </a:solidFill>
                      <a:prstDash val="solid"/>
                    </a:lnL>
                    <a:lnR w="3175">
                      <a:solidFill>
                        <a:srgbClr val="000000"/>
                      </a:solidFill>
                      <a:prstDash val="solid"/>
                    </a:lnR>
                    <a:lnT w="3175">
                      <a:solidFill>
                        <a:srgbClr val="000000"/>
                      </a:solidFill>
                      <a:prstDash val="solid"/>
                    </a:lnT>
                    <a:lnB w="12700">
                      <a:solidFill>
                        <a:srgbClr val="000000"/>
                      </a:solidFill>
                      <a:prstDash val="solid"/>
                    </a:lnB>
                  </a:tcPr>
                </a:tc>
                <a:tc>
                  <a:txBody>
                    <a:bodyPr/>
                    <a:lstStyle/>
                    <a:p>
                      <a:pPr>
                        <a:lnSpc>
                          <a:spcPct val="100000"/>
                        </a:lnSpc>
                        <a:spcBef>
                          <a:spcPts val="10"/>
                        </a:spcBef>
                      </a:pPr>
                      <a:endParaRPr sz="900" dirty="0">
                        <a:latin typeface="Times New Roman"/>
                        <a:cs typeface="Times New Roman"/>
                      </a:endParaRPr>
                    </a:p>
                    <a:p>
                      <a:pPr marL="2540" algn="ctr">
                        <a:lnSpc>
                          <a:spcPct val="100000"/>
                        </a:lnSpc>
                      </a:pPr>
                      <a:r>
                        <a:rPr sz="900" dirty="0">
                          <a:latin typeface="Arial"/>
                          <a:cs typeface="Arial"/>
                        </a:rPr>
                        <a:t>V</a:t>
                      </a:r>
                    </a:p>
                  </a:txBody>
                  <a:tcPr marL="0" marR="0" marT="1270" marB="0">
                    <a:lnL w="3175">
                      <a:solidFill>
                        <a:srgbClr val="000000"/>
                      </a:solidFill>
                      <a:prstDash val="solid"/>
                    </a:lnL>
                    <a:lnR w="3175">
                      <a:solidFill>
                        <a:srgbClr val="000000"/>
                      </a:solidFill>
                      <a:prstDash val="solid"/>
                    </a:lnR>
                    <a:lnT w="3175">
                      <a:solidFill>
                        <a:srgbClr val="000000"/>
                      </a:solidFill>
                      <a:prstDash val="solid"/>
                    </a:lnT>
                    <a:lnB w="12700">
                      <a:solidFill>
                        <a:srgbClr val="000000"/>
                      </a:solidFill>
                      <a:prstDash val="solid"/>
                    </a:lnB>
                  </a:tcPr>
                </a:tc>
                <a:tc>
                  <a:txBody>
                    <a:bodyPr/>
                    <a:lstStyle/>
                    <a:p>
                      <a:pPr>
                        <a:lnSpc>
                          <a:spcPct val="100000"/>
                        </a:lnSpc>
                        <a:spcBef>
                          <a:spcPts val="10"/>
                        </a:spcBef>
                      </a:pPr>
                      <a:endParaRPr sz="900" dirty="0">
                        <a:latin typeface="Times New Roman"/>
                        <a:cs typeface="Times New Roman"/>
                      </a:endParaRPr>
                    </a:p>
                    <a:p>
                      <a:pPr marL="1270" algn="ctr">
                        <a:lnSpc>
                          <a:spcPct val="100000"/>
                        </a:lnSpc>
                      </a:pPr>
                      <a:r>
                        <a:rPr sz="900" spc="-5" dirty="0">
                          <a:latin typeface="Arial"/>
                          <a:cs typeface="Arial"/>
                        </a:rPr>
                        <a:t>R=1</a:t>
                      </a:r>
                      <a:r>
                        <a:rPr sz="900" spc="-45" dirty="0">
                          <a:latin typeface="Arial"/>
                          <a:cs typeface="Arial"/>
                        </a:rPr>
                        <a:t> </a:t>
                      </a:r>
                      <a:r>
                        <a:rPr sz="900" dirty="0">
                          <a:latin typeface="Arial"/>
                          <a:cs typeface="Arial"/>
                        </a:rPr>
                        <a:t>Ω</a:t>
                      </a:r>
                    </a:p>
                  </a:txBody>
                  <a:tcPr marL="0" marR="0" marT="1270" marB="0">
                    <a:lnL w="3175">
                      <a:solidFill>
                        <a:srgbClr val="000000"/>
                      </a:solidFill>
                      <a:prstDash val="solid"/>
                    </a:lnL>
                    <a:lnT w="3175">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bl>
          </a:graphicData>
        </a:graphic>
      </p:graphicFrame>
      <p:sp>
        <p:nvSpPr>
          <p:cNvPr id="7" name="object 7"/>
          <p:cNvSpPr txBox="1"/>
          <p:nvPr/>
        </p:nvSpPr>
        <p:spPr>
          <a:xfrm>
            <a:off x="369214" y="7473442"/>
            <a:ext cx="1998980" cy="239395"/>
          </a:xfrm>
          <a:prstGeom prst="rect">
            <a:avLst/>
          </a:prstGeom>
        </p:spPr>
        <p:txBody>
          <a:bodyPr vert="horz" wrap="square" lIns="0" tIns="12700" rIns="0" bIns="0" rtlCol="0">
            <a:spAutoFit/>
          </a:bodyPr>
          <a:lstStyle/>
          <a:p>
            <a:pPr marL="12700">
              <a:lnSpc>
                <a:spcPct val="100000"/>
              </a:lnSpc>
              <a:spcBef>
                <a:spcPts val="100"/>
              </a:spcBef>
            </a:pPr>
            <a:r>
              <a:rPr sz="1400" b="1" spc="-5" dirty="0">
                <a:latin typeface="Arial"/>
                <a:cs typeface="Arial"/>
              </a:rPr>
              <a:t>Electrostatic</a:t>
            </a:r>
            <a:r>
              <a:rPr sz="1400" b="1" spc="-55" dirty="0">
                <a:latin typeface="Arial"/>
                <a:cs typeface="Arial"/>
              </a:rPr>
              <a:t> </a:t>
            </a:r>
            <a:r>
              <a:rPr sz="1400" b="1" spc="-5" dirty="0">
                <a:latin typeface="Arial"/>
                <a:cs typeface="Arial"/>
              </a:rPr>
              <a:t>Discharge</a:t>
            </a:r>
            <a:endParaRPr sz="1400" dirty="0">
              <a:latin typeface="Arial"/>
              <a:cs typeface="Arial"/>
            </a:endParaRPr>
          </a:p>
        </p:txBody>
      </p:sp>
      <p:sp>
        <p:nvSpPr>
          <p:cNvPr id="10" name="object 10"/>
          <p:cNvSpPr txBox="1"/>
          <p:nvPr/>
        </p:nvSpPr>
        <p:spPr>
          <a:xfrm>
            <a:off x="400913" y="301879"/>
            <a:ext cx="622935" cy="299720"/>
          </a:xfrm>
          <a:prstGeom prst="rect">
            <a:avLst/>
          </a:prstGeom>
        </p:spPr>
        <p:txBody>
          <a:bodyPr vert="horz" wrap="square" lIns="0" tIns="12700" rIns="0" bIns="0" rtlCol="0">
            <a:spAutoFit/>
          </a:bodyPr>
          <a:lstStyle/>
          <a:p>
            <a:pPr marL="12700">
              <a:lnSpc>
                <a:spcPct val="100000"/>
              </a:lnSpc>
              <a:spcBef>
                <a:spcPts val="100"/>
              </a:spcBef>
            </a:pPr>
            <a:r>
              <a:rPr sz="1800" b="1" spc="-5" dirty="0">
                <a:latin typeface="Arial"/>
                <a:cs typeface="Arial"/>
              </a:rPr>
              <a:t>CQ24</a:t>
            </a:r>
            <a:endParaRPr sz="1800" dirty="0">
              <a:latin typeface="Arial"/>
              <a:cs typeface="Arial"/>
            </a:endParaRPr>
          </a:p>
        </p:txBody>
      </p:sp>
      <p:sp>
        <p:nvSpPr>
          <p:cNvPr id="14" name="object 9">
            <a:extLst>
              <a:ext uri="{FF2B5EF4-FFF2-40B4-BE49-F238E27FC236}">
                <a16:creationId xmlns:a16="http://schemas.microsoft.com/office/drawing/2014/main" id="{3191FD39-6A57-4263-8E11-9FC9F74AB304}"/>
              </a:ext>
            </a:extLst>
          </p:cNvPr>
          <p:cNvSpPr txBox="1"/>
          <p:nvPr/>
        </p:nvSpPr>
        <p:spPr>
          <a:xfrm>
            <a:off x="304800" y="9067800"/>
            <a:ext cx="2078355" cy="289823"/>
          </a:xfrm>
          <a:prstGeom prst="rect">
            <a:avLst/>
          </a:prstGeom>
        </p:spPr>
        <p:txBody>
          <a:bodyPr vert="horz" wrap="square" lIns="0" tIns="12700" rIns="0" bIns="0" rtlCol="0">
            <a:spAutoFit/>
          </a:bodyPr>
          <a:lstStyle/>
          <a:p>
            <a:pPr marL="12700">
              <a:lnSpc>
                <a:spcPct val="100000"/>
              </a:lnSpc>
              <a:spcBef>
                <a:spcPts val="100"/>
              </a:spcBef>
            </a:pPr>
            <a:r>
              <a:rPr b="1" spc="-5" dirty="0">
                <a:solidFill>
                  <a:srgbClr val="FF0000"/>
                </a:solidFill>
                <a:cs typeface="Perpetua Titling MT"/>
              </a:rPr>
              <a:t>CONFIDENTIAL</a:t>
            </a:r>
            <a:endParaRPr dirty="0">
              <a:cs typeface="Perpetua Titling MT"/>
            </a:endParaRPr>
          </a:p>
        </p:txBody>
      </p:sp>
      <p:sp>
        <p:nvSpPr>
          <p:cNvPr id="15" name="object 6">
            <a:extLst>
              <a:ext uri="{FF2B5EF4-FFF2-40B4-BE49-F238E27FC236}">
                <a16:creationId xmlns:a16="http://schemas.microsoft.com/office/drawing/2014/main" id="{EF389D67-6A73-70BD-90FC-58D158434CAD}"/>
              </a:ext>
            </a:extLst>
          </p:cNvPr>
          <p:cNvSpPr/>
          <p:nvPr/>
        </p:nvSpPr>
        <p:spPr>
          <a:xfrm>
            <a:off x="301676" y="9458756"/>
            <a:ext cx="6246495" cy="0"/>
          </a:xfrm>
          <a:custGeom>
            <a:avLst/>
            <a:gdLst/>
            <a:ahLst/>
            <a:cxnLst/>
            <a:rect l="l" t="t" r="r" b="b"/>
            <a:pathLst>
              <a:path w="6246495">
                <a:moveTo>
                  <a:pt x="0" y="0"/>
                </a:moveTo>
                <a:lnTo>
                  <a:pt x="6245999" y="0"/>
                </a:lnTo>
              </a:path>
            </a:pathLst>
          </a:custGeom>
          <a:ln w="25920">
            <a:solidFill>
              <a:srgbClr val="BFBFBF"/>
            </a:solidFill>
          </a:ln>
        </p:spPr>
        <p:txBody>
          <a:bodyPr wrap="square" lIns="0" tIns="0" rIns="0" bIns="0" rtlCol="0"/>
          <a:lstStyle/>
          <a:p>
            <a:endParaRPr/>
          </a:p>
        </p:txBody>
      </p:sp>
      <p:sp>
        <p:nvSpPr>
          <p:cNvPr id="16" name="슬라이드 번호 개체 틀 3">
            <a:hlinkClick r:id="rId2"/>
            <a:extLst>
              <a:ext uri="{FF2B5EF4-FFF2-40B4-BE49-F238E27FC236}">
                <a16:creationId xmlns:a16="http://schemas.microsoft.com/office/drawing/2014/main" id="{66F20AE2-1787-E801-D679-90A0E9D37CAD}"/>
              </a:ext>
            </a:extLst>
          </p:cNvPr>
          <p:cNvSpPr txBox="1">
            <a:spLocks/>
          </p:cNvSpPr>
          <p:nvPr/>
        </p:nvSpPr>
        <p:spPr>
          <a:xfrm>
            <a:off x="5151602" y="9452864"/>
            <a:ext cx="1487550"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dirty="0">
                <a:solidFill>
                  <a:prstClr val="black"/>
                </a:solidFill>
                <a:latin typeface="Arial" panose="020B0604020202020204" pitchFamily="34" charset="0"/>
                <a:cs typeface="Arial" panose="020B0604020202020204" pitchFamily="34" charset="0"/>
              </a:rPr>
              <a:t>http://www.glbltech.com/</a:t>
            </a:r>
            <a:endParaRPr lang="ko-KR" altLang="en-US" dirty="0">
              <a:solidFill>
                <a:prstClr val="black"/>
              </a:solidFill>
              <a:latin typeface="Arial" panose="020B0604020202020204" pitchFamily="34" charset="0"/>
              <a:cs typeface="Arial" panose="020B0604020202020204" pitchFamily="34" charset="0"/>
            </a:endParaRPr>
          </a:p>
        </p:txBody>
      </p:sp>
      <p:sp>
        <p:nvSpPr>
          <p:cNvPr id="17" name="object 38">
            <a:extLst>
              <a:ext uri="{FF2B5EF4-FFF2-40B4-BE49-F238E27FC236}">
                <a16:creationId xmlns:a16="http://schemas.microsoft.com/office/drawing/2014/main" id="{5B7D21E5-31DC-688B-0337-B71AC6C744DB}"/>
              </a:ext>
            </a:extLst>
          </p:cNvPr>
          <p:cNvSpPr txBox="1">
            <a:spLocks/>
          </p:cNvSpPr>
          <p:nvPr/>
        </p:nvSpPr>
        <p:spPr>
          <a:xfrm>
            <a:off x="3309066" y="9547988"/>
            <a:ext cx="487045" cy="139141"/>
          </a:xfrm>
          <a:prstGeom prst="rect">
            <a:avLst/>
          </a:prstGeom>
        </p:spPr>
        <p:txBody>
          <a:bodyPr vert="horz" wrap="square" lIns="0" tIns="635" rIns="0" bIns="0" rtlCol="0">
            <a:spAutoFit/>
          </a:bodyPr>
          <a:lstStyle>
            <a:defPPr>
              <a:defRPr lang="ko-KR"/>
            </a:defPPr>
            <a:lvl1pPr marL="0" algn="l" defTabSz="914400" rtl="0" eaLnBrk="1" latinLnBrk="1" hangingPunct="1">
              <a:defRPr sz="1050" b="0" i="0" kern="1200">
                <a:solidFill>
                  <a:schemeClr val="tx1"/>
                </a:solidFill>
                <a:latin typeface="Arial"/>
                <a:ea typeface="+mn-ea"/>
                <a:cs typeface="Arial"/>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marL="12700">
              <a:spcBef>
                <a:spcPts val="5"/>
              </a:spcBef>
              <a:defRPr/>
            </a:pPr>
            <a:r>
              <a:rPr lang="en-US" sz="900" dirty="0">
                <a:solidFill>
                  <a:prstClr val="black"/>
                </a:solidFill>
              </a:rPr>
              <a:t>Page</a:t>
            </a:r>
            <a:r>
              <a:rPr lang="en-US" sz="900" spc="-60" dirty="0">
                <a:solidFill>
                  <a:prstClr val="black"/>
                </a:solidFill>
              </a:rPr>
              <a:t> </a:t>
            </a:r>
            <a:fld id="{81D60167-4931-47E6-BA6A-407CBD079E47}" type="slidenum">
              <a:rPr sz="900">
                <a:solidFill>
                  <a:prstClr val="black"/>
                </a:solidFill>
              </a:rPr>
              <a:pPr marL="12700">
                <a:spcBef>
                  <a:spcPts val="5"/>
                </a:spcBef>
                <a:defRPr/>
              </a:pPr>
              <a:t>9</a:t>
            </a:fld>
            <a:endParaRPr sz="900" dirty="0">
              <a:solidFill>
                <a:prstClr val="black"/>
              </a:solidFill>
            </a:endParaRPr>
          </a:p>
        </p:txBody>
      </p:sp>
      <p:sp>
        <p:nvSpPr>
          <p:cNvPr id="18" name="슬라이드 번호 개체 틀 3">
            <a:extLst>
              <a:ext uri="{FF2B5EF4-FFF2-40B4-BE49-F238E27FC236}">
                <a16:creationId xmlns:a16="http://schemas.microsoft.com/office/drawing/2014/main" id="{D66BFC9D-DBEF-D733-5188-0A5714CE0B45}"/>
              </a:ext>
            </a:extLst>
          </p:cNvPr>
          <p:cNvSpPr txBox="1">
            <a:spLocks/>
          </p:cNvSpPr>
          <p:nvPr/>
        </p:nvSpPr>
        <p:spPr>
          <a:xfrm>
            <a:off x="299401" y="9520856"/>
            <a:ext cx="2060991" cy="175259"/>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lang="en-US" altLang="ko-KR" dirty="0">
                <a:solidFill>
                  <a:prstClr val="black"/>
                </a:solidFill>
                <a:latin typeface="Arial" panose="020B0604020202020204" pitchFamily="34" charset="0"/>
                <a:cs typeface="Arial" panose="020B0604020202020204" pitchFamily="34" charset="0"/>
              </a:rPr>
              <a:t>Dated 30-Nov 23  Rev. 01</a:t>
            </a:r>
            <a:endParaRPr lang="ko-KR" altLang="en-US" dirty="0">
              <a:solidFill>
                <a:prstClr val="black"/>
              </a:solidFill>
              <a:latin typeface="Arial" panose="020B0604020202020204" pitchFamily="34" charset="0"/>
              <a:cs typeface="Arial" panose="020B0604020202020204" pitchFamily="34" charset="0"/>
            </a:endParaRPr>
          </a:p>
        </p:txBody>
      </p:sp>
      <p:sp>
        <p:nvSpPr>
          <p:cNvPr id="19" name="Holder 3">
            <a:extLst>
              <a:ext uri="{FF2B5EF4-FFF2-40B4-BE49-F238E27FC236}">
                <a16:creationId xmlns:a16="http://schemas.microsoft.com/office/drawing/2014/main" id="{EBE1588E-1416-269B-B9E9-EE7B8738284D}"/>
              </a:ext>
            </a:extLst>
          </p:cNvPr>
          <p:cNvSpPr txBox="1">
            <a:spLocks/>
          </p:cNvSpPr>
          <p:nvPr/>
        </p:nvSpPr>
        <p:spPr>
          <a:xfrm>
            <a:off x="5147476" y="203944"/>
            <a:ext cx="1447800" cy="276999"/>
          </a:xfrm>
          <a:prstGeom prst="rect">
            <a:avLst/>
          </a:prstGeom>
        </p:spPr>
        <p:txBody>
          <a:bodyPr wrap="square" lIns="0" tIns="0" rIns="0" bIns="0">
            <a:spAutoFit/>
          </a:bodyPr>
          <a:lstStyle>
            <a:lvl1pPr marL="0">
              <a:defRPr>
                <a:solidFill>
                  <a:srgbClr val="FF99FF"/>
                </a:solidFill>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defTabSz="914400" latinLnBrk="0"/>
            <a:r>
              <a:rPr lang="en-US" sz="1800" kern="0" dirty="0"/>
              <a:t>&lt;Preliminary&gt;</a:t>
            </a:r>
          </a:p>
        </p:txBody>
      </p:sp>
      <p:sp>
        <p:nvSpPr>
          <p:cNvPr id="8" name="object 11">
            <a:extLst>
              <a:ext uri="{FF2B5EF4-FFF2-40B4-BE49-F238E27FC236}">
                <a16:creationId xmlns:a16="http://schemas.microsoft.com/office/drawing/2014/main" id="{4E377857-BBB4-BC86-8F69-3A5DB34CF4A5}"/>
              </a:ext>
            </a:extLst>
          </p:cNvPr>
          <p:cNvSpPr txBox="1"/>
          <p:nvPr/>
        </p:nvSpPr>
        <p:spPr>
          <a:xfrm>
            <a:off x="1676400" y="6470861"/>
            <a:ext cx="3467099" cy="144848"/>
          </a:xfrm>
          <a:prstGeom prst="rect">
            <a:avLst/>
          </a:prstGeom>
        </p:spPr>
        <p:txBody>
          <a:bodyPr vert="horz" wrap="square" lIns="0" tIns="12700" rIns="0" bIns="0" rtlCol="0">
            <a:spAutoFit/>
          </a:bodyPr>
          <a:lstStyle/>
          <a:p>
            <a:pPr marL="63500" algn="ctr">
              <a:lnSpc>
                <a:spcPts val="1065"/>
              </a:lnSpc>
              <a:spcBef>
                <a:spcPts val="100"/>
              </a:spcBef>
              <a:tabLst>
                <a:tab pos="673100" algn="l"/>
              </a:tabLst>
            </a:pPr>
            <a:r>
              <a:rPr sz="900" b="1" spc="-65" dirty="0">
                <a:latin typeface="Arial" panose="020B0604020202020204" pitchFamily="34" charset="0"/>
                <a:cs typeface="Arial" panose="020B0604020202020204" pitchFamily="34" charset="0"/>
              </a:rPr>
              <a:t>T</a:t>
            </a:r>
            <a:r>
              <a:rPr sz="900" b="1" spc="-10" dirty="0">
                <a:latin typeface="Arial" panose="020B0604020202020204" pitchFamily="34" charset="0"/>
                <a:cs typeface="Arial" panose="020B0604020202020204" pitchFamily="34" charset="0"/>
              </a:rPr>
              <a:t>a</a:t>
            </a:r>
            <a:r>
              <a:rPr sz="900" b="1" spc="-5" dirty="0">
                <a:latin typeface="Arial" panose="020B0604020202020204" pitchFamily="34" charset="0"/>
                <a:cs typeface="Arial" panose="020B0604020202020204" pitchFamily="34" charset="0"/>
              </a:rPr>
              <a:t>bl</a:t>
            </a:r>
            <a:r>
              <a:rPr sz="900" b="1" dirty="0">
                <a:latin typeface="Arial" panose="020B0604020202020204" pitchFamily="34" charset="0"/>
                <a:cs typeface="Arial" panose="020B0604020202020204" pitchFamily="34" charset="0"/>
              </a:rPr>
              <a:t>e</a:t>
            </a:r>
            <a:r>
              <a:rPr lang="ko-KR" altLang="en-US" sz="900" b="1" dirty="0">
                <a:latin typeface="Arial" panose="020B0604020202020204" pitchFamily="34" charset="0"/>
                <a:cs typeface="Arial" panose="020B0604020202020204" pitchFamily="34" charset="0"/>
              </a:rPr>
              <a:t> </a:t>
            </a:r>
            <a:r>
              <a:rPr lang="en-US" altLang="ko-KR" sz="900" b="1" dirty="0">
                <a:latin typeface="Arial" panose="020B0604020202020204" pitchFamily="34" charset="0"/>
                <a:cs typeface="Arial" panose="020B0604020202020204" pitchFamily="34" charset="0"/>
              </a:rPr>
              <a:t>3</a:t>
            </a:r>
            <a:r>
              <a:rPr sz="900" b="1" dirty="0">
                <a:latin typeface="Arial" panose="020B0604020202020204" pitchFamily="34" charset="0"/>
                <a:cs typeface="Arial" panose="020B0604020202020204" pitchFamily="34" charset="0"/>
              </a:rPr>
              <a:t>.</a:t>
            </a:r>
            <a:r>
              <a:rPr lang="en-US" sz="900" b="1" dirty="0">
                <a:latin typeface="Arial" panose="020B0604020202020204" pitchFamily="34" charset="0"/>
                <a:cs typeface="Arial" panose="020B0604020202020204" pitchFamily="34" charset="0"/>
              </a:rPr>
              <a:t> Maximum Absolute ratings </a:t>
            </a:r>
          </a:p>
        </p:txBody>
      </p:sp>
      <p:sp>
        <p:nvSpPr>
          <p:cNvPr id="9" name="object 11">
            <a:extLst>
              <a:ext uri="{FF2B5EF4-FFF2-40B4-BE49-F238E27FC236}">
                <a16:creationId xmlns:a16="http://schemas.microsoft.com/office/drawing/2014/main" id="{FB3357DF-537D-D813-49A4-50A302670C7D}"/>
              </a:ext>
            </a:extLst>
          </p:cNvPr>
          <p:cNvSpPr txBox="1"/>
          <p:nvPr/>
        </p:nvSpPr>
        <p:spPr>
          <a:xfrm>
            <a:off x="1689100" y="8992932"/>
            <a:ext cx="3467099" cy="144848"/>
          </a:xfrm>
          <a:prstGeom prst="rect">
            <a:avLst/>
          </a:prstGeom>
        </p:spPr>
        <p:txBody>
          <a:bodyPr vert="horz" wrap="square" lIns="0" tIns="12700" rIns="0" bIns="0" rtlCol="0">
            <a:spAutoFit/>
          </a:bodyPr>
          <a:lstStyle/>
          <a:p>
            <a:pPr marL="63500" algn="ctr">
              <a:lnSpc>
                <a:spcPts val="1065"/>
              </a:lnSpc>
              <a:spcBef>
                <a:spcPts val="100"/>
              </a:spcBef>
              <a:tabLst>
                <a:tab pos="673100" algn="l"/>
              </a:tabLst>
            </a:pPr>
            <a:r>
              <a:rPr sz="900" b="1" spc="-65" dirty="0">
                <a:latin typeface="Arial" panose="020B0604020202020204" pitchFamily="34" charset="0"/>
                <a:cs typeface="Arial" panose="020B0604020202020204" pitchFamily="34" charset="0"/>
              </a:rPr>
              <a:t>T</a:t>
            </a:r>
            <a:r>
              <a:rPr sz="900" b="1" spc="-10" dirty="0">
                <a:latin typeface="Arial" panose="020B0604020202020204" pitchFamily="34" charset="0"/>
                <a:cs typeface="Arial" panose="020B0604020202020204" pitchFamily="34" charset="0"/>
              </a:rPr>
              <a:t>a</a:t>
            </a:r>
            <a:r>
              <a:rPr sz="900" b="1" spc="-5" dirty="0">
                <a:latin typeface="Arial" panose="020B0604020202020204" pitchFamily="34" charset="0"/>
                <a:cs typeface="Arial" panose="020B0604020202020204" pitchFamily="34" charset="0"/>
              </a:rPr>
              <a:t>bl</a:t>
            </a:r>
            <a:r>
              <a:rPr sz="900" b="1" dirty="0">
                <a:latin typeface="Arial" panose="020B0604020202020204" pitchFamily="34" charset="0"/>
                <a:cs typeface="Arial" panose="020B0604020202020204" pitchFamily="34" charset="0"/>
              </a:rPr>
              <a:t>e</a:t>
            </a:r>
            <a:r>
              <a:rPr lang="ko-KR" altLang="en-US" sz="900" b="1" dirty="0">
                <a:latin typeface="Arial" panose="020B0604020202020204" pitchFamily="34" charset="0"/>
                <a:cs typeface="Arial" panose="020B0604020202020204" pitchFamily="34" charset="0"/>
              </a:rPr>
              <a:t> </a:t>
            </a:r>
            <a:r>
              <a:rPr lang="en-US" altLang="ko-KR" sz="900" b="1" dirty="0">
                <a:latin typeface="Arial" panose="020B0604020202020204" pitchFamily="34" charset="0"/>
                <a:cs typeface="Arial" panose="020B0604020202020204" pitchFamily="34" charset="0"/>
              </a:rPr>
              <a:t>4</a:t>
            </a:r>
            <a:r>
              <a:rPr sz="900" b="1" dirty="0">
                <a:latin typeface="Arial" panose="020B0604020202020204" pitchFamily="34" charset="0"/>
                <a:cs typeface="Arial" panose="020B0604020202020204" pitchFamily="34" charset="0"/>
              </a:rPr>
              <a:t>.</a:t>
            </a:r>
            <a:r>
              <a:rPr lang="en-US" sz="900" b="1" dirty="0">
                <a:latin typeface="Arial" panose="020B0604020202020204" pitchFamily="34" charset="0"/>
                <a:cs typeface="Arial" panose="020B0604020202020204" pitchFamily="34" charset="0"/>
              </a:rPr>
              <a:t> Electrostatic Discharge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2" name="object 2"/>
          <p:cNvGraphicFramePr>
            <a:graphicFrameLocks noGrp="1"/>
          </p:cNvGraphicFramePr>
          <p:nvPr/>
        </p:nvGraphicFramePr>
        <p:xfrm>
          <a:off x="404812" y="1076325"/>
          <a:ext cx="6031229" cy="7125970"/>
        </p:xfrm>
        <a:graphic>
          <a:graphicData uri="http://schemas.openxmlformats.org/drawingml/2006/table">
            <a:tbl>
              <a:tblPr firstRow="1" bandRow="1">
                <a:tableStyleId>{2D5ABB26-0587-4C30-8999-92F81FD0307C}</a:tableStyleId>
              </a:tblPr>
              <a:tblGrid>
                <a:gridCol w="1398905">
                  <a:extLst>
                    <a:ext uri="{9D8B030D-6E8A-4147-A177-3AD203B41FA5}">
                      <a16:colId xmlns:a16="http://schemas.microsoft.com/office/drawing/2014/main" val="20000"/>
                    </a:ext>
                  </a:extLst>
                </a:gridCol>
                <a:gridCol w="681990">
                  <a:extLst>
                    <a:ext uri="{9D8B030D-6E8A-4147-A177-3AD203B41FA5}">
                      <a16:colId xmlns:a16="http://schemas.microsoft.com/office/drawing/2014/main" val="20001"/>
                    </a:ext>
                  </a:extLst>
                </a:gridCol>
                <a:gridCol w="1801495">
                  <a:extLst>
                    <a:ext uri="{9D8B030D-6E8A-4147-A177-3AD203B41FA5}">
                      <a16:colId xmlns:a16="http://schemas.microsoft.com/office/drawing/2014/main" val="20002"/>
                    </a:ext>
                  </a:extLst>
                </a:gridCol>
                <a:gridCol w="531495">
                  <a:extLst>
                    <a:ext uri="{9D8B030D-6E8A-4147-A177-3AD203B41FA5}">
                      <a16:colId xmlns:a16="http://schemas.microsoft.com/office/drawing/2014/main" val="20003"/>
                    </a:ext>
                  </a:extLst>
                </a:gridCol>
                <a:gridCol w="528320">
                  <a:extLst>
                    <a:ext uri="{9D8B030D-6E8A-4147-A177-3AD203B41FA5}">
                      <a16:colId xmlns:a16="http://schemas.microsoft.com/office/drawing/2014/main" val="20004"/>
                    </a:ext>
                  </a:extLst>
                </a:gridCol>
                <a:gridCol w="531495">
                  <a:extLst>
                    <a:ext uri="{9D8B030D-6E8A-4147-A177-3AD203B41FA5}">
                      <a16:colId xmlns:a16="http://schemas.microsoft.com/office/drawing/2014/main" val="20005"/>
                    </a:ext>
                  </a:extLst>
                </a:gridCol>
                <a:gridCol w="557529">
                  <a:extLst>
                    <a:ext uri="{9D8B030D-6E8A-4147-A177-3AD203B41FA5}">
                      <a16:colId xmlns:a16="http://schemas.microsoft.com/office/drawing/2014/main" val="20006"/>
                    </a:ext>
                  </a:extLst>
                </a:gridCol>
              </a:tblGrid>
              <a:tr h="179705">
                <a:tc rowSpan="2">
                  <a:txBody>
                    <a:bodyPr/>
                    <a:lstStyle/>
                    <a:p>
                      <a:pPr marL="283845">
                        <a:lnSpc>
                          <a:spcPct val="100000"/>
                        </a:lnSpc>
                        <a:spcBef>
                          <a:spcPts val="870"/>
                        </a:spcBef>
                      </a:pPr>
                      <a:r>
                        <a:rPr sz="900" b="1" spc="-5" dirty="0">
                          <a:latin typeface="Arial"/>
                          <a:cs typeface="Arial"/>
                        </a:rPr>
                        <a:t>Characteristics</a:t>
                      </a:r>
                      <a:endParaRPr sz="900" dirty="0">
                        <a:latin typeface="Arial"/>
                        <a:cs typeface="Arial"/>
                      </a:endParaRPr>
                    </a:p>
                  </a:txBody>
                  <a:tcPr marL="0" marR="0" marT="110490" marB="0">
                    <a:lnR w="12700">
                      <a:solidFill>
                        <a:srgbClr val="A6A6A6"/>
                      </a:solidFill>
                      <a:prstDash val="solid"/>
                    </a:lnR>
                    <a:lnT w="12700">
                      <a:solidFill>
                        <a:srgbClr val="A6A6A6"/>
                      </a:solidFill>
                      <a:prstDash val="solid"/>
                    </a:lnT>
                    <a:lnB w="12700">
                      <a:solidFill>
                        <a:srgbClr val="A6A6A6"/>
                      </a:solidFill>
                      <a:prstDash val="solid"/>
                    </a:lnB>
                    <a:solidFill>
                      <a:srgbClr val="F1F1F1"/>
                    </a:solidFill>
                  </a:tcPr>
                </a:tc>
                <a:tc rowSpan="2">
                  <a:txBody>
                    <a:bodyPr/>
                    <a:lstStyle/>
                    <a:p>
                      <a:pPr marL="137160">
                        <a:lnSpc>
                          <a:spcPct val="100000"/>
                        </a:lnSpc>
                        <a:spcBef>
                          <a:spcPts val="870"/>
                        </a:spcBef>
                      </a:pPr>
                      <a:r>
                        <a:rPr sz="900" b="1" spc="-10" dirty="0">
                          <a:latin typeface="Arial"/>
                          <a:cs typeface="Arial"/>
                        </a:rPr>
                        <a:t>Symbol</a:t>
                      </a:r>
                      <a:endParaRPr sz="900" dirty="0">
                        <a:latin typeface="Arial"/>
                        <a:cs typeface="Arial"/>
                      </a:endParaRPr>
                    </a:p>
                  </a:txBody>
                  <a:tcPr marL="0" marR="0" marT="11049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solidFill>
                      <a:srgbClr val="F1F1F1"/>
                    </a:solidFill>
                  </a:tcPr>
                </a:tc>
                <a:tc rowSpan="2">
                  <a:txBody>
                    <a:bodyPr/>
                    <a:lstStyle/>
                    <a:p>
                      <a:pPr algn="ctr">
                        <a:lnSpc>
                          <a:spcPct val="100000"/>
                        </a:lnSpc>
                        <a:spcBef>
                          <a:spcPts val="870"/>
                        </a:spcBef>
                      </a:pPr>
                      <a:r>
                        <a:rPr sz="900" b="1" dirty="0">
                          <a:latin typeface="Arial"/>
                          <a:cs typeface="Arial"/>
                        </a:rPr>
                        <a:t>Condition</a:t>
                      </a:r>
                      <a:endParaRPr sz="900" dirty="0">
                        <a:latin typeface="Arial"/>
                        <a:cs typeface="Arial"/>
                      </a:endParaRPr>
                    </a:p>
                  </a:txBody>
                  <a:tcPr marL="0" marR="0" marT="11049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solidFill>
                      <a:srgbClr val="F1F1F1"/>
                    </a:solidFill>
                  </a:tcPr>
                </a:tc>
                <a:tc gridSpan="3">
                  <a:txBody>
                    <a:bodyPr/>
                    <a:lstStyle/>
                    <a:p>
                      <a:pPr marL="635" algn="ctr">
                        <a:lnSpc>
                          <a:spcPct val="100000"/>
                        </a:lnSpc>
                        <a:spcBef>
                          <a:spcPts val="155"/>
                        </a:spcBef>
                      </a:pPr>
                      <a:r>
                        <a:rPr sz="900" b="1" dirty="0">
                          <a:latin typeface="Arial"/>
                          <a:cs typeface="Arial"/>
                        </a:rPr>
                        <a:t>Value</a:t>
                      </a:r>
                      <a:endParaRPr sz="900" dirty="0">
                        <a:latin typeface="Arial"/>
                        <a:cs typeface="Arial"/>
                      </a:endParaRPr>
                    </a:p>
                  </a:txBody>
                  <a:tcPr marL="0" marR="0" marT="19685"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solidFill>
                      <a:srgbClr val="F1F1F1"/>
                    </a:solidFill>
                  </a:tcPr>
                </a:tc>
                <a:tc hMerge="1">
                  <a:txBody>
                    <a:bodyPr/>
                    <a:lstStyle/>
                    <a:p>
                      <a:endParaRPr/>
                    </a:p>
                  </a:txBody>
                  <a:tcPr marL="0" marR="0" marT="0" marB="0"/>
                </a:tc>
                <a:tc hMerge="1">
                  <a:txBody>
                    <a:bodyPr/>
                    <a:lstStyle/>
                    <a:p>
                      <a:endParaRPr/>
                    </a:p>
                  </a:txBody>
                  <a:tcPr marL="0" marR="0" marT="0" marB="0"/>
                </a:tc>
                <a:tc rowSpan="2">
                  <a:txBody>
                    <a:bodyPr/>
                    <a:lstStyle/>
                    <a:p>
                      <a:pPr marL="169545">
                        <a:lnSpc>
                          <a:spcPct val="100000"/>
                        </a:lnSpc>
                        <a:spcBef>
                          <a:spcPts val="870"/>
                        </a:spcBef>
                      </a:pPr>
                      <a:r>
                        <a:rPr sz="900" b="1" dirty="0">
                          <a:latin typeface="Arial"/>
                          <a:cs typeface="Arial"/>
                        </a:rPr>
                        <a:t>Unit</a:t>
                      </a:r>
                      <a:endParaRPr sz="900" dirty="0">
                        <a:latin typeface="Arial"/>
                        <a:cs typeface="Arial"/>
                      </a:endParaRPr>
                    </a:p>
                  </a:txBody>
                  <a:tcPr marL="0" marR="0" marT="110490" marB="0">
                    <a:lnL w="12700">
                      <a:solidFill>
                        <a:srgbClr val="A6A6A6"/>
                      </a:solidFill>
                      <a:prstDash val="solid"/>
                    </a:lnL>
                    <a:lnT w="12700">
                      <a:solidFill>
                        <a:srgbClr val="A6A6A6"/>
                      </a:solidFill>
                      <a:prstDash val="solid"/>
                    </a:lnT>
                    <a:lnB w="12700">
                      <a:solidFill>
                        <a:srgbClr val="A6A6A6"/>
                      </a:solidFill>
                      <a:prstDash val="solid"/>
                    </a:lnB>
                    <a:solidFill>
                      <a:srgbClr val="F1F1F1"/>
                    </a:solidFill>
                  </a:tcPr>
                </a:tc>
                <a:extLst>
                  <a:ext uri="{0D108BD9-81ED-4DB2-BD59-A6C34878D82A}">
                    <a16:rowId xmlns:a16="http://schemas.microsoft.com/office/drawing/2014/main" val="10000"/>
                  </a:ext>
                </a:extLst>
              </a:tr>
              <a:tr h="179705">
                <a:tc vMerge="1">
                  <a:txBody>
                    <a:bodyPr/>
                    <a:lstStyle/>
                    <a:p>
                      <a:endParaRPr/>
                    </a:p>
                  </a:txBody>
                  <a:tcPr marL="0" marR="0" marT="110490" marB="0">
                    <a:lnR w="12700">
                      <a:solidFill>
                        <a:srgbClr val="A6A6A6"/>
                      </a:solidFill>
                      <a:prstDash val="solid"/>
                    </a:lnR>
                    <a:lnT w="12700">
                      <a:solidFill>
                        <a:srgbClr val="A6A6A6"/>
                      </a:solidFill>
                      <a:prstDash val="solid"/>
                    </a:lnT>
                    <a:lnB w="12700">
                      <a:solidFill>
                        <a:srgbClr val="A6A6A6"/>
                      </a:solidFill>
                      <a:prstDash val="solid"/>
                    </a:lnB>
                    <a:solidFill>
                      <a:srgbClr val="F1F1F1"/>
                    </a:solidFill>
                  </a:tcPr>
                </a:tc>
                <a:tc vMerge="1">
                  <a:txBody>
                    <a:bodyPr/>
                    <a:lstStyle/>
                    <a:p>
                      <a:endParaRPr/>
                    </a:p>
                  </a:txBody>
                  <a:tcPr marL="0" marR="0" marT="11049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solidFill>
                      <a:srgbClr val="F1F1F1"/>
                    </a:solidFill>
                  </a:tcPr>
                </a:tc>
                <a:tc vMerge="1">
                  <a:txBody>
                    <a:bodyPr/>
                    <a:lstStyle/>
                    <a:p>
                      <a:endParaRPr/>
                    </a:p>
                  </a:txBody>
                  <a:tcPr marL="0" marR="0" marT="11049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solidFill>
                      <a:srgbClr val="F1F1F1"/>
                    </a:solidFill>
                  </a:tcPr>
                </a:tc>
                <a:tc>
                  <a:txBody>
                    <a:bodyPr/>
                    <a:lstStyle/>
                    <a:p>
                      <a:pPr marL="635" algn="ctr">
                        <a:lnSpc>
                          <a:spcPct val="100000"/>
                        </a:lnSpc>
                        <a:spcBef>
                          <a:spcPts val="160"/>
                        </a:spcBef>
                      </a:pPr>
                      <a:r>
                        <a:rPr sz="900" b="1" dirty="0">
                          <a:latin typeface="Arial"/>
                          <a:cs typeface="Arial"/>
                        </a:rPr>
                        <a:t>min</a:t>
                      </a:r>
                      <a:endParaRPr sz="900" dirty="0">
                        <a:latin typeface="Arial"/>
                        <a:cs typeface="Arial"/>
                      </a:endParaRPr>
                    </a:p>
                  </a:txBody>
                  <a:tcPr marL="0" marR="0" marT="2032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solidFill>
                      <a:srgbClr val="F1F1F1"/>
                    </a:solidFill>
                  </a:tcPr>
                </a:tc>
                <a:tc>
                  <a:txBody>
                    <a:bodyPr/>
                    <a:lstStyle/>
                    <a:p>
                      <a:pPr algn="ctr">
                        <a:lnSpc>
                          <a:spcPct val="100000"/>
                        </a:lnSpc>
                        <a:spcBef>
                          <a:spcPts val="160"/>
                        </a:spcBef>
                      </a:pPr>
                      <a:r>
                        <a:rPr sz="900" b="1" spc="-15" dirty="0">
                          <a:latin typeface="Arial"/>
                          <a:cs typeface="Arial"/>
                        </a:rPr>
                        <a:t>typ</a:t>
                      </a:r>
                      <a:endParaRPr sz="900" dirty="0">
                        <a:latin typeface="Arial"/>
                        <a:cs typeface="Arial"/>
                      </a:endParaRPr>
                    </a:p>
                  </a:txBody>
                  <a:tcPr marL="0" marR="0" marT="2032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solidFill>
                      <a:srgbClr val="F1F1F1"/>
                    </a:solidFill>
                  </a:tcPr>
                </a:tc>
                <a:tc>
                  <a:txBody>
                    <a:bodyPr/>
                    <a:lstStyle/>
                    <a:p>
                      <a:pPr marL="635" algn="ctr">
                        <a:lnSpc>
                          <a:spcPct val="100000"/>
                        </a:lnSpc>
                        <a:spcBef>
                          <a:spcPts val="160"/>
                        </a:spcBef>
                      </a:pPr>
                      <a:r>
                        <a:rPr sz="900" b="1" spc="-5" dirty="0">
                          <a:latin typeface="Arial"/>
                          <a:cs typeface="Arial"/>
                        </a:rPr>
                        <a:t>max</a:t>
                      </a:r>
                      <a:endParaRPr sz="900" dirty="0">
                        <a:latin typeface="Arial"/>
                        <a:cs typeface="Arial"/>
                      </a:endParaRPr>
                    </a:p>
                  </a:txBody>
                  <a:tcPr marL="0" marR="0" marT="2032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solidFill>
                      <a:srgbClr val="F1F1F1"/>
                    </a:solidFill>
                  </a:tcPr>
                </a:tc>
                <a:tc vMerge="1">
                  <a:txBody>
                    <a:bodyPr/>
                    <a:lstStyle/>
                    <a:p>
                      <a:endParaRPr/>
                    </a:p>
                  </a:txBody>
                  <a:tcPr marL="0" marR="0" marT="110490" marB="0">
                    <a:lnL w="12700">
                      <a:solidFill>
                        <a:srgbClr val="A6A6A6"/>
                      </a:solidFill>
                      <a:prstDash val="solid"/>
                    </a:lnL>
                    <a:lnT w="12700">
                      <a:solidFill>
                        <a:srgbClr val="A6A6A6"/>
                      </a:solidFill>
                      <a:prstDash val="solid"/>
                    </a:lnT>
                    <a:lnB w="12700">
                      <a:solidFill>
                        <a:srgbClr val="A6A6A6"/>
                      </a:solidFill>
                      <a:prstDash val="solid"/>
                    </a:lnB>
                    <a:solidFill>
                      <a:srgbClr val="F1F1F1"/>
                    </a:solidFill>
                  </a:tcPr>
                </a:tc>
                <a:extLst>
                  <a:ext uri="{0D108BD9-81ED-4DB2-BD59-A6C34878D82A}">
                    <a16:rowId xmlns:a16="http://schemas.microsoft.com/office/drawing/2014/main" val="10001"/>
                  </a:ext>
                </a:extLst>
              </a:tr>
              <a:tr h="215900">
                <a:tc gridSpan="7">
                  <a:txBody>
                    <a:bodyPr/>
                    <a:lstStyle/>
                    <a:p>
                      <a:pPr>
                        <a:lnSpc>
                          <a:spcPts val="1025"/>
                        </a:lnSpc>
                        <a:spcBef>
                          <a:spcPts val="575"/>
                        </a:spcBef>
                      </a:pPr>
                      <a:r>
                        <a:rPr sz="900" dirty="0">
                          <a:latin typeface="Arial"/>
                          <a:cs typeface="Arial"/>
                        </a:rPr>
                        <a:t>Supply</a:t>
                      </a:r>
                    </a:p>
                  </a:txBody>
                  <a:tcPr marL="0" marR="0" marT="73025" marB="0">
                    <a:lnT w="12700">
                      <a:solidFill>
                        <a:srgbClr val="A6A6A6"/>
                      </a:solidFill>
                      <a:prstDash val="solid"/>
                    </a:lnT>
                    <a:lnB w="12700">
                      <a:solidFill>
                        <a:srgbClr val="A6A6A6"/>
                      </a:solidFill>
                      <a:prstDash val="solid"/>
                    </a:lnB>
                  </a:tcPr>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2"/>
                  </a:ext>
                </a:extLst>
              </a:tr>
              <a:tr h="278130">
                <a:tc>
                  <a:txBody>
                    <a:bodyPr/>
                    <a:lstStyle/>
                    <a:p>
                      <a:pPr>
                        <a:lnSpc>
                          <a:spcPct val="100000"/>
                        </a:lnSpc>
                        <a:spcBef>
                          <a:spcPts val="545"/>
                        </a:spcBef>
                      </a:pPr>
                      <a:r>
                        <a:rPr sz="900" dirty="0">
                          <a:latin typeface="Arial"/>
                          <a:cs typeface="Arial"/>
                        </a:rPr>
                        <a:t>Operating</a:t>
                      </a:r>
                      <a:r>
                        <a:rPr sz="900" spc="-55" dirty="0">
                          <a:latin typeface="Arial"/>
                          <a:cs typeface="Arial"/>
                        </a:rPr>
                        <a:t> </a:t>
                      </a:r>
                      <a:r>
                        <a:rPr sz="900" dirty="0">
                          <a:latin typeface="Arial"/>
                          <a:cs typeface="Arial"/>
                        </a:rPr>
                        <a:t>voltage</a:t>
                      </a:r>
                    </a:p>
                  </a:txBody>
                  <a:tcPr marL="0" marR="0" marT="69215" marB="0">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marR="66040" algn="r">
                        <a:lnSpc>
                          <a:spcPct val="100000"/>
                        </a:lnSpc>
                        <a:spcBef>
                          <a:spcPts val="655"/>
                        </a:spcBef>
                      </a:pPr>
                      <a:r>
                        <a:rPr sz="1350" spc="-7" baseline="6172" dirty="0">
                          <a:latin typeface="Arial"/>
                          <a:cs typeface="Arial"/>
                        </a:rPr>
                        <a:t>V</a:t>
                      </a:r>
                      <a:r>
                        <a:rPr sz="600" spc="-5" dirty="0">
                          <a:latin typeface="Arial"/>
                          <a:cs typeface="Arial"/>
                        </a:rPr>
                        <a:t>DDD</a:t>
                      </a:r>
                      <a:r>
                        <a:rPr sz="1350" spc="-7" baseline="6172" dirty="0">
                          <a:latin typeface="Arial"/>
                          <a:cs typeface="Arial"/>
                        </a:rPr>
                        <a:t>,</a:t>
                      </a:r>
                      <a:r>
                        <a:rPr sz="1350" spc="-30" baseline="6172" dirty="0">
                          <a:latin typeface="Arial"/>
                          <a:cs typeface="Arial"/>
                        </a:rPr>
                        <a:t> </a:t>
                      </a:r>
                      <a:r>
                        <a:rPr sz="1350" spc="-15" baseline="6172" dirty="0">
                          <a:latin typeface="Arial"/>
                          <a:cs typeface="Arial"/>
                        </a:rPr>
                        <a:t>V</a:t>
                      </a:r>
                      <a:r>
                        <a:rPr sz="600" spc="-10" dirty="0">
                          <a:latin typeface="Arial"/>
                          <a:cs typeface="Arial"/>
                        </a:rPr>
                        <a:t>DDA</a:t>
                      </a:r>
                      <a:endParaRPr sz="600" dirty="0">
                        <a:latin typeface="Arial"/>
                        <a:cs typeface="Arial"/>
                      </a:endParaRPr>
                    </a:p>
                  </a:txBody>
                  <a:tcPr marL="0" marR="0" marT="83185"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a:lnSpc>
                          <a:spcPct val="100000"/>
                        </a:lnSpc>
                      </a:pPr>
                      <a:endParaRPr sz="800" dirty="0">
                        <a:latin typeface="Times New Roman"/>
                        <a:cs typeface="Times New Roman"/>
                      </a:endParaRPr>
                    </a:p>
                  </a:txBody>
                  <a:tcPr marL="0" marR="0" marT="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algn="ctr">
                        <a:lnSpc>
                          <a:spcPct val="100000"/>
                        </a:lnSpc>
                        <a:spcBef>
                          <a:spcPts val="545"/>
                        </a:spcBef>
                      </a:pPr>
                      <a:r>
                        <a:rPr sz="900" dirty="0">
                          <a:latin typeface="Arial"/>
                          <a:cs typeface="Arial"/>
                        </a:rPr>
                        <a:t>4.5</a:t>
                      </a:r>
                    </a:p>
                  </a:txBody>
                  <a:tcPr marL="0" marR="0" marT="69215"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algn="ctr">
                        <a:lnSpc>
                          <a:spcPct val="100000"/>
                        </a:lnSpc>
                        <a:spcBef>
                          <a:spcPts val="545"/>
                        </a:spcBef>
                      </a:pPr>
                      <a:r>
                        <a:rPr sz="900" dirty="0">
                          <a:latin typeface="Arial"/>
                          <a:cs typeface="Arial"/>
                        </a:rPr>
                        <a:t>-</a:t>
                      </a:r>
                    </a:p>
                  </a:txBody>
                  <a:tcPr marL="0" marR="0" marT="69215"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algn="ctr">
                        <a:lnSpc>
                          <a:spcPct val="100000"/>
                        </a:lnSpc>
                        <a:spcBef>
                          <a:spcPts val="545"/>
                        </a:spcBef>
                      </a:pPr>
                      <a:r>
                        <a:rPr sz="900" dirty="0">
                          <a:latin typeface="Arial"/>
                          <a:cs typeface="Arial"/>
                        </a:rPr>
                        <a:t>5.5</a:t>
                      </a:r>
                    </a:p>
                  </a:txBody>
                  <a:tcPr marL="0" marR="0" marT="69215"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marR="635" algn="ctr">
                        <a:lnSpc>
                          <a:spcPct val="100000"/>
                        </a:lnSpc>
                        <a:spcBef>
                          <a:spcPts val="545"/>
                        </a:spcBef>
                      </a:pPr>
                      <a:r>
                        <a:rPr sz="900" dirty="0">
                          <a:latin typeface="Arial"/>
                          <a:cs typeface="Arial"/>
                        </a:rPr>
                        <a:t>V</a:t>
                      </a:r>
                    </a:p>
                  </a:txBody>
                  <a:tcPr marL="0" marR="0" marT="69215" marB="0">
                    <a:lnL w="12700">
                      <a:solidFill>
                        <a:srgbClr val="A6A6A6"/>
                      </a:solidFill>
                      <a:prstDash val="solid"/>
                    </a:lnL>
                    <a:lnT w="12700">
                      <a:solidFill>
                        <a:srgbClr val="A6A6A6"/>
                      </a:solidFill>
                      <a:prstDash val="solid"/>
                    </a:lnT>
                    <a:lnB w="12700">
                      <a:solidFill>
                        <a:srgbClr val="A6A6A6"/>
                      </a:solidFill>
                      <a:prstDash val="solid"/>
                    </a:lnB>
                  </a:tcPr>
                </a:tc>
                <a:extLst>
                  <a:ext uri="{0D108BD9-81ED-4DB2-BD59-A6C34878D82A}">
                    <a16:rowId xmlns:a16="http://schemas.microsoft.com/office/drawing/2014/main" val="10003"/>
                  </a:ext>
                </a:extLst>
              </a:tr>
              <a:tr h="278130">
                <a:tc>
                  <a:txBody>
                    <a:bodyPr/>
                    <a:lstStyle/>
                    <a:p>
                      <a:pPr>
                        <a:lnSpc>
                          <a:spcPct val="100000"/>
                        </a:lnSpc>
                        <a:spcBef>
                          <a:spcPts val="550"/>
                        </a:spcBef>
                      </a:pPr>
                      <a:r>
                        <a:rPr sz="900" dirty="0">
                          <a:latin typeface="Arial"/>
                          <a:cs typeface="Arial"/>
                        </a:rPr>
                        <a:t>Operating</a:t>
                      </a:r>
                      <a:r>
                        <a:rPr sz="900" spc="-50" dirty="0">
                          <a:latin typeface="Arial"/>
                          <a:cs typeface="Arial"/>
                        </a:rPr>
                        <a:t> </a:t>
                      </a:r>
                      <a:r>
                        <a:rPr sz="900" dirty="0">
                          <a:latin typeface="Arial"/>
                          <a:cs typeface="Arial"/>
                        </a:rPr>
                        <a:t>Current</a:t>
                      </a:r>
                    </a:p>
                  </a:txBody>
                  <a:tcPr marL="0" marR="0" marT="69850" marB="0">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marR="635" algn="ctr">
                        <a:lnSpc>
                          <a:spcPct val="100000"/>
                        </a:lnSpc>
                        <a:spcBef>
                          <a:spcPts val="655"/>
                        </a:spcBef>
                      </a:pPr>
                      <a:r>
                        <a:rPr sz="1350" spc="-7" baseline="6172" dirty="0">
                          <a:latin typeface="Arial"/>
                          <a:cs typeface="Arial"/>
                        </a:rPr>
                        <a:t>I</a:t>
                      </a:r>
                      <a:r>
                        <a:rPr sz="600" spc="-5" dirty="0">
                          <a:latin typeface="Arial"/>
                          <a:cs typeface="Arial"/>
                        </a:rPr>
                        <a:t>DDD</a:t>
                      </a:r>
                      <a:endParaRPr sz="600" dirty="0">
                        <a:latin typeface="Arial"/>
                        <a:cs typeface="Arial"/>
                      </a:endParaRPr>
                    </a:p>
                  </a:txBody>
                  <a:tcPr marL="0" marR="0" marT="83185"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a:lnSpc>
                          <a:spcPct val="100000"/>
                        </a:lnSpc>
                      </a:pPr>
                      <a:endParaRPr sz="800" dirty="0">
                        <a:latin typeface="Times New Roman"/>
                        <a:cs typeface="Times New Roman"/>
                      </a:endParaRPr>
                    </a:p>
                  </a:txBody>
                  <a:tcPr marL="0" marR="0" marT="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algn="ctr">
                        <a:lnSpc>
                          <a:spcPct val="100000"/>
                        </a:lnSpc>
                        <a:spcBef>
                          <a:spcPts val="550"/>
                        </a:spcBef>
                      </a:pPr>
                      <a:r>
                        <a:rPr sz="900" dirty="0">
                          <a:latin typeface="Arial"/>
                          <a:cs typeface="Arial"/>
                        </a:rPr>
                        <a:t>-</a:t>
                      </a:r>
                    </a:p>
                  </a:txBody>
                  <a:tcPr marL="0" marR="0" marT="6985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algn="ctr">
                        <a:lnSpc>
                          <a:spcPct val="100000"/>
                        </a:lnSpc>
                        <a:spcBef>
                          <a:spcPts val="550"/>
                        </a:spcBef>
                      </a:pPr>
                      <a:r>
                        <a:rPr sz="900" dirty="0">
                          <a:latin typeface="Arial"/>
                          <a:cs typeface="Arial"/>
                        </a:rPr>
                        <a:t>-</a:t>
                      </a:r>
                    </a:p>
                  </a:txBody>
                  <a:tcPr marL="0" marR="0" marT="6985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algn="ctr">
                        <a:lnSpc>
                          <a:spcPct val="100000"/>
                        </a:lnSpc>
                        <a:spcBef>
                          <a:spcPts val="550"/>
                        </a:spcBef>
                      </a:pPr>
                      <a:r>
                        <a:rPr sz="900" dirty="0">
                          <a:latin typeface="Arial"/>
                          <a:cs typeface="Arial"/>
                        </a:rPr>
                        <a:t>-</a:t>
                      </a:r>
                    </a:p>
                  </a:txBody>
                  <a:tcPr marL="0" marR="0" marT="6985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algn="ctr">
                        <a:lnSpc>
                          <a:spcPct val="100000"/>
                        </a:lnSpc>
                        <a:spcBef>
                          <a:spcPts val="550"/>
                        </a:spcBef>
                      </a:pPr>
                      <a:r>
                        <a:rPr sz="900" spc="5" dirty="0">
                          <a:latin typeface="Arial"/>
                          <a:cs typeface="Arial"/>
                        </a:rPr>
                        <a:t>mA</a:t>
                      </a:r>
                      <a:endParaRPr sz="900" dirty="0">
                        <a:latin typeface="Arial"/>
                        <a:cs typeface="Arial"/>
                      </a:endParaRPr>
                    </a:p>
                  </a:txBody>
                  <a:tcPr marL="0" marR="0" marT="69850" marB="0">
                    <a:lnL w="12700">
                      <a:solidFill>
                        <a:srgbClr val="A6A6A6"/>
                      </a:solidFill>
                      <a:prstDash val="solid"/>
                    </a:lnL>
                    <a:lnT w="12700">
                      <a:solidFill>
                        <a:srgbClr val="A6A6A6"/>
                      </a:solidFill>
                      <a:prstDash val="solid"/>
                    </a:lnT>
                    <a:lnB w="12700">
                      <a:solidFill>
                        <a:srgbClr val="A6A6A6"/>
                      </a:solidFill>
                      <a:prstDash val="solid"/>
                    </a:lnB>
                  </a:tcPr>
                </a:tc>
                <a:extLst>
                  <a:ext uri="{0D108BD9-81ED-4DB2-BD59-A6C34878D82A}">
                    <a16:rowId xmlns:a16="http://schemas.microsoft.com/office/drawing/2014/main" val="10004"/>
                  </a:ext>
                </a:extLst>
              </a:tr>
              <a:tr h="278130">
                <a:tc>
                  <a:txBody>
                    <a:bodyPr/>
                    <a:lstStyle/>
                    <a:p>
                      <a:pPr>
                        <a:lnSpc>
                          <a:spcPct val="100000"/>
                        </a:lnSpc>
                        <a:spcBef>
                          <a:spcPts val="550"/>
                        </a:spcBef>
                      </a:pPr>
                      <a:r>
                        <a:rPr sz="900" dirty="0">
                          <a:latin typeface="Arial"/>
                          <a:cs typeface="Arial"/>
                        </a:rPr>
                        <a:t>Operating</a:t>
                      </a:r>
                      <a:r>
                        <a:rPr sz="900" spc="-50" dirty="0">
                          <a:latin typeface="Arial"/>
                          <a:cs typeface="Arial"/>
                        </a:rPr>
                        <a:t> </a:t>
                      </a:r>
                      <a:r>
                        <a:rPr sz="900" dirty="0">
                          <a:latin typeface="Arial"/>
                          <a:cs typeface="Arial"/>
                        </a:rPr>
                        <a:t>Current</a:t>
                      </a:r>
                    </a:p>
                  </a:txBody>
                  <a:tcPr marL="0" marR="0" marT="69850" marB="0">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marR="635" algn="ctr">
                        <a:lnSpc>
                          <a:spcPct val="100000"/>
                        </a:lnSpc>
                        <a:spcBef>
                          <a:spcPts val="655"/>
                        </a:spcBef>
                      </a:pPr>
                      <a:r>
                        <a:rPr sz="1350" spc="-7" baseline="6172" dirty="0">
                          <a:latin typeface="Arial"/>
                          <a:cs typeface="Arial"/>
                        </a:rPr>
                        <a:t>I</a:t>
                      </a:r>
                      <a:r>
                        <a:rPr sz="600" spc="-5" dirty="0">
                          <a:latin typeface="Arial"/>
                          <a:cs typeface="Arial"/>
                        </a:rPr>
                        <a:t>DDA</a:t>
                      </a:r>
                      <a:endParaRPr sz="600" dirty="0">
                        <a:latin typeface="Arial"/>
                        <a:cs typeface="Arial"/>
                      </a:endParaRPr>
                    </a:p>
                  </a:txBody>
                  <a:tcPr marL="0" marR="0" marT="83185"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a:lnSpc>
                          <a:spcPct val="100000"/>
                        </a:lnSpc>
                      </a:pPr>
                      <a:endParaRPr sz="800" dirty="0">
                        <a:latin typeface="Times New Roman"/>
                        <a:cs typeface="Times New Roman"/>
                      </a:endParaRPr>
                    </a:p>
                  </a:txBody>
                  <a:tcPr marL="0" marR="0" marT="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algn="ctr">
                        <a:lnSpc>
                          <a:spcPct val="100000"/>
                        </a:lnSpc>
                        <a:spcBef>
                          <a:spcPts val="550"/>
                        </a:spcBef>
                      </a:pPr>
                      <a:r>
                        <a:rPr sz="900" dirty="0">
                          <a:latin typeface="Arial"/>
                          <a:cs typeface="Arial"/>
                        </a:rPr>
                        <a:t>-</a:t>
                      </a:r>
                    </a:p>
                  </a:txBody>
                  <a:tcPr marL="0" marR="0" marT="6985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algn="ctr">
                        <a:lnSpc>
                          <a:spcPct val="100000"/>
                        </a:lnSpc>
                        <a:spcBef>
                          <a:spcPts val="550"/>
                        </a:spcBef>
                      </a:pPr>
                      <a:r>
                        <a:rPr sz="900" dirty="0">
                          <a:latin typeface="Arial"/>
                          <a:cs typeface="Arial"/>
                        </a:rPr>
                        <a:t>7.2</a:t>
                      </a:r>
                    </a:p>
                  </a:txBody>
                  <a:tcPr marL="0" marR="0" marT="6985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algn="ctr">
                        <a:lnSpc>
                          <a:spcPct val="100000"/>
                        </a:lnSpc>
                        <a:spcBef>
                          <a:spcPts val="550"/>
                        </a:spcBef>
                      </a:pPr>
                      <a:r>
                        <a:rPr sz="900" dirty="0">
                          <a:latin typeface="Arial"/>
                          <a:cs typeface="Arial"/>
                        </a:rPr>
                        <a:t>-</a:t>
                      </a:r>
                    </a:p>
                  </a:txBody>
                  <a:tcPr marL="0" marR="0" marT="6985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algn="ctr">
                        <a:lnSpc>
                          <a:spcPct val="100000"/>
                        </a:lnSpc>
                        <a:spcBef>
                          <a:spcPts val="550"/>
                        </a:spcBef>
                      </a:pPr>
                      <a:r>
                        <a:rPr sz="900" spc="5" dirty="0">
                          <a:latin typeface="Arial"/>
                          <a:cs typeface="Arial"/>
                        </a:rPr>
                        <a:t>mA</a:t>
                      </a:r>
                      <a:endParaRPr sz="900" dirty="0">
                        <a:latin typeface="Arial"/>
                        <a:cs typeface="Arial"/>
                      </a:endParaRPr>
                    </a:p>
                  </a:txBody>
                  <a:tcPr marL="0" marR="0" marT="69850" marB="0">
                    <a:lnL w="12700">
                      <a:solidFill>
                        <a:srgbClr val="A6A6A6"/>
                      </a:solidFill>
                      <a:prstDash val="solid"/>
                    </a:lnL>
                    <a:lnT w="12700">
                      <a:solidFill>
                        <a:srgbClr val="A6A6A6"/>
                      </a:solidFill>
                      <a:prstDash val="solid"/>
                    </a:lnT>
                    <a:lnB w="12700">
                      <a:solidFill>
                        <a:srgbClr val="A6A6A6"/>
                      </a:solidFill>
                      <a:prstDash val="solid"/>
                    </a:lnB>
                  </a:tcPr>
                </a:tc>
                <a:extLst>
                  <a:ext uri="{0D108BD9-81ED-4DB2-BD59-A6C34878D82A}">
                    <a16:rowId xmlns:a16="http://schemas.microsoft.com/office/drawing/2014/main" val="10005"/>
                  </a:ext>
                </a:extLst>
              </a:tr>
              <a:tr h="278130">
                <a:tc>
                  <a:txBody>
                    <a:bodyPr/>
                    <a:lstStyle/>
                    <a:p>
                      <a:pPr>
                        <a:lnSpc>
                          <a:spcPct val="100000"/>
                        </a:lnSpc>
                        <a:spcBef>
                          <a:spcPts val="550"/>
                        </a:spcBef>
                      </a:pPr>
                      <a:r>
                        <a:rPr sz="900" dirty="0">
                          <a:latin typeface="Arial"/>
                          <a:cs typeface="Arial"/>
                        </a:rPr>
                        <a:t>Quiescent</a:t>
                      </a:r>
                      <a:r>
                        <a:rPr sz="900" spc="-60" dirty="0">
                          <a:latin typeface="Arial"/>
                          <a:cs typeface="Arial"/>
                        </a:rPr>
                        <a:t> </a:t>
                      </a:r>
                      <a:r>
                        <a:rPr sz="900" dirty="0">
                          <a:latin typeface="Arial"/>
                          <a:cs typeface="Arial"/>
                        </a:rPr>
                        <a:t>current</a:t>
                      </a:r>
                    </a:p>
                  </a:txBody>
                  <a:tcPr marL="0" marR="0" marT="69850" marB="0">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marR="114935" algn="r">
                        <a:lnSpc>
                          <a:spcPct val="100000"/>
                        </a:lnSpc>
                        <a:spcBef>
                          <a:spcPts val="655"/>
                        </a:spcBef>
                      </a:pPr>
                      <a:r>
                        <a:rPr sz="1350" baseline="6172" dirty="0">
                          <a:latin typeface="Arial"/>
                          <a:cs typeface="Arial"/>
                        </a:rPr>
                        <a:t>I</a:t>
                      </a:r>
                      <a:r>
                        <a:rPr sz="600" spc="-5" dirty="0">
                          <a:latin typeface="Arial"/>
                          <a:cs typeface="Arial"/>
                        </a:rPr>
                        <a:t>DDD</a:t>
                      </a:r>
                      <a:r>
                        <a:rPr sz="1350" baseline="6172" dirty="0">
                          <a:latin typeface="Arial"/>
                          <a:cs typeface="Arial"/>
                        </a:rPr>
                        <a:t>,</a:t>
                      </a:r>
                      <a:r>
                        <a:rPr sz="1350" spc="-104" baseline="6172" dirty="0">
                          <a:latin typeface="Arial"/>
                          <a:cs typeface="Arial"/>
                        </a:rPr>
                        <a:t> </a:t>
                      </a:r>
                      <a:r>
                        <a:rPr sz="1350" baseline="6172" dirty="0">
                          <a:latin typeface="Arial"/>
                          <a:cs typeface="Arial"/>
                        </a:rPr>
                        <a:t>I</a:t>
                      </a:r>
                      <a:r>
                        <a:rPr sz="600" spc="-5" dirty="0">
                          <a:latin typeface="Arial"/>
                          <a:cs typeface="Arial"/>
                        </a:rPr>
                        <a:t>DDA</a:t>
                      </a:r>
                      <a:endParaRPr sz="600" dirty="0">
                        <a:latin typeface="Arial"/>
                        <a:cs typeface="Arial"/>
                      </a:endParaRPr>
                    </a:p>
                  </a:txBody>
                  <a:tcPr marL="0" marR="0" marT="83185"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a:lnSpc>
                          <a:spcPct val="100000"/>
                        </a:lnSpc>
                      </a:pPr>
                      <a:endParaRPr sz="800" dirty="0">
                        <a:latin typeface="Times New Roman"/>
                        <a:cs typeface="Times New Roman"/>
                      </a:endParaRPr>
                    </a:p>
                  </a:txBody>
                  <a:tcPr marL="0" marR="0" marT="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algn="ctr">
                        <a:lnSpc>
                          <a:spcPct val="100000"/>
                        </a:lnSpc>
                        <a:spcBef>
                          <a:spcPts val="550"/>
                        </a:spcBef>
                      </a:pPr>
                      <a:r>
                        <a:rPr sz="900" dirty="0">
                          <a:latin typeface="Arial"/>
                          <a:cs typeface="Arial"/>
                        </a:rPr>
                        <a:t>-</a:t>
                      </a:r>
                    </a:p>
                  </a:txBody>
                  <a:tcPr marL="0" marR="0" marT="6985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algn="ctr">
                        <a:lnSpc>
                          <a:spcPct val="100000"/>
                        </a:lnSpc>
                        <a:spcBef>
                          <a:spcPts val="550"/>
                        </a:spcBef>
                      </a:pPr>
                      <a:r>
                        <a:rPr sz="900" dirty="0">
                          <a:latin typeface="Arial"/>
                          <a:cs typeface="Arial"/>
                        </a:rPr>
                        <a:t>1.9</a:t>
                      </a:r>
                    </a:p>
                  </a:txBody>
                  <a:tcPr marL="0" marR="0" marT="6985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algn="ctr">
                        <a:lnSpc>
                          <a:spcPct val="100000"/>
                        </a:lnSpc>
                        <a:spcBef>
                          <a:spcPts val="550"/>
                        </a:spcBef>
                      </a:pPr>
                      <a:r>
                        <a:rPr sz="900" dirty="0">
                          <a:latin typeface="Arial"/>
                          <a:cs typeface="Arial"/>
                        </a:rPr>
                        <a:t>-</a:t>
                      </a:r>
                    </a:p>
                  </a:txBody>
                  <a:tcPr marL="0" marR="0" marT="6985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algn="ctr">
                        <a:lnSpc>
                          <a:spcPct val="100000"/>
                        </a:lnSpc>
                        <a:spcBef>
                          <a:spcPts val="550"/>
                        </a:spcBef>
                      </a:pPr>
                      <a:r>
                        <a:rPr sz="900" spc="5" dirty="0">
                          <a:latin typeface="Arial"/>
                          <a:cs typeface="Arial"/>
                        </a:rPr>
                        <a:t>mA</a:t>
                      </a:r>
                      <a:endParaRPr sz="900" dirty="0">
                        <a:latin typeface="Arial"/>
                        <a:cs typeface="Arial"/>
                      </a:endParaRPr>
                    </a:p>
                  </a:txBody>
                  <a:tcPr marL="0" marR="0" marT="69850" marB="0">
                    <a:lnL w="12700">
                      <a:solidFill>
                        <a:srgbClr val="A6A6A6"/>
                      </a:solidFill>
                      <a:prstDash val="solid"/>
                    </a:lnL>
                    <a:lnT w="12700">
                      <a:solidFill>
                        <a:srgbClr val="A6A6A6"/>
                      </a:solidFill>
                      <a:prstDash val="solid"/>
                    </a:lnT>
                    <a:lnB w="12700">
                      <a:solidFill>
                        <a:srgbClr val="A6A6A6"/>
                      </a:solidFill>
                      <a:prstDash val="solid"/>
                    </a:lnB>
                  </a:tcPr>
                </a:tc>
                <a:extLst>
                  <a:ext uri="{0D108BD9-81ED-4DB2-BD59-A6C34878D82A}">
                    <a16:rowId xmlns:a16="http://schemas.microsoft.com/office/drawing/2014/main" val="10006"/>
                  </a:ext>
                </a:extLst>
              </a:tr>
              <a:tr h="215900">
                <a:tc gridSpan="7">
                  <a:txBody>
                    <a:bodyPr/>
                    <a:lstStyle/>
                    <a:p>
                      <a:pPr>
                        <a:lnSpc>
                          <a:spcPts val="1025"/>
                        </a:lnSpc>
                        <a:spcBef>
                          <a:spcPts val="575"/>
                        </a:spcBef>
                      </a:pPr>
                      <a:r>
                        <a:rPr sz="900" dirty="0">
                          <a:latin typeface="Arial"/>
                          <a:cs typeface="Arial"/>
                        </a:rPr>
                        <a:t>Input</a:t>
                      </a:r>
                    </a:p>
                  </a:txBody>
                  <a:tcPr marL="0" marR="0" marT="73025" marB="0">
                    <a:lnT w="12700">
                      <a:solidFill>
                        <a:srgbClr val="A6A6A6"/>
                      </a:solidFill>
                      <a:prstDash val="solid"/>
                    </a:lnT>
                    <a:lnB w="12700">
                      <a:solidFill>
                        <a:srgbClr val="A6A6A6"/>
                      </a:solidFill>
                      <a:prstDash val="solid"/>
                    </a:lnB>
                  </a:tcPr>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7"/>
                  </a:ext>
                </a:extLst>
              </a:tr>
              <a:tr h="278130">
                <a:tc rowSpan="2">
                  <a:txBody>
                    <a:bodyPr/>
                    <a:lstStyle/>
                    <a:p>
                      <a:pPr>
                        <a:lnSpc>
                          <a:spcPct val="100000"/>
                        </a:lnSpc>
                        <a:spcBef>
                          <a:spcPts val="35"/>
                        </a:spcBef>
                      </a:pPr>
                      <a:endParaRPr sz="1400" dirty="0">
                        <a:latin typeface="Times New Roman"/>
                        <a:cs typeface="Times New Roman"/>
                      </a:endParaRPr>
                    </a:p>
                    <a:p>
                      <a:pPr>
                        <a:lnSpc>
                          <a:spcPct val="100000"/>
                        </a:lnSpc>
                      </a:pPr>
                      <a:r>
                        <a:rPr sz="900" dirty="0">
                          <a:latin typeface="Arial"/>
                          <a:cs typeface="Arial"/>
                        </a:rPr>
                        <a:t>nSCS</a:t>
                      </a:r>
                      <a:r>
                        <a:rPr sz="900" spc="-25" dirty="0">
                          <a:latin typeface="Arial"/>
                          <a:cs typeface="Arial"/>
                        </a:rPr>
                        <a:t> </a:t>
                      </a:r>
                      <a:r>
                        <a:rPr sz="900" dirty="0">
                          <a:latin typeface="Arial"/>
                          <a:cs typeface="Arial"/>
                        </a:rPr>
                        <a:t>Input</a:t>
                      </a:r>
                      <a:r>
                        <a:rPr sz="900" spc="-45" dirty="0">
                          <a:latin typeface="Arial"/>
                          <a:cs typeface="Arial"/>
                        </a:rPr>
                        <a:t> </a:t>
                      </a:r>
                      <a:r>
                        <a:rPr sz="900" dirty="0">
                          <a:latin typeface="Arial"/>
                          <a:cs typeface="Arial"/>
                        </a:rPr>
                        <a:t>Voltage</a:t>
                      </a:r>
                    </a:p>
                  </a:txBody>
                  <a:tcPr marL="0" marR="0" marT="4445" marB="0">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marL="198755">
                        <a:lnSpc>
                          <a:spcPct val="100000"/>
                        </a:lnSpc>
                        <a:spcBef>
                          <a:spcPts val="655"/>
                        </a:spcBef>
                      </a:pPr>
                      <a:r>
                        <a:rPr sz="1350" spc="-7" baseline="6172" dirty="0">
                          <a:latin typeface="Arial"/>
                          <a:cs typeface="Arial"/>
                        </a:rPr>
                        <a:t>V</a:t>
                      </a:r>
                      <a:r>
                        <a:rPr sz="600" spc="-5" dirty="0">
                          <a:latin typeface="Arial"/>
                          <a:cs typeface="Arial"/>
                        </a:rPr>
                        <a:t>SCSL</a:t>
                      </a:r>
                      <a:endParaRPr sz="600" dirty="0">
                        <a:latin typeface="Arial"/>
                        <a:cs typeface="Arial"/>
                      </a:endParaRPr>
                    </a:p>
                  </a:txBody>
                  <a:tcPr marL="0" marR="0" marT="83185"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marR="357505" algn="r">
                        <a:lnSpc>
                          <a:spcPct val="100000"/>
                        </a:lnSpc>
                        <a:spcBef>
                          <a:spcPts val="550"/>
                        </a:spcBef>
                      </a:pPr>
                      <a:r>
                        <a:rPr sz="900" dirty="0">
                          <a:latin typeface="Arial"/>
                          <a:cs typeface="Arial"/>
                        </a:rPr>
                        <a:t>Chip</a:t>
                      </a:r>
                      <a:r>
                        <a:rPr sz="900" spc="-25" dirty="0">
                          <a:latin typeface="Arial"/>
                          <a:cs typeface="Arial"/>
                        </a:rPr>
                        <a:t> </a:t>
                      </a:r>
                      <a:r>
                        <a:rPr sz="900" dirty="0">
                          <a:latin typeface="Arial"/>
                          <a:cs typeface="Arial"/>
                        </a:rPr>
                        <a:t>Select,</a:t>
                      </a:r>
                      <a:r>
                        <a:rPr sz="900" spc="-35" dirty="0">
                          <a:latin typeface="Arial"/>
                          <a:cs typeface="Arial"/>
                        </a:rPr>
                        <a:t> </a:t>
                      </a:r>
                      <a:r>
                        <a:rPr sz="900" spc="-5" dirty="0">
                          <a:latin typeface="Arial"/>
                          <a:cs typeface="Arial"/>
                        </a:rPr>
                        <a:t>low</a:t>
                      </a:r>
                      <a:r>
                        <a:rPr sz="900" spc="-25" dirty="0">
                          <a:latin typeface="Arial"/>
                          <a:cs typeface="Arial"/>
                        </a:rPr>
                        <a:t> </a:t>
                      </a:r>
                      <a:r>
                        <a:rPr sz="900" spc="-5" dirty="0">
                          <a:latin typeface="Arial"/>
                          <a:cs typeface="Arial"/>
                        </a:rPr>
                        <a:t>level</a:t>
                      </a:r>
                      <a:endParaRPr sz="900" dirty="0">
                        <a:latin typeface="Arial"/>
                        <a:cs typeface="Arial"/>
                      </a:endParaRPr>
                    </a:p>
                  </a:txBody>
                  <a:tcPr marL="0" marR="0" marT="6985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algn="ctr">
                        <a:lnSpc>
                          <a:spcPct val="100000"/>
                        </a:lnSpc>
                        <a:spcBef>
                          <a:spcPts val="550"/>
                        </a:spcBef>
                      </a:pPr>
                      <a:r>
                        <a:rPr sz="900" dirty="0">
                          <a:latin typeface="Arial"/>
                          <a:cs typeface="Arial"/>
                        </a:rPr>
                        <a:t>-</a:t>
                      </a:r>
                    </a:p>
                  </a:txBody>
                  <a:tcPr marL="0" marR="0" marT="6985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algn="ctr">
                        <a:lnSpc>
                          <a:spcPct val="100000"/>
                        </a:lnSpc>
                        <a:spcBef>
                          <a:spcPts val="550"/>
                        </a:spcBef>
                      </a:pPr>
                      <a:r>
                        <a:rPr sz="900" dirty="0">
                          <a:solidFill>
                            <a:srgbClr val="0066FF"/>
                          </a:solidFill>
                          <a:latin typeface="Arial"/>
                          <a:cs typeface="Arial"/>
                        </a:rPr>
                        <a:t>-</a:t>
                      </a:r>
                      <a:endParaRPr sz="900" dirty="0">
                        <a:latin typeface="Arial"/>
                        <a:cs typeface="Arial"/>
                      </a:endParaRPr>
                    </a:p>
                  </a:txBody>
                  <a:tcPr marL="0" marR="0" marT="6985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algn="ctr">
                        <a:lnSpc>
                          <a:spcPct val="100000"/>
                        </a:lnSpc>
                        <a:spcBef>
                          <a:spcPts val="550"/>
                        </a:spcBef>
                      </a:pPr>
                      <a:r>
                        <a:rPr sz="900" dirty="0">
                          <a:latin typeface="Arial"/>
                          <a:cs typeface="Arial"/>
                        </a:rPr>
                        <a:t>0.8</a:t>
                      </a:r>
                    </a:p>
                  </a:txBody>
                  <a:tcPr marL="0" marR="0" marT="6985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marR="635" algn="ctr">
                        <a:lnSpc>
                          <a:spcPct val="100000"/>
                        </a:lnSpc>
                        <a:spcBef>
                          <a:spcPts val="550"/>
                        </a:spcBef>
                      </a:pPr>
                      <a:r>
                        <a:rPr sz="900" dirty="0">
                          <a:latin typeface="Arial"/>
                          <a:cs typeface="Arial"/>
                        </a:rPr>
                        <a:t>V</a:t>
                      </a:r>
                    </a:p>
                  </a:txBody>
                  <a:tcPr marL="0" marR="0" marT="69850" marB="0">
                    <a:lnL w="12700">
                      <a:solidFill>
                        <a:srgbClr val="A6A6A6"/>
                      </a:solidFill>
                      <a:prstDash val="solid"/>
                    </a:lnL>
                    <a:lnT w="12700">
                      <a:solidFill>
                        <a:srgbClr val="A6A6A6"/>
                      </a:solidFill>
                      <a:prstDash val="solid"/>
                    </a:lnT>
                    <a:lnB w="12700">
                      <a:solidFill>
                        <a:srgbClr val="A6A6A6"/>
                      </a:solidFill>
                      <a:prstDash val="solid"/>
                    </a:lnB>
                  </a:tcPr>
                </a:tc>
                <a:extLst>
                  <a:ext uri="{0D108BD9-81ED-4DB2-BD59-A6C34878D82A}">
                    <a16:rowId xmlns:a16="http://schemas.microsoft.com/office/drawing/2014/main" val="10008"/>
                  </a:ext>
                </a:extLst>
              </a:tr>
              <a:tr h="278130">
                <a:tc vMerge="1">
                  <a:txBody>
                    <a:bodyPr/>
                    <a:lstStyle/>
                    <a:p>
                      <a:endParaRPr/>
                    </a:p>
                  </a:txBody>
                  <a:tcPr marL="0" marR="0" marT="4445" marB="0">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marL="193040">
                        <a:lnSpc>
                          <a:spcPct val="100000"/>
                        </a:lnSpc>
                        <a:spcBef>
                          <a:spcPts val="655"/>
                        </a:spcBef>
                      </a:pPr>
                      <a:r>
                        <a:rPr sz="1350" spc="-7" baseline="6172" dirty="0">
                          <a:latin typeface="Arial"/>
                          <a:cs typeface="Arial"/>
                        </a:rPr>
                        <a:t>V</a:t>
                      </a:r>
                      <a:r>
                        <a:rPr sz="600" spc="-5" dirty="0">
                          <a:latin typeface="Arial"/>
                          <a:cs typeface="Arial"/>
                        </a:rPr>
                        <a:t>SCSH</a:t>
                      </a:r>
                      <a:endParaRPr sz="600" dirty="0">
                        <a:latin typeface="Arial"/>
                        <a:cs typeface="Arial"/>
                      </a:endParaRPr>
                    </a:p>
                  </a:txBody>
                  <a:tcPr marL="0" marR="0" marT="83185"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marR="335280" algn="r">
                        <a:lnSpc>
                          <a:spcPct val="100000"/>
                        </a:lnSpc>
                        <a:spcBef>
                          <a:spcPts val="550"/>
                        </a:spcBef>
                      </a:pPr>
                      <a:r>
                        <a:rPr sz="900" dirty="0">
                          <a:latin typeface="Arial"/>
                          <a:cs typeface="Arial"/>
                        </a:rPr>
                        <a:t>Chip</a:t>
                      </a:r>
                      <a:r>
                        <a:rPr sz="900" spc="-25" dirty="0">
                          <a:latin typeface="Arial"/>
                          <a:cs typeface="Arial"/>
                        </a:rPr>
                        <a:t> </a:t>
                      </a:r>
                      <a:r>
                        <a:rPr sz="900" dirty="0">
                          <a:latin typeface="Arial"/>
                          <a:cs typeface="Arial"/>
                        </a:rPr>
                        <a:t>Select,</a:t>
                      </a:r>
                      <a:r>
                        <a:rPr sz="900" spc="-35" dirty="0">
                          <a:latin typeface="Arial"/>
                          <a:cs typeface="Arial"/>
                        </a:rPr>
                        <a:t> </a:t>
                      </a:r>
                      <a:r>
                        <a:rPr sz="900" spc="-5" dirty="0">
                          <a:latin typeface="Arial"/>
                          <a:cs typeface="Arial"/>
                        </a:rPr>
                        <a:t>high</a:t>
                      </a:r>
                      <a:r>
                        <a:rPr sz="900" spc="-30" dirty="0">
                          <a:latin typeface="Arial"/>
                          <a:cs typeface="Arial"/>
                        </a:rPr>
                        <a:t> </a:t>
                      </a:r>
                      <a:r>
                        <a:rPr sz="900" spc="-5" dirty="0">
                          <a:latin typeface="Arial"/>
                          <a:cs typeface="Arial"/>
                        </a:rPr>
                        <a:t>level</a:t>
                      </a:r>
                      <a:endParaRPr sz="900" dirty="0">
                        <a:latin typeface="Arial"/>
                        <a:cs typeface="Arial"/>
                      </a:endParaRPr>
                    </a:p>
                  </a:txBody>
                  <a:tcPr marL="0" marR="0" marT="6985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algn="ctr">
                        <a:lnSpc>
                          <a:spcPct val="100000"/>
                        </a:lnSpc>
                        <a:spcBef>
                          <a:spcPts val="550"/>
                        </a:spcBef>
                      </a:pPr>
                      <a:r>
                        <a:rPr sz="900" dirty="0">
                          <a:latin typeface="Arial"/>
                          <a:cs typeface="Arial"/>
                        </a:rPr>
                        <a:t>2.0</a:t>
                      </a:r>
                    </a:p>
                  </a:txBody>
                  <a:tcPr marL="0" marR="0" marT="6985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algn="ctr">
                        <a:lnSpc>
                          <a:spcPct val="100000"/>
                        </a:lnSpc>
                        <a:spcBef>
                          <a:spcPts val="550"/>
                        </a:spcBef>
                      </a:pPr>
                      <a:r>
                        <a:rPr sz="900" dirty="0">
                          <a:solidFill>
                            <a:srgbClr val="0066FF"/>
                          </a:solidFill>
                          <a:latin typeface="Arial"/>
                          <a:cs typeface="Arial"/>
                        </a:rPr>
                        <a:t>-</a:t>
                      </a:r>
                      <a:endParaRPr sz="900" dirty="0">
                        <a:latin typeface="Arial"/>
                        <a:cs typeface="Arial"/>
                      </a:endParaRPr>
                    </a:p>
                  </a:txBody>
                  <a:tcPr marL="0" marR="0" marT="6985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algn="ctr">
                        <a:lnSpc>
                          <a:spcPct val="100000"/>
                        </a:lnSpc>
                        <a:spcBef>
                          <a:spcPts val="655"/>
                        </a:spcBef>
                      </a:pPr>
                      <a:r>
                        <a:rPr sz="1350" spc="-15" baseline="6172" dirty="0">
                          <a:latin typeface="Arial"/>
                          <a:cs typeface="Arial"/>
                        </a:rPr>
                        <a:t>V</a:t>
                      </a:r>
                      <a:r>
                        <a:rPr sz="600" spc="-10" dirty="0">
                          <a:latin typeface="Arial"/>
                          <a:cs typeface="Arial"/>
                        </a:rPr>
                        <a:t>DDD</a:t>
                      </a:r>
                      <a:endParaRPr sz="600" dirty="0">
                        <a:latin typeface="Arial"/>
                        <a:cs typeface="Arial"/>
                      </a:endParaRPr>
                    </a:p>
                  </a:txBody>
                  <a:tcPr marL="0" marR="0" marT="83185"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marR="635" algn="ctr">
                        <a:lnSpc>
                          <a:spcPct val="100000"/>
                        </a:lnSpc>
                        <a:spcBef>
                          <a:spcPts val="550"/>
                        </a:spcBef>
                      </a:pPr>
                      <a:r>
                        <a:rPr sz="900" dirty="0">
                          <a:latin typeface="Arial"/>
                          <a:cs typeface="Arial"/>
                        </a:rPr>
                        <a:t>V</a:t>
                      </a:r>
                    </a:p>
                  </a:txBody>
                  <a:tcPr marL="0" marR="0" marT="69850" marB="0">
                    <a:lnL w="12700">
                      <a:solidFill>
                        <a:srgbClr val="A6A6A6"/>
                      </a:solidFill>
                      <a:prstDash val="solid"/>
                    </a:lnL>
                    <a:lnT w="12700">
                      <a:solidFill>
                        <a:srgbClr val="A6A6A6"/>
                      </a:solidFill>
                      <a:prstDash val="solid"/>
                    </a:lnT>
                    <a:lnB w="12700">
                      <a:solidFill>
                        <a:srgbClr val="A6A6A6"/>
                      </a:solidFill>
                      <a:prstDash val="solid"/>
                    </a:lnB>
                  </a:tcPr>
                </a:tc>
                <a:extLst>
                  <a:ext uri="{0D108BD9-81ED-4DB2-BD59-A6C34878D82A}">
                    <a16:rowId xmlns:a16="http://schemas.microsoft.com/office/drawing/2014/main" val="10009"/>
                  </a:ext>
                </a:extLst>
              </a:tr>
              <a:tr h="278130">
                <a:tc rowSpan="2">
                  <a:txBody>
                    <a:bodyPr/>
                    <a:lstStyle/>
                    <a:p>
                      <a:pPr>
                        <a:lnSpc>
                          <a:spcPct val="100000"/>
                        </a:lnSpc>
                        <a:spcBef>
                          <a:spcPts val="35"/>
                        </a:spcBef>
                      </a:pPr>
                      <a:endParaRPr sz="1400" dirty="0">
                        <a:latin typeface="Times New Roman"/>
                        <a:cs typeface="Times New Roman"/>
                      </a:endParaRPr>
                    </a:p>
                    <a:p>
                      <a:pPr>
                        <a:lnSpc>
                          <a:spcPct val="100000"/>
                        </a:lnSpc>
                      </a:pPr>
                      <a:r>
                        <a:rPr sz="900" dirty="0">
                          <a:latin typeface="Arial"/>
                          <a:cs typeface="Arial"/>
                        </a:rPr>
                        <a:t>SCLK</a:t>
                      </a:r>
                      <a:r>
                        <a:rPr sz="900" spc="-30" dirty="0">
                          <a:latin typeface="Arial"/>
                          <a:cs typeface="Arial"/>
                        </a:rPr>
                        <a:t> </a:t>
                      </a:r>
                      <a:r>
                        <a:rPr sz="900" dirty="0">
                          <a:latin typeface="Arial"/>
                          <a:cs typeface="Arial"/>
                        </a:rPr>
                        <a:t>Input</a:t>
                      </a:r>
                      <a:r>
                        <a:rPr sz="900" spc="-45" dirty="0">
                          <a:latin typeface="Arial"/>
                          <a:cs typeface="Arial"/>
                        </a:rPr>
                        <a:t> </a:t>
                      </a:r>
                      <a:r>
                        <a:rPr sz="900" dirty="0">
                          <a:latin typeface="Arial"/>
                          <a:cs typeface="Arial"/>
                        </a:rPr>
                        <a:t>Voltage</a:t>
                      </a:r>
                    </a:p>
                  </a:txBody>
                  <a:tcPr marL="0" marR="0" marT="4445" marB="0">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marL="177165">
                        <a:lnSpc>
                          <a:spcPct val="100000"/>
                        </a:lnSpc>
                        <a:spcBef>
                          <a:spcPts val="655"/>
                        </a:spcBef>
                      </a:pPr>
                      <a:r>
                        <a:rPr sz="1350" spc="-7" baseline="6172" dirty="0">
                          <a:latin typeface="Arial"/>
                          <a:cs typeface="Arial"/>
                        </a:rPr>
                        <a:t>V</a:t>
                      </a:r>
                      <a:r>
                        <a:rPr sz="600" spc="-5" dirty="0">
                          <a:latin typeface="Arial"/>
                          <a:cs typeface="Arial"/>
                        </a:rPr>
                        <a:t>SCLKL</a:t>
                      </a:r>
                      <a:endParaRPr sz="600" dirty="0">
                        <a:latin typeface="Arial"/>
                        <a:cs typeface="Arial"/>
                      </a:endParaRPr>
                    </a:p>
                  </a:txBody>
                  <a:tcPr marL="0" marR="0" marT="83185"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marL="395605">
                        <a:lnSpc>
                          <a:spcPct val="100000"/>
                        </a:lnSpc>
                        <a:spcBef>
                          <a:spcPts val="550"/>
                        </a:spcBef>
                      </a:pPr>
                      <a:r>
                        <a:rPr sz="900" spc="-5" dirty="0">
                          <a:latin typeface="Arial"/>
                          <a:cs typeface="Arial"/>
                        </a:rPr>
                        <a:t>SPI</a:t>
                      </a:r>
                      <a:r>
                        <a:rPr sz="900" spc="-15" dirty="0">
                          <a:latin typeface="Arial"/>
                          <a:cs typeface="Arial"/>
                        </a:rPr>
                        <a:t> </a:t>
                      </a:r>
                      <a:r>
                        <a:rPr sz="900" dirty="0">
                          <a:latin typeface="Arial"/>
                          <a:cs typeface="Arial"/>
                        </a:rPr>
                        <a:t>Clock,</a:t>
                      </a:r>
                      <a:r>
                        <a:rPr sz="900" spc="-35" dirty="0">
                          <a:latin typeface="Arial"/>
                          <a:cs typeface="Arial"/>
                        </a:rPr>
                        <a:t> </a:t>
                      </a:r>
                      <a:r>
                        <a:rPr sz="900" dirty="0">
                          <a:latin typeface="Arial"/>
                          <a:cs typeface="Arial"/>
                        </a:rPr>
                        <a:t>low</a:t>
                      </a:r>
                      <a:r>
                        <a:rPr sz="900" spc="-30" dirty="0">
                          <a:latin typeface="Arial"/>
                          <a:cs typeface="Arial"/>
                        </a:rPr>
                        <a:t> </a:t>
                      </a:r>
                      <a:r>
                        <a:rPr sz="900" spc="-5" dirty="0">
                          <a:latin typeface="Arial"/>
                          <a:cs typeface="Arial"/>
                        </a:rPr>
                        <a:t>level</a:t>
                      </a:r>
                      <a:endParaRPr sz="900" dirty="0">
                        <a:latin typeface="Arial"/>
                        <a:cs typeface="Arial"/>
                      </a:endParaRPr>
                    </a:p>
                  </a:txBody>
                  <a:tcPr marL="0" marR="0" marT="6985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algn="ctr">
                        <a:lnSpc>
                          <a:spcPct val="100000"/>
                        </a:lnSpc>
                        <a:spcBef>
                          <a:spcPts val="550"/>
                        </a:spcBef>
                      </a:pPr>
                      <a:r>
                        <a:rPr sz="900" dirty="0">
                          <a:latin typeface="Arial"/>
                          <a:cs typeface="Arial"/>
                        </a:rPr>
                        <a:t>-</a:t>
                      </a:r>
                    </a:p>
                  </a:txBody>
                  <a:tcPr marL="0" marR="0" marT="6985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algn="ctr">
                        <a:lnSpc>
                          <a:spcPct val="100000"/>
                        </a:lnSpc>
                        <a:spcBef>
                          <a:spcPts val="550"/>
                        </a:spcBef>
                      </a:pPr>
                      <a:r>
                        <a:rPr sz="900" dirty="0">
                          <a:solidFill>
                            <a:srgbClr val="0066FF"/>
                          </a:solidFill>
                          <a:latin typeface="Arial"/>
                          <a:cs typeface="Arial"/>
                        </a:rPr>
                        <a:t>-</a:t>
                      </a:r>
                      <a:endParaRPr sz="900" dirty="0">
                        <a:latin typeface="Arial"/>
                        <a:cs typeface="Arial"/>
                      </a:endParaRPr>
                    </a:p>
                  </a:txBody>
                  <a:tcPr marL="0" marR="0" marT="6985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algn="ctr">
                        <a:lnSpc>
                          <a:spcPct val="100000"/>
                        </a:lnSpc>
                        <a:spcBef>
                          <a:spcPts val="550"/>
                        </a:spcBef>
                      </a:pPr>
                      <a:r>
                        <a:rPr sz="900" dirty="0">
                          <a:latin typeface="Arial"/>
                          <a:cs typeface="Arial"/>
                        </a:rPr>
                        <a:t>0.8</a:t>
                      </a:r>
                    </a:p>
                  </a:txBody>
                  <a:tcPr marL="0" marR="0" marT="6985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marR="635" algn="ctr">
                        <a:lnSpc>
                          <a:spcPct val="100000"/>
                        </a:lnSpc>
                        <a:spcBef>
                          <a:spcPts val="550"/>
                        </a:spcBef>
                      </a:pPr>
                      <a:r>
                        <a:rPr sz="900" dirty="0">
                          <a:latin typeface="Arial"/>
                          <a:cs typeface="Arial"/>
                        </a:rPr>
                        <a:t>V</a:t>
                      </a:r>
                    </a:p>
                  </a:txBody>
                  <a:tcPr marL="0" marR="0" marT="69850" marB="0">
                    <a:lnL w="12700">
                      <a:solidFill>
                        <a:srgbClr val="A6A6A6"/>
                      </a:solidFill>
                      <a:prstDash val="solid"/>
                    </a:lnL>
                    <a:lnT w="12700">
                      <a:solidFill>
                        <a:srgbClr val="A6A6A6"/>
                      </a:solidFill>
                      <a:prstDash val="solid"/>
                    </a:lnT>
                    <a:lnB w="12700">
                      <a:solidFill>
                        <a:srgbClr val="A6A6A6"/>
                      </a:solidFill>
                      <a:prstDash val="solid"/>
                    </a:lnB>
                  </a:tcPr>
                </a:tc>
                <a:extLst>
                  <a:ext uri="{0D108BD9-81ED-4DB2-BD59-A6C34878D82A}">
                    <a16:rowId xmlns:a16="http://schemas.microsoft.com/office/drawing/2014/main" val="10010"/>
                  </a:ext>
                </a:extLst>
              </a:tr>
              <a:tr h="278130">
                <a:tc vMerge="1">
                  <a:txBody>
                    <a:bodyPr/>
                    <a:lstStyle/>
                    <a:p>
                      <a:endParaRPr/>
                    </a:p>
                  </a:txBody>
                  <a:tcPr marL="0" marR="0" marT="4445" marB="0">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marL="171450">
                        <a:lnSpc>
                          <a:spcPct val="100000"/>
                        </a:lnSpc>
                        <a:spcBef>
                          <a:spcPts val="655"/>
                        </a:spcBef>
                      </a:pPr>
                      <a:r>
                        <a:rPr sz="1350" spc="-7" baseline="6172" dirty="0">
                          <a:latin typeface="Arial"/>
                          <a:cs typeface="Arial"/>
                        </a:rPr>
                        <a:t>V</a:t>
                      </a:r>
                      <a:r>
                        <a:rPr sz="600" spc="-5" dirty="0">
                          <a:latin typeface="Arial"/>
                          <a:cs typeface="Arial"/>
                        </a:rPr>
                        <a:t>SCLKH</a:t>
                      </a:r>
                      <a:endParaRPr sz="600" dirty="0">
                        <a:latin typeface="Arial"/>
                        <a:cs typeface="Arial"/>
                      </a:endParaRPr>
                    </a:p>
                  </a:txBody>
                  <a:tcPr marL="0" marR="0" marT="83185"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marR="375920" algn="r">
                        <a:lnSpc>
                          <a:spcPct val="100000"/>
                        </a:lnSpc>
                        <a:spcBef>
                          <a:spcPts val="545"/>
                        </a:spcBef>
                      </a:pPr>
                      <a:r>
                        <a:rPr sz="900" dirty="0">
                          <a:latin typeface="Arial"/>
                          <a:cs typeface="Arial"/>
                        </a:rPr>
                        <a:t>SPI</a:t>
                      </a:r>
                      <a:r>
                        <a:rPr sz="900" spc="-15" dirty="0">
                          <a:latin typeface="Arial"/>
                          <a:cs typeface="Arial"/>
                        </a:rPr>
                        <a:t> </a:t>
                      </a:r>
                      <a:r>
                        <a:rPr sz="900" dirty="0">
                          <a:latin typeface="Arial"/>
                          <a:cs typeface="Arial"/>
                        </a:rPr>
                        <a:t>Clock,</a:t>
                      </a:r>
                      <a:r>
                        <a:rPr sz="900" spc="-35" dirty="0">
                          <a:latin typeface="Arial"/>
                          <a:cs typeface="Arial"/>
                        </a:rPr>
                        <a:t> </a:t>
                      </a:r>
                      <a:r>
                        <a:rPr sz="900" spc="-5" dirty="0">
                          <a:latin typeface="Arial"/>
                          <a:cs typeface="Arial"/>
                        </a:rPr>
                        <a:t>high</a:t>
                      </a:r>
                      <a:r>
                        <a:rPr sz="900" spc="-35" dirty="0">
                          <a:latin typeface="Arial"/>
                          <a:cs typeface="Arial"/>
                        </a:rPr>
                        <a:t> </a:t>
                      </a:r>
                      <a:r>
                        <a:rPr sz="900" spc="-5" dirty="0">
                          <a:latin typeface="Arial"/>
                          <a:cs typeface="Arial"/>
                        </a:rPr>
                        <a:t>level</a:t>
                      </a:r>
                      <a:endParaRPr sz="900" dirty="0">
                        <a:latin typeface="Arial"/>
                        <a:cs typeface="Arial"/>
                      </a:endParaRPr>
                    </a:p>
                  </a:txBody>
                  <a:tcPr marL="0" marR="0" marT="69215"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algn="ctr">
                        <a:lnSpc>
                          <a:spcPct val="100000"/>
                        </a:lnSpc>
                        <a:spcBef>
                          <a:spcPts val="545"/>
                        </a:spcBef>
                      </a:pPr>
                      <a:r>
                        <a:rPr sz="900" dirty="0">
                          <a:latin typeface="Arial"/>
                          <a:cs typeface="Arial"/>
                        </a:rPr>
                        <a:t>2.0</a:t>
                      </a:r>
                    </a:p>
                  </a:txBody>
                  <a:tcPr marL="0" marR="0" marT="69215"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algn="ctr">
                        <a:lnSpc>
                          <a:spcPct val="100000"/>
                        </a:lnSpc>
                        <a:spcBef>
                          <a:spcPts val="545"/>
                        </a:spcBef>
                      </a:pPr>
                      <a:r>
                        <a:rPr sz="900" dirty="0">
                          <a:solidFill>
                            <a:srgbClr val="0066FF"/>
                          </a:solidFill>
                          <a:latin typeface="Arial"/>
                          <a:cs typeface="Arial"/>
                        </a:rPr>
                        <a:t>-</a:t>
                      </a:r>
                      <a:endParaRPr sz="900" dirty="0">
                        <a:latin typeface="Arial"/>
                        <a:cs typeface="Arial"/>
                      </a:endParaRPr>
                    </a:p>
                  </a:txBody>
                  <a:tcPr marL="0" marR="0" marT="69215"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algn="ctr">
                        <a:lnSpc>
                          <a:spcPct val="100000"/>
                        </a:lnSpc>
                        <a:spcBef>
                          <a:spcPts val="655"/>
                        </a:spcBef>
                      </a:pPr>
                      <a:r>
                        <a:rPr sz="1350" spc="-15" baseline="6172" dirty="0">
                          <a:latin typeface="Arial"/>
                          <a:cs typeface="Arial"/>
                        </a:rPr>
                        <a:t>V</a:t>
                      </a:r>
                      <a:r>
                        <a:rPr sz="600" spc="-10" dirty="0">
                          <a:latin typeface="Arial"/>
                          <a:cs typeface="Arial"/>
                        </a:rPr>
                        <a:t>DDD</a:t>
                      </a:r>
                      <a:endParaRPr sz="600" dirty="0">
                        <a:latin typeface="Arial"/>
                        <a:cs typeface="Arial"/>
                      </a:endParaRPr>
                    </a:p>
                  </a:txBody>
                  <a:tcPr marL="0" marR="0" marT="83185"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marR="635" algn="ctr">
                        <a:lnSpc>
                          <a:spcPct val="100000"/>
                        </a:lnSpc>
                        <a:spcBef>
                          <a:spcPts val="545"/>
                        </a:spcBef>
                      </a:pPr>
                      <a:r>
                        <a:rPr sz="900" dirty="0">
                          <a:latin typeface="Arial"/>
                          <a:cs typeface="Arial"/>
                        </a:rPr>
                        <a:t>V</a:t>
                      </a:r>
                    </a:p>
                  </a:txBody>
                  <a:tcPr marL="0" marR="0" marT="69215" marB="0">
                    <a:lnL w="12700">
                      <a:solidFill>
                        <a:srgbClr val="A6A6A6"/>
                      </a:solidFill>
                      <a:prstDash val="solid"/>
                    </a:lnL>
                    <a:lnT w="12700">
                      <a:solidFill>
                        <a:srgbClr val="A6A6A6"/>
                      </a:solidFill>
                      <a:prstDash val="solid"/>
                    </a:lnT>
                    <a:lnB w="12700">
                      <a:solidFill>
                        <a:srgbClr val="A6A6A6"/>
                      </a:solidFill>
                      <a:prstDash val="solid"/>
                    </a:lnB>
                  </a:tcPr>
                </a:tc>
                <a:extLst>
                  <a:ext uri="{0D108BD9-81ED-4DB2-BD59-A6C34878D82A}">
                    <a16:rowId xmlns:a16="http://schemas.microsoft.com/office/drawing/2014/main" val="10011"/>
                  </a:ext>
                </a:extLst>
              </a:tr>
              <a:tr h="278130">
                <a:tc rowSpan="2">
                  <a:txBody>
                    <a:bodyPr/>
                    <a:lstStyle/>
                    <a:p>
                      <a:pPr>
                        <a:lnSpc>
                          <a:spcPct val="100000"/>
                        </a:lnSpc>
                        <a:spcBef>
                          <a:spcPts val="35"/>
                        </a:spcBef>
                      </a:pPr>
                      <a:endParaRPr sz="1400" dirty="0">
                        <a:latin typeface="Times New Roman"/>
                        <a:cs typeface="Times New Roman"/>
                      </a:endParaRPr>
                    </a:p>
                    <a:p>
                      <a:pPr>
                        <a:lnSpc>
                          <a:spcPct val="100000"/>
                        </a:lnSpc>
                      </a:pPr>
                      <a:r>
                        <a:rPr sz="900" spc="-5" dirty="0">
                          <a:latin typeface="Arial"/>
                          <a:cs typeface="Arial"/>
                        </a:rPr>
                        <a:t>MOSI</a:t>
                      </a:r>
                      <a:r>
                        <a:rPr sz="900" spc="-10" dirty="0">
                          <a:latin typeface="Arial"/>
                          <a:cs typeface="Arial"/>
                        </a:rPr>
                        <a:t> </a:t>
                      </a:r>
                      <a:r>
                        <a:rPr sz="900" dirty="0">
                          <a:latin typeface="Arial"/>
                          <a:cs typeface="Arial"/>
                        </a:rPr>
                        <a:t>Input</a:t>
                      </a:r>
                      <a:r>
                        <a:rPr sz="900" spc="-30" dirty="0">
                          <a:latin typeface="Arial"/>
                          <a:cs typeface="Arial"/>
                        </a:rPr>
                        <a:t> </a:t>
                      </a:r>
                      <a:r>
                        <a:rPr sz="900" dirty="0">
                          <a:latin typeface="Arial"/>
                          <a:cs typeface="Arial"/>
                        </a:rPr>
                        <a:t>Voltage</a:t>
                      </a:r>
                    </a:p>
                  </a:txBody>
                  <a:tcPr marL="0" marR="0" marT="4445" marB="0">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marL="180340">
                        <a:lnSpc>
                          <a:spcPct val="100000"/>
                        </a:lnSpc>
                        <a:spcBef>
                          <a:spcPts val="655"/>
                        </a:spcBef>
                      </a:pPr>
                      <a:r>
                        <a:rPr sz="1350" spc="-7" baseline="6172" dirty="0">
                          <a:latin typeface="Arial"/>
                          <a:cs typeface="Arial"/>
                        </a:rPr>
                        <a:t>V</a:t>
                      </a:r>
                      <a:r>
                        <a:rPr sz="600" spc="-5" dirty="0">
                          <a:latin typeface="Arial"/>
                          <a:cs typeface="Arial"/>
                        </a:rPr>
                        <a:t>MOSIL</a:t>
                      </a:r>
                      <a:endParaRPr sz="600" dirty="0">
                        <a:latin typeface="Arial"/>
                        <a:cs typeface="Arial"/>
                      </a:endParaRPr>
                    </a:p>
                  </a:txBody>
                  <a:tcPr marL="0" marR="0" marT="83185"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marL="500380">
                        <a:lnSpc>
                          <a:spcPct val="100000"/>
                        </a:lnSpc>
                        <a:spcBef>
                          <a:spcPts val="550"/>
                        </a:spcBef>
                      </a:pPr>
                      <a:r>
                        <a:rPr sz="900" spc="-5" dirty="0">
                          <a:latin typeface="Arial"/>
                          <a:cs typeface="Arial"/>
                        </a:rPr>
                        <a:t>MOSI,</a:t>
                      </a:r>
                      <a:r>
                        <a:rPr sz="900" spc="-10" dirty="0">
                          <a:latin typeface="Arial"/>
                          <a:cs typeface="Arial"/>
                        </a:rPr>
                        <a:t> </a:t>
                      </a:r>
                      <a:r>
                        <a:rPr sz="900" spc="-5" dirty="0">
                          <a:latin typeface="Arial"/>
                          <a:cs typeface="Arial"/>
                        </a:rPr>
                        <a:t>low</a:t>
                      </a:r>
                      <a:r>
                        <a:rPr sz="900" spc="-25" dirty="0">
                          <a:latin typeface="Arial"/>
                          <a:cs typeface="Arial"/>
                        </a:rPr>
                        <a:t> </a:t>
                      </a:r>
                      <a:r>
                        <a:rPr sz="900" spc="-5" dirty="0">
                          <a:latin typeface="Arial"/>
                          <a:cs typeface="Arial"/>
                        </a:rPr>
                        <a:t>level</a:t>
                      </a:r>
                      <a:endParaRPr sz="900" dirty="0">
                        <a:latin typeface="Arial"/>
                        <a:cs typeface="Arial"/>
                      </a:endParaRPr>
                    </a:p>
                  </a:txBody>
                  <a:tcPr marL="0" marR="0" marT="6985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algn="ctr">
                        <a:lnSpc>
                          <a:spcPct val="100000"/>
                        </a:lnSpc>
                        <a:spcBef>
                          <a:spcPts val="550"/>
                        </a:spcBef>
                      </a:pPr>
                      <a:r>
                        <a:rPr sz="900" dirty="0">
                          <a:latin typeface="Arial"/>
                          <a:cs typeface="Arial"/>
                        </a:rPr>
                        <a:t>-</a:t>
                      </a:r>
                    </a:p>
                  </a:txBody>
                  <a:tcPr marL="0" marR="0" marT="6985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algn="ctr">
                        <a:lnSpc>
                          <a:spcPct val="100000"/>
                        </a:lnSpc>
                        <a:spcBef>
                          <a:spcPts val="550"/>
                        </a:spcBef>
                      </a:pPr>
                      <a:r>
                        <a:rPr sz="900" dirty="0">
                          <a:solidFill>
                            <a:srgbClr val="0066FF"/>
                          </a:solidFill>
                          <a:latin typeface="Arial"/>
                          <a:cs typeface="Arial"/>
                        </a:rPr>
                        <a:t>-</a:t>
                      </a:r>
                      <a:endParaRPr sz="900" dirty="0">
                        <a:latin typeface="Arial"/>
                        <a:cs typeface="Arial"/>
                      </a:endParaRPr>
                    </a:p>
                  </a:txBody>
                  <a:tcPr marL="0" marR="0" marT="6985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algn="ctr">
                        <a:lnSpc>
                          <a:spcPct val="100000"/>
                        </a:lnSpc>
                        <a:spcBef>
                          <a:spcPts val="550"/>
                        </a:spcBef>
                      </a:pPr>
                      <a:r>
                        <a:rPr sz="900" dirty="0">
                          <a:latin typeface="Arial"/>
                          <a:cs typeface="Arial"/>
                        </a:rPr>
                        <a:t>0.8</a:t>
                      </a:r>
                    </a:p>
                  </a:txBody>
                  <a:tcPr marL="0" marR="0" marT="6985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marR="635" algn="ctr">
                        <a:lnSpc>
                          <a:spcPct val="100000"/>
                        </a:lnSpc>
                        <a:spcBef>
                          <a:spcPts val="550"/>
                        </a:spcBef>
                      </a:pPr>
                      <a:r>
                        <a:rPr sz="900" dirty="0">
                          <a:latin typeface="Arial"/>
                          <a:cs typeface="Arial"/>
                        </a:rPr>
                        <a:t>V</a:t>
                      </a:r>
                    </a:p>
                  </a:txBody>
                  <a:tcPr marL="0" marR="0" marT="69850" marB="0">
                    <a:lnL w="12700">
                      <a:solidFill>
                        <a:srgbClr val="A6A6A6"/>
                      </a:solidFill>
                      <a:prstDash val="solid"/>
                    </a:lnL>
                    <a:lnT w="12700">
                      <a:solidFill>
                        <a:srgbClr val="A6A6A6"/>
                      </a:solidFill>
                      <a:prstDash val="solid"/>
                    </a:lnT>
                    <a:lnB w="12700">
                      <a:solidFill>
                        <a:srgbClr val="A6A6A6"/>
                      </a:solidFill>
                      <a:prstDash val="solid"/>
                    </a:lnB>
                  </a:tcPr>
                </a:tc>
                <a:extLst>
                  <a:ext uri="{0D108BD9-81ED-4DB2-BD59-A6C34878D82A}">
                    <a16:rowId xmlns:a16="http://schemas.microsoft.com/office/drawing/2014/main" val="10012"/>
                  </a:ext>
                </a:extLst>
              </a:tr>
              <a:tr h="278130">
                <a:tc vMerge="1">
                  <a:txBody>
                    <a:bodyPr/>
                    <a:lstStyle/>
                    <a:p>
                      <a:endParaRPr/>
                    </a:p>
                  </a:txBody>
                  <a:tcPr marL="0" marR="0" marT="4445" marB="0">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marL="174625">
                        <a:lnSpc>
                          <a:spcPct val="100000"/>
                        </a:lnSpc>
                        <a:spcBef>
                          <a:spcPts val="655"/>
                        </a:spcBef>
                      </a:pPr>
                      <a:r>
                        <a:rPr sz="1350" spc="-7" baseline="6172" dirty="0">
                          <a:latin typeface="Arial"/>
                          <a:cs typeface="Arial"/>
                        </a:rPr>
                        <a:t>V</a:t>
                      </a:r>
                      <a:r>
                        <a:rPr sz="600" spc="-5" dirty="0">
                          <a:latin typeface="Arial"/>
                          <a:cs typeface="Arial"/>
                        </a:rPr>
                        <a:t>MOSIH</a:t>
                      </a:r>
                      <a:endParaRPr sz="600" dirty="0">
                        <a:latin typeface="Arial"/>
                        <a:cs typeface="Arial"/>
                      </a:endParaRPr>
                    </a:p>
                  </a:txBody>
                  <a:tcPr marL="0" marR="0" marT="83185"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marL="477520">
                        <a:lnSpc>
                          <a:spcPct val="100000"/>
                        </a:lnSpc>
                        <a:spcBef>
                          <a:spcPts val="550"/>
                        </a:spcBef>
                      </a:pPr>
                      <a:r>
                        <a:rPr sz="900" spc="-5" dirty="0">
                          <a:latin typeface="Arial"/>
                          <a:cs typeface="Arial"/>
                        </a:rPr>
                        <a:t>MOSI,</a:t>
                      </a:r>
                      <a:r>
                        <a:rPr sz="900" spc="-15" dirty="0">
                          <a:latin typeface="Arial"/>
                          <a:cs typeface="Arial"/>
                        </a:rPr>
                        <a:t> </a:t>
                      </a:r>
                      <a:r>
                        <a:rPr sz="900" spc="-5" dirty="0">
                          <a:latin typeface="Arial"/>
                          <a:cs typeface="Arial"/>
                        </a:rPr>
                        <a:t>high</a:t>
                      </a:r>
                      <a:r>
                        <a:rPr sz="900" spc="-30" dirty="0">
                          <a:latin typeface="Arial"/>
                          <a:cs typeface="Arial"/>
                        </a:rPr>
                        <a:t> </a:t>
                      </a:r>
                      <a:r>
                        <a:rPr sz="900" spc="-5" dirty="0">
                          <a:latin typeface="Arial"/>
                          <a:cs typeface="Arial"/>
                        </a:rPr>
                        <a:t>level</a:t>
                      </a:r>
                      <a:endParaRPr sz="900" dirty="0">
                        <a:latin typeface="Arial"/>
                        <a:cs typeface="Arial"/>
                      </a:endParaRPr>
                    </a:p>
                  </a:txBody>
                  <a:tcPr marL="0" marR="0" marT="6985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algn="ctr">
                        <a:lnSpc>
                          <a:spcPct val="100000"/>
                        </a:lnSpc>
                        <a:spcBef>
                          <a:spcPts val="550"/>
                        </a:spcBef>
                      </a:pPr>
                      <a:r>
                        <a:rPr sz="900" dirty="0">
                          <a:latin typeface="Arial"/>
                          <a:cs typeface="Arial"/>
                        </a:rPr>
                        <a:t>2.0</a:t>
                      </a:r>
                    </a:p>
                  </a:txBody>
                  <a:tcPr marL="0" marR="0" marT="6985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algn="ctr">
                        <a:lnSpc>
                          <a:spcPct val="100000"/>
                        </a:lnSpc>
                        <a:spcBef>
                          <a:spcPts val="550"/>
                        </a:spcBef>
                      </a:pPr>
                      <a:r>
                        <a:rPr sz="900" dirty="0">
                          <a:solidFill>
                            <a:srgbClr val="0066FF"/>
                          </a:solidFill>
                          <a:latin typeface="Arial"/>
                          <a:cs typeface="Arial"/>
                        </a:rPr>
                        <a:t>-</a:t>
                      </a:r>
                      <a:endParaRPr sz="900" dirty="0">
                        <a:latin typeface="Arial"/>
                        <a:cs typeface="Arial"/>
                      </a:endParaRPr>
                    </a:p>
                  </a:txBody>
                  <a:tcPr marL="0" marR="0" marT="6985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algn="ctr">
                        <a:lnSpc>
                          <a:spcPct val="100000"/>
                        </a:lnSpc>
                        <a:spcBef>
                          <a:spcPts val="655"/>
                        </a:spcBef>
                      </a:pPr>
                      <a:r>
                        <a:rPr sz="1350" spc="-15" baseline="6172" dirty="0">
                          <a:latin typeface="Arial"/>
                          <a:cs typeface="Arial"/>
                        </a:rPr>
                        <a:t>V</a:t>
                      </a:r>
                      <a:r>
                        <a:rPr sz="600" spc="-10" dirty="0">
                          <a:latin typeface="Arial"/>
                          <a:cs typeface="Arial"/>
                        </a:rPr>
                        <a:t>DDD</a:t>
                      </a:r>
                      <a:endParaRPr sz="600" dirty="0">
                        <a:latin typeface="Arial"/>
                        <a:cs typeface="Arial"/>
                      </a:endParaRPr>
                    </a:p>
                  </a:txBody>
                  <a:tcPr marL="0" marR="0" marT="83185"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marR="635" algn="ctr">
                        <a:lnSpc>
                          <a:spcPct val="100000"/>
                        </a:lnSpc>
                        <a:spcBef>
                          <a:spcPts val="550"/>
                        </a:spcBef>
                      </a:pPr>
                      <a:r>
                        <a:rPr sz="900" dirty="0">
                          <a:latin typeface="Arial"/>
                          <a:cs typeface="Arial"/>
                        </a:rPr>
                        <a:t>V</a:t>
                      </a:r>
                    </a:p>
                  </a:txBody>
                  <a:tcPr marL="0" marR="0" marT="69850" marB="0">
                    <a:lnL w="12700">
                      <a:solidFill>
                        <a:srgbClr val="A6A6A6"/>
                      </a:solidFill>
                      <a:prstDash val="solid"/>
                    </a:lnL>
                    <a:lnT w="12700">
                      <a:solidFill>
                        <a:srgbClr val="A6A6A6"/>
                      </a:solidFill>
                      <a:prstDash val="solid"/>
                    </a:lnT>
                    <a:lnB w="12700">
                      <a:solidFill>
                        <a:srgbClr val="A6A6A6"/>
                      </a:solidFill>
                      <a:prstDash val="solid"/>
                    </a:lnB>
                  </a:tcPr>
                </a:tc>
                <a:extLst>
                  <a:ext uri="{0D108BD9-81ED-4DB2-BD59-A6C34878D82A}">
                    <a16:rowId xmlns:a16="http://schemas.microsoft.com/office/drawing/2014/main" val="10013"/>
                  </a:ext>
                </a:extLst>
              </a:tr>
              <a:tr h="278130">
                <a:tc rowSpan="2">
                  <a:txBody>
                    <a:bodyPr/>
                    <a:lstStyle/>
                    <a:p>
                      <a:pPr>
                        <a:lnSpc>
                          <a:spcPct val="100000"/>
                        </a:lnSpc>
                        <a:spcBef>
                          <a:spcPts val="35"/>
                        </a:spcBef>
                      </a:pPr>
                      <a:endParaRPr sz="1400" dirty="0">
                        <a:latin typeface="Times New Roman"/>
                        <a:cs typeface="Times New Roman"/>
                      </a:endParaRPr>
                    </a:p>
                    <a:p>
                      <a:pPr>
                        <a:lnSpc>
                          <a:spcPct val="100000"/>
                        </a:lnSpc>
                      </a:pPr>
                      <a:r>
                        <a:rPr sz="900" spc="-5" dirty="0">
                          <a:latin typeface="Arial"/>
                          <a:cs typeface="Arial"/>
                        </a:rPr>
                        <a:t>VSYNC</a:t>
                      </a:r>
                      <a:r>
                        <a:rPr sz="900" spc="-15" dirty="0">
                          <a:latin typeface="Arial"/>
                          <a:cs typeface="Arial"/>
                        </a:rPr>
                        <a:t> </a:t>
                      </a:r>
                      <a:r>
                        <a:rPr sz="900" dirty="0">
                          <a:latin typeface="Arial"/>
                          <a:cs typeface="Arial"/>
                        </a:rPr>
                        <a:t>Input</a:t>
                      </a:r>
                      <a:r>
                        <a:rPr sz="900" spc="-25" dirty="0">
                          <a:latin typeface="Arial"/>
                          <a:cs typeface="Arial"/>
                        </a:rPr>
                        <a:t> </a:t>
                      </a:r>
                      <a:r>
                        <a:rPr sz="900" spc="-5" dirty="0">
                          <a:latin typeface="Arial"/>
                          <a:cs typeface="Arial"/>
                        </a:rPr>
                        <a:t>Voltage</a:t>
                      </a:r>
                      <a:endParaRPr sz="900" dirty="0">
                        <a:latin typeface="Arial"/>
                        <a:cs typeface="Arial"/>
                      </a:endParaRPr>
                    </a:p>
                  </a:txBody>
                  <a:tcPr marL="0" marR="0" marT="4445" marB="0">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marL="146685">
                        <a:lnSpc>
                          <a:spcPct val="100000"/>
                        </a:lnSpc>
                        <a:spcBef>
                          <a:spcPts val="660"/>
                        </a:spcBef>
                      </a:pPr>
                      <a:r>
                        <a:rPr sz="1350" spc="-7" baseline="6172" dirty="0">
                          <a:latin typeface="Arial"/>
                          <a:cs typeface="Arial"/>
                        </a:rPr>
                        <a:t>V</a:t>
                      </a:r>
                      <a:r>
                        <a:rPr sz="600" spc="-5" dirty="0">
                          <a:latin typeface="Arial"/>
                          <a:cs typeface="Arial"/>
                        </a:rPr>
                        <a:t>VSYNCL</a:t>
                      </a:r>
                      <a:endParaRPr sz="600" dirty="0">
                        <a:latin typeface="Arial"/>
                        <a:cs typeface="Arial"/>
                      </a:endParaRPr>
                    </a:p>
                  </a:txBody>
                  <a:tcPr marL="0" marR="0" marT="8382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marL="465455">
                        <a:lnSpc>
                          <a:spcPct val="100000"/>
                        </a:lnSpc>
                        <a:spcBef>
                          <a:spcPts val="550"/>
                        </a:spcBef>
                      </a:pPr>
                      <a:r>
                        <a:rPr sz="900" spc="-5" dirty="0">
                          <a:latin typeface="Arial"/>
                          <a:cs typeface="Arial"/>
                        </a:rPr>
                        <a:t>VSYNC</a:t>
                      </a:r>
                      <a:r>
                        <a:rPr sz="900" spc="-15" dirty="0">
                          <a:latin typeface="Arial"/>
                          <a:cs typeface="Arial"/>
                        </a:rPr>
                        <a:t> </a:t>
                      </a:r>
                      <a:r>
                        <a:rPr sz="900" spc="-5" dirty="0">
                          <a:latin typeface="Arial"/>
                          <a:cs typeface="Arial"/>
                        </a:rPr>
                        <a:t>low</a:t>
                      </a:r>
                      <a:r>
                        <a:rPr sz="900" spc="-30" dirty="0">
                          <a:latin typeface="Arial"/>
                          <a:cs typeface="Arial"/>
                        </a:rPr>
                        <a:t> </a:t>
                      </a:r>
                      <a:r>
                        <a:rPr sz="900" spc="-5" dirty="0">
                          <a:latin typeface="Arial"/>
                          <a:cs typeface="Arial"/>
                        </a:rPr>
                        <a:t>level</a:t>
                      </a:r>
                      <a:endParaRPr sz="900" dirty="0">
                        <a:latin typeface="Arial"/>
                        <a:cs typeface="Arial"/>
                      </a:endParaRPr>
                    </a:p>
                  </a:txBody>
                  <a:tcPr marL="0" marR="0" marT="6985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algn="ctr">
                        <a:lnSpc>
                          <a:spcPct val="100000"/>
                        </a:lnSpc>
                        <a:spcBef>
                          <a:spcPts val="550"/>
                        </a:spcBef>
                      </a:pPr>
                      <a:r>
                        <a:rPr sz="900" dirty="0">
                          <a:latin typeface="Arial"/>
                          <a:cs typeface="Arial"/>
                        </a:rPr>
                        <a:t>-</a:t>
                      </a:r>
                    </a:p>
                  </a:txBody>
                  <a:tcPr marL="0" marR="0" marT="6985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algn="ctr">
                        <a:lnSpc>
                          <a:spcPct val="100000"/>
                        </a:lnSpc>
                        <a:spcBef>
                          <a:spcPts val="550"/>
                        </a:spcBef>
                      </a:pPr>
                      <a:r>
                        <a:rPr sz="900" dirty="0">
                          <a:solidFill>
                            <a:srgbClr val="0066FF"/>
                          </a:solidFill>
                          <a:latin typeface="Arial"/>
                          <a:cs typeface="Arial"/>
                        </a:rPr>
                        <a:t>-</a:t>
                      </a:r>
                      <a:endParaRPr sz="900" dirty="0">
                        <a:latin typeface="Arial"/>
                        <a:cs typeface="Arial"/>
                      </a:endParaRPr>
                    </a:p>
                  </a:txBody>
                  <a:tcPr marL="0" marR="0" marT="6985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algn="ctr">
                        <a:lnSpc>
                          <a:spcPct val="100000"/>
                        </a:lnSpc>
                        <a:spcBef>
                          <a:spcPts val="550"/>
                        </a:spcBef>
                      </a:pPr>
                      <a:r>
                        <a:rPr sz="900" dirty="0">
                          <a:latin typeface="Arial"/>
                          <a:cs typeface="Arial"/>
                        </a:rPr>
                        <a:t>0.8</a:t>
                      </a:r>
                    </a:p>
                  </a:txBody>
                  <a:tcPr marL="0" marR="0" marT="6985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marR="635" algn="ctr">
                        <a:lnSpc>
                          <a:spcPct val="100000"/>
                        </a:lnSpc>
                        <a:spcBef>
                          <a:spcPts val="550"/>
                        </a:spcBef>
                      </a:pPr>
                      <a:r>
                        <a:rPr sz="900" dirty="0">
                          <a:latin typeface="Arial"/>
                          <a:cs typeface="Arial"/>
                        </a:rPr>
                        <a:t>V</a:t>
                      </a:r>
                    </a:p>
                  </a:txBody>
                  <a:tcPr marL="0" marR="0" marT="69850" marB="0">
                    <a:lnL w="12700">
                      <a:solidFill>
                        <a:srgbClr val="A6A6A6"/>
                      </a:solidFill>
                      <a:prstDash val="solid"/>
                    </a:lnL>
                    <a:lnT w="12700">
                      <a:solidFill>
                        <a:srgbClr val="A6A6A6"/>
                      </a:solidFill>
                      <a:prstDash val="solid"/>
                    </a:lnT>
                    <a:lnB w="12700">
                      <a:solidFill>
                        <a:srgbClr val="A6A6A6"/>
                      </a:solidFill>
                      <a:prstDash val="solid"/>
                    </a:lnB>
                  </a:tcPr>
                </a:tc>
                <a:extLst>
                  <a:ext uri="{0D108BD9-81ED-4DB2-BD59-A6C34878D82A}">
                    <a16:rowId xmlns:a16="http://schemas.microsoft.com/office/drawing/2014/main" val="10014"/>
                  </a:ext>
                </a:extLst>
              </a:tr>
              <a:tr h="278130">
                <a:tc vMerge="1">
                  <a:txBody>
                    <a:bodyPr/>
                    <a:lstStyle/>
                    <a:p>
                      <a:endParaRPr/>
                    </a:p>
                  </a:txBody>
                  <a:tcPr marL="0" marR="0" marT="4445" marB="0">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marL="140970">
                        <a:lnSpc>
                          <a:spcPct val="100000"/>
                        </a:lnSpc>
                        <a:spcBef>
                          <a:spcPts val="660"/>
                        </a:spcBef>
                      </a:pPr>
                      <a:r>
                        <a:rPr sz="1350" spc="-7" baseline="6172" dirty="0">
                          <a:latin typeface="Arial"/>
                          <a:cs typeface="Arial"/>
                        </a:rPr>
                        <a:t>V</a:t>
                      </a:r>
                      <a:r>
                        <a:rPr sz="600" spc="-5" dirty="0">
                          <a:latin typeface="Arial"/>
                          <a:cs typeface="Arial"/>
                        </a:rPr>
                        <a:t>VSYNCH</a:t>
                      </a:r>
                      <a:endParaRPr sz="600" dirty="0">
                        <a:latin typeface="Arial"/>
                        <a:cs typeface="Arial"/>
                      </a:endParaRPr>
                    </a:p>
                  </a:txBody>
                  <a:tcPr marL="0" marR="0" marT="8382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marL="442595">
                        <a:lnSpc>
                          <a:spcPct val="100000"/>
                        </a:lnSpc>
                        <a:spcBef>
                          <a:spcPts val="550"/>
                        </a:spcBef>
                      </a:pPr>
                      <a:r>
                        <a:rPr sz="900" spc="-5" dirty="0">
                          <a:latin typeface="Arial"/>
                          <a:cs typeface="Arial"/>
                        </a:rPr>
                        <a:t>VSYNC</a:t>
                      </a:r>
                      <a:r>
                        <a:rPr sz="900" spc="-15" dirty="0">
                          <a:latin typeface="Arial"/>
                          <a:cs typeface="Arial"/>
                        </a:rPr>
                        <a:t> </a:t>
                      </a:r>
                      <a:r>
                        <a:rPr sz="900" spc="-5" dirty="0">
                          <a:latin typeface="Arial"/>
                          <a:cs typeface="Arial"/>
                        </a:rPr>
                        <a:t>high</a:t>
                      </a:r>
                      <a:r>
                        <a:rPr sz="900" spc="-30" dirty="0">
                          <a:latin typeface="Arial"/>
                          <a:cs typeface="Arial"/>
                        </a:rPr>
                        <a:t> </a:t>
                      </a:r>
                      <a:r>
                        <a:rPr sz="900" spc="-5" dirty="0">
                          <a:latin typeface="Arial"/>
                          <a:cs typeface="Arial"/>
                        </a:rPr>
                        <a:t>level</a:t>
                      </a:r>
                      <a:endParaRPr sz="900" dirty="0">
                        <a:latin typeface="Arial"/>
                        <a:cs typeface="Arial"/>
                      </a:endParaRPr>
                    </a:p>
                  </a:txBody>
                  <a:tcPr marL="0" marR="0" marT="6985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algn="ctr">
                        <a:lnSpc>
                          <a:spcPct val="100000"/>
                        </a:lnSpc>
                        <a:spcBef>
                          <a:spcPts val="550"/>
                        </a:spcBef>
                      </a:pPr>
                      <a:r>
                        <a:rPr sz="900" dirty="0">
                          <a:latin typeface="Arial"/>
                          <a:cs typeface="Arial"/>
                        </a:rPr>
                        <a:t>2.0</a:t>
                      </a:r>
                    </a:p>
                  </a:txBody>
                  <a:tcPr marL="0" marR="0" marT="6985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algn="ctr">
                        <a:lnSpc>
                          <a:spcPct val="100000"/>
                        </a:lnSpc>
                        <a:spcBef>
                          <a:spcPts val="550"/>
                        </a:spcBef>
                      </a:pPr>
                      <a:r>
                        <a:rPr sz="900" dirty="0">
                          <a:solidFill>
                            <a:srgbClr val="0066FF"/>
                          </a:solidFill>
                          <a:latin typeface="Arial"/>
                          <a:cs typeface="Arial"/>
                        </a:rPr>
                        <a:t>-</a:t>
                      </a:r>
                      <a:endParaRPr sz="900" dirty="0">
                        <a:latin typeface="Arial"/>
                        <a:cs typeface="Arial"/>
                      </a:endParaRPr>
                    </a:p>
                  </a:txBody>
                  <a:tcPr marL="0" marR="0" marT="6985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algn="ctr">
                        <a:lnSpc>
                          <a:spcPct val="100000"/>
                        </a:lnSpc>
                        <a:spcBef>
                          <a:spcPts val="660"/>
                        </a:spcBef>
                      </a:pPr>
                      <a:r>
                        <a:rPr sz="1350" spc="-15" baseline="6172" dirty="0">
                          <a:latin typeface="Arial"/>
                          <a:cs typeface="Arial"/>
                        </a:rPr>
                        <a:t>V</a:t>
                      </a:r>
                      <a:r>
                        <a:rPr sz="600" spc="-10" dirty="0">
                          <a:latin typeface="Arial"/>
                          <a:cs typeface="Arial"/>
                        </a:rPr>
                        <a:t>DDD</a:t>
                      </a:r>
                      <a:endParaRPr sz="600" dirty="0">
                        <a:latin typeface="Arial"/>
                        <a:cs typeface="Arial"/>
                      </a:endParaRPr>
                    </a:p>
                  </a:txBody>
                  <a:tcPr marL="0" marR="0" marT="8382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marR="635" algn="ctr">
                        <a:lnSpc>
                          <a:spcPct val="100000"/>
                        </a:lnSpc>
                        <a:spcBef>
                          <a:spcPts val="550"/>
                        </a:spcBef>
                      </a:pPr>
                      <a:r>
                        <a:rPr sz="900" dirty="0">
                          <a:latin typeface="Arial"/>
                          <a:cs typeface="Arial"/>
                        </a:rPr>
                        <a:t>V</a:t>
                      </a:r>
                    </a:p>
                  </a:txBody>
                  <a:tcPr marL="0" marR="0" marT="69850" marB="0">
                    <a:lnL w="12700">
                      <a:solidFill>
                        <a:srgbClr val="A6A6A6"/>
                      </a:solidFill>
                      <a:prstDash val="solid"/>
                    </a:lnL>
                    <a:lnT w="12700">
                      <a:solidFill>
                        <a:srgbClr val="A6A6A6"/>
                      </a:solidFill>
                      <a:prstDash val="solid"/>
                    </a:lnT>
                    <a:lnB w="12700">
                      <a:solidFill>
                        <a:srgbClr val="A6A6A6"/>
                      </a:solidFill>
                      <a:prstDash val="solid"/>
                    </a:lnB>
                  </a:tcPr>
                </a:tc>
                <a:extLst>
                  <a:ext uri="{0D108BD9-81ED-4DB2-BD59-A6C34878D82A}">
                    <a16:rowId xmlns:a16="http://schemas.microsoft.com/office/drawing/2014/main" val="10015"/>
                  </a:ext>
                </a:extLst>
              </a:tr>
              <a:tr h="215900">
                <a:tc gridSpan="7">
                  <a:txBody>
                    <a:bodyPr/>
                    <a:lstStyle/>
                    <a:p>
                      <a:pPr>
                        <a:lnSpc>
                          <a:spcPts val="1019"/>
                        </a:lnSpc>
                        <a:spcBef>
                          <a:spcPts val="580"/>
                        </a:spcBef>
                      </a:pPr>
                      <a:r>
                        <a:rPr sz="900" dirty="0">
                          <a:latin typeface="Arial"/>
                          <a:cs typeface="Arial"/>
                        </a:rPr>
                        <a:t>Output</a:t>
                      </a:r>
                    </a:p>
                  </a:txBody>
                  <a:tcPr marL="0" marR="0" marT="73660" marB="0">
                    <a:lnT w="12700">
                      <a:solidFill>
                        <a:srgbClr val="A6A6A6"/>
                      </a:solidFill>
                      <a:prstDash val="solid"/>
                    </a:lnT>
                    <a:lnB w="12700">
                      <a:solidFill>
                        <a:srgbClr val="A6A6A6"/>
                      </a:solidFill>
                      <a:prstDash val="solid"/>
                    </a:lnB>
                  </a:tcPr>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16"/>
                  </a:ext>
                </a:extLst>
              </a:tr>
              <a:tr h="278130">
                <a:tc rowSpan="2">
                  <a:txBody>
                    <a:bodyPr/>
                    <a:lstStyle/>
                    <a:p>
                      <a:pPr>
                        <a:lnSpc>
                          <a:spcPct val="100000"/>
                        </a:lnSpc>
                        <a:spcBef>
                          <a:spcPts val="40"/>
                        </a:spcBef>
                      </a:pPr>
                      <a:endParaRPr sz="1400" dirty="0">
                        <a:latin typeface="Times New Roman"/>
                        <a:cs typeface="Times New Roman"/>
                      </a:endParaRPr>
                    </a:p>
                    <a:p>
                      <a:pPr>
                        <a:lnSpc>
                          <a:spcPct val="100000"/>
                        </a:lnSpc>
                      </a:pPr>
                      <a:r>
                        <a:rPr sz="900" spc="-5" dirty="0">
                          <a:latin typeface="Arial"/>
                          <a:cs typeface="Arial"/>
                        </a:rPr>
                        <a:t>MISO</a:t>
                      </a:r>
                      <a:r>
                        <a:rPr sz="900" spc="-20" dirty="0">
                          <a:latin typeface="Arial"/>
                          <a:cs typeface="Arial"/>
                        </a:rPr>
                        <a:t> </a:t>
                      </a:r>
                      <a:r>
                        <a:rPr sz="900" dirty="0">
                          <a:latin typeface="Arial"/>
                          <a:cs typeface="Arial"/>
                        </a:rPr>
                        <a:t>Output</a:t>
                      </a:r>
                      <a:r>
                        <a:rPr sz="900" spc="-35" dirty="0">
                          <a:latin typeface="Arial"/>
                          <a:cs typeface="Arial"/>
                        </a:rPr>
                        <a:t> </a:t>
                      </a:r>
                      <a:r>
                        <a:rPr sz="900" dirty="0">
                          <a:latin typeface="Arial"/>
                          <a:cs typeface="Arial"/>
                        </a:rPr>
                        <a:t>voltage</a:t>
                      </a:r>
                    </a:p>
                  </a:txBody>
                  <a:tcPr marL="0" marR="0" marT="5080" marB="0">
                    <a:lnR w="12700">
                      <a:solidFill>
                        <a:srgbClr val="BEBEBE"/>
                      </a:solidFill>
                      <a:prstDash val="solid"/>
                    </a:lnR>
                    <a:lnT w="12700">
                      <a:solidFill>
                        <a:srgbClr val="A6A6A6"/>
                      </a:solidFill>
                      <a:prstDash val="solid"/>
                    </a:lnT>
                    <a:lnB w="12700">
                      <a:solidFill>
                        <a:srgbClr val="A6A6A6"/>
                      </a:solidFill>
                      <a:prstDash val="solid"/>
                    </a:lnB>
                  </a:tcPr>
                </a:tc>
                <a:tc>
                  <a:txBody>
                    <a:bodyPr/>
                    <a:lstStyle/>
                    <a:p>
                      <a:pPr marL="180340">
                        <a:lnSpc>
                          <a:spcPct val="100000"/>
                        </a:lnSpc>
                        <a:spcBef>
                          <a:spcPts val="660"/>
                        </a:spcBef>
                      </a:pPr>
                      <a:r>
                        <a:rPr sz="1350" spc="-7" baseline="6172" dirty="0">
                          <a:latin typeface="Arial"/>
                          <a:cs typeface="Arial"/>
                        </a:rPr>
                        <a:t>V</a:t>
                      </a:r>
                      <a:r>
                        <a:rPr sz="600" spc="-5" dirty="0">
                          <a:latin typeface="Arial"/>
                          <a:cs typeface="Arial"/>
                        </a:rPr>
                        <a:t>MISOL</a:t>
                      </a:r>
                      <a:endParaRPr sz="600" dirty="0">
                        <a:latin typeface="Arial"/>
                        <a:cs typeface="Arial"/>
                      </a:endParaRPr>
                    </a:p>
                  </a:txBody>
                  <a:tcPr marL="0" marR="0" marT="83820" marB="0">
                    <a:lnL w="12700">
                      <a:solidFill>
                        <a:srgbClr val="BEBEBE"/>
                      </a:solidFill>
                      <a:prstDash val="solid"/>
                    </a:lnL>
                    <a:lnR w="12700">
                      <a:solidFill>
                        <a:srgbClr val="BEBEBE"/>
                      </a:solidFill>
                      <a:prstDash val="solid"/>
                    </a:lnR>
                    <a:lnT w="12700">
                      <a:solidFill>
                        <a:srgbClr val="BEBEBE"/>
                      </a:solidFill>
                      <a:prstDash val="solid"/>
                    </a:lnT>
                    <a:lnB w="12700">
                      <a:solidFill>
                        <a:srgbClr val="BEBEBE"/>
                      </a:solidFill>
                      <a:prstDash val="solid"/>
                    </a:lnB>
                  </a:tcPr>
                </a:tc>
                <a:tc>
                  <a:txBody>
                    <a:bodyPr/>
                    <a:lstStyle/>
                    <a:p>
                      <a:pPr marL="500380">
                        <a:lnSpc>
                          <a:spcPct val="100000"/>
                        </a:lnSpc>
                        <a:spcBef>
                          <a:spcPts val="550"/>
                        </a:spcBef>
                      </a:pPr>
                      <a:r>
                        <a:rPr sz="900" spc="-5" dirty="0">
                          <a:latin typeface="Arial"/>
                          <a:cs typeface="Arial"/>
                        </a:rPr>
                        <a:t>MISO,</a:t>
                      </a:r>
                      <a:r>
                        <a:rPr sz="900" spc="-15" dirty="0">
                          <a:latin typeface="Arial"/>
                          <a:cs typeface="Arial"/>
                        </a:rPr>
                        <a:t> </a:t>
                      </a:r>
                      <a:r>
                        <a:rPr sz="900" spc="-5" dirty="0">
                          <a:latin typeface="Arial"/>
                          <a:cs typeface="Arial"/>
                        </a:rPr>
                        <a:t>low</a:t>
                      </a:r>
                      <a:r>
                        <a:rPr sz="900" spc="-25" dirty="0">
                          <a:latin typeface="Arial"/>
                          <a:cs typeface="Arial"/>
                        </a:rPr>
                        <a:t> </a:t>
                      </a:r>
                      <a:r>
                        <a:rPr sz="900" spc="-5" dirty="0">
                          <a:latin typeface="Arial"/>
                          <a:cs typeface="Arial"/>
                        </a:rPr>
                        <a:t>level</a:t>
                      </a:r>
                      <a:endParaRPr sz="900" dirty="0">
                        <a:latin typeface="Arial"/>
                        <a:cs typeface="Arial"/>
                      </a:endParaRPr>
                    </a:p>
                  </a:txBody>
                  <a:tcPr marL="0" marR="0" marT="69850" marB="0">
                    <a:lnL w="12700">
                      <a:solidFill>
                        <a:srgbClr val="BEBEBE"/>
                      </a:solidFill>
                      <a:prstDash val="solid"/>
                    </a:lnL>
                    <a:lnR w="12700">
                      <a:solidFill>
                        <a:srgbClr val="BEBEBE"/>
                      </a:solidFill>
                      <a:prstDash val="solid"/>
                    </a:lnR>
                    <a:lnT w="12700">
                      <a:solidFill>
                        <a:srgbClr val="BEBEBE"/>
                      </a:solidFill>
                      <a:prstDash val="solid"/>
                    </a:lnT>
                    <a:lnB w="12700">
                      <a:solidFill>
                        <a:srgbClr val="BEBEBE"/>
                      </a:solidFill>
                      <a:prstDash val="solid"/>
                    </a:lnB>
                  </a:tcPr>
                </a:tc>
                <a:tc>
                  <a:txBody>
                    <a:bodyPr/>
                    <a:lstStyle/>
                    <a:p>
                      <a:pPr algn="ctr">
                        <a:lnSpc>
                          <a:spcPct val="100000"/>
                        </a:lnSpc>
                        <a:spcBef>
                          <a:spcPts val="550"/>
                        </a:spcBef>
                      </a:pPr>
                      <a:r>
                        <a:rPr sz="900" dirty="0">
                          <a:latin typeface="Arial"/>
                          <a:cs typeface="Arial"/>
                        </a:rPr>
                        <a:t>-</a:t>
                      </a:r>
                    </a:p>
                  </a:txBody>
                  <a:tcPr marL="0" marR="0" marT="69850" marB="0">
                    <a:lnL w="12700">
                      <a:solidFill>
                        <a:srgbClr val="BEBEBE"/>
                      </a:solidFill>
                      <a:prstDash val="solid"/>
                    </a:lnL>
                    <a:lnR w="12700">
                      <a:solidFill>
                        <a:srgbClr val="BEBEBE"/>
                      </a:solidFill>
                      <a:prstDash val="solid"/>
                    </a:lnR>
                    <a:lnT w="12700">
                      <a:solidFill>
                        <a:srgbClr val="BEBEBE"/>
                      </a:solidFill>
                      <a:prstDash val="solid"/>
                    </a:lnT>
                    <a:lnB w="12700">
                      <a:solidFill>
                        <a:srgbClr val="BEBEBE"/>
                      </a:solidFill>
                      <a:prstDash val="solid"/>
                    </a:lnB>
                  </a:tcPr>
                </a:tc>
                <a:tc>
                  <a:txBody>
                    <a:bodyPr/>
                    <a:lstStyle/>
                    <a:p>
                      <a:pPr algn="ctr">
                        <a:lnSpc>
                          <a:spcPct val="100000"/>
                        </a:lnSpc>
                        <a:spcBef>
                          <a:spcPts val="550"/>
                        </a:spcBef>
                      </a:pPr>
                      <a:r>
                        <a:rPr sz="900" dirty="0">
                          <a:solidFill>
                            <a:srgbClr val="0066FF"/>
                          </a:solidFill>
                          <a:latin typeface="Arial"/>
                          <a:cs typeface="Arial"/>
                        </a:rPr>
                        <a:t>-</a:t>
                      </a:r>
                      <a:endParaRPr sz="900" dirty="0">
                        <a:latin typeface="Arial"/>
                        <a:cs typeface="Arial"/>
                      </a:endParaRPr>
                    </a:p>
                  </a:txBody>
                  <a:tcPr marL="0" marR="0" marT="69850" marB="0">
                    <a:lnL w="12700">
                      <a:solidFill>
                        <a:srgbClr val="BEBEBE"/>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algn="ctr">
                        <a:lnSpc>
                          <a:spcPct val="100000"/>
                        </a:lnSpc>
                        <a:spcBef>
                          <a:spcPts val="550"/>
                        </a:spcBef>
                      </a:pPr>
                      <a:r>
                        <a:rPr sz="900" dirty="0">
                          <a:latin typeface="Arial"/>
                          <a:cs typeface="Arial"/>
                        </a:rPr>
                        <a:t>0.8</a:t>
                      </a:r>
                    </a:p>
                  </a:txBody>
                  <a:tcPr marL="0" marR="0" marT="6985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marR="635" algn="ctr">
                        <a:lnSpc>
                          <a:spcPct val="100000"/>
                        </a:lnSpc>
                        <a:spcBef>
                          <a:spcPts val="550"/>
                        </a:spcBef>
                      </a:pPr>
                      <a:r>
                        <a:rPr sz="900" dirty="0">
                          <a:latin typeface="Arial"/>
                          <a:cs typeface="Arial"/>
                        </a:rPr>
                        <a:t>V</a:t>
                      </a:r>
                    </a:p>
                  </a:txBody>
                  <a:tcPr marL="0" marR="0" marT="69850" marB="0">
                    <a:lnL w="12700">
                      <a:solidFill>
                        <a:srgbClr val="A6A6A6"/>
                      </a:solidFill>
                      <a:prstDash val="solid"/>
                    </a:lnL>
                    <a:lnT w="12700">
                      <a:solidFill>
                        <a:srgbClr val="A6A6A6"/>
                      </a:solidFill>
                      <a:prstDash val="solid"/>
                    </a:lnT>
                    <a:lnB w="12700">
                      <a:solidFill>
                        <a:srgbClr val="A6A6A6"/>
                      </a:solidFill>
                      <a:prstDash val="solid"/>
                    </a:lnB>
                  </a:tcPr>
                </a:tc>
                <a:extLst>
                  <a:ext uri="{0D108BD9-81ED-4DB2-BD59-A6C34878D82A}">
                    <a16:rowId xmlns:a16="http://schemas.microsoft.com/office/drawing/2014/main" val="10017"/>
                  </a:ext>
                </a:extLst>
              </a:tr>
              <a:tr h="278130">
                <a:tc vMerge="1">
                  <a:txBody>
                    <a:bodyPr/>
                    <a:lstStyle/>
                    <a:p>
                      <a:endParaRPr/>
                    </a:p>
                  </a:txBody>
                  <a:tcPr marL="0" marR="0" marT="5080" marB="0">
                    <a:lnR w="12700">
                      <a:solidFill>
                        <a:srgbClr val="BEBEBE"/>
                      </a:solidFill>
                      <a:prstDash val="solid"/>
                    </a:lnR>
                    <a:lnT w="12700">
                      <a:solidFill>
                        <a:srgbClr val="A6A6A6"/>
                      </a:solidFill>
                      <a:prstDash val="solid"/>
                    </a:lnT>
                    <a:lnB w="12700">
                      <a:solidFill>
                        <a:srgbClr val="A6A6A6"/>
                      </a:solidFill>
                      <a:prstDash val="solid"/>
                    </a:lnB>
                  </a:tcPr>
                </a:tc>
                <a:tc>
                  <a:txBody>
                    <a:bodyPr/>
                    <a:lstStyle/>
                    <a:p>
                      <a:pPr marL="174625">
                        <a:lnSpc>
                          <a:spcPct val="100000"/>
                        </a:lnSpc>
                        <a:spcBef>
                          <a:spcPts val="660"/>
                        </a:spcBef>
                      </a:pPr>
                      <a:r>
                        <a:rPr sz="1350" spc="-7" baseline="6172" dirty="0">
                          <a:latin typeface="Arial"/>
                          <a:cs typeface="Arial"/>
                        </a:rPr>
                        <a:t>V</a:t>
                      </a:r>
                      <a:r>
                        <a:rPr sz="600" spc="-5" dirty="0">
                          <a:latin typeface="Arial"/>
                          <a:cs typeface="Arial"/>
                        </a:rPr>
                        <a:t>MISOH</a:t>
                      </a:r>
                      <a:endParaRPr sz="600" dirty="0">
                        <a:latin typeface="Arial"/>
                        <a:cs typeface="Arial"/>
                      </a:endParaRPr>
                    </a:p>
                  </a:txBody>
                  <a:tcPr marL="0" marR="0" marT="83820" marB="0">
                    <a:lnL w="12700">
                      <a:solidFill>
                        <a:srgbClr val="BEBEBE"/>
                      </a:solidFill>
                      <a:prstDash val="solid"/>
                    </a:lnL>
                    <a:lnR w="12700">
                      <a:solidFill>
                        <a:srgbClr val="BEBEBE"/>
                      </a:solidFill>
                      <a:prstDash val="solid"/>
                    </a:lnR>
                    <a:lnT w="12700">
                      <a:solidFill>
                        <a:srgbClr val="BEBEBE"/>
                      </a:solidFill>
                      <a:prstDash val="solid"/>
                    </a:lnT>
                    <a:lnB w="12700">
                      <a:solidFill>
                        <a:srgbClr val="BEBEBE"/>
                      </a:solidFill>
                      <a:prstDash val="solid"/>
                    </a:lnB>
                  </a:tcPr>
                </a:tc>
                <a:tc>
                  <a:txBody>
                    <a:bodyPr/>
                    <a:lstStyle/>
                    <a:p>
                      <a:pPr marL="477520">
                        <a:lnSpc>
                          <a:spcPct val="100000"/>
                        </a:lnSpc>
                        <a:spcBef>
                          <a:spcPts val="555"/>
                        </a:spcBef>
                      </a:pPr>
                      <a:r>
                        <a:rPr sz="900" spc="-5" dirty="0">
                          <a:latin typeface="Arial"/>
                          <a:cs typeface="Arial"/>
                        </a:rPr>
                        <a:t>MISO,</a:t>
                      </a:r>
                      <a:r>
                        <a:rPr sz="900" spc="-15" dirty="0">
                          <a:latin typeface="Arial"/>
                          <a:cs typeface="Arial"/>
                        </a:rPr>
                        <a:t> </a:t>
                      </a:r>
                      <a:r>
                        <a:rPr sz="900" spc="-5" dirty="0">
                          <a:latin typeface="Arial"/>
                          <a:cs typeface="Arial"/>
                        </a:rPr>
                        <a:t>high</a:t>
                      </a:r>
                      <a:r>
                        <a:rPr sz="900" spc="-30" dirty="0">
                          <a:latin typeface="Arial"/>
                          <a:cs typeface="Arial"/>
                        </a:rPr>
                        <a:t> </a:t>
                      </a:r>
                      <a:r>
                        <a:rPr sz="900" spc="-5" dirty="0">
                          <a:latin typeface="Arial"/>
                          <a:cs typeface="Arial"/>
                        </a:rPr>
                        <a:t>level</a:t>
                      </a:r>
                      <a:endParaRPr sz="900" dirty="0">
                        <a:latin typeface="Arial"/>
                        <a:cs typeface="Arial"/>
                      </a:endParaRPr>
                    </a:p>
                  </a:txBody>
                  <a:tcPr marL="0" marR="0" marT="70485" marB="0">
                    <a:lnL w="12700">
                      <a:solidFill>
                        <a:srgbClr val="BEBEBE"/>
                      </a:solidFill>
                      <a:prstDash val="solid"/>
                    </a:lnL>
                    <a:lnR w="12700">
                      <a:solidFill>
                        <a:srgbClr val="BEBEBE"/>
                      </a:solidFill>
                      <a:prstDash val="solid"/>
                    </a:lnR>
                    <a:lnT w="12700">
                      <a:solidFill>
                        <a:srgbClr val="BEBEBE"/>
                      </a:solidFill>
                      <a:prstDash val="solid"/>
                    </a:lnT>
                    <a:lnB w="12700">
                      <a:solidFill>
                        <a:srgbClr val="BEBEBE"/>
                      </a:solidFill>
                      <a:prstDash val="solid"/>
                    </a:lnB>
                  </a:tcPr>
                </a:tc>
                <a:tc>
                  <a:txBody>
                    <a:bodyPr/>
                    <a:lstStyle/>
                    <a:p>
                      <a:pPr algn="ctr">
                        <a:lnSpc>
                          <a:spcPct val="100000"/>
                        </a:lnSpc>
                        <a:spcBef>
                          <a:spcPts val="555"/>
                        </a:spcBef>
                      </a:pPr>
                      <a:r>
                        <a:rPr sz="900" dirty="0">
                          <a:latin typeface="Arial"/>
                          <a:cs typeface="Arial"/>
                        </a:rPr>
                        <a:t>2.0</a:t>
                      </a:r>
                    </a:p>
                  </a:txBody>
                  <a:tcPr marL="0" marR="0" marT="70485" marB="0">
                    <a:lnL w="12700">
                      <a:solidFill>
                        <a:srgbClr val="BEBEBE"/>
                      </a:solidFill>
                      <a:prstDash val="solid"/>
                    </a:lnL>
                    <a:lnR w="12700">
                      <a:solidFill>
                        <a:srgbClr val="BEBEBE"/>
                      </a:solidFill>
                      <a:prstDash val="solid"/>
                    </a:lnR>
                    <a:lnT w="12700">
                      <a:solidFill>
                        <a:srgbClr val="BEBEBE"/>
                      </a:solidFill>
                      <a:prstDash val="solid"/>
                    </a:lnT>
                    <a:lnB w="12700">
                      <a:solidFill>
                        <a:srgbClr val="BEBEBE"/>
                      </a:solidFill>
                      <a:prstDash val="solid"/>
                    </a:lnB>
                  </a:tcPr>
                </a:tc>
                <a:tc>
                  <a:txBody>
                    <a:bodyPr/>
                    <a:lstStyle/>
                    <a:p>
                      <a:pPr algn="ctr">
                        <a:lnSpc>
                          <a:spcPct val="100000"/>
                        </a:lnSpc>
                        <a:spcBef>
                          <a:spcPts val="555"/>
                        </a:spcBef>
                      </a:pPr>
                      <a:r>
                        <a:rPr sz="900" dirty="0">
                          <a:solidFill>
                            <a:srgbClr val="0066FF"/>
                          </a:solidFill>
                          <a:latin typeface="Arial"/>
                          <a:cs typeface="Arial"/>
                        </a:rPr>
                        <a:t>-</a:t>
                      </a:r>
                      <a:endParaRPr sz="900" dirty="0">
                        <a:latin typeface="Arial"/>
                        <a:cs typeface="Arial"/>
                      </a:endParaRPr>
                    </a:p>
                  </a:txBody>
                  <a:tcPr marL="0" marR="0" marT="70485" marB="0">
                    <a:lnL w="12700">
                      <a:solidFill>
                        <a:srgbClr val="BEBEBE"/>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algn="ctr">
                        <a:lnSpc>
                          <a:spcPct val="100000"/>
                        </a:lnSpc>
                        <a:spcBef>
                          <a:spcPts val="660"/>
                        </a:spcBef>
                      </a:pPr>
                      <a:r>
                        <a:rPr sz="1350" spc="-15" baseline="6172" dirty="0">
                          <a:latin typeface="Arial"/>
                          <a:cs typeface="Arial"/>
                        </a:rPr>
                        <a:t>V</a:t>
                      </a:r>
                      <a:r>
                        <a:rPr sz="600" spc="-10" dirty="0">
                          <a:latin typeface="Arial"/>
                          <a:cs typeface="Arial"/>
                        </a:rPr>
                        <a:t>DDD</a:t>
                      </a:r>
                      <a:endParaRPr sz="600" dirty="0">
                        <a:latin typeface="Arial"/>
                        <a:cs typeface="Arial"/>
                      </a:endParaRPr>
                    </a:p>
                  </a:txBody>
                  <a:tcPr marL="0" marR="0" marT="8382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marR="635" algn="ctr">
                        <a:lnSpc>
                          <a:spcPct val="100000"/>
                        </a:lnSpc>
                        <a:spcBef>
                          <a:spcPts val="555"/>
                        </a:spcBef>
                      </a:pPr>
                      <a:r>
                        <a:rPr sz="900" dirty="0">
                          <a:latin typeface="Arial"/>
                          <a:cs typeface="Arial"/>
                        </a:rPr>
                        <a:t>V</a:t>
                      </a:r>
                    </a:p>
                  </a:txBody>
                  <a:tcPr marL="0" marR="0" marT="70485" marB="0">
                    <a:lnL w="12700">
                      <a:solidFill>
                        <a:srgbClr val="A6A6A6"/>
                      </a:solidFill>
                      <a:prstDash val="solid"/>
                    </a:lnL>
                    <a:lnT w="12700">
                      <a:solidFill>
                        <a:srgbClr val="A6A6A6"/>
                      </a:solidFill>
                      <a:prstDash val="solid"/>
                    </a:lnT>
                    <a:lnB w="12700">
                      <a:solidFill>
                        <a:srgbClr val="A6A6A6"/>
                      </a:solidFill>
                      <a:prstDash val="solid"/>
                    </a:lnB>
                  </a:tcPr>
                </a:tc>
                <a:extLst>
                  <a:ext uri="{0D108BD9-81ED-4DB2-BD59-A6C34878D82A}">
                    <a16:rowId xmlns:a16="http://schemas.microsoft.com/office/drawing/2014/main" val="10018"/>
                  </a:ext>
                </a:extLst>
              </a:tr>
              <a:tr h="278130">
                <a:tc rowSpan="2">
                  <a:txBody>
                    <a:bodyPr/>
                    <a:lstStyle/>
                    <a:p>
                      <a:pPr>
                        <a:lnSpc>
                          <a:spcPct val="100000"/>
                        </a:lnSpc>
                        <a:spcBef>
                          <a:spcPts val="40"/>
                        </a:spcBef>
                      </a:pPr>
                      <a:endParaRPr sz="1400" dirty="0">
                        <a:latin typeface="Times New Roman"/>
                        <a:cs typeface="Times New Roman"/>
                      </a:endParaRPr>
                    </a:p>
                    <a:p>
                      <a:pPr>
                        <a:lnSpc>
                          <a:spcPct val="100000"/>
                        </a:lnSpc>
                      </a:pPr>
                      <a:r>
                        <a:rPr sz="900" dirty="0">
                          <a:latin typeface="Arial"/>
                          <a:cs typeface="Arial"/>
                        </a:rPr>
                        <a:t>SCLKO</a:t>
                      </a:r>
                      <a:r>
                        <a:rPr sz="900" spc="-25" dirty="0">
                          <a:latin typeface="Arial"/>
                          <a:cs typeface="Arial"/>
                        </a:rPr>
                        <a:t> </a:t>
                      </a:r>
                      <a:r>
                        <a:rPr sz="900" dirty="0">
                          <a:latin typeface="Arial"/>
                          <a:cs typeface="Arial"/>
                        </a:rPr>
                        <a:t>Output</a:t>
                      </a:r>
                      <a:r>
                        <a:rPr sz="900" spc="-30" dirty="0">
                          <a:latin typeface="Arial"/>
                          <a:cs typeface="Arial"/>
                        </a:rPr>
                        <a:t> </a:t>
                      </a:r>
                      <a:r>
                        <a:rPr sz="900" dirty="0">
                          <a:latin typeface="Arial"/>
                          <a:cs typeface="Arial"/>
                        </a:rPr>
                        <a:t>voltage</a:t>
                      </a:r>
                    </a:p>
                  </a:txBody>
                  <a:tcPr marL="0" marR="0" marT="5080" marB="0">
                    <a:lnR w="12700">
                      <a:solidFill>
                        <a:srgbClr val="BEBEBE"/>
                      </a:solidFill>
                      <a:prstDash val="solid"/>
                    </a:lnR>
                    <a:lnT w="12700">
                      <a:solidFill>
                        <a:srgbClr val="A6A6A6"/>
                      </a:solidFill>
                      <a:prstDash val="solid"/>
                    </a:lnT>
                    <a:lnB w="12700">
                      <a:solidFill>
                        <a:srgbClr val="A6A6A6"/>
                      </a:solidFill>
                      <a:prstDash val="solid"/>
                    </a:lnB>
                  </a:tcPr>
                </a:tc>
                <a:tc>
                  <a:txBody>
                    <a:bodyPr/>
                    <a:lstStyle/>
                    <a:p>
                      <a:pPr marL="148590">
                        <a:lnSpc>
                          <a:spcPct val="100000"/>
                        </a:lnSpc>
                        <a:spcBef>
                          <a:spcPts val="660"/>
                        </a:spcBef>
                      </a:pPr>
                      <a:r>
                        <a:rPr sz="1350" spc="-7" baseline="6172" dirty="0">
                          <a:latin typeface="Arial"/>
                          <a:cs typeface="Arial"/>
                        </a:rPr>
                        <a:t>V</a:t>
                      </a:r>
                      <a:r>
                        <a:rPr sz="600" spc="-5" dirty="0">
                          <a:latin typeface="Arial"/>
                          <a:cs typeface="Arial"/>
                        </a:rPr>
                        <a:t>SCLKOL</a:t>
                      </a:r>
                      <a:endParaRPr sz="600" dirty="0">
                        <a:latin typeface="Arial"/>
                        <a:cs typeface="Arial"/>
                      </a:endParaRPr>
                    </a:p>
                  </a:txBody>
                  <a:tcPr marL="0" marR="0" marT="83820" marB="0">
                    <a:lnL w="12700">
                      <a:solidFill>
                        <a:srgbClr val="BEBEBE"/>
                      </a:solidFill>
                      <a:prstDash val="solid"/>
                    </a:lnL>
                    <a:lnR w="12700">
                      <a:solidFill>
                        <a:srgbClr val="BEBEBE"/>
                      </a:solidFill>
                      <a:prstDash val="solid"/>
                    </a:lnR>
                    <a:lnT w="12700">
                      <a:solidFill>
                        <a:srgbClr val="BEBEBE"/>
                      </a:solidFill>
                      <a:prstDash val="solid"/>
                    </a:lnT>
                    <a:lnB w="12700">
                      <a:solidFill>
                        <a:srgbClr val="BEBEBE"/>
                      </a:solidFill>
                      <a:prstDash val="solid"/>
                    </a:lnB>
                  </a:tcPr>
                </a:tc>
                <a:tc>
                  <a:txBody>
                    <a:bodyPr/>
                    <a:lstStyle/>
                    <a:p>
                      <a:pPr marL="453390">
                        <a:lnSpc>
                          <a:spcPct val="100000"/>
                        </a:lnSpc>
                        <a:spcBef>
                          <a:spcPts val="550"/>
                        </a:spcBef>
                      </a:pPr>
                      <a:r>
                        <a:rPr sz="900" spc="-5" dirty="0">
                          <a:latin typeface="Arial"/>
                          <a:cs typeface="Arial"/>
                        </a:rPr>
                        <a:t>SCLKO,</a:t>
                      </a:r>
                      <a:r>
                        <a:rPr sz="900" spc="-15" dirty="0">
                          <a:latin typeface="Arial"/>
                          <a:cs typeface="Arial"/>
                        </a:rPr>
                        <a:t> </a:t>
                      </a:r>
                      <a:r>
                        <a:rPr sz="900" spc="-5" dirty="0">
                          <a:latin typeface="Arial"/>
                          <a:cs typeface="Arial"/>
                        </a:rPr>
                        <a:t>low</a:t>
                      </a:r>
                      <a:r>
                        <a:rPr sz="900" spc="-30" dirty="0">
                          <a:latin typeface="Arial"/>
                          <a:cs typeface="Arial"/>
                        </a:rPr>
                        <a:t> </a:t>
                      </a:r>
                      <a:r>
                        <a:rPr sz="900" spc="-5" dirty="0">
                          <a:latin typeface="Arial"/>
                          <a:cs typeface="Arial"/>
                        </a:rPr>
                        <a:t>level</a:t>
                      </a:r>
                      <a:endParaRPr sz="900" dirty="0">
                        <a:latin typeface="Arial"/>
                        <a:cs typeface="Arial"/>
                      </a:endParaRPr>
                    </a:p>
                  </a:txBody>
                  <a:tcPr marL="0" marR="0" marT="69850" marB="0">
                    <a:lnL w="12700">
                      <a:solidFill>
                        <a:srgbClr val="BEBEBE"/>
                      </a:solidFill>
                      <a:prstDash val="solid"/>
                    </a:lnL>
                    <a:lnR w="12700">
                      <a:solidFill>
                        <a:srgbClr val="BEBEBE"/>
                      </a:solidFill>
                      <a:prstDash val="solid"/>
                    </a:lnR>
                    <a:lnT w="12700">
                      <a:solidFill>
                        <a:srgbClr val="BEBEBE"/>
                      </a:solidFill>
                      <a:prstDash val="solid"/>
                    </a:lnT>
                    <a:lnB w="12700">
                      <a:solidFill>
                        <a:srgbClr val="BEBEBE"/>
                      </a:solidFill>
                      <a:prstDash val="solid"/>
                    </a:lnB>
                  </a:tcPr>
                </a:tc>
                <a:tc>
                  <a:txBody>
                    <a:bodyPr/>
                    <a:lstStyle/>
                    <a:p>
                      <a:pPr algn="ctr">
                        <a:lnSpc>
                          <a:spcPct val="100000"/>
                        </a:lnSpc>
                        <a:spcBef>
                          <a:spcPts val="550"/>
                        </a:spcBef>
                      </a:pPr>
                      <a:r>
                        <a:rPr sz="900" dirty="0">
                          <a:latin typeface="Arial"/>
                          <a:cs typeface="Arial"/>
                        </a:rPr>
                        <a:t>-</a:t>
                      </a:r>
                    </a:p>
                  </a:txBody>
                  <a:tcPr marL="0" marR="0" marT="69850" marB="0">
                    <a:lnL w="12700">
                      <a:solidFill>
                        <a:srgbClr val="BEBEBE"/>
                      </a:solidFill>
                      <a:prstDash val="solid"/>
                    </a:lnL>
                    <a:lnR w="12700">
                      <a:solidFill>
                        <a:srgbClr val="BEBEBE"/>
                      </a:solidFill>
                      <a:prstDash val="solid"/>
                    </a:lnR>
                    <a:lnT w="12700">
                      <a:solidFill>
                        <a:srgbClr val="BEBEBE"/>
                      </a:solidFill>
                      <a:prstDash val="solid"/>
                    </a:lnT>
                    <a:lnB w="12700">
                      <a:solidFill>
                        <a:srgbClr val="BEBEBE"/>
                      </a:solidFill>
                      <a:prstDash val="solid"/>
                    </a:lnB>
                  </a:tcPr>
                </a:tc>
                <a:tc>
                  <a:txBody>
                    <a:bodyPr/>
                    <a:lstStyle/>
                    <a:p>
                      <a:pPr algn="ctr">
                        <a:lnSpc>
                          <a:spcPct val="100000"/>
                        </a:lnSpc>
                        <a:spcBef>
                          <a:spcPts val="550"/>
                        </a:spcBef>
                      </a:pPr>
                      <a:r>
                        <a:rPr sz="900" dirty="0">
                          <a:solidFill>
                            <a:srgbClr val="0066FF"/>
                          </a:solidFill>
                          <a:latin typeface="Arial"/>
                          <a:cs typeface="Arial"/>
                        </a:rPr>
                        <a:t>-</a:t>
                      </a:r>
                      <a:endParaRPr sz="900" dirty="0">
                        <a:latin typeface="Arial"/>
                        <a:cs typeface="Arial"/>
                      </a:endParaRPr>
                    </a:p>
                  </a:txBody>
                  <a:tcPr marL="0" marR="0" marT="69850" marB="0">
                    <a:lnL w="12700">
                      <a:solidFill>
                        <a:srgbClr val="BEBEBE"/>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algn="ctr">
                        <a:lnSpc>
                          <a:spcPct val="100000"/>
                        </a:lnSpc>
                        <a:spcBef>
                          <a:spcPts val="550"/>
                        </a:spcBef>
                      </a:pPr>
                      <a:r>
                        <a:rPr sz="900" dirty="0">
                          <a:latin typeface="Arial"/>
                          <a:cs typeface="Arial"/>
                        </a:rPr>
                        <a:t>0.8</a:t>
                      </a:r>
                    </a:p>
                  </a:txBody>
                  <a:tcPr marL="0" marR="0" marT="6985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marR="635" algn="ctr">
                        <a:lnSpc>
                          <a:spcPct val="100000"/>
                        </a:lnSpc>
                        <a:spcBef>
                          <a:spcPts val="550"/>
                        </a:spcBef>
                      </a:pPr>
                      <a:r>
                        <a:rPr sz="900" dirty="0">
                          <a:latin typeface="Arial"/>
                          <a:cs typeface="Arial"/>
                        </a:rPr>
                        <a:t>V</a:t>
                      </a:r>
                    </a:p>
                  </a:txBody>
                  <a:tcPr marL="0" marR="0" marT="69850" marB="0">
                    <a:lnL w="12700">
                      <a:solidFill>
                        <a:srgbClr val="A6A6A6"/>
                      </a:solidFill>
                      <a:prstDash val="solid"/>
                    </a:lnL>
                    <a:lnT w="12700">
                      <a:solidFill>
                        <a:srgbClr val="A6A6A6"/>
                      </a:solidFill>
                      <a:prstDash val="solid"/>
                    </a:lnT>
                    <a:lnB w="12700">
                      <a:solidFill>
                        <a:srgbClr val="A6A6A6"/>
                      </a:solidFill>
                      <a:prstDash val="solid"/>
                    </a:lnB>
                  </a:tcPr>
                </a:tc>
                <a:extLst>
                  <a:ext uri="{0D108BD9-81ED-4DB2-BD59-A6C34878D82A}">
                    <a16:rowId xmlns:a16="http://schemas.microsoft.com/office/drawing/2014/main" val="10019"/>
                  </a:ext>
                </a:extLst>
              </a:tr>
              <a:tr h="278130">
                <a:tc vMerge="1">
                  <a:txBody>
                    <a:bodyPr/>
                    <a:lstStyle/>
                    <a:p>
                      <a:endParaRPr/>
                    </a:p>
                  </a:txBody>
                  <a:tcPr marL="0" marR="0" marT="5080" marB="0">
                    <a:lnR w="12700">
                      <a:solidFill>
                        <a:srgbClr val="BEBEBE"/>
                      </a:solidFill>
                      <a:prstDash val="solid"/>
                    </a:lnR>
                    <a:lnT w="12700">
                      <a:solidFill>
                        <a:srgbClr val="A6A6A6"/>
                      </a:solidFill>
                      <a:prstDash val="solid"/>
                    </a:lnT>
                    <a:lnB w="12700">
                      <a:solidFill>
                        <a:srgbClr val="A6A6A6"/>
                      </a:solidFill>
                      <a:prstDash val="solid"/>
                    </a:lnB>
                  </a:tcPr>
                </a:tc>
                <a:tc>
                  <a:txBody>
                    <a:bodyPr/>
                    <a:lstStyle/>
                    <a:p>
                      <a:pPr marL="142875">
                        <a:lnSpc>
                          <a:spcPct val="100000"/>
                        </a:lnSpc>
                        <a:spcBef>
                          <a:spcPts val="660"/>
                        </a:spcBef>
                      </a:pPr>
                      <a:r>
                        <a:rPr sz="1350" spc="-7" baseline="6172" dirty="0">
                          <a:latin typeface="Arial"/>
                          <a:cs typeface="Arial"/>
                        </a:rPr>
                        <a:t>V</a:t>
                      </a:r>
                      <a:r>
                        <a:rPr sz="600" spc="-5" dirty="0">
                          <a:latin typeface="Arial"/>
                          <a:cs typeface="Arial"/>
                        </a:rPr>
                        <a:t>SCLKOH</a:t>
                      </a:r>
                      <a:endParaRPr sz="600" dirty="0">
                        <a:latin typeface="Arial"/>
                        <a:cs typeface="Arial"/>
                      </a:endParaRPr>
                    </a:p>
                  </a:txBody>
                  <a:tcPr marL="0" marR="0" marT="83820" marB="0">
                    <a:lnL w="12700">
                      <a:solidFill>
                        <a:srgbClr val="BEBEBE"/>
                      </a:solidFill>
                      <a:prstDash val="solid"/>
                    </a:lnL>
                    <a:lnR w="12700">
                      <a:solidFill>
                        <a:srgbClr val="BEBEBE"/>
                      </a:solidFill>
                      <a:prstDash val="solid"/>
                    </a:lnR>
                    <a:lnT w="12700">
                      <a:solidFill>
                        <a:srgbClr val="BEBEBE"/>
                      </a:solidFill>
                      <a:prstDash val="solid"/>
                    </a:lnT>
                    <a:lnB w="12700">
                      <a:solidFill>
                        <a:srgbClr val="BEBEBE"/>
                      </a:solidFill>
                      <a:prstDash val="solid"/>
                    </a:lnB>
                  </a:tcPr>
                </a:tc>
                <a:tc>
                  <a:txBody>
                    <a:bodyPr/>
                    <a:lstStyle/>
                    <a:p>
                      <a:pPr marL="430530">
                        <a:lnSpc>
                          <a:spcPct val="100000"/>
                        </a:lnSpc>
                        <a:spcBef>
                          <a:spcPts val="555"/>
                        </a:spcBef>
                      </a:pPr>
                      <a:r>
                        <a:rPr sz="900" spc="-5" dirty="0">
                          <a:latin typeface="Arial"/>
                          <a:cs typeface="Arial"/>
                        </a:rPr>
                        <a:t>SCLKO,</a:t>
                      </a:r>
                      <a:r>
                        <a:rPr sz="900" spc="-15" dirty="0">
                          <a:latin typeface="Arial"/>
                          <a:cs typeface="Arial"/>
                        </a:rPr>
                        <a:t> </a:t>
                      </a:r>
                      <a:r>
                        <a:rPr sz="900" spc="-5" dirty="0">
                          <a:latin typeface="Arial"/>
                          <a:cs typeface="Arial"/>
                        </a:rPr>
                        <a:t>high</a:t>
                      </a:r>
                      <a:r>
                        <a:rPr sz="900" spc="-35" dirty="0">
                          <a:latin typeface="Arial"/>
                          <a:cs typeface="Arial"/>
                        </a:rPr>
                        <a:t> </a:t>
                      </a:r>
                      <a:r>
                        <a:rPr sz="900" spc="-5" dirty="0">
                          <a:latin typeface="Arial"/>
                          <a:cs typeface="Arial"/>
                        </a:rPr>
                        <a:t>level</a:t>
                      </a:r>
                      <a:endParaRPr sz="900" dirty="0">
                        <a:latin typeface="Arial"/>
                        <a:cs typeface="Arial"/>
                      </a:endParaRPr>
                    </a:p>
                  </a:txBody>
                  <a:tcPr marL="0" marR="0" marT="70485" marB="0">
                    <a:lnL w="12700">
                      <a:solidFill>
                        <a:srgbClr val="BEBEBE"/>
                      </a:solidFill>
                      <a:prstDash val="solid"/>
                    </a:lnL>
                    <a:lnR w="12700">
                      <a:solidFill>
                        <a:srgbClr val="BEBEBE"/>
                      </a:solidFill>
                      <a:prstDash val="solid"/>
                    </a:lnR>
                    <a:lnT w="12700">
                      <a:solidFill>
                        <a:srgbClr val="BEBEBE"/>
                      </a:solidFill>
                      <a:prstDash val="solid"/>
                    </a:lnT>
                    <a:lnB w="12700">
                      <a:solidFill>
                        <a:srgbClr val="BEBEBE"/>
                      </a:solidFill>
                      <a:prstDash val="solid"/>
                    </a:lnB>
                  </a:tcPr>
                </a:tc>
                <a:tc>
                  <a:txBody>
                    <a:bodyPr/>
                    <a:lstStyle/>
                    <a:p>
                      <a:pPr algn="ctr">
                        <a:lnSpc>
                          <a:spcPct val="100000"/>
                        </a:lnSpc>
                        <a:spcBef>
                          <a:spcPts val="555"/>
                        </a:spcBef>
                      </a:pPr>
                      <a:r>
                        <a:rPr sz="900" dirty="0">
                          <a:latin typeface="Arial"/>
                          <a:cs typeface="Arial"/>
                        </a:rPr>
                        <a:t>2.0</a:t>
                      </a:r>
                    </a:p>
                  </a:txBody>
                  <a:tcPr marL="0" marR="0" marT="70485" marB="0">
                    <a:lnL w="12700">
                      <a:solidFill>
                        <a:srgbClr val="BEBEBE"/>
                      </a:solidFill>
                      <a:prstDash val="solid"/>
                    </a:lnL>
                    <a:lnR w="12700">
                      <a:solidFill>
                        <a:srgbClr val="BEBEBE"/>
                      </a:solidFill>
                      <a:prstDash val="solid"/>
                    </a:lnR>
                    <a:lnT w="12700">
                      <a:solidFill>
                        <a:srgbClr val="BEBEBE"/>
                      </a:solidFill>
                      <a:prstDash val="solid"/>
                    </a:lnT>
                    <a:lnB w="12700">
                      <a:solidFill>
                        <a:srgbClr val="BEBEBE"/>
                      </a:solidFill>
                      <a:prstDash val="solid"/>
                    </a:lnB>
                  </a:tcPr>
                </a:tc>
                <a:tc>
                  <a:txBody>
                    <a:bodyPr/>
                    <a:lstStyle/>
                    <a:p>
                      <a:pPr algn="ctr">
                        <a:lnSpc>
                          <a:spcPct val="100000"/>
                        </a:lnSpc>
                        <a:spcBef>
                          <a:spcPts val="555"/>
                        </a:spcBef>
                      </a:pPr>
                      <a:r>
                        <a:rPr sz="900" dirty="0">
                          <a:solidFill>
                            <a:srgbClr val="0066FF"/>
                          </a:solidFill>
                          <a:latin typeface="Arial"/>
                          <a:cs typeface="Arial"/>
                        </a:rPr>
                        <a:t>-</a:t>
                      </a:r>
                      <a:endParaRPr sz="900" dirty="0">
                        <a:latin typeface="Arial"/>
                        <a:cs typeface="Arial"/>
                      </a:endParaRPr>
                    </a:p>
                  </a:txBody>
                  <a:tcPr marL="0" marR="0" marT="70485" marB="0">
                    <a:lnL w="12700">
                      <a:solidFill>
                        <a:srgbClr val="BEBEBE"/>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algn="ctr">
                        <a:lnSpc>
                          <a:spcPct val="100000"/>
                        </a:lnSpc>
                        <a:spcBef>
                          <a:spcPts val="660"/>
                        </a:spcBef>
                      </a:pPr>
                      <a:r>
                        <a:rPr sz="1350" spc="-15" baseline="6172" dirty="0">
                          <a:latin typeface="Arial"/>
                          <a:cs typeface="Arial"/>
                        </a:rPr>
                        <a:t>V</a:t>
                      </a:r>
                      <a:r>
                        <a:rPr sz="600" spc="-10" dirty="0">
                          <a:latin typeface="Arial"/>
                          <a:cs typeface="Arial"/>
                        </a:rPr>
                        <a:t>DDD</a:t>
                      </a:r>
                      <a:endParaRPr sz="600" dirty="0">
                        <a:latin typeface="Arial"/>
                        <a:cs typeface="Arial"/>
                      </a:endParaRPr>
                    </a:p>
                  </a:txBody>
                  <a:tcPr marL="0" marR="0" marT="8382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marR="635" algn="ctr">
                        <a:lnSpc>
                          <a:spcPct val="100000"/>
                        </a:lnSpc>
                        <a:spcBef>
                          <a:spcPts val="555"/>
                        </a:spcBef>
                      </a:pPr>
                      <a:r>
                        <a:rPr sz="900" dirty="0">
                          <a:latin typeface="Arial"/>
                          <a:cs typeface="Arial"/>
                        </a:rPr>
                        <a:t>V</a:t>
                      </a:r>
                    </a:p>
                  </a:txBody>
                  <a:tcPr marL="0" marR="0" marT="70485" marB="0">
                    <a:lnL w="12700">
                      <a:solidFill>
                        <a:srgbClr val="A6A6A6"/>
                      </a:solidFill>
                      <a:prstDash val="solid"/>
                    </a:lnL>
                    <a:lnT w="12700">
                      <a:solidFill>
                        <a:srgbClr val="A6A6A6"/>
                      </a:solidFill>
                      <a:prstDash val="solid"/>
                    </a:lnT>
                    <a:lnB w="12700">
                      <a:solidFill>
                        <a:srgbClr val="A6A6A6"/>
                      </a:solidFill>
                      <a:prstDash val="solid"/>
                    </a:lnB>
                  </a:tcPr>
                </a:tc>
                <a:extLst>
                  <a:ext uri="{0D108BD9-81ED-4DB2-BD59-A6C34878D82A}">
                    <a16:rowId xmlns:a16="http://schemas.microsoft.com/office/drawing/2014/main" val="10020"/>
                  </a:ext>
                </a:extLst>
              </a:tr>
              <a:tr h="278130">
                <a:tc rowSpan="2">
                  <a:txBody>
                    <a:bodyPr/>
                    <a:lstStyle/>
                    <a:p>
                      <a:pPr>
                        <a:lnSpc>
                          <a:spcPct val="100000"/>
                        </a:lnSpc>
                        <a:spcBef>
                          <a:spcPts val="40"/>
                        </a:spcBef>
                      </a:pPr>
                      <a:endParaRPr sz="1400" dirty="0">
                        <a:latin typeface="Times New Roman"/>
                        <a:cs typeface="Times New Roman"/>
                      </a:endParaRPr>
                    </a:p>
                    <a:p>
                      <a:pPr>
                        <a:lnSpc>
                          <a:spcPct val="100000"/>
                        </a:lnSpc>
                      </a:pPr>
                      <a:r>
                        <a:rPr sz="900" dirty="0">
                          <a:latin typeface="Arial"/>
                          <a:cs typeface="Arial"/>
                        </a:rPr>
                        <a:t>SDO</a:t>
                      </a:r>
                      <a:r>
                        <a:rPr sz="900" spc="-30" dirty="0">
                          <a:latin typeface="Arial"/>
                          <a:cs typeface="Arial"/>
                        </a:rPr>
                        <a:t> </a:t>
                      </a:r>
                      <a:r>
                        <a:rPr sz="900" dirty="0">
                          <a:latin typeface="Arial"/>
                          <a:cs typeface="Arial"/>
                        </a:rPr>
                        <a:t>Output</a:t>
                      </a:r>
                      <a:r>
                        <a:rPr sz="900" spc="-30" dirty="0">
                          <a:latin typeface="Arial"/>
                          <a:cs typeface="Arial"/>
                        </a:rPr>
                        <a:t> </a:t>
                      </a:r>
                      <a:r>
                        <a:rPr sz="900" dirty="0">
                          <a:latin typeface="Arial"/>
                          <a:cs typeface="Arial"/>
                        </a:rPr>
                        <a:t>voltage</a:t>
                      </a:r>
                    </a:p>
                  </a:txBody>
                  <a:tcPr marL="0" marR="0" marT="5080" marB="0">
                    <a:lnR w="12700">
                      <a:solidFill>
                        <a:srgbClr val="BEBEBE"/>
                      </a:solidFill>
                      <a:prstDash val="solid"/>
                    </a:lnR>
                    <a:lnT w="12700">
                      <a:solidFill>
                        <a:srgbClr val="A6A6A6"/>
                      </a:solidFill>
                      <a:prstDash val="solid"/>
                    </a:lnT>
                    <a:lnB w="12700">
                      <a:solidFill>
                        <a:srgbClr val="A6A6A6"/>
                      </a:solidFill>
                      <a:prstDash val="solid"/>
                    </a:lnB>
                  </a:tcPr>
                </a:tc>
                <a:tc>
                  <a:txBody>
                    <a:bodyPr/>
                    <a:lstStyle/>
                    <a:p>
                      <a:pPr marL="194310">
                        <a:lnSpc>
                          <a:spcPct val="100000"/>
                        </a:lnSpc>
                        <a:spcBef>
                          <a:spcPts val="660"/>
                        </a:spcBef>
                      </a:pPr>
                      <a:r>
                        <a:rPr sz="1350" spc="-7" baseline="6172" dirty="0">
                          <a:latin typeface="Arial"/>
                          <a:cs typeface="Arial"/>
                        </a:rPr>
                        <a:t>V</a:t>
                      </a:r>
                      <a:r>
                        <a:rPr sz="600" spc="-5" dirty="0">
                          <a:latin typeface="Arial"/>
                          <a:cs typeface="Arial"/>
                        </a:rPr>
                        <a:t>SDOL</a:t>
                      </a:r>
                      <a:endParaRPr sz="600" dirty="0">
                        <a:latin typeface="Arial"/>
                        <a:cs typeface="Arial"/>
                      </a:endParaRPr>
                    </a:p>
                  </a:txBody>
                  <a:tcPr marL="0" marR="0" marT="83820" marB="0">
                    <a:lnL w="12700">
                      <a:solidFill>
                        <a:srgbClr val="BEBEBE"/>
                      </a:solidFill>
                      <a:prstDash val="solid"/>
                    </a:lnL>
                    <a:lnR w="12700">
                      <a:solidFill>
                        <a:srgbClr val="BEBEBE"/>
                      </a:solidFill>
                      <a:prstDash val="solid"/>
                    </a:lnR>
                    <a:lnT w="12700">
                      <a:solidFill>
                        <a:srgbClr val="BEBEBE"/>
                      </a:solidFill>
                      <a:prstDash val="solid"/>
                    </a:lnT>
                    <a:lnB w="12700">
                      <a:solidFill>
                        <a:srgbClr val="BEBEBE"/>
                      </a:solidFill>
                      <a:prstDash val="solid"/>
                    </a:lnB>
                  </a:tcPr>
                </a:tc>
                <a:tc>
                  <a:txBody>
                    <a:bodyPr/>
                    <a:lstStyle/>
                    <a:p>
                      <a:pPr marL="523240">
                        <a:lnSpc>
                          <a:spcPct val="100000"/>
                        </a:lnSpc>
                        <a:spcBef>
                          <a:spcPts val="550"/>
                        </a:spcBef>
                      </a:pPr>
                      <a:r>
                        <a:rPr sz="900" spc="-5" dirty="0">
                          <a:latin typeface="Arial"/>
                          <a:cs typeface="Arial"/>
                        </a:rPr>
                        <a:t>SDO,</a:t>
                      </a:r>
                      <a:r>
                        <a:rPr sz="900" spc="-20" dirty="0">
                          <a:latin typeface="Arial"/>
                          <a:cs typeface="Arial"/>
                        </a:rPr>
                        <a:t> </a:t>
                      </a:r>
                      <a:r>
                        <a:rPr sz="900" spc="-5" dirty="0">
                          <a:latin typeface="Arial"/>
                          <a:cs typeface="Arial"/>
                        </a:rPr>
                        <a:t>low</a:t>
                      </a:r>
                      <a:r>
                        <a:rPr sz="900" spc="-30" dirty="0">
                          <a:latin typeface="Arial"/>
                          <a:cs typeface="Arial"/>
                        </a:rPr>
                        <a:t> </a:t>
                      </a:r>
                      <a:r>
                        <a:rPr sz="900" spc="-5" dirty="0">
                          <a:latin typeface="Arial"/>
                          <a:cs typeface="Arial"/>
                        </a:rPr>
                        <a:t>level</a:t>
                      </a:r>
                      <a:endParaRPr sz="900" dirty="0">
                        <a:latin typeface="Arial"/>
                        <a:cs typeface="Arial"/>
                      </a:endParaRPr>
                    </a:p>
                  </a:txBody>
                  <a:tcPr marL="0" marR="0" marT="69850" marB="0">
                    <a:lnL w="12700">
                      <a:solidFill>
                        <a:srgbClr val="BEBEBE"/>
                      </a:solidFill>
                      <a:prstDash val="solid"/>
                    </a:lnL>
                    <a:lnR w="12700">
                      <a:solidFill>
                        <a:srgbClr val="BEBEBE"/>
                      </a:solidFill>
                      <a:prstDash val="solid"/>
                    </a:lnR>
                    <a:lnT w="12700">
                      <a:solidFill>
                        <a:srgbClr val="BEBEBE"/>
                      </a:solidFill>
                      <a:prstDash val="solid"/>
                    </a:lnT>
                    <a:lnB w="12700">
                      <a:solidFill>
                        <a:srgbClr val="BEBEBE"/>
                      </a:solidFill>
                      <a:prstDash val="solid"/>
                    </a:lnB>
                  </a:tcPr>
                </a:tc>
                <a:tc>
                  <a:txBody>
                    <a:bodyPr/>
                    <a:lstStyle/>
                    <a:p>
                      <a:pPr algn="ctr">
                        <a:lnSpc>
                          <a:spcPct val="100000"/>
                        </a:lnSpc>
                        <a:spcBef>
                          <a:spcPts val="550"/>
                        </a:spcBef>
                      </a:pPr>
                      <a:r>
                        <a:rPr sz="900" dirty="0">
                          <a:latin typeface="Arial"/>
                          <a:cs typeface="Arial"/>
                        </a:rPr>
                        <a:t>-</a:t>
                      </a:r>
                    </a:p>
                  </a:txBody>
                  <a:tcPr marL="0" marR="0" marT="69850" marB="0">
                    <a:lnL w="12700">
                      <a:solidFill>
                        <a:srgbClr val="BEBEBE"/>
                      </a:solidFill>
                      <a:prstDash val="solid"/>
                    </a:lnL>
                    <a:lnR w="12700">
                      <a:solidFill>
                        <a:srgbClr val="BEBEBE"/>
                      </a:solidFill>
                      <a:prstDash val="solid"/>
                    </a:lnR>
                    <a:lnT w="12700">
                      <a:solidFill>
                        <a:srgbClr val="BEBEBE"/>
                      </a:solidFill>
                      <a:prstDash val="solid"/>
                    </a:lnT>
                    <a:lnB w="12700">
                      <a:solidFill>
                        <a:srgbClr val="BEBEBE"/>
                      </a:solidFill>
                      <a:prstDash val="solid"/>
                    </a:lnB>
                  </a:tcPr>
                </a:tc>
                <a:tc>
                  <a:txBody>
                    <a:bodyPr/>
                    <a:lstStyle/>
                    <a:p>
                      <a:pPr algn="ctr">
                        <a:lnSpc>
                          <a:spcPct val="100000"/>
                        </a:lnSpc>
                        <a:spcBef>
                          <a:spcPts val="550"/>
                        </a:spcBef>
                      </a:pPr>
                      <a:r>
                        <a:rPr sz="900" dirty="0">
                          <a:solidFill>
                            <a:srgbClr val="0066FF"/>
                          </a:solidFill>
                          <a:latin typeface="Arial"/>
                          <a:cs typeface="Arial"/>
                        </a:rPr>
                        <a:t>-</a:t>
                      </a:r>
                      <a:endParaRPr sz="900" dirty="0">
                        <a:latin typeface="Arial"/>
                        <a:cs typeface="Arial"/>
                      </a:endParaRPr>
                    </a:p>
                  </a:txBody>
                  <a:tcPr marL="0" marR="0" marT="69850" marB="0">
                    <a:lnL w="12700">
                      <a:solidFill>
                        <a:srgbClr val="BEBEBE"/>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algn="ctr">
                        <a:lnSpc>
                          <a:spcPct val="100000"/>
                        </a:lnSpc>
                        <a:spcBef>
                          <a:spcPts val="550"/>
                        </a:spcBef>
                      </a:pPr>
                      <a:r>
                        <a:rPr sz="900" dirty="0">
                          <a:latin typeface="Arial"/>
                          <a:cs typeface="Arial"/>
                        </a:rPr>
                        <a:t>0.8</a:t>
                      </a:r>
                    </a:p>
                  </a:txBody>
                  <a:tcPr marL="0" marR="0" marT="6985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marR="635" algn="ctr">
                        <a:lnSpc>
                          <a:spcPct val="100000"/>
                        </a:lnSpc>
                        <a:spcBef>
                          <a:spcPts val="550"/>
                        </a:spcBef>
                      </a:pPr>
                      <a:r>
                        <a:rPr sz="900" dirty="0">
                          <a:latin typeface="Arial"/>
                          <a:cs typeface="Arial"/>
                        </a:rPr>
                        <a:t>V</a:t>
                      </a:r>
                    </a:p>
                  </a:txBody>
                  <a:tcPr marL="0" marR="0" marT="69850" marB="0">
                    <a:lnL w="12700">
                      <a:solidFill>
                        <a:srgbClr val="A6A6A6"/>
                      </a:solidFill>
                      <a:prstDash val="solid"/>
                    </a:lnL>
                    <a:lnT w="12700">
                      <a:solidFill>
                        <a:srgbClr val="A6A6A6"/>
                      </a:solidFill>
                      <a:prstDash val="solid"/>
                    </a:lnT>
                    <a:lnB w="12700">
                      <a:solidFill>
                        <a:srgbClr val="A6A6A6"/>
                      </a:solidFill>
                      <a:prstDash val="solid"/>
                    </a:lnB>
                  </a:tcPr>
                </a:tc>
                <a:extLst>
                  <a:ext uri="{0D108BD9-81ED-4DB2-BD59-A6C34878D82A}">
                    <a16:rowId xmlns:a16="http://schemas.microsoft.com/office/drawing/2014/main" val="10021"/>
                  </a:ext>
                </a:extLst>
              </a:tr>
              <a:tr h="278130">
                <a:tc vMerge="1">
                  <a:txBody>
                    <a:bodyPr/>
                    <a:lstStyle/>
                    <a:p>
                      <a:endParaRPr/>
                    </a:p>
                  </a:txBody>
                  <a:tcPr marL="0" marR="0" marT="5080" marB="0">
                    <a:lnR w="12700">
                      <a:solidFill>
                        <a:srgbClr val="BEBEBE"/>
                      </a:solidFill>
                      <a:prstDash val="solid"/>
                    </a:lnR>
                    <a:lnT w="12700">
                      <a:solidFill>
                        <a:srgbClr val="A6A6A6"/>
                      </a:solidFill>
                      <a:prstDash val="solid"/>
                    </a:lnT>
                    <a:lnB w="12700">
                      <a:solidFill>
                        <a:srgbClr val="A6A6A6"/>
                      </a:solidFill>
                      <a:prstDash val="solid"/>
                    </a:lnB>
                  </a:tcPr>
                </a:tc>
                <a:tc>
                  <a:txBody>
                    <a:bodyPr/>
                    <a:lstStyle/>
                    <a:p>
                      <a:pPr marL="187960">
                        <a:lnSpc>
                          <a:spcPct val="100000"/>
                        </a:lnSpc>
                        <a:spcBef>
                          <a:spcPts val="660"/>
                        </a:spcBef>
                      </a:pPr>
                      <a:r>
                        <a:rPr sz="1350" spc="-7" baseline="6172" dirty="0">
                          <a:latin typeface="Arial"/>
                          <a:cs typeface="Arial"/>
                        </a:rPr>
                        <a:t>V</a:t>
                      </a:r>
                      <a:r>
                        <a:rPr sz="600" spc="-5" dirty="0">
                          <a:latin typeface="Arial"/>
                          <a:cs typeface="Arial"/>
                        </a:rPr>
                        <a:t>SDOH</a:t>
                      </a:r>
                      <a:endParaRPr sz="600" dirty="0">
                        <a:latin typeface="Arial"/>
                        <a:cs typeface="Arial"/>
                      </a:endParaRPr>
                    </a:p>
                  </a:txBody>
                  <a:tcPr marL="0" marR="0" marT="83820" marB="0">
                    <a:lnL w="12700">
                      <a:solidFill>
                        <a:srgbClr val="BEBEBE"/>
                      </a:solidFill>
                      <a:prstDash val="solid"/>
                    </a:lnL>
                    <a:lnR w="12700">
                      <a:solidFill>
                        <a:srgbClr val="BEBEBE"/>
                      </a:solidFill>
                      <a:prstDash val="solid"/>
                    </a:lnR>
                    <a:lnT w="12700">
                      <a:solidFill>
                        <a:srgbClr val="BEBEBE"/>
                      </a:solidFill>
                      <a:prstDash val="solid"/>
                    </a:lnT>
                    <a:lnB w="12700">
                      <a:solidFill>
                        <a:srgbClr val="BEBEBE"/>
                      </a:solidFill>
                      <a:prstDash val="solid"/>
                    </a:lnB>
                  </a:tcPr>
                </a:tc>
                <a:tc>
                  <a:txBody>
                    <a:bodyPr/>
                    <a:lstStyle/>
                    <a:p>
                      <a:pPr marL="500380">
                        <a:lnSpc>
                          <a:spcPct val="100000"/>
                        </a:lnSpc>
                        <a:spcBef>
                          <a:spcPts val="550"/>
                        </a:spcBef>
                      </a:pPr>
                      <a:r>
                        <a:rPr sz="900" spc="-5" dirty="0">
                          <a:latin typeface="Arial"/>
                          <a:cs typeface="Arial"/>
                        </a:rPr>
                        <a:t>SDO,</a:t>
                      </a:r>
                      <a:r>
                        <a:rPr sz="900" spc="-25" dirty="0">
                          <a:latin typeface="Arial"/>
                          <a:cs typeface="Arial"/>
                        </a:rPr>
                        <a:t> </a:t>
                      </a:r>
                      <a:r>
                        <a:rPr sz="900" dirty="0">
                          <a:latin typeface="Arial"/>
                          <a:cs typeface="Arial"/>
                        </a:rPr>
                        <a:t>high</a:t>
                      </a:r>
                      <a:r>
                        <a:rPr sz="900" spc="-30" dirty="0">
                          <a:latin typeface="Arial"/>
                          <a:cs typeface="Arial"/>
                        </a:rPr>
                        <a:t> </a:t>
                      </a:r>
                      <a:r>
                        <a:rPr sz="900" spc="-5" dirty="0">
                          <a:latin typeface="Arial"/>
                          <a:cs typeface="Arial"/>
                        </a:rPr>
                        <a:t>level</a:t>
                      </a:r>
                      <a:endParaRPr sz="900" dirty="0">
                        <a:latin typeface="Arial"/>
                        <a:cs typeface="Arial"/>
                      </a:endParaRPr>
                    </a:p>
                  </a:txBody>
                  <a:tcPr marL="0" marR="0" marT="69850" marB="0">
                    <a:lnL w="12700">
                      <a:solidFill>
                        <a:srgbClr val="BEBEBE"/>
                      </a:solidFill>
                      <a:prstDash val="solid"/>
                    </a:lnL>
                    <a:lnR w="12700">
                      <a:solidFill>
                        <a:srgbClr val="BEBEBE"/>
                      </a:solidFill>
                      <a:prstDash val="solid"/>
                    </a:lnR>
                    <a:lnT w="12700">
                      <a:solidFill>
                        <a:srgbClr val="BEBEBE"/>
                      </a:solidFill>
                      <a:prstDash val="solid"/>
                    </a:lnT>
                    <a:lnB w="12700">
                      <a:solidFill>
                        <a:srgbClr val="BEBEBE"/>
                      </a:solidFill>
                      <a:prstDash val="solid"/>
                    </a:lnB>
                  </a:tcPr>
                </a:tc>
                <a:tc>
                  <a:txBody>
                    <a:bodyPr/>
                    <a:lstStyle/>
                    <a:p>
                      <a:pPr algn="ctr">
                        <a:lnSpc>
                          <a:spcPct val="100000"/>
                        </a:lnSpc>
                        <a:spcBef>
                          <a:spcPts val="550"/>
                        </a:spcBef>
                      </a:pPr>
                      <a:r>
                        <a:rPr sz="900" dirty="0">
                          <a:latin typeface="Arial"/>
                          <a:cs typeface="Arial"/>
                        </a:rPr>
                        <a:t>2.0</a:t>
                      </a:r>
                    </a:p>
                  </a:txBody>
                  <a:tcPr marL="0" marR="0" marT="69850" marB="0">
                    <a:lnL w="12700">
                      <a:solidFill>
                        <a:srgbClr val="BEBEBE"/>
                      </a:solidFill>
                      <a:prstDash val="solid"/>
                    </a:lnL>
                    <a:lnR w="12700">
                      <a:solidFill>
                        <a:srgbClr val="BEBEBE"/>
                      </a:solidFill>
                      <a:prstDash val="solid"/>
                    </a:lnR>
                    <a:lnT w="12700">
                      <a:solidFill>
                        <a:srgbClr val="BEBEBE"/>
                      </a:solidFill>
                      <a:prstDash val="solid"/>
                    </a:lnT>
                    <a:lnB w="12700">
                      <a:solidFill>
                        <a:srgbClr val="BEBEBE"/>
                      </a:solidFill>
                      <a:prstDash val="solid"/>
                    </a:lnB>
                  </a:tcPr>
                </a:tc>
                <a:tc>
                  <a:txBody>
                    <a:bodyPr/>
                    <a:lstStyle/>
                    <a:p>
                      <a:pPr algn="ctr">
                        <a:lnSpc>
                          <a:spcPct val="100000"/>
                        </a:lnSpc>
                        <a:spcBef>
                          <a:spcPts val="550"/>
                        </a:spcBef>
                      </a:pPr>
                      <a:r>
                        <a:rPr sz="900" dirty="0">
                          <a:solidFill>
                            <a:srgbClr val="0066FF"/>
                          </a:solidFill>
                          <a:latin typeface="Arial"/>
                          <a:cs typeface="Arial"/>
                        </a:rPr>
                        <a:t>-</a:t>
                      </a:r>
                      <a:endParaRPr sz="900" dirty="0">
                        <a:latin typeface="Arial"/>
                        <a:cs typeface="Arial"/>
                      </a:endParaRPr>
                    </a:p>
                  </a:txBody>
                  <a:tcPr marL="0" marR="0" marT="69850" marB="0">
                    <a:lnL w="12700">
                      <a:solidFill>
                        <a:srgbClr val="BEBEBE"/>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algn="ctr">
                        <a:lnSpc>
                          <a:spcPct val="100000"/>
                        </a:lnSpc>
                        <a:spcBef>
                          <a:spcPts val="660"/>
                        </a:spcBef>
                      </a:pPr>
                      <a:r>
                        <a:rPr sz="1350" spc="-7" baseline="6172" dirty="0">
                          <a:latin typeface="Arial"/>
                          <a:cs typeface="Arial"/>
                        </a:rPr>
                        <a:t>V</a:t>
                      </a:r>
                      <a:r>
                        <a:rPr sz="600" spc="-5" dirty="0">
                          <a:latin typeface="Arial"/>
                          <a:cs typeface="Arial"/>
                        </a:rPr>
                        <a:t>DDD</a:t>
                      </a:r>
                      <a:endParaRPr sz="600" dirty="0">
                        <a:latin typeface="Arial"/>
                        <a:cs typeface="Arial"/>
                      </a:endParaRPr>
                    </a:p>
                  </a:txBody>
                  <a:tcPr marL="0" marR="0" marT="8382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marR="635" algn="ctr">
                        <a:lnSpc>
                          <a:spcPct val="100000"/>
                        </a:lnSpc>
                        <a:spcBef>
                          <a:spcPts val="550"/>
                        </a:spcBef>
                      </a:pPr>
                      <a:r>
                        <a:rPr sz="900" dirty="0">
                          <a:latin typeface="Arial"/>
                          <a:cs typeface="Arial"/>
                        </a:rPr>
                        <a:t>V</a:t>
                      </a:r>
                    </a:p>
                  </a:txBody>
                  <a:tcPr marL="0" marR="0" marT="69850" marB="0">
                    <a:lnL w="12700">
                      <a:solidFill>
                        <a:srgbClr val="A6A6A6"/>
                      </a:solidFill>
                      <a:prstDash val="solid"/>
                    </a:lnL>
                    <a:lnT w="12700">
                      <a:solidFill>
                        <a:srgbClr val="A6A6A6"/>
                      </a:solidFill>
                      <a:prstDash val="solid"/>
                    </a:lnT>
                    <a:lnB w="12700">
                      <a:solidFill>
                        <a:srgbClr val="A6A6A6"/>
                      </a:solidFill>
                      <a:prstDash val="solid"/>
                    </a:lnB>
                  </a:tcPr>
                </a:tc>
                <a:extLst>
                  <a:ext uri="{0D108BD9-81ED-4DB2-BD59-A6C34878D82A}">
                    <a16:rowId xmlns:a16="http://schemas.microsoft.com/office/drawing/2014/main" val="10022"/>
                  </a:ext>
                </a:extLst>
              </a:tr>
              <a:tr h="278130">
                <a:tc rowSpan="2">
                  <a:txBody>
                    <a:bodyPr/>
                    <a:lstStyle/>
                    <a:p>
                      <a:pPr>
                        <a:lnSpc>
                          <a:spcPct val="100000"/>
                        </a:lnSpc>
                        <a:spcBef>
                          <a:spcPts val="40"/>
                        </a:spcBef>
                      </a:pPr>
                      <a:endParaRPr sz="1400" dirty="0">
                        <a:latin typeface="Times New Roman"/>
                        <a:cs typeface="Times New Roman"/>
                      </a:endParaRPr>
                    </a:p>
                    <a:p>
                      <a:pPr>
                        <a:lnSpc>
                          <a:spcPct val="100000"/>
                        </a:lnSpc>
                      </a:pPr>
                      <a:r>
                        <a:rPr sz="900" spc="-5" dirty="0">
                          <a:latin typeface="Arial"/>
                          <a:cs typeface="Arial"/>
                        </a:rPr>
                        <a:t>CS</a:t>
                      </a:r>
                      <a:r>
                        <a:rPr sz="900" spc="-20" dirty="0">
                          <a:latin typeface="Arial"/>
                          <a:cs typeface="Arial"/>
                        </a:rPr>
                        <a:t> </a:t>
                      </a:r>
                      <a:r>
                        <a:rPr sz="900" dirty="0">
                          <a:latin typeface="Arial"/>
                          <a:cs typeface="Arial"/>
                        </a:rPr>
                        <a:t>output</a:t>
                      </a:r>
                      <a:r>
                        <a:rPr sz="900" spc="-45" dirty="0">
                          <a:latin typeface="Arial"/>
                          <a:cs typeface="Arial"/>
                        </a:rPr>
                        <a:t> </a:t>
                      </a:r>
                      <a:r>
                        <a:rPr sz="900" dirty="0">
                          <a:latin typeface="Arial"/>
                          <a:cs typeface="Arial"/>
                        </a:rPr>
                        <a:t>voltage</a:t>
                      </a:r>
                    </a:p>
                  </a:txBody>
                  <a:tcPr marL="0" marR="0" marT="5080" marB="0">
                    <a:lnR w="12700">
                      <a:solidFill>
                        <a:srgbClr val="BEBEBE"/>
                      </a:solidFill>
                      <a:prstDash val="solid"/>
                    </a:lnR>
                    <a:lnT w="12700">
                      <a:solidFill>
                        <a:srgbClr val="A6A6A6"/>
                      </a:solidFill>
                      <a:prstDash val="solid"/>
                    </a:lnT>
                    <a:lnB w="12700">
                      <a:solidFill>
                        <a:srgbClr val="A6A6A6"/>
                      </a:solidFill>
                      <a:prstDash val="solid"/>
                    </a:lnB>
                  </a:tcPr>
                </a:tc>
                <a:tc>
                  <a:txBody>
                    <a:bodyPr/>
                    <a:lstStyle/>
                    <a:p>
                      <a:pPr marL="224790">
                        <a:lnSpc>
                          <a:spcPct val="100000"/>
                        </a:lnSpc>
                        <a:spcBef>
                          <a:spcPts val="660"/>
                        </a:spcBef>
                      </a:pPr>
                      <a:r>
                        <a:rPr sz="1350" spc="-7" baseline="6172" dirty="0">
                          <a:latin typeface="Arial"/>
                          <a:cs typeface="Arial"/>
                        </a:rPr>
                        <a:t>V</a:t>
                      </a:r>
                      <a:r>
                        <a:rPr sz="600" spc="-5" dirty="0">
                          <a:latin typeface="Arial"/>
                          <a:cs typeface="Arial"/>
                        </a:rPr>
                        <a:t>CSL</a:t>
                      </a:r>
                      <a:endParaRPr sz="600" dirty="0">
                        <a:latin typeface="Arial"/>
                        <a:cs typeface="Arial"/>
                      </a:endParaRPr>
                    </a:p>
                  </a:txBody>
                  <a:tcPr marL="0" marR="0" marT="83820" marB="0">
                    <a:lnL w="12700">
                      <a:solidFill>
                        <a:srgbClr val="BEBEBE"/>
                      </a:solidFill>
                      <a:prstDash val="solid"/>
                    </a:lnL>
                    <a:lnR w="12700">
                      <a:solidFill>
                        <a:srgbClr val="BEBEBE"/>
                      </a:solidFill>
                      <a:prstDash val="solid"/>
                    </a:lnR>
                    <a:lnT w="12700">
                      <a:solidFill>
                        <a:srgbClr val="BEBEBE"/>
                      </a:solidFill>
                      <a:prstDash val="solid"/>
                    </a:lnT>
                    <a:lnB w="12700">
                      <a:solidFill>
                        <a:srgbClr val="BEBEBE"/>
                      </a:solidFill>
                      <a:prstDash val="solid"/>
                    </a:lnB>
                  </a:tcPr>
                </a:tc>
                <a:tc>
                  <a:txBody>
                    <a:bodyPr/>
                    <a:lstStyle/>
                    <a:p>
                      <a:pPr marL="567690">
                        <a:lnSpc>
                          <a:spcPct val="100000"/>
                        </a:lnSpc>
                        <a:spcBef>
                          <a:spcPts val="550"/>
                        </a:spcBef>
                      </a:pPr>
                      <a:r>
                        <a:rPr sz="900" dirty="0">
                          <a:latin typeface="Arial"/>
                          <a:cs typeface="Arial"/>
                        </a:rPr>
                        <a:t>CS,</a:t>
                      </a:r>
                      <a:r>
                        <a:rPr sz="900" spc="-25" dirty="0">
                          <a:latin typeface="Arial"/>
                          <a:cs typeface="Arial"/>
                        </a:rPr>
                        <a:t> </a:t>
                      </a:r>
                      <a:r>
                        <a:rPr sz="900" spc="-5" dirty="0">
                          <a:latin typeface="Arial"/>
                          <a:cs typeface="Arial"/>
                        </a:rPr>
                        <a:t>low</a:t>
                      </a:r>
                      <a:r>
                        <a:rPr sz="900" spc="-35" dirty="0">
                          <a:latin typeface="Arial"/>
                          <a:cs typeface="Arial"/>
                        </a:rPr>
                        <a:t> </a:t>
                      </a:r>
                      <a:r>
                        <a:rPr sz="900" spc="-5" dirty="0">
                          <a:latin typeface="Arial"/>
                          <a:cs typeface="Arial"/>
                        </a:rPr>
                        <a:t>level</a:t>
                      </a:r>
                      <a:endParaRPr sz="900" dirty="0">
                        <a:latin typeface="Arial"/>
                        <a:cs typeface="Arial"/>
                      </a:endParaRPr>
                    </a:p>
                  </a:txBody>
                  <a:tcPr marL="0" marR="0" marT="69850" marB="0">
                    <a:lnL w="12700">
                      <a:solidFill>
                        <a:srgbClr val="BEBEBE"/>
                      </a:solidFill>
                      <a:prstDash val="solid"/>
                    </a:lnL>
                    <a:lnR w="12700">
                      <a:solidFill>
                        <a:srgbClr val="BEBEBE"/>
                      </a:solidFill>
                      <a:prstDash val="solid"/>
                    </a:lnR>
                    <a:lnT w="12700">
                      <a:solidFill>
                        <a:srgbClr val="BEBEBE"/>
                      </a:solidFill>
                      <a:prstDash val="solid"/>
                    </a:lnT>
                    <a:lnB w="12700">
                      <a:solidFill>
                        <a:srgbClr val="BEBEBE"/>
                      </a:solidFill>
                      <a:prstDash val="solid"/>
                    </a:lnB>
                  </a:tcPr>
                </a:tc>
                <a:tc>
                  <a:txBody>
                    <a:bodyPr/>
                    <a:lstStyle/>
                    <a:p>
                      <a:pPr algn="ctr">
                        <a:lnSpc>
                          <a:spcPct val="100000"/>
                        </a:lnSpc>
                        <a:spcBef>
                          <a:spcPts val="550"/>
                        </a:spcBef>
                      </a:pPr>
                      <a:r>
                        <a:rPr sz="900" dirty="0">
                          <a:latin typeface="Arial"/>
                          <a:cs typeface="Arial"/>
                        </a:rPr>
                        <a:t>-</a:t>
                      </a:r>
                    </a:p>
                  </a:txBody>
                  <a:tcPr marL="0" marR="0" marT="69850" marB="0">
                    <a:lnL w="12700">
                      <a:solidFill>
                        <a:srgbClr val="BEBEBE"/>
                      </a:solidFill>
                      <a:prstDash val="solid"/>
                    </a:lnL>
                    <a:lnR w="12700">
                      <a:solidFill>
                        <a:srgbClr val="BEBEBE"/>
                      </a:solidFill>
                      <a:prstDash val="solid"/>
                    </a:lnR>
                    <a:lnT w="12700">
                      <a:solidFill>
                        <a:srgbClr val="BEBEBE"/>
                      </a:solidFill>
                      <a:prstDash val="solid"/>
                    </a:lnT>
                    <a:lnB w="12700">
                      <a:solidFill>
                        <a:srgbClr val="BEBEBE"/>
                      </a:solidFill>
                      <a:prstDash val="solid"/>
                    </a:lnB>
                  </a:tcPr>
                </a:tc>
                <a:tc>
                  <a:txBody>
                    <a:bodyPr/>
                    <a:lstStyle/>
                    <a:p>
                      <a:pPr algn="ctr">
                        <a:lnSpc>
                          <a:spcPct val="100000"/>
                        </a:lnSpc>
                        <a:spcBef>
                          <a:spcPts val="550"/>
                        </a:spcBef>
                      </a:pPr>
                      <a:r>
                        <a:rPr sz="900" dirty="0">
                          <a:solidFill>
                            <a:srgbClr val="0066FF"/>
                          </a:solidFill>
                          <a:latin typeface="Arial"/>
                          <a:cs typeface="Arial"/>
                        </a:rPr>
                        <a:t>-</a:t>
                      </a:r>
                      <a:endParaRPr sz="900" dirty="0">
                        <a:latin typeface="Arial"/>
                        <a:cs typeface="Arial"/>
                      </a:endParaRPr>
                    </a:p>
                  </a:txBody>
                  <a:tcPr marL="0" marR="0" marT="69850" marB="0">
                    <a:lnL w="12700">
                      <a:solidFill>
                        <a:srgbClr val="BEBEBE"/>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algn="ctr">
                        <a:lnSpc>
                          <a:spcPct val="100000"/>
                        </a:lnSpc>
                        <a:spcBef>
                          <a:spcPts val="550"/>
                        </a:spcBef>
                      </a:pPr>
                      <a:r>
                        <a:rPr sz="900" dirty="0">
                          <a:latin typeface="Arial"/>
                          <a:cs typeface="Arial"/>
                        </a:rPr>
                        <a:t>0.8</a:t>
                      </a:r>
                    </a:p>
                  </a:txBody>
                  <a:tcPr marL="0" marR="0" marT="6985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marR="635" algn="ctr">
                        <a:lnSpc>
                          <a:spcPct val="100000"/>
                        </a:lnSpc>
                        <a:spcBef>
                          <a:spcPts val="550"/>
                        </a:spcBef>
                      </a:pPr>
                      <a:r>
                        <a:rPr sz="900" dirty="0">
                          <a:latin typeface="Arial"/>
                          <a:cs typeface="Arial"/>
                        </a:rPr>
                        <a:t>V</a:t>
                      </a:r>
                    </a:p>
                  </a:txBody>
                  <a:tcPr marL="0" marR="0" marT="69850" marB="0">
                    <a:lnL w="12700">
                      <a:solidFill>
                        <a:srgbClr val="A6A6A6"/>
                      </a:solidFill>
                      <a:prstDash val="solid"/>
                    </a:lnL>
                    <a:lnT w="12700">
                      <a:solidFill>
                        <a:srgbClr val="A6A6A6"/>
                      </a:solidFill>
                      <a:prstDash val="solid"/>
                    </a:lnT>
                    <a:lnB w="12700">
                      <a:solidFill>
                        <a:srgbClr val="A6A6A6"/>
                      </a:solidFill>
                      <a:prstDash val="solid"/>
                    </a:lnB>
                  </a:tcPr>
                </a:tc>
                <a:extLst>
                  <a:ext uri="{0D108BD9-81ED-4DB2-BD59-A6C34878D82A}">
                    <a16:rowId xmlns:a16="http://schemas.microsoft.com/office/drawing/2014/main" val="10023"/>
                  </a:ext>
                </a:extLst>
              </a:tr>
              <a:tr h="278130">
                <a:tc vMerge="1">
                  <a:txBody>
                    <a:bodyPr/>
                    <a:lstStyle/>
                    <a:p>
                      <a:endParaRPr/>
                    </a:p>
                  </a:txBody>
                  <a:tcPr marL="0" marR="0" marT="5080" marB="0">
                    <a:lnR w="12700">
                      <a:solidFill>
                        <a:srgbClr val="BEBEBE"/>
                      </a:solidFill>
                      <a:prstDash val="solid"/>
                    </a:lnR>
                    <a:lnT w="12700">
                      <a:solidFill>
                        <a:srgbClr val="A6A6A6"/>
                      </a:solidFill>
                      <a:prstDash val="solid"/>
                    </a:lnT>
                    <a:lnB w="12700">
                      <a:solidFill>
                        <a:srgbClr val="A6A6A6"/>
                      </a:solidFill>
                      <a:prstDash val="solid"/>
                    </a:lnB>
                  </a:tcPr>
                </a:tc>
                <a:tc>
                  <a:txBody>
                    <a:bodyPr/>
                    <a:lstStyle/>
                    <a:p>
                      <a:pPr marL="224790">
                        <a:lnSpc>
                          <a:spcPct val="100000"/>
                        </a:lnSpc>
                        <a:spcBef>
                          <a:spcPts val="660"/>
                        </a:spcBef>
                      </a:pPr>
                      <a:r>
                        <a:rPr sz="1350" spc="-7" baseline="6172" dirty="0">
                          <a:latin typeface="Arial"/>
                          <a:cs typeface="Arial"/>
                        </a:rPr>
                        <a:t>V</a:t>
                      </a:r>
                      <a:r>
                        <a:rPr sz="600" spc="-5" dirty="0">
                          <a:latin typeface="Arial"/>
                          <a:cs typeface="Arial"/>
                        </a:rPr>
                        <a:t>CSL</a:t>
                      </a:r>
                      <a:endParaRPr sz="600" dirty="0">
                        <a:latin typeface="Arial"/>
                        <a:cs typeface="Arial"/>
                      </a:endParaRPr>
                    </a:p>
                  </a:txBody>
                  <a:tcPr marL="0" marR="0" marT="83820" marB="0">
                    <a:lnL w="12700">
                      <a:solidFill>
                        <a:srgbClr val="BEBEBE"/>
                      </a:solidFill>
                      <a:prstDash val="solid"/>
                    </a:lnL>
                    <a:lnR w="12700">
                      <a:solidFill>
                        <a:srgbClr val="BEBEBE"/>
                      </a:solidFill>
                      <a:prstDash val="solid"/>
                    </a:lnR>
                    <a:lnT w="12700">
                      <a:solidFill>
                        <a:srgbClr val="BEBEBE"/>
                      </a:solidFill>
                      <a:prstDash val="solid"/>
                    </a:lnT>
                    <a:lnB w="12700">
                      <a:solidFill>
                        <a:srgbClr val="BEBEBE"/>
                      </a:solidFill>
                      <a:prstDash val="solid"/>
                    </a:lnB>
                  </a:tcPr>
                </a:tc>
                <a:tc>
                  <a:txBody>
                    <a:bodyPr/>
                    <a:lstStyle/>
                    <a:p>
                      <a:pPr marL="544830">
                        <a:lnSpc>
                          <a:spcPct val="100000"/>
                        </a:lnSpc>
                        <a:spcBef>
                          <a:spcPts val="555"/>
                        </a:spcBef>
                      </a:pPr>
                      <a:r>
                        <a:rPr sz="900" spc="-5" dirty="0">
                          <a:latin typeface="Arial"/>
                          <a:cs typeface="Arial"/>
                        </a:rPr>
                        <a:t>CS,</a:t>
                      </a:r>
                      <a:r>
                        <a:rPr sz="900" spc="-20" dirty="0">
                          <a:latin typeface="Arial"/>
                          <a:cs typeface="Arial"/>
                        </a:rPr>
                        <a:t> </a:t>
                      </a:r>
                      <a:r>
                        <a:rPr sz="900" spc="-5" dirty="0">
                          <a:latin typeface="Arial"/>
                          <a:cs typeface="Arial"/>
                        </a:rPr>
                        <a:t>high</a:t>
                      </a:r>
                      <a:r>
                        <a:rPr sz="900" spc="-40" dirty="0">
                          <a:latin typeface="Arial"/>
                          <a:cs typeface="Arial"/>
                        </a:rPr>
                        <a:t> </a:t>
                      </a:r>
                      <a:r>
                        <a:rPr sz="900" spc="-5" dirty="0">
                          <a:latin typeface="Arial"/>
                          <a:cs typeface="Arial"/>
                        </a:rPr>
                        <a:t>level</a:t>
                      </a:r>
                      <a:endParaRPr sz="900" dirty="0">
                        <a:latin typeface="Arial"/>
                        <a:cs typeface="Arial"/>
                      </a:endParaRPr>
                    </a:p>
                  </a:txBody>
                  <a:tcPr marL="0" marR="0" marT="70485" marB="0">
                    <a:lnL w="12700">
                      <a:solidFill>
                        <a:srgbClr val="BEBEBE"/>
                      </a:solidFill>
                      <a:prstDash val="solid"/>
                    </a:lnL>
                    <a:lnR w="12700">
                      <a:solidFill>
                        <a:srgbClr val="BEBEBE"/>
                      </a:solidFill>
                      <a:prstDash val="solid"/>
                    </a:lnR>
                    <a:lnT w="12700">
                      <a:solidFill>
                        <a:srgbClr val="BEBEBE"/>
                      </a:solidFill>
                      <a:prstDash val="solid"/>
                    </a:lnT>
                    <a:lnB w="12700">
                      <a:solidFill>
                        <a:srgbClr val="BEBEBE"/>
                      </a:solidFill>
                      <a:prstDash val="solid"/>
                    </a:lnB>
                  </a:tcPr>
                </a:tc>
                <a:tc>
                  <a:txBody>
                    <a:bodyPr/>
                    <a:lstStyle/>
                    <a:p>
                      <a:pPr algn="ctr">
                        <a:lnSpc>
                          <a:spcPct val="100000"/>
                        </a:lnSpc>
                        <a:spcBef>
                          <a:spcPts val="555"/>
                        </a:spcBef>
                      </a:pPr>
                      <a:r>
                        <a:rPr sz="900" dirty="0">
                          <a:latin typeface="Arial"/>
                          <a:cs typeface="Arial"/>
                        </a:rPr>
                        <a:t>2.0</a:t>
                      </a:r>
                    </a:p>
                  </a:txBody>
                  <a:tcPr marL="0" marR="0" marT="70485" marB="0">
                    <a:lnL w="12700">
                      <a:solidFill>
                        <a:srgbClr val="BEBEBE"/>
                      </a:solidFill>
                      <a:prstDash val="solid"/>
                    </a:lnL>
                    <a:lnR w="12700">
                      <a:solidFill>
                        <a:srgbClr val="BEBEBE"/>
                      </a:solidFill>
                      <a:prstDash val="solid"/>
                    </a:lnR>
                    <a:lnT w="12700">
                      <a:solidFill>
                        <a:srgbClr val="BEBEBE"/>
                      </a:solidFill>
                      <a:prstDash val="solid"/>
                    </a:lnT>
                    <a:lnB w="12700">
                      <a:solidFill>
                        <a:srgbClr val="BEBEBE"/>
                      </a:solidFill>
                      <a:prstDash val="solid"/>
                    </a:lnB>
                  </a:tcPr>
                </a:tc>
                <a:tc>
                  <a:txBody>
                    <a:bodyPr/>
                    <a:lstStyle/>
                    <a:p>
                      <a:pPr algn="ctr">
                        <a:lnSpc>
                          <a:spcPct val="100000"/>
                        </a:lnSpc>
                        <a:spcBef>
                          <a:spcPts val="555"/>
                        </a:spcBef>
                      </a:pPr>
                      <a:r>
                        <a:rPr sz="900" dirty="0">
                          <a:solidFill>
                            <a:srgbClr val="0066FF"/>
                          </a:solidFill>
                          <a:latin typeface="Arial"/>
                          <a:cs typeface="Arial"/>
                        </a:rPr>
                        <a:t>-</a:t>
                      </a:r>
                      <a:endParaRPr sz="900" dirty="0">
                        <a:latin typeface="Arial"/>
                        <a:cs typeface="Arial"/>
                      </a:endParaRPr>
                    </a:p>
                  </a:txBody>
                  <a:tcPr marL="0" marR="0" marT="70485" marB="0">
                    <a:lnL w="12700">
                      <a:solidFill>
                        <a:srgbClr val="BEBEBE"/>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algn="ctr">
                        <a:lnSpc>
                          <a:spcPct val="100000"/>
                        </a:lnSpc>
                        <a:spcBef>
                          <a:spcPts val="660"/>
                        </a:spcBef>
                      </a:pPr>
                      <a:r>
                        <a:rPr sz="1350" spc="-15" baseline="6172" dirty="0">
                          <a:latin typeface="Arial"/>
                          <a:cs typeface="Arial"/>
                        </a:rPr>
                        <a:t>V</a:t>
                      </a:r>
                      <a:r>
                        <a:rPr sz="600" spc="-10" dirty="0">
                          <a:latin typeface="Arial"/>
                          <a:cs typeface="Arial"/>
                        </a:rPr>
                        <a:t>DDD</a:t>
                      </a:r>
                      <a:endParaRPr sz="600" dirty="0">
                        <a:latin typeface="Arial"/>
                        <a:cs typeface="Arial"/>
                      </a:endParaRPr>
                    </a:p>
                  </a:txBody>
                  <a:tcPr marL="0" marR="0" marT="8382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marR="635" algn="ctr">
                        <a:lnSpc>
                          <a:spcPct val="100000"/>
                        </a:lnSpc>
                        <a:spcBef>
                          <a:spcPts val="555"/>
                        </a:spcBef>
                      </a:pPr>
                      <a:r>
                        <a:rPr sz="900" dirty="0">
                          <a:latin typeface="Arial"/>
                          <a:cs typeface="Arial"/>
                        </a:rPr>
                        <a:t>V</a:t>
                      </a:r>
                    </a:p>
                  </a:txBody>
                  <a:tcPr marL="0" marR="0" marT="70485" marB="0">
                    <a:lnL w="12700">
                      <a:solidFill>
                        <a:srgbClr val="A6A6A6"/>
                      </a:solidFill>
                      <a:prstDash val="solid"/>
                    </a:lnL>
                    <a:lnT w="12700">
                      <a:solidFill>
                        <a:srgbClr val="A6A6A6"/>
                      </a:solidFill>
                      <a:prstDash val="solid"/>
                    </a:lnT>
                    <a:lnB w="12700">
                      <a:solidFill>
                        <a:srgbClr val="A6A6A6"/>
                      </a:solidFill>
                      <a:prstDash val="solid"/>
                    </a:lnB>
                  </a:tcPr>
                </a:tc>
                <a:extLst>
                  <a:ext uri="{0D108BD9-81ED-4DB2-BD59-A6C34878D82A}">
                    <a16:rowId xmlns:a16="http://schemas.microsoft.com/office/drawing/2014/main" val="10024"/>
                  </a:ext>
                </a:extLst>
              </a:tr>
              <a:tr h="278130">
                <a:tc rowSpan="2">
                  <a:txBody>
                    <a:bodyPr/>
                    <a:lstStyle/>
                    <a:p>
                      <a:pPr>
                        <a:lnSpc>
                          <a:spcPct val="100000"/>
                        </a:lnSpc>
                        <a:spcBef>
                          <a:spcPts val="40"/>
                        </a:spcBef>
                      </a:pPr>
                      <a:endParaRPr sz="1400" dirty="0">
                        <a:latin typeface="Times New Roman"/>
                        <a:cs typeface="Times New Roman"/>
                      </a:endParaRPr>
                    </a:p>
                    <a:p>
                      <a:pPr>
                        <a:lnSpc>
                          <a:spcPct val="100000"/>
                        </a:lnSpc>
                      </a:pPr>
                      <a:r>
                        <a:rPr sz="900" spc="-5" dirty="0">
                          <a:latin typeface="Arial"/>
                          <a:cs typeface="Arial"/>
                        </a:rPr>
                        <a:t>HOLD</a:t>
                      </a:r>
                      <a:r>
                        <a:rPr sz="900" spc="-20" dirty="0">
                          <a:latin typeface="Arial"/>
                          <a:cs typeface="Arial"/>
                        </a:rPr>
                        <a:t> </a:t>
                      </a:r>
                      <a:r>
                        <a:rPr sz="900" dirty="0">
                          <a:latin typeface="Arial"/>
                          <a:cs typeface="Arial"/>
                        </a:rPr>
                        <a:t>output</a:t>
                      </a:r>
                      <a:r>
                        <a:rPr sz="900" spc="-40" dirty="0">
                          <a:latin typeface="Arial"/>
                          <a:cs typeface="Arial"/>
                        </a:rPr>
                        <a:t> </a:t>
                      </a:r>
                      <a:r>
                        <a:rPr sz="900" dirty="0">
                          <a:latin typeface="Arial"/>
                          <a:cs typeface="Arial"/>
                        </a:rPr>
                        <a:t>voltage</a:t>
                      </a:r>
                    </a:p>
                  </a:txBody>
                  <a:tcPr marL="0" marR="0" marT="5080" marB="0">
                    <a:lnR w="12700">
                      <a:solidFill>
                        <a:srgbClr val="BEBEBE"/>
                      </a:solidFill>
                      <a:prstDash val="solid"/>
                    </a:lnR>
                    <a:lnT w="12700">
                      <a:solidFill>
                        <a:srgbClr val="A6A6A6"/>
                      </a:solidFill>
                      <a:prstDash val="solid"/>
                    </a:lnT>
                    <a:lnB w="12700">
                      <a:solidFill>
                        <a:srgbClr val="A6A6A6"/>
                      </a:solidFill>
                      <a:prstDash val="solid"/>
                    </a:lnB>
                  </a:tcPr>
                </a:tc>
                <a:tc>
                  <a:txBody>
                    <a:bodyPr/>
                    <a:lstStyle/>
                    <a:p>
                      <a:pPr marL="171450">
                        <a:lnSpc>
                          <a:spcPct val="100000"/>
                        </a:lnSpc>
                        <a:spcBef>
                          <a:spcPts val="660"/>
                        </a:spcBef>
                      </a:pPr>
                      <a:r>
                        <a:rPr sz="1350" baseline="6172" dirty="0">
                          <a:latin typeface="Arial"/>
                          <a:cs typeface="Arial"/>
                        </a:rPr>
                        <a:t>V</a:t>
                      </a:r>
                      <a:r>
                        <a:rPr sz="600" dirty="0">
                          <a:latin typeface="Arial"/>
                          <a:cs typeface="Arial"/>
                        </a:rPr>
                        <a:t>HOLDL</a:t>
                      </a:r>
                    </a:p>
                  </a:txBody>
                  <a:tcPr marL="0" marR="0" marT="83820" marB="0">
                    <a:lnL w="12700">
                      <a:solidFill>
                        <a:srgbClr val="BEBEBE"/>
                      </a:solidFill>
                      <a:prstDash val="solid"/>
                    </a:lnL>
                    <a:lnR w="12700">
                      <a:solidFill>
                        <a:srgbClr val="BEBEBE"/>
                      </a:solidFill>
                      <a:prstDash val="solid"/>
                    </a:lnR>
                    <a:lnT w="12700">
                      <a:solidFill>
                        <a:srgbClr val="BEBEBE"/>
                      </a:solidFill>
                      <a:prstDash val="solid"/>
                    </a:lnT>
                    <a:lnB w="12700">
                      <a:solidFill>
                        <a:srgbClr val="BEBEBE"/>
                      </a:solidFill>
                      <a:prstDash val="solid"/>
                    </a:lnB>
                  </a:tcPr>
                </a:tc>
                <a:tc>
                  <a:txBody>
                    <a:bodyPr/>
                    <a:lstStyle/>
                    <a:p>
                      <a:pPr marL="488315">
                        <a:lnSpc>
                          <a:spcPct val="100000"/>
                        </a:lnSpc>
                        <a:spcBef>
                          <a:spcPts val="550"/>
                        </a:spcBef>
                      </a:pPr>
                      <a:r>
                        <a:rPr sz="900" spc="-5" dirty="0">
                          <a:latin typeface="Arial"/>
                          <a:cs typeface="Arial"/>
                        </a:rPr>
                        <a:t>HOLD,</a:t>
                      </a:r>
                      <a:r>
                        <a:rPr sz="900" spc="-20" dirty="0">
                          <a:latin typeface="Arial"/>
                          <a:cs typeface="Arial"/>
                        </a:rPr>
                        <a:t> </a:t>
                      </a:r>
                      <a:r>
                        <a:rPr sz="900" dirty="0">
                          <a:latin typeface="Arial"/>
                          <a:cs typeface="Arial"/>
                        </a:rPr>
                        <a:t>low</a:t>
                      </a:r>
                      <a:r>
                        <a:rPr sz="900" spc="-35" dirty="0">
                          <a:latin typeface="Arial"/>
                          <a:cs typeface="Arial"/>
                        </a:rPr>
                        <a:t> </a:t>
                      </a:r>
                      <a:r>
                        <a:rPr sz="900" spc="-5" dirty="0">
                          <a:latin typeface="Arial"/>
                          <a:cs typeface="Arial"/>
                        </a:rPr>
                        <a:t>level</a:t>
                      </a:r>
                      <a:endParaRPr sz="900" dirty="0">
                        <a:latin typeface="Arial"/>
                        <a:cs typeface="Arial"/>
                      </a:endParaRPr>
                    </a:p>
                  </a:txBody>
                  <a:tcPr marL="0" marR="0" marT="69850" marB="0">
                    <a:lnL w="12700">
                      <a:solidFill>
                        <a:srgbClr val="BEBEBE"/>
                      </a:solidFill>
                      <a:prstDash val="solid"/>
                    </a:lnL>
                    <a:lnR w="12700">
                      <a:solidFill>
                        <a:srgbClr val="BEBEBE"/>
                      </a:solidFill>
                      <a:prstDash val="solid"/>
                    </a:lnR>
                    <a:lnT w="12700">
                      <a:solidFill>
                        <a:srgbClr val="BEBEBE"/>
                      </a:solidFill>
                      <a:prstDash val="solid"/>
                    </a:lnT>
                    <a:lnB w="12700">
                      <a:solidFill>
                        <a:srgbClr val="BEBEBE"/>
                      </a:solidFill>
                      <a:prstDash val="solid"/>
                    </a:lnB>
                  </a:tcPr>
                </a:tc>
                <a:tc>
                  <a:txBody>
                    <a:bodyPr/>
                    <a:lstStyle/>
                    <a:p>
                      <a:pPr algn="ctr">
                        <a:lnSpc>
                          <a:spcPct val="100000"/>
                        </a:lnSpc>
                        <a:spcBef>
                          <a:spcPts val="550"/>
                        </a:spcBef>
                      </a:pPr>
                      <a:r>
                        <a:rPr sz="900" dirty="0">
                          <a:latin typeface="Arial"/>
                          <a:cs typeface="Arial"/>
                        </a:rPr>
                        <a:t>-</a:t>
                      </a:r>
                    </a:p>
                  </a:txBody>
                  <a:tcPr marL="0" marR="0" marT="69850" marB="0">
                    <a:lnL w="12700">
                      <a:solidFill>
                        <a:srgbClr val="BEBEBE"/>
                      </a:solidFill>
                      <a:prstDash val="solid"/>
                    </a:lnL>
                    <a:lnR w="12700">
                      <a:solidFill>
                        <a:srgbClr val="BEBEBE"/>
                      </a:solidFill>
                      <a:prstDash val="solid"/>
                    </a:lnR>
                    <a:lnT w="12700">
                      <a:solidFill>
                        <a:srgbClr val="BEBEBE"/>
                      </a:solidFill>
                      <a:prstDash val="solid"/>
                    </a:lnT>
                    <a:lnB w="12700">
                      <a:solidFill>
                        <a:srgbClr val="BEBEBE"/>
                      </a:solidFill>
                      <a:prstDash val="solid"/>
                    </a:lnB>
                  </a:tcPr>
                </a:tc>
                <a:tc>
                  <a:txBody>
                    <a:bodyPr/>
                    <a:lstStyle/>
                    <a:p>
                      <a:pPr algn="ctr">
                        <a:lnSpc>
                          <a:spcPct val="100000"/>
                        </a:lnSpc>
                        <a:spcBef>
                          <a:spcPts val="550"/>
                        </a:spcBef>
                      </a:pPr>
                      <a:r>
                        <a:rPr sz="900" dirty="0">
                          <a:solidFill>
                            <a:srgbClr val="0066FF"/>
                          </a:solidFill>
                          <a:latin typeface="Arial"/>
                          <a:cs typeface="Arial"/>
                        </a:rPr>
                        <a:t>-</a:t>
                      </a:r>
                      <a:endParaRPr sz="900" dirty="0">
                        <a:latin typeface="Arial"/>
                        <a:cs typeface="Arial"/>
                      </a:endParaRPr>
                    </a:p>
                  </a:txBody>
                  <a:tcPr marL="0" marR="0" marT="69850" marB="0">
                    <a:lnL w="12700">
                      <a:solidFill>
                        <a:srgbClr val="BEBEBE"/>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algn="ctr">
                        <a:lnSpc>
                          <a:spcPct val="100000"/>
                        </a:lnSpc>
                        <a:spcBef>
                          <a:spcPts val="550"/>
                        </a:spcBef>
                      </a:pPr>
                      <a:r>
                        <a:rPr sz="900" dirty="0">
                          <a:latin typeface="Arial"/>
                          <a:cs typeface="Arial"/>
                        </a:rPr>
                        <a:t>0.8</a:t>
                      </a:r>
                    </a:p>
                  </a:txBody>
                  <a:tcPr marL="0" marR="0" marT="6985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marR="635" algn="ctr">
                        <a:lnSpc>
                          <a:spcPct val="100000"/>
                        </a:lnSpc>
                        <a:spcBef>
                          <a:spcPts val="550"/>
                        </a:spcBef>
                      </a:pPr>
                      <a:r>
                        <a:rPr sz="900" dirty="0">
                          <a:latin typeface="Arial"/>
                          <a:cs typeface="Arial"/>
                        </a:rPr>
                        <a:t>V</a:t>
                      </a:r>
                    </a:p>
                  </a:txBody>
                  <a:tcPr marL="0" marR="0" marT="69850" marB="0">
                    <a:lnL w="12700">
                      <a:solidFill>
                        <a:srgbClr val="A6A6A6"/>
                      </a:solidFill>
                      <a:prstDash val="solid"/>
                    </a:lnL>
                    <a:lnT w="12700">
                      <a:solidFill>
                        <a:srgbClr val="A6A6A6"/>
                      </a:solidFill>
                      <a:prstDash val="solid"/>
                    </a:lnT>
                    <a:lnB w="12700">
                      <a:solidFill>
                        <a:srgbClr val="A6A6A6"/>
                      </a:solidFill>
                      <a:prstDash val="solid"/>
                    </a:lnB>
                  </a:tcPr>
                </a:tc>
                <a:extLst>
                  <a:ext uri="{0D108BD9-81ED-4DB2-BD59-A6C34878D82A}">
                    <a16:rowId xmlns:a16="http://schemas.microsoft.com/office/drawing/2014/main" val="10025"/>
                  </a:ext>
                </a:extLst>
              </a:tr>
              <a:tr h="278130">
                <a:tc vMerge="1">
                  <a:txBody>
                    <a:bodyPr/>
                    <a:lstStyle/>
                    <a:p>
                      <a:endParaRPr/>
                    </a:p>
                  </a:txBody>
                  <a:tcPr marL="0" marR="0" marT="5080" marB="0">
                    <a:lnR w="12700">
                      <a:solidFill>
                        <a:srgbClr val="BEBEBE"/>
                      </a:solidFill>
                      <a:prstDash val="solid"/>
                    </a:lnR>
                    <a:lnT w="12700">
                      <a:solidFill>
                        <a:srgbClr val="A6A6A6"/>
                      </a:solidFill>
                      <a:prstDash val="solid"/>
                    </a:lnT>
                    <a:lnB w="12700">
                      <a:solidFill>
                        <a:srgbClr val="A6A6A6"/>
                      </a:solidFill>
                      <a:prstDash val="solid"/>
                    </a:lnB>
                  </a:tcPr>
                </a:tc>
                <a:tc>
                  <a:txBody>
                    <a:bodyPr/>
                    <a:lstStyle/>
                    <a:p>
                      <a:pPr marL="165100">
                        <a:lnSpc>
                          <a:spcPct val="100000"/>
                        </a:lnSpc>
                        <a:spcBef>
                          <a:spcPts val="660"/>
                        </a:spcBef>
                      </a:pPr>
                      <a:r>
                        <a:rPr sz="1350" baseline="6172" dirty="0">
                          <a:latin typeface="Arial"/>
                          <a:cs typeface="Arial"/>
                        </a:rPr>
                        <a:t>V</a:t>
                      </a:r>
                      <a:r>
                        <a:rPr sz="600" dirty="0">
                          <a:latin typeface="Arial"/>
                          <a:cs typeface="Arial"/>
                        </a:rPr>
                        <a:t>HOLDH</a:t>
                      </a:r>
                    </a:p>
                  </a:txBody>
                  <a:tcPr marL="0" marR="0" marT="83820" marB="0">
                    <a:lnL w="12700">
                      <a:solidFill>
                        <a:srgbClr val="BEBEBE"/>
                      </a:solidFill>
                      <a:prstDash val="solid"/>
                    </a:lnL>
                    <a:lnR w="12700">
                      <a:solidFill>
                        <a:srgbClr val="BEBEBE"/>
                      </a:solidFill>
                      <a:prstDash val="solid"/>
                    </a:lnR>
                    <a:lnT w="12700">
                      <a:solidFill>
                        <a:srgbClr val="BEBEBE"/>
                      </a:solidFill>
                      <a:prstDash val="solid"/>
                    </a:lnT>
                    <a:lnB w="12700">
                      <a:solidFill>
                        <a:srgbClr val="BEBEBE"/>
                      </a:solidFill>
                      <a:prstDash val="solid"/>
                    </a:lnB>
                  </a:tcPr>
                </a:tc>
                <a:tc>
                  <a:txBody>
                    <a:bodyPr/>
                    <a:lstStyle/>
                    <a:p>
                      <a:pPr marL="465455">
                        <a:lnSpc>
                          <a:spcPct val="100000"/>
                        </a:lnSpc>
                        <a:spcBef>
                          <a:spcPts val="555"/>
                        </a:spcBef>
                      </a:pPr>
                      <a:r>
                        <a:rPr sz="900" spc="-5" dirty="0">
                          <a:latin typeface="Arial"/>
                          <a:cs typeface="Arial"/>
                        </a:rPr>
                        <a:t>HOLD,</a:t>
                      </a:r>
                      <a:r>
                        <a:rPr sz="900" spc="-20" dirty="0">
                          <a:latin typeface="Arial"/>
                          <a:cs typeface="Arial"/>
                        </a:rPr>
                        <a:t> </a:t>
                      </a:r>
                      <a:r>
                        <a:rPr sz="900" spc="-5" dirty="0">
                          <a:latin typeface="Arial"/>
                          <a:cs typeface="Arial"/>
                        </a:rPr>
                        <a:t>high</a:t>
                      </a:r>
                      <a:r>
                        <a:rPr sz="900" spc="-35" dirty="0">
                          <a:latin typeface="Arial"/>
                          <a:cs typeface="Arial"/>
                        </a:rPr>
                        <a:t> </a:t>
                      </a:r>
                      <a:r>
                        <a:rPr sz="900" spc="-5" dirty="0">
                          <a:latin typeface="Arial"/>
                          <a:cs typeface="Arial"/>
                        </a:rPr>
                        <a:t>level</a:t>
                      </a:r>
                      <a:endParaRPr sz="900" dirty="0">
                        <a:latin typeface="Arial"/>
                        <a:cs typeface="Arial"/>
                      </a:endParaRPr>
                    </a:p>
                  </a:txBody>
                  <a:tcPr marL="0" marR="0" marT="70485" marB="0">
                    <a:lnL w="12700">
                      <a:solidFill>
                        <a:srgbClr val="BEBEBE"/>
                      </a:solidFill>
                      <a:prstDash val="solid"/>
                    </a:lnL>
                    <a:lnR w="12700">
                      <a:solidFill>
                        <a:srgbClr val="BEBEBE"/>
                      </a:solidFill>
                      <a:prstDash val="solid"/>
                    </a:lnR>
                    <a:lnT w="12700">
                      <a:solidFill>
                        <a:srgbClr val="BEBEBE"/>
                      </a:solidFill>
                      <a:prstDash val="solid"/>
                    </a:lnT>
                    <a:lnB w="12700">
                      <a:solidFill>
                        <a:srgbClr val="BEBEBE"/>
                      </a:solidFill>
                      <a:prstDash val="solid"/>
                    </a:lnB>
                  </a:tcPr>
                </a:tc>
                <a:tc>
                  <a:txBody>
                    <a:bodyPr/>
                    <a:lstStyle/>
                    <a:p>
                      <a:pPr algn="ctr">
                        <a:lnSpc>
                          <a:spcPct val="100000"/>
                        </a:lnSpc>
                        <a:spcBef>
                          <a:spcPts val="555"/>
                        </a:spcBef>
                      </a:pPr>
                      <a:r>
                        <a:rPr sz="900" dirty="0">
                          <a:latin typeface="Arial"/>
                          <a:cs typeface="Arial"/>
                        </a:rPr>
                        <a:t>2.0</a:t>
                      </a:r>
                    </a:p>
                  </a:txBody>
                  <a:tcPr marL="0" marR="0" marT="70485" marB="0">
                    <a:lnL w="12700">
                      <a:solidFill>
                        <a:srgbClr val="BEBEBE"/>
                      </a:solidFill>
                      <a:prstDash val="solid"/>
                    </a:lnL>
                    <a:lnR w="12700">
                      <a:solidFill>
                        <a:srgbClr val="BEBEBE"/>
                      </a:solidFill>
                      <a:prstDash val="solid"/>
                    </a:lnR>
                    <a:lnT w="12700">
                      <a:solidFill>
                        <a:srgbClr val="BEBEBE"/>
                      </a:solidFill>
                      <a:prstDash val="solid"/>
                    </a:lnT>
                    <a:lnB w="12700">
                      <a:solidFill>
                        <a:srgbClr val="BEBEBE"/>
                      </a:solidFill>
                      <a:prstDash val="solid"/>
                    </a:lnB>
                  </a:tcPr>
                </a:tc>
                <a:tc>
                  <a:txBody>
                    <a:bodyPr/>
                    <a:lstStyle/>
                    <a:p>
                      <a:pPr algn="ctr">
                        <a:lnSpc>
                          <a:spcPct val="100000"/>
                        </a:lnSpc>
                        <a:spcBef>
                          <a:spcPts val="555"/>
                        </a:spcBef>
                      </a:pPr>
                      <a:r>
                        <a:rPr sz="900" dirty="0">
                          <a:solidFill>
                            <a:srgbClr val="0066FF"/>
                          </a:solidFill>
                          <a:latin typeface="Arial"/>
                          <a:cs typeface="Arial"/>
                        </a:rPr>
                        <a:t>-</a:t>
                      </a:r>
                      <a:endParaRPr sz="900" dirty="0">
                        <a:latin typeface="Arial"/>
                        <a:cs typeface="Arial"/>
                      </a:endParaRPr>
                    </a:p>
                  </a:txBody>
                  <a:tcPr marL="0" marR="0" marT="70485" marB="0">
                    <a:lnL w="12700">
                      <a:solidFill>
                        <a:srgbClr val="BEBEBE"/>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algn="ctr">
                        <a:lnSpc>
                          <a:spcPct val="100000"/>
                        </a:lnSpc>
                        <a:spcBef>
                          <a:spcPts val="660"/>
                        </a:spcBef>
                      </a:pPr>
                      <a:r>
                        <a:rPr sz="1350" spc="-15" baseline="6172" dirty="0">
                          <a:latin typeface="Arial"/>
                          <a:cs typeface="Arial"/>
                        </a:rPr>
                        <a:t>V</a:t>
                      </a:r>
                      <a:r>
                        <a:rPr sz="600" spc="-10" dirty="0">
                          <a:latin typeface="Arial"/>
                          <a:cs typeface="Arial"/>
                        </a:rPr>
                        <a:t>DDD</a:t>
                      </a:r>
                      <a:endParaRPr sz="600" dirty="0">
                        <a:latin typeface="Arial"/>
                        <a:cs typeface="Arial"/>
                      </a:endParaRPr>
                    </a:p>
                  </a:txBody>
                  <a:tcPr marL="0" marR="0" marT="8382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marR="635" algn="ctr">
                        <a:lnSpc>
                          <a:spcPct val="100000"/>
                        </a:lnSpc>
                        <a:spcBef>
                          <a:spcPts val="555"/>
                        </a:spcBef>
                      </a:pPr>
                      <a:r>
                        <a:rPr sz="900" dirty="0">
                          <a:latin typeface="Arial"/>
                          <a:cs typeface="Arial"/>
                        </a:rPr>
                        <a:t>V</a:t>
                      </a:r>
                    </a:p>
                  </a:txBody>
                  <a:tcPr marL="0" marR="0" marT="70485" marB="0">
                    <a:lnL w="12700">
                      <a:solidFill>
                        <a:srgbClr val="A6A6A6"/>
                      </a:solidFill>
                      <a:prstDash val="solid"/>
                    </a:lnL>
                    <a:lnT w="12700">
                      <a:solidFill>
                        <a:srgbClr val="A6A6A6"/>
                      </a:solidFill>
                      <a:prstDash val="solid"/>
                    </a:lnT>
                    <a:lnB w="12700">
                      <a:solidFill>
                        <a:srgbClr val="A6A6A6"/>
                      </a:solidFill>
                      <a:prstDash val="solid"/>
                    </a:lnB>
                  </a:tcPr>
                </a:tc>
                <a:extLst>
                  <a:ext uri="{0D108BD9-81ED-4DB2-BD59-A6C34878D82A}">
                    <a16:rowId xmlns:a16="http://schemas.microsoft.com/office/drawing/2014/main" val="10026"/>
                  </a:ext>
                </a:extLst>
              </a:tr>
            </a:tbl>
          </a:graphicData>
        </a:graphic>
      </p:graphicFrame>
      <p:sp>
        <p:nvSpPr>
          <p:cNvPr id="3" name="object 3"/>
          <p:cNvSpPr txBox="1"/>
          <p:nvPr/>
        </p:nvSpPr>
        <p:spPr>
          <a:xfrm>
            <a:off x="381914" y="802005"/>
            <a:ext cx="4855210" cy="239395"/>
          </a:xfrm>
          <a:prstGeom prst="rect">
            <a:avLst/>
          </a:prstGeom>
        </p:spPr>
        <p:txBody>
          <a:bodyPr vert="horz" wrap="square" lIns="0" tIns="12700" rIns="0" bIns="0" rtlCol="0">
            <a:spAutoFit/>
          </a:bodyPr>
          <a:lstStyle/>
          <a:p>
            <a:pPr marL="38100">
              <a:lnSpc>
                <a:spcPct val="100000"/>
              </a:lnSpc>
              <a:spcBef>
                <a:spcPts val="100"/>
              </a:spcBef>
            </a:pPr>
            <a:r>
              <a:rPr sz="1400" b="1" dirty="0">
                <a:latin typeface="Arial"/>
                <a:cs typeface="Arial"/>
              </a:rPr>
              <a:t>Electrical</a:t>
            </a:r>
            <a:r>
              <a:rPr sz="1400" b="1" spc="-30" dirty="0">
                <a:latin typeface="Arial"/>
                <a:cs typeface="Arial"/>
              </a:rPr>
              <a:t> </a:t>
            </a:r>
            <a:r>
              <a:rPr sz="1400" b="1" dirty="0">
                <a:latin typeface="Arial"/>
                <a:cs typeface="Arial"/>
              </a:rPr>
              <a:t>Characteristic</a:t>
            </a:r>
            <a:r>
              <a:rPr sz="1400" b="1" spc="-85" dirty="0">
                <a:latin typeface="Arial"/>
                <a:cs typeface="Arial"/>
              </a:rPr>
              <a:t> </a:t>
            </a:r>
            <a:r>
              <a:rPr sz="900" spc="-5" dirty="0">
                <a:latin typeface="Arial"/>
                <a:cs typeface="Arial"/>
              </a:rPr>
              <a:t>(V</a:t>
            </a:r>
            <a:r>
              <a:rPr sz="900" spc="-7" baseline="-18518" dirty="0">
                <a:latin typeface="Arial"/>
                <a:cs typeface="Arial"/>
              </a:rPr>
              <a:t>DDD</a:t>
            </a:r>
            <a:r>
              <a:rPr sz="900" spc="-5" dirty="0">
                <a:latin typeface="Arial"/>
                <a:cs typeface="Arial"/>
              </a:rPr>
              <a:t>/V</a:t>
            </a:r>
            <a:r>
              <a:rPr sz="900" spc="-7" baseline="-18518" dirty="0">
                <a:latin typeface="Arial"/>
                <a:cs typeface="Arial"/>
              </a:rPr>
              <a:t>DDS</a:t>
            </a:r>
            <a:r>
              <a:rPr sz="900" spc="37" baseline="-18518" dirty="0">
                <a:latin typeface="Arial"/>
                <a:cs typeface="Arial"/>
              </a:rPr>
              <a:t> </a:t>
            </a:r>
            <a:r>
              <a:rPr sz="900" dirty="0">
                <a:latin typeface="Arial"/>
                <a:cs typeface="Arial"/>
              </a:rPr>
              <a:t>=5.0V,</a:t>
            </a:r>
            <a:r>
              <a:rPr sz="900" spc="-5" dirty="0">
                <a:latin typeface="Arial"/>
                <a:cs typeface="Arial"/>
              </a:rPr>
              <a:t> </a:t>
            </a:r>
            <a:r>
              <a:rPr sz="900" dirty="0">
                <a:latin typeface="Arial"/>
                <a:cs typeface="Arial"/>
              </a:rPr>
              <a:t>Ta=25.0</a:t>
            </a:r>
            <a:r>
              <a:rPr sz="900" dirty="0">
                <a:latin typeface="맑은 고딕"/>
                <a:cs typeface="맑은 고딕"/>
              </a:rPr>
              <a:t>℃</a:t>
            </a:r>
            <a:r>
              <a:rPr sz="900" spc="-75" dirty="0">
                <a:latin typeface="맑은 고딕"/>
                <a:cs typeface="맑은 고딕"/>
              </a:rPr>
              <a:t> </a:t>
            </a:r>
            <a:r>
              <a:rPr sz="900" dirty="0">
                <a:latin typeface="Arial"/>
                <a:cs typeface="Arial"/>
              </a:rPr>
              <a:t>unless</a:t>
            </a:r>
            <a:r>
              <a:rPr sz="900" spc="-20" dirty="0">
                <a:latin typeface="Arial"/>
                <a:cs typeface="Arial"/>
              </a:rPr>
              <a:t> </a:t>
            </a:r>
            <a:r>
              <a:rPr sz="900" spc="-5" dirty="0">
                <a:latin typeface="Arial"/>
                <a:cs typeface="Arial"/>
              </a:rPr>
              <a:t>otherwise</a:t>
            </a:r>
            <a:r>
              <a:rPr sz="900" dirty="0">
                <a:latin typeface="Arial"/>
                <a:cs typeface="Arial"/>
              </a:rPr>
              <a:t> </a:t>
            </a:r>
            <a:r>
              <a:rPr sz="900" spc="-5" dirty="0">
                <a:latin typeface="Arial"/>
                <a:cs typeface="Arial"/>
              </a:rPr>
              <a:t>noted)</a:t>
            </a:r>
            <a:endParaRPr sz="900" dirty="0">
              <a:latin typeface="Arial"/>
              <a:cs typeface="Arial"/>
            </a:endParaRPr>
          </a:p>
        </p:txBody>
      </p:sp>
      <p:sp>
        <p:nvSpPr>
          <p:cNvPr id="4" name="object 4"/>
          <p:cNvSpPr/>
          <p:nvPr/>
        </p:nvSpPr>
        <p:spPr>
          <a:xfrm>
            <a:off x="405384" y="637031"/>
            <a:ext cx="6049010" cy="0"/>
          </a:xfrm>
          <a:custGeom>
            <a:avLst/>
            <a:gdLst/>
            <a:ahLst/>
            <a:cxnLst/>
            <a:rect l="l" t="t" r="r" b="b"/>
            <a:pathLst>
              <a:path w="6049010">
                <a:moveTo>
                  <a:pt x="0" y="0"/>
                </a:moveTo>
                <a:lnTo>
                  <a:pt x="6048629" y="0"/>
                </a:lnTo>
              </a:path>
            </a:pathLst>
          </a:custGeom>
          <a:ln w="6350">
            <a:solidFill>
              <a:srgbClr val="000000"/>
            </a:solidFill>
          </a:ln>
        </p:spPr>
        <p:txBody>
          <a:bodyPr wrap="square" lIns="0" tIns="0" rIns="0" bIns="0" rtlCol="0"/>
          <a:lstStyle/>
          <a:p>
            <a:endParaRPr dirty="0"/>
          </a:p>
        </p:txBody>
      </p:sp>
      <p:sp>
        <p:nvSpPr>
          <p:cNvPr id="7" name="object 7"/>
          <p:cNvSpPr txBox="1"/>
          <p:nvPr/>
        </p:nvSpPr>
        <p:spPr>
          <a:xfrm>
            <a:off x="400913" y="301879"/>
            <a:ext cx="622935" cy="299720"/>
          </a:xfrm>
          <a:prstGeom prst="rect">
            <a:avLst/>
          </a:prstGeom>
        </p:spPr>
        <p:txBody>
          <a:bodyPr vert="horz" wrap="square" lIns="0" tIns="12700" rIns="0" bIns="0" rtlCol="0">
            <a:spAutoFit/>
          </a:bodyPr>
          <a:lstStyle/>
          <a:p>
            <a:pPr marL="12700">
              <a:lnSpc>
                <a:spcPct val="100000"/>
              </a:lnSpc>
              <a:spcBef>
                <a:spcPts val="100"/>
              </a:spcBef>
            </a:pPr>
            <a:r>
              <a:rPr sz="1800" b="1" spc="-5" dirty="0">
                <a:latin typeface="Arial"/>
                <a:cs typeface="Arial"/>
              </a:rPr>
              <a:t>CQ24</a:t>
            </a:r>
            <a:endParaRPr sz="1800" dirty="0">
              <a:latin typeface="Arial"/>
              <a:cs typeface="Arial"/>
            </a:endParaRPr>
          </a:p>
        </p:txBody>
      </p:sp>
      <p:sp>
        <p:nvSpPr>
          <p:cNvPr id="11" name="object 9">
            <a:extLst>
              <a:ext uri="{FF2B5EF4-FFF2-40B4-BE49-F238E27FC236}">
                <a16:creationId xmlns:a16="http://schemas.microsoft.com/office/drawing/2014/main" id="{533D5BF5-1644-C152-E301-21FD199A3CF0}"/>
              </a:ext>
            </a:extLst>
          </p:cNvPr>
          <p:cNvSpPr txBox="1"/>
          <p:nvPr/>
        </p:nvSpPr>
        <p:spPr>
          <a:xfrm>
            <a:off x="304800" y="9067800"/>
            <a:ext cx="2078355" cy="289823"/>
          </a:xfrm>
          <a:prstGeom prst="rect">
            <a:avLst/>
          </a:prstGeom>
        </p:spPr>
        <p:txBody>
          <a:bodyPr vert="horz" wrap="square" lIns="0" tIns="12700" rIns="0" bIns="0" rtlCol="0">
            <a:spAutoFit/>
          </a:bodyPr>
          <a:lstStyle/>
          <a:p>
            <a:pPr marL="12700">
              <a:lnSpc>
                <a:spcPct val="100000"/>
              </a:lnSpc>
              <a:spcBef>
                <a:spcPts val="100"/>
              </a:spcBef>
            </a:pPr>
            <a:r>
              <a:rPr b="1" spc="-5" dirty="0">
                <a:solidFill>
                  <a:srgbClr val="FF0000"/>
                </a:solidFill>
                <a:cs typeface="Perpetua Titling MT"/>
              </a:rPr>
              <a:t>CONFIDENTIAL</a:t>
            </a:r>
            <a:endParaRPr dirty="0">
              <a:cs typeface="Perpetua Titling MT"/>
            </a:endParaRPr>
          </a:p>
        </p:txBody>
      </p:sp>
      <p:sp>
        <p:nvSpPr>
          <p:cNvPr id="12" name="object 6">
            <a:extLst>
              <a:ext uri="{FF2B5EF4-FFF2-40B4-BE49-F238E27FC236}">
                <a16:creationId xmlns:a16="http://schemas.microsoft.com/office/drawing/2014/main" id="{02353FCC-ADD8-75A5-63D2-0445909D098E}"/>
              </a:ext>
            </a:extLst>
          </p:cNvPr>
          <p:cNvSpPr/>
          <p:nvPr/>
        </p:nvSpPr>
        <p:spPr>
          <a:xfrm>
            <a:off x="301676" y="9458756"/>
            <a:ext cx="6246495" cy="0"/>
          </a:xfrm>
          <a:custGeom>
            <a:avLst/>
            <a:gdLst/>
            <a:ahLst/>
            <a:cxnLst/>
            <a:rect l="l" t="t" r="r" b="b"/>
            <a:pathLst>
              <a:path w="6246495">
                <a:moveTo>
                  <a:pt x="0" y="0"/>
                </a:moveTo>
                <a:lnTo>
                  <a:pt x="6245999" y="0"/>
                </a:lnTo>
              </a:path>
            </a:pathLst>
          </a:custGeom>
          <a:ln w="25920">
            <a:solidFill>
              <a:srgbClr val="BFBFBF"/>
            </a:solidFill>
          </a:ln>
        </p:spPr>
        <p:txBody>
          <a:bodyPr wrap="square" lIns="0" tIns="0" rIns="0" bIns="0" rtlCol="0"/>
          <a:lstStyle/>
          <a:p>
            <a:endParaRPr/>
          </a:p>
        </p:txBody>
      </p:sp>
      <p:sp>
        <p:nvSpPr>
          <p:cNvPr id="13" name="슬라이드 번호 개체 틀 3">
            <a:hlinkClick r:id="rId2"/>
            <a:extLst>
              <a:ext uri="{FF2B5EF4-FFF2-40B4-BE49-F238E27FC236}">
                <a16:creationId xmlns:a16="http://schemas.microsoft.com/office/drawing/2014/main" id="{3E8774A0-FBFE-2788-AF22-DF42BFD16291}"/>
              </a:ext>
            </a:extLst>
          </p:cNvPr>
          <p:cNvSpPr txBox="1">
            <a:spLocks/>
          </p:cNvSpPr>
          <p:nvPr/>
        </p:nvSpPr>
        <p:spPr>
          <a:xfrm>
            <a:off x="5151602" y="9452864"/>
            <a:ext cx="1487550"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dirty="0">
                <a:solidFill>
                  <a:prstClr val="black"/>
                </a:solidFill>
                <a:latin typeface="Arial" panose="020B0604020202020204" pitchFamily="34" charset="0"/>
                <a:cs typeface="Arial" panose="020B0604020202020204" pitchFamily="34" charset="0"/>
              </a:rPr>
              <a:t>http://www.glbltech.com/</a:t>
            </a:r>
            <a:endParaRPr lang="ko-KR" altLang="en-US" dirty="0">
              <a:solidFill>
                <a:prstClr val="black"/>
              </a:solidFill>
              <a:latin typeface="Arial" panose="020B0604020202020204" pitchFamily="34" charset="0"/>
              <a:cs typeface="Arial" panose="020B0604020202020204" pitchFamily="34" charset="0"/>
            </a:endParaRPr>
          </a:p>
        </p:txBody>
      </p:sp>
      <p:sp>
        <p:nvSpPr>
          <p:cNvPr id="14" name="object 38">
            <a:extLst>
              <a:ext uri="{FF2B5EF4-FFF2-40B4-BE49-F238E27FC236}">
                <a16:creationId xmlns:a16="http://schemas.microsoft.com/office/drawing/2014/main" id="{36610396-73EC-E303-9777-B3A060A595A2}"/>
              </a:ext>
            </a:extLst>
          </p:cNvPr>
          <p:cNvSpPr txBox="1">
            <a:spLocks/>
          </p:cNvSpPr>
          <p:nvPr/>
        </p:nvSpPr>
        <p:spPr>
          <a:xfrm>
            <a:off x="3309066" y="9547988"/>
            <a:ext cx="487045" cy="139141"/>
          </a:xfrm>
          <a:prstGeom prst="rect">
            <a:avLst/>
          </a:prstGeom>
        </p:spPr>
        <p:txBody>
          <a:bodyPr vert="horz" wrap="square" lIns="0" tIns="635" rIns="0" bIns="0" rtlCol="0">
            <a:spAutoFit/>
          </a:bodyPr>
          <a:lstStyle>
            <a:defPPr>
              <a:defRPr lang="ko-KR"/>
            </a:defPPr>
            <a:lvl1pPr marL="0" algn="l" defTabSz="914400" rtl="0" eaLnBrk="1" latinLnBrk="1" hangingPunct="1">
              <a:defRPr sz="1050" b="0" i="0" kern="1200">
                <a:solidFill>
                  <a:schemeClr val="tx1"/>
                </a:solidFill>
                <a:latin typeface="Arial"/>
                <a:ea typeface="+mn-ea"/>
                <a:cs typeface="Arial"/>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marL="12700">
              <a:spcBef>
                <a:spcPts val="5"/>
              </a:spcBef>
              <a:defRPr/>
            </a:pPr>
            <a:r>
              <a:rPr lang="en-US" sz="900" dirty="0">
                <a:solidFill>
                  <a:prstClr val="black"/>
                </a:solidFill>
              </a:rPr>
              <a:t>Page</a:t>
            </a:r>
            <a:r>
              <a:rPr lang="en-US" sz="900" spc="-60" dirty="0">
                <a:solidFill>
                  <a:prstClr val="black"/>
                </a:solidFill>
              </a:rPr>
              <a:t> </a:t>
            </a:r>
            <a:fld id="{81D60167-4931-47E6-BA6A-407CBD079E47}" type="slidenum">
              <a:rPr sz="900">
                <a:solidFill>
                  <a:prstClr val="black"/>
                </a:solidFill>
              </a:rPr>
              <a:pPr marL="12700">
                <a:spcBef>
                  <a:spcPts val="5"/>
                </a:spcBef>
                <a:defRPr/>
              </a:pPr>
              <a:t>10</a:t>
            </a:fld>
            <a:endParaRPr sz="900" dirty="0">
              <a:solidFill>
                <a:prstClr val="black"/>
              </a:solidFill>
            </a:endParaRPr>
          </a:p>
        </p:txBody>
      </p:sp>
      <p:sp>
        <p:nvSpPr>
          <p:cNvPr id="15" name="슬라이드 번호 개체 틀 3">
            <a:extLst>
              <a:ext uri="{FF2B5EF4-FFF2-40B4-BE49-F238E27FC236}">
                <a16:creationId xmlns:a16="http://schemas.microsoft.com/office/drawing/2014/main" id="{27FAFDF3-316D-3469-7903-56A645C2DF72}"/>
              </a:ext>
            </a:extLst>
          </p:cNvPr>
          <p:cNvSpPr txBox="1">
            <a:spLocks/>
          </p:cNvSpPr>
          <p:nvPr/>
        </p:nvSpPr>
        <p:spPr>
          <a:xfrm>
            <a:off x="299401" y="9520856"/>
            <a:ext cx="2060991" cy="175259"/>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lang="en-US" altLang="ko-KR" dirty="0">
                <a:solidFill>
                  <a:prstClr val="black"/>
                </a:solidFill>
                <a:latin typeface="Arial" panose="020B0604020202020204" pitchFamily="34" charset="0"/>
                <a:cs typeface="Arial" panose="020B0604020202020204" pitchFamily="34" charset="0"/>
              </a:rPr>
              <a:t>Dated 30-Nov 23  Rev. 01</a:t>
            </a:r>
            <a:endParaRPr lang="ko-KR" altLang="en-US" dirty="0">
              <a:solidFill>
                <a:prstClr val="black"/>
              </a:solidFill>
              <a:latin typeface="Arial" panose="020B0604020202020204" pitchFamily="34" charset="0"/>
              <a:cs typeface="Arial" panose="020B0604020202020204" pitchFamily="34" charset="0"/>
            </a:endParaRPr>
          </a:p>
        </p:txBody>
      </p:sp>
      <p:sp>
        <p:nvSpPr>
          <p:cNvPr id="16" name="Holder 3">
            <a:extLst>
              <a:ext uri="{FF2B5EF4-FFF2-40B4-BE49-F238E27FC236}">
                <a16:creationId xmlns:a16="http://schemas.microsoft.com/office/drawing/2014/main" id="{D2061AC5-13F1-4D57-00D7-8E9F78360292}"/>
              </a:ext>
            </a:extLst>
          </p:cNvPr>
          <p:cNvSpPr txBox="1">
            <a:spLocks/>
          </p:cNvSpPr>
          <p:nvPr/>
        </p:nvSpPr>
        <p:spPr>
          <a:xfrm>
            <a:off x="5147476" y="203944"/>
            <a:ext cx="1447800" cy="276999"/>
          </a:xfrm>
          <a:prstGeom prst="rect">
            <a:avLst/>
          </a:prstGeom>
        </p:spPr>
        <p:txBody>
          <a:bodyPr wrap="square" lIns="0" tIns="0" rIns="0" bIns="0">
            <a:spAutoFit/>
          </a:bodyPr>
          <a:lstStyle>
            <a:lvl1pPr marL="0">
              <a:defRPr>
                <a:solidFill>
                  <a:srgbClr val="FF99FF"/>
                </a:solidFill>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defTabSz="914400" latinLnBrk="0"/>
            <a:r>
              <a:rPr lang="en-US" sz="1800" kern="0" dirty="0"/>
              <a:t>&lt;Preliminary&gt;</a:t>
            </a:r>
          </a:p>
        </p:txBody>
      </p:sp>
      <p:sp>
        <p:nvSpPr>
          <p:cNvPr id="5" name="object 11">
            <a:extLst>
              <a:ext uri="{FF2B5EF4-FFF2-40B4-BE49-F238E27FC236}">
                <a16:creationId xmlns:a16="http://schemas.microsoft.com/office/drawing/2014/main" id="{AECC3F90-06B0-AC55-0A48-6D1832FBC94C}"/>
              </a:ext>
            </a:extLst>
          </p:cNvPr>
          <p:cNvSpPr txBox="1"/>
          <p:nvPr/>
        </p:nvSpPr>
        <p:spPr>
          <a:xfrm>
            <a:off x="1689100" y="8342244"/>
            <a:ext cx="3467099" cy="144848"/>
          </a:xfrm>
          <a:prstGeom prst="rect">
            <a:avLst/>
          </a:prstGeom>
        </p:spPr>
        <p:txBody>
          <a:bodyPr vert="horz" wrap="square" lIns="0" tIns="12700" rIns="0" bIns="0" rtlCol="0">
            <a:spAutoFit/>
          </a:bodyPr>
          <a:lstStyle/>
          <a:p>
            <a:pPr marL="63500" algn="ctr">
              <a:lnSpc>
                <a:spcPts val="1065"/>
              </a:lnSpc>
              <a:spcBef>
                <a:spcPts val="100"/>
              </a:spcBef>
              <a:tabLst>
                <a:tab pos="673100" algn="l"/>
              </a:tabLst>
            </a:pPr>
            <a:r>
              <a:rPr sz="900" b="1" spc="-65" dirty="0">
                <a:latin typeface="Arial" panose="020B0604020202020204" pitchFamily="34" charset="0"/>
                <a:cs typeface="Arial" panose="020B0604020202020204" pitchFamily="34" charset="0"/>
              </a:rPr>
              <a:t>T</a:t>
            </a:r>
            <a:r>
              <a:rPr sz="900" b="1" spc="-10" dirty="0">
                <a:latin typeface="Arial" panose="020B0604020202020204" pitchFamily="34" charset="0"/>
                <a:cs typeface="Arial" panose="020B0604020202020204" pitchFamily="34" charset="0"/>
              </a:rPr>
              <a:t>a</a:t>
            </a:r>
            <a:r>
              <a:rPr sz="900" b="1" spc="-5" dirty="0">
                <a:latin typeface="Arial" panose="020B0604020202020204" pitchFamily="34" charset="0"/>
                <a:cs typeface="Arial" panose="020B0604020202020204" pitchFamily="34" charset="0"/>
              </a:rPr>
              <a:t>bl</a:t>
            </a:r>
            <a:r>
              <a:rPr sz="900" b="1" dirty="0">
                <a:latin typeface="Arial" panose="020B0604020202020204" pitchFamily="34" charset="0"/>
                <a:cs typeface="Arial" panose="020B0604020202020204" pitchFamily="34" charset="0"/>
              </a:rPr>
              <a:t>e</a:t>
            </a:r>
            <a:r>
              <a:rPr lang="ko-KR" altLang="en-US" sz="900" b="1" dirty="0">
                <a:latin typeface="Arial" panose="020B0604020202020204" pitchFamily="34" charset="0"/>
                <a:cs typeface="Arial" panose="020B0604020202020204" pitchFamily="34" charset="0"/>
              </a:rPr>
              <a:t> </a:t>
            </a:r>
            <a:r>
              <a:rPr lang="en-US" altLang="ko-KR" sz="900" b="1" dirty="0">
                <a:latin typeface="Arial" panose="020B0604020202020204" pitchFamily="34" charset="0"/>
                <a:cs typeface="Arial" panose="020B0604020202020204" pitchFamily="34" charset="0"/>
              </a:rPr>
              <a:t>5</a:t>
            </a:r>
            <a:r>
              <a:rPr sz="900" b="1" dirty="0">
                <a:latin typeface="Arial" panose="020B0604020202020204" pitchFamily="34" charset="0"/>
                <a:cs typeface="Arial" panose="020B0604020202020204" pitchFamily="34" charset="0"/>
              </a:rPr>
              <a:t>.</a:t>
            </a:r>
            <a:r>
              <a:rPr lang="en-US" sz="900" b="1" dirty="0">
                <a:latin typeface="Arial" panose="020B0604020202020204" pitchFamily="34" charset="0"/>
                <a:cs typeface="Arial" panose="020B0604020202020204" pitchFamily="34" charset="0"/>
              </a:rPr>
              <a:t> Electrical Characteristics </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2" name="object 2"/>
          <p:cNvGraphicFramePr>
            <a:graphicFrameLocks noGrp="1"/>
          </p:cNvGraphicFramePr>
          <p:nvPr>
            <p:extLst>
              <p:ext uri="{D42A27DB-BD31-4B8C-83A1-F6EECF244321}">
                <p14:modId xmlns:p14="http://schemas.microsoft.com/office/powerpoint/2010/main" val="2513267951"/>
              </p:ext>
            </p:extLst>
          </p:nvPr>
        </p:nvGraphicFramePr>
        <p:xfrm>
          <a:off x="404812" y="1076325"/>
          <a:ext cx="6059168" cy="5794122"/>
        </p:xfrm>
        <a:graphic>
          <a:graphicData uri="http://schemas.openxmlformats.org/drawingml/2006/table">
            <a:tbl>
              <a:tblPr firstRow="1" bandRow="1">
                <a:tableStyleId>{2D5ABB26-0587-4C30-8999-92F81FD0307C}</a:tableStyleId>
              </a:tblPr>
              <a:tblGrid>
                <a:gridCol w="1362710">
                  <a:extLst>
                    <a:ext uri="{9D8B030D-6E8A-4147-A177-3AD203B41FA5}">
                      <a16:colId xmlns:a16="http://schemas.microsoft.com/office/drawing/2014/main" val="20000"/>
                    </a:ext>
                  </a:extLst>
                </a:gridCol>
                <a:gridCol w="745490">
                  <a:extLst>
                    <a:ext uri="{9D8B030D-6E8A-4147-A177-3AD203B41FA5}">
                      <a16:colId xmlns:a16="http://schemas.microsoft.com/office/drawing/2014/main" val="20001"/>
                    </a:ext>
                  </a:extLst>
                </a:gridCol>
                <a:gridCol w="1758314">
                  <a:extLst>
                    <a:ext uri="{9D8B030D-6E8A-4147-A177-3AD203B41FA5}">
                      <a16:colId xmlns:a16="http://schemas.microsoft.com/office/drawing/2014/main" val="20002"/>
                    </a:ext>
                  </a:extLst>
                </a:gridCol>
                <a:gridCol w="515620">
                  <a:extLst>
                    <a:ext uri="{9D8B030D-6E8A-4147-A177-3AD203B41FA5}">
                      <a16:colId xmlns:a16="http://schemas.microsoft.com/office/drawing/2014/main" val="20003"/>
                    </a:ext>
                  </a:extLst>
                </a:gridCol>
                <a:gridCol w="615950">
                  <a:extLst>
                    <a:ext uri="{9D8B030D-6E8A-4147-A177-3AD203B41FA5}">
                      <a16:colId xmlns:a16="http://schemas.microsoft.com/office/drawing/2014/main" val="20004"/>
                    </a:ext>
                  </a:extLst>
                </a:gridCol>
                <a:gridCol w="515620">
                  <a:extLst>
                    <a:ext uri="{9D8B030D-6E8A-4147-A177-3AD203B41FA5}">
                      <a16:colId xmlns:a16="http://schemas.microsoft.com/office/drawing/2014/main" val="20005"/>
                    </a:ext>
                  </a:extLst>
                </a:gridCol>
                <a:gridCol w="545464">
                  <a:extLst>
                    <a:ext uri="{9D8B030D-6E8A-4147-A177-3AD203B41FA5}">
                      <a16:colId xmlns:a16="http://schemas.microsoft.com/office/drawing/2014/main" val="20006"/>
                    </a:ext>
                  </a:extLst>
                </a:gridCol>
              </a:tblGrid>
              <a:tr h="179705">
                <a:tc rowSpan="2">
                  <a:txBody>
                    <a:bodyPr/>
                    <a:lstStyle/>
                    <a:p>
                      <a:pPr>
                        <a:lnSpc>
                          <a:spcPct val="100000"/>
                        </a:lnSpc>
                        <a:spcBef>
                          <a:spcPts val="30"/>
                        </a:spcBef>
                      </a:pPr>
                      <a:endParaRPr sz="900" dirty="0">
                        <a:latin typeface="Times New Roman"/>
                        <a:cs typeface="Times New Roman"/>
                      </a:endParaRPr>
                    </a:p>
                    <a:p>
                      <a:pPr marL="265430">
                        <a:lnSpc>
                          <a:spcPct val="100000"/>
                        </a:lnSpc>
                      </a:pPr>
                      <a:r>
                        <a:rPr sz="900" b="1" spc="-5" dirty="0">
                          <a:latin typeface="Arial"/>
                          <a:cs typeface="Arial"/>
                        </a:rPr>
                        <a:t>Characteristics</a:t>
                      </a:r>
                      <a:endParaRPr sz="900" dirty="0">
                        <a:latin typeface="Arial"/>
                        <a:cs typeface="Arial"/>
                      </a:endParaRPr>
                    </a:p>
                  </a:txBody>
                  <a:tcPr marL="0" marR="0" marT="3810" marB="0">
                    <a:lnR w="3175">
                      <a:solidFill>
                        <a:srgbClr val="000000"/>
                      </a:solidFill>
                      <a:prstDash val="solid"/>
                    </a:lnR>
                    <a:lnT w="12700">
                      <a:solidFill>
                        <a:srgbClr val="A6A6A6"/>
                      </a:solidFill>
                      <a:prstDash val="solid"/>
                    </a:lnT>
                    <a:lnB w="3175">
                      <a:solidFill>
                        <a:srgbClr val="000000"/>
                      </a:solidFill>
                      <a:prstDash val="solid"/>
                    </a:lnB>
                    <a:solidFill>
                      <a:srgbClr val="F1F1F1"/>
                    </a:solidFill>
                  </a:tcPr>
                </a:tc>
                <a:tc rowSpan="2">
                  <a:txBody>
                    <a:bodyPr/>
                    <a:lstStyle/>
                    <a:p>
                      <a:pPr>
                        <a:lnSpc>
                          <a:spcPct val="100000"/>
                        </a:lnSpc>
                        <a:spcBef>
                          <a:spcPts val="30"/>
                        </a:spcBef>
                      </a:pPr>
                      <a:endParaRPr sz="900" dirty="0">
                        <a:latin typeface="Times New Roman"/>
                        <a:cs typeface="Times New Roman"/>
                      </a:endParaRPr>
                    </a:p>
                    <a:p>
                      <a:pPr marL="168275">
                        <a:lnSpc>
                          <a:spcPct val="100000"/>
                        </a:lnSpc>
                      </a:pPr>
                      <a:r>
                        <a:rPr sz="900" b="1" spc="-10" dirty="0">
                          <a:latin typeface="Arial"/>
                          <a:cs typeface="Arial"/>
                        </a:rPr>
                        <a:t>Symbol</a:t>
                      </a:r>
                      <a:endParaRPr sz="900" dirty="0">
                        <a:latin typeface="Arial"/>
                        <a:cs typeface="Arial"/>
                      </a:endParaRPr>
                    </a:p>
                  </a:txBody>
                  <a:tcPr marL="0" marR="0" marT="3810" marB="0">
                    <a:lnL w="3175">
                      <a:solidFill>
                        <a:srgbClr val="000000"/>
                      </a:solidFill>
                      <a:prstDash val="solid"/>
                    </a:lnL>
                    <a:lnR w="3175">
                      <a:solidFill>
                        <a:srgbClr val="000000"/>
                      </a:solidFill>
                      <a:prstDash val="solid"/>
                    </a:lnR>
                    <a:lnT w="12700">
                      <a:solidFill>
                        <a:srgbClr val="A6A6A6"/>
                      </a:solidFill>
                      <a:prstDash val="solid"/>
                    </a:lnT>
                    <a:lnB w="3175">
                      <a:solidFill>
                        <a:srgbClr val="000000"/>
                      </a:solidFill>
                      <a:prstDash val="solid"/>
                    </a:lnB>
                    <a:solidFill>
                      <a:srgbClr val="F1F1F1"/>
                    </a:solidFill>
                  </a:tcPr>
                </a:tc>
                <a:tc rowSpan="2">
                  <a:txBody>
                    <a:bodyPr/>
                    <a:lstStyle/>
                    <a:p>
                      <a:pPr>
                        <a:lnSpc>
                          <a:spcPct val="100000"/>
                        </a:lnSpc>
                        <a:spcBef>
                          <a:spcPts val="30"/>
                        </a:spcBef>
                      </a:pPr>
                      <a:endParaRPr sz="900" dirty="0">
                        <a:latin typeface="Times New Roman"/>
                        <a:cs typeface="Times New Roman"/>
                      </a:endParaRPr>
                    </a:p>
                    <a:p>
                      <a:pPr marL="1270" algn="ctr">
                        <a:lnSpc>
                          <a:spcPct val="100000"/>
                        </a:lnSpc>
                      </a:pPr>
                      <a:r>
                        <a:rPr sz="900" b="1" dirty="0">
                          <a:latin typeface="Arial"/>
                          <a:cs typeface="Arial"/>
                        </a:rPr>
                        <a:t>Condition</a:t>
                      </a:r>
                      <a:endParaRPr sz="900" dirty="0">
                        <a:latin typeface="Arial"/>
                        <a:cs typeface="Arial"/>
                      </a:endParaRPr>
                    </a:p>
                  </a:txBody>
                  <a:tcPr marL="0" marR="0" marT="3810" marB="0">
                    <a:lnL w="3175">
                      <a:solidFill>
                        <a:srgbClr val="000000"/>
                      </a:solidFill>
                      <a:prstDash val="solid"/>
                    </a:lnL>
                    <a:lnR w="3175">
                      <a:solidFill>
                        <a:srgbClr val="000000"/>
                      </a:solidFill>
                      <a:prstDash val="solid"/>
                    </a:lnR>
                    <a:lnT w="12700">
                      <a:solidFill>
                        <a:srgbClr val="A6A6A6"/>
                      </a:solidFill>
                      <a:prstDash val="solid"/>
                    </a:lnT>
                    <a:lnB w="3175">
                      <a:solidFill>
                        <a:srgbClr val="000000"/>
                      </a:solidFill>
                      <a:prstDash val="solid"/>
                    </a:lnB>
                    <a:solidFill>
                      <a:srgbClr val="F1F1F1"/>
                    </a:solidFill>
                  </a:tcPr>
                </a:tc>
                <a:tc gridSpan="3">
                  <a:txBody>
                    <a:bodyPr/>
                    <a:lstStyle/>
                    <a:p>
                      <a:pPr marL="1905" algn="ctr">
                        <a:lnSpc>
                          <a:spcPct val="100000"/>
                        </a:lnSpc>
                        <a:spcBef>
                          <a:spcPts val="155"/>
                        </a:spcBef>
                      </a:pPr>
                      <a:r>
                        <a:rPr sz="900" b="1" dirty="0">
                          <a:latin typeface="Arial"/>
                          <a:cs typeface="Arial"/>
                        </a:rPr>
                        <a:t>Value</a:t>
                      </a:r>
                      <a:endParaRPr sz="900" dirty="0">
                        <a:latin typeface="Arial"/>
                        <a:cs typeface="Arial"/>
                      </a:endParaRPr>
                    </a:p>
                  </a:txBody>
                  <a:tcPr marL="0" marR="0" marT="19685" marB="0">
                    <a:lnL w="3175">
                      <a:solidFill>
                        <a:srgbClr val="000000"/>
                      </a:solidFill>
                      <a:prstDash val="solid"/>
                    </a:lnL>
                    <a:lnR w="3175">
                      <a:solidFill>
                        <a:srgbClr val="000000"/>
                      </a:solidFill>
                      <a:prstDash val="solid"/>
                    </a:lnR>
                    <a:lnT w="12700">
                      <a:solidFill>
                        <a:srgbClr val="A6A6A6"/>
                      </a:solidFill>
                      <a:prstDash val="solid"/>
                    </a:lnT>
                    <a:lnB w="3175">
                      <a:solidFill>
                        <a:srgbClr val="000000"/>
                      </a:solidFill>
                      <a:prstDash val="solid"/>
                    </a:lnB>
                    <a:solidFill>
                      <a:srgbClr val="F1F1F1"/>
                    </a:solidFill>
                  </a:tcPr>
                </a:tc>
                <a:tc hMerge="1">
                  <a:txBody>
                    <a:bodyPr/>
                    <a:lstStyle/>
                    <a:p>
                      <a:endParaRPr/>
                    </a:p>
                  </a:txBody>
                  <a:tcPr marL="0" marR="0" marT="0" marB="0"/>
                </a:tc>
                <a:tc hMerge="1">
                  <a:txBody>
                    <a:bodyPr/>
                    <a:lstStyle/>
                    <a:p>
                      <a:endParaRPr/>
                    </a:p>
                  </a:txBody>
                  <a:tcPr marL="0" marR="0" marT="0" marB="0"/>
                </a:tc>
                <a:tc rowSpan="2">
                  <a:txBody>
                    <a:bodyPr/>
                    <a:lstStyle/>
                    <a:p>
                      <a:pPr>
                        <a:lnSpc>
                          <a:spcPct val="100000"/>
                        </a:lnSpc>
                        <a:spcBef>
                          <a:spcPts val="30"/>
                        </a:spcBef>
                      </a:pPr>
                      <a:endParaRPr sz="900" dirty="0">
                        <a:latin typeface="Times New Roman"/>
                        <a:cs typeface="Times New Roman"/>
                      </a:endParaRPr>
                    </a:p>
                    <a:p>
                      <a:pPr marL="163195">
                        <a:lnSpc>
                          <a:spcPct val="100000"/>
                        </a:lnSpc>
                      </a:pPr>
                      <a:r>
                        <a:rPr sz="900" b="1" dirty="0">
                          <a:latin typeface="Arial"/>
                          <a:cs typeface="Arial"/>
                        </a:rPr>
                        <a:t>Unit</a:t>
                      </a:r>
                      <a:endParaRPr sz="900" dirty="0">
                        <a:latin typeface="Arial"/>
                        <a:cs typeface="Arial"/>
                      </a:endParaRPr>
                    </a:p>
                  </a:txBody>
                  <a:tcPr marL="0" marR="0" marT="3810" marB="0">
                    <a:lnL w="3175">
                      <a:solidFill>
                        <a:srgbClr val="000000"/>
                      </a:solidFill>
                      <a:prstDash val="solid"/>
                    </a:lnL>
                    <a:lnT w="12700">
                      <a:solidFill>
                        <a:srgbClr val="A6A6A6"/>
                      </a:solidFill>
                      <a:prstDash val="solid"/>
                    </a:lnT>
                    <a:lnB w="3175">
                      <a:solidFill>
                        <a:srgbClr val="000000"/>
                      </a:solidFill>
                      <a:prstDash val="solid"/>
                    </a:lnB>
                    <a:solidFill>
                      <a:srgbClr val="F1F1F1"/>
                    </a:solidFill>
                  </a:tcPr>
                </a:tc>
                <a:extLst>
                  <a:ext uri="{0D108BD9-81ED-4DB2-BD59-A6C34878D82A}">
                    <a16:rowId xmlns:a16="http://schemas.microsoft.com/office/drawing/2014/main" val="10000"/>
                  </a:ext>
                </a:extLst>
              </a:tr>
              <a:tr h="230504">
                <a:tc vMerge="1">
                  <a:txBody>
                    <a:bodyPr/>
                    <a:lstStyle/>
                    <a:p>
                      <a:endParaRPr/>
                    </a:p>
                  </a:txBody>
                  <a:tcPr marL="0" marR="0" marT="3810" marB="0">
                    <a:lnR w="3175">
                      <a:solidFill>
                        <a:srgbClr val="000000"/>
                      </a:solidFill>
                      <a:prstDash val="solid"/>
                    </a:lnR>
                    <a:lnT w="12700">
                      <a:solidFill>
                        <a:srgbClr val="A6A6A6"/>
                      </a:solidFill>
                      <a:prstDash val="solid"/>
                    </a:lnT>
                    <a:lnB w="3175">
                      <a:solidFill>
                        <a:srgbClr val="000000"/>
                      </a:solidFill>
                      <a:prstDash val="solid"/>
                    </a:lnB>
                    <a:solidFill>
                      <a:srgbClr val="F1F1F1"/>
                    </a:solidFill>
                  </a:tcPr>
                </a:tc>
                <a:tc vMerge="1">
                  <a:txBody>
                    <a:bodyPr/>
                    <a:lstStyle/>
                    <a:p>
                      <a:endParaRPr/>
                    </a:p>
                  </a:txBody>
                  <a:tcPr marL="0" marR="0" marT="3810" marB="0">
                    <a:lnL w="3175">
                      <a:solidFill>
                        <a:srgbClr val="000000"/>
                      </a:solidFill>
                      <a:prstDash val="solid"/>
                    </a:lnL>
                    <a:lnR w="3175">
                      <a:solidFill>
                        <a:srgbClr val="000000"/>
                      </a:solidFill>
                      <a:prstDash val="solid"/>
                    </a:lnR>
                    <a:lnT w="12700">
                      <a:solidFill>
                        <a:srgbClr val="A6A6A6"/>
                      </a:solidFill>
                      <a:prstDash val="solid"/>
                    </a:lnT>
                    <a:lnB w="3175">
                      <a:solidFill>
                        <a:srgbClr val="000000"/>
                      </a:solidFill>
                      <a:prstDash val="solid"/>
                    </a:lnB>
                    <a:solidFill>
                      <a:srgbClr val="F1F1F1"/>
                    </a:solidFill>
                  </a:tcPr>
                </a:tc>
                <a:tc vMerge="1">
                  <a:txBody>
                    <a:bodyPr/>
                    <a:lstStyle/>
                    <a:p>
                      <a:endParaRPr/>
                    </a:p>
                  </a:txBody>
                  <a:tcPr marL="0" marR="0" marT="3810" marB="0">
                    <a:lnL w="3175">
                      <a:solidFill>
                        <a:srgbClr val="000000"/>
                      </a:solidFill>
                      <a:prstDash val="solid"/>
                    </a:lnL>
                    <a:lnR w="3175">
                      <a:solidFill>
                        <a:srgbClr val="000000"/>
                      </a:solidFill>
                      <a:prstDash val="solid"/>
                    </a:lnR>
                    <a:lnT w="12700">
                      <a:solidFill>
                        <a:srgbClr val="A6A6A6"/>
                      </a:solidFill>
                      <a:prstDash val="solid"/>
                    </a:lnT>
                    <a:lnB w="3175">
                      <a:solidFill>
                        <a:srgbClr val="000000"/>
                      </a:solidFill>
                      <a:prstDash val="solid"/>
                    </a:lnB>
                    <a:solidFill>
                      <a:srgbClr val="F1F1F1"/>
                    </a:solidFill>
                  </a:tcPr>
                </a:tc>
                <a:tc>
                  <a:txBody>
                    <a:bodyPr/>
                    <a:lstStyle/>
                    <a:p>
                      <a:pPr marR="147955" algn="r">
                        <a:lnSpc>
                          <a:spcPct val="100000"/>
                        </a:lnSpc>
                        <a:spcBef>
                          <a:spcPts val="359"/>
                        </a:spcBef>
                      </a:pPr>
                      <a:r>
                        <a:rPr sz="900" b="1" dirty="0">
                          <a:latin typeface="Arial"/>
                          <a:cs typeface="Arial"/>
                        </a:rPr>
                        <a:t>min</a:t>
                      </a:r>
                      <a:endParaRPr sz="900" dirty="0">
                        <a:latin typeface="Arial"/>
                        <a:cs typeface="Arial"/>
                      </a:endParaRPr>
                    </a:p>
                  </a:txBody>
                  <a:tcPr marL="0" marR="0" marT="45719"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solidFill>
                      <a:srgbClr val="F1F1F1"/>
                    </a:solidFill>
                  </a:tcPr>
                </a:tc>
                <a:tc>
                  <a:txBody>
                    <a:bodyPr/>
                    <a:lstStyle/>
                    <a:p>
                      <a:pPr marL="635" algn="ctr">
                        <a:lnSpc>
                          <a:spcPct val="100000"/>
                        </a:lnSpc>
                        <a:spcBef>
                          <a:spcPts val="359"/>
                        </a:spcBef>
                      </a:pPr>
                      <a:r>
                        <a:rPr sz="900" b="1" spc="-15" dirty="0">
                          <a:latin typeface="Arial"/>
                          <a:cs typeface="Arial"/>
                        </a:rPr>
                        <a:t>typ</a:t>
                      </a:r>
                      <a:endParaRPr sz="900" dirty="0">
                        <a:latin typeface="Arial"/>
                        <a:cs typeface="Arial"/>
                      </a:endParaRPr>
                    </a:p>
                  </a:txBody>
                  <a:tcPr marL="0" marR="0" marT="45719"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solidFill>
                      <a:srgbClr val="F1F1F1"/>
                    </a:solidFill>
                  </a:tcPr>
                </a:tc>
                <a:tc>
                  <a:txBody>
                    <a:bodyPr/>
                    <a:lstStyle/>
                    <a:p>
                      <a:pPr marL="2540" algn="ctr">
                        <a:lnSpc>
                          <a:spcPct val="100000"/>
                        </a:lnSpc>
                        <a:spcBef>
                          <a:spcPts val="359"/>
                        </a:spcBef>
                      </a:pPr>
                      <a:r>
                        <a:rPr sz="900" b="1" spc="-5" dirty="0">
                          <a:latin typeface="Arial"/>
                          <a:cs typeface="Arial"/>
                        </a:rPr>
                        <a:t>max</a:t>
                      </a:r>
                      <a:endParaRPr sz="900" dirty="0">
                        <a:latin typeface="Arial"/>
                        <a:cs typeface="Arial"/>
                      </a:endParaRPr>
                    </a:p>
                  </a:txBody>
                  <a:tcPr marL="0" marR="0" marT="45719"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solidFill>
                      <a:srgbClr val="F1F1F1"/>
                    </a:solidFill>
                  </a:tcPr>
                </a:tc>
                <a:tc vMerge="1">
                  <a:txBody>
                    <a:bodyPr/>
                    <a:lstStyle/>
                    <a:p>
                      <a:endParaRPr/>
                    </a:p>
                  </a:txBody>
                  <a:tcPr marL="0" marR="0" marT="3810" marB="0">
                    <a:lnL w="3175">
                      <a:solidFill>
                        <a:srgbClr val="000000"/>
                      </a:solidFill>
                      <a:prstDash val="solid"/>
                    </a:lnL>
                    <a:lnT w="12700">
                      <a:solidFill>
                        <a:srgbClr val="A6A6A6"/>
                      </a:solidFill>
                      <a:prstDash val="solid"/>
                    </a:lnT>
                    <a:lnB w="3175">
                      <a:solidFill>
                        <a:srgbClr val="000000"/>
                      </a:solidFill>
                      <a:prstDash val="solid"/>
                    </a:lnB>
                    <a:solidFill>
                      <a:srgbClr val="F1F1F1"/>
                    </a:solidFill>
                  </a:tcPr>
                </a:tc>
                <a:extLst>
                  <a:ext uri="{0D108BD9-81ED-4DB2-BD59-A6C34878D82A}">
                    <a16:rowId xmlns:a16="http://schemas.microsoft.com/office/drawing/2014/main" val="10001"/>
                  </a:ext>
                </a:extLst>
              </a:tr>
              <a:tr h="278130">
                <a:tc rowSpan="4">
                  <a:txBody>
                    <a:bodyPr/>
                    <a:lstStyle/>
                    <a:p>
                      <a:pPr>
                        <a:lnSpc>
                          <a:spcPct val="100000"/>
                        </a:lnSpc>
                      </a:pPr>
                      <a:endParaRPr sz="1000" dirty="0">
                        <a:latin typeface="Times New Roman"/>
                        <a:cs typeface="Times New Roman"/>
                      </a:endParaRPr>
                    </a:p>
                    <a:p>
                      <a:pPr>
                        <a:lnSpc>
                          <a:spcPct val="100000"/>
                        </a:lnSpc>
                      </a:pPr>
                      <a:endParaRPr sz="1000" dirty="0">
                        <a:latin typeface="Times New Roman"/>
                        <a:cs typeface="Times New Roman"/>
                      </a:endParaRPr>
                    </a:p>
                    <a:p>
                      <a:pPr>
                        <a:lnSpc>
                          <a:spcPct val="100000"/>
                        </a:lnSpc>
                      </a:pPr>
                      <a:endParaRPr sz="1000" dirty="0">
                        <a:latin typeface="Times New Roman"/>
                        <a:cs typeface="Times New Roman"/>
                      </a:endParaRPr>
                    </a:p>
                    <a:p>
                      <a:pPr>
                        <a:lnSpc>
                          <a:spcPct val="100000"/>
                        </a:lnSpc>
                        <a:spcBef>
                          <a:spcPts val="605"/>
                        </a:spcBef>
                      </a:pPr>
                      <a:r>
                        <a:rPr sz="900" spc="-5" dirty="0">
                          <a:latin typeface="Arial"/>
                          <a:cs typeface="Arial"/>
                        </a:rPr>
                        <a:t>MODE</a:t>
                      </a:r>
                      <a:r>
                        <a:rPr sz="900" dirty="0">
                          <a:latin typeface="Arial"/>
                          <a:cs typeface="Arial"/>
                        </a:rPr>
                        <a:t> output</a:t>
                      </a:r>
                      <a:r>
                        <a:rPr sz="900" spc="-45" dirty="0">
                          <a:latin typeface="Arial"/>
                          <a:cs typeface="Arial"/>
                        </a:rPr>
                        <a:t> </a:t>
                      </a:r>
                      <a:r>
                        <a:rPr sz="900" dirty="0">
                          <a:latin typeface="Arial"/>
                          <a:cs typeface="Arial"/>
                        </a:rPr>
                        <a:t>voltage</a:t>
                      </a:r>
                    </a:p>
                  </a:txBody>
                  <a:tcPr marL="0" marR="0" marT="0" marB="0">
                    <a:lnR w="3175">
                      <a:solidFill>
                        <a:srgbClr val="000000"/>
                      </a:solidFill>
                      <a:prstDash val="solid"/>
                    </a:lnR>
                    <a:lnT w="3175">
                      <a:solidFill>
                        <a:srgbClr val="000000"/>
                      </a:solidFill>
                      <a:prstDash val="solid"/>
                    </a:lnT>
                    <a:lnB w="3175">
                      <a:solidFill>
                        <a:srgbClr val="000000"/>
                      </a:solidFill>
                      <a:prstDash val="solid"/>
                    </a:lnB>
                  </a:tcPr>
                </a:tc>
                <a:tc rowSpan="4">
                  <a:txBody>
                    <a:bodyPr/>
                    <a:lstStyle/>
                    <a:p>
                      <a:pPr>
                        <a:lnSpc>
                          <a:spcPct val="100000"/>
                        </a:lnSpc>
                      </a:pPr>
                      <a:endParaRPr sz="1000" dirty="0">
                        <a:latin typeface="Times New Roman"/>
                        <a:cs typeface="Times New Roman"/>
                      </a:endParaRPr>
                    </a:p>
                    <a:p>
                      <a:pPr>
                        <a:lnSpc>
                          <a:spcPct val="100000"/>
                        </a:lnSpc>
                      </a:pPr>
                      <a:endParaRPr sz="1000" dirty="0">
                        <a:latin typeface="Times New Roman"/>
                        <a:cs typeface="Times New Roman"/>
                      </a:endParaRPr>
                    </a:p>
                    <a:p>
                      <a:pPr>
                        <a:lnSpc>
                          <a:spcPct val="100000"/>
                        </a:lnSpc>
                      </a:pPr>
                      <a:endParaRPr sz="1000" dirty="0">
                        <a:latin typeface="Times New Roman"/>
                        <a:cs typeface="Times New Roman"/>
                      </a:endParaRPr>
                    </a:p>
                    <a:p>
                      <a:pPr marL="173990">
                        <a:lnSpc>
                          <a:spcPct val="100000"/>
                        </a:lnSpc>
                        <a:spcBef>
                          <a:spcPts val="605"/>
                        </a:spcBef>
                      </a:pPr>
                      <a:r>
                        <a:rPr sz="900" spc="-5" dirty="0">
                          <a:latin typeface="Arial"/>
                          <a:cs typeface="Arial"/>
                        </a:rPr>
                        <a:t>VMODE</a:t>
                      </a:r>
                      <a:endParaRPr sz="900" dirty="0">
                        <a:latin typeface="Arial"/>
                        <a:cs typeface="Arial"/>
                      </a:endParaRPr>
                    </a:p>
                  </a:txBody>
                  <a:tcPr marL="0" marR="0" marT="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L="173990">
                        <a:lnSpc>
                          <a:spcPct val="100000"/>
                        </a:lnSpc>
                        <a:spcBef>
                          <a:spcPts val="545"/>
                        </a:spcBef>
                      </a:pPr>
                      <a:r>
                        <a:rPr sz="900" spc="-10" dirty="0">
                          <a:latin typeface="Arial"/>
                          <a:cs typeface="Arial"/>
                        </a:rPr>
                        <a:t>MODE</a:t>
                      </a:r>
                      <a:r>
                        <a:rPr sz="900" spc="-5" dirty="0">
                          <a:latin typeface="Arial"/>
                          <a:cs typeface="Arial"/>
                        </a:rPr>
                        <a:t> level1,</a:t>
                      </a:r>
                      <a:r>
                        <a:rPr sz="900" spc="-40" dirty="0">
                          <a:latin typeface="Arial"/>
                          <a:cs typeface="Arial"/>
                        </a:rPr>
                        <a:t> </a:t>
                      </a:r>
                      <a:r>
                        <a:rPr sz="900" dirty="0">
                          <a:latin typeface="Arial"/>
                          <a:cs typeface="Arial"/>
                        </a:rPr>
                        <a:t>0.5V</a:t>
                      </a:r>
                    </a:p>
                  </a:txBody>
                  <a:tcPr marL="0" marR="0" marT="69215"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R="142240" algn="r">
                        <a:lnSpc>
                          <a:spcPct val="100000"/>
                        </a:lnSpc>
                        <a:spcBef>
                          <a:spcPts val="545"/>
                        </a:spcBef>
                      </a:pPr>
                      <a:r>
                        <a:rPr sz="900" spc="-5" dirty="0">
                          <a:latin typeface="Arial"/>
                          <a:cs typeface="Arial"/>
                        </a:rPr>
                        <a:t>0.15</a:t>
                      </a:r>
                      <a:endParaRPr sz="900" dirty="0">
                        <a:latin typeface="Arial"/>
                        <a:cs typeface="Arial"/>
                      </a:endParaRPr>
                    </a:p>
                  </a:txBody>
                  <a:tcPr marL="0" marR="0" marT="69215"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R="1270" algn="ctr">
                        <a:lnSpc>
                          <a:spcPct val="100000"/>
                        </a:lnSpc>
                        <a:spcBef>
                          <a:spcPts val="545"/>
                        </a:spcBef>
                      </a:pPr>
                      <a:r>
                        <a:rPr sz="900" dirty="0">
                          <a:latin typeface="Arial"/>
                          <a:cs typeface="Arial"/>
                        </a:rPr>
                        <a:t>0.5</a:t>
                      </a:r>
                    </a:p>
                  </a:txBody>
                  <a:tcPr marL="0" marR="0" marT="69215"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gn="ctr">
                        <a:lnSpc>
                          <a:spcPct val="100000"/>
                        </a:lnSpc>
                        <a:spcBef>
                          <a:spcPts val="545"/>
                        </a:spcBef>
                      </a:pPr>
                      <a:r>
                        <a:rPr sz="900" spc="-5" dirty="0">
                          <a:latin typeface="Arial"/>
                          <a:cs typeface="Arial"/>
                        </a:rPr>
                        <a:t>0.85</a:t>
                      </a:r>
                      <a:endParaRPr sz="900" dirty="0">
                        <a:latin typeface="Arial"/>
                        <a:cs typeface="Arial"/>
                      </a:endParaRPr>
                    </a:p>
                  </a:txBody>
                  <a:tcPr marL="0" marR="0" marT="69215"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gn="ctr">
                        <a:lnSpc>
                          <a:spcPct val="100000"/>
                        </a:lnSpc>
                        <a:spcBef>
                          <a:spcPts val="545"/>
                        </a:spcBef>
                      </a:pPr>
                      <a:r>
                        <a:rPr sz="900" dirty="0">
                          <a:latin typeface="Arial"/>
                          <a:cs typeface="Arial"/>
                        </a:rPr>
                        <a:t>V</a:t>
                      </a:r>
                    </a:p>
                  </a:txBody>
                  <a:tcPr marL="0" marR="0" marT="69215" marB="0">
                    <a:lnL w="3175">
                      <a:solidFill>
                        <a:srgbClr val="000000"/>
                      </a:solidFill>
                      <a:prstDash val="solid"/>
                    </a:lnL>
                    <a:lnT w="3175">
                      <a:solidFill>
                        <a:srgbClr val="000000"/>
                      </a:solidFill>
                      <a:prstDash val="solid"/>
                    </a:lnT>
                    <a:lnB w="3175">
                      <a:solidFill>
                        <a:srgbClr val="000000"/>
                      </a:solidFill>
                      <a:prstDash val="solid"/>
                    </a:lnB>
                  </a:tcPr>
                </a:tc>
                <a:extLst>
                  <a:ext uri="{0D108BD9-81ED-4DB2-BD59-A6C34878D82A}">
                    <a16:rowId xmlns:a16="http://schemas.microsoft.com/office/drawing/2014/main" val="10002"/>
                  </a:ext>
                </a:extLst>
              </a:tr>
              <a:tr h="278130">
                <a:tc vMerge="1">
                  <a:txBody>
                    <a:bodyPr/>
                    <a:lstStyle/>
                    <a:p>
                      <a:endParaRPr/>
                    </a:p>
                  </a:txBody>
                  <a:tcPr marL="0" marR="0" marT="0" marB="0">
                    <a:lnR w="3175">
                      <a:solidFill>
                        <a:srgbClr val="000000"/>
                      </a:solidFill>
                      <a:prstDash val="solid"/>
                    </a:lnR>
                    <a:lnT w="3175">
                      <a:solidFill>
                        <a:srgbClr val="000000"/>
                      </a:solidFill>
                      <a:prstDash val="solid"/>
                    </a:lnT>
                    <a:lnB w="3175">
                      <a:solidFill>
                        <a:srgbClr val="000000"/>
                      </a:solidFill>
                      <a:prstDash val="solid"/>
                    </a:lnB>
                  </a:tcPr>
                </a:tc>
                <a:tc vMerge="1">
                  <a:txBody>
                    <a:bodyPr/>
                    <a:lstStyle/>
                    <a:p>
                      <a:endParaRPr/>
                    </a:p>
                  </a:txBody>
                  <a:tcPr marL="0" marR="0" marT="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L="173990">
                        <a:lnSpc>
                          <a:spcPct val="100000"/>
                        </a:lnSpc>
                        <a:spcBef>
                          <a:spcPts val="545"/>
                        </a:spcBef>
                      </a:pPr>
                      <a:r>
                        <a:rPr sz="900" spc="-10" dirty="0">
                          <a:latin typeface="Arial"/>
                          <a:cs typeface="Arial"/>
                        </a:rPr>
                        <a:t>MODE</a:t>
                      </a:r>
                      <a:r>
                        <a:rPr sz="900" dirty="0">
                          <a:latin typeface="Arial"/>
                          <a:cs typeface="Arial"/>
                        </a:rPr>
                        <a:t> </a:t>
                      </a:r>
                      <a:r>
                        <a:rPr sz="900" spc="-5" dirty="0">
                          <a:latin typeface="Arial"/>
                          <a:cs typeface="Arial"/>
                        </a:rPr>
                        <a:t>leve2l,</a:t>
                      </a:r>
                      <a:r>
                        <a:rPr sz="900" spc="-40" dirty="0">
                          <a:latin typeface="Arial"/>
                          <a:cs typeface="Arial"/>
                        </a:rPr>
                        <a:t> </a:t>
                      </a:r>
                      <a:r>
                        <a:rPr sz="900" dirty="0">
                          <a:latin typeface="Arial"/>
                          <a:cs typeface="Arial"/>
                        </a:rPr>
                        <a:t>1.5V</a:t>
                      </a:r>
                    </a:p>
                  </a:txBody>
                  <a:tcPr marL="0" marR="0" marT="69215"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R="142240" algn="r">
                        <a:lnSpc>
                          <a:spcPct val="100000"/>
                        </a:lnSpc>
                        <a:spcBef>
                          <a:spcPts val="545"/>
                        </a:spcBef>
                      </a:pPr>
                      <a:r>
                        <a:rPr sz="900" spc="-5" dirty="0">
                          <a:latin typeface="Arial"/>
                          <a:cs typeface="Arial"/>
                        </a:rPr>
                        <a:t>1.15</a:t>
                      </a:r>
                      <a:endParaRPr sz="900" dirty="0">
                        <a:latin typeface="Arial"/>
                        <a:cs typeface="Arial"/>
                      </a:endParaRPr>
                    </a:p>
                  </a:txBody>
                  <a:tcPr marL="0" marR="0" marT="69215"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R="1270" algn="ctr">
                        <a:lnSpc>
                          <a:spcPct val="100000"/>
                        </a:lnSpc>
                        <a:spcBef>
                          <a:spcPts val="545"/>
                        </a:spcBef>
                      </a:pPr>
                      <a:r>
                        <a:rPr sz="900" dirty="0">
                          <a:latin typeface="Arial"/>
                          <a:cs typeface="Arial"/>
                        </a:rPr>
                        <a:t>1.5</a:t>
                      </a:r>
                    </a:p>
                  </a:txBody>
                  <a:tcPr marL="0" marR="0" marT="69215"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gn="ctr">
                        <a:lnSpc>
                          <a:spcPct val="100000"/>
                        </a:lnSpc>
                        <a:spcBef>
                          <a:spcPts val="545"/>
                        </a:spcBef>
                      </a:pPr>
                      <a:r>
                        <a:rPr sz="900" spc="-5" dirty="0">
                          <a:latin typeface="Arial"/>
                          <a:cs typeface="Arial"/>
                        </a:rPr>
                        <a:t>1.85</a:t>
                      </a:r>
                      <a:endParaRPr sz="900" dirty="0">
                        <a:latin typeface="Arial"/>
                        <a:cs typeface="Arial"/>
                      </a:endParaRPr>
                    </a:p>
                  </a:txBody>
                  <a:tcPr marL="0" marR="0" marT="69215"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gn="ctr">
                        <a:lnSpc>
                          <a:spcPct val="100000"/>
                        </a:lnSpc>
                        <a:spcBef>
                          <a:spcPts val="545"/>
                        </a:spcBef>
                      </a:pPr>
                      <a:r>
                        <a:rPr sz="900" dirty="0">
                          <a:latin typeface="Arial"/>
                          <a:cs typeface="Arial"/>
                        </a:rPr>
                        <a:t>V</a:t>
                      </a:r>
                    </a:p>
                  </a:txBody>
                  <a:tcPr marL="0" marR="0" marT="69215" marB="0">
                    <a:lnL w="3175">
                      <a:solidFill>
                        <a:srgbClr val="000000"/>
                      </a:solidFill>
                      <a:prstDash val="solid"/>
                    </a:lnL>
                    <a:lnT w="3175">
                      <a:solidFill>
                        <a:srgbClr val="000000"/>
                      </a:solidFill>
                      <a:prstDash val="solid"/>
                    </a:lnT>
                    <a:lnB w="3175">
                      <a:solidFill>
                        <a:srgbClr val="000000"/>
                      </a:solidFill>
                      <a:prstDash val="solid"/>
                    </a:lnB>
                  </a:tcPr>
                </a:tc>
                <a:extLst>
                  <a:ext uri="{0D108BD9-81ED-4DB2-BD59-A6C34878D82A}">
                    <a16:rowId xmlns:a16="http://schemas.microsoft.com/office/drawing/2014/main" val="10003"/>
                  </a:ext>
                </a:extLst>
              </a:tr>
              <a:tr h="278130">
                <a:tc vMerge="1">
                  <a:txBody>
                    <a:bodyPr/>
                    <a:lstStyle/>
                    <a:p>
                      <a:endParaRPr/>
                    </a:p>
                  </a:txBody>
                  <a:tcPr marL="0" marR="0" marT="0" marB="0">
                    <a:lnR w="3175">
                      <a:solidFill>
                        <a:srgbClr val="000000"/>
                      </a:solidFill>
                      <a:prstDash val="solid"/>
                    </a:lnR>
                    <a:lnT w="3175">
                      <a:solidFill>
                        <a:srgbClr val="000000"/>
                      </a:solidFill>
                      <a:prstDash val="solid"/>
                    </a:lnT>
                    <a:lnB w="3175">
                      <a:solidFill>
                        <a:srgbClr val="000000"/>
                      </a:solidFill>
                      <a:prstDash val="solid"/>
                    </a:lnB>
                  </a:tcPr>
                </a:tc>
                <a:tc vMerge="1">
                  <a:txBody>
                    <a:bodyPr/>
                    <a:lstStyle/>
                    <a:p>
                      <a:endParaRPr/>
                    </a:p>
                  </a:txBody>
                  <a:tcPr marL="0" marR="0" marT="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L="173990">
                        <a:lnSpc>
                          <a:spcPct val="100000"/>
                        </a:lnSpc>
                        <a:spcBef>
                          <a:spcPts val="545"/>
                        </a:spcBef>
                      </a:pPr>
                      <a:r>
                        <a:rPr sz="900" spc="-10" dirty="0">
                          <a:latin typeface="Arial"/>
                          <a:cs typeface="Arial"/>
                        </a:rPr>
                        <a:t>MODE</a:t>
                      </a:r>
                      <a:r>
                        <a:rPr sz="900" dirty="0">
                          <a:latin typeface="Arial"/>
                          <a:cs typeface="Arial"/>
                        </a:rPr>
                        <a:t> </a:t>
                      </a:r>
                      <a:r>
                        <a:rPr sz="900" spc="-5" dirty="0">
                          <a:latin typeface="Arial"/>
                          <a:cs typeface="Arial"/>
                        </a:rPr>
                        <a:t>level3,</a:t>
                      </a:r>
                      <a:r>
                        <a:rPr sz="900" spc="-40" dirty="0">
                          <a:latin typeface="Arial"/>
                          <a:cs typeface="Arial"/>
                        </a:rPr>
                        <a:t> </a:t>
                      </a:r>
                      <a:r>
                        <a:rPr sz="900" dirty="0">
                          <a:latin typeface="Arial"/>
                          <a:cs typeface="Arial"/>
                        </a:rPr>
                        <a:t>2.5V</a:t>
                      </a:r>
                    </a:p>
                  </a:txBody>
                  <a:tcPr marL="0" marR="0" marT="69215"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R="142240" algn="r">
                        <a:lnSpc>
                          <a:spcPct val="100000"/>
                        </a:lnSpc>
                        <a:spcBef>
                          <a:spcPts val="545"/>
                        </a:spcBef>
                      </a:pPr>
                      <a:r>
                        <a:rPr sz="900" spc="-5" dirty="0">
                          <a:latin typeface="Arial"/>
                          <a:cs typeface="Arial"/>
                        </a:rPr>
                        <a:t>2.15</a:t>
                      </a:r>
                      <a:endParaRPr sz="900" dirty="0">
                        <a:latin typeface="Arial"/>
                        <a:cs typeface="Arial"/>
                      </a:endParaRPr>
                    </a:p>
                  </a:txBody>
                  <a:tcPr marL="0" marR="0" marT="69215"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R="1270" algn="ctr">
                        <a:lnSpc>
                          <a:spcPct val="100000"/>
                        </a:lnSpc>
                        <a:spcBef>
                          <a:spcPts val="545"/>
                        </a:spcBef>
                      </a:pPr>
                      <a:r>
                        <a:rPr sz="900" dirty="0">
                          <a:latin typeface="Arial"/>
                          <a:cs typeface="Arial"/>
                        </a:rPr>
                        <a:t>2.5</a:t>
                      </a:r>
                    </a:p>
                  </a:txBody>
                  <a:tcPr marL="0" marR="0" marT="69215"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gn="ctr">
                        <a:lnSpc>
                          <a:spcPct val="100000"/>
                        </a:lnSpc>
                        <a:spcBef>
                          <a:spcPts val="545"/>
                        </a:spcBef>
                      </a:pPr>
                      <a:r>
                        <a:rPr sz="900" spc="-5" dirty="0">
                          <a:latin typeface="Arial"/>
                          <a:cs typeface="Arial"/>
                        </a:rPr>
                        <a:t>2.85</a:t>
                      </a:r>
                      <a:endParaRPr sz="900" dirty="0">
                        <a:latin typeface="Arial"/>
                        <a:cs typeface="Arial"/>
                      </a:endParaRPr>
                    </a:p>
                  </a:txBody>
                  <a:tcPr marL="0" marR="0" marT="69215"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gn="ctr">
                        <a:lnSpc>
                          <a:spcPct val="100000"/>
                        </a:lnSpc>
                        <a:spcBef>
                          <a:spcPts val="545"/>
                        </a:spcBef>
                      </a:pPr>
                      <a:r>
                        <a:rPr sz="900" dirty="0">
                          <a:latin typeface="Arial"/>
                          <a:cs typeface="Arial"/>
                        </a:rPr>
                        <a:t>V</a:t>
                      </a:r>
                    </a:p>
                  </a:txBody>
                  <a:tcPr marL="0" marR="0" marT="69215" marB="0">
                    <a:lnL w="3175">
                      <a:solidFill>
                        <a:srgbClr val="000000"/>
                      </a:solidFill>
                      <a:prstDash val="solid"/>
                    </a:lnL>
                    <a:lnT w="3175">
                      <a:solidFill>
                        <a:srgbClr val="000000"/>
                      </a:solidFill>
                      <a:prstDash val="solid"/>
                    </a:lnT>
                    <a:lnB w="3175">
                      <a:solidFill>
                        <a:srgbClr val="000000"/>
                      </a:solidFill>
                      <a:prstDash val="solid"/>
                    </a:lnB>
                  </a:tcPr>
                </a:tc>
                <a:extLst>
                  <a:ext uri="{0D108BD9-81ED-4DB2-BD59-A6C34878D82A}">
                    <a16:rowId xmlns:a16="http://schemas.microsoft.com/office/drawing/2014/main" val="10004"/>
                  </a:ext>
                </a:extLst>
              </a:tr>
              <a:tr h="333375">
                <a:tc vMerge="1">
                  <a:txBody>
                    <a:bodyPr/>
                    <a:lstStyle/>
                    <a:p>
                      <a:endParaRPr/>
                    </a:p>
                  </a:txBody>
                  <a:tcPr marL="0" marR="0" marT="0" marB="0">
                    <a:lnR w="3175">
                      <a:solidFill>
                        <a:srgbClr val="000000"/>
                      </a:solidFill>
                      <a:prstDash val="solid"/>
                    </a:lnR>
                    <a:lnT w="3175">
                      <a:solidFill>
                        <a:srgbClr val="000000"/>
                      </a:solidFill>
                      <a:prstDash val="solid"/>
                    </a:lnT>
                    <a:lnB w="3175">
                      <a:solidFill>
                        <a:srgbClr val="000000"/>
                      </a:solidFill>
                      <a:prstDash val="solid"/>
                    </a:lnB>
                  </a:tcPr>
                </a:tc>
                <a:tc vMerge="1">
                  <a:txBody>
                    <a:bodyPr/>
                    <a:lstStyle/>
                    <a:p>
                      <a:endParaRPr/>
                    </a:p>
                  </a:txBody>
                  <a:tcPr marL="0" marR="0" marT="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L="173990">
                        <a:lnSpc>
                          <a:spcPct val="100000"/>
                        </a:lnSpc>
                        <a:spcBef>
                          <a:spcPts val="765"/>
                        </a:spcBef>
                      </a:pPr>
                      <a:r>
                        <a:rPr sz="900" spc="-10" dirty="0">
                          <a:latin typeface="Arial"/>
                          <a:cs typeface="Arial"/>
                        </a:rPr>
                        <a:t>MODE</a:t>
                      </a:r>
                      <a:r>
                        <a:rPr sz="900" dirty="0">
                          <a:latin typeface="Arial"/>
                          <a:cs typeface="Arial"/>
                        </a:rPr>
                        <a:t> </a:t>
                      </a:r>
                      <a:r>
                        <a:rPr sz="900" spc="-5" dirty="0">
                          <a:latin typeface="Arial"/>
                          <a:cs typeface="Arial"/>
                        </a:rPr>
                        <a:t>level4,</a:t>
                      </a:r>
                      <a:r>
                        <a:rPr sz="900" spc="-40" dirty="0">
                          <a:latin typeface="Arial"/>
                          <a:cs typeface="Arial"/>
                        </a:rPr>
                        <a:t> </a:t>
                      </a:r>
                      <a:r>
                        <a:rPr sz="900" dirty="0">
                          <a:latin typeface="Arial"/>
                          <a:cs typeface="Arial"/>
                        </a:rPr>
                        <a:t>3.5V</a:t>
                      </a:r>
                    </a:p>
                  </a:txBody>
                  <a:tcPr marL="0" marR="0" marT="97155"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R="142240" algn="r">
                        <a:lnSpc>
                          <a:spcPct val="100000"/>
                        </a:lnSpc>
                        <a:spcBef>
                          <a:spcPts val="765"/>
                        </a:spcBef>
                      </a:pPr>
                      <a:r>
                        <a:rPr sz="900" spc="-5" dirty="0">
                          <a:latin typeface="Arial"/>
                          <a:cs typeface="Arial"/>
                        </a:rPr>
                        <a:t>3.15</a:t>
                      </a:r>
                      <a:endParaRPr sz="900" dirty="0">
                        <a:latin typeface="Arial"/>
                        <a:cs typeface="Arial"/>
                      </a:endParaRPr>
                    </a:p>
                  </a:txBody>
                  <a:tcPr marL="0" marR="0" marT="97155"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R="1270" algn="ctr">
                        <a:lnSpc>
                          <a:spcPct val="100000"/>
                        </a:lnSpc>
                        <a:spcBef>
                          <a:spcPts val="765"/>
                        </a:spcBef>
                      </a:pPr>
                      <a:r>
                        <a:rPr sz="900" dirty="0">
                          <a:latin typeface="Arial"/>
                          <a:cs typeface="Arial"/>
                        </a:rPr>
                        <a:t>3.5</a:t>
                      </a:r>
                    </a:p>
                  </a:txBody>
                  <a:tcPr marL="0" marR="0" marT="97155"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gn="ctr">
                        <a:lnSpc>
                          <a:spcPct val="100000"/>
                        </a:lnSpc>
                        <a:spcBef>
                          <a:spcPts val="765"/>
                        </a:spcBef>
                      </a:pPr>
                      <a:r>
                        <a:rPr sz="900" spc="-5" dirty="0">
                          <a:latin typeface="Arial"/>
                          <a:cs typeface="Arial"/>
                        </a:rPr>
                        <a:t>3.85</a:t>
                      </a:r>
                      <a:endParaRPr sz="900" dirty="0">
                        <a:latin typeface="Arial"/>
                        <a:cs typeface="Arial"/>
                      </a:endParaRPr>
                    </a:p>
                  </a:txBody>
                  <a:tcPr marL="0" marR="0" marT="97155"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gn="ctr">
                        <a:lnSpc>
                          <a:spcPct val="100000"/>
                        </a:lnSpc>
                        <a:spcBef>
                          <a:spcPts val="765"/>
                        </a:spcBef>
                      </a:pPr>
                      <a:r>
                        <a:rPr sz="900" dirty="0">
                          <a:latin typeface="Arial"/>
                          <a:cs typeface="Arial"/>
                        </a:rPr>
                        <a:t>V</a:t>
                      </a:r>
                    </a:p>
                  </a:txBody>
                  <a:tcPr marL="0" marR="0" marT="97155" marB="0">
                    <a:lnL w="3175">
                      <a:solidFill>
                        <a:srgbClr val="000000"/>
                      </a:solidFill>
                      <a:prstDash val="solid"/>
                    </a:lnL>
                    <a:lnT w="3175">
                      <a:solidFill>
                        <a:srgbClr val="000000"/>
                      </a:solidFill>
                      <a:prstDash val="solid"/>
                    </a:lnT>
                    <a:lnB w="3175">
                      <a:solidFill>
                        <a:srgbClr val="000000"/>
                      </a:solidFill>
                      <a:prstDash val="solid"/>
                    </a:lnB>
                  </a:tcPr>
                </a:tc>
                <a:extLst>
                  <a:ext uri="{0D108BD9-81ED-4DB2-BD59-A6C34878D82A}">
                    <a16:rowId xmlns:a16="http://schemas.microsoft.com/office/drawing/2014/main" val="10005"/>
                  </a:ext>
                </a:extLst>
              </a:tr>
              <a:tr h="283845">
                <a:tc>
                  <a:txBody>
                    <a:bodyPr/>
                    <a:lstStyle/>
                    <a:p>
                      <a:pPr>
                        <a:lnSpc>
                          <a:spcPct val="150000"/>
                        </a:lnSpc>
                        <a:spcBef>
                          <a:spcPts val="30"/>
                        </a:spcBef>
                      </a:pPr>
                      <a:r>
                        <a:rPr sz="900" dirty="0">
                          <a:solidFill>
                            <a:schemeClr val="tx1"/>
                          </a:solidFill>
                          <a:latin typeface="Arial"/>
                          <a:cs typeface="Arial"/>
                        </a:rPr>
                        <a:t>ADO</a:t>
                      </a:r>
                      <a:r>
                        <a:rPr sz="900" spc="-25" dirty="0">
                          <a:solidFill>
                            <a:schemeClr val="tx1"/>
                          </a:solidFill>
                          <a:latin typeface="Arial"/>
                          <a:cs typeface="Arial"/>
                        </a:rPr>
                        <a:t> </a:t>
                      </a:r>
                      <a:r>
                        <a:rPr sz="900" dirty="0">
                          <a:solidFill>
                            <a:schemeClr val="tx1"/>
                          </a:solidFill>
                          <a:latin typeface="Arial"/>
                          <a:cs typeface="Arial"/>
                        </a:rPr>
                        <a:t>output</a:t>
                      </a:r>
                      <a:r>
                        <a:rPr sz="900" spc="-45" dirty="0">
                          <a:solidFill>
                            <a:schemeClr val="tx1"/>
                          </a:solidFill>
                          <a:latin typeface="Arial"/>
                          <a:cs typeface="Arial"/>
                        </a:rPr>
                        <a:t> </a:t>
                      </a:r>
                      <a:r>
                        <a:rPr sz="900" dirty="0">
                          <a:solidFill>
                            <a:schemeClr val="tx1"/>
                          </a:solidFill>
                          <a:latin typeface="Arial"/>
                          <a:cs typeface="Arial"/>
                        </a:rPr>
                        <a:t>voltage</a:t>
                      </a:r>
                    </a:p>
                    <a:p>
                      <a:pPr marL="808990">
                        <a:lnSpc>
                          <a:spcPct val="150000"/>
                        </a:lnSpc>
                      </a:pPr>
                      <a:r>
                        <a:rPr sz="900" spc="-5" dirty="0">
                          <a:solidFill>
                            <a:schemeClr val="tx1"/>
                          </a:solidFill>
                          <a:latin typeface="Arial"/>
                          <a:cs typeface="Arial"/>
                        </a:rPr>
                        <a:t>Range</a:t>
                      </a:r>
                      <a:endParaRPr sz="900" dirty="0">
                        <a:solidFill>
                          <a:schemeClr val="tx1"/>
                        </a:solidFill>
                        <a:latin typeface="Arial"/>
                        <a:cs typeface="Arial"/>
                      </a:endParaRPr>
                    </a:p>
                  </a:txBody>
                  <a:tcPr marL="0" marR="0" marT="3810" marB="0">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L="247650">
                        <a:lnSpc>
                          <a:spcPct val="100000"/>
                        </a:lnSpc>
                        <a:spcBef>
                          <a:spcPts val="680"/>
                        </a:spcBef>
                      </a:pPr>
                      <a:r>
                        <a:rPr sz="1350" spc="-7" baseline="6172" dirty="0">
                          <a:solidFill>
                            <a:schemeClr val="tx1"/>
                          </a:solidFill>
                          <a:latin typeface="Arial"/>
                          <a:cs typeface="Arial"/>
                        </a:rPr>
                        <a:t>V</a:t>
                      </a:r>
                      <a:r>
                        <a:rPr sz="600" spc="-5" dirty="0">
                          <a:solidFill>
                            <a:schemeClr val="tx1"/>
                          </a:solidFill>
                          <a:latin typeface="Arial"/>
                          <a:cs typeface="Arial"/>
                        </a:rPr>
                        <a:t>ADO</a:t>
                      </a:r>
                      <a:endParaRPr sz="600" dirty="0">
                        <a:solidFill>
                          <a:schemeClr val="tx1"/>
                        </a:solidFill>
                        <a:latin typeface="Arial"/>
                        <a:cs typeface="Arial"/>
                      </a:endParaRPr>
                    </a:p>
                  </a:txBody>
                  <a:tcPr marL="0" marR="0" marT="8636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L="173990">
                        <a:lnSpc>
                          <a:spcPct val="100000"/>
                        </a:lnSpc>
                        <a:spcBef>
                          <a:spcPts val="570"/>
                        </a:spcBef>
                      </a:pPr>
                      <a:r>
                        <a:rPr sz="900" dirty="0">
                          <a:solidFill>
                            <a:schemeClr val="tx1"/>
                          </a:solidFill>
                          <a:latin typeface="Arial"/>
                          <a:cs typeface="Arial"/>
                        </a:rPr>
                        <a:t>ADO</a:t>
                      </a:r>
                      <a:r>
                        <a:rPr sz="900" spc="-40" dirty="0">
                          <a:solidFill>
                            <a:schemeClr val="tx1"/>
                          </a:solidFill>
                          <a:latin typeface="Arial"/>
                          <a:cs typeface="Arial"/>
                        </a:rPr>
                        <a:t> </a:t>
                      </a:r>
                      <a:r>
                        <a:rPr sz="900" dirty="0">
                          <a:solidFill>
                            <a:schemeClr val="tx1"/>
                          </a:solidFill>
                          <a:latin typeface="Arial"/>
                          <a:cs typeface="Arial"/>
                        </a:rPr>
                        <a:t>output</a:t>
                      </a:r>
                      <a:r>
                        <a:rPr sz="900" spc="-50" dirty="0">
                          <a:solidFill>
                            <a:schemeClr val="tx1"/>
                          </a:solidFill>
                          <a:latin typeface="Arial"/>
                          <a:cs typeface="Arial"/>
                        </a:rPr>
                        <a:t> </a:t>
                      </a:r>
                      <a:r>
                        <a:rPr sz="900" spc="-5" dirty="0">
                          <a:solidFill>
                            <a:schemeClr val="tx1"/>
                          </a:solidFill>
                          <a:latin typeface="Arial"/>
                          <a:cs typeface="Arial"/>
                        </a:rPr>
                        <a:t>level</a:t>
                      </a:r>
                      <a:endParaRPr sz="900" dirty="0">
                        <a:solidFill>
                          <a:schemeClr val="tx1"/>
                        </a:solidFill>
                        <a:latin typeface="Arial"/>
                        <a:cs typeface="Arial"/>
                      </a:endParaRPr>
                    </a:p>
                  </a:txBody>
                  <a:tcPr marL="0" marR="0" marT="7239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R="173990" algn="r">
                        <a:lnSpc>
                          <a:spcPct val="100000"/>
                        </a:lnSpc>
                        <a:spcBef>
                          <a:spcPts val="570"/>
                        </a:spcBef>
                      </a:pPr>
                      <a:r>
                        <a:rPr sz="900" dirty="0">
                          <a:solidFill>
                            <a:schemeClr val="tx1"/>
                          </a:solidFill>
                          <a:latin typeface="Arial"/>
                          <a:cs typeface="Arial"/>
                        </a:rPr>
                        <a:t>0.0</a:t>
                      </a:r>
                    </a:p>
                  </a:txBody>
                  <a:tcPr marL="0" marR="0" marT="7239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gn="ctr">
                        <a:lnSpc>
                          <a:spcPct val="100000"/>
                        </a:lnSpc>
                        <a:spcBef>
                          <a:spcPts val="570"/>
                        </a:spcBef>
                      </a:pPr>
                      <a:r>
                        <a:rPr sz="900" dirty="0">
                          <a:solidFill>
                            <a:schemeClr val="tx1"/>
                          </a:solidFill>
                          <a:latin typeface="Arial"/>
                          <a:cs typeface="Arial"/>
                        </a:rPr>
                        <a:t>-</a:t>
                      </a:r>
                    </a:p>
                  </a:txBody>
                  <a:tcPr marL="0" marR="0" marT="7239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gn="ctr">
                        <a:lnSpc>
                          <a:spcPct val="100000"/>
                        </a:lnSpc>
                        <a:spcBef>
                          <a:spcPts val="680"/>
                        </a:spcBef>
                      </a:pPr>
                      <a:r>
                        <a:rPr sz="1350" spc="-7" baseline="6172" dirty="0">
                          <a:solidFill>
                            <a:schemeClr val="tx1"/>
                          </a:solidFill>
                          <a:latin typeface="Arial"/>
                          <a:cs typeface="Arial"/>
                        </a:rPr>
                        <a:t>V</a:t>
                      </a:r>
                      <a:r>
                        <a:rPr sz="600" spc="-5" dirty="0">
                          <a:solidFill>
                            <a:schemeClr val="tx1"/>
                          </a:solidFill>
                          <a:latin typeface="Arial"/>
                          <a:cs typeface="Arial"/>
                        </a:rPr>
                        <a:t>DDA</a:t>
                      </a:r>
                      <a:endParaRPr sz="600" dirty="0">
                        <a:solidFill>
                          <a:schemeClr val="tx1"/>
                        </a:solidFill>
                        <a:latin typeface="Arial"/>
                        <a:cs typeface="Arial"/>
                      </a:endParaRPr>
                    </a:p>
                  </a:txBody>
                  <a:tcPr marL="0" marR="0" marT="8636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gn="ctr">
                        <a:lnSpc>
                          <a:spcPct val="100000"/>
                        </a:lnSpc>
                        <a:spcBef>
                          <a:spcPts val="570"/>
                        </a:spcBef>
                      </a:pPr>
                      <a:r>
                        <a:rPr sz="900" dirty="0">
                          <a:solidFill>
                            <a:schemeClr val="tx1"/>
                          </a:solidFill>
                          <a:latin typeface="Arial"/>
                          <a:cs typeface="Arial"/>
                        </a:rPr>
                        <a:t>V</a:t>
                      </a:r>
                    </a:p>
                  </a:txBody>
                  <a:tcPr marL="0" marR="0" marT="72390" marB="0">
                    <a:lnL w="3175">
                      <a:solidFill>
                        <a:srgbClr val="000000"/>
                      </a:solidFill>
                      <a:prstDash val="solid"/>
                    </a:lnL>
                    <a:lnT w="3175">
                      <a:solidFill>
                        <a:srgbClr val="000000"/>
                      </a:solidFill>
                      <a:prstDash val="solid"/>
                    </a:lnT>
                    <a:lnB w="3175">
                      <a:solidFill>
                        <a:srgbClr val="000000"/>
                      </a:solidFill>
                      <a:prstDash val="solid"/>
                    </a:lnB>
                  </a:tcPr>
                </a:tc>
                <a:extLst>
                  <a:ext uri="{0D108BD9-81ED-4DB2-BD59-A6C34878D82A}">
                    <a16:rowId xmlns:a16="http://schemas.microsoft.com/office/drawing/2014/main" val="10006"/>
                  </a:ext>
                </a:extLst>
              </a:tr>
              <a:tr h="283845">
                <a:tc>
                  <a:txBody>
                    <a:bodyPr/>
                    <a:lstStyle/>
                    <a:p>
                      <a:pPr>
                        <a:lnSpc>
                          <a:spcPct val="150000"/>
                        </a:lnSpc>
                        <a:spcBef>
                          <a:spcPts val="30"/>
                        </a:spcBef>
                      </a:pPr>
                      <a:r>
                        <a:rPr sz="900" dirty="0">
                          <a:solidFill>
                            <a:schemeClr val="tx1"/>
                          </a:solidFill>
                          <a:latin typeface="Arial"/>
                          <a:cs typeface="Arial"/>
                        </a:rPr>
                        <a:t>ADO</a:t>
                      </a:r>
                      <a:r>
                        <a:rPr sz="900" spc="-25" dirty="0">
                          <a:solidFill>
                            <a:schemeClr val="tx1"/>
                          </a:solidFill>
                          <a:latin typeface="Arial"/>
                          <a:cs typeface="Arial"/>
                        </a:rPr>
                        <a:t> </a:t>
                      </a:r>
                      <a:r>
                        <a:rPr sz="900" dirty="0">
                          <a:solidFill>
                            <a:schemeClr val="tx1"/>
                          </a:solidFill>
                          <a:latin typeface="Arial"/>
                          <a:cs typeface="Arial"/>
                        </a:rPr>
                        <a:t>output</a:t>
                      </a:r>
                      <a:r>
                        <a:rPr sz="900" spc="-45" dirty="0">
                          <a:solidFill>
                            <a:schemeClr val="tx1"/>
                          </a:solidFill>
                          <a:latin typeface="Arial"/>
                          <a:cs typeface="Arial"/>
                        </a:rPr>
                        <a:t> </a:t>
                      </a:r>
                      <a:r>
                        <a:rPr sz="900" dirty="0">
                          <a:solidFill>
                            <a:schemeClr val="tx1"/>
                          </a:solidFill>
                          <a:latin typeface="Arial"/>
                          <a:cs typeface="Arial"/>
                        </a:rPr>
                        <a:t>voltage</a:t>
                      </a:r>
                    </a:p>
                    <a:p>
                      <a:pPr marL="808990">
                        <a:lnSpc>
                          <a:spcPct val="150000"/>
                        </a:lnSpc>
                      </a:pPr>
                      <a:r>
                        <a:rPr sz="900" dirty="0">
                          <a:solidFill>
                            <a:schemeClr val="tx1"/>
                          </a:solidFill>
                          <a:latin typeface="Arial"/>
                          <a:cs typeface="Arial"/>
                        </a:rPr>
                        <a:t>Variation</a:t>
                      </a:r>
                    </a:p>
                  </a:txBody>
                  <a:tcPr marL="0" marR="0" marT="3810" marB="0">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L="247650">
                        <a:lnSpc>
                          <a:spcPct val="100000"/>
                        </a:lnSpc>
                        <a:spcBef>
                          <a:spcPts val="680"/>
                        </a:spcBef>
                      </a:pPr>
                      <a:r>
                        <a:rPr sz="1350" spc="-7" baseline="6172" dirty="0">
                          <a:solidFill>
                            <a:schemeClr val="tx1"/>
                          </a:solidFill>
                          <a:latin typeface="Arial"/>
                          <a:cs typeface="Arial"/>
                        </a:rPr>
                        <a:t>V</a:t>
                      </a:r>
                      <a:r>
                        <a:rPr sz="600" spc="-5" dirty="0">
                          <a:solidFill>
                            <a:schemeClr val="tx1"/>
                          </a:solidFill>
                          <a:latin typeface="Arial"/>
                          <a:cs typeface="Arial"/>
                        </a:rPr>
                        <a:t>ADO</a:t>
                      </a:r>
                      <a:endParaRPr sz="600" dirty="0">
                        <a:solidFill>
                          <a:schemeClr val="tx1"/>
                        </a:solidFill>
                        <a:latin typeface="Arial"/>
                        <a:cs typeface="Arial"/>
                      </a:endParaRPr>
                    </a:p>
                  </a:txBody>
                  <a:tcPr marL="0" marR="0" marT="8636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L="173990">
                        <a:lnSpc>
                          <a:spcPct val="100000"/>
                        </a:lnSpc>
                        <a:spcBef>
                          <a:spcPts val="570"/>
                        </a:spcBef>
                      </a:pPr>
                      <a:r>
                        <a:rPr sz="900" dirty="0">
                          <a:solidFill>
                            <a:schemeClr val="tx1"/>
                          </a:solidFill>
                          <a:latin typeface="Arial"/>
                          <a:cs typeface="Arial"/>
                        </a:rPr>
                        <a:t>ADO</a:t>
                      </a:r>
                      <a:r>
                        <a:rPr sz="900" spc="-35" dirty="0">
                          <a:solidFill>
                            <a:schemeClr val="tx1"/>
                          </a:solidFill>
                          <a:latin typeface="Arial"/>
                          <a:cs typeface="Arial"/>
                        </a:rPr>
                        <a:t> </a:t>
                      </a:r>
                      <a:r>
                        <a:rPr sz="900" dirty="0">
                          <a:solidFill>
                            <a:schemeClr val="tx1"/>
                          </a:solidFill>
                          <a:latin typeface="Arial"/>
                          <a:cs typeface="Arial"/>
                        </a:rPr>
                        <a:t>output</a:t>
                      </a:r>
                      <a:r>
                        <a:rPr sz="900" spc="-40" dirty="0">
                          <a:solidFill>
                            <a:schemeClr val="tx1"/>
                          </a:solidFill>
                          <a:latin typeface="Arial"/>
                          <a:cs typeface="Arial"/>
                        </a:rPr>
                        <a:t> </a:t>
                      </a:r>
                      <a:r>
                        <a:rPr sz="900" spc="-5" dirty="0">
                          <a:solidFill>
                            <a:schemeClr val="tx1"/>
                          </a:solidFill>
                          <a:latin typeface="Arial"/>
                          <a:cs typeface="Arial"/>
                        </a:rPr>
                        <a:t>level</a:t>
                      </a:r>
                      <a:r>
                        <a:rPr sz="900" spc="-35" dirty="0">
                          <a:solidFill>
                            <a:schemeClr val="tx1"/>
                          </a:solidFill>
                          <a:latin typeface="Arial"/>
                          <a:cs typeface="Arial"/>
                        </a:rPr>
                        <a:t> </a:t>
                      </a:r>
                      <a:r>
                        <a:rPr sz="900" dirty="0">
                          <a:solidFill>
                            <a:schemeClr val="tx1"/>
                          </a:solidFill>
                          <a:latin typeface="Arial"/>
                          <a:cs typeface="Arial"/>
                        </a:rPr>
                        <a:t>0.3V</a:t>
                      </a:r>
                    </a:p>
                  </a:txBody>
                  <a:tcPr marL="0" marR="0" marT="7239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R="109855" algn="r">
                        <a:lnSpc>
                          <a:spcPct val="100000"/>
                        </a:lnSpc>
                        <a:spcBef>
                          <a:spcPts val="570"/>
                        </a:spcBef>
                      </a:pPr>
                      <a:r>
                        <a:rPr sz="900" spc="-5" dirty="0">
                          <a:solidFill>
                            <a:schemeClr val="tx1"/>
                          </a:solidFill>
                          <a:latin typeface="Arial"/>
                          <a:cs typeface="Arial"/>
                        </a:rPr>
                        <a:t>0.279</a:t>
                      </a:r>
                      <a:endParaRPr sz="900" dirty="0">
                        <a:solidFill>
                          <a:schemeClr val="tx1"/>
                        </a:solidFill>
                        <a:latin typeface="Arial"/>
                        <a:cs typeface="Arial"/>
                      </a:endParaRPr>
                    </a:p>
                  </a:txBody>
                  <a:tcPr marL="0" marR="0" marT="7239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R="1270" algn="ctr">
                        <a:lnSpc>
                          <a:spcPct val="100000"/>
                        </a:lnSpc>
                        <a:spcBef>
                          <a:spcPts val="570"/>
                        </a:spcBef>
                      </a:pPr>
                      <a:r>
                        <a:rPr sz="900" dirty="0">
                          <a:solidFill>
                            <a:schemeClr val="tx1"/>
                          </a:solidFill>
                          <a:latin typeface="Arial"/>
                          <a:cs typeface="Arial"/>
                        </a:rPr>
                        <a:t>0.3</a:t>
                      </a:r>
                    </a:p>
                  </a:txBody>
                  <a:tcPr marL="0" marR="0" marT="7239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gn="ctr">
                        <a:lnSpc>
                          <a:spcPct val="100000"/>
                        </a:lnSpc>
                        <a:spcBef>
                          <a:spcPts val="570"/>
                        </a:spcBef>
                      </a:pPr>
                      <a:r>
                        <a:rPr sz="900" spc="-5" dirty="0">
                          <a:solidFill>
                            <a:schemeClr val="tx1"/>
                          </a:solidFill>
                          <a:latin typeface="Arial"/>
                          <a:cs typeface="Arial"/>
                        </a:rPr>
                        <a:t>0.321</a:t>
                      </a:r>
                      <a:endParaRPr sz="900" dirty="0">
                        <a:solidFill>
                          <a:schemeClr val="tx1"/>
                        </a:solidFill>
                        <a:latin typeface="Arial"/>
                        <a:cs typeface="Arial"/>
                      </a:endParaRPr>
                    </a:p>
                  </a:txBody>
                  <a:tcPr marL="0" marR="0" marT="7239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gn="ctr">
                        <a:lnSpc>
                          <a:spcPct val="100000"/>
                        </a:lnSpc>
                        <a:spcBef>
                          <a:spcPts val="570"/>
                        </a:spcBef>
                      </a:pPr>
                      <a:r>
                        <a:rPr sz="900" dirty="0">
                          <a:solidFill>
                            <a:schemeClr val="tx1"/>
                          </a:solidFill>
                          <a:latin typeface="Arial"/>
                          <a:cs typeface="Arial"/>
                        </a:rPr>
                        <a:t>V</a:t>
                      </a:r>
                    </a:p>
                  </a:txBody>
                  <a:tcPr marL="0" marR="0" marT="72390" marB="0">
                    <a:lnL w="3175">
                      <a:solidFill>
                        <a:srgbClr val="000000"/>
                      </a:solidFill>
                      <a:prstDash val="solid"/>
                    </a:lnL>
                    <a:lnT w="3175">
                      <a:solidFill>
                        <a:srgbClr val="000000"/>
                      </a:solidFill>
                      <a:prstDash val="solid"/>
                    </a:lnT>
                    <a:lnB w="3175">
                      <a:solidFill>
                        <a:srgbClr val="000000"/>
                      </a:solidFill>
                      <a:prstDash val="solid"/>
                    </a:lnB>
                  </a:tcPr>
                </a:tc>
                <a:extLst>
                  <a:ext uri="{0D108BD9-81ED-4DB2-BD59-A6C34878D82A}">
                    <a16:rowId xmlns:a16="http://schemas.microsoft.com/office/drawing/2014/main" val="10007"/>
                  </a:ext>
                </a:extLst>
              </a:tr>
              <a:tr h="278130">
                <a:tc>
                  <a:txBody>
                    <a:bodyPr/>
                    <a:lstStyle/>
                    <a:p>
                      <a:pPr marR="24765" algn="r">
                        <a:lnSpc>
                          <a:spcPct val="150000"/>
                        </a:lnSpc>
                        <a:spcBef>
                          <a:spcPts val="550"/>
                        </a:spcBef>
                      </a:pPr>
                      <a:r>
                        <a:rPr sz="900" dirty="0">
                          <a:solidFill>
                            <a:schemeClr val="tx1"/>
                          </a:solidFill>
                          <a:latin typeface="Arial"/>
                          <a:cs typeface="Arial"/>
                        </a:rPr>
                        <a:t>Accuracy</a:t>
                      </a:r>
                    </a:p>
                  </a:txBody>
                  <a:tcPr marL="0" marR="0" marT="69850" marB="0">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L="195580">
                        <a:lnSpc>
                          <a:spcPct val="100000"/>
                        </a:lnSpc>
                        <a:spcBef>
                          <a:spcPts val="655"/>
                        </a:spcBef>
                      </a:pPr>
                      <a:r>
                        <a:rPr sz="1350" spc="30" baseline="6172" dirty="0">
                          <a:solidFill>
                            <a:schemeClr val="tx1"/>
                          </a:solidFill>
                          <a:latin typeface="Lucida Sans Unicode"/>
                          <a:cs typeface="Lucida Sans Unicode"/>
                        </a:rPr>
                        <a:t>△</a:t>
                      </a:r>
                      <a:r>
                        <a:rPr sz="1350" spc="30" baseline="6172" dirty="0">
                          <a:solidFill>
                            <a:schemeClr val="tx1"/>
                          </a:solidFill>
                          <a:latin typeface="Arial"/>
                          <a:cs typeface="Arial"/>
                        </a:rPr>
                        <a:t>V</a:t>
                      </a:r>
                      <a:r>
                        <a:rPr sz="600" spc="20" dirty="0">
                          <a:solidFill>
                            <a:schemeClr val="tx1"/>
                          </a:solidFill>
                          <a:latin typeface="Arial"/>
                          <a:cs typeface="Arial"/>
                        </a:rPr>
                        <a:t>ADO</a:t>
                      </a:r>
                      <a:endParaRPr sz="600" dirty="0">
                        <a:solidFill>
                          <a:schemeClr val="tx1"/>
                        </a:solidFill>
                        <a:latin typeface="Arial"/>
                        <a:cs typeface="Arial"/>
                      </a:endParaRPr>
                    </a:p>
                  </a:txBody>
                  <a:tcPr marL="0" marR="0" marT="83185"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L="173990">
                        <a:lnSpc>
                          <a:spcPct val="100000"/>
                        </a:lnSpc>
                        <a:spcBef>
                          <a:spcPts val="550"/>
                        </a:spcBef>
                      </a:pPr>
                      <a:r>
                        <a:rPr sz="900" dirty="0">
                          <a:solidFill>
                            <a:schemeClr val="tx1"/>
                          </a:solidFill>
                          <a:latin typeface="Arial"/>
                          <a:cs typeface="Arial"/>
                        </a:rPr>
                        <a:t>Accuracy</a:t>
                      </a:r>
                      <a:r>
                        <a:rPr sz="900" spc="-50" dirty="0">
                          <a:solidFill>
                            <a:schemeClr val="tx1"/>
                          </a:solidFill>
                          <a:latin typeface="Arial"/>
                          <a:cs typeface="Arial"/>
                        </a:rPr>
                        <a:t> </a:t>
                      </a:r>
                      <a:r>
                        <a:rPr sz="900" dirty="0">
                          <a:solidFill>
                            <a:schemeClr val="tx1"/>
                          </a:solidFill>
                          <a:latin typeface="Arial"/>
                          <a:cs typeface="Arial"/>
                        </a:rPr>
                        <a:t>of</a:t>
                      </a:r>
                      <a:r>
                        <a:rPr sz="900" spc="-35" dirty="0">
                          <a:solidFill>
                            <a:schemeClr val="tx1"/>
                          </a:solidFill>
                          <a:latin typeface="Arial"/>
                          <a:cs typeface="Arial"/>
                        </a:rPr>
                        <a:t> </a:t>
                      </a:r>
                      <a:r>
                        <a:rPr sz="900" dirty="0">
                          <a:solidFill>
                            <a:schemeClr val="tx1"/>
                          </a:solidFill>
                          <a:latin typeface="Arial"/>
                          <a:cs typeface="Arial"/>
                        </a:rPr>
                        <a:t>output</a:t>
                      </a:r>
                      <a:r>
                        <a:rPr sz="900" spc="-30" dirty="0">
                          <a:solidFill>
                            <a:schemeClr val="tx1"/>
                          </a:solidFill>
                          <a:latin typeface="Arial"/>
                          <a:cs typeface="Arial"/>
                        </a:rPr>
                        <a:t> </a:t>
                      </a:r>
                      <a:r>
                        <a:rPr sz="900" dirty="0">
                          <a:solidFill>
                            <a:schemeClr val="tx1"/>
                          </a:solidFill>
                          <a:latin typeface="Arial"/>
                          <a:cs typeface="Arial"/>
                        </a:rPr>
                        <a:t>0.3V</a:t>
                      </a:r>
                    </a:p>
                  </a:txBody>
                  <a:tcPr marL="0" marR="0" marT="6985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gn="ctr">
                        <a:lnSpc>
                          <a:spcPct val="100000"/>
                        </a:lnSpc>
                        <a:spcBef>
                          <a:spcPts val="550"/>
                        </a:spcBef>
                      </a:pPr>
                      <a:r>
                        <a:rPr sz="900" spc="-5" dirty="0">
                          <a:solidFill>
                            <a:schemeClr val="tx1"/>
                          </a:solidFill>
                          <a:latin typeface="Arial"/>
                          <a:cs typeface="Arial"/>
                        </a:rPr>
                        <a:t>-7</a:t>
                      </a:r>
                      <a:endParaRPr sz="900" dirty="0">
                        <a:solidFill>
                          <a:schemeClr val="tx1"/>
                        </a:solidFill>
                        <a:latin typeface="Arial"/>
                        <a:cs typeface="Arial"/>
                      </a:endParaRPr>
                    </a:p>
                  </a:txBody>
                  <a:tcPr marL="0" marR="0" marT="6985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gn="ctr">
                        <a:lnSpc>
                          <a:spcPct val="100000"/>
                        </a:lnSpc>
                        <a:spcBef>
                          <a:spcPts val="550"/>
                        </a:spcBef>
                      </a:pPr>
                      <a:r>
                        <a:rPr sz="900" dirty="0">
                          <a:solidFill>
                            <a:schemeClr val="tx1"/>
                          </a:solidFill>
                          <a:latin typeface="Arial"/>
                          <a:cs typeface="Arial"/>
                        </a:rPr>
                        <a:t>-</a:t>
                      </a:r>
                    </a:p>
                  </a:txBody>
                  <a:tcPr marL="0" marR="0" marT="6985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R="635" algn="ctr">
                        <a:lnSpc>
                          <a:spcPct val="100000"/>
                        </a:lnSpc>
                        <a:spcBef>
                          <a:spcPts val="550"/>
                        </a:spcBef>
                      </a:pPr>
                      <a:r>
                        <a:rPr sz="900" spc="-5" dirty="0">
                          <a:solidFill>
                            <a:schemeClr val="tx1"/>
                          </a:solidFill>
                          <a:latin typeface="Arial"/>
                          <a:cs typeface="Arial"/>
                        </a:rPr>
                        <a:t>+7</a:t>
                      </a:r>
                      <a:endParaRPr sz="900" dirty="0">
                        <a:solidFill>
                          <a:schemeClr val="tx1"/>
                        </a:solidFill>
                        <a:latin typeface="Arial"/>
                        <a:cs typeface="Arial"/>
                      </a:endParaRPr>
                    </a:p>
                  </a:txBody>
                  <a:tcPr marL="0" marR="0" marT="6985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R="635" algn="ctr">
                        <a:lnSpc>
                          <a:spcPct val="100000"/>
                        </a:lnSpc>
                        <a:spcBef>
                          <a:spcPts val="550"/>
                        </a:spcBef>
                      </a:pPr>
                      <a:r>
                        <a:rPr sz="900" dirty="0">
                          <a:solidFill>
                            <a:schemeClr val="tx1"/>
                          </a:solidFill>
                          <a:latin typeface="Arial"/>
                          <a:cs typeface="Arial"/>
                        </a:rPr>
                        <a:t>%</a:t>
                      </a:r>
                    </a:p>
                  </a:txBody>
                  <a:tcPr marL="0" marR="0" marT="69850" marB="0">
                    <a:lnL w="3175">
                      <a:solidFill>
                        <a:srgbClr val="000000"/>
                      </a:solidFill>
                      <a:prstDash val="solid"/>
                    </a:lnL>
                    <a:lnT w="3175">
                      <a:solidFill>
                        <a:srgbClr val="000000"/>
                      </a:solidFill>
                      <a:prstDash val="solid"/>
                    </a:lnT>
                    <a:lnB w="3175">
                      <a:solidFill>
                        <a:srgbClr val="000000"/>
                      </a:solidFill>
                      <a:prstDash val="solid"/>
                    </a:lnB>
                  </a:tcPr>
                </a:tc>
                <a:extLst>
                  <a:ext uri="{0D108BD9-81ED-4DB2-BD59-A6C34878D82A}">
                    <a16:rowId xmlns:a16="http://schemas.microsoft.com/office/drawing/2014/main" val="10008"/>
                  </a:ext>
                </a:extLst>
              </a:tr>
              <a:tr h="283210">
                <a:tc>
                  <a:txBody>
                    <a:bodyPr/>
                    <a:lstStyle/>
                    <a:p>
                      <a:pPr>
                        <a:lnSpc>
                          <a:spcPct val="150000"/>
                        </a:lnSpc>
                        <a:spcBef>
                          <a:spcPts val="30"/>
                        </a:spcBef>
                      </a:pPr>
                      <a:r>
                        <a:rPr sz="900" dirty="0">
                          <a:solidFill>
                            <a:schemeClr val="tx1"/>
                          </a:solidFill>
                          <a:latin typeface="Arial"/>
                          <a:cs typeface="Arial"/>
                        </a:rPr>
                        <a:t>ADO</a:t>
                      </a:r>
                      <a:r>
                        <a:rPr sz="900" spc="-25" dirty="0">
                          <a:solidFill>
                            <a:schemeClr val="tx1"/>
                          </a:solidFill>
                          <a:latin typeface="Arial"/>
                          <a:cs typeface="Arial"/>
                        </a:rPr>
                        <a:t> </a:t>
                      </a:r>
                      <a:r>
                        <a:rPr sz="900" dirty="0">
                          <a:solidFill>
                            <a:schemeClr val="tx1"/>
                          </a:solidFill>
                          <a:latin typeface="Arial"/>
                          <a:cs typeface="Arial"/>
                        </a:rPr>
                        <a:t>output</a:t>
                      </a:r>
                      <a:r>
                        <a:rPr sz="900" spc="-45" dirty="0">
                          <a:solidFill>
                            <a:schemeClr val="tx1"/>
                          </a:solidFill>
                          <a:latin typeface="Arial"/>
                          <a:cs typeface="Arial"/>
                        </a:rPr>
                        <a:t> </a:t>
                      </a:r>
                      <a:r>
                        <a:rPr sz="900" dirty="0">
                          <a:solidFill>
                            <a:schemeClr val="tx1"/>
                          </a:solidFill>
                          <a:latin typeface="Arial"/>
                          <a:cs typeface="Arial"/>
                        </a:rPr>
                        <a:t>voltage</a:t>
                      </a:r>
                    </a:p>
                    <a:p>
                      <a:pPr marL="808990">
                        <a:lnSpc>
                          <a:spcPct val="150000"/>
                        </a:lnSpc>
                      </a:pPr>
                      <a:r>
                        <a:rPr sz="900" dirty="0">
                          <a:solidFill>
                            <a:schemeClr val="tx1"/>
                          </a:solidFill>
                          <a:latin typeface="Arial"/>
                          <a:cs typeface="Arial"/>
                        </a:rPr>
                        <a:t>Variation</a:t>
                      </a:r>
                    </a:p>
                  </a:txBody>
                  <a:tcPr marL="0" marR="0" marT="3810" marB="0">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L="247650">
                        <a:lnSpc>
                          <a:spcPct val="100000"/>
                        </a:lnSpc>
                        <a:spcBef>
                          <a:spcPts val="680"/>
                        </a:spcBef>
                      </a:pPr>
                      <a:r>
                        <a:rPr sz="1350" spc="-7" baseline="6172" dirty="0">
                          <a:solidFill>
                            <a:schemeClr val="tx1"/>
                          </a:solidFill>
                          <a:latin typeface="Arial"/>
                          <a:cs typeface="Arial"/>
                        </a:rPr>
                        <a:t>V</a:t>
                      </a:r>
                      <a:r>
                        <a:rPr sz="600" spc="-5" dirty="0">
                          <a:solidFill>
                            <a:schemeClr val="tx1"/>
                          </a:solidFill>
                          <a:latin typeface="Arial"/>
                          <a:cs typeface="Arial"/>
                        </a:rPr>
                        <a:t>ADO</a:t>
                      </a:r>
                      <a:endParaRPr sz="600" dirty="0">
                        <a:solidFill>
                          <a:schemeClr val="tx1"/>
                        </a:solidFill>
                        <a:latin typeface="Arial"/>
                        <a:cs typeface="Arial"/>
                      </a:endParaRPr>
                    </a:p>
                  </a:txBody>
                  <a:tcPr marL="0" marR="0" marT="8636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L="173990">
                        <a:lnSpc>
                          <a:spcPct val="100000"/>
                        </a:lnSpc>
                        <a:spcBef>
                          <a:spcPts val="570"/>
                        </a:spcBef>
                      </a:pPr>
                      <a:r>
                        <a:rPr sz="900" dirty="0">
                          <a:solidFill>
                            <a:schemeClr val="tx1"/>
                          </a:solidFill>
                          <a:latin typeface="Arial"/>
                          <a:cs typeface="Arial"/>
                        </a:rPr>
                        <a:t>ADO</a:t>
                      </a:r>
                      <a:r>
                        <a:rPr sz="900" spc="-35" dirty="0">
                          <a:solidFill>
                            <a:schemeClr val="tx1"/>
                          </a:solidFill>
                          <a:latin typeface="Arial"/>
                          <a:cs typeface="Arial"/>
                        </a:rPr>
                        <a:t> </a:t>
                      </a:r>
                      <a:r>
                        <a:rPr sz="900" dirty="0">
                          <a:solidFill>
                            <a:schemeClr val="tx1"/>
                          </a:solidFill>
                          <a:latin typeface="Arial"/>
                          <a:cs typeface="Arial"/>
                        </a:rPr>
                        <a:t>output</a:t>
                      </a:r>
                      <a:r>
                        <a:rPr sz="900" spc="-40" dirty="0">
                          <a:solidFill>
                            <a:schemeClr val="tx1"/>
                          </a:solidFill>
                          <a:latin typeface="Arial"/>
                          <a:cs typeface="Arial"/>
                        </a:rPr>
                        <a:t> </a:t>
                      </a:r>
                      <a:r>
                        <a:rPr sz="900" spc="-5" dirty="0">
                          <a:solidFill>
                            <a:schemeClr val="tx1"/>
                          </a:solidFill>
                          <a:latin typeface="Arial"/>
                          <a:cs typeface="Arial"/>
                        </a:rPr>
                        <a:t>level</a:t>
                      </a:r>
                      <a:r>
                        <a:rPr sz="900" spc="-35" dirty="0">
                          <a:solidFill>
                            <a:schemeClr val="tx1"/>
                          </a:solidFill>
                          <a:latin typeface="Arial"/>
                          <a:cs typeface="Arial"/>
                        </a:rPr>
                        <a:t> </a:t>
                      </a:r>
                      <a:r>
                        <a:rPr sz="900" dirty="0">
                          <a:solidFill>
                            <a:schemeClr val="tx1"/>
                          </a:solidFill>
                          <a:latin typeface="Arial"/>
                          <a:cs typeface="Arial"/>
                        </a:rPr>
                        <a:t>1.0V</a:t>
                      </a:r>
                    </a:p>
                  </a:txBody>
                  <a:tcPr marL="0" marR="0" marT="7239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R="142240" algn="r">
                        <a:lnSpc>
                          <a:spcPct val="100000"/>
                        </a:lnSpc>
                        <a:spcBef>
                          <a:spcPts val="570"/>
                        </a:spcBef>
                      </a:pPr>
                      <a:r>
                        <a:rPr sz="900" spc="-5" dirty="0">
                          <a:solidFill>
                            <a:schemeClr val="tx1"/>
                          </a:solidFill>
                          <a:latin typeface="Arial"/>
                          <a:cs typeface="Arial"/>
                        </a:rPr>
                        <a:t>0.97</a:t>
                      </a:r>
                      <a:endParaRPr sz="900" dirty="0">
                        <a:solidFill>
                          <a:schemeClr val="tx1"/>
                        </a:solidFill>
                        <a:latin typeface="Arial"/>
                        <a:cs typeface="Arial"/>
                      </a:endParaRPr>
                    </a:p>
                  </a:txBody>
                  <a:tcPr marL="0" marR="0" marT="7239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R="1270" algn="ctr">
                        <a:lnSpc>
                          <a:spcPct val="100000"/>
                        </a:lnSpc>
                        <a:spcBef>
                          <a:spcPts val="570"/>
                        </a:spcBef>
                      </a:pPr>
                      <a:r>
                        <a:rPr sz="900" dirty="0">
                          <a:solidFill>
                            <a:schemeClr val="tx1"/>
                          </a:solidFill>
                          <a:latin typeface="Arial"/>
                          <a:cs typeface="Arial"/>
                        </a:rPr>
                        <a:t>1.0</a:t>
                      </a:r>
                    </a:p>
                  </a:txBody>
                  <a:tcPr marL="0" marR="0" marT="7239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gn="ctr">
                        <a:lnSpc>
                          <a:spcPct val="100000"/>
                        </a:lnSpc>
                        <a:spcBef>
                          <a:spcPts val="570"/>
                        </a:spcBef>
                      </a:pPr>
                      <a:r>
                        <a:rPr sz="900" spc="-5" dirty="0">
                          <a:solidFill>
                            <a:schemeClr val="tx1"/>
                          </a:solidFill>
                          <a:latin typeface="Arial"/>
                          <a:cs typeface="Arial"/>
                        </a:rPr>
                        <a:t>1.03</a:t>
                      </a:r>
                      <a:endParaRPr sz="900" dirty="0">
                        <a:solidFill>
                          <a:schemeClr val="tx1"/>
                        </a:solidFill>
                        <a:latin typeface="Arial"/>
                        <a:cs typeface="Arial"/>
                      </a:endParaRPr>
                    </a:p>
                  </a:txBody>
                  <a:tcPr marL="0" marR="0" marT="7239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gn="ctr">
                        <a:lnSpc>
                          <a:spcPct val="100000"/>
                        </a:lnSpc>
                        <a:spcBef>
                          <a:spcPts val="570"/>
                        </a:spcBef>
                      </a:pPr>
                      <a:r>
                        <a:rPr sz="900" dirty="0">
                          <a:solidFill>
                            <a:schemeClr val="tx1"/>
                          </a:solidFill>
                          <a:latin typeface="Arial"/>
                          <a:cs typeface="Arial"/>
                        </a:rPr>
                        <a:t>V</a:t>
                      </a:r>
                    </a:p>
                  </a:txBody>
                  <a:tcPr marL="0" marR="0" marT="72390" marB="0">
                    <a:lnL w="3175">
                      <a:solidFill>
                        <a:srgbClr val="000000"/>
                      </a:solidFill>
                      <a:prstDash val="solid"/>
                    </a:lnL>
                    <a:lnT w="3175">
                      <a:solidFill>
                        <a:srgbClr val="000000"/>
                      </a:solidFill>
                      <a:prstDash val="solid"/>
                    </a:lnT>
                    <a:lnB w="3175">
                      <a:solidFill>
                        <a:srgbClr val="000000"/>
                      </a:solidFill>
                      <a:prstDash val="solid"/>
                    </a:lnB>
                  </a:tcPr>
                </a:tc>
                <a:extLst>
                  <a:ext uri="{0D108BD9-81ED-4DB2-BD59-A6C34878D82A}">
                    <a16:rowId xmlns:a16="http://schemas.microsoft.com/office/drawing/2014/main" val="10009"/>
                  </a:ext>
                </a:extLst>
              </a:tr>
              <a:tr h="278130">
                <a:tc>
                  <a:txBody>
                    <a:bodyPr/>
                    <a:lstStyle/>
                    <a:p>
                      <a:pPr marR="24765" algn="r">
                        <a:lnSpc>
                          <a:spcPct val="150000"/>
                        </a:lnSpc>
                        <a:spcBef>
                          <a:spcPts val="550"/>
                        </a:spcBef>
                      </a:pPr>
                      <a:r>
                        <a:rPr sz="900" dirty="0">
                          <a:solidFill>
                            <a:schemeClr val="tx1"/>
                          </a:solidFill>
                          <a:latin typeface="Arial"/>
                          <a:cs typeface="Arial"/>
                        </a:rPr>
                        <a:t>Accuracy</a:t>
                      </a:r>
                    </a:p>
                  </a:txBody>
                  <a:tcPr marL="0" marR="0" marT="69850" marB="0">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L="195580">
                        <a:lnSpc>
                          <a:spcPct val="100000"/>
                        </a:lnSpc>
                        <a:spcBef>
                          <a:spcPts val="655"/>
                        </a:spcBef>
                      </a:pPr>
                      <a:r>
                        <a:rPr sz="1350" spc="30" baseline="6172" dirty="0">
                          <a:solidFill>
                            <a:schemeClr val="tx1"/>
                          </a:solidFill>
                          <a:latin typeface="Lucida Sans Unicode"/>
                          <a:cs typeface="Lucida Sans Unicode"/>
                        </a:rPr>
                        <a:t>△</a:t>
                      </a:r>
                      <a:r>
                        <a:rPr sz="1350" spc="30" baseline="6172" dirty="0">
                          <a:solidFill>
                            <a:schemeClr val="tx1"/>
                          </a:solidFill>
                          <a:latin typeface="Arial"/>
                          <a:cs typeface="Arial"/>
                        </a:rPr>
                        <a:t>V</a:t>
                      </a:r>
                      <a:r>
                        <a:rPr sz="600" spc="20" dirty="0">
                          <a:solidFill>
                            <a:schemeClr val="tx1"/>
                          </a:solidFill>
                          <a:latin typeface="Arial"/>
                          <a:cs typeface="Arial"/>
                        </a:rPr>
                        <a:t>ADO</a:t>
                      </a:r>
                      <a:endParaRPr sz="600" dirty="0">
                        <a:solidFill>
                          <a:schemeClr val="tx1"/>
                        </a:solidFill>
                        <a:latin typeface="Arial"/>
                        <a:cs typeface="Arial"/>
                      </a:endParaRPr>
                    </a:p>
                  </a:txBody>
                  <a:tcPr marL="0" marR="0" marT="83185"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L="173990">
                        <a:lnSpc>
                          <a:spcPct val="100000"/>
                        </a:lnSpc>
                        <a:spcBef>
                          <a:spcPts val="550"/>
                        </a:spcBef>
                      </a:pPr>
                      <a:r>
                        <a:rPr sz="900" dirty="0">
                          <a:solidFill>
                            <a:schemeClr val="tx1"/>
                          </a:solidFill>
                          <a:latin typeface="Arial"/>
                          <a:cs typeface="Arial"/>
                        </a:rPr>
                        <a:t>Accuracy</a:t>
                      </a:r>
                      <a:r>
                        <a:rPr sz="900" spc="-50" dirty="0">
                          <a:solidFill>
                            <a:schemeClr val="tx1"/>
                          </a:solidFill>
                          <a:latin typeface="Arial"/>
                          <a:cs typeface="Arial"/>
                        </a:rPr>
                        <a:t> </a:t>
                      </a:r>
                      <a:r>
                        <a:rPr sz="900" dirty="0">
                          <a:solidFill>
                            <a:schemeClr val="tx1"/>
                          </a:solidFill>
                          <a:latin typeface="Arial"/>
                          <a:cs typeface="Arial"/>
                        </a:rPr>
                        <a:t>of</a:t>
                      </a:r>
                      <a:r>
                        <a:rPr sz="900" spc="-35" dirty="0">
                          <a:solidFill>
                            <a:schemeClr val="tx1"/>
                          </a:solidFill>
                          <a:latin typeface="Arial"/>
                          <a:cs typeface="Arial"/>
                        </a:rPr>
                        <a:t> </a:t>
                      </a:r>
                      <a:r>
                        <a:rPr sz="900" dirty="0">
                          <a:solidFill>
                            <a:schemeClr val="tx1"/>
                          </a:solidFill>
                          <a:latin typeface="Arial"/>
                          <a:cs typeface="Arial"/>
                        </a:rPr>
                        <a:t>output</a:t>
                      </a:r>
                      <a:r>
                        <a:rPr sz="900" spc="-30" dirty="0">
                          <a:solidFill>
                            <a:schemeClr val="tx1"/>
                          </a:solidFill>
                          <a:latin typeface="Arial"/>
                          <a:cs typeface="Arial"/>
                        </a:rPr>
                        <a:t> </a:t>
                      </a:r>
                      <a:r>
                        <a:rPr sz="900" dirty="0">
                          <a:solidFill>
                            <a:schemeClr val="tx1"/>
                          </a:solidFill>
                          <a:latin typeface="Arial"/>
                          <a:cs typeface="Arial"/>
                        </a:rPr>
                        <a:t>1.0V</a:t>
                      </a:r>
                    </a:p>
                  </a:txBody>
                  <a:tcPr marL="0" marR="0" marT="6985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gn="ctr">
                        <a:lnSpc>
                          <a:spcPct val="100000"/>
                        </a:lnSpc>
                        <a:spcBef>
                          <a:spcPts val="550"/>
                        </a:spcBef>
                      </a:pPr>
                      <a:r>
                        <a:rPr sz="900" spc="-5" dirty="0">
                          <a:solidFill>
                            <a:schemeClr val="tx1"/>
                          </a:solidFill>
                          <a:latin typeface="Arial"/>
                          <a:cs typeface="Arial"/>
                        </a:rPr>
                        <a:t>-3</a:t>
                      </a:r>
                      <a:endParaRPr sz="900" dirty="0">
                        <a:solidFill>
                          <a:schemeClr val="tx1"/>
                        </a:solidFill>
                        <a:latin typeface="Arial"/>
                        <a:cs typeface="Arial"/>
                      </a:endParaRPr>
                    </a:p>
                  </a:txBody>
                  <a:tcPr marL="0" marR="0" marT="6985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gn="ctr">
                        <a:lnSpc>
                          <a:spcPct val="100000"/>
                        </a:lnSpc>
                        <a:spcBef>
                          <a:spcPts val="550"/>
                        </a:spcBef>
                      </a:pPr>
                      <a:r>
                        <a:rPr sz="900" dirty="0">
                          <a:solidFill>
                            <a:schemeClr val="tx1"/>
                          </a:solidFill>
                          <a:latin typeface="Arial"/>
                          <a:cs typeface="Arial"/>
                        </a:rPr>
                        <a:t>-</a:t>
                      </a:r>
                    </a:p>
                  </a:txBody>
                  <a:tcPr marL="0" marR="0" marT="6985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R="635" algn="ctr">
                        <a:lnSpc>
                          <a:spcPct val="100000"/>
                        </a:lnSpc>
                        <a:spcBef>
                          <a:spcPts val="550"/>
                        </a:spcBef>
                      </a:pPr>
                      <a:r>
                        <a:rPr sz="900" spc="-5" dirty="0">
                          <a:solidFill>
                            <a:schemeClr val="tx1"/>
                          </a:solidFill>
                          <a:latin typeface="Arial"/>
                          <a:cs typeface="Arial"/>
                        </a:rPr>
                        <a:t>+3</a:t>
                      </a:r>
                      <a:endParaRPr sz="900" dirty="0">
                        <a:solidFill>
                          <a:schemeClr val="tx1"/>
                        </a:solidFill>
                        <a:latin typeface="Arial"/>
                        <a:cs typeface="Arial"/>
                      </a:endParaRPr>
                    </a:p>
                  </a:txBody>
                  <a:tcPr marL="0" marR="0" marT="6985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R="635" algn="ctr">
                        <a:lnSpc>
                          <a:spcPct val="100000"/>
                        </a:lnSpc>
                        <a:spcBef>
                          <a:spcPts val="550"/>
                        </a:spcBef>
                      </a:pPr>
                      <a:r>
                        <a:rPr sz="900" dirty="0">
                          <a:solidFill>
                            <a:schemeClr val="tx1"/>
                          </a:solidFill>
                          <a:latin typeface="Arial"/>
                          <a:cs typeface="Arial"/>
                        </a:rPr>
                        <a:t>%</a:t>
                      </a:r>
                    </a:p>
                  </a:txBody>
                  <a:tcPr marL="0" marR="0" marT="69850" marB="0">
                    <a:lnL w="3175">
                      <a:solidFill>
                        <a:srgbClr val="000000"/>
                      </a:solidFill>
                      <a:prstDash val="solid"/>
                    </a:lnL>
                    <a:lnT w="3175">
                      <a:solidFill>
                        <a:srgbClr val="000000"/>
                      </a:solidFill>
                      <a:prstDash val="solid"/>
                    </a:lnT>
                    <a:lnB w="3175">
                      <a:solidFill>
                        <a:srgbClr val="000000"/>
                      </a:solidFill>
                      <a:prstDash val="solid"/>
                    </a:lnB>
                  </a:tcPr>
                </a:tc>
                <a:extLst>
                  <a:ext uri="{0D108BD9-81ED-4DB2-BD59-A6C34878D82A}">
                    <a16:rowId xmlns:a16="http://schemas.microsoft.com/office/drawing/2014/main" val="10010"/>
                  </a:ext>
                </a:extLst>
              </a:tr>
              <a:tr h="281941">
                <a:tc>
                  <a:txBody>
                    <a:bodyPr/>
                    <a:lstStyle/>
                    <a:p>
                      <a:pPr>
                        <a:lnSpc>
                          <a:spcPct val="150000"/>
                        </a:lnSpc>
                        <a:spcBef>
                          <a:spcPts val="30"/>
                        </a:spcBef>
                      </a:pPr>
                      <a:r>
                        <a:rPr sz="900" dirty="0">
                          <a:solidFill>
                            <a:schemeClr val="tx1"/>
                          </a:solidFill>
                          <a:latin typeface="Arial"/>
                          <a:cs typeface="Arial"/>
                        </a:rPr>
                        <a:t>ADO</a:t>
                      </a:r>
                      <a:r>
                        <a:rPr sz="900" spc="-25" dirty="0">
                          <a:solidFill>
                            <a:schemeClr val="tx1"/>
                          </a:solidFill>
                          <a:latin typeface="Arial"/>
                          <a:cs typeface="Arial"/>
                        </a:rPr>
                        <a:t> </a:t>
                      </a:r>
                      <a:r>
                        <a:rPr sz="900" dirty="0">
                          <a:solidFill>
                            <a:schemeClr val="tx1"/>
                          </a:solidFill>
                          <a:latin typeface="Arial"/>
                          <a:cs typeface="Arial"/>
                        </a:rPr>
                        <a:t>output</a:t>
                      </a:r>
                      <a:r>
                        <a:rPr sz="900" spc="-45" dirty="0">
                          <a:solidFill>
                            <a:schemeClr val="tx1"/>
                          </a:solidFill>
                          <a:latin typeface="Arial"/>
                          <a:cs typeface="Arial"/>
                        </a:rPr>
                        <a:t> </a:t>
                      </a:r>
                      <a:r>
                        <a:rPr sz="900" dirty="0">
                          <a:solidFill>
                            <a:schemeClr val="tx1"/>
                          </a:solidFill>
                          <a:latin typeface="Arial"/>
                          <a:cs typeface="Arial"/>
                        </a:rPr>
                        <a:t>voltage</a:t>
                      </a:r>
                    </a:p>
                    <a:p>
                      <a:pPr marL="808990">
                        <a:lnSpc>
                          <a:spcPct val="150000"/>
                        </a:lnSpc>
                      </a:pPr>
                      <a:r>
                        <a:rPr sz="900" dirty="0">
                          <a:solidFill>
                            <a:schemeClr val="tx1"/>
                          </a:solidFill>
                          <a:latin typeface="Arial"/>
                          <a:cs typeface="Arial"/>
                        </a:rPr>
                        <a:t>Variation</a:t>
                      </a:r>
                    </a:p>
                  </a:txBody>
                  <a:tcPr marL="0" marR="0" marT="3810" marB="0">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L="247650">
                        <a:lnSpc>
                          <a:spcPct val="100000"/>
                        </a:lnSpc>
                        <a:spcBef>
                          <a:spcPts val="680"/>
                        </a:spcBef>
                      </a:pPr>
                      <a:r>
                        <a:rPr sz="1350" spc="-7" baseline="6172" dirty="0">
                          <a:solidFill>
                            <a:schemeClr val="tx1"/>
                          </a:solidFill>
                          <a:latin typeface="Arial"/>
                          <a:cs typeface="Arial"/>
                        </a:rPr>
                        <a:t>V</a:t>
                      </a:r>
                      <a:r>
                        <a:rPr sz="600" spc="-5" dirty="0">
                          <a:solidFill>
                            <a:schemeClr val="tx1"/>
                          </a:solidFill>
                          <a:latin typeface="Arial"/>
                          <a:cs typeface="Arial"/>
                        </a:rPr>
                        <a:t>ADO</a:t>
                      </a:r>
                      <a:endParaRPr sz="600" dirty="0">
                        <a:solidFill>
                          <a:schemeClr val="tx1"/>
                        </a:solidFill>
                        <a:latin typeface="Arial"/>
                        <a:cs typeface="Arial"/>
                      </a:endParaRPr>
                    </a:p>
                  </a:txBody>
                  <a:tcPr marL="0" marR="0" marT="8636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L="173990">
                        <a:lnSpc>
                          <a:spcPct val="100000"/>
                        </a:lnSpc>
                        <a:spcBef>
                          <a:spcPts val="570"/>
                        </a:spcBef>
                      </a:pPr>
                      <a:r>
                        <a:rPr sz="900" dirty="0">
                          <a:solidFill>
                            <a:schemeClr val="tx1"/>
                          </a:solidFill>
                          <a:latin typeface="Arial"/>
                          <a:cs typeface="Arial"/>
                        </a:rPr>
                        <a:t>ADO</a:t>
                      </a:r>
                      <a:r>
                        <a:rPr sz="900" spc="-35" dirty="0">
                          <a:solidFill>
                            <a:schemeClr val="tx1"/>
                          </a:solidFill>
                          <a:latin typeface="Arial"/>
                          <a:cs typeface="Arial"/>
                        </a:rPr>
                        <a:t> </a:t>
                      </a:r>
                      <a:r>
                        <a:rPr sz="900" dirty="0">
                          <a:solidFill>
                            <a:schemeClr val="tx1"/>
                          </a:solidFill>
                          <a:latin typeface="Arial"/>
                          <a:cs typeface="Arial"/>
                        </a:rPr>
                        <a:t>output</a:t>
                      </a:r>
                      <a:r>
                        <a:rPr sz="900" spc="-40" dirty="0">
                          <a:solidFill>
                            <a:schemeClr val="tx1"/>
                          </a:solidFill>
                          <a:latin typeface="Arial"/>
                          <a:cs typeface="Arial"/>
                        </a:rPr>
                        <a:t> </a:t>
                      </a:r>
                      <a:r>
                        <a:rPr sz="900" spc="-5" dirty="0">
                          <a:solidFill>
                            <a:schemeClr val="tx1"/>
                          </a:solidFill>
                          <a:latin typeface="Arial"/>
                          <a:cs typeface="Arial"/>
                        </a:rPr>
                        <a:t>level</a:t>
                      </a:r>
                      <a:r>
                        <a:rPr sz="900" spc="-35" dirty="0">
                          <a:solidFill>
                            <a:schemeClr val="tx1"/>
                          </a:solidFill>
                          <a:latin typeface="Arial"/>
                          <a:cs typeface="Arial"/>
                        </a:rPr>
                        <a:t> </a:t>
                      </a:r>
                      <a:r>
                        <a:rPr sz="900" dirty="0">
                          <a:solidFill>
                            <a:schemeClr val="tx1"/>
                          </a:solidFill>
                          <a:latin typeface="Arial"/>
                          <a:cs typeface="Arial"/>
                        </a:rPr>
                        <a:t>2.0V</a:t>
                      </a:r>
                    </a:p>
                  </a:txBody>
                  <a:tcPr marL="0" marR="0" marT="7239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R="142240" algn="r">
                        <a:lnSpc>
                          <a:spcPct val="100000"/>
                        </a:lnSpc>
                        <a:spcBef>
                          <a:spcPts val="570"/>
                        </a:spcBef>
                      </a:pPr>
                      <a:r>
                        <a:rPr sz="900" spc="-5" dirty="0">
                          <a:solidFill>
                            <a:schemeClr val="tx1"/>
                          </a:solidFill>
                          <a:latin typeface="Arial"/>
                          <a:cs typeface="Arial"/>
                        </a:rPr>
                        <a:t>1.96</a:t>
                      </a:r>
                      <a:endParaRPr sz="900" dirty="0">
                        <a:solidFill>
                          <a:schemeClr val="tx1"/>
                        </a:solidFill>
                        <a:latin typeface="Arial"/>
                        <a:cs typeface="Arial"/>
                      </a:endParaRPr>
                    </a:p>
                  </a:txBody>
                  <a:tcPr marL="0" marR="0" marT="7239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R="1270" algn="ctr">
                        <a:lnSpc>
                          <a:spcPct val="100000"/>
                        </a:lnSpc>
                        <a:spcBef>
                          <a:spcPts val="570"/>
                        </a:spcBef>
                      </a:pPr>
                      <a:r>
                        <a:rPr sz="900" dirty="0">
                          <a:solidFill>
                            <a:schemeClr val="tx1"/>
                          </a:solidFill>
                          <a:latin typeface="Arial"/>
                          <a:cs typeface="Arial"/>
                        </a:rPr>
                        <a:t>2.0</a:t>
                      </a:r>
                    </a:p>
                  </a:txBody>
                  <a:tcPr marL="0" marR="0" marT="7239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gn="ctr">
                        <a:lnSpc>
                          <a:spcPct val="100000"/>
                        </a:lnSpc>
                        <a:spcBef>
                          <a:spcPts val="570"/>
                        </a:spcBef>
                      </a:pPr>
                      <a:r>
                        <a:rPr sz="900" spc="-5" dirty="0">
                          <a:solidFill>
                            <a:schemeClr val="tx1"/>
                          </a:solidFill>
                          <a:latin typeface="Arial"/>
                          <a:cs typeface="Arial"/>
                        </a:rPr>
                        <a:t>2.04</a:t>
                      </a:r>
                      <a:endParaRPr sz="900" dirty="0">
                        <a:solidFill>
                          <a:schemeClr val="tx1"/>
                        </a:solidFill>
                        <a:latin typeface="Arial"/>
                        <a:cs typeface="Arial"/>
                      </a:endParaRPr>
                    </a:p>
                  </a:txBody>
                  <a:tcPr marL="0" marR="0" marT="7239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gn="ctr">
                        <a:lnSpc>
                          <a:spcPct val="100000"/>
                        </a:lnSpc>
                        <a:spcBef>
                          <a:spcPts val="570"/>
                        </a:spcBef>
                      </a:pPr>
                      <a:r>
                        <a:rPr sz="900" dirty="0">
                          <a:solidFill>
                            <a:schemeClr val="tx1"/>
                          </a:solidFill>
                          <a:latin typeface="Arial"/>
                          <a:cs typeface="Arial"/>
                        </a:rPr>
                        <a:t>V</a:t>
                      </a:r>
                    </a:p>
                  </a:txBody>
                  <a:tcPr marL="0" marR="0" marT="72390" marB="0">
                    <a:lnL w="3175">
                      <a:solidFill>
                        <a:srgbClr val="000000"/>
                      </a:solidFill>
                      <a:prstDash val="solid"/>
                    </a:lnL>
                    <a:lnT w="3175">
                      <a:solidFill>
                        <a:srgbClr val="000000"/>
                      </a:solidFill>
                      <a:prstDash val="solid"/>
                    </a:lnT>
                    <a:lnB w="3175">
                      <a:solidFill>
                        <a:srgbClr val="000000"/>
                      </a:solidFill>
                      <a:prstDash val="solid"/>
                    </a:lnB>
                  </a:tcPr>
                </a:tc>
                <a:extLst>
                  <a:ext uri="{0D108BD9-81ED-4DB2-BD59-A6C34878D82A}">
                    <a16:rowId xmlns:a16="http://schemas.microsoft.com/office/drawing/2014/main" val="10011"/>
                  </a:ext>
                </a:extLst>
              </a:tr>
              <a:tr h="278130">
                <a:tc>
                  <a:txBody>
                    <a:bodyPr/>
                    <a:lstStyle/>
                    <a:p>
                      <a:pPr marR="24765" algn="r">
                        <a:lnSpc>
                          <a:spcPct val="100000"/>
                        </a:lnSpc>
                        <a:spcBef>
                          <a:spcPts val="550"/>
                        </a:spcBef>
                      </a:pPr>
                      <a:r>
                        <a:rPr sz="900" dirty="0">
                          <a:solidFill>
                            <a:schemeClr val="tx1"/>
                          </a:solidFill>
                          <a:latin typeface="Arial"/>
                          <a:ea typeface="+mn-ea"/>
                          <a:cs typeface="Arial"/>
                        </a:rPr>
                        <a:t>Accuracy</a:t>
                      </a:r>
                    </a:p>
                  </a:txBody>
                  <a:tcPr marL="0" marR="0" marT="69850" marB="0">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L="195580">
                        <a:lnSpc>
                          <a:spcPct val="100000"/>
                        </a:lnSpc>
                        <a:spcBef>
                          <a:spcPts val="660"/>
                        </a:spcBef>
                      </a:pPr>
                      <a:r>
                        <a:rPr sz="900" dirty="0">
                          <a:solidFill>
                            <a:schemeClr val="tx1"/>
                          </a:solidFill>
                          <a:latin typeface="Arial"/>
                          <a:ea typeface="+mn-ea"/>
                          <a:cs typeface="Arial"/>
                        </a:rPr>
                        <a:t>△VADO</a:t>
                      </a:r>
                    </a:p>
                  </a:txBody>
                  <a:tcPr marL="0" marR="0" marT="8382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L="173990">
                        <a:lnSpc>
                          <a:spcPct val="100000"/>
                        </a:lnSpc>
                        <a:spcBef>
                          <a:spcPts val="550"/>
                        </a:spcBef>
                      </a:pPr>
                      <a:r>
                        <a:rPr sz="900" dirty="0">
                          <a:solidFill>
                            <a:schemeClr val="tx1"/>
                          </a:solidFill>
                          <a:latin typeface="Arial"/>
                          <a:ea typeface="+mn-ea"/>
                          <a:cs typeface="Arial"/>
                        </a:rPr>
                        <a:t>Accuracy of output 2.0V</a:t>
                      </a:r>
                    </a:p>
                  </a:txBody>
                  <a:tcPr marL="0" marR="0" marT="6985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gn="ctr">
                        <a:lnSpc>
                          <a:spcPct val="100000"/>
                        </a:lnSpc>
                        <a:spcBef>
                          <a:spcPts val="550"/>
                        </a:spcBef>
                      </a:pPr>
                      <a:r>
                        <a:rPr sz="900" dirty="0">
                          <a:solidFill>
                            <a:schemeClr val="tx1"/>
                          </a:solidFill>
                          <a:latin typeface="Arial"/>
                          <a:ea typeface="+mn-ea"/>
                          <a:cs typeface="Arial"/>
                        </a:rPr>
                        <a:t>-2</a:t>
                      </a:r>
                    </a:p>
                  </a:txBody>
                  <a:tcPr marL="0" marR="0" marT="6985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gn="ctr">
                        <a:lnSpc>
                          <a:spcPct val="100000"/>
                        </a:lnSpc>
                        <a:spcBef>
                          <a:spcPts val="550"/>
                        </a:spcBef>
                      </a:pPr>
                      <a:r>
                        <a:rPr sz="900" dirty="0">
                          <a:solidFill>
                            <a:schemeClr val="tx1"/>
                          </a:solidFill>
                          <a:latin typeface="Arial"/>
                          <a:ea typeface="+mn-ea"/>
                          <a:cs typeface="Arial"/>
                        </a:rPr>
                        <a:t>-</a:t>
                      </a:r>
                    </a:p>
                  </a:txBody>
                  <a:tcPr marL="0" marR="0" marT="6985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R="635" algn="ctr">
                        <a:lnSpc>
                          <a:spcPct val="100000"/>
                        </a:lnSpc>
                        <a:spcBef>
                          <a:spcPts val="550"/>
                        </a:spcBef>
                      </a:pPr>
                      <a:r>
                        <a:rPr sz="900" dirty="0">
                          <a:solidFill>
                            <a:schemeClr val="tx1"/>
                          </a:solidFill>
                          <a:latin typeface="Arial"/>
                          <a:ea typeface="+mn-ea"/>
                          <a:cs typeface="Arial"/>
                        </a:rPr>
                        <a:t>+2</a:t>
                      </a:r>
                    </a:p>
                  </a:txBody>
                  <a:tcPr marL="0" marR="0" marT="6985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R="635" algn="ctr">
                        <a:lnSpc>
                          <a:spcPct val="100000"/>
                        </a:lnSpc>
                        <a:spcBef>
                          <a:spcPts val="550"/>
                        </a:spcBef>
                      </a:pPr>
                      <a:r>
                        <a:rPr sz="900" dirty="0">
                          <a:solidFill>
                            <a:schemeClr val="tx1"/>
                          </a:solidFill>
                          <a:latin typeface="Arial"/>
                          <a:ea typeface="+mn-ea"/>
                          <a:cs typeface="Arial"/>
                        </a:rPr>
                        <a:t>%</a:t>
                      </a:r>
                    </a:p>
                  </a:txBody>
                  <a:tcPr marL="0" marR="0" marT="69850" marB="0">
                    <a:lnL w="3175">
                      <a:solidFill>
                        <a:srgbClr val="000000"/>
                      </a:solidFill>
                      <a:prstDash val="solid"/>
                    </a:lnL>
                    <a:lnT w="3175">
                      <a:solidFill>
                        <a:srgbClr val="000000"/>
                      </a:solidFill>
                      <a:prstDash val="solid"/>
                    </a:lnT>
                    <a:lnB w="3175">
                      <a:solidFill>
                        <a:srgbClr val="000000"/>
                      </a:solidFill>
                      <a:prstDash val="solid"/>
                    </a:lnB>
                  </a:tcPr>
                </a:tc>
                <a:extLst>
                  <a:ext uri="{0D108BD9-81ED-4DB2-BD59-A6C34878D82A}">
                    <a16:rowId xmlns:a16="http://schemas.microsoft.com/office/drawing/2014/main" val="10012"/>
                  </a:ext>
                </a:extLst>
              </a:tr>
              <a:tr h="215900">
                <a:tc gridSpan="7">
                  <a:txBody>
                    <a:bodyPr/>
                    <a:lstStyle/>
                    <a:p>
                      <a:pPr>
                        <a:lnSpc>
                          <a:spcPts val="1019"/>
                        </a:lnSpc>
                        <a:spcBef>
                          <a:spcPts val="580"/>
                        </a:spcBef>
                      </a:pPr>
                      <a:r>
                        <a:rPr sz="900" dirty="0">
                          <a:latin typeface="Arial"/>
                          <a:cs typeface="Arial"/>
                        </a:rPr>
                        <a:t>Internal</a:t>
                      </a:r>
                      <a:r>
                        <a:rPr sz="900" spc="-55" dirty="0">
                          <a:latin typeface="Arial"/>
                          <a:cs typeface="Arial"/>
                        </a:rPr>
                        <a:t> </a:t>
                      </a:r>
                      <a:r>
                        <a:rPr sz="900" spc="-5" dirty="0">
                          <a:latin typeface="Arial"/>
                          <a:cs typeface="Arial"/>
                        </a:rPr>
                        <a:t>MCLK</a:t>
                      </a:r>
                      <a:endParaRPr sz="900" dirty="0">
                        <a:latin typeface="Arial"/>
                        <a:cs typeface="Arial"/>
                      </a:endParaRPr>
                    </a:p>
                  </a:txBody>
                  <a:tcPr marL="0" marR="0" marT="73660" marB="0">
                    <a:lnT w="3175">
                      <a:solidFill>
                        <a:srgbClr val="000000"/>
                      </a:solidFill>
                      <a:prstDash val="solid"/>
                    </a:lnT>
                    <a:lnB w="3175">
                      <a:solidFill>
                        <a:srgbClr val="000000"/>
                      </a:solidFill>
                      <a:prstDash val="solid"/>
                    </a:lnB>
                  </a:tcPr>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13"/>
                  </a:ext>
                </a:extLst>
              </a:tr>
              <a:tr h="278130">
                <a:tc>
                  <a:txBody>
                    <a:bodyPr/>
                    <a:lstStyle/>
                    <a:p>
                      <a:pPr marR="2540" algn="r">
                        <a:lnSpc>
                          <a:spcPct val="100000"/>
                        </a:lnSpc>
                        <a:spcBef>
                          <a:spcPts val="550"/>
                        </a:spcBef>
                      </a:pPr>
                      <a:r>
                        <a:rPr sz="900" spc="-5" dirty="0">
                          <a:latin typeface="Arial"/>
                          <a:cs typeface="Arial"/>
                        </a:rPr>
                        <a:t>PLL</a:t>
                      </a:r>
                      <a:r>
                        <a:rPr sz="900" spc="-35" dirty="0">
                          <a:latin typeface="Arial"/>
                          <a:cs typeface="Arial"/>
                        </a:rPr>
                        <a:t> </a:t>
                      </a:r>
                      <a:r>
                        <a:rPr sz="900" dirty="0">
                          <a:latin typeface="Arial"/>
                          <a:cs typeface="Arial"/>
                        </a:rPr>
                        <a:t>Reference</a:t>
                      </a:r>
                      <a:r>
                        <a:rPr sz="900" spc="-40" dirty="0">
                          <a:latin typeface="Arial"/>
                          <a:cs typeface="Arial"/>
                        </a:rPr>
                        <a:t> </a:t>
                      </a:r>
                      <a:r>
                        <a:rPr sz="900" dirty="0">
                          <a:latin typeface="Arial"/>
                          <a:cs typeface="Arial"/>
                        </a:rPr>
                        <a:t>Clock</a:t>
                      </a:r>
                    </a:p>
                  </a:txBody>
                  <a:tcPr marL="0" marR="0" marT="69850" marB="0">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L="168275">
                        <a:lnSpc>
                          <a:spcPct val="100000"/>
                        </a:lnSpc>
                        <a:spcBef>
                          <a:spcPts val="660"/>
                        </a:spcBef>
                      </a:pPr>
                      <a:r>
                        <a:rPr sz="1350" spc="-7" baseline="6172" dirty="0">
                          <a:latin typeface="Arial"/>
                          <a:cs typeface="Arial"/>
                        </a:rPr>
                        <a:t>F</a:t>
                      </a:r>
                      <a:r>
                        <a:rPr sz="600" spc="-5" dirty="0">
                          <a:latin typeface="Arial"/>
                          <a:cs typeface="Arial"/>
                        </a:rPr>
                        <a:t>PLL_REF</a:t>
                      </a:r>
                      <a:endParaRPr sz="600" dirty="0">
                        <a:latin typeface="Arial"/>
                        <a:cs typeface="Arial"/>
                      </a:endParaRPr>
                    </a:p>
                  </a:txBody>
                  <a:tcPr marL="0" marR="0" marT="8382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gn="ctr">
                        <a:lnSpc>
                          <a:spcPct val="100000"/>
                        </a:lnSpc>
                        <a:spcBef>
                          <a:spcPts val="550"/>
                        </a:spcBef>
                      </a:pPr>
                      <a:r>
                        <a:rPr sz="900" spc="-5" dirty="0">
                          <a:latin typeface="Arial"/>
                          <a:cs typeface="Arial"/>
                        </a:rPr>
                        <a:t>T.B.D</a:t>
                      </a:r>
                      <a:endParaRPr sz="900" dirty="0">
                        <a:latin typeface="Arial"/>
                        <a:cs typeface="Arial"/>
                      </a:endParaRPr>
                    </a:p>
                  </a:txBody>
                  <a:tcPr marL="0" marR="0" marT="6985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gn="ctr">
                        <a:lnSpc>
                          <a:spcPct val="100000"/>
                        </a:lnSpc>
                        <a:spcBef>
                          <a:spcPts val="550"/>
                        </a:spcBef>
                      </a:pPr>
                      <a:r>
                        <a:rPr sz="900" dirty="0">
                          <a:latin typeface="Arial"/>
                          <a:cs typeface="Arial"/>
                        </a:rPr>
                        <a:t>-</a:t>
                      </a:r>
                    </a:p>
                  </a:txBody>
                  <a:tcPr marL="0" marR="0" marT="6985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R="635" algn="ctr">
                        <a:lnSpc>
                          <a:spcPct val="100000"/>
                        </a:lnSpc>
                        <a:spcBef>
                          <a:spcPts val="550"/>
                        </a:spcBef>
                      </a:pPr>
                      <a:r>
                        <a:rPr sz="900" dirty="0">
                          <a:latin typeface="Arial"/>
                          <a:cs typeface="Arial"/>
                        </a:rPr>
                        <a:t>16.128</a:t>
                      </a:r>
                    </a:p>
                  </a:txBody>
                  <a:tcPr marL="0" marR="0" marT="6985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gn="ctr">
                        <a:lnSpc>
                          <a:spcPct val="100000"/>
                        </a:lnSpc>
                        <a:spcBef>
                          <a:spcPts val="550"/>
                        </a:spcBef>
                      </a:pPr>
                      <a:r>
                        <a:rPr sz="900" dirty="0">
                          <a:latin typeface="Arial"/>
                          <a:cs typeface="Arial"/>
                        </a:rPr>
                        <a:t>-</a:t>
                      </a:r>
                    </a:p>
                  </a:txBody>
                  <a:tcPr marL="0" marR="0" marT="6985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gn="ctr">
                        <a:lnSpc>
                          <a:spcPct val="100000"/>
                        </a:lnSpc>
                        <a:spcBef>
                          <a:spcPts val="550"/>
                        </a:spcBef>
                      </a:pPr>
                      <a:r>
                        <a:rPr sz="900" spc="-10" dirty="0">
                          <a:latin typeface="Arial"/>
                          <a:cs typeface="Arial"/>
                        </a:rPr>
                        <a:t>MHz</a:t>
                      </a:r>
                      <a:endParaRPr sz="900" dirty="0">
                        <a:latin typeface="Arial"/>
                        <a:cs typeface="Arial"/>
                      </a:endParaRPr>
                    </a:p>
                  </a:txBody>
                  <a:tcPr marL="0" marR="0" marT="69850" marB="0">
                    <a:lnL w="3175">
                      <a:solidFill>
                        <a:srgbClr val="000000"/>
                      </a:solidFill>
                      <a:prstDash val="solid"/>
                    </a:lnL>
                    <a:lnT w="3175">
                      <a:solidFill>
                        <a:srgbClr val="000000"/>
                      </a:solidFill>
                      <a:prstDash val="solid"/>
                    </a:lnT>
                    <a:lnB w="3175">
                      <a:solidFill>
                        <a:srgbClr val="000000"/>
                      </a:solidFill>
                      <a:prstDash val="solid"/>
                    </a:lnB>
                  </a:tcPr>
                </a:tc>
                <a:extLst>
                  <a:ext uri="{0D108BD9-81ED-4DB2-BD59-A6C34878D82A}">
                    <a16:rowId xmlns:a16="http://schemas.microsoft.com/office/drawing/2014/main" val="10014"/>
                  </a:ext>
                </a:extLst>
              </a:tr>
              <a:tr h="278130">
                <a:tc>
                  <a:txBody>
                    <a:bodyPr/>
                    <a:lstStyle/>
                    <a:p>
                      <a:pPr marR="1270" algn="r">
                        <a:lnSpc>
                          <a:spcPct val="100000"/>
                        </a:lnSpc>
                        <a:spcBef>
                          <a:spcPts val="550"/>
                        </a:spcBef>
                      </a:pPr>
                      <a:r>
                        <a:rPr sz="900" spc="-5" dirty="0">
                          <a:latin typeface="Arial"/>
                          <a:cs typeface="Arial"/>
                        </a:rPr>
                        <a:t>PLL</a:t>
                      </a:r>
                      <a:r>
                        <a:rPr sz="900" spc="-40" dirty="0">
                          <a:latin typeface="Arial"/>
                          <a:cs typeface="Arial"/>
                        </a:rPr>
                        <a:t> </a:t>
                      </a:r>
                      <a:r>
                        <a:rPr sz="900" dirty="0">
                          <a:latin typeface="Arial"/>
                          <a:cs typeface="Arial"/>
                        </a:rPr>
                        <a:t>output</a:t>
                      </a:r>
                      <a:r>
                        <a:rPr sz="900" spc="-45" dirty="0">
                          <a:latin typeface="Arial"/>
                          <a:cs typeface="Arial"/>
                        </a:rPr>
                        <a:t> </a:t>
                      </a:r>
                      <a:r>
                        <a:rPr sz="900" dirty="0">
                          <a:latin typeface="Arial"/>
                          <a:cs typeface="Arial"/>
                        </a:rPr>
                        <a:t>frequency</a:t>
                      </a:r>
                    </a:p>
                  </a:txBody>
                  <a:tcPr marL="0" marR="0" marT="69850" marB="0">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L="145415">
                        <a:lnSpc>
                          <a:spcPct val="100000"/>
                        </a:lnSpc>
                        <a:spcBef>
                          <a:spcPts val="660"/>
                        </a:spcBef>
                      </a:pPr>
                      <a:r>
                        <a:rPr sz="1350" spc="-7" baseline="6172" dirty="0" err="1">
                          <a:latin typeface="Arial"/>
                          <a:cs typeface="Arial"/>
                        </a:rPr>
                        <a:t>F</a:t>
                      </a:r>
                      <a:r>
                        <a:rPr sz="600" spc="-5" dirty="0" err="1">
                          <a:latin typeface="Arial"/>
                          <a:cs typeface="Arial"/>
                        </a:rPr>
                        <a:t>INT_MCLK</a:t>
                      </a:r>
                      <a:endParaRPr sz="600" dirty="0">
                        <a:latin typeface="Arial"/>
                        <a:cs typeface="Arial"/>
                      </a:endParaRPr>
                    </a:p>
                  </a:txBody>
                  <a:tcPr marL="0" marR="0" marT="8382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gn="ctr">
                        <a:lnSpc>
                          <a:spcPct val="100000"/>
                        </a:lnSpc>
                        <a:spcBef>
                          <a:spcPts val="550"/>
                        </a:spcBef>
                      </a:pPr>
                      <a:r>
                        <a:rPr sz="900" spc="-5" dirty="0">
                          <a:latin typeface="Arial"/>
                          <a:cs typeface="Arial"/>
                        </a:rPr>
                        <a:t>T.B.D</a:t>
                      </a:r>
                      <a:endParaRPr sz="900" dirty="0">
                        <a:latin typeface="Arial"/>
                        <a:cs typeface="Arial"/>
                      </a:endParaRPr>
                    </a:p>
                  </a:txBody>
                  <a:tcPr marL="0" marR="0" marT="6985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gn="ctr">
                        <a:lnSpc>
                          <a:spcPct val="100000"/>
                        </a:lnSpc>
                        <a:spcBef>
                          <a:spcPts val="550"/>
                        </a:spcBef>
                      </a:pPr>
                      <a:r>
                        <a:rPr sz="900" dirty="0">
                          <a:latin typeface="Arial"/>
                          <a:cs typeface="Arial"/>
                        </a:rPr>
                        <a:t>-</a:t>
                      </a:r>
                    </a:p>
                  </a:txBody>
                  <a:tcPr marL="0" marR="0" marT="6985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L="81915">
                        <a:lnSpc>
                          <a:spcPct val="100000"/>
                        </a:lnSpc>
                        <a:spcBef>
                          <a:spcPts val="550"/>
                        </a:spcBef>
                      </a:pPr>
                      <a:r>
                        <a:rPr sz="900" spc="-5" dirty="0">
                          <a:latin typeface="Arial"/>
                          <a:cs typeface="Arial"/>
                        </a:rPr>
                        <a:t>16.128</a:t>
                      </a:r>
                      <a:r>
                        <a:rPr sz="900" spc="-50" dirty="0">
                          <a:latin typeface="Arial"/>
                          <a:cs typeface="Arial"/>
                        </a:rPr>
                        <a:t> </a:t>
                      </a:r>
                      <a:r>
                        <a:rPr sz="900" baseline="37037" dirty="0">
                          <a:latin typeface="Arial"/>
                          <a:cs typeface="Arial"/>
                        </a:rPr>
                        <a:t>(1)</a:t>
                      </a:r>
                    </a:p>
                  </a:txBody>
                  <a:tcPr marL="0" marR="0" marT="6985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gn="ctr">
                        <a:lnSpc>
                          <a:spcPct val="100000"/>
                        </a:lnSpc>
                        <a:spcBef>
                          <a:spcPts val="550"/>
                        </a:spcBef>
                      </a:pPr>
                      <a:r>
                        <a:rPr sz="900" dirty="0">
                          <a:latin typeface="Arial"/>
                          <a:cs typeface="Arial"/>
                        </a:rPr>
                        <a:t>-</a:t>
                      </a:r>
                    </a:p>
                  </a:txBody>
                  <a:tcPr marL="0" marR="0" marT="6985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gn="ctr">
                        <a:lnSpc>
                          <a:spcPct val="100000"/>
                        </a:lnSpc>
                        <a:spcBef>
                          <a:spcPts val="550"/>
                        </a:spcBef>
                      </a:pPr>
                      <a:r>
                        <a:rPr sz="900" spc="-10" dirty="0">
                          <a:latin typeface="Arial"/>
                          <a:cs typeface="Arial"/>
                        </a:rPr>
                        <a:t>MHz</a:t>
                      </a:r>
                      <a:endParaRPr sz="900" dirty="0">
                        <a:latin typeface="Arial"/>
                        <a:cs typeface="Arial"/>
                      </a:endParaRPr>
                    </a:p>
                  </a:txBody>
                  <a:tcPr marL="0" marR="0" marT="69850" marB="0">
                    <a:lnL w="3175">
                      <a:solidFill>
                        <a:srgbClr val="000000"/>
                      </a:solidFill>
                      <a:prstDash val="solid"/>
                    </a:lnL>
                    <a:lnT w="3175">
                      <a:solidFill>
                        <a:srgbClr val="000000"/>
                      </a:solidFill>
                      <a:prstDash val="solid"/>
                    </a:lnT>
                    <a:lnB w="3175">
                      <a:solidFill>
                        <a:srgbClr val="000000"/>
                      </a:solidFill>
                      <a:prstDash val="solid"/>
                    </a:lnB>
                  </a:tcPr>
                </a:tc>
                <a:extLst>
                  <a:ext uri="{0D108BD9-81ED-4DB2-BD59-A6C34878D82A}">
                    <a16:rowId xmlns:a16="http://schemas.microsoft.com/office/drawing/2014/main" val="10015"/>
                  </a:ext>
                </a:extLst>
              </a:tr>
              <a:tr h="278130">
                <a:tc>
                  <a:txBody>
                    <a:bodyPr/>
                    <a:lstStyle/>
                    <a:p>
                      <a:pPr marR="1905" algn="r">
                        <a:lnSpc>
                          <a:spcPct val="100000"/>
                        </a:lnSpc>
                        <a:spcBef>
                          <a:spcPts val="550"/>
                        </a:spcBef>
                      </a:pPr>
                      <a:r>
                        <a:rPr sz="900" dirty="0">
                          <a:latin typeface="Arial"/>
                          <a:cs typeface="Arial"/>
                        </a:rPr>
                        <a:t>Variation</a:t>
                      </a:r>
                    </a:p>
                  </a:txBody>
                  <a:tcPr marL="0" marR="0" marT="69850" marB="0">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R="94615" algn="r">
                        <a:lnSpc>
                          <a:spcPct val="100000"/>
                        </a:lnSpc>
                        <a:spcBef>
                          <a:spcPts val="660"/>
                        </a:spcBef>
                      </a:pPr>
                      <a:r>
                        <a:rPr sz="1350" spc="15" baseline="6172" dirty="0">
                          <a:latin typeface="Lucida Sans Unicode"/>
                          <a:cs typeface="Lucida Sans Unicode"/>
                        </a:rPr>
                        <a:t>△</a:t>
                      </a:r>
                      <a:r>
                        <a:rPr sz="1350" spc="15" baseline="6172" dirty="0" err="1">
                          <a:latin typeface="Arial"/>
                          <a:cs typeface="Arial"/>
                        </a:rPr>
                        <a:t>F</a:t>
                      </a:r>
                      <a:r>
                        <a:rPr sz="600" spc="10" dirty="0" err="1">
                          <a:latin typeface="Arial"/>
                          <a:cs typeface="Arial"/>
                        </a:rPr>
                        <a:t>INT_MCLK</a:t>
                      </a:r>
                      <a:endParaRPr sz="600" dirty="0">
                        <a:latin typeface="Arial"/>
                        <a:cs typeface="Arial"/>
                      </a:endParaRPr>
                    </a:p>
                  </a:txBody>
                  <a:tcPr marL="0" marR="0" marT="8382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gn="ctr">
                        <a:lnSpc>
                          <a:spcPct val="100000"/>
                        </a:lnSpc>
                        <a:spcBef>
                          <a:spcPts val="550"/>
                        </a:spcBef>
                      </a:pPr>
                      <a:r>
                        <a:rPr sz="900" spc="-5" dirty="0">
                          <a:latin typeface="Arial"/>
                          <a:cs typeface="Arial"/>
                        </a:rPr>
                        <a:t>T.B.D</a:t>
                      </a:r>
                      <a:endParaRPr sz="900" dirty="0">
                        <a:latin typeface="Arial"/>
                        <a:cs typeface="Arial"/>
                      </a:endParaRPr>
                    </a:p>
                  </a:txBody>
                  <a:tcPr marL="0" marR="0" marT="6985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gn="ctr">
                        <a:lnSpc>
                          <a:spcPct val="100000"/>
                        </a:lnSpc>
                        <a:spcBef>
                          <a:spcPts val="550"/>
                        </a:spcBef>
                      </a:pPr>
                      <a:r>
                        <a:rPr sz="900" spc="-5" dirty="0">
                          <a:latin typeface="Arial"/>
                          <a:cs typeface="Arial"/>
                        </a:rPr>
                        <a:t>-1</a:t>
                      </a:r>
                      <a:endParaRPr sz="900" dirty="0">
                        <a:latin typeface="Arial"/>
                        <a:cs typeface="Arial"/>
                      </a:endParaRPr>
                    </a:p>
                  </a:txBody>
                  <a:tcPr marL="0" marR="0" marT="6985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gn="ctr">
                        <a:lnSpc>
                          <a:spcPct val="100000"/>
                        </a:lnSpc>
                        <a:spcBef>
                          <a:spcPts val="550"/>
                        </a:spcBef>
                      </a:pPr>
                      <a:r>
                        <a:rPr sz="900" dirty="0">
                          <a:latin typeface="Arial"/>
                          <a:cs typeface="Arial"/>
                        </a:rPr>
                        <a:t>-</a:t>
                      </a:r>
                    </a:p>
                  </a:txBody>
                  <a:tcPr marL="0" marR="0" marT="6985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R="635" algn="ctr">
                        <a:lnSpc>
                          <a:spcPct val="100000"/>
                        </a:lnSpc>
                        <a:spcBef>
                          <a:spcPts val="550"/>
                        </a:spcBef>
                      </a:pPr>
                      <a:r>
                        <a:rPr sz="900" spc="-5" dirty="0">
                          <a:latin typeface="Arial"/>
                          <a:cs typeface="Arial"/>
                        </a:rPr>
                        <a:t>+1</a:t>
                      </a:r>
                      <a:endParaRPr sz="900" dirty="0">
                        <a:latin typeface="Arial"/>
                        <a:cs typeface="Arial"/>
                      </a:endParaRPr>
                    </a:p>
                  </a:txBody>
                  <a:tcPr marL="0" marR="0" marT="6985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R="635" algn="ctr">
                        <a:lnSpc>
                          <a:spcPct val="100000"/>
                        </a:lnSpc>
                        <a:spcBef>
                          <a:spcPts val="550"/>
                        </a:spcBef>
                      </a:pPr>
                      <a:r>
                        <a:rPr sz="900" dirty="0">
                          <a:latin typeface="Arial"/>
                          <a:cs typeface="Arial"/>
                        </a:rPr>
                        <a:t>%</a:t>
                      </a:r>
                    </a:p>
                  </a:txBody>
                  <a:tcPr marL="0" marR="0" marT="69850" marB="0">
                    <a:lnL w="3175">
                      <a:solidFill>
                        <a:srgbClr val="000000"/>
                      </a:solidFill>
                      <a:prstDash val="solid"/>
                    </a:lnL>
                    <a:lnT w="3175">
                      <a:solidFill>
                        <a:srgbClr val="000000"/>
                      </a:solidFill>
                      <a:prstDash val="solid"/>
                    </a:lnT>
                    <a:lnB w="3175">
                      <a:solidFill>
                        <a:srgbClr val="000000"/>
                      </a:solidFill>
                      <a:prstDash val="solid"/>
                    </a:lnB>
                  </a:tcPr>
                </a:tc>
                <a:extLst>
                  <a:ext uri="{0D108BD9-81ED-4DB2-BD59-A6C34878D82A}">
                    <a16:rowId xmlns:a16="http://schemas.microsoft.com/office/drawing/2014/main" val="10016"/>
                  </a:ext>
                </a:extLst>
              </a:tr>
              <a:tr h="215900">
                <a:tc gridSpan="7">
                  <a:txBody>
                    <a:bodyPr/>
                    <a:lstStyle/>
                    <a:p>
                      <a:pPr>
                        <a:lnSpc>
                          <a:spcPts val="1019"/>
                        </a:lnSpc>
                        <a:spcBef>
                          <a:spcPts val="575"/>
                        </a:spcBef>
                      </a:pPr>
                      <a:r>
                        <a:rPr sz="900" dirty="0">
                          <a:latin typeface="Arial"/>
                          <a:cs typeface="Arial"/>
                        </a:rPr>
                        <a:t>External</a:t>
                      </a:r>
                      <a:r>
                        <a:rPr sz="900" spc="-45" dirty="0">
                          <a:latin typeface="Arial"/>
                          <a:cs typeface="Arial"/>
                        </a:rPr>
                        <a:t> </a:t>
                      </a:r>
                      <a:r>
                        <a:rPr sz="900" spc="-5" dirty="0">
                          <a:latin typeface="Arial"/>
                          <a:cs typeface="Arial"/>
                        </a:rPr>
                        <a:t>MCLK</a:t>
                      </a:r>
                      <a:endParaRPr sz="900" dirty="0">
                        <a:latin typeface="Arial"/>
                        <a:cs typeface="Arial"/>
                      </a:endParaRPr>
                    </a:p>
                  </a:txBody>
                  <a:tcPr marL="0" marR="0" marT="73025" marB="0">
                    <a:lnT w="3175">
                      <a:solidFill>
                        <a:srgbClr val="000000"/>
                      </a:solidFill>
                      <a:prstDash val="solid"/>
                    </a:lnT>
                    <a:lnB w="3175">
                      <a:solidFill>
                        <a:srgbClr val="000000"/>
                      </a:solidFill>
                      <a:prstDash val="solid"/>
                    </a:lnB>
                  </a:tcPr>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17"/>
                  </a:ext>
                </a:extLst>
              </a:tr>
              <a:tr h="278130">
                <a:tc>
                  <a:txBody>
                    <a:bodyPr/>
                    <a:lstStyle/>
                    <a:p>
                      <a:pPr marR="2540" algn="r">
                        <a:lnSpc>
                          <a:spcPct val="100000"/>
                        </a:lnSpc>
                        <a:spcBef>
                          <a:spcPts val="555"/>
                        </a:spcBef>
                      </a:pPr>
                      <a:r>
                        <a:rPr sz="900" spc="-5" dirty="0">
                          <a:latin typeface="Arial"/>
                          <a:cs typeface="Arial"/>
                        </a:rPr>
                        <a:t>External</a:t>
                      </a:r>
                      <a:r>
                        <a:rPr sz="900" spc="-25" dirty="0">
                          <a:latin typeface="Arial"/>
                          <a:cs typeface="Arial"/>
                        </a:rPr>
                        <a:t> </a:t>
                      </a:r>
                      <a:r>
                        <a:rPr sz="900" dirty="0">
                          <a:latin typeface="Arial"/>
                          <a:cs typeface="Arial"/>
                        </a:rPr>
                        <a:t>Clock</a:t>
                      </a:r>
                      <a:r>
                        <a:rPr sz="900" spc="-40" dirty="0">
                          <a:latin typeface="Arial"/>
                          <a:cs typeface="Arial"/>
                        </a:rPr>
                        <a:t> </a:t>
                      </a:r>
                      <a:r>
                        <a:rPr sz="900" dirty="0">
                          <a:latin typeface="Arial"/>
                          <a:cs typeface="Arial"/>
                        </a:rPr>
                        <a:t>frequency</a:t>
                      </a:r>
                    </a:p>
                  </a:txBody>
                  <a:tcPr marL="0" marR="0" marT="70485" marB="0">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R="130175" algn="r">
                        <a:lnSpc>
                          <a:spcPct val="100000"/>
                        </a:lnSpc>
                        <a:spcBef>
                          <a:spcPts val="710"/>
                        </a:spcBef>
                      </a:pPr>
                      <a:r>
                        <a:rPr sz="1350" spc="-7" baseline="12345" dirty="0" err="1">
                          <a:latin typeface="Arial"/>
                          <a:cs typeface="Arial"/>
                        </a:rPr>
                        <a:t>F</a:t>
                      </a:r>
                      <a:r>
                        <a:rPr sz="600" spc="-5" dirty="0" err="1">
                          <a:latin typeface="Arial"/>
                          <a:cs typeface="Arial"/>
                        </a:rPr>
                        <a:t>EXT_MCLK</a:t>
                      </a:r>
                      <a:endParaRPr sz="600" dirty="0">
                        <a:latin typeface="Arial"/>
                        <a:cs typeface="Arial"/>
                      </a:endParaRPr>
                    </a:p>
                  </a:txBody>
                  <a:tcPr marL="0" marR="0" marT="9017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gn="ctr">
                        <a:lnSpc>
                          <a:spcPct val="100000"/>
                        </a:lnSpc>
                        <a:spcBef>
                          <a:spcPts val="555"/>
                        </a:spcBef>
                      </a:pPr>
                      <a:r>
                        <a:rPr sz="900" spc="-5" dirty="0">
                          <a:latin typeface="Arial"/>
                          <a:cs typeface="Arial"/>
                        </a:rPr>
                        <a:t>T.B.D</a:t>
                      </a:r>
                      <a:endParaRPr sz="900" dirty="0">
                        <a:latin typeface="Arial"/>
                        <a:cs typeface="Arial"/>
                      </a:endParaRPr>
                    </a:p>
                  </a:txBody>
                  <a:tcPr marL="0" marR="0" marT="70485"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L="2540" algn="ctr">
                        <a:lnSpc>
                          <a:spcPct val="100000"/>
                        </a:lnSpc>
                        <a:spcBef>
                          <a:spcPts val="495"/>
                        </a:spcBef>
                      </a:pPr>
                      <a:r>
                        <a:rPr sz="900" dirty="0">
                          <a:latin typeface="Arial"/>
                          <a:cs typeface="Arial"/>
                        </a:rPr>
                        <a:t>-</a:t>
                      </a:r>
                    </a:p>
                  </a:txBody>
                  <a:tcPr marL="0" marR="0" marT="62865"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L="71120">
                        <a:lnSpc>
                          <a:spcPct val="100000"/>
                        </a:lnSpc>
                        <a:spcBef>
                          <a:spcPts val="495"/>
                        </a:spcBef>
                      </a:pPr>
                      <a:r>
                        <a:rPr sz="900" spc="-5" dirty="0">
                          <a:latin typeface="Arial"/>
                          <a:cs typeface="Arial"/>
                        </a:rPr>
                        <a:t>16.128</a:t>
                      </a:r>
                      <a:r>
                        <a:rPr sz="900" spc="-50" dirty="0">
                          <a:latin typeface="Arial"/>
                          <a:cs typeface="Arial"/>
                        </a:rPr>
                        <a:t> </a:t>
                      </a:r>
                      <a:r>
                        <a:rPr sz="900" baseline="27777" dirty="0">
                          <a:latin typeface="Arial"/>
                          <a:cs typeface="Arial"/>
                        </a:rPr>
                        <a:t>(2)</a:t>
                      </a:r>
                    </a:p>
                  </a:txBody>
                  <a:tcPr marL="0" marR="0" marT="62865"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L="1270" algn="ctr">
                        <a:lnSpc>
                          <a:spcPct val="100000"/>
                        </a:lnSpc>
                        <a:spcBef>
                          <a:spcPts val="495"/>
                        </a:spcBef>
                      </a:pPr>
                      <a:r>
                        <a:rPr sz="900" spc="-5" dirty="0">
                          <a:latin typeface="Arial"/>
                          <a:cs typeface="Arial"/>
                        </a:rPr>
                        <a:t>30</a:t>
                      </a:r>
                      <a:endParaRPr sz="900" dirty="0">
                        <a:latin typeface="Arial"/>
                        <a:cs typeface="Arial"/>
                      </a:endParaRPr>
                    </a:p>
                  </a:txBody>
                  <a:tcPr marL="0" marR="0" marT="62865"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L="4445" algn="ctr">
                        <a:lnSpc>
                          <a:spcPct val="100000"/>
                        </a:lnSpc>
                        <a:spcBef>
                          <a:spcPts val="495"/>
                        </a:spcBef>
                      </a:pPr>
                      <a:r>
                        <a:rPr sz="900" spc="-10" dirty="0">
                          <a:latin typeface="Arial"/>
                          <a:cs typeface="Arial"/>
                        </a:rPr>
                        <a:t>MHz</a:t>
                      </a:r>
                      <a:endParaRPr sz="900" dirty="0">
                        <a:latin typeface="Arial"/>
                        <a:cs typeface="Arial"/>
                      </a:endParaRPr>
                    </a:p>
                  </a:txBody>
                  <a:tcPr marL="0" marR="0" marT="62865" marB="0">
                    <a:lnL w="3175">
                      <a:solidFill>
                        <a:srgbClr val="000000"/>
                      </a:solidFill>
                      <a:prstDash val="solid"/>
                    </a:lnL>
                    <a:lnT w="3175">
                      <a:solidFill>
                        <a:srgbClr val="000000"/>
                      </a:solidFill>
                      <a:prstDash val="solid"/>
                    </a:lnT>
                    <a:lnB w="3175">
                      <a:solidFill>
                        <a:srgbClr val="000000"/>
                      </a:solidFill>
                      <a:prstDash val="solid"/>
                    </a:lnB>
                  </a:tcPr>
                </a:tc>
                <a:extLst>
                  <a:ext uri="{0D108BD9-81ED-4DB2-BD59-A6C34878D82A}">
                    <a16:rowId xmlns:a16="http://schemas.microsoft.com/office/drawing/2014/main" val="10018"/>
                  </a:ext>
                </a:extLst>
              </a:tr>
              <a:tr h="278130">
                <a:tc>
                  <a:txBody>
                    <a:bodyPr/>
                    <a:lstStyle/>
                    <a:p>
                      <a:pPr marR="1905" algn="r">
                        <a:lnSpc>
                          <a:spcPct val="100000"/>
                        </a:lnSpc>
                        <a:spcBef>
                          <a:spcPts val="555"/>
                        </a:spcBef>
                      </a:pPr>
                      <a:r>
                        <a:rPr sz="900" dirty="0">
                          <a:latin typeface="Arial"/>
                          <a:cs typeface="Arial"/>
                        </a:rPr>
                        <a:t>Variation</a:t>
                      </a:r>
                    </a:p>
                  </a:txBody>
                  <a:tcPr marL="0" marR="0" marT="70485" marB="0">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R="76835" algn="r">
                        <a:lnSpc>
                          <a:spcPct val="100000"/>
                        </a:lnSpc>
                        <a:spcBef>
                          <a:spcPts val="710"/>
                        </a:spcBef>
                      </a:pPr>
                      <a:r>
                        <a:rPr sz="1350" spc="7" baseline="12345" dirty="0">
                          <a:latin typeface="Lucida Sans Unicode"/>
                          <a:cs typeface="Lucida Sans Unicode"/>
                        </a:rPr>
                        <a:t>△</a:t>
                      </a:r>
                      <a:r>
                        <a:rPr sz="1350" spc="7" baseline="12345" dirty="0" err="1">
                          <a:latin typeface="Arial"/>
                          <a:cs typeface="Arial"/>
                        </a:rPr>
                        <a:t>F</a:t>
                      </a:r>
                      <a:r>
                        <a:rPr sz="600" spc="5" dirty="0" err="1">
                          <a:latin typeface="Arial"/>
                          <a:cs typeface="Arial"/>
                        </a:rPr>
                        <a:t>EXT_MCLK</a:t>
                      </a:r>
                      <a:endParaRPr sz="600" dirty="0">
                        <a:latin typeface="Arial"/>
                        <a:cs typeface="Arial"/>
                      </a:endParaRPr>
                    </a:p>
                  </a:txBody>
                  <a:tcPr marL="0" marR="0" marT="9017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gn="ctr">
                        <a:lnSpc>
                          <a:spcPct val="100000"/>
                        </a:lnSpc>
                        <a:spcBef>
                          <a:spcPts val="555"/>
                        </a:spcBef>
                      </a:pPr>
                      <a:r>
                        <a:rPr sz="900" spc="-5" dirty="0">
                          <a:latin typeface="Arial"/>
                          <a:cs typeface="Arial"/>
                        </a:rPr>
                        <a:t>T.B.D</a:t>
                      </a:r>
                      <a:endParaRPr sz="900" dirty="0">
                        <a:latin typeface="Arial"/>
                        <a:cs typeface="Arial"/>
                      </a:endParaRPr>
                    </a:p>
                  </a:txBody>
                  <a:tcPr marL="0" marR="0" marT="70485"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gn="ctr">
                        <a:lnSpc>
                          <a:spcPct val="100000"/>
                        </a:lnSpc>
                        <a:spcBef>
                          <a:spcPts val="555"/>
                        </a:spcBef>
                      </a:pPr>
                      <a:r>
                        <a:rPr sz="900" spc="-5" dirty="0">
                          <a:latin typeface="Arial"/>
                          <a:cs typeface="Arial"/>
                        </a:rPr>
                        <a:t>-1</a:t>
                      </a:r>
                      <a:endParaRPr sz="900" dirty="0">
                        <a:latin typeface="Arial"/>
                        <a:cs typeface="Arial"/>
                      </a:endParaRPr>
                    </a:p>
                  </a:txBody>
                  <a:tcPr marL="0" marR="0" marT="70485"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gn="ctr">
                        <a:lnSpc>
                          <a:spcPct val="100000"/>
                        </a:lnSpc>
                        <a:spcBef>
                          <a:spcPts val="555"/>
                        </a:spcBef>
                      </a:pPr>
                      <a:r>
                        <a:rPr sz="900" dirty="0">
                          <a:latin typeface="Arial"/>
                          <a:cs typeface="Arial"/>
                        </a:rPr>
                        <a:t>-</a:t>
                      </a:r>
                    </a:p>
                  </a:txBody>
                  <a:tcPr marL="0" marR="0" marT="70485"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R="635" algn="ctr">
                        <a:lnSpc>
                          <a:spcPct val="100000"/>
                        </a:lnSpc>
                        <a:spcBef>
                          <a:spcPts val="555"/>
                        </a:spcBef>
                      </a:pPr>
                      <a:r>
                        <a:rPr sz="900" spc="-5" dirty="0">
                          <a:latin typeface="Arial"/>
                          <a:cs typeface="Arial"/>
                        </a:rPr>
                        <a:t>+1</a:t>
                      </a:r>
                      <a:endParaRPr sz="900" dirty="0">
                        <a:latin typeface="Arial"/>
                        <a:cs typeface="Arial"/>
                      </a:endParaRPr>
                    </a:p>
                  </a:txBody>
                  <a:tcPr marL="0" marR="0" marT="70485"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R="635" algn="ctr">
                        <a:lnSpc>
                          <a:spcPct val="100000"/>
                        </a:lnSpc>
                        <a:spcBef>
                          <a:spcPts val="555"/>
                        </a:spcBef>
                      </a:pPr>
                      <a:r>
                        <a:rPr sz="900" dirty="0">
                          <a:latin typeface="Arial"/>
                          <a:cs typeface="Arial"/>
                        </a:rPr>
                        <a:t>%</a:t>
                      </a:r>
                    </a:p>
                  </a:txBody>
                  <a:tcPr marL="0" marR="0" marT="70485" marB="0">
                    <a:lnL w="3175">
                      <a:solidFill>
                        <a:srgbClr val="000000"/>
                      </a:solidFill>
                      <a:prstDash val="solid"/>
                    </a:lnL>
                    <a:lnT w="3175">
                      <a:solidFill>
                        <a:srgbClr val="000000"/>
                      </a:solidFill>
                      <a:prstDash val="solid"/>
                    </a:lnT>
                    <a:lnB w="3175">
                      <a:solidFill>
                        <a:srgbClr val="000000"/>
                      </a:solidFill>
                      <a:prstDash val="solid"/>
                    </a:lnB>
                  </a:tcPr>
                </a:tc>
                <a:extLst>
                  <a:ext uri="{0D108BD9-81ED-4DB2-BD59-A6C34878D82A}">
                    <a16:rowId xmlns:a16="http://schemas.microsoft.com/office/drawing/2014/main" val="10019"/>
                  </a:ext>
                </a:extLst>
              </a:tr>
            </a:tbl>
          </a:graphicData>
        </a:graphic>
      </p:graphicFrame>
      <p:sp>
        <p:nvSpPr>
          <p:cNvPr id="3" name="object 3"/>
          <p:cNvSpPr txBox="1"/>
          <p:nvPr/>
        </p:nvSpPr>
        <p:spPr>
          <a:xfrm>
            <a:off x="381914" y="802005"/>
            <a:ext cx="4833620" cy="239395"/>
          </a:xfrm>
          <a:prstGeom prst="rect">
            <a:avLst/>
          </a:prstGeom>
        </p:spPr>
        <p:txBody>
          <a:bodyPr vert="horz" wrap="square" lIns="0" tIns="12700" rIns="0" bIns="0" rtlCol="0">
            <a:spAutoFit/>
          </a:bodyPr>
          <a:lstStyle/>
          <a:p>
            <a:pPr marL="38100">
              <a:lnSpc>
                <a:spcPct val="100000"/>
              </a:lnSpc>
              <a:spcBef>
                <a:spcPts val="100"/>
              </a:spcBef>
            </a:pPr>
            <a:r>
              <a:rPr sz="1400" b="1" dirty="0">
                <a:latin typeface="Arial"/>
                <a:cs typeface="Arial"/>
              </a:rPr>
              <a:t>Electrical</a:t>
            </a:r>
            <a:r>
              <a:rPr sz="1400" b="1" spc="-25" dirty="0">
                <a:latin typeface="Arial"/>
                <a:cs typeface="Arial"/>
              </a:rPr>
              <a:t> </a:t>
            </a:r>
            <a:r>
              <a:rPr sz="1400" b="1" dirty="0">
                <a:latin typeface="Arial"/>
                <a:cs typeface="Arial"/>
              </a:rPr>
              <a:t>Characteristic</a:t>
            </a:r>
            <a:r>
              <a:rPr sz="1400" b="1" spc="-80" dirty="0">
                <a:latin typeface="Arial"/>
                <a:cs typeface="Arial"/>
              </a:rPr>
              <a:t> </a:t>
            </a:r>
            <a:r>
              <a:rPr sz="900" spc="-5" dirty="0">
                <a:latin typeface="Arial"/>
                <a:cs typeface="Arial"/>
              </a:rPr>
              <a:t>(V</a:t>
            </a:r>
            <a:r>
              <a:rPr sz="900" spc="-7" baseline="-18518" dirty="0">
                <a:latin typeface="Arial"/>
                <a:cs typeface="Arial"/>
              </a:rPr>
              <a:t>DDD</a:t>
            </a:r>
            <a:r>
              <a:rPr sz="900" spc="-5" dirty="0">
                <a:latin typeface="Arial"/>
                <a:cs typeface="Arial"/>
              </a:rPr>
              <a:t>/V</a:t>
            </a:r>
            <a:r>
              <a:rPr sz="900" spc="-7" baseline="-18518" dirty="0">
                <a:latin typeface="Arial"/>
                <a:cs typeface="Arial"/>
              </a:rPr>
              <a:t>DDS</a:t>
            </a:r>
            <a:r>
              <a:rPr sz="900" spc="-5" dirty="0">
                <a:latin typeface="Arial"/>
                <a:cs typeface="Arial"/>
              </a:rPr>
              <a:t>=5.0V,</a:t>
            </a:r>
            <a:r>
              <a:rPr sz="900" spc="20" dirty="0">
                <a:latin typeface="Arial"/>
                <a:cs typeface="Arial"/>
              </a:rPr>
              <a:t> </a:t>
            </a:r>
            <a:r>
              <a:rPr sz="900" dirty="0">
                <a:latin typeface="Arial"/>
                <a:cs typeface="Arial"/>
              </a:rPr>
              <a:t>Ta=25.0</a:t>
            </a:r>
            <a:r>
              <a:rPr sz="900" dirty="0">
                <a:latin typeface="맑은 고딕"/>
                <a:cs typeface="맑은 고딕"/>
              </a:rPr>
              <a:t>℃</a:t>
            </a:r>
            <a:r>
              <a:rPr sz="900" spc="-75" dirty="0">
                <a:latin typeface="맑은 고딕"/>
                <a:cs typeface="맑은 고딕"/>
              </a:rPr>
              <a:t> </a:t>
            </a:r>
            <a:r>
              <a:rPr sz="900" dirty="0">
                <a:latin typeface="Arial"/>
                <a:cs typeface="Arial"/>
              </a:rPr>
              <a:t>unless </a:t>
            </a:r>
            <a:r>
              <a:rPr sz="900" spc="-5" dirty="0">
                <a:latin typeface="Arial"/>
                <a:cs typeface="Arial"/>
              </a:rPr>
              <a:t>otherwise noted)</a:t>
            </a:r>
            <a:endParaRPr sz="900" dirty="0">
              <a:latin typeface="Arial"/>
              <a:cs typeface="Arial"/>
            </a:endParaRPr>
          </a:p>
        </p:txBody>
      </p:sp>
      <p:sp>
        <p:nvSpPr>
          <p:cNvPr id="4" name="object 4"/>
          <p:cNvSpPr/>
          <p:nvPr/>
        </p:nvSpPr>
        <p:spPr>
          <a:xfrm>
            <a:off x="405384" y="637031"/>
            <a:ext cx="6049010" cy="0"/>
          </a:xfrm>
          <a:custGeom>
            <a:avLst/>
            <a:gdLst/>
            <a:ahLst/>
            <a:cxnLst/>
            <a:rect l="l" t="t" r="r" b="b"/>
            <a:pathLst>
              <a:path w="6049010">
                <a:moveTo>
                  <a:pt x="0" y="0"/>
                </a:moveTo>
                <a:lnTo>
                  <a:pt x="6048629" y="0"/>
                </a:lnTo>
              </a:path>
            </a:pathLst>
          </a:custGeom>
          <a:ln w="6350">
            <a:solidFill>
              <a:srgbClr val="000000"/>
            </a:solidFill>
          </a:ln>
        </p:spPr>
        <p:txBody>
          <a:bodyPr wrap="square" lIns="0" tIns="0" rIns="0" bIns="0" rtlCol="0"/>
          <a:lstStyle/>
          <a:p>
            <a:endParaRPr dirty="0"/>
          </a:p>
        </p:txBody>
      </p:sp>
      <p:sp>
        <p:nvSpPr>
          <p:cNvPr id="5" name="object 5"/>
          <p:cNvSpPr txBox="1"/>
          <p:nvPr/>
        </p:nvSpPr>
        <p:spPr>
          <a:xfrm>
            <a:off x="400913" y="7309740"/>
            <a:ext cx="6053481" cy="459036"/>
          </a:xfrm>
          <a:prstGeom prst="rect">
            <a:avLst/>
          </a:prstGeom>
        </p:spPr>
        <p:txBody>
          <a:bodyPr vert="horz" wrap="square" lIns="0" tIns="24765" rIns="0" bIns="0" rtlCol="0">
            <a:spAutoFit/>
          </a:bodyPr>
          <a:lstStyle/>
          <a:p>
            <a:pPr marL="12700" algn="just">
              <a:lnSpc>
                <a:spcPct val="100000"/>
              </a:lnSpc>
              <a:spcBef>
                <a:spcPts val="195"/>
              </a:spcBef>
            </a:pPr>
            <a:r>
              <a:rPr sz="900" spc="-5" dirty="0">
                <a:latin typeface="Arial"/>
                <a:cs typeface="Arial"/>
              </a:rPr>
              <a:t>Note</a:t>
            </a:r>
            <a:r>
              <a:rPr sz="900" spc="254" dirty="0">
                <a:latin typeface="Arial"/>
                <a:cs typeface="Arial"/>
              </a:rPr>
              <a:t> </a:t>
            </a:r>
            <a:r>
              <a:rPr sz="900" spc="-5" dirty="0">
                <a:latin typeface="Arial"/>
                <a:cs typeface="Arial"/>
              </a:rPr>
              <a:t>(1)</a:t>
            </a:r>
            <a:r>
              <a:rPr sz="900" dirty="0">
                <a:latin typeface="Arial"/>
                <a:cs typeface="Arial"/>
              </a:rPr>
              <a:t> </a:t>
            </a:r>
            <a:r>
              <a:rPr sz="900" spc="-5" dirty="0">
                <a:latin typeface="Arial"/>
                <a:cs typeface="Arial"/>
              </a:rPr>
              <a:t>The</a:t>
            </a:r>
            <a:r>
              <a:rPr sz="900" spc="5" dirty="0">
                <a:latin typeface="Arial"/>
                <a:cs typeface="Arial"/>
              </a:rPr>
              <a:t> </a:t>
            </a:r>
            <a:r>
              <a:rPr sz="900" spc="-5" dirty="0">
                <a:latin typeface="Arial"/>
                <a:cs typeface="Arial"/>
              </a:rPr>
              <a:t>PLL</a:t>
            </a:r>
            <a:r>
              <a:rPr sz="900" spc="10" dirty="0">
                <a:latin typeface="Arial"/>
                <a:cs typeface="Arial"/>
              </a:rPr>
              <a:t> </a:t>
            </a:r>
            <a:r>
              <a:rPr sz="900" dirty="0">
                <a:latin typeface="Arial"/>
                <a:cs typeface="Arial"/>
              </a:rPr>
              <a:t>output</a:t>
            </a:r>
            <a:r>
              <a:rPr sz="900" spc="-20" dirty="0">
                <a:latin typeface="Arial"/>
                <a:cs typeface="Arial"/>
              </a:rPr>
              <a:t> </a:t>
            </a:r>
            <a:r>
              <a:rPr sz="900" dirty="0">
                <a:latin typeface="Arial"/>
                <a:cs typeface="Arial"/>
              </a:rPr>
              <a:t>frequency</a:t>
            </a:r>
            <a:r>
              <a:rPr sz="900" spc="-25" dirty="0">
                <a:latin typeface="Arial"/>
                <a:cs typeface="Arial"/>
              </a:rPr>
              <a:t> </a:t>
            </a:r>
            <a:r>
              <a:rPr sz="900" spc="-5" dirty="0">
                <a:latin typeface="Arial"/>
                <a:cs typeface="Arial"/>
              </a:rPr>
              <a:t>depends</a:t>
            </a:r>
            <a:r>
              <a:rPr sz="900" spc="-20" dirty="0">
                <a:latin typeface="Arial"/>
                <a:cs typeface="Arial"/>
              </a:rPr>
              <a:t> </a:t>
            </a:r>
            <a:r>
              <a:rPr sz="900" spc="-5" dirty="0">
                <a:latin typeface="Arial"/>
                <a:cs typeface="Arial"/>
              </a:rPr>
              <a:t>on </a:t>
            </a:r>
            <a:r>
              <a:rPr sz="900" dirty="0">
                <a:latin typeface="Arial"/>
                <a:cs typeface="Arial"/>
              </a:rPr>
              <a:t>the </a:t>
            </a:r>
            <a:r>
              <a:rPr sz="900" spc="-5" dirty="0">
                <a:latin typeface="Arial"/>
                <a:cs typeface="Arial"/>
              </a:rPr>
              <a:t>VSYNC</a:t>
            </a:r>
            <a:r>
              <a:rPr sz="900" spc="25" dirty="0">
                <a:latin typeface="Arial"/>
                <a:cs typeface="Arial"/>
              </a:rPr>
              <a:t> </a:t>
            </a:r>
            <a:r>
              <a:rPr sz="900" spc="-5" dirty="0">
                <a:latin typeface="Arial"/>
                <a:cs typeface="Arial"/>
              </a:rPr>
              <a:t>input</a:t>
            </a:r>
            <a:r>
              <a:rPr sz="900" spc="-15" dirty="0">
                <a:latin typeface="Arial"/>
                <a:cs typeface="Arial"/>
              </a:rPr>
              <a:t> </a:t>
            </a:r>
            <a:r>
              <a:rPr sz="900" spc="-5" dirty="0">
                <a:latin typeface="Arial"/>
                <a:cs typeface="Arial"/>
              </a:rPr>
              <a:t>period</a:t>
            </a:r>
            <a:r>
              <a:rPr sz="900" spc="-15" dirty="0">
                <a:latin typeface="Arial"/>
                <a:cs typeface="Arial"/>
              </a:rPr>
              <a:t> </a:t>
            </a:r>
            <a:r>
              <a:rPr sz="900" spc="-5" dirty="0">
                <a:latin typeface="Arial"/>
                <a:cs typeface="Arial"/>
              </a:rPr>
              <a:t>and </a:t>
            </a:r>
            <a:r>
              <a:rPr sz="900" dirty="0">
                <a:latin typeface="Arial"/>
                <a:cs typeface="Arial"/>
              </a:rPr>
              <a:t>the </a:t>
            </a:r>
            <a:r>
              <a:rPr sz="900" spc="-10" dirty="0">
                <a:latin typeface="Arial"/>
                <a:cs typeface="Arial"/>
              </a:rPr>
              <a:t>MCLK</a:t>
            </a:r>
            <a:r>
              <a:rPr sz="900" spc="15" dirty="0">
                <a:latin typeface="Arial"/>
                <a:cs typeface="Arial"/>
              </a:rPr>
              <a:t> </a:t>
            </a:r>
            <a:r>
              <a:rPr sz="900" spc="-5" dirty="0">
                <a:latin typeface="Arial"/>
                <a:cs typeface="Arial"/>
              </a:rPr>
              <a:t>LOCK</a:t>
            </a:r>
            <a:r>
              <a:rPr sz="900" spc="10" dirty="0">
                <a:latin typeface="Arial"/>
                <a:cs typeface="Arial"/>
              </a:rPr>
              <a:t> </a:t>
            </a:r>
            <a:r>
              <a:rPr sz="900" spc="-5" dirty="0">
                <a:latin typeface="Arial"/>
                <a:cs typeface="Arial"/>
              </a:rPr>
              <a:t>CONTER</a:t>
            </a:r>
            <a:r>
              <a:rPr sz="900" spc="25" dirty="0">
                <a:latin typeface="Arial"/>
                <a:cs typeface="Arial"/>
              </a:rPr>
              <a:t> </a:t>
            </a:r>
            <a:r>
              <a:rPr sz="900" dirty="0">
                <a:latin typeface="Arial"/>
                <a:cs typeface="Arial"/>
              </a:rPr>
              <a:t>register</a:t>
            </a:r>
            <a:r>
              <a:rPr sz="900" spc="-25" dirty="0">
                <a:latin typeface="Arial"/>
                <a:cs typeface="Arial"/>
              </a:rPr>
              <a:t> </a:t>
            </a:r>
            <a:r>
              <a:rPr sz="900" spc="-5" dirty="0">
                <a:latin typeface="Arial"/>
                <a:cs typeface="Arial"/>
              </a:rPr>
              <a:t>value.</a:t>
            </a:r>
            <a:endParaRPr sz="900" dirty="0">
              <a:latin typeface="Arial"/>
              <a:cs typeface="Arial"/>
            </a:endParaRPr>
          </a:p>
          <a:p>
            <a:pPr marL="520065" marR="156210" indent="-190500" algn="just">
              <a:lnSpc>
                <a:spcPts val="1190"/>
              </a:lnSpc>
              <a:spcBef>
                <a:spcPts val="45"/>
              </a:spcBef>
            </a:pPr>
            <a:r>
              <a:rPr sz="900" spc="-5" dirty="0">
                <a:latin typeface="Arial"/>
                <a:cs typeface="Arial"/>
              </a:rPr>
              <a:t>(2) The External </a:t>
            </a:r>
            <a:r>
              <a:rPr sz="900" spc="-10" dirty="0">
                <a:latin typeface="Arial"/>
                <a:cs typeface="Arial"/>
              </a:rPr>
              <a:t>MCLK </a:t>
            </a:r>
            <a:r>
              <a:rPr sz="900" dirty="0">
                <a:latin typeface="Arial"/>
                <a:cs typeface="Arial"/>
              </a:rPr>
              <a:t>frequency </a:t>
            </a:r>
            <a:r>
              <a:rPr sz="900" spc="-5" dirty="0">
                <a:latin typeface="Arial"/>
                <a:cs typeface="Arial"/>
              </a:rPr>
              <a:t>depends on </a:t>
            </a:r>
            <a:r>
              <a:rPr sz="900" dirty="0">
                <a:latin typeface="Arial"/>
                <a:cs typeface="Arial"/>
              </a:rPr>
              <a:t>the system operation specification like the </a:t>
            </a:r>
            <a:r>
              <a:rPr sz="900" spc="-5" dirty="0">
                <a:latin typeface="Arial"/>
                <a:cs typeface="Arial"/>
              </a:rPr>
              <a:t>VSYNC input period, </a:t>
            </a:r>
            <a:r>
              <a:rPr sz="900" spc="-235" dirty="0">
                <a:latin typeface="Arial"/>
                <a:cs typeface="Arial"/>
              </a:rPr>
              <a:t> </a:t>
            </a:r>
            <a:r>
              <a:rPr sz="900" dirty="0">
                <a:latin typeface="Arial"/>
                <a:cs typeface="Arial"/>
              </a:rPr>
              <a:t>the</a:t>
            </a:r>
            <a:r>
              <a:rPr sz="900" spc="-10" dirty="0">
                <a:latin typeface="Arial"/>
                <a:cs typeface="Arial"/>
              </a:rPr>
              <a:t> </a:t>
            </a:r>
            <a:r>
              <a:rPr sz="900" spc="-5" dirty="0">
                <a:latin typeface="Arial"/>
                <a:cs typeface="Arial"/>
              </a:rPr>
              <a:t>SVSYNC_SIZE</a:t>
            </a:r>
            <a:r>
              <a:rPr sz="900" spc="10" dirty="0">
                <a:latin typeface="Arial"/>
                <a:cs typeface="Arial"/>
              </a:rPr>
              <a:t> </a:t>
            </a:r>
            <a:r>
              <a:rPr sz="900" spc="-5" dirty="0">
                <a:latin typeface="Arial"/>
                <a:cs typeface="Arial"/>
              </a:rPr>
              <a:t>and</a:t>
            </a:r>
            <a:r>
              <a:rPr sz="900" spc="-10" dirty="0">
                <a:latin typeface="Arial"/>
                <a:cs typeface="Arial"/>
              </a:rPr>
              <a:t> </a:t>
            </a:r>
            <a:r>
              <a:rPr sz="900" spc="-5" dirty="0">
                <a:latin typeface="Arial"/>
                <a:cs typeface="Arial"/>
              </a:rPr>
              <a:t>SHSYNC_SIZE</a:t>
            </a:r>
            <a:r>
              <a:rPr sz="900" dirty="0">
                <a:latin typeface="Arial"/>
                <a:cs typeface="Arial"/>
              </a:rPr>
              <a:t> register</a:t>
            </a:r>
            <a:r>
              <a:rPr sz="900" spc="-25" dirty="0">
                <a:latin typeface="Arial"/>
                <a:cs typeface="Arial"/>
              </a:rPr>
              <a:t> </a:t>
            </a:r>
            <a:r>
              <a:rPr sz="900" spc="-5" dirty="0">
                <a:latin typeface="Arial"/>
                <a:cs typeface="Arial"/>
              </a:rPr>
              <a:t>value.</a:t>
            </a:r>
            <a:endParaRPr sz="900" dirty="0">
              <a:latin typeface="Arial"/>
              <a:cs typeface="Arial"/>
            </a:endParaRPr>
          </a:p>
        </p:txBody>
      </p:sp>
      <p:sp>
        <p:nvSpPr>
          <p:cNvPr id="8" name="object 8"/>
          <p:cNvSpPr txBox="1"/>
          <p:nvPr/>
        </p:nvSpPr>
        <p:spPr>
          <a:xfrm>
            <a:off x="400913" y="301879"/>
            <a:ext cx="622935" cy="299720"/>
          </a:xfrm>
          <a:prstGeom prst="rect">
            <a:avLst/>
          </a:prstGeom>
        </p:spPr>
        <p:txBody>
          <a:bodyPr vert="horz" wrap="square" lIns="0" tIns="12700" rIns="0" bIns="0" rtlCol="0">
            <a:spAutoFit/>
          </a:bodyPr>
          <a:lstStyle/>
          <a:p>
            <a:pPr marL="12700">
              <a:lnSpc>
                <a:spcPct val="100000"/>
              </a:lnSpc>
              <a:spcBef>
                <a:spcPts val="100"/>
              </a:spcBef>
            </a:pPr>
            <a:r>
              <a:rPr sz="1800" b="1" spc="-5" dirty="0">
                <a:latin typeface="Arial"/>
                <a:cs typeface="Arial"/>
              </a:rPr>
              <a:t>CQ24</a:t>
            </a:r>
            <a:endParaRPr sz="1800" dirty="0">
              <a:latin typeface="Arial"/>
              <a:cs typeface="Arial"/>
            </a:endParaRPr>
          </a:p>
        </p:txBody>
      </p:sp>
      <p:sp>
        <p:nvSpPr>
          <p:cNvPr id="12" name="object 9">
            <a:extLst>
              <a:ext uri="{FF2B5EF4-FFF2-40B4-BE49-F238E27FC236}">
                <a16:creationId xmlns:a16="http://schemas.microsoft.com/office/drawing/2014/main" id="{F9D361B6-A2C9-6192-8226-EE8EF3DBF518}"/>
              </a:ext>
            </a:extLst>
          </p:cNvPr>
          <p:cNvSpPr txBox="1"/>
          <p:nvPr/>
        </p:nvSpPr>
        <p:spPr>
          <a:xfrm>
            <a:off x="304800" y="9067800"/>
            <a:ext cx="2078355" cy="289823"/>
          </a:xfrm>
          <a:prstGeom prst="rect">
            <a:avLst/>
          </a:prstGeom>
        </p:spPr>
        <p:txBody>
          <a:bodyPr vert="horz" wrap="square" lIns="0" tIns="12700" rIns="0" bIns="0" rtlCol="0">
            <a:spAutoFit/>
          </a:bodyPr>
          <a:lstStyle/>
          <a:p>
            <a:pPr marL="12700">
              <a:lnSpc>
                <a:spcPct val="100000"/>
              </a:lnSpc>
              <a:spcBef>
                <a:spcPts val="100"/>
              </a:spcBef>
            </a:pPr>
            <a:r>
              <a:rPr b="1" spc="-5" dirty="0">
                <a:solidFill>
                  <a:srgbClr val="FF0000"/>
                </a:solidFill>
                <a:cs typeface="Perpetua Titling MT"/>
              </a:rPr>
              <a:t>CONFIDENTIAL</a:t>
            </a:r>
            <a:endParaRPr dirty="0">
              <a:cs typeface="Perpetua Titling MT"/>
            </a:endParaRPr>
          </a:p>
        </p:txBody>
      </p:sp>
      <p:sp>
        <p:nvSpPr>
          <p:cNvPr id="13" name="object 6">
            <a:extLst>
              <a:ext uri="{FF2B5EF4-FFF2-40B4-BE49-F238E27FC236}">
                <a16:creationId xmlns:a16="http://schemas.microsoft.com/office/drawing/2014/main" id="{2F1B0816-4AA7-2BEF-9D52-BB41680551CD}"/>
              </a:ext>
            </a:extLst>
          </p:cNvPr>
          <p:cNvSpPr/>
          <p:nvPr/>
        </p:nvSpPr>
        <p:spPr>
          <a:xfrm>
            <a:off x="301676" y="9458756"/>
            <a:ext cx="6246495" cy="0"/>
          </a:xfrm>
          <a:custGeom>
            <a:avLst/>
            <a:gdLst/>
            <a:ahLst/>
            <a:cxnLst/>
            <a:rect l="l" t="t" r="r" b="b"/>
            <a:pathLst>
              <a:path w="6246495">
                <a:moveTo>
                  <a:pt x="0" y="0"/>
                </a:moveTo>
                <a:lnTo>
                  <a:pt x="6245999" y="0"/>
                </a:lnTo>
              </a:path>
            </a:pathLst>
          </a:custGeom>
          <a:ln w="25920">
            <a:solidFill>
              <a:srgbClr val="BFBFBF"/>
            </a:solidFill>
          </a:ln>
        </p:spPr>
        <p:txBody>
          <a:bodyPr wrap="square" lIns="0" tIns="0" rIns="0" bIns="0" rtlCol="0"/>
          <a:lstStyle/>
          <a:p>
            <a:endParaRPr/>
          </a:p>
        </p:txBody>
      </p:sp>
      <p:sp>
        <p:nvSpPr>
          <p:cNvPr id="14" name="슬라이드 번호 개체 틀 3">
            <a:hlinkClick r:id="rId2"/>
            <a:extLst>
              <a:ext uri="{FF2B5EF4-FFF2-40B4-BE49-F238E27FC236}">
                <a16:creationId xmlns:a16="http://schemas.microsoft.com/office/drawing/2014/main" id="{2CCCBB8D-51C8-082E-441C-B7CCB48DAAE6}"/>
              </a:ext>
            </a:extLst>
          </p:cNvPr>
          <p:cNvSpPr txBox="1">
            <a:spLocks/>
          </p:cNvSpPr>
          <p:nvPr/>
        </p:nvSpPr>
        <p:spPr>
          <a:xfrm>
            <a:off x="5151602" y="9452864"/>
            <a:ext cx="1487550"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dirty="0">
                <a:solidFill>
                  <a:prstClr val="black"/>
                </a:solidFill>
                <a:latin typeface="Arial" panose="020B0604020202020204" pitchFamily="34" charset="0"/>
                <a:cs typeface="Arial" panose="020B0604020202020204" pitchFamily="34" charset="0"/>
              </a:rPr>
              <a:t>http://www.glbltech.com/</a:t>
            </a:r>
            <a:endParaRPr lang="ko-KR" altLang="en-US" dirty="0">
              <a:solidFill>
                <a:prstClr val="black"/>
              </a:solidFill>
              <a:latin typeface="Arial" panose="020B0604020202020204" pitchFamily="34" charset="0"/>
              <a:cs typeface="Arial" panose="020B0604020202020204" pitchFamily="34" charset="0"/>
            </a:endParaRPr>
          </a:p>
        </p:txBody>
      </p:sp>
      <p:sp>
        <p:nvSpPr>
          <p:cNvPr id="15" name="object 38">
            <a:extLst>
              <a:ext uri="{FF2B5EF4-FFF2-40B4-BE49-F238E27FC236}">
                <a16:creationId xmlns:a16="http://schemas.microsoft.com/office/drawing/2014/main" id="{D59BF516-6897-5456-2410-0A44B3DAA68D}"/>
              </a:ext>
            </a:extLst>
          </p:cNvPr>
          <p:cNvSpPr txBox="1">
            <a:spLocks/>
          </p:cNvSpPr>
          <p:nvPr/>
        </p:nvSpPr>
        <p:spPr>
          <a:xfrm>
            <a:off x="3309066" y="9547988"/>
            <a:ext cx="487045" cy="139141"/>
          </a:xfrm>
          <a:prstGeom prst="rect">
            <a:avLst/>
          </a:prstGeom>
        </p:spPr>
        <p:txBody>
          <a:bodyPr vert="horz" wrap="square" lIns="0" tIns="635" rIns="0" bIns="0" rtlCol="0">
            <a:spAutoFit/>
          </a:bodyPr>
          <a:lstStyle>
            <a:defPPr>
              <a:defRPr lang="ko-KR"/>
            </a:defPPr>
            <a:lvl1pPr marL="0" algn="l" defTabSz="914400" rtl="0" eaLnBrk="1" latinLnBrk="1" hangingPunct="1">
              <a:defRPr sz="1050" b="0" i="0" kern="1200">
                <a:solidFill>
                  <a:schemeClr val="tx1"/>
                </a:solidFill>
                <a:latin typeface="Arial"/>
                <a:ea typeface="+mn-ea"/>
                <a:cs typeface="Arial"/>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marL="12700">
              <a:spcBef>
                <a:spcPts val="5"/>
              </a:spcBef>
              <a:defRPr/>
            </a:pPr>
            <a:r>
              <a:rPr lang="en-US" sz="900" dirty="0">
                <a:solidFill>
                  <a:prstClr val="black"/>
                </a:solidFill>
              </a:rPr>
              <a:t>Page</a:t>
            </a:r>
            <a:r>
              <a:rPr lang="en-US" sz="900" spc="-60" dirty="0">
                <a:solidFill>
                  <a:prstClr val="black"/>
                </a:solidFill>
              </a:rPr>
              <a:t> </a:t>
            </a:r>
            <a:fld id="{81D60167-4931-47E6-BA6A-407CBD079E47}" type="slidenum">
              <a:rPr sz="900">
                <a:solidFill>
                  <a:prstClr val="black"/>
                </a:solidFill>
              </a:rPr>
              <a:pPr marL="12700">
                <a:spcBef>
                  <a:spcPts val="5"/>
                </a:spcBef>
                <a:defRPr/>
              </a:pPr>
              <a:t>11</a:t>
            </a:fld>
            <a:endParaRPr sz="900" dirty="0">
              <a:solidFill>
                <a:prstClr val="black"/>
              </a:solidFill>
            </a:endParaRPr>
          </a:p>
        </p:txBody>
      </p:sp>
      <p:sp>
        <p:nvSpPr>
          <p:cNvPr id="16" name="슬라이드 번호 개체 틀 3">
            <a:extLst>
              <a:ext uri="{FF2B5EF4-FFF2-40B4-BE49-F238E27FC236}">
                <a16:creationId xmlns:a16="http://schemas.microsoft.com/office/drawing/2014/main" id="{57986CDB-D949-7537-13BB-ABDFDF645AC3}"/>
              </a:ext>
            </a:extLst>
          </p:cNvPr>
          <p:cNvSpPr txBox="1">
            <a:spLocks/>
          </p:cNvSpPr>
          <p:nvPr/>
        </p:nvSpPr>
        <p:spPr>
          <a:xfrm>
            <a:off x="299401" y="9520856"/>
            <a:ext cx="2060991" cy="175259"/>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lang="en-US" altLang="ko-KR" dirty="0">
                <a:solidFill>
                  <a:prstClr val="black"/>
                </a:solidFill>
                <a:latin typeface="Arial" panose="020B0604020202020204" pitchFamily="34" charset="0"/>
                <a:cs typeface="Arial" panose="020B0604020202020204" pitchFamily="34" charset="0"/>
              </a:rPr>
              <a:t>Dated 30-Nov 23  Rev. 01</a:t>
            </a:r>
            <a:endParaRPr lang="ko-KR" altLang="en-US" dirty="0">
              <a:solidFill>
                <a:prstClr val="black"/>
              </a:solidFill>
              <a:latin typeface="Arial" panose="020B0604020202020204" pitchFamily="34" charset="0"/>
              <a:cs typeface="Arial" panose="020B0604020202020204" pitchFamily="34" charset="0"/>
            </a:endParaRPr>
          </a:p>
        </p:txBody>
      </p:sp>
      <p:sp>
        <p:nvSpPr>
          <p:cNvPr id="17" name="Holder 3">
            <a:extLst>
              <a:ext uri="{FF2B5EF4-FFF2-40B4-BE49-F238E27FC236}">
                <a16:creationId xmlns:a16="http://schemas.microsoft.com/office/drawing/2014/main" id="{C4792581-6D6A-BDB7-04FC-4D62753D7FDE}"/>
              </a:ext>
            </a:extLst>
          </p:cNvPr>
          <p:cNvSpPr txBox="1">
            <a:spLocks/>
          </p:cNvSpPr>
          <p:nvPr/>
        </p:nvSpPr>
        <p:spPr>
          <a:xfrm>
            <a:off x="5147476" y="203944"/>
            <a:ext cx="1447800" cy="276999"/>
          </a:xfrm>
          <a:prstGeom prst="rect">
            <a:avLst/>
          </a:prstGeom>
        </p:spPr>
        <p:txBody>
          <a:bodyPr wrap="square" lIns="0" tIns="0" rIns="0" bIns="0">
            <a:spAutoFit/>
          </a:bodyPr>
          <a:lstStyle>
            <a:lvl1pPr marL="0">
              <a:defRPr>
                <a:solidFill>
                  <a:srgbClr val="FF99FF"/>
                </a:solidFill>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defTabSz="914400" latinLnBrk="0"/>
            <a:r>
              <a:rPr lang="en-US" sz="1800" kern="0" dirty="0"/>
              <a:t>&lt;Preliminary&gt;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2" name="object 2"/>
          <p:cNvGraphicFramePr>
            <a:graphicFrameLocks noGrp="1"/>
          </p:cNvGraphicFramePr>
          <p:nvPr/>
        </p:nvGraphicFramePr>
        <p:xfrm>
          <a:off x="404812" y="1076325"/>
          <a:ext cx="6052818" cy="2800350"/>
        </p:xfrm>
        <a:graphic>
          <a:graphicData uri="http://schemas.openxmlformats.org/drawingml/2006/table">
            <a:tbl>
              <a:tblPr firstRow="1" bandRow="1">
                <a:tableStyleId>{2D5ABB26-0587-4C30-8999-92F81FD0307C}</a:tableStyleId>
              </a:tblPr>
              <a:tblGrid>
                <a:gridCol w="1362710">
                  <a:extLst>
                    <a:ext uri="{9D8B030D-6E8A-4147-A177-3AD203B41FA5}">
                      <a16:colId xmlns:a16="http://schemas.microsoft.com/office/drawing/2014/main" val="20000"/>
                    </a:ext>
                  </a:extLst>
                </a:gridCol>
                <a:gridCol w="727710">
                  <a:extLst>
                    <a:ext uri="{9D8B030D-6E8A-4147-A177-3AD203B41FA5}">
                      <a16:colId xmlns:a16="http://schemas.microsoft.com/office/drawing/2014/main" val="20001"/>
                    </a:ext>
                  </a:extLst>
                </a:gridCol>
                <a:gridCol w="1757680">
                  <a:extLst>
                    <a:ext uri="{9D8B030D-6E8A-4147-A177-3AD203B41FA5}">
                      <a16:colId xmlns:a16="http://schemas.microsoft.com/office/drawing/2014/main" val="20002"/>
                    </a:ext>
                  </a:extLst>
                </a:gridCol>
                <a:gridCol w="516254">
                  <a:extLst>
                    <a:ext uri="{9D8B030D-6E8A-4147-A177-3AD203B41FA5}">
                      <a16:colId xmlns:a16="http://schemas.microsoft.com/office/drawing/2014/main" val="20003"/>
                    </a:ext>
                  </a:extLst>
                </a:gridCol>
                <a:gridCol w="616585">
                  <a:extLst>
                    <a:ext uri="{9D8B030D-6E8A-4147-A177-3AD203B41FA5}">
                      <a16:colId xmlns:a16="http://schemas.microsoft.com/office/drawing/2014/main" val="20004"/>
                    </a:ext>
                  </a:extLst>
                </a:gridCol>
                <a:gridCol w="516254">
                  <a:extLst>
                    <a:ext uri="{9D8B030D-6E8A-4147-A177-3AD203B41FA5}">
                      <a16:colId xmlns:a16="http://schemas.microsoft.com/office/drawing/2014/main" val="20005"/>
                    </a:ext>
                  </a:extLst>
                </a:gridCol>
                <a:gridCol w="555625">
                  <a:extLst>
                    <a:ext uri="{9D8B030D-6E8A-4147-A177-3AD203B41FA5}">
                      <a16:colId xmlns:a16="http://schemas.microsoft.com/office/drawing/2014/main" val="20006"/>
                    </a:ext>
                  </a:extLst>
                </a:gridCol>
              </a:tblGrid>
              <a:tr h="179705">
                <a:tc rowSpan="2">
                  <a:txBody>
                    <a:bodyPr/>
                    <a:lstStyle/>
                    <a:p>
                      <a:pPr marL="265430">
                        <a:lnSpc>
                          <a:spcPct val="100000"/>
                        </a:lnSpc>
                        <a:spcBef>
                          <a:spcPts val="870"/>
                        </a:spcBef>
                      </a:pPr>
                      <a:r>
                        <a:rPr sz="900" b="1" spc="-5" dirty="0">
                          <a:latin typeface="Arial"/>
                          <a:cs typeface="Arial"/>
                        </a:rPr>
                        <a:t>Characteristics</a:t>
                      </a:r>
                      <a:endParaRPr sz="900" dirty="0">
                        <a:latin typeface="Arial"/>
                        <a:cs typeface="Arial"/>
                      </a:endParaRPr>
                    </a:p>
                  </a:txBody>
                  <a:tcPr marL="0" marR="0" marT="110490" marB="0">
                    <a:lnR w="3175">
                      <a:solidFill>
                        <a:srgbClr val="000000"/>
                      </a:solidFill>
                      <a:prstDash val="solid"/>
                    </a:lnR>
                    <a:lnT w="12700">
                      <a:solidFill>
                        <a:srgbClr val="A6A6A6"/>
                      </a:solidFill>
                      <a:prstDash val="solid"/>
                    </a:lnT>
                    <a:lnB w="3175">
                      <a:solidFill>
                        <a:srgbClr val="000000"/>
                      </a:solidFill>
                      <a:prstDash val="solid"/>
                    </a:lnB>
                    <a:solidFill>
                      <a:srgbClr val="F1F1F1"/>
                    </a:solidFill>
                  </a:tcPr>
                </a:tc>
                <a:tc rowSpan="2">
                  <a:txBody>
                    <a:bodyPr/>
                    <a:lstStyle/>
                    <a:p>
                      <a:pPr marL="158750">
                        <a:lnSpc>
                          <a:spcPct val="100000"/>
                        </a:lnSpc>
                        <a:spcBef>
                          <a:spcPts val="870"/>
                        </a:spcBef>
                      </a:pPr>
                      <a:r>
                        <a:rPr sz="900" b="1" spc="-10" dirty="0">
                          <a:latin typeface="Arial"/>
                          <a:cs typeface="Arial"/>
                        </a:rPr>
                        <a:t>Symbol</a:t>
                      </a:r>
                      <a:endParaRPr sz="900" dirty="0">
                        <a:latin typeface="Arial"/>
                        <a:cs typeface="Arial"/>
                      </a:endParaRPr>
                    </a:p>
                  </a:txBody>
                  <a:tcPr marL="0" marR="0" marT="110490" marB="0">
                    <a:lnL w="3175">
                      <a:solidFill>
                        <a:srgbClr val="000000"/>
                      </a:solidFill>
                      <a:prstDash val="solid"/>
                    </a:lnL>
                    <a:lnR w="3175">
                      <a:solidFill>
                        <a:srgbClr val="000000"/>
                      </a:solidFill>
                      <a:prstDash val="solid"/>
                    </a:lnR>
                    <a:lnT w="12700">
                      <a:solidFill>
                        <a:srgbClr val="A6A6A6"/>
                      </a:solidFill>
                      <a:prstDash val="solid"/>
                    </a:lnT>
                    <a:lnB w="3175">
                      <a:solidFill>
                        <a:srgbClr val="000000"/>
                      </a:solidFill>
                      <a:prstDash val="solid"/>
                    </a:lnB>
                    <a:solidFill>
                      <a:srgbClr val="F1F1F1"/>
                    </a:solidFill>
                  </a:tcPr>
                </a:tc>
                <a:tc rowSpan="2">
                  <a:txBody>
                    <a:bodyPr/>
                    <a:lstStyle/>
                    <a:p>
                      <a:pPr marL="1270" algn="ctr">
                        <a:lnSpc>
                          <a:spcPct val="100000"/>
                        </a:lnSpc>
                        <a:spcBef>
                          <a:spcPts val="870"/>
                        </a:spcBef>
                      </a:pPr>
                      <a:r>
                        <a:rPr sz="900" b="1" dirty="0">
                          <a:latin typeface="Arial"/>
                          <a:cs typeface="Arial"/>
                        </a:rPr>
                        <a:t>Condition</a:t>
                      </a:r>
                      <a:endParaRPr sz="900" dirty="0">
                        <a:latin typeface="Arial"/>
                        <a:cs typeface="Arial"/>
                      </a:endParaRPr>
                    </a:p>
                  </a:txBody>
                  <a:tcPr marL="0" marR="0" marT="110490" marB="0">
                    <a:lnL w="3175">
                      <a:solidFill>
                        <a:srgbClr val="000000"/>
                      </a:solidFill>
                      <a:prstDash val="solid"/>
                    </a:lnL>
                    <a:lnR w="3175">
                      <a:solidFill>
                        <a:srgbClr val="000000"/>
                      </a:solidFill>
                      <a:prstDash val="solid"/>
                    </a:lnR>
                    <a:lnT w="12700">
                      <a:solidFill>
                        <a:srgbClr val="A6A6A6"/>
                      </a:solidFill>
                      <a:prstDash val="solid"/>
                    </a:lnT>
                    <a:lnB w="3175">
                      <a:solidFill>
                        <a:srgbClr val="000000"/>
                      </a:solidFill>
                      <a:prstDash val="solid"/>
                    </a:lnB>
                    <a:solidFill>
                      <a:srgbClr val="F1F1F1"/>
                    </a:solidFill>
                  </a:tcPr>
                </a:tc>
                <a:tc gridSpan="3">
                  <a:txBody>
                    <a:bodyPr/>
                    <a:lstStyle/>
                    <a:p>
                      <a:pPr marL="1905" algn="ctr">
                        <a:lnSpc>
                          <a:spcPct val="100000"/>
                        </a:lnSpc>
                        <a:spcBef>
                          <a:spcPts val="155"/>
                        </a:spcBef>
                      </a:pPr>
                      <a:r>
                        <a:rPr sz="900" b="1" dirty="0">
                          <a:latin typeface="Arial"/>
                          <a:cs typeface="Arial"/>
                        </a:rPr>
                        <a:t>Value</a:t>
                      </a:r>
                      <a:endParaRPr sz="900" dirty="0">
                        <a:latin typeface="Arial"/>
                        <a:cs typeface="Arial"/>
                      </a:endParaRPr>
                    </a:p>
                  </a:txBody>
                  <a:tcPr marL="0" marR="0" marT="19685" marB="0">
                    <a:lnL w="3175">
                      <a:solidFill>
                        <a:srgbClr val="000000"/>
                      </a:solidFill>
                      <a:prstDash val="solid"/>
                    </a:lnL>
                    <a:lnR w="3175">
                      <a:solidFill>
                        <a:srgbClr val="000000"/>
                      </a:solidFill>
                      <a:prstDash val="solid"/>
                    </a:lnR>
                    <a:lnT w="12700">
                      <a:solidFill>
                        <a:srgbClr val="A6A6A6"/>
                      </a:solidFill>
                      <a:prstDash val="solid"/>
                    </a:lnT>
                    <a:lnB w="3175">
                      <a:solidFill>
                        <a:srgbClr val="000000"/>
                      </a:solidFill>
                      <a:prstDash val="solid"/>
                    </a:lnB>
                    <a:solidFill>
                      <a:srgbClr val="F1F1F1"/>
                    </a:solidFill>
                  </a:tcPr>
                </a:tc>
                <a:tc hMerge="1">
                  <a:txBody>
                    <a:bodyPr/>
                    <a:lstStyle/>
                    <a:p>
                      <a:endParaRPr/>
                    </a:p>
                  </a:txBody>
                  <a:tcPr marL="0" marR="0" marT="0" marB="0"/>
                </a:tc>
                <a:tc hMerge="1">
                  <a:txBody>
                    <a:bodyPr/>
                    <a:lstStyle/>
                    <a:p>
                      <a:endParaRPr/>
                    </a:p>
                  </a:txBody>
                  <a:tcPr marL="0" marR="0" marT="0" marB="0"/>
                </a:tc>
                <a:tc rowSpan="2">
                  <a:txBody>
                    <a:bodyPr/>
                    <a:lstStyle/>
                    <a:p>
                      <a:pPr marL="163195">
                        <a:lnSpc>
                          <a:spcPct val="100000"/>
                        </a:lnSpc>
                        <a:spcBef>
                          <a:spcPts val="870"/>
                        </a:spcBef>
                      </a:pPr>
                      <a:r>
                        <a:rPr sz="900" b="1" dirty="0">
                          <a:latin typeface="Arial"/>
                          <a:cs typeface="Arial"/>
                        </a:rPr>
                        <a:t>Unit</a:t>
                      </a:r>
                      <a:endParaRPr sz="900" dirty="0">
                        <a:latin typeface="Arial"/>
                        <a:cs typeface="Arial"/>
                      </a:endParaRPr>
                    </a:p>
                  </a:txBody>
                  <a:tcPr marL="0" marR="0" marT="110490" marB="0">
                    <a:lnL w="3175">
                      <a:solidFill>
                        <a:srgbClr val="000000"/>
                      </a:solidFill>
                      <a:prstDash val="solid"/>
                    </a:lnL>
                    <a:lnT w="12700">
                      <a:solidFill>
                        <a:srgbClr val="A6A6A6"/>
                      </a:solidFill>
                      <a:prstDash val="solid"/>
                    </a:lnT>
                    <a:lnB w="3175">
                      <a:solidFill>
                        <a:srgbClr val="000000"/>
                      </a:solidFill>
                      <a:prstDash val="solid"/>
                    </a:lnB>
                    <a:solidFill>
                      <a:srgbClr val="F1F1F1"/>
                    </a:solidFill>
                  </a:tcPr>
                </a:tc>
                <a:extLst>
                  <a:ext uri="{0D108BD9-81ED-4DB2-BD59-A6C34878D82A}">
                    <a16:rowId xmlns:a16="http://schemas.microsoft.com/office/drawing/2014/main" val="10000"/>
                  </a:ext>
                </a:extLst>
              </a:tr>
              <a:tr h="179705">
                <a:tc vMerge="1">
                  <a:txBody>
                    <a:bodyPr/>
                    <a:lstStyle/>
                    <a:p>
                      <a:endParaRPr/>
                    </a:p>
                  </a:txBody>
                  <a:tcPr marL="0" marR="0" marT="110490" marB="0">
                    <a:lnR w="3175">
                      <a:solidFill>
                        <a:srgbClr val="000000"/>
                      </a:solidFill>
                      <a:prstDash val="solid"/>
                    </a:lnR>
                    <a:lnT w="12700">
                      <a:solidFill>
                        <a:srgbClr val="A6A6A6"/>
                      </a:solidFill>
                      <a:prstDash val="solid"/>
                    </a:lnT>
                    <a:lnB w="3175">
                      <a:solidFill>
                        <a:srgbClr val="000000"/>
                      </a:solidFill>
                      <a:prstDash val="solid"/>
                    </a:lnB>
                    <a:solidFill>
                      <a:srgbClr val="F1F1F1"/>
                    </a:solidFill>
                  </a:tcPr>
                </a:tc>
                <a:tc vMerge="1">
                  <a:txBody>
                    <a:bodyPr/>
                    <a:lstStyle/>
                    <a:p>
                      <a:endParaRPr/>
                    </a:p>
                  </a:txBody>
                  <a:tcPr marL="0" marR="0" marT="110490" marB="0">
                    <a:lnL w="3175">
                      <a:solidFill>
                        <a:srgbClr val="000000"/>
                      </a:solidFill>
                      <a:prstDash val="solid"/>
                    </a:lnL>
                    <a:lnR w="3175">
                      <a:solidFill>
                        <a:srgbClr val="000000"/>
                      </a:solidFill>
                      <a:prstDash val="solid"/>
                    </a:lnR>
                    <a:lnT w="12700">
                      <a:solidFill>
                        <a:srgbClr val="A6A6A6"/>
                      </a:solidFill>
                      <a:prstDash val="solid"/>
                    </a:lnT>
                    <a:lnB w="3175">
                      <a:solidFill>
                        <a:srgbClr val="000000"/>
                      </a:solidFill>
                      <a:prstDash val="solid"/>
                    </a:lnB>
                    <a:solidFill>
                      <a:srgbClr val="F1F1F1"/>
                    </a:solidFill>
                  </a:tcPr>
                </a:tc>
                <a:tc vMerge="1">
                  <a:txBody>
                    <a:bodyPr/>
                    <a:lstStyle/>
                    <a:p>
                      <a:endParaRPr/>
                    </a:p>
                  </a:txBody>
                  <a:tcPr marL="0" marR="0" marT="110490" marB="0">
                    <a:lnL w="3175">
                      <a:solidFill>
                        <a:srgbClr val="000000"/>
                      </a:solidFill>
                      <a:prstDash val="solid"/>
                    </a:lnL>
                    <a:lnR w="3175">
                      <a:solidFill>
                        <a:srgbClr val="000000"/>
                      </a:solidFill>
                      <a:prstDash val="solid"/>
                    </a:lnR>
                    <a:lnT w="12700">
                      <a:solidFill>
                        <a:srgbClr val="A6A6A6"/>
                      </a:solidFill>
                      <a:prstDash val="solid"/>
                    </a:lnT>
                    <a:lnB w="3175">
                      <a:solidFill>
                        <a:srgbClr val="000000"/>
                      </a:solidFill>
                      <a:prstDash val="solid"/>
                    </a:lnB>
                    <a:solidFill>
                      <a:srgbClr val="F1F1F1"/>
                    </a:solidFill>
                  </a:tcPr>
                </a:tc>
                <a:tc>
                  <a:txBody>
                    <a:bodyPr/>
                    <a:lstStyle/>
                    <a:p>
                      <a:pPr algn="ctr">
                        <a:lnSpc>
                          <a:spcPct val="100000"/>
                        </a:lnSpc>
                        <a:spcBef>
                          <a:spcPts val="160"/>
                        </a:spcBef>
                      </a:pPr>
                      <a:r>
                        <a:rPr sz="900" b="1" dirty="0">
                          <a:latin typeface="Arial"/>
                          <a:cs typeface="Arial"/>
                        </a:rPr>
                        <a:t>min</a:t>
                      </a:r>
                      <a:endParaRPr sz="900" dirty="0">
                        <a:latin typeface="Arial"/>
                        <a:cs typeface="Arial"/>
                      </a:endParaRPr>
                    </a:p>
                  </a:txBody>
                  <a:tcPr marL="0" marR="0" marT="2032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solidFill>
                      <a:srgbClr val="F1F1F1"/>
                    </a:solidFill>
                  </a:tcPr>
                </a:tc>
                <a:tc>
                  <a:txBody>
                    <a:bodyPr/>
                    <a:lstStyle/>
                    <a:p>
                      <a:pPr marL="635" algn="ctr">
                        <a:lnSpc>
                          <a:spcPct val="100000"/>
                        </a:lnSpc>
                        <a:spcBef>
                          <a:spcPts val="160"/>
                        </a:spcBef>
                      </a:pPr>
                      <a:r>
                        <a:rPr sz="900" b="1" spc="-15" dirty="0">
                          <a:latin typeface="Arial"/>
                          <a:cs typeface="Arial"/>
                        </a:rPr>
                        <a:t>typ</a:t>
                      </a:r>
                      <a:endParaRPr sz="900" dirty="0">
                        <a:latin typeface="Arial"/>
                        <a:cs typeface="Arial"/>
                      </a:endParaRPr>
                    </a:p>
                  </a:txBody>
                  <a:tcPr marL="0" marR="0" marT="2032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solidFill>
                      <a:srgbClr val="F1F1F1"/>
                    </a:solidFill>
                  </a:tcPr>
                </a:tc>
                <a:tc>
                  <a:txBody>
                    <a:bodyPr/>
                    <a:lstStyle/>
                    <a:p>
                      <a:pPr marL="2540" algn="ctr">
                        <a:lnSpc>
                          <a:spcPct val="100000"/>
                        </a:lnSpc>
                        <a:spcBef>
                          <a:spcPts val="160"/>
                        </a:spcBef>
                      </a:pPr>
                      <a:r>
                        <a:rPr sz="900" b="1" spc="-5" dirty="0">
                          <a:latin typeface="Arial"/>
                          <a:cs typeface="Arial"/>
                        </a:rPr>
                        <a:t>max</a:t>
                      </a:r>
                      <a:endParaRPr sz="900" dirty="0">
                        <a:latin typeface="Arial"/>
                        <a:cs typeface="Arial"/>
                      </a:endParaRPr>
                    </a:p>
                  </a:txBody>
                  <a:tcPr marL="0" marR="0" marT="2032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solidFill>
                      <a:srgbClr val="F1F1F1"/>
                    </a:solidFill>
                  </a:tcPr>
                </a:tc>
                <a:tc vMerge="1">
                  <a:txBody>
                    <a:bodyPr/>
                    <a:lstStyle/>
                    <a:p>
                      <a:endParaRPr/>
                    </a:p>
                  </a:txBody>
                  <a:tcPr marL="0" marR="0" marT="110490" marB="0">
                    <a:lnL w="3175">
                      <a:solidFill>
                        <a:srgbClr val="000000"/>
                      </a:solidFill>
                      <a:prstDash val="solid"/>
                    </a:lnL>
                    <a:lnT w="12700">
                      <a:solidFill>
                        <a:srgbClr val="A6A6A6"/>
                      </a:solidFill>
                      <a:prstDash val="solid"/>
                    </a:lnT>
                    <a:lnB w="3175">
                      <a:solidFill>
                        <a:srgbClr val="000000"/>
                      </a:solidFill>
                      <a:prstDash val="solid"/>
                    </a:lnB>
                    <a:solidFill>
                      <a:srgbClr val="F1F1F1"/>
                    </a:solidFill>
                  </a:tcPr>
                </a:tc>
                <a:extLst>
                  <a:ext uri="{0D108BD9-81ED-4DB2-BD59-A6C34878D82A}">
                    <a16:rowId xmlns:a16="http://schemas.microsoft.com/office/drawing/2014/main" val="10001"/>
                  </a:ext>
                </a:extLst>
              </a:tr>
              <a:tr h="215900">
                <a:tc gridSpan="7">
                  <a:txBody>
                    <a:bodyPr/>
                    <a:lstStyle/>
                    <a:p>
                      <a:pPr marL="9525">
                        <a:lnSpc>
                          <a:spcPts val="1025"/>
                        </a:lnSpc>
                        <a:spcBef>
                          <a:spcPts val="575"/>
                        </a:spcBef>
                      </a:pPr>
                      <a:r>
                        <a:rPr sz="900" dirty="0">
                          <a:latin typeface="Arial"/>
                          <a:cs typeface="Arial"/>
                        </a:rPr>
                        <a:t>Static</a:t>
                      </a:r>
                      <a:r>
                        <a:rPr sz="900" spc="-55" dirty="0">
                          <a:latin typeface="Arial"/>
                          <a:cs typeface="Arial"/>
                        </a:rPr>
                        <a:t> </a:t>
                      </a:r>
                      <a:r>
                        <a:rPr sz="900" dirty="0">
                          <a:latin typeface="Arial"/>
                          <a:cs typeface="Arial"/>
                        </a:rPr>
                        <a:t>performance</a:t>
                      </a:r>
                    </a:p>
                  </a:txBody>
                  <a:tcPr marL="0" marR="0" marT="73025" marB="0">
                    <a:lnT w="3175">
                      <a:solidFill>
                        <a:srgbClr val="000000"/>
                      </a:solidFill>
                      <a:prstDash val="solid"/>
                    </a:lnT>
                    <a:lnB w="3175">
                      <a:solidFill>
                        <a:srgbClr val="000000"/>
                      </a:solidFill>
                      <a:prstDash val="solid"/>
                    </a:lnB>
                  </a:tcPr>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2"/>
                  </a:ext>
                </a:extLst>
              </a:tr>
              <a:tr h="278130">
                <a:tc>
                  <a:txBody>
                    <a:bodyPr/>
                    <a:lstStyle/>
                    <a:p>
                      <a:pPr>
                        <a:lnSpc>
                          <a:spcPct val="100000"/>
                        </a:lnSpc>
                        <a:spcBef>
                          <a:spcPts val="545"/>
                        </a:spcBef>
                      </a:pPr>
                      <a:r>
                        <a:rPr sz="900" dirty="0">
                          <a:latin typeface="Arial"/>
                          <a:cs typeface="Arial"/>
                        </a:rPr>
                        <a:t>Resolution</a:t>
                      </a:r>
                    </a:p>
                  </a:txBody>
                  <a:tcPr marL="0" marR="0" marT="69215" marB="0">
                    <a:lnR w="3175">
                      <a:solidFill>
                        <a:srgbClr val="000000"/>
                      </a:solidFill>
                      <a:prstDash val="solid"/>
                    </a:lnR>
                    <a:lnT w="3175">
                      <a:solidFill>
                        <a:srgbClr val="000000"/>
                      </a:solidFill>
                      <a:prstDash val="solid"/>
                    </a:lnT>
                    <a:lnB w="3175">
                      <a:solidFill>
                        <a:srgbClr val="000000"/>
                      </a:solidFill>
                      <a:prstDash val="solid"/>
                    </a:lnB>
                  </a:tcPr>
                </a:tc>
                <a:tc>
                  <a:txBody>
                    <a:bodyPr/>
                    <a:lstStyle/>
                    <a:p>
                      <a:pPr>
                        <a:lnSpc>
                          <a:spcPct val="100000"/>
                        </a:lnSpc>
                      </a:pPr>
                      <a:endParaRPr sz="900" dirty="0">
                        <a:latin typeface="Times New Roman"/>
                        <a:cs typeface="Times New Roman"/>
                      </a:endParaRPr>
                    </a:p>
                  </a:txBody>
                  <a:tcPr marL="0" marR="0" marT="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nSpc>
                          <a:spcPct val="100000"/>
                        </a:lnSpc>
                      </a:pPr>
                      <a:endParaRPr sz="900" dirty="0">
                        <a:latin typeface="Times New Roman"/>
                        <a:cs typeface="Times New Roman"/>
                      </a:endParaRPr>
                    </a:p>
                  </a:txBody>
                  <a:tcPr marL="0" marR="0" marT="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nSpc>
                          <a:spcPct val="100000"/>
                        </a:lnSpc>
                      </a:pPr>
                      <a:endParaRPr sz="900" dirty="0">
                        <a:latin typeface="Times New Roman"/>
                        <a:cs typeface="Times New Roman"/>
                      </a:endParaRPr>
                    </a:p>
                  </a:txBody>
                  <a:tcPr marL="0" marR="0" marT="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gn="ctr">
                        <a:lnSpc>
                          <a:spcPct val="100000"/>
                        </a:lnSpc>
                        <a:spcBef>
                          <a:spcPts val="545"/>
                        </a:spcBef>
                      </a:pPr>
                      <a:r>
                        <a:rPr sz="900" spc="-5" dirty="0">
                          <a:latin typeface="Arial"/>
                          <a:cs typeface="Arial"/>
                        </a:rPr>
                        <a:t>12</a:t>
                      </a:r>
                      <a:endParaRPr sz="900" dirty="0">
                        <a:latin typeface="Arial"/>
                        <a:cs typeface="Arial"/>
                      </a:endParaRPr>
                    </a:p>
                  </a:txBody>
                  <a:tcPr marL="0" marR="0" marT="69215"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nSpc>
                          <a:spcPct val="100000"/>
                        </a:lnSpc>
                      </a:pPr>
                      <a:endParaRPr sz="900" dirty="0">
                        <a:latin typeface="Times New Roman"/>
                        <a:cs typeface="Times New Roman"/>
                      </a:endParaRPr>
                    </a:p>
                  </a:txBody>
                  <a:tcPr marL="0" marR="0" marT="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R="217170" algn="r">
                        <a:lnSpc>
                          <a:spcPct val="100000"/>
                        </a:lnSpc>
                        <a:spcBef>
                          <a:spcPts val="545"/>
                        </a:spcBef>
                      </a:pPr>
                      <a:r>
                        <a:rPr sz="900" dirty="0">
                          <a:latin typeface="Arial"/>
                          <a:cs typeface="Arial"/>
                        </a:rPr>
                        <a:t>bit</a:t>
                      </a:r>
                    </a:p>
                  </a:txBody>
                  <a:tcPr marL="0" marR="0" marT="69215" marB="0">
                    <a:lnL w="3175">
                      <a:solidFill>
                        <a:srgbClr val="000000"/>
                      </a:solidFill>
                      <a:prstDash val="solid"/>
                    </a:lnL>
                    <a:lnT w="3175">
                      <a:solidFill>
                        <a:srgbClr val="000000"/>
                      </a:solidFill>
                      <a:prstDash val="solid"/>
                    </a:lnT>
                    <a:lnB w="3175">
                      <a:solidFill>
                        <a:srgbClr val="000000"/>
                      </a:solidFill>
                      <a:prstDash val="solid"/>
                    </a:lnB>
                  </a:tcPr>
                </a:tc>
                <a:extLst>
                  <a:ext uri="{0D108BD9-81ED-4DB2-BD59-A6C34878D82A}">
                    <a16:rowId xmlns:a16="http://schemas.microsoft.com/office/drawing/2014/main" val="10003"/>
                  </a:ext>
                </a:extLst>
              </a:tr>
              <a:tr h="278130">
                <a:tc>
                  <a:txBody>
                    <a:bodyPr/>
                    <a:lstStyle/>
                    <a:p>
                      <a:pPr>
                        <a:lnSpc>
                          <a:spcPct val="100000"/>
                        </a:lnSpc>
                        <a:spcBef>
                          <a:spcPts val="550"/>
                        </a:spcBef>
                      </a:pPr>
                      <a:r>
                        <a:rPr sz="900" dirty="0">
                          <a:latin typeface="Arial"/>
                          <a:cs typeface="Arial"/>
                        </a:rPr>
                        <a:t>Monotonicity</a:t>
                      </a:r>
                    </a:p>
                  </a:txBody>
                  <a:tcPr marL="0" marR="0" marT="69850" marB="0">
                    <a:lnR w="3175">
                      <a:solidFill>
                        <a:srgbClr val="000000"/>
                      </a:solidFill>
                      <a:prstDash val="solid"/>
                    </a:lnR>
                    <a:lnT w="3175">
                      <a:solidFill>
                        <a:srgbClr val="000000"/>
                      </a:solidFill>
                      <a:prstDash val="solid"/>
                    </a:lnT>
                    <a:lnB w="3175">
                      <a:solidFill>
                        <a:srgbClr val="000000"/>
                      </a:solidFill>
                      <a:prstDash val="solid"/>
                    </a:lnB>
                  </a:tcPr>
                </a:tc>
                <a:tc>
                  <a:txBody>
                    <a:bodyPr/>
                    <a:lstStyle/>
                    <a:p>
                      <a:pPr>
                        <a:lnSpc>
                          <a:spcPct val="100000"/>
                        </a:lnSpc>
                      </a:pPr>
                      <a:endParaRPr sz="900" dirty="0">
                        <a:latin typeface="Times New Roman"/>
                        <a:cs typeface="Times New Roman"/>
                      </a:endParaRPr>
                    </a:p>
                  </a:txBody>
                  <a:tcPr marL="0" marR="0" marT="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nSpc>
                          <a:spcPct val="100000"/>
                        </a:lnSpc>
                      </a:pPr>
                      <a:endParaRPr sz="900" dirty="0">
                        <a:latin typeface="Times New Roman"/>
                        <a:cs typeface="Times New Roman"/>
                      </a:endParaRPr>
                    </a:p>
                  </a:txBody>
                  <a:tcPr marL="0" marR="0" marT="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nSpc>
                          <a:spcPct val="100000"/>
                        </a:lnSpc>
                      </a:pPr>
                      <a:endParaRPr sz="900" dirty="0">
                        <a:latin typeface="Times New Roman"/>
                        <a:cs typeface="Times New Roman"/>
                      </a:endParaRPr>
                    </a:p>
                  </a:txBody>
                  <a:tcPr marL="0" marR="0" marT="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gn="ctr">
                        <a:lnSpc>
                          <a:spcPct val="100000"/>
                        </a:lnSpc>
                        <a:spcBef>
                          <a:spcPts val="550"/>
                        </a:spcBef>
                      </a:pPr>
                      <a:r>
                        <a:rPr sz="900" spc="-5" dirty="0">
                          <a:latin typeface="Arial"/>
                          <a:cs typeface="Arial"/>
                        </a:rPr>
                        <a:t>12</a:t>
                      </a:r>
                      <a:endParaRPr sz="900" dirty="0">
                        <a:latin typeface="Arial"/>
                        <a:cs typeface="Arial"/>
                      </a:endParaRPr>
                    </a:p>
                  </a:txBody>
                  <a:tcPr marL="0" marR="0" marT="6985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nSpc>
                          <a:spcPct val="100000"/>
                        </a:lnSpc>
                      </a:pPr>
                      <a:endParaRPr sz="900" dirty="0">
                        <a:latin typeface="Times New Roman"/>
                        <a:cs typeface="Times New Roman"/>
                      </a:endParaRPr>
                    </a:p>
                  </a:txBody>
                  <a:tcPr marL="0" marR="0" marT="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R="211454" algn="r">
                        <a:lnSpc>
                          <a:spcPct val="100000"/>
                        </a:lnSpc>
                        <a:spcBef>
                          <a:spcPts val="550"/>
                        </a:spcBef>
                      </a:pPr>
                      <a:r>
                        <a:rPr sz="900" dirty="0">
                          <a:latin typeface="Arial"/>
                          <a:cs typeface="Arial"/>
                        </a:rPr>
                        <a:t>Bit</a:t>
                      </a:r>
                    </a:p>
                  </a:txBody>
                  <a:tcPr marL="0" marR="0" marT="69850" marB="0">
                    <a:lnL w="3175">
                      <a:solidFill>
                        <a:srgbClr val="000000"/>
                      </a:solidFill>
                      <a:prstDash val="solid"/>
                    </a:lnL>
                    <a:lnT w="3175">
                      <a:solidFill>
                        <a:srgbClr val="000000"/>
                      </a:solidFill>
                      <a:prstDash val="solid"/>
                    </a:lnT>
                    <a:lnB w="3175">
                      <a:solidFill>
                        <a:srgbClr val="000000"/>
                      </a:solidFill>
                      <a:prstDash val="solid"/>
                    </a:lnB>
                  </a:tcPr>
                </a:tc>
                <a:extLst>
                  <a:ext uri="{0D108BD9-81ED-4DB2-BD59-A6C34878D82A}">
                    <a16:rowId xmlns:a16="http://schemas.microsoft.com/office/drawing/2014/main" val="10004"/>
                  </a:ext>
                </a:extLst>
              </a:tr>
              <a:tr h="278130">
                <a:tc>
                  <a:txBody>
                    <a:bodyPr/>
                    <a:lstStyle/>
                    <a:p>
                      <a:pPr>
                        <a:lnSpc>
                          <a:spcPct val="100000"/>
                        </a:lnSpc>
                        <a:spcBef>
                          <a:spcPts val="550"/>
                        </a:spcBef>
                      </a:pPr>
                      <a:r>
                        <a:rPr sz="900" dirty="0">
                          <a:latin typeface="Arial"/>
                          <a:cs typeface="Arial"/>
                        </a:rPr>
                        <a:t>Integral</a:t>
                      </a:r>
                      <a:r>
                        <a:rPr sz="900" spc="-45" dirty="0">
                          <a:latin typeface="Arial"/>
                          <a:cs typeface="Arial"/>
                        </a:rPr>
                        <a:t> </a:t>
                      </a:r>
                      <a:r>
                        <a:rPr sz="900" dirty="0">
                          <a:latin typeface="Arial"/>
                          <a:cs typeface="Arial"/>
                        </a:rPr>
                        <a:t>nonlinearity</a:t>
                      </a:r>
                    </a:p>
                  </a:txBody>
                  <a:tcPr marL="0" marR="0" marT="69850" marB="0">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R="635" algn="ctr">
                        <a:lnSpc>
                          <a:spcPct val="100000"/>
                        </a:lnSpc>
                        <a:spcBef>
                          <a:spcPts val="550"/>
                        </a:spcBef>
                      </a:pPr>
                      <a:r>
                        <a:rPr sz="900" dirty="0">
                          <a:latin typeface="Arial"/>
                          <a:cs typeface="Arial"/>
                        </a:rPr>
                        <a:t>INL</a:t>
                      </a:r>
                    </a:p>
                  </a:txBody>
                  <a:tcPr marL="0" marR="0" marT="6985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nSpc>
                          <a:spcPct val="100000"/>
                        </a:lnSpc>
                      </a:pPr>
                      <a:endParaRPr sz="900" dirty="0">
                        <a:latin typeface="Times New Roman"/>
                        <a:cs typeface="Times New Roman"/>
                      </a:endParaRPr>
                    </a:p>
                  </a:txBody>
                  <a:tcPr marL="0" marR="0" marT="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R="1905" algn="ctr">
                        <a:lnSpc>
                          <a:spcPct val="100000"/>
                        </a:lnSpc>
                        <a:spcBef>
                          <a:spcPts val="550"/>
                        </a:spcBef>
                      </a:pPr>
                      <a:r>
                        <a:rPr sz="900" dirty="0">
                          <a:latin typeface="Arial"/>
                          <a:cs typeface="Arial"/>
                        </a:rPr>
                        <a:t>0</a:t>
                      </a:r>
                    </a:p>
                  </a:txBody>
                  <a:tcPr marL="0" marR="0" marT="6985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L="1905" algn="ctr">
                        <a:lnSpc>
                          <a:spcPct val="100000"/>
                        </a:lnSpc>
                        <a:spcBef>
                          <a:spcPts val="545"/>
                        </a:spcBef>
                      </a:pPr>
                      <a:r>
                        <a:rPr sz="900" spc="-10" dirty="0">
                          <a:latin typeface="굴림"/>
                          <a:cs typeface="굴림"/>
                        </a:rPr>
                        <a:t>±</a:t>
                      </a:r>
                      <a:r>
                        <a:rPr sz="900" spc="-10" dirty="0">
                          <a:latin typeface="Arial"/>
                          <a:cs typeface="Arial"/>
                        </a:rPr>
                        <a:t>2</a:t>
                      </a:r>
                      <a:endParaRPr sz="900" dirty="0">
                        <a:latin typeface="Arial"/>
                        <a:cs typeface="Arial"/>
                      </a:endParaRPr>
                    </a:p>
                  </a:txBody>
                  <a:tcPr marL="0" marR="0" marT="69215"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L="635" algn="ctr">
                        <a:lnSpc>
                          <a:spcPct val="100000"/>
                        </a:lnSpc>
                        <a:spcBef>
                          <a:spcPts val="545"/>
                        </a:spcBef>
                      </a:pPr>
                      <a:r>
                        <a:rPr sz="900" spc="-10" dirty="0">
                          <a:latin typeface="굴림"/>
                          <a:cs typeface="굴림"/>
                        </a:rPr>
                        <a:t>±</a:t>
                      </a:r>
                      <a:r>
                        <a:rPr sz="900" spc="-10" dirty="0">
                          <a:latin typeface="Arial"/>
                          <a:cs typeface="Arial"/>
                        </a:rPr>
                        <a:t>4</a:t>
                      </a:r>
                      <a:endParaRPr sz="900" dirty="0">
                        <a:latin typeface="Arial"/>
                        <a:cs typeface="Arial"/>
                      </a:endParaRPr>
                    </a:p>
                  </a:txBody>
                  <a:tcPr marL="0" marR="0" marT="69215"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R="170180" algn="r">
                        <a:lnSpc>
                          <a:spcPct val="100000"/>
                        </a:lnSpc>
                        <a:spcBef>
                          <a:spcPts val="550"/>
                        </a:spcBef>
                      </a:pPr>
                      <a:r>
                        <a:rPr sz="900" dirty="0">
                          <a:latin typeface="Arial"/>
                          <a:cs typeface="Arial"/>
                        </a:rPr>
                        <a:t>LSB</a:t>
                      </a:r>
                    </a:p>
                  </a:txBody>
                  <a:tcPr marL="0" marR="0" marT="69850" marB="0">
                    <a:lnL w="3175">
                      <a:solidFill>
                        <a:srgbClr val="000000"/>
                      </a:solidFill>
                      <a:prstDash val="solid"/>
                    </a:lnL>
                    <a:lnT w="3175">
                      <a:solidFill>
                        <a:srgbClr val="000000"/>
                      </a:solidFill>
                      <a:prstDash val="solid"/>
                    </a:lnT>
                    <a:lnB w="3175">
                      <a:solidFill>
                        <a:srgbClr val="000000"/>
                      </a:solidFill>
                      <a:prstDash val="solid"/>
                    </a:lnB>
                  </a:tcPr>
                </a:tc>
                <a:extLst>
                  <a:ext uri="{0D108BD9-81ED-4DB2-BD59-A6C34878D82A}">
                    <a16:rowId xmlns:a16="http://schemas.microsoft.com/office/drawing/2014/main" val="10005"/>
                  </a:ext>
                </a:extLst>
              </a:tr>
              <a:tr h="278130">
                <a:tc>
                  <a:txBody>
                    <a:bodyPr/>
                    <a:lstStyle/>
                    <a:p>
                      <a:pPr>
                        <a:lnSpc>
                          <a:spcPct val="100000"/>
                        </a:lnSpc>
                        <a:spcBef>
                          <a:spcPts val="550"/>
                        </a:spcBef>
                      </a:pPr>
                      <a:r>
                        <a:rPr sz="900" dirty="0">
                          <a:latin typeface="Arial"/>
                          <a:cs typeface="Arial"/>
                        </a:rPr>
                        <a:t>Differential</a:t>
                      </a:r>
                      <a:r>
                        <a:rPr sz="900" spc="-45" dirty="0">
                          <a:latin typeface="Arial"/>
                          <a:cs typeface="Arial"/>
                        </a:rPr>
                        <a:t> </a:t>
                      </a:r>
                      <a:r>
                        <a:rPr sz="900" spc="-5" dirty="0">
                          <a:latin typeface="Arial"/>
                          <a:cs typeface="Arial"/>
                        </a:rPr>
                        <a:t>nonlinearity</a:t>
                      </a:r>
                      <a:endParaRPr sz="900" dirty="0">
                        <a:latin typeface="Arial"/>
                        <a:cs typeface="Arial"/>
                      </a:endParaRPr>
                    </a:p>
                  </a:txBody>
                  <a:tcPr marL="0" marR="0" marT="69850" marB="0">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R="2540" algn="ctr">
                        <a:lnSpc>
                          <a:spcPct val="100000"/>
                        </a:lnSpc>
                        <a:spcBef>
                          <a:spcPts val="550"/>
                        </a:spcBef>
                      </a:pPr>
                      <a:r>
                        <a:rPr sz="900" spc="-10" dirty="0">
                          <a:latin typeface="Arial"/>
                          <a:cs typeface="Arial"/>
                        </a:rPr>
                        <a:t>DNL</a:t>
                      </a:r>
                      <a:endParaRPr sz="900" dirty="0">
                        <a:latin typeface="Arial"/>
                        <a:cs typeface="Arial"/>
                      </a:endParaRPr>
                    </a:p>
                  </a:txBody>
                  <a:tcPr marL="0" marR="0" marT="6985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nSpc>
                          <a:spcPct val="100000"/>
                        </a:lnSpc>
                      </a:pPr>
                      <a:endParaRPr sz="900" dirty="0">
                        <a:latin typeface="Times New Roman"/>
                        <a:cs typeface="Times New Roman"/>
                      </a:endParaRPr>
                    </a:p>
                  </a:txBody>
                  <a:tcPr marL="0" marR="0" marT="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nSpc>
                          <a:spcPct val="100000"/>
                        </a:lnSpc>
                      </a:pPr>
                      <a:endParaRPr sz="900" dirty="0">
                        <a:latin typeface="Times New Roman"/>
                        <a:cs typeface="Times New Roman"/>
                      </a:endParaRPr>
                    </a:p>
                  </a:txBody>
                  <a:tcPr marL="0" marR="0" marT="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R="1270" algn="ctr">
                        <a:lnSpc>
                          <a:spcPct val="100000"/>
                        </a:lnSpc>
                        <a:spcBef>
                          <a:spcPts val="550"/>
                        </a:spcBef>
                      </a:pPr>
                      <a:r>
                        <a:rPr sz="900" spc="-5" dirty="0">
                          <a:latin typeface="굴림"/>
                          <a:cs typeface="굴림"/>
                        </a:rPr>
                        <a:t>±</a:t>
                      </a:r>
                      <a:r>
                        <a:rPr sz="900" spc="-5" dirty="0">
                          <a:latin typeface="Arial"/>
                          <a:cs typeface="Arial"/>
                        </a:rPr>
                        <a:t>0.5</a:t>
                      </a:r>
                      <a:endParaRPr sz="900" dirty="0">
                        <a:latin typeface="Arial"/>
                        <a:cs typeface="Arial"/>
                      </a:endParaRPr>
                    </a:p>
                  </a:txBody>
                  <a:tcPr marL="0" marR="0" marT="6985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gn="ctr">
                        <a:lnSpc>
                          <a:spcPct val="100000"/>
                        </a:lnSpc>
                        <a:spcBef>
                          <a:spcPts val="550"/>
                        </a:spcBef>
                      </a:pPr>
                      <a:r>
                        <a:rPr sz="900" spc="-5" dirty="0">
                          <a:latin typeface="굴림"/>
                          <a:cs typeface="굴림"/>
                        </a:rPr>
                        <a:t>±</a:t>
                      </a:r>
                      <a:r>
                        <a:rPr sz="900" spc="-5" dirty="0">
                          <a:latin typeface="Arial"/>
                          <a:cs typeface="Arial"/>
                        </a:rPr>
                        <a:t>0.75</a:t>
                      </a:r>
                      <a:endParaRPr sz="900" dirty="0">
                        <a:latin typeface="Arial"/>
                        <a:cs typeface="Arial"/>
                      </a:endParaRPr>
                    </a:p>
                  </a:txBody>
                  <a:tcPr marL="0" marR="0" marT="6985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R="170180" algn="r">
                        <a:lnSpc>
                          <a:spcPct val="100000"/>
                        </a:lnSpc>
                        <a:spcBef>
                          <a:spcPts val="550"/>
                        </a:spcBef>
                      </a:pPr>
                      <a:r>
                        <a:rPr sz="900" dirty="0">
                          <a:latin typeface="Arial"/>
                          <a:cs typeface="Arial"/>
                        </a:rPr>
                        <a:t>LSB</a:t>
                      </a:r>
                    </a:p>
                  </a:txBody>
                  <a:tcPr marL="0" marR="0" marT="69850" marB="0">
                    <a:lnL w="3175">
                      <a:solidFill>
                        <a:srgbClr val="000000"/>
                      </a:solidFill>
                      <a:prstDash val="solid"/>
                    </a:lnL>
                    <a:lnT w="3175">
                      <a:solidFill>
                        <a:srgbClr val="000000"/>
                      </a:solidFill>
                      <a:prstDash val="solid"/>
                    </a:lnT>
                    <a:lnB w="3175">
                      <a:solidFill>
                        <a:srgbClr val="000000"/>
                      </a:solidFill>
                      <a:prstDash val="solid"/>
                    </a:lnB>
                  </a:tcPr>
                </a:tc>
                <a:extLst>
                  <a:ext uri="{0D108BD9-81ED-4DB2-BD59-A6C34878D82A}">
                    <a16:rowId xmlns:a16="http://schemas.microsoft.com/office/drawing/2014/main" val="10006"/>
                  </a:ext>
                </a:extLst>
              </a:tr>
              <a:tr h="278130">
                <a:tc>
                  <a:txBody>
                    <a:bodyPr/>
                    <a:lstStyle/>
                    <a:p>
                      <a:pPr>
                        <a:lnSpc>
                          <a:spcPct val="100000"/>
                        </a:lnSpc>
                        <a:spcBef>
                          <a:spcPts val="550"/>
                        </a:spcBef>
                      </a:pPr>
                      <a:r>
                        <a:rPr sz="900" dirty="0">
                          <a:latin typeface="Arial"/>
                          <a:cs typeface="Arial"/>
                        </a:rPr>
                        <a:t>Zero</a:t>
                      </a:r>
                      <a:r>
                        <a:rPr sz="900" spc="-30" dirty="0">
                          <a:latin typeface="Arial"/>
                          <a:cs typeface="Arial"/>
                        </a:rPr>
                        <a:t> </a:t>
                      </a:r>
                      <a:r>
                        <a:rPr sz="900" dirty="0">
                          <a:latin typeface="Arial"/>
                          <a:cs typeface="Arial"/>
                        </a:rPr>
                        <a:t>code</a:t>
                      </a:r>
                      <a:r>
                        <a:rPr sz="900" spc="-40" dirty="0">
                          <a:latin typeface="Arial"/>
                          <a:cs typeface="Arial"/>
                        </a:rPr>
                        <a:t> </a:t>
                      </a:r>
                      <a:r>
                        <a:rPr sz="900" dirty="0">
                          <a:latin typeface="Arial"/>
                          <a:cs typeface="Arial"/>
                        </a:rPr>
                        <a:t>error</a:t>
                      </a:r>
                    </a:p>
                  </a:txBody>
                  <a:tcPr marL="0" marR="0" marT="69850" marB="0">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R="1270" algn="ctr">
                        <a:lnSpc>
                          <a:spcPct val="100000"/>
                        </a:lnSpc>
                        <a:spcBef>
                          <a:spcPts val="550"/>
                        </a:spcBef>
                      </a:pPr>
                      <a:r>
                        <a:rPr sz="900" dirty="0">
                          <a:latin typeface="Arial"/>
                          <a:cs typeface="Arial"/>
                        </a:rPr>
                        <a:t>ZE</a:t>
                      </a:r>
                    </a:p>
                  </a:txBody>
                  <a:tcPr marL="0" marR="0" marT="6985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R="635" algn="ctr">
                        <a:lnSpc>
                          <a:spcPct val="100000"/>
                        </a:lnSpc>
                        <a:spcBef>
                          <a:spcPts val="550"/>
                        </a:spcBef>
                      </a:pPr>
                      <a:r>
                        <a:rPr sz="900" spc="-5" dirty="0">
                          <a:latin typeface="Arial"/>
                          <a:cs typeface="Arial"/>
                        </a:rPr>
                        <a:t>DIN</a:t>
                      </a:r>
                      <a:r>
                        <a:rPr sz="900" spc="-30" dirty="0">
                          <a:latin typeface="Arial"/>
                          <a:cs typeface="Arial"/>
                        </a:rPr>
                        <a:t> </a:t>
                      </a:r>
                      <a:r>
                        <a:rPr sz="900" dirty="0">
                          <a:latin typeface="Arial"/>
                          <a:cs typeface="Arial"/>
                        </a:rPr>
                        <a:t>=</a:t>
                      </a:r>
                      <a:r>
                        <a:rPr sz="900" spc="-25" dirty="0">
                          <a:latin typeface="Arial"/>
                          <a:cs typeface="Arial"/>
                        </a:rPr>
                        <a:t> </a:t>
                      </a:r>
                      <a:r>
                        <a:rPr sz="900" dirty="0">
                          <a:latin typeface="Arial"/>
                          <a:cs typeface="Arial"/>
                        </a:rPr>
                        <a:t>12’d</a:t>
                      </a:r>
                      <a:r>
                        <a:rPr sz="900" spc="-40" dirty="0">
                          <a:latin typeface="Arial"/>
                          <a:cs typeface="Arial"/>
                        </a:rPr>
                        <a:t> </a:t>
                      </a:r>
                      <a:r>
                        <a:rPr sz="900" dirty="0">
                          <a:latin typeface="Arial"/>
                          <a:cs typeface="Arial"/>
                        </a:rPr>
                        <a:t>0</a:t>
                      </a:r>
                    </a:p>
                  </a:txBody>
                  <a:tcPr marL="0" marR="0" marT="6985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nSpc>
                          <a:spcPct val="100000"/>
                        </a:lnSpc>
                      </a:pPr>
                      <a:endParaRPr sz="900" dirty="0">
                        <a:latin typeface="Times New Roman"/>
                        <a:cs typeface="Times New Roman"/>
                      </a:endParaRPr>
                    </a:p>
                  </a:txBody>
                  <a:tcPr marL="0" marR="0" marT="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R="1270" algn="ctr">
                        <a:lnSpc>
                          <a:spcPct val="100000"/>
                        </a:lnSpc>
                        <a:spcBef>
                          <a:spcPts val="550"/>
                        </a:spcBef>
                      </a:pPr>
                      <a:r>
                        <a:rPr sz="900" dirty="0">
                          <a:latin typeface="Arial"/>
                          <a:cs typeface="Arial"/>
                        </a:rPr>
                        <a:t>2.5</a:t>
                      </a:r>
                    </a:p>
                  </a:txBody>
                  <a:tcPr marL="0" marR="0" marT="6985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R="1270" algn="ctr">
                        <a:lnSpc>
                          <a:spcPct val="100000"/>
                        </a:lnSpc>
                        <a:spcBef>
                          <a:spcPts val="550"/>
                        </a:spcBef>
                      </a:pPr>
                      <a:r>
                        <a:rPr sz="900" dirty="0">
                          <a:latin typeface="Arial"/>
                          <a:cs typeface="Arial"/>
                        </a:rPr>
                        <a:t>5</a:t>
                      </a:r>
                    </a:p>
                  </a:txBody>
                  <a:tcPr marL="0" marR="0" marT="6985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R="191770" algn="r">
                        <a:lnSpc>
                          <a:spcPct val="100000"/>
                        </a:lnSpc>
                        <a:spcBef>
                          <a:spcPts val="550"/>
                        </a:spcBef>
                      </a:pPr>
                      <a:r>
                        <a:rPr sz="900" spc="5" dirty="0">
                          <a:latin typeface="Arial"/>
                          <a:cs typeface="Arial"/>
                        </a:rPr>
                        <a:t>mV</a:t>
                      </a:r>
                      <a:endParaRPr sz="900" dirty="0">
                        <a:latin typeface="Arial"/>
                        <a:cs typeface="Arial"/>
                      </a:endParaRPr>
                    </a:p>
                  </a:txBody>
                  <a:tcPr marL="0" marR="0" marT="69850" marB="0">
                    <a:lnL w="3175">
                      <a:solidFill>
                        <a:srgbClr val="000000"/>
                      </a:solidFill>
                      <a:prstDash val="solid"/>
                    </a:lnL>
                    <a:lnT w="3175">
                      <a:solidFill>
                        <a:srgbClr val="000000"/>
                      </a:solidFill>
                      <a:prstDash val="solid"/>
                    </a:lnT>
                    <a:lnB w="3175">
                      <a:solidFill>
                        <a:srgbClr val="000000"/>
                      </a:solidFill>
                      <a:prstDash val="solid"/>
                    </a:lnB>
                  </a:tcPr>
                </a:tc>
                <a:extLst>
                  <a:ext uri="{0D108BD9-81ED-4DB2-BD59-A6C34878D82A}">
                    <a16:rowId xmlns:a16="http://schemas.microsoft.com/office/drawing/2014/main" val="10007"/>
                  </a:ext>
                </a:extLst>
              </a:tr>
              <a:tr h="278130">
                <a:tc>
                  <a:txBody>
                    <a:bodyPr/>
                    <a:lstStyle/>
                    <a:p>
                      <a:pPr>
                        <a:lnSpc>
                          <a:spcPct val="100000"/>
                        </a:lnSpc>
                        <a:spcBef>
                          <a:spcPts val="550"/>
                        </a:spcBef>
                      </a:pPr>
                      <a:r>
                        <a:rPr sz="900" dirty="0">
                          <a:latin typeface="Arial"/>
                          <a:cs typeface="Arial"/>
                        </a:rPr>
                        <a:t>Full</a:t>
                      </a:r>
                      <a:r>
                        <a:rPr sz="900" spc="-35" dirty="0">
                          <a:latin typeface="Arial"/>
                          <a:cs typeface="Arial"/>
                        </a:rPr>
                        <a:t> </a:t>
                      </a:r>
                      <a:r>
                        <a:rPr sz="900" dirty="0">
                          <a:latin typeface="Arial"/>
                          <a:cs typeface="Arial"/>
                        </a:rPr>
                        <a:t>scale</a:t>
                      </a:r>
                      <a:r>
                        <a:rPr sz="900" spc="-50" dirty="0">
                          <a:latin typeface="Arial"/>
                          <a:cs typeface="Arial"/>
                        </a:rPr>
                        <a:t> </a:t>
                      </a:r>
                      <a:r>
                        <a:rPr sz="900" dirty="0">
                          <a:latin typeface="Arial"/>
                          <a:cs typeface="Arial"/>
                        </a:rPr>
                        <a:t>error</a:t>
                      </a:r>
                    </a:p>
                  </a:txBody>
                  <a:tcPr marL="0" marR="0" marT="69850" marB="0">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R="1905" algn="ctr">
                        <a:lnSpc>
                          <a:spcPct val="100000"/>
                        </a:lnSpc>
                        <a:spcBef>
                          <a:spcPts val="550"/>
                        </a:spcBef>
                      </a:pPr>
                      <a:r>
                        <a:rPr sz="900" dirty="0">
                          <a:latin typeface="Arial"/>
                          <a:cs typeface="Arial"/>
                        </a:rPr>
                        <a:t>FSE</a:t>
                      </a:r>
                    </a:p>
                  </a:txBody>
                  <a:tcPr marL="0" marR="0" marT="6985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gn="ctr">
                        <a:lnSpc>
                          <a:spcPct val="100000"/>
                        </a:lnSpc>
                        <a:spcBef>
                          <a:spcPts val="550"/>
                        </a:spcBef>
                      </a:pPr>
                      <a:r>
                        <a:rPr sz="900" spc="-5" dirty="0">
                          <a:latin typeface="Arial"/>
                          <a:cs typeface="Arial"/>
                        </a:rPr>
                        <a:t>DIN</a:t>
                      </a:r>
                      <a:r>
                        <a:rPr sz="900" spc="-20" dirty="0">
                          <a:latin typeface="Arial"/>
                          <a:cs typeface="Arial"/>
                        </a:rPr>
                        <a:t> </a:t>
                      </a:r>
                      <a:r>
                        <a:rPr sz="900" dirty="0">
                          <a:latin typeface="Arial"/>
                          <a:cs typeface="Arial"/>
                        </a:rPr>
                        <a:t>=</a:t>
                      </a:r>
                      <a:r>
                        <a:rPr sz="900" spc="-10" dirty="0">
                          <a:latin typeface="Arial"/>
                          <a:cs typeface="Arial"/>
                        </a:rPr>
                        <a:t> </a:t>
                      </a:r>
                      <a:r>
                        <a:rPr sz="900" dirty="0">
                          <a:latin typeface="Arial"/>
                          <a:cs typeface="Arial"/>
                        </a:rPr>
                        <a:t>12’d</a:t>
                      </a:r>
                      <a:r>
                        <a:rPr sz="900" spc="-35" dirty="0">
                          <a:latin typeface="Arial"/>
                          <a:cs typeface="Arial"/>
                        </a:rPr>
                        <a:t> </a:t>
                      </a:r>
                      <a:r>
                        <a:rPr sz="900" dirty="0">
                          <a:latin typeface="Arial"/>
                          <a:cs typeface="Arial"/>
                        </a:rPr>
                        <a:t>4095</a:t>
                      </a:r>
                    </a:p>
                  </a:txBody>
                  <a:tcPr marL="0" marR="0" marT="6985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nSpc>
                          <a:spcPct val="100000"/>
                        </a:lnSpc>
                      </a:pPr>
                      <a:endParaRPr sz="900" dirty="0">
                        <a:latin typeface="Times New Roman"/>
                        <a:cs typeface="Times New Roman"/>
                      </a:endParaRPr>
                    </a:p>
                  </a:txBody>
                  <a:tcPr marL="0" marR="0" marT="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R="1270" algn="ctr">
                        <a:lnSpc>
                          <a:spcPct val="100000"/>
                        </a:lnSpc>
                        <a:spcBef>
                          <a:spcPts val="550"/>
                        </a:spcBef>
                      </a:pPr>
                      <a:r>
                        <a:rPr sz="900" spc="-5" dirty="0">
                          <a:latin typeface="굴림"/>
                          <a:cs typeface="굴림"/>
                        </a:rPr>
                        <a:t>±</a:t>
                      </a:r>
                      <a:r>
                        <a:rPr sz="900" spc="-5" dirty="0">
                          <a:latin typeface="Arial"/>
                          <a:cs typeface="Arial"/>
                        </a:rPr>
                        <a:t>0.25</a:t>
                      </a:r>
                      <a:endParaRPr sz="900" dirty="0">
                        <a:latin typeface="Arial"/>
                        <a:cs typeface="Arial"/>
                      </a:endParaRPr>
                    </a:p>
                  </a:txBody>
                  <a:tcPr marL="0" marR="0" marT="6985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gn="ctr">
                        <a:lnSpc>
                          <a:spcPct val="100000"/>
                        </a:lnSpc>
                        <a:spcBef>
                          <a:spcPts val="550"/>
                        </a:spcBef>
                      </a:pPr>
                      <a:r>
                        <a:rPr sz="900" spc="-5" dirty="0">
                          <a:latin typeface="굴림"/>
                          <a:cs typeface="굴림"/>
                        </a:rPr>
                        <a:t>±</a:t>
                      </a:r>
                      <a:r>
                        <a:rPr sz="900" spc="-5" dirty="0">
                          <a:latin typeface="Arial"/>
                          <a:cs typeface="Arial"/>
                        </a:rPr>
                        <a:t>0.5</a:t>
                      </a:r>
                      <a:endParaRPr sz="900" dirty="0">
                        <a:latin typeface="Arial"/>
                        <a:cs typeface="Arial"/>
                      </a:endParaRPr>
                    </a:p>
                  </a:txBody>
                  <a:tcPr marL="0" marR="0" marT="6985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R="163830" algn="r">
                        <a:lnSpc>
                          <a:spcPct val="100000"/>
                        </a:lnSpc>
                        <a:spcBef>
                          <a:spcPts val="550"/>
                        </a:spcBef>
                      </a:pPr>
                      <a:r>
                        <a:rPr sz="900" dirty="0">
                          <a:latin typeface="Arial"/>
                          <a:cs typeface="Arial"/>
                        </a:rPr>
                        <a:t>FSR</a:t>
                      </a:r>
                    </a:p>
                  </a:txBody>
                  <a:tcPr marL="0" marR="0" marT="69850" marB="0">
                    <a:lnL w="3175">
                      <a:solidFill>
                        <a:srgbClr val="000000"/>
                      </a:solidFill>
                      <a:prstDash val="solid"/>
                    </a:lnL>
                    <a:lnT w="3175">
                      <a:solidFill>
                        <a:srgbClr val="000000"/>
                      </a:solidFill>
                      <a:prstDash val="solid"/>
                    </a:lnT>
                    <a:lnB w="3175">
                      <a:solidFill>
                        <a:srgbClr val="000000"/>
                      </a:solidFill>
                      <a:prstDash val="solid"/>
                    </a:lnB>
                  </a:tcPr>
                </a:tc>
                <a:extLst>
                  <a:ext uri="{0D108BD9-81ED-4DB2-BD59-A6C34878D82A}">
                    <a16:rowId xmlns:a16="http://schemas.microsoft.com/office/drawing/2014/main" val="10008"/>
                  </a:ext>
                </a:extLst>
              </a:tr>
              <a:tr h="278130">
                <a:tc>
                  <a:txBody>
                    <a:bodyPr/>
                    <a:lstStyle/>
                    <a:p>
                      <a:pPr>
                        <a:lnSpc>
                          <a:spcPct val="100000"/>
                        </a:lnSpc>
                        <a:spcBef>
                          <a:spcPts val="550"/>
                        </a:spcBef>
                      </a:pPr>
                      <a:r>
                        <a:rPr sz="900" spc="-5" dirty="0">
                          <a:latin typeface="Arial"/>
                          <a:cs typeface="Arial"/>
                        </a:rPr>
                        <a:t>Gain</a:t>
                      </a:r>
                      <a:r>
                        <a:rPr sz="900" spc="-40" dirty="0">
                          <a:latin typeface="Arial"/>
                          <a:cs typeface="Arial"/>
                        </a:rPr>
                        <a:t> </a:t>
                      </a:r>
                      <a:r>
                        <a:rPr sz="900" dirty="0">
                          <a:latin typeface="Arial"/>
                          <a:cs typeface="Arial"/>
                        </a:rPr>
                        <a:t>error</a:t>
                      </a:r>
                    </a:p>
                  </a:txBody>
                  <a:tcPr marL="0" marR="0" marT="69850" marB="0">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R="2540" algn="ctr">
                        <a:lnSpc>
                          <a:spcPct val="100000"/>
                        </a:lnSpc>
                        <a:spcBef>
                          <a:spcPts val="550"/>
                        </a:spcBef>
                      </a:pPr>
                      <a:r>
                        <a:rPr sz="900" spc="-5" dirty="0">
                          <a:latin typeface="Arial"/>
                          <a:cs typeface="Arial"/>
                        </a:rPr>
                        <a:t>GE</a:t>
                      </a:r>
                      <a:endParaRPr sz="900" dirty="0">
                        <a:latin typeface="Arial"/>
                        <a:cs typeface="Arial"/>
                      </a:endParaRPr>
                    </a:p>
                  </a:txBody>
                  <a:tcPr marL="0" marR="0" marT="6985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nSpc>
                          <a:spcPct val="100000"/>
                        </a:lnSpc>
                      </a:pPr>
                      <a:endParaRPr sz="900" dirty="0">
                        <a:latin typeface="Times New Roman"/>
                        <a:cs typeface="Times New Roman"/>
                      </a:endParaRPr>
                    </a:p>
                  </a:txBody>
                  <a:tcPr marL="0" marR="0" marT="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nSpc>
                          <a:spcPct val="100000"/>
                        </a:lnSpc>
                      </a:pPr>
                      <a:endParaRPr sz="900" dirty="0">
                        <a:latin typeface="Times New Roman"/>
                        <a:cs typeface="Times New Roman"/>
                      </a:endParaRPr>
                    </a:p>
                  </a:txBody>
                  <a:tcPr marL="0" marR="0" marT="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R="1270" algn="ctr">
                        <a:lnSpc>
                          <a:spcPct val="100000"/>
                        </a:lnSpc>
                        <a:spcBef>
                          <a:spcPts val="550"/>
                        </a:spcBef>
                      </a:pPr>
                      <a:r>
                        <a:rPr sz="900" spc="-5" dirty="0">
                          <a:latin typeface="굴림"/>
                          <a:cs typeface="굴림"/>
                        </a:rPr>
                        <a:t>±</a:t>
                      </a:r>
                      <a:r>
                        <a:rPr sz="900" spc="-5" dirty="0">
                          <a:latin typeface="Arial"/>
                          <a:cs typeface="Arial"/>
                        </a:rPr>
                        <a:t>0.25</a:t>
                      </a:r>
                      <a:endParaRPr sz="900" dirty="0">
                        <a:latin typeface="Arial"/>
                        <a:cs typeface="Arial"/>
                      </a:endParaRPr>
                    </a:p>
                  </a:txBody>
                  <a:tcPr marL="0" marR="0" marT="6985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gn="ctr">
                        <a:lnSpc>
                          <a:spcPct val="100000"/>
                        </a:lnSpc>
                        <a:spcBef>
                          <a:spcPts val="550"/>
                        </a:spcBef>
                      </a:pPr>
                      <a:r>
                        <a:rPr sz="900" spc="-5" dirty="0">
                          <a:latin typeface="굴림"/>
                          <a:cs typeface="굴림"/>
                        </a:rPr>
                        <a:t>±</a:t>
                      </a:r>
                      <a:r>
                        <a:rPr sz="900" spc="-5" dirty="0">
                          <a:latin typeface="Arial"/>
                          <a:cs typeface="Arial"/>
                        </a:rPr>
                        <a:t>0.5</a:t>
                      </a:r>
                      <a:endParaRPr sz="900" dirty="0">
                        <a:latin typeface="Arial"/>
                        <a:cs typeface="Arial"/>
                      </a:endParaRPr>
                    </a:p>
                  </a:txBody>
                  <a:tcPr marL="0" marR="0" marT="6985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R="163830" algn="r">
                        <a:lnSpc>
                          <a:spcPct val="100000"/>
                        </a:lnSpc>
                        <a:spcBef>
                          <a:spcPts val="550"/>
                        </a:spcBef>
                      </a:pPr>
                      <a:r>
                        <a:rPr sz="900" dirty="0">
                          <a:latin typeface="Arial"/>
                          <a:cs typeface="Arial"/>
                        </a:rPr>
                        <a:t>FSR</a:t>
                      </a:r>
                    </a:p>
                  </a:txBody>
                  <a:tcPr marL="0" marR="0" marT="69850" marB="0">
                    <a:lnL w="3175">
                      <a:solidFill>
                        <a:srgbClr val="000000"/>
                      </a:solidFill>
                      <a:prstDash val="solid"/>
                    </a:lnL>
                    <a:lnT w="3175">
                      <a:solidFill>
                        <a:srgbClr val="000000"/>
                      </a:solidFill>
                      <a:prstDash val="solid"/>
                    </a:lnT>
                    <a:lnB w="3175">
                      <a:solidFill>
                        <a:srgbClr val="000000"/>
                      </a:solidFill>
                      <a:prstDash val="solid"/>
                    </a:lnB>
                  </a:tcPr>
                </a:tc>
                <a:extLst>
                  <a:ext uri="{0D108BD9-81ED-4DB2-BD59-A6C34878D82A}">
                    <a16:rowId xmlns:a16="http://schemas.microsoft.com/office/drawing/2014/main" val="10009"/>
                  </a:ext>
                </a:extLst>
              </a:tr>
              <a:tr h="278130">
                <a:tc>
                  <a:txBody>
                    <a:bodyPr/>
                    <a:lstStyle/>
                    <a:p>
                      <a:pPr>
                        <a:lnSpc>
                          <a:spcPct val="100000"/>
                        </a:lnSpc>
                        <a:spcBef>
                          <a:spcPts val="550"/>
                        </a:spcBef>
                      </a:pPr>
                      <a:r>
                        <a:rPr sz="900" spc="-5" dirty="0">
                          <a:latin typeface="Arial"/>
                          <a:cs typeface="Arial"/>
                        </a:rPr>
                        <a:t>DC</a:t>
                      </a:r>
                      <a:r>
                        <a:rPr sz="900" spc="-15" dirty="0">
                          <a:latin typeface="Arial"/>
                          <a:cs typeface="Arial"/>
                        </a:rPr>
                        <a:t> </a:t>
                      </a:r>
                      <a:r>
                        <a:rPr sz="900" dirty="0">
                          <a:latin typeface="Arial"/>
                          <a:cs typeface="Arial"/>
                        </a:rPr>
                        <a:t>output</a:t>
                      </a:r>
                      <a:r>
                        <a:rPr sz="900" spc="-35" dirty="0">
                          <a:latin typeface="Arial"/>
                          <a:cs typeface="Arial"/>
                        </a:rPr>
                        <a:t> </a:t>
                      </a:r>
                      <a:r>
                        <a:rPr sz="900" dirty="0">
                          <a:latin typeface="Arial"/>
                          <a:cs typeface="Arial"/>
                        </a:rPr>
                        <a:t>impedance</a:t>
                      </a:r>
                    </a:p>
                  </a:txBody>
                  <a:tcPr marL="0" marR="0" marT="69850" marB="0">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R="635" algn="ctr">
                        <a:lnSpc>
                          <a:spcPct val="100000"/>
                        </a:lnSpc>
                        <a:spcBef>
                          <a:spcPts val="550"/>
                        </a:spcBef>
                      </a:pPr>
                      <a:r>
                        <a:rPr sz="900" dirty="0">
                          <a:latin typeface="Arial"/>
                          <a:cs typeface="Arial"/>
                        </a:rPr>
                        <a:t>Zout</a:t>
                      </a:r>
                    </a:p>
                  </a:txBody>
                  <a:tcPr marL="0" marR="0" marT="6985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nSpc>
                          <a:spcPct val="100000"/>
                        </a:lnSpc>
                      </a:pPr>
                      <a:endParaRPr sz="900" dirty="0">
                        <a:latin typeface="Times New Roman"/>
                        <a:cs typeface="Times New Roman"/>
                      </a:endParaRPr>
                    </a:p>
                  </a:txBody>
                  <a:tcPr marL="0" marR="0" marT="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nSpc>
                          <a:spcPct val="100000"/>
                        </a:lnSpc>
                      </a:pPr>
                      <a:endParaRPr sz="900" dirty="0">
                        <a:latin typeface="Times New Roman"/>
                        <a:cs typeface="Times New Roman"/>
                      </a:endParaRPr>
                    </a:p>
                  </a:txBody>
                  <a:tcPr marL="0" marR="0" marT="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gn="ctr">
                        <a:lnSpc>
                          <a:spcPct val="100000"/>
                        </a:lnSpc>
                        <a:spcBef>
                          <a:spcPts val="550"/>
                        </a:spcBef>
                      </a:pPr>
                      <a:r>
                        <a:rPr sz="900" spc="-5" dirty="0">
                          <a:latin typeface="Arial"/>
                          <a:cs typeface="Arial"/>
                        </a:rPr>
                        <a:t>160</a:t>
                      </a:r>
                      <a:endParaRPr sz="900" dirty="0">
                        <a:latin typeface="Arial"/>
                        <a:cs typeface="Arial"/>
                      </a:endParaRPr>
                    </a:p>
                  </a:txBody>
                  <a:tcPr marL="0" marR="0" marT="6985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nSpc>
                          <a:spcPct val="100000"/>
                        </a:lnSpc>
                      </a:pPr>
                      <a:endParaRPr sz="900" dirty="0">
                        <a:latin typeface="Times New Roman"/>
                        <a:cs typeface="Times New Roman"/>
                      </a:endParaRPr>
                    </a:p>
                  </a:txBody>
                  <a:tcPr marL="0" marR="0" marT="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R="8255" algn="ctr">
                        <a:lnSpc>
                          <a:spcPct val="100000"/>
                        </a:lnSpc>
                        <a:spcBef>
                          <a:spcPts val="550"/>
                        </a:spcBef>
                      </a:pPr>
                      <a:r>
                        <a:rPr sz="900" dirty="0">
                          <a:latin typeface="Arial"/>
                          <a:cs typeface="Arial"/>
                        </a:rPr>
                        <a:t>Ω</a:t>
                      </a:r>
                    </a:p>
                  </a:txBody>
                  <a:tcPr marL="0" marR="0" marT="69850" marB="0">
                    <a:lnL w="3175">
                      <a:solidFill>
                        <a:srgbClr val="000000"/>
                      </a:solidFill>
                      <a:prstDash val="solid"/>
                    </a:lnL>
                    <a:lnT w="3175">
                      <a:solidFill>
                        <a:srgbClr val="000000"/>
                      </a:solidFill>
                      <a:prstDash val="solid"/>
                    </a:lnT>
                    <a:lnB w="3175">
                      <a:solidFill>
                        <a:srgbClr val="000000"/>
                      </a:solidFill>
                      <a:prstDash val="solid"/>
                    </a:lnB>
                  </a:tcPr>
                </a:tc>
                <a:extLst>
                  <a:ext uri="{0D108BD9-81ED-4DB2-BD59-A6C34878D82A}">
                    <a16:rowId xmlns:a16="http://schemas.microsoft.com/office/drawing/2014/main" val="10010"/>
                  </a:ext>
                </a:extLst>
              </a:tr>
            </a:tbl>
          </a:graphicData>
        </a:graphic>
      </p:graphicFrame>
      <p:sp>
        <p:nvSpPr>
          <p:cNvPr id="3" name="object 3"/>
          <p:cNvSpPr txBox="1"/>
          <p:nvPr/>
        </p:nvSpPr>
        <p:spPr>
          <a:xfrm>
            <a:off x="381914" y="802005"/>
            <a:ext cx="4833620" cy="239395"/>
          </a:xfrm>
          <a:prstGeom prst="rect">
            <a:avLst/>
          </a:prstGeom>
        </p:spPr>
        <p:txBody>
          <a:bodyPr vert="horz" wrap="square" lIns="0" tIns="12700" rIns="0" bIns="0" rtlCol="0">
            <a:spAutoFit/>
          </a:bodyPr>
          <a:lstStyle/>
          <a:p>
            <a:pPr marL="38100">
              <a:lnSpc>
                <a:spcPct val="100000"/>
              </a:lnSpc>
              <a:spcBef>
                <a:spcPts val="100"/>
              </a:spcBef>
            </a:pPr>
            <a:r>
              <a:rPr sz="1400" b="1" dirty="0">
                <a:latin typeface="Arial"/>
                <a:cs typeface="Arial"/>
              </a:rPr>
              <a:t>Electrical</a:t>
            </a:r>
            <a:r>
              <a:rPr sz="1400" b="1" spc="-25" dirty="0">
                <a:latin typeface="Arial"/>
                <a:cs typeface="Arial"/>
              </a:rPr>
              <a:t> </a:t>
            </a:r>
            <a:r>
              <a:rPr sz="1400" b="1" dirty="0">
                <a:latin typeface="Arial"/>
                <a:cs typeface="Arial"/>
              </a:rPr>
              <a:t>Characteristic</a:t>
            </a:r>
            <a:r>
              <a:rPr sz="1400" b="1" spc="-80" dirty="0">
                <a:latin typeface="Arial"/>
                <a:cs typeface="Arial"/>
              </a:rPr>
              <a:t> </a:t>
            </a:r>
            <a:r>
              <a:rPr sz="900" spc="-5" dirty="0">
                <a:latin typeface="Arial"/>
                <a:cs typeface="Arial"/>
              </a:rPr>
              <a:t>(V</a:t>
            </a:r>
            <a:r>
              <a:rPr sz="900" spc="-7" baseline="-18518" dirty="0">
                <a:latin typeface="Arial"/>
                <a:cs typeface="Arial"/>
              </a:rPr>
              <a:t>DDD</a:t>
            </a:r>
            <a:r>
              <a:rPr sz="900" spc="-5" dirty="0">
                <a:latin typeface="Arial"/>
                <a:cs typeface="Arial"/>
              </a:rPr>
              <a:t>/V</a:t>
            </a:r>
            <a:r>
              <a:rPr sz="900" spc="-7" baseline="-18518" dirty="0">
                <a:latin typeface="Arial"/>
                <a:cs typeface="Arial"/>
              </a:rPr>
              <a:t>DDS</a:t>
            </a:r>
            <a:r>
              <a:rPr sz="900" spc="-5" dirty="0">
                <a:latin typeface="Arial"/>
                <a:cs typeface="Arial"/>
              </a:rPr>
              <a:t>=5.0V,</a:t>
            </a:r>
            <a:r>
              <a:rPr sz="900" spc="20" dirty="0">
                <a:latin typeface="Arial"/>
                <a:cs typeface="Arial"/>
              </a:rPr>
              <a:t> </a:t>
            </a:r>
            <a:r>
              <a:rPr sz="900" dirty="0">
                <a:latin typeface="Arial"/>
                <a:cs typeface="Arial"/>
              </a:rPr>
              <a:t>Ta=25.0</a:t>
            </a:r>
            <a:r>
              <a:rPr sz="900" dirty="0">
                <a:latin typeface="맑은 고딕"/>
                <a:cs typeface="맑은 고딕"/>
              </a:rPr>
              <a:t>℃</a:t>
            </a:r>
            <a:r>
              <a:rPr sz="900" spc="-75" dirty="0">
                <a:latin typeface="맑은 고딕"/>
                <a:cs typeface="맑은 고딕"/>
              </a:rPr>
              <a:t> </a:t>
            </a:r>
            <a:r>
              <a:rPr sz="900" dirty="0">
                <a:latin typeface="Arial"/>
                <a:cs typeface="Arial"/>
              </a:rPr>
              <a:t>unless </a:t>
            </a:r>
            <a:r>
              <a:rPr sz="900" spc="-5" dirty="0">
                <a:latin typeface="Arial"/>
                <a:cs typeface="Arial"/>
              </a:rPr>
              <a:t>otherwise noted)</a:t>
            </a:r>
            <a:endParaRPr sz="900" dirty="0">
              <a:latin typeface="Arial"/>
              <a:cs typeface="Arial"/>
            </a:endParaRPr>
          </a:p>
        </p:txBody>
      </p:sp>
      <p:sp>
        <p:nvSpPr>
          <p:cNvPr id="4" name="object 4"/>
          <p:cNvSpPr/>
          <p:nvPr/>
        </p:nvSpPr>
        <p:spPr>
          <a:xfrm>
            <a:off x="405384" y="637031"/>
            <a:ext cx="6049010" cy="0"/>
          </a:xfrm>
          <a:custGeom>
            <a:avLst/>
            <a:gdLst/>
            <a:ahLst/>
            <a:cxnLst/>
            <a:rect l="l" t="t" r="r" b="b"/>
            <a:pathLst>
              <a:path w="6049010">
                <a:moveTo>
                  <a:pt x="0" y="0"/>
                </a:moveTo>
                <a:lnTo>
                  <a:pt x="6048629" y="0"/>
                </a:lnTo>
              </a:path>
            </a:pathLst>
          </a:custGeom>
          <a:ln w="6350">
            <a:solidFill>
              <a:srgbClr val="000000"/>
            </a:solidFill>
          </a:ln>
        </p:spPr>
        <p:txBody>
          <a:bodyPr wrap="square" lIns="0" tIns="0" rIns="0" bIns="0" rtlCol="0"/>
          <a:lstStyle/>
          <a:p>
            <a:endParaRPr dirty="0"/>
          </a:p>
        </p:txBody>
      </p:sp>
      <p:sp>
        <p:nvSpPr>
          <p:cNvPr id="7" name="object 7"/>
          <p:cNvSpPr txBox="1"/>
          <p:nvPr/>
        </p:nvSpPr>
        <p:spPr>
          <a:xfrm>
            <a:off x="400913" y="301879"/>
            <a:ext cx="622935" cy="299720"/>
          </a:xfrm>
          <a:prstGeom prst="rect">
            <a:avLst/>
          </a:prstGeom>
        </p:spPr>
        <p:txBody>
          <a:bodyPr vert="horz" wrap="square" lIns="0" tIns="12700" rIns="0" bIns="0" rtlCol="0">
            <a:spAutoFit/>
          </a:bodyPr>
          <a:lstStyle/>
          <a:p>
            <a:pPr marL="12700">
              <a:lnSpc>
                <a:spcPct val="100000"/>
              </a:lnSpc>
              <a:spcBef>
                <a:spcPts val="100"/>
              </a:spcBef>
            </a:pPr>
            <a:r>
              <a:rPr sz="1800" b="1" spc="-5" dirty="0">
                <a:latin typeface="Arial"/>
                <a:cs typeface="Arial"/>
              </a:rPr>
              <a:t>CQ24</a:t>
            </a:r>
            <a:endParaRPr sz="1800" dirty="0">
              <a:latin typeface="Arial"/>
              <a:cs typeface="Arial"/>
            </a:endParaRPr>
          </a:p>
        </p:txBody>
      </p:sp>
      <p:sp>
        <p:nvSpPr>
          <p:cNvPr id="11" name="object 2">
            <a:extLst>
              <a:ext uri="{FF2B5EF4-FFF2-40B4-BE49-F238E27FC236}">
                <a16:creationId xmlns:a16="http://schemas.microsoft.com/office/drawing/2014/main" id="{4F64D49F-1349-9441-0D88-72EEC09D98E3}"/>
              </a:ext>
            </a:extLst>
          </p:cNvPr>
          <p:cNvSpPr txBox="1"/>
          <p:nvPr/>
        </p:nvSpPr>
        <p:spPr>
          <a:xfrm>
            <a:off x="381914" y="4315968"/>
            <a:ext cx="1783970" cy="215444"/>
          </a:xfrm>
          <a:prstGeom prst="rect">
            <a:avLst/>
          </a:prstGeom>
        </p:spPr>
        <p:txBody>
          <a:bodyPr vert="horz" wrap="square" lIns="0" tIns="0" rIns="0" bIns="0" rtlCol="0" anchor="ctr">
            <a:spAutoFit/>
          </a:bodyPr>
          <a:lstStyle/>
          <a:p>
            <a:pPr>
              <a:lnSpc>
                <a:spcPct val="100000"/>
              </a:lnSpc>
              <a:spcBef>
                <a:spcPts val="0"/>
              </a:spcBef>
            </a:pPr>
            <a:r>
              <a:rPr sz="1400" b="1" spc="355" dirty="0">
                <a:latin typeface="Arial" panose="020B0604020202020204" pitchFamily="34" charset="0"/>
                <a:cs typeface="Arial" panose="020B0604020202020204" pitchFamily="34" charset="0"/>
              </a:rPr>
              <a:t> </a:t>
            </a:r>
            <a:r>
              <a:rPr sz="1400" b="1" spc="-10" dirty="0">
                <a:latin typeface="Arial" panose="020B0604020202020204" pitchFamily="34" charset="0"/>
                <a:cs typeface="Arial" panose="020B0604020202020204" pitchFamily="34" charset="0"/>
              </a:rPr>
              <a:t>Power</a:t>
            </a:r>
            <a:r>
              <a:rPr sz="1400" b="1" spc="-25" dirty="0">
                <a:latin typeface="Arial" panose="020B0604020202020204" pitchFamily="34" charset="0"/>
                <a:cs typeface="Arial" panose="020B0604020202020204" pitchFamily="34" charset="0"/>
              </a:rPr>
              <a:t> </a:t>
            </a:r>
            <a:r>
              <a:rPr sz="1400" b="1" spc="-5" dirty="0">
                <a:latin typeface="Arial" panose="020B0604020202020204" pitchFamily="34" charset="0"/>
                <a:cs typeface="Arial" panose="020B0604020202020204" pitchFamily="34" charset="0"/>
              </a:rPr>
              <a:t>Sequence</a:t>
            </a:r>
            <a:endParaRPr sz="1400" dirty="0">
              <a:latin typeface="Arial" panose="020B0604020202020204" pitchFamily="34" charset="0"/>
              <a:cs typeface="Arial" panose="020B0604020202020204" pitchFamily="34" charset="0"/>
            </a:endParaRPr>
          </a:p>
        </p:txBody>
      </p:sp>
      <p:grpSp>
        <p:nvGrpSpPr>
          <p:cNvPr id="41" name="그룹 40">
            <a:extLst>
              <a:ext uri="{FF2B5EF4-FFF2-40B4-BE49-F238E27FC236}">
                <a16:creationId xmlns:a16="http://schemas.microsoft.com/office/drawing/2014/main" id="{C48B4309-027B-282F-742A-F333C1E54FA9}"/>
              </a:ext>
            </a:extLst>
          </p:cNvPr>
          <p:cNvGrpSpPr/>
          <p:nvPr/>
        </p:nvGrpSpPr>
        <p:grpSpPr>
          <a:xfrm>
            <a:off x="533400" y="4916918"/>
            <a:ext cx="5470043" cy="1185047"/>
            <a:chOff x="473557" y="6183185"/>
            <a:chExt cx="5470043" cy="1185047"/>
          </a:xfrm>
        </p:grpSpPr>
        <p:cxnSp>
          <p:nvCxnSpPr>
            <p:cNvPr id="16" name="직선 연결선 15">
              <a:extLst>
                <a:ext uri="{FF2B5EF4-FFF2-40B4-BE49-F238E27FC236}">
                  <a16:creationId xmlns:a16="http://schemas.microsoft.com/office/drawing/2014/main" id="{5BD9B6D3-E57B-9A5C-29A1-8FC923811331}"/>
                </a:ext>
              </a:extLst>
            </p:cNvPr>
            <p:cNvCxnSpPr>
              <a:cxnSpLocks/>
            </p:cNvCxnSpPr>
            <p:nvPr/>
          </p:nvCxnSpPr>
          <p:spPr>
            <a:xfrm flipH="1">
              <a:off x="1413248" y="6324600"/>
              <a:ext cx="152400" cy="2286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직선 연결선 17">
              <a:extLst>
                <a:ext uri="{FF2B5EF4-FFF2-40B4-BE49-F238E27FC236}">
                  <a16:creationId xmlns:a16="http://schemas.microsoft.com/office/drawing/2014/main" id="{6AEE6658-52C1-67CF-59A6-EF914529ECE1}"/>
                </a:ext>
              </a:extLst>
            </p:cNvPr>
            <p:cNvCxnSpPr>
              <a:cxnSpLocks/>
            </p:cNvCxnSpPr>
            <p:nvPr/>
          </p:nvCxnSpPr>
          <p:spPr>
            <a:xfrm flipH="1">
              <a:off x="1565648" y="6324600"/>
              <a:ext cx="43434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직선 연결선 21">
              <a:extLst>
                <a:ext uri="{FF2B5EF4-FFF2-40B4-BE49-F238E27FC236}">
                  <a16:creationId xmlns:a16="http://schemas.microsoft.com/office/drawing/2014/main" id="{4B4BD965-790E-7844-110B-75950FB560B0}"/>
                </a:ext>
              </a:extLst>
            </p:cNvPr>
            <p:cNvCxnSpPr>
              <a:cxnSpLocks/>
            </p:cNvCxnSpPr>
            <p:nvPr/>
          </p:nvCxnSpPr>
          <p:spPr>
            <a:xfrm flipH="1">
              <a:off x="1037836" y="6553200"/>
              <a:ext cx="375412"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3A3ECAA8-1052-1223-43EB-038114038F8B}"/>
                </a:ext>
              </a:extLst>
            </p:cNvPr>
            <p:cNvSpPr txBox="1"/>
            <p:nvPr/>
          </p:nvSpPr>
          <p:spPr>
            <a:xfrm>
              <a:off x="743216" y="6339216"/>
              <a:ext cx="325730" cy="215444"/>
            </a:xfrm>
            <a:prstGeom prst="rect">
              <a:avLst/>
            </a:prstGeom>
            <a:noFill/>
          </p:spPr>
          <p:txBody>
            <a:bodyPr wrap="none" rtlCol="0">
              <a:spAutoFit/>
            </a:bodyPr>
            <a:lstStyle/>
            <a:p>
              <a:r>
                <a:rPr lang="en-US" altLang="ko-KR" sz="800" dirty="0"/>
                <a:t>V</a:t>
              </a:r>
              <a:r>
                <a:rPr lang="en-US" altLang="ko-KR" sz="800" baseline="-25000" dirty="0"/>
                <a:t>DD</a:t>
              </a:r>
              <a:endParaRPr lang="ko-KR" altLang="en-US" sz="800" baseline="-25000" dirty="0"/>
            </a:p>
          </p:txBody>
        </p:sp>
        <p:cxnSp>
          <p:nvCxnSpPr>
            <p:cNvPr id="27" name="직선 연결선 26">
              <a:extLst>
                <a:ext uri="{FF2B5EF4-FFF2-40B4-BE49-F238E27FC236}">
                  <a16:creationId xmlns:a16="http://schemas.microsoft.com/office/drawing/2014/main" id="{281F92A9-A7AC-0F04-7182-7F99E9459359}"/>
                </a:ext>
              </a:extLst>
            </p:cNvPr>
            <p:cNvCxnSpPr>
              <a:cxnSpLocks/>
            </p:cNvCxnSpPr>
            <p:nvPr/>
          </p:nvCxnSpPr>
          <p:spPr>
            <a:xfrm>
              <a:off x="1413248" y="6248400"/>
              <a:ext cx="0" cy="914400"/>
            </a:xfrm>
            <a:prstGeom prst="line">
              <a:avLst/>
            </a:prstGeom>
            <a:ln w="3175">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29" name="직선 연결선 28">
              <a:extLst>
                <a:ext uri="{FF2B5EF4-FFF2-40B4-BE49-F238E27FC236}">
                  <a16:creationId xmlns:a16="http://schemas.microsoft.com/office/drawing/2014/main" id="{AFD08928-4F22-2880-87CA-AC147CF4752A}"/>
                </a:ext>
              </a:extLst>
            </p:cNvPr>
            <p:cNvCxnSpPr>
              <a:cxnSpLocks/>
            </p:cNvCxnSpPr>
            <p:nvPr/>
          </p:nvCxnSpPr>
          <p:spPr>
            <a:xfrm>
              <a:off x="1565648" y="6248400"/>
              <a:ext cx="0" cy="914400"/>
            </a:xfrm>
            <a:prstGeom prst="line">
              <a:avLst/>
            </a:prstGeom>
            <a:ln w="3175">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30" name="직선 연결선 29">
              <a:extLst>
                <a:ext uri="{FF2B5EF4-FFF2-40B4-BE49-F238E27FC236}">
                  <a16:creationId xmlns:a16="http://schemas.microsoft.com/office/drawing/2014/main" id="{3AEA90D5-EB0F-8E85-25C2-A48A50D897FA}"/>
                </a:ext>
              </a:extLst>
            </p:cNvPr>
            <p:cNvCxnSpPr>
              <a:cxnSpLocks/>
            </p:cNvCxnSpPr>
            <p:nvPr/>
          </p:nvCxnSpPr>
          <p:spPr>
            <a:xfrm flipH="1">
              <a:off x="1037836" y="6931280"/>
              <a:ext cx="4905764"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32" name="직사각형 31">
              <a:extLst>
                <a:ext uri="{FF2B5EF4-FFF2-40B4-BE49-F238E27FC236}">
                  <a16:creationId xmlns:a16="http://schemas.microsoft.com/office/drawing/2014/main" id="{9D919EB3-2A05-162D-4945-6358DE7153C4}"/>
                </a:ext>
              </a:extLst>
            </p:cNvPr>
            <p:cNvSpPr/>
            <p:nvPr/>
          </p:nvSpPr>
          <p:spPr>
            <a:xfrm>
              <a:off x="4419606" y="6705627"/>
              <a:ext cx="1489442" cy="225653"/>
            </a:xfrm>
            <a:prstGeom prst="rect">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800" dirty="0">
                  <a:solidFill>
                    <a:schemeClr val="tx1"/>
                  </a:solidFill>
                  <a:latin typeface="Arial" panose="020B0604020202020204" pitchFamily="34" charset="0"/>
                  <a:cs typeface="Arial" panose="020B0604020202020204" pitchFamily="34" charset="0"/>
                </a:rPr>
                <a:t>Command accessible</a:t>
              </a:r>
              <a:endParaRPr lang="ko-KR" altLang="en-US" sz="800" dirty="0">
                <a:solidFill>
                  <a:schemeClr val="tx1"/>
                </a:solidFill>
                <a:latin typeface="Arial" panose="020B0604020202020204" pitchFamily="34" charset="0"/>
                <a:cs typeface="Arial" panose="020B0604020202020204" pitchFamily="34" charset="0"/>
              </a:endParaRPr>
            </a:p>
          </p:txBody>
        </p:sp>
        <p:cxnSp>
          <p:nvCxnSpPr>
            <p:cNvPr id="33" name="직선 연결선 32">
              <a:extLst>
                <a:ext uri="{FF2B5EF4-FFF2-40B4-BE49-F238E27FC236}">
                  <a16:creationId xmlns:a16="http://schemas.microsoft.com/office/drawing/2014/main" id="{8720FDCD-C9E0-57AE-F0EB-63F5DC4A9441}"/>
                </a:ext>
              </a:extLst>
            </p:cNvPr>
            <p:cNvCxnSpPr>
              <a:cxnSpLocks/>
            </p:cNvCxnSpPr>
            <p:nvPr/>
          </p:nvCxnSpPr>
          <p:spPr>
            <a:xfrm>
              <a:off x="4419606" y="6248400"/>
              <a:ext cx="0" cy="914400"/>
            </a:xfrm>
            <a:prstGeom prst="line">
              <a:avLst/>
            </a:prstGeom>
            <a:ln w="3175">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34" name="직선 연결선 33">
              <a:extLst>
                <a:ext uri="{FF2B5EF4-FFF2-40B4-BE49-F238E27FC236}">
                  <a16:creationId xmlns:a16="http://schemas.microsoft.com/office/drawing/2014/main" id="{B597ADA4-6F76-9574-0CFF-A851A7352E62}"/>
                </a:ext>
              </a:extLst>
            </p:cNvPr>
            <p:cNvCxnSpPr>
              <a:cxnSpLocks/>
            </p:cNvCxnSpPr>
            <p:nvPr/>
          </p:nvCxnSpPr>
          <p:spPr>
            <a:xfrm flipH="1">
              <a:off x="1565648" y="7086600"/>
              <a:ext cx="2844000" cy="0"/>
            </a:xfrm>
            <a:prstGeom prst="line">
              <a:avLst/>
            </a:prstGeom>
            <a:ln w="3175">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EDF385F3-8926-8D21-652C-9984597690BC}"/>
                </a:ext>
              </a:extLst>
            </p:cNvPr>
            <p:cNvSpPr txBox="1"/>
            <p:nvPr/>
          </p:nvSpPr>
          <p:spPr>
            <a:xfrm>
              <a:off x="2575617" y="6988693"/>
              <a:ext cx="978400" cy="195814"/>
            </a:xfrm>
            <a:prstGeom prst="rect">
              <a:avLst/>
            </a:prstGeom>
            <a:solidFill>
              <a:schemeClr val="bg1"/>
            </a:solidFill>
          </p:spPr>
          <p:txBody>
            <a:bodyPr wrap="none" lIns="36000" tIns="36000" rIns="36000" bIns="36000" rtlCol="0" anchor="ctr" anchorCtr="0">
              <a:spAutoFit/>
            </a:bodyPr>
            <a:lstStyle/>
            <a:p>
              <a:r>
                <a:rPr lang="en-US" altLang="ko-KR" sz="800" dirty="0"/>
                <a:t>Stabilizing time &gt; 5ms</a:t>
              </a:r>
              <a:endParaRPr lang="ko-KR" altLang="en-US" sz="800" dirty="0"/>
            </a:p>
          </p:txBody>
        </p:sp>
        <p:cxnSp>
          <p:nvCxnSpPr>
            <p:cNvPr id="36" name="직선 연결선 35">
              <a:extLst>
                <a:ext uri="{FF2B5EF4-FFF2-40B4-BE49-F238E27FC236}">
                  <a16:creationId xmlns:a16="http://schemas.microsoft.com/office/drawing/2014/main" id="{099E2E03-B5EA-6AB3-3C18-00AFCDBC7476}"/>
                </a:ext>
              </a:extLst>
            </p:cNvPr>
            <p:cNvCxnSpPr>
              <a:cxnSpLocks/>
            </p:cNvCxnSpPr>
            <p:nvPr/>
          </p:nvCxnSpPr>
          <p:spPr>
            <a:xfrm>
              <a:off x="1184648" y="7086600"/>
              <a:ext cx="228600" cy="0"/>
            </a:xfrm>
            <a:prstGeom prst="line">
              <a:avLst/>
            </a:prstGeom>
            <a:ln w="3175">
              <a:solidFill>
                <a:schemeClr val="tx1"/>
              </a:solidFill>
              <a:headEnd type="none" w="sm" len="sm"/>
              <a:tailEnd type="triangle" w="sm" len="sm"/>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990E0AE4-9D4A-3134-370F-7B11B80A6427}"/>
                </a:ext>
              </a:extLst>
            </p:cNvPr>
            <p:cNvSpPr txBox="1"/>
            <p:nvPr/>
          </p:nvSpPr>
          <p:spPr>
            <a:xfrm>
              <a:off x="1051112" y="7172418"/>
              <a:ext cx="872602" cy="195814"/>
            </a:xfrm>
            <a:prstGeom prst="rect">
              <a:avLst/>
            </a:prstGeom>
            <a:solidFill>
              <a:schemeClr val="bg1"/>
            </a:solidFill>
          </p:spPr>
          <p:txBody>
            <a:bodyPr wrap="none" lIns="36000" tIns="36000" rIns="36000" bIns="36000" rtlCol="0" anchor="ctr" anchorCtr="0">
              <a:spAutoFit/>
            </a:bodyPr>
            <a:lstStyle/>
            <a:p>
              <a:r>
                <a:rPr lang="en-US" altLang="ko-KR" sz="800" dirty="0"/>
                <a:t>Ramp time &lt; 300us</a:t>
              </a:r>
              <a:endParaRPr lang="ko-KR" altLang="en-US" sz="800" dirty="0"/>
            </a:p>
          </p:txBody>
        </p:sp>
        <p:sp>
          <p:nvSpPr>
            <p:cNvPr id="39" name="TextBox 38">
              <a:extLst>
                <a:ext uri="{FF2B5EF4-FFF2-40B4-BE49-F238E27FC236}">
                  <a16:creationId xmlns:a16="http://schemas.microsoft.com/office/drawing/2014/main" id="{F71F38A8-3CCE-C13F-C1F8-74337E3AA18A}"/>
                </a:ext>
              </a:extLst>
            </p:cNvPr>
            <p:cNvSpPr txBox="1"/>
            <p:nvPr/>
          </p:nvSpPr>
          <p:spPr>
            <a:xfrm>
              <a:off x="1565648" y="6183185"/>
              <a:ext cx="681844" cy="123111"/>
            </a:xfrm>
            <a:prstGeom prst="rect">
              <a:avLst/>
            </a:prstGeom>
            <a:solidFill>
              <a:schemeClr val="bg1"/>
            </a:solidFill>
          </p:spPr>
          <p:txBody>
            <a:bodyPr wrap="none" lIns="36000" tIns="0" rIns="36000" bIns="0" rtlCol="0" anchor="ctr" anchorCtr="0">
              <a:spAutoFit/>
            </a:bodyPr>
            <a:lstStyle/>
            <a:p>
              <a:r>
                <a:rPr lang="en-US" altLang="ko-KR" sz="800" dirty="0"/>
                <a:t>Target Voltage</a:t>
              </a:r>
              <a:endParaRPr lang="ko-KR" altLang="en-US" sz="800" dirty="0"/>
            </a:p>
          </p:txBody>
        </p:sp>
        <p:sp>
          <p:nvSpPr>
            <p:cNvPr id="40" name="TextBox 39">
              <a:extLst>
                <a:ext uri="{FF2B5EF4-FFF2-40B4-BE49-F238E27FC236}">
                  <a16:creationId xmlns:a16="http://schemas.microsoft.com/office/drawing/2014/main" id="{918CDDF0-03EB-A6F7-250F-8AF82B55B18E}"/>
                </a:ext>
              </a:extLst>
            </p:cNvPr>
            <p:cNvSpPr txBox="1"/>
            <p:nvPr/>
          </p:nvSpPr>
          <p:spPr>
            <a:xfrm>
              <a:off x="473557" y="6743700"/>
              <a:ext cx="609462" cy="215444"/>
            </a:xfrm>
            <a:prstGeom prst="rect">
              <a:avLst/>
            </a:prstGeom>
            <a:noFill/>
          </p:spPr>
          <p:txBody>
            <a:bodyPr wrap="none" rtlCol="0">
              <a:spAutoFit/>
            </a:bodyPr>
            <a:lstStyle/>
            <a:p>
              <a:r>
                <a:rPr lang="en-US" altLang="ko-KR" sz="800" dirty="0"/>
                <a:t>Operation</a:t>
              </a:r>
              <a:endParaRPr lang="ko-KR" altLang="en-US" sz="800" baseline="-25000" dirty="0"/>
            </a:p>
          </p:txBody>
        </p:sp>
      </p:grpSp>
      <p:sp>
        <p:nvSpPr>
          <p:cNvPr id="12" name="object 9">
            <a:extLst>
              <a:ext uri="{FF2B5EF4-FFF2-40B4-BE49-F238E27FC236}">
                <a16:creationId xmlns:a16="http://schemas.microsoft.com/office/drawing/2014/main" id="{E094F71D-603D-B4EF-FE52-A4774FCA4B2F}"/>
              </a:ext>
            </a:extLst>
          </p:cNvPr>
          <p:cNvSpPr txBox="1"/>
          <p:nvPr/>
        </p:nvSpPr>
        <p:spPr>
          <a:xfrm>
            <a:off x="304800" y="9067800"/>
            <a:ext cx="2078355" cy="289823"/>
          </a:xfrm>
          <a:prstGeom prst="rect">
            <a:avLst/>
          </a:prstGeom>
        </p:spPr>
        <p:txBody>
          <a:bodyPr vert="horz" wrap="square" lIns="0" tIns="12700" rIns="0" bIns="0" rtlCol="0">
            <a:spAutoFit/>
          </a:bodyPr>
          <a:lstStyle/>
          <a:p>
            <a:pPr marL="12700">
              <a:lnSpc>
                <a:spcPct val="100000"/>
              </a:lnSpc>
              <a:spcBef>
                <a:spcPts val="100"/>
              </a:spcBef>
            </a:pPr>
            <a:r>
              <a:rPr b="1" spc="-5" dirty="0">
                <a:solidFill>
                  <a:srgbClr val="FF0000"/>
                </a:solidFill>
                <a:cs typeface="Perpetua Titling MT"/>
              </a:rPr>
              <a:t>CONFIDENTIAL</a:t>
            </a:r>
            <a:endParaRPr dirty="0">
              <a:cs typeface="Perpetua Titling MT"/>
            </a:endParaRPr>
          </a:p>
        </p:txBody>
      </p:sp>
      <p:sp>
        <p:nvSpPr>
          <p:cNvPr id="13" name="object 6">
            <a:extLst>
              <a:ext uri="{FF2B5EF4-FFF2-40B4-BE49-F238E27FC236}">
                <a16:creationId xmlns:a16="http://schemas.microsoft.com/office/drawing/2014/main" id="{21540030-16F9-E47C-FC68-B4A7E06C2EC2}"/>
              </a:ext>
            </a:extLst>
          </p:cNvPr>
          <p:cNvSpPr/>
          <p:nvPr/>
        </p:nvSpPr>
        <p:spPr>
          <a:xfrm>
            <a:off x="301676" y="9458756"/>
            <a:ext cx="6246495" cy="0"/>
          </a:xfrm>
          <a:custGeom>
            <a:avLst/>
            <a:gdLst/>
            <a:ahLst/>
            <a:cxnLst/>
            <a:rect l="l" t="t" r="r" b="b"/>
            <a:pathLst>
              <a:path w="6246495">
                <a:moveTo>
                  <a:pt x="0" y="0"/>
                </a:moveTo>
                <a:lnTo>
                  <a:pt x="6245999" y="0"/>
                </a:lnTo>
              </a:path>
            </a:pathLst>
          </a:custGeom>
          <a:ln w="25920">
            <a:solidFill>
              <a:srgbClr val="BFBFBF"/>
            </a:solidFill>
          </a:ln>
        </p:spPr>
        <p:txBody>
          <a:bodyPr wrap="square" lIns="0" tIns="0" rIns="0" bIns="0" rtlCol="0"/>
          <a:lstStyle/>
          <a:p>
            <a:endParaRPr/>
          </a:p>
        </p:txBody>
      </p:sp>
      <p:sp>
        <p:nvSpPr>
          <p:cNvPr id="14" name="슬라이드 번호 개체 틀 3">
            <a:hlinkClick r:id="rId2"/>
            <a:extLst>
              <a:ext uri="{FF2B5EF4-FFF2-40B4-BE49-F238E27FC236}">
                <a16:creationId xmlns:a16="http://schemas.microsoft.com/office/drawing/2014/main" id="{2A1F604C-AA23-1529-2308-09402B5DB923}"/>
              </a:ext>
            </a:extLst>
          </p:cNvPr>
          <p:cNvSpPr txBox="1">
            <a:spLocks/>
          </p:cNvSpPr>
          <p:nvPr/>
        </p:nvSpPr>
        <p:spPr>
          <a:xfrm>
            <a:off x="5151602" y="9452864"/>
            <a:ext cx="1487550"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dirty="0">
                <a:solidFill>
                  <a:prstClr val="black"/>
                </a:solidFill>
                <a:latin typeface="Arial" panose="020B0604020202020204" pitchFamily="34" charset="0"/>
                <a:cs typeface="Arial" panose="020B0604020202020204" pitchFamily="34" charset="0"/>
              </a:rPr>
              <a:t>http://www.glbltech.com/</a:t>
            </a:r>
            <a:endParaRPr lang="ko-KR" altLang="en-US" dirty="0">
              <a:solidFill>
                <a:prstClr val="black"/>
              </a:solidFill>
              <a:latin typeface="Arial" panose="020B0604020202020204" pitchFamily="34" charset="0"/>
              <a:cs typeface="Arial" panose="020B0604020202020204" pitchFamily="34" charset="0"/>
            </a:endParaRPr>
          </a:p>
        </p:txBody>
      </p:sp>
      <p:sp>
        <p:nvSpPr>
          <p:cNvPr id="15" name="object 38">
            <a:extLst>
              <a:ext uri="{FF2B5EF4-FFF2-40B4-BE49-F238E27FC236}">
                <a16:creationId xmlns:a16="http://schemas.microsoft.com/office/drawing/2014/main" id="{E9E94A49-0067-92BA-3F33-EC8679DF2325}"/>
              </a:ext>
            </a:extLst>
          </p:cNvPr>
          <p:cNvSpPr txBox="1">
            <a:spLocks/>
          </p:cNvSpPr>
          <p:nvPr/>
        </p:nvSpPr>
        <p:spPr>
          <a:xfrm>
            <a:off x="3309066" y="9547988"/>
            <a:ext cx="487045" cy="139141"/>
          </a:xfrm>
          <a:prstGeom prst="rect">
            <a:avLst/>
          </a:prstGeom>
        </p:spPr>
        <p:txBody>
          <a:bodyPr vert="horz" wrap="square" lIns="0" tIns="635" rIns="0" bIns="0" rtlCol="0">
            <a:spAutoFit/>
          </a:bodyPr>
          <a:lstStyle>
            <a:defPPr>
              <a:defRPr lang="ko-KR"/>
            </a:defPPr>
            <a:lvl1pPr marL="0" algn="l" defTabSz="914400" rtl="0" eaLnBrk="1" latinLnBrk="1" hangingPunct="1">
              <a:defRPr sz="1050" b="0" i="0" kern="1200">
                <a:solidFill>
                  <a:schemeClr val="tx1"/>
                </a:solidFill>
                <a:latin typeface="Arial"/>
                <a:ea typeface="+mn-ea"/>
                <a:cs typeface="Arial"/>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marL="12700">
              <a:spcBef>
                <a:spcPts val="5"/>
              </a:spcBef>
              <a:defRPr/>
            </a:pPr>
            <a:r>
              <a:rPr lang="en-US" sz="900" dirty="0">
                <a:solidFill>
                  <a:prstClr val="black"/>
                </a:solidFill>
              </a:rPr>
              <a:t>Page</a:t>
            </a:r>
            <a:r>
              <a:rPr lang="en-US" sz="900" spc="-60" dirty="0">
                <a:solidFill>
                  <a:prstClr val="black"/>
                </a:solidFill>
              </a:rPr>
              <a:t> </a:t>
            </a:r>
            <a:fld id="{81D60167-4931-47E6-BA6A-407CBD079E47}" type="slidenum">
              <a:rPr sz="900">
                <a:solidFill>
                  <a:prstClr val="black"/>
                </a:solidFill>
              </a:rPr>
              <a:pPr marL="12700">
                <a:spcBef>
                  <a:spcPts val="5"/>
                </a:spcBef>
                <a:defRPr/>
              </a:pPr>
              <a:t>12</a:t>
            </a:fld>
            <a:endParaRPr sz="900" dirty="0">
              <a:solidFill>
                <a:prstClr val="black"/>
              </a:solidFill>
            </a:endParaRPr>
          </a:p>
        </p:txBody>
      </p:sp>
      <p:sp>
        <p:nvSpPr>
          <p:cNvPr id="17" name="슬라이드 번호 개체 틀 3">
            <a:extLst>
              <a:ext uri="{FF2B5EF4-FFF2-40B4-BE49-F238E27FC236}">
                <a16:creationId xmlns:a16="http://schemas.microsoft.com/office/drawing/2014/main" id="{928C373A-F3FB-C7C9-242C-FB78C5353029}"/>
              </a:ext>
            </a:extLst>
          </p:cNvPr>
          <p:cNvSpPr txBox="1">
            <a:spLocks/>
          </p:cNvSpPr>
          <p:nvPr/>
        </p:nvSpPr>
        <p:spPr>
          <a:xfrm>
            <a:off x="299401" y="9520856"/>
            <a:ext cx="2060991" cy="175259"/>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lang="en-US" altLang="ko-KR" dirty="0">
                <a:solidFill>
                  <a:prstClr val="black"/>
                </a:solidFill>
                <a:latin typeface="Arial" panose="020B0604020202020204" pitchFamily="34" charset="0"/>
                <a:cs typeface="Arial" panose="020B0604020202020204" pitchFamily="34" charset="0"/>
              </a:rPr>
              <a:t>Dated 30-Nov 23  Rev. 01</a:t>
            </a:r>
            <a:endParaRPr lang="ko-KR" altLang="en-US" dirty="0">
              <a:solidFill>
                <a:prstClr val="black"/>
              </a:solidFill>
              <a:latin typeface="Arial" panose="020B0604020202020204" pitchFamily="34" charset="0"/>
              <a:cs typeface="Arial" panose="020B0604020202020204" pitchFamily="34" charset="0"/>
            </a:endParaRPr>
          </a:p>
        </p:txBody>
      </p:sp>
      <p:sp>
        <p:nvSpPr>
          <p:cNvPr id="19" name="Holder 3">
            <a:extLst>
              <a:ext uri="{FF2B5EF4-FFF2-40B4-BE49-F238E27FC236}">
                <a16:creationId xmlns:a16="http://schemas.microsoft.com/office/drawing/2014/main" id="{29767D23-7703-8C60-577A-BE172B2E0408}"/>
              </a:ext>
            </a:extLst>
          </p:cNvPr>
          <p:cNvSpPr txBox="1">
            <a:spLocks/>
          </p:cNvSpPr>
          <p:nvPr/>
        </p:nvSpPr>
        <p:spPr>
          <a:xfrm>
            <a:off x="5147476" y="203944"/>
            <a:ext cx="1447800" cy="276999"/>
          </a:xfrm>
          <a:prstGeom prst="rect">
            <a:avLst/>
          </a:prstGeom>
        </p:spPr>
        <p:txBody>
          <a:bodyPr wrap="square" lIns="0" tIns="0" rIns="0" bIns="0">
            <a:spAutoFit/>
          </a:bodyPr>
          <a:lstStyle>
            <a:lvl1pPr marL="0">
              <a:defRPr>
                <a:solidFill>
                  <a:srgbClr val="FF99FF"/>
                </a:solidFill>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defTabSz="914400" latinLnBrk="0"/>
            <a:r>
              <a:rPr lang="en-US" sz="1800" kern="0" dirty="0"/>
              <a:t>&lt;Preliminary&gt;</a:t>
            </a:r>
          </a:p>
        </p:txBody>
      </p:sp>
      <p:sp>
        <p:nvSpPr>
          <p:cNvPr id="5" name="object 84">
            <a:extLst>
              <a:ext uri="{FF2B5EF4-FFF2-40B4-BE49-F238E27FC236}">
                <a16:creationId xmlns:a16="http://schemas.microsoft.com/office/drawing/2014/main" id="{37932A4A-A2B4-8494-8AE7-9035A399CFBD}"/>
              </a:ext>
            </a:extLst>
          </p:cNvPr>
          <p:cNvSpPr txBox="1"/>
          <p:nvPr/>
        </p:nvSpPr>
        <p:spPr>
          <a:xfrm>
            <a:off x="2755443" y="6392443"/>
            <a:ext cx="2276000" cy="153888"/>
          </a:xfrm>
          <a:prstGeom prst="rect">
            <a:avLst/>
          </a:prstGeom>
        </p:spPr>
        <p:txBody>
          <a:bodyPr vert="horz" wrap="square" lIns="0" tIns="15240" rIns="0" bIns="0" rtlCol="0">
            <a:spAutoFit/>
          </a:bodyPr>
          <a:lstStyle/>
          <a:p>
            <a:pPr marL="12700">
              <a:lnSpc>
                <a:spcPct val="100000"/>
              </a:lnSpc>
              <a:spcBef>
                <a:spcPts val="120"/>
              </a:spcBef>
            </a:pPr>
            <a:r>
              <a:rPr lang="en-US" sz="900" b="1" spc="15" dirty="0">
                <a:latin typeface="Arial" panose="020B0604020202020204" pitchFamily="34" charset="0"/>
                <a:cs typeface="Arial" panose="020B0604020202020204" pitchFamily="34" charset="0"/>
              </a:rPr>
              <a:t>Fig 4. Power Sequence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2" name="object 2"/>
          <p:cNvGraphicFramePr>
            <a:graphicFrameLocks noGrp="1"/>
          </p:cNvGraphicFramePr>
          <p:nvPr>
            <p:extLst>
              <p:ext uri="{D42A27DB-BD31-4B8C-83A1-F6EECF244321}">
                <p14:modId xmlns:p14="http://schemas.microsoft.com/office/powerpoint/2010/main" val="3377678507"/>
              </p:ext>
            </p:extLst>
          </p:nvPr>
        </p:nvGraphicFramePr>
        <p:xfrm>
          <a:off x="404812" y="1076325"/>
          <a:ext cx="6008431" cy="4237979"/>
        </p:xfrm>
        <a:graphic>
          <a:graphicData uri="http://schemas.openxmlformats.org/drawingml/2006/table">
            <a:tbl>
              <a:tblPr firstRow="1" bandRow="1">
                <a:tableStyleId>{2D5ABB26-0587-4C30-8999-92F81FD0307C}</a:tableStyleId>
              </a:tblPr>
              <a:tblGrid>
                <a:gridCol w="2160270">
                  <a:extLst>
                    <a:ext uri="{9D8B030D-6E8A-4147-A177-3AD203B41FA5}">
                      <a16:colId xmlns:a16="http://schemas.microsoft.com/office/drawing/2014/main" val="20000"/>
                    </a:ext>
                  </a:extLst>
                </a:gridCol>
                <a:gridCol w="648334">
                  <a:extLst>
                    <a:ext uri="{9D8B030D-6E8A-4147-A177-3AD203B41FA5}">
                      <a16:colId xmlns:a16="http://schemas.microsoft.com/office/drawing/2014/main" val="20001"/>
                    </a:ext>
                  </a:extLst>
                </a:gridCol>
                <a:gridCol w="1162050">
                  <a:extLst>
                    <a:ext uri="{9D8B030D-6E8A-4147-A177-3AD203B41FA5}">
                      <a16:colId xmlns:a16="http://schemas.microsoft.com/office/drawing/2014/main" val="20002"/>
                    </a:ext>
                  </a:extLst>
                </a:gridCol>
                <a:gridCol w="651573">
                  <a:extLst>
                    <a:ext uri="{9D8B030D-6E8A-4147-A177-3AD203B41FA5}">
                      <a16:colId xmlns:a16="http://schemas.microsoft.com/office/drawing/2014/main" val="20003"/>
                    </a:ext>
                  </a:extLst>
                </a:gridCol>
                <a:gridCol w="516254">
                  <a:extLst>
                    <a:ext uri="{9D8B030D-6E8A-4147-A177-3AD203B41FA5}">
                      <a16:colId xmlns:a16="http://schemas.microsoft.com/office/drawing/2014/main" val="20004"/>
                    </a:ext>
                  </a:extLst>
                </a:gridCol>
                <a:gridCol w="469265">
                  <a:extLst>
                    <a:ext uri="{9D8B030D-6E8A-4147-A177-3AD203B41FA5}">
                      <a16:colId xmlns:a16="http://schemas.microsoft.com/office/drawing/2014/main" val="20005"/>
                    </a:ext>
                  </a:extLst>
                </a:gridCol>
                <a:gridCol w="400685">
                  <a:extLst>
                    <a:ext uri="{9D8B030D-6E8A-4147-A177-3AD203B41FA5}">
                      <a16:colId xmlns:a16="http://schemas.microsoft.com/office/drawing/2014/main" val="20006"/>
                    </a:ext>
                  </a:extLst>
                </a:gridCol>
              </a:tblGrid>
              <a:tr h="197485">
                <a:tc rowSpan="2">
                  <a:txBody>
                    <a:bodyPr/>
                    <a:lstStyle/>
                    <a:p>
                      <a:pPr>
                        <a:lnSpc>
                          <a:spcPct val="100000"/>
                        </a:lnSpc>
                        <a:spcBef>
                          <a:spcPts val="30"/>
                        </a:spcBef>
                      </a:pPr>
                      <a:endParaRPr sz="850" dirty="0">
                        <a:latin typeface="Times New Roman"/>
                        <a:cs typeface="Times New Roman"/>
                      </a:endParaRPr>
                    </a:p>
                    <a:p>
                      <a:pPr marL="665480">
                        <a:lnSpc>
                          <a:spcPct val="100000"/>
                        </a:lnSpc>
                      </a:pPr>
                      <a:r>
                        <a:rPr sz="900" b="1" spc="-5" dirty="0">
                          <a:latin typeface="Arial"/>
                          <a:cs typeface="Arial"/>
                        </a:rPr>
                        <a:t>Characteristics</a:t>
                      </a:r>
                      <a:endParaRPr sz="900" dirty="0">
                        <a:latin typeface="Arial"/>
                        <a:cs typeface="Arial"/>
                      </a:endParaRPr>
                    </a:p>
                  </a:txBody>
                  <a:tcPr marL="0" marR="0" marT="3810" marB="0">
                    <a:lnR w="3175">
                      <a:solidFill>
                        <a:srgbClr val="000000"/>
                      </a:solidFill>
                      <a:prstDash val="solid"/>
                    </a:lnR>
                    <a:lnT w="12700">
                      <a:solidFill>
                        <a:srgbClr val="A6A6A6"/>
                      </a:solidFill>
                      <a:prstDash val="solid"/>
                    </a:lnT>
                    <a:lnB w="3175">
                      <a:solidFill>
                        <a:srgbClr val="000000"/>
                      </a:solidFill>
                      <a:prstDash val="solid"/>
                    </a:lnB>
                    <a:solidFill>
                      <a:srgbClr val="F1F1F1"/>
                    </a:solidFill>
                  </a:tcPr>
                </a:tc>
                <a:tc rowSpan="2">
                  <a:txBody>
                    <a:bodyPr/>
                    <a:lstStyle/>
                    <a:p>
                      <a:pPr>
                        <a:lnSpc>
                          <a:spcPct val="100000"/>
                        </a:lnSpc>
                        <a:spcBef>
                          <a:spcPts val="30"/>
                        </a:spcBef>
                      </a:pPr>
                      <a:endParaRPr sz="850" dirty="0">
                        <a:latin typeface="Times New Roman"/>
                        <a:cs typeface="Times New Roman"/>
                      </a:endParaRPr>
                    </a:p>
                    <a:p>
                      <a:pPr marL="119380">
                        <a:lnSpc>
                          <a:spcPct val="100000"/>
                        </a:lnSpc>
                      </a:pPr>
                      <a:r>
                        <a:rPr sz="900" b="1" spc="-10" dirty="0">
                          <a:latin typeface="Arial"/>
                          <a:cs typeface="Arial"/>
                        </a:rPr>
                        <a:t>Symbol</a:t>
                      </a:r>
                      <a:endParaRPr sz="900" dirty="0">
                        <a:latin typeface="Arial"/>
                        <a:cs typeface="Arial"/>
                      </a:endParaRPr>
                    </a:p>
                  </a:txBody>
                  <a:tcPr marL="0" marR="0" marT="3810" marB="0">
                    <a:lnL w="3175">
                      <a:solidFill>
                        <a:srgbClr val="000000"/>
                      </a:solidFill>
                      <a:prstDash val="solid"/>
                    </a:lnL>
                    <a:lnR w="3175">
                      <a:solidFill>
                        <a:srgbClr val="000000"/>
                      </a:solidFill>
                      <a:prstDash val="solid"/>
                    </a:lnR>
                    <a:lnT w="12700">
                      <a:solidFill>
                        <a:srgbClr val="A6A6A6"/>
                      </a:solidFill>
                      <a:prstDash val="solid"/>
                    </a:lnT>
                    <a:lnB w="3175">
                      <a:solidFill>
                        <a:srgbClr val="000000"/>
                      </a:solidFill>
                      <a:prstDash val="solid"/>
                    </a:lnB>
                    <a:solidFill>
                      <a:srgbClr val="F1F1F1"/>
                    </a:solidFill>
                  </a:tcPr>
                </a:tc>
                <a:tc rowSpan="2">
                  <a:txBody>
                    <a:bodyPr/>
                    <a:lstStyle/>
                    <a:p>
                      <a:pPr>
                        <a:lnSpc>
                          <a:spcPct val="100000"/>
                        </a:lnSpc>
                        <a:spcBef>
                          <a:spcPts val="30"/>
                        </a:spcBef>
                      </a:pPr>
                      <a:endParaRPr sz="850" dirty="0">
                        <a:latin typeface="Times New Roman"/>
                        <a:cs typeface="Times New Roman"/>
                      </a:endParaRPr>
                    </a:p>
                    <a:p>
                      <a:pPr marL="313055">
                        <a:lnSpc>
                          <a:spcPct val="100000"/>
                        </a:lnSpc>
                      </a:pPr>
                      <a:r>
                        <a:rPr sz="900" b="1" dirty="0">
                          <a:latin typeface="Arial"/>
                          <a:cs typeface="Arial"/>
                        </a:rPr>
                        <a:t>Condition</a:t>
                      </a:r>
                      <a:endParaRPr sz="900" dirty="0">
                        <a:latin typeface="Arial"/>
                        <a:cs typeface="Arial"/>
                      </a:endParaRPr>
                    </a:p>
                  </a:txBody>
                  <a:tcPr marL="0" marR="0" marT="3810" marB="0">
                    <a:lnL w="3175">
                      <a:solidFill>
                        <a:srgbClr val="000000"/>
                      </a:solidFill>
                      <a:prstDash val="solid"/>
                    </a:lnL>
                    <a:lnR w="3175">
                      <a:solidFill>
                        <a:srgbClr val="000000"/>
                      </a:solidFill>
                      <a:prstDash val="solid"/>
                    </a:lnR>
                    <a:lnT w="12700">
                      <a:solidFill>
                        <a:srgbClr val="A6A6A6"/>
                      </a:solidFill>
                      <a:prstDash val="solid"/>
                    </a:lnT>
                    <a:lnB w="3175">
                      <a:solidFill>
                        <a:srgbClr val="000000"/>
                      </a:solidFill>
                      <a:prstDash val="solid"/>
                    </a:lnB>
                    <a:solidFill>
                      <a:srgbClr val="F1F1F1"/>
                    </a:solidFill>
                  </a:tcPr>
                </a:tc>
                <a:tc gridSpan="3">
                  <a:txBody>
                    <a:bodyPr/>
                    <a:lstStyle/>
                    <a:p>
                      <a:pPr marL="10160" algn="ctr">
                        <a:lnSpc>
                          <a:spcPct val="100000"/>
                        </a:lnSpc>
                        <a:spcBef>
                          <a:spcPts val="229"/>
                        </a:spcBef>
                      </a:pPr>
                      <a:r>
                        <a:rPr sz="900" b="1" dirty="0">
                          <a:latin typeface="Arial"/>
                          <a:cs typeface="Arial"/>
                        </a:rPr>
                        <a:t>Value</a:t>
                      </a:r>
                      <a:endParaRPr sz="900" dirty="0">
                        <a:latin typeface="Arial"/>
                        <a:cs typeface="Arial"/>
                      </a:endParaRPr>
                    </a:p>
                  </a:txBody>
                  <a:tcPr marL="0" marR="0" marT="29209" marB="0">
                    <a:lnL w="3175">
                      <a:solidFill>
                        <a:srgbClr val="000000"/>
                      </a:solidFill>
                      <a:prstDash val="solid"/>
                    </a:lnL>
                    <a:lnR w="3175">
                      <a:solidFill>
                        <a:srgbClr val="000000"/>
                      </a:solidFill>
                      <a:prstDash val="solid"/>
                    </a:lnR>
                    <a:lnT w="12700">
                      <a:solidFill>
                        <a:srgbClr val="A6A6A6"/>
                      </a:solidFill>
                      <a:prstDash val="solid"/>
                    </a:lnT>
                    <a:lnB w="6350">
                      <a:solidFill>
                        <a:srgbClr val="7E7E7E"/>
                      </a:solidFill>
                      <a:prstDash val="solid"/>
                    </a:lnB>
                    <a:solidFill>
                      <a:srgbClr val="F1F1F1"/>
                    </a:solidFill>
                  </a:tcPr>
                </a:tc>
                <a:tc hMerge="1">
                  <a:txBody>
                    <a:bodyPr/>
                    <a:lstStyle/>
                    <a:p>
                      <a:endParaRPr/>
                    </a:p>
                  </a:txBody>
                  <a:tcPr marL="0" marR="0" marT="0" marB="0"/>
                </a:tc>
                <a:tc hMerge="1">
                  <a:txBody>
                    <a:bodyPr/>
                    <a:lstStyle/>
                    <a:p>
                      <a:endParaRPr/>
                    </a:p>
                  </a:txBody>
                  <a:tcPr marL="0" marR="0" marT="0" marB="0"/>
                </a:tc>
                <a:tc rowSpan="2">
                  <a:txBody>
                    <a:bodyPr/>
                    <a:lstStyle/>
                    <a:p>
                      <a:pPr>
                        <a:lnSpc>
                          <a:spcPct val="100000"/>
                        </a:lnSpc>
                        <a:spcBef>
                          <a:spcPts val="30"/>
                        </a:spcBef>
                      </a:pPr>
                      <a:endParaRPr sz="850" dirty="0">
                        <a:latin typeface="Times New Roman"/>
                        <a:cs typeface="Times New Roman"/>
                      </a:endParaRPr>
                    </a:p>
                    <a:p>
                      <a:pPr marL="146685">
                        <a:lnSpc>
                          <a:spcPct val="100000"/>
                        </a:lnSpc>
                      </a:pPr>
                      <a:r>
                        <a:rPr sz="900" b="1" dirty="0">
                          <a:latin typeface="Arial"/>
                          <a:cs typeface="Arial"/>
                        </a:rPr>
                        <a:t>Unit</a:t>
                      </a:r>
                      <a:endParaRPr sz="900" dirty="0">
                        <a:latin typeface="Arial"/>
                        <a:cs typeface="Arial"/>
                      </a:endParaRPr>
                    </a:p>
                  </a:txBody>
                  <a:tcPr marL="0" marR="0" marT="3810" marB="0">
                    <a:lnL w="3175">
                      <a:solidFill>
                        <a:srgbClr val="000000"/>
                      </a:solidFill>
                      <a:prstDash val="solid"/>
                    </a:lnL>
                    <a:lnT w="12700">
                      <a:solidFill>
                        <a:srgbClr val="A6A6A6"/>
                      </a:solidFill>
                      <a:prstDash val="solid"/>
                    </a:lnT>
                    <a:lnB w="3175">
                      <a:solidFill>
                        <a:srgbClr val="000000"/>
                      </a:solidFill>
                      <a:prstDash val="solid"/>
                    </a:lnB>
                    <a:solidFill>
                      <a:srgbClr val="F1F1F1"/>
                    </a:solidFill>
                  </a:tcPr>
                </a:tc>
                <a:extLst>
                  <a:ext uri="{0D108BD9-81ED-4DB2-BD59-A6C34878D82A}">
                    <a16:rowId xmlns:a16="http://schemas.microsoft.com/office/drawing/2014/main" val="10000"/>
                  </a:ext>
                </a:extLst>
              </a:tr>
              <a:tr h="198120">
                <a:tc vMerge="1">
                  <a:txBody>
                    <a:bodyPr/>
                    <a:lstStyle/>
                    <a:p>
                      <a:endParaRPr/>
                    </a:p>
                  </a:txBody>
                  <a:tcPr marL="0" marR="0" marT="3810" marB="0">
                    <a:lnR w="3175">
                      <a:solidFill>
                        <a:srgbClr val="000000"/>
                      </a:solidFill>
                      <a:prstDash val="solid"/>
                    </a:lnR>
                    <a:lnT w="12700">
                      <a:solidFill>
                        <a:srgbClr val="A6A6A6"/>
                      </a:solidFill>
                      <a:prstDash val="solid"/>
                    </a:lnT>
                    <a:lnB w="3175">
                      <a:solidFill>
                        <a:srgbClr val="000000"/>
                      </a:solidFill>
                      <a:prstDash val="solid"/>
                    </a:lnB>
                    <a:solidFill>
                      <a:srgbClr val="F1F1F1"/>
                    </a:solidFill>
                  </a:tcPr>
                </a:tc>
                <a:tc vMerge="1">
                  <a:txBody>
                    <a:bodyPr/>
                    <a:lstStyle/>
                    <a:p>
                      <a:endParaRPr/>
                    </a:p>
                  </a:txBody>
                  <a:tcPr marL="0" marR="0" marT="3810" marB="0">
                    <a:lnL w="3175">
                      <a:solidFill>
                        <a:srgbClr val="000000"/>
                      </a:solidFill>
                      <a:prstDash val="solid"/>
                    </a:lnL>
                    <a:lnR w="3175">
                      <a:solidFill>
                        <a:srgbClr val="000000"/>
                      </a:solidFill>
                      <a:prstDash val="solid"/>
                    </a:lnR>
                    <a:lnT w="12700">
                      <a:solidFill>
                        <a:srgbClr val="A6A6A6"/>
                      </a:solidFill>
                      <a:prstDash val="solid"/>
                    </a:lnT>
                    <a:lnB w="3175">
                      <a:solidFill>
                        <a:srgbClr val="000000"/>
                      </a:solidFill>
                      <a:prstDash val="solid"/>
                    </a:lnB>
                    <a:solidFill>
                      <a:srgbClr val="F1F1F1"/>
                    </a:solidFill>
                  </a:tcPr>
                </a:tc>
                <a:tc vMerge="1">
                  <a:txBody>
                    <a:bodyPr/>
                    <a:lstStyle/>
                    <a:p>
                      <a:endParaRPr/>
                    </a:p>
                  </a:txBody>
                  <a:tcPr marL="0" marR="0" marT="3810" marB="0">
                    <a:lnL w="3175">
                      <a:solidFill>
                        <a:srgbClr val="000000"/>
                      </a:solidFill>
                      <a:prstDash val="solid"/>
                    </a:lnL>
                    <a:lnR w="3175">
                      <a:solidFill>
                        <a:srgbClr val="000000"/>
                      </a:solidFill>
                      <a:prstDash val="solid"/>
                    </a:lnR>
                    <a:lnT w="12700">
                      <a:solidFill>
                        <a:srgbClr val="A6A6A6"/>
                      </a:solidFill>
                      <a:prstDash val="solid"/>
                    </a:lnT>
                    <a:lnB w="3175">
                      <a:solidFill>
                        <a:srgbClr val="000000"/>
                      </a:solidFill>
                      <a:prstDash val="solid"/>
                    </a:lnB>
                    <a:solidFill>
                      <a:srgbClr val="F1F1F1"/>
                    </a:solidFill>
                  </a:tcPr>
                </a:tc>
                <a:tc>
                  <a:txBody>
                    <a:bodyPr/>
                    <a:lstStyle/>
                    <a:p>
                      <a:pPr algn="ctr">
                        <a:lnSpc>
                          <a:spcPct val="100000"/>
                        </a:lnSpc>
                        <a:spcBef>
                          <a:spcPts val="229"/>
                        </a:spcBef>
                      </a:pPr>
                      <a:r>
                        <a:rPr sz="900" b="1" dirty="0">
                          <a:latin typeface="Arial"/>
                          <a:cs typeface="Arial"/>
                        </a:rPr>
                        <a:t>min</a:t>
                      </a:r>
                      <a:endParaRPr sz="900" dirty="0">
                        <a:latin typeface="Arial"/>
                        <a:cs typeface="Arial"/>
                      </a:endParaRPr>
                    </a:p>
                  </a:txBody>
                  <a:tcPr marL="0" marR="0" marT="29209" marB="0">
                    <a:lnL w="3175">
                      <a:solidFill>
                        <a:srgbClr val="000000"/>
                      </a:solidFill>
                      <a:prstDash val="solid"/>
                    </a:lnL>
                    <a:lnR w="3175">
                      <a:solidFill>
                        <a:srgbClr val="000000"/>
                      </a:solidFill>
                      <a:prstDash val="solid"/>
                    </a:lnR>
                    <a:lnT w="6350">
                      <a:solidFill>
                        <a:srgbClr val="7E7E7E"/>
                      </a:solidFill>
                      <a:prstDash val="solid"/>
                    </a:lnT>
                    <a:lnB w="3175">
                      <a:solidFill>
                        <a:srgbClr val="000000"/>
                      </a:solidFill>
                      <a:prstDash val="solid"/>
                    </a:lnB>
                    <a:solidFill>
                      <a:srgbClr val="F1F1F1"/>
                    </a:solidFill>
                  </a:tcPr>
                </a:tc>
                <a:tc>
                  <a:txBody>
                    <a:bodyPr/>
                    <a:lstStyle/>
                    <a:p>
                      <a:pPr marL="1905" algn="ctr">
                        <a:lnSpc>
                          <a:spcPct val="100000"/>
                        </a:lnSpc>
                        <a:spcBef>
                          <a:spcPts val="229"/>
                        </a:spcBef>
                      </a:pPr>
                      <a:r>
                        <a:rPr sz="900" b="1" spc="-15" dirty="0">
                          <a:latin typeface="Arial"/>
                          <a:cs typeface="Arial"/>
                        </a:rPr>
                        <a:t>typ</a:t>
                      </a:r>
                      <a:endParaRPr sz="900" dirty="0">
                        <a:latin typeface="Arial"/>
                        <a:cs typeface="Arial"/>
                      </a:endParaRPr>
                    </a:p>
                  </a:txBody>
                  <a:tcPr marL="0" marR="0" marT="29209" marB="0">
                    <a:lnL w="3175">
                      <a:solidFill>
                        <a:srgbClr val="000000"/>
                      </a:solidFill>
                      <a:prstDash val="solid"/>
                    </a:lnL>
                    <a:lnR w="3175">
                      <a:solidFill>
                        <a:srgbClr val="000000"/>
                      </a:solidFill>
                      <a:prstDash val="solid"/>
                    </a:lnR>
                    <a:lnT w="6350">
                      <a:solidFill>
                        <a:srgbClr val="7E7E7E"/>
                      </a:solidFill>
                      <a:prstDash val="solid"/>
                    </a:lnT>
                    <a:lnB w="3175">
                      <a:solidFill>
                        <a:srgbClr val="000000"/>
                      </a:solidFill>
                      <a:prstDash val="solid"/>
                    </a:lnB>
                    <a:solidFill>
                      <a:srgbClr val="F1F1F1"/>
                    </a:solidFill>
                  </a:tcPr>
                </a:tc>
                <a:tc>
                  <a:txBody>
                    <a:bodyPr/>
                    <a:lstStyle/>
                    <a:p>
                      <a:pPr marL="2540" algn="ctr">
                        <a:lnSpc>
                          <a:spcPct val="100000"/>
                        </a:lnSpc>
                        <a:spcBef>
                          <a:spcPts val="229"/>
                        </a:spcBef>
                      </a:pPr>
                      <a:r>
                        <a:rPr sz="900" b="1" spc="-5" dirty="0">
                          <a:latin typeface="Arial"/>
                          <a:cs typeface="Arial"/>
                        </a:rPr>
                        <a:t>max</a:t>
                      </a:r>
                      <a:endParaRPr sz="900" dirty="0">
                        <a:latin typeface="Arial"/>
                        <a:cs typeface="Arial"/>
                      </a:endParaRPr>
                    </a:p>
                  </a:txBody>
                  <a:tcPr marL="0" marR="0" marT="29209" marB="0">
                    <a:lnL w="3175">
                      <a:solidFill>
                        <a:srgbClr val="000000"/>
                      </a:solidFill>
                      <a:prstDash val="solid"/>
                    </a:lnL>
                    <a:lnR w="3175">
                      <a:solidFill>
                        <a:srgbClr val="000000"/>
                      </a:solidFill>
                      <a:prstDash val="solid"/>
                    </a:lnR>
                    <a:lnT w="6350">
                      <a:solidFill>
                        <a:srgbClr val="7E7E7E"/>
                      </a:solidFill>
                      <a:prstDash val="solid"/>
                    </a:lnT>
                    <a:lnB w="3175">
                      <a:solidFill>
                        <a:srgbClr val="000000"/>
                      </a:solidFill>
                      <a:prstDash val="solid"/>
                    </a:lnB>
                    <a:solidFill>
                      <a:srgbClr val="F1F1F1"/>
                    </a:solidFill>
                  </a:tcPr>
                </a:tc>
                <a:tc vMerge="1">
                  <a:txBody>
                    <a:bodyPr/>
                    <a:lstStyle/>
                    <a:p>
                      <a:endParaRPr/>
                    </a:p>
                  </a:txBody>
                  <a:tcPr marL="0" marR="0" marT="3810" marB="0">
                    <a:lnL w="3175">
                      <a:solidFill>
                        <a:srgbClr val="000000"/>
                      </a:solidFill>
                      <a:prstDash val="solid"/>
                    </a:lnL>
                    <a:lnT w="12700">
                      <a:solidFill>
                        <a:srgbClr val="A6A6A6"/>
                      </a:solidFill>
                      <a:prstDash val="solid"/>
                    </a:lnT>
                    <a:lnB w="3175">
                      <a:solidFill>
                        <a:srgbClr val="000000"/>
                      </a:solidFill>
                      <a:prstDash val="solid"/>
                    </a:lnB>
                    <a:solidFill>
                      <a:srgbClr val="F1F1F1"/>
                    </a:solidFill>
                  </a:tcPr>
                </a:tc>
                <a:extLst>
                  <a:ext uri="{0D108BD9-81ED-4DB2-BD59-A6C34878D82A}">
                    <a16:rowId xmlns:a16="http://schemas.microsoft.com/office/drawing/2014/main" val="10001"/>
                  </a:ext>
                </a:extLst>
              </a:tr>
              <a:tr h="197485">
                <a:tc gridSpan="7">
                  <a:txBody>
                    <a:bodyPr/>
                    <a:lstStyle/>
                    <a:p>
                      <a:pPr>
                        <a:lnSpc>
                          <a:spcPts val="1025"/>
                        </a:lnSpc>
                        <a:spcBef>
                          <a:spcPts val="430"/>
                        </a:spcBef>
                      </a:pPr>
                      <a:r>
                        <a:rPr sz="900" dirty="0">
                          <a:latin typeface="Arial"/>
                          <a:cs typeface="Arial"/>
                        </a:rPr>
                        <a:t>SCLK</a:t>
                      </a:r>
                    </a:p>
                  </a:txBody>
                  <a:tcPr marL="0" marR="0" marT="54610" marB="0">
                    <a:lnT w="3175">
                      <a:solidFill>
                        <a:srgbClr val="000000"/>
                      </a:solidFill>
                      <a:prstDash val="solid"/>
                    </a:lnT>
                    <a:lnB w="6350">
                      <a:solidFill>
                        <a:srgbClr val="7E7E7E"/>
                      </a:solidFill>
                      <a:prstDash val="solid"/>
                    </a:lnB>
                  </a:tcPr>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2"/>
                  </a:ext>
                </a:extLst>
              </a:tr>
              <a:tr h="246379">
                <a:tc>
                  <a:txBody>
                    <a:bodyPr/>
                    <a:lstStyle/>
                    <a:p>
                      <a:pPr marR="3175" algn="r">
                        <a:lnSpc>
                          <a:spcPct val="100000"/>
                        </a:lnSpc>
                        <a:spcBef>
                          <a:spcPts val="420"/>
                        </a:spcBef>
                      </a:pPr>
                      <a:r>
                        <a:rPr sz="900" spc="-5" dirty="0">
                          <a:latin typeface="Arial"/>
                          <a:cs typeface="Arial"/>
                        </a:rPr>
                        <a:t>SCLK</a:t>
                      </a:r>
                      <a:r>
                        <a:rPr sz="900" spc="-35" dirty="0">
                          <a:latin typeface="Arial"/>
                          <a:cs typeface="Arial"/>
                        </a:rPr>
                        <a:t> </a:t>
                      </a:r>
                      <a:r>
                        <a:rPr sz="900" dirty="0">
                          <a:latin typeface="Arial"/>
                          <a:cs typeface="Arial"/>
                        </a:rPr>
                        <a:t>frequency</a:t>
                      </a:r>
                    </a:p>
                  </a:txBody>
                  <a:tcPr marL="0" marR="0" marT="53340" marB="0">
                    <a:lnR w="3175">
                      <a:solidFill>
                        <a:srgbClr val="000000"/>
                      </a:solidFill>
                      <a:prstDash val="solid"/>
                    </a:lnR>
                    <a:lnT w="6350" cap="flat" cmpd="sng" algn="ctr">
                      <a:solidFill>
                        <a:srgbClr val="7E7E7E"/>
                      </a:solidFill>
                      <a:prstDash val="solid"/>
                      <a:round/>
                      <a:headEnd type="none" w="med" len="med"/>
                      <a:tailEnd type="none" w="med" len="med"/>
                    </a:lnT>
                    <a:lnB w="3175">
                      <a:solidFill>
                        <a:srgbClr val="000000"/>
                      </a:solidFill>
                      <a:prstDash val="solid"/>
                    </a:lnB>
                  </a:tcPr>
                </a:tc>
                <a:tc>
                  <a:txBody>
                    <a:bodyPr/>
                    <a:lstStyle/>
                    <a:p>
                      <a:pPr marR="1270" algn="ctr">
                        <a:lnSpc>
                          <a:spcPct val="100000"/>
                        </a:lnSpc>
                        <a:spcBef>
                          <a:spcPts val="530"/>
                        </a:spcBef>
                      </a:pPr>
                      <a:r>
                        <a:rPr sz="1350" baseline="6172" dirty="0">
                          <a:latin typeface="Arial"/>
                          <a:cs typeface="Arial"/>
                        </a:rPr>
                        <a:t>f</a:t>
                      </a:r>
                      <a:r>
                        <a:rPr sz="600" dirty="0">
                          <a:latin typeface="Arial"/>
                          <a:cs typeface="Arial"/>
                        </a:rPr>
                        <a:t>CLK</a:t>
                      </a:r>
                    </a:p>
                  </a:txBody>
                  <a:tcPr marL="0" marR="0" marT="6731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nSpc>
                          <a:spcPct val="100000"/>
                        </a:lnSpc>
                      </a:pPr>
                      <a:endParaRPr sz="900" dirty="0">
                        <a:latin typeface="Times New Roman"/>
                        <a:cs typeface="Times New Roman"/>
                      </a:endParaRPr>
                    </a:p>
                  </a:txBody>
                  <a:tcPr marL="0" marR="0" marT="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gn="ctr">
                        <a:lnSpc>
                          <a:spcPct val="100000"/>
                        </a:lnSpc>
                        <a:spcBef>
                          <a:spcPts val="420"/>
                        </a:spcBef>
                      </a:pPr>
                      <a:r>
                        <a:rPr sz="900" dirty="0">
                          <a:latin typeface="Arial"/>
                          <a:cs typeface="Arial"/>
                        </a:rPr>
                        <a:t>-</a:t>
                      </a:r>
                    </a:p>
                  </a:txBody>
                  <a:tcPr marL="0" marR="0" marT="53340" marB="0">
                    <a:lnL w="3175">
                      <a:solidFill>
                        <a:srgbClr val="000000"/>
                      </a:solidFill>
                      <a:prstDash val="solid"/>
                    </a:lnL>
                    <a:lnR w="3175">
                      <a:solidFill>
                        <a:srgbClr val="000000"/>
                      </a:solidFill>
                      <a:prstDash val="solid"/>
                    </a:lnR>
                    <a:lnT w="6350">
                      <a:solidFill>
                        <a:srgbClr val="7E7E7E"/>
                      </a:solidFill>
                      <a:prstDash val="solid"/>
                    </a:lnT>
                    <a:lnB w="3175">
                      <a:solidFill>
                        <a:srgbClr val="000000"/>
                      </a:solidFill>
                      <a:prstDash val="solid"/>
                    </a:lnB>
                  </a:tcPr>
                </a:tc>
                <a:tc>
                  <a:txBody>
                    <a:bodyPr/>
                    <a:lstStyle/>
                    <a:p>
                      <a:pPr algn="ctr">
                        <a:lnSpc>
                          <a:spcPct val="100000"/>
                        </a:lnSpc>
                        <a:spcBef>
                          <a:spcPts val="420"/>
                        </a:spcBef>
                      </a:pPr>
                      <a:r>
                        <a:rPr sz="900" dirty="0">
                          <a:latin typeface="Arial"/>
                          <a:cs typeface="Arial"/>
                        </a:rPr>
                        <a:t>-</a:t>
                      </a:r>
                    </a:p>
                  </a:txBody>
                  <a:tcPr marL="0" marR="0" marT="53340" marB="0">
                    <a:lnL w="3175">
                      <a:solidFill>
                        <a:srgbClr val="000000"/>
                      </a:solidFill>
                      <a:prstDash val="solid"/>
                    </a:lnL>
                    <a:lnR w="3175">
                      <a:solidFill>
                        <a:srgbClr val="000000"/>
                      </a:solidFill>
                      <a:prstDash val="solid"/>
                    </a:lnR>
                    <a:lnT w="6350">
                      <a:solidFill>
                        <a:srgbClr val="7E7E7E"/>
                      </a:solidFill>
                      <a:prstDash val="solid"/>
                    </a:lnT>
                    <a:lnB w="3175">
                      <a:solidFill>
                        <a:srgbClr val="000000"/>
                      </a:solidFill>
                      <a:prstDash val="solid"/>
                    </a:lnB>
                  </a:tcPr>
                </a:tc>
                <a:tc>
                  <a:txBody>
                    <a:bodyPr/>
                    <a:lstStyle/>
                    <a:p>
                      <a:pPr marR="635" algn="ctr">
                        <a:lnSpc>
                          <a:spcPct val="100000"/>
                        </a:lnSpc>
                        <a:spcBef>
                          <a:spcPts val="420"/>
                        </a:spcBef>
                      </a:pPr>
                      <a:r>
                        <a:rPr sz="900" spc="-5" dirty="0">
                          <a:latin typeface="Arial"/>
                          <a:cs typeface="Arial"/>
                        </a:rPr>
                        <a:t>30</a:t>
                      </a:r>
                      <a:endParaRPr sz="900" dirty="0">
                        <a:latin typeface="Arial"/>
                        <a:cs typeface="Arial"/>
                      </a:endParaRPr>
                    </a:p>
                  </a:txBody>
                  <a:tcPr marL="0" marR="0" marT="53340" marB="0">
                    <a:lnL w="3175">
                      <a:solidFill>
                        <a:srgbClr val="000000"/>
                      </a:solidFill>
                      <a:prstDash val="solid"/>
                    </a:lnL>
                    <a:lnR w="3175">
                      <a:solidFill>
                        <a:srgbClr val="000000"/>
                      </a:solidFill>
                      <a:prstDash val="solid"/>
                    </a:lnR>
                    <a:lnT w="6350">
                      <a:solidFill>
                        <a:srgbClr val="7E7E7E"/>
                      </a:solidFill>
                      <a:prstDash val="solid"/>
                    </a:lnT>
                    <a:lnB w="3175">
                      <a:solidFill>
                        <a:srgbClr val="000000"/>
                      </a:solidFill>
                      <a:prstDash val="solid"/>
                    </a:lnB>
                  </a:tcPr>
                </a:tc>
                <a:tc>
                  <a:txBody>
                    <a:bodyPr/>
                    <a:lstStyle/>
                    <a:p>
                      <a:pPr marR="16510" algn="ctr">
                        <a:lnSpc>
                          <a:spcPct val="100000"/>
                        </a:lnSpc>
                        <a:spcBef>
                          <a:spcPts val="420"/>
                        </a:spcBef>
                      </a:pPr>
                      <a:r>
                        <a:rPr sz="900" spc="-10" dirty="0">
                          <a:latin typeface="Arial"/>
                          <a:cs typeface="Arial"/>
                        </a:rPr>
                        <a:t>MHz</a:t>
                      </a:r>
                      <a:endParaRPr sz="900" dirty="0">
                        <a:latin typeface="Arial"/>
                        <a:cs typeface="Arial"/>
                      </a:endParaRPr>
                    </a:p>
                  </a:txBody>
                  <a:tcPr marL="0" marR="0" marT="53340" marB="0">
                    <a:lnL w="3175">
                      <a:solidFill>
                        <a:srgbClr val="000000"/>
                      </a:solidFill>
                      <a:prstDash val="solid"/>
                    </a:lnL>
                    <a:lnT w="3175">
                      <a:solidFill>
                        <a:srgbClr val="000000"/>
                      </a:solidFill>
                      <a:prstDash val="solid"/>
                    </a:lnT>
                    <a:lnB w="3175">
                      <a:solidFill>
                        <a:srgbClr val="000000"/>
                      </a:solidFill>
                      <a:prstDash val="solid"/>
                    </a:lnB>
                  </a:tcPr>
                </a:tc>
                <a:extLst>
                  <a:ext uri="{0D108BD9-81ED-4DB2-BD59-A6C34878D82A}">
                    <a16:rowId xmlns:a16="http://schemas.microsoft.com/office/drawing/2014/main" val="10003"/>
                  </a:ext>
                </a:extLst>
              </a:tr>
              <a:tr h="246379">
                <a:tc>
                  <a:txBody>
                    <a:bodyPr/>
                    <a:lstStyle/>
                    <a:p>
                      <a:pPr marR="2540" algn="r">
                        <a:lnSpc>
                          <a:spcPct val="100000"/>
                        </a:lnSpc>
                        <a:spcBef>
                          <a:spcPts val="420"/>
                        </a:spcBef>
                      </a:pPr>
                      <a:r>
                        <a:rPr sz="900" spc="-5" dirty="0">
                          <a:latin typeface="Arial"/>
                          <a:cs typeface="Arial"/>
                        </a:rPr>
                        <a:t>SCLK</a:t>
                      </a:r>
                      <a:r>
                        <a:rPr sz="900" spc="-40" dirty="0">
                          <a:latin typeface="Arial"/>
                          <a:cs typeface="Arial"/>
                        </a:rPr>
                        <a:t> </a:t>
                      </a:r>
                      <a:r>
                        <a:rPr sz="900" dirty="0">
                          <a:latin typeface="Arial"/>
                          <a:cs typeface="Arial"/>
                        </a:rPr>
                        <a:t>duty</a:t>
                      </a:r>
                    </a:p>
                  </a:txBody>
                  <a:tcPr marL="0" marR="0" marT="53340" marB="0">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R="1270" algn="ctr">
                        <a:lnSpc>
                          <a:spcPct val="100000"/>
                        </a:lnSpc>
                        <a:spcBef>
                          <a:spcPts val="530"/>
                        </a:spcBef>
                      </a:pPr>
                      <a:r>
                        <a:rPr sz="1350" spc="-7" baseline="6172" dirty="0">
                          <a:latin typeface="Arial"/>
                          <a:cs typeface="Arial"/>
                        </a:rPr>
                        <a:t>t</a:t>
                      </a:r>
                      <a:r>
                        <a:rPr sz="600" spc="-5" dirty="0">
                          <a:latin typeface="Arial"/>
                          <a:cs typeface="Arial"/>
                        </a:rPr>
                        <a:t>CLK_DUTY</a:t>
                      </a:r>
                      <a:endParaRPr sz="600" dirty="0">
                        <a:latin typeface="Arial"/>
                        <a:cs typeface="Arial"/>
                      </a:endParaRPr>
                    </a:p>
                  </a:txBody>
                  <a:tcPr marL="0" marR="0" marT="6731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nSpc>
                          <a:spcPct val="100000"/>
                        </a:lnSpc>
                      </a:pPr>
                      <a:endParaRPr sz="900" dirty="0">
                        <a:latin typeface="Times New Roman"/>
                        <a:cs typeface="Times New Roman"/>
                      </a:endParaRPr>
                    </a:p>
                  </a:txBody>
                  <a:tcPr marL="0" marR="0" marT="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R="1270" algn="ctr">
                        <a:lnSpc>
                          <a:spcPct val="100000"/>
                        </a:lnSpc>
                        <a:spcBef>
                          <a:spcPts val="420"/>
                        </a:spcBef>
                      </a:pPr>
                      <a:r>
                        <a:rPr sz="900" spc="-5" dirty="0">
                          <a:latin typeface="Arial"/>
                          <a:cs typeface="Arial"/>
                        </a:rPr>
                        <a:t>49</a:t>
                      </a:r>
                      <a:endParaRPr sz="900" dirty="0">
                        <a:latin typeface="Arial"/>
                        <a:cs typeface="Arial"/>
                      </a:endParaRPr>
                    </a:p>
                  </a:txBody>
                  <a:tcPr marL="0" marR="0" marT="5334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gn="ctr">
                        <a:lnSpc>
                          <a:spcPct val="100000"/>
                        </a:lnSpc>
                        <a:spcBef>
                          <a:spcPts val="420"/>
                        </a:spcBef>
                      </a:pPr>
                      <a:r>
                        <a:rPr sz="900" dirty="0">
                          <a:latin typeface="Arial"/>
                          <a:cs typeface="Arial"/>
                        </a:rPr>
                        <a:t>-</a:t>
                      </a:r>
                    </a:p>
                  </a:txBody>
                  <a:tcPr marL="0" marR="0" marT="5334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R="635" algn="ctr">
                        <a:lnSpc>
                          <a:spcPct val="100000"/>
                        </a:lnSpc>
                        <a:spcBef>
                          <a:spcPts val="420"/>
                        </a:spcBef>
                      </a:pPr>
                      <a:r>
                        <a:rPr sz="900" spc="-5" dirty="0">
                          <a:latin typeface="Arial"/>
                          <a:cs typeface="Arial"/>
                        </a:rPr>
                        <a:t>51</a:t>
                      </a:r>
                      <a:endParaRPr sz="900" dirty="0">
                        <a:latin typeface="Arial"/>
                        <a:cs typeface="Arial"/>
                      </a:endParaRPr>
                    </a:p>
                  </a:txBody>
                  <a:tcPr marL="0" marR="0" marT="5334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R="16510" algn="ctr">
                        <a:lnSpc>
                          <a:spcPct val="100000"/>
                        </a:lnSpc>
                        <a:spcBef>
                          <a:spcPts val="420"/>
                        </a:spcBef>
                      </a:pPr>
                      <a:r>
                        <a:rPr sz="900" dirty="0">
                          <a:latin typeface="Arial"/>
                          <a:cs typeface="Arial"/>
                        </a:rPr>
                        <a:t>%</a:t>
                      </a:r>
                    </a:p>
                  </a:txBody>
                  <a:tcPr marL="0" marR="0" marT="53340" marB="0">
                    <a:lnL w="3175">
                      <a:solidFill>
                        <a:srgbClr val="000000"/>
                      </a:solidFill>
                      <a:prstDash val="solid"/>
                    </a:lnL>
                    <a:lnT w="3175">
                      <a:solidFill>
                        <a:srgbClr val="000000"/>
                      </a:solidFill>
                      <a:prstDash val="solid"/>
                    </a:lnT>
                    <a:lnB w="3175">
                      <a:solidFill>
                        <a:srgbClr val="000000"/>
                      </a:solidFill>
                      <a:prstDash val="solid"/>
                    </a:lnB>
                  </a:tcPr>
                </a:tc>
                <a:extLst>
                  <a:ext uri="{0D108BD9-81ED-4DB2-BD59-A6C34878D82A}">
                    <a16:rowId xmlns:a16="http://schemas.microsoft.com/office/drawing/2014/main" val="10004"/>
                  </a:ext>
                </a:extLst>
              </a:tr>
              <a:tr h="245745">
                <a:tc>
                  <a:txBody>
                    <a:bodyPr/>
                    <a:lstStyle/>
                    <a:p>
                      <a:pPr marR="3810" algn="r">
                        <a:lnSpc>
                          <a:spcPct val="100000"/>
                        </a:lnSpc>
                        <a:spcBef>
                          <a:spcPts val="420"/>
                        </a:spcBef>
                      </a:pPr>
                      <a:r>
                        <a:rPr sz="900" spc="-5" dirty="0">
                          <a:latin typeface="Arial"/>
                          <a:cs typeface="Arial"/>
                        </a:rPr>
                        <a:t>SCLK</a:t>
                      </a:r>
                      <a:r>
                        <a:rPr sz="900" spc="-30" dirty="0">
                          <a:latin typeface="Arial"/>
                          <a:cs typeface="Arial"/>
                        </a:rPr>
                        <a:t> </a:t>
                      </a:r>
                      <a:r>
                        <a:rPr sz="900" spc="-5" dirty="0">
                          <a:latin typeface="Arial"/>
                          <a:cs typeface="Arial"/>
                        </a:rPr>
                        <a:t>high</a:t>
                      </a:r>
                      <a:r>
                        <a:rPr sz="900" spc="-25" dirty="0">
                          <a:latin typeface="Arial"/>
                          <a:cs typeface="Arial"/>
                        </a:rPr>
                        <a:t> </a:t>
                      </a:r>
                      <a:r>
                        <a:rPr sz="900" dirty="0">
                          <a:latin typeface="Arial"/>
                          <a:cs typeface="Arial"/>
                        </a:rPr>
                        <a:t>time</a:t>
                      </a:r>
                    </a:p>
                  </a:txBody>
                  <a:tcPr marL="0" marR="0" marT="53340" marB="0">
                    <a:lnR w="3175">
                      <a:solidFill>
                        <a:srgbClr val="000000"/>
                      </a:solidFill>
                      <a:prstDash val="solid"/>
                    </a:lnR>
                    <a:lnT w="3175">
                      <a:solidFill>
                        <a:srgbClr val="000000"/>
                      </a:solidFill>
                      <a:prstDash val="solid"/>
                    </a:lnT>
                    <a:lnB w="3175">
                      <a:solidFill>
                        <a:srgbClr val="000000"/>
                      </a:solidFill>
                      <a:prstDash val="solid"/>
                    </a:lnB>
                  </a:tcPr>
                </a:tc>
                <a:tc>
                  <a:txBody>
                    <a:bodyPr/>
                    <a:lstStyle/>
                    <a:p>
                      <a:pPr algn="ctr">
                        <a:lnSpc>
                          <a:spcPct val="100000"/>
                        </a:lnSpc>
                        <a:spcBef>
                          <a:spcPts val="530"/>
                        </a:spcBef>
                      </a:pPr>
                      <a:r>
                        <a:rPr sz="1350" spc="-7" baseline="6172" dirty="0">
                          <a:latin typeface="Arial"/>
                          <a:cs typeface="Arial"/>
                        </a:rPr>
                        <a:t>t</a:t>
                      </a:r>
                      <a:r>
                        <a:rPr sz="600" spc="-5" dirty="0">
                          <a:latin typeface="Arial"/>
                          <a:cs typeface="Arial"/>
                        </a:rPr>
                        <a:t>CH</a:t>
                      </a:r>
                      <a:endParaRPr sz="600" dirty="0">
                        <a:latin typeface="Arial"/>
                        <a:cs typeface="Arial"/>
                      </a:endParaRPr>
                    </a:p>
                  </a:txBody>
                  <a:tcPr marL="0" marR="0" marT="6731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nSpc>
                          <a:spcPct val="100000"/>
                        </a:lnSpc>
                      </a:pPr>
                      <a:endParaRPr sz="900" dirty="0">
                        <a:latin typeface="Times New Roman"/>
                        <a:cs typeface="Times New Roman"/>
                      </a:endParaRPr>
                    </a:p>
                  </a:txBody>
                  <a:tcPr marL="0" marR="0" marT="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R="1905" algn="ctr">
                        <a:lnSpc>
                          <a:spcPct val="100000"/>
                        </a:lnSpc>
                        <a:spcBef>
                          <a:spcPts val="420"/>
                        </a:spcBef>
                      </a:pPr>
                      <a:r>
                        <a:rPr sz="900" dirty="0">
                          <a:latin typeface="Arial"/>
                          <a:cs typeface="Arial"/>
                        </a:rPr>
                        <a:t>8</a:t>
                      </a:r>
                    </a:p>
                  </a:txBody>
                  <a:tcPr marL="0" marR="0" marT="5334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gn="ctr">
                        <a:lnSpc>
                          <a:spcPct val="100000"/>
                        </a:lnSpc>
                        <a:spcBef>
                          <a:spcPts val="420"/>
                        </a:spcBef>
                      </a:pPr>
                      <a:r>
                        <a:rPr sz="900" dirty="0">
                          <a:latin typeface="Arial"/>
                          <a:cs typeface="Arial"/>
                        </a:rPr>
                        <a:t>-</a:t>
                      </a:r>
                    </a:p>
                  </a:txBody>
                  <a:tcPr marL="0" marR="0" marT="5334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gn="ctr">
                        <a:lnSpc>
                          <a:spcPct val="100000"/>
                        </a:lnSpc>
                        <a:spcBef>
                          <a:spcPts val="420"/>
                        </a:spcBef>
                      </a:pPr>
                      <a:r>
                        <a:rPr sz="900" dirty="0">
                          <a:latin typeface="Arial"/>
                          <a:cs typeface="Arial"/>
                        </a:rPr>
                        <a:t>-</a:t>
                      </a:r>
                    </a:p>
                  </a:txBody>
                  <a:tcPr marL="0" marR="0" marT="5334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R="17780" algn="ctr">
                        <a:lnSpc>
                          <a:spcPct val="100000"/>
                        </a:lnSpc>
                        <a:spcBef>
                          <a:spcPts val="420"/>
                        </a:spcBef>
                      </a:pPr>
                      <a:r>
                        <a:rPr sz="900" spc="-5" dirty="0">
                          <a:latin typeface="Arial"/>
                          <a:cs typeface="Arial"/>
                        </a:rPr>
                        <a:t>ns</a:t>
                      </a:r>
                      <a:endParaRPr sz="900" dirty="0">
                        <a:latin typeface="Arial"/>
                        <a:cs typeface="Arial"/>
                      </a:endParaRPr>
                    </a:p>
                  </a:txBody>
                  <a:tcPr marL="0" marR="0" marT="53340" marB="0">
                    <a:lnL w="3175">
                      <a:solidFill>
                        <a:srgbClr val="000000"/>
                      </a:solidFill>
                      <a:prstDash val="solid"/>
                    </a:lnL>
                    <a:lnT w="3175">
                      <a:solidFill>
                        <a:srgbClr val="000000"/>
                      </a:solidFill>
                      <a:prstDash val="solid"/>
                    </a:lnT>
                    <a:lnB w="3175">
                      <a:solidFill>
                        <a:srgbClr val="000000"/>
                      </a:solidFill>
                      <a:prstDash val="solid"/>
                    </a:lnB>
                  </a:tcPr>
                </a:tc>
                <a:extLst>
                  <a:ext uri="{0D108BD9-81ED-4DB2-BD59-A6C34878D82A}">
                    <a16:rowId xmlns:a16="http://schemas.microsoft.com/office/drawing/2014/main" val="10005"/>
                  </a:ext>
                </a:extLst>
              </a:tr>
              <a:tr h="246379">
                <a:tc>
                  <a:txBody>
                    <a:bodyPr/>
                    <a:lstStyle/>
                    <a:p>
                      <a:pPr marR="3810" algn="r">
                        <a:lnSpc>
                          <a:spcPct val="100000"/>
                        </a:lnSpc>
                        <a:spcBef>
                          <a:spcPts val="420"/>
                        </a:spcBef>
                      </a:pPr>
                      <a:r>
                        <a:rPr sz="900" spc="-5" dirty="0">
                          <a:latin typeface="Arial"/>
                          <a:cs typeface="Arial"/>
                        </a:rPr>
                        <a:t>SCLK</a:t>
                      </a:r>
                      <a:r>
                        <a:rPr sz="900" spc="-20" dirty="0">
                          <a:latin typeface="Arial"/>
                          <a:cs typeface="Arial"/>
                        </a:rPr>
                        <a:t> </a:t>
                      </a:r>
                      <a:r>
                        <a:rPr sz="900" spc="-5" dirty="0">
                          <a:latin typeface="Arial"/>
                          <a:cs typeface="Arial"/>
                        </a:rPr>
                        <a:t>low</a:t>
                      </a:r>
                      <a:r>
                        <a:rPr sz="900" spc="-35" dirty="0">
                          <a:latin typeface="Arial"/>
                          <a:cs typeface="Arial"/>
                        </a:rPr>
                        <a:t> </a:t>
                      </a:r>
                      <a:r>
                        <a:rPr sz="900" dirty="0">
                          <a:latin typeface="Arial"/>
                          <a:cs typeface="Arial"/>
                        </a:rPr>
                        <a:t>time</a:t>
                      </a:r>
                    </a:p>
                  </a:txBody>
                  <a:tcPr marL="0" marR="0" marT="53340" marB="0">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R="635" algn="ctr">
                        <a:lnSpc>
                          <a:spcPct val="100000"/>
                        </a:lnSpc>
                        <a:spcBef>
                          <a:spcPts val="530"/>
                        </a:spcBef>
                      </a:pPr>
                      <a:r>
                        <a:rPr sz="1350" spc="-7" baseline="6172" dirty="0">
                          <a:latin typeface="Arial"/>
                          <a:cs typeface="Arial"/>
                        </a:rPr>
                        <a:t>t</a:t>
                      </a:r>
                      <a:r>
                        <a:rPr sz="600" spc="-5" dirty="0">
                          <a:latin typeface="Arial"/>
                          <a:cs typeface="Arial"/>
                        </a:rPr>
                        <a:t>CL</a:t>
                      </a:r>
                      <a:endParaRPr sz="600" dirty="0">
                        <a:latin typeface="Arial"/>
                        <a:cs typeface="Arial"/>
                      </a:endParaRPr>
                    </a:p>
                  </a:txBody>
                  <a:tcPr marL="0" marR="0" marT="6731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nSpc>
                          <a:spcPct val="100000"/>
                        </a:lnSpc>
                      </a:pPr>
                      <a:endParaRPr sz="900" dirty="0">
                        <a:latin typeface="Times New Roman"/>
                        <a:cs typeface="Times New Roman"/>
                      </a:endParaRPr>
                    </a:p>
                  </a:txBody>
                  <a:tcPr marL="0" marR="0" marT="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R="1905" algn="ctr">
                        <a:lnSpc>
                          <a:spcPct val="100000"/>
                        </a:lnSpc>
                        <a:spcBef>
                          <a:spcPts val="420"/>
                        </a:spcBef>
                      </a:pPr>
                      <a:r>
                        <a:rPr sz="900" dirty="0">
                          <a:latin typeface="Arial"/>
                          <a:cs typeface="Arial"/>
                        </a:rPr>
                        <a:t>8</a:t>
                      </a:r>
                    </a:p>
                  </a:txBody>
                  <a:tcPr marL="0" marR="0" marT="5334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gn="ctr">
                        <a:lnSpc>
                          <a:spcPct val="100000"/>
                        </a:lnSpc>
                        <a:spcBef>
                          <a:spcPts val="420"/>
                        </a:spcBef>
                      </a:pPr>
                      <a:r>
                        <a:rPr sz="900" dirty="0">
                          <a:latin typeface="Arial"/>
                          <a:cs typeface="Arial"/>
                        </a:rPr>
                        <a:t>-</a:t>
                      </a:r>
                    </a:p>
                  </a:txBody>
                  <a:tcPr marL="0" marR="0" marT="5334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gn="ctr">
                        <a:lnSpc>
                          <a:spcPct val="100000"/>
                        </a:lnSpc>
                        <a:spcBef>
                          <a:spcPts val="420"/>
                        </a:spcBef>
                      </a:pPr>
                      <a:r>
                        <a:rPr sz="900" dirty="0">
                          <a:latin typeface="Arial"/>
                          <a:cs typeface="Arial"/>
                        </a:rPr>
                        <a:t>-</a:t>
                      </a:r>
                    </a:p>
                  </a:txBody>
                  <a:tcPr marL="0" marR="0" marT="5334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R="17780" algn="ctr">
                        <a:lnSpc>
                          <a:spcPct val="100000"/>
                        </a:lnSpc>
                        <a:spcBef>
                          <a:spcPts val="420"/>
                        </a:spcBef>
                      </a:pPr>
                      <a:r>
                        <a:rPr sz="900" spc="-5" dirty="0">
                          <a:latin typeface="Arial"/>
                          <a:cs typeface="Arial"/>
                        </a:rPr>
                        <a:t>ns</a:t>
                      </a:r>
                      <a:endParaRPr sz="900" dirty="0">
                        <a:latin typeface="Arial"/>
                        <a:cs typeface="Arial"/>
                      </a:endParaRPr>
                    </a:p>
                  </a:txBody>
                  <a:tcPr marL="0" marR="0" marT="53340" marB="0">
                    <a:lnL w="3175">
                      <a:solidFill>
                        <a:srgbClr val="000000"/>
                      </a:solidFill>
                      <a:prstDash val="solid"/>
                    </a:lnL>
                    <a:lnT w="3175">
                      <a:solidFill>
                        <a:srgbClr val="000000"/>
                      </a:solidFill>
                      <a:prstDash val="solid"/>
                    </a:lnT>
                    <a:lnB w="3175">
                      <a:solidFill>
                        <a:srgbClr val="000000"/>
                      </a:solidFill>
                      <a:prstDash val="solid"/>
                    </a:lnB>
                  </a:tcPr>
                </a:tc>
                <a:extLst>
                  <a:ext uri="{0D108BD9-81ED-4DB2-BD59-A6C34878D82A}">
                    <a16:rowId xmlns:a16="http://schemas.microsoft.com/office/drawing/2014/main" val="10006"/>
                  </a:ext>
                </a:extLst>
              </a:tr>
              <a:tr h="197485">
                <a:tc gridSpan="7">
                  <a:txBody>
                    <a:bodyPr/>
                    <a:lstStyle/>
                    <a:p>
                      <a:pPr>
                        <a:lnSpc>
                          <a:spcPts val="1025"/>
                        </a:lnSpc>
                        <a:spcBef>
                          <a:spcPts val="434"/>
                        </a:spcBef>
                      </a:pPr>
                      <a:r>
                        <a:rPr sz="900" dirty="0">
                          <a:latin typeface="Arial"/>
                          <a:cs typeface="Arial"/>
                        </a:rPr>
                        <a:t>SCLKO</a:t>
                      </a:r>
                    </a:p>
                  </a:txBody>
                  <a:tcPr marL="0" marR="0" marT="55244" marB="0">
                    <a:lnT w="3175">
                      <a:solidFill>
                        <a:srgbClr val="000000"/>
                      </a:solidFill>
                      <a:prstDash val="solid"/>
                    </a:lnT>
                    <a:lnB w="6350">
                      <a:solidFill>
                        <a:srgbClr val="7E7E7E"/>
                      </a:solidFill>
                      <a:prstDash val="solid"/>
                    </a:lnB>
                  </a:tcPr>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7"/>
                  </a:ext>
                </a:extLst>
              </a:tr>
              <a:tr h="246379">
                <a:tc>
                  <a:txBody>
                    <a:bodyPr/>
                    <a:lstStyle/>
                    <a:p>
                      <a:pPr marR="2540" algn="r">
                        <a:lnSpc>
                          <a:spcPct val="100000"/>
                        </a:lnSpc>
                        <a:spcBef>
                          <a:spcPts val="420"/>
                        </a:spcBef>
                      </a:pPr>
                      <a:r>
                        <a:rPr sz="900" spc="-5" dirty="0">
                          <a:latin typeface="Arial"/>
                          <a:cs typeface="Arial"/>
                        </a:rPr>
                        <a:t>SCLK</a:t>
                      </a:r>
                      <a:r>
                        <a:rPr sz="900" spc="-15" dirty="0">
                          <a:latin typeface="Arial"/>
                          <a:cs typeface="Arial"/>
                        </a:rPr>
                        <a:t> </a:t>
                      </a:r>
                      <a:r>
                        <a:rPr sz="900" dirty="0">
                          <a:latin typeface="Arial"/>
                          <a:cs typeface="Arial"/>
                        </a:rPr>
                        <a:t>to</a:t>
                      </a:r>
                      <a:r>
                        <a:rPr sz="900" spc="-25" dirty="0">
                          <a:latin typeface="Arial"/>
                          <a:cs typeface="Arial"/>
                        </a:rPr>
                        <a:t> </a:t>
                      </a:r>
                      <a:r>
                        <a:rPr sz="900" dirty="0">
                          <a:latin typeface="Arial"/>
                          <a:cs typeface="Arial"/>
                        </a:rPr>
                        <a:t>SCLKO</a:t>
                      </a:r>
                      <a:r>
                        <a:rPr sz="900" spc="-15" dirty="0">
                          <a:latin typeface="Arial"/>
                          <a:cs typeface="Arial"/>
                        </a:rPr>
                        <a:t> </a:t>
                      </a:r>
                      <a:r>
                        <a:rPr sz="900" spc="-5" dirty="0">
                          <a:latin typeface="Arial"/>
                          <a:cs typeface="Arial"/>
                        </a:rPr>
                        <a:t>delay</a:t>
                      </a:r>
                      <a:endParaRPr sz="900" dirty="0">
                        <a:latin typeface="Arial"/>
                        <a:cs typeface="Arial"/>
                      </a:endParaRPr>
                    </a:p>
                  </a:txBody>
                  <a:tcPr marL="0" marR="0" marT="53340" marB="0">
                    <a:lnR w="3175">
                      <a:solidFill>
                        <a:srgbClr val="000000"/>
                      </a:solidFill>
                      <a:prstDash val="solid"/>
                    </a:lnR>
                    <a:lnT w="6350" cap="flat" cmpd="sng" algn="ctr">
                      <a:solidFill>
                        <a:srgbClr val="7E7E7E"/>
                      </a:solidFill>
                      <a:prstDash val="solid"/>
                      <a:round/>
                      <a:headEnd type="none" w="med" len="med"/>
                      <a:tailEnd type="none" w="med" len="med"/>
                    </a:lnT>
                    <a:lnB w="3175">
                      <a:solidFill>
                        <a:srgbClr val="000000"/>
                      </a:solidFill>
                      <a:prstDash val="solid"/>
                    </a:lnB>
                  </a:tcPr>
                </a:tc>
                <a:tc>
                  <a:txBody>
                    <a:bodyPr/>
                    <a:lstStyle/>
                    <a:p>
                      <a:pPr algn="ctr">
                        <a:lnSpc>
                          <a:spcPct val="100000"/>
                        </a:lnSpc>
                        <a:spcBef>
                          <a:spcPts val="580"/>
                        </a:spcBef>
                      </a:pPr>
                      <a:r>
                        <a:rPr sz="1350" spc="-7" baseline="12345" dirty="0">
                          <a:latin typeface="Arial"/>
                          <a:cs typeface="Arial"/>
                        </a:rPr>
                        <a:t>T</a:t>
                      </a:r>
                      <a:r>
                        <a:rPr sz="600" spc="-5" dirty="0">
                          <a:latin typeface="Arial"/>
                          <a:cs typeface="Arial"/>
                        </a:rPr>
                        <a:t>CO_DELAY</a:t>
                      </a:r>
                      <a:endParaRPr sz="600" dirty="0">
                        <a:latin typeface="Arial"/>
                        <a:cs typeface="Arial"/>
                      </a:endParaRPr>
                    </a:p>
                  </a:txBody>
                  <a:tcPr marL="0" marR="0" marT="7366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nSpc>
                          <a:spcPct val="100000"/>
                        </a:lnSpc>
                      </a:pPr>
                      <a:endParaRPr sz="900" dirty="0">
                        <a:latin typeface="Times New Roman"/>
                        <a:cs typeface="Times New Roman"/>
                      </a:endParaRPr>
                    </a:p>
                  </a:txBody>
                  <a:tcPr marL="0" marR="0" marT="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L="635" algn="ctr">
                        <a:lnSpc>
                          <a:spcPct val="100000"/>
                        </a:lnSpc>
                        <a:spcBef>
                          <a:spcPts val="365"/>
                        </a:spcBef>
                      </a:pPr>
                      <a:r>
                        <a:rPr sz="900" dirty="0">
                          <a:latin typeface="Arial"/>
                          <a:cs typeface="Arial"/>
                        </a:rPr>
                        <a:t>-</a:t>
                      </a:r>
                    </a:p>
                  </a:txBody>
                  <a:tcPr marL="0" marR="0" marT="46355" marB="0">
                    <a:lnL w="3175">
                      <a:solidFill>
                        <a:srgbClr val="000000"/>
                      </a:solidFill>
                      <a:prstDash val="solid"/>
                    </a:lnL>
                    <a:lnR w="3175">
                      <a:solidFill>
                        <a:srgbClr val="000000"/>
                      </a:solidFill>
                      <a:prstDash val="solid"/>
                    </a:lnR>
                    <a:lnT w="6350">
                      <a:solidFill>
                        <a:srgbClr val="7E7E7E"/>
                      </a:solidFill>
                      <a:prstDash val="solid"/>
                    </a:lnT>
                    <a:lnB w="3175">
                      <a:solidFill>
                        <a:srgbClr val="000000"/>
                      </a:solidFill>
                      <a:prstDash val="solid"/>
                    </a:lnB>
                  </a:tcPr>
                </a:tc>
                <a:tc>
                  <a:txBody>
                    <a:bodyPr/>
                    <a:lstStyle/>
                    <a:p>
                      <a:pPr marL="635" algn="ctr">
                        <a:lnSpc>
                          <a:spcPct val="100000"/>
                        </a:lnSpc>
                        <a:spcBef>
                          <a:spcPts val="365"/>
                        </a:spcBef>
                      </a:pPr>
                      <a:r>
                        <a:rPr sz="900" dirty="0">
                          <a:latin typeface="Arial"/>
                          <a:cs typeface="Arial"/>
                        </a:rPr>
                        <a:t>-</a:t>
                      </a:r>
                    </a:p>
                  </a:txBody>
                  <a:tcPr marL="0" marR="0" marT="46355" marB="0">
                    <a:lnL w="3175">
                      <a:solidFill>
                        <a:srgbClr val="000000"/>
                      </a:solidFill>
                      <a:prstDash val="solid"/>
                    </a:lnL>
                    <a:lnR w="3175">
                      <a:solidFill>
                        <a:srgbClr val="000000"/>
                      </a:solidFill>
                      <a:prstDash val="solid"/>
                    </a:lnR>
                    <a:lnT w="6350">
                      <a:solidFill>
                        <a:srgbClr val="7E7E7E"/>
                      </a:solidFill>
                      <a:prstDash val="solid"/>
                    </a:lnT>
                    <a:lnB w="3175">
                      <a:solidFill>
                        <a:srgbClr val="000000"/>
                      </a:solidFill>
                      <a:prstDash val="solid"/>
                    </a:lnB>
                  </a:tcPr>
                </a:tc>
                <a:tc>
                  <a:txBody>
                    <a:bodyPr/>
                    <a:lstStyle/>
                    <a:p>
                      <a:pPr algn="ctr">
                        <a:lnSpc>
                          <a:spcPct val="100000"/>
                        </a:lnSpc>
                        <a:spcBef>
                          <a:spcPts val="365"/>
                        </a:spcBef>
                      </a:pPr>
                      <a:r>
                        <a:rPr sz="900" spc="-75" dirty="0">
                          <a:latin typeface="Arial"/>
                          <a:cs typeface="Arial"/>
                        </a:rPr>
                        <a:t>11</a:t>
                      </a:r>
                      <a:endParaRPr sz="900" dirty="0">
                        <a:latin typeface="Arial"/>
                        <a:cs typeface="Arial"/>
                      </a:endParaRPr>
                    </a:p>
                  </a:txBody>
                  <a:tcPr marL="0" marR="0" marT="46355" marB="0">
                    <a:lnL w="3175">
                      <a:solidFill>
                        <a:srgbClr val="000000"/>
                      </a:solidFill>
                      <a:prstDash val="solid"/>
                    </a:lnL>
                    <a:lnR w="3175">
                      <a:solidFill>
                        <a:srgbClr val="000000"/>
                      </a:solidFill>
                      <a:prstDash val="solid"/>
                    </a:lnR>
                    <a:lnT w="6350">
                      <a:solidFill>
                        <a:srgbClr val="7E7E7E"/>
                      </a:solidFill>
                      <a:prstDash val="solid"/>
                    </a:lnT>
                    <a:lnB w="3175">
                      <a:solidFill>
                        <a:srgbClr val="000000"/>
                      </a:solidFill>
                      <a:prstDash val="solid"/>
                    </a:lnB>
                  </a:tcPr>
                </a:tc>
                <a:tc>
                  <a:txBody>
                    <a:bodyPr/>
                    <a:lstStyle/>
                    <a:p>
                      <a:pPr marR="5715" algn="ctr">
                        <a:lnSpc>
                          <a:spcPct val="100000"/>
                        </a:lnSpc>
                        <a:spcBef>
                          <a:spcPts val="365"/>
                        </a:spcBef>
                      </a:pPr>
                      <a:r>
                        <a:rPr sz="900" spc="-5" dirty="0">
                          <a:latin typeface="Arial"/>
                          <a:cs typeface="Arial"/>
                        </a:rPr>
                        <a:t>ns</a:t>
                      </a:r>
                      <a:endParaRPr sz="900" dirty="0">
                        <a:latin typeface="Arial"/>
                        <a:cs typeface="Arial"/>
                      </a:endParaRPr>
                    </a:p>
                  </a:txBody>
                  <a:tcPr marL="0" marR="0" marT="46355" marB="0">
                    <a:lnL w="3175">
                      <a:solidFill>
                        <a:srgbClr val="000000"/>
                      </a:solidFill>
                      <a:prstDash val="solid"/>
                    </a:lnL>
                    <a:lnT w="3175">
                      <a:solidFill>
                        <a:srgbClr val="000000"/>
                      </a:solidFill>
                      <a:prstDash val="solid"/>
                    </a:lnT>
                    <a:lnB w="3175">
                      <a:solidFill>
                        <a:srgbClr val="000000"/>
                      </a:solidFill>
                      <a:prstDash val="solid"/>
                    </a:lnB>
                  </a:tcPr>
                </a:tc>
                <a:extLst>
                  <a:ext uri="{0D108BD9-81ED-4DB2-BD59-A6C34878D82A}">
                    <a16:rowId xmlns:a16="http://schemas.microsoft.com/office/drawing/2014/main" val="10008"/>
                  </a:ext>
                </a:extLst>
              </a:tr>
              <a:tr h="245745">
                <a:tc>
                  <a:txBody>
                    <a:bodyPr/>
                    <a:lstStyle/>
                    <a:p>
                      <a:pPr marR="3175" algn="r">
                        <a:lnSpc>
                          <a:spcPct val="100000"/>
                        </a:lnSpc>
                        <a:spcBef>
                          <a:spcPts val="425"/>
                        </a:spcBef>
                      </a:pPr>
                      <a:r>
                        <a:rPr sz="900" spc="-5" dirty="0">
                          <a:latin typeface="Arial"/>
                          <a:cs typeface="Arial"/>
                        </a:rPr>
                        <a:t>The</a:t>
                      </a:r>
                      <a:r>
                        <a:rPr sz="900" spc="-15" dirty="0">
                          <a:latin typeface="Arial"/>
                          <a:cs typeface="Arial"/>
                        </a:rPr>
                        <a:t> </a:t>
                      </a:r>
                      <a:r>
                        <a:rPr sz="900" dirty="0">
                          <a:latin typeface="Arial"/>
                          <a:cs typeface="Arial"/>
                        </a:rPr>
                        <a:t>skew</a:t>
                      </a:r>
                      <a:r>
                        <a:rPr sz="900" spc="-25" dirty="0">
                          <a:latin typeface="Arial"/>
                          <a:cs typeface="Arial"/>
                        </a:rPr>
                        <a:t> </a:t>
                      </a:r>
                      <a:r>
                        <a:rPr sz="900" spc="-5" dirty="0">
                          <a:latin typeface="Arial"/>
                          <a:cs typeface="Arial"/>
                        </a:rPr>
                        <a:t>between</a:t>
                      </a:r>
                      <a:r>
                        <a:rPr sz="900" spc="-20" dirty="0">
                          <a:latin typeface="Arial"/>
                          <a:cs typeface="Arial"/>
                        </a:rPr>
                        <a:t> </a:t>
                      </a:r>
                      <a:r>
                        <a:rPr sz="900" dirty="0">
                          <a:latin typeface="Arial"/>
                          <a:cs typeface="Arial"/>
                        </a:rPr>
                        <a:t>SCLKO</a:t>
                      </a:r>
                      <a:r>
                        <a:rPr sz="900" spc="-15" dirty="0">
                          <a:latin typeface="Arial"/>
                          <a:cs typeface="Arial"/>
                        </a:rPr>
                        <a:t> </a:t>
                      </a:r>
                      <a:r>
                        <a:rPr sz="900" dirty="0">
                          <a:latin typeface="Arial"/>
                          <a:cs typeface="Arial"/>
                        </a:rPr>
                        <a:t>to</a:t>
                      </a:r>
                      <a:r>
                        <a:rPr sz="900" spc="-20" dirty="0">
                          <a:latin typeface="Arial"/>
                          <a:cs typeface="Arial"/>
                        </a:rPr>
                        <a:t> </a:t>
                      </a:r>
                      <a:r>
                        <a:rPr sz="900" dirty="0">
                          <a:latin typeface="Arial"/>
                          <a:cs typeface="Arial"/>
                        </a:rPr>
                        <a:t>SDO</a:t>
                      </a:r>
                    </a:p>
                  </a:txBody>
                  <a:tcPr marL="0" marR="0" marT="53975" marB="0">
                    <a:lnR w="3175">
                      <a:solidFill>
                        <a:srgbClr val="000000"/>
                      </a:solidFill>
                      <a:prstDash val="solid"/>
                    </a:lnR>
                    <a:lnT w="3175">
                      <a:solidFill>
                        <a:srgbClr val="000000"/>
                      </a:solidFill>
                      <a:prstDash val="solid"/>
                    </a:lnT>
                    <a:lnB w="3175">
                      <a:solidFill>
                        <a:srgbClr val="000000"/>
                      </a:solidFill>
                      <a:prstDash val="solid"/>
                    </a:lnB>
                  </a:tcPr>
                </a:tc>
                <a:tc>
                  <a:txBody>
                    <a:bodyPr/>
                    <a:lstStyle/>
                    <a:p>
                      <a:pPr algn="ctr">
                        <a:lnSpc>
                          <a:spcPct val="100000"/>
                        </a:lnSpc>
                        <a:spcBef>
                          <a:spcPts val="580"/>
                        </a:spcBef>
                      </a:pPr>
                      <a:r>
                        <a:rPr sz="1350" spc="-7" baseline="12345" dirty="0">
                          <a:latin typeface="Arial"/>
                          <a:cs typeface="Arial"/>
                        </a:rPr>
                        <a:t>t</a:t>
                      </a:r>
                      <a:r>
                        <a:rPr sz="600" spc="-5" dirty="0">
                          <a:latin typeface="Arial"/>
                          <a:cs typeface="Arial"/>
                        </a:rPr>
                        <a:t>SKEW</a:t>
                      </a:r>
                      <a:endParaRPr sz="600" dirty="0">
                        <a:latin typeface="Arial"/>
                        <a:cs typeface="Arial"/>
                      </a:endParaRPr>
                    </a:p>
                  </a:txBody>
                  <a:tcPr marL="0" marR="0" marT="7366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nSpc>
                          <a:spcPct val="100000"/>
                        </a:lnSpc>
                      </a:pPr>
                      <a:endParaRPr sz="900" dirty="0">
                        <a:latin typeface="Times New Roman"/>
                        <a:cs typeface="Times New Roman"/>
                      </a:endParaRPr>
                    </a:p>
                  </a:txBody>
                  <a:tcPr marL="0" marR="0" marT="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gn="ctr">
                        <a:lnSpc>
                          <a:spcPct val="100000"/>
                        </a:lnSpc>
                        <a:spcBef>
                          <a:spcPts val="425"/>
                        </a:spcBef>
                      </a:pPr>
                      <a:r>
                        <a:rPr sz="900" dirty="0">
                          <a:latin typeface="Arial"/>
                          <a:cs typeface="Arial"/>
                        </a:rPr>
                        <a:t>-</a:t>
                      </a:r>
                    </a:p>
                  </a:txBody>
                  <a:tcPr marL="0" marR="0" marT="53975"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gn="ctr">
                        <a:lnSpc>
                          <a:spcPct val="100000"/>
                        </a:lnSpc>
                        <a:spcBef>
                          <a:spcPts val="400"/>
                        </a:spcBef>
                      </a:pPr>
                      <a:r>
                        <a:rPr sz="900" dirty="0">
                          <a:latin typeface="Arial"/>
                          <a:cs typeface="Arial"/>
                        </a:rPr>
                        <a:t>-</a:t>
                      </a:r>
                    </a:p>
                  </a:txBody>
                  <a:tcPr marL="0" marR="0" marT="5080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L="47625">
                        <a:lnSpc>
                          <a:spcPct val="100000"/>
                        </a:lnSpc>
                        <a:spcBef>
                          <a:spcPts val="425"/>
                        </a:spcBef>
                      </a:pPr>
                      <a:r>
                        <a:rPr sz="900" spc="-5" dirty="0">
                          <a:latin typeface="Arial"/>
                          <a:cs typeface="Arial"/>
                        </a:rPr>
                        <a:t>0.053</a:t>
                      </a:r>
                      <a:r>
                        <a:rPr sz="900" spc="-55" dirty="0">
                          <a:latin typeface="Arial"/>
                          <a:cs typeface="Arial"/>
                        </a:rPr>
                        <a:t> </a:t>
                      </a:r>
                      <a:r>
                        <a:rPr sz="900" baseline="37037" dirty="0">
                          <a:latin typeface="Arial"/>
                          <a:cs typeface="Arial"/>
                        </a:rPr>
                        <a:t>(3)</a:t>
                      </a:r>
                    </a:p>
                  </a:txBody>
                  <a:tcPr marL="0" marR="0" marT="53975"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R="17780" algn="ctr">
                        <a:lnSpc>
                          <a:spcPct val="100000"/>
                        </a:lnSpc>
                        <a:spcBef>
                          <a:spcPts val="425"/>
                        </a:spcBef>
                      </a:pPr>
                      <a:r>
                        <a:rPr sz="900" spc="-5" dirty="0">
                          <a:latin typeface="Arial"/>
                          <a:cs typeface="Arial"/>
                        </a:rPr>
                        <a:t>ns</a:t>
                      </a:r>
                      <a:endParaRPr sz="900" dirty="0">
                        <a:latin typeface="Arial"/>
                        <a:cs typeface="Arial"/>
                      </a:endParaRPr>
                    </a:p>
                  </a:txBody>
                  <a:tcPr marL="0" marR="0" marT="53975" marB="0">
                    <a:lnL w="3175">
                      <a:solidFill>
                        <a:srgbClr val="000000"/>
                      </a:solidFill>
                      <a:prstDash val="solid"/>
                    </a:lnL>
                    <a:lnT w="3175">
                      <a:solidFill>
                        <a:srgbClr val="000000"/>
                      </a:solidFill>
                      <a:prstDash val="solid"/>
                    </a:lnT>
                    <a:lnB w="3175">
                      <a:solidFill>
                        <a:srgbClr val="000000"/>
                      </a:solidFill>
                      <a:prstDash val="solid"/>
                    </a:lnB>
                  </a:tcPr>
                </a:tc>
                <a:extLst>
                  <a:ext uri="{0D108BD9-81ED-4DB2-BD59-A6C34878D82A}">
                    <a16:rowId xmlns:a16="http://schemas.microsoft.com/office/drawing/2014/main" val="10009"/>
                  </a:ext>
                </a:extLst>
              </a:tr>
              <a:tr h="246379">
                <a:tc>
                  <a:txBody>
                    <a:bodyPr/>
                    <a:lstStyle/>
                    <a:p>
                      <a:pPr marR="3810" algn="r">
                        <a:lnSpc>
                          <a:spcPct val="100000"/>
                        </a:lnSpc>
                        <a:spcBef>
                          <a:spcPts val="420"/>
                        </a:spcBef>
                      </a:pPr>
                      <a:r>
                        <a:rPr sz="900" dirty="0">
                          <a:latin typeface="Arial"/>
                          <a:cs typeface="Arial"/>
                        </a:rPr>
                        <a:t>SCLKO</a:t>
                      </a:r>
                      <a:r>
                        <a:rPr sz="900" spc="-30" dirty="0">
                          <a:latin typeface="Arial"/>
                          <a:cs typeface="Arial"/>
                        </a:rPr>
                        <a:t> </a:t>
                      </a:r>
                      <a:r>
                        <a:rPr sz="900" spc="-5" dirty="0">
                          <a:latin typeface="Arial"/>
                          <a:cs typeface="Arial"/>
                        </a:rPr>
                        <a:t>high</a:t>
                      </a:r>
                      <a:r>
                        <a:rPr sz="900" spc="-40" dirty="0">
                          <a:latin typeface="Arial"/>
                          <a:cs typeface="Arial"/>
                        </a:rPr>
                        <a:t> </a:t>
                      </a:r>
                      <a:r>
                        <a:rPr sz="900" dirty="0">
                          <a:latin typeface="Arial"/>
                          <a:cs typeface="Arial"/>
                        </a:rPr>
                        <a:t>time</a:t>
                      </a:r>
                    </a:p>
                  </a:txBody>
                  <a:tcPr marL="0" marR="0" marT="53340" marB="0">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L="635" algn="ctr">
                        <a:lnSpc>
                          <a:spcPct val="100000"/>
                        </a:lnSpc>
                        <a:spcBef>
                          <a:spcPts val="530"/>
                        </a:spcBef>
                      </a:pPr>
                      <a:r>
                        <a:rPr sz="1350" baseline="6172" dirty="0">
                          <a:latin typeface="Arial"/>
                          <a:cs typeface="Arial"/>
                        </a:rPr>
                        <a:t>t</a:t>
                      </a:r>
                      <a:r>
                        <a:rPr sz="600" dirty="0">
                          <a:latin typeface="Arial"/>
                          <a:cs typeface="Arial"/>
                        </a:rPr>
                        <a:t>OCH</a:t>
                      </a:r>
                    </a:p>
                  </a:txBody>
                  <a:tcPr marL="0" marR="0" marT="6731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nSpc>
                          <a:spcPct val="100000"/>
                        </a:lnSpc>
                      </a:pPr>
                      <a:endParaRPr sz="900" dirty="0">
                        <a:latin typeface="Times New Roman"/>
                        <a:cs typeface="Times New Roman"/>
                      </a:endParaRPr>
                    </a:p>
                  </a:txBody>
                  <a:tcPr marL="0" marR="0" marT="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L="1905" algn="ctr">
                        <a:lnSpc>
                          <a:spcPct val="100000"/>
                        </a:lnSpc>
                        <a:spcBef>
                          <a:spcPts val="420"/>
                        </a:spcBef>
                      </a:pPr>
                      <a:r>
                        <a:rPr lang="en-US" altLang="ko-KR" sz="1600" spc="-7" baseline="6172" dirty="0">
                          <a:latin typeface="Arial"/>
                          <a:cs typeface="Arial"/>
                        </a:rPr>
                        <a:t>t</a:t>
                      </a:r>
                      <a:r>
                        <a:rPr lang="en-US" altLang="ko-KR" sz="700" spc="-5" dirty="0">
                          <a:latin typeface="Arial"/>
                          <a:cs typeface="Arial"/>
                        </a:rPr>
                        <a:t>CH </a:t>
                      </a:r>
                      <a:r>
                        <a:rPr lang="en-US" altLang="ko-KR" sz="700" spc="-5" baseline="0" dirty="0">
                          <a:latin typeface="Arial"/>
                          <a:cs typeface="Arial"/>
                        </a:rPr>
                        <a:t> -</a:t>
                      </a:r>
                      <a:r>
                        <a:rPr lang="en-US" altLang="ko-KR" sz="900" spc="-5" dirty="0">
                          <a:latin typeface="Arial"/>
                          <a:cs typeface="Arial"/>
                        </a:rPr>
                        <a:t>0.056</a:t>
                      </a:r>
                      <a:r>
                        <a:rPr lang="ko-KR" altLang="en-US" sz="900" spc="-55" dirty="0">
                          <a:latin typeface="Arial"/>
                          <a:cs typeface="Arial"/>
                        </a:rPr>
                        <a:t> </a:t>
                      </a:r>
                      <a:r>
                        <a:rPr lang="en-US" altLang="ko-KR" sz="900" baseline="37037" dirty="0">
                          <a:latin typeface="Arial"/>
                          <a:cs typeface="Arial"/>
                        </a:rPr>
                        <a:t>(3</a:t>
                      </a:r>
                      <a:endParaRPr sz="900" baseline="0" dirty="0">
                        <a:latin typeface="Arial"/>
                        <a:cs typeface="Arial"/>
                      </a:endParaRPr>
                    </a:p>
                  </a:txBody>
                  <a:tcPr marL="0" marR="0" marT="5334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L="2540" algn="ctr">
                        <a:lnSpc>
                          <a:spcPct val="100000"/>
                        </a:lnSpc>
                        <a:spcBef>
                          <a:spcPts val="420"/>
                        </a:spcBef>
                      </a:pPr>
                      <a:r>
                        <a:rPr sz="900" dirty="0">
                          <a:latin typeface="Arial"/>
                          <a:cs typeface="Arial"/>
                        </a:rPr>
                        <a:t>-</a:t>
                      </a:r>
                    </a:p>
                  </a:txBody>
                  <a:tcPr marL="0" marR="0" marT="5334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L="2540" algn="ctr">
                        <a:lnSpc>
                          <a:spcPct val="100000"/>
                        </a:lnSpc>
                        <a:spcBef>
                          <a:spcPts val="420"/>
                        </a:spcBef>
                      </a:pPr>
                      <a:r>
                        <a:rPr lang="en-US" altLang="ko-KR" sz="900" dirty="0">
                          <a:latin typeface="Arial"/>
                          <a:cs typeface="Arial"/>
                        </a:rPr>
                        <a:t>-</a:t>
                      </a:r>
                    </a:p>
                  </a:txBody>
                  <a:tcPr marL="0" marR="0" marT="5334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R="8255" algn="ctr">
                        <a:lnSpc>
                          <a:spcPct val="100000"/>
                        </a:lnSpc>
                        <a:spcBef>
                          <a:spcPts val="420"/>
                        </a:spcBef>
                      </a:pPr>
                      <a:r>
                        <a:rPr sz="900" spc="-5" dirty="0">
                          <a:latin typeface="Arial"/>
                          <a:cs typeface="Arial"/>
                        </a:rPr>
                        <a:t>ns</a:t>
                      </a:r>
                      <a:endParaRPr sz="900" dirty="0">
                        <a:latin typeface="Arial"/>
                        <a:cs typeface="Arial"/>
                      </a:endParaRPr>
                    </a:p>
                  </a:txBody>
                  <a:tcPr marL="0" marR="0" marT="53340" marB="0">
                    <a:lnL w="3175">
                      <a:solidFill>
                        <a:srgbClr val="000000"/>
                      </a:solidFill>
                      <a:prstDash val="solid"/>
                    </a:lnL>
                    <a:lnT w="3175">
                      <a:solidFill>
                        <a:srgbClr val="000000"/>
                      </a:solidFill>
                      <a:prstDash val="solid"/>
                    </a:lnT>
                    <a:lnB w="3175">
                      <a:solidFill>
                        <a:srgbClr val="000000"/>
                      </a:solidFill>
                      <a:prstDash val="solid"/>
                    </a:lnB>
                  </a:tcPr>
                </a:tc>
                <a:extLst>
                  <a:ext uri="{0D108BD9-81ED-4DB2-BD59-A6C34878D82A}">
                    <a16:rowId xmlns:a16="http://schemas.microsoft.com/office/drawing/2014/main" val="10010"/>
                  </a:ext>
                </a:extLst>
              </a:tr>
              <a:tr h="245745">
                <a:tc>
                  <a:txBody>
                    <a:bodyPr/>
                    <a:lstStyle/>
                    <a:p>
                      <a:pPr>
                        <a:lnSpc>
                          <a:spcPct val="100000"/>
                        </a:lnSpc>
                        <a:spcBef>
                          <a:spcPts val="420"/>
                        </a:spcBef>
                      </a:pPr>
                      <a:r>
                        <a:rPr sz="900" dirty="0">
                          <a:latin typeface="Arial"/>
                          <a:cs typeface="Arial"/>
                        </a:rPr>
                        <a:t>nSCS</a:t>
                      </a:r>
                      <a:r>
                        <a:rPr sz="900" spc="-10" dirty="0">
                          <a:latin typeface="Arial"/>
                          <a:cs typeface="Arial"/>
                        </a:rPr>
                        <a:t> </a:t>
                      </a:r>
                      <a:r>
                        <a:rPr sz="900" dirty="0">
                          <a:latin typeface="Arial"/>
                          <a:cs typeface="Arial"/>
                        </a:rPr>
                        <a:t>setup</a:t>
                      </a:r>
                      <a:r>
                        <a:rPr sz="900" spc="-25" dirty="0">
                          <a:latin typeface="Arial"/>
                          <a:cs typeface="Arial"/>
                        </a:rPr>
                        <a:t> </a:t>
                      </a:r>
                      <a:r>
                        <a:rPr sz="900" dirty="0">
                          <a:latin typeface="Arial"/>
                          <a:cs typeface="Arial"/>
                        </a:rPr>
                        <a:t>to</a:t>
                      </a:r>
                      <a:r>
                        <a:rPr sz="900" spc="-15" dirty="0">
                          <a:latin typeface="Arial"/>
                          <a:cs typeface="Arial"/>
                        </a:rPr>
                        <a:t> </a:t>
                      </a:r>
                      <a:r>
                        <a:rPr sz="900" dirty="0">
                          <a:latin typeface="Arial"/>
                          <a:cs typeface="Arial"/>
                        </a:rPr>
                        <a:t>the</a:t>
                      </a:r>
                      <a:r>
                        <a:rPr sz="900" spc="-10" dirty="0">
                          <a:latin typeface="Arial"/>
                          <a:cs typeface="Arial"/>
                        </a:rPr>
                        <a:t> </a:t>
                      </a:r>
                      <a:r>
                        <a:rPr sz="900" dirty="0">
                          <a:latin typeface="Arial"/>
                          <a:cs typeface="Arial"/>
                        </a:rPr>
                        <a:t>first</a:t>
                      </a:r>
                      <a:r>
                        <a:rPr sz="900" spc="-20" dirty="0">
                          <a:latin typeface="Arial"/>
                          <a:cs typeface="Arial"/>
                        </a:rPr>
                        <a:t> </a:t>
                      </a:r>
                      <a:r>
                        <a:rPr sz="900" dirty="0">
                          <a:latin typeface="Arial"/>
                          <a:cs typeface="Arial"/>
                        </a:rPr>
                        <a:t>rising</a:t>
                      </a:r>
                      <a:r>
                        <a:rPr sz="900" spc="-25" dirty="0">
                          <a:latin typeface="Arial"/>
                          <a:cs typeface="Arial"/>
                        </a:rPr>
                        <a:t> </a:t>
                      </a:r>
                      <a:r>
                        <a:rPr sz="900" dirty="0">
                          <a:latin typeface="Arial"/>
                          <a:cs typeface="Arial"/>
                        </a:rPr>
                        <a:t>SCLK</a:t>
                      </a:r>
                    </a:p>
                  </a:txBody>
                  <a:tcPr marL="0" marR="0" marT="53340" marB="0">
                    <a:lnR w="3175">
                      <a:solidFill>
                        <a:srgbClr val="000000"/>
                      </a:solidFill>
                      <a:prstDash val="solid"/>
                    </a:lnR>
                    <a:lnT w="3175">
                      <a:solidFill>
                        <a:srgbClr val="000000"/>
                      </a:solidFill>
                      <a:prstDash val="solid"/>
                    </a:lnT>
                    <a:lnB w="3175">
                      <a:solidFill>
                        <a:srgbClr val="000000"/>
                      </a:solidFill>
                      <a:prstDash val="solid"/>
                    </a:lnB>
                  </a:tcPr>
                </a:tc>
                <a:tc>
                  <a:txBody>
                    <a:bodyPr/>
                    <a:lstStyle/>
                    <a:p>
                      <a:pPr algn="ctr">
                        <a:lnSpc>
                          <a:spcPct val="100000"/>
                        </a:lnSpc>
                        <a:spcBef>
                          <a:spcPts val="530"/>
                        </a:spcBef>
                      </a:pPr>
                      <a:r>
                        <a:rPr sz="1350" spc="-7" baseline="6172" dirty="0">
                          <a:latin typeface="Arial"/>
                          <a:cs typeface="Arial"/>
                        </a:rPr>
                        <a:t>t</a:t>
                      </a:r>
                      <a:r>
                        <a:rPr sz="600" spc="-5" dirty="0">
                          <a:latin typeface="Arial"/>
                          <a:cs typeface="Arial"/>
                        </a:rPr>
                        <a:t>CSS</a:t>
                      </a:r>
                      <a:endParaRPr sz="600" dirty="0">
                        <a:latin typeface="Arial"/>
                        <a:cs typeface="Arial"/>
                      </a:endParaRPr>
                    </a:p>
                  </a:txBody>
                  <a:tcPr marL="0" marR="0" marT="6731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nSpc>
                          <a:spcPct val="100000"/>
                        </a:lnSpc>
                      </a:pPr>
                      <a:endParaRPr sz="900" dirty="0">
                        <a:latin typeface="Times New Roman"/>
                        <a:cs typeface="Times New Roman"/>
                      </a:endParaRPr>
                    </a:p>
                  </a:txBody>
                  <a:tcPr marL="0" marR="0" marT="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L="635" algn="ctr">
                        <a:lnSpc>
                          <a:spcPct val="100000"/>
                        </a:lnSpc>
                        <a:spcBef>
                          <a:spcPts val="420"/>
                        </a:spcBef>
                      </a:pPr>
                      <a:r>
                        <a:rPr sz="900" spc="-5" dirty="0">
                          <a:latin typeface="Arial"/>
                          <a:cs typeface="Arial"/>
                        </a:rPr>
                        <a:t>20</a:t>
                      </a:r>
                      <a:endParaRPr sz="900" dirty="0">
                        <a:latin typeface="Arial"/>
                        <a:cs typeface="Arial"/>
                      </a:endParaRPr>
                    </a:p>
                  </a:txBody>
                  <a:tcPr marL="0" marR="0" marT="5334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L="2540" algn="ctr">
                        <a:lnSpc>
                          <a:spcPct val="100000"/>
                        </a:lnSpc>
                        <a:spcBef>
                          <a:spcPts val="420"/>
                        </a:spcBef>
                      </a:pPr>
                      <a:r>
                        <a:rPr sz="900" dirty="0">
                          <a:latin typeface="Arial"/>
                          <a:cs typeface="Arial"/>
                        </a:rPr>
                        <a:t>-</a:t>
                      </a:r>
                    </a:p>
                  </a:txBody>
                  <a:tcPr marL="0" marR="0" marT="5334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L="2540" algn="ctr">
                        <a:lnSpc>
                          <a:spcPct val="100000"/>
                        </a:lnSpc>
                        <a:spcBef>
                          <a:spcPts val="420"/>
                        </a:spcBef>
                      </a:pPr>
                      <a:r>
                        <a:rPr sz="900" dirty="0">
                          <a:latin typeface="Arial"/>
                          <a:cs typeface="Arial"/>
                        </a:rPr>
                        <a:t>-</a:t>
                      </a:r>
                    </a:p>
                  </a:txBody>
                  <a:tcPr marL="0" marR="0" marT="5334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R="8255" algn="ctr">
                        <a:lnSpc>
                          <a:spcPct val="100000"/>
                        </a:lnSpc>
                        <a:spcBef>
                          <a:spcPts val="420"/>
                        </a:spcBef>
                      </a:pPr>
                      <a:r>
                        <a:rPr sz="900" spc="-5" dirty="0">
                          <a:latin typeface="Arial"/>
                          <a:cs typeface="Arial"/>
                        </a:rPr>
                        <a:t>ns</a:t>
                      </a:r>
                      <a:endParaRPr sz="900" dirty="0">
                        <a:latin typeface="Arial"/>
                        <a:cs typeface="Arial"/>
                      </a:endParaRPr>
                    </a:p>
                  </a:txBody>
                  <a:tcPr marL="0" marR="0" marT="53340" marB="0">
                    <a:lnL w="3175">
                      <a:solidFill>
                        <a:srgbClr val="000000"/>
                      </a:solidFill>
                      <a:prstDash val="solid"/>
                    </a:lnL>
                    <a:lnT w="3175">
                      <a:solidFill>
                        <a:srgbClr val="000000"/>
                      </a:solidFill>
                      <a:prstDash val="solid"/>
                    </a:lnT>
                    <a:lnB w="3175">
                      <a:solidFill>
                        <a:srgbClr val="000000"/>
                      </a:solidFill>
                      <a:prstDash val="solid"/>
                    </a:lnB>
                  </a:tcPr>
                </a:tc>
                <a:extLst>
                  <a:ext uri="{0D108BD9-81ED-4DB2-BD59-A6C34878D82A}">
                    <a16:rowId xmlns:a16="http://schemas.microsoft.com/office/drawing/2014/main" val="10011"/>
                  </a:ext>
                </a:extLst>
              </a:tr>
              <a:tr h="246379">
                <a:tc>
                  <a:txBody>
                    <a:bodyPr/>
                    <a:lstStyle/>
                    <a:p>
                      <a:pPr>
                        <a:lnSpc>
                          <a:spcPct val="100000"/>
                        </a:lnSpc>
                        <a:spcBef>
                          <a:spcPts val="420"/>
                        </a:spcBef>
                      </a:pPr>
                      <a:r>
                        <a:rPr sz="900" dirty="0">
                          <a:latin typeface="Arial"/>
                          <a:cs typeface="Arial"/>
                        </a:rPr>
                        <a:t>nSCS</a:t>
                      </a:r>
                      <a:r>
                        <a:rPr sz="900" spc="-10" dirty="0">
                          <a:latin typeface="Arial"/>
                          <a:cs typeface="Arial"/>
                        </a:rPr>
                        <a:t> </a:t>
                      </a:r>
                      <a:r>
                        <a:rPr sz="900" dirty="0">
                          <a:latin typeface="Arial"/>
                          <a:cs typeface="Arial"/>
                        </a:rPr>
                        <a:t>hold</a:t>
                      </a:r>
                      <a:r>
                        <a:rPr sz="900" spc="-25" dirty="0">
                          <a:latin typeface="Arial"/>
                          <a:cs typeface="Arial"/>
                        </a:rPr>
                        <a:t> </a:t>
                      </a:r>
                      <a:r>
                        <a:rPr sz="900" dirty="0">
                          <a:latin typeface="Arial"/>
                          <a:cs typeface="Arial"/>
                        </a:rPr>
                        <a:t>time</a:t>
                      </a:r>
                      <a:r>
                        <a:rPr sz="900" spc="-15" dirty="0">
                          <a:latin typeface="Arial"/>
                          <a:cs typeface="Arial"/>
                        </a:rPr>
                        <a:t> </a:t>
                      </a:r>
                      <a:r>
                        <a:rPr sz="900" dirty="0">
                          <a:latin typeface="Arial"/>
                          <a:cs typeface="Arial"/>
                        </a:rPr>
                        <a:t>from</a:t>
                      </a:r>
                      <a:r>
                        <a:rPr sz="900" spc="-30" dirty="0">
                          <a:latin typeface="Arial"/>
                          <a:cs typeface="Arial"/>
                        </a:rPr>
                        <a:t> </a:t>
                      </a:r>
                      <a:r>
                        <a:rPr sz="900" dirty="0">
                          <a:latin typeface="Arial"/>
                          <a:cs typeface="Arial"/>
                        </a:rPr>
                        <a:t>the</a:t>
                      </a:r>
                      <a:r>
                        <a:rPr sz="900" spc="-15" dirty="0">
                          <a:latin typeface="Arial"/>
                          <a:cs typeface="Arial"/>
                        </a:rPr>
                        <a:t> </a:t>
                      </a:r>
                      <a:r>
                        <a:rPr sz="900" dirty="0">
                          <a:latin typeface="Arial"/>
                          <a:cs typeface="Arial"/>
                        </a:rPr>
                        <a:t>last</a:t>
                      </a:r>
                      <a:r>
                        <a:rPr sz="900" spc="-15" dirty="0">
                          <a:latin typeface="Arial"/>
                          <a:cs typeface="Arial"/>
                        </a:rPr>
                        <a:t> </a:t>
                      </a:r>
                      <a:r>
                        <a:rPr sz="900" dirty="0">
                          <a:latin typeface="Arial"/>
                          <a:cs typeface="Arial"/>
                        </a:rPr>
                        <a:t>falling</a:t>
                      </a:r>
                      <a:r>
                        <a:rPr sz="900" spc="-25" dirty="0">
                          <a:latin typeface="Arial"/>
                          <a:cs typeface="Arial"/>
                        </a:rPr>
                        <a:t> </a:t>
                      </a:r>
                      <a:r>
                        <a:rPr sz="900" dirty="0">
                          <a:latin typeface="Arial"/>
                          <a:cs typeface="Arial"/>
                        </a:rPr>
                        <a:t>SCLK</a:t>
                      </a:r>
                    </a:p>
                  </a:txBody>
                  <a:tcPr marL="0" marR="0" marT="53340" marB="0">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R="1270" algn="ctr">
                        <a:lnSpc>
                          <a:spcPct val="100000"/>
                        </a:lnSpc>
                        <a:spcBef>
                          <a:spcPts val="530"/>
                        </a:spcBef>
                      </a:pPr>
                      <a:r>
                        <a:rPr sz="1350" spc="-7" baseline="6172" dirty="0">
                          <a:latin typeface="Arial"/>
                          <a:cs typeface="Arial"/>
                        </a:rPr>
                        <a:t>t</a:t>
                      </a:r>
                      <a:r>
                        <a:rPr sz="600" spc="-5" dirty="0">
                          <a:latin typeface="Arial"/>
                          <a:cs typeface="Arial"/>
                        </a:rPr>
                        <a:t>CSH</a:t>
                      </a:r>
                      <a:endParaRPr sz="600" dirty="0">
                        <a:latin typeface="Arial"/>
                        <a:cs typeface="Arial"/>
                      </a:endParaRPr>
                    </a:p>
                  </a:txBody>
                  <a:tcPr marL="0" marR="0" marT="6731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nSpc>
                          <a:spcPct val="100000"/>
                        </a:lnSpc>
                      </a:pPr>
                      <a:endParaRPr sz="900" dirty="0">
                        <a:latin typeface="Times New Roman"/>
                        <a:cs typeface="Times New Roman"/>
                      </a:endParaRPr>
                    </a:p>
                  </a:txBody>
                  <a:tcPr marL="0" marR="0" marT="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gn="ctr">
                        <a:lnSpc>
                          <a:spcPct val="100000"/>
                        </a:lnSpc>
                        <a:spcBef>
                          <a:spcPts val="420"/>
                        </a:spcBef>
                      </a:pPr>
                      <a:r>
                        <a:rPr sz="900" dirty="0">
                          <a:latin typeface="Arial"/>
                          <a:cs typeface="Arial"/>
                        </a:rPr>
                        <a:t>3</a:t>
                      </a:r>
                    </a:p>
                  </a:txBody>
                  <a:tcPr marL="0" marR="0" marT="5334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L="2540" algn="ctr">
                        <a:lnSpc>
                          <a:spcPct val="100000"/>
                        </a:lnSpc>
                        <a:spcBef>
                          <a:spcPts val="420"/>
                        </a:spcBef>
                      </a:pPr>
                      <a:r>
                        <a:rPr sz="900" dirty="0">
                          <a:latin typeface="Arial"/>
                          <a:cs typeface="Arial"/>
                        </a:rPr>
                        <a:t>-</a:t>
                      </a:r>
                    </a:p>
                  </a:txBody>
                  <a:tcPr marL="0" marR="0" marT="5334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L="2540" algn="ctr">
                        <a:lnSpc>
                          <a:spcPct val="100000"/>
                        </a:lnSpc>
                        <a:spcBef>
                          <a:spcPts val="420"/>
                        </a:spcBef>
                      </a:pPr>
                      <a:r>
                        <a:rPr sz="900" dirty="0">
                          <a:latin typeface="Arial"/>
                          <a:cs typeface="Arial"/>
                        </a:rPr>
                        <a:t>-</a:t>
                      </a:r>
                    </a:p>
                  </a:txBody>
                  <a:tcPr marL="0" marR="0" marT="5334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R="6350" algn="ctr">
                        <a:lnSpc>
                          <a:spcPct val="100000"/>
                        </a:lnSpc>
                        <a:spcBef>
                          <a:spcPts val="420"/>
                        </a:spcBef>
                      </a:pPr>
                      <a:r>
                        <a:rPr sz="900" spc="-5" dirty="0">
                          <a:latin typeface="Arial"/>
                          <a:cs typeface="Arial"/>
                        </a:rPr>
                        <a:t>MCLK</a:t>
                      </a:r>
                      <a:endParaRPr sz="900" dirty="0">
                        <a:latin typeface="Arial"/>
                        <a:cs typeface="Arial"/>
                      </a:endParaRPr>
                    </a:p>
                  </a:txBody>
                  <a:tcPr marL="0" marR="0" marT="53340" marB="0">
                    <a:lnL w="3175">
                      <a:solidFill>
                        <a:srgbClr val="000000"/>
                      </a:solidFill>
                      <a:prstDash val="solid"/>
                    </a:lnL>
                    <a:lnT w="3175">
                      <a:solidFill>
                        <a:srgbClr val="000000"/>
                      </a:solidFill>
                      <a:prstDash val="solid"/>
                    </a:lnT>
                    <a:lnB w="3175">
                      <a:solidFill>
                        <a:srgbClr val="000000"/>
                      </a:solidFill>
                      <a:prstDash val="solid"/>
                    </a:lnB>
                  </a:tcPr>
                </a:tc>
                <a:extLst>
                  <a:ext uri="{0D108BD9-81ED-4DB2-BD59-A6C34878D82A}">
                    <a16:rowId xmlns:a16="http://schemas.microsoft.com/office/drawing/2014/main" val="10012"/>
                  </a:ext>
                </a:extLst>
              </a:tr>
              <a:tr h="246379">
                <a:tc>
                  <a:txBody>
                    <a:bodyPr/>
                    <a:lstStyle/>
                    <a:p>
                      <a:pPr>
                        <a:lnSpc>
                          <a:spcPct val="100000"/>
                        </a:lnSpc>
                        <a:spcBef>
                          <a:spcPts val="420"/>
                        </a:spcBef>
                      </a:pPr>
                      <a:r>
                        <a:rPr sz="900" dirty="0">
                          <a:latin typeface="Arial"/>
                          <a:cs typeface="Arial"/>
                        </a:rPr>
                        <a:t>nSCS</a:t>
                      </a:r>
                      <a:r>
                        <a:rPr sz="900" spc="-15" dirty="0">
                          <a:latin typeface="Arial"/>
                          <a:cs typeface="Arial"/>
                        </a:rPr>
                        <a:t> </a:t>
                      </a:r>
                      <a:r>
                        <a:rPr sz="900" dirty="0">
                          <a:latin typeface="Arial"/>
                          <a:cs typeface="Arial"/>
                        </a:rPr>
                        <a:t>high</a:t>
                      </a:r>
                      <a:r>
                        <a:rPr sz="900" spc="-35" dirty="0">
                          <a:latin typeface="Arial"/>
                          <a:cs typeface="Arial"/>
                        </a:rPr>
                        <a:t> </a:t>
                      </a:r>
                      <a:r>
                        <a:rPr sz="900" dirty="0">
                          <a:latin typeface="Arial"/>
                          <a:cs typeface="Arial"/>
                        </a:rPr>
                        <a:t>latency</a:t>
                      </a:r>
                      <a:r>
                        <a:rPr sz="900" spc="-40" dirty="0">
                          <a:latin typeface="Arial"/>
                          <a:cs typeface="Arial"/>
                        </a:rPr>
                        <a:t> </a:t>
                      </a:r>
                      <a:r>
                        <a:rPr sz="900" dirty="0">
                          <a:latin typeface="Arial"/>
                          <a:cs typeface="Arial"/>
                        </a:rPr>
                        <a:t>time</a:t>
                      </a:r>
                    </a:p>
                  </a:txBody>
                  <a:tcPr marL="0" marR="0" marT="53340" marB="0">
                    <a:lnR w="3175">
                      <a:solidFill>
                        <a:srgbClr val="000000"/>
                      </a:solidFill>
                      <a:prstDash val="solid"/>
                    </a:lnR>
                    <a:lnT w="3175">
                      <a:solidFill>
                        <a:srgbClr val="000000"/>
                      </a:solidFill>
                      <a:prstDash val="solid"/>
                    </a:lnT>
                    <a:lnB w="3175">
                      <a:solidFill>
                        <a:srgbClr val="000000"/>
                      </a:solidFill>
                      <a:prstDash val="solid"/>
                    </a:lnB>
                  </a:tcPr>
                </a:tc>
                <a:tc>
                  <a:txBody>
                    <a:bodyPr/>
                    <a:lstStyle/>
                    <a:p>
                      <a:pPr algn="ctr">
                        <a:lnSpc>
                          <a:spcPct val="100000"/>
                        </a:lnSpc>
                        <a:spcBef>
                          <a:spcPts val="530"/>
                        </a:spcBef>
                      </a:pPr>
                      <a:r>
                        <a:rPr sz="1350" spc="-7" baseline="6172" dirty="0">
                          <a:latin typeface="Arial"/>
                          <a:cs typeface="Arial"/>
                        </a:rPr>
                        <a:t>t</a:t>
                      </a:r>
                      <a:r>
                        <a:rPr sz="600" spc="-5" dirty="0">
                          <a:latin typeface="Arial"/>
                          <a:cs typeface="Arial"/>
                        </a:rPr>
                        <a:t>CSHG</a:t>
                      </a:r>
                      <a:endParaRPr sz="600" dirty="0">
                        <a:latin typeface="Arial"/>
                        <a:cs typeface="Arial"/>
                      </a:endParaRPr>
                    </a:p>
                  </a:txBody>
                  <a:tcPr marL="0" marR="0" marT="6731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nSpc>
                          <a:spcPct val="100000"/>
                        </a:lnSpc>
                      </a:pPr>
                      <a:endParaRPr sz="900" dirty="0">
                        <a:latin typeface="Times New Roman"/>
                        <a:cs typeface="Times New Roman"/>
                      </a:endParaRPr>
                    </a:p>
                  </a:txBody>
                  <a:tcPr marL="0" marR="0" marT="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gn="ctr">
                        <a:lnSpc>
                          <a:spcPct val="100000"/>
                        </a:lnSpc>
                        <a:spcBef>
                          <a:spcPts val="420"/>
                        </a:spcBef>
                      </a:pPr>
                      <a:r>
                        <a:rPr sz="900" dirty="0">
                          <a:latin typeface="Arial"/>
                          <a:cs typeface="Arial"/>
                        </a:rPr>
                        <a:t>3</a:t>
                      </a:r>
                    </a:p>
                  </a:txBody>
                  <a:tcPr marL="0" marR="0" marT="5334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L="2540" algn="ctr">
                        <a:lnSpc>
                          <a:spcPct val="100000"/>
                        </a:lnSpc>
                        <a:spcBef>
                          <a:spcPts val="420"/>
                        </a:spcBef>
                      </a:pPr>
                      <a:r>
                        <a:rPr sz="900" dirty="0">
                          <a:latin typeface="Arial"/>
                          <a:cs typeface="Arial"/>
                        </a:rPr>
                        <a:t>-</a:t>
                      </a:r>
                    </a:p>
                  </a:txBody>
                  <a:tcPr marL="0" marR="0" marT="5334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L="2540" algn="ctr">
                        <a:lnSpc>
                          <a:spcPct val="100000"/>
                        </a:lnSpc>
                        <a:spcBef>
                          <a:spcPts val="420"/>
                        </a:spcBef>
                      </a:pPr>
                      <a:r>
                        <a:rPr sz="900" dirty="0">
                          <a:latin typeface="Arial"/>
                          <a:cs typeface="Arial"/>
                        </a:rPr>
                        <a:t>-</a:t>
                      </a:r>
                    </a:p>
                  </a:txBody>
                  <a:tcPr marL="0" marR="0" marT="5334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R="6350" algn="ctr">
                        <a:lnSpc>
                          <a:spcPct val="100000"/>
                        </a:lnSpc>
                        <a:spcBef>
                          <a:spcPts val="420"/>
                        </a:spcBef>
                      </a:pPr>
                      <a:r>
                        <a:rPr sz="900" spc="-10" dirty="0">
                          <a:latin typeface="Arial"/>
                          <a:cs typeface="Arial"/>
                        </a:rPr>
                        <a:t>MCLK</a:t>
                      </a:r>
                      <a:endParaRPr sz="900" dirty="0">
                        <a:latin typeface="Arial"/>
                        <a:cs typeface="Arial"/>
                      </a:endParaRPr>
                    </a:p>
                  </a:txBody>
                  <a:tcPr marL="0" marR="0" marT="53340" marB="0">
                    <a:lnL w="3175">
                      <a:solidFill>
                        <a:srgbClr val="000000"/>
                      </a:solidFill>
                      <a:prstDash val="solid"/>
                    </a:lnL>
                    <a:lnT w="3175">
                      <a:solidFill>
                        <a:srgbClr val="000000"/>
                      </a:solidFill>
                      <a:prstDash val="solid"/>
                    </a:lnT>
                    <a:lnB w="3175">
                      <a:solidFill>
                        <a:srgbClr val="000000"/>
                      </a:solidFill>
                      <a:prstDash val="solid"/>
                    </a:lnB>
                  </a:tcPr>
                </a:tc>
                <a:extLst>
                  <a:ext uri="{0D108BD9-81ED-4DB2-BD59-A6C34878D82A}">
                    <a16:rowId xmlns:a16="http://schemas.microsoft.com/office/drawing/2014/main" val="10013"/>
                  </a:ext>
                </a:extLst>
              </a:tr>
              <a:tr h="246379">
                <a:tc>
                  <a:txBody>
                    <a:bodyPr/>
                    <a:lstStyle/>
                    <a:p>
                      <a:pPr>
                        <a:lnSpc>
                          <a:spcPct val="100000"/>
                        </a:lnSpc>
                        <a:spcBef>
                          <a:spcPts val="425"/>
                        </a:spcBef>
                      </a:pPr>
                      <a:r>
                        <a:rPr sz="900" spc="-5" dirty="0">
                          <a:latin typeface="Arial"/>
                          <a:cs typeface="Arial"/>
                        </a:rPr>
                        <a:t>MOSI</a:t>
                      </a:r>
                      <a:r>
                        <a:rPr sz="900" spc="-10" dirty="0">
                          <a:latin typeface="Arial"/>
                          <a:cs typeface="Arial"/>
                        </a:rPr>
                        <a:t> </a:t>
                      </a:r>
                      <a:r>
                        <a:rPr sz="900" dirty="0">
                          <a:latin typeface="Arial"/>
                          <a:cs typeface="Arial"/>
                        </a:rPr>
                        <a:t>setup</a:t>
                      </a:r>
                      <a:r>
                        <a:rPr sz="900" spc="-30" dirty="0">
                          <a:latin typeface="Arial"/>
                          <a:cs typeface="Arial"/>
                        </a:rPr>
                        <a:t> </a:t>
                      </a:r>
                      <a:r>
                        <a:rPr sz="900" dirty="0">
                          <a:latin typeface="Arial"/>
                          <a:cs typeface="Arial"/>
                        </a:rPr>
                        <a:t>time</a:t>
                      </a:r>
                    </a:p>
                  </a:txBody>
                  <a:tcPr marL="0" marR="0" marT="53975" marB="0">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R="1270" algn="ctr">
                        <a:lnSpc>
                          <a:spcPct val="100000"/>
                        </a:lnSpc>
                        <a:spcBef>
                          <a:spcPts val="530"/>
                        </a:spcBef>
                      </a:pPr>
                      <a:r>
                        <a:rPr sz="1350" spc="-7" baseline="6172" dirty="0">
                          <a:latin typeface="Arial"/>
                          <a:cs typeface="Arial"/>
                        </a:rPr>
                        <a:t>t</a:t>
                      </a:r>
                      <a:r>
                        <a:rPr sz="600" spc="-5" dirty="0">
                          <a:latin typeface="Arial"/>
                          <a:cs typeface="Arial"/>
                        </a:rPr>
                        <a:t>DS</a:t>
                      </a:r>
                      <a:endParaRPr sz="600" dirty="0">
                        <a:latin typeface="Arial"/>
                        <a:cs typeface="Arial"/>
                      </a:endParaRPr>
                    </a:p>
                  </a:txBody>
                  <a:tcPr marL="0" marR="0" marT="6731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nSpc>
                          <a:spcPct val="100000"/>
                        </a:lnSpc>
                      </a:pPr>
                      <a:endParaRPr sz="900" dirty="0">
                        <a:latin typeface="Times New Roman"/>
                        <a:cs typeface="Times New Roman"/>
                      </a:endParaRPr>
                    </a:p>
                  </a:txBody>
                  <a:tcPr marL="0" marR="0" marT="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gn="ctr">
                        <a:lnSpc>
                          <a:spcPct val="100000"/>
                        </a:lnSpc>
                        <a:spcBef>
                          <a:spcPts val="425"/>
                        </a:spcBef>
                      </a:pPr>
                      <a:r>
                        <a:rPr sz="900" dirty="0">
                          <a:latin typeface="Arial"/>
                          <a:cs typeface="Arial"/>
                        </a:rPr>
                        <a:t>7</a:t>
                      </a:r>
                    </a:p>
                  </a:txBody>
                  <a:tcPr marL="0" marR="0" marT="53975"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L="2540" algn="ctr">
                        <a:lnSpc>
                          <a:spcPct val="100000"/>
                        </a:lnSpc>
                        <a:spcBef>
                          <a:spcPts val="425"/>
                        </a:spcBef>
                      </a:pPr>
                      <a:r>
                        <a:rPr sz="900" dirty="0">
                          <a:latin typeface="Arial"/>
                          <a:cs typeface="Arial"/>
                        </a:rPr>
                        <a:t>-</a:t>
                      </a:r>
                    </a:p>
                  </a:txBody>
                  <a:tcPr marL="0" marR="0" marT="53975"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L="2540" algn="ctr">
                        <a:lnSpc>
                          <a:spcPct val="100000"/>
                        </a:lnSpc>
                        <a:spcBef>
                          <a:spcPts val="425"/>
                        </a:spcBef>
                      </a:pPr>
                      <a:r>
                        <a:rPr sz="900" dirty="0">
                          <a:latin typeface="Arial"/>
                          <a:cs typeface="Arial"/>
                        </a:rPr>
                        <a:t>-</a:t>
                      </a:r>
                    </a:p>
                  </a:txBody>
                  <a:tcPr marL="0" marR="0" marT="53975"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R="8255" algn="ctr">
                        <a:lnSpc>
                          <a:spcPct val="100000"/>
                        </a:lnSpc>
                        <a:spcBef>
                          <a:spcPts val="425"/>
                        </a:spcBef>
                      </a:pPr>
                      <a:r>
                        <a:rPr sz="900" spc="-5" dirty="0">
                          <a:latin typeface="Arial"/>
                          <a:cs typeface="Arial"/>
                        </a:rPr>
                        <a:t>ns</a:t>
                      </a:r>
                      <a:endParaRPr sz="900" dirty="0">
                        <a:latin typeface="Arial"/>
                        <a:cs typeface="Arial"/>
                      </a:endParaRPr>
                    </a:p>
                  </a:txBody>
                  <a:tcPr marL="0" marR="0" marT="53975" marB="0">
                    <a:lnL w="3175">
                      <a:solidFill>
                        <a:srgbClr val="000000"/>
                      </a:solidFill>
                      <a:prstDash val="solid"/>
                    </a:lnL>
                    <a:lnT w="3175">
                      <a:solidFill>
                        <a:srgbClr val="000000"/>
                      </a:solidFill>
                      <a:prstDash val="solid"/>
                    </a:lnT>
                    <a:lnB w="3175">
                      <a:solidFill>
                        <a:srgbClr val="000000"/>
                      </a:solidFill>
                      <a:prstDash val="solid"/>
                    </a:lnB>
                  </a:tcPr>
                </a:tc>
                <a:extLst>
                  <a:ext uri="{0D108BD9-81ED-4DB2-BD59-A6C34878D82A}">
                    <a16:rowId xmlns:a16="http://schemas.microsoft.com/office/drawing/2014/main" val="10014"/>
                  </a:ext>
                </a:extLst>
              </a:tr>
              <a:tr h="246379">
                <a:tc>
                  <a:txBody>
                    <a:bodyPr/>
                    <a:lstStyle/>
                    <a:p>
                      <a:pPr>
                        <a:lnSpc>
                          <a:spcPct val="100000"/>
                        </a:lnSpc>
                        <a:spcBef>
                          <a:spcPts val="420"/>
                        </a:spcBef>
                      </a:pPr>
                      <a:r>
                        <a:rPr sz="900" spc="-5" dirty="0">
                          <a:latin typeface="Arial"/>
                          <a:cs typeface="Arial"/>
                        </a:rPr>
                        <a:t>MOSI</a:t>
                      </a:r>
                      <a:r>
                        <a:rPr sz="900" spc="-20" dirty="0">
                          <a:latin typeface="Arial"/>
                          <a:cs typeface="Arial"/>
                        </a:rPr>
                        <a:t> </a:t>
                      </a:r>
                      <a:r>
                        <a:rPr sz="900" dirty="0">
                          <a:latin typeface="Arial"/>
                          <a:cs typeface="Arial"/>
                        </a:rPr>
                        <a:t>hold</a:t>
                      </a:r>
                      <a:r>
                        <a:rPr sz="900" spc="-45" dirty="0">
                          <a:latin typeface="Arial"/>
                          <a:cs typeface="Arial"/>
                        </a:rPr>
                        <a:t> </a:t>
                      </a:r>
                      <a:r>
                        <a:rPr sz="900" dirty="0">
                          <a:latin typeface="Arial"/>
                          <a:cs typeface="Arial"/>
                        </a:rPr>
                        <a:t>time</a:t>
                      </a:r>
                    </a:p>
                  </a:txBody>
                  <a:tcPr marL="0" marR="0" marT="53340" marB="0">
                    <a:lnR w="3175">
                      <a:solidFill>
                        <a:srgbClr val="000000"/>
                      </a:solidFill>
                      <a:prstDash val="solid"/>
                    </a:lnR>
                    <a:lnT w="3175">
                      <a:solidFill>
                        <a:srgbClr val="000000"/>
                      </a:solidFill>
                      <a:prstDash val="solid"/>
                    </a:lnT>
                    <a:lnB w="3175">
                      <a:solidFill>
                        <a:srgbClr val="000000"/>
                      </a:solidFill>
                      <a:prstDash val="solid"/>
                    </a:lnB>
                  </a:tcPr>
                </a:tc>
                <a:tc>
                  <a:txBody>
                    <a:bodyPr/>
                    <a:lstStyle/>
                    <a:p>
                      <a:pPr algn="ctr">
                        <a:lnSpc>
                          <a:spcPct val="100000"/>
                        </a:lnSpc>
                        <a:spcBef>
                          <a:spcPts val="530"/>
                        </a:spcBef>
                      </a:pPr>
                      <a:r>
                        <a:rPr sz="1350" spc="-7" baseline="6172" dirty="0">
                          <a:latin typeface="Arial"/>
                          <a:cs typeface="Arial"/>
                        </a:rPr>
                        <a:t>t</a:t>
                      </a:r>
                      <a:r>
                        <a:rPr sz="600" spc="-5" dirty="0">
                          <a:latin typeface="Arial"/>
                          <a:cs typeface="Arial"/>
                        </a:rPr>
                        <a:t>DH</a:t>
                      </a:r>
                      <a:endParaRPr sz="600" dirty="0">
                        <a:latin typeface="Arial"/>
                        <a:cs typeface="Arial"/>
                      </a:endParaRPr>
                    </a:p>
                  </a:txBody>
                  <a:tcPr marL="0" marR="0" marT="6731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nSpc>
                          <a:spcPct val="100000"/>
                        </a:lnSpc>
                      </a:pPr>
                      <a:endParaRPr sz="900" dirty="0">
                        <a:latin typeface="Times New Roman"/>
                        <a:cs typeface="Times New Roman"/>
                      </a:endParaRPr>
                    </a:p>
                  </a:txBody>
                  <a:tcPr marL="0" marR="0" marT="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gn="ctr">
                        <a:lnSpc>
                          <a:spcPct val="100000"/>
                        </a:lnSpc>
                        <a:spcBef>
                          <a:spcPts val="420"/>
                        </a:spcBef>
                      </a:pPr>
                      <a:r>
                        <a:rPr sz="900" dirty="0">
                          <a:latin typeface="Arial"/>
                          <a:cs typeface="Arial"/>
                        </a:rPr>
                        <a:t>3</a:t>
                      </a:r>
                    </a:p>
                  </a:txBody>
                  <a:tcPr marL="0" marR="0" marT="5334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L="2540" algn="ctr">
                        <a:lnSpc>
                          <a:spcPct val="100000"/>
                        </a:lnSpc>
                        <a:spcBef>
                          <a:spcPts val="420"/>
                        </a:spcBef>
                      </a:pPr>
                      <a:r>
                        <a:rPr sz="900" dirty="0">
                          <a:latin typeface="Arial"/>
                          <a:cs typeface="Arial"/>
                        </a:rPr>
                        <a:t>-</a:t>
                      </a:r>
                    </a:p>
                  </a:txBody>
                  <a:tcPr marL="0" marR="0" marT="5334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L="2540" algn="ctr">
                        <a:lnSpc>
                          <a:spcPct val="100000"/>
                        </a:lnSpc>
                        <a:spcBef>
                          <a:spcPts val="420"/>
                        </a:spcBef>
                      </a:pPr>
                      <a:r>
                        <a:rPr sz="900" dirty="0">
                          <a:latin typeface="Arial"/>
                          <a:cs typeface="Arial"/>
                        </a:rPr>
                        <a:t>-</a:t>
                      </a:r>
                    </a:p>
                  </a:txBody>
                  <a:tcPr marL="0" marR="0" marT="5334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R="8255" algn="ctr">
                        <a:lnSpc>
                          <a:spcPct val="100000"/>
                        </a:lnSpc>
                        <a:spcBef>
                          <a:spcPts val="420"/>
                        </a:spcBef>
                      </a:pPr>
                      <a:r>
                        <a:rPr sz="900" dirty="0">
                          <a:latin typeface="Arial"/>
                          <a:cs typeface="Arial"/>
                        </a:rPr>
                        <a:t>ns</a:t>
                      </a:r>
                    </a:p>
                  </a:txBody>
                  <a:tcPr marL="0" marR="0" marT="53340" marB="0">
                    <a:lnL w="3175">
                      <a:solidFill>
                        <a:srgbClr val="000000"/>
                      </a:solidFill>
                      <a:prstDash val="solid"/>
                    </a:lnL>
                    <a:lnT w="3175">
                      <a:solidFill>
                        <a:srgbClr val="000000"/>
                      </a:solidFill>
                      <a:prstDash val="solid"/>
                    </a:lnT>
                    <a:lnB w="3175">
                      <a:solidFill>
                        <a:srgbClr val="000000"/>
                      </a:solidFill>
                      <a:prstDash val="solid"/>
                    </a:lnB>
                  </a:tcPr>
                </a:tc>
                <a:extLst>
                  <a:ext uri="{0D108BD9-81ED-4DB2-BD59-A6C34878D82A}">
                    <a16:rowId xmlns:a16="http://schemas.microsoft.com/office/drawing/2014/main" val="10015"/>
                  </a:ext>
                </a:extLst>
              </a:tr>
              <a:tr h="246379">
                <a:tc>
                  <a:txBody>
                    <a:bodyPr/>
                    <a:lstStyle/>
                    <a:p>
                      <a:pPr>
                        <a:lnSpc>
                          <a:spcPct val="100000"/>
                        </a:lnSpc>
                        <a:spcBef>
                          <a:spcPts val="425"/>
                        </a:spcBef>
                      </a:pPr>
                      <a:r>
                        <a:rPr sz="900" spc="-5" dirty="0">
                          <a:latin typeface="Arial"/>
                          <a:cs typeface="Arial"/>
                        </a:rPr>
                        <a:t>MISO</a:t>
                      </a:r>
                      <a:r>
                        <a:rPr sz="900" dirty="0">
                          <a:latin typeface="Arial"/>
                          <a:cs typeface="Arial"/>
                        </a:rPr>
                        <a:t> delay</a:t>
                      </a:r>
                      <a:r>
                        <a:rPr sz="900" spc="-20" dirty="0">
                          <a:latin typeface="Arial"/>
                          <a:cs typeface="Arial"/>
                        </a:rPr>
                        <a:t> </a:t>
                      </a:r>
                      <a:r>
                        <a:rPr sz="900" dirty="0">
                          <a:latin typeface="Arial"/>
                          <a:cs typeface="Arial"/>
                        </a:rPr>
                        <a:t>from</a:t>
                      </a:r>
                      <a:r>
                        <a:rPr sz="900" spc="-10" dirty="0">
                          <a:latin typeface="Arial"/>
                          <a:cs typeface="Arial"/>
                        </a:rPr>
                        <a:t> </a:t>
                      </a:r>
                      <a:r>
                        <a:rPr sz="900" dirty="0">
                          <a:latin typeface="Arial"/>
                          <a:cs typeface="Arial"/>
                        </a:rPr>
                        <a:t>the</a:t>
                      </a:r>
                      <a:r>
                        <a:rPr sz="900" spc="-15" dirty="0">
                          <a:latin typeface="Arial"/>
                          <a:cs typeface="Arial"/>
                        </a:rPr>
                        <a:t> </a:t>
                      </a:r>
                      <a:r>
                        <a:rPr sz="900" dirty="0">
                          <a:latin typeface="Arial"/>
                          <a:cs typeface="Arial"/>
                        </a:rPr>
                        <a:t>rising</a:t>
                      </a:r>
                      <a:r>
                        <a:rPr sz="900" spc="-25" dirty="0">
                          <a:latin typeface="Arial"/>
                          <a:cs typeface="Arial"/>
                        </a:rPr>
                        <a:t> </a:t>
                      </a:r>
                      <a:r>
                        <a:rPr sz="900" dirty="0">
                          <a:latin typeface="Arial"/>
                          <a:cs typeface="Arial"/>
                        </a:rPr>
                        <a:t>edge</a:t>
                      </a:r>
                      <a:r>
                        <a:rPr sz="900" spc="-10" dirty="0">
                          <a:latin typeface="Arial"/>
                          <a:cs typeface="Arial"/>
                        </a:rPr>
                        <a:t> </a:t>
                      </a:r>
                      <a:r>
                        <a:rPr sz="900" dirty="0">
                          <a:latin typeface="Arial"/>
                          <a:cs typeface="Arial"/>
                        </a:rPr>
                        <a:t>SCLK</a:t>
                      </a:r>
                    </a:p>
                  </a:txBody>
                  <a:tcPr marL="0" marR="0" marT="53975" marB="0">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R="1905" algn="ctr">
                        <a:lnSpc>
                          <a:spcPct val="100000"/>
                        </a:lnSpc>
                        <a:spcBef>
                          <a:spcPts val="530"/>
                        </a:spcBef>
                      </a:pPr>
                      <a:r>
                        <a:rPr sz="1350" spc="-7" baseline="6172" dirty="0">
                          <a:latin typeface="Arial"/>
                          <a:cs typeface="Arial"/>
                        </a:rPr>
                        <a:t>t</a:t>
                      </a:r>
                      <a:r>
                        <a:rPr sz="600" spc="-5" dirty="0">
                          <a:latin typeface="Arial"/>
                          <a:cs typeface="Arial"/>
                        </a:rPr>
                        <a:t>DO</a:t>
                      </a:r>
                      <a:endParaRPr sz="600" dirty="0">
                        <a:latin typeface="Arial"/>
                        <a:cs typeface="Arial"/>
                      </a:endParaRPr>
                    </a:p>
                  </a:txBody>
                  <a:tcPr marL="0" marR="0" marT="6731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nSpc>
                          <a:spcPct val="100000"/>
                        </a:lnSpc>
                      </a:pPr>
                      <a:endParaRPr sz="900" dirty="0">
                        <a:latin typeface="Times New Roman"/>
                        <a:cs typeface="Times New Roman"/>
                      </a:endParaRPr>
                    </a:p>
                  </a:txBody>
                  <a:tcPr marL="0" marR="0" marT="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L="635" algn="ctr">
                        <a:lnSpc>
                          <a:spcPct val="100000"/>
                        </a:lnSpc>
                        <a:spcBef>
                          <a:spcPts val="425"/>
                        </a:spcBef>
                      </a:pPr>
                      <a:r>
                        <a:rPr lang="en-US" sz="900" spc="-5" dirty="0">
                          <a:latin typeface="Arial"/>
                          <a:cs typeface="Arial"/>
                        </a:rPr>
                        <a:t>-</a:t>
                      </a:r>
                      <a:endParaRPr sz="900" dirty="0">
                        <a:latin typeface="Arial"/>
                        <a:cs typeface="Arial"/>
                      </a:endParaRPr>
                    </a:p>
                  </a:txBody>
                  <a:tcPr marL="0" marR="0" marT="53975"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L="2540" algn="ctr">
                        <a:lnSpc>
                          <a:spcPct val="100000"/>
                        </a:lnSpc>
                        <a:spcBef>
                          <a:spcPts val="425"/>
                        </a:spcBef>
                      </a:pPr>
                      <a:r>
                        <a:rPr sz="900" dirty="0">
                          <a:latin typeface="Arial"/>
                          <a:cs typeface="Arial"/>
                        </a:rPr>
                        <a:t>-</a:t>
                      </a:r>
                    </a:p>
                  </a:txBody>
                  <a:tcPr marL="0" marR="0" marT="53975"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L="2540" algn="ctr">
                        <a:lnSpc>
                          <a:spcPct val="100000"/>
                        </a:lnSpc>
                        <a:spcBef>
                          <a:spcPts val="425"/>
                        </a:spcBef>
                      </a:pPr>
                      <a:r>
                        <a:rPr lang="en-US" sz="900" dirty="0">
                          <a:latin typeface="Arial"/>
                          <a:cs typeface="Arial"/>
                        </a:rPr>
                        <a:t>10</a:t>
                      </a:r>
                      <a:endParaRPr sz="900" dirty="0">
                        <a:latin typeface="Arial"/>
                        <a:cs typeface="Arial"/>
                      </a:endParaRPr>
                    </a:p>
                  </a:txBody>
                  <a:tcPr marL="0" marR="0" marT="53975"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R="8255" algn="ctr">
                        <a:lnSpc>
                          <a:spcPct val="100000"/>
                        </a:lnSpc>
                        <a:spcBef>
                          <a:spcPts val="425"/>
                        </a:spcBef>
                      </a:pPr>
                      <a:r>
                        <a:rPr sz="900" spc="-5" dirty="0">
                          <a:latin typeface="Arial"/>
                          <a:cs typeface="Arial"/>
                        </a:rPr>
                        <a:t>ns</a:t>
                      </a:r>
                      <a:endParaRPr sz="900" dirty="0">
                        <a:latin typeface="Arial"/>
                        <a:cs typeface="Arial"/>
                      </a:endParaRPr>
                    </a:p>
                  </a:txBody>
                  <a:tcPr marL="0" marR="0" marT="53975" marB="0">
                    <a:lnL w="3175">
                      <a:solidFill>
                        <a:srgbClr val="000000"/>
                      </a:solidFill>
                      <a:prstDash val="solid"/>
                    </a:lnL>
                    <a:lnT w="3175">
                      <a:solidFill>
                        <a:srgbClr val="000000"/>
                      </a:solidFill>
                      <a:prstDash val="solid"/>
                    </a:lnT>
                    <a:lnB w="3175">
                      <a:solidFill>
                        <a:srgbClr val="000000"/>
                      </a:solidFill>
                      <a:prstDash val="solid"/>
                    </a:lnB>
                  </a:tcPr>
                </a:tc>
                <a:extLst>
                  <a:ext uri="{0D108BD9-81ED-4DB2-BD59-A6C34878D82A}">
                    <a16:rowId xmlns:a16="http://schemas.microsoft.com/office/drawing/2014/main" val="10016"/>
                  </a:ext>
                </a:extLst>
              </a:tr>
              <a:tr h="246379">
                <a:tc>
                  <a:txBody>
                    <a:bodyPr/>
                    <a:lstStyle/>
                    <a:p>
                      <a:pPr>
                        <a:lnSpc>
                          <a:spcPct val="100000"/>
                        </a:lnSpc>
                        <a:spcBef>
                          <a:spcPts val="425"/>
                        </a:spcBef>
                      </a:pPr>
                      <a:r>
                        <a:rPr sz="900" spc="-5" dirty="0">
                          <a:latin typeface="Arial"/>
                          <a:cs typeface="Arial"/>
                        </a:rPr>
                        <a:t>MISO</a:t>
                      </a:r>
                      <a:r>
                        <a:rPr sz="900" dirty="0">
                          <a:latin typeface="Arial"/>
                          <a:cs typeface="Arial"/>
                        </a:rPr>
                        <a:t> high-Z</a:t>
                      </a:r>
                      <a:r>
                        <a:rPr sz="900" spc="-20" dirty="0">
                          <a:latin typeface="Arial"/>
                          <a:cs typeface="Arial"/>
                        </a:rPr>
                        <a:t> </a:t>
                      </a:r>
                      <a:r>
                        <a:rPr sz="900" dirty="0">
                          <a:latin typeface="Arial"/>
                          <a:cs typeface="Arial"/>
                        </a:rPr>
                        <a:t>from</a:t>
                      </a:r>
                      <a:r>
                        <a:rPr sz="900" spc="-15" dirty="0">
                          <a:latin typeface="Arial"/>
                          <a:cs typeface="Arial"/>
                        </a:rPr>
                        <a:t> </a:t>
                      </a:r>
                      <a:r>
                        <a:rPr sz="900" dirty="0">
                          <a:latin typeface="Arial"/>
                          <a:cs typeface="Arial"/>
                        </a:rPr>
                        <a:t>the</a:t>
                      </a:r>
                      <a:r>
                        <a:rPr sz="900" spc="-15" dirty="0">
                          <a:latin typeface="Arial"/>
                          <a:cs typeface="Arial"/>
                        </a:rPr>
                        <a:t> </a:t>
                      </a:r>
                      <a:r>
                        <a:rPr sz="900" spc="-5" dirty="0">
                          <a:latin typeface="Arial"/>
                          <a:cs typeface="Arial"/>
                        </a:rPr>
                        <a:t>nSCS</a:t>
                      </a:r>
                      <a:r>
                        <a:rPr sz="900" spc="-25" dirty="0">
                          <a:latin typeface="Arial"/>
                          <a:cs typeface="Arial"/>
                        </a:rPr>
                        <a:t> </a:t>
                      </a:r>
                      <a:r>
                        <a:rPr sz="900" dirty="0">
                          <a:latin typeface="Arial"/>
                          <a:cs typeface="Arial"/>
                        </a:rPr>
                        <a:t>de-assertion</a:t>
                      </a:r>
                    </a:p>
                  </a:txBody>
                  <a:tcPr marL="0" marR="0" marT="53975" marB="0">
                    <a:lnR w="3175">
                      <a:solidFill>
                        <a:srgbClr val="000000"/>
                      </a:solidFill>
                      <a:prstDash val="solid"/>
                    </a:lnR>
                    <a:lnT w="3175">
                      <a:solidFill>
                        <a:srgbClr val="000000"/>
                      </a:solidFill>
                      <a:prstDash val="solid"/>
                    </a:lnT>
                    <a:lnB w="12700">
                      <a:solidFill>
                        <a:srgbClr val="A6A6A6"/>
                      </a:solidFill>
                      <a:prstDash val="solid"/>
                    </a:lnB>
                  </a:tcPr>
                </a:tc>
                <a:tc>
                  <a:txBody>
                    <a:bodyPr/>
                    <a:lstStyle/>
                    <a:p>
                      <a:pPr marR="635" algn="ctr">
                        <a:lnSpc>
                          <a:spcPct val="100000"/>
                        </a:lnSpc>
                        <a:spcBef>
                          <a:spcPts val="530"/>
                        </a:spcBef>
                      </a:pPr>
                      <a:r>
                        <a:rPr sz="1350" baseline="6172" dirty="0">
                          <a:latin typeface="Arial"/>
                          <a:cs typeface="Arial"/>
                        </a:rPr>
                        <a:t>t</a:t>
                      </a:r>
                      <a:r>
                        <a:rPr sz="600" dirty="0">
                          <a:latin typeface="Arial"/>
                          <a:cs typeface="Arial"/>
                        </a:rPr>
                        <a:t>DOZ</a:t>
                      </a:r>
                    </a:p>
                  </a:txBody>
                  <a:tcPr marL="0" marR="0" marT="67310" marB="0">
                    <a:lnL w="3175">
                      <a:solidFill>
                        <a:srgbClr val="000000"/>
                      </a:solidFill>
                      <a:prstDash val="solid"/>
                    </a:lnL>
                    <a:lnR w="3175">
                      <a:solidFill>
                        <a:srgbClr val="000000"/>
                      </a:solidFill>
                      <a:prstDash val="solid"/>
                    </a:lnR>
                    <a:lnT w="3175">
                      <a:solidFill>
                        <a:srgbClr val="000000"/>
                      </a:solidFill>
                      <a:prstDash val="solid"/>
                    </a:lnT>
                    <a:lnB w="12700">
                      <a:solidFill>
                        <a:srgbClr val="A6A6A6"/>
                      </a:solidFill>
                      <a:prstDash val="solid"/>
                    </a:lnB>
                  </a:tcPr>
                </a:tc>
                <a:tc>
                  <a:txBody>
                    <a:bodyPr/>
                    <a:lstStyle/>
                    <a:p>
                      <a:pPr>
                        <a:lnSpc>
                          <a:spcPct val="100000"/>
                        </a:lnSpc>
                      </a:pPr>
                      <a:endParaRPr sz="900" dirty="0">
                        <a:latin typeface="Times New Roman"/>
                        <a:cs typeface="Times New Roman"/>
                      </a:endParaRPr>
                    </a:p>
                  </a:txBody>
                  <a:tcPr marL="0" marR="0" marT="0" marB="0">
                    <a:lnL w="3175">
                      <a:solidFill>
                        <a:srgbClr val="000000"/>
                      </a:solidFill>
                      <a:prstDash val="solid"/>
                    </a:lnL>
                    <a:lnR w="3175">
                      <a:solidFill>
                        <a:srgbClr val="000000"/>
                      </a:solidFill>
                      <a:prstDash val="solid"/>
                    </a:lnR>
                    <a:lnT w="3175">
                      <a:solidFill>
                        <a:srgbClr val="000000"/>
                      </a:solidFill>
                      <a:prstDash val="solid"/>
                    </a:lnT>
                    <a:lnB w="12700">
                      <a:solidFill>
                        <a:srgbClr val="A6A6A6"/>
                      </a:solidFill>
                      <a:prstDash val="solid"/>
                    </a:lnB>
                  </a:tcPr>
                </a:tc>
                <a:tc>
                  <a:txBody>
                    <a:bodyPr/>
                    <a:lstStyle/>
                    <a:p>
                      <a:pPr algn="ctr">
                        <a:lnSpc>
                          <a:spcPct val="100000"/>
                        </a:lnSpc>
                        <a:spcBef>
                          <a:spcPts val="425"/>
                        </a:spcBef>
                      </a:pPr>
                      <a:r>
                        <a:rPr sz="900" dirty="0">
                          <a:latin typeface="Arial"/>
                          <a:cs typeface="Arial"/>
                        </a:rPr>
                        <a:t>2</a:t>
                      </a:r>
                    </a:p>
                  </a:txBody>
                  <a:tcPr marL="0" marR="0" marT="53975" marB="0">
                    <a:lnL w="3175">
                      <a:solidFill>
                        <a:srgbClr val="000000"/>
                      </a:solidFill>
                      <a:prstDash val="solid"/>
                    </a:lnL>
                    <a:lnR w="3175">
                      <a:solidFill>
                        <a:srgbClr val="000000"/>
                      </a:solidFill>
                      <a:prstDash val="solid"/>
                    </a:lnR>
                    <a:lnT w="3175">
                      <a:solidFill>
                        <a:srgbClr val="000000"/>
                      </a:solidFill>
                      <a:prstDash val="solid"/>
                    </a:lnT>
                    <a:lnB w="12700">
                      <a:solidFill>
                        <a:srgbClr val="A6A6A6"/>
                      </a:solidFill>
                      <a:prstDash val="solid"/>
                    </a:lnB>
                  </a:tcPr>
                </a:tc>
                <a:tc>
                  <a:txBody>
                    <a:bodyPr/>
                    <a:lstStyle/>
                    <a:p>
                      <a:pPr marL="2540" algn="ctr">
                        <a:lnSpc>
                          <a:spcPct val="100000"/>
                        </a:lnSpc>
                        <a:spcBef>
                          <a:spcPts val="425"/>
                        </a:spcBef>
                      </a:pPr>
                      <a:r>
                        <a:rPr sz="900" dirty="0">
                          <a:latin typeface="Arial"/>
                          <a:cs typeface="Arial"/>
                        </a:rPr>
                        <a:t>-</a:t>
                      </a:r>
                    </a:p>
                  </a:txBody>
                  <a:tcPr marL="0" marR="0" marT="53975" marB="0">
                    <a:lnL w="3175">
                      <a:solidFill>
                        <a:srgbClr val="000000"/>
                      </a:solidFill>
                      <a:prstDash val="solid"/>
                    </a:lnL>
                    <a:lnR w="3175">
                      <a:solidFill>
                        <a:srgbClr val="000000"/>
                      </a:solidFill>
                      <a:prstDash val="solid"/>
                    </a:lnR>
                    <a:lnT w="3175">
                      <a:solidFill>
                        <a:srgbClr val="000000"/>
                      </a:solidFill>
                      <a:prstDash val="solid"/>
                    </a:lnT>
                    <a:lnB w="12700">
                      <a:solidFill>
                        <a:srgbClr val="A6A6A6"/>
                      </a:solidFill>
                      <a:prstDash val="solid"/>
                    </a:lnB>
                  </a:tcPr>
                </a:tc>
                <a:tc>
                  <a:txBody>
                    <a:bodyPr/>
                    <a:lstStyle/>
                    <a:p>
                      <a:pPr marL="2540" algn="ctr">
                        <a:lnSpc>
                          <a:spcPct val="100000"/>
                        </a:lnSpc>
                        <a:spcBef>
                          <a:spcPts val="425"/>
                        </a:spcBef>
                      </a:pPr>
                      <a:r>
                        <a:rPr sz="900" dirty="0">
                          <a:latin typeface="Arial"/>
                          <a:cs typeface="Arial"/>
                        </a:rPr>
                        <a:t>-</a:t>
                      </a:r>
                    </a:p>
                  </a:txBody>
                  <a:tcPr marL="0" marR="0" marT="53975" marB="0">
                    <a:lnL w="3175">
                      <a:solidFill>
                        <a:srgbClr val="000000"/>
                      </a:solidFill>
                      <a:prstDash val="solid"/>
                    </a:lnL>
                    <a:lnR w="3175">
                      <a:solidFill>
                        <a:srgbClr val="000000"/>
                      </a:solidFill>
                      <a:prstDash val="solid"/>
                    </a:lnR>
                    <a:lnT w="3175">
                      <a:solidFill>
                        <a:srgbClr val="000000"/>
                      </a:solidFill>
                      <a:prstDash val="solid"/>
                    </a:lnT>
                    <a:lnB w="12700">
                      <a:solidFill>
                        <a:srgbClr val="A6A6A6"/>
                      </a:solidFill>
                      <a:prstDash val="solid"/>
                    </a:lnB>
                  </a:tcPr>
                </a:tc>
                <a:tc>
                  <a:txBody>
                    <a:bodyPr/>
                    <a:lstStyle/>
                    <a:p>
                      <a:pPr marR="6350" algn="ctr">
                        <a:lnSpc>
                          <a:spcPct val="100000"/>
                        </a:lnSpc>
                        <a:spcBef>
                          <a:spcPts val="425"/>
                        </a:spcBef>
                      </a:pPr>
                      <a:r>
                        <a:rPr sz="900" spc="-10" dirty="0">
                          <a:latin typeface="Arial"/>
                          <a:cs typeface="Arial"/>
                        </a:rPr>
                        <a:t>MCLK</a:t>
                      </a:r>
                      <a:endParaRPr sz="900" dirty="0">
                        <a:latin typeface="Arial"/>
                        <a:cs typeface="Arial"/>
                      </a:endParaRPr>
                    </a:p>
                  </a:txBody>
                  <a:tcPr marL="0" marR="0" marT="53975" marB="0">
                    <a:lnL w="3175">
                      <a:solidFill>
                        <a:srgbClr val="000000"/>
                      </a:solidFill>
                      <a:prstDash val="solid"/>
                    </a:lnL>
                    <a:lnT w="3175">
                      <a:solidFill>
                        <a:srgbClr val="000000"/>
                      </a:solidFill>
                      <a:prstDash val="solid"/>
                    </a:lnT>
                    <a:lnB w="12700">
                      <a:solidFill>
                        <a:srgbClr val="A6A6A6"/>
                      </a:solidFill>
                      <a:prstDash val="solid"/>
                    </a:lnB>
                  </a:tcPr>
                </a:tc>
                <a:extLst>
                  <a:ext uri="{0D108BD9-81ED-4DB2-BD59-A6C34878D82A}">
                    <a16:rowId xmlns:a16="http://schemas.microsoft.com/office/drawing/2014/main" val="10017"/>
                  </a:ext>
                </a:extLst>
              </a:tr>
            </a:tbl>
          </a:graphicData>
        </a:graphic>
      </p:graphicFrame>
      <p:sp>
        <p:nvSpPr>
          <p:cNvPr id="3" name="object 3"/>
          <p:cNvSpPr txBox="1"/>
          <p:nvPr/>
        </p:nvSpPr>
        <p:spPr>
          <a:xfrm>
            <a:off x="381914" y="802005"/>
            <a:ext cx="4400550" cy="239395"/>
          </a:xfrm>
          <a:prstGeom prst="rect">
            <a:avLst/>
          </a:prstGeom>
        </p:spPr>
        <p:txBody>
          <a:bodyPr vert="horz" wrap="square" lIns="0" tIns="12700" rIns="0" bIns="0" rtlCol="0">
            <a:spAutoFit/>
          </a:bodyPr>
          <a:lstStyle/>
          <a:p>
            <a:pPr marL="38100">
              <a:lnSpc>
                <a:spcPct val="100000"/>
              </a:lnSpc>
              <a:spcBef>
                <a:spcPts val="100"/>
              </a:spcBef>
            </a:pPr>
            <a:r>
              <a:rPr sz="1400" b="1" spc="-20" dirty="0">
                <a:latin typeface="Arial"/>
                <a:cs typeface="Arial"/>
              </a:rPr>
              <a:t>AC</a:t>
            </a:r>
            <a:r>
              <a:rPr sz="1400" b="1" spc="50" dirty="0">
                <a:latin typeface="Arial"/>
                <a:cs typeface="Arial"/>
              </a:rPr>
              <a:t> </a:t>
            </a:r>
            <a:r>
              <a:rPr sz="1400" b="1" dirty="0">
                <a:latin typeface="Arial"/>
                <a:cs typeface="Arial"/>
              </a:rPr>
              <a:t>Characteristics</a:t>
            </a:r>
            <a:r>
              <a:rPr sz="1400" b="1" spc="-70" dirty="0">
                <a:latin typeface="Arial"/>
                <a:cs typeface="Arial"/>
              </a:rPr>
              <a:t> </a:t>
            </a:r>
            <a:r>
              <a:rPr sz="900" spc="-5" dirty="0">
                <a:latin typeface="Arial"/>
                <a:cs typeface="Arial"/>
              </a:rPr>
              <a:t>(V</a:t>
            </a:r>
            <a:r>
              <a:rPr sz="900" spc="-7" baseline="-18518" dirty="0">
                <a:latin typeface="Arial"/>
                <a:cs typeface="Arial"/>
              </a:rPr>
              <a:t>DDD</a:t>
            </a:r>
            <a:r>
              <a:rPr sz="900" spc="-5" dirty="0">
                <a:latin typeface="Arial"/>
                <a:cs typeface="Arial"/>
              </a:rPr>
              <a:t>/V</a:t>
            </a:r>
            <a:r>
              <a:rPr sz="900" spc="-7" baseline="-18518" dirty="0">
                <a:latin typeface="Arial"/>
                <a:cs typeface="Arial"/>
              </a:rPr>
              <a:t>DDS</a:t>
            </a:r>
            <a:r>
              <a:rPr sz="900" spc="-5" dirty="0">
                <a:latin typeface="Arial"/>
                <a:cs typeface="Arial"/>
              </a:rPr>
              <a:t>=5.0V,</a:t>
            </a:r>
            <a:r>
              <a:rPr sz="900" spc="15" dirty="0">
                <a:latin typeface="Arial"/>
                <a:cs typeface="Arial"/>
              </a:rPr>
              <a:t> </a:t>
            </a:r>
            <a:r>
              <a:rPr sz="900" dirty="0">
                <a:latin typeface="Arial"/>
                <a:cs typeface="Arial"/>
              </a:rPr>
              <a:t>Ta=25.0</a:t>
            </a:r>
            <a:r>
              <a:rPr sz="900" dirty="0">
                <a:latin typeface="맑은 고딕"/>
                <a:cs typeface="맑은 고딕"/>
              </a:rPr>
              <a:t>℃</a:t>
            </a:r>
            <a:r>
              <a:rPr sz="900" spc="-75" dirty="0">
                <a:latin typeface="맑은 고딕"/>
                <a:cs typeface="맑은 고딕"/>
              </a:rPr>
              <a:t> </a:t>
            </a:r>
            <a:r>
              <a:rPr sz="900" dirty="0">
                <a:latin typeface="Arial"/>
                <a:cs typeface="Arial"/>
              </a:rPr>
              <a:t>unless</a:t>
            </a:r>
            <a:r>
              <a:rPr sz="900" spc="-20" dirty="0">
                <a:latin typeface="Arial"/>
                <a:cs typeface="Arial"/>
              </a:rPr>
              <a:t> </a:t>
            </a:r>
            <a:r>
              <a:rPr sz="900" spc="-5" dirty="0">
                <a:latin typeface="Arial"/>
                <a:cs typeface="Arial"/>
              </a:rPr>
              <a:t>otherwise</a:t>
            </a:r>
            <a:r>
              <a:rPr sz="900" spc="10" dirty="0">
                <a:latin typeface="Arial"/>
                <a:cs typeface="Arial"/>
              </a:rPr>
              <a:t> </a:t>
            </a:r>
            <a:r>
              <a:rPr sz="900" spc="-5" dirty="0">
                <a:latin typeface="Arial"/>
                <a:cs typeface="Arial"/>
              </a:rPr>
              <a:t>noted)</a:t>
            </a:r>
            <a:endParaRPr sz="900" dirty="0">
              <a:latin typeface="Arial"/>
              <a:cs typeface="Arial"/>
            </a:endParaRPr>
          </a:p>
        </p:txBody>
      </p:sp>
      <p:sp>
        <p:nvSpPr>
          <p:cNvPr id="4" name="object 4"/>
          <p:cNvSpPr/>
          <p:nvPr/>
        </p:nvSpPr>
        <p:spPr>
          <a:xfrm>
            <a:off x="405384" y="637031"/>
            <a:ext cx="6049010" cy="0"/>
          </a:xfrm>
          <a:custGeom>
            <a:avLst/>
            <a:gdLst/>
            <a:ahLst/>
            <a:cxnLst/>
            <a:rect l="l" t="t" r="r" b="b"/>
            <a:pathLst>
              <a:path w="6049010">
                <a:moveTo>
                  <a:pt x="0" y="0"/>
                </a:moveTo>
                <a:lnTo>
                  <a:pt x="6048629" y="0"/>
                </a:lnTo>
              </a:path>
            </a:pathLst>
          </a:custGeom>
          <a:ln w="6350">
            <a:solidFill>
              <a:srgbClr val="000000"/>
            </a:solidFill>
          </a:ln>
        </p:spPr>
        <p:txBody>
          <a:bodyPr wrap="square" lIns="0" tIns="0" rIns="0" bIns="0" rtlCol="0"/>
          <a:lstStyle/>
          <a:p>
            <a:endParaRPr dirty="0"/>
          </a:p>
        </p:txBody>
      </p:sp>
      <p:sp>
        <p:nvSpPr>
          <p:cNvPr id="7" name="object 7"/>
          <p:cNvSpPr txBox="1"/>
          <p:nvPr/>
        </p:nvSpPr>
        <p:spPr>
          <a:xfrm>
            <a:off x="400913" y="301879"/>
            <a:ext cx="622935" cy="299720"/>
          </a:xfrm>
          <a:prstGeom prst="rect">
            <a:avLst/>
          </a:prstGeom>
        </p:spPr>
        <p:txBody>
          <a:bodyPr vert="horz" wrap="square" lIns="0" tIns="12700" rIns="0" bIns="0" rtlCol="0">
            <a:spAutoFit/>
          </a:bodyPr>
          <a:lstStyle/>
          <a:p>
            <a:pPr marL="12700">
              <a:lnSpc>
                <a:spcPct val="100000"/>
              </a:lnSpc>
              <a:spcBef>
                <a:spcPts val="100"/>
              </a:spcBef>
            </a:pPr>
            <a:r>
              <a:rPr sz="1800" b="1" spc="-5" dirty="0">
                <a:latin typeface="Arial"/>
                <a:cs typeface="Arial"/>
              </a:rPr>
              <a:t>CQ24</a:t>
            </a:r>
            <a:endParaRPr sz="1800" dirty="0">
              <a:latin typeface="Arial"/>
              <a:cs typeface="Arial"/>
            </a:endParaRPr>
          </a:p>
        </p:txBody>
      </p:sp>
      <p:sp>
        <p:nvSpPr>
          <p:cNvPr id="8" name="object 8"/>
          <p:cNvSpPr txBox="1"/>
          <p:nvPr/>
        </p:nvSpPr>
        <p:spPr>
          <a:xfrm>
            <a:off x="400913" y="5675779"/>
            <a:ext cx="6053480" cy="305020"/>
          </a:xfrm>
          <a:prstGeom prst="rect">
            <a:avLst/>
          </a:prstGeom>
        </p:spPr>
        <p:txBody>
          <a:bodyPr vert="horz" wrap="square" lIns="0" tIns="12065" rIns="0" bIns="0" rtlCol="0">
            <a:spAutoFit/>
          </a:bodyPr>
          <a:lstStyle/>
          <a:p>
            <a:pPr marL="513080" marR="30480" indent="-475615" algn="just">
              <a:lnSpc>
                <a:spcPct val="109500"/>
              </a:lnSpc>
              <a:spcBef>
                <a:spcPts val="95"/>
              </a:spcBef>
            </a:pPr>
            <a:r>
              <a:rPr sz="900" spc="-5" dirty="0">
                <a:latin typeface="Arial"/>
                <a:cs typeface="Arial"/>
              </a:rPr>
              <a:t>Note</a:t>
            </a:r>
            <a:r>
              <a:rPr sz="900" dirty="0">
                <a:latin typeface="Arial"/>
                <a:cs typeface="Arial"/>
              </a:rPr>
              <a:t> (3)</a:t>
            </a:r>
            <a:r>
              <a:rPr lang="en-US" sz="900" dirty="0">
                <a:latin typeface="Arial"/>
                <a:cs typeface="Arial"/>
              </a:rPr>
              <a:t>  It should be careful that the </a:t>
            </a:r>
            <a:r>
              <a:rPr lang="en-US" altLang="ko-KR" sz="900" spc="-5" dirty="0">
                <a:latin typeface="Arial"/>
                <a:cs typeface="Arial"/>
              </a:rPr>
              <a:t>t</a:t>
            </a:r>
            <a:r>
              <a:rPr lang="en-US" altLang="ko-KR" sz="900" spc="-7" baseline="-18518" dirty="0">
                <a:latin typeface="Arial"/>
                <a:cs typeface="Arial"/>
              </a:rPr>
              <a:t>SKEW</a:t>
            </a:r>
            <a:r>
              <a:rPr lang="en-US" altLang="ko-KR" sz="900" dirty="0">
                <a:latin typeface="Arial"/>
                <a:cs typeface="Arial"/>
              </a:rPr>
              <a:t> and t</a:t>
            </a:r>
            <a:r>
              <a:rPr lang="en-US" altLang="ko-KR" sz="900" baseline="-18518" dirty="0">
                <a:latin typeface="Arial"/>
                <a:cs typeface="Arial"/>
              </a:rPr>
              <a:t>OCH </a:t>
            </a:r>
            <a:r>
              <a:rPr lang="en-US" altLang="ko-KR" sz="900" dirty="0">
                <a:latin typeface="Arial"/>
                <a:cs typeface="Arial"/>
              </a:rPr>
              <a:t>are accumulated by the number of daisy devices if the daisy connection is used. So, for the read and write transaction the proper timing should be considered in daisy.</a:t>
            </a:r>
            <a:endParaRPr lang="en-US" sz="900" dirty="0">
              <a:latin typeface="Arial"/>
              <a:cs typeface="Arial"/>
            </a:endParaRPr>
          </a:p>
        </p:txBody>
      </p:sp>
      <p:pic>
        <p:nvPicPr>
          <p:cNvPr id="9" name="object 9"/>
          <p:cNvPicPr/>
          <p:nvPr/>
        </p:nvPicPr>
        <p:blipFill>
          <a:blip r:embed="rId2" cstate="print"/>
          <a:stretch>
            <a:fillRect/>
          </a:stretch>
        </p:blipFill>
        <p:spPr>
          <a:xfrm>
            <a:off x="545096" y="6285505"/>
            <a:ext cx="5777979" cy="2410438"/>
          </a:xfrm>
          <a:prstGeom prst="rect">
            <a:avLst/>
          </a:prstGeom>
        </p:spPr>
      </p:pic>
      <p:sp>
        <p:nvSpPr>
          <p:cNvPr id="13" name="object 9">
            <a:extLst>
              <a:ext uri="{FF2B5EF4-FFF2-40B4-BE49-F238E27FC236}">
                <a16:creationId xmlns:a16="http://schemas.microsoft.com/office/drawing/2014/main" id="{B87EC56A-26E0-461F-71A2-2CB179619BB5}"/>
              </a:ext>
            </a:extLst>
          </p:cNvPr>
          <p:cNvSpPr txBox="1"/>
          <p:nvPr/>
        </p:nvSpPr>
        <p:spPr>
          <a:xfrm>
            <a:off x="304800" y="9067800"/>
            <a:ext cx="2078355" cy="289823"/>
          </a:xfrm>
          <a:prstGeom prst="rect">
            <a:avLst/>
          </a:prstGeom>
        </p:spPr>
        <p:txBody>
          <a:bodyPr vert="horz" wrap="square" lIns="0" tIns="12700" rIns="0" bIns="0" rtlCol="0">
            <a:spAutoFit/>
          </a:bodyPr>
          <a:lstStyle/>
          <a:p>
            <a:pPr marL="12700">
              <a:lnSpc>
                <a:spcPct val="100000"/>
              </a:lnSpc>
              <a:spcBef>
                <a:spcPts val="100"/>
              </a:spcBef>
            </a:pPr>
            <a:r>
              <a:rPr b="1" spc="-5" dirty="0">
                <a:solidFill>
                  <a:srgbClr val="FF0000"/>
                </a:solidFill>
                <a:cs typeface="Perpetua Titling MT"/>
              </a:rPr>
              <a:t>CONFIDENTIAL</a:t>
            </a:r>
            <a:endParaRPr dirty="0">
              <a:cs typeface="Perpetua Titling MT"/>
            </a:endParaRPr>
          </a:p>
        </p:txBody>
      </p:sp>
      <p:sp>
        <p:nvSpPr>
          <p:cNvPr id="14" name="object 6">
            <a:extLst>
              <a:ext uri="{FF2B5EF4-FFF2-40B4-BE49-F238E27FC236}">
                <a16:creationId xmlns:a16="http://schemas.microsoft.com/office/drawing/2014/main" id="{55D092B5-8130-991D-212A-BBA85D3E4B12}"/>
              </a:ext>
            </a:extLst>
          </p:cNvPr>
          <p:cNvSpPr/>
          <p:nvPr/>
        </p:nvSpPr>
        <p:spPr>
          <a:xfrm>
            <a:off x="301676" y="9458756"/>
            <a:ext cx="6246495" cy="0"/>
          </a:xfrm>
          <a:custGeom>
            <a:avLst/>
            <a:gdLst/>
            <a:ahLst/>
            <a:cxnLst/>
            <a:rect l="l" t="t" r="r" b="b"/>
            <a:pathLst>
              <a:path w="6246495">
                <a:moveTo>
                  <a:pt x="0" y="0"/>
                </a:moveTo>
                <a:lnTo>
                  <a:pt x="6245999" y="0"/>
                </a:lnTo>
              </a:path>
            </a:pathLst>
          </a:custGeom>
          <a:ln w="25920">
            <a:solidFill>
              <a:srgbClr val="BFBFBF"/>
            </a:solidFill>
          </a:ln>
        </p:spPr>
        <p:txBody>
          <a:bodyPr wrap="square" lIns="0" tIns="0" rIns="0" bIns="0" rtlCol="0"/>
          <a:lstStyle/>
          <a:p>
            <a:endParaRPr/>
          </a:p>
        </p:txBody>
      </p:sp>
      <p:sp>
        <p:nvSpPr>
          <p:cNvPr id="15" name="슬라이드 번호 개체 틀 3">
            <a:hlinkClick r:id="rId3"/>
            <a:extLst>
              <a:ext uri="{FF2B5EF4-FFF2-40B4-BE49-F238E27FC236}">
                <a16:creationId xmlns:a16="http://schemas.microsoft.com/office/drawing/2014/main" id="{FA4FEBE1-4A2E-2057-A49D-B3BDA6E8FDFE}"/>
              </a:ext>
            </a:extLst>
          </p:cNvPr>
          <p:cNvSpPr txBox="1">
            <a:spLocks/>
          </p:cNvSpPr>
          <p:nvPr/>
        </p:nvSpPr>
        <p:spPr>
          <a:xfrm>
            <a:off x="5151602" y="9452864"/>
            <a:ext cx="1487550"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dirty="0">
                <a:solidFill>
                  <a:prstClr val="black"/>
                </a:solidFill>
                <a:latin typeface="Arial" panose="020B0604020202020204" pitchFamily="34" charset="0"/>
                <a:cs typeface="Arial" panose="020B0604020202020204" pitchFamily="34" charset="0"/>
              </a:rPr>
              <a:t>http://www.glbltech.com/</a:t>
            </a:r>
            <a:endParaRPr lang="ko-KR" altLang="en-US" dirty="0">
              <a:solidFill>
                <a:prstClr val="black"/>
              </a:solidFill>
              <a:latin typeface="Arial" panose="020B0604020202020204" pitchFamily="34" charset="0"/>
              <a:cs typeface="Arial" panose="020B0604020202020204" pitchFamily="34" charset="0"/>
            </a:endParaRPr>
          </a:p>
        </p:txBody>
      </p:sp>
      <p:sp>
        <p:nvSpPr>
          <p:cNvPr id="16" name="object 38">
            <a:extLst>
              <a:ext uri="{FF2B5EF4-FFF2-40B4-BE49-F238E27FC236}">
                <a16:creationId xmlns:a16="http://schemas.microsoft.com/office/drawing/2014/main" id="{C1ADB096-1138-F470-77C5-66B92FFD2666}"/>
              </a:ext>
            </a:extLst>
          </p:cNvPr>
          <p:cNvSpPr txBox="1">
            <a:spLocks/>
          </p:cNvSpPr>
          <p:nvPr/>
        </p:nvSpPr>
        <p:spPr>
          <a:xfrm>
            <a:off x="3309066" y="9547988"/>
            <a:ext cx="487045" cy="139141"/>
          </a:xfrm>
          <a:prstGeom prst="rect">
            <a:avLst/>
          </a:prstGeom>
        </p:spPr>
        <p:txBody>
          <a:bodyPr vert="horz" wrap="square" lIns="0" tIns="635" rIns="0" bIns="0" rtlCol="0">
            <a:spAutoFit/>
          </a:bodyPr>
          <a:lstStyle>
            <a:defPPr>
              <a:defRPr lang="ko-KR"/>
            </a:defPPr>
            <a:lvl1pPr marL="0" algn="l" defTabSz="914400" rtl="0" eaLnBrk="1" latinLnBrk="1" hangingPunct="1">
              <a:defRPr sz="1050" b="0" i="0" kern="1200">
                <a:solidFill>
                  <a:schemeClr val="tx1"/>
                </a:solidFill>
                <a:latin typeface="Arial"/>
                <a:ea typeface="+mn-ea"/>
                <a:cs typeface="Arial"/>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marL="12700">
              <a:spcBef>
                <a:spcPts val="5"/>
              </a:spcBef>
              <a:defRPr/>
            </a:pPr>
            <a:r>
              <a:rPr lang="en-US" sz="900" dirty="0">
                <a:solidFill>
                  <a:prstClr val="black"/>
                </a:solidFill>
              </a:rPr>
              <a:t>Page</a:t>
            </a:r>
            <a:r>
              <a:rPr lang="en-US" sz="900" spc="-60" dirty="0">
                <a:solidFill>
                  <a:prstClr val="black"/>
                </a:solidFill>
              </a:rPr>
              <a:t> </a:t>
            </a:r>
            <a:fld id="{81D60167-4931-47E6-BA6A-407CBD079E47}" type="slidenum">
              <a:rPr sz="900">
                <a:solidFill>
                  <a:prstClr val="black"/>
                </a:solidFill>
              </a:rPr>
              <a:pPr marL="12700">
                <a:spcBef>
                  <a:spcPts val="5"/>
                </a:spcBef>
                <a:defRPr/>
              </a:pPr>
              <a:t>13</a:t>
            </a:fld>
            <a:endParaRPr sz="900" dirty="0">
              <a:solidFill>
                <a:prstClr val="black"/>
              </a:solidFill>
            </a:endParaRPr>
          </a:p>
        </p:txBody>
      </p:sp>
      <p:sp>
        <p:nvSpPr>
          <p:cNvPr id="17" name="슬라이드 번호 개체 틀 3">
            <a:extLst>
              <a:ext uri="{FF2B5EF4-FFF2-40B4-BE49-F238E27FC236}">
                <a16:creationId xmlns:a16="http://schemas.microsoft.com/office/drawing/2014/main" id="{D4F8EE35-8C43-95DB-90C1-2A40B934E081}"/>
              </a:ext>
            </a:extLst>
          </p:cNvPr>
          <p:cNvSpPr txBox="1">
            <a:spLocks/>
          </p:cNvSpPr>
          <p:nvPr/>
        </p:nvSpPr>
        <p:spPr>
          <a:xfrm>
            <a:off x="299401" y="9520856"/>
            <a:ext cx="2060991" cy="175259"/>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lang="en-US" altLang="ko-KR" dirty="0">
                <a:solidFill>
                  <a:prstClr val="black"/>
                </a:solidFill>
                <a:latin typeface="Arial" panose="020B0604020202020204" pitchFamily="34" charset="0"/>
                <a:cs typeface="Arial" panose="020B0604020202020204" pitchFamily="34" charset="0"/>
              </a:rPr>
              <a:t>Dated 30-Nov 23  Rev. 01</a:t>
            </a:r>
            <a:endParaRPr lang="ko-KR" altLang="en-US" dirty="0">
              <a:solidFill>
                <a:prstClr val="black"/>
              </a:solidFill>
              <a:latin typeface="Arial" panose="020B0604020202020204" pitchFamily="34" charset="0"/>
              <a:cs typeface="Arial" panose="020B0604020202020204" pitchFamily="34" charset="0"/>
            </a:endParaRPr>
          </a:p>
        </p:txBody>
      </p:sp>
      <p:sp>
        <p:nvSpPr>
          <p:cNvPr id="18" name="Holder 3">
            <a:extLst>
              <a:ext uri="{FF2B5EF4-FFF2-40B4-BE49-F238E27FC236}">
                <a16:creationId xmlns:a16="http://schemas.microsoft.com/office/drawing/2014/main" id="{7C3A6B39-352A-BAE5-CD53-BBAB48ECD9DF}"/>
              </a:ext>
            </a:extLst>
          </p:cNvPr>
          <p:cNvSpPr txBox="1">
            <a:spLocks/>
          </p:cNvSpPr>
          <p:nvPr/>
        </p:nvSpPr>
        <p:spPr>
          <a:xfrm>
            <a:off x="5147476" y="203944"/>
            <a:ext cx="1447800" cy="276999"/>
          </a:xfrm>
          <a:prstGeom prst="rect">
            <a:avLst/>
          </a:prstGeom>
        </p:spPr>
        <p:txBody>
          <a:bodyPr wrap="square" lIns="0" tIns="0" rIns="0" bIns="0">
            <a:spAutoFit/>
          </a:bodyPr>
          <a:lstStyle>
            <a:lvl1pPr marL="0">
              <a:defRPr>
                <a:solidFill>
                  <a:srgbClr val="FF99FF"/>
                </a:solidFill>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defTabSz="914400" latinLnBrk="0"/>
            <a:r>
              <a:rPr lang="en-US" sz="1800" kern="0" dirty="0"/>
              <a:t>&lt;Preliminary&gt;</a:t>
            </a:r>
          </a:p>
        </p:txBody>
      </p:sp>
      <p:sp>
        <p:nvSpPr>
          <p:cNvPr id="5" name="object 11">
            <a:extLst>
              <a:ext uri="{FF2B5EF4-FFF2-40B4-BE49-F238E27FC236}">
                <a16:creationId xmlns:a16="http://schemas.microsoft.com/office/drawing/2014/main" id="{8A712BB4-18DB-DA09-45FF-1D8B73612FD6}"/>
              </a:ext>
            </a:extLst>
          </p:cNvPr>
          <p:cNvSpPr txBox="1"/>
          <p:nvPr/>
        </p:nvSpPr>
        <p:spPr>
          <a:xfrm>
            <a:off x="1689100" y="5410786"/>
            <a:ext cx="3467099" cy="144848"/>
          </a:xfrm>
          <a:prstGeom prst="rect">
            <a:avLst/>
          </a:prstGeom>
        </p:spPr>
        <p:txBody>
          <a:bodyPr vert="horz" wrap="square" lIns="0" tIns="12700" rIns="0" bIns="0" rtlCol="0">
            <a:spAutoFit/>
          </a:bodyPr>
          <a:lstStyle/>
          <a:p>
            <a:pPr marL="63500" algn="ctr">
              <a:lnSpc>
                <a:spcPts val="1065"/>
              </a:lnSpc>
              <a:spcBef>
                <a:spcPts val="100"/>
              </a:spcBef>
              <a:tabLst>
                <a:tab pos="673100" algn="l"/>
              </a:tabLst>
            </a:pPr>
            <a:r>
              <a:rPr sz="900" b="1" spc="-65" dirty="0">
                <a:latin typeface="Arial" panose="020B0604020202020204" pitchFamily="34" charset="0"/>
                <a:cs typeface="Arial" panose="020B0604020202020204" pitchFamily="34" charset="0"/>
              </a:rPr>
              <a:t>T</a:t>
            </a:r>
            <a:r>
              <a:rPr sz="900" b="1" spc="-10" dirty="0">
                <a:latin typeface="Arial" panose="020B0604020202020204" pitchFamily="34" charset="0"/>
                <a:cs typeface="Arial" panose="020B0604020202020204" pitchFamily="34" charset="0"/>
              </a:rPr>
              <a:t>a</a:t>
            </a:r>
            <a:r>
              <a:rPr sz="900" b="1" spc="-5" dirty="0">
                <a:latin typeface="Arial" panose="020B0604020202020204" pitchFamily="34" charset="0"/>
                <a:cs typeface="Arial" panose="020B0604020202020204" pitchFamily="34" charset="0"/>
              </a:rPr>
              <a:t>bl</a:t>
            </a:r>
            <a:r>
              <a:rPr sz="900" b="1" dirty="0">
                <a:latin typeface="Arial" panose="020B0604020202020204" pitchFamily="34" charset="0"/>
                <a:cs typeface="Arial" panose="020B0604020202020204" pitchFamily="34" charset="0"/>
              </a:rPr>
              <a:t>e</a:t>
            </a:r>
            <a:r>
              <a:rPr lang="ko-KR" altLang="en-US" sz="900" b="1" dirty="0">
                <a:latin typeface="Arial" panose="020B0604020202020204" pitchFamily="34" charset="0"/>
                <a:cs typeface="Arial" panose="020B0604020202020204" pitchFamily="34" charset="0"/>
              </a:rPr>
              <a:t> </a:t>
            </a:r>
            <a:r>
              <a:rPr lang="en-US" altLang="ko-KR" sz="900" b="1" dirty="0">
                <a:latin typeface="Arial" panose="020B0604020202020204" pitchFamily="34" charset="0"/>
                <a:cs typeface="Arial" panose="020B0604020202020204" pitchFamily="34" charset="0"/>
              </a:rPr>
              <a:t>6</a:t>
            </a:r>
            <a:r>
              <a:rPr sz="900" b="1" dirty="0">
                <a:latin typeface="Arial" panose="020B0604020202020204" pitchFamily="34" charset="0"/>
                <a:cs typeface="Arial" panose="020B0604020202020204" pitchFamily="34" charset="0"/>
              </a:rPr>
              <a:t>.</a:t>
            </a:r>
            <a:r>
              <a:rPr lang="en-US" sz="900" b="1" dirty="0">
                <a:latin typeface="Arial" panose="020B0604020202020204" pitchFamily="34" charset="0"/>
                <a:cs typeface="Arial" panose="020B0604020202020204" pitchFamily="34" charset="0"/>
              </a:rPr>
              <a:t> AC Electrical Characteristics </a:t>
            </a:r>
          </a:p>
        </p:txBody>
      </p:sp>
      <p:sp>
        <p:nvSpPr>
          <p:cNvPr id="6" name="object 84">
            <a:extLst>
              <a:ext uri="{FF2B5EF4-FFF2-40B4-BE49-F238E27FC236}">
                <a16:creationId xmlns:a16="http://schemas.microsoft.com/office/drawing/2014/main" id="{167C7E15-1509-27E7-A8E3-DCFB26C1B95C}"/>
              </a:ext>
            </a:extLst>
          </p:cNvPr>
          <p:cNvSpPr txBox="1"/>
          <p:nvPr/>
        </p:nvSpPr>
        <p:spPr>
          <a:xfrm>
            <a:off x="2755443" y="8853255"/>
            <a:ext cx="2276000" cy="153888"/>
          </a:xfrm>
          <a:prstGeom prst="rect">
            <a:avLst/>
          </a:prstGeom>
        </p:spPr>
        <p:txBody>
          <a:bodyPr vert="horz" wrap="square" lIns="0" tIns="15240" rIns="0" bIns="0" rtlCol="0">
            <a:spAutoFit/>
          </a:bodyPr>
          <a:lstStyle/>
          <a:p>
            <a:pPr marL="12700">
              <a:lnSpc>
                <a:spcPct val="100000"/>
              </a:lnSpc>
              <a:spcBef>
                <a:spcPts val="120"/>
              </a:spcBef>
            </a:pPr>
            <a:r>
              <a:rPr lang="en-US" sz="900" b="1" spc="15" dirty="0">
                <a:latin typeface="Arial" panose="020B0604020202020204" pitchFamily="34" charset="0"/>
                <a:cs typeface="Arial" panose="020B0604020202020204" pitchFamily="34" charset="0"/>
              </a:rPr>
              <a:t>Fig 5. SPI Interface timing Sequence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381914" y="802005"/>
            <a:ext cx="4400550" cy="239395"/>
          </a:xfrm>
          <a:prstGeom prst="rect">
            <a:avLst/>
          </a:prstGeom>
        </p:spPr>
        <p:txBody>
          <a:bodyPr vert="horz" wrap="square" lIns="0" tIns="12700" rIns="0" bIns="0" rtlCol="0">
            <a:spAutoFit/>
          </a:bodyPr>
          <a:lstStyle/>
          <a:p>
            <a:pPr marL="38100">
              <a:lnSpc>
                <a:spcPct val="100000"/>
              </a:lnSpc>
              <a:spcBef>
                <a:spcPts val="100"/>
              </a:spcBef>
            </a:pPr>
            <a:r>
              <a:rPr sz="1400" b="1" spc="-20" dirty="0">
                <a:latin typeface="Arial"/>
                <a:cs typeface="Arial"/>
              </a:rPr>
              <a:t>AC</a:t>
            </a:r>
            <a:r>
              <a:rPr sz="1400" b="1" spc="50" dirty="0">
                <a:latin typeface="Arial"/>
                <a:cs typeface="Arial"/>
              </a:rPr>
              <a:t> </a:t>
            </a:r>
            <a:r>
              <a:rPr sz="1400" b="1" dirty="0">
                <a:latin typeface="Arial"/>
                <a:cs typeface="Arial"/>
              </a:rPr>
              <a:t>Characteristics</a:t>
            </a:r>
            <a:r>
              <a:rPr sz="1400" b="1" spc="-70" dirty="0">
                <a:latin typeface="Arial"/>
                <a:cs typeface="Arial"/>
              </a:rPr>
              <a:t> </a:t>
            </a:r>
            <a:r>
              <a:rPr sz="900" spc="-5" dirty="0">
                <a:latin typeface="Arial"/>
                <a:cs typeface="Arial"/>
              </a:rPr>
              <a:t>(V</a:t>
            </a:r>
            <a:r>
              <a:rPr sz="900" spc="-7" baseline="-18518" dirty="0">
                <a:latin typeface="Arial"/>
                <a:cs typeface="Arial"/>
              </a:rPr>
              <a:t>DDD</a:t>
            </a:r>
            <a:r>
              <a:rPr sz="900" spc="-5" dirty="0">
                <a:latin typeface="Arial"/>
                <a:cs typeface="Arial"/>
              </a:rPr>
              <a:t>/V</a:t>
            </a:r>
            <a:r>
              <a:rPr sz="900" spc="-7" baseline="-18518" dirty="0">
                <a:latin typeface="Arial"/>
                <a:cs typeface="Arial"/>
              </a:rPr>
              <a:t>DDS</a:t>
            </a:r>
            <a:r>
              <a:rPr sz="900" spc="-5" dirty="0">
                <a:latin typeface="Arial"/>
                <a:cs typeface="Arial"/>
              </a:rPr>
              <a:t>=5.0V,</a:t>
            </a:r>
            <a:r>
              <a:rPr sz="900" spc="15" dirty="0">
                <a:latin typeface="Arial"/>
                <a:cs typeface="Arial"/>
              </a:rPr>
              <a:t> </a:t>
            </a:r>
            <a:r>
              <a:rPr sz="900" dirty="0">
                <a:latin typeface="Arial"/>
                <a:cs typeface="Arial"/>
              </a:rPr>
              <a:t>Ta=25.0</a:t>
            </a:r>
            <a:r>
              <a:rPr sz="900" dirty="0">
                <a:latin typeface="맑은 고딕"/>
                <a:cs typeface="맑은 고딕"/>
              </a:rPr>
              <a:t>℃</a:t>
            </a:r>
            <a:r>
              <a:rPr sz="900" spc="-75" dirty="0">
                <a:latin typeface="맑은 고딕"/>
                <a:cs typeface="맑은 고딕"/>
              </a:rPr>
              <a:t> </a:t>
            </a:r>
            <a:r>
              <a:rPr sz="900" dirty="0">
                <a:latin typeface="Arial"/>
                <a:cs typeface="Arial"/>
              </a:rPr>
              <a:t>unless</a:t>
            </a:r>
            <a:r>
              <a:rPr sz="900" spc="-20" dirty="0">
                <a:latin typeface="Arial"/>
                <a:cs typeface="Arial"/>
              </a:rPr>
              <a:t> </a:t>
            </a:r>
            <a:r>
              <a:rPr sz="900" spc="-5" dirty="0">
                <a:latin typeface="Arial"/>
                <a:cs typeface="Arial"/>
              </a:rPr>
              <a:t>otherwise</a:t>
            </a:r>
            <a:r>
              <a:rPr sz="900" spc="10" dirty="0">
                <a:latin typeface="Arial"/>
                <a:cs typeface="Arial"/>
              </a:rPr>
              <a:t> </a:t>
            </a:r>
            <a:r>
              <a:rPr sz="900" spc="-5" dirty="0">
                <a:latin typeface="Arial"/>
                <a:cs typeface="Arial"/>
              </a:rPr>
              <a:t>noted)</a:t>
            </a:r>
            <a:endParaRPr sz="900" dirty="0">
              <a:latin typeface="Arial"/>
              <a:cs typeface="Arial"/>
            </a:endParaRPr>
          </a:p>
        </p:txBody>
      </p:sp>
      <p:sp>
        <p:nvSpPr>
          <p:cNvPr id="3" name="object 3"/>
          <p:cNvSpPr/>
          <p:nvPr/>
        </p:nvSpPr>
        <p:spPr>
          <a:xfrm>
            <a:off x="405384" y="637031"/>
            <a:ext cx="6049010" cy="0"/>
          </a:xfrm>
          <a:custGeom>
            <a:avLst/>
            <a:gdLst/>
            <a:ahLst/>
            <a:cxnLst/>
            <a:rect l="l" t="t" r="r" b="b"/>
            <a:pathLst>
              <a:path w="6049010">
                <a:moveTo>
                  <a:pt x="0" y="0"/>
                </a:moveTo>
                <a:lnTo>
                  <a:pt x="6048629" y="0"/>
                </a:lnTo>
              </a:path>
            </a:pathLst>
          </a:custGeom>
          <a:ln w="6350">
            <a:solidFill>
              <a:srgbClr val="000000"/>
            </a:solidFill>
          </a:ln>
        </p:spPr>
        <p:txBody>
          <a:bodyPr wrap="square" lIns="0" tIns="0" rIns="0" bIns="0" rtlCol="0"/>
          <a:lstStyle/>
          <a:p>
            <a:endParaRPr dirty="0"/>
          </a:p>
        </p:txBody>
      </p:sp>
      <p:sp>
        <p:nvSpPr>
          <p:cNvPr id="6" name="object 6"/>
          <p:cNvSpPr txBox="1"/>
          <p:nvPr/>
        </p:nvSpPr>
        <p:spPr>
          <a:xfrm>
            <a:off x="400913" y="301879"/>
            <a:ext cx="622935" cy="299720"/>
          </a:xfrm>
          <a:prstGeom prst="rect">
            <a:avLst/>
          </a:prstGeom>
        </p:spPr>
        <p:txBody>
          <a:bodyPr vert="horz" wrap="square" lIns="0" tIns="12700" rIns="0" bIns="0" rtlCol="0">
            <a:spAutoFit/>
          </a:bodyPr>
          <a:lstStyle/>
          <a:p>
            <a:pPr marL="12700">
              <a:lnSpc>
                <a:spcPct val="100000"/>
              </a:lnSpc>
              <a:spcBef>
                <a:spcPts val="100"/>
              </a:spcBef>
            </a:pPr>
            <a:r>
              <a:rPr sz="1800" b="1" spc="-5" dirty="0">
                <a:latin typeface="Arial"/>
                <a:cs typeface="Arial"/>
              </a:rPr>
              <a:t>CQ24</a:t>
            </a:r>
            <a:endParaRPr sz="1800" dirty="0">
              <a:latin typeface="Arial"/>
              <a:cs typeface="Arial"/>
            </a:endParaRPr>
          </a:p>
        </p:txBody>
      </p:sp>
      <p:sp>
        <p:nvSpPr>
          <p:cNvPr id="7" name="object 7"/>
          <p:cNvSpPr txBox="1"/>
          <p:nvPr/>
        </p:nvSpPr>
        <p:spPr>
          <a:xfrm>
            <a:off x="392683" y="3888739"/>
            <a:ext cx="6061137" cy="303225"/>
          </a:xfrm>
          <a:prstGeom prst="rect">
            <a:avLst/>
          </a:prstGeom>
        </p:spPr>
        <p:txBody>
          <a:bodyPr vert="horz" wrap="square" lIns="0" tIns="12700" rIns="0" bIns="0" rtlCol="0">
            <a:spAutoFit/>
          </a:bodyPr>
          <a:lstStyle/>
          <a:p>
            <a:pPr marL="545465" marR="30480" indent="-508000" algn="just">
              <a:lnSpc>
                <a:spcPct val="108900"/>
              </a:lnSpc>
              <a:spcBef>
                <a:spcPts val="100"/>
              </a:spcBef>
            </a:pPr>
            <a:r>
              <a:rPr sz="900" spc="-5" dirty="0">
                <a:latin typeface="Arial"/>
                <a:cs typeface="Arial"/>
              </a:rPr>
              <a:t>Note</a:t>
            </a:r>
            <a:r>
              <a:rPr sz="900" spc="15" dirty="0">
                <a:latin typeface="Arial"/>
                <a:cs typeface="Arial"/>
              </a:rPr>
              <a:t> </a:t>
            </a:r>
            <a:r>
              <a:rPr sz="900" spc="-5" dirty="0">
                <a:latin typeface="Arial"/>
                <a:cs typeface="Arial"/>
              </a:rPr>
              <a:t>(4) </a:t>
            </a:r>
            <a:r>
              <a:rPr lang="en-US" sz="900" dirty="0">
                <a:latin typeface="Arial"/>
                <a:cs typeface="Arial"/>
              </a:rPr>
              <a:t>The total time of </a:t>
            </a:r>
            <a:r>
              <a:rPr lang="en-US" altLang="ko-KR" sz="900" spc="-5" dirty="0">
                <a:latin typeface="Arial"/>
                <a:cs typeface="Arial"/>
              </a:rPr>
              <a:t>t</a:t>
            </a:r>
            <a:r>
              <a:rPr lang="en-US" altLang="ko-KR" sz="900" spc="-7" baseline="-18518" dirty="0">
                <a:latin typeface="Arial"/>
                <a:cs typeface="Arial"/>
              </a:rPr>
              <a:t>HOLD_SU</a:t>
            </a:r>
            <a:r>
              <a:rPr lang="en-US" altLang="ko-KR" sz="900" spc="22" baseline="-18518" dirty="0">
                <a:latin typeface="Arial"/>
                <a:cs typeface="Arial"/>
              </a:rPr>
              <a:t> </a:t>
            </a:r>
            <a:r>
              <a:rPr lang="en-US" altLang="ko-KR" sz="900" dirty="0">
                <a:latin typeface="Arial"/>
                <a:cs typeface="Arial"/>
              </a:rPr>
              <a:t>+</a:t>
            </a:r>
            <a:r>
              <a:rPr lang="en-US" altLang="ko-KR" sz="900" spc="165" dirty="0">
                <a:latin typeface="Arial"/>
                <a:cs typeface="Arial"/>
              </a:rPr>
              <a:t> </a:t>
            </a:r>
            <a:r>
              <a:rPr lang="en-US" altLang="ko-KR" sz="900" dirty="0">
                <a:latin typeface="Arial"/>
                <a:cs typeface="Arial"/>
              </a:rPr>
              <a:t>t</a:t>
            </a:r>
            <a:r>
              <a:rPr lang="en-US" altLang="ko-KR" sz="900" baseline="-18518" dirty="0">
                <a:latin typeface="Arial"/>
                <a:cs typeface="Arial"/>
              </a:rPr>
              <a:t>HOLD_ON</a:t>
            </a:r>
            <a:r>
              <a:rPr lang="en-US" altLang="ko-KR" sz="900" spc="7" baseline="-18518" dirty="0">
                <a:latin typeface="Arial"/>
                <a:cs typeface="Arial"/>
              </a:rPr>
              <a:t> </a:t>
            </a:r>
            <a:r>
              <a:rPr lang="en-US" altLang="ko-KR" sz="900" dirty="0">
                <a:latin typeface="Arial"/>
                <a:cs typeface="Arial"/>
              </a:rPr>
              <a:t>+</a:t>
            </a:r>
            <a:r>
              <a:rPr lang="en-US" altLang="ko-KR" sz="900" spc="80" dirty="0">
                <a:latin typeface="Arial"/>
                <a:cs typeface="Arial"/>
              </a:rPr>
              <a:t> </a:t>
            </a:r>
            <a:r>
              <a:rPr lang="en-US" altLang="ko-KR" sz="900" spc="-5" dirty="0">
                <a:latin typeface="Arial"/>
                <a:cs typeface="Arial"/>
              </a:rPr>
              <a:t>t</a:t>
            </a:r>
            <a:r>
              <a:rPr lang="en-US" altLang="ko-KR" sz="900" spc="-7" baseline="-18518" dirty="0">
                <a:latin typeface="Arial"/>
                <a:cs typeface="Arial"/>
              </a:rPr>
              <a:t>ADO_H</a:t>
            </a:r>
            <a:r>
              <a:rPr lang="en-US" altLang="ko-KR" sz="900" spc="-5" dirty="0">
                <a:latin typeface="Arial"/>
                <a:cs typeface="Arial"/>
              </a:rPr>
              <a:t>,</a:t>
            </a:r>
            <a:r>
              <a:rPr lang="en-US" altLang="ko-KR" sz="900" spc="5" dirty="0">
                <a:latin typeface="Arial"/>
                <a:cs typeface="Arial"/>
              </a:rPr>
              <a:t> </a:t>
            </a:r>
            <a:r>
              <a:rPr lang="en-US" altLang="ko-KR" sz="900" dirty="0">
                <a:latin typeface="Arial"/>
                <a:cs typeface="Arial"/>
              </a:rPr>
              <a:t>can not</a:t>
            </a:r>
            <a:r>
              <a:rPr lang="en-US" altLang="ko-KR" sz="900" spc="-5" dirty="0">
                <a:latin typeface="Arial"/>
                <a:cs typeface="Arial"/>
              </a:rPr>
              <a:t> be over the SHSYNC_PERIOD value and the value depends on the system operation specification.</a:t>
            </a:r>
            <a:endParaRPr sz="900" dirty="0">
              <a:latin typeface="Arial"/>
              <a:cs typeface="Arial"/>
            </a:endParaRPr>
          </a:p>
        </p:txBody>
      </p:sp>
      <p:pic>
        <p:nvPicPr>
          <p:cNvPr id="8" name="object 8"/>
          <p:cNvPicPr/>
          <p:nvPr/>
        </p:nvPicPr>
        <p:blipFill>
          <a:blip r:embed="rId2" cstate="print"/>
          <a:stretch>
            <a:fillRect/>
          </a:stretch>
        </p:blipFill>
        <p:spPr>
          <a:xfrm>
            <a:off x="664902" y="4811267"/>
            <a:ext cx="5676461" cy="1592575"/>
          </a:xfrm>
          <a:prstGeom prst="rect">
            <a:avLst/>
          </a:prstGeom>
        </p:spPr>
      </p:pic>
      <p:graphicFrame>
        <p:nvGraphicFramePr>
          <p:cNvPr id="9" name="object 9"/>
          <p:cNvGraphicFramePr>
            <a:graphicFrameLocks noGrp="1"/>
          </p:cNvGraphicFramePr>
          <p:nvPr>
            <p:extLst>
              <p:ext uri="{D42A27DB-BD31-4B8C-83A1-F6EECF244321}">
                <p14:modId xmlns:p14="http://schemas.microsoft.com/office/powerpoint/2010/main" val="1994443814"/>
              </p:ext>
            </p:extLst>
          </p:nvPr>
        </p:nvGraphicFramePr>
        <p:xfrm>
          <a:off x="404812" y="1076325"/>
          <a:ext cx="6049009" cy="2611114"/>
        </p:xfrm>
        <a:graphic>
          <a:graphicData uri="http://schemas.openxmlformats.org/drawingml/2006/table">
            <a:tbl>
              <a:tblPr firstRow="1" bandRow="1">
                <a:tableStyleId>{2D5ABB26-0587-4C30-8999-92F81FD0307C}</a:tableStyleId>
              </a:tblPr>
              <a:tblGrid>
                <a:gridCol w="2176145">
                  <a:extLst>
                    <a:ext uri="{9D8B030D-6E8A-4147-A177-3AD203B41FA5}">
                      <a16:colId xmlns:a16="http://schemas.microsoft.com/office/drawing/2014/main" val="20000"/>
                    </a:ext>
                  </a:extLst>
                </a:gridCol>
                <a:gridCol w="646430">
                  <a:extLst>
                    <a:ext uri="{9D8B030D-6E8A-4147-A177-3AD203B41FA5}">
                      <a16:colId xmlns:a16="http://schemas.microsoft.com/office/drawing/2014/main" val="20001"/>
                    </a:ext>
                  </a:extLst>
                </a:gridCol>
                <a:gridCol w="1158875">
                  <a:extLst>
                    <a:ext uri="{9D8B030D-6E8A-4147-A177-3AD203B41FA5}">
                      <a16:colId xmlns:a16="http://schemas.microsoft.com/office/drawing/2014/main" val="20002"/>
                    </a:ext>
                  </a:extLst>
                </a:gridCol>
                <a:gridCol w="514985">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gridCol w="514985">
                  <a:extLst>
                    <a:ext uri="{9D8B030D-6E8A-4147-A177-3AD203B41FA5}">
                      <a16:colId xmlns:a16="http://schemas.microsoft.com/office/drawing/2014/main" val="20005"/>
                    </a:ext>
                  </a:extLst>
                </a:gridCol>
                <a:gridCol w="523239">
                  <a:extLst>
                    <a:ext uri="{9D8B030D-6E8A-4147-A177-3AD203B41FA5}">
                      <a16:colId xmlns:a16="http://schemas.microsoft.com/office/drawing/2014/main" val="20006"/>
                    </a:ext>
                  </a:extLst>
                </a:gridCol>
              </a:tblGrid>
              <a:tr h="197485">
                <a:tc rowSpan="2">
                  <a:txBody>
                    <a:bodyPr/>
                    <a:lstStyle/>
                    <a:p>
                      <a:pPr>
                        <a:lnSpc>
                          <a:spcPct val="100000"/>
                        </a:lnSpc>
                        <a:spcBef>
                          <a:spcPts val="30"/>
                        </a:spcBef>
                      </a:pPr>
                      <a:endParaRPr sz="850" dirty="0">
                        <a:latin typeface="Times New Roman"/>
                        <a:cs typeface="Times New Roman"/>
                      </a:endParaRPr>
                    </a:p>
                    <a:p>
                      <a:pPr marL="673100">
                        <a:lnSpc>
                          <a:spcPct val="100000"/>
                        </a:lnSpc>
                      </a:pPr>
                      <a:r>
                        <a:rPr sz="900" b="1" spc="-5" dirty="0">
                          <a:latin typeface="Arial"/>
                          <a:cs typeface="Arial"/>
                        </a:rPr>
                        <a:t>Characteristics</a:t>
                      </a:r>
                      <a:endParaRPr sz="900" dirty="0">
                        <a:latin typeface="Arial"/>
                        <a:cs typeface="Arial"/>
                      </a:endParaRPr>
                    </a:p>
                  </a:txBody>
                  <a:tcPr marL="0" marR="0" marT="3810" marB="0">
                    <a:lnR w="3175">
                      <a:solidFill>
                        <a:srgbClr val="000000"/>
                      </a:solidFill>
                      <a:prstDash val="solid"/>
                    </a:lnR>
                    <a:lnT w="12700">
                      <a:solidFill>
                        <a:srgbClr val="A6A6A6"/>
                      </a:solidFill>
                      <a:prstDash val="solid"/>
                    </a:lnT>
                    <a:lnB w="3175">
                      <a:solidFill>
                        <a:srgbClr val="000000"/>
                      </a:solidFill>
                      <a:prstDash val="solid"/>
                    </a:lnB>
                    <a:solidFill>
                      <a:srgbClr val="F1F1F1"/>
                    </a:solidFill>
                  </a:tcPr>
                </a:tc>
                <a:tc rowSpan="2">
                  <a:txBody>
                    <a:bodyPr/>
                    <a:lstStyle/>
                    <a:p>
                      <a:pPr>
                        <a:lnSpc>
                          <a:spcPct val="100000"/>
                        </a:lnSpc>
                        <a:spcBef>
                          <a:spcPts val="30"/>
                        </a:spcBef>
                      </a:pPr>
                      <a:endParaRPr sz="850" dirty="0">
                        <a:latin typeface="Times New Roman"/>
                        <a:cs typeface="Times New Roman"/>
                      </a:endParaRPr>
                    </a:p>
                    <a:p>
                      <a:pPr marL="118110">
                        <a:lnSpc>
                          <a:spcPct val="100000"/>
                        </a:lnSpc>
                      </a:pPr>
                      <a:r>
                        <a:rPr sz="900" b="1" spc="-10" dirty="0">
                          <a:latin typeface="Arial"/>
                          <a:cs typeface="Arial"/>
                        </a:rPr>
                        <a:t>Symbol</a:t>
                      </a:r>
                      <a:endParaRPr sz="900" dirty="0">
                        <a:latin typeface="Arial"/>
                        <a:cs typeface="Arial"/>
                      </a:endParaRPr>
                    </a:p>
                  </a:txBody>
                  <a:tcPr marL="0" marR="0" marT="3810" marB="0">
                    <a:lnL w="3175">
                      <a:solidFill>
                        <a:srgbClr val="000000"/>
                      </a:solidFill>
                      <a:prstDash val="solid"/>
                    </a:lnL>
                    <a:lnR w="3175">
                      <a:solidFill>
                        <a:srgbClr val="000000"/>
                      </a:solidFill>
                      <a:prstDash val="solid"/>
                    </a:lnR>
                    <a:lnT w="12700">
                      <a:solidFill>
                        <a:srgbClr val="A6A6A6"/>
                      </a:solidFill>
                      <a:prstDash val="solid"/>
                    </a:lnT>
                    <a:lnB w="3175">
                      <a:solidFill>
                        <a:srgbClr val="000000"/>
                      </a:solidFill>
                      <a:prstDash val="solid"/>
                    </a:lnB>
                    <a:solidFill>
                      <a:srgbClr val="F1F1F1"/>
                    </a:solidFill>
                  </a:tcPr>
                </a:tc>
                <a:tc rowSpan="2">
                  <a:txBody>
                    <a:bodyPr/>
                    <a:lstStyle/>
                    <a:p>
                      <a:pPr>
                        <a:lnSpc>
                          <a:spcPct val="100000"/>
                        </a:lnSpc>
                        <a:spcBef>
                          <a:spcPts val="30"/>
                        </a:spcBef>
                      </a:pPr>
                      <a:endParaRPr sz="850" dirty="0">
                        <a:latin typeface="Times New Roman"/>
                        <a:cs typeface="Times New Roman"/>
                      </a:endParaRPr>
                    </a:p>
                    <a:p>
                      <a:pPr marL="312420">
                        <a:lnSpc>
                          <a:spcPct val="100000"/>
                        </a:lnSpc>
                      </a:pPr>
                      <a:r>
                        <a:rPr sz="900" b="1" dirty="0">
                          <a:latin typeface="Arial"/>
                          <a:cs typeface="Arial"/>
                        </a:rPr>
                        <a:t>Condition</a:t>
                      </a:r>
                      <a:endParaRPr sz="900" dirty="0">
                        <a:latin typeface="Arial"/>
                        <a:cs typeface="Arial"/>
                      </a:endParaRPr>
                    </a:p>
                  </a:txBody>
                  <a:tcPr marL="0" marR="0" marT="3810" marB="0">
                    <a:lnL w="3175">
                      <a:solidFill>
                        <a:srgbClr val="000000"/>
                      </a:solidFill>
                      <a:prstDash val="solid"/>
                    </a:lnL>
                    <a:lnR w="3175">
                      <a:solidFill>
                        <a:srgbClr val="000000"/>
                      </a:solidFill>
                      <a:prstDash val="solid"/>
                    </a:lnR>
                    <a:lnT w="12700">
                      <a:solidFill>
                        <a:srgbClr val="A6A6A6"/>
                      </a:solidFill>
                      <a:prstDash val="solid"/>
                    </a:lnT>
                    <a:lnB w="3175">
                      <a:solidFill>
                        <a:srgbClr val="000000"/>
                      </a:solidFill>
                      <a:prstDash val="solid"/>
                    </a:lnB>
                    <a:solidFill>
                      <a:srgbClr val="F1F1F1"/>
                    </a:solidFill>
                  </a:tcPr>
                </a:tc>
                <a:tc gridSpan="3">
                  <a:txBody>
                    <a:bodyPr/>
                    <a:lstStyle/>
                    <a:p>
                      <a:pPr marL="10160" algn="ctr">
                        <a:lnSpc>
                          <a:spcPct val="100000"/>
                        </a:lnSpc>
                        <a:spcBef>
                          <a:spcPts val="229"/>
                        </a:spcBef>
                      </a:pPr>
                      <a:r>
                        <a:rPr sz="900" b="1" dirty="0">
                          <a:latin typeface="Arial"/>
                          <a:cs typeface="Arial"/>
                        </a:rPr>
                        <a:t>Value</a:t>
                      </a:r>
                      <a:endParaRPr sz="900" dirty="0">
                        <a:latin typeface="Arial"/>
                        <a:cs typeface="Arial"/>
                      </a:endParaRPr>
                    </a:p>
                  </a:txBody>
                  <a:tcPr marL="0" marR="0" marT="29209" marB="0">
                    <a:lnL w="3175">
                      <a:solidFill>
                        <a:srgbClr val="000000"/>
                      </a:solidFill>
                      <a:prstDash val="solid"/>
                    </a:lnL>
                    <a:lnR w="3175">
                      <a:solidFill>
                        <a:srgbClr val="000000"/>
                      </a:solidFill>
                      <a:prstDash val="solid"/>
                    </a:lnR>
                    <a:lnT w="12700">
                      <a:solidFill>
                        <a:srgbClr val="A6A6A6"/>
                      </a:solidFill>
                      <a:prstDash val="solid"/>
                    </a:lnT>
                    <a:lnB w="6350">
                      <a:solidFill>
                        <a:srgbClr val="7E7E7E"/>
                      </a:solidFill>
                      <a:prstDash val="solid"/>
                    </a:lnB>
                    <a:solidFill>
                      <a:srgbClr val="F1F1F1"/>
                    </a:solidFill>
                  </a:tcPr>
                </a:tc>
                <a:tc hMerge="1">
                  <a:txBody>
                    <a:bodyPr/>
                    <a:lstStyle/>
                    <a:p>
                      <a:endParaRPr/>
                    </a:p>
                  </a:txBody>
                  <a:tcPr marL="0" marR="0" marT="0" marB="0"/>
                </a:tc>
                <a:tc hMerge="1">
                  <a:txBody>
                    <a:bodyPr/>
                    <a:lstStyle/>
                    <a:p>
                      <a:endParaRPr/>
                    </a:p>
                  </a:txBody>
                  <a:tcPr marL="0" marR="0" marT="0" marB="0"/>
                </a:tc>
                <a:tc rowSpan="2">
                  <a:txBody>
                    <a:bodyPr/>
                    <a:lstStyle/>
                    <a:p>
                      <a:pPr>
                        <a:lnSpc>
                          <a:spcPct val="100000"/>
                        </a:lnSpc>
                        <a:spcBef>
                          <a:spcPts val="30"/>
                        </a:spcBef>
                      </a:pPr>
                      <a:endParaRPr sz="850" dirty="0">
                        <a:latin typeface="Times New Roman"/>
                        <a:cs typeface="Times New Roman"/>
                      </a:endParaRPr>
                    </a:p>
                    <a:p>
                      <a:pPr marL="147320">
                        <a:lnSpc>
                          <a:spcPct val="100000"/>
                        </a:lnSpc>
                      </a:pPr>
                      <a:r>
                        <a:rPr sz="900" b="1" dirty="0">
                          <a:latin typeface="Arial"/>
                          <a:cs typeface="Arial"/>
                        </a:rPr>
                        <a:t>Unit</a:t>
                      </a:r>
                      <a:endParaRPr sz="900" dirty="0">
                        <a:latin typeface="Arial"/>
                        <a:cs typeface="Arial"/>
                      </a:endParaRPr>
                    </a:p>
                  </a:txBody>
                  <a:tcPr marL="0" marR="0" marT="3810" marB="0">
                    <a:lnL w="3175">
                      <a:solidFill>
                        <a:srgbClr val="000000"/>
                      </a:solidFill>
                      <a:prstDash val="solid"/>
                    </a:lnL>
                    <a:lnT w="12700">
                      <a:solidFill>
                        <a:srgbClr val="A6A6A6"/>
                      </a:solidFill>
                      <a:prstDash val="solid"/>
                    </a:lnT>
                    <a:lnB w="3175">
                      <a:solidFill>
                        <a:srgbClr val="000000"/>
                      </a:solidFill>
                      <a:prstDash val="solid"/>
                    </a:lnB>
                    <a:solidFill>
                      <a:srgbClr val="F1F1F1"/>
                    </a:solidFill>
                  </a:tcPr>
                </a:tc>
                <a:extLst>
                  <a:ext uri="{0D108BD9-81ED-4DB2-BD59-A6C34878D82A}">
                    <a16:rowId xmlns:a16="http://schemas.microsoft.com/office/drawing/2014/main" val="10000"/>
                  </a:ext>
                </a:extLst>
              </a:tr>
              <a:tr h="198120">
                <a:tc vMerge="1">
                  <a:txBody>
                    <a:bodyPr/>
                    <a:lstStyle/>
                    <a:p>
                      <a:endParaRPr/>
                    </a:p>
                  </a:txBody>
                  <a:tcPr marL="0" marR="0" marT="3810" marB="0">
                    <a:lnR w="3175">
                      <a:solidFill>
                        <a:srgbClr val="000000"/>
                      </a:solidFill>
                      <a:prstDash val="solid"/>
                    </a:lnR>
                    <a:lnT w="12700">
                      <a:solidFill>
                        <a:srgbClr val="A6A6A6"/>
                      </a:solidFill>
                      <a:prstDash val="solid"/>
                    </a:lnT>
                    <a:lnB w="3175">
                      <a:solidFill>
                        <a:srgbClr val="000000"/>
                      </a:solidFill>
                      <a:prstDash val="solid"/>
                    </a:lnB>
                    <a:solidFill>
                      <a:srgbClr val="F1F1F1"/>
                    </a:solidFill>
                  </a:tcPr>
                </a:tc>
                <a:tc vMerge="1">
                  <a:txBody>
                    <a:bodyPr/>
                    <a:lstStyle/>
                    <a:p>
                      <a:endParaRPr/>
                    </a:p>
                  </a:txBody>
                  <a:tcPr marL="0" marR="0" marT="3810" marB="0">
                    <a:lnL w="3175">
                      <a:solidFill>
                        <a:srgbClr val="000000"/>
                      </a:solidFill>
                      <a:prstDash val="solid"/>
                    </a:lnL>
                    <a:lnR w="3175">
                      <a:solidFill>
                        <a:srgbClr val="000000"/>
                      </a:solidFill>
                      <a:prstDash val="solid"/>
                    </a:lnR>
                    <a:lnT w="12700">
                      <a:solidFill>
                        <a:srgbClr val="A6A6A6"/>
                      </a:solidFill>
                      <a:prstDash val="solid"/>
                    </a:lnT>
                    <a:lnB w="3175">
                      <a:solidFill>
                        <a:srgbClr val="000000"/>
                      </a:solidFill>
                      <a:prstDash val="solid"/>
                    </a:lnB>
                    <a:solidFill>
                      <a:srgbClr val="F1F1F1"/>
                    </a:solidFill>
                  </a:tcPr>
                </a:tc>
                <a:tc vMerge="1">
                  <a:txBody>
                    <a:bodyPr/>
                    <a:lstStyle/>
                    <a:p>
                      <a:endParaRPr/>
                    </a:p>
                  </a:txBody>
                  <a:tcPr marL="0" marR="0" marT="3810" marB="0">
                    <a:lnL w="3175">
                      <a:solidFill>
                        <a:srgbClr val="000000"/>
                      </a:solidFill>
                      <a:prstDash val="solid"/>
                    </a:lnL>
                    <a:lnR w="3175">
                      <a:solidFill>
                        <a:srgbClr val="000000"/>
                      </a:solidFill>
                      <a:prstDash val="solid"/>
                    </a:lnR>
                    <a:lnT w="12700">
                      <a:solidFill>
                        <a:srgbClr val="A6A6A6"/>
                      </a:solidFill>
                      <a:prstDash val="solid"/>
                    </a:lnT>
                    <a:lnB w="3175">
                      <a:solidFill>
                        <a:srgbClr val="000000"/>
                      </a:solidFill>
                      <a:prstDash val="solid"/>
                    </a:lnB>
                    <a:solidFill>
                      <a:srgbClr val="F1F1F1"/>
                    </a:solidFill>
                  </a:tcPr>
                </a:tc>
                <a:tc>
                  <a:txBody>
                    <a:bodyPr/>
                    <a:lstStyle/>
                    <a:p>
                      <a:pPr marL="1270" algn="ctr">
                        <a:lnSpc>
                          <a:spcPct val="100000"/>
                        </a:lnSpc>
                        <a:spcBef>
                          <a:spcPts val="229"/>
                        </a:spcBef>
                      </a:pPr>
                      <a:r>
                        <a:rPr sz="900" b="1" dirty="0">
                          <a:latin typeface="Arial"/>
                          <a:cs typeface="Arial"/>
                        </a:rPr>
                        <a:t>min</a:t>
                      </a:r>
                      <a:endParaRPr sz="900" dirty="0">
                        <a:latin typeface="Arial"/>
                        <a:cs typeface="Arial"/>
                      </a:endParaRPr>
                    </a:p>
                  </a:txBody>
                  <a:tcPr marL="0" marR="0" marT="29209" marB="0">
                    <a:lnL w="3175">
                      <a:solidFill>
                        <a:srgbClr val="000000"/>
                      </a:solidFill>
                      <a:prstDash val="solid"/>
                    </a:lnL>
                    <a:lnR w="3175">
                      <a:solidFill>
                        <a:srgbClr val="000000"/>
                      </a:solidFill>
                      <a:prstDash val="solid"/>
                    </a:lnR>
                    <a:lnT w="6350">
                      <a:solidFill>
                        <a:srgbClr val="7E7E7E"/>
                      </a:solidFill>
                      <a:prstDash val="solid"/>
                    </a:lnT>
                    <a:lnB w="3175">
                      <a:solidFill>
                        <a:srgbClr val="000000"/>
                      </a:solidFill>
                      <a:prstDash val="solid"/>
                    </a:lnB>
                    <a:solidFill>
                      <a:srgbClr val="F1F1F1"/>
                    </a:solidFill>
                  </a:tcPr>
                </a:tc>
                <a:tc>
                  <a:txBody>
                    <a:bodyPr/>
                    <a:lstStyle/>
                    <a:p>
                      <a:pPr marL="635" algn="ctr">
                        <a:lnSpc>
                          <a:spcPct val="100000"/>
                        </a:lnSpc>
                        <a:spcBef>
                          <a:spcPts val="229"/>
                        </a:spcBef>
                      </a:pPr>
                      <a:r>
                        <a:rPr sz="900" b="1" spc="-15" dirty="0">
                          <a:latin typeface="Arial"/>
                          <a:cs typeface="Arial"/>
                        </a:rPr>
                        <a:t>typ</a:t>
                      </a:r>
                      <a:endParaRPr sz="900" dirty="0">
                        <a:latin typeface="Arial"/>
                        <a:cs typeface="Arial"/>
                      </a:endParaRPr>
                    </a:p>
                  </a:txBody>
                  <a:tcPr marL="0" marR="0" marT="29209" marB="0">
                    <a:lnL w="3175">
                      <a:solidFill>
                        <a:srgbClr val="000000"/>
                      </a:solidFill>
                      <a:prstDash val="solid"/>
                    </a:lnL>
                    <a:lnR w="3175">
                      <a:solidFill>
                        <a:srgbClr val="000000"/>
                      </a:solidFill>
                      <a:prstDash val="solid"/>
                    </a:lnR>
                    <a:lnT w="6350">
                      <a:solidFill>
                        <a:srgbClr val="7E7E7E"/>
                      </a:solidFill>
                      <a:prstDash val="solid"/>
                    </a:lnT>
                    <a:lnB w="3175">
                      <a:solidFill>
                        <a:srgbClr val="000000"/>
                      </a:solidFill>
                      <a:prstDash val="solid"/>
                    </a:lnB>
                    <a:solidFill>
                      <a:srgbClr val="F1F1F1"/>
                    </a:solidFill>
                  </a:tcPr>
                </a:tc>
                <a:tc>
                  <a:txBody>
                    <a:bodyPr/>
                    <a:lstStyle/>
                    <a:p>
                      <a:pPr marL="635" algn="ctr">
                        <a:lnSpc>
                          <a:spcPct val="100000"/>
                        </a:lnSpc>
                        <a:spcBef>
                          <a:spcPts val="229"/>
                        </a:spcBef>
                      </a:pPr>
                      <a:r>
                        <a:rPr sz="900" b="1" spc="-5" dirty="0">
                          <a:latin typeface="Arial"/>
                          <a:cs typeface="Arial"/>
                        </a:rPr>
                        <a:t>max</a:t>
                      </a:r>
                      <a:endParaRPr sz="900" dirty="0">
                        <a:latin typeface="Arial"/>
                        <a:cs typeface="Arial"/>
                      </a:endParaRPr>
                    </a:p>
                  </a:txBody>
                  <a:tcPr marL="0" marR="0" marT="29209" marB="0">
                    <a:lnL w="3175">
                      <a:solidFill>
                        <a:srgbClr val="000000"/>
                      </a:solidFill>
                      <a:prstDash val="solid"/>
                    </a:lnL>
                    <a:lnR w="3175">
                      <a:solidFill>
                        <a:srgbClr val="000000"/>
                      </a:solidFill>
                      <a:prstDash val="solid"/>
                    </a:lnR>
                    <a:lnT w="6350">
                      <a:solidFill>
                        <a:srgbClr val="7E7E7E"/>
                      </a:solidFill>
                      <a:prstDash val="solid"/>
                    </a:lnT>
                    <a:lnB w="3175">
                      <a:solidFill>
                        <a:srgbClr val="000000"/>
                      </a:solidFill>
                      <a:prstDash val="solid"/>
                    </a:lnB>
                    <a:solidFill>
                      <a:srgbClr val="F1F1F1"/>
                    </a:solidFill>
                  </a:tcPr>
                </a:tc>
                <a:tc vMerge="1">
                  <a:txBody>
                    <a:bodyPr/>
                    <a:lstStyle/>
                    <a:p>
                      <a:endParaRPr/>
                    </a:p>
                  </a:txBody>
                  <a:tcPr marL="0" marR="0" marT="3810" marB="0">
                    <a:lnL w="3175">
                      <a:solidFill>
                        <a:srgbClr val="000000"/>
                      </a:solidFill>
                      <a:prstDash val="solid"/>
                    </a:lnL>
                    <a:lnT w="12700">
                      <a:solidFill>
                        <a:srgbClr val="A6A6A6"/>
                      </a:solidFill>
                      <a:prstDash val="solid"/>
                    </a:lnT>
                    <a:lnB w="3175">
                      <a:solidFill>
                        <a:srgbClr val="000000"/>
                      </a:solidFill>
                      <a:prstDash val="solid"/>
                    </a:lnB>
                    <a:solidFill>
                      <a:srgbClr val="F1F1F1"/>
                    </a:solidFill>
                  </a:tcPr>
                </a:tc>
                <a:extLst>
                  <a:ext uri="{0D108BD9-81ED-4DB2-BD59-A6C34878D82A}">
                    <a16:rowId xmlns:a16="http://schemas.microsoft.com/office/drawing/2014/main" val="10001"/>
                  </a:ext>
                </a:extLst>
              </a:tr>
              <a:tr h="246379">
                <a:tc gridSpan="7">
                  <a:txBody>
                    <a:bodyPr/>
                    <a:lstStyle/>
                    <a:p>
                      <a:pPr>
                        <a:lnSpc>
                          <a:spcPct val="100000"/>
                        </a:lnSpc>
                        <a:spcBef>
                          <a:spcPts val="420"/>
                        </a:spcBef>
                      </a:pPr>
                      <a:r>
                        <a:rPr sz="900" dirty="0">
                          <a:latin typeface="Arial"/>
                          <a:cs typeface="Arial"/>
                        </a:rPr>
                        <a:t>AQ06/08</a:t>
                      </a:r>
                      <a:r>
                        <a:rPr sz="900" spc="-20" dirty="0">
                          <a:latin typeface="Arial"/>
                          <a:cs typeface="Arial"/>
                        </a:rPr>
                        <a:t> </a:t>
                      </a:r>
                      <a:r>
                        <a:rPr sz="900" dirty="0">
                          <a:latin typeface="Arial"/>
                          <a:cs typeface="Arial"/>
                        </a:rPr>
                        <a:t>devices</a:t>
                      </a:r>
                      <a:r>
                        <a:rPr sz="900" spc="-25" dirty="0">
                          <a:latin typeface="Arial"/>
                          <a:cs typeface="Arial"/>
                        </a:rPr>
                        <a:t> </a:t>
                      </a:r>
                      <a:r>
                        <a:rPr sz="900" dirty="0">
                          <a:latin typeface="Arial"/>
                          <a:cs typeface="Arial"/>
                        </a:rPr>
                        <a:t>latch</a:t>
                      </a:r>
                      <a:r>
                        <a:rPr sz="900" spc="-30" dirty="0">
                          <a:latin typeface="Arial"/>
                          <a:cs typeface="Arial"/>
                        </a:rPr>
                        <a:t> </a:t>
                      </a:r>
                      <a:r>
                        <a:rPr sz="900" dirty="0">
                          <a:latin typeface="Arial"/>
                          <a:cs typeface="Arial"/>
                        </a:rPr>
                        <a:t>signals</a:t>
                      </a:r>
                    </a:p>
                  </a:txBody>
                  <a:tcPr marL="0" marR="0" marT="53340" marB="0">
                    <a:lnT w="3175">
                      <a:solidFill>
                        <a:srgbClr val="000000"/>
                      </a:solidFill>
                      <a:prstDash val="solid"/>
                    </a:lnT>
                    <a:lnB w="3175">
                      <a:solidFill>
                        <a:srgbClr val="000000"/>
                      </a:solidFill>
                      <a:prstDash val="solid"/>
                    </a:lnB>
                  </a:tcPr>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2"/>
                  </a:ext>
                </a:extLst>
              </a:tr>
              <a:tr h="245745">
                <a:tc>
                  <a:txBody>
                    <a:bodyPr/>
                    <a:lstStyle/>
                    <a:p>
                      <a:pPr algn="r">
                        <a:lnSpc>
                          <a:spcPct val="100000"/>
                        </a:lnSpc>
                        <a:spcBef>
                          <a:spcPts val="420"/>
                        </a:spcBef>
                      </a:pPr>
                      <a:r>
                        <a:rPr sz="900" spc="-5" dirty="0">
                          <a:latin typeface="Arial"/>
                          <a:cs typeface="Arial"/>
                        </a:rPr>
                        <a:t>CS</a:t>
                      </a:r>
                      <a:r>
                        <a:rPr sz="900" spc="-20" dirty="0">
                          <a:latin typeface="Arial"/>
                          <a:cs typeface="Arial"/>
                        </a:rPr>
                        <a:t> </a:t>
                      </a:r>
                      <a:r>
                        <a:rPr sz="900" dirty="0">
                          <a:latin typeface="Arial"/>
                          <a:cs typeface="Arial"/>
                        </a:rPr>
                        <a:t>setup</a:t>
                      </a:r>
                      <a:r>
                        <a:rPr sz="900" spc="-40" dirty="0">
                          <a:latin typeface="Arial"/>
                          <a:cs typeface="Arial"/>
                        </a:rPr>
                        <a:t> </a:t>
                      </a:r>
                      <a:r>
                        <a:rPr sz="900" dirty="0">
                          <a:latin typeface="Arial"/>
                          <a:cs typeface="Arial"/>
                        </a:rPr>
                        <a:t>to</a:t>
                      </a:r>
                      <a:r>
                        <a:rPr sz="900" spc="-20" dirty="0">
                          <a:latin typeface="Arial"/>
                          <a:cs typeface="Arial"/>
                        </a:rPr>
                        <a:t> </a:t>
                      </a:r>
                      <a:r>
                        <a:rPr sz="900" dirty="0">
                          <a:latin typeface="Arial"/>
                          <a:cs typeface="Arial"/>
                        </a:rPr>
                        <a:t>HOLD</a:t>
                      </a:r>
                    </a:p>
                  </a:txBody>
                  <a:tcPr marL="0" marR="0" marT="53340" marB="0">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L="195580">
                        <a:lnSpc>
                          <a:spcPct val="100000"/>
                        </a:lnSpc>
                        <a:spcBef>
                          <a:spcPts val="530"/>
                        </a:spcBef>
                      </a:pPr>
                      <a:r>
                        <a:rPr sz="1350" spc="-7" baseline="6172" dirty="0">
                          <a:latin typeface="Calibri"/>
                          <a:cs typeface="Calibri"/>
                        </a:rPr>
                        <a:t>t</a:t>
                      </a:r>
                      <a:r>
                        <a:rPr sz="600" spc="-5" dirty="0">
                          <a:latin typeface="Calibri"/>
                          <a:cs typeface="Calibri"/>
                        </a:rPr>
                        <a:t>CS2HD</a:t>
                      </a:r>
                      <a:endParaRPr sz="600" dirty="0">
                        <a:latin typeface="Calibri"/>
                        <a:cs typeface="Calibri"/>
                      </a:endParaRPr>
                    </a:p>
                  </a:txBody>
                  <a:tcPr marL="0" marR="0" marT="6731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nSpc>
                          <a:spcPct val="100000"/>
                        </a:lnSpc>
                      </a:pPr>
                      <a:endParaRPr sz="900" dirty="0">
                        <a:latin typeface="Times New Roman"/>
                        <a:cs typeface="Times New Roman"/>
                      </a:endParaRPr>
                    </a:p>
                  </a:txBody>
                  <a:tcPr marL="0" marR="0" marT="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L="1905" algn="ctr">
                        <a:lnSpc>
                          <a:spcPct val="100000"/>
                        </a:lnSpc>
                        <a:spcBef>
                          <a:spcPts val="420"/>
                        </a:spcBef>
                      </a:pPr>
                      <a:r>
                        <a:rPr sz="900" spc="-5" dirty="0">
                          <a:latin typeface="Arial"/>
                          <a:cs typeface="Arial"/>
                        </a:rPr>
                        <a:t>500</a:t>
                      </a:r>
                      <a:endParaRPr sz="900" dirty="0">
                        <a:latin typeface="Arial"/>
                        <a:cs typeface="Arial"/>
                      </a:endParaRPr>
                    </a:p>
                  </a:txBody>
                  <a:tcPr marL="0" marR="0" marT="5334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L="635" algn="ctr">
                        <a:lnSpc>
                          <a:spcPct val="100000"/>
                        </a:lnSpc>
                        <a:spcBef>
                          <a:spcPts val="420"/>
                        </a:spcBef>
                      </a:pPr>
                      <a:r>
                        <a:rPr sz="900" dirty="0">
                          <a:latin typeface="Arial"/>
                          <a:cs typeface="Arial"/>
                        </a:rPr>
                        <a:t>-</a:t>
                      </a:r>
                    </a:p>
                  </a:txBody>
                  <a:tcPr marL="0" marR="0" marT="5334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L="635" algn="ctr">
                        <a:lnSpc>
                          <a:spcPct val="100000"/>
                        </a:lnSpc>
                        <a:spcBef>
                          <a:spcPts val="420"/>
                        </a:spcBef>
                      </a:pPr>
                      <a:r>
                        <a:rPr sz="900" dirty="0">
                          <a:latin typeface="Arial"/>
                          <a:cs typeface="Arial"/>
                        </a:rPr>
                        <a:t>-</a:t>
                      </a:r>
                    </a:p>
                  </a:txBody>
                  <a:tcPr marL="0" marR="0" marT="5334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gn="ctr">
                        <a:lnSpc>
                          <a:spcPct val="100000"/>
                        </a:lnSpc>
                        <a:spcBef>
                          <a:spcPts val="420"/>
                        </a:spcBef>
                      </a:pPr>
                      <a:r>
                        <a:rPr sz="900" spc="-5" dirty="0">
                          <a:latin typeface="Arial"/>
                          <a:cs typeface="Arial"/>
                        </a:rPr>
                        <a:t>ns</a:t>
                      </a:r>
                      <a:endParaRPr sz="900" dirty="0">
                        <a:latin typeface="Arial"/>
                        <a:cs typeface="Arial"/>
                      </a:endParaRPr>
                    </a:p>
                  </a:txBody>
                  <a:tcPr marL="0" marR="0" marT="53340" marB="0">
                    <a:lnL w="3175">
                      <a:solidFill>
                        <a:srgbClr val="000000"/>
                      </a:solidFill>
                      <a:prstDash val="solid"/>
                    </a:lnL>
                    <a:lnT w="3175">
                      <a:solidFill>
                        <a:srgbClr val="000000"/>
                      </a:solidFill>
                      <a:prstDash val="solid"/>
                    </a:lnT>
                    <a:lnB w="3175">
                      <a:solidFill>
                        <a:srgbClr val="000000"/>
                      </a:solidFill>
                      <a:prstDash val="solid"/>
                    </a:lnB>
                  </a:tcPr>
                </a:tc>
                <a:extLst>
                  <a:ext uri="{0D108BD9-81ED-4DB2-BD59-A6C34878D82A}">
                    <a16:rowId xmlns:a16="http://schemas.microsoft.com/office/drawing/2014/main" val="10003"/>
                  </a:ext>
                </a:extLst>
              </a:tr>
              <a:tr h="246379">
                <a:tc>
                  <a:txBody>
                    <a:bodyPr/>
                    <a:lstStyle/>
                    <a:p>
                      <a:pPr marR="3175" algn="r">
                        <a:lnSpc>
                          <a:spcPct val="100000"/>
                        </a:lnSpc>
                        <a:spcBef>
                          <a:spcPts val="420"/>
                        </a:spcBef>
                      </a:pPr>
                      <a:r>
                        <a:rPr sz="900" spc="-5" dirty="0">
                          <a:latin typeface="Arial"/>
                          <a:cs typeface="Arial"/>
                        </a:rPr>
                        <a:t>CS</a:t>
                      </a:r>
                      <a:r>
                        <a:rPr sz="900" spc="-10" dirty="0">
                          <a:latin typeface="Arial"/>
                          <a:cs typeface="Arial"/>
                        </a:rPr>
                        <a:t> </a:t>
                      </a:r>
                      <a:r>
                        <a:rPr sz="900" spc="-5" dirty="0">
                          <a:latin typeface="Arial"/>
                          <a:cs typeface="Arial"/>
                        </a:rPr>
                        <a:t>hold</a:t>
                      </a:r>
                      <a:r>
                        <a:rPr sz="900" spc="-25" dirty="0">
                          <a:latin typeface="Arial"/>
                          <a:cs typeface="Arial"/>
                        </a:rPr>
                        <a:t> </a:t>
                      </a:r>
                      <a:r>
                        <a:rPr sz="900" dirty="0">
                          <a:latin typeface="Arial"/>
                          <a:cs typeface="Arial"/>
                        </a:rPr>
                        <a:t>from</a:t>
                      </a:r>
                      <a:r>
                        <a:rPr sz="900" spc="-15" dirty="0">
                          <a:latin typeface="Arial"/>
                          <a:cs typeface="Arial"/>
                        </a:rPr>
                        <a:t> </a:t>
                      </a:r>
                      <a:r>
                        <a:rPr sz="900" spc="-5" dirty="0">
                          <a:latin typeface="Arial"/>
                          <a:cs typeface="Arial"/>
                        </a:rPr>
                        <a:t>HOLD </a:t>
                      </a:r>
                      <a:r>
                        <a:rPr sz="900" dirty="0">
                          <a:latin typeface="Arial"/>
                          <a:cs typeface="Arial"/>
                        </a:rPr>
                        <a:t>de-assertion</a:t>
                      </a:r>
                    </a:p>
                  </a:txBody>
                  <a:tcPr marL="0" marR="0" marT="53340" marB="0">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L="195580">
                        <a:lnSpc>
                          <a:spcPct val="100000"/>
                        </a:lnSpc>
                        <a:spcBef>
                          <a:spcPts val="530"/>
                        </a:spcBef>
                      </a:pPr>
                      <a:r>
                        <a:rPr sz="1350" spc="-7" baseline="6172" dirty="0">
                          <a:latin typeface="Calibri"/>
                          <a:cs typeface="Calibri"/>
                        </a:rPr>
                        <a:t>t</a:t>
                      </a:r>
                      <a:r>
                        <a:rPr sz="600" spc="-5" dirty="0">
                          <a:latin typeface="Calibri"/>
                          <a:cs typeface="Calibri"/>
                        </a:rPr>
                        <a:t>HD2CS</a:t>
                      </a:r>
                      <a:endParaRPr sz="600" dirty="0">
                        <a:latin typeface="Calibri"/>
                        <a:cs typeface="Calibri"/>
                      </a:endParaRPr>
                    </a:p>
                  </a:txBody>
                  <a:tcPr marL="0" marR="0" marT="6731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nSpc>
                          <a:spcPct val="100000"/>
                        </a:lnSpc>
                      </a:pPr>
                      <a:endParaRPr sz="900" dirty="0">
                        <a:latin typeface="Times New Roman"/>
                        <a:cs typeface="Times New Roman"/>
                      </a:endParaRPr>
                    </a:p>
                  </a:txBody>
                  <a:tcPr marL="0" marR="0" marT="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L="1905" algn="ctr">
                        <a:lnSpc>
                          <a:spcPct val="100000"/>
                        </a:lnSpc>
                        <a:spcBef>
                          <a:spcPts val="420"/>
                        </a:spcBef>
                      </a:pPr>
                      <a:r>
                        <a:rPr sz="900" spc="-5" dirty="0">
                          <a:latin typeface="Arial"/>
                          <a:cs typeface="Arial"/>
                        </a:rPr>
                        <a:t>500</a:t>
                      </a:r>
                      <a:endParaRPr sz="900" dirty="0">
                        <a:latin typeface="Arial"/>
                        <a:cs typeface="Arial"/>
                      </a:endParaRPr>
                    </a:p>
                  </a:txBody>
                  <a:tcPr marL="0" marR="0" marT="5334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L="635" algn="ctr">
                        <a:lnSpc>
                          <a:spcPct val="100000"/>
                        </a:lnSpc>
                        <a:spcBef>
                          <a:spcPts val="420"/>
                        </a:spcBef>
                      </a:pPr>
                      <a:r>
                        <a:rPr sz="900" dirty="0">
                          <a:latin typeface="Arial"/>
                          <a:cs typeface="Arial"/>
                        </a:rPr>
                        <a:t>-</a:t>
                      </a:r>
                    </a:p>
                  </a:txBody>
                  <a:tcPr marL="0" marR="0" marT="5334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L="635" algn="ctr">
                        <a:lnSpc>
                          <a:spcPct val="100000"/>
                        </a:lnSpc>
                        <a:spcBef>
                          <a:spcPts val="420"/>
                        </a:spcBef>
                      </a:pPr>
                      <a:r>
                        <a:rPr sz="900" dirty="0">
                          <a:latin typeface="Arial"/>
                          <a:cs typeface="Arial"/>
                        </a:rPr>
                        <a:t>-</a:t>
                      </a:r>
                    </a:p>
                  </a:txBody>
                  <a:tcPr marL="0" marR="0" marT="5334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gn="ctr">
                        <a:lnSpc>
                          <a:spcPct val="100000"/>
                        </a:lnSpc>
                        <a:spcBef>
                          <a:spcPts val="420"/>
                        </a:spcBef>
                      </a:pPr>
                      <a:r>
                        <a:rPr sz="900" spc="-5" dirty="0">
                          <a:latin typeface="Arial"/>
                          <a:cs typeface="Arial"/>
                        </a:rPr>
                        <a:t>ns</a:t>
                      </a:r>
                      <a:endParaRPr sz="900" dirty="0">
                        <a:latin typeface="Arial"/>
                        <a:cs typeface="Arial"/>
                      </a:endParaRPr>
                    </a:p>
                  </a:txBody>
                  <a:tcPr marL="0" marR="0" marT="53340" marB="0">
                    <a:lnL w="3175">
                      <a:solidFill>
                        <a:srgbClr val="000000"/>
                      </a:solidFill>
                      <a:prstDash val="solid"/>
                    </a:lnL>
                    <a:lnT w="3175">
                      <a:solidFill>
                        <a:srgbClr val="000000"/>
                      </a:solidFill>
                      <a:prstDash val="solid"/>
                    </a:lnT>
                    <a:lnB w="3175">
                      <a:solidFill>
                        <a:srgbClr val="000000"/>
                      </a:solidFill>
                      <a:prstDash val="solid"/>
                    </a:lnB>
                  </a:tcPr>
                </a:tc>
                <a:extLst>
                  <a:ext uri="{0D108BD9-81ED-4DB2-BD59-A6C34878D82A}">
                    <a16:rowId xmlns:a16="http://schemas.microsoft.com/office/drawing/2014/main" val="10004"/>
                  </a:ext>
                </a:extLst>
              </a:tr>
              <a:tr h="245745">
                <a:tc gridSpan="7">
                  <a:txBody>
                    <a:bodyPr/>
                    <a:lstStyle/>
                    <a:p>
                      <a:pPr>
                        <a:lnSpc>
                          <a:spcPct val="100000"/>
                        </a:lnSpc>
                        <a:spcBef>
                          <a:spcPts val="420"/>
                        </a:spcBef>
                      </a:pPr>
                      <a:r>
                        <a:rPr sz="900" dirty="0">
                          <a:latin typeface="Arial"/>
                          <a:cs typeface="Arial"/>
                        </a:rPr>
                        <a:t>Analog</a:t>
                      </a:r>
                      <a:r>
                        <a:rPr sz="900" spc="-40" dirty="0">
                          <a:latin typeface="Arial"/>
                          <a:cs typeface="Arial"/>
                        </a:rPr>
                        <a:t> </a:t>
                      </a:r>
                      <a:r>
                        <a:rPr sz="900" dirty="0">
                          <a:latin typeface="Arial"/>
                          <a:cs typeface="Arial"/>
                        </a:rPr>
                        <a:t>data</a:t>
                      </a:r>
                      <a:r>
                        <a:rPr sz="900" spc="-20" dirty="0">
                          <a:latin typeface="Arial"/>
                          <a:cs typeface="Arial"/>
                        </a:rPr>
                        <a:t> </a:t>
                      </a:r>
                      <a:r>
                        <a:rPr sz="900" dirty="0">
                          <a:latin typeface="Arial"/>
                          <a:cs typeface="Arial"/>
                        </a:rPr>
                        <a:t>output</a:t>
                      </a:r>
                    </a:p>
                  </a:txBody>
                  <a:tcPr marL="0" marR="0" marT="53340" marB="0">
                    <a:lnT w="3175">
                      <a:solidFill>
                        <a:srgbClr val="000000"/>
                      </a:solidFill>
                      <a:prstDash val="solid"/>
                    </a:lnT>
                    <a:lnB w="3175">
                      <a:solidFill>
                        <a:srgbClr val="000000"/>
                      </a:solidFill>
                      <a:prstDash val="solid"/>
                    </a:lnB>
                  </a:tcPr>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5"/>
                  </a:ext>
                </a:extLst>
              </a:tr>
              <a:tr h="246379">
                <a:tc>
                  <a:txBody>
                    <a:bodyPr/>
                    <a:lstStyle/>
                    <a:p>
                      <a:pPr marR="4445" algn="r">
                        <a:lnSpc>
                          <a:spcPct val="100000"/>
                        </a:lnSpc>
                        <a:spcBef>
                          <a:spcPts val="420"/>
                        </a:spcBef>
                      </a:pPr>
                      <a:r>
                        <a:rPr sz="900" spc="-5" dirty="0">
                          <a:latin typeface="Arial"/>
                          <a:cs typeface="Arial"/>
                        </a:rPr>
                        <a:t>MODE/ADO</a:t>
                      </a:r>
                      <a:r>
                        <a:rPr sz="900" dirty="0">
                          <a:latin typeface="Arial"/>
                          <a:cs typeface="Arial"/>
                        </a:rPr>
                        <a:t> setup</a:t>
                      </a:r>
                      <a:r>
                        <a:rPr sz="900" spc="-30" dirty="0">
                          <a:latin typeface="Arial"/>
                          <a:cs typeface="Arial"/>
                        </a:rPr>
                        <a:t> </a:t>
                      </a:r>
                      <a:r>
                        <a:rPr sz="900" dirty="0">
                          <a:latin typeface="Arial"/>
                          <a:cs typeface="Arial"/>
                        </a:rPr>
                        <a:t>to</a:t>
                      </a:r>
                      <a:r>
                        <a:rPr sz="900" spc="-15" dirty="0">
                          <a:latin typeface="Arial"/>
                          <a:cs typeface="Arial"/>
                        </a:rPr>
                        <a:t> </a:t>
                      </a:r>
                      <a:r>
                        <a:rPr sz="900" spc="-5" dirty="0">
                          <a:latin typeface="Arial"/>
                          <a:cs typeface="Arial"/>
                        </a:rPr>
                        <a:t>HOLD</a:t>
                      </a:r>
                      <a:r>
                        <a:rPr sz="900" spc="-10" dirty="0">
                          <a:latin typeface="Arial"/>
                          <a:cs typeface="Arial"/>
                        </a:rPr>
                        <a:t> </a:t>
                      </a:r>
                      <a:r>
                        <a:rPr sz="900" dirty="0">
                          <a:latin typeface="Arial"/>
                          <a:cs typeface="Arial"/>
                        </a:rPr>
                        <a:t>rising</a:t>
                      </a:r>
                    </a:p>
                  </a:txBody>
                  <a:tcPr marL="0" marR="0" marT="53340" marB="0">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L="192405">
                        <a:lnSpc>
                          <a:spcPct val="100000"/>
                        </a:lnSpc>
                        <a:spcBef>
                          <a:spcPts val="530"/>
                        </a:spcBef>
                      </a:pPr>
                      <a:r>
                        <a:rPr sz="1350" spc="-7" baseline="6172" dirty="0">
                          <a:latin typeface="Calibri"/>
                          <a:cs typeface="Calibri"/>
                        </a:rPr>
                        <a:t>t</a:t>
                      </a:r>
                      <a:r>
                        <a:rPr sz="600" spc="-5" dirty="0">
                          <a:latin typeface="Calibri"/>
                          <a:cs typeface="Calibri"/>
                        </a:rPr>
                        <a:t>ADO_S</a:t>
                      </a:r>
                      <a:endParaRPr sz="600" dirty="0">
                        <a:latin typeface="Calibri"/>
                        <a:cs typeface="Calibri"/>
                      </a:endParaRPr>
                    </a:p>
                  </a:txBody>
                  <a:tcPr marL="0" marR="0" marT="6731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nSpc>
                          <a:spcPct val="100000"/>
                        </a:lnSpc>
                      </a:pPr>
                      <a:endParaRPr sz="900" dirty="0">
                        <a:latin typeface="Times New Roman"/>
                        <a:cs typeface="Times New Roman"/>
                      </a:endParaRPr>
                    </a:p>
                  </a:txBody>
                  <a:tcPr marL="0" marR="0" marT="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gn="ctr">
                        <a:lnSpc>
                          <a:spcPct val="100000"/>
                        </a:lnSpc>
                        <a:spcBef>
                          <a:spcPts val="420"/>
                        </a:spcBef>
                      </a:pPr>
                      <a:r>
                        <a:rPr sz="900" spc="-5" dirty="0">
                          <a:latin typeface="Arial"/>
                          <a:cs typeface="Arial"/>
                        </a:rPr>
                        <a:t>150</a:t>
                      </a:r>
                      <a:endParaRPr sz="900" dirty="0">
                        <a:latin typeface="Arial"/>
                        <a:cs typeface="Arial"/>
                      </a:endParaRPr>
                    </a:p>
                  </a:txBody>
                  <a:tcPr marL="0" marR="0" marT="5334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R="635" algn="ctr">
                        <a:lnSpc>
                          <a:spcPct val="100000"/>
                        </a:lnSpc>
                        <a:spcBef>
                          <a:spcPts val="420"/>
                        </a:spcBef>
                      </a:pPr>
                      <a:r>
                        <a:rPr sz="900" dirty="0">
                          <a:latin typeface="Arial"/>
                          <a:cs typeface="Arial"/>
                        </a:rPr>
                        <a:t>-</a:t>
                      </a:r>
                    </a:p>
                  </a:txBody>
                  <a:tcPr marL="0" marR="0" marT="5334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R="635" algn="ctr">
                        <a:lnSpc>
                          <a:spcPct val="100000"/>
                        </a:lnSpc>
                        <a:spcBef>
                          <a:spcPts val="420"/>
                        </a:spcBef>
                      </a:pPr>
                      <a:r>
                        <a:rPr sz="900" dirty="0">
                          <a:latin typeface="Arial"/>
                          <a:cs typeface="Arial"/>
                        </a:rPr>
                        <a:t>-</a:t>
                      </a:r>
                    </a:p>
                  </a:txBody>
                  <a:tcPr marL="0" marR="0" marT="5334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R="8255" algn="ctr">
                        <a:lnSpc>
                          <a:spcPct val="100000"/>
                        </a:lnSpc>
                        <a:spcBef>
                          <a:spcPts val="420"/>
                        </a:spcBef>
                      </a:pPr>
                      <a:r>
                        <a:rPr sz="900" spc="-5" dirty="0">
                          <a:latin typeface="Arial"/>
                          <a:cs typeface="Arial"/>
                        </a:rPr>
                        <a:t>ns</a:t>
                      </a:r>
                      <a:endParaRPr sz="900" dirty="0">
                        <a:latin typeface="Arial"/>
                        <a:cs typeface="Arial"/>
                      </a:endParaRPr>
                    </a:p>
                  </a:txBody>
                  <a:tcPr marL="0" marR="0" marT="53340" marB="0">
                    <a:lnL w="3175">
                      <a:solidFill>
                        <a:srgbClr val="000000"/>
                      </a:solidFill>
                      <a:prstDash val="solid"/>
                    </a:lnL>
                    <a:lnT w="3175">
                      <a:solidFill>
                        <a:srgbClr val="000000"/>
                      </a:solidFill>
                      <a:prstDash val="solid"/>
                    </a:lnT>
                    <a:lnB w="3175">
                      <a:solidFill>
                        <a:srgbClr val="000000"/>
                      </a:solidFill>
                      <a:prstDash val="solid"/>
                    </a:lnB>
                  </a:tcPr>
                </a:tc>
                <a:extLst>
                  <a:ext uri="{0D108BD9-81ED-4DB2-BD59-A6C34878D82A}">
                    <a16:rowId xmlns:a16="http://schemas.microsoft.com/office/drawing/2014/main" val="10006"/>
                  </a:ext>
                </a:extLst>
              </a:tr>
              <a:tr h="245745">
                <a:tc>
                  <a:txBody>
                    <a:bodyPr/>
                    <a:lstStyle/>
                    <a:p>
                      <a:pPr marR="4445" algn="r">
                        <a:lnSpc>
                          <a:spcPct val="100000"/>
                        </a:lnSpc>
                        <a:spcBef>
                          <a:spcPts val="420"/>
                        </a:spcBef>
                      </a:pPr>
                      <a:r>
                        <a:rPr sz="900" spc="-5" dirty="0">
                          <a:latin typeface="Arial"/>
                          <a:cs typeface="Arial"/>
                        </a:rPr>
                        <a:t>MODE/ADO</a:t>
                      </a:r>
                      <a:r>
                        <a:rPr sz="900" spc="10" dirty="0">
                          <a:latin typeface="Arial"/>
                          <a:cs typeface="Arial"/>
                        </a:rPr>
                        <a:t> </a:t>
                      </a:r>
                      <a:r>
                        <a:rPr sz="900" spc="-5" dirty="0">
                          <a:latin typeface="Arial"/>
                          <a:cs typeface="Arial"/>
                        </a:rPr>
                        <a:t>hold</a:t>
                      </a:r>
                      <a:r>
                        <a:rPr sz="900" spc="-15" dirty="0">
                          <a:latin typeface="Arial"/>
                          <a:cs typeface="Arial"/>
                        </a:rPr>
                        <a:t> </a:t>
                      </a:r>
                      <a:r>
                        <a:rPr sz="900" dirty="0">
                          <a:latin typeface="Arial"/>
                          <a:cs typeface="Arial"/>
                        </a:rPr>
                        <a:t>from</a:t>
                      </a:r>
                      <a:r>
                        <a:rPr sz="900" spc="-25" dirty="0">
                          <a:latin typeface="Arial"/>
                          <a:cs typeface="Arial"/>
                        </a:rPr>
                        <a:t> </a:t>
                      </a:r>
                      <a:r>
                        <a:rPr sz="900" spc="-5" dirty="0">
                          <a:latin typeface="Arial"/>
                          <a:cs typeface="Arial"/>
                        </a:rPr>
                        <a:t>HOLD</a:t>
                      </a:r>
                      <a:r>
                        <a:rPr sz="900" spc="5" dirty="0">
                          <a:latin typeface="Arial"/>
                          <a:cs typeface="Arial"/>
                        </a:rPr>
                        <a:t> </a:t>
                      </a:r>
                      <a:r>
                        <a:rPr sz="900" spc="-5" dirty="0">
                          <a:latin typeface="Arial"/>
                          <a:cs typeface="Arial"/>
                        </a:rPr>
                        <a:t>falling</a:t>
                      </a:r>
                      <a:endParaRPr sz="900" dirty="0">
                        <a:latin typeface="Arial"/>
                        <a:cs typeface="Arial"/>
                      </a:endParaRPr>
                    </a:p>
                  </a:txBody>
                  <a:tcPr marL="0" marR="0" marT="53340" marB="0">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L="186055">
                        <a:lnSpc>
                          <a:spcPct val="100000"/>
                        </a:lnSpc>
                        <a:spcBef>
                          <a:spcPts val="530"/>
                        </a:spcBef>
                      </a:pPr>
                      <a:r>
                        <a:rPr sz="1350" spc="-7" baseline="6172" dirty="0">
                          <a:latin typeface="Calibri"/>
                          <a:cs typeface="Calibri"/>
                        </a:rPr>
                        <a:t>t</a:t>
                      </a:r>
                      <a:r>
                        <a:rPr sz="600" spc="-5" dirty="0">
                          <a:latin typeface="Calibri"/>
                          <a:cs typeface="Calibri"/>
                        </a:rPr>
                        <a:t>ADO_H</a:t>
                      </a:r>
                      <a:endParaRPr sz="600" dirty="0">
                        <a:latin typeface="Calibri"/>
                        <a:cs typeface="Calibri"/>
                      </a:endParaRPr>
                    </a:p>
                  </a:txBody>
                  <a:tcPr marL="0" marR="0" marT="6731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nSpc>
                          <a:spcPct val="100000"/>
                        </a:lnSpc>
                      </a:pPr>
                      <a:endParaRPr sz="900" dirty="0">
                        <a:latin typeface="Times New Roman"/>
                        <a:cs typeface="Times New Roman"/>
                      </a:endParaRPr>
                    </a:p>
                  </a:txBody>
                  <a:tcPr marL="0" marR="0" marT="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gn="ctr">
                        <a:lnSpc>
                          <a:spcPct val="100000"/>
                        </a:lnSpc>
                        <a:spcBef>
                          <a:spcPts val="420"/>
                        </a:spcBef>
                      </a:pPr>
                      <a:r>
                        <a:rPr sz="900" spc="-5" dirty="0">
                          <a:latin typeface="Arial"/>
                          <a:cs typeface="Arial"/>
                        </a:rPr>
                        <a:t>250</a:t>
                      </a:r>
                      <a:endParaRPr sz="900" dirty="0">
                        <a:latin typeface="Arial"/>
                        <a:cs typeface="Arial"/>
                      </a:endParaRPr>
                    </a:p>
                  </a:txBody>
                  <a:tcPr marL="0" marR="0" marT="5334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R="635" algn="ctr">
                        <a:lnSpc>
                          <a:spcPct val="100000"/>
                        </a:lnSpc>
                        <a:spcBef>
                          <a:spcPts val="420"/>
                        </a:spcBef>
                      </a:pPr>
                      <a:r>
                        <a:rPr sz="900" dirty="0">
                          <a:latin typeface="Arial"/>
                          <a:cs typeface="Arial"/>
                        </a:rPr>
                        <a:t>-</a:t>
                      </a:r>
                    </a:p>
                  </a:txBody>
                  <a:tcPr marL="0" marR="0" marT="5334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gn="ctr">
                        <a:lnSpc>
                          <a:spcPct val="100000"/>
                        </a:lnSpc>
                        <a:spcBef>
                          <a:spcPts val="35"/>
                        </a:spcBef>
                      </a:pPr>
                      <a:r>
                        <a:rPr sz="1350" baseline="-24691" dirty="0">
                          <a:latin typeface="Arial"/>
                          <a:cs typeface="Arial"/>
                        </a:rPr>
                        <a:t>-</a:t>
                      </a:r>
                      <a:r>
                        <a:rPr sz="1350" spc="-75" baseline="-24691" dirty="0">
                          <a:latin typeface="Arial"/>
                          <a:cs typeface="Arial"/>
                        </a:rPr>
                        <a:t> </a:t>
                      </a:r>
                      <a:r>
                        <a:rPr sz="600" dirty="0">
                          <a:latin typeface="Arial"/>
                          <a:cs typeface="Arial"/>
                        </a:rPr>
                        <a:t>(4)</a:t>
                      </a:r>
                    </a:p>
                  </a:txBody>
                  <a:tcPr marL="0" marR="0" marT="4445"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R="8255" algn="ctr">
                        <a:lnSpc>
                          <a:spcPct val="100000"/>
                        </a:lnSpc>
                        <a:spcBef>
                          <a:spcPts val="420"/>
                        </a:spcBef>
                      </a:pPr>
                      <a:r>
                        <a:rPr sz="900" spc="-5" dirty="0">
                          <a:latin typeface="Arial"/>
                          <a:cs typeface="Arial"/>
                        </a:rPr>
                        <a:t>ns</a:t>
                      </a:r>
                      <a:endParaRPr sz="900" dirty="0">
                        <a:latin typeface="Arial"/>
                        <a:cs typeface="Arial"/>
                      </a:endParaRPr>
                    </a:p>
                  </a:txBody>
                  <a:tcPr marL="0" marR="0" marT="53340" marB="0">
                    <a:lnL w="3175">
                      <a:solidFill>
                        <a:srgbClr val="000000"/>
                      </a:solidFill>
                      <a:prstDash val="solid"/>
                    </a:lnL>
                    <a:lnT w="3175">
                      <a:solidFill>
                        <a:srgbClr val="000000"/>
                      </a:solidFill>
                      <a:prstDash val="solid"/>
                    </a:lnT>
                    <a:lnB w="3175">
                      <a:solidFill>
                        <a:srgbClr val="000000"/>
                      </a:solidFill>
                      <a:prstDash val="solid"/>
                    </a:lnB>
                  </a:tcPr>
                </a:tc>
                <a:extLst>
                  <a:ext uri="{0D108BD9-81ED-4DB2-BD59-A6C34878D82A}">
                    <a16:rowId xmlns:a16="http://schemas.microsoft.com/office/drawing/2014/main" val="10007"/>
                  </a:ext>
                </a:extLst>
              </a:tr>
              <a:tr h="246379">
                <a:tc gridSpan="7">
                  <a:txBody>
                    <a:bodyPr/>
                    <a:lstStyle/>
                    <a:p>
                      <a:pPr>
                        <a:lnSpc>
                          <a:spcPct val="100000"/>
                        </a:lnSpc>
                        <a:spcBef>
                          <a:spcPts val="420"/>
                        </a:spcBef>
                      </a:pPr>
                      <a:r>
                        <a:rPr sz="900" dirty="0">
                          <a:latin typeface="Arial"/>
                          <a:cs typeface="Arial"/>
                        </a:rPr>
                        <a:t>HOLD_SU</a:t>
                      </a:r>
                      <a:r>
                        <a:rPr sz="900" spc="-15" dirty="0">
                          <a:latin typeface="Arial"/>
                          <a:cs typeface="Arial"/>
                        </a:rPr>
                        <a:t> </a:t>
                      </a:r>
                      <a:r>
                        <a:rPr sz="900" dirty="0">
                          <a:latin typeface="Arial"/>
                          <a:cs typeface="Arial"/>
                        </a:rPr>
                        <a:t>and</a:t>
                      </a:r>
                      <a:r>
                        <a:rPr sz="900" spc="-20" dirty="0">
                          <a:latin typeface="Arial"/>
                          <a:cs typeface="Arial"/>
                        </a:rPr>
                        <a:t> </a:t>
                      </a:r>
                      <a:r>
                        <a:rPr sz="900" dirty="0">
                          <a:latin typeface="Arial"/>
                          <a:cs typeface="Arial"/>
                        </a:rPr>
                        <a:t>HOLD_ON</a:t>
                      </a:r>
                      <a:r>
                        <a:rPr sz="900" spc="-15" dirty="0">
                          <a:latin typeface="Arial"/>
                          <a:cs typeface="Arial"/>
                        </a:rPr>
                        <a:t> </a:t>
                      </a:r>
                      <a:r>
                        <a:rPr sz="900" dirty="0">
                          <a:latin typeface="Arial"/>
                          <a:cs typeface="Arial"/>
                        </a:rPr>
                        <a:t>register</a:t>
                      </a:r>
                    </a:p>
                  </a:txBody>
                  <a:tcPr marL="0" marR="0" marT="53340" marB="0">
                    <a:lnT w="3175">
                      <a:solidFill>
                        <a:srgbClr val="000000"/>
                      </a:solidFill>
                      <a:prstDash val="solid"/>
                    </a:lnT>
                    <a:lnB w="3175">
                      <a:solidFill>
                        <a:srgbClr val="000000"/>
                      </a:solidFill>
                      <a:prstDash val="solid"/>
                    </a:lnB>
                  </a:tcPr>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8"/>
                  </a:ext>
                </a:extLst>
              </a:tr>
              <a:tr h="246379">
                <a:tc>
                  <a:txBody>
                    <a:bodyPr/>
                    <a:lstStyle/>
                    <a:p>
                      <a:pPr marR="3175" algn="r">
                        <a:lnSpc>
                          <a:spcPct val="100000"/>
                        </a:lnSpc>
                        <a:spcBef>
                          <a:spcPts val="420"/>
                        </a:spcBef>
                      </a:pPr>
                      <a:r>
                        <a:rPr sz="900" spc="-5" dirty="0">
                          <a:latin typeface="Arial"/>
                          <a:cs typeface="Arial"/>
                        </a:rPr>
                        <a:t>HOLD</a:t>
                      </a:r>
                      <a:r>
                        <a:rPr sz="900" spc="-25" dirty="0">
                          <a:latin typeface="Arial"/>
                          <a:cs typeface="Arial"/>
                        </a:rPr>
                        <a:t> </a:t>
                      </a:r>
                      <a:r>
                        <a:rPr sz="900" spc="-5" dirty="0">
                          <a:latin typeface="Arial"/>
                          <a:cs typeface="Arial"/>
                        </a:rPr>
                        <a:t>SU</a:t>
                      </a:r>
                      <a:r>
                        <a:rPr sz="900" spc="-25" dirty="0">
                          <a:latin typeface="Arial"/>
                          <a:cs typeface="Arial"/>
                        </a:rPr>
                        <a:t> </a:t>
                      </a:r>
                      <a:r>
                        <a:rPr sz="900" dirty="0">
                          <a:latin typeface="Arial"/>
                          <a:cs typeface="Arial"/>
                        </a:rPr>
                        <a:t>time</a:t>
                      </a:r>
                    </a:p>
                  </a:txBody>
                  <a:tcPr marL="0" marR="0" marT="53340" marB="0">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L="149860">
                        <a:lnSpc>
                          <a:spcPct val="100000"/>
                        </a:lnSpc>
                        <a:spcBef>
                          <a:spcPts val="530"/>
                        </a:spcBef>
                      </a:pPr>
                      <a:r>
                        <a:rPr sz="1350" spc="-7" baseline="6172" dirty="0">
                          <a:latin typeface="Calibri"/>
                          <a:cs typeface="Calibri"/>
                        </a:rPr>
                        <a:t>t</a:t>
                      </a:r>
                      <a:r>
                        <a:rPr sz="600" spc="-5" dirty="0">
                          <a:latin typeface="Calibri"/>
                          <a:cs typeface="Calibri"/>
                        </a:rPr>
                        <a:t>HOLD_SU</a:t>
                      </a:r>
                      <a:endParaRPr sz="600" dirty="0">
                        <a:latin typeface="Calibri"/>
                        <a:cs typeface="Calibri"/>
                      </a:endParaRPr>
                    </a:p>
                  </a:txBody>
                  <a:tcPr marL="0" marR="0" marT="6731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nSpc>
                          <a:spcPct val="100000"/>
                        </a:lnSpc>
                      </a:pPr>
                      <a:endParaRPr sz="900" dirty="0">
                        <a:latin typeface="Times New Roman"/>
                        <a:cs typeface="Times New Roman"/>
                      </a:endParaRPr>
                    </a:p>
                  </a:txBody>
                  <a:tcPr marL="0" marR="0" marT="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R="1270" algn="ctr">
                        <a:lnSpc>
                          <a:spcPct val="100000"/>
                        </a:lnSpc>
                        <a:spcBef>
                          <a:spcPts val="420"/>
                        </a:spcBef>
                      </a:pPr>
                      <a:r>
                        <a:rPr sz="900" dirty="0">
                          <a:latin typeface="Arial"/>
                          <a:cs typeface="Arial"/>
                        </a:rPr>
                        <a:t>-</a:t>
                      </a:r>
                    </a:p>
                  </a:txBody>
                  <a:tcPr marL="0" marR="0" marT="5334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R="635" algn="ctr">
                        <a:lnSpc>
                          <a:spcPct val="100000"/>
                        </a:lnSpc>
                        <a:spcBef>
                          <a:spcPts val="420"/>
                        </a:spcBef>
                      </a:pPr>
                      <a:r>
                        <a:rPr sz="900" dirty="0">
                          <a:latin typeface="Arial"/>
                          <a:cs typeface="Arial"/>
                        </a:rPr>
                        <a:t>-</a:t>
                      </a:r>
                    </a:p>
                  </a:txBody>
                  <a:tcPr marL="0" marR="0" marT="5334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gn="ctr">
                        <a:lnSpc>
                          <a:spcPct val="100000"/>
                        </a:lnSpc>
                        <a:spcBef>
                          <a:spcPts val="35"/>
                        </a:spcBef>
                      </a:pPr>
                      <a:r>
                        <a:rPr sz="1350" baseline="-24691" dirty="0">
                          <a:latin typeface="Arial"/>
                          <a:cs typeface="Arial"/>
                        </a:rPr>
                        <a:t>-</a:t>
                      </a:r>
                      <a:r>
                        <a:rPr sz="1350" spc="-75" baseline="-24691" dirty="0">
                          <a:latin typeface="Arial"/>
                          <a:cs typeface="Arial"/>
                        </a:rPr>
                        <a:t> </a:t>
                      </a:r>
                      <a:r>
                        <a:rPr sz="600" dirty="0">
                          <a:latin typeface="Arial"/>
                          <a:cs typeface="Arial"/>
                        </a:rPr>
                        <a:t>(4)</a:t>
                      </a:r>
                    </a:p>
                  </a:txBody>
                  <a:tcPr marL="0" marR="0" marT="4445"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R="8255" algn="ctr">
                        <a:lnSpc>
                          <a:spcPct val="100000"/>
                        </a:lnSpc>
                        <a:spcBef>
                          <a:spcPts val="420"/>
                        </a:spcBef>
                      </a:pPr>
                      <a:r>
                        <a:rPr sz="900" spc="-5" dirty="0">
                          <a:latin typeface="Arial"/>
                          <a:cs typeface="Arial"/>
                        </a:rPr>
                        <a:t>ns</a:t>
                      </a:r>
                      <a:endParaRPr sz="900" dirty="0">
                        <a:latin typeface="Arial"/>
                        <a:cs typeface="Arial"/>
                      </a:endParaRPr>
                    </a:p>
                  </a:txBody>
                  <a:tcPr marL="0" marR="0" marT="53340" marB="0">
                    <a:lnL w="3175">
                      <a:solidFill>
                        <a:srgbClr val="000000"/>
                      </a:solidFill>
                      <a:prstDash val="solid"/>
                    </a:lnL>
                    <a:lnT w="3175">
                      <a:solidFill>
                        <a:srgbClr val="000000"/>
                      </a:solidFill>
                      <a:prstDash val="solid"/>
                    </a:lnT>
                    <a:lnB w="3175">
                      <a:solidFill>
                        <a:srgbClr val="000000"/>
                      </a:solidFill>
                      <a:prstDash val="solid"/>
                    </a:lnB>
                  </a:tcPr>
                </a:tc>
                <a:extLst>
                  <a:ext uri="{0D108BD9-81ED-4DB2-BD59-A6C34878D82A}">
                    <a16:rowId xmlns:a16="http://schemas.microsoft.com/office/drawing/2014/main" val="10009"/>
                  </a:ext>
                </a:extLst>
              </a:tr>
              <a:tr h="246379">
                <a:tc>
                  <a:txBody>
                    <a:bodyPr/>
                    <a:lstStyle/>
                    <a:p>
                      <a:pPr marR="3175" algn="r">
                        <a:lnSpc>
                          <a:spcPct val="100000"/>
                        </a:lnSpc>
                        <a:spcBef>
                          <a:spcPts val="425"/>
                        </a:spcBef>
                      </a:pPr>
                      <a:r>
                        <a:rPr sz="900" spc="-5" dirty="0">
                          <a:latin typeface="Arial"/>
                          <a:cs typeface="Arial"/>
                        </a:rPr>
                        <a:t>HOLD</a:t>
                      </a:r>
                      <a:r>
                        <a:rPr sz="900" spc="-25" dirty="0">
                          <a:latin typeface="Arial"/>
                          <a:cs typeface="Arial"/>
                        </a:rPr>
                        <a:t> </a:t>
                      </a:r>
                      <a:r>
                        <a:rPr sz="900" spc="-5" dirty="0">
                          <a:latin typeface="Arial"/>
                          <a:cs typeface="Arial"/>
                        </a:rPr>
                        <a:t>ON</a:t>
                      </a:r>
                      <a:r>
                        <a:rPr sz="900" spc="-25" dirty="0">
                          <a:latin typeface="Arial"/>
                          <a:cs typeface="Arial"/>
                        </a:rPr>
                        <a:t> </a:t>
                      </a:r>
                      <a:r>
                        <a:rPr sz="900" dirty="0">
                          <a:latin typeface="Arial"/>
                          <a:cs typeface="Arial"/>
                        </a:rPr>
                        <a:t>time</a:t>
                      </a:r>
                    </a:p>
                  </a:txBody>
                  <a:tcPr marL="0" marR="0" marT="53975" marB="0">
                    <a:lnR w="3175">
                      <a:solidFill>
                        <a:srgbClr val="000000"/>
                      </a:solidFill>
                      <a:prstDash val="solid"/>
                    </a:lnR>
                    <a:lnT w="3175">
                      <a:solidFill>
                        <a:srgbClr val="000000"/>
                      </a:solidFill>
                      <a:prstDash val="solid"/>
                    </a:lnT>
                    <a:lnB w="12700">
                      <a:solidFill>
                        <a:srgbClr val="A6A6A6"/>
                      </a:solidFill>
                      <a:prstDash val="solid"/>
                    </a:lnB>
                  </a:tcPr>
                </a:tc>
                <a:tc>
                  <a:txBody>
                    <a:bodyPr/>
                    <a:lstStyle/>
                    <a:p>
                      <a:pPr marL="142240">
                        <a:lnSpc>
                          <a:spcPct val="100000"/>
                        </a:lnSpc>
                        <a:spcBef>
                          <a:spcPts val="530"/>
                        </a:spcBef>
                      </a:pPr>
                      <a:r>
                        <a:rPr sz="1350" spc="-7" baseline="6172" dirty="0">
                          <a:latin typeface="Calibri"/>
                          <a:cs typeface="Calibri"/>
                        </a:rPr>
                        <a:t>t</a:t>
                      </a:r>
                      <a:r>
                        <a:rPr sz="600" spc="-5" dirty="0">
                          <a:latin typeface="Calibri"/>
                          <a:cs typeface="Calibri"/>
                        </a:rPr>
                        <a:t>HOLD_ON</a:t>
                      </a:r>
                      <a:endParaRPr sz="600" dirty="0">
                        <a:latin typeface="Calibri"/>
                        <a:cs typeface="Calibri"/>
                      </a:endParaRPr>
                    </a:p>
                  </a:txBody>
                  <a:tcPr marL="0" marR="0" marT="67310" marB="0">
                    <a:lnL w="3175">
                      <a:solidFill>
                        <a:srgbClr val="000000"/>
                      </a:solidFill>
                      <a:prstDash val="solid"/>
                    </a:lnL>
                    <a:lnR w="3175">
                      <a:solidFill>
                        <a:srgbClr val="000000"/>
                      </a:solidFill>
                      <a:prstDash val="solid"/>
                    </a:lnR>
                    <a:lnT w="3175">
                      <a:solidFill>
                        <a:srgbClr val="000000"/>
                      </a:solidFill>
                      <a:prstDash val="solid"/>
                    </a:lnT>
                    <a:lnB w="12700">
                      <a:solidFill>
                        <a:srgbClr val="A6A6A6"/>
                      </a:solidFill>
                      <a:prstDash val="solid"/>
                    </a:lnB>
                  </a:tcPr>
                </a:tc>
                <a:tc>
                  <a:txBody>
                    <a:bodyPr/>
                    <a:lstStyle/>
                    <a:p>
                      <a:pPr>
                        <a:lnSpc>
                          <a:spcPct val="100000"/>
                        </a:lnSpc>
                      </a:pPr>
                      <a:endParaRPr sz="900" dirty="0">
                        <a:latin typeface="Times New Roman"/>
                        <a:cs typeface="Times New Roman"/>
                      </a:endParaRPr>
                    </a:p>
                  </a:txBody>
                  <a:tcPr marL="0" marR="0" marT="0" marB="0">
                    <a:lnL w="3175">
                      <a:solidFill>
                        <a:srgbClr val="000000"/>
                      </a:solidFill>
                      <a:prstDash val="solid"/>
                    </a:lnL>
                    <a:lnR w="3175">
                      <a:solidFill>
                        <a:srgbClr val="000000"/>
                      </a:solidFill>
                      <a:prstDash val="solid"/>
                    </a:lnR>
                    <a:lnT w="3175">
                      <a:solidFill>
                        <a:srgbClr val="000000"/>
                      </a:solidFill>
                      <a:prstDash val="solid"/>
                    </a:lnT>
                    <a:lnB w="12700">
                      <a:solidFill>
                        <a:srgbClr val="A6A6A6"/>
                      </a:solidFill>
                      <a:prstDash val="solid"/>
                    </a:lnB>
                  </a:tcPr>
                </a:tc>
                <a:tc>
                  <a:txBody>
                    <a:bodyPr/>
                    <a:lstStyle/>
                    <a:p>
                      <a:pPr marR="1905" algn="ctr">
                        <a:lnSpc>
                          <a:spcPct val="100000"/>
                        </a:lnSpc>
                        <a:spcBef>
                          <a:spcPts val="425"/>
                        </a:spcBef>
                      </a:pPr>
                      <a:r>
                        <a:rPr sz="900" dirty="0">
                          <a:latin typeface="Arial"/>
                          <a:cs typeface="Arial"/>
                        </a:rPr>
                        <a:t>1.8</a:t>
                      </a:r>
                    </a:p>
                  </a:txBody>
                  <a:tcPr marL="0" marR="0" marT="53975" marB="0">
                    <a:lnL w="3175">
                      <a:solidFill>
                        <a:srgbClr val="000000"/>
                      </a:solidFill>
                      <a:prstDash val="solid"/>
                    </a:lnL>
                    <a:lnR w="3175">
                      <a:solidFill>
                        <a:srgbClr val="000000"/>
                      </a:solidFill>
                      <a:prstDash val="solid"/>
                    </a:lnR>
                    <a:lnT w="3175">
                      <a:solidFill>
                        <a:srgbClr val="000000"/>
                      </a:solidFill>
                      <a:prstDash val="solid"/>
                    </a:lnT>
                    <a:lnB w="12700">
                      <a:solidFill>
                        <a:srgbClr val="A6A6A6"/>
                      </a:solidFill>
                      <a:prstDash val="solid"/>
                    </a:lnB>
                  </a:tcPr>
                </a:tc>
                <a:tc>
                  <a:txBody>
                    <a:bodyPr/>
                    <a:lstStyle/>
                    <a:p>
                      <a:pPr marR="635" algn="ctr">
                        <a:lnSpc>
                          <a:spcPct val="100000"/>
                        </a:lnSpc>
                        <a:spcBef>
                          <a:spcPts val="425"/>
                        </a:spcBef>
                      </a:pPr>
                      <a:r>
                        <a:rPr sz="900" dirty="0">
                          <a:latin typeface="Arial"/>
                          <a:cs typeface="Arial"/>
                        </a:rPr>
                        <a:t>-</a:t>
                      </a:r>
                    </a:p>
                  </a:txBody>
                  <a:tcPr marL="0" marR="0" marT="53975" marB="0">
                    <a:lnL w="3175">
                      <a:solidFill>
                        <a:srgbClr val="000000"/>
                      </a:solidFill>
                      <a:prstDash val="solid"/>
                    </a:lnL>
                    <a:lnR w="3175">
                      <a:solidFill>
                        <a:srgbClr val="000000"/>
                      </a:solidFill>
                      <a:prstDash val="solid"/>
                    </a:lnR>
                    <a:lnT w="3175">
                      <a:solidFill>
                        <a:srgbClr val="000000"/>
                      </a:solidFill>
                      <a:prstDash val="solid"/>
                    </a:lnT>
                    <a:lnB w="12700">
                      <a:solidFill>
                        <a:srgbClr val="A6A6A6"/>
                      </a:solidFill>
                      <a:prstDash val="solid"/>
                    </a:lnB>
                  </a:tcPr>
                </a:tc>
                <a:tc>
                  <a:txBody>
                    <a:bodyPr/>
                    <a:lstStyle/>
                    <a:p>
                      <a:pPr algn="ctr">
                        <a:lnSpc>
                          <a:spcPct val="100000"/>
                        </a:lnSpc>
                        <a:spcBef>
                          <a:spcPts val="40"/>
                        </a:spcBef>
                      </a:pPr>
                      <a:r>
                        <a:rPr sz="1350" baseline="-24691" dirty="0">
                          <a:latin typeface="Arial"/>
                          <a:cs typeface="Arial"/>
                        </a:rPr>
                        <a:t>-</a:t>
                      </a:r>
                      <a:r>
                        <a:rPr sz="1350" spc="-75" baseline="-24691" dirty="0">
                          <a:latin typeface="Arial"/>
                          <a:cs typeface="Arial"/>
                        </a:rPr>
                        <a:t> </a:t>
                      </a:r>
                      <a:r>
                        <a:rPr sz="600" dirty="0">
                          <a:latin typeface="Arial"/>
                          <a:cs typeface="Arial"/>
                        </a:rPr>
                        <a:t>(4)</a:t>
                      </a:r>
                    </a:p>
                  </a:txBody>
                  <a:tcPr marL="0" marR="0" marT="5080" marB="0">
                    <a:lnL w="3175">
                      <a:solidFill>
                        <a:srgbClr val="000000"/>
                      </a:solidFill>
                      <a:prstDash val="solid"/>
                    </a:lnL>
                    <a:lnR w="3175">
                      <a:solidFill>
                        <a:srgbClr val="000000"/>
                      </a:solidFill>
                      <a:prstDash val="solid"/>
                    </a:lnR>
                    <a:lnT w="3175">
                      <a:solidFill>
                        <a:srgbClr val="000000"/>
                      </a:solidFill>
                      <a:prstDash val="solid"/>
                    </a:lnT>
                    <a:lnB w="12700">
                      <a:solidFill>
                        <a:srgbClr val="A6A6A6"/>
                      </a:solidFill>
                      <a:prstDash val="solid"/>
                    </a:lnB>
                  </a:tcPr>
                </a:tc>
                <a:tc>
                  <a:txBody>
                    <a:bodyPr/>
                    <a:lstStyle/>
                    <a:p>
                      <a:pPr marR="8255" algn="ctr">
                        <a:lnSpc>
                          <a:spcPct val="100000"/>
                        </a:lnSpc>
                        <a:spcBef>
                          <a:spcPts val="425"/>
                        </a:spcBef>
                      </a:pPr>
                      <a:r>
                        <a:rPr sz="900" spc="-5" dirty="0">
                          <a:latin typeface="Arial"/>
                          <a:cs typeface="Arial"/>
                        </a:rPr>
                        <a:t>us</a:t>
                      </a:r>
                      <a:endParaRPr sz="900" dirty="0">
                        <a:latin typeface="Arial"/>
                        <a:cs typeface="Arial"/>
                      </a:endParaRPr>
                    </a:p>
                  </a:txBody>
                  <a:tcPr marL="0" marR="0" marT="53975" marB="0">
                    <a:lnL w="3175">
                      <a:solidFill>
                        <a:srgbClr val="000000"/>
                      </a:solidFill>
                      <a:prstDash val="solid"/>
                    </a:lnL>
                    <a:lnT w="3175">
                      <a:solidFill>
                        <a:srgbClr val="000000"/>
                      </a:solidFill>
                      <a:prstDash val="solid"/>
                    </a:lnT>
                    <a:lnB w="12700">
                      <a:solidFill>
                        <a:srgbClr val="A6A6A6"/>
                      </a:solidFill>
                      <a:prstDash val="solid"/>
                    </a:lnB>
                  </a:tcPr>
                </a:tc>
                <a:extLst>
                  <a:ext uri="{0D108BD9-81ED-4DB2-BD59-A6C34878D82A}">
                    <a16:rowId xmlns:a16="http://schemas.microsoft.com/office/drawing/2014/main" val="10010"/>
                  </a:ext>
                </a:extLst>
              </a:tr>
            </a:tbl>
          </a:graphicData>
        </a:graphic>
      </p:graphicFrame>
      <p:sp>
        <p:nvSpPr>
          <p:cNvPr id="13" name="object 9">
            <a:extLst>
              <a:ext uri="{FF2B5EF4-FFF2-40B4-BE49-F238E27FC236}">
                <a16:creationId xmlns:a16="http://schemas.microsoft.com/office/drawing/2014/main" id="{7C15092F-4177-28E9-4979-6B627ED69C77}"/>
              </a:ext>
            </a:extLst>
          </p:cNvPr>
          <p:cNvSpPr txBox="1"/>
          <p:nvPr/>
        </p:nvSpPr>
        <p:spPr>
          <a:xfrm>
            <a:off x="304800" y="9067800"/>
            <a:ext cx="2078355" cy="289823"/>
          </a:xfrm>
          <a:prstGeom prst="rect">
            <a:avLst/>
          </a:prstGeom>
        </p:spPr>
        <p:txBody>
          <a:bodyPr vert="horz" wrap="square" lIns="0" tIns="12700" rIns="0" bIns="0" rtlCol="0">
            <a:spAutoFit/>
          </a:bodyPr>
          <a:lstStyle/>
          <a:p>
            <a:pPr marL="12700">
              <a:lnSpc>
                <a:spcPct val="100000"/>
              </a:lnSpc>
              <a:spcBef>
                <a:spcPts val="100"/>
              </a:spcBef>
            </a:pPr>
            <a:r>
              <a:rPr b="1" spc="-5" dirty="0">
                <a:solidFill>
                  <a:srgbClr val="FF0000"/>
                </a:solidFill>
                <a:cs typeface="Perpetua Titling MT"/>
              </a:rPr>
              <a:t>CONFIDENTIAL</a:t>
            </a:r>
            <a:endParaRPr dirty="0">
              <a:cs typeface="Perpetua Titling MT"/>
            </a:endParaRPr>
          </a:p>
        </p:txBody>
      </p:sp>
      <p:sp>
        <p:nvSpPr>
          <p:cNvPr id="14" name="object 6">
            <a:extLst>
              <a:ext uri="{FF2B5EF4-FFF2-40B4-BE49-F238E27FC236}">
                <a16:creationId xmlns:a16="http://schemas.microsoft.com/office/drawing/2014/main" id="{198D80C4-BA39-5B3C-E657-D732B86E755D}"/>
              </a:ext>
            </a:extLst>
          </p:cNvPr>
          <p:cNvSpPr/>
          <p:nvPr/>
        </p:nvSpPr>
        <p:spPr>
          <a:xfrm>
            <a:off x="301676" y="9458756"/>
            <a:ext cx="6246495" cy="0"/>
          </a:xfrm>
          <a:custGeom>
            <a:avLst/>
            <a:gdLst/>
            <a:ahLst/>
            <a:cxnLst/>
            <a:rect l="l" t="t" r="r" b="b"/>
            <a:pathLst>
              <a:path w="6246495">
                <a:moveTo>
                  <a:pt x="0" y="0"/>
                </a:moveTo>
                <a:lnTo>
                  <a:pt x="6245999" y="0"/>
                </a:lnTo>
              </a:path>
            </a:pathLst>
          </a:custGeom>
          <a:ln w="25920">
            <a:solidFill>
              <a:srgbClr val="BFBFBF"/>
            </a:solidFill>
          </a:ln>
        </p:spPr>
        <p:txBody>
          <a:bodyPr wrap="square" lIns="0" tIns="0" rIns="0" bIns="0" rtlCol="0"/>
          <a:lstStyle/>
          <a:p>
            <a:endParaRPr/>
          </a:p>
        </p:txBody>
      </p:sp>
      <p:sp>
        <p:nvSpPr>
          <p:cNvPr id="15" name="슬라이드 번호 개체 틀 3">
            <a:hlinkClick r:id="rId3"/>
            <a:extLst>
              <a:ext uri="{FF2B5EF4-FFF2-40B4-BE49-F238E27FC236}">
                <a16:creationId xmlns:a16="http://schemas.microsoft.com/office/drawing/2014/main" id="{579109C4-1CD2-F22B-CE1F-1BCD15242206}"/>
              </a:ext>
            </a:extLst>
          </p:cNvPr>
          <p:cNvSpPr txBox="1">
            <a:spLocks/>
          </p:cNvSpPr>
          <p:nvPr/>
        </p:nvSpPr>
        <p:spPr>
          <a:xfrm>
            <a:off x="5151602" y="9452864"/>
            <a:ext cx="1487550"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dirty="0">
                <a:solidFill>
                  <a:prstClr val="black"/>
                </a:solidFill>
                <a:latin typeface="Arial" panose="020B0604020202020204" pitchFamily="34" charset="0"/>
                <a:cs typeface="Arial" panose="020B0604020202020204" pitchFamily="34" charset="0"/>
              </a:rPr>
              <a:t>http://www.glbltech.com/</a:t>
            </a:r>
            <a:endParaRPr lang="ko-KR" altLang="en-US" dirty="0">
              <a:solidFill>
                <a:prstClr val="black"/>
              </a:solidFill>
              <a:latin typeface="Arial" panose="020B0604020202020204" pitchFamily="34" charset="0"/>
              <a:cs typeface="Arial" panose="020B0604020202020204" pitchFamily="34" charset="0"/>
            </a:endParaRPr>
          </a:p>
        </p:txBody>
      </p:sp>
      <p:sp>
        <p:nvSpPr>
          <p:cNvPr id="16" name="object 38">
            <a:extLst>
              <a:ext uri="{FF2B5EF4-FFF2-40B4-BE49-F238E27FC236}">
                <a16:creationId xmlns:a16="http://schemas.microsoft.com/office/drawing/2014/main" id="{8A994210-207B-BC36-DB21-BA141BDC25F8}"/>
              </a:ext>
            </a:extLst>
          </p:cNvPr>
          <p:cNvSpPr txBox="1">
            <a:spLocks/>
          </p:cNvSpPr>
          <p:nvPr/>
        </p:nvSpPr>
        <p:spPr>
          <a:xfrm>
            <a:off x="3309066" y="9547988"/>
            <a:ext cx="487045" cy="139141"/>
          </a:xfrm>
          <a:prstGeom prst="rect">
            <a:avLst/>
          </a:prstGeom>
        </p:spPr>
        <p:txBody>
          <a:bodyPr vert="horz" wrap="square" lIns="0" tIns="635" rIns="0" bIns="0" rtlCol="0">
            <a:spAutoFit/>
          </a:bodyPr>
          <a:lstStyle>
            <a:defPPr>
              <a:defRPr lang="ko-KR"/>
            </a:defPPr>
            <a:lvl1pPr marL="0" algn="l" defTabSz="914400" rtl="0" eaLnBrk="1" latinLnBrk="1" hangingPunct="1">
              <a:defRPr sz="1050" b="0" i="0" kern="1200">
                <a:solidFill>
                  <a:schemeClr val="tx1"/>
                </a:solidFill>
                <a:latin typeface="Arial"/>
                <a:ea typeface="+mn-ea"/>
                <a:cs typeface="Arial"/>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marL="12700">
              <a:spcBef>
                <a:spcPts val="5"/>
              </a:spcBef>
              <a:defRPr/>
            </a:pPr>
            <a:r>
              <a:rPr lang="en-US" sz="900" dirty="0">
                <a:solidFill>
                  <a:prstClr val="black"/>
                </a:solidFill>
              </a:rPr>
              <a:t>Page</a:t>
            </a:r>
            <a:r>
              <a:rPr lang="en-US" sz="900" spc="-60" dirty="0">
                <a:solidFill>
                  <a:prstClr val="black"/>
                </a:solidFill>
              </a:rPr>
              <a:t> </a:t>
            </a:r>
            <a:fld id="{81D60167-4931-47E6-BA6A-407CBD079E47}" type="slidenum">
              <a:rPr sz="900">
                <a:solidFill>
                  <a:prstClr val="black"/>
                </a:solidFill>
              </a:rPr>
              <a:pPr marL="12700">
                <a:spcBef>
                  <a:spcPts val="5"/>
                </a:spcBef>
                <a:defRPr/>
              </a:pPr>
              <a:t>14</a:t>
            </a:fld>
            <a:endParaRPr sz="900" dirty="0">
              <a:solidFill>
                <a:prstClr val="black"/>
              </a:solidFill>
            </a:endParaRPr>
          </a:p>
        </p:txBody>
      </p:sp>
      <p:sp>
        <p:nvSpPr>
          <p:cNvPr id="17" name="슬라이드 번호 개체 틀 3">
            <a:extLst>
              <a:ext uri="{FF2B5EF4-FFF2-40B4-BE49-F238E27FC236}">
                <a16:creationId xmlns:a16="http://schemas.microsoft.com/office/drawing/2014/main" id="{256FB76B-723D-7C8C-A72B-344E63CFAE88}"/>
              </a:ext>
            </a:extLst>
          </p:cNvPr>
          <p:cNvSpPr txBox="1">
            <a:spLocks/>
          </p:cNvSpPr>
          <p:nvPr/>
        </p:nvSpPr>
        <p:spPr>
          <a:xfrm>
            <a:off x="299401" y="9520856"/>
            <a:ext cx="2060991" cy="175259"/>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lang="en-US" altLang="ko-KR" dirty="0">
                <a:solidFill>
                  <a:prstClr val="black"/>
                </a:solidFill>
                <a:latin typeface="Arial" panose="020B0604020202020204" pitchFamily="34" charset="0"/>
                <a:cs typeface="Arial" panose="020B0604020202020204" pitchFamily="34" charset="0"/>
              </a:rPr>
              <a:t>Dated 30-Nov 23  Rev. 01</a:t>
            </a:r>
            <a:endParaRPr lang="ko-KR" altLang="en-US" dirty="0">
              <a:solidFill>
                <a:prstClr val="black"/>
              </a:solidFill>
              <a:latin typeface="Arial" panose="020B0604020202020204" pitchFamily="34" charset="0"/>
              <a:cs typeface="Arial" panose="020B0604020202020204" pitchFamily="34" charset="0"/>
            </a:endParaRPr>
          </a:p>
        </p:txBody>
      </p:sp>
      <p:sp>
        <p:nvSpPr>
          <p:cNvPr id="18" name="Holder 3">
            <a:extLst>
              <a:ext uri="{FF2B5EF4-FFF2-40B4-BE49-F238E27FC236}">
                <a16:creationId xmlns:a16="http://schemas.microsoft.com/office/drawing/2014/main" id="{822C022D-285E-9212-25E7-E2D777968B73}"/>
              </a:ext>
            </a:extLst>
          </p:cNvPr>
          <p:cNvSpPr txBox="1">
            <a:spLocks/>
          </p:cNvSpPr>
          <p:nvPr/>
        </p:nvSpPr>
        <p:spPr>
          <a:xfrm>
            <a:off x="5147476" y="203944"/>
            <a:ext cx="1447800" cy="276999"/>
          </a:xfrm>
          <a:prstGeom prst="rect">
            <a:avLst/>
          </a:prstGeom>
        </p:spPr>
        <p:txBody>
          <a:bodyPr wrap="square" lIns="0" tIns="0" rIns="0" bIns="0">
            <a:spAutoFit/>
          </a:bodyPr>
          <a:lstStyle>
            <a:lvl1pPr marL="0">
              <a:defRPr>
                <a:solidFill>
                  <a:srgbClr val="FF99FF"/>
                </a:solidFill>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defTabSz="914400" latinLnBrk="0"/>
            <a:r>
              <a:rPr lang="en-US" sz="1800" kern="0" dirty="0"/>
              <a:t>&lt;Preliminary&gt;</a:t>
            </a:r>
          </a:p>
        </p:txBody>
      </p:sp>
      <p:sp>
        <p:nvSpPr>
          <p:cNvPr id="4" name="object 84">
            <a:extLst>
              <a:ext uri="{FF2B5EF4-FFF2-40B4-BE49-F238E27FC236}">
                <a16:creationId xmlns:a16="http://schemas.microsoft.com/office/drawing/2014/main" id="{A28D105F-B2AD-53FD-C4FC-779903CCC5A0}"/>
              </a:ext>
            </a:extLst>
          </p:cNvPr>
          <p:cNvSpPr txBox="1"/>
          <p:nvPr/>
        </p:nvSpPr>
        <p:spPr>
          <a:xfrm>
            <a:off x="2026920" y="6701725"/>
            <a:ext cx="3004523" cy="153888"/>
          </a:xfrm>
          <a:prstGeom prst="rect">
            <a:avLst/>
          </a:prstGeom>
        </p:spPr>
        <p:txBody>
          <a:bodyPr vert="horz" wrap="square" lIns="0" tIns="15240" rIns="0" bIns="0" rtlCol="0">
            <a:spAutoFit/>
          </a:bodyPr>
          <a:lstStyle/>
          <a:p>
            <a:pPr marL="12700">
              <a:lnSpc>
                <a:spcPct val="100000"/>
              </a:lnSpc>
              <a:spcBef>
                <a:spcPts val="120"/>
              </a:spcBef>
            </a:pPr>
            <a:r>
              <a:rPr lang="en-US" sz="900" b="1" spc="15" dirty="0">
                <a:latin typeface="Arial" panose="020B0604020202020204" pitchFamily="34" charset="0"/>
                <a:cs typeface="Arial" panose="020B0604020202020204" pitchFamily="34" charset="0"/>
              </a:rPr>
              <a:t>Fig 6. Devices Latch signal timing Sequence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p:nvPr/>
        </p:nvSpPr>
        <p:spPr>
          <a:xfrm>
            <a:off x="400913" y="301879"/>
            <a:ext cx="622935" cy="299720"/>
          </a:xfrm>
          <a:prstGeom prst="rect">
            <a:avLst/>
          </a:prstGeom>
        </p:spPr>
        <p:txBody>
          <a:bodyPr vert="horz" wrap="square" lIns="0" tIns="12700" rIns="0" bIns="0" rtlCol="0">
            <a:spAutoFit/>
          </a:bodyPr>
          <a:lstStyle/>
          <a:p>
            <a:pPr marL="12700">
              <a:lnSpc>
                <a:spcPct val="100000"/>
              </a:lnSpc>
              <a:spcBef>
                <a:spcPts val="100"/>
              </a:spcBef>
            </a:pPr>
            <a:r>
              <a:rPr sz="1800" b="1" spc="-5" dirty="0">
                <a:latin typeface="Arial"/>
                <a:cs typeface="Arial"/>
              </a:rPr>
              <a:t>CQ24</a:t>
            </a:r>
            <a:endParaRPr sz="1800" dirty="0">
              <a:latin typeface="Arial"/>
              <a:cs typeface="Arial"/>
            </a:endParaRPr>
          </a:p>
        </p:txBody>
      </p:sp>
      <p:sp>
        <p:nvSpPr>
          <p:cNvPr id="5" name="object 5"/>
          <p:cNvSpPr txBox="1"/>
          <p:nvPr/>
        </p:nvSpPr>
        <p:spPr>
          <a:xfrm>
            <a:off x="412495" y="856234"/>
            <a:ext cx="2223770" cy="269240"/>
          </a:xfrm>
          <a:prstGeom prst="rect">
            <a:avLst/>
          </a:prstGeom>
        </p:spPr>
        <p:txBody>
          <a:bodyPr vert="horz" wrap="square" lIns="0" tIns="12065" rIns="0" bIns="0" rtlCol="0">
            <a:spAutoFit/>
          </a:bodyPr>
          <a:lstStyle/>
          <a:p>
            <a:pPr marL="12700">
              <a:lnSpc>
                <a:spcPct val="100000"/>
              </a:lnSpc>
              <a:spcBef>
                <a:spcPts val="95"/>
              </a:spcBef>
            </a:pPr>
            <a:r>
              <a:rPr sz="1600" b="1" spc="-5" dirty="0">
                <a:latin typeface="Arial"/>
                <a:cs typeface="Arial"/>
              </a:rPr>
              <a:t>Functional</a:t>
            </a:r>
            <a:r>
              <a:rPr sz="1600" b="1" spc="-30" dirty="0">
                <a:latin typeface="Arial"/>
                <a:cs typeface="Arial"/>
              </a:rPr>
              <a:t> </a:t>
            </a:r>
            <a:r>
              <a:rPr sz="1600" b="1" spc="-5" dirty="0">
                <a:latin typeface="Arial"/>
                <a:cs typeface="Arial"/>
              </a:rPr>
              <a:t>Description</a:t>
            </a:r>
            <a:endParaRPr sz="1600" dirty="0">
              <a:latin typeface="Arial"/>
              <a:cs typeface="Arial"/>
            </a:endParaRPr>
          </a:p>
        </p:txBody>
      </p:sp>
      <p:sp>
        <p:nvSpPr>
          <p:cNvPr id="10" name="object 10"/>
          <p:cNvSpPr txBox="1"/>
          <p:nvPr/>
        </p:nvSpPr>
        <p:spPr>
          <a:xfrm>
            <a:off x="412495" y="4419291"/>
            <a:ext cx="6026960" cy="228909"/>
          </a:xfrm>
          <a:prstGeom prst="rect">
            <a:avLst/>
          </a:prstGeom>
        </p:spPr>
        <p:txBody>
          <a:bodyPr vert="horz" wrap="square" lIns="0" tIns="13335" rIns="0" bIns="0" rtlCol="0">
            <a:spAutoFit/>
          </a:bodyPr>
          <a:lstStyle/>
          <a:p>
            <a:pPr marL="12700">
              <a:lnSpc>
                <a:spcPct val="100000"/>
              </a:lnSpc>
              <a:spcBef>
                <a:spcPts val="105"/>
              </a:spcBef>
            </a:pPr>
            <a:r>
              <a:rPr sz="1400" b="1" dirty="0">
                <a:latin typeface="Arial"/>
                <a:cs typeface="Arial"/>
              </a:rPr>
              <a:t>SPI</a:t>
            </a:r>
            <a:r>
              <a:rPr sz="1400" b="1" spc="-35" dirty="0">
                <a:latin typeface="Arial"/>
                <a:cs typeface="Arial"/>
              </a:rPr>
              <a:t> </a:t>
            </a:r>
            <a:r>
              <a:rPr sz="1400" b="1" spc="-5" dirty="0">
                <a:latin typeface="Arial"/>
                <a:cs typeface="Arial"/>
              </a:rPr>
              <a:t>Protocol</a:t>
            </a:r>
            <a:r>
              <a:rPr sz="1400" b="1" spc="-45" dirty="0">
                <a:latin typeface="Arial"/>
                <a:cs typeface="Arial"/>
              </a:rPr>
              <a:t> </a:t>
            </a:r>
            <a:r>
              <a:rPr sz="1400" b="1" spc="-5" dirty="0">
                <a:latin typeface="Arial"/>
                <a:cs typeface="Arial"/>
              </a:rPr>
              <a:t>Timing</a:t>
            </a:r>
            <a:endParaRPr sz="1400" dirty="0">
              <a:latin typeface="Arial"/>
              <a:cs typeface="Arial"/>
            </a:endParaRPr>
          </a:p>
        </p:txBody>
      </p:sp>
      <p:sp>
        <p:nvSpPr>
          <p:cNvPr id="11" name="object 11"/>
          <p:cNvSpPr txBox="1"/>
          <p:nvPr/>
        </p:nvSpPr>
        <p:spPr>
          <a:xfrm>
            <a:off x="412494" y="4732680"/>
            <a:ext cx="6026961" cy="982320"/>
          </a:xfrm>
          <a:prstGeom prst="rect">
            <a:avLst/>
          </a:prstGeom>
        </p:spPr>
        <p:txBody>
          <a:bodyPr vert="horz" wrap="square" lIns="0" tIns="12700" rIns="0" bIns="0" rtlCol="0">
            <a:spAutoFit/>
          </a:bodyPr>
          <a:lstStyle/>
          <a:p>
            <a:pPr marL="24130">
              <a:lnSpc>
                <a:spcPct val="100000"/>
              </a:lnSpc>
              <a:spcBef>
                <a:spcPts val="100"/>
              </a:spcBef>
            </a:pPr>
            <a:r>
              <a:rPr sz="900" spc="-5" dirty="0">
                <a:latin typeface="Arial"/>
                <a:cs typeface="Arial"/>
              </a:rPr>
              <a:t>The</a:t>
            </a:r>
            <a:r>
              <a:rPr sz="900" dirty="0">
                <a:latin typeface="Arial"/>
                <a:cs typeface="Arial"/>
              </a:rPr>
              <a:t> </a:t>
            </a:r>
            <a:r>
              <a:rPr sz="900" spc="-5" dirty="0">
                <a:latin typeface="Arial"/>
                <a:cs typeface="Arial"/>
              </a:rPr>
              <a:t>CQ24</a:t>
            </a:r>
            <a:r>
              <a:rPr sz="900" dirty="0">
                <a:latin typeface="Arial"/>
                <a:cs typeface="Arial"/>
              </a:rPr>
              <a:t> </a:t>
            </a:r>
            <a:r>
              <a:rPr sz="900" spc="-5" dirty="0">
                <a:latin typeface="Arial"/>
                <a:cs typeface="Arial"/>
              </a:rPr>
              <a:t>has</a:t>
            </a:r>
            <a:r>
              <a:rPr sz="900" spc="-20" dirty="0">
                <a:latin typeface="Arial"/>
                <a:cs typeface="Arial"/>
              </a:rPr>
              <a:t> </a:t>
            </a:r>
            <a:r>
              <a:rPr sz="900" spc="-5" dirty="0">
                <a:latin typeface="Arial"/>
                <a:cs typeface="Arial"/>
              </a:rPr>
              <a:t>4</a:t>
            </a:r>
            <a:r>
              <a:rPr sz="900" dirty="0">
                <a:latin typeface="Arial"/>
                <a:cs typeface="Arial"/>
              </a:rPr>
              <a:t> </a:t>
            </a:r>
            <a:r>
              <a:rPr sz="900" spc="-5" dirty="0">
                <a:latin typeface="Arial"/>
                <a:cs typeface="Arial"/>
              </a:rPr>
              <a:t>types </a:t>
            </a:r>
            <a:r>
              <a:rPr sz="900" dirty="0">
                <a:latin typeface="Arial"/>
                <a:cs typeface="Arial"/>
              </a:rPr>
              <a:t>of</a:t>
            </a:r>
            <a:r>
              <a:rPr sz="900" spc="-5" dirty="0">
                <a:latin typeface="Arial"/>
                <a:cs typeface="Arial"/>
              </a:rPr>
              <a:t> </a:t>
            </a:r>
            <a:r>
              <a:rPr sz="900" dirty="0">
                <a:latin typeface="Arial"/>
                <a:cs typeface="Arial"/>
              </a:rPr>
              <a:t>SPI Interface</a:t>
            </a:r>
            <a:r>
              <a:rPr sz="900" spc="-35" dirty="0">
                <a:latin typeface="Arial"/>
                <a:cs typeface="Arial"/>
              </a:rPr>
              <a:t> </a:t>
            </a:r>
            <a:r>
              <a:rPr sz="900" dirty="0">
                <a:latin typeface="Arial"/>
                <a:cs typeface="Arial"/>
              </a:rPr>
              <a:t>protocol,</a:t>
            </a:r>
            <a:r>
              <a:rPr sz="900" spc="-25" dirty="0">
                <a:latin typeface="Arial"/>
                <a:cs typeface="Arial"/>
              </a:rPr>
              <a:t> </a:t>
            </a:r>
            <a:r>
              <a:rPr sz="900" spc="-5" dirty="0">
                <a:latin typeface="Arial"/>
                <a:cs typeface="Arial"/>
              </a:rPr>
              <a:t>CMD1,</a:t>
            </a:r>
            <a:r>
              <a:rPr sz="900" spc="15" dirty="0">
                <a:latin typeface="Arial"/>
                <a:cs typeface="Arial"/>
              </a:rPr>
              <a:t> </a:t>
            </a:r>
            <a:r>
              <a:rPr sz="900" spc="-5" dirty="0">
                <a:latin typeface="Arial"/>
                <a:cs typeface="Arial"/>
              </a:rPr>
              <a:t>CMD2,</a:t>
            </a:r>
            <a:r>
              <a:rPr sz="900" spc="15" dirty="0">
                <a:latin typeface="Arial"/>
                <a:cs typeface="Arial"/>
              </a:rPr>
              <a:t> </a:t>
            </a:r>
            <a:r>
              <a:rPr sz="900" spc="-10" dirty="0">
                <a:latin typeface="Arial"/>
                <a:cs typeface="Arial"/>
              </a:rPr>
              <a:t>CMD3</a:t>
            </a:r>
            <a:r>
              <a:rPr sz="900" spc="15" dirty="0">
                <a:latin typeface="Arial"/>
                <a:cs typeface="Arial"/>
              </a:rPr>
              <a:t> </a:t>
            </a:r>
            <a:r>
              <a:rPr sz="900" spc="-5" dirty="0">
                <a:latin typeface="Arial"/>
                <a:cs typeface="Arial"/>
              </a:rPr>
              <a:t>and</a:t>
            </a:r>
            <a:r>
              <a:rPr sz="900" spc="-10" dirty="0">
                <a:latin typeface="Arial"/>
                <a:cs typeface="Arial"/>
              </a:rPr>
              <a:t> </a:t>
            </a:r>
            <a:r>
              <a:rPr sz="900" spc="-5" dirty="0">
                <a:latin typeface="Arial"/>
                <a:cs typeface="Arial"/>
              </a:rPr>
              <a:t>CMD4.</a:t>
            </a:r>
            <a:endParaRPr sz="900" dirty="0">
              <a:latin typeface="Arial"/>
              <a:cs typeface="Arial"/>
            </a:endParaRPr>
          </a:p>
          <a:p>
            <a:pPr>
              <a:lnSpc>
                <a:spcPct val="100000"/>
              </a:lnSpc>
              <a:spcBef>
                <a:spcPts val="5"/>
              </a:spcBef>
            </a:pPr>
            <a:endParaRPr sz="1350" dirty="0">
              <a:latin typeface="Arial"/>
              <a:cs typeface="Arial"/>
            </a:endParaRPr>
          </a:p>
          <a:p>
            <a:pPr marL="12700">
              <a:lnSpc>
                <a:spcPct val="100000"/>
              </a:lnSpc>
              <a:spcBef>
                <a:spcPts val="5"/>
              </a:spcBef>
            </a:pPr>
            <a:r>
              <a:rPr sz="1100" b="1" spc="-10" dirty="0">
                <a:latin typeface="Arial"/>
                <a:cs typeface="Arial"/>
              </a:rPr>
              <a:t>Type1</a:t>
            </a:r>
            <a:r>
              <a:rPr sz="1100" b="1" spc="5" dirty="0">
                <a:latin typeface="Arial"/>
                <a:cs typeface="Arial"/>
              </a:rPr>
              <a:t> </a:t>
            </a:r>
            <a:r>
              <a:rPr sz="1100" b="1" dirty="0">
                <a:latin typeface="Arial"/>
                <a:cs typeface="Arial"/>
              </a:rPr>
              <a:t>:</a:t>
            </a:r>
            <a:r>
              <a:rPr sz="1100" b="1" spc="-35" dirty="0">
                <a:latin typeface="Arial"/>
                <a:cs typeface="Arial"/>
              </a:rPr>
              <a:t> </a:t>
            </a:r>
            <a:r>
              <a:rPr sz="1100" b="1" spc="-5" dirty="0">
                <a:latin typeface="Arial"/>
                <a:cs typeface="Arial"/>
              </a:rPr>
              <a:t>CMD1</a:t>
            </a:r>
            <a:endParaRPr sz="1100" dirty="0">
              <a:latin typeface="Arial"/>
              <a:cs typeface="Arial"/>
            </a:endParaRPr>
          </a:p>
          <a:p>
            <a:pPr>
              <a:lnSpc>
                <a:spcPct val="100000"/>
              </a:lnSpc>
              <a:spcBef>
                <a:spcPts val="5"/>
              </a:spcBef>
            </a:pPr>
            <a:endParaRPr sz="1150" dirty="0">
              <a:latin typeface="Arial"/>
              <a:cs typeface="Arial"/>
            </a:endParaRPr>
          </a:p>
          <a:p>
            <a:pPr marL="12700" marR="5080">
              <a:lnSpc>
                <a:spcPct val="100000"/>
              </a:lnSpc>
            </a:pPr>
            <a:r>
              <a:rPr sz="900" spc="-5" dirty="0">
                <a:latin typeface="Arial"/>
                <a:cs typeface="Arial"/>
              </a:rPr>
              <a:t>The</a:t>
            </a:r>
            <a:r>
              <a:rPr sz="900" dirty="0">
                <a:latin typeface="Arial"/>
                <a:cs typeface="Arial"/>
              </a:rPr>
              <a:t> </a:t>
            </a:r>
            <a:r>
              <a:rPr sz="900" spc="-5" dirty="0">
                <a:latin typeface="Arial"/>
                <a:cs typeface="Arial"/>
              </a:rPr>
              <a:t>tyep1,</a:t>
            </a:r>
            <a:r>
              <a:rPr sz="900" spc="-10" dirty="0">
                <a:latin typeface="Arial"/>
                <a:cs typeface="Arial"/>
              </a:rPr>
              <a:t> CMD1</a:t>
            </a:r>
            <a:r>
              <a:rPr sz="900" spc="10" dirty="0">
                <a:latin typeface="Arial"/>
                <a:cs typeface="Arial"/>
              </a:rPr>
              <a:t> </a:t>
            </a:r>
            <a:r>
              <a:rPr sz="900" dirty="0">
                <a:latin typeface="Arial"/>
                <a:cs typeface="Arial"/>
              </a:rPr>
              <a:t>protocol</a:t>
            </a:r>
            <a:r>
              <a:rPr sz="900" spc="-15" dirty="0">
                <a:latin typeface="Arial"/>
                <a:cs typeface="Arial"/>
              </a:rPr>
              <a:t> </a:t>
            </a:r>
            <a:r>
              <a:rPr sz="900" spc="-5" dirty="0">
                <a:latin typeface="Arial"/>
                <a:cs typeface="Arial"/>
              </a:rPr>
              <a:t>is </a:t>
            </a:r>
            <a:r>
              <a:rPr sz="900" dirty="0">
                <a:latin typeface="Arial"/>
                <a:cs typeface="Arial"/>
              </a:rPr>
              <a:t>used</a:t>
            </a:r>
            <a:r>
              <a:rPr sz="900" spc="-20" dirty="0">
                <a:latin typeface="Arial"/>
                <a:cs typeface="Arial"/>
              </a:rPr>
              <a:t> </a:t>
            </a:r>
            <a:r>
              <a:rPr sz="900" dirty="0">
                <a:latin typeface="Arial"/>
                <a:cs typeface="Arial"/>
              </a:rPr>
              <a:t>to access</a:t>
            </a:r>
            <a:r>
              <a:rPr sz="900" spc="-25" dirty="0">
                <a:latin typeface="Arial"/>
                <a:cs typeface="Arial"/>
              </a:rPr>
              <a:t> </a:t>
            </a:r>
            <a:r>
              <a:rPr sz="900" dirty="0">
                <a:latin typeface="Arial"/>
                <a:cs typeface="Arial"/>
              </a:rPr>
              <a:t>four</a:t>
            </a:r>
            <a:r>
              <a:rPr sz="900" spc="-10" dirty="0">
                <a:latin typeface="Arial"/>
                <a:cs typeface="Arial"/>
              </a:rPr>
              <a:t> </a:t>
            </a:r>
            <a:r>
              <a:rPr sz="900" spc="5" dirty="0">
                <a:latin typeface="Arial"/>
                <a:cs typeface="Arial"/>
              </a:rPr>
              <a:t>11-bit</a:t>
            </a:r>
            <a:r>
              <a:rPr sz="900" spc="-25" dirty="0">
                <a:latin typeface="Arial"/>
                <a:cs typeface="Arial"/>
              </a:rPr>
              <a:t> </a:t>
            </a:r>
            <a:r>
              <a:rPr sz="900" dirty="0">
                <a:latin typeface="Arial"/>
                <a:cs typeface="Arial"/>
              </a:rPr>
              <a:t>registers</a:t>
            </a:r>
            <a:r>
              <a:rPr sz="900" spc="-30" dirty="0">
                <a:latin typeface="Arial"/>
                <a:cs typeface="Arial"/>
              </a:rPr>
              <a:t> </a:t>
            </a:r>
            <a:r>
              <a:rPr sz="900" dirty="0">
                <a:latin typeface="Arial"/>
                <a:cs typeface="Arial"/>
              </a:rPr>
              <a:t>and</a:t>
            </a:r>
            <a:r>
              <a:rPr sz="900" spc="-10" dirty="0">
                <a:latin typeface="Arial"/>
                <a:cs typeface="Arial"/>
              </a:rPr>
              <a:t> </a:t>
            </a:r>
            <a:r>
              <a:rPr sz="900" dirty="0">
                <a:latin typeface="Arial"/>
                <a:cs typeface="Arial"/>
              </a:rPr>
              <a:t>consists</a:t>
            </a:r>
            <a:r>
              <a:rPr sz="900" spc="-25" dirty="0">
                <a:latin typeface="Arial"/>
                <a:cs typeface="Arial"/>
              </a:rPr>
              <a:t> </a:t>
            </a:r>
            <a:r>
              <a:rPr sz="900" dirty="0">
                <a:latin typeface="Arial"/>
                <a:cs typeface="Arial"/>
              </a:rPr>
              <a:t>of</a:t>
            </a:r>
            <a:r>
              <a:rPr sz="900" spc="-10" dirty="0">
                <a:latin typeface="Arial"/>
                <a:cs typeface="Arial"/>
              </a:rPr>
              <a:t> </a:t>
            </a:r>
            <a:r>
              <a:rPr sz="900" dirty="0">
                <a:latin typeface="Arial"/>
                <a:cs typeface="Arial"/>
              </a:rPr>
              <a:t>the</a:t>
            </a:r>
            <a:r>
              <a:rPr sz="900" spc="-10" dirty="0">
                <a:latin typeface="Arial"/>
                <a:cs typeface="Arial"/>
              </a:rPr>
              <a:t> </a:t>
            </a:r>
            <a:r>
              <a:rPr sz="900" dirty="0">
                <a:latin typeface="Arial"/>
                <a:cs typeface="Arial"/>
              </a:rPr>
              <a:t>command</a:t>
            </a:r>
            <a:r>
              <a:rPr sz="900" spc="-35" dirty="0">
                <a:latin typeface="Arial"/>
                <a:cs typeface="Arial"/>
              </a:rPr>
              <a:t> </a:t>
            </a:r>
            <a:r>
              <a:rPr sz="900" dirty="0">
                <a:latin typeface="Arial"/>
                <a:cs typeface="Arial"/>
              </a:rPr>
              <a:t>2</a:t>
            </a:r>
            <a:r>
              <a:rPr sz="900" spc="5" dirty="0">
                <a:latin typeface="Arial"/>
                <a:cs typeface="Arial"/>
              </a:rPr>
              <a:t> </a:t>
            </a:r>
            <a:r>
              <a:rPr sz="900" dirty="0">
                <a:latin typeface="Arial"/>
                <a:cs typeface="Arial"/>
              </a:rPr>
              <a:t>bits,</a:t>
            </a:r>
            <a:r>
              <a:rPr sz="900" spc="-25" dirty="0">
                <a:latin typeface="Arial"/>
                <a:cs typeface="Arial"/>
              </a:rPr>
              <a:t> </a:t>
            </a:r>
            <a:r>
              <a:rPr sz="900" dirty="0">
                <a:latin typeface="Arial"/>
                <a:cs typeface="Arial"/>
              </a:rPr>
              <a:t>2’b11,</a:t>
            </a:r>
            <a:r>
              <a:rPr sz="900" spc="-25" dirty="0">
                <a:latin typeface="Arial"/>
                <a:cs typeface="Arial"/>
              </a:rPr>
              <a:t> </a:t>
            </a:r>
            <a:r>
              <a:rPr sz="900" dirty="0">
                <a:latin typeface="Arial"/>
                <a:cs typeface="Arial"/>
              </a:rPr>
              <a:t>address</a:t>
            </a:r>
            <a:r>
              <a:rPr lang="en-US" sz="900" dirty="0">
                <a:latin typeface="Arial"/>
                <a:cs typeface="Arial"/>
              </a:rPr>
              <a:t> </a:t>
            </a:r>
            <a:r>
              <a:rPr sz="900" dirty="0">
                <a:latin typeface="Arial"/>
                <a:cs typeface="Arial"/>
              </a:rPr>
              <a:t>2</a:t>
            </a:r>
            <a:r>
              <a:rPr sz="900" spc="-5" dirty="0">
                <a:latin typeface="Arial"/>
                <a:cs typeface="Arial"/>
              </a:rPr>
              <a:t> </a:t>
            </a:r>
            <a:r>
              <a:rPr sz="900" dirty="0">
                <a:latin typeface="Arial"/>
                <a:cs typeface="Arial"/>
              </a:rPr>
              <a:t>bits, </a:t>
            </a:r>
            <a:r>
              <a:rPr sz="900" spc="-235" dirty="0">
                <a:latin typeface="Arial"/>
                <a:cs typeface="Arial"/>
              </a:rPr>
              <a:t> </a:t>
            </a:r>
            <a:r>
              <a:rPr sz="900" spc="-5" dirty="0">
                <a:latin typeface="Arial"/>
                <a:cs typeface="Arial"/>
              </a:rPr>
              <a:t>R/W </a:t>
            </a:r>
            <a:r>
              <a:rPr sz="900" dirty="0">
                <a:latin typeface="Arial"/>
                <a:cs typeface="Arial"/>
              </a:rPr>
              <a:t>1</a:t>
            </a:r>
            <a:r>
              <a:rPr sz="900" spc="-10" dirty="0">
                <a:latin typeface="Arial"/>
                <a:cs typeface="Arial"/>
              </a:rPr>
              <a:t> </a:t>
            </a:r>
            <a:r>
              <a:rPr sz="900" dirty="0">
                <a:latin typeface="Arial"/>
                <a:cs typeface="Arial"/>
              </a:rPr>
              <a:t>bit</a:t>
            </a:r>
            <a:r>
              <a:rPr sz="900" spc="-10" dirty="0">
                <a:latin typeface="Arial"/>
                <a:cs typeface="Arial"/>
              </a:rPr>
              <a:t> </a:t>
            </a:r>
            <a:r>
              <a:rPr sz="900" dirty="0">
                <a:latin typeface="Arial"/>
                <a:cs typeface="Arial"/>
              </a:rPr>
              <a:t>(‘0’</a:t>
            </a:r>
            <a:r>
              <a:rPr sz="900" spc="-10" dirty="0">
                <a:latin typeface="Arial"/>
                <a:cs typeface="Arial"/>
              </a:rPr>
              <a:t> </a:t>
            </a:r>
            <a:r>
              <a:rPr sz="900" dirty="0">
                <a:latin typeface="Arial"/>
                <a:cs typeface="Arial"/>
              </a:rPr>
              <a:t>to</a:t>
            </a:r>
            <a:r>
              <a:rPr sz="900" spc="-10" dirty="0">
                <a:latin typeface="Arial"/>
                <a:cs typeface="Arial"/>
              </a:rPr>
              <a:t> </a:t>
            </a:r>
            <a:r>
              <a:rPr sz="900" spc="-5" dirty="0">
                <a:latin typeface="Arial"/>
                <a:cs typeface="Arial"/>
              </a:rPr>
              <a:t>write,</a:t>
            </a:r>
            <a:r>
              <a:rPr sz="900" dirty="0">
                <a:latin typeface="Arial"/>
                <a:cs typeface="Arial"/>
              </a:rPr>
              <a:t> ‘1’</a:t>
            </a:r>
            <a:r>
              <a:rPr sz="900" spc="-10" dirty="0">
                <a:latin typeface="Arial"/>
                <a:cs typeface="Arial"/>
              </a:rPr>
              <a:t> </a:t>
            </a:r>
            <a:r>
              <a:rPr sz="900" dirty="0">
                <a:latin typeface="Arial"/>
                <a:cs typeface="Arial"/>
              </a:rPr>
              <a:t>to</a:t>
            </a:r>
            <a:r>
              <a:rPr sz="900" spc="-10" dirty="0">
                <a:latin typeface="Arial"/>
                <a:cs typeface="Arial"/>
              </a:rPr>
              <a:t> </a:t>
            </a:r>
            <a:r>
              <a:rPr sz="900" dirty="0">
                <a:latin typeface="Arial"/>
                <a:cs typeface="Arial"/>
              </a:rPr>
              <a:t>read)</a:t>
            </a:r>
            <a:r>
              <a:rPr sz="900" spc="-10" dirty="0">
                <a:latin typeface="Arial"/>
                <a:cs typeface="Arial"/>
              </a:rPr>
              <a:t> </a:t>
            </a:r>
            <a:r>
              <a:rPr sz="900" dirty="0">
                <a:latin typeface="Arial"/>
                <a:cs typeface="Arial"/>
              </a:rPr>
              <a:t>and</a:t>
            </a:r>
            <a:r>
              <a:rPr sz="900" spc="-15" dirty="0">
                <a:latin typeface="Arial"/>
                <a:cs typeface="Arial"/>
              </a:rPr>
              <a:t> </a:t>
            </a:r>
            <a:r>
              <a:rPr sz="900" dirty="0">
                <a:latin typeface="Arial"/>
                <a:cs typeface="Arial"/>
              </a:rPr>
              <a:t>its</a:t>
            </a:r>
            <a:r>
              <a:rPr sz="900" spc="-5" dirty="0">
                <a:latin typeface="Arial"/>
                <a:cs typeface="Arial"/>
              </a:rPr>
              <a:t> </a:t>
            </a:r>
            <a:r>
              <a:rPr sz="900" dirty="0">
                <a:latin typeface="Arial"/>
                <a:cs typeface="Arial"/>
              </a:rPr>
              <a:t>register</a:t>
            </a:r>
            <a:r>
              <a:rPr sz="900" spc="-25" dirty="0">
                <a:latin typeface="Arial"/>
                <a:cs typeface="Arial"/>
              </a:rPr>
              <a:t> </a:t>
            </a:r>
            <a:r>
              <a:rPr sz="900" spc="-5" dirty="0">
                <a:latin typeface="Arial"/>
                <a:cs typeface="Arial"/>
              </a:rPr>
              <a:t>value,</a:t>
            </a:r>
            <a:r>
              <a:rPr sz="900" spc="-10" dirty="0">
                <a:latin typeface="Arial"/>
                <a:cs typeface="Arial"/>
              </a:rPr>
              <a:t> </a:t>
            </a:r>
            <a:r>
              <a:rPr sz="900" dirty="0">
                <a:latin typeface="Arial"/>
                <a:cs typeface="Arial"/>
              </a:rPr>
              <a:t>data</a:t>
            </a:r>
            <a:r>
              <a:rPr sz="900" spc="-20" dirty="0">
                <a:latin typeface="Arial"/>
                <a:cs typeface="Arial"/>
              </a:rPr>
              <a:t> </a:t>
            </a:r>
            <a:r>
              <a:rPr sz="900" dirty="0">
                <a:latin typeface="Arial"/>
                <a:cs typeface="Arial"/>
              </a:rPr>
              <a:t>11 bits</a:t>
            </a:r>
            <a:r>
              <a:rPr sz="900" spc="-15" dirty="0">
                <a:latin typeface="Arial"/>
                <a:cs typeface="Arial"/>
              </a:rPr>
              <a:t> </a:t>
            </a:r>
            <a:r>
              <a:rPr sz="900" dirty="0">
                <a:latin typeface="Arial"/>
                <a:cs typeface="Arial"/>
              </a:rPr>
              <a:t>.</a:t>
            </a:r>
          </a:p>
        </p:txBody>
      </p:sp>
      <p:pic>
        <p:nvPicPr>
          <p:cNvPr id="12" name="object 12"/>
          <p:cNvPicPr/>
          <p:nvPr/>
        </p:nvPicPr>
        <p:blipFill>
          <a:blip r:embed="rId2" cstate="print"/>
          <a:stretch>
            <a:fillRect/>
          </a:stretch>
        </p:blipFill>
        <p:spPr>
          <a:xfrm>
            <a:off x="1660690" y="5845661"/>
            <a:ext cx="3257257" cy="486494"/>
          </a:xfrm>
          <a:prstGeom prst="rect">
            <a:avLst/>
          </a:prstGeom>
        </p:spPr>
      </p:pic>
      <p:pic>
        <p:nvPicPr>
          <p:cNvPr id="13" name="object 13"/>
          <p:cNvPicPr/>
          <p:nvPr/>
        </p:nvPicPr>
        <p:blipFill>
          <a:blip r:embed="rId3" cstate="print"/>
          <a:stretch>
            <a:fillRect/>
          </a:stretch>
        </p:blipFill>
        <p:spPr>
          <a:xfrm>
            <a:off x="412494" y="6700935"/>
            <a:ext cx="6026960" cy="723299"/>
          </a:xfrm>
          <a:prstGeom prst="rect">
            <a:avLst/>
          </a:prstGeom>
        </p:spPr>
      </p:pic>
      <p:sp>
        <p:nvSpPr>
          <p:cNvPr id="14" name="object 14"/>
          <p:cNvSpPr txBox="1"/>
          <p:nvPr/>
        </p:nvSpPr>
        <p:spPr>
          <a:xfrm>
            <a:off x="400913" y="6433184"/>
            <a:ext cx="6038541" cy="151965"/>
          </a:xfrm>
          <a:prstGeom prst="rect">
            <a:avLst/>
          </a:prstGeom>
        </p:spPr>
        <p:txBody>
          <a:bodyPr vert="horz" wrap="square" lIns="0" tIns="13335" rIns="0" bIns="0" rtlCol="0">
            <a:spAutoFit/>
          </a:bodyPr>
          <a:lstStyle/>
          <a:p>
            <a:pPr marL="12700" algn="ctr">
              <a:lnSpc>
                <a:spcPct val="100000"/>
              </a:lnSpc>
              <a:spcBef>
                <a:spcPts val="105"/>
              </a:spcBef>
            </a:pPr>
            <a:r>
              <a:rPr sz="900" b="1" spc="-5" dirty="0">
                <a:latin typeface="Arial"/>
                <a:cs typeface="Arial"/>
              </a:rPr>
              <a:t>[Figure.</a:t>
            </a:r>
            <a:r>
              <a:rPr lang="en-US" sz="900" b="1" spc="-5" dirty="0">
                <a:latin typeface="Arial"/>
                <a:cs typeface="Arial"/>
              </a:rPr>
              <a:t>8</a:t>
            </a:r>
            <a:r>
              <a:rPr sz="900" b="1" spc="-5" dirty="0">
                <a:latin typeface="Arial"/>
                <a:cs typeface="Arial"/>
              </a:rPr>
              <a:t>-1] CMD1 </a:t>
            </a:r>
            <a:r>
              <a:rPr sz="900" b="1" dirty="0">
                <a:latin typeface="Arial"/>
                <a:cs typeface="Arial"/>
              </a:rPr>
              <a:t>Write</a:t>
            </a:r>
          </a:p>
        </p:txBody>
      </p:sp>
      <p:sp>
        <p:nvSpPr>
          <p:cNvPr id="15" name="object 15"/>
          <p:cNvSpPr txBox="1"/>
          <p:nvPr/>
        </p:nvSpPr>
        <p:spPr>
          <a:xfrm>
            <a:off x="412494" y="7518348"/>
            <a:ext cx="6026960" cy="151965"/>
          </a:xfrm>
          <a:prstGeom prst="rect">
            <a:avLst/>
          </a:prstGeom>
        </p:spPr>
        <p:txBody>
          <a:bodyPr vert="horz" wrap="square" lIns="0" tIns="13335" rIns="0" bIns="0" rtlCol="0">
            <a:spAutoFit/>
          </a:bodyPr>
          <a:lstStyle/>
          <a:p>
            <a:pPr marL="12700" algn="ctr">
              <a:lnSpc>
                <a:spcPct val="100000"/>
              </a:lnSpc>
              <a:spcBef>
                <a:spcPts val="105"/>
              </a:spcBef>
            </a:pPr>
            <a:r>
              <a:rPr sz="900" b="1" spc="-5" dirty="0">
                <a:latin typeface="Arial"/>
                <a:cs typeface="Arial"/>
              </a:rPr>
              <a:t>[Figure.</a:t>
            </a:r>
            <a:r>
              <a:rPr lang="en-US" sz="900" b="1" spc="-5" dirty="0">
                <a:latin typeface="Arial"/>
                <a:cs typeface="Arial"/>
              </a:rPr>
              <a:t>8</a:t>
            </a:r>
            <a:r>
              <a:rPr sz="900" b="1" spc="-5" dirty="0">
                <a:latin typeface="Arial"/>
                <a:cs typeface="Arial"/>
              </a:rPr>
              <a:t>-2] CMD1</a:t>
            </a:r>
            <a:r>
              <a:rPr sz="900" b="1" dirty="0">
                <a:latin typeface="Arial"/>
                <a:cs typeface="Arial"/>
              </a:rPr>
              <a:t> </a:t>
            </a:r>
            <a:r>
              <a:rPr sz="900" b="1" spc="-5" dirty="0">
                <a:latin typeface="Arial"/>
                <a:cs typeface="Arial"/>
              </a:rPr>
              <a:t>Read</a:t>
            </a:r>
            <a:endParaRPr sz="900" b="1" dirty="0">
              <a:latin typeface="Arial"/>
              <a:cs typeface="Arial"/>
            </a:endParaRPr>
          </a:p>
        </p:txBody>
      </p:sp>
      <p:sp>
        <p:nvSpPr>
          <p:cNvPr id="16" name="object 16"/>
          <p:cNvSpPr txBox="1"/>
          <p:nvPr/>
        </p:nvSpPr>
        <p:spPr>
          <a:xfrm>
            <a:off x="412494" y="8883802"/>
            <a:ext cx="6026960" cy="151323"/>
          </a:xfrm>
          <a:prstGeom prst="rect">
            <a:avLst/>
          </a:prstGeom>
        </p:spPr>
        <p:txBody>
          <a:bodyPr vert="horz" wrap="square" lIns="0" tIns="12700" rIns="0" bIns="0" rtlCol="0">
            <a:spAutoFit/>
          </a:bodyPr>
          <a:lstStyle/>
          <a:p>
            <a:pPr marL="12700" algn="ctr">
              <a:lnSpc>
                <a:spcPct val="100000"/>
              </a:lnSpc>
              <a:spcBef>
                <a:spcPts val="100"/>
              </a:spcBef>
            </a:pPr>
            <a:r>
              <a:rPr sz="900" b="1" spc="-5" dirty="0">
                <a:latin typeface="Arial"/>
                <a:cs typeface="Arial"/>
              </a:rPr>
              <a:t>[Figure.</a:t>
            </a:r>
            <a:r>
              <a:rPr lang="en-US" sz="900" b="1" spc="-5" dirty="0">
                <a:latin typeface="Arial"/>
                <a:cs typeface="Arial"/>
              </a:rPr>
              <a:t>8</a:t>
            </a:r>
            <a:r>
              <a:rPr sz="900" b="1" spc="-5" dirty="0">
                <a:latin typeface="Arial"/>
                <a:cs typeface="Arial"/>
              </a:rPr>
              <a:t>-3]</a:t>
            </a:r>
            <a:r>
              <a:rPr sz="900" b="1" spc="15" dirty="0">
                <a:latin typeface="Arial"/>
                <a:cs typeface="Arial"/>
              </a:rPr>
              <a:t> </a:t>
            </a:r>
            <a:r>
              <a:rPr sz="900" b="1" spc="-5" dirty="0">
                <a:latin typeface="Arial"/>
                <a:cs typeface="Arial"/>
              </a:rPr>
              <a:t>CMD1</a:t>
            </a:r>
            <a:r>
              <a:rPr sz="900" b="1" spc="10" dirty="0">
                <a:latin typeface="Arial"/>
                <a:cs typeface="Arial"/>
              </a:rPr>
              <a:t> </a:t>
            </a:r>
            <a:r>
              <a:rPr sz="900" b="1" dirty="0">
                <a:latin typeface="Arial"/>
                <a:cs typeface="Arial"/>
              </a:rPr>
              <a:t>Write</a:t>
            </a:r>
            <a:r>
              <a:rPr sz="900" b="1" spc="-15" dirty="0">
                <a:latin typeface="Arial"/>
                <a:cs typeface="Arial"/>
              </a:rPr>
              <a:t> </a:t>
            </a:r>
            <a:r>
              <a:rPr sz="900" b="1" spc="-5" dirty="0">
                <a:latin typeface="Arial"/>
                <a:cs typeface="Arial"/>
              </a:rPr>
              <a:t>through</a:t>
            </a:r>
            <a:r>
              <a:rPr sz="900" b="1" spc="35" dirty="0">
                <a:latin typeface="Arial"/>
                <a:cs typeface="Arial"/>
              </a:rPr>
              <a:t> </a:t>
            </a:r>
            <a:r>
              <a:rPr sz="900" b="1" dirty="0">
                <a:latin typeface="Arial"/>
                <a:cs typeface="Arial"/>
              </a:rPr>
              <a:t>Daisy</a:t>
            </a:r>
            <a:r>
              <a:rPr sz="900" b="1" spc="-5" dirty="0">
                <a:latin typeface="Arial"/>
                <a:cs typeface="Arial"/>
              </a:rPr>
              <a:t> connection</a:t>
            </a:r>
            <a:endParaRPr sz="900" b="1" dirty="0">
              <a:latin typeface="Arial"/>
              <a:cs typeface="Arial"/>
            </a:endParaRPr>
          </a:p>
        </p:txBody>
      </p:sp>
      <p:pic>
        <p:nvPicPr>
          <p:cNvPr id="17" name="object 17"/>
          <p:cNvPicPr/>
          <p:nvPr/>
        </p:nvPicPr>
        <p:blipFill>
          <a:blip r:embed="rId4" cstate="print"/>
          <a:stretch>
            <a:fillRect/>
          </a:stretch>
        </p:blipFill>
        <p:spPr>
          <a:xfrm>
            <a:off x="412494" y="7797387"/>
            <a:ext cx="6026960" cy="925349"/>
          </a:xfrm>
          <a:prstGeom prst="rect">
            <a:avLst/>
          </a:prstGeom>
        </p:spPr>
      </p:pic>
      <p:sp>
        <p:nvSpPr>
          <p:cNvPr id="21" name="TextBox 20">
            <a:extLst>
              <a:ext uri="{FF2B5EF4-FFF2-40B4-BE49-F238E27FC236}">
                <a16:creationId xmlns:a16="http://schemas.microsoft.com/office/drawing/2014/main" id="{F8FACC79-49E7-E3FC-72E1-A2D6A96DF76B}"/>
              </a:ext>
            </a:extLst>
          </p:cNvPr>
          <p:cNvSpPr txBox="1"/>
          <p:nvPr/>
        </p:nvSpPr>
        <p:spPr>
          <a:xfrm>
            <a:off x="400914" y="1612565"/>
            <a:ext cx="6038541" cy="415498"/>
          </a:xfrm>
          <a:prstGeom prst="rect">
            <a:avLst/>
          </a:prstGeom>
          <a:noFill/>
        </p:spPr>
        <p:txBody>
          <a:bodyPr wrap="square" lIns="0" tIns="0" rIns="0" bIns="0" rtlCol="0">
            <a:spAutoFit/>
          </a:bodyPr>
          <a:lstStyle/>
          <a:p>
            <a:pPr algn="just"/>
            <a:r>
              <a:rPr lang="en-US" altLang="ko-KR" sz="900" dirty="0">
                <a:latin typeface="Arial" panose="020B0604020202020204" pitchFamily="34" charset="0"/>
                <a:cs typeface="Arial" panose="020B0604020202020204" pitchFamily="34" charset="0"/>
              </a:rPr>
              <a:t>For the local dimming data transmit a Serial Peripheral Interface is used. The SPI is configurated to work as SPI slave. A Daisy Chain structure can be used to support large scale blocks array with several devices and operated up to 30MHz.</a:t>
            </a:r>
          </a:p>
        </p:txBody>
      </p:sp>
      <p:sp>
        <p:nvSpPr>
          <p:cNvPr id="22" name="TextBox 21">
            <a:extLst>
              <a:ext uri="{FF2B5EF4-FFF2-40B4-BE49-F238E27FC236}">
                <a16:creationId xmlns:a16="http://schemas.microsoft.com/office/drawing/2014/main" id="{E60C7427-471A-24F6-DE37-1C33F839834A}"/>
              </a:ext>
            </a:extLst>
          </p:cNvPr>
          <p:cNvSpPr txBox="1"/>
          <p:nvPr/>
        </p:nvSpPr>
        <p:spPr>
          <a:xfrm>
            <a:off x="391526" y="2286000"/>
            <a:ext cx="6048621"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SPI Daisy Chain Structure</a:t>
            </a:r>
          </a:p>
        </p:txBody>
      </p:sp>
      <p:sp>
        <p:nvSpPr>
          <p:cNvPr id="23" name="TextBox 22">
            <a:extLst>
              <a:ext uri="{FF2B5EF4-FFF2-40B4-BE49-F238E27FC236}">
                <a16:creationId xmlns:a16="http://schemas.microsoft.com/office/drawing/2014/main" id="{B6C42EA4-5554-06CB-601E-611D166FBB28}"/>
              </a:ext>
            </a:extLst>
          </p:cNvPr>
          <p:cNvSpPr txBox="1"/>
          <p:nvPr/>
        </p:nvSpPr>
        <p:spPr>
          <a:xfrm>
            <a:off x="391526" y="1292423"/>
            <a:ext cx="6048621"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1. SPI Interface</a:t>
            </a:r>
          </a:p>
        </p:txBody>
      </p:sp>
      <p:sp>
        <p:nvSpPr>
          <p:cNvPr id="25" name="TextBox 24">
            <a:extLst>
              <a:ext uri="{FF2B5EF4-FFF2-40B4-BE49-F238E27FC236}">
                <a16:creationId xmlns:a16="http://schemas.microsoft.com/office/drawing/2014/main" id="{F183D5D4-6DD2-ECD3-C6F3-07A6D01B78C1}"/>
              </a:ext>
            </a:extLst>
          </p:cNvPr>
          <p:cNvSpPr txBox="1"/>
          <p:nvPr/>
        </p:nvSpPr>
        <p:spPr>
          <a:xfrm>
            <a:off x="400913" y="2596070"/>
            <a:ext cx="6067444" cy="415498"/>
          </a:xfrm>
          <a:prstGeom prst="rect">
            <a:avLst/>
          </a:prstGeom>
          <a:noFill/>
        </p:spPr>
        <p:txBody>
          <a:bodyPr wrap="square" lIns="0" tIns="0" rIns="0" bIns="0" rtlCol="0">
            <a:spAutoFit/>
          </a:bodyPr>
          <a:lstStyle/>
          <a:p>
            <a:pPr algn="just"/>
            <a:r>
              <a:rPr lang="en-US" altLang="ko-KR" sz="900" dirty="0">
                <a:latin typeface="Arial" panose="020B0604020202020204" pitchFamily="34" charset="0"/>
                <a:cs typeface="Arial" panose="020B0604020202020204" pitchFamily="34" charset="0"/>
              </a:rPr>
              <a:t>All SPI slaves share the Chip select (nSCS) signal, and these devices in daisy chain can be treated as one big shift register. The devices can be enumerated as described below. To read each device, it should be need to control the MISO signals individually from each device under BROADCAST mode.</a:t>
            </a:r>
          </a:p>
        </p:txBody>
      </p:sp>
      <p:sp>
        <p:nvSpPr>
          <p:cNvPr id="6" name="object 9">
            <a:extLst>
              <a:ext uri="{FF2B5EF4-FFF2-40B4-BE49-F238E27FC236}">
                <a16:creationId xmlns:a16="http://schemas.microsoft.com/office/drawing/2014/main" id="{5BD3AC65-F406-C77E-1B9F-78301F1B9CEE}"/>
              </a:ext>
            </a:extLst>
          </p:cNvPr>
          <p:cNvSpPr txBox="1"/>
          <p:nvPr/>
        </p:nvSpPr>
        <p:spPr>
          <a:xfrm>
            <a:off x="304800" y="9067800"/>
            <a:ext cx="2078355" cy="289823"/>
          </a:xfrm>
          <a:prstGeom prst="rect">
            <a:avLst/>
          </a:prstGeom>
        </p:spPr>
        <p:txBody>
          <a:bodyPr vert="horz" wrap="square" lIns="0" tIns="12700" rIns="0" bIns="0" rtlCol="0">
            <a:spAutoFit/>
          </a:bodyPr>
          <a:lstStyle/>
          <a:p>
            <a:pPr marL="12700">
              <a:lnSpc>
                <a:spcPct val="100000"/>
              </a:lnSpc>
              <a:spcBef>
                <a:spcPts val="100"/>
              </a:spcBef>
            </a:pPr>
            <a:r>
              <a:rPr b="1" spc="-5" dirty="0">
                <a:solidFill>
                  <a:srgbClr val="FF0000"/>
                </a:solidFill>
                <a:cs typeface="Perpetua Titling MT"/>
              </a:rPr>
              <a:t>CONFIDENTIAL</a:t>
            </a:r>
            <a:endParaRPr dirty="0">
              <a:cs typeface="Perpetua Titling MT"/>
            </a:endParaRPr>
          </a:p>
        </p:txBody>
      </p:sp>
      <p:sp>
        <p:nvSpPr>
          <p:cNvPr id="7" name="object 6">
            <a:extLst>
              <a:ext uri="{FF2B5EF4-FFF2-40B4-BE49-F238E27FC236}">
                <a16:creationId xmlns:a16="http://schemas.microsoft.com/office/drawing/2014/main" id="{400F5F2D-6F80-6269-9575-ABC78D1F8ACE}"/>
              </a:ext>
            </a:extLst>
          </p:cNvPr>
          <p:cNvSpPr/>
          <p:nvPr/>
        </p:nvSpPr>
        <p:spPr>
          <a:xfrm>
            <a:off x="301676" y="9458756"/>
            <a:ext cx="6246495" cy="0"/>
          </a:xfrm>
          <a:custGeom>
            <a:avLst/>
            <a:gdLst/>
            <a:ahLst/>
            <a:cxnLst/>
            <a:rect l="l" t="t" r="r" b="b"/>
            <a:pathLst>
              <a:path w="6246495">
                <a:moveTo>
                  <a:pt x="0" y="0"/>
                </a:moveTo>
                <a:lnTo>
                  <a:pt x="6245999" y="0"/>
                </a:lnTo>
              </a:path>
            </a:pathLst>
          </a:custGeom>
          <a:ln w="25920">
            <a:solidFill>
              <a:srgbClr val="BFBFBF"/>
            </a:solidFill>
          </a:ln>
        </p:spPr>
        <p:txBody>
          <a:bodyPr wrap="square" lIns="0" tIns="0" rIns="0" bIns="0" rtlCol="0"/>
          <a:lstStyle/>
          <a:p>
            <a:endParaRPr/>
          </a:p>
        </p:txBody>
      </p:sp>
      <p:sp>
        <p:nvSpPr>
          <p:cNvPr id="8" name="슬라이드 번호 개체 틀 3">
            <a:hlinkClick r:id="rId5"/>
            <a:extLst>
              <a:ext uri="{FF2B5EF4-FFF2-40B4-BE49-F238E27FC236}">
                <a16:creationId xmlns:a16="http://schemas.microsoft.com/office/drawing/2014/main" id="{358BD1F8-E65E-920A-1B57-D8B41A50878F}"/>
              </a:ext>
            </a:extLst>
          </p:cNvPr>
          <p:cNvSpPr txBox="1">
            <a:spLocks/>
          </p:cNvSpPr>
          <p:nvPr/>
        </p:nvSpPr>
        <p:spPr>
          <a:xfrm>
            <a:off x="5151602" y="9452864"/>
            <a:ext cx="1487550"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dirty="0">
                <a:solidFill>
                  <a:prstClr val="black"/>
                </a:solidFill>
                <a:latin typeface="Arial" panose="020B0604020202020204" pitchFamily="34" charset="0"/>
                <a:cs typeface="Arial" panose="020B0604020202020204" pitchFamily="34" charset="0"/>
              </a:rPr>
              <a:t>http://www.glbltech.com/</a:t>
            </a:r>
            <a:endParaRPr lang="ko-KR" altLang="en-US" dirty="0">
              <a:solidFill>
                <a:prstClr val="black"/>
              </a:solidFill>
              <a:latin typeface="Arial" panose="020B0604020202020204" pitchFamily="34" charset="0"/>
              <a:cs typeface="Arial" panose="020B0604020202020204" pitchFamily="34" charset="0"/>
            </a:endParaRPr>
          </a:p>
        </p:txBody>
      </p:sp>
      <p:sp>
        <p:nvSpPr>
          <p:cNvPr id="24" name="object 38">
            <a:extLst>
              <a:ext uri="{FF2B5EF4-FFF2-40B4-BE49-F238E27FC236}">
                <a16:creationId xmlns:a16="http://schemas.microsoft.com/office/drawing/2014/main" id="{0AC3078D-8499-362D-EA8F-E1092E6ADA7B}"/>
              </a:ext>
            </a:extLst>
          </p:cNvPr>
          <p:cNvSpPr txBox="1">
            <a:spLocks/>
          </p:cNvSpPr>
          <p:nvPr/>
        </p:nvSpPr>
        <p:spPr>
          <a:xfrm>
            <a:off x="3309066" y="9547988"/>
            <a:ext cx="487045" cy="139141"/>
          </a:xfrm>
          <a:prstGeom prst="rect">
            <a:avLst/>
          </a:prstGeom>
        </p:spPr>
        <p:txBody>
          <a:bodyPr vert="horz" wrap="square" lIns="0" tIns="635" rIns="0" bIns="0" rtlCol="0">
            <a:spAutoFit/>
          </a:bodyPr>
          <a:lstStyle>
            <a:defPPr>
              <a:defRPr lang="ko-KR"/>
            </a:defPPr>
            <a:lvl1pPr marL="0" algn="l" defTabSz="914400" rtl="0" eaLnBrk="1" latinLnBrk="1" hangingPunct="1">
              <a:defRPr sz="1050" b="0" i="0" kern="1200">
                <a:solidFill>
                  <a:schemeClr val="tx1"/>
                </a:solidFill>
                <a:latin typeface="Arial"/>
                <a:ea typeface="+mn-ea"/>
                <a:cs typeface="Arial"/>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marL="12700">
              <a:spcBef>
                <a:spcPts val="5"/>
              </a:spcBef>
              <a:defRPr/>
            </a:pPr>
            <a:r>
              <a:rPr lang="en-US" sz="900" dirty="0">
                <a:solidFill>
                  <a:prstClr val="black"/>
                </a:solidFill>
              </a:rPr>
              <a:t>Page</a:t>
            </a:r>
            <a:r>
              <a:rPr lang="en-US" sz="900" spc="-60" dirty="0">
                <a:solidFill>
                  <a:prstClr val="black"/>
                </a:solidFill>
              </a:rPr>
              <a:t> </a:t>
            </a:r>
            <a:fld id="{81D60167-4931-47E6-BA6A-407CBD079E47}" type="slidenum">
              <a:rPr sz="900">
                <a:solidFill>
                  <a:prstClr val="black"/>
                </a:solidFill>
              </a:rPr>
              <a:pPr marL="12700">
                <a:spcBef>
                  <a:spcPts val="5"/>
                </a:spcBef>
                <a:defRPr/>
              </a:pPr>
              <a:t>15</a:t>
            </a:fld>
            <a:endParaRPr sz="900" dirty="0">
              <a:solidFill>
                <a:prstClr val="black"/>
              </a:solidFill>
            </a:endParaRPr>
          </a:p>
        </p:txBody>
      </p:sp>
      <p:sp>
        <p:nvSpPr>
          <p:cNvPr id="26" name="슬라이드 번호 개체 틀 3">
            <a:extLst>
              <a:ext uri="{FF2B5EF4-FFF2-40B4-BE49-F238E27FC236}">
                <a16:creationId xmlns:a16="http://schemas.microsoft.com/office/drawing/2014/main" id="{067B8897-E9D3-30F5-8C07-AE74804AC157}"/>
              </a:ext>
            </a:extLst>
          </p:cNvPr>
          <p:cNvSpPr txBox="1">
            <a:spLocks/>
          </p:cNvSpPr>
          <p:nvPr/>
        </p:nvSpPr>
        <p:spPr>
          <a:xfrm>
            <a:off x="299401" y="9520856"/>
            <a:ext cx="2060991" cy="175259"/>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lang="en-US" altLang="ko-KR" dirty="0">
                <a:solidFill>
                  <a:prstClr val="black"/>
                </a:solidFill>
                <a:latin typeface="Arial" panose="020B0604020202020204" pitchFamily="34" charset="0"/>
                <a:cs typeface="Arial" panose="020B0604020202020204" pitchFamily="34" charset="0"/>
              </a:rPr>
              <a:t>Dated 30-Nov 23  Rev. 01</a:t>
            </a:r>
            <a:endParaRPr lang="ko-KR" altLang="en-US" dirty="0">
              <a:solidFill>
                <a:prstClr val="black"/>
              </a:solidFill>
              <a:latin typeface="Arial" panose="020B0604020202020204" pitchFamily="34" charset="0"/>
              <a:cs typeface="Arial" panose="020B0604020202020204" pitchFamily="34" charset="0"/>
            </a:endParaRPr>
          </a:p>
        </p:txBody>
      </p:sp>
      <p:sp>
        <p:nvSpPr>
          <p:cNvPr id="27" name="Holder 3">
            <a:extLst>
              <a:ext uri="{FF2B5EF4-FFF2-40B4-BE49-F238E27FC236}">
                <a16:creationId xmlns:a16="http://schemas.microsoft.com/office/drawing/2014/main" id="{2D6DB6B5-905D-C9E0-F992-59BCA585A7E2}"/>
              </a:ext>
            </a:extLst>
          </p:cNvPr>
          <p:cNvSpPr txBox="1">
            <a:spLocks/>
          </p:cNvSpPr>
          <p:nvPr/>
        </p:nvSpPr>
        <p:spPr>
          <a:xfrm>
            <a:off x="5147476" y="203944"/>
            <a:ext cx="1447800" cy="276999"/>
          </a:xfrm>
          <a:prstGeom prst="rect">
            <a:avLst/>
          </a:prstGeom>
        </p:spPr>
        <p:txBody>
          <a:bodyPr wrap="square" lIns="0" tIns="0" rIns="0" bIns="0">
            <a:spAutoFit/>
          </a:bodyPr>
          <a:lstStyle>
            <a:lvl1pPr marL="0">
              <a:defRPr>
                <a:solidFill>
                  <a:srgbClr val="FF99FF"/>
                </a:solidFill>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defTabSz="914400" latinLnBrk="0"/>
            <a:r>
              <a:rPr lang="en-US" sz="1800" kern="0" dirty="0"/>
              <a:t>&lt;Preliminary&gt;</a:t>
            </a:r>
          </a:p>
        </p:txBody>
      </p:sp>
      <p:sp>
        <p:nvSpPr>
          <p:cNvPr id="2" name="object 84">
            <a:extLst>
              <a:ext uri="{FF2B5EF4-FFF2-40B4-BE49-F238E27FC236}">
                <a16:creationId xmlns:a16="http://schemas.microsoft.com/office/drawing/2014/main" id="{7224224E-365B-FD2F-710E-4391C47160D5}"/>
              </a:ext>
            </a:extLst>
          </p:cNvPr>
          <p:cNvSpPr txBox="1"/>
          <p:nvPr/>
        </p:nvSpPr>
        <p:spPr>
          <a:xfrm>
            <a:off x="2242820" y="4199825"/>
            <a:ext cx="3004523" cy="153888"/>
          </a:xfrm>
          <a:prstGeom prst="rect">
            <a:avLst/>
          </a:prstGeom>
        </p:spPr>
        <p:txBody>
          <a:bodyPr vert="horz" wrap="square" lIns="0" tIns="15240" rIns="0" bIns="0" rtlCol="0">
            <a:spAutoFit/>
          </a:bodyPr>
          <a:lstStyle/>
          <a:p>
            <a:pPr marL="12700">
              <a:lnSpc>
                <a:spcPct val="100000"/>
              </a:lnSpc>
              <a:spcBef>
                <a:spcPts val="120"/>
              </a:spcBef>
            </a:pPr>
            <a:r>
              <a:rPr lang="en-US" sz="900" b="1" spc="15" dirty="0">
                <a:latin typeface="Arial" panose="020B0604020202020204" pitchFamily="34" charset="0"/>
                <a:cs typeface="Arial" panose="020B0604020202020204" pitchFamily="34" charset="0"/>
              </a:rPr>
              <a:t>Fig 7. Devices SPI Daisy Chain connection</a:t>
            </a:r>
          </a:p>
        </p:txBody>
      </p:sp>
      <p:grpSp>
        <p:nvGrpSpPr>
          <p:cNvPr id="30" name="그룹 29">
            <a:extLst>
              <a:ext uri="{FF2B5EF4-FFF2-40B4-BE49-F238E27FC236}">
                <a16:creationId xmlns:a16="http://schemas.microsoft.com/office/drawing/2014/main" id="{33DD2262-C432-CE55-76E6-F68703EF2C01}"/>
              </a:ext>
            </a:extLst>
          </p:cNvPr>
          <p:cNvGrpSpPr/>
          <p:nvPr/>
        </p:nvGrpSpPr>
        <p:grpSpPr>
          <a:xfrm>
            <a:off x="1524000" y="3174435"/>
            <a:ext cx="4148434" cy="940365"/>
            <a:chOff x="1524000" y="3174435"/>
            <a:chExt cx="4148434" cy="940365"/>
          </a:xfrm>
        </p:grpSpPr>
        <p:pic>
          <p:nvPicPr>
            <p:cNvPr id="9" name="object 9"/>
            <p:cNvPicPr/>
            <p:nvPr/>
          </p:nvPicPr>
          <p:blipFill>
            <a:blip r:embed="rId6" cstate="print"/>
            <a:stretch>
              <a:fillRect/>
            </a:stretch>
          </p:blipFill>
          <p:spPr>
            <a:xfrm>
              <a:off x="1524000" y="3174435"/>
              <a:ext cx="4148434" cy="940365"/>
            </a:xfrm>
            <a:prstGeom prst="rect">
              <a:avLst/>
            </a:prstGeom>
          </p:spPr>
        </p:pic>
        <p:sp>
          <p:nvSpPr>
            <p:cNvPr id="3" name="TextBox 2">
              <a:extLst>
                <a:ext uri="{FF2B5EF4-FFF2-40B4-BE49-F238E27FC236}">
                  <a16:creationId xmlns:a16="http://schemas.microsoft.com/office/drawing/2014/main" id="{77E3AD69-388D-A16E-5331-277E9E98003F}"/>
                </a:ext>
              </a:extLst>
            </p:cNvPr>
            <p:cNvSpPr txBox="1"/>
            <p:nvPr/>
          </p:nvSpPr>
          <p:spPr>
            <a:xfrm>
              <a:off x="3328201" y="3631682"/>
              <a:ext cx="348449" cy="115063"/>
            </a:xfrm>
            <a:prstGeom prst="rect">
              <a:avLst/>
            </a:prstGeom>
            <a:solidFill>
              <a:schemeClr val="bg1"/>
            </a:solidFill>
          </p:spPr>
          <p:txBody>
            <a:bodyPr wrap="square" lIns="0" tIns="0" rIns="0" bIns="0" rtlCol="0" anchor="ctr">
              <a:noAutofit/>
            </a:bodyPr>
            <a:lstStyle/>
            <a:p>
              <a:r>
                <a:rPr lang="en-US" altLang="ko-KR" sz="800" dirty="0">
                  <a:latin typeface="Calibri" panose="020F0502020204030204" pitchFamily="34" charset="0"/>
                  <a:ea typeface="Calibri" panose="020F0502020204030204" pitchFamily="34" charset="0"/>
                  <a:cs typeface="Calibri" panose="020F0502020204030204" pitchFamily="34" charset="0"/>
                </a:rPr>
                <a:t>CQ24</a:t>
              </a:r>
              <a:endParaRPr lang="ko-KR" altLang="en-US" sz="800" dirty="0">
                <a:latin typeface="Calibri" panose="020F0502020204030204" pitchFamily="34" charset="0"/>
                <a:cs typeface="Calibri" panose="020F0502020204030204" pitchFamily="34" charset="0"/>
              </a:endParaRPr>
            </a:p>
          </p:txBody>
        </p:sp>
        <p:sp>
          <p:nvSpPr>
            <p:cNvPr id="28" name="TextBox 27">
              <a:extLst>
                <a:ext uri="{FF2B5EF4-FFF2-40B4-BE49-F238E27FC236}">
                  <a16:creationId xmlns:a16="http://schemas.microsoft.com/office/drawing/2014/main" id="{9094DCE7-10AA-771F-BFBC-52EB0E400591}"/>
                </a:ext>
              </a:extLst>
            </p:cNvPr>
            <p:cNvSpPr txBox="1"/>
            <p:nvPr/>
          </p:nvSpPr>
          <p:spPr>
            <a:xfrm>
              <a:off x="2312201" y="3625137"/>
              <a:ext cx="348449" cy="115063"/>
            </a:xfrm>
            <a:prstGeom prst="rect">
              <a:avLst/>
            </a:prstGeom>
            <a:solidFill>
              <a:schemeClr val="bg1"/>
            </a:solidFill>
          </p:spPr>
          <p:txBody>
            <a:bodyPr wrap="square" lIns="0" tIns="0" rIns="0" bIns="0" rtlCol="0" anchor="ctr">
              <a:noAutofit/>
            </a:bodyPr>
            <a:lstStyle/>
            <a:p>
              <a:r>
                <a:rPr lang="en-US" altLang="ko-KR" sz="800" dirty="0">
                  <a:latin typeface="Calibri" panose="020F0502020204030204" pitchFamily="34" charset="0"/>
                  <a:ea typeface="Calibri" panose="020F0502020204030204" pitchFamily="34" charset="0"/>
                  <a:cs typeface="Calibri" panose="020F0502020204030204" pitchFamily="34" charset="0"/>
                </a:rPr>
                <a:t>CQ24</a:t>
              </a:r>
              <a:endParaRPr lang="ko-KR" altLang="en-US" sz="800" dirty="0">
                <a:latin typeface="Calibri" panose="020F0502020204030204" pitchFamily="34" charset="0"/>
                <a:cs typeface="Calibri" panose="020F0502020204030204" pitchFamily="34" charset="0"/>
              </a:endParaRPr>
            </a:p>
          </p:txBody>
        </p:sp>
        <p:sp>
          <p:nvSpPr>
            <p:cNvPr id="29" name="TextBox 28">
              <a:extLst>
                <a:ext uri="{FF2B5EF4-FFF2-40B4-BE49-F238E27FC236}">
                  <a16:creationId xmlns:a16="http://schemas.microsoft.com/office/drawing/2014/main" id="{AE5FA9E7-768E-A238-A0CD-FE25CECF5B11}"/>
                </a:ext>
              </a:extLst>
            </p:cNvPr>
            <p:cNvSpPr txBox="1"/>
            <p:nvPr/>
          </p:nvSpPr>
          <p:spPr>
            <a:xfrm>
              <a:off x="5256868" y="3631682"/>
              <a:ext cx="348449" cy="115063"/>
            </a:xfrm>
            <a:prstGeom prst="rect">
              <a:avLst/>
            </a:prstGeom>
            <a:solidFill>
              <a:schemeClr val="bg1"/>
            </a:solidFill>
          </p:spPr>
          <p:txBody>
            <a:bodyPr wrap="square" lIns="0" tIns="0" rIns="0" bIns="0" rtlCol="0" anchor="ctr">
              <a:noAutofit/>
            </a:bodyPr>
            <a:lstStyle/>
            <a:p>
              <a:r>
                <a:rPr lang="en-US" altLang="ko-KR" sz="800" dirty="0">
                  <a:latin typeface="Calibri" panose="020F0502020204030204" pitchFamily="34" charset="0"/>
                  <a:ea typeface="Calibri" panose="020F0502020204030204" pitchFamily="34" charset="0"/>
                  <a:cs typeface="Calibri" panose="020F0502020204030204" pitchFamily="34" charset="0"/>
                </a:rPr>
                <a:t>CQ24</a:t>
              </a:r>
              <a:endParaRPr lang="ko-KR" altLang="en-US" sz="800" dirty="0">
                <a:latin typeface="Calibri" panose="020F0502020204030204" pitchFamily="34" charset="0"/>
                <a:cs typeface="Calibri" panose="020F0502020204030204" pitchFamily="34" charset="0"/>
              </a:endParaRPr>
            </a:p>
          </p:txBody>
        </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p:nvPr/>
        </p:nvSpPr>
        <p:spPr>
          <a:xfrm>
            <a:off x="400913" y="301879"/>
            <a:ext cx="622935" cy="299720"/>
          </a:xfrm>
          <a:prstGeom prst="rect">
            <a:avLst/>
          </a:prstGeom>
        </p:spPr>
        <p:txBody>
          <a:bodyPr vert="horz" wrap="square" lIns="0" tIns="12700" rIns="0" bIns="0" rtlCol="0">
            <a:spAutoFit/>
          </a:bodyPr>
          <a:lstStyle/>
          <a:p>
            <a:pPr marL="12700">
              <a:lnSpc>
                <a:spcPct val="100000"/>
              </a:lnSpc>
              <a:spcBef>
                <a:spcPts val="100"/>
              </a:spcBef>
            </a:pPr>
            <a:r>
              <a:rPr sz="1800" b="1" spc="-5" dirty="0">
                <a:latin typeface="Arial"/>
                <a:cs typeface="Arial"/>
              </a:rPr>
              <a:t>CQ24</a:t>
            </a:r>
            <a:endParaRPr sz="1800" dirty="0">
              <a:latin typeface="Arial"/>
              <a:cs typeface="Arial"/>
            </a:endParaRPr>
          </a:p>
        </p:txBody>
      </p:sp>
      <p:sp>
        <p:nvSpPr>
          <p:cNvPr id="5" name="object 5"/>
          <p:cNvSpPr txBox="1"/>
          <p:nvPr/>
        </p:nvSpPr>
        <p:spPr>
          <a:xfrm>
            <a:off x="400913" y="906018"/>
            <a:ext cx="6038542" cy="636905"/>
          </a:xfrm>
          <a:prstGeom prst="rect">
            <a:avLst/>
          </a:prstGeom>
        </p:spPr>
        <p:txBody>
          <a:bodyPr vert="horz" wrap="square" lIns="0" tIns="12700" rIns="0" bIns="0" rtlCol="0">
            <a:spAutoFit/>
          </a:bodyPr>
          <a:lstStyle/>
          <a:p>
            <a:pPr marL="12700">
              <a:lnSpc>
                <a:spcPct val="100000"/>
              </a:lnSpc>
              <a:spcBef>
                <a:spcPts val="100"/>
              </a:spcBef>
            </a:pPr>
            <a:r>
              <a:rPr sz="1100" b="1" spc="-10" dirty="0">
                <a:latin typeface="Arial"/>
                <a:cs typeface="Arial"/>
              </a:rPr>
              <a:t>Type2</a:t>
            </a:r>
            <a:r>
              <a:rPr sz="1100" b="1" spc="5" dirty="0">
                <a:latin typeface="Arial"/>
                <a:cs typeface="Arial"/>
              </a:rPr>
              <a:t> </a:t>
            </a:r>
            <a:r>
              <a:rPr sz="1100" b="1" dirty="0">
                <a:latin typeface="Arial"/>
                <a:cs typeface="Arial"/>
              </a:rPr>
              <a:t>:</a:t>
            </a:r>
            <a:r>
              <a:rPr sz="1100" b="1" spc="-35" dirty="0">
                <a:latin typeface="Arial"/>
                <a:cs typeface="Arial"/>
              </a:rPr>
              <a:t> </a:t>
            </a:r>
            <a:r>
              <a:rPr sz="1100" b="1" spc="-5" dirty="0">
                <a:latin typeface="Arial"/>
                <a:cs typeface="Arial"/>
              </a:rPr>
              <a:t>CMD2</a:t>
            </a:r>
            <a:endParaRPr sz="1100" dirty="0">
              <a:latin typeface="Arial"/>
              <a:cs typeface="Arial"/>
            </a:endParaRPr>
          </a:p>
          <a:p>
            <a:pPr>
              <a:lnSpc>
                <a:spcPct val="100000"/>
              </a:lnSpc>
              <a:spcBef>
                <a:spcPts val="5"/>
              </a:spcBef>
            </a:pPr>
            <a:endParaRPr sz="1150" dirty="0">
              <a:latin typeface="Arial"/>
              <a:cs typeface="Arial"/>
            </a:endParaRPr>
          </a:p>
          <a:p>
            <a:pPr marL="12700" marR="5080">
              <a:lnSpc>
                <a:spcPct val="100000"/>
              </a:lnSpc>
              <a:spcBef>
                <a:spcPts val="5"/>
              </a:spcBef>
            </a:pPr>
            <a:r>
              <a:rPr sz="900" spc="-5" dirty="0">
                <a:latin typeface="Arial"/>
                <a:cs typeface="Arial"/>
              </a:rPr>
              <a:t>The</a:t>
            </a:r>
            <a:r>
              <a:rPr sz="900" dirty="0">
                <a:latin typeface="Arial"/>
                <a:cs typeface="Arial"/>
              </a:rPr>
              <a:t> </a:t>
            </a:r>
            <a:r>
              <a:rPr sz="900" spc="-5" dirty="0">
                <a:latin typeface="Arial"/>
                <a:cs typeface="Arial"/>
              </a:rPr>
              <a:t>tyep2,</a:t>
            </a:r>
            <a:r>
              <a:rPr sz="900" spc="-10" dirty="0">
                <a:latin typeface="Arial"/>
                <a:cs typeface="Arial"/>
              </a:rPr>
              <a:t> CMD2</a:t>
            </a:r>
            <a:r>
              <a:rPr sz="900" spc="10" dirty="0">
                <a:latin typeface="Arial"/>
                <a:cs typeface="Arial"/>
              </a:rPr>
              <a:t> </a:t>
            </a:r>
            <a:r>
              <a:rPr sz="900" dirty="0">
                <a:latin typeface="Arial"/>
                <a:cs typeface="Arial"/>
              </a:rPr>
              <a:t>protocol</a:t>
            </a:r>
            <a:r>
              <a:rPr sz="900" spc="-15" dirty="0">
                <a:latin typeface="Arial"/>
                <a:cs typeface="Arial"/>
              </a:rPr>
              <a:t> </a:t>
            </a:r>
            <a:r>
              <a:rPr sz="900" spc="-5" dirty="0">
                <a:latin typeface="Arial"/>
                <a:cs typeface="Arial"/>
              </a:rPr>
              <a:t>is </a:t>
            </a:r>
            <a:r>
              <a:rPr sz="900" dirty="0">
                <a:latin typeface="Arial"/>
                <a:cs typeface="Arial"/>
              </a:rPr>
              <a:t>used</a:t>
            </a:r>
            <a:r>
              <a:rPr sz="900" spc="-20" dirty="0">
                <a:latin typeface="Arial"/>
                <a:cs typeface="Arial"/>
              </a:rPr>
              <a:t> </a:t>
            </a:r>
            <a:r>
              <a:rPr sz="900" dirty="0">
                <a:latin typeface="Arial"/>
                <a:cs typeface="Arial"/>
              </a:rPr>
              <a:t>to access</a:t>
            </a:r>
            <a:r>
              <a:rPr sz="900" spc="-25" dirty="0">
                <a:latin typeface="Arial"/>
                <a:cs typeface="Arial"/>
              </a:rPr>
              <a:t> </a:t>
            </a:r>
            <a:r>
              <a:rPr sz="900" spc="5" dirty="0">
                <a:latin typeface="Arial"/>
                <a:cs typeface="Arial"/>
              </a:rPr>
              <a:t>16-bit</a:t>
            </a:r>
            <a:r>
              <a:rPr sz="900" spc="-25" dirty="0">
                <a:latin typeface="Arial"/>
                <a:cs typeface="Arial"/>
              </a:rPr>
              <a:t> </a:t>
            </a:r>
            <a:r>
              <a:rPr sz="900" dirty="0">
                <a:latin typeface="Arial"/>
                <a:cs typeface="Arial"/>
              </a:rPr>
              <a:t>registers</a:t>
            </a:r>
            <a:r>
              <a:rPr sz="900" spc="-30" dirty="0">
                <a:latin typeface="Arial"/>
                <a:cs typeface="Arial"/>
              </a:rPr>
              <a:t> </a:t>
            </a:r>
            <a:r>
              <a:rPr sz="900" dirty="0">
                <a:latin typeface="Arial"/>
                <a:cs typeface="Arial"/>
              </a:rPr>
              <a:t>and</a:t>
            </a:r>
            <a:r>
              <a:rPr sz="900" spc="-10" dirty="0">
                <a:latin typeface="Arial"/>
                <a:cs typeface="Arial"/>
              </a:rPr>
              <a:t> </a:t>
            </a:r>
            <a:r>
              <a:rPr sz="900" dirty="0">
                <a:latin typeface="Arial"/>
                <a:cs typeface="Arial"/>
              </a:rPr>
              <a:t>consists</a:t>
            </a:r>
            <a:r>
              <a:rPr sz="900" spc="-25" dirty="0">
                <a:latin typeface="Arial"/>
                <a:cs typeface="Arial"/>
              </a:rPr>
              <a:t> </a:t>
            </a:r>
            <a:r>
              <a:rPr sz="900" dirty="0">
                <a:latin typeface="Arial"/>
                <a:cs typeface="Arial"/>
              </a:rPr>
              <a:t>of</a:t>
            </a:r>
            <a:r>
              <a:rPr sz="900" spc="-10" dirty="0">
                <a:latin typeface="Arial"/>
                <a:cs typeface="Arial"/>
              </a:rPr>
              <a:t> </a:t>
            </a:r>
            <a:r>
              <a:rPr sz="900" dirty="0">
                <a:latin typeface="Arial"/>
                <a:cs typeface="Arial"/>
              </a:rPr>
              <a:t>the</a:t>
            </a:r>
            <a:r>
              <a:rPr sz="900" spc="-10" dirty="0">
                <a:latin typeface="Arial"/>
                <a:cs typeface="Arial"/>
              </a:rPr>
              <a:t> </a:t>
            </a:r>
            <a:r>
              <a:rPr sz="900" dirty="0">
                <a:latin typeface="Arial"/>
                <a:cs typeface="Arial"/>
              </a:rPr>
              <a:t>command</a:t>
            </a:r>
            <a:r>
              <a:rPr sz="900" spc="-35" dirty="0">
                <a:latin typeface="Arial"/>
                <a:cs typeface="Arial"/>
              </a:rPr>
              <a:t> </a:t>
            </a:r>
            <a:r>
              <a:rPr sz="900" dirty="0">
                <a:latin typeface="Arial"/>
                <a:cs typeface="Arial"/>
              </a:rPr>
              <a:t>2</a:t>
            </a:r>
            <a:r>
              <a:rPr sz="900" spc="5" dirty="0">
                <a:latin typeface="Arial"/>
                <a:cs typeface="Arial"/>
              </a:rPr>
              <a:t> </a:t>
            </a:r>
            <a:r>
              <a:rPr sz="900" dirty="0">
                <a:latin typeface="Arial"/>
                <a:cs typeface="Arial"/>
              </a:rPr>
              <a:t>bits,</a:t>
            </a:r>
            <a:r>
              <a:rPr sz="900" spc="-25" dirty="0">
                <a:latin typeface="Arial"/>
                <a:cs typeface="Arial"/>
              </a:rPr>
              <a:t> </a:t>
            </a:r>
            <a:r>
              <a:rPr sz="900" dirty="0">
                <a:latin typeface="Arial"/>
                <a:cs typeface="Arial"/>
              </a:rPr>
              <a:t>2’b10,</a:t>
            </a:r>
            <a:r>
              <a:rPr sz="900" spc="-25" dirty="0">
                <a:latin typeface="Arial"/>
                <a:cs typeface="Arial"/>
              </a:rPr>
              <a:t> </a:t>
            </a:r>
            <a:r>
              <a:rPr sz="900" dirty="0">
                <a:latin typeface="Arial"/>
                <a:cs typeface="Arial"/>
              </a:rPr>
              <a:t>address</a:t>
            </a:r>
            <a:r>
              <a:rPr sz="900" spc="-20" dirty="0">
                <a:latin typeface="Arial"/>
                <a:cs typeface="Arial"/>
              </a:rPr>
              <a:t> </a:t>
            </a:r>
            <a:r>
              <a:rPr sz="900" dirty="0">
                <a:latin typeface="Arial"/>
                <a:cs typeface="Arial"/>
              </a:rPr>
              <a:t>7</a:t>
            </a:r>
            <a:r>
              <a:rPr sz="900" spc="-5" dirty="0">
                <a:latin typeface="Arial"/>
                <a:cs typeface="Arial"/>
              </a:rPr>
              <a:t> </a:t>
            </a:r>
            <a:r>
              <a:rPr sz="900" dirty="0">
                <a:latin typeface="Arial"/>
                <a:cs typeface="Arial"/>
              </a:rPr>
              <a:t>bits, </a:t>
            </a:r>
            <a:r>
              <a:rPr sz="900" spc="-235" dirty="0">
                <a:latin typeface="Arial"/>
                <a:cs typeface="Arial"/>
              </a:rPr>
              <a:t> </a:t>
            </a:r>
            <a:r>
              <a:rPr sz="900" spc="-5" dirty="0">
                <a:latin typeface="Arial"/>
                <a:cs typeface="Arial"/>
              </a:rPr>
              <a:t>R/W </a:t>
            </a:r>
            <a:r>
              <a:rPr sz="900" dirty="0">
                <a:latin typeface="Arial"/>
                <a:cs typeface="Arial"/>
              </a:rPr>
              <a:t>1</a:t>
            </a:r>
            <a:r>
              <a:rPr sz="900" spc="-10" dirty="0">
                <a:latin typeface="Arial"/>
                <a:cs typeface="Arial"/>
              </a:rPr>
              <a:t> </a:t>
            </a:r>
            <a:r>
              <a:rPr sz="900" dirty="0">
                <a:latin typeface="Arial"/>
                <a:cs typeface="Arial"/>
              </a:rPr>
              <a:t>bit</a:t>
            </a:r>
            <a:r>
              <a:rPr sz="900" spc="-10" dirty="0">
                <a:latin typeface="Arial"/>
                <a:cs typeface="Arial"/>
              </a:rPr>
              <a:t> </a:t>
            </a:r>
            <a:r>
              <a:rPr sz="900" dirty="0">
                <a:latin typeface="Arial"/>
                <a:cs typeface="Arial"/>
              </a:rPr>
              <a:t>(‘0’</a:t>
            </a:r>
            <a:r>
              <a:rPr sz="900" spc="-10" dirty="0">
                <a:latin typeface="Arial"/>
                <a:cs typeface="Arial"/>
              </a:rPr>
              <a:t> </a:t>
            </a:r>
            <a:r>
              <a:rPr sz="900" dirty="0">
                <a:latin typeface="Arial"/>
                <a:cs typeface="Arial"/>
              </a:rPr>
              <a:t>to</a:t>
            </a:r>
            <a:r>
              <a:rPr sz="900" spc="-10" dirty="0">
                <a:latin typeface="Arial"/>
                <a:cs typeface="Arial"/>
              </a:rPr>
              <a:t> </a:t>
            </a:r>
            <a:r>
              <a:rPr sz="900" spc="-5" dirty="0">
                <a:latin typeface="Arial"/>
                <a:cs typeface="Arial"/>
              </a:rPr>
              <a:t>write,</a:t>
            </a:r>
            <a:r>
              <a:rPr sz="900" dirty="0">
                <a:latin typeface="Arial"/>
                <a:cs typeface="Arial"/>
              </a:rPr>
              <a:t> ‘1’</a:t>
            </a:r>
            <a:r>
              <a:rPr sz="900" spc="-10" dirty="0">
                <a:latin typeface="Arial"/>
                <a:cs typeface="Arial"/>
              </a:rPr>
              <a:t> </a:t>
            </a:r>
            <a:r>
              <a:rPr sz="900" dirty="0">
                <a:latin typeface="Arial"/>
                <a:cs typeface="Arial"/>
              </a:rPr>
              <a:t>to</a:t>
            </a:r>
            <a:r>
              <a:rPr sz="900" spc="-10" dirty="0">
                <a:latin typeface="Arial"/>
                <a:cs typeface="Arial"/>
              </a:rPr>
              <a:t> </a:t>
            </a:r>
            <a:r>
              <a:rPr sz="900" dirty="0">
                <a:latin typeface="Arial"/>
                <a:cs typeface="Arial"/>
              </a:rPr>
              <a:t>read)</a:t>
            </a:r>
            <a:r>
              <a:rPr sz="900" spc="-10" dirty="0">
                <a:latin typeface="Arial"/>
                <a:cs typeface="Arial"/>
              </a:rPr>
              <a:t> </a:t>
            </a:r>
            <a:r>
              <a:rPr sz="900" dirty="0">
                <a:latin typeface="Arial"/>
                <a:cs typeface="Arial"/>
              </a:rPr>
              <a:t>and</a:t>
            </a:r>
            <a:r>
              <a:rPr sz="900" spc="-15" dirty="0">
                <a:latin typeface="Arial"/>
                <a:cs typeface="Arial"/>
              </a:rPr>
              <a:t> </a:t>
            </a:r>
            <a:r>
              <a:rPr sz="900" dirty="0">
                <a:latin typeface="Arial"/>
                <a:cs typeface="Arial"/>
              </a:rPr>
              <a:t>its</a:t>
            </a:r>
            <a:r>
              <a:rPr sz="900" spc="-5" dirty="0">
                <a:latin typeface="Arial"/>
                <a:cs typeface="Arial"/>
              </a:rPr>
              <a:t> </a:t>
            </a:r>
            <a:r>
              <a:rPr sz="900" dirty="0">
                <a:latin typeface="Arial"/>
                <a:cs typeface="Arial"/>
              </a:rPr>
              <a:t>register</a:t>
            </a:r>
            <a:r>
              <a:rPr sz="900" spc="-25" dirty="0">
                <a:latin typeface="Arial"/>
                <a:cs typeface="Arial"/>
              </a:rPr>
              <a:t> </a:t>
            </a:r>
            <a:r>
              <a:rPr sz="900" spc="-5" dirty="0">
                <a:latin typeface="Arial"/>
                <a:cs typeface="Arial"/>
              </a:rPr>
              <a:t>value,</a:t>
            </a:r>
            <a:r>
              <a:rPr sz="900" spc="-10" dirty="0">
                <a:latin typeface="Arial"/>
                <a:cs typeface="Arial"/>
              </a:rPr>
              <a:t> </a:t>
            </a:r>
            <a:r>
              <a:rPr sz="900" dirty="0">
                <a:latin typeface="Arial"/>
                <a:cs typeface="Arial"/>
              </a:rPr>
              <a:t>data</a:t>
            </a:r>
            <a:r>
              <a:rPr sz="900" spc="-20" dirty="0">
                <a:latin typeface="Arial"/>
                <a:cs typeface="Arial"/>
              </a:rPr>
              <a:t> </a:t>
            </a:r>
            <a:r>
              <a:rPr sz="900" dirty="0">
                <a:latin typeface="Arial"/>
                <a:cs typeface="Arial"/>
              </a:rPr>
              <a:t>16 bits.</a:t>
            </a:r>
          </a:p>
        </p:txBody>
      </p:sp>
      <p:sp>
        <p:nvSpPr>
          <p:cNvPr id="6" name="object 6"/>
          <p:cNvSpPr txBox="1"/>
          <p:nvPr/>
        </p:nvSpPr>
        <p:spPr>
          <a:xfrm>
            <a:off x="400914" y="2486406"/>
            <a:ext cx="6038540" cy="151323"/>
          </a:xfrm>
          <a:prstGeom prst="rect">
            <a:avLst/>
          </a:prstGeom>
        </p:spPr>
        <p:txBody>
          <a:bodyPr vert="horz" wrap="square" lIns="0" tIns="12700" rIns="0" bIns="0" rtlCol="0">
            <a:spAutoFit/>
          </a:bodyPr>
          <a:lstStyle/>
          <a:p>
            <a:pPr marL="12700" algn="ctr">
              <a:lnSpc>
                <a:spcPct val="100000"/>
              </a:lnSpc>
              <a:spcBef>
                <a:spcPts val="100"/>
              </a:spcBef>
            </a:pPr>
            <a:r>
              <a:rPr sz="900" b="1" spc="-5" dirty="0">
                <a:latin typeface="Arial"/>
                <a:cs typeface="Arial"/>
              </a:rPr>
              <a:t>[Figure. </a:t>
            </a:r>
            <a:r>
              <a:rPr lang="en-US" sz="900" b="1" spc="-5" dirty="0">
                <a:latin typeface="Arial"/>
                <a:cs typeface="Arial"/>
              </a:rPr>
              <a:t>9</a:t>
            </a:r>
            <a:r>
              <a:rPr sz="900" b="1" spc="-5" dirty="0">
                <a:latin typeface="Arial"/>
                <a:cs typeface="Arial"/>
              </a:rPr>
              <a:t>-1]</a:t>
            </a:r>
            <a:r>
              <a:rPr sz="900" b="1" dirty="0">
                <a:latin typeface="Arial"/>
                <a:cs typeface="Arial"/>
              </a:rPr>
              <a:t> CMD2</a:t>
            </a:r>
            <a:r>
              <a:rPr sz="900" b="1" spc="-10" dirty="0">
                <a:latin typeface="Arial"/>
                <a:cs typeface="Arial"/>
              </a:rPr>
              <a:t> </a:t>
            </a:r>
            <a:r>
              <a:rPr sz="900" b="1" dirty="0">
                <a:latin typeface="Arial"/>
                <a:cs typeface="Arial"/>
              </a:rPr>
              <a:t>Write</a:t>
            </a:r>
          </a:p>
        </p:txBody>
      </p:sp>
      <p:sp>
        <p:nvSpPr>
          <p:cNvPr id="7" name="object 7"/>
          <p:cNvSpPr txBox="1"/>
          <p:nvPr/>
        </p:nvSpPr>
        <p:spPr>
          <a:xfrm>
            <a:off x="400913" y="3983227"/>
            <a:ext cx="6038540" cy="151965"/>
          </a:xfrm>
          <a:prstGeom prst="rect">
            <a:avLst/>
          </a:prstGeom>
        </p:spPr>
        <p:txBody>
          <a:bodyPr vert="horz" wrap="square" lIns="0" tIns="13335" rIns="0" bIns="0" rtlCol="0">
            <a:spAutoFit/>
          </a:bodyPr>
          <a:lstStyle/>
          <a:p>
            <a:pPr marL="12700" algn="ctr">
              <a:lnSpc>
                <a:spcPct val="100000"/>
              </a:lnSpc>
              <a:spcBef>
                <a:spcPts val="105"/>
              </a:spcBef>
            </a:pPr>
            <a:r>
              <a:rPr sz="900" b="1" spc="-5" dirty="0">
                <a:latin typeface="Arial"/>
                <a:cs typeface="Arial"/>
              </a:rPr>
              <a:t>[Figure. </a:t>
            </a:r>
            <a:r>
              <a:rPr lang="en-US" sz="900" b="1" spc="-5" dirty="0">
                <a:latin typeface="Arial"/>
                <a:cs typeface="Arial"/>
              </a:rPr>
              <a:t>9</a:t>
            </a:r>
            <a:r>
              <a:rPr sz="900" b="1" spc="-5" dirty="0">
                <a:latin typeface="Arial"/>
                <a:cs typeface="Arial"/>
              </a:rPr>
              <a:t>-2]</a:t>
            </a:r>
            <a:r>
              <a:rPr sz="900" b="1" dirty="0">
                <a:latin typeface="Arial"/>
                <a:cs typeface="Arial"/>
              </a:rPr>
              <a:t> </a:t>
            </a:r>
            <a:r>
              <a:rPr sz="900" b="1" spc="-5" dirty="0">
                <a:latin typeface="Arial"/>
                <a:cs typeface="Arial"/>
              </a:rPr>
              <a:t>CMD2</a:t>
            </a:r>
            <a:r>
              <a:rPr sz="900" b="1" spc="-10" dirty="0">
                <a:latin typeface="Arial"/>
                <a:cs typeface="Arial"/>
              </a:rPr>
              <a:t> </a:t>
            </a:r>
            <a:r>
              <a:rPr sz="900" b="1" spc="-5" dirty="0">
                <a:latin typeface="Arial"/>
                <a:cs typeface="Arial"/>
              </a:rPr>
              <a:t>Read</a:t>
            </a:r>
            <a:endParaRPr sz="900" b="1" dirty="0">
              <a:latin typeface="Arial"/>
              <a:cs typeface="Arial"/>
            </a:endParaRPr>
          </a:p>
        </p:txBody>
      </p:sp>
      <p:pic>
        <p:nvPicPr>
          <p:cNvPr id="8" name="object 8"/>
          <p:cNvPicPr/>
          <p:nvPr/>
        </p:nvPicPr>
        <p:blipFill>
          <a:blip r:embed="rId2" cstate="print"/>
          <a:stretch>
            <a:fillRect/>
          </a:stretch>
        </p:blipFill>
        <p:spPr>
          <a:xfrm>
            <a:off x="400914" y="1849044"/>
            <a:ext cx="6038541" cy="527963"/>
          </a:xfrm>
          <a:prstGeom prst="rect">
            <a:avLst/>
          </a:prstGeom>
        </p:spPr>
      </p:pic>
      <p:pic>
        <p:nvPicPr>
          <p:cNvPr id="9" name="object 9"/>
          <p:cNvPicPr/>
          <p:nvPr/>
        </p:nvPicPr>
        <p:blipFill>
          <a:blip r:embed="rId3" cstate="print"/>
          <a:stretch>
            <a:fillRect/>
          </a:stretch>
        </p:blipFill>
        <p:spPr>
          <a:xfrm>
            <a:off x="400913" y="3134486"/>
            <a:ext cx="6038541" cy="738378"/>
          </a:xfrm>
          <a:prstGeom prst="rect">
            <a:avLst/>
          </a:prstGeom>
        </p:spPr>
      </p:pic>
      <p:pic>
        <p:nvPicPr>
          <p:cNvPr id="10" name="object 10"/>
          <p:cNvPicPr/>
          <p:nvPr/>
        </p:nvPicPr>
        <p:blipFill>
          <a:blip r:embed="rId4" cstate="print"/>
          <a:stretch>
            <a:fillRect/>
          </a:stretch>
        </p:blipFill>
        <p:spPr>
          <a:xfrm>
            <a:off x="400914" y="4549551"/>
            <a:ext cx="6038540" cy="1035166"/>
          </a:xfrm>
          <a:prstGeom prst="rect">
            <a:avLst/>
          </a:prstGeom>
        </p:spPr>
      </p:pic>
      <p:sp>
        <p:nvSpPr>
          <p:cNvPr id="11" name="object 11"/>
          <p:cNvSpPr txBox="1"/>
          <p:nvPr/>
        </p:nvSpPr>
        <p:spPr>
          <a:xfrm>
            <a:off x="400913" y="5768721"/>
            <a:ext cx="6038540" cy="151965"/>
          </a:xfrm>
          <a:prstGeom prst="rect">
            <a:avLst/>
          </a:prstGeom>
        </p:spPr>
        <p:txBody>
          <a:bodyPr vert="horz" wrap="square" lIns="0" tIns="13335" rIns="0" bIns="0" rtlCol="0">
            <a:spAutoFit/>
          </a:bodyPr>
          <a:lstStyle/>
          <a:p>
            <a:pPr marL="12700" algn="ctr">
              <a:lnSpc>
                <a:spcPct val="100000"/>
              </a:lnSpc>
              <a:spcBef>
                <a:spcPts val="105"/>
              </a:spcBef>
            </a:pPr>
            <a:r>
              <a:rPr sz="900" b="1" dirty="0">
                <a:latin typeface="Arial"/>
                <a:cs typeface="Arial"/>
              </a:rPr>
              <a:t>[Figure.</a:t>
            </a:r>
            <a:r>
              <a:rPr sz="900" b="1" spc="5" dirty="0">
                <a:latin typeface="Arial"/>
                <a:cs typeface="Arial"/>
              </a:rPr>
              <a:t> </a:t>
            </a:r>
            <a:r>
              <a:rPr lang="en-US" sz="900" b="1" spc="5" dirty="0">
                <a:latin typeface="Arial"/>
                <a:cs typeface="Arial"/>
              </a:rPr>
              <a:t>9</a:t>
            </a:r>
            <a:r>
              <a:rPr sz="900" b="1" spc="-5" dirty="0">
                <a:latin typeface="Arial"/>
                <a:cs typeface="Arial"/>
              </a:rPr>
              <a:t>-3]</a:t>
            </a:r>
            <a:r>
              <a:rPr sz="900" b="1" spc="10" dirty="0">
                <a:latin typeface="Arial"/>
                <a:cs typeface="Arial"/>
              </a:rPr>
              <a:t> </a:t>
            </a:r>
            <a:r>
              <a:rPr sz="900" b="1" spc="-5" dirty="0">
                <a:latin typeface="Arial"/>
                <a:cs typeface="Arial"/>
              </a:rPr>
              <a:t>CMD2</a:t>
            </a:r>
            <a:r>
              <a:rPr sz="900" b="1" dirty="0">
                <a:latin typeface="Arial"/>
                <a:cs typeface="Arial"/>
              </a:rPr>
              <a:t> Write</a:t>
            </a:r>
            <a:r>
              <a:rPr sz="900" b="1" spc="-30" dirty="0">
                <a:latin typeface="Arial"/>
                <a:cs typeface="Arial"/>
              </a:rPr>
              <a:t> </a:t>
            </a:r>
            <a:r>
              <a:rPr sz="900" b="1" spc="-5" dirty="0">
                <a:latin typeface="Arial"/>
                <a:cs typeface="Arial"/>
              </a:rPr>
              <a:t>through</a:t>
            </a:r>
            <a:r>
              <a:rPr sz="900" b="1" spc="30" dirty="0">
                <a:latin typeface="Arial"/>
                <a:cs typeface="Arial"/>
              </a:rPr>
              <a:t> </a:t>
            </a:r>
            <a:r>
              <a:rPr sz="900" b="1" dirty="0">
                <a:latin typeface="Arial"/>
                <a:cs typeface="Arial"/>
              </a:rPr>
              <a:t>Daisy</a:t>
            </a:r>
            <a:r>
              <a:rPr sz="900" b="1" spc="-5" dirty="0">
                <a:latin typeface="Arial"/>
                <a:cs typeface="Arial"/>
              </a:rPr>
              <a:t> connection</a:t>
            </a:r>
            <a:endParaRPr sz="900" b="1" dirty="0">
              <a:latin typeface="Arial"/>
              <a:cs typeface="Arial"/>
            </a:endParaRPr>
          </a:p>
        </p:txBody>
      </p:sp>
      <p:sp>
        <p:nvSpPr>
          <p:cNvPr id="15" name="object 9">
            <a:extLst>
              <a:ext uri="{FF2B5EF4-FFF2-40B4-BE49-F238E27FC236}">
                <a16:creationId xmlns:a16="http://schemas.microsoft.com/office/drawing/2014/main" id="{B2BCEC53-3671-4A12-4289-7C5ACD2A79F1}"/>
              </a:ext>
            </a:extLst>
          </p:cNvPr>
          <p:cNvSpPr txBox="1"/>
          <p:nvPr/>
        </p:nvSpPr>
        <p:spPr>
          <a:xfrm>
            <a:off x="304800" y="9067800"/>
            <a:ext cx="2078355" cy="289823"/>
          </a:xfrm>
          <a:prstGeom prst="rect">
            <a:avLst/>
          </a:prstGeom>
        </p:spPr>
        <p:txBody>
          <a:bodyPr vert="horz" wrap="square" lIns="0" tIns="12700" rIns="0" bIns="0" rtlCol="0">
            <a:spAutoFit/>
          </a:bodyPr>
          <a:lstStyle/>
          <a:p>
            <a:pPr marL="12700">
              <a:lnSpc>
                <a:spcPct val="100000"/>
              </a:lnSpc>
              <a:spcBef>
                <a:spcPts val="100"/>
              </a:spcBef>
            </a:pPr>
            <a:r>
              <a:rPr b="1" spc="-5" dirty="0">
                <a:solidFill>
                  <a:srgbClr val="FF0000"/>
                </a:solidFill>
                <a:cs typeface="Perpetua Titling MT"/>
              </a:rPr>
              <a:t>CONFIDENTIAL</a:t>
            </a:r>
            <a:endParaRPr dirty="0">
              <a:cs typeface="Perpetua Titling MT"/>
            </a:endParaRPr>
          </a:p>
        </p:txBody>
      </p:sp>
      <p:sp>
        <p:nvSpPr>
          <p:cNvPr id="16" name="object 6">
            <a:extLst>
              <a:ext uri="{FF2B5EF4-FFF2-40B4-BE49-F238E27FC236}">
                <a16:creationId xmlns:a16="http://schemas.microsoft.com/office/drawing/2014/main" id="{DF040F8F-6CEE-8BAC-A430-62FB756957D3}"/>
              </a:ext>
            </a:extLst>
          </p:cNvPr>
          <p:cNvSpPr/>
          <p:nvPr/>
        </p:nvSpPr>
        <p:spPr>
          <a:xfrm>
            <a:off x="301676" y="9458756"/>
            <a:ext cx="6246495" cy="0"/>
          </a:xfrm>
          <a:custGeom>
            <a:avLst/>
            <a:gdLst/>
            <a:ahLst/>
            <a:cxnLst/>
            <a:rect l="l" t="t" r="r" b="b"/>
            <a:pathLst>
              <a:path w="6246495">
                <a:moveTo>
                  <a:pt x="0" y="0"/>
                </a:moveTo>
                <a:lnTo>
                  <a:pt x="6245999" y="0"/>
                </a:lnTo>
              </a:path>
            </a:pathLst>
          </a:custGeom>
          <a:ln w="25920">
            <a:solidFill>
              <a:srgbClr val="BFBFBF"/>
            </a:solidFill>
          </a:ln>
        </p:spPr>
        <p:txBody>
          <a:bodyPr wrap="square" lIns="0" tIns="0" rIns="0" bIns="0" rtlCol="0"/>
          <a:lstStyle/>
          <a:p>
            <a:endParaRPr/>
          </a:p>
        </p:txBody>
      </p:sp>
      <p:sp>
        <p:nvSpPr>
          <p:cNvPr id="17" name="슬라이드 번호 개체 틀 3">
            <a:hlinkClick r:id="rId5"/>
            <a:extLst>
              <a:ext uri="{FF2B5EF4-FFF2-40B4-BE49-F238E27FC236}">
                <a16:creationId xmlns:a16="http://schemas.microsoft.com/office/drawing/2014/main" id="{0BED8A36-FC8E-AA41-A50A-143B9E7F9FC4}"/>
              </a:ext>
            </a:extLst>
          </p:cNvPr>
          <p:cNvSpPr txBox="1">
            <a:spLocks/>
          </p:cNvSpPr>
          <p:nvPr/>
        </p:nvSpPr>
        <p:spPr>
          <a:xfrm>
            <a:off x="5151602" y="9452864"/>
            <a:ext cx="1487550"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dirty="0">
                <a:solidFill>
                  <a:prstClr val="black"/>
                </a:solidFill>
                <a:latin typeface="Arial" panose="020B0604020202020204" pitchFamily="34" charset="0"/>
                <a:cs typeface="Arial" panose="020B0604020202020204" pitchFamily="34" charset="0"/>
              </a:rPr>
              <a:t>http://www.glbltech.com/</a:t>
            </a:r>
            <a:endParaRPr lang="ko-KR" altLang="en-US" dirty="0">
              <a:solidFill>
                <a:prstClr val="black"/>
              </a:solidFill>
              <a:latin typeface="Arial" panose="020B0604020202020204" pitchFamily="34" charset="0"/>
              <a:cs typeface="Arial" panose="020B0604020202020204" pitchFamily="34" charset="0"/>
            </a:endParaRPr>
          </a:p>
        </p:txBody>
      </p:sp>
      <p:sp>
        <p:nvSpPr>
          <p:cNvPr id="18" name="object 38">
            <a:extLst>
              <a:ext uri="{FF2B5EF4-FFF2-40B4-BE49-F238E27FC236}">
                <a16:creationId xmlns:a16="http://schemas.microsoft.com/office/drawing/2014/main" id="{F3AAFAC5-645F-72CC-A1C6-F8332D618958}"/>
              </a:ext>
            </a:extLst>
          </p:cNvPr>
          <p:cNvSpPr txBox="1">
            <a:spLocks/>
          </p:cNvSpPr>
          <p:nvPr/>
        </p:nvSpPr>
        <p:spPr>
          <a:xfrm>
            <a:off x="3309066" y="9547988"/>
            <a:ext cx="487045" cy="139141"/>
          </a:xfrm>
          <a:prstGeom prst="rect">
            <a:avLst/>
          </a:prstGeom>
        </p:spPr>
        <p:txBody>
          <a:bodyPr vert="horz" wrap="square" lIns="0" tIns="635" rIns="0" bIns="0" rtlCol="0">
            <a:spAutoFit/>
          </a:bodyPr>
          <a:lstStyle>
            <a:defPPr>
              <a:defRPr lang="ko-KR"/>
            </a:defPPr>
            <a:lvl1pPr marL="0" algn="l" defTabSz="914400" rtl="0" eaLnBrk="1" latinLnBrk="1" hangingPunct="1">
              <a:defRPr sz="1050" b="0" i="0" kern="1200">
                <a:solidFill>
                  <a:schemeClr val="tx1"/>
                </a:solidFill>
                <a:latin typeface="Arial"/>
                <a:ea typeface="+mn-ea"/>
                <a:cs typeface="Arial"/>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marL="12700">
              <a:spcBef>
                <a:spcPts val="5"/>
              </a:spcBef>
              <a:defRPr/>
            </a:pPr>
            <a:r>
              <a:rPr lang="en-US" sz="900" dirty="0">
                <a:solidFill>
                  <a:prstClr val="black"/>
                </a:solidFill>
              </a:rPr>
              <a:t>Page</a:t>
            </a:r>
            <a:r>
              <a:rPr lang="en-US" sz="900" spc="-60" dirty="0">
                <a:solidFill>
                  <a:prstClr val="black"/>
                </a:solidFill>
              </a:rPr>
              <a:t> </a:t>
            </a:r>
            <a:fld id="{81D60167-4931-47E6-BA6A-407CBD079E47}" type="slidenum">
              <a:rPr sz="900">
                <a:solidFill>
                  <a:prstClr val="black"/>
                </a:solidFill>
              </a:rPr>
              <a:pPr marL="12700">
                <a:spcBef>
                  <a:spcPts val="5"/>
                </a:spcBef>
                <a:defRPr/>
              </a:pPr>
              <a:t>16</a:t>
            </a:fld>
            <a:endParaRPr sz="900" dirty="0">
              <a:solidFill>
                <a:prstClr val="black"/>
              </a:solidFill>
            </a:endParaRPr>
          </a:p>
        </p:txBody>
      </p:sp>
      <p:sp>
        <p:nvSpPr>
          <p:cNvPr id="19" name="슬라이드 번호 개체 틀 3">
            <a:extLst>
              <a:ext uri="{FF2B5EF4-FFF2-40B4-BE49-F238E27FC236}">
                <a16:creationId xmlns:a16="http://schemas.microsoft.com/office/drawing/2014/main" id="{7162284B-63F7-ED80-8F9C-A4D6F073B37C}"/>
              </a:ext>
            </a:extLst>
          </p:cNvPr>
          <p:cNvSpPr txBox="1">
            <a:spLocks/>
          </p:cNvSpPr>
          <p:nvPr/>
        </p:nvSpPr>
        <p:spPr>
          <a:xfrm>
            <a:off x="299401" y="9520856"/>
            <a:ext cx="2060991" cy="175259"/>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lang="en-US" altLang="ko-KR" dirty="0">
                <a:solidFill>
                  <a:prstClr val="black"/>
                </a:solidFill>
                <a:latin typeface="Arial" panose="020B0604020202020204" pitchFamily="34" charset="0"/>
                <a:cs typeface="Arial" panose="020B0604020202020204" pitchFamily="34" charset="0"/>
              </a:rPr>
              <a:t>Dated 30-Nov 23  Rev. 01</a:t>
            </a:r>
            <a:endParaRPr lang="ko-KR" altLang="en-US" dirty="0">
              <a:solidFill>
                <a:prstClr val="black"/>
              </a:solidFill>
              <a:latin typeface="Arial" panose="020B0604020202020204" pitchFamily="34" charset="0"/>
              <a:cs typeface="Arial" panose="020B0604020202020204" pitchFamily="34" charset="0"/>
            </a:endParaRPr>
          </a:p>
        </p:txBody>
      </p:sp>
      <p:sp>
        <p:nvSpPr>
          <p:cNvPr id="20" name="Holder 3">
            <a:extLst>
              <a:ext uri="{FF2B5EF4-FFF2-40B4-BE49-F238E27FC236}">
                <a16:creationId xmlns:a16="http://schemas.microsoft.com/office/drawing/2014/main" id="{F09AF230-4066-246D-EDCD-82E8CAA4559F}"/>
              </a:ext>
            </a:extLst>
          </p:cNvPr>
          <p:cNvSpPr txBox="1">
            <a:spLocks/>
          </p:cNvSpPr>
          <p:nvPr/>
        </p:nvSpPr>
        <p:spPr>
          <a:xfrm>
            <a:off x="5147476" y="203944"/>
            <a:ext cx="1447800" cy="276999"/>
          </a:xfrm>
          <a:prstGeom prst="rect">
            <a:avLst/>
          </a:prstGeom>
        </p:spPr>
        <p:txBody>
          <a:bodyPr wrap="square" lIns="0" tIns="0" rIns="0" bIns="0">
            <a:spAutoFit/>
          </a:bodyPr>
          <a:lstStyle>
            <a:lvl1pPr marL="0">
              <a:defRPr>
                <a:solidFill>
                  <a:srgbClr val="FF99FF"/>
                </a:solidFill>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defTabSz="914400" latinLnBrk="0"/>
            <a:r>
              <a:rPr lang="en-US" sz="1800" kern="0" dirty="0"/>
              <a:t>&lt;Preliminary&gt;</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p:nvPr/>
        </p:nvSpPr>
        <p:spPr>
          <a:xfrm>
            <a:off x="400913" y="301879"/>
            <a:ext cx="622935" cy="299720"/>
          </a:xfrm>
          <a:prstGeom prst="rect">
            <a:avLst/>
          </a:prstGeom>
        </p:spPr>
        <p:txBody>
          <a:bodyPr vert="horz" wrap="square" lIns="0" tIns="12700" rIns="0" bIns="0" rtlCol="0">
            <a:spAutoFit/>
          </a:bodyPr>
          <a:lstStyle/>
          <a:p>
            <a:pPr marL="12700">
              <a:lnSpc>
                <a:spcPct val="100000"/>
              </a:lnSpc>
              <a:spcBef>
                <a:spcPts val="100"/>
              </a:spcBef>
            </a:pPr>
            <a:r>
              <a:rPr sz="1800" b="1" spc="-5" dirty="0">
                <a:latin typeface="Arial"/>
                <a:cs typeface="Arial"/>
              </a:rPr>
              <a:t>CQ24</a:t>
            </a:r>
            <a:endParaRPr sz="1800" dirty="0">
              <a:latin typeface="Arial"/>
              <a:cs typeface="Arial"/>
            </a:endParaRPr>
          </a:p>
        </p:txBody>
      </p:sp>
      <p:sp>
        <p:nvSpPr>
          <p:cNvPr id="5" name="object 5"/>
          <p:cNvSpPr txBox="1"/>
          <p:nvPr/>
        </p:nvSpPr>
        <p:spPr>
          <a:xfrm>
            <a:off x="400912" y="906018"/>
            <a:ext cx="6072311" cy="182101"/>
          </a:xfrm>
          <a:prstGeom prst="rect">
            <a:avLst/>
          </a:prstGeom>
        </p:spPr>
        <p:txBody>
          <a:bodyPr vert="horz" wrap="square" lIns="0" tIns="12700" rIns="0" bIns="0" rtlCol="0">
            <a:spAutoFit/>
          </a:bodyPr>
          <a:lstStyle/>
          <a:p>
            <a:pPr marL="12700">
              <a:lnSpc>
                <a:spcPct val="100000"/>
              </a:lnSpc>
              <a:spcBef>
                <a:spcPts val="100"/>
              </a:spcBef>
            </a:pPr>
            <a:r>
              <a:rPr sz="1100" b="1" spc="-10" dirty="0">
                <a:latin typeface="Arial"/>
                <a:cs typeface="Arial"/>
              </a:rPr>
              <a:t>Type3</a:t>
            </a:r>
            <a:r>
              <a:rPr sz="1100" b="1" spc="5" dirty="0">
                <a:latin typeface="Arial"/>
                <a:cs typeface="Arial"/>
              </a:rPr>
              <a:t> </a:t>
            </a:r>
            <a:r>
              <a:rPr sz="1100" b="1" dirty="0">
                <a:latin typeface="Arial"/>
                <a:cs typeface="Arial"/>
              </a:rPr>
              <a:t>:</a:t>
            </a:r>
            <a:r>
              <a:rPr sz="1100" b="1" spc="-35" dirty="0">
                <a:latin typeface="Arial"/>
                <a:cs typeface="Arial"/>
              </a:rPr>
              <a:t> </a:t>
            </a:r>
            <a:r>
              <a:rPr sz="1100" b="1" spc="-5" dirty="0">
                <a:latin typeface="Arial"/>
                <a:cs typeface="Arial"/>
              </a:rPr>
              <a:t>CMD3</a:t>
            </a:r>
            <a:endParaRPr sz="1100" dirty="0">
              <a:latin typeface="Arial"/>
              <a:cs typeface="Arial"/>
            </a:endParaRPr>
          </a:p>
        </p:txBody>
      </p:sp>
      <p:sp>
        <p:nvSpPr>
          <p:cNvPr id="6" name="object 6"/>
          <p:cNvSpPr txBox="1"/>
          <p:nvPr/>
        </p:nvSpPr>
        <p:spPr>
          <a:xfrm>
            <a:off x="400912" y="3707383"/>
            <a:ext cx="6066643" cy="820353"/>
          </a:xfrm>
          <a:prstGeom prst="rect">
            <a:avLst/>
          </a:prstGeom>
        </p:spPr>
        <p:txBody>
          <a:bodyPr vert="horz" wrap="square" lIns="0" tIns="13335" rIns="0" bIns="0" rtlCol="0">
            <a:spAutoFit/>
          </a:bodyPr>
          <a:lstStyle/>
          <a:p>
            <a:pPr marL="1788795">
              <a:lnSpc>
                <a:spcPct val="100000"/>
              </a:lnSpc>
              <a:spcBef>
                <a:spcPts val="105"/>
              </a:spcBef>
            </a:pPr>
            <a:r>
              <a:rPr lang="en-US" sz="900" b="1" spc="-5" dirty="0">
                <a:latin typeface="Arial"/>
                <a:cs typeface="Arial"/>
              </a:rPr>
              <a:t>          </a:t>
            </a:r>
            <a:r>
              <a:rPr sz="900" b="1" spc="-5" dirty="0">
                <a:latin typeface="Arial"/>
                <a:cs typeface="Arial"/>
              </a:rPr>
              <a:t>[Figure.</a:t>
            </a:r>
            <a:r>
              <a:rPr sz="900" b="1" spc="5" dirty="0">
                <a:latin typeface="Arial"/>
                <a:cs typeface="Arial"/>
              </a:rPr>
              <a:t> </a:t>
            </a:r>
            <a:r>
              <a:rPr lang="en-US" sz="900" b="1" spc="5" dirty="0">
                <a:latin typeface="Arial"/>
                <a:cs typeface="Arial"/>
              </a:rPr>
              <a:t>10</a:t>
            </a:r>
            <a:r>
              <a:rPr sz="900" b="1" spc="-5" dirty="0">
                <a:latin typeface="Arial"/>
                <a:cs typeface="Arial"/>
              </a:rPr>
              <a:t>-1]</a:t>
            </a:r>
            <a:r>
              <a:rPr sz="900" b="1" spc="5" dirty="0">
                <a:latin typeface="Arial"/>
                <a:cs typeface="Arial"/>
              </a:rPr>
              <a:t> </a:t>
            </a:r>
            <a:r>
              <a:rPr sz="900" b="1" spc="-5" dirty="0">
                <a:latin typeface="Arial"/>
                <a:cs typeface="Arial"/>
              </a:rPr>
              <a:t>CMD3</a:t>
            </a:r>
            <a:r>
              <a:rPr sz="900" b="1" spc="5" dirty="0">
                <a:latin typeface="Arial"/>
                <a:cs typeface="Arial"/>
              </a:rPr>
              <a:t> </a:t>
            </a:r>
            <a:r>
              <a:rPr sz="900" b="1" dirty="0">
                <a:latin typeface="Arial"/>
                <a:cs typeface="Arial"/>
              </a:rPr>
              <a:t>DUTY</a:t>
            </a:r>
            <a:r>
              <a:rPr sz="900" b="1" spc="-5" dirty="0">
                <a:latin typeface="Arial"/>
                <a:cs typeface="Arial"/>
              </a:rPr>
              <a:t> data</a:t>
            </a:r>
            <a:r>
              <a:rPr sz="900" b="1" spc="15" dirty="0">
                <a:latin typeface="Arial"/>
                <a:cs typeface="Arial"/>
              </a:rPr>
              <a:t> </a:t>
            </a:r>
            <a:r>
              <a:rPr sz="900" b="1" spc="-5" dirty="0">
                <a:latin typeface="Arial"/>
                <a:cs typeface="Arial"/>
              </a:rPr>
              <a:t>transfer</a:t>
            </a:r>
            <a:endParaRPr sz="900" b="1" dirty="0">
              <a:latin typeface="Arial"/>
              <a:cs typeface="Arial"/>
            </a:endParaRPr>
          </a:p>
          <a:p>
            <a:pPr>
              <a:lnSpc>
                <a:spcPct val="100000"/>
              </a:lnSpc>
            </a:pPr>
            <a:endParaRPr sz="900" b="1" dirty="0">
              <a:latin typeface="Arial"/>
              <a:cs typeface="Arial"/>
            </a:endParaRPr>
          </a:p>
          <a:p>
            <a:pPr>
              <a:lnSpc>
                <a:spcPct val="100000"/>
              </a:lnSpc>
              <a:spcBef>
                <a:spcPts val="30"/>
              </a:spcBef>
            </a:pPr>
            <a:endParaRPr sz="1000" dirty="0">
              <a:latin typeface="Arial"/>
              <a:cs typeface="Arial"/>
            </a:endParaRPr>
          </a:p>
          <a:p>
            <a:pPr marL="12700">
              <a:lnSpc>
                <a:spcPts val="1015"/>
              </a:lnSpc>
              <a:spcBef>
                <a:spcPts val="5"/>
              </a:spcBef>
            </a:pPr>
            <a:r>
              <a:rPr sz="850" i="1" spc="-35" dirty="0">
                <a:latin typeface="맑은 고딕"/>
                <a:cs typeface="맑은 고딕"/>
              </a:rPr>
              <a:t>※</a:t>
            </a:r>
            <a:r>
              <a:rPr sz="850" i="1" spc="-80" dirty="0">
                <a:latin typeface="맑은 고딕"/>
                <a:cs typeface="맑은 고딕"/>
              </a:rPr>
              <a:t> </a:t>
            </a:r>
            <a:r>
              <a:rPr sz="800" i="1" spc="-10" dirty="0">
                <a:latin typeface="Arial"/>
                <a:cs typeface="Arial"/>
              </a:rPr>
              <a:t>N</a:t>
            </a:r>
            <a:r>
              <a:rPr sz="800" i="1" spc="-5" dirty="0">
                <a:latin typeface="Arial"/>
                <a:cs typeface="Arial"/>
              </a:rPr>
              <a:t>o</a:t>
            </a:r>
            <a:r>
              <a:rPr sz="800" i="1" dirty="0">
                <a:latin typeface="Arial"/>
                <a:cs typeface="Arial"/>
              </a:rPr>
              <a:t>t</a:t>
            </a:r>
            <a:r>
              <a:rPr sz="800" i="1" spc="-5" dirty="0">
                <a:latin typeface="Arial"/>
                <a:cs typeface="Arial"/>
              </a:rPr>
              <a:t>e</a:t>
            </a:r>
            <a:r>
              <a:rPr sz="800" i="1" dirty="0">
                <a:latin typeface="Arial"/>
                <a:cs typeface="Arial"/>
              </a:rPr>
              <a:t>s:</a:t>
            </a:r>
            <a:endParaRPr sz="800" dirty="0">
              <a:latin typeface="Arial"/>
              <a:cs typeface="Arial"/>
            </a:endParaRPr>
          </a:p>
          <a:p>
            <a:pPr marL="125095" marR="5080" algn="just">
              <a:lnSpc>
                <a:spcPts val="960"/>
              </a:lnSpc>
              <a:spcBef>
                <a:spcPts val="25"/>
              </a:spcBef>
            </a:pPr>
            <a:r>
              <a:rPr sz="800" i="1" dirty="0">
                <a:latin typeface="Arial"/>
                <a:cs typeface="Arial"/>
              </a:rPr>
              <a:t>The </a:t>
            </a:r>
            <a:r>
              <a:rPr sz="800" i="1" spc="-5" dirty="0">
                <a:latin typeface="Arial"/>
                <a:cs typeface="Arial"/>
              </a:rPr>
              <a:t>upper subscripts #1, #2 and #N mean </a:t>
            </a:r>
            <a:r>
              <a:rPr sz="800" i="1" dirty="0">
                <a:latin typeface="Arial"/>
                <a:cs typeface="Arial"/>
              </a:rPr>
              <a:t>the DUTY </a:t>
            </a:r>
            <a:r>
              <a:rPr sz="800" i="1" spc="-5" dirty="0">
                <a:latin typeface="Arial"/>
                <a:cs typeface="Arial"/>
              </a:rPr>
              <a:t>of #1 </a:t>
            </a:r>
            <a:r>
              <a:rPr sz="800" i="1" dirty="0">
                <a:latin typeface="Arial"/>
                <a:cs typeface="Arial"/>
              </a:rPr>
              <a:t>block, </a:t>
            </a:r>
            <a:r>
              <a:rPr sz="800" i="1" spc="-5" dirty="0">
                <a:latin typeface="Arial"/>
                <a:cs typeface="Arial"/>
              </a:rPr>
              <a:t>#2 and #N </a:t>
            </a:r>
            <a:r>
              <a:rPr sz="800" i="1" dirty="0">
                <a:latin typeface="Arial"/>
                <a:cs typeface="Arial"/>
              </a:rPr>
              <a:t>block, </a:t>
            </a:r>
            <a:r>
              <a:rPr sz="800" i="1" spc="-5" dirty="0">
                <a:latin typeface="Arial"/>
                <a:cs typeface="Arial"/>
              </a:rPr>
              <a:t>respectively. </a:t>
            </a:r>
            <a:r>
              <a:rPr sz="800" i="1" spc="-210" dirty="0">
                <a:latin typeface="Arial"/>
                <a:cs typeface="Arial"/>
              </a:rPr>
              <a:t> </a:t>
            </a:r>
            <a:r>
              <a:rPr sz="800" i="1" dirty="0">
                <a:latin typeface="Arial"/>
                <a:cs typeface="Arial"/>
              </a:rPr>
              <a:t>The</a:t>
            </a:r>
            <a:r>
              <a:rPr sz="800" i="1" spc="-25" dirty="0">
                <a:latin typeface="Arial"/>
                <a:cs typeface="Arial"/>
              </a:rPr>
              <a:t> </a:t>
            </a:r>
            <a:r>
              <a:rPr sz="800" i="1" dirty="0">
                <a:latin typeface="Arial"/>
                <a:cs typeface="Arial"/>
              </a:rPr>
              <a:t>N</a:t>
            </a:r>
            <a:r>
              <a:rPr sz="800" i="1" spc="-15" dirty="0">
                <a:latin typeface="Arial"/>
                <a:cs typeface="Arial"/>
              </a:rPr>
              <a:t> </a:t>
            </a:r>
            <a:r>
              <a:rPr sz="800" i="1" spc="-5" dirty="0">
                <a:latin typeface="Arial"/>
                <a:cs typeface="Arial"/>
              </a:rPr>
              <a:t>means</a:t>
            </a:r>
            <a:r>
              <a:rPr sz="800" i="1" spc="-15" dirty="0">
                <a:latin typeface="Arial"/>
                <a:cs typeface="Arial"/>
              </a:rPr>
              <a:t> </a:t>
            </a:r>
            <a:r>
              <a:rPr sz="800" i="1" dirty="0">
                <a:latin typeface="Arial"/>
                <a:cs typeface="Arial"/>
              </a:rPr>
              <a:t>the</a:t>
            </a:r>
            <a:r>
              <a:rPr sz="800" i="1" spc="-5" dirty="0">
                <a:latin typeface="Arial"/>
                <a:cs typeface="Arial"/>
              </a:rPr>
              <a:t> number</a:t>
            </a:r>
            <a:r>
              <a:rPr sz="800" i="1" spc="-10" dirty="0">
                <a:latin typeface="Arial"/>
                <a:cs typeface="Arial"/>
              </a:rPr>
              <a:t> </a:t>
            </a:r>
            <a:r>
              <a:rPr sz="800" i="1" spc="-5" dirty="0">
                <a:latin typeface="Arial"/>
                <a:cs typeface="Arial"/>
              </a:rPr>
              <a:t>of </a:t>
            </a:r>
            <a:r>
              <a:rPr sz="800" i="1" dirty="0">
                <a:latin typeface="Arial"/>
                <a:cs typeface="Arial"/>
              </a:rPr>
              <a:t>whole</a:t>
            </a:r>
            <a:r>
              <a:rPr sz="800" i="1" spc="-30" dirty="0">
                <a:latin typeface="Arial"/>
                <a:cs typeface="Arial"/>
              </a:rPr>
              <a:t> </a:t>
            </a:r>
            <a:r>
              <a:rPr sz="800" i="1" dirty="0">
                <a:latin typeface="Arial"/>
                <a:cs typeface="Arial"/>
              </a:rPr>
              <a:t>blocks</a:t>
            </a:r>
            <a:r>
              <a:rPr sz="800" i="1" spc="-50" dirty="0">
                <a:latin typeface="Arial"/>
                <a:cs typeface="Arial"/>
              </a:rPr>
              <a:t> </a:t>
            </a:r>
            <a:r>
              <a:rPr sz="800" i="1" dirty="0">
                <a:latin typeface="Arial"/>
                <a:cs typeface="Arial"/>
              </a:rPr>
              <a:t>which</a:t>
            </a:r>
            <a:r>
              <a:rPr sz="800" i="1" spc="-50" dirty="0">
                <a:latin typeface="Arial"/>
                <a:cs typeface="Arial"/>
              </a:rPr>
              <a:t> </a:t>
            </a:r>
            <a:r>
              <a:rPr sz="800" i="1" spc="-5" dirty="0">
                <a:latin typeface="Arial"/>
                <a:cs typeface="Arial"/>
              </a:rPr>
              <a:t>are mapped</a:t>
            </a:r>
            <a:r>
              <a:rPr sz="800" i="1" dirty="0">
                <a:latin typeface="Arial"/>
                <a:cs typeface="Arial"/>
              </a:rPr>
              <a:t> </a:t>
            </a:r>
            <a:r>
              <a:rPr sz="800" i="1" spc="-5" dirty="0">
                <a:latin typeface="Arial"/>
                <a:cs typeface="Arial"/>
              </a:rPr>
              <a:t>by</a:t>
            </a:r>
            <a:r>
              <a:rPr sz="800" i="1" spc="-15" dirty="0">
                <a:latin typeface="Arial"/>
                <a:cs typeface="Arial"/>
              </a:rPr>
              <a:t> </a:t>
            </a:r>
            <a:r>
              <a:rPr sz="800" i="1" spc="-5" dirty="0">
                <a:latin typeface="Arial"/>
                <a:cs typeface="Arial"/>
              </a:rPr>
              <a:t>one</a:t>
            </a:r>
            <a:r>
              <a:rPr sz="800" i="1" spc="5" dirty="0">
                <a:latin typeface="Arial"/>
                <a:cs typeface="Arial"/>
              </a:rPr>
              <a:t> </a:t>
            </a:r>
            <a:r>
              <a:rPr lang="en-US" sz="800" i="1" spc="-5" dirty="0">
                <a:latin typeface="Arial"/>
                <a:cs typeface="Arial"/>
              </a:rPr>
              <a:t>CQ24</a:t>
            </a:r>
            <a:r>
              <a:rPr sz="800" i="1" spc="-15" dirty="0">
                <a:latin typeface="Arial"/>
                <a:cs typeface="Arial"/>
              </a:rPr>
              <a:t> </a:t>
            </a:r>
            <a:r>
              <a:rPr sz="800" i="1" dirty="0">
                <a:latin typeface="Arial"/>
                <a:cs typeface="Arial"/>
              </a:rPr>
              <a:t>device</a:t>
            </a:r>
            <a:r>
              <a:rPr lang="en-US" sz="800" dirty="0">
                <a:latin typeface="Arial"/>
                <a:cs typeface="Arial"/>
              </a:rPr>
              <a:t>. </a:t>
            </a:r>
            <a:r>
              <a:rPr sz="800" i="1" dirty="0">
                <a:latin typeface="Arial"/>
                <a:cs typeface="Arial"/>
              </a:rPr>
              <a:t>The</a:t>
            </a:r>
            <a:r>
              <a:rPr sz="800" i="1" spc="-30" dirty="0">
                <a:latin typeface="Arial"/>
                <a:cs typeface="Arial"/>
              </a:rPr>
              <a:t> </a:t>
            </a:r>
            <a:r>
              <a:rPr sz="800" i="1" spc="-5" dirty="0">
                <a:latin typeface="Arial"/>
                <a:cs typeface="Arial"/>
              </a:rPr>
              <a:t>transferred</a:t>
            </a:r>
            <a:r>
              <a:rPr sz="800" i="1" spc="-35" dirty="0">
                <a:latin typeface="Arial"/>
                <a:cs typeface="Arial"/>
              </a:rPr>
              <a:t> </a:t>
            </a:r>
            <a:r>
              <a:rPr sz="800" i="1" spc="-5" dirty="0">
                <a:latin typeface="Arial"/>
                <a:cs typeface="Arial"/>
              </a:rPr>
              <a:t>order</a:t>
            </a:r>
            <a:r>
              <a:rPr sz="800" i="1" spc="-25" dirty="0">
                <a:latin typeface="Arial"/>
                <a:cs typeface="Arial"/>
              </a:rPr>
              <a:t> </a:t>
            </a:r>
            <a:r>
              <a:rPr sz="800" i="1" dirty="0">
                <a:latin typeface="Arial"/>
                <a:cs typeface="Arial"/>
              </a:rPr>
              <a:t>is</a:t>
            </a:r>
            <a:r>
              <a:rPr sz="800" i="1" spc="-15" dirty="0">
                <a:latin typeface="Arial"/>
                <a:cs typeface="Arial"/>
              </a:rPr>
              <a:t> </a:t>
            </a:r>
            <a:r>
              <a:rPr sz="800" i="1" spc="-5" dirty="0">
                <a:latin typeface="Arial"/>
                <a:cs typeface="Arial"/>
              </a:rPr>
              <a:t>described</a:t>
            </a:r>
            <a:r>
              <a:rPr sz="800" i="1" spc="-35" dirty="0">
                <a:latin typeface="Arial"/>
                <a:cs typeface="Arial"/>
              </a:rPr>
              <a:t> </a:t>
            </a:r>
            <a:r>
              <a:rPr sz="800" i="1" dirty="0">
                <a:latin typeface="Arial"/>
                <a:cs typeface="Arial"/>
              </a:rPr>
              <a:t>later</a:t>
            </a:r>
            <a:r>
              <a:rPr sz="800" i="1" spc="-35" dirty="0">
                <a:latin typeface="Arial"/>
                <a:cs typeface="Arial"/>
              </a:rPr>
              <a:t> </a:t>
            </a:r>
            <a:r>
              <a:rPr sz="800" i="1" spc="-5" dirty="0">
                <a:latin typeface="Arial"/>
                <a:cs typeface="Arial"/>
              </a:rPr>
              <a:t>again.</a:t>
            </a:r>
            <a:endParaRPr sz="800" dirty="0">
              <a:latin typeface="Arial"/>
              <a:cs typeface="Arial"/>
            </a:endParaRPr>
          </a:p>
        </p:txBody>
      </p:sp>
      <p:pic>
        <p:nvPicPr>
          <p:cNvPr id="7" name="object 7"/>
          <p:cNvPicPr/>
          <p:nvPr/>
        </p:nvPicPr>
        <p:blipFill>
          <a:blip r:embed="rId2" cstate="print"/>
          <a:stretch>
            <a:fillRect/>
          </a:stretch>
        </p:blipFill>
        <p:spPr>
          <a:xfrm>
            <a:off x="400913" y="3067852"/>
            <a:ext cx="6032873" cy="484531"/>
          </a:xfrm>
          <a:prstGeom prst="rect">
            <a:avLst/>
          </a:prstGeom>
        </p:spPr>
      </p:pic>
      <p:pic>
        <p:nvPicPr>
          <p:cNvPr id="8" name="object 8"/>
          <p:cNvPicPr/>
          <p:nvPr/>
        </p:nvPicPr>
        <p:blipFill>
          <a:blip r:embed="rId3" cstate="print"/>
          <a:stretch>
            <a:fillRect/>
          </a:stretch>
        </p:blipFill>
        <p:spPr>
          <a:xfrm>
            <a:off x="400912" y="5220918"/>
            <a:ext cx="6032872" cy="1033730"/>
          </a:xfrm>
          <a:prstGeom prst="rect">
            <a:avLst/>
          </a:prstGeom>
        </p:spPr>
      </p:pic>
      <p:sp>
        <p:nvSpPr>
          <p:cNvPr id="9" name="object 9"/>
          <p:cNvSpPr txBox="1"/>
          <p:nvPr/>
        </p:nvSpPr>
        <p:spPr>
          <a:xfrm>
            <a:off x="400912" y="6477000"/>
            <a:ext cx="6032872" cy="151965"/>
          </a:xfrm>
          <a:prstGeom prst="rect">
            <a:avLst/>
          </a:prstGeom>
        </p:spPr>
        <p:txBody>
          <a:bodyPr vert="horz" wrap="square" lIns="0" tIns="13335" rIns="0" bIns="0" rtlCol="0">
            <a:spAutoFit/>
          </a:bodyPr>
          <a:lstStyle/>
          <a:p>
            <a:pPr marL="12700" algn="ctr">
              <a:lnSpc>
                <a:spcPct val="100000"/>
              </a:lnSpc>
              <a:spcBef>
                <a:spcPts val="105"/>
              </a:spcBef>
            </a:pPr>
            <a:r>
              <a:rPr sz="900" b="1" spc="-5" dirty="0">
                <a:latin typeface="Arial"/>
                <a:cs typeface="Arial"/>
              </a:rPr>
              <a:t>[Figure.</a:t>
            </a:r>
            <a:r>
              <a:rPr sz="900" b="1" spc="10" dirty="0">
                <a:latin typeface="Arial"/>
                <a:cs typeface="Arial"/>
              </a:rPr>
              <a:t> </a:t>
            </a:r>
            <a:r>
              <a:rPr lang="en-US" sz="900" b="1" spc="10" dirty="0">
                <a:latin typeface="Arial"/>
                <a:cs typeface="Arial"/>
              </a:rPr>
              <a:t>10</a:t>
            </a:r>
            <a:r>
              <a:rPr sz="900" b="1" spc="-5" dirty="0">
                <a:latin typeface="Arial"/>
                <a:cs typeface="Arial"/>
              </a:rPr>
              <a:t>-2]</a:t>
            </a:r>
            <a:r>
              <a:rPr sz="900" b="1" spc="15" dirty="0">
                <a:latin typeface="Arial"/>
                <a:cs typeface="Arial"/>
              </a:rPr>
              <a:t> </a:t>
            </a:r>
            <a:r>
              <a:rPr sz="900" b="1" spc="-5" dirty="0">
                <a:latin typeface="Arial"/>
                <a:cs typeface="Arial"/>
              </a:rPr>
              <a:t>CMD3</a:t>
            </a:r>
            <a:r>
              <a:rPr sz="900" b="1" spc="5" dirty="0">
                <a:latin typeface="Arial"/>
                <a:cs typeface="Arial"/>
              </a:rPr>
              <a:t> </a:t>
            </a:r>
            <a:r>
              <a:rPr sz="900" b="1" dirty="0">
                <a:latin typeface="Arial"/>
                <a:cs typeface="Arial"/>
              </a:rPr>
              <a:t>DUTY</a:t>
            </a:r>
            <a:r>
              <a:rPr sz="900" b="1" spc="5" dirty="0">
                <a:latin typeface="Arial"/>
                <a:cs typeface="Arial"/>
              </a:rPr>
              <a:t> </a:t>
            </a:r>
            <a:r>
              <a:rPr sz="900" b="1" spc="-5" dirty="0">
                <a:latin typeface="Arial"/>
                <a:cs typeface="Arial"/>
              </a:rPr>
              <a:t>data</a:t>
            </a:r>
            <a:r>
              <a:rPr sz="900" b="1" spc="15" dirty="0">
                <a:latin typeface="Arial"/>
                <a:cs typeface="Arial"/>
              </a:rPr>
              <a:t> </a:t>
            </a:r>
            <a:r>
              <a:rPr sz="900" b="1" spc="-5" dirty="0">
                <a:latin typeface="Arial"/>
                <a:cs typeface="Arial"/>
              </a:rPr>
              <a:t>transfer</a:t>
            </a:r>
            <a:r>
              <a:rPr sz="900" b="1" spc="10" dirty="0">
                <a:latin typeface="Arial"/>
                <a:cs typeface="Arial"/>
              </a:rPr>
              <a:t> </a:t>
            </a:r>
            <a:r>
              <a:rPr sz="900" b="1" dirty="0">
                <a:latin typeface="Arial"/>
                <a:cs typeface="Arial"/>
              </a:rPr>
              <a:t>in</a:t>
            </a:r>
            <a:r>
              <a:rPr sz="900" b="1" spc="5" dirty="0">
                <a:latin typeface="Arial"/>
                <a:cs typeface="Arial"/>
              </a:rPr>
              <a:t> </a:t>
            </a:r>
            <a:r>
              <a:rPr sz="900" b="1" dirty="0">
                <a:latin typeface="Arial"/>
                <a:cs typeface="Arial"/>
              </a:rPr>
              <a:t>daisy</a:t>
            </a:r>
            <a:r>
              <a:rPr sz="900" b="1" spc="5" dirty="0">
                <a:latin typeface="Arial"/>
                <a:cs typeface="Arial"/>
              </a:rPr>
              <a:t> </a:t>
            </a:r>
            <a:r>
              <a:rPr sz="900" b="1" spc="-5" dirty="0">
                <a:latin typeface="Arial"/>
                <a:cs typeface="Arial"/>
              </a:rPr>
              <a:t>connection</a:t>
            </a:r>
            <a:endParaRPr sz="900" b="1" dirty="0">
              <a:latin typeface="Arial"/>
              <a:cs typeface="Arial"/>
            </a:endParaRPr>
          </a:p>
        </p:txBody>
      </p:sp>
      <p:sp>
        <p:nvSpPr>
          <p:cNvPr id="13" name="TextBox 12">
            <a:extLst>
              <a:ext uri="{FF2B5EF4-FFF2-40B4-BE49-F238E27FC236}">
                <a16:creationId xmlns:a16="http://schemas.microsoft.com/office/drawing/2014/main" id="{59D73DB6-8F8F-A347-6BF9-11D85F2FED6F}"/>
              </a:ext>
            </a:extLst>
          </p:cNvPr>
          <p:cNvSpPr txBox="1"/>
          <p:nvPr/>
        </p:nvSpPr>
        <p:spPr>
          <a:xfrm>
            <a:off x="406581" y="1220660"/>
            <a:ext cx="6032873" cy="1107996"/>
          </a:xfrm>
          <a:prstGeom prst="rect">
            <a:avLst/>
          </a:prstGeom>
          <a:noFill/>
        </p:spPr>
        <p:txBody>
          <a:bodyPr wrap="square" lIns="0" tIns="0" rIns="0" bIns="0" rtlCol="0">
            <a:spAutoFit/>
          </a:bodyPr>
          <a:lstStyle/>
          <a:p>
            <a:pPr marL="12700" marR="5080" algn="just">
              <a:lnSpc>
                <a:spcPct val="100000"/>
              </a:lnSpc>
              <a:spcBef>
                <a:spcPts val="5"/>
              </a:spcBef>
            </a:pPr>
            <a:r>
              <a:rPr lang="en-US" altLang="ko-KR" sz="900" spc="-5" dirty="0">
                <a:latin typeface="Arial"/>
                <a:cs typeface="Arial"/>
              </a:rPr>
              <a:t>The</a:t>
            </a:r>
            <a:r>
              <a:rPr lang="en-US" altLang="ko-KR" sz="900" dirty="0">
                <a:latin typeface="Arial"/>
                <a:cs typeface="Arial"/>
              </a:rPr>
              <a:t> </a:t>
            </a:r>
            <a:r>
              <a:rPr lang="en-US" altLang="ko-KR" sz="900" spc="-5" dirty="0">
                <a:latin typeface="Arial"/>
                <a:cs typeface="Arial"/>
              </a:rPr>
              <a:t>tyep3,</a:t>
            </a:r>
            <a:r>
              <a:rPr lang="en-US" altLang="ko-KR" sz="900" spc="-10" dirty="0">
                <a:latin typeface="Arial"/>
                <a:cs typeface="Arial"/>
              </a:rPr>
              <a:t> CMD3</a:t>
            </a:r>
            <a:r>
              <a:rPr lang="en-US" altLang="ko-KR" sz="900" spc="10" dirty="0">
                <a:latin typeface="Arial"/>
                <a:cs typeface="Arial"/>
              </a:rPr>
              <a:t> </a:t>
            </a:r>
            <a:r>
              <a:rPr lang="en-US" altLang="ko-KR" sz="900" dirty="0">
                <a:latin typeface="Arial"/>
                <a:cs typeface="Arial"/>
              </a:rPr>
              <a:t>protocol</a:t>
            </a:r>
            <a:r>
              <a:rPr lang="en-US" altLang="ko-KR" sz="900" spc="-20" dirty="0">
                <a:latin typeface="Arial"/>
                <a:cs typeface="Arial"/>
              </a:rPr>
              <a:t> </a:t>
            </a:r>
            <a:r>
              <a:rPr lang="en-US" altLang="ko-KR" sz="900" dirty="0">
                <a:latin typeface="Arial"/>
                <a:cs typeface="Arial"/>
              </a:rPr>
              <a:t>is</a:t>
            </a:r>
            <a:r>
              <a:rPr lang="en-US" altLang="ko-KR" sz="900" spc="-5" dirty="0">
                <a:latin typeface="Arial"/>
                <a:cs typeface="Arial"/>
              </a:rPr>
              <a:t> </a:t>
            </a:r>
            <a:r>
              <a:rPr lang="en-US" altLang="ko-KR" sz="900" dirty="0">
                <a:latin typeface="Arial"/>
                <a:cs typeface="Arial"/>
              </a:rPr>
              <a:t>used</a:t>
            </a:r>
            <a:r>
              <a:rPr lang="en-US" altLang="ko-KR" sz="900" spc="-20" dirty="0">
                <a:latin typeface="Arial"/>
                <a:cs typeface="Arial"/>
              </a:rPr>
              <a:t> </a:t>
            </a:r>
            <a:r>
              <a:rPr lang="en-US" altLang="ko-KR" sz="900" dirty="0">
                <a:latin typeface="Arial"/>
                <a:cs typeface="Arial"/>
              </a:rPr>
              <a:t>to transfer</a:t>
            </a:r>
            <a:r>
              <a:rPr lang="en-US" altLang="ko-KR" sz="900" spc="-25" dirty="0">
                <a:latin typeface="Arial"/>
                <a:cs typeface="Arial"/>
              </a:rPr>
              <a:t> </a:t>
            </a:r>
            <a:r>
              <a:rPr lang="en-US" altLang="ko-KR" sz="900" dirty="0">
                <a:latin typeface="Arial"/>
                <a:cs typeface="Arial"/>
              </a:rPr>
              <a:t>the</a:t>
            </a:r>
            <a:r>
              <a:rPr lang="en-US" altLang="ko-KR" sz="900" spc="-10" dirty="0">
                <a:latin typeface="Arial"/>
                <a:cs typeface="Arial"/>
              </a:rPr>
              <a:t> </a:t>
            </a:r>
            <a:r>
              <a:rPr lang="en-US" altLang="ko-KR" sz="900" dirty="0">
                <a:latin typeface="Arial"/>
                <a:cs typeface="Arial"/>
              </a:rPr>
              <a:t>local</a:t>
            </a:r>
            <a:r>
              <a:rPr lang="en-US" altLang="ko-KR" sz="900" spc="-20" dirty="0">
                <a:latin typeface="Arial"/>
                <a:cs typeface="Arial"/>
              </a:rPr>
              <a:t> </a:t>
            </a:r>
            <a:r>
              <a:rPr lang="en-US" altLang="ko-KR" sz="900" dirty="0">
                <a:latin typeface="Arial"/>
                <a:cs typeface="Arial"/>
              </a:rPr>
              <a:t>dimming,</a:t>
            </a:r>
            <a:r>
              <a:rPr lang="en-US" altLang="ko-KR" sz="900" spc="-35" dirty="0">
                <a:latin typeface="Arial"/>
                <a:cs typeface="Arial"/>
              </a:rPr>
              <a:t> </a:t>
            </a:r>
            <a:r>
              <a:rPr lang="en-US" altLang="ko-KR" sz="900" spc="-5" dirty="0">
                <a:latin typeface="Arial"/>
                <a:cs typeface="Arial"/>
              </a:rPr>
              <a:t>DUTY</a:t>
            </a:r>
            <a:r>
              <a:rPr lang="en-US" altLang="ko-KR" sz="900" spc="10" dirty="0">
                <a:latin typeface="Arial"/>
                <a:cs typeface="Arial"/>
              </a:rPr>
              <a:t> </a:t>
            </a:r>
            <a:r>
              <a:rPr lang="en-US" altLang="ko-KR" sz="900" dirty="0">
                <a:latin typeface="Arial"/>
                <a:cs typeface="Arial"/>
              </a:rPr>
              <a:t>data,</a:t>
            </a:r>
            <a:r>
              <a:rPr lang="en-US" altLang="ko-KR" sz="900" spc="-25" dirty="0">
                <a:latin typeface="Arial"/>
                <a:cs typeface="Arial"/>
              </a:rPr>
              <a:t> </a:t>
            </a:r>
            <a:r>
              <a:rPr lang="en-US" altLang="ko-KR" sz="900" dirty="0">
                <a:latin typeface="Arial"/>
                <a:cs typeface="Arial"/>
              </a:rPr>
              <a:t>and</a:t>
            </a:r>
            <a:r>
              <a:rPr lang="en-US" altLang="ko-KR" sz="900" spc="-10" dirty="0">
                <a:latin typeface="Arial"/>
                <a:cs typeface="Arial"/>
              </a:rPr>
              <a:t> </a:t>
            </a:r>
            <a:r>
              <a:rPr lang="en-US" altLang="ko-KR" sz="900" dirty="0">
                <a:latin typeface="Arial"/>
                <a:cs typeface="Arial"/>
              </a:rPr>
              <a:t>consists</a:t>
            </a:r>
            <a:r>
              <a:rPr lang="en-US" altLang="ko-KR" sz="900" spc="-30" dirty="0">
                <a:latin typeface="Arial"/>
                <a:cs typeface="Arial"/>
              </a:rPr>
              <a:t> </a:t>
            </a:r>
            <a:r>
              <a:rPr lang="en-US" altLang="ko-KR" sz="900" dirty="0">
                <a:latin typeface="Arial"/>
                <a:cs typeface="Arial"/>
              </a:rPr>
              <a:t>of</a:t>
            </a:r>
            <a:r>
              <a:rPr lang="en-US" altLang="ko-KR" sz="900" spc="-10" dirty="0">
                <a:latin typeface="Arial"/>
                <a:cs typeface="Arial"/>
              </a:rPr>
              <a:t> </a:t>
            </a:r>
            <a:r>
              <a:rPr lang="en-US" altLang="ko-KR" sz="900" dirty="0">
                <a:latin typeface="Arial"/>
                <a:cs typeface="Arial"/>
              </a:rPr>
              <a:t>the</a:t>
            </a:r>
            <a:r>
              <a:rPr lang="en-US" altLang="ko-KR" sz="900" spc="-10" dirty="0">
                <a:latin typeface="Arial"/>
                <a:cs typeface="Arial"/>
              </a:rPr>
              <a:t> </a:t>
            </a:r>
            <a:r>
              <a:rPr lang="en-US" altLang="ko-KR" sz="900" dirty="0">
                <a:latin typeface="Arial"/>
                <a:cs typeface="Arial"/>
              </a:rPr>
              <a:t>command</a:t>
            </a:r>
            <a:r>
              <a:rPr lang="en-US" altLang="ko-KR" sz="900" spc="-35" dirty="0">
                <a:latin typeface="Arial"/>
                <a:cs typeface="Arial"/>
              </a:rPr>
              <a:t> </a:t>
            </a:r>
            <a:r>
              <a:rPr lang="en-US" altLang="ko-KR" sz="900" dirty="0">
                <a:latin typeface="Arial"/>
                <a:cs typeface="Arial"/>
              </a:rPr>
              <a:t>2</a:t>
            </a:r>
            <a:r>
              <a:rPr lang="en-US" altLang="ko-KR" sz="900" spc="-10" dirty="0">
                <a:latin typeface="Arial"/>
                <a:cs typeface="Arial"/>
              </a:rPr>
              <a:t> </a:t>
            </a:r>
            <a:r>
              <a:rPr lang="en-US" altLang="ko-KR" sz="900" dirty="0">
                <a:latin typeface="Arial"/>
                <a:cs typeface="Arial"/>
              </a:rPr>
              <a:t>bits,</a:t>
            </a:r>
            <a:r>
              <a:rPr lang="en-US" altLang="ko-KR" sz="900" spc="-10" dirty="0">
                <a:latin typeface="Arial"/>
                <a:cs typeface="Arial"/>
              </a:rPr>
              <a:t> </a:t>
            </a:r>
            <a:r>
              <a:rPr lang="en-US" altLang="ko-KR" sz="900" dirty="0">
                <a:latin typeface="Arial"/>
                <a:cs typeface="Arial"/>
              </a:rPr>
              <a:t>b’01, and the</a:t>
            </a:r>
            <a:r>
              <a:rPr lang="en-US" altLang="ko-KR" sz="900" spc="-10" dirty="0">
                <a:latin typeface="Arial"/>
                <a:cs typeface="Arial"/>
              </a:rPr>
              <a:t> </a:t>
            </a:r>
            <a:r>
              <a:rPr lang="en-US" altLang="ko-KR" sz="900" dirty="0">
                <a:latin typeface="Arial"/>
                <a:cs typeface="Arial"/>
              </a:rPr>
              <a:t>frame</a:t>
            </a:r>
            <a:r>
              <a:rPr lang="en-US" altLang="ko-KR" sz="900" spc="-20" dirty="0">
                <a:latin typeface="Arial"/>
                <a:cs typeface="Arial"/>
              </a:rPr>
              <a:t> </a:t>
            </a:r>
            <a:r>
              <a:rPr lang="en-US" altLang="ko-KR" sz="900" spc="-5" dirty="0">
                <a:latin typeface="Arial"/>
                <a:cs typeface="Arial"/>
              </a:rPr>
              <a:t>header</a:t>
            </a:r>
            <a:r>
              <a:rPr lang="en-US" altLang="ko-KR" sz="900" spc="-20" dirty="0">
                <a:latin typeface="Arial"/>
                <a:cs typeface="Arial"/>
              </a:rPr>
              <a:t> </a:t>
            </a:r>
            <a:r>
              <a:rPr lang="en-US" altLang="ko-KR" sz="900" spc="-5" dirty="0">
                <a:latin typeface="Arial"/>
                <a:cs typeface="Arial"/>
              </a:rPr>
              <a:t>14</a:t>
            </a:r>
            <a:r>
              <a:rPr lang="en-US" altLang="ko-KR" sz="900" dirty="0">
                <a:latin typeface="Arial"/>
                <a:cs typeface="Arial"/>
              </a:rPr>
              <a:t> bits.</a:t>
            </a:r>
            <a:r>
              <a:rPr lang="en-US" altLang="ko-KR" sz="900" spc="229" dirty="0">
                <a:latin typeface="Arial"/>
                <a:cs typeface="Arial"/>
              </a:rPr>
              <a:t> </a:t>
            </a:r>
            <a:r>
              <a:rPr lang="en-US" altLang="ko-KR" sz="900" spc="-5" dirty="0">
                <a:latin typeface="Arial"/>
                <a:cs typeface="Arial"/>
              </a:rPr>
              <a:t>The</a:t>
            </a:r>
            <a:r>
              <a:rPr lang="en-US" altLang="ko-KR" sz="900" dirty="0">
                <a:latin typeface="Arial"/>
                <a:cs typeface="Arial"/>
              </a:rPr>
              <a:t> frame</a:t>
            </a:r>
            <a:r>
              <a:rPr lang="en-US" altLang="ko-KR" sz="900" spc="-20" dirty="0">
                <a:latin typeface="Arial"/>
                <a:cs typeface="Arial"/>
              </a:rPr>
              <a:t> </a:t>
            </a:r>
            <a:r>
              <a:rPr lang="en-US" altLang="ko-KR" sz="900" spc="-5" dirty="0">
                <a:latin typeface="Arial"/>
                <a:cs typeface="Arial"/>
              </a:rPr>
              <a:t>header </a:t>
            </a:r>
            <a:r>
              <a:rPr lang="en-US" altLang="ko-KR" sz="900" dirty="0">
                <a:latin typeface="Arial"/>
                <a:cs typeface="Arial"/>
              </a:rPr>
              <a:t>consist</a:t>
            </a:r>
            <a:r>
              <a:rPr lang="en-US" altLang="ko-KR" sz="900" spc="-35" dirty="0">
                <a:latin typeface="Arial"/>
                <a:cs typeface="Arial"/>
              </a:rPr>
              <a:t> </a:t>
            </a:r>
            <a:r>
              <a:rPr lang="en-US" altLang="ko-KR" sz="900" dirty="0">
                <a:latin typeface="Arial"/>
                <a:cs typeface="Arial"/>
              </a:rPr>
              <a:t>of</a:t>
            </a:r>
            <a:r>
              <a:rPr lang="en-US" altLang="ko-KR" sz="900" spc="-10" dirty="0">
                <a:latin typeface="Arial"/>
                <a:cs typeface="Arial"/>
              </a:rPr>
              <a:t> </a:t>
            </a:r>
            <a:r>
              <a:rPr lang="en-US" altLang="ko-KR" sz="900" dirty="0">
                <a:latin typeface="Arial"/>
                <a:cs typeface="Arial"/>
              </a:rPr>
              <a:t>Frame_CZ</a:t>
            </a:r>
            <a:r>
              <a:rPr lang="en-US" altLang="ko-KR" sz="900" spc="-20" dirty="0">
                <a:latin typeface="Arial"/>
                <a:cs typeface="Arial"/>
              </a:rPr>
              <a:t> </a:t>
            </a:r>
            <a:r>
              <a:rPr lang="en-US" altLang="ko-KR" sz="900" spc="-5" dirty="0">
                <a:latin typeface="Arial"/>
                <a:cs typeface="Arial"/>
              </a:rPr>
              <a:t>2</a:t>
            </a:r>
            <a:r>
              <a:rPr lang="en-US" altLang="ko-KR" sz="900" dirty="0">
                <a:latin typeface="Arial"/>
                <a:cs typeface="Arial"/>
              </a:rPr>
              <a:t> bits</a:t>
            </a:r>
            <a:r>
              <a:rPr lang="en-US" altLang="ko-KR" sz="900" spc="-20" dirty="0">
                <a:latin typeface="Arial"/>
                <a:cs typeface="Arial"/>
              </a:rPr>
              <a:t> </a:t>
            </a:r>
            <a:r>
              <a:rPr lang="en-US" altLang="ko-KR" sz="900" spc="-5" dirty="0">
                <a:latin typeface="Arial"/>
                <a:cs typeface="Arial"/>
              </a:rPr>
              <a:t>and </a:t>
            </a:r>
            <a:r>
              <a:rPr lang="en-US" altLang="ko-KR" sz="900" dirty="0">
                <a:latin typeface="Arial"/>
                <a:cs typeface="Arial"/>
              </a:rPr>
              <a:t>Frame_VREF</a:t>
            </a:r>
            <a:r>
              <a:rPr lang="en-US" altLang="ko-KR" sz="900" spc="-25" dirty="0">
                <a:latin typeface="Arial"/>
                <a:cs typeface="Arial"/>
              </a:rPr>
              <a:t> </a:t>
            </a:r>
            <a:r>
              <a:rPr lang="en-US" altLang="ko-KR" sz="900" spc="-5" dirty="0">
                <a:latin typeface="Arial"/>
                <a:cs typeface="Arial"/>
              </a:rPr>
              <a:t>12</a:t>
            </a:r>
            <a:r>
              <a:rPr lang="en-US" altLang="ko-KR" sz="900" spc="-10" dirty="0">
                <a:latin typeface="Arial"/>
                <a:cs typeface="Arial"/>
              </a:rPr>
              <a:t> </a:t>
            </a:r>
            <a:r>
              <a:rPr lang="en-US" altLang="ko-KR" sz="900" dirty="0">
                <a:latin typeface="Arial"/>
                <a:cs typeface="Arial"/>
              </a:rPr>
              <a:t>bits. </a:t>
            </a:r>
            <a:r>
              <a:rPr lang="en-US" altLang="ko-KR" sz="900" spc="-5" dirty="0">
                <a:latin typeface="Arial"/>
                <a:cs typeface="Arial"/>
              </a:rPr>
              <a:t>The </a:t>
            </a:r>
            <a:r>
              <a:rPr lang="en-US" altLang="ko-KR" sz="900" dirty="0">
                <a:latin typeface="Arial"/>
                <a:cs typeface="Arial"/>
              </a:rPr>
              <a:t>Frame_CZ </a:t>
            </a:r>
            <a:r>
              <a:rPr lang="en-US" altLang="ko-KR" sz="900" spc="-5" dirty="0">
                <a:latin typeface="Arial"/>
                <a:cs typeface="Arial"/>
              </a:rPr>
              <a:t>are </a:t>
            </a:r>
            <a:r>
              <a:rPr lang="en-US" altLang="ko-KR" sz="900" dirty="0">
                <a:latin typeface="Arial"/>
                <a:cs typeface="Arial"/>
              </a:rPr>
              <a:t>used to</a:t>
            </a:r>
            <a:r>
              <a:rPr lang="en-US" altLang="ko-KR" sz="900" spc="5" dirty="0">
                <a:latin typeface="Arial"/>
                <a:cs typeface="Arial"/>
              </a:rPr>
              <a:t> </a:t>
            </a:r>
            <a:r>
              <a:rPr lang="en-US" altLang="ko-KR" sz="900" dirty="0">
                <a:latin typeface="Arial"/>
                <a:cs typeface="Arial"/>
              </a:rPr>
              <a:t>configure the </a:t>
            </a:r>
            <a:r>
              <a:rPr lang="en-US" altLang="ko-KR" sz="900" spc="-5" dirty="0">
                <a:latin typeface="Arial"/>
                <a:cs typeface="Arial"/>
              </a:rPr>
              <a:t>LED Driver, AQ06/08 devices, </a:t>
            </a:r>
            <a:r>
              <a:rPr lang="en-US" altLang="ko-KR" sz="900" dirty="0">
                <a:latin typeface="Arial"/>
                <a:cs typeface="Arial"/>
              </a:rPr>
              <a:t>at </a:t>
            </a:r>
            <a:r>
              <a:rPr lang="en-US" altLang="ko-KR" sz="900" spc="-5" dirty="0">
                <a:latin typeface="Arial"/>
                <a:cs typeface="Arial"/>
              </a:rPr>
              <a:t>initialization </a:t>
            </a:r>
            <a:r>
              <a:rPr lang="en-US" altLang="ko-KR" sz="900" dirty="0">
                <a:latin typeface="Arial"/>
                <a:cs typeface="Arial"/>
              </a:rPr>
              <a:t>after </a:t>
            </a:r>
            <a:r>
              <a:rPr lang="en-US" altLang="ko-KR" sz="900" spc="-5" dirty="0">
                <a:latin typeface="Arial"/>
                <a:cs typeface="Arial"/>
              </a:rPr>
              <a:t>POR and then </a:t>
            </a:r>
            <a:r>
              <a:rPr lang="en-US" altLang="ko-KR" sz="900" dirty="0">
                <a:latin typeface="Arial"/>
                <a:cs typeface="Arial"/>
              </a:rPr>
              <a:t>to present AQ</a:t>
            </a:r>
            <a:r>
              <a:rPr lang="en-US" altLang="ko-KR" sz="900" spc="-5" dirty="0">
                <a:latin typeface="Arial"/>
                <a:cs typeface="Arial"/>
              </a:rPr>
              <a:t> </a:t>
            </a:r>
            <a:r>
              <a:rPr lang="en-US" altLang="ko-KR" sz="900" dirty="0">
                <a:latin typeface="Arial"/>
                <a:cs typeface="Arial"/>
              </a:rPr>
              <a:t>series</a:t>
            </a:r>
            <a:r>
              <a:rPr lang="en-US" altLang="ko-KR" sz="900" spc="-25" dirty="0">
                <a:latin typeface="Arial"/>
                <a:cs typeface="Arial"/>
              </a:rPr>
              <a:t> </a:t>
            </a:r>
            <a:r>
              <a:rPr lang="en-US" altLang="ko-KR" sz="900" spc="-5" dirty="0">
                <a:latin typeface="Arial"/>
                <a:cs typeface="Arial"/>
              </a:rPr>
              <a:t>with</a:t>
            </a:r>
            <a:r>
              <a:rPr lang="en-US" altLang="ko-KR" sz="900" dirty="0">
                <a:latin typeface="Arial"/>
                <a:cs typeface="Arial"/>
              </a:rPr>
              <a:t> </a:t>
            </a:r>
            <a:r>
              <a:rPr lang="en-US" altLang="ko-KR" sz="900" spc="-5" dirty="0">
                <a:latin typeface="Arial"/>
                <a:cs typeface="Arial"/>
              </a:rPr>
              <a:t>proper</a:t>
            </a:r>
            <a:r>
              <a:rPr lang="en-US" altLang="ko-KR" sz="900" spc="-10" dirty="0">
                <a:latin typeface="Arial"/>
                <a:cs typeface="Arial"/>
              </a:rPr>
              <a:t> </a:t>
            </a:r>
            <a:r>
              <a:rPr lang="en-US" altLang="ko-KR" sz="900" dirty="0">
                <a:latin typeface="Arial"/>
                <a:cs typeface="Arial"/>
              </a:rPr>
              <a:t>CZ</a:t>
            </a:r>
            <a:r>
              <a:rPr lang="en-US" altLang="ko-KR" sz="900" spc="-10" dirty="0">
                <a:latin typeface="Arial"/>
                <a:cs typeface="Arial"/>
              </a:rPr>
              <a:t> </a:t>
            </a:r>
            <a:r>
              <a:rPr lang="en-US" altLang="ko-KR" sz="900" spc="-5" dirty="0">
                <a:latin typeface="Arial"/>
                <a:cs typeface="Arial"/>
              </a:rPr>
              <a:t>levels </a:t>
            </a:r>
            <a:r>
              <a:rPr lang="en-US" altLang="ko-KR" sz="900" dirty="0">
                <a:latin typeface="Arial"/>
                <a:cs typeface="Arial"/>
              </a:rPr>
              <a:t>for</a:t>
            </a:r>
            <a:r>
              <a:rPr lang="en-US" altLang="ko-KR" sz="900" spc="-10" dirty="0">
                <a:latin typeface="Arial"/>
                <a:cs typeface="Arial"/>
              </a:rPr>
              <a:t> </a:t>
            </a:r>
            <a:r>
              <a:rPr lang="en-US" altLang="ko-KR" sz="900" spc="-5" dirty="0">
                <a:latin typeface="Arial"/>
                <a:cs typeface="Arial"/>
              </a:rPr>
              <a:t>good</a:t>
            </a:r>
            <a:r>
              <a:rPr lang="en-US" altLang="ko-KR" sz="900" spc="-10" dirty="0">
                <a:latin typeface="Arial"/>
                <a:cs typeface="Arial"/>
              </a:rPr>
              <a:t> </a:t>
            </a:r>
            <a:r>
              <a:rPr lang="en-US" altLang="ko-KR" sz="900" dirty="0">
                <a:latin typeface="Arial"/>
                <a:cs typeface="Arial"/>
              </a:rPr>
              <a:t>local</a:t>
            </a:r>
            <a:r>
              <a:rPr lang="en-US" altLang="ko-KR" sz="900" spc="-20" dirty="0">
                <a:latin typeface="Arial"/>
                <a:cs typeface="Arial"/>
              </a:rPr>
              <a:t> </a:t>
            </a:r>
            <a:r>
              <a:rPr lang="en-US" altLang="ko-KR" sz="900" dirty="0">
                <a:latin typeface="Arial"/>
                <a:cs typeface="Arial"/>
              </a:rPr>
              <a:t>dimming</a:t>
            </a:r>
            <a:r>
              <a:rPr lang="en-US" altLang="ko-KR" sz="900" spc="-35" dirty="0">
                <a:latin typeface="Arial"/>
                <a:cs typeface="Arial"/>
              </a:rPr>
              <a:t> </a:t>
            </a:r>
            <a:r>
              <a:rPr lang="en-US" altLang="ko-KR" sz="900" dirty="0">
                <a:latin typeface="Arial"/>
                <a:cs typeface="Arial"/>
              </a:rPr>
              <a:t>operation. </a:t>
            </a:r>
            <a:r>
              <a:rPr lang="en-US" altLang="ko-KR" sz="900" spc="-5" dirty="0">
                <a:latin typeface="Arial"/>
                <a:cs typeface="Arial"/>
              </a:rPr>
              <a:t>The </a:t>
            </a:r>
            <a:r>
              <a:rPr lang="en-US" altLang="ko-KR" sz="900" dirty="0">
                <a:latin typeface="Arial"/>
                <a:cs typeface="Arial"/>
              </a:rPr>
              <a:t>Frame_VREF</a:t>
            </a:r>
            <a:r>
              <a:rPr lang="en-US" altLang="ko-KR" sz="900" spc="-25" dirty="0">
                <a:latin typeface="Arial"/>
                <a:cs typeface="Arial"/>
              </a:rPr>
              <a:t> </a:t>
            </a:r>
            <a:r>
              <a:rPr lang="en-US" altLang="ko-KR" sz="900" dirty="0">
                <a:latin typeface="Arial"/>
                <a:cs typeface="Arial"/>
              </a:rPr>
              <a:t>are</a:t>
            </a:r>
            <a:r>
              <a:rPr lang="en-US" altLang="ko-KR" sz="900" spc="-15" dirty="0">
                <a:latin typeface="Arial"/>
                <a:cs typeface="Arial"/>
              </a:rPr>
              <a:t> </a:t>
            </a:r>
            <a:r>
              <a:rPr lang="en-US" altLang="ko-KR" sz="900" dirty="0">
                <a:latin typeface="Arial"/>
                <a:cs typeface="Arial"/>
              </a:rPr>
              <a:t>used</a:t>
            </a:r>
            <a:r>
              <a:rPr lang="en-US" altLang="ko-KR" sz="900" spc="-10" dirty="0">
                <a:latin typeface="Arial"/>
                <a:cs typeface="Arial"/>
              </a:rPr>
              <a:t> </a:t>
            </a:r>
            <a:r>
              <a:rPr lang="en-US" altLang="ko-KR" sz="900" dirty="0">
                <a:latin typeface="Arial"/>
                <a:cs typeface="Arial"/>
              </a:rPr>
              <a:t>to</a:t>
            </a:r>
            <a:r>
              <a:rPr lang="en-US" altLang="ko-KR" sz="900" spc="-10" dirty="0">
                <a:latin typeface="Arial"/>
                <a:cs typeface="Arial"/>
              </a:rPr>
              <a:t> </a:t>
            </a:r>
            <a:r>
              <a:rPr lang="en-US" altLang="ko-KR" sz="900" dirty="0">
                <a:latin typeface="Arial"/>
                <a:cs typeface="Arial"/>
              </a:rPr>
              <a:t>set</a:t>
            </a:r>
            <a:r>
              <a:rPr lang="en-US" altLang="ko-KR" sz="900" spc="-15" dirty="0">
                <a:latin typeface="Arial"/>
                <a:cs typeface="Arial"/>
              </a:rPr>
              <a:t> </a:t>
            </a:r>
            <a:r>
              <a:rPr lang="en-US" altLang="ko-KR" sz="900" dirty="0">
                <a:latin typeface="Arial"/>
                <a:cs typeface="Arial"/>
              </a:rPr>
              <a:t>the</a:t>
            </a:r>
            <a:r>
              <a:rPr lang="en-US" altLang="ko-KR" sz="900" spc="-10" dirty="0">
                <a:latin typeface="Arial"/>
                <a:cs typeface="Arial"/>
              </a:rPr>
              <a:t> </a:t>
            </a:r>
            <a:r>
              <a:rPr lang="en-US" altLang="ko-KR" sz="900" spc="-5" dirty="0">
                <a:latin typeface="Arial"/>
                <a:cs typeface="Arial"/>
              </a:rPr>
              <a:t>maximum </a:t>
            </a:r>
            <a:r>
              <a:rPr lang="en-US" altLang="ko-KR" sz="900" dirty="0">
                <a:latin typeface="Arial"/>
                <a:cs typeface="Arial"/>
              </a:rPr>
              <a:t>current</a:t>
            </a:r>
            <a:r>
              <a:rPr lang="en-US" altLang="ko-KR" sz="900" spc="-30" dirty="0">
                <a:latin typeface="Arial"/>
                <a:cs typeface="Arial"/>
              </a:rPr>
              <a:t> </a:t>
            </a:r>
            <a:r>
              <a:rPr lang="en-US" altLang="ko-KR" sz="900" spc="-5" dirty="0">
                <a:latin typeface="Arial"/>
                <a:cs typeface="Arial"/>
              </a:rPr>
              <a:t>level</a:t>
            </a:r>
            <a:r>
              <a:rPr lang="en-US" altLang="ko-KR" sz="900" spc="-10" dirty="0">
                <a:latin typeface="Arial"/>
                <a:cs typeface="Arial"/>
              </a:rPr>
              <a:t> </a:t>
            </a:r>
            <a:r>
              <a:rPr lang="en-US" altLang="ko-KR" sz="900" dirty="0">
                <a:latin typeface="Arial"/>
                <a:cs typeface="Arial"/>
              </a:rPr>
              <a:t>of</a:t>
            </a:r>
            <a:r>
              <a:rPr lang="en-US" altLang="ko-KR" sz="900" spc="-10" dirty="0">
                <a:latin typeface="Arial"/>
                <a:cs typeface="Arial"/>
              </a:rPr>
              <a:t> </a:t>
            </a:r>
            <a:r>
              <a:rPr lang="en-US" altLang="ko-KR" sz="900" dirty="0">
                <a:latin typeface="Arial"/>
                <a:cs typeface="Arial"/>
              </a:rPr>
              <a:t>each</a:t>
            </a:r>
            <a:r>
              <a:rPr lang="en-US" altLang="ko-KR" sz="900" spc="-15" dirty="0">
                <a:latin typeface="Arial"/>
                <a:cs typeface="Arial"/>
              </a:rPr>
              <a:t> </a:t>
            </a:r>
            <a:r>
              <a:rPr lang="en-US" altLang="ko-KR" sz="900" dirty="0">
                <a:latin typeface="Arial"/>
                <a:cs typeface="Arial"/>
              </a:rPr>
              <a:t>frame’s</a:t>
            </a:r>
            <a:r>
              <a:rPr lang="en-US" altLang="ko-KR" sz="900" spc="-30" dirty="0">
                <a:latin typeface="Arial"/>
                <a:cs typeface="Arial"/>
              </a:rPr>
              <a:t> </a:t>
            </a:r>
            <a:r>
              <a:rPr lang="en-US" altLang="ko-KR" sz="900" dirty="0">
                <a:latin typeface="Arial"/>
                <a:cs typeface="Arial"/>
              </a:rPr>
              <a:t>period. </a:t>
            </a:r>
            <a:r>
              <a:rPr lang="en-US" altLang="ko-KR" sz="900" spc="-5" dirty="0">
                <a:latin typeface="Arial"/>
                <a:cs typeface="Arial"/>
              </a:rPr>
              <a:t>The</a:t>
            </a:r>
            <a:r>
              <a:rPr lang="en-US" altLang="ko-KR" sz="900" dirty="0">
                <a:latin typeface="Arial"/>
                <a:cs typeface="Arial"/>
              </a:rPr>
              <a:t> frame</a:t>
            </a:r>
            <a:r>
              <a:rPr lang="en-US" altLang="ko-KR" sz="900" spc="-15" dirty="0">
                <a:latin typeface="Arial"/>
                <a:cs typeface="Arial"/>
              </a:rPr>
              <a:t> </a:t>
            </a:r>
            <a:r>
              <a:rPr lang="en-US" altLang="ko-KR" sz="900" spc="-5" dirty="0">
                <a:latin typeface="Arial"/>
                <a:cs typeface="Arial"/>
              </a:rPr>
              <a:t>header</a:t>
            </a:r>
            <a:r>
              <a:rPr lang="en-US" altLang="ko-KR" sz="900" spc="-10" dirty="0">
                <a:latin typeface="Arial"/>
                <a:cs typeface="Arial"/>
              </a:rPr>
              <a:t> </a:t>
            </a:r>
            <a:r>
              <a:rPr lang="en-US" altLang="ko-KR" sz="900" spc="-5" dirty="0">
                <a:latin typeface="Arial"/>
                <a:cs typeface="Arial"/>
              </a:rPr>
              <a:t>is</a:t>
            </a:r>
            <a:r>
              <a:rPr lang="en-US" altLang="ko-KR" sz="900" dirty="0">
                <a:latin typeface="Arial"/>
                <a:cs typeface="Arial"/>
              </a:rPr>
              <a:t> </a:t>
            </a:r>
            <a:r>
              <a:rPr lang="en-US" altLang="ko-KR" sz="900" spc="-5" dirty="0">
                <a:latin typeface="Arial"/>
                <a:cs typeface="Arial"/>
              </a:rPr>
              <a:t>followed</a:t>
            </a:r>
            <a:r>
              <a:rPr lang="en-US" altLang="ko-KR" sz="900" spc="-15" dirty="0">
                <a:latin typeface="Arial"/>
                <a:cs typeface="Arial"/>
              </a:rPr>
              <a:t> </a:t>
            </a:r>
            <a:r>
              <a:rPr lang="en-US" altLang="ko-KR" sz="900" spc="-5" dirty="0">
                <a:latin typeface="Arial"/>
                <a:cs typeface="Arial"/>
              </a:rPr>
              <a:t>by</a:t>
            </a:r>
            <a:r>
              <a:rPr lang="en-US" altLang="ko-KR" sz="900" spc="5" dirty="0">
                <a:latin typeface="Arial"/>
                <a:cs typeface="Arial"/>
              </a:rPr>
              <a:t> </a:t>
            </a:r>
            <a:r>
              <a:rPr lang="en-US" altLang="ko-KR" sz="900" spc="-5" dirty="0">
                <a:latin typeface="Arial"/>
                <a:cs typeface="Arial"/>
              </a:rPr>
              <a:t>DUTY</a:t>
            </a:r>
            <a:r>
              <a:rPr lang="en-US" altLang="ko-KR" sz="900" spc="15" dirty="0">
                <a:latin typeface="Arial"/>
                <a:cs typeface="Arial"/>
              </a:rPr>
              <a:t> </a:t>
            </a:r>
            <a:r>
              <a:rPr lang="en-US" altLang="ko-KR" sz="900" spc="-5" dirty="0">
                <a:latin typeface="Arial"/>
                <a:cs typeface="Arial"/>
              </a:rPr>
              <a:t>data</a:t>
            </a:r>
            <a:r>
              <a:rPr lang="en-US" altLang="ko-KR" sz="900" spc="-15" dirty="0">
                <a:latin typeface="Arial"/>
                <a:cs typeface="Arial"/>
              </a:rPr>
              <a:t> </a:t>
            </a:r>
            <a:r>
              <a:rPr lang="en-US" altLang="ko-KR" sz="900" dirty="0">
                <a:latin typeface="Arial"/>
                <a:cs typeface="Arial"/>
              </a:rPr>
              <a:t>that</a:t>
            </a:r>
            <a:r>
              <a:rPr lang="en-US" altLang="ko-KR" sz="900" spc="-10" dirty="0">
                <a:latin typeface="Arial"/>
                <a:cs typeface="Arial"/>
              </a:rPr>
              <a:t> </a:t>
            </a:r>
            <a:r>
              <a:rPr lang="en-US" altLang="ko-KR" sz="900" dirty="0">
                <a:latin typeface="Arial"/>
                <a:cs typeface="Arial"/>
              </a:rPr>
              <a:t>determine</a:t>
            </a:r>
            <a:r>
              <a:rPr lang="en-US" altLang="ko-KR" sz="900" spc="-30" dirty="0">
                <a:latin typeface="Arial"/>
                <a:cs typeface="Arial"/>
              </a:rPr>
              <a:t> </a:t>
            </a:r>
            <a:r>
              <a:rPr lang="en-US" altLang="ko-KR" sz="900" spc="5" dirty="0">
                <a:latin typeface="Arial"/>
                <a:cs typeface="Arial"/>
              </a:rPr>
              <a:t>On-time</a:t>
            </a:r>
            <a:r>
              <a:rPr lang="en-US" altLang="ko-KR" sz="900" spc="-5" dirty="0">
                <a:latin typeface="Arial"/>
                <a:cs typeface="Arial"/>
              </a:rPr>
              <a:t> </a:t>
            </a:r>
            <a:r>
              <a:rPr lang="en-US" altLang="ko-KR" sz="900" dirty="0">
                <a:latin typeface="Arial"/>
                <a:cs typeface="Arial"/>
              </a:rPr>
              <a:t>duration</a:t>
            </a:r>
            <a:r>
              <a:rPr lang="en-US" altLang="ko-KR" sz="900" spc="-35" dirty="0">
                <a:latin typeface="Arial"/>
                <a:cs typeface="Arial"/>
              </a:rPr>
              <a:t> </a:t>
            </a:r>
            <a:r>
              <a:rPr lang="en-US" altLang="ko-KR" sz="900" dirty="0">
                <a:latin typeface="Arial"/>
                <a:cs typeface="Arial"/>
              </a:rPr>
              <a:t>of</a:t>
            </a:r>
            <a:r>
              <a:rPr lang="en-US" altLang="ko-KR" sz="900" spc="5" dirty="0">
                <a:latin typeface="Arial"/>
                <a:cs typeface="Arial"/>
              </a:rPr>
              <a:t> </a:t>
            </a:r>
            <a:r>
              <a:rPr lang="en-US" altLang="ko-KR" sz="900" dirty="0">
                <a:latin typeface="Arial"/>
                <a:cs typeface="Arial"/>
              </a:rPr>
              <a:t>the</a:t>
            </a:r>
            <a:r>
              <a:rPr lang="en-US" altLang="ko-KR" sz="900" spc="-10" dirty="0">
                <a:latin typeface="Arial"/>
                <a:cs typeface="Arial"/>
              </a:rPr>
              <a:t> </a:t>
            </a:r>
            <a:r>
              <a:rPr lang="en-US" altLang="ko-KR" sz="900" dirty="0">
                <a:latin typeface="Arial"/>
                <a:cs typeface="Arial"/>
              </a:rPr>
              <a:t>set</a:t>
            </a:r>
            <a:r>
              <a:rPr lang="en-US" altLang="ko-KR" sz="900" spc="-5" dirty="0">
                <a:latin typeface="Arial"/>
                <a:cs typeface="Arial"/>
              </a:rPr>
              <a:t> </a:t>
            </a:r>
            <a:r>
              <a:rPr lang="en-US" altLang="ko-KR" sz="900" dirty="0">
                <a:latin typeface="Arial"/>
                <a:cs typeface="Arial"/>
              </a:rPr>
              <a:t>current</a:t>
            </a:r>
            <a:r>
              <a:rPr lang="en-US" altLang="ko-KR" sz="900" spc="-20" dirty="0">
                <a:latin typeface="Arial"/>
                <a:cs typeface="Arial"/>
              </a:rPr>
              <a:t> </a:t>
            </a:r>
            <a:r>
              <a:rPr lang="en-US" altLang="ko-KR" sz="900" spc="-5" dirty="0">
                <a:latin typeface="Arial"/>
                <a:cs typeface="Arial"/>
              </a:rPr>
              <a:t>value.</a:t>
            </a:r>
            <a:r>
              <a:rPr lang="en-US" altLang="ko-KR" sz="900" dirty="0">
                <a:latin typeface="Arial"/>
                <a:cs typeface="Arial"/>
              </a:rPr>
              <a:t> </a:t>
            </a:r>
            <a:r>
              <a:rPr lang="en-US" altLang="ko-KR" sz="900" spc="-5" dirty="0">
                <a:latin typeface="Arial"/>
                <a:cs typeface="Arial"/>
              </a:rPr>
              <a:t>The whole DUTY data </a:t>
            </a:r>
            <a:r>
              <a:rPr lang="en-US" altLang="ko-KR" sz="900" dirty="0">
                <a:latin typeface="Arial"/>
                <a:cs typeface="Arial"/>
              </a:rPr>
              <a:t>of </a:t>
            </a:r>
            <a:r>
              <a:rPr lang="en-US" altLang="ko-KR" sz="900" spc="-5" dirty="0">
                <a:latin typeface="Arial"/>
                <a:cs typeface="Arial"/>
              </a:rPr>
              <a:t>one </a:t>
            </a:r>
            <a:r>
              <a:rPr lang="en-US" altLang="ko-KR" sz="900" dirty="0">
                <a:latin typeface="Arial"/>
                <a:cs typeface="Arial"/>
              </a:rPr>
              <a:t>frame should </a:t>
            </a:r>
            <a:r>
              <a:rPr lang="en-US" altLang="ko-KR" sz="900" spc="-5" dirty="0">
                <a:latin typeface="Arial"/>
                <a:cs typeface="Arial"/>
              </a:rPr>
              <a:t>be </a:t>
            </a:r>
            <a:r>
              <a:rPr lang="en-US" altLang="ko-KR" sz="900" dirty="0">
                <a:latin typeface="Arial"/>
                <a:cs typeface="Arial"/>
              </a:rPr>
              <a:t>transferred </a:t>
            </a:r>
            <a:r>
              <a:rPr lang="en-US" altLang="ko-KR" sz="900" spc="-5" dirty="0">
                <a:latin typeface="Arial"/>
                <a:cs typeface="Arial"/>
              </a:rPr>
              <a:t>on one </a:t>
            </a:r>
            <a:r>
              <a:rPr lang="en-US" altLang="ko-KR" sz="900" dirty="0">
                <a:latin typeface="Arial"/>
                <a:cs typeface="Arial"/>
              </a:rPr>
              <a:t>time </a:t>
            </a:r>
            <a:r>
              <a:rPr lang="en-US" altLang="ko-KR" sz="900" spc="-5" dirty="0">
                <a:latin typeface="Arial"/>
                <a:cs typeface="Arial"/>
              </a:rPr>
              <a:t>and </a:t>
            </a:r>
            <a:r>
              <a:rPr lang="en-US" altLang="ko-KR" sz="900" dirty="0">
                <a:latin typeface="Arial"/>
                <a:cs typeface="Arial"/>
              </a:rPr>
              <a:t>if </a:t>
            </a:r>
            <a:r>
              <a:rPr lang="en-US" altLang="ko-KR" sz="900" spc="-5" dirty="0">
                <a:latin typeface="Arial"/>
                <a:cs typeface="Arial"/>
              </a:rPr>
              <a:t>several devices are </a:t>
            </a:r>
            <a:r>
              <a:rPr lang="en-US" altLang="ko-KR" sz="900" dirty="0">
                <a:latin typeface="Arial"/>
                <a:cs typeface="Arial"/>
              </a:rPr>
              <a:t>connected </a:t>
            </a:r>
            <a:r>
              <a:rPr lang="en-US" altLang="ko-KR" sz="900" spc="-5" dirty="0">
                <a:latin typeface="Arial"/>
                <a:cs typeface="Arial"/>
              </a:rPr>
              <a:t>in a daisy, </a:t>
            </a:r>
            <a:r>
              <a:rPr lang="en-US" altLang="ko-KR" sz="900" dirty="0">
                <a:latin typeface="Arial"/>
                <a:cs typeface="Arial"/>
              </a:rPr>
              <a:t>the</a:t>
            </a:r>
            <a:r>
              <a:rPr lang="en-US" altLang="ko-KR" sz="900" spc="-15" dirty="0">
                <a:latin typeface="Arial"/>
                <a:cs typeface="Arial"/>
              </a:rPr>
              <a:t> </a:t>
            </a:r>
            <a:r>
              <a:rPr lang="en-US" altLang="ko-KR" sz="900" dirty="0">
                <a:latin typeface="Arial"/>
                <a:cs typeface="Arial"/>
              </a:rPr>
              <a:t>nSCS should</a:t>
            </a:r>
            <a:r>
              <a:rPr lang="en-US" altLang="ko-KR" sz="900" spc="-35" dirty="0">
                <a:latin typeface="Arial"/>
                <a:cs typeface="Arial"/>
              </a:rPr>
              <a:t> </a:t>
            </a:r>
            <a:r>
              <a:rPr lang="en-US" altLang="ko-KR" sz="900" dirty="0">
                <a:latin typeface="Arial"/>
                <a:cs typeface="Arial"/>
              </a:rPr>
              <a:t>be</a:t>
            </a:r>
            <a:r>
              <a:rPr lang="en-US" altLang="ko-KR" sz="900" spc="-10" dirty="0">
                <a:latin typeface="Arial"/>
                <a:cs typeface="Arial"/>
              </a:rPr>
              <a:t> </a:t>
            </a:r>
            <a:r>
              <a:rPr lang="en-US" altLang="ko-KR" sz="900" dirty="0">
                <a:latin typeface="Arial"/>
                <a:cs typeface="Arial"/>
              </a:rPr>
              <a:t>asserted</a:t>
            </a:r>
            <a:r>
              <a:rPr lang="en-US" altLang="ko-KR" sz="900" spc="-25" dirty="0">
                <a:latin typeface="Arial"/>
                <a:cs typeface="Arial"/>
              </a:rPr>
              <a:t> </a:t>
            </a:r>
            <a:r>
              <a:rPr lang="en-US" altLang="ko-KR" sz="900" dirty="0">
                <a:latin typeface="Arial"/>
                <a:cs typeface="Arial"/>
              </a:rPr>
              <a:t>to</a:t>
            </a:r>
            <a:r>
              <a:rPr lang="en-US" altLang="ko-KR" sz="900" spc="-10" dirty="0">
                <a:latin typeface="Arial"/>
                <a:cs typeface="Arial"/>
              </a:rPr>
              <a:t> </a:t>
            </a:r>
            <a:r>
              <a:rPr lang="en-US" altLang="ko-KR" sz="900" dirty="0">
                <a:latin typeface="Arial"/>
                <a:cs typeface="Arial"/>
              </a:rPr>
              <a:t>active</a:t>
            </a:r>
            <a:r>
              <a:rPr lang="en-US" altLang="ko-KR" sz="900" spc="-10" dirty="0">
                <a:latin typeface="Arial"/>
                <a:cs typeface="Arial"/>
              </a:rPr>
              <a:t> </a:t>
            </a:r>
            <a:r>
              <a:rPr lang="en-US" altLang="ko-KR" sz="900" spc="-5" dirty="0">
                <a:latin typeface="Arial"/>
                <a:cs typeface="Arial"/>
              </a:rPr>
              <a:t>level</a:t>
            </a:r>
            <a:r>
              <a:rPr lang="en-US" altLang="ko-KR" sz="900" spc="-10" dirty="0">
                <a:latin typeface="Arial"/>
                <a:cs typeface="Arial"/>
              </a:rPr>
              <a:t> </a:t>
            </a:r>
            <a:r>
              <a:rPr lang="en-US" altLang="ko-KR" sz="900" dirty="0">
                <a:latin typeface="Arial"/>
                <a:cs typeface="Arial"/>
              </a:rPr>
              <a:t>until</a:t>
            </a:r>
            <a:r>
              <a:rPr lang="en-US" altLang="ko-KR" sz="900" spc="-20" dirty="0">
                <a:latin typeface="Arial"/>
                <a:cs typeface="Arial"/>
              </a:rPr>
              <a:t> </a:t>
            </a:r>
            <a:r>
              <a:rPr lang="en-US" altLang="ko-KR" sz="900" dirty="0">
                <a:latin typeface="Arial"/>
                <a:cs typeface="Arial"/>
              </a:rPr>
              <a:t>all</a:t>
            </a:r>
            <a:r>
              <a:rPr lang="en-US" altLang="ko-KR" sz="900" spc="-15" dirty="0">
                <a:latin typeface="Arial"/>
                <a:cs typeface="Arial"/>
              </a:rPr>
              <a:t> </a:t>
            </a:r>
            <a:r>
              <a:rPr lang="en-US" altLang="ko-KR" sz="900" dirty="0">
                <a:latin typeface="Arial"/>
                <a:cs typeface="Arial"/>
              </a:rPr>
              <a:t>devices’</a:t>
            </a:r>
            <a:r>
              <a:rPr lang="en-US" altLang="ko-KR" sz="900" spc="-20" dirty="0">
                <a:latin typeface="Arial"/>
                <a:cs typeface="Arial"/>
              </a:rPr>
              <a:t> </a:t>
            </a:r>
            <a:r>
              <a:rPr lang="en-US" altLang="ko-KR" sz="900" spc="-5" dirty="0">
                <a:latin typeface="Arial"/>
                <a:cs typeface="Arial"/>
              </a:rPr>
              <a:t>DUTY</a:t>
            </a:r>
            <a:r>
              <a:rPr lang="en-US" altLang="ko-KR" sz="900" spc="10" dirty="0">
                <a:latin typeface="Arial"/>
                <a:cs typeface="Arial"/>
              </a:rPr>
              <a:t> </a:t>
            </a:r>
            <a:r>
              <a:rPr lang="en-US" altLang="ko-KR" sz="900" dirty="0">
                <a:latin typeface="Arial"/>
                <a:cs typeface="Arial"/>
              </a:rPr>
              <a:t>data</a:t>
            </a:r>
            <a:r>
              <a:rPr lang="en-US" altLang="ko-KR" sz="900" spc="-20" dirty="0">
                <a:latin typeface="Arial"/>
                <a:cs typeface="Arial"/>
              </a:rPr>
              <a:t> </a:t>
            </a:r>
            <a:r>
              <a:rPr lang="en-US" altLang="ko-KR" sz="900" dirty="0">
                <a:latin typeface="Arial"/>
                <a:cs typeface="Arial"/>
              </a:rPr>
              <a:t>is</a:t>
            </a:r>
            <a:r>
              <a:rPr lang="en-US" altLang="ko-KR" sz="900" spc="-5" dirty="0">
                <a:latin typeface="Arial"/>
                <a:cs typeface="Arial"/>
              </a:rPr>
              <a:t> </a:t>
            </a:r>
            <a:r>
              <a:rPr lang="en-US" altLang="ko-KR" sz="900" dirty="0">
                <a:latin typeface="Arial"/>
                <a:cs typeface="Arial"/>
              </a:rPr>
              <a:t>completed</a:t>
            </a:r>
            <a:r>
              <a:rPr lang="en-US" altLang="ko-KR" sz="900" spc="-40" dirty="0">
                <a:latin typeface="Arial"/>
                <a:cs typeface="Arial"/>
              </a:rPr>
              <a:t> </a:t>
            </a:r>
            <a:r>
              <a:rPr lang="en-US" altLang="ko-KR" sz="900" dirty="0">
                <a:latin typeface="Arial"/>
                <a:cs typeface="Arial"/>
              </a:rPr>
              <a:t>to</a:t>
            </a:r>
            <a:r>
              <a:rPr lang="en-US" altLang="ko-KR" sz="900" spc="-10" dirty="0">
                <a:latin typeface="Arial"/>
                <a:cs typeface="Arial"/>
              </a:rPr>
              <a:t> </a:t>
            </a:r>
            <a:r>
              <a:rPr lang="en-US" altLang="ko-KR" sz="900" dirty="0">
                <a:latin typeface="Arial"/>
                <a:cs typeface="Arial"/>
              </a:rPr>
              <a:t>transfer. </a:t>
            </a:r>
            <a:r>
              <a:rPr lang="en-US" altLang="ko-KR" sz="900" spc="-5" dirty="0">
                <a:latin typeface="Arial"/>
                <a:cs typeface="Arial"/>
              </a:rPr>
              <a:t>The</a:t>
            </a:r>
            <a:r>
              <a:rPr lang="en-US" altLang="ko-KR" sz="900" dirty="0">
                <a:latin typeface="Arial"/>
                <a:cs typeface="Arial"/>
              </a:rPr>
              <a:t> </a:t>
            </a:r>
            <a:r>
              <a:rPr lang="en-US" altLang="ko-KR" sz="900" spc="-5" dirty="0">
                <a:latin typeface="Arial"/>
                <a:cs typeface="Arial"/>
              </a:rPr>
              <a:t>order </a:t>
            </a:r>
            <a:r>
              <a:rPr lang="en-US" altLang="ko-KR" sz="900" dirty="0">
                <a:latin typeface="Arial"/>
                <a:cs typeface="Arial"/>
              </a:rPr>
              <a:t>of</a:t>
            </a:r>
            <a:r>
              <a:rPr lang="en-US" altLang="ko-KR" sz="900" spc="-10" dirty="0">
                <a:latin typeface="Arial"/>
                <a:cs typeface="Arial"/>
              </a:rPr>
              <a:t> </a:t>
            </a:r>
            <a:r>
              <a:rPr lang="en-US" altLang="ko-KR" sz="900" spc="-5" dirty="0">
                <a:latin typeface="Arial"/>
                <a:cs typeface="Arial"/>
              </a:rPr>
              <a:t>DUTY</a:t>
            </a:r>
            <a:r>
              <a:rPr lang="en-US" altLang="ko-KR" sz="900" spc="15" dirty="0">
                <a:latin typeface="Arial"/>
                <a:cs typeface="Arial"/>
              </a:rPr>
              <a:t> </a:t>
            </a:r>
            <a:r>
              <a:rPr lang="en-US" altLang="ko-KR" sz="900" spc="-5" dirty="0">
                <a:latin typeface="Arial"/>
                <a:cs typeface="Arial"/>
              </a:rPr>
              <a:t>data </a:t>
            </a:r>
            <a:r>
              <a:rPr lang="en-US" altLang="ko-KR" sz="900" dirty="0">
                <a:latin typeface="Arial"/>
                <a:cs typeface="Arial"/>
              </a:rPr>
              <a:t>transmit</a:t>
            </a:r>
            <a:r>
              <a:rPr lang="en-US" altLang="ko-KR" sz="900" spc="-35" dirty="0">
                <a:latin typeface="Arial"/>
                <a:cs typeface="Arial"/>
              </a:rPr>
              <a:t> </a:t>
            </a:r>
            <a:r>
              <a:rPr lang="en-US" altLang="ko-KR" sz="900" spc="-5" dirty="0">
                <a:latin typeface="Arial"/>
                <a:cs typeface="Arial"/>
              </a:rPr>
              <a:t>is</a:t>
            </a:r>
            <a:r>
              <a:rPr lang="en-US" altLang="ko-KR" sz="900" dirty="0">
                <a:latin typeface="Arial"/>
                <a:cs typeface="Arial"/>
              </a:rPr>
              <a:t> transferred</a:t>
            </a:r>
            <a:r>
              <a:rPr lang="en-US" altLang="ko-KR" sz="900" spc="-20" dirty="0">
                <a:latin typeface="Arial"/>
                <a:cs typeface="Arial"/>
              </a:rPr>
              <a:t> </a:t>
            </a:r>
            <a:r>
              <a:rPr lang="en-US" altLang="ko-KR" sz="900" spc="-5" dirty="0">
                <a:latin typeface="Arial"/>
                <a:cs typeface="Arial"/>
              </a:rPr>
              <a:t>in </a:t>
            </a:r>
            <a:r>
              <a:rPr lang="en-US" altLang="ko-KR" sz="900" dirty="0">
                <a:latin typeface="Arial"/>
                <a:cs typeface="Arial"/>
              </a:rPr>
              <a:t>block</a:t>
            </a:r>
            <a:r>
              <a:rPr lang="en-US" altLang="ko-KR" sz="900" spc="-15" dirty="0">
                <a:latin typeface="Arial"/>
                <a:cs typeface="Arial"/>
              </a:rPr>
              <a:t> </a:t>
            </a:r>
            <a:r>
              <a:rPr lang="en-US" altLang="ko-KR" sz="900" spc="-5" dirty="0">
                <a:latin typeface="Arial"/>
                <a:cs typeface="Arial"/>
              </a:rPr>
              <a:t>order</a:t>
            </a:r>
            <a:r>
              <a:rPr lang="en-US" altLang="ko-KR" sz="900" spc="-10" dirty="0">
                <a:latin typeface="Arial"/>
                <a:cs typeface="Arial"/>
              </a:rPr>
              <a:t> </a:t>
            </a:r>
            <a:r>
              <a:rPr lang="en-US" altLang="ko-KR" sz="900" spc="-5" dirty="0">
                <a:latin typeface="Arial"/>
                <a:cs typeface="Arial"/>
              </a:rPr>
              <a:t>in </a:t>
            </a:r>
            <a:r>
              <a:rPr lang="en-US" altLang="ko-KR" sz="900" dirty="0">
                <a:latin typeface="Arial"/>
                <a:cs typeface="Arial"/>
              </a:rPr>
              <a:t>the</a:t>
            </a:r>
            <a:r>
              <a:rPr lang="en-US" altLang="ko-KR" sz="900" spc="-10" dirty="0">
                <a:latin typeface="Arial"/>
                <a:cs typeface="Arial"/>
              </a:rPr>
              <a:t> </a:t>
            </a:r>
            <a:r>
              <a:rPr lang="en-US" altLang="ko-KR" sz="900" dirty="0">
                <a:latin typeface="Arial"/>
                <a:cs typeface="Arial"/>
              </a:rPr>
              <a:t>scan</a:t>
            </a:r>
            <a:r>
              <a:rPr lang="en-US" altLang="ko-KR" sz="900" spc="-15" dirty="0">
                <a:latin typeface="Arial"/>
                <a:cs typeface="Arial"/>
              </a:rPr>
              <a:t> </a:t>
            </a:r>
            <a:r>
              <a:rPr lang="en-US" altLang="ko-KR" sz="900" dirty="0">
                <a:latin typeface="Arial"/>
                <a:cs typeface="Arial"/>
              </a:rPr>
              <a:t>direction.</a:t>
            </a:r>
          </a:p>
        </p:txBody>
      </p:sp>
      <p:sp>
        <p:nvSpPr>
          <p:cNvPr id="14" name="object 9">
            <a:extLst>
              <a:ext uri="{FF2B5EF4-FFF2-40B4-BE49-F238E27FC236}">
                <a16:creationId xmlns:a16="http://schemas.microsoft.com/office/drawing/2014/main" id="{25586688-87A6-FCAB-71F7-615284075816}"/>
              </a:ext>
            </a:extLst>
          </p:cNvPr>
          <p:cNvSpPr txBox="1"/>
          <p:nvPr/>
        </p:nvSpPr>
        <p:spPr>
          <a:xfrm>
            <a:off x="304800" y="9067800"/>
            <a:ext cx="2078355" cy="289823"/>
          </a:xfrm>
          <a:prstGeom prst="rect">
            <a:avLst/>
          </a:prstGeom>
        </p:spPr>
        <p:txBody>
          <a:bodyPr vert="horz" wrap="square" lIns="0" tIns="12700" rIns="0" bIns="0" rtlCol="0">
            <a:spAutoFit/>
          </a:bodyPr>
          <a:lstStyle/>
          <a:p>
            <a:pPr marL="12700">
              <a:lnSpc>
                <a:spcPct val="100000"/>
              </a:lnSpc>
              <a:spcBef>
                <a:spcPts val="100"/>
              </a:spcBef>
            </a:pPr>
            <a:r>
              <a:rPr b="1" spc="-5" dirty="0">
                <a:solidFill>
                  <a:srgbClr val="FF0000"/>
                </a:solidFill>
                <a:cs typeface="Perpetua Titling MT"/>
              </a:rPr>
              <a:t>CONFIDENTIAL</a:t>
            </a:r>
            <a:endParaRPr dirty="0">
              <a:cs typeface="Perpetua Titling MT"/>
            </a:endParaRPr>
          </a:p>
        </p:txBody>
      </p:sp>
      <p:sp>
        <p:nvSpPr>
          <p:cNvPr id="15" name="object 6">
            <a:extLst>
              <a:ext uri="{FF2B5EF4-FFF2-40B4-BE49-F238E27FC236}">
                <a16:creationId xmlns:a16="http://schemas.microsoft.com/office/drawing/2014/main" id="{96D0C3DB-865B-F68D-17C9-AABF17DC3296}"/>
              </a:ext>
            </a:extLst>
          </p:cNvPr>
          <p:cNvSpPr/>
          <p:nvPr/>
        </p:nvSpPr>
        <p:spPr>
          <a:xfrm>
            <a:off x="301676" y="9458756"/>
            <a:ext cx="6246495" cy="0"/>
          </a:xfrm>
          <a:custGeom>
            <a:avLst/>
            <a:gdLst/>
            <a:ahLst/>
            <a:cxnLst/>
            <a:rect l="l" t="t" r="r" b="b"/>
            <a:pathLst>
              <a:path w="6246495">
                <a:moveTo>
                  <a:pt x="0" y="0"/>
                </a:moveTo>
                <a:lnTo>
                  <a:pt x="6245999" y="0"/>
                </a:lnTo>
              </a:path>
            </a:pathLst>
          </a:custGeom>
          <a:ln w="25920">
            <a:solidFill>
              <a:srgbClr val="BFBFBF"/>
            </a:solidFill>
          </a:ln>
        </p:spPr>
        <p:txBody>
          <a:bodyPr wrap="square" lIns="0" tIns="0" rIns="0" bIns="0" rtlCol="0"/>
          <a:lstStyle/>
          <a:p>
            <a:endParaRPr/>
          </a:p>
        </p:txBody>
      </p:sp>
      <p:sp>
        <p:nvSpPr>
          <p:cNvPr id="16" name="슬라이드 번호 개체 틀 3">
            <a:hlinkClick r:id="rId4"/>
            <a:extLst>
              <a:ext uri="{FF2B5EF4-FFF2-40B4-BE49-F238E27FC236}">
                <a16:creationId xmlns:a16="http://schemas.microsoft.com/office/drawing/2014/main" id="{F1D93DBE-D976-3EB8-4C37-F786454C7F48}"/>
              </a:ext>
            </a:extLst>
          </p:cNvPr>
          <p:cNvSpPr txBox="1">
            <a:spLocks/>
          </p:cNvSpPr>
          <p:nvPr/>
        </p:nvSpPr>
        <p:spPr>
          <a:xfrm>
            <a:off x="5151602" y="9452864"/>
            <a:ext cx="1487550"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dirty="0">
                <a:solidFill>
                  <a:prstClr val="black"/>
                </a:solidFill>
                <a:latin typeface="Arial" panose="020B0604020202020204" pitchFamily="34" charset="0"/>
                <a:cs typeface="Arial" panose="020B0604020202020204" pitchFamily="34" charset="0"/>
              </a:rPr>
              <a:t>http://www.glbltech.com/</a:t>
            </a:r>
            <a:endParaRPr lang="ko-KR" altLang="en-US" dirty="0">
              <a:solidFill>
                <a:prstClr val="black"/>
              </a:solidFill>
              <a:latin typeface="Arial" panose="020B0604020202020204" pitchFamily="34" charset="0"/>
              <a:cs typeface="Arial" panose="020B0604020202020204" pitchFamily="34" charset="0"/>
            </a:endParaRPr>
          </a:p>
        </p:txBody>
      </p:sp>
      <p:sp>
        <p:nvSpPr>
          <p:cNvPr id="17" name="object 38">
            <a:extLst>
              <a:ext uri="{FF2B5EF4-FFF2-40B4-BE49-F238E27FC236}">
                <a16:creationId xmlns:a16="http://schemas.microsoft.com/office/drawing/2014/main" id="{3E913F48-EF43-882A-A4E3-57789F16A025}"/>
              </a:ext>
            </a:extLst>
          </p:cNvPr>
          <p:cNvSpPr txBox="1">
            <a:spLocks/>
          </p:cNvSpPr>
          <p:nvPr/>
        </p:nvSpPr>
        <p:spPr>
          <a:xfrm>
            <a:off x="3309066" y="9547988"/>
            <a:ext cx="487045" cy="139141"/>
          </a:xfrm>
          <a:prstGeom prst="rect">
            <a:avLst/>
          </a:prstGeom>
        </p:spPr>
        <p:txBody>
          <a:bodyPr vert="horz" wrap="square" lIns="0" tIns="635" rIns="0" bIns="0" rtlCol="0">
            <a:spAutoFit/>
          </a:bodyPr>
          <a:lstStyle>
            <a:defPPr>
              <a:defRPr lang="ko-KR"/>
            </a:defPPr>
            <a:lvl1pPr marL="0" algn="l" defTabSz="914400" rtl="0" eaLnBrk="1" latinLnBrk="1" hangingPunct="1">
              <a:defRPr sz="1050" b="0" i="0" kern="1200">
                <a:solidFill>
                  <a:schemeClr val="tx1"/>
                </a:solidFill>
                <a:latin typeface="Arial"/>
                <a:ea typeface="+mn-ea"/>
                <a:cs typeface="Arial"/>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marL="12700">
              <a:spcBef>
                <a:spcPts val="5"/>
              </a:spcBef>
              <a:defRPr/>
            </a:pPr>
            <a:r>
              <a:rPr lang="en-US" sz="900" dirty="0">
                <a:solidFill>
                  <a:prstClr val="black"/>
                </a:solidFill>
              </a:rPr>
              <a:t>Page</a:t>
            </a:r>
            <a:r>
              <a:rPr lang="en-US" sz="900" spc="-60" dirty="0">
                <a:solidFill>
                  <a:prstClr val="black"/>
                </a:solidFill>
              </a:rPr>
              <a:t> </a:t>
            </a:r>
            <a:fld id="{81D60167-4931-47E6-BA6A-407CBD079E47}" type="slidenum">
              <a:rPr sz="900">
                <a:solidFill>
                  <a:prstClr val="black"/>
                </a:solidFill>
              </a:rPr>
              <a:pPr marL="12700">
                <a:spcBef>
                  <a:spcPts val="5"/>
                </a:spcBef>
                <a:defRPr/>
              </a:pPr>
              <a:t>17</a:t>
            </a:fld>
            <a:endParaRPr sz="900" dirty="0">
              <a:solidFill>
                <a:prstClr val="black"/>
              </a:solidFill>
            </a:endParaRPr>
          </a:p>
        </p:txBody>
      </p:sp>
      <p:sp>
        <p:nvSpPr>
          <p:cNvPr id="18" name="슬라이드 번호 개체 틀 3">
            <a:extLst>
              <a:ext uri="{FF2B5EF4-FFF2-40B4-BE49-F238E27FC236}">
                <a16:creationId xmlns:a16="http://schemas.microsoft.com/office/drawing/2014/main" id="{C358506E-B535-D703-4307-1E8CA4C3318F}"/>
              </a:ext>
            </a:extLst>
          </p:cNvPr>
          <p:cNvSpPr txBox="1">
            <a:spLocks/>
          </p:cNvSpPr>
          <p:nvPr/>
        </p:nvSpPr>
        <p:spPr>
          <a:xfrm>
            <a:off x="299401" y="9520856"/>
            <a:ext cx="2060991" cy="175259"/>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lang="en-US" altLang="ko-KR" dirty="0">
                <a:solidFill>
                  <a:prstClr val="black"/>
                </a:solidFill>
                <a:latin typeface="Arial" panose="020B0604020202020204" pitchFamily="34" charset="0"/>
                <a:cs typeface="Arial" panose="020B0604020202020204" pitchFamily="34" charset="0"/>
              </a:rPr>
              <a:t>Dated 30-Nov 23  Rev. 01</a:t>
            </a:r>
            <a:endParaRPr lang="ko-KR" altLang="en-US" dirty="0">
              <a:solidFill>
                <a:prstClr val="black"/>
              </a:solidFill>
              <a:latin typeface="Arial" panose="020B0604020202020204" pitchFamily="34" charset="0"/>
              <a:cs typeface="Arial" panose="020B0604020202020204" pitchFamily="34" charset="0"/>
            </a:endParaRPr>
          </a:p>
        </p:txBody>
      </p:sp>
      <p:sp>
        <p:nvSpPr>
          <p:cNvPr id="19" name="Holder 3">
            <a:extLst>
              <a:ext uri="{FF2B5EF4-FFF2-40B4-BE49-F238E27FC236}">
                <a16:creationId xmlns:a16="http://schemas.microsoft.com/office/drawing/2014/main" id="{DC880B6B-9F8A-C8C6-E952-2C1DA73BCD33}"/>
              </a:ext>
            </a:extLst>
          </p:cNvPr>
          <p:cNvSpPr txBox="1">
            <a:spLocks/>
          </p:cNvSpPr>
          <p:nvPr/>
        </p:nvSpPr>
        <p:spPr>
          <a:xfrm>
            <a:off x="5147476" y="203944"/>
            <a:ext cx="1447800" cy="276999"/>
          </a:xfrm>
          <a:prstGeom prst="rect">
            <a:avLst/>
          </a:prstGeom>
        </p:spPr>
        <p:txBody>
          <a:bodyPr wrap="square" lIns="0" tIns="0" rIns="0" bIns="0">
            <a:spAutoFit/>
          </a:bodyPr>
          <a:lstStyle>
            <a:lvl1pPr marL="0">
              <a:defRPr>
                <a:solidFill>
                  <a:srgbClr val="FF99FF"/>
                </a:solidFill>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defTabSz="914400" latinLnBrk="0"/>
            <a:r>
              <a:rPr lang="en-US" sz="1800" kern="0" dirty="0"/>
              <a:t>&lt;Preliminary&gt;</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p:nvPr/>
        </p:nvSpPr>
        <p:spPr>
          <a:xfrm>
            <a:off x="400913" y="301879"/>
            <a:ext cx="622935" cy="299720"/>
          </a:xfrm>
          <a:prstGeom prst="rect">
            <a:avLst/>
          </a:prstGeom>
        </p:spPr>
        <p:txBody>
          <a:bodyPr vert="horz" wrap="square" lIns="0" tIns="12700" rIns="0" bIns="0" rtlCol="0">
            <a:spAutoFit/>
          </a:bodyPr>
          <a:lstStyle/>
          <a:p>
            <a:pPr marL="12700">
              <a:lnSpc>
                <a:spcPct val="100000"/>
              </a:lnSpc>
              <a:spcBef>
                <a:spcPts val="100"/>
              </a:spcBef>
            </a:pPr>
            <a:r>
              <a:rPr sz="1800" b="1" spc="-5" dirty="0">
                <a:latin typeface="Arial"/>
                <a:cs typeface="Arial"/>
              </a:rPr>
              <a:t>CQ24</a:t>
            </a:r>
            <a:endParaRPr sz="1800" dirty="0">
              <a:latin typeface="Arial"/>
              <a:cs typeface="Arial"/>
            </a:endParaRPr>
          </a:p>
        </p:txBody>
      </p:sp>
      <p:sp>
        <p:nvSpPr>
          <p:cNvPr id="6" name="object 6"/>
          <p:cNvSpPr txBox="1"/>
          <p:nvPr/>
        </p:nvSpPr>
        <p:spPr>
          <a:xfrm>
            <a:off x="400912" y="2978364"/>
            <a:ext cx="6038542" cy="663258"/>
          </a:xfrm>
          <a:prstGeom prst="rect">
            <a:avLst/>
          </a:prstGeom>
        </p:spPr>
        <p:txBody>
          <a:bodyPr vert="horz" wrap="square" lIns="0" tIns="12700" rIns="0" bIns="0" rtlCol="0">
            <a:spAutoFit/>
          </a:bodyPr>
          <a:lstStyle/>
          <a:p>
            <a:pPr marL="1719580">
              <a:lnSpc>
                <a:spcPct val="100000"/>
              </a:lnSpc>
              <a:spcBef>
                <a:spcPts val="100"/>
              </a:spcBef>
            </a:pPr>
            <a:r>
              <a:rPr lang="en-US" sz="900" b="1" spc="-5" dirty="0">
                <a:latin typeface="Arial"/>
                <a:cs typeface="Arial"/>
              </a:rPr>
              <a:t>               </a:t>
            </a:r>
            <a:r>
              <a:rPr sz="900" b="1" spc="-5" dirty="0">
                <a:latin typeface="Arial"/>
                <a:cs typeface="Arial"/>
              </a:rPr>
              <a:t>[Figure.</a:t>
            </a:r>
            <a:r>
              <a:rPr sz="900" b="1" spc="5" dirty="0">
                <a:latin typeface="Arial"/>
                <a:cs typeface="Arial"/>
              </a:rPr>
              <a:t> </a:t>
            </a:r>
            <a:r>
              <a:rPr lang="en-US" sz="900" b="1" spc="5" dirty="0">
                <a:latin typeface="Arial"/>
                <a:cs typeface="Arial"/>
              </a:rPr>
              <a:t>11</a:t>
            </a:r>
            <a:r>
              <a:rPr sz="900" b="1" spc="-5" dirty="0">
                <a:latin typeface="Arial"/>
                <a:cs typeface="Arial"/>
              </a:rPr>
              <a:t>-1]</a:t>
            </a:r>
            <a:r>
              <a:rPr sz="900" b="1" spc="10" dirty="0">
                <a:latin typeface="Arial"/>
                <a:cs typeface="Arial"/>
              </a:rPr>
              <a:t> </a:t>
            </a:r>
            <a:r>
              <a:rPr sz="900" b="1" spc="-5" dirty="0">
                <a:latin typeface="Arial"/>
                <a:cs typeface="Arial"/>
              </a:rPr>
              <a:t>CMD4</a:t>
            </a:r>
            <a:r>
              <a:rPr sz="900" b="1" spc="5" dirty="0">
                <a:latin typeface="Arial"/>
                <a:cs typeface="Arial"/>
              </a:rPr>
              <a:t> </a:t>
            </a:r>
            <a:r>
              <a:rPr sz="900" b="1" spc="-5" dirty="0">
                <a:latin typeface="Arial"/>
                <a:cs typeface="Arial"/>
              </a:rPr>
              <a:t>LD_I</a:t>
            </a:r>
            <a:r>
              <a:rPr sz="900" b="1" spc="25" dirty="0">
                <a:latin typeface="Arial"/>
                <a:cs typeface="Arial"/>
              </a:rPr>
              <a:t> </a:t>
            </a:r>
            <a:r>
              <a:rPr sz="900" b="1" spc="-5" dirty="0">
                <a:latin typeface="Arial"/>
                <a:cs typeface="Arial"/>
              </a:rPr>
              <a:t>data</a:t>
            </a:r>
            <a:r>
              <a:rPr sz="900" b="1" spc="15" dirty="0">
                <a:latin typeface="Arial"/>
                <a:cs typeface="Arial"/>
              </a:rPr>
              <a:t> </a:t>
            </a:r>
            <a:r>
              <a:rPr sz="900" b="1" spc="-5" dirty="0">
                <a:latin typeface="Arial"/>
                <a:cs typeface="Arial"/>
              </a:rPr>
              <a:t>transfer</a:t>
            </a:r>
            <a:endParaRPr lang="en-US" sz="900" b="1" spc="-5" dirty="0">
              <a:latin typeface="Arial"/>
              <a:cs typeface="Arial"/>
            </a:endParaRPr>
          </a:p>
          <a:p>
            <a:pPr marL="1719580">
              <a:lnSpc>
                <a:spcPct val="100000"/>
              </a:lnSpc>
              <a:spcBef>
                <a:spcPts val="100"/>
              </a:spcBef>
            </a:pPr>
            <a:endParaRPr sz="800" dirty="0">
              <a:latin typeface="Arial"/>
              <a:cs typeface="Arial"/>
            </a:endParaRPr>
          </a:p>
          <a:p>
            <a:pPr marL="12700">
              <a:lnSpc>
                <a:spcPts val="1015"/>
              </a:lnSpc>
              <a:spcBef>
                <a:spcPts val="5"/>
              </a:spcBef>
            </a:pPr>
            <a:r>
              <a:rPr sz="850" i="1" spc="-40" dirty="0">
                <a:latin typeface="맑은 고딕"/>
                <a:cs typeface="맑은 고딕"/>
              </a:rPr>
              <a:t>※</a:t>
            </a:r>
            <a:r>
              <a:rPr sz="850" i="1" spc="-80" dirty="0">
                <a:latin typeface="맑은 고딕"/>
                <a:cs typeface="맑은 고딕"/>
              </a:rPr>
              <a:t> </a:t>
            </a:r>
            <a:r>
              <a:rPr sz="800" i="1" spc="-5" dirty="0">
                <a:latin typeface="Arial"/>
                <a:cs typeface="Arial"/>
              </a:rPr>
              <a:t>No</a:t>
            </a:r>
            <a:r>
              <a:rPr sz="800" i="1" dirty="0">
                <a:latin typeface="Arial"/>
                <a:cs typeface="Arial"/>
              </a:rPr>
              <a:t>t</a:t>
            </a:r>
            <a:r>
              <a:rPr sz="800" i="1" spc="-5" dirty="0">
                <a:latin typeface="Arial"/>
                <a:cs typeface="Arial"/>
              </a:rPr>
              <a:t>e</a:t>
            </a:r>
            <a:r>
              <a:rPr sz="800" i="1" dirty="0">
                <a:latin typeface="Arial"/>
                <a:cs typeface="Arial"/>
              </a:rPr>
              <a:t>s:</a:t>
            </a:r>
            <a:endParaRPr sz="800" dirty="0">
              <a:latin typeface="Arial"/>
              <a:cs typeface="Arial"/>
            </a:endParaRPr>
          </a:p>
          <a:p>
            <a:pPr marL="125095" algn="just">
              <a:lnSpc>
                <a:spcPts val="955"/>
              </a:lnSpc>
            </a:pPr>
            <a:r>
              <a:rPr sz="800" i="1" dirty="0">
                <a:latin typeface="Arial"/>
                <a:cs typeface="Arial"/>
              </a:rPr>
              <a:t>The</a:t>
            </a:r>
            <a:r>
              <a:rPr sz="800" i="1" spc="-25" dirty="0">
                <a:latin typeface="Arial"/>
                <a:cs typeface="Arial"/>
              </a:rPr>
              <a:t> </a:t>
            </a:r>
            <a:r>
              <a:rPr sz="800" i="1" spc="-5" dirty="0">
                <a:latin typeface="Arial"/>
                <a:cs typeface="Arial"/>
              </a:rPr>
              <a:t>upper subscripts</a:t>
            </a:r>
            <a:r>
              <a:rPr sz="800" i="1" spc="-45" dirty="0">
                <a:latin typeface="Arial"/>
                <a:cs typeface="Arial"/>
              </a:rPr>
              <a:t> </a:t>
            </a:r>
            <a:r>
              <a:rPr sz="800" i="1" spc="-5" dirty="0">
                <a:latin typeface="Arial"/>
                <a:cs typeface="Arial"/>
              </a:rPr>
              <a:t>#1, #2</a:t>
            </a:r>
            <a:r>
              <a:rPr sz="800" i="1" spc="5" dirty="0">
                <a:latin typeface="Arial"/>
                <a:cs typeface="Arial"/>
              </a:rPr>
              <a:t> </a:t>
            </a:r>
            <a:r>
              <a:rPr sz="800" i="1" spc="-5" dirty="0">
                <a:latin typeface="Arial"/>
                <a:cs typeface="Arial"/>
              </a:rPr>
              <a:t>mean </a:t>
            </a:r>
            <a:r>
              <a:rPr sz="800" i="1" dirty="0">
                <a:latin typeface="Arial"/>
                <a:cs typeface="Arial"/>
              </a:rPr>
              <a:t>the</a:t>
            </a:r>
            <a:r>
              <a:rPr sz="800" i="1" spc="-5" dirty="0">
                <a:latin typeface="Arial"/>
                <a:cs typeface="Arial"/>
              </a:rPr>
              <a:t> LD_I</a:t>
            </a:r>
            <a:r>
              <a:rPr sz="800" i="1" spc="-10" dirty="0">
                <a:latin typeface="Arial"/>
                <a:cs typeface="Arial"/>
              </a:rPr>
              <a:t> </a:t>
            </a:r>
            <a:r>
              <a:rPr sz="800" i="1" spc="-5" dirty="0">
                <a:latin typeface="Arial"/>
                <a:cs typeface="Arial"/>
              </a:rPr>
              <a:t>data</a:t>
            </a:r>
            <a:r>
              <a:rPr sz="800" i="1" spc="-10" dirty="0">
                <a:latin typeface="Arial"/>
                <a:cs typeface="Arial"/>
              </a:rPr>
              <a:t> </a:t>
            </a:r>
            <a:r>
              <a:rPr sz="800" i="1" spc="-5" dirty="0">
                <a:latin typeface="Arial"/>
                <a:cs typeface="Arial"/>
              </a:rPr>
              <a:t>of</a:t>
            </a:r>
            <a:r>
              <a:rPr sz="800" i="1" dirty="0">
                <a:latin typeface="Arial"/>
                <a:cs typeface="Arial"/>
              </a:rPr>
              <a:t> </a:t>
            </a:r>
            <a:r>
              <a:rPr sz="800" i="1" spc="-5" dirty="0">
                <a:latin typeface="Arial"/>
                <a:cs typeface="Arial"/>
              </a:rPr>
              <a:t>#1 </a:t>
            </a:r>
            <a:r>
              <a:rPr sz="800" i="1" dirty="0">
                <a:latin typeface="Arial"/>
                <a:cs typeface="Arial"/>
              </a:rPr>
              <a:t>block</a:t>
            </a:r>
            <a:r>
              <a:rPr sz="800" i="1" spc="-25" dirty="0">
                <a:latin typeface="Arial"/>
                <a:cs typeface="Arial"/>
              </a:rPr>
              <a:t> </a:t>
            </a:r>
            <a:r>
              <a:rPr sz="800" i="1" spc="-5" dirty="0">
                <a:latin typeface="Arial"/>
                <a:cs typeface="Arial"/>
              </a:rPr>
              <a:t>and</a:t>
            </a:r>
            <a:r>
              <a:rPr sz="800" i="1" spc="5" dirty="0">
                <a:latin typeface="Arial"/>
                <a:cs typeface="Arial"/>
              </a:rPr>
              <a:t> </a:t>
            </a:r>
            <a:r>
              <a:rPr sz="800" i="1" dirty="0">
                <a:latin typeface="Arial"/>
                <a:cs typeface="Arial"/>
              </a:rPr>
              <a:t>#</a:t>
            </a:r>
            <a:r>
              <a:rPr sz="800" i="1" spc="-10" dirty="0">
                <a:latin typeface="Arial"/>
                <a:cs typeface="Arial"/>
              </a:rPr>
              <a:t> </a:t>
            </a:r>
            <a:r>
              <a:rPr sz="800" i="1" dirty="0">
                <a:latin typeface="Arial"/>
                <a:cs typeface="Arial"/>
              </a:rPr>
              <a:t>block,</a:t>
            </a:r>
            <a:r>
              <a:rPr sz="800" i="1" spc="-35" dirty="0">
                <a:latin typeface="Arial"/>
                <a:cs typeface="Arial"/>
              </a:rPr>
              <a:t> </a:t>
            </a:r>
            <a:r>
              <a:rPr sz="800" i="1" spc="-5" dirty="0">
                <a:latin typeface="Arial"/>
                <a:cs typeface="Arial"/>
              </a:rPr>
              <a:t>respectively.</a:t>
            </a:r>
            <a:r>
              <a:rPr lang="en-US" sz="800" spc="-5" dirty="0">
                <a:latin typeface="Arial"/>
                <a:cs typeface="Arial"/>
              </a:rPr>
              <a:t> </a:t>
            </a:r>
            <a:r>
              <a:rPr sz="800" i="1" dirty="0">
                <a:latin typeface="Arial"/>
                <a:cs typeface="Arial"/>
              </a:rPr>
              <a:t>The</a:t>
            </a:r>
            <a:r>
              <a:rPr sz="800" i="1" spc="-25" dirty="0">
                <a:latin typeface="Arial"/>
                <a:cs typeface="Arial"/>
              </a:rPr>
              <a:t> </a:t>
            </a:r>
            <a:r>
              <a:rPr sz="800" i="1" dirty="0">
                <a:latin typeface="Arial"/>
                <a:cs typeface="Arial"/>
              </a:rPr>
              <a:t>N</a:t>
            </a:r>
            <a:r>
              <a:rPr sz="800" i="1" spc="-15" dirty="0">
                <a:latin typeface="Arial"/>
                <a:cs typeface="Arial"/>
              </a:rPr>
              <a:t> </a:t>
            </a:r>
            <a:r>
              <a:rPr sz="800" i="1" spc="-5" dirty="0">
                <a:latin typeface="Arial"/>
                <a:cs typeface="Arial"/>
              </a:rPr>
              <a:t>means</a:t>
            </a:r>
            <a:r>
              <a:rPr sz="800" i="1" spc="-15" dirty="0">
                <a:latin typeface="Arial"/>
                <a:cs typeface="Arial"/>
              </a:rPr>
              <a:t> </a:t>
            </a:r>
            <a:r>
              <a:rPr sz="800" i="1" dirty="0">
                <a:latin typeface="Arial"/>
                <a:cs typeface="Arial"/>
              </a:rPr>
              <a:t>the</a:t>
            </a:r>
            <a:r>
              <a:rPr sz="800" i="1" spc="-15" dirty="0">
                <a:latin typeface="Arial"/>
                <a:cs typeface="Arial"/>
              </a:rPr>
              <a:t> </a:t>
            </a:r>
            <a:r>
              <a:rPr sz="800" i="1" spc="-5" dirty="0">
                <a:latin typeface="Arial"/>
                <a:cs typeface="Arial"/>
              </a:rPr>
              <a:t>number</a:t>
            </a:r>
            <a:r>
              <a:rPr sz="800" i="1" spc="-10" dirty="0">
                <a:latin typeface="Arial"/>
                <a:cs typeface="Arial"/>
              </a:rPr>
              <a:t> </a:t>
            </a:r>
            <a:r>
              <a:rPr sz="800" i="1" dirty="0">
                <a:latin typeface="Arial"/>
                <a:cs typeface="Arial"/>
              </a:rPr>
              <a:t>of</a:t>
            </a:r>
            <a:r>
              <a:rPr sz="800" i="1" spc="-5" dirty="0">
                <a:latin typeface="Arial"/>
                <a:cs typeface="Arial"/>
              </a:rPr>
              <a:t> </a:t>
            </a:r>
            <a:r>
              <a:rPr sz="800" i="1" dirty="0">
                <a:latin typeface="Arial"/>
                <a:cs typeface="Arial"/>
              </a:rPr>
              <a:t>whole</a:t>
            </a:r>
            <a:r>
              <a:rPr sz="800" i="1" spc="-35" dirty="0">
                <a:latin typeface="Arial"/>
                <a:cs typeface="Arial"/>
              </a:rPr>
              <a:t> </a:t>
            </a:r>
            <a:r>
              <a:rPr sz="800" i="1" dirty="0">
                <a:latin typeface="Arial"/>
                <a:cs typeface="Arial"/>
              </a:rPr>
              <a:t>blocks</a:t>
            </a:r>
            <a:endParaRPr lang="en-US" sz="800" i="1" spc="-50" dirty="0">
              <a:latin typeface="Arial"/>
              <a:cs typeface="Arial"/>
            </a:endParaRPr>
          </a:p>
          <a:p>
            <a:pPr marL="125095" algn="just">
              <a:lnSpc>
                <a:spcPts val="955"/>
              </a:lnSpc>
            </a:pPr>
            <a:r>
              <a:rPr lang="en-US" sz="800" i="1" spc="-50" dirty="0">
                <a:latin typeface="Arial"/>
                <a:cs typeface="Arial"/>
              </a:rPr>
              <a:t> </a:t>
            </a:r>
            <a:r>
              <a:rPr sz="800" i="1" dirty="0">
                <a:latin typeface="Arial"/>
                <a:cs typeface="Arial"/>
              </a:rPr>
              <a:t>which</a:t>
            </a:r>
            <a:r>
              <a:rPr sz="800" i="1" spc="-50" dirty="0">
                <a:latin typeface="Arial"/>
                <a:cs typeface="Arial"/>
              </a:rPr>
              <a:t> </a:t>
            </a:r>
            <a:r>
              <a:rPr sz="800" i="1" spc="-5" dirty="0">
                <a:latin typeface="Arial"/>
                <a:cs typeface="Arial"/>
              </a:rPr>
              <a:t>are</a:t>
            </a:r>
            <a:r>
              <a:rPr sz="800" i="1" spc="-15" dirty="0">
                <a:latin typeface="Arial"/>
                <a:cs typeface="Arial"/>
              </a:rPr>
              <a:t> </a:t>
            </a:r>
            <a:r>
              <a:rPr sz="800" i="1" spc="-5" dirty="0">
                <a:latin typeface="Arial"/>
                <a:cs typeface="Arial"/>
              </a:rPr>
              <a:t>mapped</a:t>
            </a:r>
            <a:r>
              <a:rPr sz="800" i="1" spc="5" dirty="0">
                <a:latin typeface="Arial"/>
                <a:cs typeface="Arial"/>
              </a:rPr>
              <a:t> </a:t>
            </a:r>
            <a:r>
              <a:rPr sz="800" i="1" dirty="0">
                <a:latin typeface="Arial"/>
                <a:cs typeface="Arial"/>
              </a:rPr>
              <a:t>by</a:t>
            </a:r>
            <a:r>
              <a:rPr sz="800" i="1" spc="-15" dirty="0">
                <a:latin typeface="Arial"/>
                <a:cs typeface="Arial"/>
              </a:rPr>
              <a:t> </a:t>
            </a:r>
            <a:r>
              <a:rPr sz="800" i="1" dirty="0">
                <a:latin typeface="Arial"/>
                <a:cs typeface="Arial"/>
              </a:rPr>
              <a:t>one </a:t>
            </a:r>
            <a:r>
              <a:rPr lang="en-US" sz="800" i="1" dirty="0">
                <a:latin typeface="Arial"/>
                <a:cs typeface="Arial"/>
              </a:rPr>
              <a:t>CQ24</a:t>
            </a:r>
            <a:r>
              <a:rPr sz="800" i="1" spc="-20" dirty="0">
                <a:latin typeface="Arial"/>
                <a:cs typeface="Arial"/>
              </a:rPr>
              <a:t> </a:t>
            </a:r>
            <a:r>
              <a:rPr sz="800" i="1" dirty="0">
                <a:latin typeface="Arial"/>
                <a:cs typeface="Arial"/>
              </a:rPr>
              <a:t>device</a:t>
            </a:r>
            <a:r>
              <a:rPr lang="en-US" sz="800" dirty="0">
                <a:latin typeface="Arial"/>
                <a:cs typeface="Arial"/>
              </a:rPr>
              <a:t>. </a:t>
            </a:r>
            <a:r>
              <a:rPr sz="800" i="1" dirty="0">
                <a:latin typeface="Arial"/>
                <a:cs typeface="Arial"/>
              </a:rPr>
              <a:t>The</a:t>
            </a:r>
            <a:r>
              <a:rPr sz="800" i="1" spc="-25" dirty="0">
                <a:latin typeface="Arial"/>
                <a:cs typeface="Arial"/>
              </a:rPr>
              <a:t> </a:t>
            </a:r>
            <a:r>
              <a:rPr sz="800" i="1" spc="-5" dirty="0">
                <a:latin typeface="Arial"/>
                <a:cs typeface="Arial"/>
              </a:rPr>
              <a:t>transferred</a:t>
            </a:r>
            <a:r>
              <a:rPr sz="800" i="1" spc="-35" dirty="0">
                <a:latin typeface="Arial"/>
                <a:cs typeface="Arial"/>
              </a:rPr>
              <a:t> </a:t>
            </a:r>
            <a:r>
              <a:rPr sz="800" i="1" spc="-5" dirty="0">
                <a:latin typeface="Arial"/>
                <a:cs typeface="Arial"/>
              </a:rPr>
              <a:t>order</a:t>
            </a:r>
            <a:r>
              <a:rPr sz="800" i="1" spc="-25" dirty="0">
                <a:latin typeface="Arial"/>
                <a:cs typeface="Arial"/>
              </a:rPr>
              <a:t> </a:t>
            </a:r>
            <a:r>
              <a:rPr sz="800" i="1" dirty="0">
                <a:latin typeface="Arial"/>
                <a:cs typeface="Arial"/>
              </a:rPr>
              <a:t>is</a:t>
            </a:r>
            <a:r>
              <a:rPr sz="800" i="1" spc="-15" dirty="0">
                <a:latin typeface="Arial"/>
                <a:cs typeface="Arial"/>
              </a:rPr>
              <a:t> </a:t>
            </a:r>
            <a:r>
              <a:rPr sz="800" i="1" spc="-5" dirty="0">
                <a:latin typeface="Arial"/>
                <a:cs typeface="Arial"/>
              </a:rPr>
              <a:t>described</a:t>
            </a:r>
            <a:r>
              <a:rPr sz="800" i="1" spc="-30" dirty="0">
                <a:latin typeface="Arial"/>
                <a:cs typeface="Arial"/>
              </a:rPr>
              <a:t> </a:t>
            </a:r>
            <a:r>
              <a:rPr sz="800" i="1" spc="-5" dirty="0">
                <a:latin typeface="Arial"/>
                <a:cs typeface="Arial"/>
              </a:rPr>
              <a:t>at next</a:t>
            </a:r>
            <a:r>
              <a:rPr sz="800" i="1" spc="-30" dirty="0">
                <a:latin typeface="Arial"/>
                <a:cs typeface="Arial"/>
              </a:rPr>
              <a:t> </a:t>
            </a:r>
            <a:r>
              <a:rPr sz="800" i="1" spc="-5" dirty="0">
                <a:latin typeface="Arial"/>
                <a:cs typeface="Arial"/>
              </a:rPr>
              <a:t>page.</a:t>
            </a:r>
            <a:endParaRPr sz="800" dirty="0">
              <a:latin typeface="Arial"/>
              <a:cs typeface="Arial"/>
            </a:endParaRPr>
          </a:p>
        </p:txBody>
      </p:sp>
      <p:sp>
        <p:nvSpPr>
          <p:cNvPr id="7" name="object 7"/>
          <p:cNvSpPr txBox="1"/>
          <p:nvPr/>
        </p:nvSpPr>
        <p:spPr>
          <a:xfrm>
            <a:off x="400912" y="5671957"/>
            <a:ext cx="6038542" cy="151965"/>
          </a:xfrm>
          <a:prstGeom prst="rect">
            <a:avLst/>
          </a:prstGeom>
        </p:spPr>
        <p:txBody>
          <a:bodyPr vert="horz" wrap="square" lIns="0" tIns="13335" rIns="0" bIns="0" rtlCol="0">
            <a:spAutoFit/>
          </a:bodyPr>
          <a:lstStyle/>
          <a:p>
            <a:pPr marL="12700" algn="ctr">
              <a:lnSpc>
                <a:spcPct val="100000"/>
              </a:lnSpc>
              <a:spcBef>
                <a:spcPts val="105"/>
              </a:spcBef>
            </a:pPr>
            <a:r>
              <a:rPr sz="900" b="1" spc="-5" dirty="0">
                <a:latin typeface="Arial"/>
                <a:cs typeface="Arial"/>
              </a:rPr>
              <a:t>[Figure.</a:t>
            </a:r>
            <a:r>
              <a:rPr sz="900" b="1" spc="10" dirty="0">
                <a:latin typeface="Arial"/>
                <a:cs typeface="Arial"/>
              </a:rPr>
              <a:t> </a:t>
            </a:r>
            <a:r>
              <a:rPr lang="en-US" sz="900" b="1" spc="10" dirty="0">
                <a:latin typeface="Arial"/>
                <a:cs typeface="Arial"/>
              </a:rPr>
              <a:t>11</a:t>
            </a:r>
            <a:r>
              <a:rPr sz="900" b="1" spc="-5" dirty="0">
                <a:latin typeface="Arial"/>
                <a:cs typeface="Arial"/>
              </a:rPr>
              <a:t>-2]</a:t>
            </a:r>
            <a:r>
              <a:rPr sz="900" b="1" spc="15" dirty="0">
                <a:latin typeface="Arial"/>
                <a:cs typeface="Arial"/>
              </a:rPr>
              <a:t> </a:t>
            </a:r>
            <a:r>
              <a:rPr sz="900" b="1" spc="-5" dirty="0">
                <a:latin typeface="Arial"/>
                <a:cs typeface="Arial"/>
              </a:rPr>
              <a:t>CMD4</a:t>
            </a:r>
            <a:r>
              <a:rPr sz="900" b="1" spc="10" dirty="0">
                <a:latin typeface="Arial"/>
                <a:cs typeface="Arial"/>
              </a:rPr>
              <a:t> </a:t>
            </a:r>
            <a:r>
              <a:rPr sz="900" b="1" spc="-5" dirty="0">
                <a:latin typeface="Arial"/>
                <a:cs typeface="Arial"/>
              </a:rPr>
              <a:t>LD_I</a:t>
            </a:r>
            <a:r>
              <a:rPr sz="900" b="1" spc="30" dirty="0">
                <a:latin typeface="Arial"/>
                <a:cs typeface="Arial"/>
              </a:rPr>
              <a:t> </a:t>
            </a:r>
            <a:r>
              <a:rPr sz="900" b="1" spc="-5" dirty="0">
                <a:latin typeface="Arial"/>
                <a:cs typeface="Arial"/>
              </a:rPr>
              <a:t>data</a:t>
            </a:r>
            <a:r>
              <a:rPr sz="900" b="1" spc="20" dirty="0">
                <a:latin typeface="Arial"/>
                <a:cs typeface="Arial"/>
              </a:rPr>
              <a:t> </a:t>
            </a:r>
            <a:r>
              <a:rPr sz="900" b="1" spc="-5" dirty="0">
                <a:latin typeface="Arial"/>
                <a:cs typeface="Arial"/>
              </a:rPr>
              <a:t>transfer</a:t>
            </a:r>
            <a:r>
              <a:rPr sz="900" b="1" spc="10" dirty="0">
                <a:latin typeface="Arial"/>
                <a:cs typeface="Arial"/>
              </a:rPr>
              <a:t> </a:t>
            </a:r>
            <a:r>
              <a:rPr sz="900" b="1" dirty="0">
                <a:latin typeface="Arial"/>
                <a:cs typeface="Arial"/>
              </a:rPr>
              <a:t>in</a:t>
            </a:r>
            <a:r>
              <a:rPr sz="900" b="1" spc="10" dirty="0">
                <a:latin typeface="Arial"/>
                <a:cs typeface="Arial"/>
              </a:rPr>
              <a:t> </a:t>
            </a:r>
            <a:r>
              <a:rPr sz="900" b="1" dirty="0">
                <a:latin typeface="Arial"/>
                <a:cs typeface="Arial"/>
              </a:rPr>
              <a:t>daisy</a:t>
            </a:r>
            <a:r>
              <a:rPr sz="900" b="1" spc="5" dirty="0">
                <a:latin typeface="Arial"/>
                <a:cs typeface="Arial"/>
              </a:rPr>
              <a:t> </a:t>
            </a:r>
            <a:r>
              <a:rPr sz="900" b="1" spc="-5" dirty="0">
                <a:latin typeface="Arial"/>
                <a:cs typeface="Arial"/>
              </a:rPr>
              <a:t>connection</a:t>
            </a:r>
            <a:endParaRPr sz="900" b="1" dirty="0">
              <a:latin typeface="Arial"/>
              <a:cs typeface="Arial"/>
            </a:endParaRPr>
          </a:p>
        </p:txBody>
      </p:sp>
      <p:pic>
        <p:nvPicPr>
          <p:cNvPr id="8" name="object 8"/>
          <p:cNvPicPr/>
          <p:nvPr/>
        </p:nvPicPr>
        <p:blipFill>
          <a:blip r:embed="rId2" cstate="print"/>
          <a:stretch>
            <a:fillRect/>
          </a:stretch>
        </p:blipFill>
        <p:spPr>
          <a:xfrm>
            <a:off x="400914" y="2293326"/>
            <a:ext cx="6038541" cy="483615"/>
          </a:xfrm>
          <a:prstGeom prst="rect">
            <a:avLst/>
          </a:prstGeom>
        </p:spPr>
      </p:pic>
      <p:pic>
        <p:nvPicPr>
          <p:cNvPr id="9" name="object 9"/>
          <p:cNvPicPr/>
          <p:nvPr/>
        </p:nvPicPr>
        <p:blipFill>
          <a:blip r:embed="rId3" cstate="print"/>
          <a:stretch>
            <a:fillRect/>
          </a:stretch>
        </p:blipFill>
        <p:spPr>
          <a:xfrm>
            <a:off x="400914" y="4402788"/>
            <a:ext cx="6038542" cy="1037129"/>
          </a:xfrm>
          <a:prstGeom prst="rect">
            <a:avLst/>
          </a:prstGeom>
        </p:spPr>
      </p:pic>
      <p:sp>
        <p:nvSpPr>
          <p:cNvPr id="18" name="TextBox 17">
            <a:extLst>
              <a:ext uri="{FF2B5EF4-FFF2-40B4-BE49-F238E27FC236}">
                <a16:creationId xmlns:a16="http://schemas.microsoft.com/office/drawing/2014/main" id="{E6392BC2-6446-A116-A7CC-8F0C53204249}"/>
              </a:ext>
            </a:extLst>
          </p:cNvPr>
          <p:cNvSpPr txBox="1"/>
          <p:nvPr/>
        </p:nvSpPr>
        <p:spPr>
          <a:xfrm>
            <a:off x="400913" y="868729"/>
            <a:ext cx="6038542" cy="261610"/>
          </a:xfrm>
          <a:prstGeom prst="rect">
            <a:avLst/>
          </a:prstGeom>
          <a:noFill/>
        </p:spPr>
        <p:txBody>
          <a:bodyPr wrap="square" lIns="0" rtlCol="0">
            <a:spAutoFit/>
          </a:bodyPr>
          <a:lstStyle/>
          <a:p>
            <a:pPr marL="12700">
              <a:lnSpc>
                <a:spcPct val="100000"/>
              </a:lnSpc>
              <a:spcBef>
                <a:spcPts val="100"/>
              </a:spcBef>
            </a:pPr>
            <a:r>
              <a:rPr lang="en-US" altLang="ko-KR" sz="1100" b="1" spc="-10" dirty="0">
                <a:latin typeface="Arial"/>
                <a:cs typeface="Arial"/>
              </a:rPr>
              <a:t>Type4:</a:t>
            </a:r>
            <a:r>
              <a:rPr lang="en-US" altLang="ko-KR" sz="1100" b="1" spc="-5" dirty="0">
                <a:latin typeface="Arial"/>
                <a:cs typeface="Arial"/>
              </a:rPr>
              <a:t> CMD4</a:t>
            </a:r>
            <a:endParaRPr lang="en-US" altLang="ko-KR" sz="1100" dirty="0">
              <a:latin typeface="Arial"/>
              <a:cs typeface="Arial"/>
            </a:endParaRPr>
          </a:p>
        </p:txBody>
      </p:sp>
      <p:sp>
        <p:nvSpPr>
          <p:cNvPr id="19" name="TextBox 18">
            <a:extLst>
              <a:ext uri="{FF2B5EF4-FFF2-40B4-BE49-F238E27FC236}">
                <a16:creationId xmlns:a16="http://schemas.microsoft.com/office/drawing/2014/main" id="{3C591C81-5CD6-0C27-153B-8C6CBDE8B4FF}"/>
              </a:ext>
            </a:extLst>
          </p:cNvPr>
          <p:cNvSpPr txBox="1"/>
          <p:nvPr/>
        </p:nvSpPr>
        <p:spPr>
          <a:xfrm>
            <a:off x="400913" y="1216699"/>
            <a:ext cx="6037987" cy="692497"/>
          </a:xfrm>
          <a:prstGeom prst="rect">
            <a:avLst/>
          </a:prstGeom>
          <a:noFill/>
        </p:spPr>
        <p:txBody>
          <a:bodyPr wrap="square" lIns="0" tIns="0" rIns="0" bIns="0" rtlCol="0">
            <a:spAutoFit/>
          </a:bodyPr>
          <a:lstStyle/>
          <a:p>
            <a:pPr algn="just"/>
            <a:r>
              <a:rPr lang="en-US" altLang="ko-KR" sz="900" spc="-5" dirty="0">
                <a:latin typeface="Arial"/>
                <a:cs typeface="Arial"/>
              </a:rPr>
              <a:t>The type4,</a:t>
            </a:r>
            <a:r>
              <a:rPr lang="en-US" altLang="ko-KR" sz="900" spc="-10" dirty="0">
                <a:latin typeface="Arial"/>
                <a:cs typeface="Arial"/>
              </a:rPr>
              <a:t> CMD4</a:t>
            </a:r>
            <a:r>
              <a:rPr lang="en-US" altLang="ko-KR" sz="900" spc="10" dirty="0">
                <a:latin typeface="Arial"/>
                <a:cs typeface="Arial"/>
              </a:rPr>
              <a:t> </a:t>
            </a:r>
            <a:r>
              <a:rPr lang="en-US" altLang="ko-KR" sz="900" dirty="0">
                <a:latin typeface="Arial"/>
                <a:cs typeface="Arial"/>
              </a:rPr>
              <a:t>protocol</a:t>
            </a:r>
            <a:r>
              <a:rPr lang="en-US" altLang="ko-KR" sz="900" spc="-20" dirty="0">
                <a:latin typeface="Arial"/>
                <a:cs typeface="Arial"/>
              </a:rPr>
              <a:t> </a:t>
            </a:r>
            <a:r>
              <a:rPr lang="en-US" altLang="ko-KR" sz="900" dirty="0">
                <a:latin typeface="Arial"/>
                <a:cs typeface="Arial"/>
              </a:rPr>
              <a:t>is</a:t>
            </a:r>
            <a:r>
              <a:rPr lang="en-US" altLang="ko-KR" sz="900" spc="-5" dirty="0">
                <a:latin typeface="Arial"/>
                <a:cs typeface="Arial"/>
              </a:rPr>
              <a:t> </a:t>
            </a:r>
            <a:r>
              <a:rPr lang="en-US" altLang="ko-KR" sz="900" dirty="0">
                <a:latin typeface="Arial"/>
                <a:cs typeface="Arial"/>
              </a:rPr>
              <a:t>used</a:t>
            </a:r>
            <a:r>
              <a:rPr lang="en-US" altLang="ko-KR" sz="900" spc="-20" dirty="0">
                <a:latin typeface="Arial"/>
                <a:cs typeface="Arial"/>
              </a:rPr>
              <a:t> </a:t>
            </a:r>
            <a:r>
              <a:rPr lang="en-US" altLang="ko-KR" sz="900" dirty="0">
                <a:latin typeface="Arial"/>
                <a:cs typeface="Arial"/>
              </a:rPr>
              <a:t>to transfer</a:t>
            </a:r>
            <a:r>
              <a:rPr lang="en-US" altLang="ko-KR" sz="900" spc="-25" dirty="0">
                <a:latin typeface="Arial"/>
                <a:cs typeface="Arial"/>
              </a:rPr>
              <a:t> </a:t>
            </a:r>
            <a:r>
              <a:rPr lang="en-US" altLang="ko-KR" sz="900" dirty="0">
                <a:latin typeface="Arial"/>
                <a:cs typeface="Arial"/>
              </a:rPr>
              <a:t>the</a:t>
            </a:r>
            <a:r>
              <a:rPr lang="en-US" altLang="ko-KR" sz="900" spc="-10" dirty="0">
                <a:latin typeface="Arial"/>
                <a:cs typeface="Arial"/>
              </a:rPr>
              <a:t> </a:t>
            </a:r>
            <a:r>
              <a:rPr lang="en-US" altLang="ko-KR" sz="900" dirty="0">
                <a:latin typeface="Arial"/>
                <a:cs typeface="Arial"/>
              </a:rPr>
              <a:t>local</a:t>
            </a:r>
            <a:r>
              <a:rPr lang="en-US" altLang="ko-KR" sz="900" spc="-20" dirty="0">
                <a:latin typeface="Arial"/>
                <a:cs typeface="Arial"/>
              </a:rPr>
              <a:t> </a:t>
            </a:r>
            <a:r>
              <a:rPr lang="en-US" altLang="ko-KR" sz="900" dirty="0">
                <a:latin typeface="Arial"/>
                <a:cs typeface="Arial"/>
              </a:rPr>
              <a:t>dimming,</a:t>
            </a:r>
            <a:r>
              <a:rPr lang="en-US" altLang="ko-KR" sz="900" spc="-30" dirty="0">
                <a:latin typeface="Arial"/>
                <a:cs typeface="Arial"/>
              </a:rPr>
              <a:t> </a:t>
            </a:r>
            <a:r>
              <a:rPr lang="en-US" altLang="ko-KR" sz="900" spc="-5" dirty="0">
                <a:latin typeface="Arial"/>
                <a:cs typeface="Arial"/>
              </a:rPr>
              <a:t>LD_I</a:t>
            </a:r>
            <a:r>
              <a:rPr lang="en-US" altLang="ko-KR" sz="900" spc="-10" dirty="0">
                <a:latin typeface="Arial"/>
                <a:cs typeface="Arial"/>
              </a:rPr>
              <a:t> </a:t>
            </a:r>
            <a:r>
              <a:rPr lang="en-US" altLang="ko-KR" sz="900" dirty="0">
                <a:latin typeface="Arial"/>
                <a:cs typeface="Arial"/>
              </a:rPr>
              <a:t>data,</a:t>
            </a:r>
            <a:r>
              <a:rPr lang="en-US" altLang="ko-KR" sz="900" spc="-25" dirty="0">
                <a:latin typeface="Arial"/>
                <a:cs typeface="Arial"/>
              </a:rPr>
              <a:t> </a:t>
            </a:r>
            <a:r>
              <a:rPr lang="en-US" altLang="ko-KR" sz="900" dirty="0">
                <a:latin typeface="Arial"/>
                <a:cs typeface="Arial"/>
              </a:rPr>
              <a:t>and</a:t>
            </a:r>
            <a:r>
              <a:rPr lang="en-US" altLang="ko-KR" sz="900" spc="-10" dirty="0">
                <a:latin typeface="Arial"/>
                <a:cs typeface="Arial"/>
              </a:rPr>
              <a:t> </a:t>
            </a:r>
            <a:r>
              <a:rPr lang="en-US" altLang="ko-KR" sz="900" dirty="0">
                <a:latin typeface="Arial"/>
                <a:cs typeface="Arial"/>
              </a:rPr>
              <a:t>consists</a:t>
            </a:r>
            <a:r>
              <a:rPr lang="en-US" altLang="ko-KR" sz="900" spc="-30" dirty="0">
                <a:latin typeface="Arial"/>
                <a:cs typeface="Arial"/>
              </a:rPr>
              <a:t> </a:t>
            </a:r>
            <a:r>
              <a:rPr lang="en-US" altLang="ko-KR" sz="900" dirty="0">
                <a:latin typeface="Arial"/>
                <a:cs typeface="Arial"/>
              </a:rPr>
              <a:t>of</a:t>
            </a:r>
            <a:r>
              <a:rPr lang="en-US" altLang="ko-KR" sz="900" spc="-10" dirty="0">
                <a:latin typeface="Arial"/>
                <a:cs typeface="Arial"/>
              </a:rPr>
              <a:t> </a:t>
            </a:r>
            <a:r>
              <a:rPr lang="en-US" altLang="ko-KR" sz="900" dirty="0">
                <a:latin typeface="Arial"/>
                <a:cs typeface="Arial"/>
              </a:rPr>
              <a:t>the</a:t>
            </a:r>
            <a:r>
              <a:rPr lang="en-US" altLang="ko-KR" sz="900" spc="-10" dirty="0">
                <a:latin typeface="Arial"/>
                <a:cs typeface="Arial"/>
              </a:rPr>
              <a:t> </a:t>
            </a:r>
            <a:r>
              <a:rPr lang="en-US" altLang="ko-KR" sz="900" dirty="0">
                <a:latin typeface="Arial"/>
                <a:cs typeface="Arial"/>
              </a:rPr>
              <a:t>command</a:t>
            </a:r>
            <a:r>
              <a:rPr lang="en-US" altLang="ko-KR" sz="900" spc="-35" dirty="0">
                <a:latin typeface="Arial"/>
                <a:cs typeface="Arial"/>
              </a:rPr>
              <a:t> </a:t>
            </a:r>
            <a:r>
              <a:rPr lang="en-US" altLang="ko-KR" sz="900" dirty="0">
                <a:latin typeface="Arial"/>
                <a:cs typeface="Arial"/>
              </a:rPr>
              <a:t>2 bits,</a:t>
            </a:r>
            <a:r>
              <a:rPr lang="en-US" altLang="ko-KR" sz="900" spc="-25" dirty="0">
                <a:latin typeface="Arial"/>
                <a:cs typeface="Arial"/>
              </a:rPr>
              <a:t> </a:t>
            </a:r>
            <a:r>
              <a:rPr lang="en-US" altLang="ko-KR" sz="900" dirty="0">
                <a:latin typeface="Arial"/>
                <a:cs typeface="Arial"/>
              </a:rPr>
              <a:t>b’00, </a:t>
            </a:r>
            <a:r>
              <a:rPr lang="en-US" altLang="ko-KR" sz="900" spc="-5" dirty="0">
                <a:latin typeface="Arial"/>
                <a:cs typeface="Arial"/>
              </a:rPr>
              <a:t>and LD_I data 12 </a:t>
            </a:r>
            <a:r>
              <a:rPr lang="en-US" altLang="ko-KR" sz="900" dirty="0">
                <a:latin typeface="Arial"/>
                <a:cs typeface="Arial"/>
              </a:rPr>
              <a:t>bits.</a:t>
            </a:r>
            <a:r>
              <a:rPr lang="en-US" altLang="ko-KR" sz="900" spc="-20" dirty="0">
                <a:latin typeface="Arial"/>
                <a:cs typeface="Arial"/>
              </a:rPr>
              <a:t> </a:t>
            </a:r>
            <a:r>
              <a:rPr lang="en-US" altLang="ko-KR" sz="900" spc="-5" dirty="0">
                <a:latin typeface="Arial"/>
                <a:cs typeface="Arial"/>
              </a:rPr>
              <a:t>The</a:t>
            </a:r>
            <a:r>
              <a:rPr lang="en-US" altLang="ko-KR" sz="900" spc="5" dirty="0">
                <a:latin typeface="Arial"/>
                <a:cs typeface="Arial"/>
              </a:rPr>
              <a:t> </a:t>
            </a:r>
            <a:r>
              <a:rPr lang="en-US" altLang="ko-KR" sz="900" spc="-5" dirty="0">
                <a:latin typeface="Arial"/>
                <a:cs typeface="Arial"/>
              </a:rPr>
              <a:t>LD_I</a:t>
            </a:r>
            <a:r>
              <a:rPr lang="en-US" altLang="ko-KR" sz="900" dirty="0">
                <a:latin typeface="Arial"/>
                <a:cs typeface="Arial"/>
              </a:rPr>
              <a:t> </a:t>
            </a:r>
            <a:r>
              <a:rPr lang="en-US" altLang="ko-KR" sz="900" spc="-5" dirty="0">
                <a:latin typeface="Arial"/>
                <a:cs typeface="Arial"/>
              </a:rPr>
              <a:t>data </a:t>
            </a:r>
            <a:r>
              <a:rPr lang="en-US" altLang="ko-KR" sz="900" dirty="0">
                <a:latin typeface="Arial"/>
                <a:cs typeface="Arial"/>
              </a:rPr>
              <a:t>means</a:t>
            </a:r>
            <a:r>
              <a:rPr lang="en-US" altLang="ko-KR" sz="900" spc="-15" dirty="0">
                <a:latin typeface="Arial"/>
                <a:cs typeface="Arial"/>
              </a:rPr>
              <a:t> </a:t>
            </a:r>
            <a:r>
              <a:rPr lang="en-US" altLang="ko-KR" sz="900" dirty="0">
                <a:latin typeface="Arial"/>
                <a:cs typeface="Arial"/>
              </a:rPr>
              <a:t>the</a:t>
            </a:r>
            <a:r>
              <a:rPr lang="en-US" altLang="ko-KR" sz="900" spc="-5" dirty="0">
                <a:latin typeface="Arial"/>
                <a:cs typeface="Arial"/>
              </a:rPr>
              <a:t> </a:t>
            </a:r>
            <a:r>
              <a:rPr lang="en-US" altLang="ko-KR" sz="900" dirty="0">
                <a:latin typeface="Arial"/>
                <a:cs typeface="Arial"/>
              </a:rPr>
              <a:t>current</a:t>
            </a:r>
            <a:r>
              <a:rPr lang="en-US" altLang="ko-KR" sz="900" spc="-20" dirty="0">
                <a:latin typeface="Arial"/>
                <a:cs typeface="Arial"/>
              </a:rPr>
              <a:t> </a:t>
            </a:r>
            <a:r>
              <a:rPr lang="en-US" altLang="ko-KR" sz="900" spc="-5" dirty="0">
                <a:latin typeface="Arial"/>
                <a:cs typeface="Arial"/>
              </a:rPr>
              <a:t>data </a:t>
            </a:r>
            <a:r>
              <a:rPr lang="en-US" altLang="ko-KR" sz="900" dirty="0">
                <a:latin typeface="Arial"/>
                <a:cs typeface="Arial"/>
              </a:rPr>
              <a:t>of</a:t>
            </a:r>
            <a:r>
              <a:rPr lang="en-US" altLang="ko-KR" sz="900" spc="-5" dirty="0">
                <a:latin typeface="Arial"/>
                <a:cs typeface="Arial"/>
              </a:rPr>
              <a:t> a</a:t>
            </a:r>
            <a:r>
              <a:rPr lang="en-US" altLang="ko-KR" sz="900" spc="10" dirty="0">
                <a:latin typeface="Arial"/>
                <a:cs typeface="Arial"/>
              </a:rPr>
              <a:t> </a:t>
            </a:r>
            <a:r>
              <a:rPr lang="en-US" altLang="ko-KR" sz="900" dirty="0">
                <a:latin typeface="Arial"/>
                <a:cs typeface="Arial"/>
              </a:rPr>
              <a:t>block</a:t>
            </a:r>
            <a:r>
              <a:rPr lang="en-US" altLang="ko-KR" sz="900" spc="-25" dirty="0">
                <a:latin typeface="Arial"/>
                <a:cs typeface="Arial"/>
              </a:rPr>
              <a:t> </a:t>
            </a:r>
            <a:r>
              <a:rPr lang="en-US" altLang="ko-KR" sz="900" spc="-5" dirty="0">
                <a:latin typeface="Arial"/>
                <a:cs typeface="Arial"/>
              </a:rPr>
              <a:t>and </a:t>
            </a:r>
            <a:r>
              <a:rPr lang="en-US" altLang="ko-KR" sz="900" dirty="0">
                <a:latin typeface="Arial"/>
                <a:cs typeface="Arial"/>
              </a:rPr>
              <a:t>the</a:t>
            </a:r>
            <a:r>
              <a:rPr lang="en-US" altLang="ko-KR" sz="900" spc="-5" dirty="0">
                <a:latin typeface="Arial"/>
                <a:cs typeface="Arial"/>
              </a:rPr>
              <a:t> whole</a:t>
            </a:r>
            <a:r>
              <a:rPr lang="en-US" altLang="ko-KR" sz="900" spc="5" dirty="0">
                <a:latin typeface="Arial"/>
                <a:cs typeface="Arial"/>
              </a:rPr>
              <a:t> </a:t>
            </a:r>
            <a:r>
              <a:rPr lang="en-US" altLang="ko-KR" sz="900" spc="-5" dirty="0">
                <a:latin typeface="Arial"/>
                <a:cs typeface="Arial"/>
              </a:rPr>
              <a:t>LD_I data</a:t>
            </a:r>
            <a:r>
              <a:rPr lang="en-US" altLang="ko-KR" sz="900" dirty="0">
                <a:latin typeface="Arial"/>
                <a:cs typeface="Arial"/>
              </a:rPr>
              <a:t> of</a:t>
            </a:r>
            <a:r>
              <a:rPr lang="en-US" altLang="ko-KR" sz="900" spc="-5" dirty="0">
                <a:latin typeface="Arial"/>
                <a:cs typeface="Arial"/>
              </a:rPr>
              <a:t> one </a:t>
            </a:r>
            <a:r>
              <a:rPr lang="en-US" altLang="ko-KR" sz="900" dirty="0">
                <a:latin typeface="Arial"/>
                <a:cs typeface="Arial"/>
              </a:rPr>
              <a:t>frame</a:t>
            </a:r>
            <a:r>
              <a:rPr lang="en-US" altLang="ko-KR" sz="900" spc="-15" dirty="0">
                <a:latin typeface="Arial"/>
                <a:cs typeface="Arial"/>
              </a:rPr>
              <a:t> </a:t>
            </a:r>
            <a:r>
              <a:rPr lang="en-US" altLang="ko-KR" sz="900" dirty="0">
                <a:latin typeface="Arial"/>
                <a:cs typeface="Arial"/>
              </a:rPr>
              <a:t>should </a:t>
            </a:r>
            <a:r>
              <a:rPr lang="en-US" altLang="ko-KR" sz="900" spc="-5" dirty="0">
                <a:latin typeface="Arial"/>
                <a:cs typeface="Arial"/>
              </a:rPr>
              <a:t>be </a:t>
            </a:r>
            <a:r>
              <a:rPr lang="en-US" altLang="ko-KR" sz="900" dirty="0">
                <a:latin typeface="Arial"/>
                <a:cs typeface="Arial"/>
              </a:rPr>
              <a:t>transferred at once </a:t>
            </a:r>
            <a:r>
              <a:rPr lang="en-US" altLang="ko-KR" sz="900" spc="-5" dirty="0">
                <a:latin typeface="Arial"/>
                <a:cs typeface="Arial"/>
              </a:rPr>
              <a:t>and </a:t>
            </a:r>
            <a:r>
              <a:rPr lang="en-US" altLang="ko-KR" sz="900" dirty="0">
                <a:latin typeface="Arial"/>
                <a:cs typeface="Arial"/>
              </a:rPr>
              <a:t>if </a:t>
            </a:r>
            <a:r>
              <a:rPr lang="en-US" altLang="ko-KR" sz="900" spc="-5" dirty="0">
                <a:latin typeface="Arial"/>
                <a:cs typeface="Arial"/>
              </a:rPr>
              <a:t>several devices are </a:t>
            </a:r>
            <a:r>
              <a:rPr lang="en-US" altLang="ko-KR" sz="900" dirty="0">
                <a:latin typeface="Arial"/>
                <a:cs typeface="Arial"/>
              </a:rPr>
              <a:t>connected </a:t>
            </a:r>
            <a:r>
              <a:rPr lang="en-US" altLang="ko-KR" sz="900" spc="-5" dirty="0">
                <a:latin typeface="Arial"/>
                <a:cs typeface="Arial"/>
              </a:rPr>
              <a:t>in a </a:t>
            </a:r>
            <a:r>
              <a:rPr lang="en-US" altLang="ko-KR" sz="900" dirty="0">
                <a:latin typeface="Arial"/>
                <a:cs typeface="Arial"/>
              </a:rPr>
              <a:t>daisy chain, </a:t>
            </a:r>
            <a:r>
              <a:rPr lang="en-US" altLang="ko-KR" sz="900" spc="-5" dirty="0">
                <a:latin typeface="Arial"/>
                <a:cs typeface="Arial"/>
              </a:rPr>
              <a:t>then </a:t>
            </a:r>
            <a:r>
              <a:rPr lang="en-US" altLang="ko-KR" sz="900" dirty="0">
                <a:latin typeface="Arial"/>
                <a:cs typeface="Arial"/>
              </a:rPr>
              <a:t>the </a:t>
            </a:r>
            <a:r>
              <a:rPr lang="en-US" altLang="ko-KR" sz="900" spc="-5" dirty="0">
                <a:latin typeface="Arial"/>
                <a:cs typeface="Arial"/>
              </a:rPr>
              <a:t>nSCS </a:t>
            </a:r>
            <a:r>
              <a:rPr lang="en-US" altLang="ko-KR" sz="900" dirty="0">
                <a:latin typeface="Arial"/>
                <a:cs typeface="Arial"/>
              </a:rPr>
              <a:t>should </a:t>
            </a:r>
            <a:r>
              <a:rPr lang="en-US" altLang="ko-KR" sz="900" spc="-5" dirty="0">
                <a:latin typeface="Arial"/>
                <a:cs typeface="Arial"/>
              </a:rPr>
              <a:t>be </a:t>
            </a:r>
            <a:r>
              <a:rPr lang="en-US" altLang="ko-KR" sz="900" dirty="0">
                <a:latin typeface="Arial"/>
                <a:cs typeface="Arial"/>
              </a:rPr>
              <a:t>asserted to active </a:t>
            </a:r>
            <a:r>
              <a:rPr lang="en-US" altLang="ko-KR" sz="900" spc="-235" dirty="0">
                <a:latin typeface="Arial"/>
                <a:cs typeface="Arial"/>
              </a:rPr>
              <a:t> </a:t>
            </a:r>
            <a:r>
              <a:rPr lang="en-US" altLang="ko-KR" sz="900" spc="-5" dirty="0">
                <a:latin typeface="Arial"/>
                <a:cs typeface="Arial"/>
              </a:rPr>
              <a:t>Level</a:t>
            </a:r>
            <a:r>
              <a:rPr lang="en-US" altLang="ko-KR" sz="900" spc="5" dirty="0">
                <a:latin typeface="Arial"/>
                <a:cs typeface="Arial"/>
              </a:rPr>
              <a:t> </a:t>
            </a:r>
            <a:r>
              <a:rPr lang="en-US" altLang="ko-KR" sz="900" dirty="0">
                <a:latin typeface="Arial"/>
                <a:cs typeface="Arial"/>
              </a:rPr>
              <a:t>until all</a:t>
            </a:r>
            <a:r>
              <a:rPr lang="en-US" altLang="ko-KR" sz="900" spc="5" dirty="0">
                <a:latin typeface="Arial"/>
                <a:cs typeface="Arial"/>
              </a:rPr>
              <a:t> </a:t>
            </a:r>
            <a:r>
              <a:rPr lang="en-US" altLang="ko-KR" sz="900" dirty="0">
                <a:latin typeface="Arial"/>
                <a:cs typeface="Arial"/>
              </a:rPr>
              <a:t>devices’ </a:t>
            </a:r>
            <a:r>
              <a:rPr lang="en-US" altLang="ko-KR" sz="900" spc="-5" dirty="0">
                <a:latin typeface="Arial"/>
                <a:cs typeface="Arial"/>
              </a:rPr>
              <a:t>DUTY</a:t>
            </a:r>
            <a:r>
              <a:rPr lang="en-US" altLang="ko-KR" sz="900" spc="25" dirty="0">
                <a:latin typeface="Arial"/>
                <a:cs typeface="Arial"/>
              </a:rPr>
              <a:t> </a:t>
            </a:r>
            <a:r>
              <a:rPr lang="en-US" altLang="ko-KR" sz="900" dirty="0">
                <a:latin typeface="Arial"/>
                <a:cs typeface="Arial"/>
              </a:rPr>
              <a:t>data</a:t>
            </a:r>
            <a:r>
              <a:rPr lang="en-US" altLang="ko-KR" sz="900" spc="10" dirty="0">
                <a:latin typeface="Arial"/>
                <a:cs typeface="Arial"/>
              </a:rPr>
              <a:t> </a:t>
            </a:r>
            <a:r>
              <a:rPr lang="en-US" altLang="ko-KR" sz="900" dirty="0">
                <a:latin typeface="Arial"/>
                <a:cs typeface="Arial"/>
              </a:rPr>
              <a:t>is</a:t>
            </a:r>
            <a:r>
              <a:rPr lang="en-US" altLang="ko-KR" sz="900" spc="10" dirty="0">
                <a:latin typeface="Arial"/>
                <a:cs typeface="Arial"/>
              </a:rPr>
              <a:t> </a:t>
            </a:r>
            <a:r>
              <a:rPr lang="en-US" altLang="ko-KR" sz="900" dirty="0">
                <a:latin typeface="Arial"/>
                <a:cs typeface="Arial"/>
              </a:rPr>
              <a:t>completed</a:t>
            </a:r>
            <a:r>
              <a:rPr lang="en-US" altLang="ko-KR" sz="900" spc="-25" dirty="0">
                <a:latin typeface="Arial"/>
                <a:cs typeface="Arial"/>
              </a:rPr>
              <a:t> </a:t>
            </a:r>
            <a:r>
              <a:rPr lang="en-US" altLang="ko-KR" sz="900" dirty="0">
                <a:latin typeface="Arial"/>
                <a:cs typeface="Arial"/>
              </a:rPr>
              <a:t>to</a:t>
            </a:r>
            <a:r>
              <a:rPr lang="en-US" altLang="ko-KR" sz="900" spc="15" dirty="0">
                <a:latin typeface="Arial"/>
                <a:cs typeface="Arial"/>
              </a:rPr>
              <a:t> </a:t>
            </a:r>
            <a:r>
              <a:rPr lang="en-US" altLang="ko-KR" sz="900" dirty="0">
                <a:latin typeface="Arial"/>
                <a:cs typeface="Arial"/>
              </a:rPr>
              <a:t>transfer.</a:t>
            </a:r>
            <a:r>
              <a:rPr lang="en-US" altLang="ko-KR" sz="900" spc="-15" dirty="0">
                <a:latin typeface="Arial"/>
                <a:cs typeface="Arial"/>
              </a:rPr>
              <a:t> </a:t>
            </a:r>
            <a:r>
              <a:rPr lang="en-US" altLang="ko-KR" sz="900" spc="-5" dirty="0">
                <a:latin typeface="Arial"/>
                <a:cs typeface="Arial"/>
              </a:rPr>
              <a:t>The</a:t>
            </a:r>
            <a:r>
              <a:rPr lang="en-US" altLang="ko-KR" sz="900" spc="15" dirty="0">
                <a:latin typeface="Arial"/>
                <a:cs typeface="Arial"/>
              </a:rPr>
              <a:t> </a:t>
            </a:r>
            <a:r>
              <a:rPr lang="en-US" altLang="ko-KR" sz="900" dirty="0">
                <a:latin typeface="Arial"/>
                <a:cs typeface="Arial"/>
              </a:rPr>
              <a:t>order</a:t>
            </a:r>
            <a:r>
              <a:rPr lang="en-US" altLang="ko-KR" sz="900" spc="10" dirty="0">
                <a:latin typeface="Arial"/>
                <a:cs typeface="Arial"/>
              </a:rPr>
              <a:t> </a:t>
            </a:r>
            <a:r>
              <a:rPr lang="en-US" altLang="ko-KR" sz="900" dirty="0">
                <a:latin typeface="Arial"/>
                <a:cs typeface="Arial"/>
              </a:rPr>
              <a:t>of</a:t>
            </a:r>
            <a:r>
              <a:rPr lang="en-US" altLang="ko-KR" sz="900" spc="15" dirty="0">
                <a:latin typeface="Arial"/>
                <a:cs typeface="Arial"/>
              </a:rPr>
              <a:t> </a:t>
            </a:r>
            <a:r>
              <a:rPr lang="en-US" altLang="ko-KR" sz="900" spc="-5" dirty="0">
                <a:latin typeface="Arial"/>
                <a:cs typeface="Arial"/>
              </a:rPr>
              <a:t>LD_I</a:t>
            </a:r>
            <a:r>
              <a:rPr lang="en-US" altLang="ko-KR" sz="900" spc="10" dirty="0">
                <a:latin typeface="Arial"/>
                <a:cs typeface="Arial"/>
              </a:rPr>
              <a:t> </a:t>
            </a:r>
            <a:r>
              <a:rPr lang="en-US" altLang="ko-KR" sz="900" dirty="0">
                <a:latin typeface="Arial"/>
                <a:cs typeface="Arial"/>
              </a:rPr>
              <a:t>data transmit</a:t>
            </a:r>
            <a:r>
              <a:rPr lang="en-US" altLang="ko-KR" sz="900" spc="-10" dirty="0">
                <a:latin typeface="Arial"/>
                <a:cs typeface="Arial"/>
              </a:rPr>
              <a:t> </a:t>
            </a:r>
            <a:r>
              <a:rPr lang="en-US" altLang="ko-KR" sz="900" dirty="0">
                <a:latin typeface="Arial"/>
                <a:cs typeface="Arial"/>
              </a:rPr>
              <a:t>is</a:t>
            </a:r>
            <a:r>
              <a:rPr lang="en-US" altLang="ko-KR" sz="900" spc="15" dirty="0">
                <a:latin typeface="Arial"/>
                <a:cs typeface="Arial"/>
              </a:rPr>
              <a:t> </a:t>
            </a:r>
            <a:r>
              <a:rPr lang="en-US" altLang="ko-KR" sz="900" dirty="0">
                <a:latin typeface="Arial"/>
                <a:cs typeface="Arial"/>
              </a:rPr>
              <a:t>transferred</a:t>
            </a:r>
            <a:r>
              <a:rPr lang="en-US" altLang="ko-KR" sz="900" spc="-20" dirty="0">
                <a:latin typeface="Arial"/>
                <a:cs typeface="Arial"/>
              </a:rPr>
              <a:t> </a:t>
            </a:r>
            <a:r>
              <a:rPr lang="en-US" altLang="ko-KR" sz="900" dirty="0">
                <a:latin typeface="Arial"/>
                <a:cs typeface="Arial"/>
              </a:rPr>
              <a:t>in</a:t>
            </a:r>
            <a:r>
              <a:rPr lang="en-US" altLang="ko-KR" sz="900" spc="10" dirty="0">
                <a:latin typeface="Arial"/>
                <a:cs typeface="Arial"/>
              </a:rPr>
              <a:t> </a:t>
            </a:r>
            <a:r>
              <a:rPr lang="en-US" altLang="ko-KR" sz="900" dirty="0">
                <a:latin typeface="Arial"/>
                <a:cs typeface="Arial"/>
              </a:rPr>
              <a:t>block</a:t>
            </a:r>
            <a:r>
              <a:rPr lang="en-US" altLang="ko-KR" sz="900" spc="-5" dirty="0">
                <a:latin typeface="Arial"/>
                <a:cs typeface="Arial"/>
              </a:rPr>
              <a:t> </a:t>
            </a:r>
            <a:r>
              <a:rPr lang="en-US" altLang="ko-KR" sz="900" dirty="0">
                <a:latin typeface="Arial"/>
                <a:cs typeface="Arial"/>
              </a:rPr>
              <a:t>order </a:t>
            </a:r>
            <a:r>
              <a:rPr lang="en-US" altLang="ko-KR" sz="900" spc="5" dirty="0">
                <a:latin typeface="Arial"/>
                <a:cs typeface="Arial"/>
              </a:rPr>
              <a:t> </a:t>
            </a:r>
            <a:r>
              <a:rPr lang="en-US" altLang="ko-KR" sz="900" spc="-5" dirty="0">
                <a:latin typeface="Arial"/>
                <a:cs typeface="Arial"/>
              </a:rPr>
              <a:t>in</a:t>
            </a:r>
            <a:r>
              <a:rPr lang="en-US" altLang="ko-KR" sz="900" spc="-15" dirty="0">
                <a:latin typeface="Arial"/>
                <a:cs typeface="Arial"/>
              </a:rPr>
              <a:t> </a:t>
            </a:r>
            <a:r>
              <a:rPr lang="en-US" altLang="ko-KR" sz="900" dirty="0">
                <a:latin typeface="Arial"/>
                <a:cs typeface="Arial"/>
              </a:rPr>
              <a:t>the</a:t>
            </a:r>
            <a:r>
              <a:rPr lang="en-US" altLang="ko-KR" sz="900" spc="-10" dirty="0">
                <a:latin typeface="Arial"/>
                <a:cs typeface="Arial"/>
              </a:rPr>
              <a:t> </a:t>
            </a:r>
            <a:r>
              <a:rPr lang="en-US" altLang="ko-KR" sz="900" dirty="0">
                <a:latin typeface="Arial"/>
                <a:cs typeface="Arial"/>
              </a:rPr>
              <a:t>scan</a:t>
            </a:r>
            <a:r>
              <a:rPr lang="en-US" altLang="ko-KR" sz="900" spc="-20" dirty="0">
                <a:latin typeface="Arial"/>
                <a:cs typeface="Arial"/>
              </a:rPr>
              <a:t> </a:t>
            </a:r>
            <a:r>
              <a:rPr lang="en-US" altLang="ko-KR" sz="900" dirty="0">
                <a:latin typeface="Arial"/>
                <a:cs typeface="Arial"/>
              </a:rPr>
              <a:t>direction</a:t>
            </a:r>
            <a:r>
              <a:rPr lang="en-US" altLang="ko-KR" sz="900" dirty="0">
                <a:latin typeface="Arial" panose="020B0604020202020204" pitchFamily="34" charset="0"/>
                <a:cs typeface="Arial" panose="020B0604020202020204" pitchFamily="34" charset="0"/>
              </a:rPr>
              <a:t>.</a:t>
            </a:r>
          </a:p>
        </p:txBody>
      </p:sp>
      <p:sp>
        <p:nvSpPr>
          <p:cNvPr id="5" name="object 9">
            <a:extLst>
              <a:ext uri="{FF2B5EF4-FFF2-40B4-BE49-F238E27FC236}">
                <a16:creationId xmlns:a16="http://schemas.microsoft.com/office/drawing/2014/main" id="{1271848E-CB7C-D71E-0CCD-42A42B47C49A}"/>
              </a:ext>
            </a:extLst>
          </p:cNvPr>
          <p:cNvSpPr txBox="1"/>
          <p:nvPr/>
        </p:nvSpPr>
        <p:spPr>
          <a:xfrm>
            <a:off x="304800" y="9067800"/>
            <a:ext cx="2078355" cy="289823"/>
          </a:xfrm>
          <a:prstGeom prst="rect">
            <a:avLst/>
          </a:prstGeom>
        </p:spPr>
        <p:txBody>
          <a:bodyPr vert="horz" wrap="square" lIns="0" tIns="12700" rIns="0" bIns="0" rtlCol="0">
            <a:spAutoFit/>
          </a:bodyPr>
          <a:lstStyle/>
          <a:p>
            <a:pPr marL="12700">
              <a:lnSpc>
                <a:spcPct val="100000"/>
              </a:lnSpc>
              <a:spcBef>
                <a:spcPts val="100"/>
              </a:spcBef>
            </a:pPr>
            <a:r>
              <a:rPr b="1" spc="-5" dirty="0">
                <a:solidFill>
                  <a:srgbClr val="FF0000"/>
                </a:solidFill>
                <a:cs typeface="Perpetua Titling MT"/>
              </a:rPr>
              <a:t>CONFIDENTIAL</a:t>
            </a:r>
            <a:endParaRPr dirty="0">
              <a:cs typeface="Perpetua Titling MT"/>
            </a:endParaRPr>
          </a:p>
        </p:txBody>
      </p:sp>
      <p:sp>
        <p:nvSpPr>
          <p:cNvPr id="13" name="object 6">
            <a:extLst>
              <a:ext uri="{FF2B5EF4-FFF2-40B4-BE49-F238E27FC236}">
                <a16:creationId xmlns:a16="http://schemas.microsoft.com/office/drawing/2014/main" id="{F88E9F77-FF38-A733-1CC3-418B5BDC11B0}"/>
              </a:ext>
            </a:extLst>
          </p:cNvPr>
          <p:cNvSpPr/>
          <p:nvPr/>
        </p:nvSpPr>
        <p:spPr>
          <a:xfrm>
            <a:off x="301676" y="9458756"/>
            <a:ext cx="6246495" cy="0"/>
          </a:xfrm>
          <a:custGeom>
            <a:avLst/>
            <a:gdLst/>
            <a:ahLst/>
            <a:cxnLst/>
            <a:rect l="l" t="t" r="r" b="b"/>
            <a:pathLst>
              <a:path w="6246495">
                <a:moveTo>
                  <a:pt x="0" y="0"/>
                </a:moveTo>
                <a:lnTo>
                  <a:pt x="6245999" y="0"/>
                </a:lnTo>
              </a:path>
            </a:pathLst>
          </a:custGeom>
          <a:ln w="25920">
            <a:solidFill>
              <a:srgbClr val="BFBFBF"/>
            </a:solidFill>
          </a:ln>
        </p:spPr>
        <p:txBody>
          <a:bodyPr wrap="square" lIns="0" tIns="0" rIns="0" bIns="0" rtlCol="0"/>
          <a:lstStyle/>
          <a:p>
            <a:endParaRPr/>
          </a:p>
        </p:txBody>
      </p:sp>
      <p:sp>
        <p:nvSpPr>
          <p:cNvPr id="14" name="슬라이드 번호 개체 틀 3">
            <a:hlinkClick r:id="rId4"/>
            <a:extLst>
              <a:ext uri="{FF2B5EF4-FFF2-40B4-BE49-F238E27FC236}">
                <a16:creationId xmlns:a16="http://schemas.microsoft.com/office/drawing/2014/main" id="{D8FDEBA6-6D20-B8CE-227D-54F6D6B3BE54}"/>
              </a:ext>
            </a:extLst>
          </p:cNvPr>
          <p:cNvSpPr txBox="1">
            <a:spLocks/>
          </p:cNvSpPr>
          <p:nvPr/>
        </p:nvSpPr>
        <p:spPr>
          <a:xfrm>
            <a:off x="5151602" y="9452864"/>
            <a:ext cx="1487550"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dirty="0">
                <a:solidFill>
                  <a:prstClr val="black"/>
                </a:solidFill>
                <a:latin typeface="Arial" panose="020B0604020202020204" pitchFamily="34" charset="0"/>
                <a:cs typeface="Arial" panose="020B0604020202020204" pitchFamily="34" charset="0"/>
              </a:rPr>
              <a:t>http://www.glbltech.com/</a:t>
            </a:r>
            <a:endParaRPr lang="ko-KR" altLang="en-US" dirty="0">
              <a:solidFill>
                <a:prstClr val="black"/>
              </a:solidFill>
              <a:latin typeface="Arial" panose="020B0604020202020204" pitchFamily="34" charset="0"/>
              <a:cs typeface="Arial" panose="020B0604020202020204" pitchFamily="34" charset="0"/>
            </a:endParaRPr>
          </a:p>
        </p:txBody>
      </p:sp>
      <p:sp>
        <p:nvSpPr>
          <p:cNvPr id="15" name="object 38">
            <a:extLst>
              <a:ext uri="{FF2B5EF4-FFF2-40B4-BE49-F238E27FC236}">
                <a16:creationId xmlns:a16="http://schemas.microsoft.com/office/drawing/2014/main" id="{CD30DC59-3B39-0613-B4C6-C7DB119020E5}"/>
              </a:ext>
            </a:extLst>
          </p:cNvPr>
          <p:cNvSpPr txBox="1">
            <a:spLocks/>
          </p:cNvSpPr>
          <p:nvPr/>
        </p:nvSpPr>
        <p:spPr>
          <a:xfrm>
            <a:off x="3309066" y="9547988"/>
            <a:ext cx="487045" cy="139141"/>
          </a:xfrm>
          <a:prstGeom prst="rect">
            <a:avLst/>
          </a:prstGeom>
        </p:spPr>
        <p:txBody>
          <a:bodyPr vert="horz" wrap="square" lIns="0" tIns="635" rIns="0" bIns="0" rtlCol="0">
            <a:spAutoFit/>
          </a:bodyPr>
          <a:lstStyle>
            <a:defPPr>
              <a:defRPr lang="ko-KR"/>
            </a:defPPr>
            <a:lvl1pPr marL="0" algn="l" defTabSz="914400" rtl="0" eaLnBrk="1" latinLnBrk="1" hangingPunct="1">
              <a:defRPr sz="1050" b="0" i="0" kern="1200">
                <a:solidFill>
                  <a:schemeClr val="tx1"/>
                </a:solidFill>
                <a:latin typeface="Arial"/>
                <a:ea typeface="+mn-ea"/>
                <a:cs typeface="Arial"/>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marL="12700">
              <a:spcBef>
                <a:spcPts val="5"/>
              </a:spcBef>
              <a:defRPr/>
            </a:pPr>
            <a:r>
              <a:rPr lang="en-US" sz="900" dirty="0">
                <a:solidFill>
                  <a:prstClr val="black"/>
                </a:solidFill>
              </a:rPr>
              <a:t>Page</a:t>
            </a:r>
            <a:r>
              <a:rPr lang="en-US" sz="900" spc="-60" dirty="0">
                <a:solidFill>
                  <a:prstClr val="black"/>
                </a:solidFill>
              </a:rPr>
              <a:t> </a:t>
            </a:r>
            <a:fld id="{81D60167-4931-47E6-BA6A-407CBD079E47}" type="slidenum">
              <a:rPr sz="900">
                <a:solidFill>
                  <a:prstClr val="black"/>
                </a:solidFill>
              </a:rPr>
              <a:pPr marL="12700">
                <a:spcBef>
                  <a:spcPts val="5"/>
                </a:spcBef>
                <a:defRPr/>
              </a:pPr>
              <a:t>18</a:t>
            </a:fld>
            <a:endParaRPr sz="900" dirty="0">
              <a:solidFill>
                <a:prstClr val="black"/>
              </a:solidFill>
            </a:endParaRPr>
          </a:p>
        </p:txBody>
      </p:sp>
      <p:sp>
        <p:nvSpPr>
          <p:cNvPr id="16" name="슬라이드 번호 개체 틀 3">
            <a:extLst>
              <a:ext uri="{FF2B5EF4-FFF2-40B4-BE49-F238E27FC236}">
                <a16:creationId xmlns:a16="http://schemas.microsoft.com/office/drawing/2014/main" id="{9A6818C6-95E7-22AC-75CB-9F6E1F065859}"/>
              </a:ext>
            </a:extLst>
          </p:cNvPr>
          <p:cNvSpPr txBox="1">
            <a:spLocks/>
          </p:cNvSpPr>
          <p:nvPr/>
        </p:nvSpPr>
        <p:spPr>
          <a:xfrm>
            <a:off x="299401" y="9520856"/>
            <a:ext cx="2060991" cy="175259"/>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lang="en-US" altLang="ko-KR" dirty="0">
                <a:solidFill>
                  <a:prstClr val="black"/>
                </a:solidFill>
                <a:latin typeface="Arial" panose="020B0604020202020204" pitchFamily="34" charset="0"/>
                <a:cs typeface="Arial" panose="020B0604020202020204" pitchFamily="34" charset="0"/>
              </a:rPr>
              <a:t>Dated 30-Nov 23  Rev. 01</a:t>
            </a:r>
            <a:endParaRPr lang="ko-KR" altLang="en-US" dirty="0">
              <a:solidFill>
                <a:prstClr val="black"/>
              </a:solidFill>
              <a:latin typeface="Arial" panose="020B0604020202020204" pitchFamily="34" charset="0"/>
              <a:cs typeface="Arial" panose="020B0604020202020204" pitchFamily="34" charset="0"/>
            </a:endParaRPr>
          </a:p>
        </p:txBody>
      </p:sp>
      <p:sp>
        <p:nvSpPr>
          <p:cNvPr id="17" name="Holder 3">
            <a:extLst>
              <a:ext uri="{FF2B5EF4-FFF2-40B4-BE49-F238E27FC236}">
                <a16:creationId xmlns:a16="http://schemas.microsoft.com/office/drawing/2014/main" id="{F4B192B2-E400-AC47-20EB-98E0E6C4FD74}"/>
              </a:ext>
            </a:extLst>
          </p:cNvPr>
          <p:cNvSpPr txBox="1">
            <a:spLocks/>
          </p:cNvSpPr>
          <p:nvPr/>
        </p:nvSpPr>
        <p:spPr>
          <a:xfrm>
            <a:off x="5147476" y="203944"/>
            <a:ext cx="1447800" cy="276999"/>
          </a:xfrm>
          <a:prstGeom prst="rect">
            <a:avLst/>
          </a:prstGeom>
        </p:spPr>
        <p:txBody>
          <a:bodyPr wrap="square" lIns="0" tIns="0" rIns="0" bIns="0">
            <a:spAutoFit/>
          </a:bodyPr>
          <a:lstStyle>
            <a:lvl1pPr marL="0">
              <a:defRPr>
                <a:solidFill>
                  <a:srgbClr val="FF99FF"/>
                </a:solidFill>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defTabSz="914400" latinLnBrk="0"/>
            <a:r>
              <a:rPr lang="en-US" sz="1800" kern="0" dirty="0"/>
              <a:t>&lt;Preliminary&gt;</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p:nvPr/>
        </p:nvSpPr>
        <p:spPr>
          <a:xfrm>
            <a:off x="400913" y="301879"/>
            <a:ext cx="622935" cy="299720"/>
          </a:xfrm>
          <a:prstGeom prst="rect">
            <a:avLst/>
          </a:prstGeom>
        </p:spPr>
        <p:txBody>
          <a:bodyPr vert="horz" wrap="square" lIns="0" tIns="12700" rIns="0" bIns="0" rtlCol="0">
            <a:spAutoFit/>
          </a:bodyPr>
          <a:lstStyle/>
          <a:p>
            <a:pPr marL="12700">
              <a:lnSpc>
                <a:spcPct val="100000"/>
              </a:lnSpc>
              <a:spcBef>
                <a:spcPts val="100"/>
              </a:spcBef>
            </a:pPr>
            <a:r>
              <a:rPr sz="1800" b="1" spc="-5" dirty="0">
                <a:latin typeface="Arial"/>
                <a:cs typeface="Arial"/>
              </a:rPr>
              <a:t>CQ24</a:t>
            </a:r>
            <a:endParaRPr sz="1800" dirty="0">
              <a:latin typeface="Arial"/>
              <a:cs typeface="Arial"/>
            </a:endParaRPr>
          </a:p>
        </p:txBody>
      </p:sp>
      <p:sp>
        <p:nvSpPr>
          <p:cNvPr id="5" name="object 5"/>
          <p:cNvSpPr txBox="1"/>
          <p:nvPr/>
        </p:nvSpPr>
        <p:spPr>
          <a:xfrm>
            <a:off x="400912" y="906018"/>
            <a:ext cx="6038543" cy="511175"/>
          </a:xfrm>
          <a:prstGeom prst="rect">
            <a:avLst/>
          </a:prstGeom>
        </p:spPr>
        <p:txBody>
          <a:bodyPr vert="horz" wrap="square" lIns="0" tIns="12700" rIns="0" bIns="0" rtlCol="0">
            <a:spAutoFit/>
          </a:bodyPr>
          <a:lstStyle/>
          <a:p>
            <a:pPr marL="12700">
              <a:lnSpc>
                <a:spcPct val="100000"/>
              </a:lnSpc>
              <a:spcBef>
                <a:spcPts val="100"/>
              </a:spcBef>
            </a:pPr>
            <a:r>
              <a:rPr sz="1400" b="1" dirty="0">
                <a:latin typeface="Arial"/>
                <a:cs typeface="Arial"/>
              </a:rPr>
              <a:t>2.</a:t>
            </a:r>
            <a:r>
              <a:rPr sz="1400" b="1" spc="-35" dirty="0">
                <a:latin typeface="Arial"/>
                <a:cs typeface="Arial"/>
              </a:rPr>
              <a:t> </a:t>
            </a:r>
            <a:r>
              <a:rPr sz="1400" b="1" dirty="0">
                <a:latin typeface="Arial"/>
                <a:cs typeface="Arial"/>
              </a:rPr>
              <a:t>Local</a:t>
            </a:r>
            <a:r>
              <a:rPr sz="1400" b="1" spc="-30" dirty="0">
                <a:latin typeface="Arial"/>
                <a:cs typeface="Arial"/>
              </a:rPr>
              <a:t> </a:t>
            </a:r>
            <a:r>
              <a:rPr sz="1400" b="1" dirty="0">
                <a:latin typeface="Arial"/>
                <a:cs typeface="Arial"/>
              </a:rPr>
              <a:t>dimming</a:t>
            </a:r>
            <a:endParaRPr sz="1400" dirty="0">
              <a:latin typeface="Arial"/>
              <a:cs typeface="Arial"/>
            </a:endParaRPr>
          </a:p>
          <a:p>
            <a:pPr marL="12700" algn="just">
              <a:lnSpc>
                <a:spcPct val="100000"/>
              </a:lnSpc>
              <a:spcBef>
                <a:spcPts val="1065"/>
              </a:spcBef>
            </a:pPr>
            <a:r>
              <a:rPr sz="900" spc="-5" dirty="0">
                <a:latin typeface="Arial"/>
                <a:cs typeface="Arial"/>
              </a:rPr>
              <a:t>The</a:t>
            </a:r>
            <a:r>
              <a:rPr sz="900" spc="10" dirty="0">
                <a:latin typeface="Arial"/>
                <a:cs typeface="Arial"/>
              </a:rPr>
              <a:t> </a:t>
            </a:r>
            <a:r>
              <a:rPr sz="900" dirty="0">
                <a:latin typeface="Arial"/>
                <a:cs typeface="Arial"/>
              </a:rPr>
              <a:t>CQ24</a:t>
            </a:r>
            <a:r>
              <a:rPr sz="900" spc="15" dirty="0">
                <a:latin typeface="Arial"/>
                <a:cs typeface="Arial"/>
              </a:rPr>
              <a:t> </a:t>
            </a:r>
            <a:r>
              <a:rPr sz="900" dirty="0">
                <a:latin typeface="Arial"/>
                <a:cs typeface="Arial"/>
              </a:rPr>
              <a:t>can</a:t>
            </a:r>
            <a:r>
              <a:rPr sz="900" spc="-10" dirty="0">
                <a:latin typeface="Arial"/>
                <a:cs typeface="Arial"/>
              </a:rPr>
              <a:t> </a:t>
            </a:r>
            <a:r>
              <a:rPr sz="900" dirty="0">
                <a:latin typeface="Arial"/>
                <a:cs typeface="Arial"/>
              </a:rPr>
              <a:t>support</a:t>
            </a:r>
            <a:r>
              <a:rPr sz="900" spc="-10" dirty="0">
                <a:latin typeface="Arial"/>
                <a:cs typeface="Arial"/>
              </a:rPr>
              <a:t> </a:t>
            </a:r>
            <a:r>
              <a:rPr sz="900" spc="-5" dirty="0">
                <a:latin typeface="Arial"/>
                <a:cs typeface="Arial"/>
              </a:rPr>
              <a:t>maximum</a:t>
            </a:r>
            <a:r>
              <a:rPr sz="900" spc="5" dirty="0">
                <a:latin typeface="Arial"/>
                <a:cs typeface="Arial"/>
              </a:rPr>
              <a:t> </a:t>
            </a:r>
            <a:r>
              <a:rPr sz="900" dirty="0">
                <a:latin typeface="Arial"/>
                <a:cs typeface="Arial"/>
              </a:rPr>
              <a:t>128 times</a:t>
            </a:r>
            <a:r>
              <a:rPr sz="900" spc="-10" dirty="0">
                <a:latin typeface="Arial"/>
                <a:cs typeface="Arial"/>
              </a:rPr>
              <a:t> </a:t>
            </a:r>
            <a:r>
              <a:rPr sz="900" dirty="0">
                <a:latin typeface="Arial"/>
                <a:cs typeface="Arial"/>
              </a:rPr>
              <a:t>of </a:t>
            </a:r>
            <a:r>
              <a:rPr sz="900" spc="-5" dirty="0">
                <a:latin typeface="Arial"/>
                <a:cs typeface="Arial"/>
              </a:rPr>
              <a:t>sub-frame</a:t>
            </a:r>
            <a:r>
              <a:rPr sz="900" spc="-10" dirty="0">
                <a:latin typeface="Arial"/>
                <a:cs typeface="Arial"/>
              </a:rPr>
              <a:t> </a:t>
            </a:r>
            <a:r>
              <a:rPr sz="900" dirty="0">
                <a:latin typeface="Arial"/>
                <a:cs typeface="Arial"/>
              </a:rPr>
              <a:t>for </a:t>
            </a:r>
            <a:r>
              <a:rPr sz="900" spc="-5" dirty="0">
                <a:latin typeface="Arial"/>
                <a:cs typeface="Arial"/>
              </a:rPr>
              <a:t>one </a:t>
            </a:r>
            <a:r>
              <a:rPr sz="900" dirty="0">
                <a:latin typeface="Arial"/>
                <a:cs typeface="Arial"/>
              </a:rPr>
              <a:t>frame</a:t>
            </a:r>
            <a:r>
              <a:rPr sz="900" spc="-10" dirty="0">
                <a:latin typeface="Arial"/>
                <a:cs typeface="Arial"/>
              </a:rPr>
              <a:t> </a:t>
            </a:r>
            <a:r>
              <a:rPr sz="900" spc="-5" dirty="0">
                <a:latin typeface="Arial"/>
                <a:cs typeface="Arial"/>
              </a:rPr>
              <a:t>period,100~120hz.</a:t>
            </a:r>
            <a:endParaRPr sz="900" dirty="0">
              <a:latin typeface="Arial"/>
              <a:cs typeface="Arial"/>
            </a:endParaRPr>
          </a:p>
        </p:txBody>
      </p:sp>
      <p:sp>
        <p:nvSpPr>
          <p:cNvPr id="6" name="object 6"/>
          <p:cNvSpPr txBox="1"/>
          <p:nvPr/>
        </p:nvSpPr>
        <p:spPr>
          <a:xfrm>
            <a:off x="400911" y="1768600"/>
            <a:ext cx="6038543" cy="228268"/>
          </a:xfrm>
          <a:prstGeom prst="rect">
            <a:avLst/>
          </a:prstGeom>
        </p:spPr>
        <p:txBody>
          <a:bodyPr vert="horz" wrap="square" lIns="0" tIns="12700" rIns="0" bIns="0" rtlCol="0">
            <a:spAutoFit/>
          </a:bodyPr>
          <a:lstStyle/>
          <a:p>
            <a:pPr marL="12700">
              <a:lnSpc>
                <a:spcPct val="100000"/>
              </a:lnSpc>
              <a:spcBef>
                <a:spcPts val="100"/>
              </a:spcBef>
            </a:pPr>
            <a:r>
              <a:rPr sz="1400" b="1" spc="-5" dirty="0">
                <a:latin typeface="Arial"/>
                <a:cs typeface="Arial"/>
              </a:rPr>
              <a:t>The</a:t>
            </a:r>
            <a:r>
              <a:rPr sz="1400" b="1" spc="5" dirty="0">
                <a:latin typeface="Arial"/>
                <a:cs typeface="Arial"/>
              </a:rPr>
              <a:t> </a:t>
            </a:r>
            <a:r>
              <a:rPr sz="1400" b="1" spc="-5" dirty="0">
                <a:latin typeface="Arial"/>
                <a:cs typeface="Arial"/>
              </a:rPr>
              <a:t>channels’</a:t>
            </a:r>
            <a:r>
              <a:rPr sz="1400" b="1" spc="-114" dirty="0">
                <a:latin typeface="Arial"/>
                <a:cs typeface="Arial"/>
              </a:rPr>
              <a:t> </a:t>
            </a:r>
            <a:r>
              <a:rPr sz="1400" b="1" spc="-5" dirty="0">
                <a:latin typeface="Arial"/>
                <a:cs typeface="Arial"/>
              </a:rPr>
              <a:t>mapping</a:t>
            </a:r>
            <a:r>
              <a:rPr sz="1400" b="1" spc="-20" dirty="0">
                <a:latin typeface="Arial"/>
                <a:cs typeface="Arial"/>
              </a:rPr>
              <a:t> </a:t>
            </a:r>
            <a:r>
              <a:rPr sz="1400" b="1" spc="-5" dirty="0">
                <a:latin typeface="Arial"/>
                <a:cs typeface="Arial"/>
              </a:rPr>
              <a:t>method</a:t>
            </a:r>
            <a:r>
              <a:rPr sz="1400" b="1" spc="-15" dirty="0">
                <a:latin typeface="Arial"/>
                <a:cs typeface="Arial"/>
              </a:rPr>
              <a:t> </a:t>
            </a:r>
            <a:r>
              <a:rPr sz="1400" b="1" dirty="0">
                <a:latin typeface="Arial"/>
                <a:cs typeface="Arial"/>
              </a:rPr>
              <a:t>to</a:t>
            </a:r>
            <a:r>
              <a:rPr sz="1400" b="1" spc="-10" dirty="0">
                <a:latin typeface="Arial"/>
                <a:cs typeface="Arial"/>
              </a:rPr>
              <a:t> </a:t>
            </a:r>
            <a:r>
              <a:rPr sz="1400" b="1" dirty="0">
                <a:latin typeface="Arial"/>
                <a:cs typeface="Arial"/>
              </a:rPr>
              <a:t>LED</a:t>
            </a:r>
            <a:r>
              <a:rPr sz="1400" b="1" spc="5" dirty="0">
                <a:latin typeface="Arial"/>
                <a:cs typeface="Arial"/>
              </a:rPr>
              <a:t> </a:t>
            </a:r>
            <a:r>
              <a:rPr sz="1400" b="1" dirty="0">
                <a:latin typeface="Arial"/>
                <a:cs typeface="Arial"/>
              </a:rPr>
              <a:t>block</a:t>
            </a:r>
            <a:r>
              <a:rPr sz="1400" b="1" spc="-25" dirty="0">
                <a:latin typeface="Arial"/>
                <a:cs typeface="Arial"/>
              </a:rPr>
              <a:t> </a:t>
            </a:r>
            <a:r>
              <a:rPr sz="1400" b="1" dirty="0">
                <a:latin typeface="Arial"/>
                <a:cs typeface="Arial"/>
              </a:rPr>
              <a:t>array</a:t>
            </a:r>
            <a:endParaRPr sz="1400" dirty="0">
              <a:latin typeface="Arial"/>
              <a:cs typeface="Arial"/>
            </a:endParaRPr>
          </a:p>
        </p:txBody>
      </p:sp>
      <p:sp>
        <p:nvSpPr>
          <p:cNvPr id="8" name="object 8"/>
          <p:cNvSpPr txBox="1"/>
          <p:nvPr/>
        </p:nvSpPr>
        <p:spPr>
          <a:xfrm>
            <a:off x="400910" y="7439407"/>
            <a:ext cx="6038543" cy="151323"/>
          </a:xfrm>
          <a:prstGeom prst="rect">
            <a:avLst/>
          </a:prstGeom>
        </p:spPr>
        <p:txBody>
          <a:bodyPr vert="horz" wrap="square" lIns="0" tIns="12700" rIns="0" bIns="0" rtlCol="0">
            <a:spAutoFit/>
          </a:bodyPr>
          <a:lstStyle/>
          <a:p>
            <a:pPr marL="12700" algn="ctr">
              <a:lnSpc>
                <a:spcPct val="100000"/>
              </a:lnSpc>
              <a:spcBef>
                <a:spcPts val="100"/>
              </a:spcBef>
            </a:pPr>
            <a:r>
              <a:rPr sz="900" b="1" spc="-5" dirty="0">
                <a:latin typeface="Arial"/>
                <a:cs typeface="Arial"/>
              </a:rPr>
              <a:t>[Figure.</a:t>
            </a:r>
            <a:r>
              <a:rPr sz="900" b="1" spc="10" dirty="0">
                <a:latin typeface="Arial"/>
                <a:cs typeface="Arial"/>
              </a:rPr>
              <a:t> </a:t>
            </a:r>
            <a:r>
              <a:rPr lang="en-US" sz="900" b="1" spc="10" dirty="0">
                <a:latin typeface="Arial"/>
                <a:cs typeface="Arial"/>
              </a:rPr>
              <a:t>12</a:t>
            </a:r>
            <a:r>
              <a:rPr sz="900" b="1" spc="-5" dirty="0">
                <a:latin typeface="Arial"/>
                <a:cs typeface="Arial"/>
              </a:rPr>
              <a:t>-2]</a:t>
            </a:r>
            <a:r>
              <a:rPr sz="900" b="1" spc="10" dirty="0">
                <a:latin typeface="Arial"/>
                <a:cs typeface="Arial"/>
              </a:rPr>
              <a:t> </a:t>
            </a:r>
            <a:r>
              <a:rPr sz="900" b="1" dirty="0">
                <a:latin typeface="Arial"/>
                <a:cs typeface="Arial"/>
              </a:rPr>
              <a:t>The</a:t>
            </a:r>
            <a:r>
              <a:rPr sz="900" b="1" spc="15" dirty="0">
                <a:latin typeface="Arial"/>
                <a:cs typeface="Arial"/>
              </a:rPr>
              <a:t> </a:t>
            </a:r>
            <a:r>
              <a:rPr sz="900" b="1" dirty="0">
                <a:latin typeface="Arial"/>
                <a:cs typeface="Arial"/>
              </a:rPr>
              <a:t>ADO</a:t>
            </a:r>
            <a:r>
              <a:rPr sz="900" b="1" spc="-5" dirty="0">
                <a:latin typeface="Arial"/>
                <a:cs typeface="Arial"/>
              </a:rPr>
              <a:t> channels’</a:t>
            </a:r>
            <a:r>
              <a:rPr sz="900" b="1" spc="10" dirty="0">
                <a:latin typeface="Arial"/>
                <a:cs typeface="Arial"/>
              </a:rPr>
              <a:t> </a:t>
            </a:r>
            <a:r>
              <a:rPr sz="900" b="1" dirty="0">
                <a:latin typeface="Arial"/>
                <a:cs typeface="Arial"/>
              </a:rPr>
              <a:t>mapping</a:t>
            </a:r>
            <a:r>
              <a:rPr sz="900" b="1" spc="5" dirty="0">
                <a:latin typeface="Arial"/>
                <a:cs typeface="Arial"/>
              </a:rPr>
              <a:t> </a:t>
            </a:r>
            <a:r>
              <a:rPr sz="900" b="1" dirty="0">
                <a:latin typeface="Arial"/>
                <a:cs typeface="Arial"/>
              </a:rPr>
              <a:t>to</a:t>
            </a:r>
            <a:r>
              <a:rPr sz="900" b="1" spc="5" dirty="0">
                <a:latin typeface="Arial"/>
                <a:cs typeface="Arial"/>
              </a:rPr>
              <a:t> </a:t>
            </a:r>
            <a:r>
              <a:rPr sz="900" b="1" dirty="0">
                <a:latin typeface="Arial"/>
                <a:cs typeface="Arial"/>
              </a:rPr>
              <a:t>the</a:t>
            </a:r>
            <a:r>
              <a:rPr sz="900" b="1" spc="15" dirty="0">
                <a:latin typeface="Arial"/>
                <a:cs typeface="Arial"/>
              </a:rPr>
              <a:t> </a:t>
            </a:r>
            <a:r>
              <a:rPr sz="900" b="1" spc="-5" dirty="0">
                <a:latin typeface="Arial"/>
                <a:cs typeface="Arial"/>
              </a:rPr>
              <a:t>blocks</a:t>
            </a:r>
            <a:r>
              <a:rPr sz="900" b="1" spc="-10" dirty="0">
                <a:latin typeface="Arial"/>
                <a:cs typeface="Arial"/>
              </a:rPr>
              <a:t> </a:t>
            </a:r>
            <a:r>
              <a:rPr sz="900" b="1" spc="-5" dirty="0">
                <a:latin typeface="Arial"/>
                <a:cs typeface="Arial"/>
              </a:rPr>
              <a:t>in</a:t>
            </a:r>
            <a:r>
              <a:rPr sz="900" b="1" spc="10" dirty="0">
                <a:latin typeface="Arial"/>
                <a:cs typeface="Arial"/>
              </a:rPr>
              <a:t> </a:t>
            </a:r>
            <a:r>
              <a:rPr sz="900" b="1" spc="-5" dirty="0">
                <a:latin typeface="Arial"/>
                <a:cs typeface="Arial"/>
              </a:rPr>
              <a:t>dual</a:t>
            </a:r>
            <a:r>
              <a:rPr sz="900" b="1" spc="20" dirty="0">
                <a:latin typeface="Arial"/>
                <a:cs typeface="Arial"/>
              </a:rPr>
              <a:t> </a:t>
            </a:r>
            <a:r>
              <a:rPr sz="900" b="1" spc="-5" dirty="0">
                <a:latin typeface="Arial"/>
                <a:cs typeface="Arial"/>
              </a:rPr>
              <a:t>drive</a:t>
            </a:r>
            <a:r>
              <a:rPr sz="900" b="1" spc="5" dirty="0">
                <a:latin typeface="Arial"/>
                <a:cs typeface="Arial"/>
              </a:rPr>
              <a:t> </a:t>
            </a:r>
            <a:r>
              <a:rPr sz="900" b="1" dirty="0">
                <a:latin typeface="Arial"/>
                <a:cs typeface="Arial"/>
              </a:rPr>
              <a:t>mode</a:t>
            </a:r>
          </a:p>
        </p:txBody>
      </p:sp>
      <p:sp>
        <p:nvSpPr>
          <p:cNvPr id="9" name="object 9"/>
          <p:cNvSpPr txBox="1"/>
          <p:nvPr/>
        </p:nvSpPr>
        <p:spPr>
          <a:xfrm>
            <a:off x="400910" y="4947921"/>
            <a:ext cx="6038543" cy="151965"/>
          </a:xfrm>
          <a:prstGeom prst="rect">
            <a:avLst/>
          </a:prstGeom>
        </p:spPr>
        <p:txBody>
          <a:bodyPr vert="horz" wrap="square" lIns="0" tIns="13335" rIns="0" bIns="0" rtlCol="0">
            <a:spAutoFit/>
          </a:bodyPr>
          <a:lstStyle/>
          <a:p>
            <a:pPr marL="12700" algn="ctr">
              <a:lnSpc>
                <a:spcPct val="100000"/>
              </a:lnSpc>
              <a:spcBef>
                <a:spcPts val="105"/>
              </a:spcBef>
            </a:pPr>
            <a:r>
              <a:rPr sz="900" b="1" spc="-5" dirty="0">
                <a:latin typeface="Arial"/>
                <a:cs typeface="Arial"/>
              </a:rPr>
              <a:t>[Figure.</a:t>
            </a:r>
            <a:r>
              <a:rPr sz="900" b="1" spc="10" dirty="0">
                <a:latin typeface="Arial"/>
                <a:cs typeface="Arial"/>
              </a:rPr>
              <a:t> </a:t>
            </a:r>
            <a:r>
              <a:rPr lang="en-US" sz="900" b="1" spc="10" dirty="0">
                <a:latin typeface="Arial"/>
                <a:cs typeface="Arial"/>
              </a:rPr>
              <a:t>12</a:t>
            </a:r>
            <a:r>
              <a:rPr sz="900" b="1" spc="-5" dirty="0">
                <a:latin typeface="Arial"/>
                <a:cs typeface="Arial"/>
              </a:rPr>
              <a:t>-1]</a:t>
            </a:r>
            <a:r>
              <a:rPr sz="900" b="1" spc="10" dirty="0">
                <a:latin typeface="Arial"/>
                <a:cs typeface="Arial"/>
              </a:rPr>
              <a:t> </a:t>
            </a:r>
            <a:r>
              <a:rPr sz="900" b="1" dirty="0">
                <a:latin typeface="Arial"/>
                <a:cs typeface="Arial"/>
              </a:rPr>
              <a:t>The</a:t>
            </a:r>
            <a:r>
              <a:rPr sz="900" b="1" spc="20" dirty="0">
                <a:latin typeface="Arial"/>
                <a:cs typeface="Arial"/>
              </a:rPr>
              <a:t> </a:t>
            </a:r>
            <a:r>
              <a:rPr sz="900" b="1" dirty="0">
                <a:latin typeface="Arial"/>
                <a:cs typeface="Arial"/>
              </a:rPr>
              <a:t>ADO</a:t>
            </a:r>
            <a:r>
              <a:rPr sz="900" b="1" spc="-5" dirty="0">
                <a:latin typeface="Arial"/>
                <a:cs typeface="Arial"/>
              </a:rPr>
              <a:t> channels’</a:t>
            </a:r>
            <a:r>
              <a:rPr sz="900" b="1" spc="10" dirty="0">
                <a:latin typeface="Arial"/>
                <a:cs typeface="Arial"/>
              </a:rPr>
              <a:t> </a:t>
            </a:r>
            <a:r>
              <a:rPr sz="900" b="1" dirty="0">
                <a:latin typeface="Arial"/>
                <a:cs typeface="Arial"/>
              </a:rPr>
              <a:t>mapping</a:t>
            </a:r>
            <a:r>
              <a:rPr sz="900" b="1" spc="5" dirty="0">
                <a:latin typeface="Arial"/>
                <a:cs typeface="Arial"/>
              </a:rPr>
              <a:t> </a:t>
            </a:r>
            <a:r>
              <a:rPr sz="900" b="1" dirty="0">
                <a:latin typeface="Arial"/>
                <a:cs typeface="Arial"/>
              </a:rPr>
              <a:t>to</a:t>
            </a:r>
            <a:r>
              <a:rPr sz="900" b="1" spc="10" dirty="0">
                <a:latin typeface="Arial"/>
                <a:cs typeface="Arial"/>
              </a:rPr>
              <a:t> </a:t>
            </a:r>
            <a:r>
              <a:rPr sz="900" b="1" dirty="0">
                <a:latin typeface="Arial"/>
                <a:cs typeface="Arial"/>
              </a:rPr>
              <a:t>the</a:t>
            </a:r>
            <a:r>
              <a:rPr sz="900" b="1" spc="20" dirty="0">
                <a:latin typeface="Arial"/>
                <a:cs typeface="Arial"/>
              </a:rPr>
              <a:t> </a:t>
            </a:r>
            <a:r>
              <a:rPr sz="900" b="1" dirty="0">
                <a:latin typeface="Arial"/>
                <a:cs typeface="Arial"/>
              </a:rPr>
              <a:t>blocks</a:t>
            </a:r>
            <a:r>
              <a:rPr sz="900" b="1" spc="-10" dirty="0">
                <a:latin typeface="Arial"/>
                <a:cs typeface="Arial"/>
              </a:rPr>
              <a:t> </a:t>
            </a:r>
            <a:r>
              <a:rPr sz="900" b="1" spc="-5" dirty="0">
                <a:latin typeface="Arial"/>
                <a:cs typeface="Arial"/>
              </a:rPr>
              <a:t>in</a:t>
            </a:r>
            <a:r>
              <a:rPr sz="900" b="1" spc="10" dirty="0">
                <a:latin typeface="Arial"/>
                <a:cs typeface="Arial"/>
              </a:rPr>
              <a:t> </a:t>
            </a:r>
            <a:r>
              <a:rPr sz="900" b="1" spc="-5" dirty="0">
                <a:latin typeface="Arial"/>
                <a:cs typeface="Arial"/>
              </a:rPr>
              <a:t>single</a:t>
            </a:r>
            <a:r>
              <a:rPr sz="900" b="1" spc="10" dirty="0">
                <a:latin typeface="Arial"/>
                <a:cs typeface="Arial"/>
              </a:rPr>
              <a:t> </a:t>
            </a:r>
            <a:r>
              <a:rPr sz="900" b="1" spc="-5" dirty="0">
                <a:latin typeface="Arial"/>
                <a:cs typeface="Arial"/>
              </a:rPr>
              <a:t>drive</a:t>
            </a:r>
            <a:r>
              <a:rPr sz="900" b="1" spc="5" dirty="0">
                <a:latin typeface="Arial"/>
                <a:cs typeface="Arial"/>
              </a:rPr>
              <a:t> </a:t>
            </a:r>
            <a:r>
              <a:rPr sz="900" b="1" dirty="0">
                <a:latin typeface="Arial"/>
                <a:cs typeface="Arial"/>
              </a:rPr>
              <a:t>mode</a:t>
            </a:r>
          </a:p>
        </p:txBody>
      </p:sp>
      <p:grpSp>
        <p:nvGrpSpPr>
          <p:cNvPr id="10" name="object 10"/>
          <p:cNvGrpSpPr/>
          <p:nvPr/>
        </p:nvGrpSpPr>
        <p:grpSpPr>
          <a:xfrm>
            <a:off x="1981200" y="3545731"/>
            <a:ext cx="2732405" cy="1162685"/>
            <a:chOff x="1414566" y="3570923"/>
            <a:chExt cx="2732405" cy="1162685"/>
          </a:xfrm>
        </p:grpSpPr>
        <p:pic>
          <p:nvPicPr>
            <p:cNvPr id="11" name="object 11"/>
            <p:cNvPicPr/>
            <p:nvPr/>
          </p:nvPicPr>
          <p:blipFill>
            <a:blip r:embed="rId2" cstate="print"/>
            <a:stretch>
              <a:fillRect/>
            </a:stretch>
          </p:blipFill>
          <p:spPr>
            <a:xfrm>
              <a:off x="1414566" y="3570923"/>
              <a:ext cx="2732138" cy="1162332"/>
            </a:xfrm>
            <a:prstGeom prst="rect">
              <a:avLst/>
            </a:prstGeom>
          </p:spPr>
        </p:pic>
        <p:sp>
          <p:nvSpPr>
            <p:cNvPr id="12" name="object 12"/>
            <p:cNvSpPr/>
            <p:nvPr/>
          </p:nvSpPr>
          <p:spPr>
            <a:xfrm>
              <a:off x="1743964" y="3697223"/>
              <a:ext cx="2282190" cy="161290"/>
            </a:xfrm>
            <a:custGeom>
              <a:avLst/>
              <a:gdLst/>
              <a:ahLst/>
              <a:cxnLst/>
              <a:rect l="l" t="t" r="r" b="b"/>
              <a:pathLst>
                <a:path w="2282190" h="161289">
                  <a:moveTo>
                    <a:pt x="50800" y="53848"/>
                  </a:moveTo>
                  <a:lnTo>
                    <a:pt x="44450" y="41148"/>
                  </a:lnTo>
                  <a:lnTo>
                    <a:pt x="25400" y="3048"/>
                  </a:lnTo>
                  <a:lnTo>
                    <a:pt x="0" y="53848"/>
                  </a:lnTo>
                  <a:lnTo>
                    <a:pt x="19050" y="53848"/>
                  </a:lnTo>
                  <a:lnTo>
                    <a:pt x="19050" y="96266"/>
                  </a:lnTo>
                  <a:lnTo>
                    <a:pt x="0" y="96266"/>
                  </a:lnTo>
                  <a:lnTo>
                    <a:pt x="25400" y="147066"/>
                  </a:lnTo>
                  <a:lnTo>
                    <a:pt x="44450" y="108966"/>
                  </a:lnTo>
                  <a:lnTo>
                    <a:pt x="50800" y="96266"/>
                  </a:lnTo>
                  <a:lnTo>
                    <a:pt x="31750" y="96266"/>
                  </a:lnTo>
                  <a:lnTo>
                    <a:pt x="31750" y="53848"/>
                  </a:lnTo>
                  <a:lnTo>
                    <a:pt x="50800" y="53848"/>
                  </a:lnTo>
                  <a:close/>
                </a:path>
                <a:path w="2282190" h="161289">
                  <a:moveTo>
                    <a:pt x="212344" y="53848"/>
                  </a:moveTo>
                  <a:lnTo>
                    <a:pt x="205994" y="41148"/>
                  </a:lnTo>
                  <a:lnTo>
                    <a:pt x="186944" y="3048"/>
                  </a:lnTo>
                  <a:lnTo>
                    <a:pt x="161544" y="53848"/>
                  </a:lnTo>
                  <a:lnTo>
                    <a:pt x="180594" y="53848"/>
                  </a:lnTo>
                  <a:lnTo>
                    <a:pt x="180594" y="96266"/>
                  </a:lnTo>
                  <a:lnTo>
                    <a:pt x="161544" y="96266"/>
                  </a:lnTo>
                  <a:lnTo>
                    <a:pt x="186944" y="147066"/>
                  </a:lnTo>
                  <a:lnTo>
                    <a:pt x="205994" y="108966"/>
                  </a:lnTo>
                  <a:lnTo>
                    <a:pt x="212344" y="96266"/>
                  </a:lnTo>
                  <a:lnTo>
                    <a:pt x="193294" y="96266"/>
                  </a:lnTo>
                  <a:lnTo>
                    <a:pt x="193294" y="53848"/>
                  </a:lnTo>
                  <a:lnTo>
                    <a:pt x="212344" y="53848"/>
                  </a:lnTo>
                  <a:close/>
                </a:path>
                <a:path w="2282190" h="161289">
                  <a:moveTo>
                    <a:pt x="386080" y="50800"/>
                  </a:moveTo>
                  <a:lnTo>
                    <a:pt x="379730" y="38100"/>
                  </a:lnTo>
                  <a:lnTo>
                    <a:pt x="360680" y="0"/>
                  </a:lnTo>
                  <a:lnTo>
                    <a:pt x="335280" y="50800"/>
                  </a:lnTo>
                  <a:lnTo>
                    <a:pt x="354330" y="50800"/>
                  </a:lnTo>
                  <a:lnTo>
                    <a:pt x="354330" y="93218"/>
                  </a:lnTo>
                  <a:lnTo>
                    <a:pt x="335280" y="93218"/>
                  </a:lnTo>
                  <a:lnTo>
                    <a:pt x="360680" y="144018"/>
                  </a:lnTo>
                  <a:lnTo>
                    <a:pt x="379730" y="105918"/>
                  </a:lnTo>
                  <a:lnTo>
                    <a:pt x="386080" y="93218"/>
                  </a:lnTo>
                  <a:lnTo>
                    <a:pt x="367030" y="93218"/>
                  </a:lnTo>
                  <a:lnTo>
                    <a:pt x="367030" y="50800"/>
                  </a:lnTo>
                  <a:lnTo>
                    <a:pt x="386080" y="50800"/>
                  </a:lnTo>
                  <a:close/>
                </a:path>
                <a:path w="2282190" h="161289">
                  <a:moveTo>
                    <a:pt x="564388" y="50800"/>
                  </a:moveTo>
                  <a:lnTo>
                    <a:pt x="558038" y="38100"/>
                  </a:lnTo>
                  <a:lnTo>
                    <a:pt x="538988" y="0"/>
                  </a:lnTo>
                  <a:lnTo>
                    <a:pt x="513588" y="50800"/>
                  </a:lnTo>
                  <a:lnTo>
                    <a:pt x="532638" y="50800"/>
                  </a:lnTo>
                  <a:lnTo>
                    <a:pt x="532638" y="93218"/>
                  </a:lnTo>
                  <a:lnTo>
                    <a:pt x="513588" y="93218"/>
                  </a:lnTo>
                  <a:lnTo>
                    <a:pt x="538988" y="144018"/>
                  </a:lnTo>
                  <a:lnTo>
                    <a:pt x="558038" y="105918"/>
                  </a:lnTo>
                  <a:lnTo>
                    <a:pt x="564388" y="93218"/>
                  </a:lnTo>
                  <a:lnTo>
                    <a:pt x="545338" y="93218"/>
                  </a:lnTo>
                  <a:lnTo>
                    <a:pt x="545338" y="50800"/>
                  </a:lnTo>
                  <a:lnTo>
                    <a:pt x="564388" y="50800"/>
                  </a:lnTo>
                  <a:close/>
                </a:path>
                <a:path w="2282190" h="161289">
                  <a:moveTo>
                    <a:pt x="730504" y="50800"/>
                  </a:moveTo>
                  <a:lnTo>
                    <a:pt x="724154" y="38100"/>
                  </a:lnTo>
                  <a:lnTo>
                    <a:pt x="705104" y="0"/>
                  </a:lnTo>
                  <a:lnTo>
                    <a:pt x="679704" y="50800"/>
                  </a:lnTo>
                  <a:lnTo>
                    <a:pt x="698754" y="50800"/>
                  </a:lnTo>
                  <a:lnTo>
                    <a:pt x="698754" y="93218"/>
                  </a:lnTo>
                  <a:lnTo>
                    <a:pt x="679704" y="93218"/>
                  </a:lnTo>
                  <a:lnTo>
                    <a:pt x="705104" y="144018"/>
                  </a:lnTo>
                  <a:lnTo>
                    <a:pt x="724154" y="105918"/>
                  </a:lnTo>
                  <a:lnTo>
                    <a:pt x="730504" y="93218"/>
                  </a:lnTo>
                  <a:lnTo>
                    <a:pt x="711454" y="93218"/>
                  </a:lnTo>
                  <a:lnTo>
                    <a:pt x="711454" y="50800"/>
                  </a:lnTo>
                  <a:lnTo>
                    <a:pt x="730504" y="50800"/>
                  </a:lnTo>
                  <a:close/>
                </a:path>
                <a:path w="2282190" h="161289">
                  <a:moveTo>
                    <a:pt x="910336" y="50800"/>
                  </a:moveTo>
                  <a:lnTo>
                    <a:pt x="903986" y="38100"/>
                  </a:lnTo>
                  <a:lnTo>
                    <a:pt x="884936" y="0"/>
                  </a:lnTo>
                  <a:lnTo>
                    <a:pt x="859536" y="50800"/>
                  </a:lnTo>
                  <a:lnTo>
                    <a:pt x="878586" y="50800"/>
                  </a:lnTo>
                  <a:lnTo>
                    <a:pt x="878586" y="93218"/>
                  </a:lnTo>
                  <a:lnTo>
                    <a:pt x="859536" y="93218"/>
                  </a:lnTo>
                  <a:lnTo>
                    <a:pt x="884936" y="144018"/>
                  </a:lnTo>
                  <a:lnTo>
                    <a:pt x="903986" y="105918"/>
                  </a:lnTo>
                  <a:lnTo>
                    <a:pt x="910336" y="93218"/>
                  </a:lnTo>
                  <a:lnTo>
                    <a:pt x="891286" y="93218"/>
                  </a:lnTo>
                  <a:lnTo>
                    <a:pt x="891286" y="50800"/>
                  </a:lnTo>
                  <a:lnTo>
                    <a:pt x="910336" y="50800"/>
                  </a:lnTo>
                  <a:close/>
                </a:path>
                <a:path w="2282190" h="161289">
                  <a:moveTo>
                    <a:pt x="1081024" y="59944"/>
                  </a:moveTo>
                  <a:lnTo>
                    <a:pt x="1074674" y="47244"/>
                  </a:lnTo>
                  <a:lnTo>
                    <a:pt x="1055624" y="9144"/>
                  </a:lnTo>
                  <a:lnTo>
                    <a:pt x="1030224" y="59944"/>
                  </a:lnTo>
                  <a:lnTo>
                    <a:pt x="1049274" y="59944"/>
                  </a:lnTo>
                  <a:lnTo>
                    <a:pt x="1049274" y="102362"/>
                  </a:lnTo>
                  <a:lnTo>
                    <a:pt x="1030224" y="102362"/>
                  </a:lnTo>
                  <a:lnTo>
                    <a:pt x="1055624" y="153162"/>
                  </a:lnTo>
                  <a:lnTo>
                    <a:pt x="1074674" y="115062"/>
                  </a:lnTo>
                  <a:lnTo>
                    <a:pt x="1081024" y="102362"/>
                  </a:lnTo>
                  <a:lnTo>
                    <a:pt x="1061974" y="102362"/>
                  </a:lnTo>
                  <a:lnTo>
                    <a:pt x="1061974" y="59944"/>
                  </a:lnTo>
                  <a:lnTo>
                    <a:pt x="1081024" y="59944"/>
                  </a:lnTo>
                  <a:close/>
                </a:path>
                <a:path w="2282190" h="161289">
                  <a:moveTo>
                    <a:pt x="1242568" y="59944"/>
                  </a:moveTo>
                  <a:lnTo>
                    <a:pt x="1236218" y="47244"/>
                  </a:lnTo>
                  <a:lnTo>
                    <a:pt x="1217168" y="9144"/>
                  </a:lnTo>
                  <a:lnTo>
                    <a:pt x="1191768" y="59944"/>
                  </a:lnTo>
                  <a:lnTo>
                    <a:pt x="1210818" y="59944"/>
                  </a:lnTo>
                  <a:lnTo>
                    <a:pt x="1210818" y="102362"/>
                  </a:lnTo>
                  <a:lnTo>
                    <a:pt x="1191768" y="102362"/>
                  </a:lnTo>
                  <a:lnTo>
                    <a:pt x="1217168" y="153162"/>
                  </a:lnTo>
                  <a:lnTo>
                    <a:pt x="1236218" y="115062"/>
                  </a:lnTo>
                  <a:lnTo>
                    <a:pt x="1242568" y="102362"/>
                  </a:lnTo>
                  <a:lnTo>
                    <a:pt x="1223518" y="102362"/>
                  </a:lnTo>
                  <a:lnTo>
                    <a:pt x="1223518" y="59944"/>
                  </a:lnTo>
                  <a:lnTo>
                    <a:pt x="1242568" y="59944"/>
                  </a:lnTo>
                  <a:close/>
                </a:path>
                <a:path w="2282190" h="161289">
                  <a:moveTo>
                    <a:pt x="1416304" y="56896"/>
                  </a:moveTo>
                  <a:lnTo>
                    <a:pt x="1409954" y="44196"/>
                  </a:lnTo>
                  <a:lnTo>
                    <a:pt x="1390904" y="6096"/>
                  </a:lnTo>
                  <a:lnTo>
                    <a:pt x="1365504" y="56896"/>
                  </a:lnTo>
                  <a:lnTo>
                    <a:pt x="1384554" y="56896"/>
                  </a:lnTo>
                  <a:lnTo>
                    <a:pt x="1384554" y="99314"/>
                  </a:lnTo>
                  <a:lnTo>
                    <a:pt x="1365504" y="99314"/>
                  </a:lnTo>
                  <a:lnTo>
                    <a:pt x="1390904" y="150114"/>
                  </a:lnTo>
                  <a:lnTo>
                    <a:pt x="1409954" y="112014"/>
                  </a:lnTo>
                  <a:lnTo>
                    <a:pt x="1416304" y="99314"/>
                  </a:lnTo>
                  <a:lnTo>
                    <a:pt x="1397254" y="99314"/>
                  </a:lnTo>
                  <a:lnTo>
                    <a:pt x="1397254" y="56896"/>
                  </a:lnTo>
                  <a:lnTo>
                    <a:pt x="1416304" y="56896"/>
                  </a:lnTo>
                  <a:close/>
                </a:path>
                <a:path w="2282190" h="161289">
                  <a:moveTo>
                    <a:pt x="1594612" y="56896"/>
                  </a:moveTo>
                  <a:lnTo>
                    <a:pt x="1588262" y="44196"/>
                  </a:lnTo>
                  <a:lnTo>
                    <a:pt x="1569212" y="6096"/>
                  </a:lnTo>
                  <a:lnTo>
                    <a:pt x="1543812" y="56896"/>
                  </a:lnTo>
                  <a:lnTo>
                    <a:pt x="1562862" y="56896"/>
                  </a:lnTo>
                  <a:lnTo>
                    <a:pt x="1562862" y="99314"/>
                  </a:lnTo>
                  <a:lnTo>
                    <a:pt x="1543812" y="99314"/>
                  </a:lnTo>
                  <a:lnTo>
                    <a:pt x="1569212" y="150114"/>
                  </a:lnTo>
                  <a:lnTo>
                    <a:pt x="1588262" y="112014"/>
                  </a:lnTo>
                  <a:lnTo>
                    <a:pt x="1594612" y="99314"/>
                  </a:lnTo>
                  <a:lnTo>
                    <a:pt x="1575562" y="99314"/>
                  </a:lnTo>
                  <a:lnTo>
                    <a:pt x="1575562" y="56896"/>
                  </a:lnTo>
                  <a:lnTo>
                    <a:pt x="1594612" y="56896"/>
                  </a:lnTo>
                  <a:close/>
                </a:path>
                <a:path w="2282190" h="161289">
                  <a:moveTo>
                    <a:pt x="1760728" y="56896"/>
                  </a:moveTo>
                  <a:lnTo>
                    <a:pt x="1754378" y="44196"/>
                  </a:lnTo>
                  <a:lnTo>
                    <a:pt x="1735328" y="6096"/>
                  </a:lnTo>
                  <a:lnTo>
                    <a:pt x="1709928" y="56896"/>
                  </a:lnTo>
                  <a:lnTo>
                    <a:pt x="1728978" y="56896"/>
                  </a:lnTo>
                  <a:lnTo>
                    <a:pt x="1728978" y="99314"/>
                  </a:lnTo>
                  <a:lnTo>
                    <a:pt x="1709928" y="99314"/>
                  </a:lnTo>
                  <a:lnTo>
                    <a:pt x="1735328" y="150114"/>
                  </a:lnTo>
                  <a:lnTo>
                    <a:pt x="1754378" y="112014"/>
                  </a:lnTo>
                  <a:lnTo>
                    <a:pt x="1760728" y="99314"/>
                  </a:lnTo>
                  <a:lnTo>
                    <a:pt x="1741678" y="99314"/>
                  </a:lnTo>
                  <a:lnTo>
                    <a:pt x="1741678" y="56896"/>
                  </a:lnTo>
                  <a:lnTo>
                    <a:pt x="1760728" y="56896"/>
                  </a:lnTo>
                  <a:close/>
                </a:path>
                <a:path w="2282190" h="161289">
                  <a:moveTo>
                    <a:pt x="1940560" y="56896"/>
                  </a:moveTo>
                  <a:lnTo>
                    <a:pt x="1934210" y="44196"/>
                  </a:lnTo>
                  <a:lnTo>
                    <a:pt x="1915160" y="6096"/>
                  </a:lnTo>
                  <a:lnTo>
                    <a:pt x="1889760" y="56896"/>
                  </a:lnTo>
                  <a:lnTo>
                    <a:pt x="1908810" y="56896"/>
                  </a:lnTo>
                  <a:lnTo>
                    <a:pt x="1908810" y="99314"/>
                  </a:lnTo>
                  <a:lnTo>
                    <a:pt x="1889760" y="99314"/>
                  </a:lnTo>
                  <a:lnTo>
                    <a:pt x="1915160" y="150114"/>
                  </a:lnTo>
                  <a:lnTo>
                    <a:pt x="1934210" y="112014"/>
                  </a:lnTo>
                  <a:lnTo>
                    <a:pt x="1940560" y="99314"/>
                  </a:lnTo>
                  <a:lnTo>
                    <a:pt x="1921510" y="99314"/>
                  </a:lnTo>
                  <a:lnTo>
                    <a:pt x="1921510" y="56896"/>
                  </a:lnTo>
                  <a:lnTo>
                    <a:pt x="1940560" y="56896"/>
                  </a:lnTo>
                  <a:close/>
                </a:path>
                <a:path w="2282190" h="161289">
                  <a:moveTo>
                    <a:pt x="2115820" y="67564"/>
                  </a:moveTo>
                  <a:lnTo>
                    <a:pt x="2109470" y="54864"/>
                  </a:lnTo>
                  <a:lnTo>
                    <a:pt x="2090420" y="16764"/>
                  </a:lnTo>
                  <a:lnTo>
                    <a:pt x="2065020" y="67564"/>
                  </a:lnTo>
                  <a:lnTo>
                    <a:pt x="2084070" y="67564"/>
                  </a:lnTo>
                  <a:lnTo>
                    <a:pt x="2084070" y="109982"/>
                  </a:lnTo>
                  <a:lnTo>
                    <a:pt x="2065020" y="109982"/>
                  </a:lnTo>
                  <a:lnTo>
                    <a:pt x="2090420" y="160782"/>
                  </a:lnTo>
                  <a:lnTo>
                    <a:pt x="2109470" y="122682"/>
                  </a:lnTo>
                  <a:lnTo>
                    <a:pt x="2115820" y="109982"/>
                  </a:lnTo>
                  <a:lnTo>
                    <a:pt x="2096770" y="109982"/>
                  </a:lnTo>
                  <a:lnTo>
                    <a:pt x="2096770" y="67564"/>
                  </a:lnTo>
                  <a:lnTo>
                    <a:pt x="2115820" y="67564"/>
                  </a:lnTo>
                  <a:close/>
                </a:path>
                <a:path w="2282190" h="161289">
                  <a:moveTo>
                    <a:pt x="2281936" y="67564"/>
                  </a:moveTo>
                  <a:lnTo>
                    <a:pt x="2275586" y="54864"/>
                  </a:lnTo>
                  <a:lnTo>
                    <a:pt x="2256536" y="16764"/>
                  </a:lnTo>
                  <a:lnTo>
                    <a:pt x="2231136" y="67564"/>
                  </a:lnTo>
                  <a:lnTo>
                    <a:pt x="2250186" y="67564"/>
                  </a:lnTo>
                  <a:lnTo>
                    <a:pt x="2250186" y="109982"/>
                  </a:lnTo>
                  <a:lnTo>
                    <a:pt x="2231136" y="109982"/>
                  </a:lnTo>
                  <a:lnTo>
                    <a:pt x="2256536" y="160782"/>
                  </a:lnTo>
                  <a:lnTo>
                    <a:pt x="2275586" y="122682"/>
                  </a:lnTo>
                  <a:lnTo>
                    <a:pt x="2281936" y="109982"/>
                  </a:lnTo>
                  <a:lnTo>
                    <a:pt x="2262886" y="109982"/>
                  </a:lnTo>
                  <a:lnTo>
                    <a:pt x="2262886" y="67564"/>
                  </a:lnTo>
                  <a:lnTo>
                    <a:pt x="2281936" y="67564"/>
                  </a:lnTo>
                  <a:close/>
                </a:path>
              </a:pathLst>
            </a:custGeom>
            <a:solidFill>
              <a:srgbClr val="0033CC"/>
            </a:solidFill>
          </p:spPr>
          <p:txBody>
            <a:bodyPr wrap="square" lIns="0" tIns="0" rIns="0" bIns="0" rtlCol="0"/>
            <a:lstStyle/>
            <a:p>
              <a:endParaRPr dirty="0"/>
            </a:p>
          </p:txBody>
        </p:sp>
      </p:grpSp>
      <p:sp>
        <p:nvSpPr>
          <p:cNvPr id="13" name="object 13"/>
          <p:cNvSpPr/>
          <p:nvPr/>
        </p:nvSpPr>
        <p:spPr>
          <a:xfrm>
            <a:off x="4799289" y="3757375"/>
            <a:ext cx="50800" cy="935990"/>
          </a:xfrm>
          <a:custGeom>
            <a:avLst/>
            <a:gdLst/>
            <a:ahLst/>
            <a:cxnLst/>
            <a:rect l="l" t="t" r="r" b="b"/>
            <a:pathLst>
              <a:path w="50800" h="935989">
                <a:moveTo>
                  <a:pt x="19050" y="885190"/>
                </a:moveTo>
                <a:lnTo>
                  <a:pt x="0" y="885190"/>
                </a:lnTo>
                <a:lnTo>
                  <a:pt x="25400" y="935990"/>
                </a:lnTo>
                <a:lnTo>
                  <a:pt x="44450" y="897890"/>
                </a:lnTo>
                <a:lnTo>
                  <a:pt x="19050" y="897890"/>
                </a:lnTo>
                <a:lnTo>
                  <a:pt x="19050" y="885190"/>
                </a:lnTo>
                <a:close/>
              </a:path>
              <a:path w="50800" h="935989">
                <a:moveTo>
                  <a:pt x="31750" y="847090"/>
                </a:moveTo>
                <a:lnTo>
                  <a:pt x="19050" y="847090"/>
                </a:lnTo>
                <a:lnTo>
                  <a:pt x="19050" y="897890"/>
                </a:lnTo>
                <a:lnTo>
                  <a:pt x="31750" y="897890"/>
                </a:lnTo>
                <a:lnTo>
                  <a:pt x="31750" y="847090"/>
                </a:lnTo>
                <a:close/>
              </a:path>
              <a:path w="50800" h="935989">
                <a:moveTo>
                  <a:pt x="50800" y="885190"/>
                </a:moveTo>
                <a:lnTo>
                  <a:pt x="31750" y="885190"/>
                </a:lnTo>
                <a:lnTo>
                  <a:pt x="31750" y="897890"/>
                </a:lnTo>
                <a:lnTo>
                  <a:pt x="44450" y="897890"/>
                </a:lnTo>
                <a:lnTo>
                  <a:pt x="50800" y="885190"/>
                </a:lnTo>
                <a:close/>
              </a:path>
              <a:path w="50800" h="935989">
                <a:moveTo>
                  <a:pt x="31750" y="758190"/>
                </a:moveTo>
                <a:lnTo>
                  <a:pt x="19050" y="758190"/>
                </a:lnTo>
                <a:lnTo>
                  <a:pt x="19050" y="808990"/>
                </a:lnTo>
                <a:lnTo>
                  <a:pt x="31750" y="808990"/>
                </a:lnTo>
                <a:lnTo>
                  <a:pt x="31750" y="758190"/>
                </a:lnTo>
                <a:close/>
              </a:path>
              <a:path w="50800" h="935989">
                <a:moveTo>
                  <a:pt x="31750" y="669290"/>
                </a:moveTo>
                <a:lnTo>
                  <a:pt x="19050" y="669290"/>
                </a:lnTo>
                <a:lnTo>
                  <a:pt x="19050" y="720090"/>
                </a:lnTo>
                <a:lnTo>
                  <a:pt x="31750" y="720090"/>
                </a:lnTo>
                <a:lnTo>
                  <a:pt x="31750" y="669290"/>
                </a:lnTo>
                <a:close/>
              </a:path>
              <a:path w="50800" h="935989">
                <a:moveTo>
                  <a:pt x="31750" y="580390"/>
                </a:moveTo>
                <a:lnTo>
                  <a:pt x="19050" y="580390"/>
                </a:lnTo>
                <a:lnTo>
                  <a:pt x="19050" y="631190"/>
                </a:lnTo>
                <a:lnTo>
                  <a:pt x="31750" y="631190"/>
                </a:lnTo>
                <a:lnTo>
                  <a:pt x="31750" y="580390"/>
                </a:lnTo>
                <a:close/>
              </a:path>
              <a:path w="50800" h="935989">
                <a:moveTo>
                  <a:pt x="31750" y="491490"/>
                </a:moveTo>
                <a:lnTo>
                  <a:pt x="19050" y="491490"/>
                </a:lnTo>
                <a:lnTo>
                  <a:pt x="19050" y="542290"/>
                </a:lnTo>
                <a:lnTo>
                  <a:pt x="31750" y="542290"/>
                </a:lnTo>
                <a:lnTo>
                  <a:pt x="31750" y="491490"/>
                </a:lnTo>
                <a:close/>
              </a:path>
              <a:path w="50800" h="935989">
                <a:moveTo>
                  <a:pt x="31750" y="402590"/>
                </a:moveTo>
                <a:lnTo>
                  <a:pt x="19050" y="402590"/>
                </a:lnTo>
                <a:lnTo>
                  <a:pt x="19050" y="453390"/>
                </a:lnTo>
                <a:lnTo>
                  <a:pt x="31750" y="453390"/>
                </a:lnTo>
                <a:lnTo>
                  <a:pt x="31750" y="402590"/>
                </a:lnTo>
                <a:close/>
              </a:path>
              <a:path w="50800" h="935989">
                <a:moveTo>
                  <a:pt x="31750" y="313690"/>
                </a:moveTo>
                <a:lnTo>
                  <a:pt x="19050" y="313690"/>
                </a:lnTo>
                <a:lnTo>
                  <a:pt x="19050" y="364490"/>
                </a:lnTo>
                <a:lnTo>
                  <a:pt x="31750" y="364490"/>
                </a:lnTo>
                <a:lnTo>
                  <a:pt x="31750" y="313690"/>
                </a:lnTo>
                <a:close/>
              </a:path>
              <a:path w="50800" h="935989">
                <a:moveTo>
                  <a:pt x="31750" y="224790"/>
                </a:moveTo>
                <a:lnTo>
                  <a:pt x="19050" y="224790"/>
                </a:lnTo>
                <a:lnTo>
                  <a:pt x="19050" y="275590"/>
                </a:lnTo>
                <a:lnTo>
                  <a:pt x="31750" y="275590"/>
                </a:lnTo>
                <a:lnTo>
                  <a:pt x="31750" y="224790"/>
                </a:lnTo>
                <a:close/>
              </a:path>
              <a:path w="50800" h="935989">
                <a:moveTo>
                  <a:pt x="31750" y="135890"/>
                </a:moveTo>
                <a:lnTo>
                  <a:pt x="19050" y="135890"/>
                </a:lnTo>
                <a:lnTo>
                  <a:pt x="19050" y="186690"/>
                </a:lnTo>
                <a:lnTo>
                  <a:pt x="31750" y="186690"/>
                </a:lnTo>
                <a:lnTo>
                  <a:pt x="31750" y="135890"/>
                </a:lnTo>
                <a:close/>
              </a:path>
              <a:path w="50800" h="935989">
                <a:moveTo>
                  <a:pt x="31750" y="46990"/>
                </a:moveTo>
                <a:lnTo>
                  <a:pt x="19050" y="46990"/>
                </a:lnTo>
                <a:lnTo>
                  <a:pt x="19050" y="97790"/>
                </a:lnTo>
                <a:lnTo>
                  <a:pt x="31750" y="97790"/>
                </a:lnTo>
                <a:lnTo>
                  <a:pt x="31750" y="46990"/>
                </a:lnTo>
                <a:close/>
              </a:path>
              <a:path w="50800" h="935989">
                <a:moveTo>
                  <a:pt x="25400" y="0"/>
                </a:moveTo>
                <a:lnTo>
                  <a:pt x="0" y="50800"/>
                </a:lnTo>
                <a:lnTo>
                  <a:pt x="19050" y="50800"/>
                </a:lnTo>
                <a:lnTo>
                  <a:pt x="19050" y="46990"/>
                </a:lnTo>
                <a:lnTo>
                  <a:pt x="48895" y="46990"/>
                </a:lnTo>
                <a:lnTo>
                  <a:pt x="25400" y="0"/>
                </a:lnTo>
                <a:close/>
              </a:path>
              <a:path w="50800" h="935989">
                <a:moveTo>
                  <a:pt x="48895" y="46990"/>
                </a:moveTo>
                <a:lnTo>
                  <a:pt x="31750" y="46990"/>
                </a:lnTo>
                <a:lnTo>
                  <a:pt x="31750" y="50800"/>
                </a:lnTo>
                <a:lnTo>
                  <a:pt x="50800" y="50800"/>
                </a:lnTo>
                <a:lnTo>
                  <a:pt x="48895" y="46990"/>
                </a:lnTo>
                <a:close/>
              </a:path>
            </a:pathLst>
          </a:custGeom>
          <a:solidFill>
            <a:srgbClr val="7E7E7E"/>
          </a:solidFill>
        </p:spPr>
        <p:txBody>
          <a:bodyPr wrap="square" lIns="0" tIns="0" rIns="0" bIns="0" rtlCol="0"/>
          <a:lstStyle/>
          <a:p>
            <a:endParaRPr dirty="0"/>
          </a:p>
        </p:txBody>
      </p:sp>
      <p:sp>
        <p:nvSpPr>
          <p:cNvPr id="14" name="object 14"/>
          <p:cNvSpPr txBox="1"/>
          <p:nvPr/>
        </p:nvSpPr>
        <p:spPr>
          <a:xfrm>
            <a:off x="4836119" y="4134566"/>
            <a:ext cx="738505" cy="132080"/>
          </a:xfrm>
          <a:prstGeom prst="rect">
            <a:avLst/>
          </a:prstGeom>
        </p:spPr>
        <p:txBody>
          <a:bodyPr vert="horz" wrap="square" lIns="0" tIns="12065" rIns="0" bIns="0" rtlCol="0">
            <a:spAutoFit/>
          </a:bodyPr>
          <a:lstStyle/>
          <a:p>
            <a:pPr marL="12700">
              <a:lnSpc>
                <a:spcPct val="100000"/>
              </a:lnSpc>
              <a:spcBef>
                <a:spcPts val="95"/>
              </a:spcBef>
            </a:pPr>
            <a:r>
              <a:rPr sz="700" spc="-10" dirty="0">
                <a:latin typeface="Arial"/>
                <a:cs typeface="Arial"/>
              </a:rPr>
              <a:t>SHSYNC_SIZE=6</a:t>
            </a:r>
            <a:endParaRPr sz="700" dirty="0">
              <a:latin typeface="Arial"/>
              <a:cs typeface="Arial"/>
            </a:endParaRPr>
          </a:p>
        </p:txBody>
      </p:sp>
      <p:grpSp>
        <p:nvGrpSpPr>
          <p:cNvPr id="15" name="object 15"/>
          <p:cNvGrpSpPr/>
          <p:nvPr/>
        </p:nvGrpSpPr>
        <p:grpSpPr>
          <a:xfrm>
            <a:off x="1981200" y="5669204"/>
            <a:ext cx="2097405" cy="1503045"/>
            <a:chOff x="1434766" y="5688258"/>
            <a:chExt cx="2097405" cy="1503045"/>
          </a:xfrm>
        </p:grpSpPr>
        <p:pic>
          <p:nvPicPr>
            <p:cNvPr id="16" name="object 16"/>
            <p:cNvPicPr/>
            <p:nvPr/>
          </p:nvPicPr>
          <p:blipFill>
            <a:blip r:embed="rId3" cstate="print"/>
            <a:stretch>
              <a:fillRect/>
            </a:stretch>
          </p:blipFill>
          <p:spPr>
            <a:xfrm>
              <a:off x="1434766" y="5688258"/>
              <a:ext cx="2097410" cy="1503037"/>
            </a:xfrm>
            <a:prstGeom prst="rect">
              <a:avLst/>
            </a:prstGeom>
          </p:spPr>
        </p:pic>
        <p:sp>
          <p:nvSpPr>
            <p:cNvPr id="17" name="object 17"/>
            <p:cNvSpPr/>
            <p:nvPr/>
          </p:nvSpPr>
          <p:spPr>
            <a:xfrm>
              <a:off x="1766824" y="5835395"/>
              <a:ext cx="934719" cy="941069"/>
            </a:xfrm>
            <a:custGeom>
              <a:avLst/>
              <a:gdLst/>
              <a:ahLst/>
              <a:cxnLst/>
              <a:rect l="l" t="t" r="r" b="b"/>
              <a:pathLst>
                <a:path w="934719" h="941070">
                  <a:moveTo>
                    <a:pt x="50800" y="50800"/>
                  </a:moveTo>
                  <a:lnTo>
                    <a:pt x="44450" y="38100"/>
                  </a:lnTo>
                  <a:lnTo>
                    <a:pt x="25400" y="0"/>
                  </a:lnTo>
                  <a:lnTo>
                    <a:pt x="0" y="50800"/>
                  </a:lnTo>
                  <a:lnTo>
                    <a:pt x="19050" y="50800"/>
                  </a:lnTo>
                  <a:lnTo>
                    <a:pt x="19050" y="93218"/>
                  </a:lnTo>
                  <a:lnTo>
                    <a:pt x="0" y="93218"/>
                  </a:lnTo>
                  <a:lnTo>
                    <a:pt x="25400" y="144018"/>
                  </a:lnTo>
                  <a:lnTo>
                    <a:pt x="44450" y="105918"/>
                  </a:lnTo>
                  <a:lnTo>
                    <a:pt x="50800" y="93218"/>
                  </a:lnTo>
                  <a:lnTo>
                    <a:pt x="31750" y="93218"/>
                  </a:lnTo>
                  <a:lnTo>
                    <a:pt x="31750" y="50800"/>
                  </a:lnTo>
                  <a:lnTo>
                    <a:pt x="50800" y="50800"/>
                  </a:lnTo>
                  <a:close/>
                </a:path>
                <a:path w="934719" h="941070">
                  <a:moveTo>
                    <a:pt x="52324" y="837184"/>
                  </a:moveTo>
                  <a:lnTo>
                    <a:pt x="45974" y="824484"/>
                  </a:lnTo>
                  <a:lnTo>
                    <a:pt x="26924" y="786384"/>
                  </a:lnTo>
                  <a:lnTo>
                    <a:pt x="1524" y="837184"/>
                  </a:lnTo>
                  <a:lnTo>
                    <a:pt x="20574" y="837184"/>
                  </a:lnTo>
                  <a:lnTo>
                    <a:pt x="20574" y="879602"/>
                  </a:lnTo>
                  <a:lnTo>
                    <a:pt x="1524" y="879602"/>
                  </a:lnTo>
                  <a:lnTo>
                    <a:pt x="26924" y="930402"/>
                  </a:lnTo>
                  <a:lnTo>
                    <a:pt x="45974" y="892302"/>
                  </a:lnTo>
                  <a:lnTo>
                    <a:pt x="52324" y="879602"/>
                  </a:lnTo>
                  <a:lnTo>
                    <a:pt x="33274" y="879602"/>
                  </a:lnTo>
                  <a:lnTo>
                    <a:pt x="33274" y="837184"/>
                  </a:lnTo>
                  <a:lnTo>
                    <a:pt x="52324" y="837184"/>
                  </a:lnTo>
                  <a:close/>
                </a:path>
                <a:path w="934719" h="941070">
                  <a:moveTo>
                    <a:pt x="229108" y="50800"/>
                  </a:moveTo>
                  <a:lnTo>
                    <a:pt x="222758" y="38100"/>
                  </a:lnTo>
                  <a:lnTo>
                    <a:pt x="203708" y="0"/>
                  </a:lnTo>
                  <a:lnTo>
                    <a:pt x="178308" y="50800"/>
                  </a:lnTo>
                  <a:lnTo>
                    <a:pt x="197358" y="50800"/>
                  </a:lnTo>
                  <a:lnTo>
                    <a:pt x="197358" y="93218"/>
                  </a:lnTo>
                  <a:lnTo>
                    <a:pt x="178308" y="93218"/>
                  </a:lnTo>
                  <a:lnTo>
                    <a:pt x="203708" y="144018"/>
                  </a:lnTo>
                  <a:lnTo>
                    <a:pt x="222758" y="105918"/>
                  </a:lnTo>
                  <a:lnTo>
                    <a:pt x="229108" y="93218"/>
                  </a:lnTo>
                  <a:lnTo>
                    <a:pt x="210058" y="93218"/>
                  </a:lnTo>
                  <a:lnTo>
                    <a:pt x="210058" y="50800"/>
                  </a:lnTo>
                  <a:lnTo>
                    <a:pt x="229108" y="50800"/>
                  </a:lnTo>
                  <a:close/>
                </a:path>
                <a:path w="934719" h="941070">
                  <a:moveTo>
                    <a:pt x="236728" y="837184"/>
                  </a:moveTo>
                  <a:lnTo>
                    <a:pt x="230378" y="824484"/>
                  </a:lnTo>
                  <a:lnTo>
                    <a:pt x="211328" y="786384"/>
                  </a:lnTo>
                  <a:lnTo>
                    <a:pt x="185928" y="837184"/>
                  </a:lnTo>
                  <a:lnTo>
                    <a:pt x="204978" y="837184"/>
                  </a:lnTo>
                  <a:lnTo>
                    <a:pt x="204978" y="879602"/>
                  </a:lnTo>
                  <a:lnTo>
                    <a:pt x="185928" y="879602"/>
                  </a:lnTo>
                  <a:lnTo>
                    <a:pt x="211328" y="930402"/>
                  </a:lnTo>
                  <a:lnTo>
                    <a:pt x="230378" y="892302"/>
                  </a:lnTo>
                  <a:lnTo>
                    <a:pt x="236728" y="879602"/>
                  </a:lnTo>
                  <a:lnTo>
                    <a:pt x="217678" y="879602"/>
                  </a:lnTo>
                  <a:lnTo>
                    <a:pt x="217678" y="837184"/>
                  </a:lnTo>
                  <a:lnTo>
                    <a:pt x="236728" y="837184"/>
                  </a:lnTo>
                  <a:close/>
                </a:path>
                <a:path w="934719" h="941070">
                  <a:moveTo>
                    <a:pt x="405892" y="50800"/>
                  </a:moveTo>
                  <a:lnTo>
                    <a:pt x="399542" y="38100"/>
                  </a:lnTo>
                  <a:lnTo>
                    <a:pt x="380492" y="0"/>
                  </a:lnTo>
                  <a:lnTo>
                    <a:pt x="355092" y="50800"/>
                  </a:lnTo>
                  <a:lnTo>
                    <a:pt x="374142" y="50800"/>
                  </a:lnTo>
                  <a:lnTo>
                    <a:pt x="374142" y="93218"/>
                  </a:lnTo>
                  <a:lnTo>
                    <a:pt x="355092" y="93218"/>
                  </a:lnTo>
                  <a:lnTo>
                    <a:pt x="380492" y="144018"/>
                  </a:lnTo>
                  <a:lnTo>
                    <a:pt x="399542" y="105918"/>
                  </a:lnTo>
                  <a:lnTo>
                    <a:pt x="405892" y="93218"/>
                  </a:lnTo>
                  <a:lnTo>
                    <a:pt x="386842" y="93218"/>
                  </a:lnTo>
                  <a:lnTo>
                    <a:pt x="386842" y="50800"/>
                  </a:lnTo>
                  <a:lnTo>
                    <a:pt x="405892" y="50800"/>
                  </a:lnTo>
                  <a:close/>
                </a:path>
                <a:path w="934719" h="941070">
                  <a:moveTo>
                    <a:pt x="413512" y="837184"/>
                  </a:moveTo>
                  <a:lnTo>
                    <a:pt x="407162" y="824484"/>
                  </a:lnTo>
                  <a:lnTo>
                    <a:pt x="388112" y="786384"/>
                  </a:lnTo>
                  <a:lnTo>
                    <a:pt x="362712" y="837184"/>
                  </a:lnTo>
                  <a:lnTo>
                    <a:pt x="381762" y="837184"/>
                  </a:lnTo>
                  <a:lnTo>
                    <a:pt x="381762" y="879602"/>
                  </a:lnTo>
                  <a:lnTo>
                    <a:pt x="362712" y="879602"/>
                  </a:lnTo>
                  <a:lnTo>
                    <a:pt x="388112" y="930402"/>
                  </a:lnTo>
                  <a:lnTo>
                    <a:pt x="407162" y="892302"/>
                  </a:lnTo>
                  <a:lnTo>
                    <a:pt x="413512" y="879602"/>
                  </a:lnTo>
                  <a:lnTo>
                    <a:pt x="394462" y="879602"/>
                  </a:lnTo>
                  <a:lnTo>
                    <a:pt x="394462" y="837184"/>
                  </a:lnTo>
                  <a:lnTo>
                    <a:pt x="413512" y="837184"/>
                  </a:lnTo>
                  <a:close/>
                </a:path>
                <a:path w="934719" h="941070">
                  <a:moveTo>
                    <a:pt x="585724" y="50800"/>
                  </a:moveTo>
                  <a:lnTo>
                    <a:pt x="579374" y="38100"/>
                  </a:lnTo>
                  <a:lnTo>
                    <a:pt x="560324" y="0"/>
                  </a:lnTo>
                  <a:lnTo>
                    <a:pt x="534924" y="50800"/>
                  </a:lnTo>
                  <a:lnTo>
                    <a:pt x="553974" y="50800"/>
                  </a:lnTo>
                  <a:lnTo>
                    <a:pt x="553974" y="93218"/>
                  </a:lnTo>
                  <a:lnTo>
                    <a:pt x="534924" y="93218"/>
                  </a:lnTo>
                  <a:lnTo>
                    <a:pt x="560324" y="144018"/>
                  </a:lnTo>
                  <a:lnTo>
                    <a:pt x="579374" y="105918"/>
                  </a:lnTo>
                  <a:lnTo>
                    <a:pt x="585724" y="93218"/>
                  </a:lnTo>
                  <a:lnTo>
                    <a:pt x="566674" y="93218"/>
                  </a:lnTo>
                  <a:lnTo>
                    <a:pt x="566674" y="50800"/>
                  </a:lnTo>
                  <a:lnTo>
                    <a:pt x="585724" y="50800"/>
                  </a:lnTo>
                  <a:close/>
                </a:path>
                <a:path w="934719" h="941070">
                  <a:moveTo>
                    <a:pt x="594868" y="837184"/>
                  </a:moveTo>
                  <a:lnTo>
                    <a:pt x="588518" y="824484"/>
                  </a:lnTo>
                  <a:lnTo>
                    <a:pt x="569468" y="786384"/>
                  </a:lnTo>
                  <a:lnTo>
                    <a:pt x="544068" y="837184"/>
                  </a:lnTo>
                  <a:lnTo>
                    <a:pt x="563118" y="837184"/>
                  </a:lnTo>
                  <a:lnTo>
                    <a:pt x="563118" y="879602"/>
                  </a:lnTo>
                  <a:lnTo>
                    <a:pt x="544068" y="879602"/>
                  </a:lnTo>
                  <a:lnTo>
                    <a:pt x="569468" y="930402"/>
                  </a:lnTo>
                  <a:lnTo>
                    <a:pt x="588518" y="892302"/>
                  </a:lnTo>
                  <a:lnTo>
                    <a:pt x="594868" y="879602"/>
                  </a:lnTo>
                  <a:lnTo>
                    <a:pt x="575818" y="879602"/>
                  </a:lnTo>
                  <a:lnTo>
                    <a:pt x="575818" y="837184"/>
                  </a:lnTo>
                  <a:lnTo>
                    <a:pt x="594868" y="837184"/>
                  </a:lnTo>
                  <a:close/>
                </a:path>
                <a:path w="934719" h="941070">
                  <a:moveTo>
                    <a:pt x="760984" y="61468"/>
                  </a:moveTo>
                  <a:lnTo>
                    <a:pt x="754634" y="48768"/>
                  </a:lnTo>
                  <a:lnTo>
                    <a:pt x="735584" y="10668"/>
                  </a:lnTo>
                  <a:lnTo>
                    <a:pt x="710184" y="61468"/>
                  </a:lnTo>
                  <a:lnTo>
                    <a:pt x="729234" y="61468"/>
                  </a:lnTo>
                  <a:lnTo>
                    <a:pt x="729234" y="103886"/>
                  </a:lnTo>
                  <a:lnTo>
                    <a:pt x="710184" y="103886"/>
                  </a:lnTo>
                  <a:lnTo>
                    <a:pt x="735584" y="154686"/>
                  </a:lnTo>
                  <a:lnTo>
                    <a:pt x="754634" y="116586"/>
                  </a:lnTo>
                  <a:lnTo>
                    <a:pt x="760984" y="103886"/>
                  </a:lnTo>
                  <a:lnTo>
                    <a:pt x="741934" y="103886"/>
                  </a:lnTo>
                  <a:lnTo>
                    <a:pt x="741934" y="61468"/>
                  </a:lnTo>
                  <a:lnTo>
                    <a:pt x="760984" y="61468"/>
                  </a:lnTo>
                  <a:close/>
                </a:path>
                <a:path w="934719" h="941070">
                  <a:moveTo>
                    <a:pt x="768604" y="847852"/>
                  </a:moveTo>
                  <a:lnTo>
                    <a:pt x="762254" y="835152"/>
                  </a:lnTo>
                  <a:lnTo>
                    <a:pt x="743204" y="797052"/>
                  </a:lnTo>
                  <a:lnTo>
                    <a:pt x="717804" y="847852"/>
                  </a:lnTo>
                  <a:lnTo>
                    <a:pt x="736854" y="847852"/>
                  </a:lnTo>
                  <a:lnTo>
                    <a:pt x="736854" y="890270"/>
                  </a:lnTo>
                  <a:lnTo>
                    <a:pt x="717804" y="890270"/>
                  </a:lnTo>
                  <a:lnTo>
                    <a:pt x="743204" y="941070"/>
                  </a:lnTo>
                  <a:lnTo>
                    <a:pt x="762254" y="902970"/>
                  </a:lnTo>
                  <a:lnTo>
                    <a:pt x="768604" y="890270"/>
                  </a:lnTo>
                  <a:lnTo>
                    <a:pt x="749554" y="890270"/>
                  </a:lnTo>
                  <a:lnTo>
                    <a:pt x="749554" y="847852"/>
                  </a:lnTo>
                  <a:lnTo>
                    <a:pt x="768604" y="847852"/>
                  </a:lnTo>
                  <a:close/>
                </a:path>
                <a:path w="934719" h="941070">
                  <a:moveTo>
                    <a:pt x="925576" y="61468"/>
                  </a:moveTo>
                  <a:lnTo>
                    <a:pt x="919226" y="48768"/>
                  </a:lnTo>
                  <a:lnTo>
                    <a:pt x="900176" y="10668"/>
                  </a:lnTo>
                  <a:lnTo>
                    <a:pt x="874776" y="61468"/>
                  </a:lnTo>
                  <a:lnTo>
                    <a:pt x="893826" y="61468"/>
                  </a:lnTo>
                  <a:lnTo>
                    <a:pt x="893826" y="103886"/>
                  </a:lnTo>
                  <a:lnTo>
                    <a:pt x="874776" y="103886"/>
                  </a:lnTo>
                  <a:lnTo>
                    <a:pt x="900176" y="154686"/>
                  </a:lnTo>
                  <a:lnTo>
                    <a:pt x="919226" y="116586"/>
                  </a:lnTo>
                  <a:lnTo>
                    <a:pt x="925576" y="103886"/>
                  </a:lnTo>
                  <a:lnTo>
                    <a:pt x="906526" y="103886"/>
                  </a:lnTo>
                  <a:lnTo>
                    <a:pt x="906526" y="61468"/>
                  </a:lnTo>
                  <a:lnTo>
                    <a:pt x="925576" y="61468"/>
                  </a:lnTo>
                  <a:close/>
                </a:path>
                <a:path w="934719" h="941070">
                  <a:moveTo>
                    <a:pt x="934720" y="847852"/>
                  </a:moveTo>
                  <a:lnTo>
                    <a:pt x="928370" y="835152"/>
                  </a:lnTo>
                  <a:lnTo>
                    <a:pt x="909320" y="797052"/>
                  </a:lnTo>
                  <a:lnTo>
                    <a:pt x="883920" y="847852"/>
                  </a:lnTo>
                  <a:lnTo>
                    <a:pt x="902970" y="847852"/>
                  </a:lnTo>
                  <a:lnTo>
                    <a:pt x="902970" y="890270"/>
                  </a:lnTo>
                  <a:lnTo>
                    <a:pt x="883920" y="890270"/>
                  </a:lnTo>
                  <a:lnTo>
                    <a:pt x="909320" y="941070"/>
                  </a:lnTo>
                  <a:lnTo>
                    <a:pt x="928370" y="902970"/>
                  </a:lnTo>
                  <a:lnTo>
                    <a:pt x="934720" y="890270"/>
                  </a:lnTo>
                  <a:lnTo>
                    <a:pt x="915670" y="890270"/>
                  </a:lnTo>
                  <a:lnTo>
                    <a:pt x="915670" y="847852"/>
                  </a:lnTo>
                  <a:lnTo>
                    <a:pt x="934720" y="847852"/>
                  </a:lnTo>
                  <a:close/>
                </a:path>
              </a:pathLst>
            </a:custGeom>
            <a:solidFill>
              <a:srgbClr val="0033CC"/>
            </a:solidFill>
          </p:spPr>
          <p:txBody>
            <a:bodyPr wrap="square" lIns="0" tIns="0" rIns="0" bIns="0" rtlCol="0"/>
            <a:lstStyle/>
            <a:p>
              <a:endParaRPr dirty="0"/>
            </a:p>
          </p:txBody>
        </p:sp>
      </p:grpSp>
      <p:sp>
        <p:nvSpPr>
          <p:cNvPr id="18" name="object 18"/>
          <p:cNvSpPr/>
          <p:nvPr/>
        </p:nvSpPr>
        <p:spPr>
          <a:xfrm>
            <a:off x="4199969" y="5871205"/>
            <a:ext cx="50800" cy="486409"/>
          </a:xfrm>
          <a:custGeom>
            <a:avLst/>
            <a:gdLst/>
            <a:ahLst/>
            <a:cxnLst/>
            <a:rect l="l" t="t" r="r" b="b"/>
            <a:pathLst>
              <a:path w="50800" h="486410">
                <a:moveTo>
                  <a:pt x="19050" y="435228"/>
                </a:moveTo>
                <a:lnTo>
                  <a:pt x="0" y="435228"/>
                </a:lnTo>
                <a:lnTo>
                  <a:pt x="25400" y="486028"/>
                </a:lnTo>
                <a:lnTo>
                  <a:pt x="44450" y="447928"/>
                </a:lnTo>
                <a:lnTo>
                  <a:pt x="19050" y="447928"/>
                </a:lnTo>
                <a:lnTo>
                  <a:pt x="19050" y="435228"/>
                </a:lnTo>
                <a:close/>
              </a:path>
              <a:path w="50800" h="486410">
                <a:moveTo>
                  <a:pt x="31750" y="397128"/>
                </a:moveTo>
                <a:lnTo>
                  <a:pt x="19050" y="397128"/>
                </a:lnTo>
                <a:lnTo>
                  <a:pt x="19050" y="447928"/>
                </a:lnTo>
                <a:lnTo>
                  <a:pt x="31750" y="447928"/>
                </a:lnTo>
                <a:lnTo>
                  <a:pt x="31750" y="397128"/>
                </a:lnTo>
                <a:close/>
              </a:path>
              <a:path w="50800" h="486410">
                <a:moveTo>
                  <a:pt x="50800" y="435228"/>
                </a:moveTo>
                <a:lnTo>
                  <a:pt x="31750" y="435228"/>
                </a:lnTo>
                <a:lnTo>
                  <a:pt x="31750" y="447928"/>
                </a:lnTo>
                <a:lnTo>
                  <a:pt x="44450" y="447928"/>
                </a:lnTo>
                <a:lnTo>
                  <a:pt x="50800" y="435228"/>
                </a:lnTo>
                <a:close/>
              </a:path>
              <a:path w="50800" h="486410">
                <a:moveTo>
                  <a:pt x="31750" y="308228"/>
                </a:moveTo>
                <a:lnTo>
                  <a:pt x="19050" y="308228"/>
                </a:lnTo>
                <a:lnTo>
                  <a:pt x="19050" y="359028"/>
                </a:lnTo>
                <a:lnTo>
                  <a:pt x="31750" y="359028"/>
                </a:lnTo>
                <a:lnTo>
                  <a:pt x="31750" y="308228"/>
                </a:lnTo>
                <a:close/>
              </a:path>
              <a:path w="50800" h="486410">
                <a:moveTo>
                  <a:pt x="31750" y="219328"/>
                </a:moveTo>
                <a:lnTo>
                  <a:pt x="19050" y="219328"/>
                </a:lnTo>
                <a:lnTo>
                  <a:pt x="19050" y="270128"/>
                </a:lnTo>
                <a:lnTo>
                  <a:pt x="31750" y="270128"/>
                </a:lnTo>
                <a:lnTo>
                  <a:pt x="31750" y="219328"/>
                </a:lnTo>
                <a:close/>
              </a:path>
              <a:path w="50800" h="486410">
                <a:moveTo>
                  <a:pt x="31750" y="130428"/>
                </a:moveTo>
                <a:lnTo>
                  <a:pt x="19050" y="130428"/>
                </a:lnTo>
                <a:lnTo>
                  <a:pt x="19050" y="181228"/>
                </a:lnTo>
                <a:lnTo>
                  <a:pt x="31750" y="181228"/>
                </a:lnTo>
                <a:lnTo>
                  <a:pt x="31750" y="130428"/>
                </a:lnTo>
                <a:close/>
              </a:path>
              <a:path w="50800" h="486410">
                <a:moveTo>
                  <a:pt x="31750" y="41528"/>
                </a:moveTo>
                <a:lnTo>
                  <a:pt x="19050" y="41528"/>
                </a:lnTo>
                <a:lnTo>
                  <a:pt x="19050" y="92328"/>
                </a:lnTo>
                <a:lnTo>
                  <a:pt x="31750" y="92328"/>
                </a:lnTo>
                <a:lnTo>
                  <a:pt x="31750" y="41528"/>
                </a:lnTo>
                <a:close/>
              </a:path>
              <a:path w="50800" h="486410">
                <a:moveTo>
                  <a:pt x="25400" y="0"/>
                </a:moveTo>
                <a:lnTo>
                  <a:pt x="0" y="50800"/>
                </a:lnTo>
                <a:lnTo>
                  <a:pt x="19050" y="50800"/>
                </a:lnTo>
                <a:lnTo>
                  <a:pt x="19050" y="41528"/>
                </a:lnTo>
                <a:lnTo>
                  <a:pt x="46164" y="41528"/>
                </a:lnTo>
                <a:lnTo>
                  <a:pt x="25400" y="0"/>
                </a:lnTo>
                <a:close/>
              </a:path>
              <a:path w="50800" h="486410">
                <a:moveTo>
                  <a:pt x="46164" y="41528"/>
                </a:moveTo>
                <a:lnTo>
                  <a:pt x="31750" y="41528"/>
                </a:lnTo>
                <a:lnTo>
                  <a:pt x="31750" y="50800"/>
                </a:lnTo>
                <a:lnTo>
                  <a:pt x="50800" y="50800"/>
                </a:lnTo>
                <a:lnTo>
                  <a:pt x="46164" y="41528"/>
                </a:lnTo>
                <a:close/>
              </a:path>
            </a:pathLst>
          </a:custGeom>
          <a:solidFill>
            <a:srgbClr val="7E7E7E"/>
          </a:solidFill>
        </p:spPr>
        <p:txBody>
          <a:bodyPr wrap="square" lIns="0" tIns="0" rIns="0" bIns="0" rtlCol="0"/>
          <a:lstStyle/>
          <a:p>
            <a:endParaRPr dirty="0"/>
          </a:p>
        </p:txBody>
      </p:sp>
      <p:sp>
        <p:nvSpPr>
          <p:cNvPr id="19" name="object 19"/>
          <p:cNvSpPr txBox="1"/>
          <p:nvPr/>
        </p:nvSpPr>
        <p:spPr>
          <a:xfrm>
            <a:off x="4248611" y="6029194"/>
            <a:ext cx="738505" cy="132080"/>
          </a:xfrm>
          <a:prstGeom prst="rect">
            <a:avLst/>
          </a:prstGeom>
        </p:spPr>
        <p:txBody>
          <a:bodyPr vert="horz" wrap="square" lIns="0" tIns="12065" rIns="0" bIns="0" rtlCol="0">
            <a:spAutoFit/>
          </a:bodyPr>
          <a:lstStyle/>
          <a:p>
            <a:pPr marL="12700">
              <a:lnSpc>
                <a:spcPct val="100000"/>
              </a:lnSpc>
              <a:spcBef>
                <a:spcPts val="95"/>
              </a:spcBef>
            </a:pPr>
            <a:r>
              <a:rPr sz="700" spc="-10" dirty="0">
                <a:latin typeface="Arial"/>
                <a:cs typeface="Arial"/>
              </a:rPr>
              <a:t>SHSYNC_SIZE=3</a:t>
            </a:r>
            <a:endParaRPr sz="700" dirty="0">
              <a:latin typeface="Arial"/>
              <a:cs typeface="Arial"/>
            </a:endParaRPr>
          </a:p>
        </p:txBody>
      </p:sp>
      <p:sp>
        <p:nvSpPr>
          <p:cNvPr id="20" name="object 20"/>
          <p:cNvSpPr txBox="1"/>
          <p:nvPr/>
        </p:nvSpPr>
        <p:spPr>
          <a:xfrm>
            <a:off x="4248611" y="6821039"/>
            <a:ext cx="738505" cy="132080"/>
          </a:xfrm>
          <a:prstGeom prst="rect">
            <a:avLst/>
          </a:prstGeom>
        </p:spPr>
        <p:txBody>
          <a:bodyPr vert="horz" wrap="square" lIns="0" tIns="12065" rIns="0" bIns="0" rtlCol="0">
            <a:spAutoFit/>
          </a:bodyPr>
          <a:lstStyle/>
          <a:p>
            <a:pPr marL="12700">
              <a:lnSpc>
                <a:spcPct val="100000"/>
              </a:lnSpc>
              <a:spcBef>
                <a:spcPts val="95"/>
              </a:spcBef>
            </a:pPr>
            <a:r>
              <a:rPr sz="700" spc="-10" dirty="0">
                <a:latin typeface="Arial"/>
                <a:cs typeface="Arial"/>
              </a:rPr>
              <a:t>SHSYNC_SIZE=3</a:t>
            </a:r>
            <a:endParaRPr sz="700" dirty="0">
              <a:latin typeface="Arial"/>
              <a:cs typeface="Arial"/>
            </a:endParaRPr>
          </a:p>
        </p:txBody>
      </p:sp>
      <p:sp>
        <p:nvSpPr>
          <p:cNvPr id="21" name="object 21"/>
          <p:cNvSpPr/>
          <p:nvPr/>
        </p:nvSpPr>
        <p:spPr>
          <a:xfrm>
            <a:off x="4204542" y="6669781"/>
            <a:ext cx="50800" cy="486409"/>
          </a:xfrm>
          <a:custGeom>
            <a:avLst/>
            <a:gdLst/>
            <a:ahLst/>
            <a:cxnLst/>
            <a:rect l="l" t="t" r="r" b="b"/>
            <a:pathLst>
              <a:path w="50800" h="486409">
                <a:moveTo>
                  <a:pt x="19050" y="435228"/>
                </a:moveTo>
                <a:lnTo>
                  <a:pt x="0" y="435228"/>
                </a:lnTo>
                <a:lnTo>
                  <a:pt x="25400" y="486028"/>
                </a:lnTo>
                <a:lnTo>
                  <a:pt x="44450" y="447928"/>
                </a:lnTo>
                <a:lnTo>
                  <a:pt x="19050" y="447928"/>
                </a:lnTo>
                <a:lnTo>
                  <a:pt x="19050" y="435228"/>
                </a:lnTo>
                <a:close/>
              </a:path>
              <a:path w="50800" h="486409">
                <a:moveTo>
                  <a:pt x="31750" y="397128"/>
                </a:moveTo>
                <a:lnTo>
                  <a:pt x="19050" y="397128"/>
                </a:lnTo>
                <a:lnTo>
                  <a:pt x="19050" y="447928"/>
                </a:lnTo>
                <a:lnTo>
                  <a:pt x="31750" y="447928"/>
                </a:lnTo>
                <a:lnTo>
                  <a:pt x="31750" y="397128"/>
                </a:lnTo>
                <a:close/>
              </a:path>
              <a:path w="50800" h="486409">
                <a:moveTo>
                  <a:pt x="50800" y="435228"/>
                </a:moveTo>
                <a:lnTo>
                  <a:pt x="31750" y="435228"/>
                </a:lnTo>
                <a:lnTo>
                  <a:pt x="31750" y="447928"/>
                </a:lnTo>
                <a:lnTo>
                  <a:pt x="44450" y="447928"/>
                </a:lnTo>
                <a:lnTo>
                  <a:pt x="50800" y="435228"/>
                </a:lnTo>
                <a:close/>
              </a:path>
              <a:path w="50800" h="486409">
                <a:moveTo>
                  <a:pt x="31750" y="308228"/>
                </a:moveTo>
                <a:lnTo>
                  <a:pt x="19050" y="308228"/>
                </a:lnTo>
                <a:lnTo>
                  <a:pt x="19050" y="359028"/>
                </a:lnTo>
                <a:lnTo>
                  <a:pt x="31750" y="359028"/>
                </a:lnTo>
                <a:lnTo>
                  <a:pt x="31750" y="308228"/>
                </a:lnTo>
                <a:close/>
              </a:path>
              <a:path w="50800" h="486409">
                <a:moveTo>
                  <a:pt x="31750" y="219328"/>
                </a:moveTo>
                <a:lnTo>
                  <a:pt x="19050" y="219328"/>
                </a:lnTo>
                <a:lnTo>
                  <a:pt x="19050" y="270128"/>
                </a:lnTo>
                <a:lnTo>
                  <a:pt x="31750" y="270128"/>
                </a:lnTo>
                <a:lnTo>
                  <a:pt x="31750" y="219328"/>
                </a:lnTo>
                <a:close/>
              </a:path>
              <a:path w="50800" h="486409">
                <a:moveTo>
                  <a:pt x="31750" y="130428"/>
                </a:moveTo>
                <a:lnTo>
                  <a:pt x="19050" y="130428"/>
                </a:lnTo>
                <a:lnTo>
                  <a:pt x="19050" y="181228"/>
                </a:lnTo>
                <a:lnTo>
                  <a:pt x="31750" y="181228"/>
                </a:lnTo>
                <a:lnTo>
                  <a:pt x="31750" y="130428"/>
                </a:lnTo>
                <a:close/>
              </a:path>
              <a:path w="50800" h="486409">
                <a:moveTo>
                  <a:pt x="31750" y="41528"/>
                </a:moveTo>
                <a:lnTo>
                  <a:pt x="19050" y="41528"/>
                </a:lnTo>
                <a:lnTo>
                  <a:pt x="19050" y="92328"/>
                </a:lnTo>
                <a:lnTo>
                  <a:pt x="31750" y="92328"/>
                </a:lnTo>
                <a:lnTo>
                  <a:pt x="31750" y="41528"/>
                </a:lnTo>
                <a:close/>
              </a:path>
              <a:path w="50800" h="486409">
                <a:moveTo>
                  <a:pt x="25400" y="0"/>
                </a:moveTo>
                <a:lnTo>
                  <a:pt x="0" y="50799"/>
                </a:lnTo>
                <a:lnTo>
                  <a:pt x="19050" y="50799"/>
                </a:lnTo>
                <a:lnTo>
                  <a:pt x="19050" y="41528"/>
                </a:lnTo>
                <a:lnTo>
                  <a:pt x="46164" y="41528"/>
                </a:lnTo>
                <a:lnTo>
                  <a:pt x="25400" y="0"/>
                </a:lnTo>
                <a:close/>
              </a:path>
              <a:path w="50800" h="486409">
                <a:moveTo>
                  <a:pt x="46164" y="41528"/>
                </a:moveTo>
                <a:lnTo>
                  <a:pt x="31750" y="41528"/>
                </a:lnTo>
                <a:lnTo>
                  <a:pt x="31750" y="50799"/>
                </a:lnTo>
                <a:lnTo>
                  <a:pt x="50800" y="50799"/>
                </a:lnTo>
                <a:lnTo>
                  <a:pt x="46164" y="41528"/>
                </a:lnTo>
                <a:close/>
              </a:path>
            </a:pathLst>
          </a:custGeom>
          <a:solidFill>
            <a:srgbClr val="7E7E7E"/>
          </a:solidFill>
        </p:spPr>
        <p:txBody>
          <a:bodyPr wrap="square" lIns="0" tIns="0" rIns="0" bIns="0" rtlCol="0"/>
          <a:lstStyle/>
          <a:p>
            <a:endParaRPr dirty="0"/>
          </a:p>
        </p:txBody>
      </p:sp>
      <p:sp>
        <p:nvSpPr>
          <p:cNvPr id="26" name="TextBox 25">
            <a:extLst>
              <a:ext uri="{FF2B5EF4-FFF2-40B4-BE49-F238E27FC236}">
                <a16:creationId xmlns:a16="http://schemas.microsoft.com/office/drawing/2014/main" id="{E6C27E75-2293-7DF0-C175-2104309FDFB3}"/>
              </a:ext>
            </a:extLst>
          </p:cNvPr>
          <p:cNvSpPr txBox="1"/>
          <p:nvPr/>
        </p:nvSpPr>
        <p:spPr>
          <a:xfrm>
            <a:off x="395278" y="2131030"/>
            <a:ext cx="6067444" cy="969496"/>
          </a:xfrm>
          <a:prstGeom prst="rect">
            <a:avLst/>
          </a:prstGeom>
          <a:noFill/>
        </p:spPr>
        <p:txBody>
          <a:bodyPr wrap="square" lIns="0" tIns="0" rIns="0" bIns="0" rtlCol="0">
            <a:spAutoFit/>
          </a:bodyPr>
          <a:lstStyle/>
          <a:p>
            <a:pPr marL="12700" marR="5080" algn="just">
              <a:lnSpc>
                <a:spcPct val="100000"/>
              </a:lnSpc>
            </a:pPr>
            <a:r>
              <a:rPr lang="en-US" altLang="ko-KR" sz="900" dirty="0">
                <a:latin typeface="Arial"/>
                <a:cs typeface="Arial"/>
              </a:rPr>
              <a:t>There are </a:t>
            </a:r>
            <a:r>
              <a:rPr lang="en-US" altLang="ko-KR" sz="900" spc="-5" dirty="0">
                <a:latin typeface="Arial"/>
                <a:cs typeface="Arial"/>
              </a:rPr>
              <a:t>two ways </a:t>
            </a:r>
            <a:r>
              <a:rPr lang="en-US" altLang="ko-KR" sz="900" dirty="0">
                <a:latin typeface="Arial"/>
                <a:cs typeface="Arial"/>
              </a:rPr>
              <a:t>for the output channels’ mapping to LED blocks according to the drive modes, single and dual drive. </a:t>
            </a:r>
            <a:r>
              <a:rPr lang="en-US" altLang="ko-KR" sz="900" spc="-235" dirty="0">
                <a:latin typeface="Arial"/>
                <a:cs typeface="Arial"/>
              </a:rPr>
              <a:t> </a:t>
            </a:r>
            <a:r>
              <a:rPr lang="en-US" altLang="ko-KR" sz="900" dirty="0">
                <a:latin typeface="Arial"/>
                <a:cs typeface="Arial"/>
              </a:rPr>
              <a:t>In single drive mode, the output channels can be sequentially mapped to the local dimming blocks’ order like </a:t>
            </a:r>
            <a:r>
              <a:rPr lang="en-US" altLang="ko-KR" sz="900" spc="-10" dirty="0">
                <a:latin typeface="Arial"/>
                <a:cs typeface="Arial"/>
              </a:rPr>
              <a:t>Figure.5-1. </a:t>
            </a:r>
            <a:r>
              <a:rPr lang="en-US" altLang="ko-KR" sz="900" spc="-235" dirty="0">
                <a:latin typeface="Arial"/>
                <a:cs typeface="Arial"/>
              </a:rPr>
              <a:t> </a:t>
            </a:r>
            <a:r>
              <a:rPr lang="en-US" altLang="ko-KR" sz="900" dirty="0">
                <a:latin typeface="Arial"/>
                <a:cs typeface="Arial"/>
              </a:rPr>
              <a:t>In dual drive mode, the </a:t>
            </a:r>
            <a:r>
              <a:rPr lang="en-US" altLang="ko-KR" sz="900" spc="-5" dirty="0">
                <a:latin typeface="Arial"/>
                <a:cs typeface="Arial"/>
              </a:rPr>
              <a:t>two </a:t>
            </a:r>
            <a:r>
              <a:rPr lang="en-US" altLang="ko-KR" sz="900" dirty="0">
                <a:latin typeface="Arial"/>
                <a:cs typeface="Arial"/>
              </a:rPr>
              <a:t>lines’ local dimming data out are driven out at the same time and should be careful to output </a:t>
            </a:r>
            <a:r>
              <a:rPr lang="en-US" altLang="ko-KR" sz="900" spc="-235" dirty="0">
                <a:latin typeface="Arial"/>
                <a:cs typeface="Arial"/>
              </a:rPr>
              <a:t> </a:t>
            </a:r>
            <a:r>
              <a:rPr lang="en-US" altLang="ko-KR" sz="900" dirty="0">
                <a:latin typeface="Arial"/>
                <a:cs typeface="Arial"/>
              </a:rPr>
              <a:t>channels’</a:t>
            </a:r>
            <a:r>
              <a:rPr lang="en-US" altLang="ko-KR" sz="900" spc="-45" dirty="0">
                <a:latin typeface="Arial"/>
                <a:cs typeface="Arial"/>
              </a:rPr>
              <a:t> </a:t>
            </a:r>
            <a:r>
              <a:rPr lang="en-US" altLang="ko-KR" sz="900" dirty="0">
                <a:latin typeface="Arial"/>
                <a:cs typeface="Arial"/>
              </a:rPr>
              <a:t>mapping</a:t>
            </a:r>
            <a:r>
              <a:rPr lang="en-US" altLang="ko-KR" sz="900" spc="-20" dirty="0">
                <a:latin typeface="Arial"/>
                <a:cs typeface="Arial"/>
              </a:rPr>
              <a:t> </a:t>
            </a:r>
            <a:r>
              <a:rPr lang="en-US" altLang="ko-KR" sz="900" dirty="0">
                <a:latin typeface="Arial"/>
                <a:cs typeface="Arial"/>
              </a:rPr>
              <a:t>unlike</a:t>
            </a:r>
            <a:r>
              <a:rPr lang="en-US" altLang="ko-KR" sz="900" spc="-30" dirty="0">
                <a:latin typeface="Arial"/>
                <a:cs typeface="Arial"/>
              </a:rPr>
              <a:t> </a:t>
            </a:r>
            <a:r>
              <a:rPr lang="en-US" altLang="ko-KR" sz="900" dirty="0">
                <a:latin typeface="Arial"/>
                <a:cs typeface="Arial"/>
              </a:rPr>
              <a:t>the</a:t>
            </a:r>
            <a:r>
              <a:rPr lang="en-US" altLang="ko-KR" sz="900" spc="-5" dirty="0">
                <a:latin typeface="Arial"/>
                <a:cs typeface="Arial"/>
              </a:rPr>
              <a:t> </a:t>
            </a:r>
            <a:r>
              <a:rPr lang="en-US" altLang="ko-KR" sz="900" dirty="0">
                <a:latin typeface="Arial"/>
                <a:cs typeface="Arial"/>
              </a:rPr>
              <a:t>single</a:t>
            </a:r>
            <a:r>
              <a:rPr lang="en-US" altLang="ko-KR" sz="900" spc="-20" dirty="0">
                <a:latin typeface="Arial"/>
                <a:cs typeface="Arial"/>
              </a:rPr>
              <a:t> </a:t>
            </a:r>
            <a:r>
              <a:rPr lang="en-US" altLang="ko-KR" sz="900" dirty="0">
                <a:latin typeface="Arial"/>
                <a:cs typeface="Arial"/>
              </a:rPr>
              <a:t>the</a:t>
            </a:r>
            <a:r>
              <a:rPr lang="en-US" altLang="ko-KR" sz="900" spc="-5" dirty="0">
                <a:latin typeface="Arial"/>
                <a:cs typeface="Arial"/>
              </a:rPr>
              <a:t> </a:t>
            </a:r>
            <a:r>
              <a:rPr lang="en-US" altLang="ko-KR" sz="900" dirty="0">
                <a:latin typeface="Arial"/>
                <a:cs typeface="Arial"/>
              </a:rPr>
              <a:t>single</a:t>
            </a:r>
            <a:r>
              <a:rPr lang="en-US" altLang="ko-KR" sz="900" spc="-20" dirty="0">
                <a:latin typeface="Arial"/>
                <a:cs typeface="Arial"/>
              </a:rPr>
              <a:t> </a:t>
            </a:r>
            <a:r>
              <a:rPr lang="en-US" altLang="ko-KR" sz="900" dirty="0">
                <a:latin typeface="Arial"/>
                <a:cs typeface="Arial"/>
              </a:rPr>
              <a:t>drive.  Whole 24 channels are divided into </a:t>
            </a:r>
            <a:r>
              <a:rPr lang="en-US" altLang="ko-KR" sz="900" spc="-5" dirty="0">
                <a:latin typeface="Arial"/>
                <a:cs typeface="Arial"/>
              </a:rPr>
              <a:t>2 </a:t>
            </a:r>
            <a:r>
              <a:rPr lang="en-US" altLang="ko-KR" sz="900" dirty="0">
                <a:latin typeface="Arial"/>
                <a:cs typeface="Arial"/>
              </a:rPr>
              <a:t>segments, channel 1~12 and channel 13~24 </a:t>
            </a:r>
            <a:r>
              <a:rPr lang="en-US" altLang="ko-KR" sz="900" spc="-5" dirty="0">
                <a:latin typeface="Arial"/>
                <a:cs typeface="Arial"/>
              </a:rPr>
              <a:t>in </a:t>
            </a:r>
            <a:r>
              <a:rPr lang="en-US" altLang="ko-KR" sz="900" dirty="0">
                <a:latin typeface="Arial"/>
                <a:cs typeface="Arial"/>
              </a:rPr>
              <a:t>dual </a:t>
            </a:r>
            <a:r>
              <a:rPr lang="en-US" altLang="ko-KR" sz="900" spc="-5" dirty="0">
                <a:latin typeface="Arial"/>
                <a:cs typeface="Arial"/>
              </a:rPr>
              <a:t>drive </a:t>
            </a:r>
            <a:r>
              <a:rPr lang="en-US" altLang="ko-KR" sz="900" dirty="0">
                <a:latin typeface="Arial"/>
                <a:cs typeface="Arial"/>
              </a:rPr>
              <a:t>mode, so the </a:t>
            </a:r>
            <a:r>
              <a:rPr lang="en-US" altLang="ko-KR" sz="900" spc="-5" dirty="0">
                <a:latin typeface="Arial"/>
                <a:cs typeface="Arial"/>
              </a:rPr>
              <a:t>two </a:t>
            </a:r>
            <a:r>
              <a:rPr lang="en-US" altLang="ko-KR" sz="900" dirty="0">
                <a:latin typeface="Arial"/>
                <a:cs typeface="Arial"/>
              </a:rPr>
              <a:t>segment </a:t>
            </a:r>
            <a:r>
              <a:rPr lang="en-US" altLang="ko-KR" sz="900" spc="-235" dirty="0">
                <a:latin typeface="Arial"/>
                <a:cs typeface="Arial"/>
              </a:rPr>
              <a:t> </a:t>
            </a:r>
            <a:r>
              <a:rPr lang="en-US" altLang="ko-KR" sz="900" dirty="0">
                <a:latin typeface="Arial"/>
                <a:cs typeface="Arial"/>
              </a:rPr>
              <a:t>should</a:t>
            </a:r>
            <a:r>
              <a:rPr lang="en-US" altLang="ko-KR" sz="900" spc="-20" dirty="0">
                <a:latin typeface="Arial"/>
                <a:cs typeface="Arial"/>
              </a:rPr>
              <a:t> </a:t>
            </a:r>
            <a:r>
              <a:rPr lang="en-US" altLang="ko-KR" sz="900" dirty="0">
                <a:latin typeface="Arial"/>
                <a:cs typeface="Arial"/>
              </a:rPr>
              <a:t>be</a:t>
            </a:r>
            <a:r>
              <a:rPr lang="en-US" altLang="ko-KR" sz="900" spc="-5" dirty="0">
                <a:latin typeface="Arial"/>
                <a:cs typeface="Arial"/>
              </a:rPr>
              <a:t> </a:t>
            </a:r>
            <a:r>
              <a:rPr lang="en-US" altLang="ko-KR" sz="900" dirty="0">
                <a:latin typeface="Arial"/>
                <a:cs typeface="Arial"/>
              </a:rPr>
              <a:t>assigned</a:t>
            </a:r>
            <a:r>
              <a:rPr lang="en-US" altLang="ko-KR" sz="900" spc="-30" dirty="0">
                <a:latin typeface="Arial"/>
                <a:cs typeface="Arial"/>
              </a:rPr>
              <a:t> </a:t>
            </a:r>
            <a:r>
              <a:rPr lang="en-US" altLang="ko-KR" sz="900" dirty="0">
                <a:latin typeface="Arial"/>
                <a:cs typeface="Arial"/>
              </a:rPr>
              <a:t>sequentially</a:t>
            </a:r>
            <a:r>
              <a:rPr lang="en-US" altLang="ko-KR" sz="900" spc="-40" dirty="0">
                <a:latin typeface="Arial"/>
                <a:cs typeface="Arial"/>
              </a:rPr>
              <a:t> </a:t>
            </a:r>
            <a:r>
              <a:rPr lang="en-US" altLang="ko-KR" sz="900" dirty="0">
                <a:latin typeface="Arial"/>
                <a:cs typeface="Arial"/>
              </a:rPr>
              <a:t>to</a:t>
            </a:r>
            <a:r>
              <a:rPr lang="en-US" altLang="ko-KR" sz="900" spc="5" dirty="0">
                <a:latin typeface="Arial"/>
                <a:cs typeface="Arial"/>
              </a:rPr>
              <a:t> </a:t>
            </a:r>
            <a:r>
              <a:rPr lang="en-US" altLang="ko-KR" sz="900" dirty="0">
                <a:latin typeface="Arial"/>
                <a:cs typeface="Arial"/>
              </a:rPr>
              <a:t>the</a:t>
            </a:r>
            <a:r>
              <a:rPr lang="en-US" altLang="ko-KR" sz="900" spc="-5" dirty="0">
                <a:latin typeface="Arial"/>
                <a:cs typeface="Arial"/>
              </a:rPr>
              <a:t> </a:t>
            </a:r>
            <a:r>
              <a:rPr lang="en-US" altLang="ko-KR" sz="900" dirty="0">
                <a:latin typeface="Arial"/>
                <a:cs typeface="Arial"/>
              </a:rPr>
              <a:t>local</a:t>
            </a:r>
            <a:r>
              <a:rPr lang="en-US" altLang="ko-KR" sz="900" spc="-15" dirty="0">
                <a:latin typeface="Arial"/>
                <a:cs typeface="Arial"/>
              </a:rPr>
              <a:t> </a:t>
            </a:r>
            <a:r>
              <a:rPr lang="en-US" altLang="ko-KR" sz="900" dirty="0">
                <a:latin typeface="Arial"/>
                <a:cs typeface="Arial"/>
              </a:rPr>
              <a:t>dimming</a:t>
            </a:r>
            <a:r>
              <a:rPr lang="en-US" altLang="ko-KR" sz="900" spc="-30" dirty="0">
                <a:latin typeface="Arial"/>
                <a:cs typeface="Arial"/>
              </a:rPr>
              <a:t> </a:t>
            </a:r>
            <a:r>
              <a:rPr lang="en-US" altLang="ko-KR" sz="900" dirty="0">
                <a:latin typeface="Arial"/>
                <a:cs typeface="Arial"/>
              </a:rPr>
              <a:t>blocks</a:t>
            </a:r>
            <a:r>
              <a:rPr lang="en-US" altLang="ko-KR" sz="900" spc="-30" dirty="0">
                <a:latin typeface="Arial"/>
                <a:cs typeface="Arial"/>
              </a:rPr>
              <a:t> </a:t>
            </a:r>
            <a:r>
              <a:rPr lang="en-US" altLang="ko-KR" sz="900" dirty="0">
                <a:latin typeface="Arial"/>
                <a:cs typeface="Arial"/>
              </a:rPr>
              <a:t>like</a:t>
            </a:r>
            <a:r>
              <a:rPr lang="en-US" altLang="ko-KR" sz="900" spc="-5" dirty="0">
                <a:latin typeface="Arial"/>
                <a:cs typeface="Arial"/>
              </a:rPr>
              <a:t> Figure.5-2. </a:t>
            </a:r>
            <a:r>
              <a:rPr lang="en-US" altLang="ko-KR" sz="900" dirty="0">
                <a:latin typeface="Arial"/>
                <a:cs typeface="Arial"/>
              </a:rPr>
              <a:t>At this time, it needs to be careful that the </a:t>
            </a:r>
            <a:r>
              <a:rPr lang="en-US" altLang="ko-KR" sz="900" spc="-5" dirty="0">
                <a:latin typeface="Arial"/>
                <a:cs typeface="Arial"/>
              </a:rPr>
              <a:t>SHSYNC_SIZE is </a:t>
            </a:r>
            <a:r>
              <a:rPr lang="en-US" altLang="ko-KR" sz="900" dirty="0">
                <a:latin typeface="Arial"/>
                <a:cs typeface="Arial"/>
              </a:rPr>
              <a:t>also different from each other, and the max value of the </a:t>
            </a:r>
            <a:r>
              <a:rPr lang="en-US" altLang="ko-KR" sz="900" spc="-235" dirty="0">
                <a:latin typeface="Arial"/>
                <a:cs typeface="Arial"/>
              </a:rPr>
              <a:t> </a:t>
            </a:r>
            <a:r>
              <a:rPr lang="en-US" altLang="ko-KR" sz="900" spc="-5" dirty="0">
                <a:latin typeface="Arial"/>
                <a:cs typeface="Arial"/>
              </a:rPr>
              <a:t>SHSYNC_SIZE</a:t>
            </a:r>
            <a:r>
              <a:rPr lang="en-US" altLang="ko-KR" sz="900" spc="15" dirty="0">
                <a:latin typeface="Arial"/>
                <a:cs typeface="Arial"/>
              </a:rPr>
              <a:t> </a:t>
            </a:r>
            <a:r>
              <a:rPr lang="en-US" altLang="ko-KR" sz="900" spc="-5" dirty="0">
                <a:latin typeface="Arial"/>
                <a:cs typeface="Arial"/>
              </a:rPr>
              <a:t>is </a:t>
            </a:r>
            <a:r>
              <a:rPr lang="en-US" altLang="ko-KR" sz="900" dirty="0">
                <a:latin typeface="Arial"/>
                <a:cs typeface="Arial"/>
              </a:rPr>
              <a:t>18</a:t>
            </a:r>
            <a:r>
              <a:rPr lang="en-US" altLang="ko-KR" sz="900" spc="-5" dirty="0">
                <a:latin typeface="Arial"/>
                <a:cs typeface="Arial"/>
              </a:rPr>
              <a:t> </a:t>
            </a:r>
            <a:r>
              <a:rPr lang="en-US" altLang="ko-KR" sz="900" dirty="0">
                <a:latin typeface="Arial"/>
                <a:cs typeface="Arial"/>
              </a:rPr>
              <a:t>regardless</a:t>
            </a:r>
            <a:r>
              <a:rPr lang="en-US" altLang="ko-KR" sz="900" spc="-30" dirty="0">
                <a:latin typeface="Arial"/>
                <a:cs typeface="Arial"/>
              </a:rPr>
              <a:t> </a:t>
            </a:r>
            <a:r>
              <a:rPr lang="en-US" altLang="ko-KR" sz="900" dirty="0">
                <a:latin typeface="Arial"/>
                <a:cs typeface="Arial"/>
              </a:rPr>
              <a:t>of</a:t>
            </a:r>
            <a:r>
              <a:rPr lang="en-US" altLang="ko-KR" sz="900" spc="-10" dirty="0">
                <a:latin typeface="Arial"/>
                <a:cs typeface="Arial"/>
              </a:rPr>
              <a:t> </a:t>
            </a:r>
            <a:r>
              <a:rPr lang="en-US" altLang="ko-KR" sz="900" dirty="0">
                <a:latin typeface="Arial"/>
                <a:cs typeface="Arial"/>
              </a:rPr>
              <a:t>the</a:t>
            </a:r>
            <a:r>
              <a:rPr lang="en-US" altLang="ko-KR" sz="900" spc="-5" dirty="0">
                <a:latin typeface="Arial"/>
                <a:cs typeface="Arial"/>
              </a:rPr>
              <a:t> drive </a:t>
            </a:r>
            <a:r>
              <a:rPr lang="en-US" altLang="ko-KR" sz="900" dirty="0">
                <a:latin typeface="Arial"/>
                <a:cs typeface="Arial"/>
              </a:rPr>
              <a:t>mode.</a:t>
            </a:r>
          </a:p>
        </p:txBody>
      </p:sp>
      <p:sp>
        <p:nvSpPr>
          <p:cNvPr id="7" name="object 9">
            <a:extLst>
              <a:ext uri="{FF2B5EF4-FFF2-40B4-BE49-F238E27FC236}">
                <a16:creationId xmlns:a16="http://schemas.microsoft.com/office/drawing/2014/main" id="{D3939DF6-5056-02E4-4C48-DE843B9F5CBA}"/>
              </a:ext>
            </a:extLst>
          </p:cNvPr>
          <p:cNvSpPr txBox="1"/>
          <p:nvPr/>
        </p:nvSpPr>
        <p:spPr>
          <a:xfrm>
            <a:off x="304800" y="9067800"/>
            <a:ext cx="2078355" cy="289823"/>
          </a:xfrm>
          <a:prstGeom prst="rect">
            <a:avLst/>
          </a:prstGeom>
        </p:spPr>
        <p:txBody>
          <a:bodyPr vert="horz" wrap="square" lIns="0" tIns="12700" rIns="0" bIns="0" rtlCol="0">
            <a:spAutoFit/>
          </a:bodyPr>
          <a:lstStyle/>
          <a:p>
            <a:pPr marL="12700">
              <a:lnSpc>
                <a:spcPct val="100000"/>
              </a:lnSpc>
              <a:spcBef>
                <a:spcPts val="100"/>
              </a:spcBef>
            </a:pPr>
            <a:r>
              <a:rPr b="1" spc="-5" dirty="0">
                <a:solidFill>
                  <a:srgbClr val="FF0000"/>
                </a:solidFill>
                <a:cs typeface="Perpetua Titling MT"/>
              </a:rPr>
              <a:t>CONFIDENTIAL</a:t>
            </a:r>
            <a:endParaRPr dirty="0">
              <a:cs typeface="Perpetua Titling MT"/>
            </a:endParaRPr>
          </a:p>
        </p:txBody>
      </p:sp>
      <p:sp>
        <p:nvSpPr>
          <p:cNvPr id="25" name="object 6">
            <a:extLst>
              <a:ext uri="{FF2B5EF4-FFF2-40B4-BE49-F238E27FC236}">
                <a16:creationId xmlns:a16="http://schemas.microsoft.com/office/drawing/2014/main" id="{85CA42C9-2477-0074-6576-86E1DC28C6E7}"/>
              </a:ext>
            </a:extLst>
          </p:cNvPr>
          <p:cNvSpPr/>
          <p:nvPr/>
        </p:nvSpPr>
        <p:spPr>
          <a:xfrm>
            <a:off x="301676" y="9458756"/>
            <a:ext cx="6246495" cy="0"/>
          </a:xfrm>
          <a:custGeom>
            <a:avLst/>
            <a:gdLst/>
            <a:ahLst/>
            <a:cxnLst/>
            <a:rect l="l" t="t" r="r" b="b"/>
            <a:pathLst>
              <a:path w="6246495">
                <a:moveTo>
                  <a:pt x="0" y="0"/>
                </a:moveTo>
                <a:lnTo>
                  <a:pt x="6245999" y="0"/>
                </a:lnTo>
              </a:path>
            </a:pathLst>
          </a:custGeom>
          <a:ln w="25920">
            <a:solidFill>
              <a:srgbClr val="BFBFBF"/>
            </a:solidFill>
          </a:ln>
        </p:spPr>
        <p:txBody>
          <a:bodyPr wrap="square" lIns="0" tIns="0" rIns="0" bIns="0" rtlCol="0"/>
          <a:lstStyle/>
          <a:p>
            <a:endParaRPr/>
          </a:p>
        </p:txBody>
      </p:sp>
      <p:sp>
        <p:nvSpPr>
          <p:cNvPr id="27" name="슬라이드 번호 개체 틀 3">
            <a:hlinkClick r:id="rId4"/>
            <a:extLst>
              <a:ext uri="{FF2B5EF4-FFF2-40B4-BE49-F238E27FC236}">
                <a16:creationId xmlns:a16="http://schemas.microsoft.com/office/drawing/2014/main" id="{D3ADB71C-5B3D-1CB9-BB42-0FBA9CF02429}"/>
              </a:ext>
            </a:extLst>
          </p:cNvPr>
          <p:cNvSpPr txBox="1">
            <a:spLocks/>
          </p:cNvSpPr>
          <p:nvPr/>
        </p:nvSpPr>
        <p:spPr>
          <a:xfrm>
            <a:off x="5151602" y="9452864"/>
            <a:ext cx="1487550"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dirty="0">
                <a:solidFill>
                  <a:prstClr val="black"/>
                </a:solidFill>
                <a:latin typeface="Arial" panose="020B0604020202020204" pitchFamily="34" charset="0"/>
                <a:cs typeface="Arial" panose="020B0604020202020204" pitchFamily="34" charset="0"/>
              </a:rPr>
              <a:t>http://www.glbltech.com/</a:t>
            </a:r>
            <a:endParaRPr lang="ko-KR" altLang="en-US" dirty="0">
              <a:solidFill>
                <a:prstClr val="black"/>
              </a:solidFill>
              <a:latin typeface="Arial" panose="020B0604020202020204" pitchFamily="34" charset="0"/>
              <a:cs typeface="Arial" panose="020B0604020202020204" pitchFamily="34" charset="0"/>
            </a:endParaRPr>
          </a:p>
        </p:txBody>
      </p:sp>
      <p:sp>
        <p:nvSpPr>
          <p:cNvPr id="28" name="object 38">
            <a:extLst>
              <a:ext uri="{FF2B5EF4-FFF2-40B4-BE49-F238E27FC236}">
                <a16:creationId xmlns:a16="http://schemas.microsoft.com/office/drawing/2014/main" id="{08E14F70-5130-2CCB-F409-E3D9403D74F4}"/>
              </a:ext>
            </a:extLst>
          </p:cNvPr>
          <p:cNvSpPr txBox="1">
            <a:spLocks/>
          </p:cNvSpPr>
          <p:nvPr/>
        </p:nvSpPr>
        <p:spPr>
          <a:xfrm>
            <a:off x="3309066" y="9547988"/>
            <a:ext cx="487045" cy="139141"/>
          </a:xfrm>
          <a:prstGeom prst="rect">
            <a:avLst/>
          </a:prstGeom>
        </p:spPr>
        <p:txBody>
          <a:bodyPr vert="horz" wrap="square" lIns="0" tIns="635" rIns="0" bIns="0" rtlCol="0">
            <a:spAutoFit/>
          </a:bodyPr>
          <a:lstStyle>
            <a:defPPr>
              <a:defRPr lang="ko-KR"/>
            </a:defPPr>
            <a:lvl1pPr marL="0" algn="l" defTabSz="914400" rtl="0" eaLnBrk="1" latinLnBrk="1" hangingPunct="1">
              <a:defRPr sz="1050" b="0" i="0" kern="1200">
                <a:solidFill>
                  <a:schemeClr val="tx1"/>
                </a:solidFill>
                <a:latin typeface="Arial"/>
                <a:ea typeface="+mn-ea"/>
                <a:cs typeface="Arial"/>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marL="12700">
              <a:spcBef>
                <a:spcPts val="5"/>
              </a:spcBef>
              <a:defRPr/>
            </a:pPr>
            <a:r>
              <a:rPr lang="en-US" sz="900" dirty="0">
                <a:solidFill>
                  <a:prstClr val="black"/>
                </a:solidFill>
              </a:rPr>
              <a:t>Page</a:t>
            </a:r>
            <a:r>
              <a:rPr lang="en-US" sz="900" spc="-60" dirty="0">
                <a:solidFill>
                  <a:prstClr val="black"/>
                </a:solidFill>
              </a:rPr>
              <a:t> </a:t>
            </a:r>
            <a:fld id="{81D60167-4931-47E6-BA6A-407CBD079E47}" type="slidenum">
              <a:rPr sz="900">
                <a:solidFill>
                  <a:prstClr val="black"/>
                </a:solidFill>
              </a:rPr>
              <a:pPr marL="12700">
                <a:spcBef>
                  <a:spcPts val="5"/>
                </a:spcBef>
                <a:defRPr/>
              </a:pPr>
              <a:t>19</a:t>
            </a:fld>
            <a:endParaRPr sz="900" dirty="0">
              <a:solidFill>
                <a:prstClr val="black"/>
              </a:solidFill>
            </a:endParaRPr>
          </a:p>
        </p:txBody>
      </p:sp>
      <p:sp>
        <p:nvSpPr>
          <p:cNvPr id="29" name="슬라이드 번호 개체 틀 3">
            <a:extLst>
              <a:ext uri="{FF2B5EF4-FFF2-40B4-BE49-F238E27FC236}">
                <a16:creationId xmlns:a16="http://schemas.microsoft.com/office/drawing/2014/main" id="{2DFAF61A-0115-16BF-E065-5064BCC392CB}"/>
              </a:ext>
            </a:extLst>
          </p:cNvPr>
          <p:cNvSpPr txBox="1">
            <a:spLocks/>
          </p:cNvSpPr>
          <p:nvPr/>
        </p:nvSpPr>
        <p:spPr>
          <a:xfrm>
            <a:off x="299401" y="9520856"/>
            <a:ext cx="2060991" cy="175259"/>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lang="en-US" altLang="ko-KR" dirty="0">
                <a:solidFill>
                  <a:prstClr val="black"/>
                </a:solidFill>
                <a:latin typeface="Arial" panose="020B0604020202020204" pitchFamily="34" charset="0"/>
                <a:cs typeface="Arial" panose="020B0604020202020204" pitchFamily="34" charset="0"/>
              </a:rPr>
              <a:t>Dated 30-Nov 23  Rev. 01</a:t>
            </a:r>
            <a:endParaRPr lang="ko-KR" altLang="en-US" dirty="0">
              <a:solidFill>
                <a:prstClr val="black"/>
              </a:solidFill>
              <a:latin typeface="Arial" panose="020B0604020202020204" pitchFamily="34" charset="0"/>
              <a:cs typeface="Arial" panose="020B0604020202020204" pitchFamily="34" charset="0"/>
            </a:endParaRPr>
          </a:p>
        </p:txBody>
      </p:sp>
      <p:sp>
        <p:nvSpPr>
          <p:cNvPr id="30" name="Holder 3">
            <a:extLst>
              <a:ext uri="{FF2B5EF4-FFF2-40B4-BE49-F238E27FC236}">
                <a16:creationId xmlns:a16="http://schemas.microsoft.com/office/drawing/2014/main" id="{CD905FA4-81AC-FA2C-0564-ACBA6C263310}"/>
              </a:ext>
            </a:extLst>
          </p:cNvPr>
          <p:cNvSpPr txBox="1">
            <a:spLocks/>
          </p:cNvSpPr>
          <p:nvPr/>
        </p:nvSpPr>
        <p:spPr>
          <a:xfrm>
            <a:off x="5147476" y="203944"/>
            <a:ext cx="1447800" cy="276999"/>
          </a:xfrm>
          <a:prstGeom prst="rect">
            <a:avLst/>
          </a:prstGeom>
        </p:spPr>
        <p:txBody>
          <a:bodyPr wrap="square" lIns="0" tIns="0" rIns="0" bIns="0">
            <a:spAutoFit/>
          </a:bodyPr>
          <a:lstStyle>
            <a:lvl1pPr marL="0">
              <a:defRPr>
                <a:solidFill>
                  <a:srgbClr val="FF99FF"/>
                </a:solidFill>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defTabSz="914400" latinLnBrk="0"/>
            <a:r>
              <a:rPr lang="en-US" sz="1800" kern="0" dirty="0"/>
              <a:t>&lt;Preliminary&gt;</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p:nvPr/>
        </p:nvSpPr>
        <p:spPr>
          <a:xfrm>
            <a:off x="400913" y="301879"/>
            <a:ext cx="622935" cy="299720"/>
          </a:xfrm>
          <a:prstGeom prst="rect">
            <a:avLst/>
          </a:prstGeom>
        </p:spPr>
        <p:txBody>
          <a:bodyPr vert="horz" wrap="square" lIns="0" tIns="12700" rIns="0" bIns="0" rtlCol="0">
            <a:spAutoFit/>
          </a:bodyPr>
          <a:lstStyle/>
          <a:p>
            <a:pPr marL="12700">
              <a:lnSpc>
                <a:spcPct val="100000"/>
              </a:lnSpc>
              <a:spcBef>
                <a:spcPts val="100"/>
              </a:spcBef>
            </a:pPr>
            <a:r>
              <a:rPr sz="1800" b="1" spc="-5" dirty="0">
                <a:latin typeface="Arial"/>
                <a:cs typeface="Arial"/>
              </a:rPr>
              <a:t>CQ24</a:t>
            </a:r>
            <a:endParaRPr sz="1800" dirty="0">
              <a:latin typeface="Arial"/>
              <a:cs typeface="Arial"/>
            </a:endParaRPr>
          </a:p>
        </p:txBody>
      </p:sp>
      <p:sp>
        <p:nvSpPr>
          <p:cNvPr id="5" name="object 5"/>
          <p:cNvSpPr txBox="1"/>
          <p:nvPr/>
        </p:nvSpPr>
        <p:spPr>
          <a:xfrm>
            <a:off x="400913" y="2872648"/>
            <a:ext cx="6038542" cy="151323"/>
          </a:xfrm>
          <a:prstGeom prst="rect">
            <a:avLst/>
          </a:prstGeom>
        </p:spPr>
        <p:txBody>
          <a:bodyPr vert="horz" wrap="square" lIns="0" tIns="12700" rIns="0" bIns="0" rtlCol="0">
            <a:spAutoFit/>
          </a:bodyPr>
          <a:lstStyle/>
          <a:p>
            <a:pPr marL="12700" algn="ctr">
              <a:lnSpc>
                <a:spcPct val="100000"/>
              </a:lnSpc>
              <a:spcBef>
                <a:spcPts val="100"/>
              </a:spcBef>
            </a:pPr>
            <a:r>
              <a:rPr sz="900" b="1" spc="-5" dirty="0">
                <a:latin typeface="Arial"/>
                <a:cs typeface="Arial"/>
              </a:rPr>
              <a:t>[Figure.</a:t>
            </a:r>
            <a:r>
              <a:rPr sz="900" b="1" spc="10" dirty="0">
                <a:latin typeface="Arial"/>
                <a:cs typeface="Arial"/>
              </a:rPr>
              <a:t> </a:t>
            </a:r>
            <a:r>
              <a:rPr lang="en-US" sz="900" b="1" spc="10" dirty="0">
                <a:latin typeface="Arial"/>
                <a:cs typeface="Arial"/>
              </a:rPr>
              <a:t>13</a:t>
            </a:r>
            <a:r>
              <a:rPr sz="900" b="1" spc="-5" dirty="0">
                <a:latin typeface="Arial"/>
                <a:cs typeface="Arial"/>
              </a:rPr>
              <a:t>-1]</a:t>
            </a:r>
            <a:r>
              <a:rPr sz="900" b="1" spc="10" dirty="0">
                <a:latin typeface="Arial"/>
                <a:cs typeface="Arial"/>
              </a:rPr>
              <a:t> </a:t>
            </a:r>
            <a:r>
              <a:rPr sz="900" b="1" dirty="0">
                <a:latin typeface="Arial"/>
                <a:cs typeface="Arial"/>
              </a:rPr>
              <a:t>The</a:t>
            </a:r>
            <a:r>
              <a:rPr sz="900" b="1" spc="20" dirty="0">
                <a:latin typeface="Arial"/>
                <a:cs typeface="Arial"/>
              </a:rPr>
              <a:t> </a:t>
            </a:r>
            <a:r>
              <a:rPr sz="900" b="1" spc="-5" dirty="0">
                <a:latin typeface="Arial"/>
                <a:cs typeface="Arial"/>
              </a:rPr>
              <a:t>sequence</a:t>
            </a:r>
            <a:r>
              <a:rPr sz="900" b="1" spc="15" dirty="0">
                <a:latin typeface="Arial"/>
                <a:cs typeface="Arial"/>
              </a:rPr>
              <a:t> </a:t>
            </a:r>
            <a:r>
              <a:rPr sz="900" b="1" spc="-5" dirty="0">
                <a:latin typeface="Arial"/>
                <a:cs typeface="Arial"/>
              </a:rPr>
              <a:t>of</a:t>
            </a:r>
            <a:r>
              <a:rPr sz="900" b="1" spc="15" dirty="0">
                <a:latin typeface="Arial"/>
                <a:cs typeface="Arial"/>
              </a:rPr>
              <a:t> </a:t>
            </a:r>
            <a:r>
              <a:rPr sz="900" b="1" dirty="0">
                <a:latin typeface="Arial"/>
                <a:cs typeface="Arial"/>
              </a:rPr>
              <a:t>local dimming</a:t>
            </a:r>
            <a:r>
              <a:rPr sz="900" b="1" spc="-15" dirty="0">
                <a:latin typeface="Arial"/>
                <a:cs typeface="Arial"/>
              </a:rPr>
              <a:t> </a:t>
            </a:r>
            <a:r>
              <a:rPr sz="900" b="1" spc="-5" dirty="0">
                <a:latin typeface="Arial"/>
                <a:cs typeface="Arial"/>
              </a:rPr>
              <a:t>data</a:t>
            </a:r>
            <a:r>
              <a:rPr sz="900" b="1" spc="15" dirty="0">
                <a:latin typeface="Arial"/>
                <a:cs typeface="Arial"/>
              </a:rPr>
              <a:t> </a:t>
            </a:r>
            <a:r>
              <a:rPr sz="900" b="1" spc="-5" dirty="0">
                <a:latin typeface="Arial"/>
                <a:cs typeface="Arial"/>
              </a:rPr>
              <a:t>transfer</a:t>
            </a:r>
            <a:endParaRPr sz="900" b="1" dirty="0">
              <a:latin typeface="Arial"/>
              <a:cs typeface="Arial"/>
            </a:endParaRPr>
          </a:p>
        </p:txBody>
      </p:sp>
      <p:sp>
        <p:nvSpPr>
          <p:cNvPr id="6" name="object 6"/>
          <p:cNvSpPr txBox="1"/>
          <p:nvPr/>
        </p:nvSpPr>
        <p:spPr>
          <a:xfrm>
            <a:off x="400913" y="912368"/>
            <a:ext cx="6038542" cy="228268"/>
          </a:xfrm>
          <a:prstGeom prst="rect">
            <a:avLst/>
          </a:prstGeom>
        </p:spPr>
        <p:txBody>
          <a:bodyPr vert="horz" wrap="square" lIns="0" tIns="12700" rIns="0" bIns="0" rtlCol="0">
            <a:spAutoFit/>
          </a:bodyPr>
          <a:lstStyle/>
          <a:p>
            <a:pPr marL="12700">
              <a:lnSpc>
                <a:spcPct val="100000"/>
              </a:lnSpc>
              <a:spcBef>
                <a:spcPts val="100"/>
              </a:spcBef>
            </a:pPr>
            <a:r>
              <a:rPr sz="1400" b="1" spc="-5" dirty="0">
                <a:latin typeface="Arial"/>
                <a:cs typeface="Arial"/>
              </a:rPr>
              <a:t>The </a:t>
            </a:r>
            <a:r>
              <a:rPr sz="1400" b="1" dirty="0">
                <a:latin typeface="Arial"/>
                <a:cs typeface="Arial"/>
              </a:rPr>
              <a:t>transfer</a:t>
            </a:r>
            <a:r>
              <a:rPr sz="1400" b="1" spc="-40" dirty="0">
                <a:latin typeface="Arial"/>
                <a:cs typeface="Arial"/>
              </a:rPr>
              <a:t> </a:t>
            </a:r>
            <a:r>
              <a:rPr sz="1400" b="1" dirty="0">
                <a:latin typeface="Arial"/>
                <a:cs typeface="Arial"/>
              </a:rPr>
              <a:t>sequence</a:t>
            </a:r>
            <a:r>
              <a:rPr sz="1400" b="1" spc="-30" dirty="0">
                <a:latin typeface="Arial"/>
                <a:cs typeface="Arial"/>
              </a:rPr>
              <a:t> </a:t>
            </a:r>
            <a:r>
              <a:rPr sz="1400" b="1" dirty="0">
                <a:latin typeface="Arial"/>
                <a:cs typeface="Arial"/>
              </a:rPr>
              <a:t>of</a:t>
            </a:r>
            <a:r>
              <a:rPr sz="1400" b="1" spc="-10" dirty="0">
                <a:latin typeface="Arial"/>
                <a:cs typeface="Arial"/>
              </a:rPr>
              <a:t> </a:t>
            </a:r>
            <a:r>
              <a:rPr sz="1400" b="1" dirty="0">
                <a:latin typeface="Arial"/>
                <a:cs typeface="Arial"/>
              </a:rPr>
              <a:t>the</a:t>
            </a:r>
            <a:r>
              <a:rPr sz="1400" b="1" spc="-20" dirty="0">
                <a:latin typeface="Arial"/>
                <a:cs typeface="Arial"/>
              </a:rPr>
              <a:t> </a:t>
            </a:r>
            <a:r>
              <a:rPr sz="1400" b="1" dirty="0">
                <a:latin typeface="Arial"/>
                <a:cs typeface="Arial"/>
              </a:rPr>
              <a:t>frame</a:t>
            </a:r>
            <a:r>
              <a:rPr sz="1400" b="1" spc="-15" dirty="0">
                <a:latin typeface="Arial"/>
                <a:cs typeface="Arial"/>
              </a:rPr>
              <a:t> </a:t>
            </a:r>
            <a:r>
              <a:rPr sz="1400" b="1" dirty="0">
                <a:latin typeface="Arial"/>
                <a:cs typeface="Arial"/>
              </a:rPr>
              <a:t>data</a:t>
            </a:r>
            <a:endParaRPr sz="1400" dirty="0">
              <a:latin typeface="Arial"/>
              <a:cs typeface="Arial"/>
            </a:endParaRPr>
          </a:p>
        </p:txBody>
      </p:sp>
      <p:sp>
        <p:nvSpPr>
          <p:cNvPr id="8" name="object 8"/>
          <p:cNvSpPr txBox="1"/>
          <p:nvPr/>
        </p:nvSpPr>
        <p:spPr>
          <a:xfrm>
            <a:off x="755447" y="6747429"/>
            <a:ext cx="2654503" cy="151323"/>
          </a:xfrm>
          <a:prstGeom prst="rect">
            <a:avLst/>
          </a:prstGeom>
        </p:spPr>
        <p:txBody>
          <a:bodyPr vert="horz" wrap="square" lIns="0" tIns="12700" rIns="0" bIns="0" rtlCol="0">
            <a:spAutoFit/>
          </a:bodyPr>
          <a:lstStyle/>
          <a:p>
            <a:pPr marL="12700">
              <a:lnSpc>
                <a:spcPct val="100000"/>
              </a:lnSpc>
              <a:spcBef>
                <a:spcPts val="100"/>
              </a:spcBef>
            </a:pPr>
            <a:r>
              <a:rPr sz="900" b="1" spc="-5" dirty="0">
                <a:latin typeface="Arial"/>
                <a:cs typeface="Arial"/>
              </a:rPr>
              <a:t>[Figure.</a:t>
            </a:r>
            <a:r>
              <a:rPr sz="900" b="1" spc="5" dirty="0">
                <a:latin typeface="Arial"/>
                <a:cs typeface="Arial"/>
              </a:rPr>
              <a:t> </a:t>
            </a:r>
            <a:r>
              <a:rPr lang="en-US" sz="900" b="1" spc="5" dirty="0">
                <a:latin typeface="Arial"/>
                <a:cs typeface="Arial"/>
              </a:rPr>
              <a:t>13</a:t>
            </a:r>
            <a:r>
              <a:rPr sz="900" b="1" spc="-5" dirty="0">
                <a:latin typeface="Arial"/>
                <a:cs typeface="Arial"/>
              </a:rPr>
              <a:t>-2]</a:t>
            </a:r>
            <a:r>
              <a:rPr sz="900" b="1" spc="10" dirty="0">
                <a:latin typeface="Arial"/>
                <a:cs typeface="Arial"/>
              </a:rPr>
              <a:t> </a:t>
            </a:r>
            <a:r>
              <a:rPr sz="900" b="1" dirty="0">
                <a:latin typeface="Arial"/>
                <a:cs typeface="Arial"/>
              </a:rPr>
              <a:t>The</a:t>
            </a:r>
            <a:r>
              <a:rPr sz="900" b="1" spc="15" dirty="0">
                <a:latin typeface="Arial"/>
                <a:cs typeface="Arial"/>
              </a:rPr>
              <a:t> </a:t>
            </a:r>
            <a:r>
              <a:rPr sz="900" b="1" spc="-5" dirty="0">
                <a:latin typeface="Arial"/>
                <a:cs typeface="Arial"/>
              </a:rPr>
              <a:t>transfer order</a:t>
            </a:r>
            <a:r>
              <a:rPr sz="900" b="1" spc="10" dirty="0">
                <a:latin typeface="Arial"/>
                <a:cs typeface="Arial"/>
              </a:rPr>
              <a:t> </a:t>
            </a:r>
            <a:r>
              <a:rPr sz="900" b="1" dirty="0">
                <a:latin typeface="Arial"/>
                <a:cs typeface="Arial"/>
              </a:rPr>
              <a:t>in</a:t>
            </a:r>
            <a:r>
              <a:rPr sz="900" b="1" spc="5" dirty="0">
                <a:latin typeface="Arial"/>
                <a:cs typeface="Arial"/>
              </a:rPr>
              <a:t> </a:t>
            </a:r>
            <a:r>
              <a:rPr sz="900" b="1" dirty="0">
                <a:latin typeface="Arial"/>
                <a:cs typeface="Arial"/>
              </a:rPr>
              <a:t>single</a:t>
            </a:r>
            <a:r>
              <a:rPr sz="900" b="1" spc="5" dirty="0">
                <a:latin typeface="Arial"/>
                <a:cs typeface="Arial"/>
              </a:rPr>
              <a:t> </a:t>
            </a:r>
            <a:r>
              <a:rPr sz="900" b="1" spc="-5" dirty="0">
                <a:latin typeface="Arial"/>
                <a:cs typeface="Arial"/>
              </a:rPr>
              <a:t>drive</a:t>
            </a:r>
            <a:endParaRPr sz="900" b="1" dirty="0">
              <a:latin typeface="Arial"/>
              <a:cs typeface="Arial"/>
            </a:endParaRPr>
          </a:p>
        </p:txBody>
      </p:sp>
      <p:sp>
        <p:nvSpPr>
          <p:cNvPr id="9" name="object 9"/>
          <p:cNvSpPr txBox="1"/>
          <p:nvPr/>
        </p:nvSpPr>
        <p:spPr>
          <a:xfrm>
            <a:off x="3781425" y="6747429"/>
            <a:ext cx="2628900" cy="151323"/>
          </a:xfrm>
          <a:prstGeom prst="rect">
            <a:avLst/>
          </a:prstGeom>
        </p:spPr>
        <p:txBody>
          <a:bodyPr vert="horz" wrap="square" lIns="0" tIns="12700" rIns="0" bIns="0" rtlCol="0">
            <a:spAutoFit/>
          </a:bodyPr>
          <a:lstStyle/>
          <a:p>
            <a:pPr marL="12700">
              <a:lnSpc>
                <a:spcPct val="100000"/>
              </a:lnSpc>
              <a:spcBef>
                <a:spcPts val="100"/>
              </a:spcBef>
            </a:pPr>
            <a:r>
              <a:rPr sz="900" b="1" spc="-5" dirty="0">
                <a:latin typeface="Arial"/>
                <a:cs typeface="Arial"/>
              </a:rPr>
              <a:t>[Figure.</a:t>
            </a:r>
            <a:r>
              <a:rPr sz="900" b="1" spc="5" dirty="0">
                <a:latin typeface="Arial"/>
                <a:cs typeface="Arial"/>
              </a:rPr>
              <a:t> </a:t>
            </a:r>
            <a:r>
              <a:rPr lang="en-US" sz="900" b="1" spc="5" dirty="0">
                <a:latin typeface="Arial"/>
                <a:cs typeface="Arial"/>
              </a:rPr>
              <a:t>13</a:t>
            </a:r>
            <a:r>
              <a:rPr sz="900" b="1" spc="-5" dirty="0">
                <a:latin typeface="Arial"/>
                <a:cs typeface="Arial"/>
              </a:rPr>
              <a:t>-3]</a:t>
            </a:r>
            <a:r>
              <a:rPr sz="900" b="1" spc="10" dirty="0">
                <a:latin typeface="Arial"/>
                <a:cs typeface="Arial"/>
              </a:rPr>
              <a:t> </a:t>
            </a:r>
            <a:r>
              <a:rPr sz="900" b="1" dirty="0">
                <a:latin typeface="Arial"/>
                <a:cs typeface="Arial"/>
              </a:rPr>
              <a:t>The</a:t>
            </a:r>
            <a:r>
              <a:rPr sz="900" b="1" spc="15" dirty="0">
                <a:latin typeface="Arial"/>
                <a:cs typeface="Arial"/>
              </a:rPr>
              <a:t> </a:t>
            </a:r>
            <a:r>
              <a:rPr sz="900" b="1" spc="-5" dirty="0">
                <a:latin typeface="Arial"/>
                <a:cs typeface="Arial"/>
              </a:rPr>
              <a:t>transfer order</a:t>
            </a:r>
            <a:r>
              <a:rPr sz="900" b="1" spc="15" dirty="0">
                <a:latin typeface="Arial"/>
                <a:cs typeface="Arial"/>
              </a:rPr>
              <a:t> </a:t>
            </a:r>
            <a:r>
              <a:rPr sz="900" b="1" dirty="0">
                <a:latin typeface="Arial"/>
                <a:cs typeface="Arial"/>
              </a:rPr>
              <a:t>in</a:t>
            </a:r>
            <a:r>
              <a:rPr sz="900" b="1" spc="5" dirty="0">
                <a:latin typeface="Arial"/>
                <a:cs typeface="Arial"/>
              </a:rPr>
              <a:t> </a:t>
            </a:r>
            <a:r>
              <a:rPr sz="900" b="1" spc="-5" dirty="0">
                <a:latin typeface="Arial"/>
                <a:cs typeface="Arial"/>
              </a:rPr>
              <a:t>dual</a:t>
            </a:r>
            <a:r>
              <a:rPr sz="900" b="1" spc="20" dirty="0">
                <a:latin typeface="Arial"/>
                <a:cs typeface="Arial"/>
              </a:rPr>
              <a:t> </a:t>
            </a:r>
            <a:r>
              <a:rPr sz="900" b="1" spc="-5" dirty="0">
                <a:latin typeface="Arial"/>
                <a:cs typeface="Arial"/>
              </a:rPr>
              <a:t>drive</a:t>
            </a:r>
            <a:endParaRPr sz="900" b="1" dirty="0">
              <a:latin typeface="Arial"/>
              <a:cs typeface="Arial"/>
            </a:endParaRPr>
          </a:p>
        </p:txBody>
      </p:sp>
      <p:sp>
        <p:nvSpPr>
          <p:cNvPr id="10" name="object 10"/>
          <p:cNvSpPr txBox="1"/>
          <p:nvPr/>
        </p:nvSpPr>
        <p:spPr>
          <a:xfrm>
            <a:off x="400912" y="3589826"/>
            <a:ext cx="6038542" cy="228909"/>
          </a:xfrm>
          <a:prstGeom prst="rect">
            <a:avLst/>
          </a:prstGeom>
        </p:spPr>
        <p:txBody>
          <a:bodyPr vert="horz" wrap="square" lIns="0" tIns="13335" rIns="0" bIns="0" rtlCol="0">
            <a:spAutoFit/>
          </a:bodyPr>
          <a:lstStyle/>
          <a:p>
            <a:pPr marL="12700">
              <a:lnSpc>
                <a:spcPct val="100000"/>
              </a:lnSpc>
              <a:spcBef>
                <a:spcPts val="105"/>
              </a:spcBef>
            </a:pPr>
            <a:r>
              <a:rPr sz="1400" b="1" spc="-5" dirty="0">
                <a:latin typeface="Arial"/>
                <a:cs typeface="Arial"/>
              </a:rPr>
              <a:t>The</a:t>
            </a:r>
            <a:r>
              <a:rPr sz="1400" b="1" spc="-10" dirty="0">
                <a:latin typeface="Arial"/>
                <a:cs typeface="Arial"/>
              </a:rPr>
              <a:t> </a:t>
            </a:r>
            <a:r>
              <a:rPr sz="1400" b="1" dirty="0">
                <a:latin typeface="Arial"/>
                <a:cs typeface="Arial"/>
              </a:rPr>
              <a:t>transfer</a:t>
            </a:r>
            <a:r>
              <a:rPr sz="1400" b="1" spc="-40" dirty="0">
                <a:latin typeface="Arial"/>
                <a:cs typeface="Arial"/>
              </a:rPr>
              <a:t> </a:t>
            </a:r>
            <a:r>
              <a:rPr sz="1400" b="1" spc="-5" dirty="0">
                <a:latin typeface="Arial"/>
                <a:cs typeface="Arial"/>
              </a:rPr>
              <a:t>order</a:t>
            </a:r>
            <a:r>
              <a:rPr sz="1400" b="1" spc="-15" dirty="0">
                <a:latin typeface="Arial"/>
                <a:cs typeface="Arial"/>
              </a:rPr>
              <a:t> </a:t>
            </a:r>
            <a:r>
              <a:rPr sz="1400" b="1" spc="-5" dirty="0">
                <a:latin typeface="Arial"/>
                <a:cs typeface="Arial"/>
              </a:rPr>
              <a:t>of local</a:t>
            </a:r>
            <a:r>
              <a:rPr sz="1400" b="1" spc="-30" dirty="0">
                <a:latin typeface="Arial"/>
                <a:cs typeface="Arial"/>
              </a:rPr>
              <a:t> </a:t>
            </a:r>
            <a:r>
              <a:rPr sz="1400" b="1" spc="-5" dirty="0">
                <a:latin typeface="Arial"/>
                <a:cs typeface="Arial"/>
              </a:rPr>
              <a:t>dimming</a:t>
            </a:r>
            <a:r>
              <a:rPr sz="1400" b="1" spc="-25" dirty="0">
                <a:latin typeface="Arial"/>
                <a:cs typeface="Arial"/>
              </a:rPr>
              <a:t> </a:t>
            </a:r>
            <a:r>
              <a:rPr sz="1400" b="1" spc="-5" dirty="0">
                <a:latin typeface="Arial"/>
                <a:cs typeface="Arial"/>
              </a:rPr>
              <a:t>data</a:t>
            </a:r>
            <a:endParaRPr sz="1400" dirty="0">
              <a:latin typeface="Arial"/>
              <a:cs typeface="Arial"/>
            </a:endParaRPr>
          </a:p>
        </p:txBody>
      </p:sp>
      <p:grpSp>
        <p:nvGrpSpPr>
          <p:cNvPr id="12" name="object 12"/>
          <p:cNvGrpSpPr/>
          <p:nvPr/>
        </p:nvGrpSpPr>
        <p:grpSpPr>
          <a:xfrm>
            <a:off x="751720" y="5197343"/>
            <a:ext cx="2435225" cy="1163955"/>
            <a:chOff x="714254" y="5427167"/>
            <a:chExt cx="2435225" cy="1163955"/>
          </a:xfrm>
        </p:grpSpPr>
        <p:pic>
          <p:nvPicPr>
            <p:cNvPr id="13" name="object 13"/>
            <p:cNvPicPr/>
            <p:nvPr/>
          </p:nvPicPr>
          <p:blipFill>
            <a:blip r:embed="rId2" cstate="print"/>
            <a:stretch>
              <a:fillRect/>
            </a:stretch>
          </p:blipFill>
          <p:spPr>
            <a:xfrm>
              <a:off x="714254" y="5427167"/>
              <a:ext cx="2279557" cy="1163826"/>
            </a:xfrm>
            <a:prstGeom prst="rect">
              <a:avLst/>
            </a:prstGeom>
          </p:spPr>
        </p:pic>
        <p:sp>
          <p:nvSpPr>
            <p:cNvPr id="14" name="object 14"/>
            <p:cNvSpPr/>
            <p:nvPr/>
          </p:nvSpPr>
          <p:spPr>
            <a:xfrm>
              <a:off x="966216" y="5685027"/>
              <a:ext cx="2183130" cy="205104"/>
            </a:xfrm>
            <a:custGeom>
              <a:avLst/>
              <a:gdLst/>
              <a:ahLst/>
              <a:cxnLst/>
              <a:rect l="l" t="t" r="r" b="b"/>
              <a:pathLst>
                <a:path w="2183130" h="205104">
                  <a:moveTo>
                    <a:pt x="2181479" y="179324"/>
                  </a:moveTo>
                  <a:lnTo>
                    <a:pt x="2168779" y="172974"/>
                  </a:lnTo>
                  <a:lnTo>
                    <a:pt x="2130679" y="153924"/>
                  </a:lnTo>
                  <a:lnTo>
                    <a:pt x="2130679" y="172974"/>
                  </a:lnTo>
                  <a:lnTo>
                    <a:pt x="0" y="172974"/>
                  </a:lnTo>
                  <a:lnTo>
                    <a:pt x="0" y="185674"/>
                  </a:lnTo>
                  <a:lnTo>
                    <a:pt x="2130679" y="185674"/>
                  </a:lnTo>
                  <a:lnTo>
                    <a:pt x="2130679" y="204724"/>
                  </a:lnTo>
                  <a:lnTo>
                    <a:pt x="2168779" y="185674"/>
                  </a:lnTo>
                  <a:lnTo>
                    <a:pt x="2181479" y="179324"/>
                  </a:lnTo>
                  <a:close/>
                </a:path>
                <a:path w="2183130" h="205104">
                  <a:moveTo>
                    <a:pt x="2183003" y="25400"/>
                  </a:moveTo>
                  <a:lnTo>
                    <a:pt x="2170303" y="19050"/>
                  </a:lnTo>
                  <a:lnTo>
                    <a:pt x="2132203" y="0"/>
                  </a:lnTo>
                  <a:lnTo>
                    <a:pt x="2132203" y="19050"/>
                  </a:lnTo>
                  <a:lnTo>
                    <a:pt x="1524" y="19050"/>
                  </a:lnTo>
                  <a:lnTo>
                    <a:pt x="1524" y="31750"/>
                  </a:lnTo>
                  <a:lnTo>
                    <a:pt x="2132203" y="31750"/>
                  </a:lnTo>
                  <a:lnTo>
                    <a:pt x="2132203" y="50800"/>
                  </a:lnTo>
                  <a:lnTo>
                    <a:pt x="2170303" y="31750"/>
                  </a:lnTo>
                  <a:lnTo>
                    <a:pt x="2183003" y="25400"/>
                  </a:lnTo>
                  <a:close/>
                </a:path>
              </a:pathLst>
            </a:custGeom>
            <a:solidFill>
              <a:srgbClr val="7E7E7E"/>
            </a:solidFill>
          </p:spPr>
          <p:txBody>
            <a:bodyPr wrap="square" lIns="0" tIns="0" rIns="0" bIns="0" rtlCol="0"/>
            <a:lstStyle/>
            <a:p>
              <a:endParaRPr dirty="0"/>
            </a:p>
          </p:txBody>
        </p:sp>
      </p:grpSp>
      <p:sp>
        <p:nvSpPr>
          <p:cNvPr id="15" name="object 15"/>
          <p:cNvSpPr txBox="1"/>
          <p:nvPr/>
        </p:nvSpPr>
        <p:spPr>
          <a:xfrm>
            <a:off x="3172080" y="5366430"/>
            <a:ext cx="101600" cy="292100"/>
          </a:xfrm>
          <a:prstGeom prst="rect">
            <a:avLst/>
          </a:prstGeom>
        </p:spPr>
        <p:txBody>
          <a:bodyPr vert="horz" wrap="square" lIns="0" tIns="12700" rIns="0" bIns="0" rtlCol="0">
            <a:spAutoFit/>
          </a:bodyPr>
          <a:lstStyle/>
          <a:p>
            <a:pPr marL="12700">
              <a:lnSpc>
                <a:spcPct val="100000"/>
              </a:lnSpc>
              <a:spcBef>
                <a:spcPts val="100"/>
              </a:spcBef>
            </a:pPr>
            <a:r>
              <a:rPr sz="600" dirty="0">
                <a:latin typeface="맑은 고딕"/>
                <a:cs typeface="맑은 고딕"/>
              </a:rPr>
              <a:t>①</a:t>
            </a:r>
          </a:p>
          <a:p>
            <a:pPr marL="12700">
              <a:lnSpc>
                <a:spcPct val="100000"/>
              </a:lnSpc>
              <a:spcBef>
                <a:spcPts val="660"/>
              </a:spcBef>
            </a:pPr>
            <a:r>
              <a:rPr sz="600" dirty="0">
                <a:latin typeface="맑은 고딕"/>
                <a:cs typeface="맑은 고딕"/>
              </a:rPr>
              <a:t>②</a:t>
            </a:r>
          </a:p>
        </p:txBody>
      </p:sp>
      <p:grpSp>
        <p:nvGrpSpPr>
          <p:cNvPr id="16" name="object 16"/>
          <p:cNvGrpSpPr/>
          <p:nvPr/>
        </p:nvGrpSpPr>
        <p:grpSpPr>
          <a:xfrm>
            <a:off x="3925555" y="5215801"/>
            <a:ext cx="1946275" cy="1311275"/>
            <a:chOff x="3888089" y="5445625"/>
            <a:chExt cx="1946275" cy="1311275"/>
          </a:xfrm>
        </p:grpSpPr>
        <p:pic>
          <p:nvPicPr>
            <p:cNvPr id="17" name="object 17"/>
            <p:cNvPicPr/>
            <p:nvPr/>
          </p:nvPicPr>
          <p:blipFill>
            <a:blip r:embed="rId3" cstate="print"/>
            <a:stretch>
              <a:fillRect/>
            </a:stretch>
          </p:blipFill>
          <p:spPr>
            <a:xfrm>
              <a:off x="3888089" y="5445625"/>
              <a:ext cx="1829206" cy="1311032"/>
            </a:xfrm>
            <a:prstGeom prst="rect">
              <a:avLst/>
            </a:prstGeom>
          </p:spPr>
        </p:pic>
        <p:sp>
          <p:nvSpPr>
            <p:cNvPr id="18" name="object 18"/>
            <p:cNvSpPr/>
            <p:nvPr/>
          </p:nvSpPr>
          <p:spPr>
            <a:xfrm>
              <a:off x="4171188" y="5671311"/>
              <a:ext cx="1663064" cy="886460"/>
            </a:xfrm>
            <a:custGeom>
              <a:avLst/>
              <a:gdLst/>
              <a:ahLst/>
              <a:cxnLst/>
              <a:rect l="l" t="t" r="r" b="b"/>
              <a:pathLst>
                <a:path w="1663064" h="886459">
                  <a:moveTo>
                    <a:pt x="1654937" y="717296"/>
                  </a:moveTo>
                  <a:lnTo>
                    <a:pt x="1642237" y="710946"/>
                  </a:lnTo>
                  <a:lnTo>
                    <a:pt x="1604137" y="691896"/>
                  </a:lnTo>
                  <a:lnTo>
                    <a:pt x="1604137" y="710946"/>
                  </a:lnTo>
                  <a:lnTo>
                    <a:pt x="0" y="710946"/>
                  </a:lnTo>
                  <a:lnTo>
                    <a:pt x="0" y="723646"/>
                  </a:lnTo>
                  <a:lnTo>
                    <a:pt x="1604137" y="723646"/>
                  </a:lnTo>
                  <a:lnTo>
                    <a:pt x="1604137" y="742696"/>
                  </a:lnTo>
                  <a:lnTo>
                    <a:pt x="1642237" y="723646"/>
                  </a:lnTo>
                  <a:lnTo>
                    <a:pt x="1654937" y="717296"/>
                  </a:lnTo>
                  <a:close/>
                </a:path>
                <a:path w="1663064" h="886459">
                  <a:moveTo>
                    <a:pt x="1657985" y="860552"/>
                  </a:moveTo>
                  <a:lnTo>
                    <a:pt x="1645285" y="854202"/>
                  </a:lnTo>
                  <a:lnTo>
                    <a:pt x="1607185" y="835152"/>
                  </a:lnTo>
                  <a:lnTo>
                    <a:pt x="1607185" y="854202"/>
                  </a:lnTo>
                  <a:lnTo>
                    <a:pt x="3048" y="854202"/>
                  </a:lnTo>
                  <a:lnTo>
                    <a:pt x="3048" y="866902"/>
                  </a:lnTo>
                  <a:lnTo>
                    <a:pt x="1607185" y="866902"/>
                  </a:lnTo>
                  <a:lnTo>
                    <a:pt x="1607185" y="885952"/>
                  </a:lnTo>
                  <a:lnTo>
                    <a:pt x="1645285" y="866902"/>
                  </a:lnTo>
                  <a:lnTo>
                    <a:pt x="1657985" y="860552"/>
                  </a:lnTo>
                  <a:close/>
                </a:path>
                <a:path w="1663064" h="886459">
                  <a:moveTo>
                    <a:pt x="1661033" y="25400"/>
                  </a:moveTo>
                  <a:lnTo>
                    <a:pt x="1648333" y="19050"/>
                  </a:lnTo>
                  <a:lnTo>
                    <a:pt x="1610233" y="0"/>
                  </a:lnTo>
                  <a:lnTo>
                    <a:pt x="1610233" y="19050"/>
                  </a:lnTo>
                  <a:lnTo>
                    <a:pt x="6096" y="19050"/>
                  </a:lnTo>
                  <a:lnTo>
                    <a:pt x="6096" y="31750"/>
                  </a:lnTo>
                  <a:lnTo>
                    <a:pt x="1610233" y="31750"/>
                  </a:lnTo>
                  <a:lnTo>
                    <a:pt x="1610233" y="50800"/>
                  </a:lnTo>
                  <a:lnTo>
                    <a:pt x="1648333" y="31750"/>
                  </a:lnTo>
                  <a:lnTo>
                    <a:pt x="1661033" y="25400"/>
                  </a:lnTo>
                  <a:close/>
                </a:path>
                <a:path w="1663064" h="886459">
                  <a:moveTo>
                    <a:pt x="1662557" y="167132"/>
                  </a:moveTo>
                  <a:lnTo>
                    <a:pt x="1649857" y="160782"/>
                  </a:lnTo>
                  <a:lnTo>
                    <a:pt x="1611757" y="141732"/>
                  </a:lnTo>
                  <a:lnTo>
                    <a:pt x="1611757" y="160782"/>
                  </a:lnTo>
                  <a:lnTo>
                    <a:pt x="7620" y="160782"/>
                  </a:lnTo>
                  <a:lnTo>
                    <a:pt x="7620" y="173482"/>
                  </a:lnTo>
                  <a:lnTo>
                    <a:pt x="1611757" y="173482"/>
                  </a:lnTo>
                  <a:lnTo>
                    <a:pt x="1611757" y="192532"/>
                  </a:lnTo>
                  <a:lnTo>
                    <a:pt x="1649857" y="173482"/>
                  </a:lnTo>
                  <a:lnTo>
                    <a:pt x="1662557" y="167132"/>
                  </a:lnTo>
                  <a:close/>
                </a:path>
              </a:pathLst>
            </a:custGeom>
            <a:solidFill>
              <a:srgbClr val="7E7E7E"/>
            </a:solidFill>
          </p:spPr>
          <p:txBody>
            <a:bodyPr wrap="square" lIns="0" tIns="0" rIns="0" bIns="0" rtlCol="0"/>
            <a:lstStyle/>
            <a:p>
              <a:endParaRPr dirty="0"/>
            </a:p>
          </p:txBody>
        </p:sp>
      </p:grpSp>
      <p:sp>
        <p:nvSpPr>
          <p:cNvPr id="19" name="object 19"/>
          <p:cNvSpPr txBox="1"/>
          <p:nvPr/>
        </p:nvSpPr>
        <p:spPr>
          <a:xfrm>
            <a:off x="5851271" y="5375829"/>
            <a:ext cx="104775" cy="266700"/>
          </a:xfrm>
          <a:prstGeom prst="rect">
            <a:avLst/>
          </a:prstGeom>
        </p:spPr>
        <p:txBody>
          <a:bodyPr vert="horz" wrap="square" lIns="0" tIns="12700" rIns="0" bIns="0" rtlCol="0">
            <a:spAutoFit/>
          </a:bodyPr>
          <a:lstStyle/>
          <a:p>
            <a:pPr marL="15240">
              <a:lnSpc>
                <a:spcPct val="100000"/>
              </a:lnSpc>
              <a:spcBef>
                <a:spcPts val="100"/>
              </a:spcBef>
            </a:pPr>
            <a:r>
              <a:rPr sz="600" dirty="0">
                <a:latin typeface="맑은 고딕"/>
                <a:cs typeface="맑은 고딕"/>
              </a:rPr>
              <a:t>①</a:t>
            </a:r>
          </a:p>
          <a:p>
            <a:pPr marL="12700">
              <a:lnSpc>
                <a:spcPct val="100000"/>
              </a:lnSpc>
              <a:spcBef>
                <a:spcPts val="455"/>
              </a:spcBef>
            </a:pPr>
            <a:r>
              <a:rPr sz="600" dirty="0">
                <a:latin typeface="맑은 고딕"/>
                <a:cs typeface="맑은 고딕"/>
              </a:rPr>
              <a:t>③</a:t>
            </a:r>
          </a:p>
        </p:txBody>
      </p:sp>
      <p:sp>
        <p:nvSpPr>
          <p:cNvPr id="20" name="object 20"/>
          <p:cNvSpPr txBox="1"/>
          <p:nvPr/>
        </p:nvSpPr>
        <p:spPr>
          <a:xfrm>
            <a:off x="5840095" y="6017814"/>
            <a:ext cx="105410" cy="303530"/>
          </a:xfrm>
          <a:prstGeom prst="rect">
            <a:avLst/>
          </a:prstGeom>
        </p:spPr>
        <p:txBody>
          <a:bodyPr vert="horz" wrap="square" lIns="0" tIns="60325" rIns="0" bIns="0" rtlCol="0">
            <a:spAutoFit/>
          </a:bodyPr>
          <a:lstStyle/>
          <a:p>
            <a:pPr marL="12700">
              <a:lnSpc>
                <a:spcPct val="100000"/>
              </a:lnSpc>
              <a:spcBef>
                <a:spcPts val="475"/>
              </a:spcBef>
            </a:pPr>
            <a:r>
              <a:rPr sz="600" dirty="0">
                <a:latin typeface="맑은 고딕"/>
                <a:cs typeface="맑은 고딕"/>
              </a:rPr>
              <a:t>②</a:t>
            </a:r>
          </a:p>
          <a:p>
            <a:pPr marL="15875">
              <a:lnSpc>
                <a:spcPct val="100000"/>
              </a:lnSpc>
              <a:spcBef>
                <a:spcPts val="370"/>
              </a:spcBef>
            </a:pPr>
            <a:r>
              <a:rPr sz="600" dirty="0">
                <a:latin typeface="맑은 고딕"/>
                <a:cs typeface="맑은 고딕"/>
              </a:rPr>
              <a:t>④</a:t>
            </a:r>
          </a:p>
        </p:txBody>
      </p:sp>
      <p:pic>
        <p:nvPicPr>
          <p:cNvPr id="21" name="object 21"/>
          <p:cNvPicPr/>
          <p:nvPr/>
        </p:nvPicPr>
        <p:blipFill>
          <a:blip r:embed="rId4" cstate="print"/>
          <a:stretch>
            <a:fillRect/>
          </a:stretch>
        </p:blipFill>
        <p:spPr>
          <a:xfrm>
            <a:off x="400913" y="1936973"/>
            <a:ext cx="6038542" cy="636916"/>
          </a:xfrm>
          <a:prstGeom prst="rect">
            <a:avLst/>
          </a:prstGeom>
        </p:spPr>
      </p:pic>
      <p:sp>
        <p:nvSpPr>
          <p:cNvPr id="25" name="TextBox 24">
            <a:extLst>
              <a:ext uri="{FF2B5EF4-FFF2-40B4-BE49-F238E27FC236}">
                <a16:creationId xmlns:a16="http://schemas.microsoft.com/office/drawing/2014/main" id="{5A51E4BC-66E1-AB50-9335-542C0E8FFCA7}"/>
              </a:ext>
            </a:extLst>
          </p:cNvPr>
          <p:cNvSpPr txBox="1"/>
          <p:nvPr/>
        </p:nvSpPr>
        <p:spPr>
          <a:xfrm>
            <a:off x="400913" y="1307898"/>
            <a:ext cx="6001096" cy="276999"/>
          </a:xfrm>
          <a:prstGeom prst="rect">
            <a:avLst/>
          </a:prstGeom>
          <a:noFill/>
        </p:spPr>
        <p:txBody>
          <a:bodyPr wrap="square" lIns="0" tIns="0" rIns="0" bIns="0" rtlCol="0">
            <a:spAutoFit/>
          </a:bodyPr>
          <a:lstStyle/>
          <a:p>
            <a:pPr marL="12700" marR="5080" algn="just">
              <a:lnSpc>
                <a:spcPct val="100000"/>
              </a:lnSpc>
              <a:spcBef>
                <a:spcPts val="100"/>
              </a:spcBef>
            </a:pPr>
            <a:r>
              <a:rPr lang="en-US" altLang="ko-KR" sz="900" dirty="0">
                <a:latin typeface="Arial"/>
                <a:cs typeface="Arial"/>
              </a:rPr>
              <a:t>The local dimming data of one frame, the LD_I and the </a:t>
            </a:r>
            <a:r>
              <a:rPr lang="en-US" altLang="ko-KR" sz="900" spc="-5" dirty="0">
                <a:latin typeface="Arial"/>
                <a:cs typeface="Arial"/>
              </a:rPr>
              <a:t>DUTY, </a:t>
            </a:r>
            <a:r>
              <a:rPr lang="en-US" altLang="ko-KR" sz="900" dirty="0">
                <a:latin typeface="Arial"/>
                <a:cs typeface="Arial"/>
              </a:rPr>
              <a:t>should be transferred before the </a:t>
            </a:r>
            <a:r>
              <a:rPr lang="en-US" altLang="ko-KR" sz="900" spc="-5" dirty="0">
                <a:latin typeface="Arial"/>
                <a:cs typeface="Arial"/>
              </a:rPr>
              <a:t>next </a:t>
            </a:r>
            <a:r>
              <a:rPr lang="en-US" altLang="ko-KR" sz="900" dirty="0">
                <a:latin typeface="Arial"/>
                <a:cs typeface="Arial"/>
              </a:rPr>
              <a:t>frame starts. </a:t>
            </a:r>
            <a:r>
              <a:rPr lang="en-US" altLang="ko-KR" sz="900" spc="-235" dirty="0">
                <a:latin typeface="Arial"/>
                <a:cs typeface="Arial"/>
              </a:rPr>
              <a:t> </a:t>
            </a:r>
            <a:r>
              <a:rPr lang="en-US" altLang="ko-KR" sz="900" spc="-5" dirty="0">
                <a:latin typeface="Arial"/>
                <a:cs typeface="Arial"/>
              </a:rPr>
              <a:t>The</a:t>
            </a:r>
            <a:r>
              <a:rPr lang="en-US" altLang="ko-KR" sz="900" spc="5" dirty="0">
                <a:latin typeface="Arial"/>
                <a:cs typeface="Arial"/>
              </a:rPr>
              <a:t> </a:t>
            </a:r>
            <a:r>
              <a:rPr lang="en-US" altLang="ko-KR" sz="900" dirty="0">
                <a:latin typeface="Arial"/>
                <a:cs typeface="Arial"/>
              </a:rPr>
              <a:t>below</a:t>
            </a:r>
            <a:r>
              <a:rPr lang="en-US" altLang="ko-KR" sz="900" spc="-15" dirty="0">
                <a:latin typeface="Arial"/>
                <a:cs typeface="Arial"/>
              </a:rPr>
              <a:t> </a:t>
            </a:r>
            <a:r>
              <a:rPr lang="en-US" altLang="ko-KR" sz="900" spc="-5" dirty="0">
                <a:latin typeface="Arial"/>
                <a:cs typeface="Arial"/>
              </a:rPr>
              <a:t>shows </a:t>
            </a:r>
            <a:r>
              <a:rPr lang="en-US" altLang="ko-KR" sz="900" dirty="0">
                <a:latin typeface="Arial"/>
                <a:cs typeface="Arial"/>
              </a:rPr>
              <a:t>the</a:t>
            </a:r>
            <a:r>
              <a:rPr lang="en-US" altLang="ko-KR" sz="900" spc="-5" dirty="0">
                <a:latin typeface="Arial"/>
                <a:cs typeface="Arial"/>
              </a:rPr>
              <a:t> </a:t>
            </a:r>
            <a:r>
              <a:rPr lang="en-US" altLang="ko-KR" sz="900" dirty="0">
                <a:latin typeface="Arial"/>
                <a:cs typeface="Arial"/>
              </a:rPr>
              <a:t>sequence</a:t>
            </a:r>
            <a:r>
              <a:rPr lang="en-US" altLang="ko-KR" sz="900" spc="-30" dirty="0">
                <a:latin typeface="Arial"/>
                <a:cs typeface="Arial"/>
              </a:rPr>
              <a:t> </a:t>
            </a:r>
            <a:r>
              <a:rPr lang="en-US" altLang="ko-KR" sz="900" dirty="0">
                <a:latin typeface="Arial"/>
                <a:cs typeface="Arial"/>
              </a:rPr>
              <a:t>of</a:t>
            </a:r>
            <a:r>
              <a:rPr lang="en-US" altLang="ko-KR" sz="900" spc="-10" dirty="0">
                <a:latin typeface="Arial"/>
                <a:cs typeface="Arial"/>
              </a:rPr>
              <a:t> </a:t>
            </a:r>
            <a:r>
              <a:rPr lang="en-US" altLang="ko-KR" sz="900" dirty="0">
                <a:latin typeface="Arial"/>
                <a:cs typeface="Arial"/>
              </a:rPr>
              <a:t>transfer. </a:t>
            </a:r>
            <a:r>
              <a:rPr lang="en-US" altLang="ko-KR" sz="900" spc="-5" dirty="0">
                <a:latin typeface="Arial"/>
                <a:cs typeface="Arial"/>
              </a:rPr>
              <a:t>The</a:t>
            </a:r>
            <a:r>
              <a:rPr lang="en-US" altLang="ko-KR" sz="900" spc="5" dirty="0">
                <a:latin typeface="Arial"/>
                <a:cs typeface="Arial"/>
              </a:rPr>
              <a:t> </a:t>
            </a:r>
            <a:r>
              <a:rPr lang="en-US" altLang="ko-KR" sz="900" dirty="0">
                <a:latin typeface="Arial"/>
                <a:cs typeface="Arial"/>
              </a:rPr>
              <a:t>order</a:t>
            </a:r>
            <a:r>
              <a:rPr lang="en-US" altLang="ko-KR" sz="900" spc="-5" dirty="0">
                <a:latin typeface="Arial"/>
                <a:cs typeface="Arial"/>
              </a:rPr>
              <a:t> </a:t>
            </a:r>
            <a:r>
              <a:rPr lang="en-US" altLang="ko-KR" sz="900" dirty="0">
                <a:latin typeface="Arial"/>
                <a:cs typeface="Arial"/>
              </a:rPr>
              <a:t>of</a:t>
            </a:r>
            <a:r>
              <a:rPr lang="en-US" altLang="ko-KR" sz="900" spc="-5" dirty="0">
                <a:latin typeface="Arial"/>
                <a:cs typeface="Arial"/>
              </a:rPr>
              <a:t> </a:t>
            </a:r>
            <a:r>
              <a:rPr lang="en-US" altLang="ko-KR" sz="900" dirty="0">
                <a:latin typeface="Arial"/>
                <a:cs typeface="Arial"/>
              </a:rPr>
              <a:t>transfer</a:t>
            </a:r>
            <a:r>
              <a:rPr lang="en-US" altLang="ko-KR" sz="900" spc="-20" dirty="0">
                <a:latin typeface="Arial"/>
                <a:cs typeface="Arial"/>
              </a:rPr>
              <a:t> </a:t>
            </a:r>
            <a:r>
              <a:rPr lang="en-US" altLang="ko-KR" sz="900" dirty="0">
                <a:latin typeface="Arial"/>
                <a:cs typeface="Arial"/>
              </a:rPr>
              <a:t>of</a:t>
            </a:r>
            <a:r>
              <a:rPr lang="en-US" altLang="ko-KR" sz="900" spc="-10" dirty="0">
                <a:latin typeface="Arial"/>
                <a:cs typeface="Arial"/>
              </a:rPr>
              <a:t> </a:t>
            </a:r>
            <a:r>
              <a:rPr lang="en-US" altLang="ko-KR" sz="900" dirty="0">
                <a:latin typeface="Arial"/>
                <a:cs typeface="Arial"/>
              </a:rPr>
              <a:t>LD_I</a:t>
            </a:r>
            <a:r>
              <a:rPr lang="en-US" altLang="ko-KR" sz="900" spc="5" dirty="0">
                <a:latin typeface="Arial"/>
                <a:cs typeface="Arial"/>
              </a:rPr>
              <a:t> </a:t>
            </a:r>
            <a:r>
              <a:rPr lang="en-US" altLang="ko-KR" sz="900" dirty="0">
                <a:latin typeface="Arial"/>
                <a:cs typeface="Arial"/>
              </a:rPr>
              <a:t>and </a:t>
            </a:r>
            <a:r>
              <a:rPr lang="en-US" altLang="ko-KR" sz="900" spc="-5" dirty="0">
                <a:latin typeface="Arial"/>
                <a:cs typeface="Arial"/>
              </a:rPr>
              <a:t>DUTY</a:t>
            </a:r>
            <a:r>
              <a:rPr lang="en-US" altLang="ko-KR" sz="900" spc="20" dirty="0">
                <a:latin typeface="Arial"/>
                <a:cs typeface="Arial"/>
              </a:rPr>
              <a:t> </a:t>
            </a:r>
            <a:r>
              <a:rPr lang="en-US" altLang="ko-KR" sz="900" spc="-5" dirty="0">
                <a:latin typeface="Arial"/>
                <a:cs typeface="Arial"/>
              </a:rPr>
              <a:t>is</a:t>
            </a:r>
            <a:r>
              <a:rPr lang="en-US" altLang="ko-KR" sz="900" dirty="0">
                <a:latin typeface="Arial"/>
                <a:cs typeface="Arial"/>
              </a:rPr>
              <a:t> unrelated</a:t>
            </a:r>
            <a:r>
              <a:rPr lang="en-US" altLang="ko-KR" sz="900" spc="-30" dirty="0">
                <a:latin typeface="Arial"/>
                <a:cs typeface="Arial"/>
              </a:rPr>
              <a:t> </a:t>
            </a:r>
            <a:r>
              <a:rPr lang="en-US" altLang="ko-KR" sz="900" dirty="0">
                <a:latin typeface="Arial"/>
                <a:cs typeface="Arial"/>
              </a:rPr>
              <a:t>each</a:t>
            </a:r>
            <a:r>
              <a:rPr lang="en-US" altLang="ko-KR" sz="900" spc="-15" dirty="0">
                <a:latin typeface="Arial"/>
                <a:cs typeface="Arial"/>
              </a:rPr>
              <a:t> </a:t>
            </a:r>
            <a:r>
              <a:rPr lang="en-US" altLang="ko-KR" sz="900" dirty="0">
                <a:latin typeface="Arial"/>
                <a:cs typeface="Arial"/>
              </a:rPr>
              <a:t>other.</a:t>
            </a:r>
          </a:p>
        </p:txBody>
      </p:sp>
      <p:sp>
        <p:nvSpPr>
          <p:cNvPr id="27" name="TextBox 26">
            <a:extLst>
              <a:ext uri="{FF2B5EF4-FFF2-40B4-BE49-F238E27FC236}">
                <a16:creationId xmlns:a16="http://schemas.microsoft.com/office/drawing/2014/main" id="{3B9C3708-F678-1E17-3E70-EB9998B16987}"/>
              </a:ext>
            </a:extLst>
          </p:cNvPr>
          <p:cNvSpPr txBox="1"/>
          <p:nvPr/>
        </p:nvSpPr>
        <p:spPr>
          <a:xfrm>
            <a:off x="400913" y="3962287"/>
            <a:ext cx="6038542" cy="830997"/>
          </a:xfrm>
          <a:prstGeom prst="rect">
            <a:avLst/>
          </a:prstGeom>
          <a:noFill/>
        </p:spPr>
        <p:txBody>
          <a:bodyPr wrap="square" lIns="0" tIns="0" rIns="0" bIns="0" rtlCol="0">
            <a:spAutoFit/>
          </a:bodyPr>
          <a:lstStyle/>
          <a:p>
            <a:pPr algn="just"/>
            <a:r>
              <a:rPr lang="en-US" altLang="ko-KR" sz="900" spc="-5" dirty="0">
                <a:latin typeface="Arial"/>
                <a:cs typeface="Arial"/>
              </a:rPr>
              <a:t>The </a:t>
            </a:r>
            <a:r>
              <a:rPr lang="en-US" altLang="ko-KR" sz="900" dirty="0">
                <a:latin typeface="Arial"/>
                <a:cs typeface="Arial"/>
              </a:rPr>
              <a:t>local dimming data, the </a:t>
            </a:r>
            <a:r>
              <a:rPr lang="en-US" altLang="ko-KR" sz="900" spc="-5" dirty="0">
                <a:latin typeface="Arial"/>
                <a:cs typeface="Arial"/>
              </a:rPr>
              <a:t>LD_I and </a:t>
            </a:r>
            <a:r>
              <a:rPr lang="en-US" altLang="ko-KR" sz="900" dirty="0">
                <a:latin typeface="Arial"/>
                <a:cs typeface="Arial"/>
              </a:rPr>
              <a:t>the </a:t>
            </a:r>
            <a:r>
              <a:rPr lang="en-US" altLang="ko-KR" sz="900" spc="-5" dirty="0">
                <a:latin typeface="Arial"/>
                <a:cs typeface="Arial"/>
              </a:rPr>
              <a:t>DUTY </a:t>
            </a:r>
            <a:r>
              <a:rPr lang="en-US" altLang="ko-KR" sz="900" dirty="0">
                <a:latin typeface="Arial"/>
                <a:cs typeface="Arial"/>
              </a:rPr>
              <a:t>should </a:t>
            </a:r>
            <a:r>
              <a:rPr lang="en-US" altLang="ko-KR" sz="900" spc="-5" dirty="0">
                <a:latin typeface="Arial"/>
                <a:cs typeface="Arial"/>
              </a:rPr>
              <a:t>be </a:t>
            </a:r>
            <a:r>
              <a:rPr lang="en-US" altLang="ko-KR" sz="900" dirty="0">
                <a:latin typeface="Arial"/>
                <a:cs typeface="Arial"/>
              </a:rPr>
              <a:t>transferred </a:t>
            </a:r>
            <a:r>
              <a:rPr lang="en-US" altLang="ko-KR" sz="900" spc="-5" dirty="0">
                <a:latin typeface="Arial"/>
                <a:cs typeface="Arial"/>
              </a:rPr>
              <a:t>as below order within one </a:t>
            </a:r>
            <a:r>
              <a:rPr lang="en-US" altLang="ko-KR" sz="900" dirty="0">
                <a:latin typeface="Arial"/>
                <a:cs typeface="Arial"/>
              </a:rPr>
              <a:t>frame </a:t>
            </a:r>
            <a:r>
              <a:rPr lang="en-US" altLang="ko-KR" sz="900" spc="-5" dirty="0">
                <a:latin typeface="Arial"/>
                <a:cs typeface="Arial"/>
              </a:rPr>
              <a:t>period. </a:t>
            </a:r>
            <a:r>
              <a:rPr lang="en-US" altLang="ko-KR" sz="900" dirty="0">
                <a:latin typeface="Arial"/>
                <a:cs typeface="Arial"/>
              </a:rPr>
              <a:t>It</a:t>
            </a:r>
            <a:r>
              <a:rPr lang="en-US" altLang="ko-KR" sz="900" spc="-10" dirty="0">
                <a:latin typeface="Arial"/>
                <a:cs typeface="Arial"/>
              </a:rPr>
              <a:t> </a:t>
            </a:r>
            <a:r>
              <a:rPr lang="en-US" altLang="ko-KR" sz="900" dirty="0">
                <a:latin typeface="Arial"/>
                <a:cs typeface="Arial"/>
              </a:rPr>
              <a:t>should</a:t>
            </a:r>
            <a:r>
              <a:rPr lang="en-US" altLang="ko-KR" sz="900" spc="-20" dirty="0">
                <a:latin typeface="Arial"/>
                <a:cs typeface="Arial"/>
              </a:rPr>
              <a:t> </a:t>
            </a:r>
            <a:r>
              <a:rPr lang="en-US" altLang="ko-KR" sz="900" spc="-5" dirty="0">
                <a:latin typeface="Arial"/>
                <a:cs typeface="Arial"/>
              </a:rPr>
              <a:t>be</a:t>
            </a:r>
            <a:r>
              <a:rPr lang="en-US" altLang="ko-KR" sz="900" spc="-10" dirty="0">
                <a:latin typeface="Arial"/>
                <a:cs typeface="Arial"/>
              </a:rPr>
              <a:t> </a:t>
            </a:r>
            <a:r>
              <a:rPr lang="en-US" altLang="ko-KR" sz="900" dirty="0">
                <a:latin typeface="Arial"/>
                <a:cs typeface="Arial"/>
              </a:rPr>
              <a:t>careful</a:t>
            </a:r>
            <a:r>
              <a:rPr lang="en-US" altLang="ko-KR" sz="900" spc="-20" dirty="0">
                <a:latin typeface="Arial"/>
                <a:cs typeface="Arial"/>
              </a:rPr>
              <a:t> </a:t>
            </a:r>
            <a:r>
              <a:rPr lang="en-US" altLang="ko-KR" sz="900" dirty="0">
                <a:latin typeface="Arial"/>
                <a:cs typeface="Arial"/>
              </a:rPr>
              <a:t>to</a:t>
            </a:r>
            <a:r>
              <a:rPr lang="en-US" altLang="ko-KR" sz="900" spc="-10" dirty="0">
                <a:latin typeface="Arial"/>
                <a:cs typeface="Arial"/>
              </a:rPr>
              <a:t> </a:t>
            </a:r>
            <a:r>
              <a:rPr lang="en-US" altLang="ko-KR" sz="900" spc="-5" dirty="0">
                <a:latin typeface="Arial"/>
                <a:cs typeface="Arial"/>
              </a:rPr>
              <a:t>be</a:t>
            </a:r>
            <a:r>
              <a:rPr lang="en-US" altLang="ko-KR" sz="900" dirty="0">
                <a:latin typeface="Arial"/>
                <a:cs typeface="Arial"/>
              </a:rPr>
              <a:t> different</a:t>
            </a:r>
            <a:r>
              <a:rPr lang="en-US" altLang="ko-KR" sz="900" spc="-35" dirty="0">
                <a:latin typeface="Arial"/>
                <a:cs typeface="Arial"/>
              </a:rPr>
              <a:t> </a:t>
            </a:r>
            <a:r>
              <a:rPr lang="en-US" altLang="ko-KR" sz="900" spc="-5" dirty="0">
                <a:latin typeface="Arial"/>
                <a:cs typeface="Arial"/>
              </a:rPr>
              <a:t>between</a:t>
            </a:r>
            <a:r>
              <a:rPr lang="en-US" altLang="ko-KR" sz="900" dirty="0">
                <a:latin typeface="Arial"/>
                <a:cs typeface="Arial"/>
              </a:rPr>
              <a:t> the</a:t>
            </a:r>
            <a:r>
              <a:rPr lang="en-US" altLang="ko-KR" sz="900" spc="-10" dirty="0">
                <a:latin typeface="Arial"/>
                <a:cs typeface="Arial"/>
              </a:rPr>
              <a:t> </a:t>
            </a:r>
            <a:r>
              <a:rPr lang="en-US" altLang="ko-KR" sz="900" dirty="0">
                <a:latin typeface="Arial"/>
                <a:cs typeface="Arial"/>
              </a:rPr>
              <a:t>single</a:t>
            </a:r>
            <a:r>
              <a:rPr lang="en-US" altLang="ko-KR" sz="900" spc="-35" dirty="0">
                <a:latin typeface="Arial"/>
                <a:cs typeface="Arial"/>
              </a:rPr>
              <a:t> </a:t>
            </a:r>
            <a:r>
              <a:rPr lang="en-US" altLang="ko-KR" sz="900" spc="-5" dirty="0">
                <a:latin typeface="Arial"/>
                <a:cs typeface="Arial"/>
              </a:rPr>
              <a:t>drive</a:t>
            </a:r>
            <a:r>
              <a:rPr lang="en-US" altLang="ko-KR" sz="900" dirty="0">
                <a:latin typeface="Arial"/>
                <a:cs typeface="Arial"/>
              </a:rPr>
              <a:t> </a:t>
            </a:r>
            <a:r>
              <a:rPr lang="en-US" altLang="ko-KR" sz="900" spc="-5" dirty="0">
                <a:latin typeface="Arial"/>
                <a:cs typeface="Arial"/>
              </a:rPr>
              <a:t>and</a:t>
            </a:r>
            <a:r>
              <a:rPr lang="en-US" altLang="ko-KR" sz="900" spc="-20" dirty="0">
                <a:latin typeface="Arial"/>
                <a:cs typeface="Arial"/>
              </a:rPr>
              <a:t> </a:t>
            </a:r>
            <a:r>
              <a:rPr lang="en-US" altLang="ko-KR" sz="900" dirty="0">
                <a:latin typeface="Arial"/>
                <a:cs typeface="Arial"/>
              </a:rPr>
              <a:t>the</a:t>
            </a:r>
            <a:r>
              <a:rPr lang="en-US" altLang="ko-KR" sz="900" spc="-10" dirty="0">
                <a:latin typeface="Arial"/>
                <a:cs typeface="Arial"/>
              </a:rPr>
              <a:t> </a:t>
            </a:r>
            <a:r>
              <a:rPr lang="en-US" altLang="ko-KR" sz="900" spc="-5" dirty="0">
                <a:latin typeface="Arial"/>
                <a:cs typeface="Arial"/>
              </a:rPr>
              <a:t>dual</a:t>
            </a:r>
            <a:r>
              <a:rPr lang="en-US" altLang="ko-KR" sz="900" spc="-10" dirty="0">
                <a:latin typeface="Arial"/>
                <a:cs typeface="Arial"/>
              </a:rPr>
              <a:t> </a:t>
            </a:r>
            <a:r>
              <a:rPr lang="en-US" altLang="ko-KR" sz="900" spc="-5" dirty="0">
                <a:latin typeface="Arial"/>
                <a:cs typeface="Arial"/>
              </a:rPr>
              <a:t>drive</a:t>
            </a:r>
            <a:r>
              <a:rPr lang="en-US" altLang="ko-KR" sz="900" spc="-10" dirty="0">
                <a:latin typeface="Arial"/>
                <a:cs typeface="Arial"/>
              </a:rPr>
              <a:t> </a:t>
            </a:r>
            <a:r>
              <a:rPr lang="en-US" altLang="ko-KR" sz="900" dirty="0">
                <a:latin typeface="Arial"/>
                <a:cs typeface="Arial"/>
              </a:rPr>
              <a:t>mode. In single </a:t>
            </a:r>
            <a:r>
              <a:rPr lang="en-US" altLang="ko-KR" sz="900" spc="-5" dirty="0">
                <a:latin typeface="Arial"/>
                <a:cs typeface="Arial"/>
              </a:rPr>
              <a:t>drive, </a:t>
            </a:r>
            <a:r>
              <a:rPr lang="en-US" altLang="ko-KR" sz="900" dirty="0">
                <a:latin typeface="Arial"/>
                <a:cs typeface="Arial"/>
              </a:rPr>
              <a:t>the </a:t>
            </a:r>
            <a:r>
              <a:rPr lang="en-US" altLang="ko-KR" sz="900" spc="-5" dirty="0">
                <a:latin typeface="Arial"/>
                <a:cs typeface="Arial"/>
              </a:rPr>
              <a:t>LD_I  and DUTY data </a:t>
            </a:r>
            <a:r>
              <a:rPr lang="en-US" altLang="ko-KR" sz="900" dirty="0">
                <a:latin typeface="Arial"/>
                <a:cs typeface="Arial"/>
              </a:rPr>
              <a:t>should </a:t>
            </a:r>
            <a:r>
              <a:rPr lang="en-US" altLang="ko-KR" sz="900" spc="-5" dirty="0">
                <a:latin typeface="Arial"/>
                <a:cs typeface="Arial"/>
              </a:rPr>
              <a:t>be </a:t>
            </a:r>
            <a:r>
              <a:rPr lang="en-US" altLang="ko-KR" sz="900" dirty="0">
                <a:latin typeface="Arial"/>
                <a:cs typeface="Arial"/>
              </a:rPr>
              <a:t>transferred </a:t>
            </a:r>
            <a:r>
              <a:rPr lang="en-US" altLang="ko-KR" sz="900" spc="-5" dirty="0">
                <a:latin typeface="Arial"/>
                <a:cs typeface="Arial"/>
              </a:rPr>
              <a:t>in order </a:t>
            </a:r>
            <a:r>
              <a:rPr lang="en-US" altLang="ko-KR" sz="900" dirty="0">
                <a:latin typeface="Arial"/>
                <a:cs typeface="Arial"/>
              </a:rPr>
              <a:t>of the block number </a:t>
            </a:r>
            <a:r>
              <a:rPr lang="en-US" altLang="ko-KR" sz="900" spc="-5" dirty="0">
                <a:latin typeface="Arial"/>
                <a:cs typeface="Arial"/>
              </a:rPr>
              <a:t>within one line, and then </a:t>
            </a:r>
            <a:r>
              <a:rPr lang="en-US" altLang="ko-KR" sz="900" spc="-235" dirty="0">
                <a:latin typeface="Arial"/>
                <a:cs typeface="Arial"/>
              </a:rPr>
              <a:t> </a:t>
            </a:r>
            <a:r>
              <a:rPr lang="en-US" altLang="ko-KR" sz="900" dirty="0">
                <a:latin typeface="Arial"/>
                <a:cs typeface="Arial"/>
              </a:rPr>
              <a:t>the</a:t>
            </a:r>
            <a:r>
              <a:rPr lang="en-US" altLang="ko-KR" sz="900" spc="-10" dirty="0">
                <a:latin typeface="Arial"/>
                <a:cs typeface="Arial"/>
              </a:rPr>
              <a:t> </a:t>
            </a:r>
            <a:r>
              <a:rPr lang="en-US" altLang="ko-KR" sz="900" dirty="0">
                <a:latin typeface="Arial"/>
                <a:cs typeface="Arial"/>
              </a:rPr>
              <a:t>amount</a:t>
            </a:r>
            <a:r>
              <a:rPr lang="en-US" altLang="ko-KR" sz="900" spc="-25" dirty="0">
                <a:latin typeface="Arial"/>
                <a:cs typeface="Arial"/>
              </a:rPr>
              <a:t> </a:t>
            </a:r>
            <a:r>
              <a:rPr lang="en-US" altLang="ko-KR" sz="900" dirty="0">
                <a:latin typeface="Arial"/>
                <a:cs typeface="Arial"/>
              </a:rPr>
              <a:t>of</a:t>
            </a:r>
            <a:r>
              <a:rPr lang="en-US" altLang="ko-KR" sz="900" spc="-10" dirty="0">
                <a:latin typeface="Arial"/>
                <a:cs typeface="Arial"/>
              </a:rPr>
              <a:t> </a:t>
            </a:r>
            <a:r>
              <a:rPr lang="en-US" altLang="ko-KR" sz="900" spc="-5" dirty="0">
                <a:latin typeface="Arial"/>
                <a:cs typeface="Arial"/>
              </a:rPr>
              <a:t>next</a:t>
            </a:r>
            <a:r>
              <a:rPr lang="en-US" altLang="ko-KR" sz="900" spc="15" dirty="0">
                <a:latin typeface="Arial"/>
                <a:cs typeface="Arial"/>
              </a:rPr>
              <a:t> </a:t>
            </a:r>
            <a:r>
              <a:rPr lang="en-US" altLang="ko-KR" sz="900" spc="-5" dirty="0">
                <a:latin typeface="Arial"/>
                <a:cs typeface="Arial"/>
              </a:rPr>
              <a:t>line</a:t>
            </a:r>
            <a:r>
              <a:rPr lang="en-US" altLang="ko-KR" sz="900" spc="-20" dirty="0">
                <a:latin typeface="Arial"/>
                <a:cs typeface="Arial"/>
              </a:rPr>
              <a:t> </a:t>
            </a:r>
            <a:r>
              <a:rPr lang="en-US" altLang="ko-KR" sz="900" dirty="0">
                <a:latin typeface="Arial"/>
                <a:cs typeface="Arial"/>
              </a:rPr>
              <a:t>should</a:t>
            </a:r>
            <a:r>
              <a:rPr lang="en-US" altLang="ko-KR" sz="900" spc="-20" dirty="0">
                <a:latin typeface="Arial"/>
                <a:cs typeface="Arial"/>
              </a:rPr>
              <a:t> </a:t>
            </a:r>
            <a:r>
              <a:rPr lang="en-US" altLang="ko-KR" sz="900" spc="-5" dirty="0">
                <a:latin typeface="Arial"/>
                <a:cs typeface="Arial"/>
              </a:rPr>
              <a:t>be </a:t>
            </a:r>
            <a:r>
              <a:rPr lang="en-US" altLang="ko-KR" sz="900" dirty="0">
                <a:latin typeface="Arial"/>
                <a:cs typeface="Arial"/>
              </a:rPr>
              <a:t>transferred</a:t>
            </a:r>
            <a:r>
              <a:rPr lang="en-US" altLang="ko-KR" sz="900" spc="-35" dirty="0">
                <a:latin typeface="Arial"/>
                <a:cs typeface="Arial"/>
              </a:rPr>
              <a:t> </a:t>
            </a:r>
            <a:r>
              <a:rPr lang="en-US" altLang="ko-KR" sz="900" dirty="0">
                <a:latin typeface="Arial"/>
                <a:cs typeface="Arial"/>
              </a:rPr>
              <a:t>sequentially</a:t>
            </a:r>
            <a:r>
              <a:rPr lang="en-US" altLang="ko-KR" sz="900" spc="-45" dirty="0">
                <a:latin typeface="Arial"/>
                <a:cs typeface="Arial"/>
              </a:rPr>
              <a:t> </a:t>
            </a:r>
            <a:r>
              <a:rPr lang="en-US" altLang="ko-KR" sz="900" spc="-5" dirty="0">
                <a:latin typeface="Arial"/>
                <a:cs typeface="Arial"/>
              </a:rPr>
              <a:t>in line</a:t>
            </a:r>
            <a:r>
              <a:rPr lang="en-US" altLang="ko-KR" sz="900" spc="-10" dirty="0">
                <a:latin typeface="Arial"/>
                <a:cs typeface="Arial"/>
              </a:rPr>
              <a:t> </a:t>
            </a:r>
            <a:r>
              <a:rPr lang="en-US" altLang="ko-KR" sz="900" spc="-5" dirty="0">
                <a:latin typeface="Arial"/>
                <a:cs typeface="Arial"/>
              </a:rPr>
              <a:t>by</a:t>
            </a:r>
            <a:r>
              <a:rPr lang="en-US" altLang="ko-KR" sz="900" spc="-10" dirty="0">
                <a:latin typeface="Arial"/>
                <a:cs typeface="Arial"/>
              </a:rPr>
              <a:t> </a:t>
            </a:r>
            <a:r>
              <a:rPr lang="en-US" altLang="ko-KR" sz="900" dirty="0">
                <a:latin typeface="Arial"/>
                <a:cs typeface="Arial"/>
              </a:rPr>
              <a:t>line</a:t>
            </a:r>
            <a:r>
              <a:rPr lang="en-US" altLang="ko-KR" sz="900" spc="-15" dirty="0">
                <a:latin typeface="Arial"/>
                <a:cs typeface="Arial"/>
              </a:rPr>
              <a:t> </a:t>
            </a:r>
            <a:r>
              <a:rPr lang="en-US" altLang="ko-KR" sz="900" spc="-5" dirty="0">
                <a:latin typeface="Arial"/>
                <a:cs typeface="Arial"/>
              </a:rPr>
              <a:t>in</a:t>
            </a:r>
            <a:r>
              <a:rPr lang="en-US" altLang="ko-KR" sz="900" spc="-10" dirty="0">
                <a:latin typeface="Arial"/>
                <a:cs typeface="Arial"/>
              </a:rPr>
              <a:t> </a:t>
            </a:r>
            <a:r>
              <a:rPr lang="en-US" altLang="ko-KR" sz="900" dirty="0">
                <a:latin typeface="Arial"/>
                <a:cs typeface="Arial"/>
              </a:rPr>
              <a:t>the</a:t>
            </a:r>
            <a:r>
              <a:rPr lang="en-US" altLang="ko-KR" sz="900" spc="-10" dirty="0">
                <a:latin typeface="Arial"/>
                <a:cs typeface="Arial"/>
              </a:rPr>
              <a:t> </a:t>
            </a:r>
            <a:r>
              <a:rPr lang="en-US" altLang="ko-KR" sz="900" dirty="0">
                <a:latin typeface="Arial"/>
                <a:cs typeface="Arial"/>
              </a:rPr>
              <a:t>manner</a:t>
            </a:r>
            <a:r>
              <a:rPr lang="en-US" altLang="ko-KR" sz="900" spc="-20" dirty="0">
                <a:latin typeface="Arial"/>
                <a:cs typeface="Arial"/>
              </a:rPr>
              <a:t> </a:t>
            </a:r>
            <a:r>
              <a:rPr lang="en-US" altLang="ko-KR" sz="900" dirty="0">
                <a:latin typeface="Arial"/>
                <a:cs typeface="Arial"/>
              </a:rPr>
              <a:t>of </a:t>
            </a:r>
            <a:r>
              <a:rPr lang="en-US" altLang="ko-KR" sz="900" spc="-5" dirty="0">
                <a:latin typeface="Arial"/>
                <a:cs typeface="Arial"/>
              </a:rPr>
              <a:t>below</a:t>
            </a:r>
            <a:r>
              <a:rPr lang="en-US" altLang="ko-KR" sz="900" spc="-25" dirty="0">
                <a:latin typeface="Arial"/>
                <a:cs typeface="Arial"/>
              </a:rPr>
              <a:t> </a:t>
            </a:r>
            <a:r>
              <a:rPr lang="en-US" altLang="ko-KR" sz="900" dirty="0">
                <a:latin typeface="Arial"/>
                <a:cs typeface="Arial"/>
              </a:rPr>
              <a:t>the</a:t>
            </a:r>
            <a:r>
              <a:rPr lang="en-US" altLang="ko-KR" sz="900" spc="-5" dirty="0">
                <a:latin typeface="Arial"/>
                <a:cs typeface="Arial"/>
              </a:rPr>
              <a:t> </a:t>
            </a:r>
            <a:r>
              <a:rPr lang="en-US" altLang="ko-KR" sz="900" dirty="0">
                <a:latin typeface="Arial"/>
                <a:cs typeface="Arial"/>
              </a:rPr>
              <a:t>Figure.</a:t>
            </a:r>
            <a:r>
              <a:rPr lang="en-US" altLang="ko-KR" sz="900" spc="-10" dirty="0">
                <a:latin typeface="Arial"/>
                <a:cs typeface="Arial"/>
              </a:rPr>
              <a:t> </a:t>
            </a:r>
            <a:r>
              <a:rPr lang="en-US" altLang="ko-KR" sz="900" spc="15" dirty="0">
                <a:latin typeface="Arial"/>
                <a:cs typeface="Arial"/>
              </a:rPr>
              <a:t>5-2. </a:t>
            </a:r>
            <a:r>
              <a:rPr lang="en-US" altLang="ko-KR" sz="900" dirty="0">
                <a:latin typeface="Arial"/>
                <a:cs typeface="Arial"/>
              </a:rPr>
              <a:t>In</a:t>
            </a:r>
            <a:r>
              <a:rPr lang="en-US" altLang="ko-KR" sz="900" spc="-10" dirty="0">
                <a:latin typeface="Arial"/>
                <a:cs typeface="Arial"/>
              </a:rPr>
              <a:t> </a:t>
            </a:r>
            <a:r>
              <a:rPr lang="en-US" altLang="ko-KR" sz="900" spc="-5" dirty="0">
                <a:latin typeface="Arial"/>
                <a:cs typeface="Arial"/>
              </a:rPr>
              <a:t>dual drive, </a:t>
            </a:r>
            <a:r>
              <a:rPr lang="en-US" altLang="ko-KR" sz="900" dirty="0">
                <a:latin typeface="Arial"/>
                <a:cs typeface="Arial"/>
              </a:rPr>
              <a:t>the</a:t>
            </a:r>
            <a:r>
              <a:rPr lang="en-US" altLang="ko-KR" sz="900" spc="-5" dirty="0">
                <a:latin typeface="Arial"/>
                <a:cs typeface="Arial"/>
              </a:rPr>
              <a:t> LD_I</a:t>
            </a:r>
            <a:r>
              <a:rPr lang="en-US" altLang="ko-KR" sz="900" spc="-10" dirty="0">
                <a:latin typeface="Arial"/>
                <a:cs typeface="Arial"/>
              </a:rPr>
              <a:t> </a:t>
            </a:r>
            <a:r>
              <a:rPr lang="en-US" altLang="ko-KR" sz="900" spc="-5" dirty="0">
                <a:latin typeface="Arial"/>
                <a:cs typeface="Arial"/>
              </a:rPr>
              <a:t>and DUTY</a:t>
            </a:r>
            <a:r>
              <a:rPr lang="en-US" altLang="ko-KR" sz="900" spc="15" dirty="0">
                <a:latin typeface="Arial"/>
                <a:cs typeface="Arial"/>
              </a:rPr>
              <a:t> </a:t>
            </a:r>
            <a:r>
              <a:rPr lang="en-US" altLang="ko-KR" sz="900" spc="-5" dirty="0">
                <a:latin typeface="Arial"/>
                <a:cs typeface="Arial"/>
              </a:rPr>
              <a:t>data </a:t>
            </a:r>
            <a:r>
              <a:rPr lang="en-US" altLang="ko-KR" sz="900" dirty="0">
                <a:latin typeface="Arial"/>
                <a:cs typeface="Arial"/>
              </a:rPr>
              <a:t>should</a:t>
            </a:r>
            <a:r>
              <a:rPr lang="en-US" altLang="ko-KR" sz="900" spc="-30" dirty="0">
                <a:latin typeface="Arial"/>
                <a:cs typeface="Arial"/>
              </a:rPr>
              <a:t> </a:t>
            </a:r>
            <a:r>
              <a:rPr lang="en-US" altLang="ko-KR" sz="900" spc="-5" dirty="0">
                <a:latin typeface="Arial"/>
                <a:cs typeface="Arial"/>
              </a:rPr>
              <a:t>be</a:t>
            </a:r>
            <a:r>
              <a:rPr lang="en-US" altLang="ko-KR" sz="900" dirty="0">
                <a:latin typeface="Arial"/>
                <a:cs typeface="Arial"/>
              </a:rPr>
              <a:t> transferred</a:t>
            </a:r>
            <a:r>
              <a:rPr lang="en-US" altLang="ko-KR" sz="900" spc="-30" dirty="0">
                <a:latin typeface="Arial"/>
                <a:cs typeface="Arial"/>
              </a:rPr>
              <a:t> </a:t>
            </a:r>
            <a:r>
              <a:rPr lang="en-US" altLang="ko-KR" sz="900" spc="-5" dirty="0">
                <a:latin typeface="Arial"/>
                <a:cs typeface="Arial"/>
              </a:rPr>
              <a:t>in </a:t>
            </a:r>
            <a:r>
              <a:rPr lang="en-US" altLang="ko-KR" sz="900" dirty="0">
                <a:latin typeface="Arial"/>
                <a:cs typeface="Arial"/>
              </a:rPr>
              <a:t>the</a:t>
            </a:r>
            <a:r>
              <a:rPr lang="en-US" altLang="ko-KR" sz="900" spc="-5" dirty="0">
                <a:latin typeface="Arial"/>
                <a:cs typeface="Arial"/>
              </a:rPr>
              <a:t> </a:t>
            </a:r>
            <a:r>
              <a:rPr lang="en-US" altLang="ko-KR" sz="900" dirty="0">
                <a:latin typeface="Arial"/>
                <a:cs typeface="Arial"/>
              </a:rPr>
              <a:t>manner</a:t>
            </a:r>
            <a:r>
              <a:rPr lang="en-US" altLang="ko-KR" sz="900" spc="-25" dirty="0">
                <a:latin typeface="Arial"/>
                <a:cs typeface="Arial"/>
              </a:rPr>
              <a:t> </a:t>
            </a:r>
            <a:r>
              <a:rPr lang="en-US" altLang="ko-KR" sz="900" dirty="0">
                <a:latin typeface="Arial"/>
                <a:cs typeface="Arial"/>
              </a:rPr>
              <a:t>of</a:t>
            </a:r>
            <a:r>
              <a:rPr lang="en-US" altLang="ko-KR" sz="900" spc="-5" dirty="0">
                <a:latin typeface="Arial"/>
                <a:cs typeface="Arial"/>
              </a:rPr>
              <a:t> below</a:t>
            </a:r>
            <a:r>
              <a:rPr lang="en-US" altLang="ko-KR" sz="900" spc="-10" dirty="0">
                <a:latin typeface="Arial"/>
                <a:cs typeface="Arial"/>
              </a:rPr>
              <a:t> </a:t>
            </a:r>
            <a:r>
              <a:rPr lang="en-US" altLang="ko-KR" sz="900" dirty="0">
                <a:latin typeface="Arial"/>
                <a:cs typeface="Arial"/>
              </a:rPr>
              <a:t>the</a:t>
            </a:r>
            <a:r>
              <a:rPr lang="en-US" altLang="ko-KR" sz="900" spc="-5" dirty="0">
                <a:latin typeface="Arial"/>
                <a:cs typeface="Arial"/>
              </a:rPr>
              <a:t> </a:t>
            </a:r>
            <a:r>
              <a:rPr lang="en-US" altLang="ko-KR" sz="900" dirty="0">
                <a:latin typeface="Arial"/>
                <a:cs typeface="Arial"/>
              </a:rPr>
              <a:t>Figure.</a:t>
            </a:r>
            <a:r>
              <a:rPr lang="en-US" altLang="ko-KR" sz="900" spc="-25" dirty="0">
                <a:latin typeface="Arial"/>
                <a:cs typeface="Arial"/>
              </a:rPr>
              <a:t> </a:t>
            </a:r>
            <a:r>
              <a:rPr lang="en-US" altLang="ko-KR" sz="900" spc="10" dirty="0">
                <a:latin typeface="Arial"/>
                <a:cs typeface="Arial"/>
              </a:rPr>
              <a:t>5-3. </a:t>
            </a:r>
            <a:r>
              <a:rPr lang="en-US" altLang="ko-KR" sz="900" dirty="0">
                <a:latin typeface="Arial"/>
                <a:cs typeface="Arial"/>
              </a:rPr>
              <a:t>Regardless</a:t>
            </a:r>
            <a:r>
              <a:rPr lang="en-US" altLang="ko-KR" sz="900" spc="-30" dirty="0">
                <a:latin typeface="Arial"/>
                <a:cs typeface="Arial"/>
              </a:rPr>
              <a:t> </a:t>
            </a:r>
            <a:r>
              <a:rPr lang="en-US" altLang="ko-KR" sz="900" dirty="0">
                <a:latin typeface="Arial"/>
                <a:cs typeface="Arial"/>
              </a:rPr>
              <a:t>of</a:t>
            </a:r>
            <a:r>
              <a:rPr lang="en-US" altLang="ko-KR" sz="900" spc="-10" dirty="0">
                <a:latin typeface="Arial"/>
                <a:cs typeface="Arial"/>
              </a:rPr>
              <a:t> </a:t>
            </a:r>
            <a:r>
              <a:rPr lang="en-US" altLang="ko-KR" sz="900" dirty="0">
                <a:latin typeface="Arial"/>
                <a:cs typeface="Arial"/>
              </a:rPr>
              <a:t>the</a:t>
            </a:r>
            <a:r>
              <a:rPr lang="en-US" altLang="ko-KR" sz="900" spc="-5" dirty="0">
                <a:latin typeface="Arial"/>
                <a:cs typeface="Arial"/>
              </a:rPr>
              <a:t> drive</a:t>
            </a:r>
            <a:r>
              <a:rPr lang="en-US" altLang="ko-KR" sz="900" dirty="0">
                <a:latin typeface="Arial"/>
                <a:cs typeface="Arial"/>
              </a:rPr>
              <a:t> modes,</a:t>
            </a:r>
            <a:r>
              <a:rPr lang="en-US" altLang="ko-KR" sz="900" spc="-30" dirty="0">
                <a:latin typeface="Arial"/>
                <a:cs typeface="Arial"/>
              </a:rPr>
              <a:t> </a:t>
            </a:r>
            <a:r>
              <a:rPr lang="en-US" altLang="ko-KR" sz="900" dirty="0">
                <a:latin typeface="Arial"/>
                <a:cs typeface="Arial"/>
              </a:rPr>
              <a:t>the</a:t>
            </a:r>
            <a:r>
              <a:rPr lang="en-US" altLang="ko-KR" sz="900" spc="-10" dirty="0">
                <a:latin typeface="Arial"/>
                <a:cs typeface="Arial"/>
              </a:rPr>
              <a:t> </a:t>
            </a:r>
            <a:r>
              <a:rPr lang="en-US" altLang="ko-KR" sz="900" dirty="0">
                <a:latin typeface="Arial"/>
                <a:cs typeface="Arial"/>
              </a:rPr>
              <a:t>transfer</a:t>
            </a:r>
            <a:r>
              <a:rPr lang="en-US" altLang="ko-KR" sz="900" spc="-20" dirty="0">
                <a:latin typeface="Arial"/>
                <a:cs typeface="Arial"/>
              </a:rPr>
              <a:t> </a:t>
            </a:r>
            <a:r>
              <a:rPr lang="en-US" altLang="ko-KR" sz="900" spc="-5" dirty="0">
                <a:latin typeface="Arial"/>
                <a:cs typeface="Arial"/>
              </a:rPr>
              <a:t>order</a:t>
            </a:r>
            <a:r>
              <a:rPr lang="en-US" altLang="ko-KR" sz="900" spc="-10" dirty="0">
                <a:latin typeface="Arial"/>
                <a:cs typeface="Arial"/>
              </a:rPr>
              <a:t> </a:t>
            </a:r>
            <a:r>
              <a:rPr lang="en-US" altLang="ko-KR" sz="900" spc="-5" dirty="0">
                <a:latin typeface="Arial"/>
                <a:cs typeface="Arial"/>
              </a:rPr>
              <a:t>is</a:t>
            </a:r>
            <a:r>
              <a:rPr lang="en-US" altLang="ko-KR" sz="900" dirty="0">
                <a:latin typeface="Arial"/>
                <a:cs typeface="Arial"/>
              </a:rPr>
              <a:t> actually</a:t>
            </a:r>
            <a:r>
              <a:rPr lang="en-US" altLang="ko-KR" sz="900" spc="-30" dirty="0">
                <a:latin typeface="Arial"/>
                <a:cs typeface="Arial"/>
              </a:rPr>
              <a:t> </a:t>
            </a:r>
            <a:r>
              <a:rPr lang="en-US" altLang="ko-KR" sz="900" dirty="0">
                <a:latin typeface="Arial"/>
                <a:cs typeface="Arial"/>
              </a:rPr>
              <a:t>the</a:t>
            </a:r>
            <a:r>
              <a:rPr lang="en-US" altLang="ko-KR" sz="900" spc="-5" dirty="0">
                <a:latin typeface="Arial"/>
                <a:cs typeface="Arial"/>
              </a:rPr>
              <a:t> </a:t>
            </a:r>
            <a:r>
              <a:rPr lang="en-US" altLang="ko-KR" sz="900" dirty="0">
                <a:latin typeface="Arial"/>
                <a:cs typeface="Arial"/>
              </a:rPr>
              <a:t>same</a:t>
            </a:r>
            <a:r>
              <a:rPr lang="en-US" altLang="ko-KR" sz="900" spc="-20" dirty="0">
                <a:latin typeface="Arial"/>
                <a:cs typeface="Arial"/>
              </a:rPr>
              <a:t> </a:t>
            </a:r>
            <a:r>
              <a:rPr lang="en-US" altLang="ko-KR" sz="900" spc="-5" dirty="0">
                <a:latin typeface="Arial"/>
                <a:cs typeface="Arial"/>
              </a:rPr>
              <a:t>in</a:t>
            </a:r>
            <a:r>
              <a:rPr lang="en-US" altLang="ko-KR" sz="900" spc="5" dirty="0">
                <a:latin typeface="Arial"/>
                <a:cs typeface="Arial"/>
              </a:rPr>
              <a:t> </a:t>
            </a:r>
            <a:r>
              <a:rPr lang="en-US" altLang="ko-KR" sz="900" dirty="0">
                <a:latin typeface="Arial"/>
                <a:cs typeface="Arial"/>
              </a:rPr>
              <a:t>the</a:t>
            </a:r>
            <a:r>
              <a:rPr lang="en-US" altLang="ko-KR" sz="900" spc="-10" dirty="0">
                <a:latin typeface="Arial"/>
                <a:cs typeface="Arial"/>
              </a:rPr>
              <a:t> </a:t>
            </a:r>
            <a:r>
              <a:rPr lang="en-US" altLang="ko-KR" sz="900" dirty="0">
                <a:latin typeface="Arial"/>
                <a:cs typeface="Arial"/>
              </a:rPr>
              <a:t>manner</a:t>
            </a:r>
            <a:r>
              <a:rPr lang="en-US" altLang="ko-KR" sz="900" spc="-25" dirty="0">
                <a:latin typeface="Arial"/>
                <a:cs typeface="Arial"/>
              </a:rPr>
              <a:t> </a:t>
            </a:r>
            <a:r>
              <a:rPr lang="en-US" altLang="ko-KR" sz="900" spc="-5" dirty="0">
                <a:latin typeface="Arial"/>
                <a:cs typeface="Arial"/>
              </a:rPr>
              <a:t>which </a:t>
            </a:r>
            <a:r>
              <a:rPr lang="en-US" altLang="ko-KR" sz="900" dirty="0">
                <a:latin typeface="Arial"/>
                <a:cs typeface="Arial"/>
              </a:rPr>
              <a:t>the</a:t>
            </a:r>
            <a:r>
              <a:rPr lang="en-US" altLang="ko-KR" sz="900" spc="-10" dirty="0">
                <a:latin typeface="Arial"/>
                <a:cs typeface="Arial"/>
              </a:rPr>
              <a:t> </a:t>
            </a:r>
            <a:r>
              <a:rPr lang="en-US" altLang="ko-KR" sz="900" dirty="0">
                <a:latin typeface="Arial"/>
                <a:cs typeface="Arial"/>
              </a:rPr>
              <a:t>first</a:t>
            </a:r>
            <a:r>
              <a:rPr lang="en-US" altLang="ko-KR" sz="900" spc="-5" dirty="0">
                <a:latin typeface="Arial"/>
                <a:cs typeface="Arial"/>
              </a:rPr>
              <a:t> data</a:t>
            </a:r>
            <a:r>
              <a:rPr lang="en-US" altLang="ko-KR" sz="900" spc="-20" dirty="0">
                <a:latin typeface="Arial"/>
                <a:cs typeface="Arial"/>
              </a:rPr>
              <a:t> </a:t>
            </a:r>
            <a:r>
              <a:rPr lang="en-US" altLang="ko-KR" sz="900" dirty="0">
                <a:latin typeface="Arial"/>
                <a:cs typeface="Arial"/>
              </a:rPr>
              <a:t>to</a:t>
            </a:r>
            <a:r>
              <a:rPr lang="en-US" altLang="ko-KR" sz="900" spc="5" dirty="0">
                <a:latin typeface="Arial"/>
                <a:cs typeface="Arial"/>
              </a:rPr>
              <a:t> </a:t>
            </a:r>
            <a:r>
              <a:rPr lang="en-US" altLang="ko-KR" sz="900" spc="-5" dirty="0">
                <a:latin typeface="Arial"/>
                <a:cs typeface="Arial"/>
              </a:rPr>
              <a:t>be</a:t>
            </a:r>
            <a:r>
              <a:rPr lang="en-US" altLang="ko-KR" sz="900" spc="-10" dirty="0">
                <a:latin typeface="Arial"/>
                <a:cs typeface="Arial"/>
              </a:rPr>
              <a:t> </a:t>
            </a:r>
            <a:r>
              <a:rPr lang="en-US" altLang="ko-KR" sz="900" dirty="0">
                <a:latin typeface="Arial"/>
                <a:cs typeface="Arial"/>
              </a:rPr>
              <a:t>out</a:t>
            </a:r>
            <a:r>
              <a:rPr lang="en-US" altLang="ko-KR" sz="900" spc="-5" dirty="0">
                <a:latin typeface="Arial"/>
                <a:cs typeface="Arial"/>
              </a:rPr>
              <a:t> </a:t>
            </a:r>
            <a:r>
              <a:rPr lang="en-US" altLang="ko-KR" sz="900" dirty="0">
                <a:latin typeface="Arial"/>
                <a:cs typeface="Arial"/>
              </a:rPr>
              <a:t>should </a:t>
            </a:r>
            <a:r>
              <a:rPr lang="en-US" altLang="ko-KR" sz="900" spc="-235" dirty="0">
                <a:latin typeface="Arial"/>
                <a:cs typeface="Arial"/>
              </a:rPr>
              <a:t> </a:t>
            </a:r>
            <a:r>
              <a:rPr lang="en-US" altLang="ko-KR" sz="900" spc="-5" dirty="0">
                <a:latin typeface="Arial"/>
                <a:cs typeface="Arial"/>
              </a:rPr>
              <a:t>be</a:t>
            </a:r>
            <a:r>
              <a:rPr lang="en-US" altLang="ko-KR" sz="900" spc="-15" dirty="0">
                <a:latin typeface="Arial"/>
                <a:cs typeface="Arial"/>
              </a:rPr>
              <a:t> </a:t>
            </a:r>
            <a:r>
              <a:rPr lang="en-US" altLang="ko-KR" sz="900" dirty="0">
                <a:latin typeface="Arial"/>
                <a:cs typeface="Arial"/>
              </a:rPr>
              <a:t>transferred</a:t>
            </a:r>
            <a:r>
              <a:rPr lang="en-US" altLang="ko-KR" sz="900" spc="-35" dirty="0">
                <a:latin typeface="Arial"/>
                <a:cs typeface="Arial"/>
              </a:rPr>
              <a:t> </a:t>
            </a:r>
            <a:r>
              <a:rPr lang="en-US" altLang="ko-KR" sz="900" dirty="0">
                <a:latin typeface="Arial"/>
                <a:cs typeface="Arial"/>
              </a:rPr>
              <a:t>at first,</a:t>
            </a:r>
            <a:r>
              <a:rPr lang="en-US" altLang="ko-KR" sz="900" spc="-20" dirty="0">
                <a:latin typeface="Arial"/>
                <a:cs typeface="Arial"/>
              </a:rPr>
              <a:t> </a:t>
            </a:r>
            <a:r>
              <a:rPr lang="en-US" altLang="ko-KR" sz="900" spc="-5" dirty="0">
                <a:latin typeface="Arial"/>
                <a:cs typeface="Arial"/>
              </a:rPr>
              <a:t>and</a:t>
            </a:r>
            <a:r>
              <a:rPr lang="en-US" altLang="ko-KR" sz="900" spc="-10" dirty="0">
                <a:latin typeface="Arial"/>
                <a:cs typeface="Arial"/>
              </a:rPr>
              <a:t> </a:t>
            </a:r>
            <a:r>
              <a:rPr lang="en-US" altLang="ko-KR" sz="900" dirty="0">
                <a:latin typeface="Arial"/>
                <a:cs typeface="Arial"/>
              </a:rPr>
              <a:t>so</a:t>
            </a:r>
            <a:r>
              <a:rPr lang="en-US" altLang="ko-KR" sz="900" spc="-10" dirty="0">
                <a:latin typeface="Arial"/>
                <a:cs typeface="Arial"/>
              </a:rPr>
              <a:t> </a:t>
            </a:r>
            <a:r>
              <a:rPr lang="en-US" altLang="ko-KR" sz="900" dirty="0">
                <a:latin typeface="Arial"/>
                <a:cs typeface="Arial"/>
              </a:rPr>
              <a:t>on</a:t>
            </a:r>
            <a:r>
              <a:rPr lang="en-US" altLang="ko-KR" sz="900" dirty="0">
                <a:latin typeface="Arial" panose="020B0604020202020204" pitchFamily="34" charset="0"/>
                <a:cs typeface="Arial" panose="020B0604020202020204" pitchFamily="34" charset="0"/>
              </a:rPr>
              <a:t>.</a:t>
            </a:r>
          </a:p>
        </p:txBody>
      </p:sp>
      <p:sp>
        <p:nvSpPr>
          <p:cNvPr id="7" name="object 9">
            <a:extLst>
              <a:ext uri="{FF2B5EF4-FFF2-40B4-BE49-F238E27FC236}">
                <a16:creationId xmlns:a16="http://schemas.microsoft.com/office/drawing/2014/main" id="{1FCEBADB-732A-0378-888A-F96CEDCE1D45}"/>
              </a:ext>
            </a:extLst>
          </p:cNvPr>
          <p:cNvSpPr txBox="1"/>
          <p:nvPr/>
        </p:nvSpPr>
        <p:spPr>
          <a:xfrm>
            <a:off x="304800" y="9067800"/>
            <a:ext cx="2078355" cy="289823"/>
          </a:xfrm>
          <a:prstGeom prst="rect">
            <a:avLst/>
          </a:prstGeom>
        </p:spPr>
        <p:txBody>
          <a:bodyPr vert="horz" wrap="square" lIns="0" tIns="12700" rIns="0" bIns="0" rtlCol="0">
            <a:spAutoFit/>
          </a:bodyPr>
          <a:lstStyle/>
          <a:p>
            <a:pPr marL="12700">
              <a:lnSpc>
                <a:spcPct val="100000"/>
              </a:lnSpc>
              <a:spcBef>
                <a:spcPts val="100"/>
              </a:spcBef>
            </a:pPr>
            <a:r>
              <a:rPr b="1" spc="-5" dirty="0">
                <a:solidFill>
                  <a:srgbClr val="FF0000"/>
                </a:solidFill>
                <a:cs typeface="Perpetua Titling MT"/>
              </a:rPr>
              <a:t>CONFIDENTIAL</a:t>
            </a:r>
            <a:endParaRPr dirty="0">
              <a:cs typeface="Perpetua Titling MT"/>
            </a:endParaRPr>
          </a:p>
        </p:txBody>
      </p:sp>
      <p:sp>
        <p:nvSpPr>
          <p:cNvPr id="11" name="object 6">
            <a:extLst>
              <a:ext uri="{FF2B5EF4-FFF2-40B4-BE49-F238E27FC236}">
                <a16:creationId xmlns:a16="http://schemas.microsoft.com/office/drawing/2014/main" id="{60676A00-6E31-9286-8783-30D56108CADA}"/>
              </a:ext>
            </a:extLst>
          </p:cNvPr>
          <p:cNvSpPr/>
          <p:nvPr/>
        </p:nvSpPr>
        <p:spPr>
          <a:xfrm>
            <a:off x="301676" y="9458756"/>
            <a:ext cx="6246495" cy="0"/>
          </a:xfrm>
          <a:custGeom>
            <a:avLst/>
            <a:gdLst/>
            <a:ahLst/>
            <a:cxnLst/>
            <a:rect l="l" t="t" r="r" b="b"/>
            <a:pathLst>
              <a:path w="6246495">
                <a:moveTo>
                  <a:pt x="0" y="0"/>
                </a:moveTo>
                <a:lnTo>
                  <a:pt x="6245999" y="0"/>
                </a:lnTo>
              </a:path>
            </a:pathLst>
          </a:custGeom>
          <a:ln w="25920">
            <a:solidFill>
              <a:srgbClr val="BFBFBF"/>
            </a:solidFill>
          </a:ln>
        </p:spPr>
        <p:txBody>
          <a:bodyPr wrap="square" lIns="0" tIns="0" rIns="0" bIns="0" rtlCol="0"/>
          <a:lstStyle/>
          <a:p>
            <a:endParaRPr/>
          </a:p>
        </p:txBody>
      </p:sp>
      <p:sp>
        <p:nvSpPr>
          <p:cNvPr id="26" name="슬라이드 번호 개체 틀 3">
            <a:hlinkClick r:id="rId5"/>
            <a:extLst>
              <a:ext uri="{FF2B5EF4-FFF2-40B4-BE49-F238E27FC236}">
                <a16:creationId xmlns:a16="http://schemas.microsoft.com/office/drawing/2014/main" id="{DF4A9015-3D3C-3485-3A7D-11E6A5D5DD5C}"/>
              </a:ext>
            </a:extLst>
          </p:cNvPr>
          <p:cNvSpPr txBox="1">
            <a:spLocks/>
          </p:cNvSpPr>
          <p:nvPr/>
        </p:nvSpPr>
        <p:spPr>
          <a:xfrm>
            <a:off x="5151602" y="9452864"/>
            <a:ext cx="1487550"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dirty="0">
                <a:solidFill>
                  <a:prstClr val="black"/>
                </a:solidFill>
                <a:latin typeface="Arial" panose="020B0604020202020204" pitchFamily="34" charset="0"/>
                <a:cs typeface="Arial" panose="020B0604020202020204" pitchFamily="34" charset="0"/>
              </a:rPr>
              <a:t>http://www.glbltech.com/</a:t>
            </a:r>
            <a:endParaRPr lang="ko-KR" altLang="en-US" dirty="0">
              <a:solidFill>
                <a:prstClr val="black"/>
              </a:solidFill>
              <a:latin typeface="Arial" panose="020B0604020202020204" pitchFamily="34" charset="0"/>
              <a:cs typeface="Arial" panose="020B0604020202020204" pitchFamily="34" charset="0"/>
            </a:endParaRPr>
          </a:p>
        </p:txBody>
      </p:sp>
      <p:sp>
        <p:nvSpPr>
          <p:cNvPr id="28" name="object 38">
            <a:extLst>
              <a:ext uri="{FF2B5EF4-FFF2-40B4-BE49-F238E27FC236}">
                <a16:creationId xmlns:a16="http://schemas.microsoft.com/office/drawing/2014/main" id="{1E18F20D-149A-8B1D-22F5-464A387F8D05}"/>
              </a:ext>
            </a:extLst>
          </p:cNvPr>
          <p:cNvSpPr txBox="1">
            <a:spLocks/>
          </p:cNvSpPr>
          <p:nvPr/>
        </p:nvSpPr>
        <p:spPr>
          <a:xfrm>
            <a:off x="3309066" y="9547988"/>
            <a:ext cx="487045" cy="139141"/>
          </a:xfrm>
          <a:prstGeom prst="rect">
            <a:avLst/>
          </a:prstGeom>
        </p:spPr>
        <p:txBody>
          <a:bodyPr vert="horz" wrap="square" lIns="0" tIns="635" rIns="0" bIns="0" rtlCol="0">
            <a:spAutoFit/>
          </a:bodyPr>
          <a:lstStyle>
            <a:defPPr>
              <a:defRPr lang="ko-KR"/>
            </a:defPPr>
            <a:lvl1pPr marL="0" algn="l" defTabSz="914400" rtl="0" eaLnBrk="1" latinLnBrk="1" hangingPunct="1">
              <a:defRPr sz="1050" b="0" i="0" kern="1200">
                <a:solidFill>
                  <a:schemeClr val="tx1"/>
                </a:solidFill>
                <a:latin typeface="Arial"/>
                <a:ea typeface="+mn-ea"/>
                <a:cs typeface="Arial"/>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marL="12700">
              <a:spcBef>
                <a:spcPts val="5"/>
              </a:spcBef>
              <a:defRPr/>
            </a:pPr>
            <a:r>
              <a:rPr lang="en-US" sz="900" dirty="0">
                <a:solidFill>
                  <a:prstClr val="black"/>
                </a:solidFill>
              </a:rPr>
              <a:t>Page</a:t>
            </a:r>
            <a:r>
              <a:rPr lang="en-US" sz="900" spc="-60" dirty="0">
                <a:solidFill>
                  <a:prstClr val="black"/>
                </a:solidFill>
              </a:rPr>
              <a:t> </a:t>
            </a:r>
            <a:fld id="{81D60167-4931-47E6-BA6A-407CBD079E47}" type="slidenum">
              <a:rPr sz="900">
                <a:solidFill>
                  <a:prstClr val="black"/>
                </a:solidFill>
              </a:rPr>
              <a:pPr marL="12700">
                <a:spcBef>
                  <a:spcPts val="5"/>
                </a:spcBef>
                <a:defRPr/>
              </a:pPr>
              <a:t>20</a:t>
            </a:fld>
            <a:endParaRPr sz="900" dirty="0">
              <a:solidFill>
                <a:prstClr val="black"/>
              </a:solidFill>
            </a:endParaRPr>
          </a:p>
        </p:txBody>
      </p:sp>
      <p:sp>
        <p:nvSpPr>
          <p:cNvPr id="29" name="슬라이드 번호 개체 틀 3">
            <a:extLst>
              <a:ext uri="{FF2B5EF4-FFF2-40B4-BE49-F238E27FC236}">
                <a16:creationId xmlns:a16="http://schemas.microsoft.com/office/drawing/2014/main" id="{D18D28A6-2D4D-64A9-EF3B-4D0105938065}"/>
              </a:ext>
            </a:extLst>
          </p:cNvPr>
          <p:cNvSpPr txBox="1">
            <a:spLocks/>
          </p:cNvSpPr>
          <p:nvPr/>
        </p:nvSpPr>
        <p:spPr>
          <a:xfrm>
            <a:off x="299401" y="9520856"/>
            <a:ext cx="2060991" cy="175259"/>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lang="en-US" altLang="ko-KR" dirty="0">
                <a:solidFill>
                  <a:prstClr val="black"/>
                </a:solidFill>
                <a:latin typeface="Arial" panose="020B0604020202020204" pitchFamily="34" charset="0"/>
                <a:cs typeface="Arial" panose="020B0604020202020204" pitchFamily="34" charset="0"/>
              </a:rPr>
              <a:t>Dated 30-Nov 23  Rev. 01</a:t>
            </a:r>
            <a:endParaRPr lang="ko-KR" altLang="en-US" dirty="0">
              <a:solidFill>
                <a:prstClr val="black"/>
              </a:solidFill>
              <a:latin typeface="Arial" panose="020B0604020202020204" pitchFamily="34" charset="0"/>
              <a:cs typeface="Arial" panose="020B0604020202020204" pitchFamily="34" charset="0"/>
            </a:endParaRPr>
          </a:p>
        </p:txBody>
      </p:sp>
      <p:sp>
        <p:nvSpPr>
          <p:cNvPr id="30" name="Holder 3">
            <a:extLst>
              <a:ext uri="{FF2B5EF4-FFF2-40B4-BE49-F238E27FC236}">
                <a16:creationId xmlns:a16="http://schemas.microsoft.com/office/drawing/2014/main" id="{5189B7E0-1E0C-67F7-4443-DC6858659511}"/>
              </a:ext>
            </a:extLst>
          </p:cNvPr>
          <p:cNvSpPr txBox="1">
            <a:spLocks/>
          </p:cNvSpPr>
          <p:nvPr/>
        </p:nvSpPr>
        <p:spPr>
          <a:xfrm>
            <a:off x="5147476" y="203944"/>
            <a:ext cx="1447800" cy="276999"/>
          </a:xfrm>
          <a:prstGeom prst="rect">
            <a:avLst/>
          </a:prstGeom>
        </p:spPr>
        <p:txBody>
          <a:bodyPr wrap="square" lIns="0" tIns="0" rIns="0" bIns="0">
            <a:spAutoFit/>
          </a:bodyPr>
          <a:lstStyle>
            <a:lvl1pPr marL="0">
              <a:defRPr>
                <a:solidFill>
                  <a:srgbClr val="FF99FF"/>
                </a:solidFill>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defTabSz="914400" latinLnBrk="0"/>
            <a:r>
              <a:rPr lang="en-US" sz="1800" kern="0" dirty="0"/>
              <a:t>&lt;Preliminary&gt;</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p:nvPr/>
        </p:nvSpPr>
        <p:spPr>
          <a:xfrm>
            <a:off x="400913" y="301879"/>
            <a:ext cx="622935" cy="299720"/>
          </a:xfrm>
          <a:prstGeom prst="rect">
            <a:avLst/>
          </a:prstGeom>
        </p:spPr>
        <p:txBody>
          <a:bodyPr vert="horz" wrap="square" lIns="0" tIns="12700" rIns="0" bIns="0" rtlCol="0">
            <a:spAutoFit/>
          </a:bodyPr>
          <a:lstStyle/>
          <a:p>
            <a:pPr marL="12700">
              <a:lnSpc>
                <a:spcPct val="100000"/>
              </a:lnSpc>
              <a:spcBef>
                <a:spcPts val="100"/>
              </a:spcBef>
            </a:pPr>
            <a:r>
              <a:rPr sz="1800" b="1" spc="-5" dirty="0">
                <a:latin typeface="Arial"/>
                <a:cs typeface="Arial"/>
              </a:rPr>
              <a:t>CQ24</a:t>
            </a:r>
            <a:endParaRPr sz="1800" dirty="0">
              <a:latin typeface="Arial"/>
              <a:cs typeface="Arial"/>
            </a:endParaRPr>
          </a:p>
        </p:txBody>
      </p:sp>
      <p:sp>
        <p:nvSpPr>
          <p:cNvPr id="5" name="object 5"/>
          <p:cNvSpPr txBox="1"/>
          <p:nvPr/>
        </p:nvSpPr>
        <p:spPr>
          <a:xfrm>
            <a:off x="392074" y="906018"/>
            <a:ext cx="6047381" cy="228268"/>
          </a:xfrm>
          <a:prstGeom prst="rect">
            <a:avLst/>
          </a:prstGeom>
        </p:spPr>
        <p:txBody>
          <a:bodyPr vert="horz" wrap="square" lIns="0" tIns="12700" rIns="0" bIns="0" rtlCol="0">
            <a:spAutoFit/>
          </a:bodyPr>
          <a:lstStyle/>
          <a:p>
            <a:pPr marL="12700">
              <a:lnSpc>
                <a:spcPct val="100000"/>
              </a:lnSpc>
              <a:spcBef>
                <a:spcPts val="100"/>
              </a:spcBef>
            </a:pPr>
            <a:r>
              <a:rPr sz="1400" b="1" spc="-5" dirty="0">
                <a:latin typeface="Arial"/>
                <a:cs typeface="Arial"/>
              </a:rPr>
              <a:t>The</a:t>
            </a:r>
            <a:r>
              <a:rPr sz="1400" b="1" spc="-10" dirty="0">
                <a:latin typeface="Arial"/>
                <a:cs typeface="Arial"/>
              </a:rPr>
              <a:t> </a:t>
            </a:r>
            <a:r>
              <a:rPr sz="1400" b="1" spc="-5" dirty="0">
                <a:latin typeface="Arial"/>
                <a:cs typeface="Arial"/>
              </a:rPr>
              <a:t>synchronization</a:t>
            </a:r>
            <a:r>
              <a:rPr sz="1400" b="1" spc="-40" dirty="0">
                <a:latin typeface="Arial"/>
                <a:cs typeface="Arial"/>
              </a:rPr>
              <a:t> </a:t>
            </a:r>
            <a:r>
              <a:rPr sz="1400" b="1" dirty="0">
                <a:latin typeface="Arial"/>
                <a:cs typeface="Arial"/>
              </a:rPr>
              <a:t>signals</a:t>
            </a:r>
            <a:endParaRPr sz="1400" dirty="0">
              <a:latin typeface="Arial"/>
              <a:cs typeface="Arial"/>
            </a:endParaRPr>
          </a:p>
        </p:txBody>
      </p:sp>
      <p:sp>
        <p:nvSpPr>
          <p:cNvPr id="7" name="object 7"/>
          <p:cNvSpPr txBox="1"/>
          <p:nvPr/>
        </p:nvSpPr>
        <p:spPr>
          <a:xfrm>
            <a:off x="400912" y="5273624"/>
            <a:ext cx="6038541" cy="151965"/>
          </a:xfrm>
          <a:prstGeom prst="rect">
            <a:avLst/>
          </a:prstGeom>
        </p:spPr>
        <p:txBody>
          <a:bodyPr vert="horz" wrap="square" lIns="0" tIns="13335" rIns="0" bIns="0" rtlCol="0">
            <a:spAutoFit/>
          </a:bodyPr>
          <a:lstStyle/>
          <a:p>
            <a:pPr marL="12700" algn="ctr">
              <a:lnSpc>
                <a:spcPct val="100000"/>
              </a:lnSpc>
              <a:spcBef>
                <a:spcPts val="105"/>
              </a:spcBef>
            </a:pPr>
            <a:r>
              <a:rPr sz="900" b="1" spc="-5" dirty="0">
                <a:latin typeface="Arial"/>
                <a:cs typeface="Arial"/>
              </a:rPr>
              <a:t>[Figure.</a:t>
            </a:r>
            <a:r>
              <a:rPr sz="900" b="1" spc="10" dirty="0">
                <a:latin typeface="Arial"/>
                <a:cs typeface="Arial"/>
              </a:rPr>
              <a:t> </a:t>
            </a:r>
            <a:r>
              <a:rPr lang="en-US" sz="900" b="1" spc="10" dirty="0">
                <a:latin typeface="Arial"/>
                <a:cs typeface="Arial"/>
              </a:rPr>
              <a:t>14</a:t>
            </a:r>
            <a:r>
              <a:rPr sz="900" b="1" spc="-5" dirty="0">
                <a:latin typeface="Arial"/>
                <a:cs typeface="Arial"/>
              </a:rPr>
              <a:t>]</a:t>
            </a:r>
            <a:r>
              <a:rPr sz="900" b="1" spc="15" dirty="0">
                <a:latin typeface="Arial"/>
                <a:cs typeface="Arial"/>
              </a:rPr>
              <a:t> </a:t>
            </a:r>
            <a:r>
              <a:rPr sz="900" b="1" dirty="0">
                <a:latin typeface="Arial"/>
                <a:cs typeface="Arial"/>
              </a:rPr>
              <a:t>The</a:t>
            </a:r>
            <a:r>
              <a:rPr sz="900" b="1" spc="5" dirty="0">
                <a:latin typeface="Arial"/>
                <a:cs typeface="Arial"/>
              </a:rPr>
              <a:t> </a:t>
            </a:r>
            <a:r>
              <a:rPr sz="900" b="1" spc="-5" dirty="0">
                <a:latin typeface="Arial"/>
                <a:cs typeface="Arial"/>
              </a:rPr>
              <a:t>internal</a:t>
            </a:r>
            <a:r>
              <a:rPr sz="900" b="1" spc="20" dirty="0">
                <a:latin typeface="Arial"/>
                <a:cs typeface="Arial"/>
              </a:rPr>
              <a:t> </a:t>
            </a:r>
            <a:r>
              <a:rPr sz="900" b="1" dirty="0">
                <a:latin typeface="Arial"/>
                <a:cs typeface="Arial"/>
              </a:rPr>
              <a:t>local</a:t>
            </a:r>
            <a:r>
              <a:rPr sz="900" b="1" spc="5" dirty="0">
                <a:latin typeface="Arial"/>
                <a:cs typeface="Arial"/>
              </a:rPr>
              <a:t> </a:t>
            </a:r>
            <a:r>
              <a:rPr sz="900" b="1" dirty="0">
                <a:latin typeface="Arial"/>
                <a:cs typeface="Arial"/>
              </a:rPr>
              <a:t>dimming</a:t>
            </a:r>
            <a:r>
              <a:rPr sz="900" b="1" spc="-15" dirty="0">
                <a:latin typeface="Arial"/>
                <a:cs typeface="Arial"/>
              </a:rPr>
              <a:t> </a:t>
            </a:r>
            <a:r>
              <a:rPr sz="900" b="1" spc="-5" dirty="0">
                <a:latin typeface="Arial"/>
                <a:cs typeface="Arial"/>
              </a:rPr>
              <a:t>synchronization</a:t>
            </a:r>
            <a:r>
              <a:rPr sz="900" b="1" spc="15" dirty="0">
                <a:latin typeface="Arial"/>
                <a:cs typeface="Arial"/>
              </a:rPr>
              <a:t> </a:t>
            </a:r>
            <a:r>
              <a:rPr sz="900" b="1" dirty="0">
                <a:latin typeface="Arial"/>
                <a:cs typeface="Arial"/>
              </a:rPr>
              <a:t>signals</a:t>
            </a:r>
          </a:p>
        </p:txBody>
      </p:sp>
      <p:sp>
        <p:nvSpPr>
          <p:cNvPr id="8" name="object 8"/>
          <p:cNvSpPr txBox="1"/>
          <p:nvPr/>
        </p:nvSpPr>
        <p:spPr>
          <a:xfrm>
            <a:off x="393700" y="5969472"/>
            <a:ext cx="6045753" cy="236474"/>
          </a:xfrm>
          <a:prstGeom prst="rect">
            <a:avLst/>
          </a:prstGeom>
        </p:spPr>
        <p:txBody>
          <a:bodyPr vert="horz" wrap="square" lIns="0" tIns="13335" rIns="0" bIns="0" rtlCol="0">
            <a:spAutoFit/>
          </a:bodyPr>
          <a:lstStyle/>
          <a:p>
            <a:pPr marL="12700">
              <a:lnSpc>
                <a:spcPct val="100000"/>
              </a:lnSpc>
              <a:spcBef>
                <a:spcPts val="105"/>
              </a:spcBef>
            </a:pPr>
            <a:r>
              <a:rPr sz="1400" b="1" spc="-5" dirty="0">
                <a:latin typeface="Arial"/>
                <a:cs typeface="Arial"/>
              </a:rPr>
              <a:t>The</a:t>
            </a:r>
            <a:r>
              <a:rPr sz="1400" b="1" spc="-20" dirty="0">
                <a:latin typeface="Arial"/>
                <a:cs typeface="Arial"/>
              </a:rPr>
              <a:t> </a:t>
            </a:r>
            <a:r>
              <a:rPr sz="1400" b="1" spc="-5" dirty="0">
                <a:latin typeface="Arial"/>
                <a:cs typeface="Arial"/>
              </a:rPr>
              <a:t>local</a:t>
            </a:r>
            <a:r>
              <a:rPr sz="1400" b="1" spc="-45" dirty="0">
                <a:latin typeface="Arial"/>
                <a:cs typeface="Arial"/>
              </a:rPr>
              <a:t> </a:t>
            </a:r>
            <a:r>
              <a:rPr sz="1400" b="1" spc="-5" dirty="0">
                <a:latin typeface="Arial"/>
                <a:cs typeface="Arial"/>
              </a:rPr>
              <a:t>dimming</a:t>
            </a:r>
            <a:r>
              <a:rPr sz="1400" b="1" spc="-35" dirty="0">
                <a:latin typeface="Arial"/>
                <a:cs typeface="Arial"/>
              </a:rPr>
              <a:t> </a:t>
            </a:r>
            <a:r>
              <a:rPr sz="1400" b="1" spc="-5" dirty="0">
                <a:latin typeface="Arial"/>
                <a:cs typeface="Arial"/>
              </a:rPr>
              <a:t>modes</a:t>
            </a:r>
            <a:endParaRPr sz="1400" dirty="0">
              <a:latin typeface="Arial"/>
              <a:cs typeface="Arial"/>
            </a:endParaRPr>
          </a:p>
        </p:txBody>
      </p:sp>
      <p:pic>
        <p:nvPicPr>
          <p:cNvPr id="10" name="object 10"/>
          <p:cNvPicPr/>
          <p:nvPr/>
        </p:nvPicPr>
        <p:blipFill>
          <a:blip r:embed="rId2" cstate="print"/>
          <a:stretch>
            <a:fillRect/>
          </a:stretch>
        </p:blipFill>
        <p:spPr>
          <a:xfrm>
            <a:off x="838201" y="3591745"/>
            <a:ext cx="5334000" cy="1320480"/>
          </a:xfrm>
          <a:prstGeom prst="rect">
            <a:avLst/>
          </a:prstGeom>
        </p:spPr>
      </p:pic>
      <p:sp>
        <p:nvSpPr>
          <p:cNvPr id="14" name="TextBox 13">
            <a:extLst>
              <a:ext uri="{FF2B5EF4-FFF2-40B4-BE49-F238E27FC236}">
                <a16:creationId xmlns:a16="http://schemas.microsoft.com/office/drawing/2014/main" id="{16035CE5-9459-9FAA-F86C-8DA7B9E1CF4E}"/>
              </a:ext>
            </a:extLst>
          </p:cNvPr>
          <p:cNvSpPr txBox="1"/>
          <p:nvPr/>
        </p:nvSpPr>
        <p:spPr>
          <a:xfrm>
            <a:off x="400912" y="1276724"/>
            <a:ext cx="6038541" cy="1938992"/>
          </a:xfrm>
          <a:prstGeom prst="rect">
            <a:avLst/>
          </a:prstGeom>
          <a:noFill/>
        </p:spPr>
        <p:txBody>
          <a:bodyPr wrap="square" lIns="0" tIns="0" rIns="0" bIns="0" rtlCol="0">
            <a:spAutoFit/>
          </a:bodyPr>
          <a:lstStyle/>
          <a:p>
            <a:pPr algn="just"/>
            <a:r>
              <a:rPr lang="en-US" altLang="ko-KR" sz="900" spc="-5" dirty="0">
                <a:latin typeface="Arial"/>
                <a:cs typeface="Arial"/>
              </a:rPr>
              <a:t>The </a:t>
            </a:r>
            <a:r>
              <a:rPr lang="en-US" altLang="ko-KR" sz="900" dirty="0">
                <a:latin typeface="Arial"/>
                <a:cs typeface="Arial"/>
              </a:rPr>
              <a:t>internal</a:t>
            </a:r>
            <a:r>
              <a:rPr lang="en-US" altLang="ko-KR" sz="900" spc="-10" dirty="0">
                <a:latin typeface="Arial"/>
                <a:cs typeface="Arial"/>
              </a:rPr>
              <a:t> </a:t>
            </a:r>
            <a:r>
              <a:rPr lang="en-US" altLang="ko-KR" sz="900" dirty="0">
                <a:latin typeface="Arial"/>
                <a:cs typeface="Arial"/>
              </a:rPr>
              <a:t>synchronization</a:t>
            </a:r>
            <a:r>
              <a:rPr lang="en-US" altLang="ko-KR" sz="900" spc="-35" dirty="0">
                <a:latin typeface="Arial"/>
                <a:cs typeface="Arial"/>
              </a:rPr>
              <a:t> </a:t>
            </a:r>
            <a:r>
              <a:rPr lang="en-US" altLang="ko-KR" sz="900" dirty="0">
                <a:latin typeface="Arial"/>
                <a:cs typeface="Arial"/>
              </a:rPr>
              <a:t>signals,</a:t>
            </a:r>
            <a:r>
              <a:rPr lang="en-US" altLang="ko-KR" sz="900" spc="-25" dirty="0">
                <a:latin typeface="Arial"/>
                <a:cs typeface="Arial"/>
              </a:rPr>
              <a:t> </a:t>
            </a:r>
            <a:r>
              <a:rPr lang="en-US" altLang="ko-KR" sz="900" dirty="0">
                <a:latin typeface="Arial"/>
                <a:cs typeface="Arial"/>
              </a:rPr>
              <a:t>svsync</a:t>
            </a:r>
            <a:r>
              <a:rPr lang="en-US" altLang="ko-KR" sz="900" spc="5" dirty="0">
                <a:latin typeface="Arial"/>
                <a:cs typeface="Arial"/>
              </a:rPr>
              <a:t> </a:t>
            </a:r>
            <a:r>
              <a:rPr lang="en-US" altLang="ko-KR" sz="900" dirty="0">
                <a:latin typeface="Arial"/>
                <a:cs typeface="Arial"/>
              </a:rPr>
              <a:t>and</a:t>
            </a:r>
            <a:r>
              <a:rPr lang="en-US" altLang="ko-KR" sz="900" spc="5" dirty="0">
                <a:latin typeface="Arial"/>
                <a:cs typeface="Arial"/>
              </a:rPr>
              <a:t> </a:t>
            </a:r>
            <a:r>
              <a:rPr lang="en-US" altLang="ko-KR" sz="900" dirty="0">
                <a:latin typeface="Arial"/>
                <a:cs typeface="Arial"/>
              </a:rPr>
              <a:t>shsync,</a:t>
            </a:r>
            <a:r>
              <a:rPr lang="en-US" altLang="ko-KR" sz="900" spc="-15" dirty="0">
                <a:latin typeface="Arial"/>
                <a:cs typeface="Arial"/>
              </a:rPr>
              <a:t> </a:t>
            </a:r>
            <a:r>
              <a:rPr lang="en-US" altLang="ko-KR" sz="900" dirty="0">
                <a:latin typeface="Arial"/>
                <a:cs typeface="Arial"/>
              </a:rPr>
              <a:t>are</a:t>
            </a:r>
            <a:r>
              <a:rPr lang="en-US" altLang="ko-KR" sz="900" spc="5" dirty="0">
                <a:latin typeface="Arial"/>
                <a:cs typeface="Arial"/>
              </a:rPr>
              <a:t> </a:t>
            </a:r>
            <a:r>
              <a:rPr lang="en-US" altLang="ko-KR" sz="900" dirty="0">
                <a:latin typeface="Arial"/>
                <a:cs typeface="Arial"/>
              </a:rPr>
              <a:t>generated</a:t>
            </a:r>
            <a:r>
              <a:rPr lang="en-US" altLang="ko-KR" sz="900" spc="-10" dirty="0">
                <a:latin typeface="Arial"/>
                <a:cs typeface="Arial"/>
              </a:rPr>
              <a:t> </a:t>
            </a:r>
            <a:r>
              <a:rPr lang="en-US" altLang="ko-KR" sz="900" dirty="0">
                <a:latin typeface="Arial"/>
                <a:cs typeface="Arial"/>
              </a:rPr>
              <a:t>by</a:t>
            </a:r>
            <a:r>
              <a:rPr lang="en-US" altLang="ko-KR" sz="900" spc="5" dirty="0">
                <a:latin typeface="Arial"/>
                <a:cs typeface="Arial"/>
              </a:rPr>
              <a:t> </a:t>
            </a:r>
            <a:r>
              <a:rPr lang="en-US" altLang="ko-KR" sz="900" dirty="0">
                <a:latin typeface="Arial"/>
                <a:cs typeface="Arial"/>
              </a:rPr>
              <a:t>set</a:t>
            </a:r>
            <a:r>
              <a:rPr lang="en-US" altLang="ko-KR" sz="900" spc="5" dirty="0">
                <a:latin typeface="Arial"/>
                <a:cs typeface="Arial"/>
              </a:rPr>
              <a:t> </a:t>
            </a:r>
            <a:r>
              <a:rPr lang="en-US" altLang="ko-KR" sz="900" dirty="0">
                <a:latin typeface="Arial"/>
                <a:cs typeface="Arial"/>
              </a:rPr>
              <a:t>of the</a:t>
            </a:r>
            <a:r>
              <a:rPr lang="en-US" altLang="ko-KR" sz="900" spc="5" dirty="0">
                <a:latin typeface="Arial"/>
                <a:cs typeface="Arial"/>
              </a:rPr>
              <a:t> </a:t>
            </a:r>
            <a:r>
              <a:rPr lang="en-US" altLang="ko-KR" sz="900" spc="-5" dirty="0">
                <a:latin typeface="Arial"/>
                <a:cs typeface="Arial"/>
              </a:rPr>
              <a:t>SVSYNC_PERIOD, </a:t>
            </a:r>
            <a:r>
              <a:rPr lang="en-US" altLang="ko-KR" sz="900" dirty="0">
                <a:latin typeface="Arial"/>
                <a:cs typeface="Arial"/>
              </a:rPr>
              <a:t>the</a:t>
            </a:r>
            <a:r>
              <a:rPr lang="en-US" altLang="ko-KR" sz="900" spc="10" dirty="0">
                <a:latin typeface="Arial"/>
                <a:cs typeface="Arial"/>
              </a:rPr>
              <a:t> </a:t>
            </a:r>
            <a:r>
              <a:rPr lang="en-US" altLang="ko-KR" sz="900" spc="-5" dirty="0">
                <a:latin typeface="Arial"/>
                <a:cs typeface="Arial"/>
              </a:rPr>
              <a:t>SHSYNC_PERIOD,</a:t>
            </a:r>
            <a:r>
              <a:rPr lang="en-US" altLang="ko-KR" sz="900" spc="25" dirty="0">
                <a:latin typeface="Arial"/>
                <a:cs typeface="Arial"/>
              </a:rPr>
              <a:t> </a:t>
            </a:r>
            <a:r>
              <a:rPr lang="en-US" altLang="ko-KR" sz="900" dirty="0">
                <a:latin typeface="Arial"/>
                <a:cs typeface="Arial"/>
              </a:rPr>
              <a:t>the</a:t>
            </a:r>
            <a:r>
              <a:rPr lang="en-US" altLang="ko-KR" sz="900" spc="10" dirty="0">
                <a:latin typeface="Arial"/>
                <a:cs typeface="Arial"/>
              </a:rPr>
              <a:t> </a:t>
            </a:r>
            <a:r>
              <a:rPr lang="en-US" altLang="ko-KR" sz="900" spc="-5" dirty="0">
                <a:latin typeface="Arial"/>
                <a:cs typeface="Arial"/>
              </a:rPr>
              <a:t>SVSYNC_PERIOD</a:t>
            </a:r>
            <a:r>
              <a:rPr lang="en-US" altLang="ko-KR" sz="900" spc="45" dirty="0">
                <a:latin typeface="Arial"/>
                <a:cs typeface="Arial"/>
              </a:rPr>
              <a:t> </a:t>
            </a:r>
            <a:r>
              <a:rPr lang="en-US" altLang="ko-KR" sz="900" dirty="0">
                <a:latin typeface="Arial"/>
                <a:cs typeface="Arial"/>
              </a:rPr>
              <a:t>and</a:t>
            </a:r>
            <a:r>
              <a:rPr lang="en-US" altLang="ko-KR" sz="900" spc="10" dirty="0">
                <a:latin typeface="Arial"/>
                <a:cs typeface="Arial"/>
              </a:rPr>
              <a:t> </a:t>
            </a:r>
            <a:r>
              <a:rPr lang="en-US" altLang="ko-KR" sz="900" dirty="0">
                <a:latin typeface="Arial"/>
                <a:cs typeface="Arial"/>
              </a:rPr>
              <a:t>the</a:t>
            </a:r>
            <a:r>
              <a:rPr lang="en-US" altLang="ko-KR" sz="900" spc="15" dirty="0">
                <a:latin typeface="Arial"/>
                <a:cs typeface="Arial"/>
              </a:rPr>
              <a:t> </a:t>
            </a:r>
            <a:r>
              <a:rPr lang="en-US" altLang="ko-KR" sz="900" spc="-5" dirty="0">
                <a:latin typeface="Arial"/>
                <a:cs typeface="Arial"/>
              </a:rPr>
              <a:t>SHSYNC_PERIOD</a:t>
            </a:r>
            <a:r>
              <a:rPr lang="en-US" altLang="ko-KR" sz="900" spc="25" dirty="0">
                <a:latin typeface="Arial"/>
                <a:cs typeface="Arial"/>
              </a:rPr>
              <a:t> </a:t>
            </a:r>
            <a:r>
              <a:rPr lang="en-US" altLang="ko-KR" sz="900" dirty="0">
                <a:latin typeface="Arial"/>
                <a:cs typeface="Arial"/>
              </a:rPr>
              <a:t>register</a:t>
            </a:r>
            <a:r>
              <a:rPr lang="en-US" altLang="ko-KR" sz="900" spc="-10" dirty="0">
                <a:latin typeface="Arial"/>
                <a:cs typeface="Arial"/>
              </a:rPr>
              <a:t> </a:t>
            </a:r>
            <a:r>
              <a:rPr lang="en-US" altLang="ko-KR" sz="900" spc="-5" dirty="0">
                <a:latin typeface="Arial"/>
                <a:cs typeface="Arial"/>
              </a:rPr>
              <a:t>which</a:t>
            </a:r>
            <a:r>
              <a:rPr lang="en-US" altLang="ko-KR" sz="900" spc="10" dirty="0">
                <a:latin typeface="Arial"/>
                <a:cs typeface="Arial"/>
              </a:rPr>
              <a:t> </a:t>
            </a:r>
            <a:r>
              <a:rPr lang="en-US" altLang="ko-KR" sz="900" dirty="0">
                <a:latin typeface="Arial"/>
                <a:cs typeface="Arial"/>
              </a:rPr>
              <a:t>are</a:t>
            </a:r>
            <a:r>
              <a:rPr lang="en-US" altLang="ko-KR" sz="900" spc="25" dirty="0">
                <a:latin typeface="Arial"/>
                <a:cs typeface="Arial"/>
              </a:rPr>
              <a:t> </a:t>
            </a:r>
            <a:r>
              <a:rPr lang="en-US" altLang="ko-KR" sz="900" dirty="0">
                <a:latin typeface="Arial"/>
                <a:cs typeface="Arial"/>
              </a:rPr>
              <a:t>counted</a:t>
            </a:r>
            <a:r>
              <a:rPr lang="en-US" altLang="ko-KR" sz="900" spc="-15" dirty="0">
                <a:latin typeface="Arial"/>
                <a:cs typeface="Arial"/>
              </a:rPr>
              <a:t> </a:t>
            </a:r>
            <a:r>
              <a:rPr lang="en-US" altLang="ko-KR" sz="900" spc="-5" dirty="0">
                <a:latin typeface="Arial"/>
                <a:cs typeface="Arial"/>
              </a:rPr>
              <a:t>with</a:t>
            </a:r>
            <a:r>
              <a:rPr lang="en-US" altLang="ko-KR" sz="900" spc="20" dirty="0">
                <a:latin typeface="Arial"/>
                <a:cs typeface="Arial"/>
              </a:rPr>
              <a:t> </a:t>
            </a:r>
            <a:r>
              <a:rPr lang="en-US" altLang="ko-KR" sz="900" dirty="0">
                <a:latin typeface="Arial"/>
                <a:cs typeface="Arial"/>
              </a:rPr>
              <a:t>internal </a:t>
            </a:r>
            <a:r>
              <a:rPr lang="en-US" altLang="ko-KR" sz="900" spc="-235" dirty="0">
                <a:latin typeface="Arial"/>
                <a:cs typeface="Arial"/>
              </a:rPr>
              <a:t> </a:t>
            </a:r>
            <a:r>
              <a:rPr lang="en-US" altLang="ko-KR" sz="900" dirty="0">
                <a:latin typeface="Arial"/>
                <a:cs typeface="Arial"/>
              </a:rPr>
              <a:t>or</a:t>
            </a:r>
            <a:r>
              <a:rPr lang="en-US" altLang="ko-KR" sz="900" spc="-15" dirty="0">
                <a:latin typeface="Arial"/>
                <a:cs typeface="Arial"/>
              </a:rPr>
              <a:t> </a:t>
            </a:r>
            <a:r>
              <a:rPr lang="en-US" altLang="ko-KR" sz="900" spc="-5" dirty="0">
                <a:latin typeface="Arial"/>
                <a:cs typeface="Arial"/>
              </a:rPr>
              <a:t>external</a:t>
            </a:r>
            <a:r>
              <a:rPr lang="en-US" altLang="ko-KR" sz="900" dirty="0">
                <a:latin typeface="Arial"/>
                <a:cs typeface="Arial"/>
              </a:rPr>
              <a:t> </a:t>
            </a:r>
            <a:r>
              <a:rPr lang="en-US" altLang="ko-KR" sz="900" spc="-5" dirty="0">
                <a:latin typeface="Arial"/>
                <a:cs typeface="Arial"/>
              </a:rPr>
              <a:t>MCLK.</a:t>
            </a:r>
          </a:p>
          <a:p>
            <a:pPr algn="just"/>
            <a:endParaRPr lang="en-US" altLang="ko-KR" sz="900" dirty="0">
              <a:latin typeface="Arial" panose="020B0604020202020204" pitchFamily="34" charset="0"/>
              <a:cs typeface="Arial" panose="020B0604020202020204" pitchFamily="34" charset="0"/>
            </a:endParaRPr>
          </a:p>
          <a:p>
            <a:pPr algn="just"/>
            <a:r>
              <a:rPr lang="en-US" altLang="ko-KR" sz="900" dirty="0">
                <a:latin typeface="Arial" panose="020B0604020202020204" pitchFamily="34" charset="0"/>
                <a:cs typeface="Arial" panose="020B0604020202020204" pitchFamily="34" charset="0"/>
              </a:rPr>
              <a:t>First, </a:t>
            </a:r>
            <a:r>
              <a:rPr lang="en-US" altLang="ko-KR" sz="900" dirty="0">
                <a:latin typeface="Arial"/>
                <a:cs typeface="Arial"/>
              </a:rPr>
              <a:t>it needs to determine how many </a:t>
            </a:r>
            <a:r>
              <a:rPr lang="en-US" altLang="ko-KR" sz="900" spc="-5" dirty="0">
                <a:latin typeface="Arial"/>
                <a:cs typeface="Arial"/>
              </a:rPr>
              <a:t>sub-frames are generated </a:t>
            </a:r>
            <a:r>
              <a:rPr lang="en-US" altLang="ko-KR" sz="900" dirty="0">
                <a:latin typeface="Arial"/>
                <a:cs typeface="Arial"/>
              </a:rPr>
              <a:t>for </a:t>
            </a:r>
            <a:r>
              <a:rPr lang="en-US" altLang="ko-KR" sz="900" spc="-5" dirty="0">
                <a:latin typeface="Arial"/>
                <a:cs typeface="Arial"/>
              </a:rPr>
              <a:t>one </a:t>
            </a:r>
            <a:r>
              <a:rPr lang="en-US" altLang="ko-KR" sz="900" dirty="0">
                <a:latin typeface="Arial"/>
                <a:cs typeface="Arial"/>
              </a:rPr>
              <a:t>source frame </a:t>
            </a:r>
            <a:r>
              <a:rPr lang="en-US" altLang="ko-KR" sz="900" spc="-5" dirty="0">
                <a:latin typeface="Arial"/>
                <a:cs typeface="Arial"/>
              </a:rPr>
              <a:t>period, 100 </a:t>
            </a:r>
            <a:r>
              <a:rPr lang="en-US" altLang="ko-KR" sz="900" dirty="0">
                <a:latin typeface="Arial"/>
                <a:cs typeface="Arial"/>
              </a:rPr>
              <a:t>~ </a:t>
            </a:r>
            <a:r>
              <a:rPr lang="en-US" altLang="ko-KR" sz="900" spc="-5" dirty="0">
                <a:latin typeface="Arial"/>
                <a:cs typeface="Arial"/>
              </a:rPr>
              <a:t>960hz. If</a:t>
            </a:r>
            <a:r>
              <a:rPr lang="en-US" altLang="ko-KR" sz="900" spc="-10" dirty="0">
                <a:latin typeface="Arial"/>
                <a:cs typeface="Arial"/>
              </a:rPr>
              <a:t> </a:t>
            </a:r>
            <a:r>
              <a:rPr lang="en-US" altLang="ko-KR" sz="900" dirty="0">
                <a:latin typeface="Arial"/>
                <a:cs typeface="Arial"/>
              </a:rPr>
              <a:t>the</a:t>
            </a:r>
            <a:r>
              <a:rPr lang="en-US" altLang="ko-KR" sz="900" spc="-5" dirty="0">
                <a:latin typeface="Arial"/>
                <a:cs typeface="Arial"/>
              </a:rPr>
              <a:t> </a:t>
            </a:r>
            <a:r>
              <a:rPr lang="en-US" altLang="ko-KR" sz="900" dirty="0">
                <a:latin typeface="Arial"/>
                <a:cs typeface="Arial"/>
              </a:rPr>
              <a:t>target</a:t>
            </a:r>
            <a:r>
              <a:rPr lang="en-US" altLang="ko-KR" sz="900" spc="-10" dirty="0">
                <a:latin typeface="Arial"/>
                <a:cs typeface="Arial"/>
              </a:rPr>
              <a:t> </a:t>
            </a:r>
            <a:r>
              <a:rPr lang="en-US" altLang="ko-KR" sz="900" dirty="0">
                <a:latin typeface="Arial"/>
                <a:cs typeface="Arial"/>
              </a:rPr>
              <a:t>of</a:t>
            </a:r>
            <a:r>
              <a:rPr lang="en-US" altLang="ko-KR" sz="900" spc="-10" dirty="0">
                <a:latin typeface="Arial"/>
                <a:cs typeface="Arial"/>
              </a:rPr>
              <a:t> </a:t>
            </a:r>
            <a:r>
              <a:rPr lang="en-US" altLang="ko-KR" sz="900" dirty="0">
                <a:latin typeface="Arial"/>
                <a:cs typeface="Arial"/>
              </a:rPr>
              <a:t>sub-frame</a:t>
            </a:r>
            <a:r>
              <a:rPr lang="en-US" altLang="ko-KR" sz="900" spc="-20" dirty="0">
                <a:latin typeface="Arial"/>
                <a:cs typeface="Arial"/>
              </a:rPr>
              <a:t> </a:t>
            </a:r>
            <a:r>
              <a:rPr lang="en-US" altLang="ko-KR" sz="900" dirty="0">
                <a:latin typeface="Arial"/>
                <a:cs typeface="Arial"/>
              </a:rPr>
              <a:t>number</a:t>
            </a:r>
            <a:r>
              <a:rPr lang="en-US" altLang="ko-KR" sz="900" spc="-25" dirty="0">
                <a:latin typeface="Arial"/>
                <a:cs typeface="Arial"/>
              </a:rPr>
              <a:t> </a:t>
            </a:r>
            <a:r>
              <a:rPr lang="en-US" altLang="ko-KR" sz="900" spc="-5" dirty="0">
                <a:latin typeface="Arial"/>
                <a:cs typeface="Arial"/>
              </a:rPr>
              <a:t>is </a:t>
            </a:r>
            <a:r>
              <a:rPr lang="en-US" altLang="ko-KR" sz="900" dirty="0">
                <a:latin typeface="Arial"/>
                <a:cs typeface="Arial"/>
              </a:rPr>
              <a:t>determined,</a:t>
            </a:r>
            <a:r>
              <a:rPr lang="en-US" altLang="ko-KR" sz="900" spc="-45" dirty="0">
                <a:latin typeface="Arial"/>
                <a:cs typeface="Arial"/>
              </a:rPr>
              <a:t> </a:t>
            </a:r>
            <a:r>
              <a:rPr lang="en-US" altLang="ko-KR" sz="900" dirty="0">
                <a:latin typeface="Arial"/>
                <a:cs typeface="Arial"/>
              </a:rPr>
              <a:t>this</a:t>
            </a:r>
            <a:r>
              <a:rPr lang="en-US" altLang="ko-KR" sz="900" spc="-5" dirty="0">
                <a:latin typeface="Arial"/>
                <a:cs typeface="Arial"/>
              </a:rPr>
              <a:t> </a:t>
            </a:r>
            <a:r>
              <a:rPr lang="en-US" altLang="ko-KR" sz="900" dirty="0">
                <a:latin typeface="Arial"/>
                <a:cs typeface="Arial"/>
              </a:rPr>
              <a:t>number</a:t>
            </a:r>
            <a:r>
              <a:rPr lang="en-US" altLang="ko-KR" sz="900" spc="-25" dirty="0">
                <a:latin typeface="Arial"/>
                <a:cs typeface="Arial"/>
              </a:rPr>
              <a:t> </a:t>
            </a:r>
            <a:r>
              <a:rPr lang="en-US" altLang="ko-KR" sz="900" dirty="0">
                <a:latin typeface="Arial"/>
                <a:cs typeface="Arial"/>
              </a:rPr>
              <a:t>can</a:t>
            </a:r>
            <a:r>
              <a:rPr lang="en-US" altLang="ko-KR" sz="900" spc="-5" dirty="0">
                <a:latin typeface="Arial"/>
                <a:cs typeface="Arial"/>
              </a:rPr>
              <a:t> be</a:t>
            </a:r>
            <a:r>
              <a:rPr lang="en-US" altLang="ko-KR" sz="900" spc="-10" dirty="0">
                <a:latin typeface="Arial"/>
                <a:cs typeface="Arial"/>
              </a:rPr>
              <a:t> </a:t>
            </a:r>
            <a:r>
              <a:rPr lang="en-US" altLang="ko-KR" sz="900" dirty="0">
                <a:latin typeface="Arial"/>
                <a:cs typeface="Arial"/>
              </a:rPr>
              <a:t>set</a:t>
            </a:r>
            <a:r>
              <a:rPr lang="en-US" altLang="ko-KR" sz="900" spc="-10" dirty="0">
                <a:latin typeface="Arial"/>
                <a:cs typeface="Arial"/>
              </a:rPr>
              <a:t> </a:t>
            </a:r>
            <a:r>
              <a:rPr lang="en-US" altLang="ko-KR" sz="900" dirty="0">
                <a:latin typeface="Arial"/>
                <a:cs typeface="Arial"/>
              </a:rPr>
              <a:t>to</a:t>
            </a:r>
            <a:r>
              <a:rPr lang="en-US" altLang="ko-KR" sz="900" spc="-10" dirty="0">
                <a:latin typeface="Arial"/>
                <a:cs typeface="Arial"/>
              </a:rPr>
              <a:t> </a:t>
            </a:r>
            <a:r>
              <a:rPr lang="en-US" altLang="ko-KR" sz="900" dirty="0">
                <a:latin typeface="Arial"/>
                <a:cs typeface="Arial"/>
              </a:rPr>
              <a:t>the</a:t>
            </a:r>
            <a:r>
              <a:rPr lang="en-US" altLang="ko-KR" sz="900" spc="-10" dirty="0">
                <a:latin typeface="Arial"/>
                <a:cs typeface="Arial"/>
              </a:rPr>
              <a:t> </a:t>
            </a:r>
            <a:r>
              <a:rPr lang="en-US" altLang="ko-KR" sz="900" spc="-5" dirty="0">
                <a:latin typeface="Arial"/>
                <a:cs typeface="Arial"/>
              </a:rPr>
              <a:t>SVSYNC_SIZE</a:t>
            </a:r>
            <a:r>
              <a:rPr lang="en-US" altLang="ko-KR" sz="900" dirty="0">
                <a:latin typeface="Arial"/>
                <a:cs typeface="Arial"/>
              </a:rPr>
              <a:t> register. Second,</a:t>
            </a:r>
            <a:r>
              <a:rPr lang="en-US" altLang="ko-KR" sz="900" spc="-20" dirty="0">
                <a:latin typeface="Arial"/>
                <a:cs typeface="Arial"/>
              </a:rPr>
              <a:t> </a:t>
            </a:r>
            <a:r>
              <a:rPr lang="en-US" altLang="ko-KR" sz="900" dirty="0">
                <a:latin typeface="Arial"/>
                <a:cs typeface="Arial"/>
              </a:rPr>
              <a:t>it</a:t>
            </a:r>
            <a:r>
              <a:rPr lang="en-US" altLang="ko-KR" sz="900" spc="-5" dirty="0">
                <a:latin typeface="Arial"/>
                <a:cs typeface="Arial"/>
              </a:rPr>
              <a:t> </a:t>
            </a:r>
            <a:r>
              <a:rPr lang="en-US" altLang="ko-KR" sz="900" dirty="0">
                <a:latin typeface="Arial"/>
                <a:cs typeface="Arial"/>
              </a:rPr>
              <a:t>needs</a:t>
            </a:r>
            <a:r>
              <a:rPr lang="en-US" altLang="ko-KR" sz="900" spc="-15" dirty="0">
                <a:latin typeface="Arial"/>
                <a:cs typeface="Arial"/>
              </a:rPr>
              <a:t> </a:t>
            </a:r>
            <a:r>
              <a:rPr lang="en-US" altLang="ko-KR" sz="900" dirty="0">
                <a:latin typeface="Arial"/>
                <a:cs typeface="Arial"/>
              </a:rPr>
              <a:t>to determine</a:t>
            </a:r>
            <a:r>
              <a:rPr lang="en-US" altLang="ko-KR" sz="900" spc="-15" dirty="0">
                <a:latin typeface="Arial"/>
                <a:cs typeface="Arial"/>
              </a:rPr>
              <a:t> </a:t>
            </a:r>
            <a:r>
              <a:rPr lang="en-US" altLang="ko-KR" sz="900" dirty="0">
                <a:latin typeface="Arial"/>
                <a:cs typeface="Arial"/>
              </a:rPr>
              <a:t>how</a:t>
            </a:r>
            <a:r>
              <a:rPr lang="en-US" altLang="ko-KR" sz="900" spc="-10" dirty="0">
                <a:latin typeface="Arial"/>
                <a:cs typeface="Arial"/>
              </a:rPr>
              <a:t> </a:t>
            </a:r>
            <a:r>
              <a:rPr lang="en-US" altLang="ko-KR" sz="900" dirty="0">
                <a:latin typeface="Arial"/>
                <a:cs typeface="Arial"/>
              </a:rPr>
              <a:t>many</a:t>
            </a:r>
            <a:r>
              <a:rPr lang="en-US" altLang="ko-KR" sz="900" spc="-10" dirty="0">
                <a:latin typeface="Arial"/>
                <a:cs typeface="Arial"/>
              </a:rPr>
              <a:t> </a:t>
            </a:r>
            <a:r>
              <a:rPr lang="en-US" altLang="ko-KR" sz="900" dirty="0">
                <a:latin typeface="Arial"/>
                <a:cs typeface="Arial"/>
              </a:rPr>
              <a:t>lines</a:t>
            </a:r>
            <a:r>
              <a:rPr lang="en-US" altLang="ko-KR" sz="900" spc="-15" dirty="0">
                <a:latin typeface="Arial"/>
                <a:cs typeface="Arial"/>
              </a:rPr>
              <a:t> </a:t>
            </a:r>
            <a:r>
              <a:rPr lang="en-US" altLang="ko-KR" sz="900" dirty="0">
                <a:latin typeface="Arial"/>
                <a:cs typeface="Arial"/>
              </a:rPr>
              <a:t>are dimmed</a:t>
            </a:r>
            <a:r>
              <a:rPr lang="en-US" altLang="ko-KR" sz="900" spc="-15" dirty="0">
                <a:latin typeface="Arial"/>
                <a:cs typeface="Arial"/>
              </a:rPr>
              <a:t> </a:t>
            </a:r>
            <a:r>
              <a:rPr lang="en-US" altLang="ko-KR" sz="900" dirty="0">
                <a:latin typeface="Arial"/>
                <a:cs typeface="Arial"/>
              </a:rPr>
              <a:t>for</a:t>
            </a:r>
            <a:r>
              <a:rPr lang="en-US" altLang="ko-KR" sz="900" spc="-5" dirty="0">
                <a:latin typeface="Arial"/>
                <a:cs typeface="Arial"/>
              </a:rPr>
              <a:t> </a:t>
            </a:r>
            <a:r>
              <a:rPr lang="en-US" altLang="ko-KR" sz="900" dirty="0">
                <a:latin typeface="Arial"/>
                <a:cs typeface="Arial"/>
              </a:rPr>
              <a:t>one </a:t>
            </a:r>
            <a:r>
              <a:rPr lang="en-US" altLang="ko-KR" sz="900" spc="-5" dirty="0">
                <a:latin typeface="Arial"/>
                <a:cs typeface="Arial"/>
              </a:rPr>
              <a:t>sub-frame</a:t>
            </a:r>
            <a:r>
              <a:rPr lang="en-US" altLang="ko-KR" sz="900" spc="-30" dirty="0">
                <a:latin typeface="Arial"/>
                <a:cs typeface="Arial"/>
              </a:rPr>
              <a:t> </a:t>
            </a:r>
            <a:r>
              <a:rPr lang="en-US" altLang="ko-KR" sz="900" spc="-5" dirty="0">
                <a:latin typeface="Arial"/>
                <a:cs typeface="Arial"/>
              </a:rPr>
              <a:t>period </a:t>
            </a:r>
            <a:r>
              <a:rPr lang="en-US" altLang="ko-KR" sz="900" dirty="0">
                <a:latin typeface="Arial"/>
                <a:cs typeface="Arial"/>
              </a:rPr>
              <a:t>that</a:t>
            </a:r>
            <a:r>
              <a:rPr lang="en-US" altLang="ko-KR" sz="900" spc="-20" dirty="0">
                <a:latin typeface="Arial"/>
                <a:cs typeface="Arial"/>
              </a:rPr>
              <a:t> </a:t>
            </a:r>
            <a:r>
              <a:rPr lang="en-US" altLang="ko-KR" sz="900" dirty="0">
                <a:latin typeface="Arial"/>
                <a:cs typeface="Arial"/>
              </a:rPr>
              <a:t>may</a:t>
            </a:r>
            <a:r>
              <a:rPr lang="en-US" altLang="ko-KR" sz="900" spc="-5" dirty="0">
                <a:latin typeface="Arial"/>
                <a:cs typeface="Arial"/>
              </a:rPr>
              <a:t> </a:t>
            </a:r>
            <a:r>
              <a:rPr lang="en-US" altLang="ko-KR" sz="900" dirty="0">
                <a:latin typeface="Arial"/>
                <a:cs typeface="Arial"/>
              </a:rPr>
              <a:t>correspond</a:t>
            </a:r>
            <a:r>
              <a:rPr lang="en-US" altLang="ko-KR" sz="900" spc="-30" dirty="0">
                <a:latin typeface="Arial"/>
                <a:cs typeface="Arial"/>
              </a:rPr>
              <a:t> </a:t>
            </a:r>
            <a:r>
              <a:rPr lang="en-US" altLang="ko-KR" sz="900" dirty="0">
                <a:latin typeface="Arial"/>
                <a:cs typeface="Arial"/>
              </a:rPr>
              <a:t>to</a:t>
            </a:r>
            <a:r>
              <a:rPr lang="en-US" altLang="ko-KR" sz="900" spc="-5" dirty="0">
                <a:latin typeface="Arial"/>
                <a:cs typeface="Arial"/>
              </a:rPr>
              <a:t> </a:t>
            </a:r>
            <a:r>
              <a:rPr lang="en-US" altLang="ko-KR" sz="900" dirty="0">
                <a:latin typeface="Arial"/>
                <a:cs typeface="Arial"/>
              </a:rPr>
              <a:t>total</a:t>
            </a:r>
            <a:r>
              <a:rPr lang="en-US" altLang="ko-KR" sz="900" spc="-5" dirty="0">
                <a:latin typeface="Arial"/>
                <a:cs typeface="Arial"/>
              </a:rPr>
              <a:t> line </a:t>
            </a:r>
            <a:r>
              <a:rPr lang="en-US" altLang="ko-KR" sz="900" spc="-235" dirty="0">
                <a:latin typeface="Arial"/>
                <a:cs typeface="Arial"/>
              </a:rPr>
              <a:t> </a:t>
            </a:r>
            <a:r>
              <a:rPr lang="en-US" altLang="ko-KR" sz="900" dirty="0">
                <a:latin typeface="Arial"/>
                <a:cs typeface="Arial"/>
              </a:rPr>
              <a:t>numbers.</a:t>
            </a:r>
            <a:r>
              <a:rPr lang="en-US" altLang="ko-KR" sz="900" spc="220" dirty="0">
                <a:latin typeface="Arial"/>
                <a:cs typeface="Arial"/>
              </a:rPr>
              <a:t> </a:t>
            </a:r>
            <a:r>
              <a:rPr lang="en-US" altLang="ko-KR" sz="900" dirty="0">
                <a:latin typeface="Arial"/>
                <a:cs typeface="Arial"/>
              </a:rPr>
              <a:t>If the target</a:t>
            </a:r>
            <a:r>
              <a:rPr lang="en-US" altLang="ko-KR" sz="900" spc="-20" dirty="0">
                <a:latin typeface="Arial"/>
                <a:cs typeface="Arial"/>
              </a:rPr>
              <a:t> </a:t>
            </a:r>
            <a:r>
              <a:rPr lang="en-US" altLang="ko-KR" sz="900" dirty="0">
                <a:latin typeface="Arial"/>
                <a:cs typeface="Arial"/>
              </a:rPr>
              <a:t>of</a:t>
            </a:r>
            <a:r>
              <a:rPr lang="en-US" altLang="ko-KR" sz="900" spc="-10" dirty="0">
                <a:latin typeface="Arial"/>
                <a:cs typeface="Arial"/>
              </a:rPr>
              <a:t> </a:t>
            </a:r>
            <a:r>
              <a:rPr lang="en-US" altLang="ko-KR" sz="900" spc="-5" dirty="0">
                <a:latin typeface="Arial"/>
                <a:cs typeface="Arial"/>
              </a:rPr>
              <a:t>sub-hsync</a:t>
            </a:r>
            <a:r>
              <a:rPr lang="en-US" altLang="ko-KR" sz="900" spc="-15" dirty="0">
                <a:latin typeface="Arial"/>
                <a:cs typeface="Arial"/>
              </a:rPr>
              <a:t> </a:t>
            </a:r>
            <a:r>
              <a:rPr lang="en-US" altLang="ko-KR" sz="900" dirty="0">
                <a:latin typeface="Arial"/>
                <a:cs typeface="Arial"/>
              </a:rPr>
              <a:t>numbers</a:t>
            </a:r>
            <a:r>
              <a:rPr lang="en-US" altLang="ko-KR" sz="900" spc="-20" dirty="0">
                <a:latin typeface="Arial"/>
                <a:cs typeface="Arial"/>
              </a:rPr>
              <a:t> </a:t>
            </a:r>
            <a:r>
              <a:rPr lang="en-US" altLang="ko-KR" sz="900" spc="-5" dirty="0">
                <a:latin typeface="Arial"/>
                <a:cs typeface="Arial"/>
              </a:rPr>
              <a:t>is</a:t>
            </a:r>
            <a:r>
              <a:rPr lang="en-US" altLang="ko-KR" sz="900" dirty="0">
                <a:latin typeface="Arial"/>
                <a:cs typeface="Arial"/>
              </a:rPr>
              <a:t> determined,</a:t>
            </a:r>
            <a:r>
              <a:rPr lang="en-US" altLang="ko-KR" sz="900" spc="-45" dirty="0">
                <a:latin typeface="Arial"/>
                <a:cs typeface="Arial"/>
              </a:rPr>
              <a:t> </a:t>
            </a:r>
            <a:r>
              <a:rPr lang="en-US" altLang="ko-KR" sz="900" dirty="0">
                <a:latin typeface="Arial"/>
                <a:cs typeface="Arial"/>
              </a:rPr>
              <a:t>the</a:t>
            </a:r>
            <a:r>
              <a:rPr lang="en-US" altLang="ko-KR" sz="900" spc="-5" dirty="0">
                <a:latin typeface="Arial"/>
                <a:cs typeface="Arial"/>
              </a:rPr>
              <a:t> value </a:t>
            </a:r>
            <a:r>
              <a:rPr lang="en-US" altLang="ko-KR" sz="900" dirty="0">
                <a:latin typeface="Arial"/>
                <a:cs typeface="Arial"/>
              </a:rPr>
              <a:t>can</a:t>
            </a:r>
            <a:r>
              <a:rPr lang="en-US" altLang="ko-KR" sz="900" spc="-10" dirty="0">
                <a:latin typeface="Arial"/>
                <a:cs typeface="Arial"/>
              </a:rPr>
              <a:t> </a:t>
            </a:r>
            <a:r>
              <a:rPr lang="en-US" altLang="ko-KR" sz="900" spc="-5" dirty="0">
                <a:latin typeface="Arial"/>
                <a:cs typeface="Arial"/>
              </a:rPr>
              <a:t>be </a:t>
            </a:r>
            <a:r>
              <a:rPr lang="en-US" altLang="ko-KR" sz="900" dirty="0">
                <a:latin typeface="Arial"/>
                <a:cs typeface="Arial"/>
              </a:rPr>
              <a:t>set</a:t>
            </a:r>
            <a:r>
              <a:rPr lang="en-US" altLang="ko-KR" sz="900" spc="-10" dirty="0">
                <a:latin typeface="Arial"/>
                <a:cs typeface="Arial"/>
              </a:rPr>
              <a:t> </a:t>
            </a:r>
            <a:r>
              <a:rPr lang="en-US" altLang="ko-KR" sz="900" dirty="0">
                <a:latin typeface="Arial"/>
                <a:cs typeface="Arial"/>
              </a:rPr>
              <a:t>to</a:t>
            </a:r>
            <a:r>
              <a:rPr lang="en-US" altLang="ko-KR" sz="900" spc="-5" dirty="0">
                <a:latin typeface="Arial"/>
                <a:cs typeface="Arial"/>
              </a:rPr>
              <a:t> </a:t>
            </a:r>
            <a:r>
              <a:rPr lang="en-US" altLang="ko-KR" sz="900" dirty="0">
                <a:latin typeface="Arial"/>
                <a:cs typeface="Arial"/>
              </a:rPr>
              <a:t>the</a:t>
            </a:r>
            <a:r>
              <a:rPr lang="en-US" altLang="ko-KR" sz="900" spc="-5" dirty="0">
                <a:latin typeface="Arial"/>
                <a:cs typeface="Arial"/>
              </a:rPr>
              <a:t> SHSYNC_SIZE register.</a:t>
            </a:r>
          </a:p>
          <a:p>
            <a:pPr algn="just"/>
            <a:endParaRPr lang="en-US" altLang="ko-KR" sz="900" spc="-5" dirty="0">
              <a:latin typeface="Arial"/>
              <a:cs typeface="Arial"/>
            </a:endParaRPr>
          </a:p>
          <a:p>
            <a:pPr algn="just"/>
            <a:r>
              <a:rPr lang="en-US" altLang="ko-KR" sz="900" spc="-5" dirty="0">
                <a:latin typeface="Arial"/>
                <a:cs typeface="Arial"/>
              </a:rPr>
              <a:t>After </a:t>
            </a:r>
            <a:r>
              <a:rPr lang="en-US" altLang="ko-KR" sz="900" dirty="0">
                <a:latin typeface="Arial"/>
                <a:cs typeface="Arial"/>
              </a:rPr>
              <a:t>determining the SVSYNC_SIZE and SHSYNC_SIZE, the SVSYNC_PERIOD and the SHSYNC_PERIOD can be </a:t>
            </a:r>
            <a:r>
              <a:rPr lang="en-US" altLang="ko-KR" sz="900" spc="-235" dirty="0">
                <a:latin typeface="Arial"/>
                <a:cs typeface="Arial"/>
              </a:rPr>
              <a:t> </a:t>
            </a:r>
            <a:r>
              <a:rPr lang="en-US" altLang="ko-KR" sz="900" dirty="0">
                <a:latin typeface="Arial"/>
                <a:cs typeface="Arial"/>
              </a:rPr>
              <a:t>determined</a:t>
            </a:r>
            <a:r>
              <a:rPr lang="en-US" altLang="ko-KR" sz="900" spc="-10" dirty="0">
                <a:latin typeface="Arial"/>
                <a:cs typeface="Arial"/>
              </a:rPr>
              <a:t> </a:t>
            </a:r>
            <a:r>
              <a:rPr lang="en-US" altLang="ko-KR" sz="900" spc="-5" dirty="0">
                <a:latin typeface="Arial"/>
                <a:cs typeface="Arial"/>
              </a:rPr>
              <a:t>in</a:t>
            </a:r>
            <a:r>
              <a:rPr lang="en-US" altLang="ko-KR" sz="900" spc="15" dirty="0">
                <a:latin typeface="Arial"/>
                <a:cs typeface="Arial"/>
              </a:rPr>
              <a:t> </a:t>
            </a:r>
            <a:r>
              <a:rPr lang="en-US" altLang="ko-KR" sz="900" spc="-5" dirty="0">
                <a:latin typeface="Arial"/>
                <a:cs typeface="Arial"/>
              </a:rPr>
              <a:t>MCLK</a:t>
            </a:r>
            <a:r>
              <a:rPr lang="en-US" altLang="ko-KR" sz="900" spc="35" dirty="0">
                <a:latin typeface="Arial"/>
                <a:cs typeface="Arial"/>
              </a:rPr>
              <a:t> </a:t>
            </a:r>
            <a:r>
              <a:rPr lang="en-US" altLang="ko-KR" sz="900" dirty="0">
                <a:latin typeface="Arial"/>
                <a:cs typeface="Arial"/>
              </a:rPr>
              <a:t>time</a:t>
            </a:r>
            <a:r>
              <a:rPr lang="en-US" altLang="ko-KR" sz="900" spc="15" dirty="0">
                <a:latin typeface="Arial"/>
                <a:cs typeface="Arial"/>
              </a:rPr>
              <a:t> </a:t>
            </a:r>
            <a:r>
              <a:rPr lang="en-US" altLang="ko-KR" sz="900" dirty="0">
                <a:latin typeface="Arial"/>
                <a:cs typeface="Arial"/>
              </a:rPr>
              <a:t>domain.</a:t>
            </a:r>
            <a:r>
              <a:rPr lang="en-US" altLang="ko-KR" sz="900" spc="245" dirty="0">
                <a:latin typeface="Arial"/>
                <a:cs typeface="Arial"/>
              </a:rPr>
              <a:t> </a:t>
            </a:r>
            <a:r>
              <a:rPr lang="en-US" altLang="ko-KR" sz="900" spc="-5" dirty="0">
                <a:latin typeface="Arial"/>
                <a:cs typeface="Arial"/>
              </a:rPr>
              <a:t>The</a:t>
            </a:r>
            <a:r>
              <a:rPr lang="en-US" altLang="ko-KR" sz="900" spc="25" dirty="0">
                <a:latin typeface="Arial"/>
                <a:cs typeface="Arial"/>
              </a:rPr>
              <a:t> </a:t>
            </a:r>
            <a:r>
              <a:rPr lang="en-US" altLang="ko-KR" sz="900" spc="-5" dirty="0">
                <a:latin typeface="Arial"/>
                <a:cs typeface="Arial"/>
              </a:rPr>
              <a:t>SVSYNC_PERIOD</a:t>
            </a:r>
            <a:r>
              <a:rPr lang="en-US" altLang="ko-KR" sz="900" spc="30" dirty="0">
                <a:latin typeface="Arial"/>
                <a:cs typeface="Arial"/>
              </a:rPr>
              <a:t> </a:t>
            </a:r>
            <a:r>
              <a:rPr lang="en-US" altLang="ko-KR" sz="900" dirty="0">
                <a:latin typeface="Arial"/>
                <a:cs typeface="Arial"/>
              </a:rPr>
              <a:t>can</a:t>
            </a:r>
            <a:r>
              <a:rPr lang="en-US" altLang="ko-KR" sz="900" spc="20" dirty="0">
                <a:latin typeface="Arial"/>
                <a:cs typeface="Arial"/>
              </a:rPr>
              <a:t> </a:t>
            </a:r>
            <a:r>
              <a:rPr lang="en-US" altLang="ko-KR" sz="900" dirty="0">
                <a:latin typeface="Arial"/>
                <a:cs typeface="Arial"/>
              </a:rPr>
              <a:t>be</a:t>
            </a:r>
            <a:r>
              <a:rPr lang="en-US" altLang="ko-KR" sz="900" spc="15" dirty="0">
                <a:latin typeface="Arial"/>
                <a:cs typeface="Arial"/>
              </a:rPr>
              <a:t> </a:t>
            </a:r>
            <a:r>
              <a:rPr lang="en-US" altLang="ko-KR" sz="900" dirty="0">
                <a:latin typeface="Arial"/>
                <a:cs typeface="Arial"/>
              </a:rPr>
              <a:t>obtained by</a:t>
            </a:r>
            <a:r>
              <a:rPr lang="en-US" altLang="ko-KR" sz="900" spc="15" dirty="0">
                <a:latin typeface="Arial"/>
                <a:cs typeface="Arial"/>
              </a:rPr>
              <a:t> </a:t>
            </a:r>
            <a:r>
              <a:rPr lang="en-US" altLang="ko-KR" sz="900" dirty="0">
                <a:latin typeface="Arial"/>
                <a:cs typeface="Arial"/>
              </a:rPr>
              <a:t>dividing the</a:t>
            </a:r>
            <a:r>
              <a:rPr lang="en-US" altLang="ko-KR" sz="900" spc="15" dirty="0">
                <a:latin typeface="Arial"/>
                <a:cs typeface="Arial"/>
              </a:rPr>
              <a:t> </a:t>
            </a:r>
            <a:r>
              <a:rPr lang="en-US" altLang="ko-KR" sz="900" dirty="0">
                <a:latin typeface="Arial"/>
                <a:cs typeface="Arial"/>
              </a:rPr>
              <a:t>source</a:t>
            </a:r>
            <a:r>
              <a:rPr lang="en-US" altLang="ko-KR" sz="900" spc="-10" dirty="0">
                <a:latin typeface="Arial"/>
                <a:cs typeface="Arial"/>
              </a:rPr>
              <a:t> </a:t>
            </a:r>
            <a:r>
              <a:rPr lang="en-US" altLang="ko-KR" sz="900" dirty="0">
                <a:latin typeface="Arial"/>
                <a:cs typeface="Arial"/>
              </a:rPr>
              <a:t>frame</a:t>
            </a:r>
            <a:r>
              <a:rPr lang="en-US" altLang="ko-KR" sz="900" spc="20" dirty="0">
                <a:latin typeface="Arial"/>
                <a:cs typeface="Arial"/>
              </a:rPr>
              <a:t> </a:t>
            </a:r>
            <a:r>
              <a:rPr lang="en-US" altLang="ko-KR" sz="900" dirty="0">
                <a:latin typeface="Arial"/>
                <a:cs typeface="Arial"/>
              </a:rPr>
              <a:t>period by </a:t>
            </a:r>
            <a:r>
              <a:rPr lang="en-US" altLang="ko-KR" sz="900" spc="5" dirty="0">
                <a:latin typeface="Arial"/>
                <a:cs typeface="Arial"/>
              </a:rPr>
              <a:t> </a:t>
            </a:r>
            <a:r>
              <a:rPr lang="en-US" altLang="ko-KR" sz="900" dirty="0">
                <a:latin typeface="Arial"/>
                <a:cs typeface="Arial"/>
              </a:rPr>
              <a:t>the</a:t>
            </a:r>
            <a:r>
              <a:rPr lang="en-US" altLang="ko-KR" sz="900" spc="-5" dirty="0">
                <a:latin typeface="Arial"/>
                <a:cs typeface="Arial"/>
              </a:rPr>
              <a:t> </a:t>
            </a:r>
            <a:r>
              <a:rPr lang="en-US" altLang="ko-KR" sz="900" dirty="0">
                <a:latin typeface="Arial"/>
                <a:cs typeface="Arial"/>
              </a:rPr>
              <a:t>set</a:t>
            </a:r>
            <a:r>
              <a:rPr lang="en-US" altLang="ko-KR" sz="900" spc="-10" dirty="0">
                <a:latin typeface="Arial"/>
                <a:cs typeface="Arial"/>
              </a:rPr>
              <a:t> </a:t>
            </a:r>
            <a:r>
              <a:rPr lang="en-US" altLang="ko-KR" sz="900" dirty="0">
                <a:latin typeface="Arial"/>
                <a:cs typeface="Arial"/>
              </a:rPr>
              <a:t>value</a:t>
            </a:r>
            <a:r>
              <a:rPr lang="en-US" altLang="ko-KR" sz="900" spc="-5" dirty="0">
                <a:latin typeface="Arial"/>
                <a:cs typeface="Arial"/>
              </a:rPr>
              <a:t> </a:t>
            </a:r>
            <a:r>
              <a:rPr lang="en-US" altLang="ko-KR" sz="900" dirty="0">
                <a:latin typeface="Arial"/>
                <a:cs typeface="Arial"/>
              </a:rPr>
              <a:t>of</a:t>
            </a:r>
            <a:r>
              <a:rPr lang="en-US" altLang="ko-KR" sz="900" spc="-10" dirty="0">
                <a:latin typeface="Arial"/>
                <a:cs typeface="Arial"/>
              </a:rPr>
              <a:t> </a:t>
            </a:r>
            <a:r>
              <a:rPr lang="en-US" altLang="ko-KR" sz="900" dirty="0">
                <a:latin typeface="Arial"/>
                <a:cs typeface="Arial"/>
              </a:rPr>
              <a:t>the</a:t>
            </a:r>
            <a:r>
              <a:rPr lang="en-US" altLang="ko-KR" sz="900" spc="-5" dirty="0">
                <a:latin typeface="Arial"/>
                <a:cs typeface="Arial"/>
              </a:rPr>
              <a:t> SVSYNC_SIZE</a:t>
            </a:r>
            <a:r>
              <a:rPr lang="en-US" altLang="ko-KR" sz="900" spc="15" dirty="0">
                <a:latin typeface="Arial"/>
                <a:cs typeface="Arial"/>
              </a:rPr>
              <a:t> </a:t>
            </a:r>
            <a:r>
              <a:rPr lang="en-US" altLang="ko-KR" sz="900" dirty="0">
                <a:latin typeface="Arial"/>
                <a:cs typeface="Arial"/>
              </a:rPr>
              <a:t>and</a:t>
            </a:r>
            <a:r>
              <a:rPr lang="en-US" altLang="ko-KR" sz="900" spc="-5" dirty="0">
                <a:latin typeface="Arial"/>
                <a:cs typeface="Arial"/>
              </a:rPr>
              <a:t> </a:t>
            </a:r>
            <a:r>
              <a:rPr lang="en-US" altLang="ko-KR" sz="900" dirty="0">
                <a:latin typeface="Arial"/>
                <a:cs typeface="Arial"/>
              </a:rPr>
              <a:t>then</a:t>
            </a:r>
            <a:r>
              <a:rPr lang="en-US" altLang="ko-KR" sz="900" spc="-15" dirty="0">
                <a:latin typeface="Arial"/>
                <a:cs typeface="Arial"/>
              </a:rPr>
              <a:t> </a:t>
            </a:r>
            <a:r>
              <a:rPr lang="en-US" altLang="ko-KR" sz="900" dirty="0">
                <a:latin typeface="Arial"/>
                <a:cs typeface="Arial"/>
              </a:rPr>
              <a:t>dividing</a:t>
            </a:r>
            <a:r>
              <a:rPr lang="en-US" altLang="ko-KR" sz="900" spc="-20" dirty="0">
                <a:latin typeface="Arial"/>
                <a:cs typeface="Arial"/>
              </a:rPr>
              <a:t> </a:t>
            </a:r>
            <a:r>
              <a:rPr lang="en-US" altLang="ko-KR" sz="900" dirty="0">
                <a:latin typeface="Arial"/>
                <a:cs typeface="Arial"/>
              </a:rPr>
              <a:t>the</a:t>
            </a:r>
            <a:r>
              <a:rPr lang="en-US" altLang="ko-KR" sz="900" spc="-5" dirty="0">
                <a:latin typeface="Arial"/>
                <a:cs typeface="Arial"/>
              </a:rPr>
              <a:t> </a:t>
            </a:r>
            <a:r>
              <a:rPr lang="en-US" altLang="ko-KR" sz="900" dirty="0">
                <a:latin typeface="Arial"/>
                <a:cs typeface="Arial"/>
              </a:rPr>
              <a:t>value</a:t>
            </a:r>
            <a:r>
              <a:rPr lang="en-US" altLang="ko-KR" sz="900" spc="-5" dirty="0">
                <a:latin typeface="Arial"/>
                <a:cs typeface="Arial"/>
              </a:rPr>
              <a:t> </a:t>
            </a:r>
            <a:r>
              <a:rPr lang="en-US" altLang="ko-KR" sz="900" dirty="0">
                <a:latin typeface="Arial"/>
                <a:cs typeface="Arial"/>
              </a:rPr>
              <a:t>by</a:t>
            </a:r>
            <a:r>
              <a:rPr lang="en-US" altLang="ko-KR" sz="900" spc="-5" dirty="0">
                <a:latin typeface="Arial"/>
                <a:cs typeface="Arial"/>
              </a:rPr>
              <a:t> MCLK</a:t>
            </a:r>
            <a:r>
              <a:rPr lang="en-US" altLang="ko-KR" sz="900" spc="15" dirty="0">
                <a:latin typeface="Arial"/>
                <a:cs typeface="Arial"/>
              </a:rPr>
              <a:t> </a:t>
            </a:r>
            <a:r>
              <a:rPr lang="en-US" altLang="ko-KR" sz="900" dirty="0">
                <a:latin typeface="Arial"/>
                <a:cs typeface="Arial"/>
              </a:rPr>
              <a:t>period In the</a:t>
            </a:r>
            <a:r>
              <a:rPr lang="en-US" altLang="ko-KR" sz="900" spc="5" dirty="0">
                <a:latin typeface="Arial"/>
                <a:cs typeface="Arial"/>
              </a:rPr>
              <a:t> </a:t>
            </a:r>
            <a:r>
              <a:rPr lang="en-US" altLang="ko-KR" sz="900" dirty="0">
                <a:latin typeface="Arial"/>
                <a:cs typeface="Arial"/>
              </a:rPr>
              <a:t>same</a:t>
            </a:r>
            <a:r>
              <a:rPr lang="en-US" altLang="ko-KR" sz="900" spc="-10" dirty="0">
                <a:latin typeface="Arial"/>
                <a:cs typeface="Arial"/>
              </a:rPr>
              <a:t> </a:t>
            </a:r>
            <a:r>
              <a:rPr lang="en-US" altLang="ko-KR" sz="900" dirty="0">
                <a:latin typeface="Arial"/>
                <a:cs typeface="Arial"/>
              </a:rPr>
              <a:t>manner,</a:t>
            </a:r>
            <a:r>
              <a:rPr lang="en-US" altLang="ko-KR" sz="900" spc="-10" dirty="0">
                <a:latin typeface="Arial"/>
                <a:cs typeface="Arial"/>
              </a:rPr>
              <a:t> </a:t>
            </a:r>
            <a:r>
              <a:rPr lang="en-US" altLang="ko-KR" sz="900" dirty="0">
                <a:latin typeface="Arial"/>
                <a:cs typeface="Arial"/>
              </a:rPr>
              <a:t>the</a:t>
            </a:r>
            <a:r>
              <a:rPr lang="en-US" altLang="ko-KR" sz="900" spc="5" dirty="0">
                <a:latin typeface="Arial"/>
                <a:cs typeface="Arial"/>
              </a:rPr>
              <a:t> </a:t>
            </a:r>
            <a:r>
              <a:rPr lang="en-US" altLang="ko-KR" sz="900" spc="-5" dirty="0">
                <a:latin typeface="Arial"/>
                <a:cs typeface="Arial"/>
              </a:rPr>
              <a:t>SHSYNC_PERIOD</a:t>
            </a:r>
            <a:r>
              <a:rPr lang="en-US" altLang="ko-KR" sz="900" spc="35" dirty="0">
                <a:latin typeface="Arial"/>
                <a:cs typeface="Arial"/>
              </a:rPr>
              <a:t> </a:t>
            </a:r>
            <a:r>
              <a:rPr lang="en-US" altLang="ko-KR" sz="900" dirty="0">
                <a:latin typeface="Arial"/>
                <a:cs typeface="Arial"/>
              </a:rPr>
              <a:t>can</a:t>
            </a:r>
            <a:r>
              <a:rPr lang="en-US" altLang="ko-KR" sz="900" spc="5" dirty="0">
                <a:latin typeface="Arial"/>
                <a:cs typeface="Arial"/>
              </a:rPr>
              <a:t> </a:t>
            </a:r>
            <a:r>
              <a:rPr lang="en-US" altLang="ko-KR" sz="900" dirty="0">
                <a:latin typeface="Arial"/>
                <a:cs typeface="Arial"/>
              </a:rPr>
              <a:t>be</a:t>
            </a:r>
            <a:r>
              <a:rPr lang="en-US" altLang="ko-KR" sz="900" spc="5" dirty="0">
                <a:latin typeface="Arial"/>
                <a:cs typeface="Arial"/>
              </a:rPr>
              <a:t> </a:t>
            </a:r>
            <a:r>
              <a:rPr lang="en-US" altLang="ko-KR" sz="900" dirty="0">
                <a:latin typeface="Arial"/>
                <a:cs typeface="Arial"/>
              </a:rPr>
              <a:t>also</a:t>
            </a:r>
            <a:r>
              <a:rPr lang="en-US" altLang="ko-KR" sz="900" spc="-10" dirty="0">
                <a:latin typeface="Arial"/>
                <a:cs typeface="Arial"/>
              </a:rPr>
              <a:t> </a:t>
            </a:r>
            <a:r>
              <a:rPr lang="en-US" altLang="ko-KR" sz="900" dirty="0">
                <a:latin typeface="Arial"/>
                <a:cs typeface="Arial"/>
              </a:rPr>
              <a:t>determined</a:t>
            </a:r>
            <a:r>
              <a:rPr lang="en-US" altLang="ko-KR" sz="900" spc="-20" dirty="0">
                <a:latin typeface="Arial"/>
                <a:cs typeface="Arial"/>
              </a:rPr>
              <a:t> </a:t>
            </a:r>
            <a:r>
              <a:rPr lang="en-US" altLang="ko-KR" sz="900" dirty="0">
                <a:latin typeface="Arial"/>
                <a:cs typeface="Arial"/>
              </a:rPr>
              <a:t>by</a:t>
            </a:r>
            <a:r>
              <a:rPr lang="en-US" altLang="ko-KR" sz="900" spc="5" dirty="0">
                <a:latin typeface="Arial"/>
                <a:cs typeface="Arial"/>
              </a:rPr>
              <a:t> </a:t>
            </a:r>
            <a:r>
              <a:rPr lang="en-US" altLang="ko-KR" sz="900" dirty="0">
                <a:latin typeface="Arial"/>
                <a:cs typeface="Arial"/>
              </a:rPr>
              <a:t>dividing</a:t>
            </a:r>
            <a:r>
              <a:rPr lang="en-US" altLang="ko-KR" sz="900" spc="-10" dirty="0">
                <a:latin typeface="Arial"/>
                <a:cs typeface="Arial"/>
              </a:rPr>
              <a:t> </a:t>
            </a:r>
            <a:r>
              <a:rPr lang="en-US" altLang="ko-KR" sz="900" dirty="0">
                <a:latin typeface="Arial"/>
                <a:cs typeface="Arial"/>
              </a:rPr>
              <a:t>the</a:t>
            </a:r>
            <a:r>
              <a:rPr lang="en-US" altLang="ko-KR" sz="900" spc="5" dirty="0">
                <a:latin typeface="Arial"/>
                <a:cs typeface="Arial"/>
              </a:rPr>
              <a:t> </a:t>
            </a:r>
            <a:r>
              <a:rPr lang="en-US" altLang="ko-KR" sz="900" spc="-5" dirty="0">
                <a:latin typeface="Arial"/>
                <a:cs typeface="Arial"/>
              </a:rPr>
              <a:t>SVSYNC_PERIOD</a:t>
            </a:r>
            <a:r>
              <a:rPr lang="en-US" altLang="ko-KR" sz="900" spc="20" dirty="0">
                <a:latin typeface="Arial"/>
                <a:cs typeface="Arial"/>
              </a:rPr>
              <a:t> </a:t>
            </a:r>
            <a:r>
              <a:rPr lang="en-US" altLang="ko-KR" sz="900" dirty="0">
                <a:latin typeface="Arial"/>
                <a:cs typeface="Arial"/>
              </a:rPr>
              <a:t>by</a:t>
            </a:r>
            <a:r>
              <a:rPr lang="en-US" altLang="ko-KR" sz="900" spc="5" dirty="0">
                <a:latin typeface="Arial"/>
                <a:cs typeface="Arial"/>
              </a:rPr>
              <a:t> </a:t>
            </a:r>
            <a:r>
              <a:rPr lang="en-US" altLang="ko-KR" sz="900" dirty="0">
                <a:latin typeface="Arial"/>
                <a:cs typeface="Arial"/>
              </a:rPr>
              <a:t>the </a:t>
            </a:r>
            <a:r>
              <a:rPr lang="en-US" altLang="ko-KR" sz="900" spc="-5" dirty="0">
                <a:latin typeface="Arial"/>
                <a:cs typeface="Arial"/>
              </a:rPr>
              <a:t>SHSYNC_SIZE</a:t>
            </a:r>
            <a:r>
              <a:rPr lang="en-US" altLang="ko-KR" sz="900" spc="15" dirty="0">
                <a:latin typeface="Arial"/>
                <a:cs typeface="Arial"/>
              </a:rPr>
              <a:t> </a:t>
            </a:r>
            <a:r>
              <a:rPr lang="en-US" altLang="ko-KR" sz="900" dirty="0">
                <a:latin typeface="Arial"/>
                <a:cs typeface="Arial"/>
              </a:rPr>
              <a:t>and</a:t>
            </a:r>
            <a:r>
              <a:rPr lang="en-US" altLang="ko-KR" sz="900" spc="-20" dirty="0">
                <a:latin typeface="Arial"/>
                <a:cs typeface="Arial"/>
              </a:rPr>
              <a:t> </a:t>
            </a:r>
            <a:r>
              <a:rPr lang="en-US" altLang="ko-KR" sz="900" dirty="0">
                <a:latin typeface="Arial"/>
                <a:cs typeface="Arial"/>
              </a:rPr>
              <a:t>then</a:t>
            </a:r>
            <a:r>
              <a:rPr lang="en-US" altLang="ko-KR" sz="900" spc="-5" dirty="0">
                <a:latin typeface="Arial"/>
                <a:cs typeface="Arial"/>
              </a:rPr>
              <a:t> </a:t>
            </a:r>
            <a:r>
              <a:rPr lang="en-US" altLang="ko-KR" sz="900" dirty="0">
                <a:latin typeface="Arial"/>
                <a:cs typeface="Arial"/>
              </a:rPr>
              <a:t>by</a:t>
            </a:r>
            <a:r>
              <a:rPr lang="en-US" altLang="ko-KR" sz="900" spc="-5" dirty="0">
                <a:latin typeface="Arial"/>
                <a:cs typeface="Arial"/>
              </a:rPr>
              <a:t> </a:t>
            </a:r>
            <a:r>
              <a:rPr lang="en-US" altLang="ko-KR" sz="900" dirty="0">
                <a:latin typeface="Arial"/>
                <a:cs typeface="Arial"/>
              </a:rPr>
              <a:t>dividing</a:t>
            </a:r>
            <a:r>
              <a:rPr lang="en-US" altLang="ko-KR" sz="900" spc="-20" dirty="0">
                <a:latin typeface="Arial"/>
                <a:cs typeface="Arial"/>
              </a:rPr>
              <a:t> </a:t>
            </a:r>
            <a:r>
              <a:rPr lang="en-US" altLang="ko-KR" sz="900" dirty="0">
                <a:latin typeface="Arial"/>
                <a:cs typeface="Arial"/>
              </a:rPr>
              <a:t>the</a:t>
            </a:r>
            <a:r>
              <a:rPr lang="en-US" altLang="ko-KR" sz="900" spc="-5" dirty="0">
                <a:latin typeface="Arial"/>
                <a:cs typeface="Arial"/>
              </a:rPr>
              <a:t> </a:t>
            </a:r>
            <a:r>
              <a:rPr lang="en-US" altLang="ko-KR" sz="900" dirty="0">
                <a:latin typeface="Arial"/>
                <a:cs typeface="Arial"/>
              </a:rPr>
              <a:t>value</a:t>
            </a:r>
            <a:r>
              <a:rPr lang="en-US" altLang="ko-KR" sz="900" spc="-5" dirty="0">
                <a:latin typeface="Arial"/>
                <a:cs typeface="Arial"/>
              </a:rPr>
              <a:t> </a:t>
            </a:r>
            <a:r>
              <a:rPr lang="en-US" altLang="ko-KR" sz="900" dirty="0">
                <a:latin typeface="Arial"/>
                <a:cs typeface="Arial"/>
              </a:rPr>
              <a:t>by</a:t>
            </a:r>
            <a:r>
              <a:rPr lang="en-US" altLang="ko-KR" sz="900" spc="-5" dirty="0">
                <a:latin typeface="Arial"/>
                <a:cs typeface="Arial"/>
              </a:rPr>
              <a:t> MCLK</a:t>
            </a:r>
            <a:r>
              <a:rPr lang="en-US" altLang="ko-KR" sz="900" spc="15" dirty="0">
                <a:latin typeface="Arial"/>
                <a:cs typeface="Arial"/>
              </a:rPr>
              <a:t> </a:t>
            </a:r>
            <a:r>
              <a:rPr lang="en-US" altLang="ko-KR" sz="900" dirty="0">
                <a:latin typeface="Arial"/>
                <a:cs typeface="Arial"/>
              </a:rPr>
              <a:t>period.</a:t>
            </a:r>
            <a:endParaRPr lang="en-US" altLang="ko-KR" sz="900" dirty="0">
              <a:latin typeface="Arial" panose="020B0604020202020204" pitchFamily="34" charset="0"/>
              <a:cs typeface="Arial" panose="020B0604020202020204" pitchFamily="34" charset="0"/>
            </a:endParaRPr>
          </a:p>
        </p:txBody>
      </p:sp>
      <p:sp>
        <p:nvSpPr>
          <p:cNvPr id="15" name="TextBox 14">
            <a:extLst>
              <a:ext uri="{FF2B5EF4-FFF2-40B4-BE49-F238E27FC236}">
                <a16:creationId xmlns:a16="http://schemas.microsoft.com/office/drawing/2014/main" id="{52F4FBB8-61AF-FB72-381A-793A5A4F4EEB}"/>
              </a:ext>
            </a:extLst>
          </p:cNvPr>
          <p:cNvSpPr txBox="1"/>
          <p:nvPr/>
        </p:nvSpPr>
        <p:spPr>
          <a:xfrm>
            <a:off x="392074" y="6335382"/>
            <a:ext cx="6038541" cy="1549142"/>
          </a:xfrm>
          <a:prstGeom prst="rect">
            <a:avLst/>
          </a:prstGeom>
          <a:noFill/>
        </p:spPr>
        <p:txBody>
          <a:bodyPr wrap="square" lIns="0" tIns="0" rIns="0" bIns="0" rtlCol="0">
            <a:spAutoFit/>
          </a:bodyPr>
          <a:lstStyle/>
          <a:p>
            <a:pPr marL="12700" marR="5080" algn="just">
              <a:lnSpc>
                <a:spcPct val="100000"/>
              </a:lnSpc>
              <a:spcBef>
                <a:spcPts val="100"/>
              </a:spcBef>
            </a:pPr>
            <a:r>
              <a:rPr lang="en-US" altLang="ko-KR" sz="900" spc="-5" dirty="0">
                <a:latin typeface="Arial"/>
                <a:cs typeface="Arial"/>
              </a:rPr>
              <a:t>The </a:t>
            </a:r>
            <a:r>
              <a:rPr lang="en-US" altLang="ko-KR" sz="900" dirty="0">
                <a:latin typeface="Arial"/>
                <a:cs typeface="Arial"/>
              </a:rPr>
              <a:t>local dimming sequence consists of </a:t>
            </a:r>
            <a:r>
              <a:rPr lang="en-US" altLang="ko-KR" sz="900" spc="-5" dirty="0">
                <a:latin typeface="Arial"/>
                <a:cs typeface="Arial"/>
              </a:rPr>
              <a:t>3 types, NORMAL, </a:t>
            </a:r>
            <a:r>
              <a:rPr lang="en-US" altLang="ko-KR" sz="900" spc="-10" dirty="0">
                <a:latin typeface="Arial"/>
                <a:cs typeface="Arial"/>
              </a:rPr>
              <a:t>X8 </a:t>
            </a:r>
            <a:r>
              <a:rPr lang="en-US" altLang="ko-KR" sz="900" spc="-5" dirty="0">
                <a:latin typeface="Arial"/>
                <a:cs typeface="Arial"/>
              </a:rPr>
              <a:t>and </a:t>
            </a:r>
            <a:r>
              <a:rPr lang="en-US" altLang="ko-KR" sz="900" spc="-10" dirty="0">
                <a:latin typeface="Arial"/>
                <a:cs typeface="Arial"/>
              </a:rPr>
              <a:t>X2 </a:t>
            </a:r>
            <a:r>
              <a:rPr lang="en-US" altLang="ko-KR" sz="900" dirty="0">
                <a:latin typeface="Arial"/>
                <a:cs typeface="Arial"/>
              </a:rPr>
              <a:t>mode </a:t>
            </a:r>
            <a:r>
              <a:rPr lang="en-US" altLang="ko-KR" sz="900" spc="-5" dirty="0">
                <a:latin typeface="Arial"/>
                <a:cs typeface="Arial"/>
              </a:rPr>
              <a:t>which </a:t>
            </a:r>
            <a:r>
              <a:rPr lang="en-US" altLang="ko-KR" sz="900" dirty="0">
                <a:latin typeface="Arial"/>
                <a:cs typeface="Arial"/>
              </a:rPr>
              <a:t>can </a:t>
            </a:r>
            <a:r>
              <a:rPr lang="en-US" altLang="ko-KR" sz="900" spc="-5" dirty="0">
                <a:latin typeface="Arial"/>
                <a:cs typeface="Arial"/>
              </a:rPr>
              <a:t>be </a:t>
            </a:r>
            <a:r>
              <a:rPr lang="en-US" altLang="ko-KR" sz="900" dirty="0">
                <a:latin typeface="Arial"/>
                <a:cs typeface="Arial"/>
              </a:rPr>
              <a:t>selected </a:t>
            </a:r>
            <a:r>
              <a:rPr lang="en-US" altLang="ko-KR" sz="900" spc="-5" dirty="0">
                <a:latin typeface="Arial"/>
                <a:cs typeface="Arial"/>
              </a:rPr>
              <a:t>by </a:t>
            </a:r>
            <a:r>
              <a:rPr lang="en-US" altLang="ko-KR" sz="900" dirty="0">
                <a:latin typeface="Arial"/>
                <a:cs typeface="Arial"/>
              </a:rPr>
              <a:t>set of some bit </a:t>
            </a:r>
            <a:r>
              <a:rPr lang="en-US" altLang="ko-KR" sz="900" spc="-235" dirty="0">
                <a:latin typeface="Arial"/>
                <a:cs typeface="Arial"/>
              </a:rPr>
              <a:t> </a:t>
            </a:r>
            <a:r>
              <a:rPr lang="en-US" altLang="ko-KR" sz="900" dirty="0">
                <a:latin typeface="Arial"/>
                <a:cs typeface="Arial"/>
              </a:rPr>
              <a:t>of</a:t>
            </a:r>
            <a:r>
              <a:rPr lang="en-US" altLang="ko-KR" sz="900" spc="-15" dirty="0">
                <a:latin typeface="Arial"/>
                <a:cs typeface="Arial"/>
              </a:rPr>
              <a:t> </a:t>
            </a:r>
            <a:r>
              <a:rPr lang="en-US" altLang="ko-KR" sz="900" dirty="0">
                <a:latin typeface="Arial"/>
                <a:cs typeface="Arial"/>
              </a:rPr>
              <a:t>the</a:t>
            </a:r>
            <a:r>
              <a:rPr lang="en-US" altLang="ko-KR" sz="900" spc="-10" dirty="0">
                <a:latin typeface="Arial"/>
                <a:cs typeface="Arial"/>
              </a:rPr>
              <a:t> MODE</a:t>
            </a:r>
            <a:r>
              <a:rPr lang="en-US" altLang="ko-KR" sz="900" spc="20" dirty="0">
                <a:latin typeface="Arial"/>
                <a:cs typeface="Arial"/>
              </a:rPr>
              <a:t> </a:t>
            </a:r>
            <a:r>
              <a:rPr lang="en-US" altLang="ko-KR" sz="900" spc="-5" dirty="0">
                <a:latin typeface="Arial"/>
                <a:cs typeface="Arial"/>
              </a:rPr>
              <a:t>CONTROL</a:t>
            </a:r>
            <a:r>
              <a:rPr lang="en-US" altLang="ko-KR" sz="900" spc="25" dirty="0">
                <a:latin typeface="Arial"/>
                <a:cs typeface="Arial"/>
              </a:rPr>
              <a:t> </a:t>
            </a:r>
            <a:r>
              <a:rPr lang="en-US" altLang="ko-KR" sz="900" dirty="0">
                <a:latin typeface="Arial"/>
                <a:cs typeface="Arial"/>
              </a:rPr>
              <a:t>register</a:t>
            </a:r>
            <a:r>
              <a:rPr lang="en-US" altLang="ko-KR" sz="900" spc="-25" dirty="0">
                <a:latin typeface="Arial"/>
                <a:cs typeface="Arial"/>
              </a:rPr>
              <a:t> </a:t>
            </a:r>
            <a:r>
              <a:rPr lang="en-US" altLang="ko-KR" sz="900" dirty="0">
                <a:latin typeface="Arial"/>
                <a:cs typeface="Arial"/>
              </a:rPr>
              <a:t>of</a:t>
            </a:r>
            <a:r>
              <a:rPr lang="en-US" altLang="ko-KR" sz="900" spc="-10" dirty="0">
                <a:latin typeface="Arial"/>
                <a:cs typeface="Arial"/>
              </a:rPr>
              <a:t> </a:t>
            </a:r>
            <a:r>
              <a:rPr lang="en-US" altLang="ko-KR" sz="900" spc="-5" dirty="0">
                <a:latin typeface="Arial"/>
                <a:cs typeface="Arial"/>
              </a:rPr>
              <a:t>CMD1. </a:t>
            </a:r>
            <a:r>
              <a:rPr lang="en-US" altLang="ko-KR" sz="900" dirty="0">
                <a:latin typeface="Arial"/>
                <a:cs typeface="Arial"/>
              </a:rPr>
              <a:t>At </a:t>
            </a:r>
            <a:r>
              <a:rPr lang="en-US" altLang="ko-KR" sz="900" spc="-5" dirty="0">
                <a:latin typeface="Arial"/>
                <a:cs typeface="Arial"/>
              </a:rPr>
              <a:t>NORMAL</a:t>
            </a:r>
            <a:r>
              <a:rPr lang="en-US" altLang="ko-KR" sz="900" spc="20" dirty="0">
                <a:latin typeface="Arial"/>
                <a:cs typeface="Arial"/>
              </a:rPr>
              <a:t> </a:t>
            </a:r>
            <a:r>
              <a:rPr lang="en-US" altLang="ko-KR" sz="900" dirty="0">
                <a:latin typeface="Arial"/>
                <a:cs typeface="Arial"/>
              </a:rPr>
              <a:t>mode,</a:t>
            </a:r>
            <a:r>
              <a:rPr lang="en-US" altLang="ko-KR" sz="900" spc="-25" dirty="0">
                <a:latin typeface="Arial"/>
                <a:cs typeface="Arial"/>
              </a:rPr>
              <a:t> </a:t>
            </a:r>
            <a:r>
              <a:rPr lang="en-US" altLang="ko-KR" sz="900" dirty="0">
                <a:latin typeface="Arial"/>
                <a:cs typeface="Arial"/>
              </a:rPr>
              <a:t>the</a:t>
            </a:r>
            <a:r>
              <a:rPr lang="en-US" altLang="ko-KR" sz="900" spc="-10" dirty="0">
                <a:latin typeface="Arial"/>
                <a:cs typeface="Arial"/>
              </a:rPr>
              <a:t> </a:t>
            </a:r>
            <a:r>
              <a:rPr lang="en-US" altLang="ko-KR" sz="900" dirty="0">
                <a:latin typeface="Arial"/>
                <a:cs typeface="Arial"/>
              </a:rPr>
              <a:t>local</a:t>
            </a:r>
            <a:r>
              <a:rPr lang="en-US" altLang="ko-KR" sz="900" spc="-15" dirty="0">
                <a:latin typeface="Arial"/>
                <a:cs typeface="Arial"/>
              </a:rPr>
              <a:t> </a:t>
            </a:r>
            <a:r>
              <a:rPr lang="en-US" altLang="ko-KR" sz="900" dirty="0">
                <a:latin typeface="Arial"/>
                <a:cs typeface="Arial"/>
              </a:rPr>
              <a:t>dimming</a:t>
            </a:r>
            <a:r>
              <a:rPr lang="en-US" altLang="ko-KR" sz="900" spc="-20" dirty="0">
                <a:latin typeface="Arial"/>
                <a:cs typeface="Arial"/>
              </a:rPr>
              <a:t> </a:t>
            </a:r>
            <a:r>
              <a:rPr lang="en-US" altLang="ko-KR" sz="900" spc="-5" dirty="0">
                <a:latin typeface="Arial"/>
                <a:cs typeface="Arial"/>
              </a:rPr>
              <a:t>data</a:t>
            </a:r>
            <a:r>
              <a:rPr lang="en-US" altLang="ko-KR" sz="900" spc="-15" dirty="0">
                <a:latin typeface="Arial"/>
                <a:cs typeface="Arial"/>
              </a:rPr>
              <a:t> </a:t>
            </a:r>
            <a:r>
              <a:rPr lang="en-US" altLang="ko-KR" sz="900" dirty="0">
                <a:latin typeface="Arial"/>
                <a:cs typeface="Arial"/>
              </a:rPr>
              <a:t>out</a:t>
            </a:r>
            <a:r>
              <a:rPr lang="en-US" altLang="ko-KR" sz="900" spc="-10" dirty="0">
                <a:latin typeface="Arial"/>
                <a:cs typeface="Arial"/>
              </a:rPr>
              <a:t> </a:t>
            </a:r>
            <a:r>
              <a:rPr lang="en-US" altLang="ko-KR" sz="900" spc="-5" dirty="0">
                <a:latin typeface="Arial"/>
                <a:cs typeface="Arial"/>
              </a:rPr>
              <a:t>is</a:t>
            </a:r>
            <a:r>
              <a:rPr lang="en-US" altLang="ko-KR" sz="900" dirty="0">
                <a:latin typeface="Arial"/>
                <a:cs typeface="Arial"/>
              </a:rPr>
              <a:t> performed</a:t>
            </a:r>
            <a:r>
              <a:rPr lang="en-US" altLang="ko-KR" sz="900" spc="-20" dirty="0">
                <a:latin typeface="Arial"/>
                <a:cs typeface="Arial"/>
              </a:rPr>
              <a:t> </a:t>
            </a:r>
            <a:r>
              <a:rPr lang="en-US" altLang="ko-KR" sz="900" spc="-5" dirty="0">
                <a:latin typeface="Arial"/>
                <a:cs typeface="Arial"/>
              </a:rPr>
              <a:t>one </a:t>
            </a:r>
            <a:r>
              <a:rPr lang="en-US" altLang="ko-KR" sz="900" dirty="0">
                <a:latin typeface="Arial"/>
                <a:cs typeface="Arial"/>
              </a:rPr>
              <a:t>time</a:t>
            </a:r>
            <a:r>
              <a:rPr lang="en-US" altLang="ko-KR" sz="900" spc="-20" dirty="0">
                <a:latin typeface="Arial"/>
                <a:cs typeface="Arial"/>
              </a:rPr>
              <a:t> </a:t>
            </a:r>
            <a:r>
              <a:rPr lang="en-US" altLang="ko-KR" sz="900" dirty="0">
                <a:latin typeface="Arial"/>
                <a:cs typeface="Arial"/>
              </a:rPr>
              <a:t>for</a:t>
            </a:r>
            <a:r>
              <a:rPr lang="en-US" altLang="ko-KR" sz="900" spc="5" dirty="0">
                <a:latin typeface="Arial"/>
                <a:cs typeface="Arial"/>
              </a:rPr>
              <a:t> </a:t>
            </a:r>
            <a:r>
              <a:rPr lang="en-US" altLang="ko-KR" sz="900" spc="-5" dirty="0">
                <a:latin typeface="Arial"/>
                <a:cs typeface="Arial"/>
              </a:rPr>
              <a:t>one</a:t>
            </a:r>
            <a:r>
              <a:rPr lang="en-US" altLang="ko-KR" sz="900" spc="-20" dirty="0">
                <a:latin typeface="Arial"/>
                <a:cs typeface="Arial"/>
              </a:rPr>
              <a:t> </a:t>
            </a:r>
            <a:r>
              <a:rPr lang="en-US" altLang="ko-KR" sz="900" dirty="0">
                <a:latin typeface="Arial"/>
                <a:cs typeface="Arial"/>
              </a:rPr>
              <a:t>frame</a:t>
            </a:r>
            <a:r>
              <a:rPr lang="en-US" altLang="ko-KR" sz="900" spc="-10" dirty="0">
                <a:latin typeface="Arial"/>
                <a:cs typeface="Arial"/>
              </a:rPr>
              <a:t> </a:t>
            </a:r>
            <a:r>
              <a:rPr lang="en-US" altLang="ko-KR" sz="900" spc="-5" dirty="0">
                <a:latin typeface="Arial"/>
                <a:cs typeface="Arial"/>
              </a:rPr>
              <a:t>period</a:t>
            </a:r>
            <a:r>
              <a:rPr lang="en-US" altLang="ko-KR" sz="900" spc="-15" dirty="0">
                <a:latin typeface="Arial"/>
                <a:cs typeface="Arial"/>
              </a:rPr>
              <a:t> </a:t>
            </a:r>
            <a:r>
              <a:rPr lang="en-US" altLang="ko-KR" sz="900" spc="-5" dirty="0">
                <a:latin typeface="Arial"/>
                <a:cs typeface="Arial"/>
              </a:rPr>
              <a:t>and </a:t>
            </a:r>
            <a:r>
              <a:rPr lang="en-US" altLang="ko-KR" sz="900" dirty="0">
                <a:latin typeface="Arial"/>
                <a:cs typeface="Arial"/>
              </a:rPr>
              <a:t>at </a:t>
            </a:r>
            <a:r>
              <a:rPr lang="en-US" altLang="ko-KR" sz="900" spc="-10" dirty="0">
                <a:latin typeface="Arial"/>
                <a:cs typeface="Arial"/>
              </a:rPr>
              <a:t>X8 </a:t>
            </a:r>
            <a:r>
              <a:rPr lang="en-US" altLang="ko-KR" sz="900" dirty="0">
                <a:latin typeface="Arial"/>
                <a:cs typeface="Arial"/>
              </a:rPr>
              <a:t>mode, the local dimming </a:t>
            </a:r>
            <a:r>
              <a:rPr lang="en-US" altLang="ko-KR" sz="900" spc="-5" dirty="0">
                <a:latin typeface="Arial"/>
                <a:cs typeface="Arial"/>
              </a:rPr>
              <a:t>data </a:t>
            </a:r>
            <a:r>
              <a:rPr lang="en-US" altLang="ko-KR" sz="900" dirty="0">
                <a:latin typeface="Arial"/>
                <a:cs typeface="Arial"/>
              </a:rPr>
              <a:t>out </a:t>
            </a:r>
            <a:r>
              <a:rPr lang="en-US" altLang="ko-KR" sz="900" spc="-5" dirty="0">
                <a:latin typeface="Arial"/>
                <a:cs typeface="Arial"/>
              </a:rPr>
              <a:t>is </a:t>
            </a:r>
            <a:r>
              <a:rPr lang="en-US" altLang="ko-KR" sz="900" dirty="0">
                <a:latin typeface="Arial"/>
                <a:cs typeface="Arial"/>
              </a:rPr>
              <a:t>performed </a:t>
            </a:r>
            <a:r>
              <a:rPr lang="en-US" altLang="ko-KR" sz="900" spc="-5" dirty="0">
                <a:latin typeface="Arial"/>
                <a:cs typeface="Arial"/>
              </a:rPr>
              <a:t>8 </a:t>
            </a:r>
            <a:r>
              <a:rPr lang="en-US" altLang="ko-KR" sz="900" dirty="0">
                <a:latin typeface="Arial"/>
                <a:cs typeface="Arial"/>
              </a:rPr>
              <a:t>times </a:t>
            </a:r>
            <a:r>
              <a:rPr lang="en-US" altLang="ko-KR" sz="900" spc="-5" dirty="0">
                <a:latin typeface="Arial"/>
                <a:cs typeface="Arial"/>
              </a:rPr>
              <a:t>repeatedly </a:t>
            </a:r>
            <a:r>
              <a:rPr lang="en-US" altLang="ko-KR" sz="900" dirty="0">
                <a:latin typeface="Arial"/>
                <a:cs typeface="Arial"/>
              </a:rPr>
              <a:t>for </a:t>
            </a:r>
            <a:r>
              <a:rPr lang="en-US" altLang="ko-KR" sz="900" spc="-5" dirty="0">
                <a:latin typeface="Arial"/>
                <a:cs typeface="Arial"/>
              </a:rPr>
              <a:t>one </a:t>
            </a:r>
            <a:r>
              <a:rPr lang="en-US" altLang="ko-KR" sz="900" dirty="0">
                <a:latin typeface="Arial"/>
                <a:cs typeface="Arial"/>
              </a:rPr>
              <a:t>frame </a:t>
            </a:r>
            <a:r>
              <a:rPr lang="en-US" altLang="ko-KR" sz="900" spc="-5" dirty="0">
                <a:latin typeface="Arial"/>
                <a:cs typeface="Arial"/>
              </a:rPr>
              <a:t>period and </a:t>
            </a:r>
            <a:r>
              <a:rPr lang="en-US" altLang="ko-KR" sz="900" spc="-235" dirty="0">
                <a:latin typeface="Arial"/>
                <a:cs typeface="Arial"/>
              </a:rPr>
              <a:t> </a:t>
            </a:r>
            <a:r>
              <a:rPr lang="en-US" altLang="ko-KR" sz="900" dirty="0">
                <a:latin typeface="Arial"/>
                <a:cs typeface="Arial"/>
              </a:rPr>
              <a:t>at</a:t>
            </a:r>
            <a:r>
              <a:rPr lang="en-US" altLang="ko-KR" sz="900" spc="-10" dirty="0">
                <a:latin typeface="Arial"/>
                <a:cs typeface="Arial"/>
              </a:rPr>
              <a:t> X2</a:t>
            </a:r>
            <a:r>
              <a:rPr lang="en-US" altLang="ko-KR" sz="900" spc="20" dirty="0">
                <a:latin typeface="Arial"/>
                <a:cs typeface="Arial"/>
              </a:rPr>
              <a:t> </a:t>
            </a:r>
            <a:r>
              <a:rPr lang="en-US" altLang="ko-KR" sz="900" dirty="0">
                <a:latin typeface="Arial"/>
                <a:cs typeface="Arial"/>
              </a:rPr>
              <a:t>mode,</a:t>
            </a:r>
            <a:r>
              <a:rPr lang="en-US" altLang="ko-KR" sz="900" spc="-25" dirty="0">
                <a:latin typeface="Arial"/>
                <a:cs typeface="Arial"/>
              </a:rPr>
              <a:t> </a:t>
            </a:r>
            <a:r>
              <a:rPr lang="en-US" altLang="ko-KR" sz="900" dirty="0">
                <a:latin typeface="Arial"/>
                <a:cs typeface="Arial"/>
              </a:rPr>
              <a:t>the</a:t>
            </a:r>
            <a:r>
              <a:rPr lang="en-US" altLang="ko-KR" sz="900" spc="-5" dirty="0">
                <a:latin typeface="Arial"/>
                <a:cs typeface="Arial"/>
              </a:rPr>
              <a:t> </a:t>
            </a:r>
            <a:r>
              <a:rPr lang="en-US" altLang="ko-KR" sz="900" dirty="0">
                <a:latin typeface="Arial"/>
                <a:cs typeface="Arial"/>
              </a:rPr>
              <a:t>local</a:t>
            </a:r>
            <a:r>
              <a:rPr lang="en-US" altLang="ko-KR" sz="900" spc="-15" dirty="0">
                <a:latin typeface="Arial"/>
                <a:cs typeface="Arial"/>
              </a:rPr>
              <a:t> </a:t>
            </a:r>
            <a:r>
              <a:rPr lang="en-US" altLang="ko-KR" sz="900" dirty="0">
                <a:latin typeface="Arial"/>
                <a:cs typeface="Arial"/>
              </a:rPr>
              <a:t>dimming</a:t>
            </a:r>
            <a:r>
              <a:rPr lang="en-US" altLang="ko-KR" sz="900" spc="-35" dirty="0">
                <a:latin typeface="Arial"/>
                <a:cs typeface="Arial"/>
              </a:rPr>
              <a:t> </a:t>
            </a:r>
            <a:r>
              <a:rPr lang="en-US" altLang="ko-KR" sz="900" spc="-5" dirty="0">
                <a:latin typeface="Arial"/>
                <a:cs typeface="Arial"/>
              </a:rPr>
              <a:t>data </a:t>
            </a:r>
            <a:r>
              <a:rPr lang="en-US" altLang="ko-KR" sz="900" dirty="0">
                <a:latin typeface="Arial"/>
                <a:cs typeface="Arial"/>
              </a:rPr>
              <a:t>out</a:t>
            </a:r>
            <a:r>
              <a:rPr lang="en-US" altLang="ko-KR" sz="900" spc="-10" dirty="0">
                <a:latin typeface="Arial"/>
                <a:cs typeface="Arial"/>
              </a:rPr>
              <a:t> </a:t>
            </a:r>
            <a:r>
              <a:rPr lang="en-US" altLang="ko-KR" sz="900" spc="-5" dirty="0">
                <a:latin typeface="Arial"/>
                <a:cs typeface="Arial"/>
              </a:rPr>
              <a:t>is</a:t>
            </a:r>
            <a:r>
              <a:rPr lang="en-US" altLang="ko-KR" sz="900" dirty="0">
                <a:latin typeface="Arial"/>
                <a:cs typeface="Arial"/>
              </a:rPr>
              <a:t> performed</a:t>
            </a:r>
            <a:r>
              <a:rPr lang="en-US" altLang="ko-KR" sz="900" spc="-30" dirty="0">
                <a:latin typeface="Arial"/>
                <a:cs typeface="Arial"/>
              </a:rPr>
              <a:t> </a:t>
            </a:r>
            <a:r>
              <a:rPr lang="en-US" altLang="ko-KR" sz="900" spc="-5" dirty="0">
                <a:latin typeface="Arial"/>
                <a:cs typeface="Arial"/>
              </a:rPr>
              <a:t>2</a:t>
            </a:r>
            <a:r>
              <a:rPr lang="en-US" altLang="ko-KR" sz="900" dirty="0">
                <a:latin typeface="Arial"/>
                <a:cs typeface="Arial"/>
              </a:rPr>
              <a:t> times</a:t>
            </a:r>
            <a:r>
              <a:rPr lang="en-US" altLang="ko-KR" sz="900" spc="-15" dirty="0">
                <a:latin typeface="Arial"/>
                <a:cs typeface="Arial"/>
              </a:rPr>
              <a:t> </a:t>
            </a:r>
            <a:r>
              <a:rPr lang="en-US" altLang="ko-KR" sz="900" spc="-5" dirty="0">
                <a:latin typeface="Arial"/>
                <a:cs typeface="Arial"/>
              </a:rPr>
              <a:t>repeatedly</a:t>
            </a:r>
            <a:r>
              <a:rPr lang="en-US" altLang="ko-KR" sz="900" spc="-30" dirty="0">
                <a:latin typeface="Arial"/>
                <a:cs typeface="Arial"/>
              </a:rPr>
              <a:t> </a:t>
            </a:r>
            <a:r>
              <a:rPr lang="en-US" altLang="ko-KR" sz="900" dirty="0">
                <a:latin typeface="Arial"/>
                <a:cs typeface="Arial"/>
              </a:rPr>
              <a:t>for</a:t>
            </a:r>
            <a:r>
              <a:rPr lang="en-US" altLang="ko-KR" sz="900" spc="-5" dirty="0">
                <a:latin typeface="Arial"/>
                <a:cs typeface="Arial"/>
              </a:rPr>
              <a:t> one </a:t>
            </a:r>
            <a:r>
              <a:rPr lang="en-US" altLang="ko-KR" sz="900" dirty="0">
                <a:latin typeface="Arial"/>
                <a:cs typeface="Arial"/>
              </a:rPr>
              <a:t>frame</a:t>
            </a:r>
            <a:r>
              <a:rPr lang="en-US" altLang="ko-KR" sz="900" spc="-20" dirty="0">
                <a:latin typeface="Arial"/>
                <a:cs typeface="Arial"/>
              </a:rPr>
              <a:t> </a:t>
            </a:r>
            <a:r>
              <a:rPr lang="en-US" altLang="ko-KR" sz="900" spc="-5" dirty="0">
                <a:latin typeface="Arial"/>
                <a:cs typeface="Arial"/>
              </a:rPr>
              <a:t>period.</a:t>
            </a:r>
            <a:r>
              <a:rPr lang="en-US" altLang="ko-KR" sz="900" dirty="0">
                <a:latin typeface="Arial"/>
                <a:cs typeface="Arial"/>
              </a:rPr>
              <a:t> </a:t>
            </a:r>
            <a:r>
              <a:rPr lang="en-US" altLang="ko-KR" sz="900" spc="-5" dirty="0">
                <a:latin typeface="Arial"/>
                <a:cs typeface="Arial"/>
              </a:rPr>
              <a:t>The </a:t>
            </a:r>
            <a:r>
              <a:rPr lang="en-US" altLang="ko-KR" sz="900" spc="-10" dirty="0">
                <a:latin typeface="Arial"/>
                <a:cs typeface="Arial"/>
              </a:rPr>
              <a:t>X8</a:t>
            </a:r>
            <a:r>
              <a:rPr lang="en-US" altLang="ko-KR" sz="900" dirty="0">
                <a:latin typeface="Arial"/>
                <a:cs typeface="Arial"/>
              </a:rPr>
              <a:t> mode</a:t>
            </a:r>
            <a:r>
              <a:rPr lang="en-US" altLang="ko-KR" sz="900" spc="-10" dirty="0">
                <a:latin typeface="Arial"/>
                <a:cs typeface="Arial"/>
              </a:rPr>
              <a:t> </a:t>
            </a:r>
            <a:r>
              <a:rPr lang="en-US" altLang="ko-KR" sz="900" dirty="0">
                <a:latin typeface="Arial"/>
                <a:cs typeface="Arial"/>
              </a:rPr>
              <a:t>can</a:t>
            </a:r>
            <a:r>
              <a:rPr lang="en-US" altLang="ko-KR" sz="900" spc="-20" dirty="0">
                <a:latin typeface="Arial"/>
                <a:cs typeface="Arial"/>
              </a:rPr>
              <a:t> </a:t>
            </a:r>
            <a:r>
              <a:rPr lang="en-US" altLang="ko-KR" sz="900" dirty="0">
                <a:latin typeface="Arial"/>
                <a:cs typeface="Arial"/>
              </a:rPr>
              <a:t>be used</a:t>
            </a:r>
            <a:r>
              <a:rPr lang="en-US" altLang="ko-KR" sz="900" spc="-20" dirty="0">
                <a:latin typeface="Arial"/>
                <a:cs typeface="Arial"/>
              </a:rPr>
              <a:t> </a:t>
            </a:r>
            <a:r>
              <a:rPr lang="en-US" altLang="ko-KR" sz="900" dirty="0">
                <a:latin typeface="Arial"/>
                <a:cs typeface="Arial"/>
              </a:rPr>
              <a:t>as</a:t>
            </a:r>
            <a:r>
              <a:rPr lang="en-US" altLang="ko-KR" sz="900" spc="-10" dirty="0">
                <a:latin typeface="Arial"/>
                <a:cs typeface="Arial"/>
              </a:rPr>
              <a:t> </a:t>
            </a:r>
            <a:r>
              <a:rPr lang="en-US" altLang="ko-KR" sz="900" dirty="0">
                <a:latin typeface="Arial"/>
                <a:cs typeface="Arial"/>
              </a:rPr>
              <a:t>800</a:t>
            </a:r>
            <a:r>
              <a:rPr lang="en-US" altLang="ko-KR" sz="900" spc="-10" dirty="0">
                <a:latin typeface="Arial"/>
                <a:cs typeface="Arial"/>
              </a:rPr>
              <a:t> </a:t>
            </a:r>
            <a:r>
              <a:rPr lang="en-US" altLang="ko-KR" sz="900" dirty="0">
                <a:latin typeface="Arial"/>
                <a:cs typeface="Arial"/>
              </a:rPr>
              <a:t>or</a:t>
            </a:r>
            <a:r>
              <a:rPr lang="en-US" altLang="ko-KR" sz="900" spc="-10" dirty="0">
                <a:latin typeface="Arial"/>
                <a:cs typeface="Arial"/>
              </a:rPr>
              <a:t> </a:t>
            </a:r>
            <a:r>
              <a:rPr lang="en-US" altLang="ko-KR" sz="900" dirty="0">
                <a:latin typeface="Arial"/>
                <a:cs typeface="Arial"/>
              </a:rPr>
              <a:t>960hz</a:t>
            </a:r>
            <a:r>
              <a:rPr lang="en-US" altLang="ko-KR" sz="900" spc="-20" dirty="0">
                <a:latin typeface="Arial"/>
                <a:cs typeface="Arial"/>
              </a:rPr>
              <a:t> </a:t>
            </a:r>
            <a:r>
              <a:rPr lang="en-US" altLang="ko-KR" sz="900" dirty="0">
                <a:latin typeface="Arial"/>
                <a:cs typeface="Arial"/>
              </a:rPr>
              <a:t>and</a:t>
            </a:r>
            <a:r>
              <a:rPr lang="en-US" altLang="ko-KR" sz="900" spc="-10" dirty="0">
                <a:latin typeface="Arial"/>
                <a:cs typeface="Arial"/>
              </a:rPr>
              <a:t> X2</a:t>
            </a:r>
            <a:r>
              <a:rPr lang="en-US" altLang="ko-KR" sz="900" spc="15" dirty="0">
                <a:latin typeface="Arial"/>
                <a:cs typeface="Arial"/>
              </a:rPr>
              <a:t> </a:t>
            </a:r>
            <a:r>
              <a:rPr lang="en-US" altLang="ko-KR" sz="900" dirty="0">
                <a:latin typeface="Arial"/>
                <a:cs typeface="Arial"/>
              </a:rPr>
              <a:t>mode</a:t>
            </a:r>
            <a:r>
              <a:rPr lang="en-US" altLang="ko-KR" sz="900" spc="-20" dirty="0">
                <a:latin typeface="Arial"/>
                <a:cs typeface="Arial"/>
              </a:rPr>
              <a:t> </a:t>
            </a:r>
            <a:r>
              <a:rPr lang="en-US" altLang="ko-KR" sz="900" dirty="0">
                <a:latin typeface="Arial"/>
                <a:cs typeface="Arial"/>
              </a:rPr>
              <a:t>as</a:t>
            </a:r>
            <a:r>
              <a:rPr lang="en-US" altLang="ko-KR" sz="900" spc="-10" dirty="0">
                <a:latin typeface="Arial"/>
                <a:cs typeface="Arial"/>
              </a:rPr>
              <a:t> </a:t>
            </a:r>
            <a:r>
              <a:rPr lang="en-US" altLang="ko-KR" sz="900" spc="-5" dirty="0">
                <a:latin typeface="Arial"/>
                <a:cs typeface="Arial"/>
              </a:rPr>
              <a:t>240hz.</a:t>
            </a:r>
          </a:p>
          <a:p>
            <a:pPr marL="12700" marR="5080" algn="just">
              <a:lnSpc>
                <a:spcPct val="100000"/>
              </a:lnSpc>
              <a:spcBef>
                <a:spcPts val="100"/>
              </a:spcBef>
            </a:pPr>
            <a:endParaRPr lang="en-US" altLang="ko-KR" sz="900" spc="-5" dirty="0">
              <a:latin typeface="Arial"/>
              <a:cs typeface="Arial"/>
            </a:endParaRPr>
          </a:p>
          <a:p>
            <a:pPr marL="12700" marR="5080" algn="just">
              <a:lnSpc>
                <a:spcPct val="100000"/>
              </a:lnSpc>
              <a:spcBef>
                <a:spcPts val="100"/>
              </a:spcBef>
            </a:pPr>
            <a:r>
              <a:rPr lang="en-US" altLang="ko-KR" sz="900" spc="-5" dirty="0">
                <a:latin typeface="Arial"/>
                <a:cs typeface="Arial"/>
              </a:rPr>
              <a:t>The </a:t>
            </a:r>
            <a:r>
              <a:rPr lang="en-US" altLang="ko-KR" sz="900" dirty="0">
                <a:latin typeface="Arial"/>
                <a:cs typeface="Arial"/>
              </a:rPr>
              <a:t>local dimming </a:t>
            </a:r>
            <a:r>
              <a:rPr lang="en-US" altLang="ko-KR" sz="900" spc="-5" dirty="0">
                <a:latin typeface="Arial"/>
                <a:cs typeface="Arial"/>
              </a:rPr>
              <a:t>drive </a:t>
            </a:r>
            <a:r>
              <a:rPr lang="en-US" altLang="ko-KR" sz="900" dirty="0">
                <a:latin typeface="Arial"/>
                <a:cs typeface="Arial"/>
              </a:rPr>
              <a:t>method </a:t>
            </a:r>
            <a:r>
              <a:rPr lang="en-US" altLang="ko-KR" sz="900" spc="-5" dirty="0">
                <a:latin typeface="Arial"/>
                <a:cs typeface="Arial"/>
              </a:rPr>
              <a:t>has 2 types, </a:t>
            </a:r>
            <a:r>
              <a:rPr lang="en-US" altLang="ko-KR" sz="900" dirty="0">
                <a:latin typeface="Arial"/>
                <a:cs typeface="Arial"/>
              </a:rPr>
              <a:t>single </a:t>
            </a:r>
            <a:r>
              <a:rPr lang="en-US" altLang="ko-KR" sz="900" spc="-5" dirty="0">
                <a:latin typeface="Arial"/>
                <a:cs typeface="Arial"/>
              </a:rPr>
              <a:t>drive and dual drive which </a:t>
            </a:r>
            <a:r>
              <a:rPr lang="en-US" altLang="ko-KR" sz="900" dirty="0">
                <a:latin typeface="Arial"/>
                <a:cs typeface="Arial"/>
              </a:rPr>
              <a:t>can </a:t>
            </a:r>
            <a:r>
              <a:rPr lang="en-US" altLang="ko-KR" sz="900" spc="-5" dirty="0">
                <a:latin typeface="Arial"/>
                <a:cs typeface="Arial"/>
              </a:rPr>
              <a:t>be </a:t>
            </a:r>
            <a:r>
              <a:rPr lang="en-US" altLang="ko-KR" sz="900" dirty="0">
                <a:latin typeface="Arial"/>
                <a:cs typeface="Arial"/>
              </a:rPr>
              <a:t>selected </a:t>
            </a:r>
            <a:r>
              <a:rPr lang="en-US" altLang="ko-KR" sz="900" spc="-5" dirty="0">
                <a:latin typeface="Arial"/>
                <a:cs typeface="Arial"/>
              </a:rPr>
              <a:t>by DRV_MODE </a:t>
            </a:r>
            <a:r>
              <a:rPr lang="en-US" altLang="ko-KR" sz="900" dirty="0">
                <a:latin typeface="Arial"/>
                <a:cs typeface="Arial"/>
              </a:rPr>
              <a:t>bit of the</a:t>
            </a:r>
            <a:r>
              <a:rPr lang="en-US" altLang="ko-KR" sz="900" spc="-15" dirty="0">
                <a:latin typeface="Arial"/>
                <a:cs typeface="Arial"/>
              </a:rPr>
              <a:t> </a:t>
            </a:r>
            <a:r>
              <a:rPr lang="en-US" altLang="ko-KR" sz="900" spc="-10" dirty="0">
                <a:latin typeface="Arial"/>
                <a:cs typeface="Arial"/>
              </a:rPr>
              <a:t>MODE</a:t>
            </a:r>
            <a:r>
              <a:rPr lang="en-US" altLang="ko-KR" sz="900" spc="20" dirty="0">
                <a:latin typeface="Arial"/>
                <a:cs typeface="Arial"/>
              </a:rPr>
              <a:t> </a:t>
            </a:r>
            <a:r>
              <a:rPr lang="en-US" altLang="ko-KR" sz="900" spc="-5" dirty="0">
                <a:latin typeface="Arial"/>
                <a:cs typeface="Arial"/>
              </a:rPr>
              <a:t>CONTROL</a:t>
            </a:r>
            <a:r>
              <a:rPr lang="en-US" altLang="ko-KR" sz="900" spc="15" dirty="0">
                <a:latin typeface="Arial"/>
                <a:cs typeface="Arial"/>
              </a:rPr>
              <a:t> </a:t>
            </a:r>
            <a:r>
              <a:rPr lang="en-US" altLang="ko-KR" sz="900" dirty="0">
                <a:latin typeface="Arial"/>
                <a:cs typeface="Arial"/>
              </a:rPr>
              <a:t>register. At single </a:t>
            </a:r>
            <a:r>
              <a:rPr lang="en-US" altLang="ko-KR" sz="900" spc="-5" dirty="0">
                <a:latin typeface="Arial"/>
                <a:cs typeface="Arial"/>
              </a:rPr>
              <a:t>drive </a:t>
            </a:r>
            <a:r>
              <a:rPr lang="en-US" altLang="ko-KR" sz="900" dirty="0">
                <a:latin typeface="Arial"/>
                <a:cs typeface="Arial"/>
              </a:rPr>
              <a:t>mode, the dimming out </a:t>
            </a:r>
            <a:r>
              <a:rPr lang="en-US" altLang="ko-KR" sz="900" spc="-5" dirty="0">
                <a:latin typeface="Arial"/>
                <a:cs typeface="Arial"/>
              </a:rPr>
              <a:t>is </a:t>
            </a:r>
            <a:r>
              <a:rPr lang="en-US" altLang="ko-KR" sz="900" dirty="0">
                <a:latin typeface="Arial"/>
                <a:cs typeface="Arial"/>
              </a:rPr>
              <a:t>performed </a:t>
            </a:r>
            <a:r>
              <a:rPr lang="en-US" altLang="ko-KR" sz="900" spc="-5" dirty="0">
                <a:latin typeface="Arial"/>
                <a:cs typeface="Arial"/>
              </a:rPr>
              <a:t>one line </a:t>
            </a:r>
            <a:r>
              <a:rPr lang="en-US" altLang="ko-KR" sz="900" dirty="0">
                <a:latin typeface="Arial"/>
                <a:cs typeface="Arial"/>
              </a:rPr>
              <a:t>at </a:t>
            </a:r>
            <a:r>
              <a:rPr lang="en-US" altLang="ko-KR" sz="900" spc="-5" dirty="0">
                <a:latin typeface="Arial"/>
                <a:cs typeface="Arial"/>
              </a:rPr>
              <a:t>a </a:t>
            </a:r>
            <a:r>
              <a:rPr lang="en-US" altLang="ko-KR" sz="900" dirty="0">
                <a:latin typeface="Arial"/>
                <a:cs typeface="Arial"/>
              </a:rPr>
              <a:t>time, </a:t>
            </a:r>
            <a:r>
              <a:rPr lang="en-US" altLang="ko-KR" sz="900" spc="-5" dirty="0">
                <a:latin typeface="Arial"/>
                <a:cs typeface="Arial"/>
              </a:rPr>
              <a:t>and </a:t>
            </a:r>
            <a:r>
              <a:rPr lang="en-US" altLang="ko-KR" sz="900" dirty="0">
                <a:latin typeface="Arial"/>
                <a:cs typeface="Arial"/>
              </a:rPr>
              <a:t>at </a:t>
            </a:r>
            <a:r>
              <a:rPr lang="en-US" altLang="ko-KR" sz="900" spc="-5" dirty="0">
                <a:latin typeface="Arial"/>
                <a:cs typeface="Arial"/>
              </a:rPr>
              <a:t>dual drive </a:t>
            </a:r>
            <a:r>
              <a:rPr lang="en-US" altLang="ko-KR" sz="900" dirty="0">
                <a:latin typeface="Arial"/>
                <a:cs typeface="Arial"/>
              </a:rPr>
              <a:t>mode, the dimming out </a:t>
            </a:r>
            <a:r>
              <a:rPr lang="en-US" altLang="ko-KR" sz="900" spc="-5" dirty="0">
                <a:latin typeface="Arial"/>
                <a:cs typeface="Arial"/>
              </a:rPr>
              <a:t>is </a:t>
            </a:r>
            <a:r>
              <a:rPr lang="en-US" altLang="ko-KR" sz="900" dirty="0">
                <a:latin typeface="Arial"/>
                <a:cs typeface="Arial"/>
              </a:rPr>
              <a:t> performed </a:t>
            </a:r>
            <a:r>
              <a:rPr lang="en-US" altLang="ko-KR" sz="900" spc="-5" dirty="0">
                <a:latin typeface="Arial"/>
                <a:cs typeface="Arial"/>
              </a:rPr>
              <a:t>two lines </a:t>
            </a:r>
            <a:r>
              <a:rPr lang="en-US" altLang="ko-KR" sz="900" dirty="0">
                <a:latin typeface="Arial"/>
                <a:cs typeface="Arial"/>
              </a:rPr>
              <a:t>at </a:t>
            </a:r>
            <a:r>
              <a:rPr lang="en-US" altLang="ko-KR" sz="900" spc="-5" dirty="0">
                <a:latin typeface="Arial"/>
                <a:cs typeface="Arial"/>
              </a:rPr>
              <a:t>a </a:t>
            </a:r>
            <a:r>
              <a:rPr lang="en-US" altLang="ko-KR" sz="900" dirty="0">
                <a:latin typeface="Arial"/>
                <a:cs typeface="Arial"/>
              </a:rPr>
              <a:t>time </a:t>
            </a:r>
            <a:r>
              <a:rPr lang="en-US" altLang="ko-KR" sz="900" spc="-5" dirty="0">
                <a:latin typeface="Arial"/>
                <a:cs typeface="Arial"/>
              </a:rPr>
              <a:t>simultaneously.</a:t>
            </a:r>
            <a:r>
              <a:rPr lang="en-US" altLang="ko-KR" sz="900" dirty="0">
                <a:latin typeface="Arial"/>
                <a:cs typeface="Arial"/>
              </a:rPr>
              <a:t> So, the </a:t>
            </a:r>
            <a:r>
              <a:rPr lang="en-US" altLang="ko-KR" sz="900" spc="-5" dirty="0">
                <a:latin typeface="Arial"/>
                <a:cs typeface="Arial"/>
              </a:rPr>
              <a:t>dual drive </a:t>
            </a:r>
            <a:r>
              <a:rPr lang="en-US" altLang="ko-KR" sz="900" dirty="0">
                <a:latin typeface="Arial"/>
                <a:cs typeface="Arial"/>
              </a:rPr>
              <a:t>mode </a:t>
            </a:r>
            <a:r>
              <a:rPr lang="en-US" altLang="ko-KR" sz="900" spc="-5" dirty="0">
                <a:latin typeface="Arial"/>
                <a:cs typeface="Arial"/>
              </a:rPr>
              <a:t>is </a:t>
            </a:r>
            <a:r>
              <a:rPr lang="en-US" altLang="ko-KR" sz="900" dirty="0">
                <a:latin typeface="Arial"/>
                <a:cs typeface="Arial"/>
              </a:rPr>
              <a:t>much effective </a:t>
            </a:r>
            <a:r>
              <a:rPr lang="en-US" altLang="ko-KR" sz="900" spc="-5" dirty="0">
                <a:latin typeface="Arial"/>
                <a:cs typeface="Arial"/>
              </a:rPr>
              <a:t>than </a:t>
            </a:r>
            <a:r>
              <a:rPr lang="en-US" altLang="ko-KR" sz="900" dirty="0">
                <a:latin typeface="Arial"/>
                <a:cs typeface="Arial"/>
              </a:rPr>
              <a:t>the single </a:t>
            </a:r>
            <a:r>
              <a:rPr lang="en-US" altLang="ko-KR" sz="900" spc="-5" dirty="0">
                <a:latin typeface="Arial"/>
                <a:cs typeface="Arial"/>
              </a:rPr>
              <a:t>drive </a:t>
            </a:r>
            <a:r>
              <a:rPr lang="en-US" altLang="ko-KR" sz="900" dirty="0">
                <a:latin typeface="Arial"/>
                <a:cs typeface="Arial"/>
              </a:rPr>
              <a:t>mode </a:t>
            </a:r>
            <a:r>
              <a:rPr lang="en-US" altLang="ko-KR" sz="900" spc="-235" dirty="0">
                <a:latin typeface="Arial"/>
                <a:cs typeface="Arial"/>
              </a:rPr>
              <a:t> </a:t>
            </a:r>
            <a:r>
              <a:rPr lang="en-US" altLang="ko-KR" sz="900" spc="-5" dirty="0">
                <a:latin typeface="Arial"/>
                <a:cs typeface="Arial"/>
              </a:rPr>
              <a:t>in</a:t>
            </a:r>
            <a:r>
              <a:rPr lang="en-US" altLang="ko-KR" sz="900" spc="-15" dirty="0">
                <a:latin typeface="Arial"/>
                <a:cs typeface="Arial"/>
              </a:rPr>
              <a:t> </a:t>
            </a:r>
            <a:r>
              <a:rPr lang="en-US" altLang="ko-KR" sz="900" dirty="0">
                <a:latin typeface="Arial"/>
                <a:cs typeface="Arial"/>
              </a:rPr>
              <a:t>terms</a:t>
            </a:r>
            <a:r>
              <a:rPr lang="en-US" altLang="ko-KR" sz="900" spc="-20" dirty="0">
                <a:latin typeface="Arial"/>
                <a:cs typeface="Arial"/>
              </a:rPr>
              <a:t> </a:t>
            </a:r>
            <a:r>
              <a:rPr lang="en-US" altLang="ko-KR" sz="900" dirty="0">
                <a:latin typeface="Arial"/>
                <a:cs typeface="Arial"/>
              </a:rPr>
              <a:t>of dimming</a:t>
            </a:r>
            <a:r>
              <a:rPr lang="en-US" altLang="ko-KR" sz="900" spc="-35" dirty="0">
                <a:latin typeface="Arial"/>
                <a:cs typeface="Arial"/>
              </a:rPr>
              <a:t> </a:t>
            </a:r>
            <a:r>
              <a:rPr lang="en-US" altLang="ko-KR" sz="900" dirty="0">
                <a:latin typeface="Arial"/>
                <a:cs typeface="Arial"/>
              </a:rPr>
              <a:t>out</a:t>
            </a:r>
            <a:r>
              <a:rPr lang="en-US" altLang="ko-KR" sz="900" spc="-10" dirty="0">
                <a:latin typeface="Arial"/>
                <a:cs typeface="Arial"/>
              </a:rPr>
              <a:t> </a:t>
            </a:r>
            <a:r>
              <a:rPr lang="en-US" altLang="ko-KR" sz="900" dirty="0">
                <a:latin typeface="Arial"/>
                <a:cs typeface="Arial"/>
              </a:rPr>
              <a:t>speed. </a:t>
            </a:r>
            <a:r>
              <a:rPr lang="en-US" altLang="ko-KR" sz="900" spc="-5" dirty="0">
                <a:latin typeface="Arial"/>
                <a:cs typeface="Arial"/>
              </a:rPr>
              <a:t>The </a:t>
            </a:r>
            <a:r>
              <a:rPr lang="en-US" altLang="ko-KR" sz="900" dirty="0">
                <a:latin typeface="Arial"/>
                <a:cs typeface="Arial"/>
              </a:rPr>
              <a:t>output</a:t>
            </a:r>
            <a:r>
              <a:rPr lang="en-US" altLang="ko-KR" sz="900" spc="-25" dirty="0">
                <a:latin typeface="Arial"/>
                <a:cs typeface="Arial"/>
              </a:rPr>
              <a:t> </a:t>
            </a:r>
            <a:r>
              <a:rPr lang="en-US" altLang="ko-KR" sz="900" dirty="0">
                <a:latin typeface="Arial"/>
                <a:cs typeface="Arial"/>
              </a:rPr>
              <a:t>channels’</a:t>
            </a:r>
            <a:r>
              <a:rPr lang="en-US" altLang="ko-KR" sz="900" spc="-40" dirty="0">
                <a:latin typeface="Arial"/>
                <a:cs typeface="Arial"/>
              </a:rPr>
              <a:t> </a:t>
            </a:r>
            <a:r>
              <a:rPr lang="en-US" altLang="ko-KR" sz="900" dirty="0">
                <a:latin typeface="Arial"/>
                <a:cs typeface="Arial"/>
              </a:rPr>
              <a:t>mapping</a:t>
            </a:r>
            <a:r>
              <a:rPr lang="en-US" altLang="ko-KR" sz="900" spc="-35" dirty="0">
                <a:latin typeface="Arial"/>
                <a:cs typeface="Arial"/>
              </a:rPr>
              <a:t> </a:t>
            </a:r>
            <a:r>
              <a:rPr lang="en-US" altLang="ko-KR" sz="900" dirty="0">
                <a:latin typeface="Arial"/>
                <a:cs typeface="Arial"/>
              </a:rPr>
              <a:t>method</a:t>
            </a:r>
            <a:r>
              <a:rPr lang="en-US" altLang="ko-KR" sz="900" spc="-20" dirty="0">
                <a:latin typeface="Arial"/>
                <a:cs typeface="Arial"/>
              </a:rPr>
              <a:t> </a:t>
            </a:r>
            <a:r>
              <a:rPr lang="en-US" altLang="ko-KR" sz="900" dirty="0">
                <a:latin typeface="Arial"/>
                <a:cs typeface="Arial"/>
              </a:rPr>
              <a:t>is</a:t>
            </a:r>
            <a:r>
              <a:rPr lang="en-US" altLang="ko-KR" sz="900" spc="-10" dirty="0">
                <a:latin typeface="Arial"/>
                <a:cs typeface="Arial"/>
              </a:rPr>
              <a:t> </a:t>
            </a:r>
            <a:r>
              <a:rPr lang="en-US" altLang="ko-KR" sz="900" dirty="0">
                <a:latin typeface="Arial"/>
                <a:cs typeface="Arial"/>
              </a:rPr>
              <a:t>different</a:t>
            </a:r>
            <a:r>
              <a:rPr lang="en-US" altLang="ko-KR" sz="900" spc="-25" dirty="0">
                <a:latin typeface="Arial"/>
                <a:cs typeface="Arial"/>
              </a:rPr>
              <a:t> </a:t>
            </a:r>
            <a:r>
              <a:rPr lang="en-US" altLang="ko-KR" sz="900" dirty="0">
                <a:latin typeface="Arial"/>
                <a:cs typeface="Arial"/>
              </a:rPr>
              <a:t>from</a:t>
            </a:r>
            <a:r>
              <a:rPr lang="en-US" altLang="ko-KR" sz="900" spc="-20" dirty="0">
                <a:latin typeface="Arial"/>
                <a:cs typeface="Arial"/>
              </a:rPr>
              <a:t> </a:t>
            </a:r>
            <a:r>
              <a:rPr lang="en-US" altLang="ko-KR" sz="900" dirty="0">
                <a:latin typeface="Arial"/>
                <a:cs typeface="Arial"/>
              </a:rPr>
              <a:t>each</a:t>
            </a:r>
            <a:r>
              <a:rPr lang="en-US" altLang="ko-KR" sz="900" spc="-15" dirty="0">
                <a:latin typeface="Arial"/>
                <a:cs typeface="Arial"/>
              </a:rPr>
              <a:t> </a:t>
            </a:r>
            <a:r>
              <a:rPr lang="en-US" altLang="ko-KR" sz="900" dirty="0">
                <a:latin typeface="Arial"/>
                <a:cs typeface="Arial"/>
              </a:rPr>
              <a:t>other,</a:t>
            </a:r>
            <a:r>
              <a:rPr lang="en-US" altLang="ko-KR" sz="900" spc="-20" dirty="0">
                <a:latin typeface="Arial"/>
                <a:cs typeface="Arial"/>
              </a:rPr>
              <a:t> </a:t>
            </a:r>
            <a:r>
              <a:rPr lang="en-US" altLang="ko-KR" sz="900" dirty="0">
                <a:latin typeface="Arial"/>
                <a:cs typeface="Arial"/>
              </a:rPr>
              <a:t>so</a:t>
            </a:r>
            <a:r>
              <a:rPr lang="en-US" altLang="ko-KR" sz="900" spc="-15" dirty="0">
                <a:latin typeface="Arial"/>
                <a:cs typeface="Arial"/>
              </a:rPr>
              <a:t> </a:t>
            </a:r>
            <a:r>
              <a:rPr lang="en-US" altLang="ko-KR" sz="900" dirty="0">
                <a:latin typeface="Arial"/>
                <a:cs typeface="Arial"/>
              </a:rPr>
              <a:t>need</a:t>
            </a:r>
            <a:r>
              <a:rPr lang="en-US" altLang="ko-KR" sz="900" spc="-10" dirty="0">
                <a:latin typeface="Arial"/>
                <a:cs typeface="Arial"/>
              </a:rPr>
              <a:t> </a:t>
            </a:r>
            <a:r>
              <a:rPr lang="en-US" altLang="ko-KR" sz="900" dirty="0">
                <a:latin typeface="Arial"/>
                <a:cs typeface="Arial"/>
              </a:rPr>
              <a:t>to</a:t>
            </a:r>
            <a:r>
              <a:rPr lang="en-US" altLang="ko-KR" sz="900" spc="-10" dirty="0">
                <a:latin typeface="Arial"/>
                <a:cs typeface="Arial"/>
              </a:rPr>
              <a:t> </a:t>
            </a:r>
            <a:r>
              <a:rPr lang="en-US" altLang="ko-KR" sz="900" dirty="0">
                <a:latin typeface="Arial"/>
                <a:cs typeface="Arial"/>
              </a:rPr>
              <a:t>be</a:t>
            </a:r>
            <a:r>
              <a:rPr lang="en-US" altLang="ko-KR" sz="900" spc="-15" dirty="0">
                <a:latin typeface="Arial"/>
                <a:cs typeface="Arial"/>
              </a:rPr>
              <a:t> </a:t>
            </a:r>
            <a:r>
              <a:rPr lang="en-US" altLang="ko-KR" sz="900" dirty="0">
                <a:latin typeface="Arial"/>
                <a:cs typeface="Arial"/>
              </a:rPr>
              <a:t>careful</a:t>
            </a:r>
            <a:r>
              <a:rPr lang="en-US" altLang="ko-KR" sz="900" spc="-20" dirty="0">
                <a:latin typeface="Arial"/>
                <a:cs typeface="Arial"/>
              </a:rPr>
              <a:t> </a:t>
            </a:r>
            <a:r>
              <a:rPr lang="en-US" altLang="ko-KR" sz="900" dirty="0">
                <a:latin typeface="Arial"/>
                <a:cs typeface="Arial"/>
              </a:rPr>
              <a:t>and</a:t>
            </a:r>
            <a:r>
              <a:rPr lang="en-US" altLang="ko-KR" sz="900" spc="-15" dirty="0">
                <a:latin typeface="Arial"/>
                <a:cs typeface="Arial"/>
              </a:rPr>
              <a:t> </a:t>
            </a:r>
            <a:r>
              <a:rPr lang="en-US" altLang="ko-KR" sz="900" spc="-5" dirty="0">
                <a:latin typeface="Arial"/>
                <a:cs typeface="Arial"/>
              </a:rPr>
              <a:t>explained later.</a:t>
            </a:r>
            <a:endParaRPr lang="en-US" altLang="ko-KR" sz="900" dirty="0">
              <a:latin typeface="Arial" panose="020B0604020202020204" pitchFamily="34" charset="0"/>
              <a:cs typeface="Arial" panose="020B0604020202020204" pitchFamily="34" charset="0"/>
            </a:endParaRPr>
          </a:p>
        </p:txBody>
      </p:sp>
      <p:sp>
        <p:nvSpPr>
          <p:cNvPr id="6" name="object 9">
            <a:extLst>
              <a:ext uri="{FF2B5EF4-FFF2-40B4-BE49-F238E27FC236}">
                <a16:creationId xmlns:a16="http://schemas.microsoft.com/office/drawing/2014/main" id="{C487D598-C2B7-63EC-759B-2C70D0FD7FC1}"/>
              </a:ext>
            </a:extLst>
          </p:cNvPr>
          <p:cNvSpPr txBox="1"/>
          <p:nvPr/>
        </p:nvSpPr>
        <p:spPr>
          <a:xfrm>
            <a:off x="304800" y="9067800"/>
            <a:ext cx="2078355" cy="289823"/>
          </a:xfrm>
          <a:prstGeom prst="rect">
            <a:avLst/>
          </a:prstGeom>
        </p:spPr>
        <p:txBody>
          <a:bodyPr vert="horz" wrap="square" lIns="0" tIns="12700" rIns="0" bIns="0" rtlCol="0">
            <a:spAutoFit/>
          </a:bodyPr>
          <a:lstStyle/>
          <a:p>
            <a:pPr marL="12700">
              <a:lnSpc>
                <a:spcPct val="100000"/>
              </a:lnSpc>
              <a:spcBef>
                <a:spcPts val="100"/>
              </a:spcBef>
            </a:pPr>
            <a:r>
              <a:rPr b="1" spc="-5" dirty="0">
                <a:solidFill>
                  <a:srgbClr val="FF0000"/>
                </a:solidFill>
                <a:cs typeface="Perpetua Titling MT"/>
              </a:rPr>
              <a:t>CONFIDENTIAL</a:t>
            </a:r>
            <a:endParaRPr dirty="0">
              <a:cs typeface="Perpetua Titling MT"/>
            </a:endParaRPr>
          </a:p>
        </p:txBody>
      </p:sp>
      <p:sp>
        <p:nvSpPr>
          <p:cNvPr id="9" name="object 6">
            <a:extLst>
              <a:ext uri="{FF2B5EF4-FFF2-40B4-BE49-F238E27FC236}">
                <a16:creationId xmlns:a16="http://schemas.microsoft.com/office/drawing/2014/main" id="{906BBA58-84BA-28AF-6ED3-D3199EDE6545}"/>
              </a:ext>
            </a:extLst>
          </p:cNvPr>
          <p:cNvSpPr/>
          <p:nvPr/>
        </p:nvSpPr>
        <p:spPr>
          <a:xfrm>
            <a:off x="301676" y="9458756"/>
            <a:ext cx="6246495" cy="0"/>
          </a:xfrm>
          <a:custGeom>
            <a:avLst/>
            <a:gdLst/>
            <a:ahLst/>
            <a:cxnLst/>
            <a:rect l="l" t="t" r="r" b="b"/>
            <a:pathLst>
              <a:path w="6246495">
                <a:moveTo>
                  <a:pt x="0" y="0"/>
                </a:moveTo>
                <a:lnTo>
                  <a:pt x="6245999" y="0"/>
                </a:lnTo>
              </a:path>
            </a:pathLst>
          </a:custGeom>
          <a:ln w="25920">
            <a:solidFill>
              <a:srgbClr val="BFBFBF"/>
            </a:solidFill>
          </a:ln>
        </p:spPr>
        <p:txBody>
          <a:bodyPr wrap="square" lIns="0" tIns="0" rIns="0" bIns="0" rtlCol="0"/>
          <a:lstStyle/>
          <a:p>
            <a:endParaRPr/>
          </a:p>
        </p:txBody>
      </p:sp>
      <p:sp>
        <p:nvSpPr>
          <p:cNvPr id="16" name="슬라이드 번호 개체 틀 3">
            <a:hlinkClick r:id="rId3"/>
            <a:extLst>
              <a:ext uri="{FF2B5EF4-FFF2-40B4-BE49-F238E27FC236}">
                <a16:creationId xmlns:a16="http://schemas.microsoft.com/office/drawing/2014/main" id="{4B102204-B89C-2F0B-F2D0-2BDC178BAEE4}"/>
              </a:ext>
            </a:extLst>
          </p:cNvPr>
          <p:cNvSpPr txBox="1">
            <a:spLocks/>
          </p:cNvSpPr>
          <p:nvPr/>
        </p:nvSpPr>
        <p:spPr>
          <a:xfrm>
            <a:off x="5151602" y="9452864"/>
            <a:ext cx="1487550"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dirty="0">
                <a:solidFill>
                  <a:prstClr val="black"/>
                </a:solidFill>
                <a:latin typeface="Arial" panose="020B0604020202020204" pitchFamily="34" charset="0"/>
                <a:cs typeface="Arial" panose="020B0604020202020204" pitchFamily="34" charset="0"/>
              </a:rPr>
              <a:t>http://www.glbltech.com/</a:t>
            </a:r>
            <a:endParaRPr lang="ko-KR" altLang="en-US" dirty="0">
              <a:solidFill>
                <a:prstClr val="black"/>
              </a:solidFill>
              <a:latin typeface="Arial" panose="020B0604020202020204" pitchFamily="34" charset="0"/>
              <a:cs typeface="Arial" panose="020B0604020202020204" pitchFamily="34" charset="0"/>
            </a:endParaRPr>
          </a:p>
        </p:txBody>
      </p:sp>
      <p:sp>
        <p:nvSpPr>
          <p:cNvPr id="17" name="object 38">
            <a:extLst>
              <a:ext uri="{FF2B5EF4-FFF2-40B4-BE49-F238E27FC236}">
                <a16:creationId xmlns:a16="http://schemas.microsoft.com/office/drawing/2014/main" id="{A450C4CE-B6AC-E1B3-DB4E-1D501306F237}"/>
              </a:ext>
            </a:extLst>
          </p:cNvPr>
          <p:cNvSpPr txBox="1">
            <a:spLocks/>
          </p:cNvSpPr>
          <p:nvPr/>
        </p:nvSpPr>
        <p:spPr>
          <a:xfrm>
            <a:off x="3309066" y="9547988"/>
            <a:ext cx="487045" cy="139141"/>
          </a:xfrm>
          <a:prstGeom prst="rect">
            <a:avLst/>
          </a:prstGeom>
        </p:spPr>
        <p:txBody>
          <a:bodyPr vert="horz" wrap="square" lIns="0" tIns="635" rIns="0" bIns="0" rtlCol="0">
            <a:spAutoFit/>
          </a:bodyPr>
          <a:lstStyle>
            <a:defPPr>
              <a:defRPr lang="ko-KR"/>
            </a:defPPr>
            <a:lvl1pPr marL="0" algn="l" defTabSz="914400" rtl="0" eaLnBrk="1" latinLnBrk="1" hangingPunct="1">
              <a:defRPr sz="1050" b="0" i="0" kern="1200">
                <a:solidFill>
                  <a:schemeClr val="tx1"/>
                </a:solidFill>
                <a:latin typeface="Arial"/>
                <a:ea typeface="+mn-ea"/>
                <a:cs typeface="Arial"/>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marL="12700">
              <a:spcBef>
                <a:spcPts val="5"/>
              </a:spcBef>
              <a:defRPr/>
            </a:pPr>
            <a:r>
              <a:rPr lang="en-US" sz="900" dirty="0">
                <a:solidFill>
                  <a:prstClr val="black"/>
                </a:solidFill>
              </a:rPr>
              <a:t>Page</a:t>
            </a:r>
            <a:r>
              <a:rPr lang="en-US" sz="900" spc="-60" dirty="0">
                <a:solidFill>
                  <a:prstClr val="black"/>
                </a:solidFill>
              </a:rPr>
              <a:t> </a:t>
            </a:r>
            <a:fld id="{81D60167-4931-47E6-BA6A-407CBD079E47}" type="slidenum">
              <a:rPr sz="900">
                <a:solidFill>
                  <a:prstClr val="black"/>
                </a:solidFill>
              </a:rPr>
              <a:pPr marL="12700">
                <a:spcBef>
                  <a:spcPts val="5"/>
                </a:spcBef>
                <a:defRPr/>
              </a:pPr>
              <a:t>21</a:t>
            </a:fld>
            <a:endParaRPr sz="900" dirty="0">
              <a:solidFill>
                <a:prstClr val="black"/>
              </a:solidFill>
            </a:endParaRPr>
          </a:p>
        </p:txBody>
      </p:sp>
      <p:sp>
        <p:nvSpPr>
          <p:cNvPr id="18" name="슬라이드 번호 개체 틀 3">
            <a:extLst>
              <a:ext uri="{FF2B5EF4-FFF2-40B4-BE49-F238E27FC236}">
                <a16:creationId xmlns:a16="http://schemas.microsoft.com/office/drawing/2014/main" id="{143C3078-5CD2-DCFD-D675-DFDE9EBDFE2A}"/>
              </a:ext>
            </a:extLst>
          </p:cNvPr>
          <p:cNvSpPr txBox="1">
            <a:spLocks/>
          </p:cNvSpPr>
          <p:nvPr/>
        </p:nvSpPr>
        <p:spPr>
          <a:xfrm>
            <a:off x="299401" y="9520856"/>
            <a:ext cx="2060991" cy="175259"/>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lang="en-US" altLang="ko-KR" dirty="0">
                <a:solidFill>
                  <a:prstClr val="black"/>
                </a:solidFill>
                <a:latin typeface="Arial" panose="020B0604020202020204" pitchFamily="34" charset="0"/>
                <a:cs typeface="Arial" panose="020B0604020202020204" pitchFamily="34" charset="0"/>
              </a:rPr>
              <a:t>Dated 30-Nov 23  Rev. 01</a:t>
            </a:r>
            <a:endParaRPr lang="ko-KR" altLang="en-US" dirty="0">
              <a:solidFill>
                <a:prstClr val="black"/>
              </a:solidFill>
              <a:latin typeface="Arial" panose="020B0604020202020204" pitchFamily="34" charset="0"/>
              <a:cs typeface="Arial" panose="020B0604020202020204" pitchFamily="34" charset="0"/>
            </a:endParaRPr>
          </a:p>
        </p:txBody>
      </p:sp>
      <p:sp>
        <p:nvSpPr>
          <p:cNvPr id="19" name="Holder 3">
            <a:extLst>
              <a:ext uri="{FF2B5EF4-FFF2-40B4-BE49-F238E27FC236}">
                <a16:creationId xmlns:a16="http://schemas.microsoft.com/office/drawing/2014/main" id="{9ABE9B7C-0FFB-54E6-9FAD-88E6F6D82FB1}"/>
              </a:ext>
            </a:extLst>
          </p:cNvPr>
          <p:cNvSpPr txBox="1">
            <a:spLocks/>
          </p:cNvSpPr>
          <p:nvPr/>
        </p:nvSpPr>
        <p:spPr>
          <a:xfrm>
            <a:off x="5147476" y="203944"/>
            <a:ext cx="1447800" cy="276999"/>
          </a:xfrm>
          <a:prstGeom prst="rect">
            <a:avLst/>
          </a:prstGeom>
        </p:spPr>
        <p:txBody>
          <a:bodyPr wrap="square" lIns="0" tIns="0" rIns="0" bIns="0">
            <a:spAutoFit/>
          </a:bodyPr>
          <a:lstStyle>
            <a:lvl1pPr marL="0">
              <a:defRPr>
                <a:solidFill>
                  <a:srgbClr val="FF99FF"/>
                </a:solidFill>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defTabSz="914400" latinLnBrk="0"/>
            <a:r>
              <a:rPr lang="en-US" sz="1800" kern="0" dirty="0"/>
              <a:t>&lt;Preliminary&gt;</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p:nvPr/>
        </p:nvSpPr>
        <p:spPr>
          <a:xfrm>
            <a:off x="400913" y="301879"/>
            <a:ext cx="622935" cy="299720"/>
          </a:xfrm>
          <a:prstGeom prst="rect">
            <a:avLst/>
          </a:prstGeom>
        </p:spPr>
        <p:txBody>
          <a:bodyPr vert="horz" wrap="square" lIns="0" tIns="12700" rIns="0" bIns="0" rtlCol="0">
            <a:spAutoFit/>
          </a:bodyPr>
          <a:lstStyle/>
          <a:p>
            <a:pPr marL="12700">
              <a:lnSpc>
                <a:spcPct val="100000"/>
              </a:lnSpc>
              <a:spcBef>
                <a:spcPts val="100"/>
              </a:spcBef>
            </a:pPr>
            <a:r>
              <a:rPr sz="1800" b="1" spc="-5" dirty="0">
                <a:latin typeface="Arial"/>
                <a:cs typeface="Arial"/>
              </a:rPr>
              <a:t>CQ24</a:t>
            </a:r>
            <a:endParaRPr sz="1800" dirty="0">
              <a:latin typeface="Arial"/>
              <a:cs typeface="Arial"/>
            </a:endParaRPr>
          </a:p>
        </p:txBody>
      </p:sp>
      <p:sp>
        <p:nvSpPr>
          <p:cNvPr id="5" name="object 5"/>
          <p:cNvSpPr txBox="1"/>
          <p:nvPr/>
        </p:nvSpPr>
        <p:spPr>
          <a:xfrm>
            <a:off x="400914" y="3193796"/>
            <a:ext cx="6038542" cy="151323"/>
          </a:xfrm>
          <a:prstGeom prst="rect">
            <a:avLst/>
          </a:prstGeom>
        </p:spPr>
        <p:txBody>
          <a:bodyPr vert="horz" wrap="square" lIns="0" tIns="12700" rIns="0" bIns="0" rtlCol="0">
            <a:spAutoFit/>
          </a:bodyPr>
          <a:lstStyle/>
          <a:p>
            <a:pPr marL="182245" algn="ctr">
              <a:lnSpc>
                <a:spcPct val="100000"/>
              </a:lnSpc>
              <a:spcBef>
                <a:spcPts val="100"/>
              </a:spcBef>
            </a:pPr>
            <a:r>
              <a:rPr sz="900" b="1" spc="-5" dirty="0">
                <a:latin typeface="Arial"/>
                <a:cs typeface="Arial"/>
              </a:rPr>
              <a:t>[Figure.</a:t>
            </a:r>
            <a:r>
              <a:rPr sz="900" b="1" spc="10" dirty="0">
                <a:latin typeface="Arial"/>
                <a:cs typeface="Arial"/>
              </a:rPr>
              <a:t> </a:t>
            </a:r>
            <a:r>
              <a:rPr lang="en-US" sz="900" b="1" spc="10" dirty="0">
                <a:latin typeface="Arial"/>
                <a:cs typeface="Arial"/>
              </a:rPr>
              <a:t>15</a:t>
            </a:r>
            <a:r>
              <a:rPr sz="900" b="1" spc="-5" dirty="0">
                <a:latin typeface="Arial"/>
                <a:cs typeface="Arial"/>
              </a:rPr>
              <a:t>-1]</a:t>
            </a:r>
            <a:r>
              <a:rPr sz="900" b="1" spc="10" dirty="0">
                <a:latin typeface="Arial"/>
                <a:cs typeface="Arial"/>
              </a:rPr>
              <a:t> </a:t>
            </a:r>
            <a:r>
              <a:rPr sz="900" b="1" dirty="0">
                <a:latin typeface="Arial"/>
                <a:cs typeface="Arial"/>
              </a:rPr>
              <a:t>The</a:t>
            </a:r>
            <a:r>
              <a:rPr sz="900" b="1" spc="20" dirty="0">
                <a:latin typeface="Arial"/>
                <a:cs typeface="Arial"/>
              </a:rPr>
              <a:t> </a:t>
            </a:r>
            <a:r>
              <a:rPr sz="900" b="1" dirty="0">
                <a:latin typeface="Arial"/>
                <a:cs typeface="Arial"/>
              </a:rPr>
              <a:t>Normal</a:t>
            </a:r>
            <a:r>
              <a:rPr sz="900" b="1" spc="-15" dirty="0">
                <a:latin typeface="Arial"/>
                <a:cs typeface="Arial"/>
              </a:rPr>
              <a:t> </a:t>
            </a:r>
            <a:r>
              <a:rPr sz="900" b="1" dirty="0">
                <a:latin typeface="Arial"/>
                <a:cs typeface="Arial"/>
              </a:rPr>
              <a:t>dimming</a:t>
            </a:r>
            <a:r>
              <a:rPr sz="900" b="1" spc="-15" dirty="0">
                <a:latin typeface="Arial"/>
                <a:cs typeface="Arial"/>
              </a:rPr>
              <a:t> </a:t>
            </a:r>
            <a:r>
              <a:rPr sz="900" b="1" dirty="0">
                <a:latin typeface="Arial"/>
                <a:cs typeface="Arial"/>
              </a:rPr>
              <a:t>out</a:t>
            </a:r>
            <a:r>
              <a:rPr sz="900" b="1" spc="10" dirty="0">
                <a:latin typeface="Arial"/>
                <a:cs typeface="Arial"/>
              </a:rPr>
              <a:t> </a:t>
            </a:r>
            <a:r>
              <a:rPr sz="900" b="1" dirty="0">
                <a:latin typeface="Arial"/>
                <a:cs typeface="Arial"/>
              </a:rPr>
              <a:t>sequence</a:t>
            </a:r>
            <a:r>
              <a:rPr sz="900" b="1" spc="30" dirty="0">
                <a:latin typeface="Arial"/>
                <a:cs typeface="Arial"/>
              </a:rPr>
              <a:t> </a:t>
            </a:r>
            <a:r>
              <a:rPr sz="900" b="1" dirty="0">
                <a:latin typeface="Arial"/>
                <a:cs typeface="Arial"/>
              </a:rPr>
              <a:t>in</a:t>
            </a:r>
            <a:r>
              <a:rPr sz="900" b="1" spc="10" dirty="0">
                <a:latin typeface="Arial"/>
                <a:cs typeface="Arial"/>
              </a:rPr>
              <a:t> </a:t>
            </a:r>
            <a:r>
              <a:rPr sz="900" b="1" dirty="0">
                <a:latin typeface="Arial"/>
                <a:cs typeface="Arial"/>
              </a:rPr>
              <a:t>single</a:t>
            </a:r>
            <a:r>
              <a:rPr sz="900" b="1" spc="-5" dirty="0">
                <a:latin typeface="Arial"/>
                <a:cs typeface="Arial"/>
              </a:rPr>
              <a:t> </a:t>
            </a:r>
            <a:r>
              <a:rPr sz="900" b="1" dirty="0">
                <a:latin typeface="Arial"/>
                <a:cs typeface="Arial"/>
              </a:rPr>
              <a:t>drive</a:t>
            </a:r>
            <a:r>
              <a:rPr sz="900" b="1" spc="20" dirty="0">
                <a:latin typeface="Arial"/>
                <a:cs typeface="Arial"/>
              </a:rPr>
              <a:t> </a:t>
            </a:r>
            <a:r>
              <a:rPr sz="900" b="1" spc="5" dirty="0">
                <a:latin typeface="Arial"/>
                <a:cs typeface="Arial"/>
              </a:rPr>
              <a:t>mode</a:t>
            </a:r>
            <a:endParaRPr sz="900" b="1" dirty="0">
              <a:latin typeface="Arial"/>
              <a:cs typeface="Arial"/>
            </a:endParaRPr>
          </a:p>
        </p:txBody>
      </p:sp>
      <p:sp>
        <p:nvSpPr>
          <p:cNvPr id="6" name="object 6"/>
          <p:cNvSpPr txBox="1"/>
          <p:nvPr/>
        </p:nvSpPr>
        <p:spPr>
          <a:xfrm>
            <a:off x="392074" y="906018"/>
            <a:ext cx="6047381" cy="228268"/>
          </a:xfrm>
          <a:prstGeom prst="rect">
            <a:avLst/>
          </a:prstGeom>
        </p:spPr>
        <p:txBody>
          <a:bodyPr vert="horz" wrap="square" lIns="0" tIns="12700" rIns="0" bIns="0" rtlCol="0">
            <a:spAutoFit/>
          </a:bodyPr>
          <a:lstStyle/>
          <a:p>
            <a:pPr marL="12700">
              <a:lnSpc>
                <a:spcPct val="100000"/>
              </a:lnSpc>
              <a:spcBef>
                <a:spcPts val="100"/>
              </a:spcBef>
            </a:pPr>
            <a:r>
              <a:rPr sz="1400" b="1" spc="-5" dirty="0">
                <a:latin typeface="Arial"/>
                <a:cs typeface="Arial"/>
              </a:rPr>
              <a:t>The </a:t>
            </a:r>
            <a:r>
              <a:rPr sz="1400" b="1" dirty="0">
                <a:latin typeface="Arial"/>
                <a:cs typeface="Arial"/>
              </a:rPr>
              <a:t>local</a:t>
            </a:r>
            <a:r>
              <a:rPr sz="1400" b="1" spc="-35" dirty="0">
                <a:latin typeface="Arial"/>
                <a:cs typeface="Arial"/>
              </a:rPr>
              <a:t> </a:t>
            </a:r>
            <a:r>
              <a:rPr sz="1400" b="1" dirty="0">
                <a:latin typeface="Arial"/>
                <a:cs typeface="Arial"/>
              </a:rPr>
              <a:t>dimming</a:t>
            </a:r>
            <a:r>
              <a:rPr sz="1400" b="1" spc="-30" dirty="0">
                <a:latin typeface="Arial"/>
                <a:cs typeface="Arial"/>
              </a:rPr>
              <a:t> </a:t>
            </a:r>
            <a:r>
              <a:rPr sz="1400" b="1" dirty="0">
                <a:latin typeface="Arial"/>
                <a:cs typeface="Arial"/>
              </a:rPr>
              <a:t>data</a:t>
            </a:r>
            <a:r>
              <a:rPr sz="1400" b="1" spc="-15" dirty="0">
                <a:latin typeface="Arial"/>
                <a:cs typeface="Arial"/>
              </a:rPr>
              <a:t> </a:t>
            </a:r>
            <a:r>
              <a:rPr sz="1400" b="1" spc="-5" dirty="0">
                <a:latin typeface="Arial"/>
                <a:cs typeface="Arial"/>
              </a:rPr>
              <a:t>out</a:t>
            </a:r>
            <a:r>
              <a:rPr sz="1400" b="1" spc="-15" dirty="0">
                <a:latin typeface="Arial"/>
                <a:cs typeface="Arial"/>
              </a:rPr>
              <a:t> </a:t>
            </a:r>
            <a:r>
              <a:rPr sz="1400" b="1" dirty="0">
                <a:latin typeface="Arial"/>
                <a:cs typeface="Arial"/>
              </a:rPr>
              <a:t>at</a:t>
            </a:r>
            <a:r>
              <a:rPr sz="1400" b="1" spc="-5" dirty="0">
                <a:latin typeface="Arial"/>
                <a:cs typeface="Arial"/>
              </a:rPr>
              <a:t> NORMAL</a:t>
            </a:r>
            <a:r>
              <a:rPr sz="1400" b="1" spc="-10" dirty="0">
                <a:latin typeface="Arial"/>
                <a:cs typeface="Arial"/>
              </a:rPr>
              <a:t> </a:t>
            </a:r>
            <a:r>
              <a:rPr sz="1400" b="1" dirty="0">
                <a:latin typeface="Arial"/>
                <a:cs typeface="Arial"/>
              </a:rPr>
              <a:t>mode</a:t>
            </a:r>
            <a:endParaRPr sz="1400" dirty="0">
              <a:latin typeface="Arial"/>
              <a:cs typeface="Arial"/>
            </a:endParaRPr>
          </a:p>
        </p:txBody>
      </p:sp>
      <p:sp>
        <p:nvSpPr>
          <p:cNvPr id="7" name="object 7"/>
          <p:cNvSpPr txBox="1"/>
          <p:nvPr/>
        </p:nvSpPr>
        <p:spPr>
          <a:xfrm>
            <a:off x="392074" y="1290065"/>
            <a:ext cx="6047381" cy="151323"/>
          </a:xfrm>
          <a:prstGeom prst="rect">
            <a:avLst/>
          </a:prstGeom>
        </p:spPr>
        <p:txBody>
          <a:bodyPr vert="horz" wrap="square" lIns="0" tIns="12700" rIns="0" bIns="0" rtlCol="0">
            <a:spAutoFit/>
          </a:bodyPr>
          <a:lstStyle/>
          <a:p>
            <a:pPr marL="12700" algn="just">
              <a:lnSpc>
                <a:spcPct val="100000"/>
              </a:lnSpc>
              <a:spcBef>
                <a:spcPts val="100"/>
              </a:spcBef>
            </a:pPr>
            <a:r>
              <a:rPr sz="900" dirty="0">
                <a:latin typeface="Arial"/>
                <a:cs typeface="Arial"/>
              </a:rPr>
              <a:t>Below</a:t>
            </a:r>
            <a:r>
              <a:rPr sz="900" spc="-10" dirty="0">
                <a:latin typeface="Arial"/>
                <a:cs typeface="Arial"/>
              </a:rPr>
              <a:t> </a:t>
            </a:r>
            <a:r>
              <a:rPr sz="900" spc="-5" dirty="0">
                <a:latin typeface="Arial"/>
                <a:cs typeface="Arial"/>
              </a:rPr>
              <a:t>shows</a:t>
            </a:r>
            <a:r>
              <a:rPr sz="900" dirty="0">
                <a:latin typeface="Arial"/>
                <a:cs typeface="Arial"/>
              </a:rPr>
              <a:t> the</a:t>
            </a:r>
            <a:r>
              <a:rPr sz="900" spc="5" dirty="0">
                <a:latin typeface="Arial"/>
                <a:cs typeface="Arial"/>
              </a:rPr>
              <a:t> </a:t>
            </a:r>
            <a:r>
              <a:rPr sz="900" dirty="0">
                <a:latin typeface="Arial"/>
                <a:cs typeface="Arial"/>
              </a:rPr>
              <a:t>local</a:t>
            </a:r>
            <a:r>
              <a:rPr sz="900" spc="-15" dirty="0">
                <a:latin typeface="Arial"/>
                <a:cs typeface="Arial"/>
              </a:rPr>
              <a:t> </a:t>
            </a:r>
            <a:r>
              <a:rPr sz="900" dirty="0">
                <a:latin typeface="Arial"/>
                <a:cs typeface="Arial"/>
              </a:rPr>
              <a:t>dimming</a:t>
            </a:r>
            <a:r>
              <a:rPr sz="900" spc="-15" dirty="0">
                <a:latin typeface="Arial"/>
                <a:cs typeface="Arial"/>
              </a:rPr>
              <a:t> </a:t>
            </a:r>
            <a:r>
              <a:rPr sz="900" dirty="0">
                <a:latin typeface="Arial"/>
                <a:cs typeface="Arial"/>
              </a:rPr>
              <a:t>normal</a:t>
            </a:r>
            <a:r>
              <a:rPr sz="900" spc="-15" dirty="0">
                <a:latin typeface="Arial"/>
                <a:cs typeface="Arial"/>
              </a:rPr>
              <a:t> </a:t>
            </a:r>
            <a:r>
              <a:rPr sz="900" dirty="0">
                <a:latin typeface="Arial"/>
                <a:cs typeface="Arial"/>
              </a:rPr>
              <a:t>mode</a:t>
            </a:r>
            <a:r>
              <a:rPr sz="900" spc="-10" dirty="0">
                <a:latin typeface="Arial"/>
                <a:cs typeface="Arial"/>
              </a:rPr>
              <a:t> </a:t>
            </a:r>
            <a:r>
              <a:rPr sz="900" spc="-5" dirty="0">
                <a:latin typeface="Arial"/>
                <a:cs typeface="Arial"/>
              </a:rPr>
              <a:t>in</a:t>
            </a:r>
            <a:r>
              <a:rPr sz="900" dirty="0">
                <a:latin typeface="Arial"/>
                <a:cs typeface="Arial"/>
              </a:rPr>
              <a:t> single</a:t>
            </a:r>
            <a:r>
              <a:rPr sz="900" spc="-15" dirty="0">
                <a:latin typeface="Arial"/>
                <a:cs typeface="Arial"/>
              </a:rPr>
              <a:t> </a:t>
            </a:r>
            <a:r>
              <a:rPr sz="900" dirty="0">
                <a:latin typeface="Arial"/>
                <a:cs typeface="Arial"/>
              </a:rPr>
              <a:t>and</a:t>
            </a:r>
            <a:r>
              <a:rPr sz="900" spc="5" dirty="0">
                <a:latin typeface="Arial"/>
                <a:cs typeface="Arial"/>
              </a:rPr>
              <a:t> </a:t>
            </a:r>
            <a:r>
              <a:rPr sz="900" dirty="0">
                <a:latin typeface="Arial"/>
                <a:cs typeface="Arial"/>
              </a:rPr>
              <a:t>dual</a:t>
            </a:r>
            <a:r>
              <a:rPr sz="900" spc="-15" dirty="0">
                <a:latin typeface="Arial"/>
                <a:cs typeface="Arial"/>
              </a:rPr>
              <a:t> </a:t>
            </a:r>
            <a:r>
              <a:rPr sz="900" dirty="0">
                <a:latin typeface="Arial"/>
                <a:cs typeface="Arial"/>
              </a:rPr>
              <a:t>drive,</a:t>
            </a:r>
            <a:r>
              <a:rPr sz="900" spc="-5" dirty="0">
                <a:latin typeface="Arial"/>
                <a:cs typeface="Arial"/>
              </a:rPr>
              <a:t> </a:t>
            </a:r>
            <a:r>
              <a:rPr sz="900" dirty="0">
                <a:latin typeface="Arial"/>
                <a:cs typeface="Arial"/>
              </a:rPr>
              <a:t>respectively.</a:t>
            </a:r>
          </a:p>
        </p:txBody>
      </p:sp>
      <p:pic>
        <p:nvPicPr>
          <p:cNvPr id="9" name="object 9"/>
          <p:cNvPicPr/>
          <p:nvPr/>
        </p:nvPicPr>
        <p:blipFill>
          <a:blip r:embed="rId2" cstate="print"/>
          <a:stretch>
            <a:fillRect/>
          </a:stretch>
        </p:blipFill>
        <p:spPr>
          <a:xfrm>
            <a:off x="400914" y="4663463"/>
            <a:ext cx="6076086" cy="1775425"/>
          </a:xfrm>
          <a:prstGeom prst="rect">
            <a:avLst/>
          </a:prstGeom>
        </p:spPr>
      </p:pic>
      <p:pic>
        <p:nvPicPr>
          <p:cNvPr id="10" name="object 10"/>
          <p:cNvPicPr/>
          <p:nvPr/>
        </p:nvPicPr>
        <p:blipFill>
          <a:blip r:embed="rId3" cstate="print"/>
          <a:stretch>
            <a:fillRect/>
          </a:stretch>
        </p:blipFill>
        <p:spPr>
          <a:xfrm>
            <a:off x="400912" y="1688626"/>
            <a:ext cx="6076087" cy="1191677"/>
          </a:xfrm>
          <a:prstGeom prst="rect">
            <a:avLst/>
          </a:prstGeom>
        </p:spPr>
      </p:pic>
      <p:sp>
        <p:nvSpPr>
          <p:cNvPr id="14" name="TextBox 13">
            <a:extLst>
              <a:ext uri="{FF2B5EF4-FFF2-40B4-BE49-F238E27FC236}">
                <a16:creationId xmlns:a16="http://schemas.microsoft.com/office/drawing/2014/main" id="{D9961CDF-8ED9-3731-21CB-4ECDF9082AC4}"/>
              </a:ext>
            </a:extLst>
          </p:cNvPr>
          <p:cNvSpPr txBox="1"/>
          <p:nvPr/>
        </p:nvSpPr>
        <p:spPr>
          <a:xfrm>
            <a:off x="392074" y="3593043"/>
            <a:ext cx="6038542" cy="553998"/>
          </a:xfrm>
          <a:prstGeom prst="rect">
            <a:avLst/>
          </a:prstGeom>
          <a:noFill/>
        </p:spPr>
        <p:txBody>
          <a:bodyPr wrap="square" lIns="0" tIns="0" rIns="0" bIns="0" rtlCol="0">
            <a:spAutoFit/>
          </a:bodyPr>
          <a:lstStyle/>
          <a:p>
            <a:pPr marL="12700" marR="5080" algn="just">
              <a:lnSpc>
                <a:spcPct val="100000"/>
              </a:lnSpc>
              <a:spcBef>
                <a:spcPts val="100"/>
              </a:spcBef>
            </a:pPr>
            <a:r>
              <a:rPr lang="en-US" altLang="ko-KR" sz="900" spc="-5" dirty="0">
                <a:latin typeface="Arial"/>
                <a:cs typeface="Arial"/>
              </a:rPr>
              <a:t>At </a:t>
            </a:r>
            <a:r>
              <a:rPr lang="en-US" altLang="ko-KR" sz="900" dirty="0">
                <a:latin typeface="Arial"/>
                <a:cs typeface="Arial"/>
              </a:rPr>
              <a:t>single </a:t>
            </a:r>
            <a:r>
              <a:rPr lang="en-US" altLang="ko-KR" sz="900" spc="-5" dirty="0">
                <a:latin typeface="Arial"/>
                <a:cs typeface="Arial"/>
              </a:rPr>
              <a:t>drive </a:t>
            </a:r>
            <a:r>
              <a:rPr lang="en-US" altLang="ko-KR" sz="900" dirty="0">
                <a:latin typeface="Arial"/>
                <a:cs typeface="Arial"/>
              </a:rPr>
              <a:t>mode, local dimming </a:t>
            </a:r>
            <a:r>
              <a:rPr lang="en-US" altLang="ko-KR" sz="900" spc="-5" dirty="0">
                <a:latin typeface="Arial"/>
                <a:cs typeface="Arial"/>
              </a:rPr>
              <a:t>data </a:t>
            </a:r>
            <a:r>
              <a:rPr lang="en-US" altLang="ko-KR" sz="900" dirty="0">
                <a:latin typeface="Arial"/>
                <a:cs typeface="Arial"/>
              </a:rPr>
              <a:t>out </a:t>
            </a:r>
            <a:r>
              <a:rPr lang="en-US" altLang="ko-KR" sz="900" spc="-5" dirty="0">
                <a:latin typeface="Arial"/>
                <a:cs typeface="Arial"/>
              </a:rPr>
              <a:t>is </a:t>
            </a:r>
            <a:r>
              <a:rPr lang="en-US" altLang="ko-KR" sz="900" dirty="0">
                <a:latin typeface="Arial"/>
                <a:cs typeface="Arial"/>
              </a:rPr>
              <a:t>performed </a:t>
            </a:r>
            <a:r>
              <a:rPr lang="en-US" altLang="ko-KR" sz="900" spc="-5" dirty="0">
                <a:latin typeface="Arial"/>
                <a:cs typeface="Arial"/>
              </a:rPr>
              <a:t>one line </a:t>
            </a:r>
            <a:r>
              <a:rPr lang="en-US" altLang="ko-KR" sz="900" dirty="0">
                <a:latin typeface="Arial"/>
                <a:cs typeface="Arial"/>
              </a:rPr>
              <a:t>at </a:t>
            </a:r>
            <a:r>
              <a:rPr lang="en-US" altLang="ko-KR" sz="900" spc="-5" dirty="0">
                <a:latin typeface="Arial"/>
                <a:cs typeface="Arial"/>
              </a:rPr>
              <a:t>a </a:t>
            </a:r>
            <a:r>
              <a:rPr lang="en-US" altLang="ko-KR" sz="900" dirty="0">
                <a:latin typeface="Arial"/>
                <a:cs typeface="Arial"/>
              </a:rPr>
              <a:t>time according to </a:t>
            </a:r>
            <a:r>
              <a:rPr lang="en-US" altLang="ko-KR" sz="900" spc="-5" dirty="0">
                <a:latin typeface="Arial"/>
                <a:cs typeface="Arial"/>
              </a:rPr>
              <a:t>internal sync </a:t>
            </a:r>
            <a:r>
              <a:rPr lang="en-US" altLang="ko-KR" sz="900" dirty="0">
                <a:latin typeface="Arial"/>
                <a:cs typeface="Arial"/>
              </a:rPr>
              <a:t>signals, the </a:t>
            </a:r>
            <a:r>
              <a:rPr lang="en-US" altLang="ko-KR" sz="900" spc="-5" dirty="0">
                <a:latin typeface="Arial"/>
                <a:cs typeface="Arial"/>
              </a:rPr>
              <a:t>svsync and</a:t>
            </a:r>
            <a:r>
              <a:rPr lang="en-US" altLang="ko-KR" sz="900" spc="-10" dirty="0">
                <a:latin typeface="Arial"/>
                <a:cs typeface="Arial"/>
              </a:rPr>
              <a:t> </a:t>
            </a:r>
            <a:r>
              <a:rPr lang="en-US" altLang="ko-KR" sz="900" dirty="0">
                <a:latin typeface="Arial"/>
                <a:cs typeface="Arial"/>
              </a:rPr>
              <a:t>the</a:t>
            </a:r>
            <a:r>
              <a:rPr lang="en-US" altLang="ko-KR" sz="900" spc="-10" dirty="0">
                <a:latin typeface="Arial"/>
                <a:cs typeface="Arial"/>
              </a:rPr>
              <a:t> </a:t>
            </a:r>
            <a:r>
              <a:rPr lang="en-US" altLang="ko-KR" sz="900" dirty="0">
                <a:latin typeface="Arial"/>
                <a:cs typeface="Arial"/>
              </a:rPr>
              <a:t>shsync.</a:t>
            </a:r>
            <a:r>
              <a:rPr lang="en-US" altLang="ko-KR" sz="900" spc="-20" dirty="0">
                <a:latin typeface="Arial"/>
                <a:cs typeface="Arial"/>
              </a:rPr>
              <a:t> </a:t>
            </a:r>
            <a:r>
              <a:rPr lang="en-US" altLang="ko-KR" sz="900" spc="-5" dirty="0">
                <a:latin typeface="Arial"/>
                <a:cs typeface="Arial"/>
              </a:rPr>
              <a:t>The</a:t>
            </a:r>
            <a:r>
              <a:rPr lang="en-US" altLang="ko-KR" sz="900" dirty="0">
                <a:latin typeface="Arial"/>
                <a:cs typeface="Arial"/>
              </a:rPr>
              <a:t> </a:t>
            </a:r>
            <a:r>
              <a:rPr lang="en-US" altLang="ko-KR" sz="900" spc="-5" dirty="0">
                <a:latin typeface="Arial"/>
                <a:cs typeface="Arial"/>
              </a:rPr>
              <a:t>data</a:t>
            </a:r>
            <a:r>
              <a:rPr lang="en-US" altLang="ko-KR" sz="900" spc="-20" dirty="0">
                <a:latin typeface="Arial"/>
                <a:cs typeface="Arial"/>
              </a:rPr>
              <a:t> </a:t>
            </a:r>
            <a:r>
              <a:rPr lang="en-US" altLang="ko-KR" sz="900" dirty="0">
                <a:latin typeface="Arial"/>
                <a:cs typeface="Arial"/>
              </a:rPr>
              <a:t>out</a:t>
            </a:r>
            <a:r>
              <a:rPr lang="en-US" altLang="ko-KR" sz="900" spc="-5" dirty="0">
                <a:latin typeface="Arial"/>
                <a:cs typeface="Arial"/>
              </a:rPr>
              <a:t> </a:t>
            </a:r>
            <a:r>
              <a:rPr lang="en-US" altLang="ko-KR" sz="900" dirty="0">
                <a:latin typeface="Arial"/>
                <a:cs typeface="Arial"/>
              </a:rPr>
              <a:t>starts</a:t>
            </a:r>
            <a:r>
              <a:rPr lang="en-US" altLang="ko-KR" sz="900" spc="-5" dirty="0">
                <a:latin typeface="Arial"/>
                <a:cs typeface="Arial"/>
              </a:rPr>
              <a:t> </a:t>
            </a:r>
            <a:r>
              <a:rPr lang="en-US" altLang="ko-KR" sz="900" dirty="0">
                <a:latin typeface="Arial"/>
                <a:cs typeface="Arial"/>
              </a:rPr>
              <a:t>from the</a:t>
            </a:r>
            <a:r>
              <a:rPr lang="en-US" altLang="ko-KR" sz="900" spc="-10" dirty="0">
                <a:latin typeface="Arial"/>
                <a:cs typeface="Arial"/>
              </a:rPr>
              <a:t> </a:t>
            </a:r>
            <a:r>
              <a:rPr lang="en-US" altLang="ko-KR" sz="900" dirty="0">
                <a:latin typeface="Arial"/>
                <a:cs typeface="Arial"/>
              </a:rPr>
              <a:t>designated</a:t>
            </a:r>
            <a:r>
              <a:rPr lang="en-US" altLang="ko-KR" sz="900" spc="-45" dirty="0">
                <a:latin typeface="Arial"/>
                <a:cs typeface="Arial"/>
              </a:rPr>
              <a:t> </a:t>
            </a:r>
            <a:r>
              <a:rPr lang="en-US" altLang="ko-KR" sz="900" spc="-5" dirty="0">
                <a:latin typeface="Arial"/>
                <a:cs typeface="Arial"/>
              </a:rPr>
              <a:t>svsync</a:t>
            </a:r>
            <a:r>
              <a:rPr lang="en-US" altLang="ko-KR" sz="900" dirty="0">
                <a:latin typeface="Arial"/>
                <a:cs typeface="Arial"/>
              </a:rPr>
              <a:t> </a:t>
            </a:r>
            <a:r>
              <a:rPr lang="en-US" altLang="ko-KR" sz="900" spc="-5" dirty="0">
                <a:latin typeface="Arial"/>
                <a:cs typeface="Arial"/>
              </a:rPr>
              <a:t>order</a:t>
            </a:r>
            <a:r>
              <a:rPr lang="en-US" altLang="ko-KR" sz="900" spc="-10" dirty="0">
                <a:latin typeface="Arial"/>
                <a:cs typeface="Arial"/>
              </a:rPr>
              <a:t> </a:t>
            </a:r>
            <a:r>
              <a:rPr lang="en-US" altLang="ko-KR" sz="900" spc="-5" dirty="0">
                <a:latin typeface="Arial"/>
                <a:cs typeface="Arial"/>
              </a:rPr>
              <a:t>which is </a:t>
            </a:r>
            <a:r>
              <a:rPr lang="en-US" altLang="ko-KR" sz="900" dirty="0">
                <a:latin typeface="Arial"/>
                <a:cs typeface="Arial"/>
              </a:rPr>
              <a:t>set</a:t>
            </a:r>
            <a:r>
              <a:rPr lang="en-US" altLang="ko-KR" sz="900" spc="-10" dirty="0">
                <a:latin typeface="Arial"/>
                <a:cs typeface="Arial"/>
              </a:rPr>
              <a:t> </a:t>
            </a:r>
            <a:r>
              <a:rPr lang="en-US" altLang="ko-KR" sz="900" spc="-5" dirty="0">
                <a:latin typeface="Arial"/>
                <a:cs typeface="Arial"/>
              </a:rPr>
              <a:t>by SVSYNC_START1</a:t>
            </a:r>
            <a:r>
              <a:rPr lang="en-US" altLang="ko-KR" sz="900" spc="35" dirty="0">
                <a:latin typeface="Arial"/>
                <a:cs typeface="Arial"/>
              </a:rPr>
              <a:t> </a:t>
            </a:r>
            <a:r>
              <a:rPr lang="en-US" altLang="ko-KR" sz="900" dirty="0">
                <a:latin typeface="Arial"/>
                <a:cs typeface="Arial"/>
              </a:rPr>
              <a:t>register. From the </a:t>
            </a:r>
            <a:r>
              <a:rPr lang="en-US" altLang="ko-KR" sz="900" spc="-5" dirty="0">
                <a:latin typeface="Arial"/>
                <a:cs typeface="Arial"/>
              </a:rPr>
              <a:t>svsync </a:t>
            </a:r>
            <a:r>
              <a:rPr lang="en-US" altLang="ko-KR" sz="900" dirty="0">
                <a:latin typeface="Arial"/>
                <a:cs typeface="Arial"/>
              </a:rPr>
              <a:t>set </a:t>
            </a:r>
            <a:r>
              <a:rPr lang="en-US" altLang="ko-KR" sz="900" spc="-5" dirty="0">
                <a:latin typeface="Arial"/>
                <a:cs typeface="Arial"/>
              </a:rPr>
              <a:t>by SVSYNC_START1, </a:t>
            </a:r>
            <a:r>
              <a:rPr lang="en-US" altLang="ko-KR" sz="900" dirty="0">
                <a:latin typeface="Arial"/>
                <a:cs typeface="Arial"/>
              </a:rPr>
              <a:t>the first </a:t>
            </a:r>
            <a:r>
              <a:rPr lang="en-US" altLang="ko-KR" sz="900" spc="-5" dirty="0">
                <a:latin typeface="Arial"/>
                <a:cs typeface="Arial"/>
              </a:rPr>
              <a:t>line data </a:t>
            </a:r>
            <a:r>
              <a:rPr lang="en-US" altLang="ko-KR" sz="900" dirty="0">
                <a:latin typeface="Arial"/>
                <a:cs typeface="Arial"/>
              </a:rPr>
              <a:t>out starts </a:t>
            </a:r>
            <a:r>
              <a:rPr lang="en-US" altLang="ko-KR" sz="900" spc="-5" dirty="0">
                <a:latin typeface="Arial"/>
                <a:cs typeface="Arial"/>
              </a:rPr>
              <a:t>and then </a:t>
            </a:r>
            <a:r>
              <a:rPr lang="en-US" altLang="ko-KR" sz="900" dirty="0">
                <a:latin typeface="Arial"/>
                <a:cs typeface="Arial"/>
              </a:rPr>
              <a:t>the </a:t>
            </a:r>
            <a:r>
              <a:rPr lang="en-US" altLang="ko-KR" sz="900" spc="-5" dirty="0">
                <a:latin typeface="Arial"/>
                <a:cs typeface="Arial"/>
              </a:rPr>
              <a:t>next line data </a:t>
            </a:r>
            <a:r>
              <a:rPr lang="en-US" altLang="ko-KR" sz="900" dirty="0">
                <a:latin typeface="Arial"/>
                <a:cs typeface="Arial"/>
              </a:rPr>
              <a:t>out starts after </a:t>
            </a:r>
            <a:r>
              <a:rPr lang="en-US" altLang="ko-KR" sz="900" spc="-5" dirty="0">
                <a:latin typeface="Arial"/>
                <a:cs typeface="Arial"/>
              </a:rPr>
              <a:t>the </a:t>
            </a:r>
            <a:r>
              <a:rPr lang="en-US" altLang="ko-KR" sz="900" spc="-235" dirty="0">
                <a:latin typeface="Arial"/>
                <a:cs typeface="Arial"/>
              </a:rPr>
              <a:t> </a:t>
            </a:r>
            <a:r>
              <a:rPr lang="en-US" altLang="ko-KR" sz="900" dirty="0">
                <a:latin typeface="Arial"/>
                <a:cs typeface="Arial"/>
              </a:rPr>
              <a:t>number</a:t>
            </a:r>
            <a:r>
              <a:rPr lang="en-US" altLang="ko-KR" sz="900" spc="-25" dirty="0">
                <a:latin typeface="Arial"/>
                <a:cs typeface="Arial"/>
              </a:rPr>
              <a:t> </a:t>
            </a:r>
            <a:r>
              <a:rPr lang="en-US" altLang="ko-KR" sz="900" dirty="0">
                <a:latin typeface="Arial"/>
                <a:cs typeface="Arial"/>
              </a:rPr>
              <a:t>of</a:t>
            </a:r>
            <a:r>
              <a:rPr lang="en-US" altLang="ko-KR" sz="900" spc="-10" dirty="0">
                <a:latin typeface="Arial"/>
                <a:cs typeface="Arial"/>
              </a:rPr>
              <a:t> </a:t>
            </a:r>
            <a:r>
              <a:rPr lang="en-US" altLang="ko-KR" sz="900" spc="-5" dirty="0">
                <a:latin typeface="Arial"/>
                <a:cs typeface="Arial"/>
              </a:rPr>
              <a:t>svsync</a:t>
            </a:r>
            <a:r>
              <a:rPr lang="en-US" altLang="ko-KR" sz="900" dirty="0">
                <a:latin typeface="Arial"/>
                <a:cs typeface="Arial"/>
              </a:rPr>
              <a:t> set</a:t>
            </a:r>
            <a:r>
              <a:rPr lang="en-US" altLang="ko-KR" sz="900" spc="-10" dirty="0">
                <a:latin typeface="Arial"/>
                <a:cs typeface="Arial"/>
              </a:rPr>
              <a:t> </a:t>
            </a:r>
            <a:r>
              <a:rPr lang="en-US" altLang="ko-KR" sz="900" spc="-5" dirty="0">
                <a:latin typeface="Arial"/>
                <a:cs typeface="Arial"/>
              </a:rPr>
              <a:t>by SVSYNC_DELAY</a:t>
            </a:r>
            <a:r>
              <a:rPr lang="en-US" altLang="ko-KR" sz="900" spc="10" dirty="0">
                <a:latin typeface="Arial"/>
                <a:cs typeface="Arial"/>
              </a:rPr>
              <a:t> </a:t>
            </a:r>
            <a:r>
              <a:rPr lang="en-US" altLang="ko-KR" sz="900" spc="-5" dirty="0">
                <a:latin typeface="Arial"/>
                <a:cs typeface="Arial"/>
              </a:rPr>
              <a:t>and</a:t>
            </a:r>
            <a:r>
              <a:rPr lang="en-US" altLang="ko-KR" sz="900" spc="-10" dirty="0">
                <a:latin typeface="Arial"/>
                <a:cs typeface="Arial"/>
              </a:rPr>
              <a:t> </a:t>
            </a:r>
            <a:r>
              <a:rPr lang="en-US" altLang="ko-KR" sz="900" spc="-5" dirty="0">
                <a:latin typeface="Arial"/>
                <a:cs typeface="Arial"/>
              </a:rPr>
              <a:t>then</a:t>
            </a:r>
            <a:r>
              <a:rPr lang="en-US" altLang="ko-KR" sz="900" spc="-15" dirty="0">
                <a:latin typeface="Arial"/>
                <a:cs typeface="Arial"/>
              </a:rPr>
              <a:t> </a:t>
            </a:r>
            <a:r>
              <a:rPr lang="en-US" altLang="ko-KR" sz="900" dirty="0">
                <a:latin typeface="Arial"/>
                <a:cs typeface="Arial"/>
              </a:rPr>
              <a:t>this</a:t>
            </a:r>
            <a:r>
              <a:rPr lang="en-US" altLang="ko-KR" sz="900" spc="-5" dirty="0">
                <a:latin typeface="Arial"/>
                <a:cs typeface="Arial"/>
              </a:rPr>
              <a:t> </a:t>
            </a:r>
            <a:r>
              <a:rPr lang="en-US" altLang="ko-KR" sz="900" dirty="0">
                <a:latin typeface="Arial"/>
                <a:cs typeface="Arial"/>
              </a:rPr>
              <a:t>sequence</a:t>
            </a:r>
            <a:r>
              <a:rPr lang="en-US" altLang="ko-KR" sz="900" spc="-30" dirty="0">
                <a:latin typeface="Arial"/>
                <a:cs typeface="Arial"/>
              </a:rPr>
              <a:t> </a:t>
            </a:r>
            <a:r>
              <a:rPr lang="en-US" altLang="ko-KR" sz="900" spc="-5" dirty="0">
                <a:latin typeface="Arial"/>
                <a:cs typeface="Arial"/>
              </a:rPr>
              <a:t>is repeated</a:t>
            </a:r>
            <a:r>
              <a:rPr lang="en-US" altLang="ko-KR" sz="900" spc="-35" dirty="0">
                <a:latin typeface="Arial"/>
                <a:cs typeface="Arial"/>
              </a:rPr>
              <a:t> </a:t>
            </a:r>
            <a:r>
              <a:rPr lang="en-US" altLang="ko-KR" sz="900" dirty="0">
                <a:latin typeface="Arial"/>
                <a:cs typeface="Arial"/>
              </a:rPr>
              <a:t>until</a:t>
            </a:r>
            <a:r>
              <a:rPr lang="en-US" altLang="ko-KR" sz="900" spc="-5" dirty="0">
                <a:latin typeface="Arial"/>
                <a:cs typeface="Arial"/>
              </a:rPr>
              <a:t> </a:t>
            </a:r>
            <a:r>
              <a:rPr lang="en-US" altLang="ko-KR" sz="900" dirty="0">
                <a:latin typeface="Arial"/>
                <a:cs typeface="Arial"/>
              </a:rPr>
              <a:t>the</a:t>
            </a:r>
            <a:r>
              <a:rPr lang="en-US" altLang="ko-KR" sz="900" spc="-10" dirty="0">
                <a:latin typeface="Arial"/>
                <a:cs typeface="Arial"/>
              </a:rPr>
              <a:t> </a:t>
            </a:r>
            <a:r>
              <a:rPr lang="en-US" altLang="ko-KR" sz="900" dirty="0">
                <a:latin typeface="Arial"/>
                <a:cs typeface="Arial"/>
              </a:rPr>
              <a:t>last</a:t>
            </a:r>
            <a:r>
              <a:rPr lang="en-US" altLang="ko-KR" sz="900" spc="-20" dirty="0">
                <a:latin typeface="Arial"/>
                <a:cs typeface="Arial"/>
              </a:rPr>
              <a:t> line.</a:t>
            </a:r>
            <a:endParaRPr lang="en-US" altLang="ko-KR" sz="900" dirty="0">
              <a:latin typeface="Arial" panose="020B0604020202020204" pitchFamily="34" charset="0"/>
              <a:cs typeface="Arial" panose="020B0604020202020204" pitchFamily="34" charset="0"/>
            </a:endParaRPr>
          </a:p>
        </p:txBody>
      </p:sp>
      <p:sp>
        <p:nvSpPr>
          <p:cNvPr id="15" name="TextBox 14">
            <a:extLst>
              <a:ext uri="{FF2B5EF4-FFF2-40B4-BE49-F238E27FC236}">
                <a16:creationId xmlns:a16="http://schemas.microsoft.com/office/drawing/2014/main" id="{5B5ED752-F606-84A1-D379-AD0B3F17332C}"/>
              </a:ext>
            </a:extLst>
          </p:cNvPr>
          <p:cNvSpPr txBox="1"/>
          <p:nvPr/>
        </p:nvSpPr>
        <p:spPr>
          <a:xfrm>
            <a:off x="400914" y="7096125"/>
            <a:ext cx="6038542" cy="830997"/>
          </a:xfrm>
          <a:prstGeom prst="rect">
            <a:avLst/>
          </a:prstGeom>
          <a:noFill/>
        </p:spPr>
        <p:txBody>
          <a:bodyPr wrap="square" lIns="0" tIns="0" rIns="0" bIns="0" rtlCol="0">
            <a:spAutoFit/>
          </a:bodyPr>
          <a:lstStyle/>
          <a:p>
            <a:pPr marL="12700" marR="5080" algn="just">
              <a:lnSpc>
                <a:spcPct val="100000"/>
              </a:lnSpc>
              <a:spcBef>
                <a:spcPts val="800"/>
              </a:spcBef>
            </a:pPr>
            <a:r>
              <a:rPr lang="en-US" altLang="ko-KR" sz="900" spc="-5" dirty="0">
                <a:latin typeface="Arial"/>
                <a:cs typeface="Arial"/>
              </a:rPr>
              <a:t>At </a:t>
            </a:r>
            <a:r>
              <a:rPr lang="en-US" altLang="ko-KR" sz="900" dirty="0">
                <a:latin typeface="Arial"/>
                <a:cs typeface="Arial"/>
              </a:rPr>
              <a:t>dual </a:t>
            </a:r>
            <a:r>
              <a:rPr lang="en-US" altLang="ko-KR" sz="900" spc="-5" dirty="0">
                <a:latin typeface="Arial"/>
                <a:cs typeface="Arial"/>
              </a:rPr>
              <a:t>drive </a:t>
            </a:r>
            <a:r>
              <a:rPr lang="en-US" altLang="ko-KR" sz="900" dirty="0">
                <a:latin typeface="Arial"/>
                <a:cs typeface="Arial"/>
              </a:rPr>
              <a:t>mode, local dimming data out </a:t>
            </a:r>
            <a:r>
              <a:rPr lang="en-US" altLang="ko-KR" sz="900" spc="-5" dirty="0">
                <a:latin typeface="Arial"/>
                <a:cs typeface="Arial"/>
              </a:rPr>
              <a:t>is </a:t>
            </a:r>
            <a:r>
              <a:rPr lang="en-US" altLang="ko-KR" sz="900" dirty="0">
                <a:latin typeface="Arial"/>
                <a:cs typeface="Arial"/>
              </a:rPr>
              <a:t>performed </a:t>
            </a:r>
            <a:r>
              <a:rPr lang="en-US" altLang="ko-KR" sz="900" spc="-5" dirty="0">
                <a:latin typeface="Arial"/>
                <a:cs typeface="Arial"/>
              </a:rPr>
              <a:t>2 </a:t>
            </a:r>
            <a:r>
              <a:rPr lang="en-US" altLang="ko-KR" sz="900" dirty="0">
                <a:latin typeface="Arial"/>
                <a:cs typeface="Arial"/>
              </a:rPr>
              <a:t>lines at </a:t>
            </a:r>
            <a:r>
              <a:rPr lang="en-US" altLang="ko-KR" sz="900" spc="-5" dirty="0">
                <a:latin typeface="Arial"/>
                <a:cs typeface="Arial"/>
              </a:rPr>
              <a:t>a </a:t>
            </a:r>
            <a:r>
              <a:rPr lang="en-US" altLang="ko-KR" sz="900" dirty="0">
                <a:latin typeface="Arial"/>
                <a:cs typeface="Arial"/>
              </a:rPr>
              <a:t>time simultaneously according to internal sync signals, </a:t>
            </a:r>
            <a:r>
              <a:rPr lang="en-US" altLang="ko-KR" sz="900" spc="-235" dirty="0">
                <a:latin typeface="Arial"/>
                <a:cs typeface="Arial"/>
              </a:rPr>
              <a:t> </a:t>
            </a:r>
            <a:r>
              <a:rPr lang="en-US" altLang="ko-KR" sz="900" dirty="0">
                <a:latin typeface="Arial"/>
                <a:cs typeface="Arial"/>
              </a:rPr>
              <a:t>the</a:t>
            </a:r>
            <a:r>
              <a:rPr lang="en-US" altLang="ko-KR" sz="900" spc="-5" dirty="0">
                <a:latin typeface="Arial"/>
                <a:cs typeface="Arial"/>
              </a:rPr>
              <a:t> </a:t>
            </a:r>
            <a:r>
              <a:rPr lang="en-US" altLang="ko-KR" sz="900" dirty="0">
                <a:latin typeface="Arial"/>
                <a:cs typeface="Arial"/>
              </a:rPr>
              <a:t>svsync and the shsync.</a:t>
            </a:r>
            <a:r>
              <a:rPr lang="en-US" altLang="ko-KR" sz="900" spc="-20" dirty="0">
                <a:latin typeface="Arial"/>
                <a:cs typeface="Arial"/>
              </a:rPr>
              <a:t> </a:t>
            </a:r>
            <a:r>
              <a:rPr lang="en-US" altLang="ko-KR" sz="900" spc="-5" dirty="0">
                <a:latin typeface="Arial"/>
                <a:cs typeface="Arial"/>
              </a:rPr>
              <a:t>The</a:t>
            </a:r>
            <a:r>
              <a:rPr lang="en-US" altLang="ko-KR" sz="900" spc="5" dirty="0">
                <a:latin typeface="Arial"/>
                <a:cs typeface="Arial"/>
              </a:rPr>
              <a:t> </a:t>
            </a:r>
            <a:r>
              <a:rPr lang="en-US" altLang="ko-KR" sz="900" dirty="0">
                <a:latin typeface="Arial"/>
                <a:cs typeface="Arial"/>
              </a:rPr>
              <a:t>data out</a:t>
            </a:r>
            <a:r>
              <a:rPr lang="en-US" altLang="ko-KR" sz="900" spc="-5" dirty="0">
                <a:latin typeface="Arial"/>
                <a:cs typeface="Arial"/>
              </a:rPr>
              <a:t> </a:t>
            </a:r>
            <a:r>
              <a:rPr lang="en-US" altLang="ko-KR" sz="900" dirty="0">
                <a:latin typeface="Arial"/>
                <a:cs typeface="Arial"/>
              </a:rPr>
              <a:t>of</a:t>
            </a:r>
            <a:r>
              <a:rPr lang="en-US" altLang="ko-KR" sz="900" spc="-5" dirty="0">
                <a:latin typeface="Arial"/>
                <a:cs typeface="Arial"/>
              </a:rPr>
              <a:t> two</a:t>
            </a:r>
            <a:r>
              <a:rPr lang="en-US" altLang="ko-KR" sz="900" spc="10" dirty="0">
                <a:latin typeface="Arial"/>
                <a:cs typeface="Arial"/>
              </a:rPr>
              <a:t> </a:t>
            </a:r>
            <a:r>
              <a:rPr lang="en-US" altLang="ko-KR" sz="900" dirty="0">
                <a:latin typeface="Arial"/>
                <a:cs typeface="Arial"/>
              </a:rPr>
              <a:t>lines</a:t>
            </a:r>
            <a:r>
              <a:rPr lang="en-US" altLang="ko-KR" sz="900" spc="-20" dirty="0">
                <a:latin typeface="Arial"/>
                <a:cs typeface="Arial"/>
              </a:rPr>
              <a:t> </a:t>
            </a:r>
            <a:r>
              <a:rPr lang="en-US" altLang="ko-KR" sz="900" dirty="0">
                <a:latin typeface="Arial"/>
                <a:cs typeface="Arial"/>
              </a:rPr>
              <a:t>starts</a:t>
            </a:r>
            <a:r>
              <a:rPr lang="en-US" altLang="ko-KR" sz="900" spc="5" dirty="0">
                <a:latin typeface="Arial"/>
                <a:cs typeface="Arial"/>
              </a:rPr>
              <a:t> </a:t>
            </a:r>
            <a:r>
              <a:rPr lang="en-US" altLang="ko-KR" sz="900" dirty="0">
                <a:latin typeface="Arial"/>
                <a:cs typeface="Arial"/>
              </a:rPr>
              <a:t>at</a:t>
            </a:r>
            <a:r>
              <a:rPr lang="en-US" altLang="ko-KR" sz="900" spc="-5" dirty="0">
                <a:latin typeface="Arial"/>
                <a:cs typeface="Arial"/>
              </a:rPr>
              <a:t> a</a:t>
            </a:r>
            <a:r>
              <a:rPr lang="en-US" altLang="ko-KR" sz="900" dirty="0">
                <a:latin typeface="Arial"/>
                <a:cs typeface="Arial"/>
              </a:rPr>
              <a:t> same time</a:t>
            </a:r>
            <a:r>
              <a:rPr lang="en-US" altLang="ko-KR" sz="900" spc="-15" dirty="0">
                <a:latin typeface="Arial"/>
                <a:cs typeface="Arial"/>
              </a:rPr>
              <a:t> </a:t>
            </a:r>
            <a:r>
              <a:rPr lang="en-US" altLang="ko-KR" sz="900" dirty="0">
                <a:latin typeface="Arial"/>
                <a:cs typeface="Arial"/>
              </a:rPr>
              <a:t>from</a:t>
            </a:r>
            <a:r>
              <a:rPr lang="en-US" altLang="ko-KR" sz="900" spc="-5" dirty="0">
                <a:latin typeface="Arial"/>
                <a:cs typeface="Arial"/>
              </a:rPr>
              <a:t> </a:t>
            </a:r>
            <a:r>
              <a:rPr lang="en-US" altLang="ko-KR" sz="900" dirty="0">
                <a:latin typeface="Arial"/>
                <a:cs typeface="Arial"/>
              </a:rPr>
              <a:t>the designated</a:t>
            </a:r>
            <a:r>
              <a:rPr lang="en-US" altLang="ko-KR" sz="900" spc="-40" dirty="0">
                <a:latin typeface="Arial"/>
                <a:cs typeface="Arial"/>
              </a:rPr>
              <a:t> </a:t>
            </a:r>
            <a:r>
              <a:rPr lang="en-US" altLang="ko-KR" sz="900" dirty="0">
                <a:latin typeface="Arial"/>
                <a:cs typeface="Arial"/>
              </a:rPr>
              <a:t>svsync order</a:t>
            </a:r>
            <a:r>
              <a:rPr lang="en-US" altLang="ko-KR" sz="900" spc="-10" dirty="0">
                <a:latin typeface="Arial"/>
                <a:cs typeface="Arial"/>
              </a:rPr>
              <a:t> </a:t>
            </a:r>
            <a:r>
              <a:rPr lang="en-US" altLang="ko-KR" sz="900" spc="-5" dirty="0">
                <a:latin typeface="Arial"/>
                <a:cs typeface="Arial"/>
              </a:rPr>
              <a:t>which</a:t>
            </a:r>
            <a:r>
              <a:rPr lang="en-US" altLang="ko-KR" sz="900" spc="10" dirty="0">
                <a:latin typeface="Arial"/>
                <a:cs typeface="Arial"/>
              </a:rPr>
              <a:t> </a:t>
            </a:r>
            <a:r>
              <a:rPr lang="en-US" altLang="ko-KR" sz="900" dirty="0">
                <a:latin typeface="Arial"/>
                <a:cs typeface="Arial"/>
              </a:rPr>
              <a:t>is set</a:t>
            </a:r>
            <a:r>
              <a:rPr lang="en-US" altLang="ko-KR" sz="900" spc="-10" dirty="0">
                <a:latin typeface="Arial"/>
                <a:cs typeface="Arial"/>
              </a:rPr>
              <a:t> </a:t>
            </a:r>
            <a:r>
              <a:rPr lang="en-US" altLang="ko-KR" sz="900" dirty="0">
                <a:latin typeface="Arial"/>
                <a:cs typeface="Arial"/>
              </a:rPr>
              <a:t>by </a:t>
            </a:r>
            <a:r>
              <a:rPr lang="en-US" altLang="ko-KR" sz="900" spc="-5" dirty="0">
                <a:latin typeface="Arial"/>
                <a:cs typeface="Arial"/>
              </a:rPr>
              <a:t>SVSYNC_START1</a:t>
            </a:r>
            <a:r>
              <a:rPr lang="en-US" altLang="ko-KR" sz="900" spc="35" dirty="0">
                <a:latin typeface="Arial"/>
                <a:cs typeface="Arial"/>
              </a:rPr>
              <a:t> </a:t>
            </a:r>
            <a:r>
              <a:rPr lang="en-US" altLang="ko-KR" sz="900" dirty="0">
                <a:latin typeface="Arial"/>
                <a:cs typeface="Arial"/>
              </a:rPr>
              <a:t>and</a:t>
            </a:r>
            <a:r>
              <a:rPr lang="en-US" altLang="ko-KR" sz="900" spc="-5" dirty="0">
                <a:latin typeface="Arial"/>
                <a:cs typeface="Arial"/>
              </a:rPr>
              <a:t> SVSYNC_START2</a:t>
            </a:r>
            <a:r>
              <a:rPr lang="en-US" altLang="ko-KR" sz="900" spc="35" dirty="0">
                <a:latin typeface="Arial"/>
                <a:cs typeface="Arial"/>
              </a:rPr>
              <a:t> </a:t>
            </a:r>
            <a:r>
              <a:rPr lang="en-US" altLang="ko-KR" sz="900" dirty="0">
                <a:latin typeface="Arial"/>
                <a:cs typeface="Arial"/>
              </a:rPr>
              <a:t>register. From the svsync set by </a:t>
            </a:r>
            <a:r>
              <a:rPr lang="en-US" altLang="ko-KR" sz="900" spc="-5" dirty="0">
                <a:latin typeface="Arial"/>
                <a:cs typeface="Arial"/>
              </a:rPr>
              <a:t>SVSYNC_START1, </a:t>
            </a:r>
            <a:r>
              <a:rPr lang="en-US" altLang="ko-KR" sz="900" dirty="0">
                <a:latin typeface="Arial"/>
                <a:cs typeface="Arial"/>
              </a:rPr>
              <a:t>the data out of the first line corresponding to half of total lines starts and </a:t>
            </a:r>
            <a:r>
              <a:rPr lang="en-US" altLang="ko-KR" sz="900" spc="-235" dirty="0">
                <a:latin typeface="Arial"/>
                <a:cs typeface="Arial"/>
              </a:rPr>
              <a:t> </a:t>
            </a:r>
            <a:r>
              <a:rPr lang="en-US" altLang="ko-KR" sz="900" dirty="0">
                <a:latin typeface="Arial"/>
                <a:cs typeface="Arial"/>
              </a:rPr>
              <a:t>from the svsync set by </a:t>
            </a:r>
            <a:r>
              <a:rPr lang="en-US" altLang="ko-KR" sz="900" spc="-5" dirty="0">
                <a:latin typeface="Arial"/>
                <a:cs typeface="Arial"/>
              </a:rPr>
              <a:t>SVSYNC_START2, </a:t>
            </a:r>
            <a:r>
              <a:rPr lang="en-US" altLang="ko-KR" sz="900" dirty="0">
                <a:latin typeface="Arial"/>
                <a:cs typeface="Arial"/>
              </a:rPr>
              <a:t>the data out of the first line corresponding to other half lines starts and </a:t>
            </a:r>
            <a:r>
              <a:rPr lang="en-US" altLang="ko-KR" sz="900" spc="5" dirty="0">
                <a:latin typeface="Arial"/>
                <a:cs typeface="Arial"/>
              </a:rPr>
              <a:t> </a:t>
            </a:r>
            <a:r>
              <a:rPr lang="en-US" altLang="ko-KR" sz="900" dirty="0">
                <a:latin typeface="Arial"/>
                <a:cs typeface="Arial"/>
              </a:rPr>
              <a:t>the</a:t>
            </a:r>
            <a:r>
              <a:rPr lang="en-US" altLang="ko-KR" sz="900" spc="-5" dirty="0">
                <a:latin typeface="Arial"/>
                <a:cs typeface="Arial"/>
              </a:rPr>
              <a:t> </a:t>
            </a:r>
            <a:r>
              <a:rPr lang="en-US" altLang="ko-KR" sz="900" dirty="0">
                <a:latin typeface="Arial"/>
                <a:cs typeface="Arial"/>
              </a:rPr>
              <a:t>data out</a:t>
            </a:r>
            <a:r>
              <a:rPr lang="en-US" altLang="ko-KR" sz="900" spc="-10" dirty="0">
                <a:latin typeface="Arial"/>
                <a:cs typeface="Arial"/>
              </a:rPr>
              <a:t> </a:t>
            </a:r>
            <a:r>
              <a:rPr lang="en-US" altLang="ko-KR" sz="900" dirty="0">
                <a:latin typeface="Arial"/>
                <a:cs typeface="Arial"/>
              </a:rPr>
              <a:t>of</a:t>
            </a:r>
            <a:r>
              <a:rPr lang="en-US" altLang="ko-KR" sz="900" spc="-5" dirty="0">
                <a:latin typeface="Arial"/>
                <a:cs typeface="Arial"/>
              </a:rPr>
              <a:t> </a:t>
            </a:r>
            <a:r>
              <a:rPr lang="en-US" altLang="ko-KR" sz="900" dirty="0">
                <a:latin typeface="Arial"/>
                <a:cs typeface="Arial"/>
              </a:rPr>
              <a:t>the </a:t>
            </a:r>
            <a:r>
              <a:rPr lang="en-US" altLang="ko-KR" sz="900" spc="-5" dirty="0">
                <a:latin typeface="Arial"/>
                <a:cs typeface="Arial"/>
              </a:rPr>
              <a:t>next</a:t>
            </a:r>
            <a:r>
              <a:rPr lang="en-US" altLang="ko-KR" sz="900" dirty="0">
                <a:latin typeface="Arial"/>
                <a:cs typeface="Arial"/>
              </a:rPr>
              <a:t> </a:t>
            </a:r>
            <a:r>
              <a:rPr lang="en-US" altLang="ko-KR" sz="900" spc="-5" dirty="0">
                <a:latin typeface="Arial"/>
                <a:cs typeface="Arial"/>
              </a:rPr>
              <a:t>two</a:t>
            </a:r>
            <a:r>
              <a:rPr lang="en-US" altLang="ko-KR" sz="900" spc="20" dirty="0">
                <a:latin typeface="Arial"/>
                <a:cs typeface="Arial"/>
              </a:rPr>
              <a:t> </a:t>
            </a:r>
            <a:r>
              <a:rPr lang="en-US" altLang="ko-KR" sz="900" dirty="0">
                <a:latin typeface="Arial"/>
                <a:cs typeface="Arial"/>
              </a:rPr>
              <a:t>lines</a:t>
            </a:r>
            <a:r>
              <a:rPr lang="en-US" altLang="ko-KR" sz="900" spc="-20" dirty="0">
                <a:latin typeface="Arial"/>
                <a:cs typeface="Arial"/>
              </a:rPr>
              <a:t> </a:t>
            </a:r>
            <a:r>
              <a:rPr lang="en-US" altLang="ko-KR" sz="900" dirty="0">
                <a:latin typeface="Arial"/>
                <a:cs typeface="Arial"/>
              </a:rPr>
              <a:t>start</a:t>
            </a:r>
            <a:r>
              <a:rPr lang="en-US" altLang="ko-KR" sz="900" spc="-5" dirty="0">
                <a:latin typeface="Arial"/>
                <a:cs typeface="Arial"/>
              </a:rPr>
              <a:t> </a:t>
            </a:r>
            <a:r>
              <a:rPr lang="en-US" altLang="ko-KR" sz="900" dirty="0">
                <a:latin typeface="Arial"/>
                <a:cs typeface="Arial"/>
              </a:rPr>
              <a:t>respectively</a:t>
            </a:r>
            <a:r>
              <a:rPr lang="en-US" altLang="ko-KR" sz="900" spc="-35" dirty="0">
                <a:latin typeface="Arial"/>
                <a:cs typeface="Arial"/>
              </a:rPr>
              <a:t> </a:t>
            </a:r>
            <a:r>
              <a:rPr lang="en-US" altLang="ko-KR" sz="900" dirty="0">
                <a:latin typeface="Arial"/>
                <a:cs typeface="Arial"/>
              </a:rPr>
              <a:t>after</a:t>
            </a:r>
            <a:r>
              <a:rPr lang="en-US" altLang="ko-KR" sz="900" spc="-10" dirty="0">
                <a:latin typeface="Arial"/>
                <a:cs typeface="Arial"/>
              </a:rPr>
              <a:t> </a:t>
            </a:r>
            <a:r>
              <a:rPr lang="en-US" altLang="ko-KR" sz="900" dirty="0">
                <a:latin typeface="Arial"/>
                <a:cs typeface="Arial"/>
              </a:rPr>
              <a:t>the number</a:t>
            </a:r>
            <a:r>
              <a:rPr lang="en-US" altLang="ko-KR" sz="900" spc="-25" dirty="0">
                <a:latin typeface="Arial"/>
                <a:cs typeface="Arial"/>
              </a:rPr>
              <a:t> </a:t>
            </a:r>
            <a:r>
              <a:rPr lang="en-US" altLang="ko-KR" sz="900" dirty="0">
                <a:latin typeface="Arial"/>
                <a:cs typeface="Arial"/>
              </a:rPr>
              <a:t>of</a:t>
            </a:r>
            <a:r>
              <a:rPr lang="en-US" altLang="ko-KR" sz="900" spc="5" dirty="0">
                <a:latin typeface="Arial"/>
                <a:cs typeface="Arial"/>
              </a:rPr>
              <a:t> </a:t>
            </a:r>
            <a:r>
              <a:rPr lang="en-US" altLang="ko-KR" sz="900" dirty="0">
                <a:latin typeface="Arial"/>
                <a:cs typeface="Arial"/>
              </a:rPr>
              <a:t>svsync set</a:t>
            </a:r>
            <a:r>
              <a:rPr lang="en-US" altLang="ko-KR" sz="900" spc="-25" dirty="0">
                <a:latin typeface="Arial"/>
                <a:cs typeface="Arial"/>
              </a:rPr>
              <a:t> </a:t>
            </a:r>
            <a:r>
              <a:rPr lang="en-US" altLang="ko-KR" sz="900" dirty="0">
                <a:latin typeface="Arial"/>
                <a:cs typeface="Arial"/>
              </a:rPr>
              <a:t>by </a:t>
            </a:r>
            <a:r>
              <a:rPr lang="en-US" altLang="ko-KR" sz="900" spc="-5" dirty="0">
                <a:latin typeface="Arial"/>
                <a:cs typeface="Arial"/>
              </a:rPr>
              <a:t>SVSYNC_DELAY</a:t>
            </a:r>
            <a:endParaRPr lang="en-US" altLang="ko-KR" sz="900" dirty="0">
              <a:latin typeface="Arial" panose="020B0604020202020204" pitchFamily="34" charset="0"/>
              <a:cs typeface="Arial" panose="020B0604020202020204" pitchFamily="34" charset="0"/>
            </a:endParaRPr>
          </a:p>
        </p:txBody>
      </p:sp>
      <p:sp>
        <p:nvSpPr>
          <p:cNvPr id="8" name="object 9">
            <a:extLst>
              <a:ext uri="{FF2B5EF4-FFF2-40B4-BE49-F238E27FC236}">
                <a16:creationId xmlns:a16="http://schemas.microsoft.com/office/drawing/2014/main" id="{B3E6EA78-DF2F-724A-F33F-A76F6DD450DA}"/>
              </a:ext>
            </a:extLst>
          </p:cNvPr>
          <p:cNvSpPr txBox="1"/>
          <p:nvPr/>
        </p:nvSpPr>
        <p:spPr>
          <a:xfrm>
            <a:off x="304800" y="9067800"/>
            <a:ext cx="2078355" cy="289823"/>
          </a:xfrm>
          <a:prstGeom prst="rect">
            <a:avLst/>
          </a:prstGeom>
        </p:spPr>
        <p:txBody>
          <a:bodyPr vert="horz" wrap="square" lIns="0" tIns="12700" rIns="0" bIns="0" rtlCol="0">
            <a:spAutoFit/>
          </a:bodyPr>
          <a:lstStyle/>
          <a:p>
            <a:pPr marL="12700">
              <a:lnSpc>
                <a:spcPct val="100000"/>
              </a:lnSpc>
              <a:spcBef>
                <a:spcPts val="100"/>
              </a:spcBef>
            </a:pPr>
            <a:r>
              <a:rPr b="1" spc="-5" dirty="0">
                <a:solidFill>
                  <a:srgbClr val="FF0000"/>
                </a:solidFill>
                <a:cs typeface="Perpetua Titling MT"/>
              </a:rPr>
              <a:t>CONFIDENTIAL</a:t>
            </a:r>
            <a:endParaRPr dirty="0">
              <a:cs typeface="Perpetua Titling MT"/>
            </a:endParaRPr>
          </a:p>
        </p:txBody>
      </p:sp>
      <p:sp>
        <p:nvSpPr>
          <p:cNvPr id="16" name="object 6">
            <a:extLst>
              <a:ext uri="{FF2B5EF4-FFF2-40B4-BE49-F238E27FC236}">
                <a16:creationId xmlns:a16="http://schemas.microsoft.com/office/drawing/2014/main" id="{7BE52544-9322-1EEF-8153-46301C6C4796}"/>
              </a:ext>
            </a:extLst>
          </p:cNvPr>
          <p:cNvSpPr/>
          <p:nvPr/>
        </p:nvSpPr>
        <p:spPr>
          <a:xfrm>
            <a:off x="301676" y="9458756"/>
            <a:ext cx="6246495" cy="0"/>
          </a:xfrm>
          <a:custGeom>
            <a:avLst/>
            <a:gdLst/>
            <a:ahLst/>
            <a:cxnLst/>
            <a:rect l="l" t="t" r="r" b="b"/>
            <a:pathLst>
              <a:path w="6246495">
                <a:moveTo>
                  <a:pt x="0" y="0"/>
                </a:moveTo>
                <a:lnTo>
                  <a:pt x="6245999" y="0"/>
                </a:lnTo>
              </a:path>
            </a:pathLst>
          </a:custGeom>
          <a:ln w="25920">
            <a:solidFill>
              <a:srgbClr val="BFBFBF"/>
            </a:solidFill>
          </a:ln>
        </p:spPr>
        <p:txBody>
          <a:bodyPr wrap="square" lIns="0" tIns="0" rIns="0" bIns="0" rtlCol="0"/>
          <a:lstStyle/>
          <a:p>
            <a:endParaRPr/>
          </a:p>
        </p:txBody>
      </p:sp>
      <p:sp>
        <p:nvSpPr>
          <p:cNvPr id="17" name="슬라이드 번호 개체 틀 3">
            <a:hlinkClick r:id="rId4"/>
            <a:extLst>
              <a:ext uri="{FF2B5EF4-FFF2-40B4-BE49-F238E27FC236}">
                <a16:creationId xmlns:a16="http://schemas.microsoft.com/office/drawing/2014/main" id="{DF9C3263-2492-28D5-6C0A-A98EEF87C669}"/>
              </a:ext>
            </a:extLst>
          </p:cNvPr>
          <p:cNvSpPr txBox="1">
            <a:spLocks/>
          </p:cNvSpPr>
          <p:nvPr/>
        </p:nvSpPr>
        <p:spPr>
          <a:xfrm>
            <a:off x="5151602" y="9452864"/>
            <a:ext cx="1487550"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dirty="0">
                <a:solidFill>
                  <a:prstClr val="black"/>
                </a:solidFill>
                <a:latin typeface="Arial" panose="020B0604020202020204" pitchFamily="34" charset="0"/>
                <a:cs typeface="Arial" panose="020B0604020202020204" pitchFamily="34" charset="0"/>
              </a:rPr>
              <a:t>http://www.glbltech.com/</a:t>
            </a:r>
            <a:endParaRPr lang="ko-KR" altLang="en-US" dirty="0">
              <a:solidFill>
                <a:prstClr val="black"/>
              </a:solidFill>
              <a:latin typeface="Arial" panose="020B0604020202020204" pitchFamily="34" charset="0"/>
              <a:cs typeface="Arial" panose="020B0604020202020204" pitchFamily="34" charset="0"/>
            </a:endParaRPr>
          </a:p>
        </p:txBody>
      </p:sp>
      <p:sp>
        <p:nvSpPr>
          <p:cNvPr id="18" name="object 38">
            <a:extLst>
              <a:ext uri="{FF2B5EF4-FFF2-40B4-BE49-F238E27FC236}">
                <a16:creationId xmlns:a16="http://schemas.microsoft.com/office/drawing/2014/main" id="{CA08C5D8-B536-6B0B-227B-7FACF99D8B79}"/>
              </a:ext>
            </a:extLst>
          </p:cNvPr>
          <p:cNvSpPr txBox="1">
            <a:spLocks/>
          </p:cNvSpPr>
          <p:nvPr/>
        </p:nvSpPr>
        <p:spPr>
          <a:xfrm>
            <a:off x="3309066" y="9547988"/>
            <a:ext cx="487045" cy="139141"/>
          </a:xfrm>
          <a:prstGeom prst="rect">
            <a:avLst/>
          </a:prstGeom>
        </p:spPr>
        <p:txBody>
          <a:bodyPr vert="horz" wrap="square" lIns="0" tIns="635" rIns="0" bIns="0" rtlCol="0">
            <a:spAutoFit/>
          </a:bodyPr>
          <a:lstStyle>
            <a:defPPr>
              <a:defRPr lang="ko-KR"/>
            </a:defPPr>
            <a:lvl1pPr marL="0" algn="l" defTabSz="914400" rtl="0" eaLnBrk="1" latinLnBrk="1" hangingPunct="1">
              <a:defRPr sz="1050" b="0" i="0" kern="1200">
                <a:solidFill>
                  <a:schemeClr val="tx1"/>
                </a:solidFill>
                <a:latin typeface="Arial"/>
                <a:ea typeface="+mn-ea"/>
                <a:cs typeface="Arial"/>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marL="12700">
              <a:spcBef>
                <a:spcPts val="5"/>
              </a:spcBef>
              <a:defRPr/>
            </a:pPr>
            <a:r>
              <a:rPr lang="en-US" sz="900" dirty="0">
                <a:solidFill>
                  <a:prstClr val="black"/>
                </a:solidFill>
              </a:rPr>
              <a:t>Page</a:t>
            </a:r>
            <a:r>
              <a:rPr lang="en-US" sz="900" spc="-60" dirty="0">
                <a:solidFill>
                  <a:prstClr val="black"/>
                </a:solidFill>
              </a:rPr>
              <a:t> </a:t>
            </a:r>
            <a:fld id="{81D60167-4931-47E6-BA6A-407CBD079E47}" type="slidenum">
              <a:rPr sz="900">
                <a:solidFill>
                  <a:prstClr val="black"/>
                </a:solidFill>
              </a:rPr>
              <a:pPr marL="12700">
                <a:spcBef>
                  <a:spcPts val="5"/>
                </a:spcBef>
                <a:defRPr/>
              </a:pPr>
              <a:t>22</a:t>
            </a:fld>
            <a:endParaRPr sz="900" dirty="0">
              <a:solidFill>
                <a:prstClr val="black"/>
              </a:solidFill>
            </a:endParaRPr>
          </a:p>
        </p:txBody>
      </p:sp>
      <p:sp>
        <p:nvSpPr>
          <p:cNvPr id="19" name="슬라이드 번호 개체 틀 3">
            <a:extLst>
              <a:ext uri="{FF2B5EF4-FFF2-40B4-BE49-F238E27FC236}">
                <a16:creationId xmlns:a16="http://schemas.microsoft.com/office/drawing/2014/main" id="{D5184A8C-95C5-20DE-3C8E-67A633FF8370}"/>
              </a:ext>
            </a:extLst>
          </p:cNvPr>
          <p:cNvSpPr txBox="1">
            <a:spLocks/>
          </p:cNvSpPr>
          <p:nvPr/>
        </p:nvSpPr>
        <p:spPr>
          <a:xfrm>
            <a:off x="299401" y="9520856"/>
            <a:ext cx="2060991" cy="175259"/>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lang="en-US" altLang="ko-KR" dirty="0">
                <a:solidFill>
                  <a:prstClr val="black"/>
                </a:solidFill>
                <a:latin typeface="Arial" panose="020B0604020202020204" pitchFamily="34" charset="0"/>
                <a:cs typeface="Arial" panose="020B0604020202020204" pitchFamily="34" charset="0"/>
              </a:rPr>
              <a:t>Dated 30-Nov 23  Rev. 01</a:t>
            </a:r>
            <a:endParaRPr lang="ko-KR" altLang="en-US" dirty="0">
              <a:solidFill>
                <a:prstClr val="black"/>
              </a:solidFill>
              <a:latin typeface="Arial" panose="020B0604020202020204" pitchFamily="34" charset="0"/>
              <a:cs typeface="Arial" panose="020B0604020202020204" pitchFamily="34" charset="0"/>
            </a:endParaRPr>
          </a:p>
        </p:txBody>
      </p:sp>
      <p:sp>
        <p:nvSpPr>
          <p:cNvPr id="20" name="Holder 3">
            <a:extLst>
              <a:ext uri="{FF2B5EF4-FFF2-40B4-BE49-F238E27FC236}">
                <a16:creationId xmlns:a16="http://schemas.microsoft.com/office/drawing/2014/main" id="{E8D429F8-83BD-987C-4EFA-A77E86435F28}"/>
              </a:ext>
            </a:extLst>
          </p:cNvPr>
          <p:cNvSpPr txBox="1">
            <a:spLocks/>
          </p:cNvSpPr>
          <p:nvPr/>
        </p:nvSpPr>
        <p:spPr>
          <a:xfrm>
            <a:off x="5147476" y="203944"/>
            <a:ext cx="1447800" cy="276999"/>
          </a:xfrm>
          <a:prstGeom prst="rect">
            <a:avLst/>
          </a:prstGeom>
        </p:spPr>
        <p:txBody>
          <a:bodyPr wrap="square" lIns="0" tIns="0" rIns="0" bIns="0">
            <a:spAutoFit/>
          </a:bodyPr>
          <a:lstStyle>
            <a:lvl1pPr marL="0">
              <a:defRPr>
                <a:solidFill>
                  <a:srgbClr val="FF99FF"/>
                </a:solidFill>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defTabSz="914400" latinLnBrk="0"/>
            <a:r>
              <a:rPr lang="en-US" sz="1800" kern="0" dirty="0"/>
              <a:t>&lt;Preliminary&gt;</a:t>
            </a:r>
          </a:p>
        </p:txBody>
      </p:sp>
      <p:sp>
        <p:nvSpPr>
          <p:cNvPr id="2" name="object 5">
            <a:extLst>
              <a:ext uri="{FF2B5EF4-FFF2-40B4-BE49-F238E27FC236}">
                <a16:creationId xmlns:a16="http://schemas.microsoft.com/office/drawing/2014/main" id="{3EFDF26A-E900-A3A1-6362-E1BDB31BF63C}"/>
              </a:ext>
            </a:extLst>
          </p:cNvPr>
          <p:cNvSpPr txBox="1"/>
          <p:nvPr/>
        </p:nvSpPr>
        <p:spPr>
          <a:xfrm>
            <a:off x="458064" y="6708521"/>
            <a:ext cx="6038542" cy="151323"/>
          </a:xfrm>
          <a:prstGeom prst="rect">
            <a:avLst/>
          </a:prstGeom>
        </p:spPr>
        <p:txBody>
          <a:bodyPr vert="horz" wrap="square" lIns="0" tIns="12700" rIns="0" bIns="0" rtlCol="0">
            <a:spAutoFit/>
          </a:bodyPr>
          <a:lstStyle/>
          <a:p>
            <a:pPr marL="182245" algn="ctr">
              <a:lnSpc>
                <a:spcPct val="100000"/>
              </a:lnSpc>
              <a:spcBef>
                <a:spcPts val="100"/>
              </a:spcBef>
            </a:pPr>
            <a:r>
              <a:rPr sz="900" b="1" spc="-5" dirty="0">
                <a:latin typeface="Arial"/>
                <a:cs typeface="Arial"/>
              </a:rPr>
              <a:t>[Figure.</a:t>
            </a:r>
            <a:r>
              <a:rPr sz="900" b="1" spc="10" dirty="0">
                <a:latin typeface="Arial"/>
                <a:cs typeface="Arial"/>
              </a:rPr>
              <a:t> </a:t>
            </a:r>
            <a:r>
              <a:rPr lang="en-US" sz="900" b="1" spc="10" dirty="0">
                <a:latin typeface="Arial"/>
                <a:cs typeface="Arial"/>
              </a:rPr>
              <a:t>15</a:t>
            </a:r>
            <a:r>
              <a:rPr sz="900" b="1" spc="-5" dirty="0">
                <a:latin typeface="Arial"/>
                <a:cs typeface="Arial"/>
              </a:rPr>
              <a:t>-</a:t>
            </a:r>
            <a:r>
              <a:rPr lang="en-US" sz="900" b="1" spc="-5" dirty="0">
                <a:latin typeface="Arial"/>
                <a:cs typeface="Arial"/>
              </a:rPr>
              <a:t>2</a:t>
            </a:r>
            <a:r>
              <a:rPr sz="900" b="1" spc="-5" dirty="0">
                <a:latin typeface="Arial"/>
                <a:cs typeface="Arial"/>
              </a:rPr>
              <a:t>]</a:t>
            </a:r>
            <a:r>
              <a:rPr sz="900" b="1" spc="10" dirty="0">
                <a:latin typeface="Arial"/>
                <a:cs typeface="Arial"/>
              </a:rPr>
              <a:t> </a:t>
            </a:r>
            <a:r>
              <a:rPr sz="900" b="1" dirty="0">
                <a:latin typeface="Arial"/>
                <a:cs typeface="Arial"/>
              </a:rPr>
              <a:t>The</a:t>
            </a:r>
            <a:r>
              <a:rPr sz="900" b="1" spc="20" dirty="0">
                <a:latin typeface="Arial"/>
                <a:cs typeface="Arial"/>
              </a:rPr>
              <a:t> </a:t>
            </a:r>
            <a:r>
              <a:rPr sz="900" b="1" dirty="0">
                <a:latin typeface="Arial"/>
                <a:cs typeface="Arial"/>
              </a:rPr>
              <a:t>Normal</a:t>
            </a:r>
            <a:r>
              <a:rPr sz="900" b="1" spc="-15" dirty="0">
                <a:latin typeface="Arial"/>
                <a:cs typeface="Arial"/>
              </a:rPr>
              <a:t> </a:t>
            </a:r>
            <a:r>
              <a:rPr sz="900" b="1" dirty="0">
                <a:latin typeface="Arial"/>
                <a:cs typeface="Arial"/>
              </a:rPr>
              <a:t>dimming</a:t>
            </a:r>
            <a:r>
              <a:rPr sz="900" b="1" spc="-15" dirty="0">
                <a:latin typeface="Arial"/>
                <a:cs typeface="Arial"/>
              </a:rPr>
              <a:t> </a:t>
            </a:r>
            <a:r>
              <a:rPr sz="900" b="1" dirty="0">
                <a:latin typeface="Arial"/>
                <a:cs typeface="Arial"/>
              </a:rPr>
              <a:t>out</a:t>
            </a:r>
            <a:r>
              <a:rPr sz="900" b="1" spc="10" dirty="0">
                <a:latin typeface="Arial"/>
                <a:cs typeface="Arial"/>
              </a:rPr>
              <a:t> </a:t>
            </a:r>
            <a:r>
              <a:rPr sz="900" b="1" dirty="0">
                <a:latin typeface="Arial"/>
                <a:cs typeface="Arial"/>
              </a:rPr>
              <a:t>sequence</a:t>
            </a:r>
            <a:r>
              <a:rPr sz="900" b="1" spc="30" dirty="0">
                <a:latin typeface="Arial"/>
                <a:cs typeface="Arial"/>
              </a:rPr>
              <a:t> </a:t>
            </a:r>
            <a:r>
              <a:rPr sz="900" b="1" dirty="0">
                <a:latin typeface="Arial"/>
                <a:cs typeface="Arial"/>
              </a:rPr>
              <a:t>in</a:t>
            </a:r>
            <a:r>
              <a:rPr sz="900" b="1" spc="10" dirty="0">
                <a:latin typeface="Arial"/>
                <a:cs typeface="Arial"/>
              </a:rPr>
              <a:t> </a:t>
            </a:r>
            <a:r>
              <a:rPr lang="en-US" sz="900" b="1" spc="10" dirty="0">
                <a:latin typeface="Arial"/>
                <a:cs typeface="Arial"/>
              </a:rPr>
              <a:t>dual</a:t>
            </a:r>
            <a:r>
              <a:rPr sz="900" b="1" spc="-5" dirty="0">
                <a:latin typeface="Arial"/>
                <a:cs typeface="Arial"/>
              </a:rPr>
              <a:t> </a:t>
            </a:r>
            <a:r>
              <a:rPr sz="900" b="1" dirty="0">
                <a:latin typeface="Arial"/>
                <a:cs typeface="Arial"/>
              </a:rPr>
              <a:t>drive</a:t>
            </a:r>
            <a:r>
              <a:rPr sz="900" b="1" spc="20" dirty="0">
                <a:latin typeface="Arial"/>
                <a:cs typeface="Arial"/>
              </a:rPr>
              <a:t> </a:t>
            </a:r>
            <a:r>
              <a:rPr sz="900" b="1" spc="5" dirty="0">
                <a:latin typeface="Arial"/>
                <a:cs typeface="Arial"/>
              </a:rPr>
              <a:t>mode</a:t>
            </a:r>
            <a:endParaRPr sz="900" b="1" dirty="0">
              <a:latin typeface="Arial"/>
              <a:cs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p:nvPr/>
        </p:nvSpPr>
        <p:spPr>
          <a:xfrm>
            <a:off x="400913" y="301879"/>
            <a:ext cx="622935" cy="299720"/>
          </a:xfrm>
          <a:prstGeom prst="rect">
            <a:avLst/>
          </a:prstGeom>
        </p:spPr>
        <p:txBody>
          <a:bodyPr vert="horz" wrap="square" lIns="0" tIns="12700" rIns="0" bIns="0" rtlCol="0">
            <a:spAutoFit/>
          </a:bodyPr>
          <a:lstStyle/>
          <a:p>
            <a:pPr marL="12700">
              <a:lnSpc>
                <a:spcPct val="100000"/>
              </a:lnSpc>
              <a:spcBef>
                <a:spcPts val="100"/>
              </a:spcBef>
            </a:pPr>
            <a:r>
              <a:rPr sz="1800" b="1" spc="-5" dirty="0">
                <a:latin typeface="Arial"/>
                <a:cs typeface="Arial"/>
              </a:rPr>
              <a:t>CQ24</a:t>
            </a:r>
            <a:endParaRPr sz="1800" dirty="0">
              <a:latin typeface="Arial"/>
              <a:cs typeface="Arial"/>
            </a:endParaRPr>
          </a:p>
        </p:txBody>
      </p:sp>
      <p:sp>
        <p:nvSpPr>
          <p:cNvPr id="5" name="object 5"/>
          <p:cNvSpPr txBox="1"/>
          <p:nvPr/>
        </p:nvSpPr>
        <p:spPr>
          <a:xfrm>
            <a:off x="400913" y="3008758"/>
            <a:ext cx="6038541" cy="151323"/>
          </a:xfrm>
          <a:prstGeom prst="rect">
            <a:avLst/>
          </a:prstGeom>
        </p:spPr>
        <p:txBody>
          <a:bodyPr vert="horz" wrap="square" lIns="0" tIns="12700" rIns="0" bIns="0" rtlCol="0">
            <a:spAutoFit/>
          </a:bodyPr>
          <a:lstStyle/>
          <a:p>
            <a:pPr marL="12700" algn="ctr">
              <a:lnSpc>
                <a:spcPct val="100000"/>
              </a:lnSpc>
              <a:spcBef>
                <a:spcPts val="100"/>
              </a:spcBef>
            </a:pPr>
            <a:r>
              <a:rPr sz="900" b="1" spc="-5" dirty="0">
                <a:latin typeface="Arial"/>
                <a:cs typeface="Arial"/>
              </a:rPr>
              <a:t>[Figure.</a:t>
            </a:r>
            <a:r>
              <a:rPr sz="900" b="1" spc="10" dirty="0">
                <a:latin typeface="Arial"/>
                <a:cs typeface="Arial"/>
              </a:rPr>
              <a:t> </a:t>
            </a:r>
            <a:r>
              <a:rPr lang="en-US" sz="900" b="1" spc="10" dirty="0">
                <a:latin typeface="Arial"/>
                <a:cs typeface="Arial"/>
              </a:rPr>
              <a:t>16</a:t>
            </a:r>
            <a:r>
              <a:rPr sz="900" b="1" spc="-5" dirty="0">
                <a:latin typeface="Arial"/>
                <a:cs typeface="Arial"/>
              </a:rPr>
              <a:t>-1]</a:t>
            </a:r>
            <a:r>
              <a:rPr sz="900" b="1" spc="10" dirty="0">
                <a:latin typeface="Arial"/>
                <a:cs typeface="Arial"/>
              </a:rPr>
              <a:t> </a:t>
            </a:r>
            <a:r>
              <a:rPr sz="900" b="1" dirty="0">
                <a:latin typeface="Arial"/>
                <a:cs typeface="Arial"/>
              </a:rPr>
              <a:t>The</a:t>
            </a:r>
            <a:r>
              <a:rPr sz="900" b="1" spc="15" dirty="0">
                <a:latin typeface="Arial"/>
                <a:cs typeface="Arial"/>
              </a:rPr>
              <a:t> </a:t>
            </a:r>
            <a:r>
              <a:rPr sz="900" b="1" spc="-15" dirty="0">
                <a:latin typeface="Arial"/>
                <a:cs typeface="Arial"/>
              </a:rPr>
              <a:t>X8</a:t>
            </a:r>
            <a:r>
              <a:rPr sz="900" b="1" spc="30" dirty="0">
                <a:latin typeface="Arial"/>
                <a:cs typeface="Arial"/>
              </a:rPr>
              <a:t> </a:t>
            </a:r>
            <a:r>
              <a:rPr sz="900" b="1" dirty="0">
                <a:latin typeface="Arial"/>
                <a:cs typeface="Arial"/>
              </a:rPr>
              <a:t>local dimming</a:t>
            </a:r>
            <a:r>
              <a:rPr sz="900" b="1" spc="-20" dirty="0">
                <a:latin typeface="Arial"/>
                <a:cs typeface="Arial"/>
              </a:rPr>
              <a:t> </a:t>
            </a:r>
            <a:r>
              <a:rPr sz="900" b="1" spc="-5" dirty="0">
                <a:latin typeface="Arial"/>
                <a:cs typeface="Arial"/>
              </a:rPr>
              <a:t>out</a:t>
            </a:r>
            <a:r>
              <a:rPr sz="900" b="1" spc="10" dirty="0">
                <a:latin typeface="Arial"/>
                <a:cs typeface="Arial"/>
              </a:rPr>
              <a:t> </a:t>
            </a:r>
            <a:r>
              <a:rPr sz="900" b="1" spc="-5" dirty="0">
                <a:latin typeface="Arial"/>
                <a:cs typeface="Arial"/>
              </a:rPr>
              <a:t>sequence</a:t>
            </a:r>
            <a:r>
              <a:rPr sz="900" b="1" spc="35" dirty="0">
                <a:latin typeface="Arial"/>
                <a:cs typeface="Arial"/>
              </a:rPr>
              <a:t> </a:t>
            </a:r>
            <a:r>
              <a:rPr sz="900" b="1" dirty="0">
                <a:latin typeface="Arial"/>
                <a:cs typeface="Arial"/>
              </a:rPr>
              <a:t>in</a:t>
            </a:r>
            <a:r>
              <a:rPr sz="900" b="1" spc="-5" dirty="0">
                <a:latin typeface="Arial"/>
                <a:cs typeface="Arial"/>
              </a:rPr>
              <a:t> </a:t>
            </a:r>
            <a:r>
              <a:rPr sz="900" b="1" dirty="0">
                <a:latin typeface="Arial"/>
                <a:cs typeface="Arial"/>
              </a:rPr>
              <a:t>single</a:t>
            </a:r>
            <a:r>
              <a:rPr sz="900" b="1" spc="5" dirty="0">
                <a:latin typeface="Arial"/>
                <a:cs typeface="Arial"/>
              </a:rPr>
              <a:t> </a:t>
            </a:r>
            <a:r>
              <a:rPr sz="900" b="1" spc="-5" dirty="0">
                <a:latin typeface="Arial"/>
                <a:cs typeface="Arial"/>
              </a:rPr>
              <a:t>drive</a:t>
            </a:r>
            <a:r>
              <a:rPr sz="900" b="1" spc="15" dirty="0">
                <a:latin typeface="Arial"/>
                <a:cs typeface="Arial"/>
              </a:rPr>
              <a:t> </a:t>
            </a:r>
            <a:r>
              <a:rPr sz="900" b="1" dirty="0">
                <a:latin typeface="Arial"/>
                <a:cs typeface="Arial"/>
              </a:rPr>
              <a:t>mode</a:t>
            </a:r>
          </a:p>
        </p:txBody>
      </p:sp>
      <p:sp>
        <p:nvSpPr>
          <p:cNvPr id="6" name="object 6"/>
          <p:cNvSpPr txBox="1"/>
          <p:nvPr/>
        </p:nvSpPr>
        <p:spPr>
          <a:xfrm>
            <a:off x="392073" y="906018"/>
            <a:ext cx="6047381" cy="228268"/>
          </a:xfrm>
          <a:prstGeom prst="rect">
            <a:avLst/>
          </a:prstGeom>
        </p:spPr>
        <p:txBody>
          <a:bodyPr vert="horz" wrap="square" lIns="0" tIns="12700" rIns="0" bIns="0" rtlCol="0">
            <a:spAutoFit/>
          </a:bodyPr>
          <a:lstStyle/>
          <a:p>
            <a:pPr marL="12700">
              <a:lnSpc>
                <a:spcPct val="100000"/>
              </a:lnSpc>
              <a:spcBef>
                <a:spcPts val="100"/>
              </a:spcBef>
            </a:pPr>
            <a:r>
              <a:rPr sz="1400" b="1" spc="-5" dirty="0">
                <a:latin typeface="Arial"/>
                <a:cs typeface="Arial"/>
              </a:rPr>
              <a:t>The </a:t>
            </a:r>
            <a:r>
              <a:rPr sz="1400" b="1" dirty="0">
                <a:latin typeface="Arial"/>
                <a:cs typeface="Arial"/>
              </a:rPr>
              <a:t>local</a:t>
            </a:r>
            <a:r>
              <a:rPr sz="1400" b="1" spc="-40" dirty="0">
                <a:latin typeface="Arial"/>
                <a:cs typeface="Arial"/>
              </a:rPr>
              <a:t> </a:t>
            </a:r>
            <a:r>
              <a:rPr sz="1400" b="1" dirty="0">
                <a:latin typeface="Arial"/>
                <a:cs typeface="Arial"/>
              </a:rPr>
              <a:t>dimming</a:t>
            </a:r>
            <a:r>
              <a:rPr sz="1400" b="1" spc="-30" dirty="0">
                <a:latin typeface="Arial"/>
                <a:cs typeface="Arial"/>
              </a:rPr>
              <a:t> </a:t>
            </a:r>
            <a:r>
              <a:rPr sz="1400" b="1" dirty="0">
                <a:latin typeface="Arial"/>
                <a:cs typeface="Arial"/>
              </a:rPr>
              <a:t>data</a:t>
            </a:r>
            <a:r>
              <a:rPr sz="1400" b="1" spc="-15" dirty="0">
                <a:latin typeface="Arial"/>
                <a:cs typeface="Arial"/>
              </a:rPr>
              <a:t> </a:t>
            </a:r>
            <a:r>
              <a:rPr sz="1400" b="1" spc="-5" dirty="0">
                <a:latin typeface="Arial"/>
                <a:cs typeface="Arial"/>
              </a:rPr>
              <a:t>out</a:t>
            </a:r>
            <a:r>
              <a:rPr sz="1400" b="1" spc="-20" dirty="0">
                <a:latin typeface="Arial"/>
                <a:cs typeface="Arial"/>
              </a:rPr>
              <a:t> </a:t>
            </a:r>
            <a:r>
              <a:rPr sz="1400" b="1" dirty="0">
                <a:latin typeface="Arial"/>
                <a:cs typeface="Arial"/>
              </a:rPr>
              <a:t>at</a:t>
            </a:r>
            <a:r>
              <a:rPr sz="1400" b="1" spc="-5" dirty="0">
                <a:latin typeface="Arial"/>
                <a:cs typeface="Arial"/>
              </a:rPr>
              <a:t> </a:t>
            </a:r>
            <a:r>
              <a:rPr sz="1400" b="1" dirty="0">
                <a:latin typeface="Arial"/>
                <a:cs typeface="Arial"/>
              </a:rPr>
              <a:t>X8</a:t>
            </a:r>
            <a:r>
              <a:rPr sz="1400" b="1" spc="-5" dirty="0">
                <a:latin typeface="Arial"/>
                <a:cs typeface="Arial"/>
              </a:rPr>
              <a:t> </a:t>
            </a:r>
            <a:r>
              <a:rPr sz="1400" b="1" dirty="0">
                <a:latin typeface="Arial"/>
                <a:cs typeface="Arial"/>
              </a:rPr>
              <a:t>mode</a:t>
            </a:r>
            <a:endParaRPr sz="1400" dirty="0">
              <a:latin typeface="Arial"/>
              <a:cs typeface="Arial"/>
            </a:endParaRPr>
          </a:p>
        </p:txBody>
      </p:sp>
      <p:sp>
        <p:nvSpPr>
          <p:cNvPr id="8" name="object 8"/>
          <p:cNvSpPr txBox="1"/>
          <p:nvPr/>
        </p:nvSpPr>
        <p:spPr>
          <a:xfrm>
            <a:off x="400912" y="4662932"/>
            <a:ext cx="6038541" cy="151965"/>
          </a:xfrm>
          <a:prstGeom prst="rect">
            <a:avLst/>
          </a:prstGeom>
        </p:spPr>
        <p:txBody>
          <a:bodyPr vert="horz" wrap="square" lIns="0" tIns="13335" rIns="0" bIns="0" rtlCol="0">
            <a:spAutoFit/>
          </a:bodyPr>
          <a:lstStyle/>
          <a:p>
            <a:pPr marL="12700" algn="ctr">
              <a:lnSpc>
                <a:spcPct val="100000"/>
              </a:lnSpc>
              <a:spcBef>
                <a:spcPts val="105"/>
              </a:spcBef>
            </a:pPr>
            <a:r>
              <a:rPr sz="900" b="1" spc="-5" dirty="0">
                <a:latin typeface="Arial"/>
                <a:cs typeface="Arial"/>
              </a:rPr>
              <a:t>[Figure.</a:t>
            </a:r>
            <a:r>
              <a:rPr sz="900" b="1" spc="10" dirty="0">
                <a:latin typeface="Arial"/>
                <a:cs typeface="Arial"/>
              </a:rPr>
              <a:t> </a:t>
            </a:r>
            <a:r>
              <a:rPr lang="en-US" sz="900" b="1" spc="10" dirty="0">
                <a:latin typeface="Arial"/>
                <a:cs typeface="Arial"/>
              </a:rPr>
              <a:t>16</a:t>
            </a:r>
            <a:r>
              <a:rPr sz="900" b="1" spc="-5" dirty="0">
                <a:latin typeface="Arial"/>
                <a:cs typeface="Arial"/>
              </a:rPr>
              <a:t>-2]</a:t>
            </a:r>
            <a:r>
              <a:rPr sz="900" b="1" spc="10" dirty="0">
                <a:latin typeface="Arial"/>
                <a:cs typeface="Arial"/>
              </a:rPr>
              <a:t> </a:t>
            </a:r>
            <a:r>
              <a:rPr sz="900" b="1" dirty="0">
                <a:latin typeface="Arial"/>
                <a:cs typeface="Arial"/>
              </a:rPr>
              <a:t>The</a:t>
            </a:r>
            <a:r>
              <a:rPr sz="900" b="1" spc="15" dirty="0">
                <a:latin typeface="Arial"/>
                <a:cs typeface="Arial"/>
              </a:rPr>
              <a:t> </a:t>
            </a:r>
            <a:r>
              <a:rPr sz="900" b="1" spc="-15" dirty="0">
                <a:latin typeface="Arial"/>
                <a:cs typeface="Arial"/>
              </a:rPr>
              <a:t>X8</a:t>
            </a:r>
            <a:r>
              <a:rPr sz="900" b="1" spc="35" dirty="0">
                <a:latin typeface="Arial"/>
                <a:cs typeface="Arial"/>
              </a:rPr>
              <a:t> </a:t>
            </a:r>
            <a:r>
              <a:rPr sz="900" b="1" dirty="0">
                <a:latin typeface="Arial"/>
                <a:cs typeface="Arial"/>
              </a:rPr>
              <a:t>local dimming</a:t>
            </a:r>
            <a:r>
              <a:rPr sz="900" b="1" spc="-20" dirty="0">
                <a:latin typeface="Arial"/>
                <a:cs typeface="Arial"/>
              </a:rPr>
              <a:t> </a:t>
            </a:r>
            <a:r>
              <a:rPr sz="900" b="1" spc="-5" dirty="0">
                <a:latin typeface="Arial"/>
                <a:cs typeface="Arial"/>
              </a:rPr>
              <a:t>out</a:t>
            </a:r>
            <a:r>
              <a:rPr sz="900" b="1" spc="10" dirty="0">
                <a:latin typeface="Arial"/>
                <a:cs typeface="Arial"/>
              </a:rPr>
              <a:t> </a:t>
            </a:r>
            <a:r>
              <a:rPr sz="900" b="1" spc="-5" dirty="0">
                <a:latin typeface="Arial"/>
                <a:cs typeface="Arial"/>
              </a:rPr>
              <a:t>sequence</a:t>
            </a:r>
            <a:r>
              <a:rPr sz="900" b="1" spc="30" dirty="0">
                <a:latin typeface="Arial"/>
                <a:cs typeface="Arial"/>
              </a:rPr>
              <a:t> </a:t>
            </a:r>
            <a:r>
              <a:rPr sz="900" b="1" dirty="0">
                <a:latin typeface="Arial"/>
                <a:cs typeface="Arial"/>
              </a:rPr>
              <a:t>in </a:t>
            </a:r>
            <a:r>
              <a:rPr sz="900" b="1" spc="-5" dirty="0">
                <a:latin typeface="Arial"/>
                <a:cs typeface="Arial"/>
              </a:rPr>
              <a:t>dual</a:t>
            </a:r>
            <a:r>
              <a:rPr sz="900" b="1" spc="20" dirty="0">
                <a:latin typeface="Arial"/>
                <a:cs typeface="Arial"/>
              </a:rPr>
              <a:t> </a:t>
            </a:r>
            <a:r>
              <a:rPr sz="900" b="1" spc="-5" dirty="0">
                <a:latin typeface="Arial"/>
                <a:cs typeface="Arial"/>
              </a:rPr>
              <a:t>drive</a:t>
            </a:r>
            <a:r>
              <a:rPr sz="900" b="1" spc="15" dirty="0">
                <a:latin typeface="Arial"/>
                <a:cs typeface="Arial"/>
              </a:rPr>
              <a:t> </a:t>
            </a:r>
            <a:r>
              <a:rPr sz="900" b="1" dirty="0">
                <a:latin typeface="Arial"/>
                <a:cs typeface="Arial"/>
              </a:rPr>
              <a:t>mode</a:t>
            </a:r>
          </a:p>
        </p:txBody>
      </p:sp>
      <p:sp>
        <p:nvSpPr>
          <p:cNvPr id="9" name="object 9"/>
          <p:cNvSpPr txBox="1"/>
          <p:nvPr/>
        </p:nvSpPr>
        <p:spPr>
          <a:xfrm>
            <a:off x="400912" y="7023867"/>
            <a:ext cx="6038540" cy="151323"/>
          </a:xfrm>
          <a:prstGeom prst="rect">
            <a:avLst/>
          </a:prstGeom>
        </p:spPr>
        <p:txBody>
          <a:bodyPr vert="horz" wrap="square" lIns="0" tIns="12700" rIns="0" bIns="0" rtlCol="0">
            <a:spAutoFit/>
          </a:bodyPr>
          <a:lstStyle/>
          <a:p>
            <a:pPr marL="12700" algn="ctr">
              <a:lnSpc>
                <a:spcPct val="100000"/>
              </a:lnSpc>
              <a:spcBef>
                <a:spcPts val="100"/>
              </a:spcBef>
            </a:pPr>
            <a:r>
              <a:rPr sz="900" b="1" spc="-5" dirty="0">
                <a:latin typeface="Arial"/>
                <a:cs typeface="Arial"/>
              </a:rPr>
              <a:t>[Figure.</a:t>
            </a:r>
            <a:r>
              <a:rPr sz="900" b="1" spc="10" dirty="0">
                <a:latin typeface="Arial"/>
                <a:cs typeface="Arial"/>
              </a:rPr>
              <a:t> </a:t>
            </a:r>
            <a:r>
              <a:rPr lang="en-US" sz="900" b="1" spc="10" dirty="0">
                <a:latin typeface="Arial"/>
                <a:cs typeface="Arial"/>
              </a:rPr>
              <a:t>17</a:t>
            </a:r>
            <a:r>
              <a:rPr sz="900" b="1" spc="-5" dirty="0">
                <a:latin typeface="Arial"/>
                <a:cs typeface="Arial"/>
              </a:rPr>
              <a:t>-1]</a:t>
            </a:r>
            <a:r>
              <a:rPr sz="900" b="1" spc="25" dirty="0">
                <a:latin typeface="Arial"/>
                <a:cs typeface="Arial"/>
              </a:rPr>
              <a:t> </a:t>
            </a:r>
            <a:r>
              <a:rPr sz="900" b="1" dirty="0">
                <a:latin typeface="Arial"/>
                <a:cs typeface="Arial"/>
              </a:rPr>
              <a:t>The </a:t>
            </a:r>
            <a:r>
              <a:rPr sz="900" b="1" spc="-15" dirty="0">
                <a:latin typeface="Arial"/>
                <a:cs typeface="Arial"/>
              </a:rPr>
              <a:t>X2</a:t>
            </a:r>
            <a:r>
              <a:rPr sz="900" b="1" spc="30" dirty="0">
                <a:latin typeface="Arial"/>
                <a:cs typeface="Arial"/>
              </a:rPr>
              <a:t> </a:t>
            </a:r>
            <a:r>
              <a:rPr sz="900" b="1" dirty="0">
                <a:latin typeface="Arial"/>
                <a:cs typeface="Arial"/>
              </a:rPr>
              <a:t>local dimming</a:t>
            </a:r>
            <a:r>
              <a:rPr sz="900" b="1" spc="-20" dirty="0">
                <a:latin typeface="Arial"/>
                <a:cs typeface="Arial"/>
              </a:rPr>
              <a:t> </a:t>
            </a:r>
            <a:r>
              <a:rPr sz="900" b="1" spc="-5" dirty="0">
                <a:latin typeface="Arial"/>
                <a:cs typeface="Arial"/>
              </a:rPr>
              <a:t>out</a:t>
            </a:r>
            <a:r>
              <a:rPr sz="900" b="1" spc="25" dirty="0">
                <a:latin typeface="Arial"/>
                <a:cs typeface="Arial"/>
              </a:rPr>
              <a:t> </a:t>
            </a:r>
            <a:r>
              <a:rPr sz="900" b="1" spc="-5" dirty="0">
                <a:latin typeface="Arial"/>
                <a:cs typeface="Arial"/>
              </a:rPr>
              <a:t>sequence</a:t>
            </a:r>
            <a:r>
              <a:rPr sz="900" b="1" spc="15" dirty="0">
                <a:latin typeface="Arial"/>
                <a:cs typeface="Arial"/>
              </a:rPr>
              <a:t> </a:t>
            </a:r>
            <a:r>
              <a:rPr sz="900" b="1" dirty="0">
                <a:latin typeface="Arial"/>
                <a:cs typeface="Arial"/>
              </a:rPr>
              <a:t>in</a:t>
            </a:r>
            <a:r>
              <a:rPr sz="900" b="1" spc="5" dirty="0">
                <a:latin typeface="Arial"/>
                <a:cs typeface="Arial"/>
              </a:rPr>
              <a:t> </a:t>
            </a:r>
            <a:r>
              <a:rPr sz="900" b="1" dirty="0">
                <a:latin typeface="Arial"/>
                <a:cs typeface="Arial"/>
              </a:rPr>
              <a:t>single</a:t>
            </a:r>
            <a:r>
              <a:rPr sz="900" b="1" spc="5" dirty="0">
                <a:latin typeface="Arial"/>
                <a:cs typeface="Arial"/>
              </a:rPr>
              <a:t> </a:t>
            </a:r>
            <a:r>
              <a:rPr sz="900" b="1" spc="-5" dirty="0">
                <a:latin typeface="Arial"/>
                <a:cs typeface="Arial"/>
              </a:rPr>
              <a:t>drive</a:t>
            </a:r>
            <a:r>
              <a:rPr sz="900" b="1" spc="5" dirty="0">
                <a:latin typeface="Arial"/>
                <a:cs typeface="Arial"/>
              </a:rPr>
              <a:t> </a:t>
            </a:r>
            <a:r>
              <a:rPr sz="900" b="1" dirty="0">
                <a:latin typeface="Arial"/>
                <a:cs typeface="Arial"/>
              </a:rPr>
              <a:t>mode</a:t>
            </a:r>
          </a:p>
        </p:txBody>
      </p:sp>
      <p:sp>
        <p:nvSpPr>
          <p:cNvPr id="10" name="object 10"/>
          <p:cNvSpPr txBox="1"/>
          <p:nvPr/>
        </p:nvSpPr>
        <p:spPr>
          <a:xfrm>
            <a:off x="400912" y="8627065"/>
            <a:ext cx="6038540" cy="151323"/>
          </a:xfrm>
          <a:prstGeom prst="rect">
            <a:avLst/>
          </a:prstGeom>
        </p:spPr>
        <p:txBody>
          <a:bodyPr vert="horz" wrap="square" lIns="0" tIns="12700" rIns="0" bIns="0" rtlCol="0">
            <a:spAutoFit/>
          </a:bodyPr>
          <a:lstStyle/>
          <a:p>
            <a:pPr marL="12700" algn="ctr">
              <a:lnSpc>
                <a:spcPct val="100000"/>
              </a:lnSpc>
              <a:spcBef>
                <a:spcPts val="100"/>
              </a:spcBef>
            </a:pPr>
            <a:r>
              <a:rPr sz="900" b="1" spc="-5" dirty="0">
                <a:latin typeface="Arial"/>
                <a:cs typeface="Arial"/>
              </a:rPr>
              <a:t>[Figure.</a:t>
            </a:r>
            <a:r>
              <a:rPr sz="900" b="1" spc="10" dirty="0">
                <a:latin typeface="Arial"/>
                <a:cs typeface="Arial"/>
              </a:rPr>
              <a:t> </a:t>
            </a:r>
            <a:r>
              <a:rPr lang="en-US" sz="900" b="1" spc="10" dirty="0">
                <a:latin typeface="Arial"/>
                <a:cs typeface="Arial"/>
              </a:rPr>
              <a:t>17</a:t>
            </a:r>
            <a:r>
              <a:rPr sz="900" b="1" spc="-5" dirty="0">
                <a:latin typeface="Arial"/>
                <a:cs typeface="Arial"/>
              </a:rPr>
              <a:t>-2]</a:t>
            </a:r>
            <a:r>
              <a:rPr sz="900" b="1" spc="30" dirty="0">
                <a:latin typeface="Arial"/>
                <a:cs typeface="Arial"/>
              </a:rPr>
              <a:t> </a:t>
            </a:r>
            <a:r>
              <a:rPr sz="900" b="1" dirty="0">
                <a:latin typeface="Arial"/>
                <a:cs typeface="Arial"/>
              </a:rPr>
              <a:t>The </a:t>
            </a:r>
            <a:r>
              <a:rPr sz="900" b="1" spc="-15" dirty="0">
                <a:latin typeface="Arial"/>
                <a:cs typeface="Arial"/>
              </a:rPr>
              <a:t>X2</a:t>
            </a:r>
            <a:r>
              <a:rPr sz="900" b="1" spc="35" dirty="0">
                <a:latin typeface="Arial"/>
                <a:cs typeface="Arial"/>
              </a:rPr>
              <a:t> </a:t>
            </a:r>
            <a:r>
              <a:rPr sz="900" b="1" spc="-5" dirty="0">
                <a:latin typeface="Arial"/>
                <a:cs typeface="Arial"/>
              </a:rPr>
              <a:t>Local</a:t>
            </a:r>
            <a:r>
              <a:rPr sz="900" b="1" spc="10" dirty="0">
                <a:latin typeface="Arial"/>
                <a:cs typeface="Arial"/>
              </a:rPr>
              <a:t> </a:t>
            </a:r>
            <a:r>
              <a:rPr sz="900" b="1" dirty="0">
                <a:latin typeface="Arial"/>
                <a:cs typeface="Arial"/>
              </a:rPr>
              <a:t>dimming</a:t>
            </a:r>
            <a:r>
              <a:rPr sz="900" b="1" spc="-15" dirty="0">
                <a:latin typeface="Arial"/>
                <a:cs typeface="Arial"/>
              </a:rPr>
              <a:t> </a:t>
            </a:r>
            <a:r>
              <a:rPr sz="900" b="1" spc="-5" dirty="0">
                <a:latin typeface="Arial"/>
                <a:cs typeface="Arial"/>
              </a:rPr>
              <a:t>out</a:t>
            </a:r>
            <a:r>
              <a:rPr sz="900" b="1" spc="25" dirty="0">
                <a:latin typeface="Arial"/>
                <a:cs typeface="Arial"/>
              </a:rPr>
              <a:t> </a:t>
            </a:r>
            <a:r>
              <a:rPr sz="900" b="1" spc="-5" dirty="0">
                <a:latin typeface="Arial"/>
                <a:cs typeface="Arial"/>
              </a:rPr>
              <a:t>sequence</a:t>
            </a:r>
            <a:r>
              <a:rPr sz="900" b="1" spc="20" dirty="0">
                <a:latin typeface="Arial"/>
                <a:cs typeface="Arial"/>
              </a:rPr>
              <a:t> </a:t>
            </a:r>
            <a:r>
              <a:rPr sz="900" b="1" dirty="0">
                <a:latin typeface="Arial"/>
                <a:cs typeface="Arial"/>
              </a:rPr>
              <a:t>in</a:t>
            </a:r>
            <a:r>
              <a:rPr sz="900" b="1" spc="5" dirty="0">
                <a:latin typeface="Arial"/>
                <a:cs typeface="Arial"/>
              </a:rPr>
              <a:t> </a:t>
            </a:r>
            <a:r>
              <a:rPr sz="900" b="1" spc="-5" dirty="0">
                <a:latin typeface="Arial"/>
                <a:cs typeface="Arial"/>
              </a:rPr>
              <a:t>dual</a:t>
            </a:r>
            <a:r>
              <a:rPr sz="900" b="1" spc="25" dirty="0">
                <a:latin typeface="Arial"/>
                <a:cs typeface="Arial"/>
              </a:rPr>
              <a:t> </a:t>
            </a:r>
            <a:r>
              <a:rPr sz="900" b="1" spc="-5" dirty="0">
                <a:latin typeface="Arial"/>
                <a:cs typeface="Arial"/>
              </a:rPr>
              <a:t>drive</a:t>
            </a:r>
            <a:r>
              <a:rPr sz="900" b="1" spc="10" dirty="0">
                <a:latin typeface="Arial"/>
                <a:cs typeface="Arial"/>
              </a:rPr>
              <a:t> </a:t>
            </a:r>
            <a:r>
              <a:rPr sz="900" b="1" dirty="0">
                <a:latin typeface="Arial"/>
                <a:cs typeface="Arial"/>
              </a:rPr>
              <a:t>mode</a:t>
            </a:r>
          </a:p>
        </p:txBody>
      </p:sp>
      <p:sp>
        <p:nvSpPr>
          <p:cNvPr id="11" name="object 11"/>
          <p:cNvSpPr txBox="1"/>
          <p:nvPr/>
        </p:nvSpPr>
        <p:spPr>
          <a:xfrm>
            <a:off x="400913" y="5471286"/>
            <a:ext cx="6038542" cy="228909"/>
          </a:xfrm>
          <a:prstGeom prst="rect">
            <a:avLst/>
          </a:prstGeom>
        </p:spPr>
        <p:txBody>
          <a:bodyPr vert="horz" wrap="square" lIns="0" tIns="13335" rIns="0" bIns="0" rtlCol="0">
            <a:spAutoFit/>
          </a:bodyPr>
          <a:lstStyle/>
          <a:p>
            <a:pPr marL="12700">
              <a:lnSpc>
                <a:spcPct val="100000"/>
              </a:lnSpc>
              <a:spcBef>
                <a:spcPts val="105"/>
              </a:spcBef>
            </a:pPr>
            <a:r>
              <a:rPr sz="1400" b="1" spc="-5" dirty="0">
                <a:latin typeface="Arial"/>
                <a:cs typeface="Arial"/>
              </a:rPr>
              <a:t>The</a:t>
            </a:r>
            <a:r>
              <a:rPr sz="1400" b="1" spc="-15" dirty="0">
                <a:latin typeface="Arial"/>
                <a:cs typeface="Arial"/>
              </a:rPr>
              <a:t> </a:t>
            </a:r>
            <a:r>
              <a:rPr sz="1400" b="1" spc="-5" dirty="0">
                <a:latin typeface="Arial"/>
                <a:cs typeface="Arial"/>
              </a:rPr>
              <a:t>local</a:t>
            </a:r>
            <a:r>
              <a:rPr sz="1400" b="1" spc="-40" dirty="0">
                <a:latin typeface="Arial"/>
                <a:cs typeface="Arial"/>
              </a:rPr>
              <a:t> </a:t>
            </a:r>
            <a:r>
              <a:rPr sz="1400" b="1" spc="-5" dirty="0">
                <a:latin typeface="Arial"/>
                <a:cs typeface="Arial"/>
              </a:rPr>
              <a:t>dimming</a:t>
            </a:r>
            <a:r>
              <a:rPr sz="1400" b="1" spc="-25" dirty="0">
                <a:latin typeface="Arial"/>
                <a:cs typeface="Arial"/>
              </a:rPr>
              <a:t> </a:t>
            </a:r>
            <a:r>
              <a:rPr sz="1400" b="1" spc="-5" dirty="0">
                <a:latin typeface="Arial"/>
                <a:cs typeface="Arial"/>
              </a:rPr>
              <a:t>data</a:t>
            </a:r>
            <a:r>
              <a:rPr sz="1400" b="1" spc="-20" dirty="0">
                <a:latin typeface="Arial"/>
                <a:cs typeface="Arial"/>
              </a:rPr>
              <a:t> </a:t>
            </a:r>
            <a:r>
              <a:rPr sz="1400" b="1" spc="-5" dirty="0">
                <a:latin typeface="Arial"/>
                <a:cs typeface="Arial"/>
              </a:rPr>
              <a:t>out</a:t>
            </a:r>
            <a:r>
              <a:rPr sz="1400" b="1" spc="-20" dirty="0">
                <a:latin typeface="Arial"/>
                <a:cs typeface="Arial"/>
              </a:rPr>
              <a:t> </a:t>
            </a:r>
            <a:r>
              <a:rPr sz="1400" b="1" dirty="0">
                <a:latin typeface="Arial"/>
                <a:cs typeface="Arial"/>
              </a:rPr>
              <a:t>at</a:t>
            </a:r>
            <a:r>
              <a:rPr sz="1400" b="1" spc="-10" dirty="0">
                <a:latin typeface="Arial"/>
                <a:cs typeface="Arial"/>
              </a:rPr>
              <a:t> </a:t>
            </a:r>
            <a:r>
              <a:rPr sz="1400" b="1" dirty="0">
                <a:latin typeface="Arial"/>
                <a:cs typeface="Arial"/>
              </a:rPr>
              <a:t>X2</a:t>
            </a:r>
            <a:r>
              <a:rPr sz="1400" b="1" spc="-10" dirty="0">
                <a:latin typeface="Arial"/>
                <a:cs typeface="Arial"/>
              </a:rPr>
              <a:t> </a:t>
            </a:r>
            <a:r>
              <a:rPr sz="1400" b="1" spc="-5" dirty="0">
                <a:latin typeface="Arial"/>
                <a:cs typeface="Arial"/>
              </a:rPr>
              <a:t>mode</a:t>
            </a:r>
            <a:endParaRPr sz="1400" dirty="0">
              <a:latin typeface="Arial"/>
              <a:cs typeface="Arial"/>
            </a:endParaRPr>
          </a:p>
        </p:txBody>
      </p:sp>
      <p:pic>
        <p:nvPicPr>
          <p:cNvPr id="12" name="object 12"/>
          <p:cNvPicPr/>
          <p:nvPr/>
        </p:nvPicPr>
        <p:blipFill>
          <a:blip r:embed="rId2" cstate="print"/>
          <a:stretch>
            <a:fillRect/>
          </a:stretch>
        </p:blipFill>
        <p:spPr>
          <a:xfrm>
            <a:off x="400914" y="1879107"/>
            <a:ext cx="6152286" cy="899099"/>
          </a:xfrm>
          <a:prstGeom prst="rect">
            <a:avLst/>
          </a:prstGeom>
        </p:spPr>
      </p:pic>
      <p:pic>
        <p:nvPicPr>
          <p:cNvPr id="13" name="object 13"/>
          <p:cNvPicPr/>
          <p:nvPr/>
        </p:nvPicPr>
        <p:blipFill>
          <a:blip r:embed="rId3" cstate="print"/>
          <a:stretch>
            <a:fillRect/>
          </a:stretch>
        </p:blipFill>
        <p:spPr>
          <a:xfrm>
            <a:off x="392073" y="3451901"/>
            <a:ext cx="6161127" cy="981372"/>
          </a:xfrm>
          <a:prstGeom prst="rect">
            <a:avLst/>
          </a:prstGeom>
        </p:spPr>
      </p:pic>
      <p:pic>
        <p:nvPicPr>
          <p:cNvPr id="14" name="object 14"/>
          <p:cNvPicPr/>
          <p:nvPr/>
        </p:nvPicPr>
        <p:blipFill>
          <a:blip r:embed="rId4" cstate="print"/>
          <a:stretch>
            <a:fillRect/>
          </a:stretch>
        </p:blipFill>
        <p:spPr>
          <a:xfrm>
            <a:off x="413004" y="5883169"/>
            <a:ext cx="6140196" cy="867124"/>
          </a:xfrm>
          <a:prstGeom prst="rect">
            <a:avLst/>
          </a:prstGeom>
        </p:spPr>
      </p:pic>
      <p:pic>
        <p:nvPicPr>
          <p:cNvPr id="15" name="object 15"/>
          <p:cNvPicPr/>
          <p:nvPr/>
        </p:nvPicPr>
        <p:blipFill>
          <a:blip r:embed="rId5" cstate="print"/>
          <a:stretch>
            <a:fillRect/>
          </a:stretch>
        </p:blipFill>
        <p:spPr>
          <a:xfrm>
            <a:off x="400912" y="7483368"/>
            <a:ext cx="6152288" cy="953966"/>
          </a:xfrm>
          <a:prstGeom prst="rect">
            <a:avLst/>
          </a:prstGeom>
        </p:spPr>
      </p:pic>
      <p:sp>
        <p:nvSpPr>
          <p:cNvPr id="20" name="object 7">
            <a:extLst>
              <a:ext uri="{FF2B5EF4-FFF2-40B4-BE49-F238E27FC236}">
                <a16:creationId xmlns:a16="http://schemas.microsoft.com/office/drawing/2014/main" id="{B90130A2-78BA-7846-7F31-26BCE0BDF848}"/>
              </a:ext>
            </a:extLst>
          </p:cNvPr>
          <p:cNvSpPr txBox="1"/>
          <p:nvPr/>
        </p:nvSpPr>
        <p:spPr>
          <a:xfrm>
            <a:off x="400913" y="1296778"/>
            <a:ext cx="6038541" cy="289823"/>
          </a:xfrm>
          <a:prstGeom prst="rect">
            <a:avLst/>
          </a:prstGeom>
        </p:spPr>
        <p:txBody>
          <a:bodyPr vert="horz" wrap="square" lIns="0" tIns="12700" rIns="0" bIns="0" rtlCol="0">
            <a:spAutoFit/>
          </a:bodyPr>
          <a:lstStyle/>
          <a:p>
            <a:pPr marL="12700" marR="5080" algn="just">
              <a:lnSpc>
                <a:spcPct val="100000"/>
              </a:lnSpc>
              <a:spcBef>
                <a:spcPts val="100"/>
              </a:spcBef>
            </a:pPr>
            <a:r>
              <a:rPr sz="900" spc="-5" dirty="0">
                <a:latin typeface="Arial"/>
                <a:cs typeface="Arial"/>
              </a:rPr>
              <a:t>The</a:t>
            </a:r>
            <a:r>
              <a:rPr lang="en-US" sz="900" spc="-5" dirty="0">
                <a:latin typeface="Arial"/>
                <a:cs typeface="Arial"/>
              </a:rPr>
              <a:t> </a:t>
            </a:r>
            <a:r>
              <a:rPr lang="en-US" altLang="ko-KR" sz="900" dirty="0">
                <a:latin typeface="Arial"/>
                <a:cs typeface="Arial"/>
              </a:rPr>
              <a:t>mode </a:t>
            </a:r>
            <a:r>
              <a:rPr lang="en-US" altLang="ko-KR" sz="900" spc="-5" dirty="0">
                <a:latin typeface="Arial"/>
                <a:cs typeface="Arial"/>
              </a:rPr>
              <a:t>is </a:t>
            </a:r>
            <a:r>
              <a:rPr lang="en-US" altLang="ko-KR" sz="900" dirty="0">
                <a:latin typeface="Arial"/>
                <a:cs typeface="Arial"/>
              </a:rPr>
              <a:t>used for 800 and 960Hz and its local dimming out </a:t>
            </a:r>
            <a:r>
              <a:rPr lang="en-US" altLang="ko-KR" sz="900" spc="-5" dirty="0">
                <a:latin typeface="Arial"/>
                <a:cs typeface="Arial"/>
              </a:rPr>
              <a:t>is </a:t>
            </a:r>
            <a:r>
              <a:rPr lang="en-US" altLang="ko-KR" sz="900" dirty="0">
                <a:latin typeface="Arial"/>
                <a:cs typeface="Arial"/>
              </a:rPr>
              <a:t>performed </a:t>
            </a:r>
            <a:r>
              <a:rPr lang="en-US" altLang="ko-KR" sz="900" spc="-5" dirty="0">
                <a:latin typeface="Arial"/>
                <a:cs typeface="Arial"/>
              </a:rPr>
              <a:t>8 </a:t>
            </a:r>
            <a:r>
              <a:rPr lang="en-US" altLang="ko-KR" sz="900" dirty="0">
                <a:latin typeface="Arial"/>
                <a:cs typeface="Arial"/>
              </a:rPr>
              <a:t>times repeatedly </a:t>
            </a:r>
            <a:r>
              <a:rPr lang="en-US" altLang="ko-KR" sz="900" spc="-5" dirty="0">
                <a:latin typeface="Arial"/>
                <a:cs typeface="Arial"/>
              </a:rPr>
              <a:t>within </a:t>
            </a:r>
            <a:r>
              <a:rPr lang="en-US" altLang="ko-KR" sz="900" dirty="0">
                <a:latin typeface="Arial"/>
                <a:cs typeface="Arial"/>
              </a:rPr>
              <a:t>one frame period. </a:t>
            </a:r>
            <a:r>
              <a:rPr lang="en-US" altLang="ko-KR" sz="900" spc="-235" dirty="0">
                <a:latin typeface="Arial"/>
                <a:cs typeface="Arial"/>
              </a:rPr>
              <a:t> </a:t>
            </a:r>
            <a:r>
              <a:rPr lang="en-US" altLang="ko-KR" sz="900" spc="-5" dirty="0">
                <a:latin typeface="Arial"/>
                <a:cs typeface="Arial"/>
              </a:rPr>
              <a:t>The</a:t>
            </a:r>
            <a:r>
              <a:rPr lang="en-US" altLang="ko-KR" sz="900" spc="10" dirty="0">
                <a:latin typeface="Arial"/>
                <a:cs typeface="Arial"/>
              </a:rPr>
              <a:t> </a:t>
            </a:r>
            <a:r>
              <a:rPr lang="en-US" altLang="ko-KR" sz="900" dirty="0">
                <a:latin typeface="Arial"/>
                <a:cs typeface="Arial"/>
              </a:rPr>
              <a:t>rest</a:t>
            </a:r>
            <a:r>
              <a:rPr lang="en-US" altLang="ko-KR" sz="900" spc="-5" dirty="0">
                <a:latin typeface="Arial"/>
                <a:cs typeface="Arial"/>
              </a:rPr>
              <a:t> is</a:t>
            </a:r>
            <a:r>
              <a:rPr lang="en-US" altLang="ko-KR" sz="900" dirty="0">
                <a:latin typeface="Arial"/>
                <a:cs typeface="Arial"/>
              </a:rPr>
              <a:t> almost</a:t>
            </a:r>
            <a:r>
              <a:rPr lang="en-US" altLang="ko-KR" sz="900" spc="-30" dirty="0">
                <a:latin typeface="Arial"/>
                <a:cs typeface="Arial"/>
              </a:rPr>
              <a:t> </a:t>
            </a:r>
            <a:r>
              <a:rPr lang="en-US" altLang="ko-KR" sz="900" dirty="0">
                <a:latin typeface="Arial"/>
                <a:cs typeface="Arial"/>
              </a:rPr>
              <a:t>the</a:t>
            </a:r>
            <a:r>
              <a:rPr lang="en-US" altLang="ko-KR" sz="900" spc="5" dirty="0">
                <a:latin typeface="Arial"/>
                <a:cs typeface="Arial"/>
              </a:rPr>
              <a:t> </a:t>
            </a:r>
            <a:r>
              <a:rPr lang="en-US" altLang="ko-KR" sz="900" dirty="0">
                <a:latin typeface="Arial"/>
                <a:cs typeface="Arial"/>
              </a:rPr>
              <a:t>same as the</a:t>
            </a:r>
            <a:r>
              <a:rPr lang="en-US" altLang="ko-KR" sz="900" spc="5" dirty="0">
                <a:latin typeface="Arial"/>
                <a:cs typeface="Arial"/>
              </a:rPr>
              <a:t> </a:t>
            </a:r>
            <a:r>
              <a:rPr lang="en-US" altLang="ko-KR" sz="900" dirty="0">
                <a:latin typeface="Arial"/>
                <a:cs typeface="Arial"/>
              </a:rPr>
              <a:t>normal</a:t>
            </a:r>
            <a:r>
              <a:rPr lang="en-US" altLang="ko-KR" sz="900" spc="-15" dirty="0">
                <a:latin typeface="Arial"/>
                <a:cs typeface="Arial"/>
              </a:rPr>
              <a:t> </a:t>
            </a:r>
            <a:r>
              <a:rPr lang="en-US" altLang="ko-KR" sz="900" dirty="0">
                <a:latin typeface="Arial"/>
                <a:cs typeface="Arial"/>
              </a:rPr>
              <a:t>mode</a:t>
            </a:r>
            <a:r>
              <a:rPr lang="en-US" altLang="ko-KR" sz="900" spc="-15" dirty="0">
                <a:latin typeface="Arial"/>
                <a:cs typeface="Arial"/>
              </a:rPr>
              <a:t> </a:t>
            </a:r>
            <a:r>
              <a:rPr lang="en-US" altLang="ko-KR" sz="900" dirty="0">
                <a:latin typeface="Arial"/>
                <a:cs typeface="Arial"/>
              </a:rPr>
              <a:t>and the </a:t>
            </a:r>
            <a:r>
              <a:rPr lang="en-US" altLang="ko-KR" sz="900" spc="-5" dirty="0">
                <a:latin typeface="Arial"/>
                <a:cs typeface="Arial"/>
              </a:rPr>
              <a:t>X_PERIOD</a:t>
            </a:r>
            <a:r>
              <a:rPr lang="en-US" altLang="ko-KR" sz="900" spc="20" dirty="0">
                <a:latin typeface="Arial"/>
                <a:cs typeface="Arial"/>
              </a:rPr>
              <a:t> </a:t>
            </a:r>
            <a:r>
              <a:rPr lang="en-US" altLang="ko-KR" sz="900" dirty="0">
                <a:latin typeface="Arial"/>
                <a:cs typeface="Arial"/>
              </a:rPr>
              <a:t>should</a:t>
            </a:r>
            <a:r>
              <a:rPr lang="en-US" altLang="ko-KR" sz="900" spc="-15" dirty="0">
                <a:latin typeface="Arial"/>
                <a:cs typeface="Arial"/>
              </a:rPr>
              <a:t> </a:t>
            </a:r>
            <a:r>
              <a:rPr lang="en-US" altLang="ko-KR" sz="900" dirty="0">
                <a:latin typeface="Arial"/>
                <a:cs typeface="Arial"/>
              </a:rPr>
              <a:t>be set to </a:t>
            </a:r>
            <a:r>
              <a:rPr lang="en-US" altLang="ko-KR" sz="900" spc="-5" dirty="0">
                <a:latin typeface="Arial"/>
                <a:cs typeface="Arial"/>
              </a:rPr>
              <a:t>a</a:t>
            </a:r>
            <a:r>
              <a:rPr lang="en-US" altLang="ko-KR" sz="900" dirty="0">
                <a:latin typeface="Arial"/>
                <a:cs typeface="Arial"/>
              </a:rPr>
              <a:t> proper</a:t>
            </a:r>
            <a:r>
              <a:rPr lang="en-US" altLang="ko-KR" sz="900" spc="-5" dirty="0">
                <a:latin typeface="Arial"/>
                <a:cs typeface="Arial"/>
              </a:rPr>
              <a:t> </a:t>
            </a:r>
            <a:r>
              <a:rPr lang="en-US" altLang="ko-KR" sz="900" dirty="0">
                <a:latin typeface="Arial"/>
                <a:cs typeface="Arial"/>
              </a:rPr>
              <a:t>value, SVSYNC_SIZE/8.</a:t>
            </a:r>
          </a:p>
        </p:txBody>
      </p:sp>
      <p:sp>
        <p:nvSpPr>
          <p:cNvPr id="7" name="object 9">
            <a:extLst>
              <a:ext uri="{FF2B5EF4-FFF2-40B4-BE49-F238E27FC236}">
                <a16:creationId xmlns:a16="http://schemas.microsoft.com/office/drawing/2014/main" id="{B7664A89-9C46-DAC5-0646-B0F4F45424E3}"/>
              </a:ext>
            </a:extLst>
          </p:cNvPr>
          <p:cNvSpPr txBox="1"/>
          <p:nvPr/>
        </p:nvSpPr>
        <p:spPr>
          <a:xfrm>
            <a:off x="304800" y="9067800"/>
            <a:ext cx="2078355" cy="289823"/>
          </a:xfrm>
          <a:prstGeom prst="rect">
            <a:avLst/>
          </a:prstGeom>
        </p:spPr>
        <p:txBody>
          <a:bodyPr vert="horz" wrap="square" lIns="0" tIns="12700" rIns="0" bIns="0" rtlCol="0">
            <a:spAutoFit/>
          </a:bodyPr>
          <a:lstStyle/>
          <a:p>
            <a:pPr marL="12700">
              <a:lnSpc>
                <a:spcPct val="100000"/>
              </a:lnSpc>
              <a:spcBef>
                <a:spcPts val="100"/>
              </a:spcBef>
            </a:pPr>
            <a:r>
              <a:rPr b="1" spc="-5" dirty="0">
                <a:solidFill>
                  <a:srgbClr val="FF0000"/>
                </a:solidFill>
                <a:cs typeface="Perpetua Titling MT"/>
              </a:rPr>
              <a:t>CONFIDENTIAL</a:t>
            </a:r>
            <a:endParaRPr dirty="0">
              <a:cs typeface="Perpetua Titling MT"/>
            </a:endParaRPr>
          </a:p>
        </p:txBody>
      </p:sp>
      <p:sp>
        <p:nvSpPr>
          <p:cNvPr id="19" name="object 6">
            <a:extLst>
              <a:ext uri="{FF2B5EF4-FFF2-40B4-BE49-F238E27FC236}">
                <a16:creationId xmlns:a16="http://schemas.microsoft.com/office/drawing/2014/main" id="{098CFB45-5212-04B7-7AC2-9B651A5B0BF1}"/>
              </a:ext>
            </a:extLst>
          </p:cNvPr>
          <p:cNvSpPr/>
          <p:nvPr/>
        </p:nvSpPr>
        <p:spPr>
          <a:xfrm>
            <a:off x="301676" y="9458756"/>
            <a:ext cx="6246495" cy="0"/>
          </a:xfrm>
          <a:custGeom>
            <a:avLst/>
            <a:gdLst/>
            <a:ahLst/>
            <a:cxnLst/>
            <a:rect l="l" t="t" r="r" b="b"/>
            <a:pathLst>
              <a:path w="6246495">
                <a:moveTo>
                  <a:pt x="0" y="0"/>
                </a:moveTo>
                <a:lnTo>
                  <a:pt x="6245999" y="0"/>
                </a:lnTo>
              </a:path>
            </a:pathLst>
          </a:custGeom>
          <a:ln w="25920">
            <a:solidFill>
              <a:srgbClr val="BFBFBF"/>
            </a:solidFill>
          </a:ln>
        </p:spPr>
        <p:txBody>
          <a:bodyPr wrap="square" lIns="0" tIns="0" rIns="0" bIns="0" rtlCol="0"/>
          <a:lstStyle/>
          <a:p>
            <a:endParaRPr/>
          </a:p>
        </p:txBody>
      </p:sp>
      <p:sp>
        <p:nvSpPr>
          <p:cNvPr id="21" name="슬라이드 번호 개체 틀 3">
            <a:hlinkClick r:id="rId6"/>
            <a:extLst>
              <a:ext uri="{FF2B5EF4-FFF2-40B4-BE49-F238E27FC236}">
                <a16:creationId xmlns:a16="http://schemas.microsoft.com/office/drawing/2014/main" id="{17721ADE-44D2-3A3F-A067-A3FCCAB2DFD7}"/>
              </a:ext>
            </a:extLst>
          </p:cNvPr>
          <p:cNvSpPr txBox="1">
            <a:spLocks/>
          </p:cNvSpPr>
          <p:nvPr/>
        </p:nvSpPr>
        <p:spPr>
          <a:xfrm>
            <a:off x="5151602" y="9452864"/>
            <a:ext cx="1487550"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dirty="0">
                <a:solidFill>
                  <a:prstClr val="black"/>
                </a:solidFill>
                <a:latin typeface="Arial" panose="020B0604020202020204" pitchFamily="34" charset="0"/>
                <a:cs typeface="Arial" panose="020B0604020202020204" pitchFamily="34" charset="0"/>
              </a:rPr>
              <a:t>http://www.glbltech.com/</a:t>
            </a:r>
            <a:endParaRPr lang="ko-KR" altLang="en-US" dirty="0">
              <a:solidFill>
                <a:prstClr val="black"/>
              </a:solidFill>
              <a:latin typeface="Arial" panose="020B0604020202020204" pitchFamily="34" charset="0"/>
              <a:cs typeface="Arial" panose="020B0604020202020204" pitchFamily="34" charset="0"/>
            </a:endParaRPr>
          </a:p>
        </p:txBody>
      </p:sp>
      <p:sp>
        <p:nvSpPr>
          <p:cNvPr id="22" name="object 38">
            <a:extLst>
              <a:ext uri="{FF2B5EF4-FFF2-40B4-BE49-F238E27FC236}">
                <a16:creationId xmlns:a16="http://schemas.microsoft.com/office/drawing/2014/main" id="{670376A9-6139-2695-B429-692C665466A7}"/>
              </a:ext>
            </a:extLst>
          </p:cNvPr>
          <p:cNvSpPr txBox="1">
            <a:spLocks/>
          </p:cNvSpPr>
          <p:nvPr/>
        </p:nvSpPr>
        <p:spPr>
          <a:xfrm>
            <a:off x="3309066" y="9547988"/>
            <a:ext cx="487045" cy="139141"/>
          </a:xfrm>
          <a:prstGeom prst="rect">
            <a:avLst/>
          </a:prstGeom>
        </p:spPr>
        <p:txBody>
          <a:bodyPr vert="horz" wrap="square" lIns="0" tIns="635" rIns="0" bIns="0" rtlCol="0">
            <a:spAutoFit/>
          </a:bodyPr>
          <a:lstStyle>
            <a:defPPr>
              <a:defRPr lang="ko-KR"/>
            </a:defPPr>
            <a:lvl1pPr marL="0" algn="l" defTabSz="914400" rtl="0" eaLnBrk="1" latinLnBrk="1" hangingPunct="1">
              <a:defRPr sz="1050" b="0" i="0" kern="1200">
                <a:solidFill>
                  <a:schemeClr val="tx1"/>
                </a:solidFill>
                <a:latin typeface="Arial"/>
                <a:ea typeface="+mn-ea"/>
                <a:cs typeface="Arial"/>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marL="12700">
              <a:spcBef>
                <a:spcPts val="5"/>
              </a:spcBef>
              <a:defRPr/>
            </a:pPr>
            <a:r>
              <a:rPr lang="en-US" sz="900" dirty="0">
                <a:solidFill>
                  <a:prstClr val="black"/>
                </a:solidFill>
              </a:rPr>
              <a:t>Page</a:t>
            </a:r>
            <a:r>
              <a:rPr lang="en-US" sz="900" spc="-60" dirty="0">
                <a:solidFill>
                  <a:prstClr val="black"/>
                </a:solidFill>
              </a:rPr>
              <a:t> </a:t>
            </a:r>
            <a:fld id="{81D60167-4931-47E6-BA6A-407CBD079E47}" type="slidenum">
              <a:rPr sz="900">
                <a:solidFill>
                  <a:prstClr val="black"/>
                </a:solidFill>
              </a:rPr>
              <a:pPr marL="12700">
                <a:spcBef>
                  <a:spcPts val="5"/>
                </a:spcBef>
                <a:defRPr/>
              </a:pPr>
              <a:t>23</a:t>
            </a:fld>
            <a:endParaRPr sz="900" dirty="0">
              <a:solidFill>
                <a:prstClr val="black"/>
              </a:solidFill>
            </a:endParaRPr>
          </a:p>
        </p:txBody>
      </p:sp>
      <p:sp>
        <p:nvSpPr>
          <p:cNvPr id="23" name="슬라이드 번호 개체 틀 3">
            <a:extLst>
              <a:ext uri="{FF2B5EF4-FFF2-40B4-BE49-F238E27FC236}">
                <a16:creationId xmlns:a16="http://schemas.microsoft.com/office/drawing/2014/main" id="{D0A28C6B-43C0-3488-6D55-593779B1176B}"/>
              </a:ext>
            </a:extLst>
          </p:cNvPr>
          <p:cNvSpPr txBox="1">
            <a:spLocks/>
          </p:cNvSpPr>
          <p:nvPr/>
        </p:nvSpPr>
        <p:spPr>
          <a:xfrm>
            <a:off x="299401" y="9520856"/>
            <a:ext cx="2060991" cy="175259"/>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lang="en-US" altLang="ko-KR" dirty="0">
                <a:solidFill>
                  <a:prstClr val="black"/>
                </a:solidFill>
                <a:latin typeface="Arial" panose="020B0604020202020204" pitchFamily="34" charset="0"/>
                <a:cs typeface="Arial" panose="020B0604020202020204" pitchFamily="34" charset="0"/>
              </a:rPr>
              <a:t>Dated 30-Nov 23  Rev. 01</a:t>
            </a:r>
            <a:endParaRPr lang="ko-KR" altLang="en-US" dirty="0">
              <a:solidFill>
                <a:prstClr val="black"/>
              </a:solidFill>
              <a:latin typeface="Arial" panose="020B0604020202020204" pitchFamily="34" charset="0"/>
              <a:cs typeface="Arial" panose="020B0604020202020204" pitchFamily="34" charset="0"/>
            </a:endParaRPr>
          </a:p>
        </p:txBody>
      </p:sp>
      <p:sp>
        <p:nvSpPr>
          <p:cNvPr id="24" name="Holder 3">
            <a:extLst>
              <a:ext uri="{FF2B5EF4-FFF2-40B4-BE49-F238E27FC236}">
                <a16:creationId xmlns:a16="http://schemas.microsoft.com/office/drawing/2014/main" id="{1812C71A-232D-902D-25F8-F6F71D8641E3}"/>
              </a:ext>
            </a:extLst>
          </p:cNvPr>
          <p:cNvSpPr txBox="1">
            <a:spLocks/>
          </p:cNvSpPr>
          <p:nvPr/>
        </p:nvSpPr>
        <p:spPr>
          <a:xfrm>
            <a:off x="5147476" y="203944"/>
            <a:ext cx="1447800" cy="276999"/>
          </a:xfrm>
          <a:prstGeom prst="rect">
            <a:avLst/>
          </a:prstGeom>
        </p:spPr>
        <p:txBody>
          <a:bodyPr wrap="square" lIns="0" tIns="0" rIns="0" bIns="0">
            <a:spAutoFit/>
          </a:bodyPr>
          <a:lstStyle>
            <a:lvl1pPr marL="0">
              <a:defRPr>
                <a:solidFill>
                  <a:srgbClr val="FF99FF"/>
                </a:solidFill>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defTabSz="914400" latinLnBrk="0"/>
            <a:r>
              <a:rPr lang="en-US" sz="1800" kern="0" dirty="0"/>
              <a:t>&lt;Preliminary&gt;</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object 5"/>
          <p:cNvSpPr/>
          <p:nvPr/>
        </p:nvSpPr>
        <p:spPr>
          <a:xfrm>
            <a:off x="405384" y="637031"/>
            <a:ext cx="6049010" cy="0"/>
          </a:xfrm>
          <a:custGeom>
            <a:avLst/>
            <a:gdLst/>
            <a:ahLst/>
            <a:cxnLst/>
            <a:rect l="l" t="t" r="r" b="b"/>
            <a:pathLst>
              <a:path w="6049010">
                <a:moveTo>
                  <a:pt x="0" y="0"/>
                </a:moveTo>
                <a:lnTo>
                  <a:pt x="6048629" y="0"/>
                </a:lnTo>
              </a:path>
            </a:pathLst>
          </a:custGeom>
          <a:ln w="6350">
            <a:solidFill>
              <a:srgbClr val="000000"/>
            </a:solidFill>
          </a:ln>
        </p:spPr>
        <p:txBody>
          <a:bodyPr wrap="square" lIns="0" tIns="0" rIns="0" bIns="0" rtlCol="0"/>
          <a:lstStyle/>
          <a:p>
            <a:endParaRPr dirty="0"/>
          </a:p>
        </p:txBody>
      </p:sp>
      <p:sp>
        <p:nvSpPr>
          <p:cNvPr id="8" name="object 8"/>
          <p:cNvSpPr txBox="1"/>
          <p:nvPr/>
        </p:nvSpPr>
        <p:spPr>
          <a:xfrm>
            <a:off x="400913" y="301879"/>
            <a:ext cx="622935" cy="299720"/>
          </a:xfrm>
          <a:prstGeom prst="rect">
            <a:avLst/>
          </a:prstGeom>
        </p:spPr>
        <p:txBody>
          <a:bodyPr vert="horz" wrap="square" lIns="0" tIns="12700" rIns="0" bIns="0" rtlCol="0">
            <a:spAutoFit/>
          </a:bodyPr>
          <a:lstStyle/>
          <a:p>
            <a:pPr marL="12700">
              <a:lnSpc>
                <a:spcPct val="100000"/>
              </a:lnSpc>
              <a:spcBef>
                <a:spcPts val="100"/>
              </a:spcBef>
            </a:pPr>
            <a:r>
              <a:rPr sz="1800" b="1" spc="-5" dirty="0">
                <a:latin typeface="Arial"/>
                <a:cs typeface="Arial"/>
              </a:rPr>
              <a:t>CQ24</a:t>
            </a:r>
            <a:endParaRPr sz="1800" dirty="0">
              <a:latin typeface="Arial"/>
              <a:cs typeface="Arial"/>
            </a:endParaRPr>
          </a:p>
        </p:txBody>
      </p:sp>
      <p:sp>
        <p:nvSpPr>
          <p:cNvPr id="9" name="object 9"/>
          <p:cNvSpPr txBox="1"/>
          <p:nvPr/>
        </p:nvSpPr>
        <p:spPr>
          <a:xfrm>
            <a:off x="411381" y="4940301"/>
            <a:ext cx="6049009" cy="151965"/>
          </a:xfrm>
          <a:prstGeom prst="rect">
            <a:avLst/>
          </a:prstGeom>
        </p:spPr>
        <p:txBody>
          <a:bodyPr vert="horz" wrap="square" lIns="0" tIns="13335" rIns="0" bIns="0" rtlCol="0">
            <a:spAutoFit/>
          </a:bodyPr>
          <a:lstStyle/>
          <a:p>
            <a:pPr marL="12700" algn="ctr">
              <a:lnSpc>
                <a:spcPct val="100000"/>
              </a:lnSpc>
              <a:spcBef>
                <a:spcPts val="105"/>
              </a:spcBef>
            </a:pPr>
            <a:r>
              <a:rPr sz="900" b="1" spc="-5" dirty="0">
                <a:latin typeface="Arial"/>
                <a:cs typeface="Arial"/>
              </a:rPr>
              <a:t>[Figure.</a:t>
            </a:r>
            <a:r>
              <a:rPr sz="900" b="1" spc="5" dirty="0">
                <a:latin typeface="Arial"/>
                <a:cs typeface="Arial"/>
              </a:rPr>
              <a:t> </a:t>
            </a:r>
            <a:r>
              <a:rPr sz="900" b="1" spc="-5" dirty="0">
                <a:latin typeface="Arial"/>
                <a:cs typeface="Arial"/>
              </a:rPr>
              <a:t>1</a:t>
            </a:r>
            <a:r>
              <a:rPr lang="en-US" sz="900" b="1" spc="-5" dirty="0">
                <a:latin typeface="Arial"/>
                <a:cs typeface="Arial"/>
              </a:rPr>
              <a:t>8</a:t>
            </a:r>
            <a:r>
              <a:rPr sz="900" b="1" spc="-5" dirty="0">
                <a:latin typeface="Arial"/>
                <a:cs typeface="Arial"/>
              </a:rPr>
              <a:t>-1]</a:t>
            </a:r>
            <a:r>
              <a:rPr sz="900" b="1" spc="20" dirty="0">
                <a:latin typeface="Arial"/>
                <a:cs typeface="Arial"/>
              </a:rPr>
              <a:t> </a:t>
            </a:r>
            <a:r>
              <a:rPr sz="900" b="1" dirty="0">
                <a:latin typeface="Arial"/>
                <a:cs typeface="Arial"/>
              </a:rPr>
              <a:t>The</a:t>
            </a:r>
            <a:r>
              <a:rPr sz="900" b="1" spc="-5" dirty="0">
                <a:latin typeface="Arial"/>
                <a:cs typeface="Arial"/>
              </a:rPr>
              <a:t> </a:t>
            </a:r>
            <a:r>
              <a:rPr sz="900" b="1" dirty="0">
                <a:latin typeface="Arial"/>
                <a:cs typeface="Arial"/>
              </a:rPr>
              <a:t>CS/HOLD assignment</a:t>
            </a:r>
            <a:r>
              <a:rPr sz="900" b="1" spc="-15" dirty="0">
                <a:latin typeface="Arial"/>
                <a:cs typeface="Arial"/>
              </a:rPr>
              <a:t> </a:t>
            </a:r>
            <a:r>
              <a:rPr sz="900" b="1" dirty="0">
                <a:latin typeface="Arial"/>
                <a:cs typeface="Arial"/>
              </a:rPr>
              <a:t>in single</a:t>
            </a:r>
            <a:r>
              <a:rPr sz="900" b="1" spc="5" dirty="0">
                <a:latin typeface="Arial"/>
                <a:cs typeface="Arial"/>
              </a:rPr>
              <a:t> </a:t>
            </a:r>
            <a:r>
              <a:rPr sz="900" b="1" spc="-5" dirty="0">
                <a:latin typeface="Arial"/>
                <a:cs typeface="Arial"/>
              </a:rPr>
              <a:t>drive</a:t>
            </a:r>
            <a:r>
              <a:rPr sz="900" b="1" dirty="0">
                <a:latin typeface="Arial"/>
                <a:cs typeface="Arial"/>
              </a:rPr>
              <a:t> mode</a:t>
            </a:r>
          </a:p>
        </p:txBody>
      </p:sp>
      <p:sp>
        <p:nvSpPr>
          <p:cNvPr id="10" name="object 10"/>
          <p:cNvSpPr txBox="1"/>
          <p:nvPr/>
        </p:nvSpPr>
        <p:spPr>
          <a:xfrm>
            <a:off x="400913" y="906017"/>
            <a:ext cx="6049010" cy="228268"/>
          </a:xfrm>
          <a:prstGeom prst="rect">
            <a:avLst/>
          </a:prstGeom>
        </p:spPr>
        <p:txBody>
          <a:bodyPr vert="horz" wrap="square" lIns="0" tIns="12700" rIns="0" bIns="0" rtlCol="0">
            <a:spAutoFit/>
          </a:bodyPr>
          <a:lstStyle/>
          <a:p>
            <a:pPr marL="12700">
              <a:lnSpc>
                <a:spcPct val="100000"/>
              </a:lnSpc>
              <a:spcBef>
                <a:spcPts val="100"/>
              </a:spcBef>
            </a:pPr>
            <a:r>
              <a:rPr sz="1400" b="1" spc="-5" dirty="0">
                <a:latin typeface="Arial"/>
                <a:cs typeface="Arial"/>
              </a:rPr>
              <a:t>The </a:t>
            </a:r>
            <a:r>
              <a:rPr sz="1400" b="1" dirty="0">
                <a:latin typeface="Arial"/>
                <a:cs typeface="Arial"/>
              </a:rPr>
              <a:t>assignment</a:t>
            </a:r>
            <a:r>
              <a:rPr sz="1400" b="1" spc="-45" dirty="0">
                <a:latin typeface="Arial"/>
                <a:cs typeface="Arial"/>
              </a:rPr>
              <a:t> </a:t>
            </a:r>
            <a:r>
              <a:rPr sz="1400" b="1" dirty="0">
                <a:latin typeface="Arial"/>
                <a:cs typeface="Arial"/>
              </a:rPr>
              <a:t>of</a:t>
            </a:r>
            <a:r>
              <a:rPr sz="1400" b="1" spc="-20" dirty="0">
                <a:latin typeface="Arial"/>
                <a:cs typeface="Arial"/>
              </a:rPr>
              <a:t> </a:t>
            </a:r>
            <a:r>
              <a:rPr sz="1400" b="1" dirty="0">
                <a:latin typeface="Arial"/>
                <a:cs typeface="Arial"/>
              </a:rPr>
              <a:t>CS/HOLD</a:t>
            </a:r>
            <a:r>
              <a:rPr sz="1400" b="1" spc="-5" dirty="0">
                <a:latin typeface="Arial"/>
                <a:cs typeface="Arial"/>
              </a:rPr>
              <a:t> </a:t>
            </a:r>
            <a:r>
              <a:rPr sz="1400" b="1" dirty="0">
                <a:latin typeface="Arial"/>
                <a:cs typeface="Arial"/>
              </a:rPr>
              <a:t>to</a:t>
            </a:r>
            <a:r>
              <a:rPr sz="1400" b="1" spc="-65" dirty="0">
                <a:latin typeface="Arial"/>
                <a:cs typeface="Arial"/>
              </a:rPr>
              <a:t> </a:t>
            </a:r>
            <a:r>
              <a:rPr sz="1400" b="1" spc="-20" dirty="0">
                <a:latin typeface="Arial"/>
                <a:cs typeface="Arial"/>
              </a:rPr>
              <a:t>AQ</a:t>
            </a:r>
            <a:r>
              <a:rPr sz="1400" b="1" spc="25" dirty="0">
                <a:latin typeface="Arial"/>
                <a:cs typeface="Arial"/>
              </a:rPr>
              <a:t> </a:t>
            </a:r>
            <a:r>
              <a:rPr sz="1400" b="1" dirty="0">
                <a:latin typeface="Arial"/>
                <a:cs typeface="Arial"/>
              </a:rPr>
              <a:t>series</a:t>
            </a:r>
            <a:endParaRPr sz="1400" dirty="0">
              <a:latin typeface="Arial"/>
              <a:cs typeface="Arial"/>
            </a:endParaRPr>
          </a:p>
        </p:txBody>
      </p:sp>
      <p:sp>
        <p:nvSpPr>
          <p:cNvPr id="12" name="object 12"/>
          <p:cNvSpPr txBox="1"/>
          <p:nvPr/>
        </p:nvSpPr>
        <p:spPr>
          <a:xfrm>
            <a:off x="411382" y="8223250"/>
            <a:ext cx="6049008" cy="151323"/>
          </a:xfrm>
          <a:prstGeom prst="rect">
            <a:avLst/>
          </a:prstGeom>
        </p:spPr>
        <p:txBody>
          <a:bodyPr vert="horz" wrap="square" lIns="0" tIns="12700" rIns="0" bIns="0" rtlCol="0">
            <a:spAutoFit/>
          </a:bodyPr>
          <a:lstStyle/>
          <a:p>
            <a:pPr marL="12700" algn="ctr">
              <a:lnSpc>
                <a:spcPct val="100000"/>
              </a:lnSpc>
              <a:spcBef>
                <a:spcPts val="100"/>
              </a:spcBef>
            </a:pPr>
            <a:r>
              <a:rPr sz="900" b="1" spc="-5" dirty="0">
                <a:latin typeface="Arial"/>
                <a:cs typeface="Arial"/>
              </a:rPr>
              <a:t>[Figure.</a:t>
            </a:r>
            <a:r>
              <a:rPr sz="900" b="1" spc="5" dirty="0">
                <a:latin typeface="Arial"/>
                <a:cs typeface="Arial"/>
              </a:rPr>
              <a:t> </a:t>
            </a:r>
            <a:r>
              <a:rPr sz="900" b="1" spc="-5" dirty="0">
                <a:latin typeface="Arial"/>
                <a:cs typeface="Arial"/>
              </a:rPr>
              <a:t>1</a:t>
            </a:r>
            <a:r>
              <a:rPr lang="en-US" sz="900" b="1" spc="-5" dirty="0">
                <a:latin typeface="Arial"/>
                <a:cs typeface="Arial"/>
              </a:rPr>
              <a:t>8</a:t>
            </a:r>
            <a:r>
              <a:rPr sz="900" b="1" spc="-5" dirty="0">
                <a:latin typeface="Arial"/>
                <a:cs typeface="Arial"/>
              </a:rPr>
              <a:t>-2]</a:t>
            </a:r>
            <a:r>
              <a:rPr sz="900" b="1" spc="20" dirty="0">
                <a:latin typeface="Arial"/>
                <a:cs typeface="Arial"/>
              </a:rPr>
              <a:t> </a:t>
            </a:r>
            <a:r>
              <a:rPr sz="900" b="1" dirty="0">
                <a:latin typeface="Arial"/>
                <a:cs typeface="Arial"/>
              </a:rPr>
              <a:t>The CS/HOLD assignment</a:t>
            </a:r>
            <a:r>
              <a:rPr sz="900" b="1" spc="-15" dirty="0">
                <a:latin typeface="Arial"/>
                <a:cs typeface="Arial"/>
              </a:rPr>
              <a:t> </a:t>
            </a:r>
            <a:r>
              <a:rPr sz="900" b="1" dirty="0">
                <a:latin typeface="Arial"/>
                <a:cs typeface="Arial"/>
              </a:rPr>
              <a:t>in </a:t>
            </a:r>
            <a:r>
              <a:rPr sz="900" b="1" spc="-5" dirty="0">
                <a:latin typeface="Arial"/>
                <a:cs typeface="Arial"/>
              </a:rPr>
              <a:t>dual</a:t>
            </a:r>
            <a:r>
              <a:rPr sz="900" b="1" spc="20" dirty="0">
                <a:latin typeface="Arial"/>
                <a:cs typeface="Arial"/>
              </a:rPr>
              <a:t> </a:t>
            </a:r>
            <a:r>
              <a:rPr sz="900" b="1" spc="-5" dirty="0">
                <a:latin typeface="Arial"/>
                <a:cs typeface="Arial"/>
              </a:rPr>
              <a:t>drive</a:t>
            </a:r>
            <a:r>
              <a:rPr sz="900" b="1" dirty="0">
                <a:latin typeface="Arial"/>
                <a:cs typeface="Arial"/>
              </a:rPr>
              <a:t> mode</a:t>
            </a:r>
          </a:p>
        </p:txBody>
      </p:sp>
      <p:grpSp>
        <p:nvGrpSpPr>
          <p:cNvPr id="24" name="그룹 23">
            <a:extLst>
              <a:ext uri="{FF2B5EF4-FFF2-40B4-BE49-F238E27FC236}">
                <a16:creationId xmlns:a16="http://schemas.microsoft.com/office/drawing/2014/main" id="{B5C557AE-2E78-D170-4E2E-EEF77A834E84}"/>
              </a:ext>
            </a:extLst>
          </p:cNvPr>
          <p:cNvGrpSpPr/>
          <p:nvPr/>
        </p:nvGrpSpPr>
        <p:grpSpPr>
          <a:xfrm>
            <a:off x="1143000" y="2861820"/>
            <a:ext cx="4906645" cy="1785018"/>
            <a:chOff x="1059920" y="2952369"/>
            <a:chExt cx="4906645" cy="1785018"/>
          </a:xfrm>
        </p:grpSpPr>
        <p:grpSp>
          <p:nvGrpSpPr>
            <p:cNvPr id="2" name="object 2"/>
            <p:cNvGrpSpPr/>
            <p:nvPr/>
          </p:nvGrpSpPr>
          <p:grpSpPr>
            <a:xfrm>
              <a:off x="1059920" y="3130837"/>
              <a:ext cx="4906645" cy="1606550"/>
              <a:chOff x="1059920" y="3130837"/>
              <a:chExt cx="4906645" cy="1606550"/>
            </a:xfrm>
          </p:grpSpPr>
          <p:pic>
            <p:nvPicPr>
              <p:cNvPr id="3" name="object 3"/>
              <p:cNvPicPr/>
              <p:nvPr/>
            </p:nvPicPr>
            <p:blipFill>
              <a:blip r:embed="rId2" cstate="print"/>
              <a:stretch>
                <a:fillRect/>
              </a:stretch>
            </p:blipFill>
            <p:spPr>
              <a:xfrm>
                <a:off x="1059920" y="3130837"/>
                <a:ext cx="4880859" cy="1606375"/>
              </a:xfrm>
              <a:prstGeom prst="rect">
                <a:avLst/>
              </a:prstGeom>
            </p:spPr>
          </p:pic>
          <p:pic>
            <p:nvPicPr>
              <p:cNvPr id="4" name="object 4"/>
              <p:cNvPicPr/>
              <p:nvPr/>
            </p:nvPicPr>
            <p:blipFill>
              <a:blip r:embed="rId3" cstate="print"/>
              <a:stretch>
                <a:fillRect/>
              </a:stretch>
            </p:blipFill>
            <p:spPr>
              <a:xfrm>
                <a:off x="5222747" y="3401568"/>
                <a:ext cx="743712" cy="188975"/>
              </a:xfrm>
              <a:prstGeom prst="rect">
                <a:avLst/>
              </a:prstGeom>
            </p:spPr>
          </p:pic>
        </p:grpSp>
        <p:sp>
          <p:nvSpPr>
            <p:cNvPr id="13" name="object 13"/>
            <p:cNvSpPr txBox="1"/>
            <p:nvPr/>
          </p:nvSpPr>
          <p:spPr>
            <a:xfrm>
              <a:off x="4418457" y="2952369"/>
              <a:ext cx="427990" cy="147955"/>
            </a:xfrm>
            <a:prstGeom prst="rect">
              <a:avLst/>
            </a:prstGeom>
          </p:spPr>
          <p:txBody>
            <a:bodyPr vert="horz" wrap="square" lIns="0" tIns="12700" rIns="0" bIns="0" rtlCol="0">
              <a:spAutoFit/>
            </a:bodyPr>
            <a:lstStyle/>
            <a:p>
              <a:pPr marL="12700">
                <a:lnSpc>
                  <a:spcPct val="100000"/>
                </a:lnSpc>
                <a:spcBef>
                  <a:spcPts val="100"/>
                </a:spcBef>
              </a:pPr>
              <a:r>
                <a:rPr sz="800" dirty="0">
                  <a:latin typeface="Arial"/>
                  <a:cs typeface="Arial"/>
                </a:rPr>
                <a:t>AQ</a:t>
              </a:r>
              <a:r>
                <a:rPr sz="800" spc="-5" dirty="0">
                  <a:latin typeface="Arial"/>
                  <a:cs typeface="Arial"/>
                </a:rPr>
                <a:t>06</a:t>
              </a:r>
              <a:r>
                <a:rPr sz="800" dirty="0">
                  <a:latin typeface="Arial"/>
                  <a:cs typeface="Arial"/>
                </a:rPr>
                <a:t>/</a:t>
              </a:r>
              <a:r>
                <a:rPr sz="800" spc="-5" dirty="0">
                  <a:latin typeface="Arial"/>
                  <a:cs typeface="Arial"/>
                </a:rPr>
                <a:t>0</a:t>
              </a:r>
              <a:r>
                <a:rPr sz="800" dirty="0">
                  <a:latin typeface="Arial"/>
                  <a:cs typeface="Arial"/>
                </a:rPr>
                <a:t>8</a:t>
              </a:r>
            </a:p>
          </p:txBody>
        </p:sp>
        <p:sp>
          <p:nvSpPr>
            <p:cNvPr id="14" name="object 14"/>
            <p:cNvSpPr txBox="1"/>
            <p:nvPr/>
          </p:nvSpPr>
          <p:spPr>
            <a:xfrm>
              <a:off x="2344673" y="2954858"/>
              <a:ext cx="291465" cy="148590"/>
            </a:xfrm>
            <a:prstGeom prst="rect">
              <a:avLst/>
            </a:prstGeom>
          </p:spPr>
          <p:txBody>
            <a:bodyPr vert="horz" wrap="square" lIns="0" tIns="13335" rIns="0" bIns="0" rtlCol="0">
              <a:spAutoFit/>
            </a:bodyPr>
            <a:lstStyle/>
            <a:p>
              <a:pPr marL="12700">
                <a:lnSpc>
                  <a:spcPct val="100000"/>
                </a:lnSpc>
                <a:spcBef>
                  <a:spcPts val="105"/>
                </a:spcBef>
              </a:pPr>
              <a:r>
                <a:rPr sz="800" spc="-10" dirty="0">
                  <a:latin typeface="Arial"/>
                  <a:cs typeface="Arial"/>
                </a:rPr>
                <a:t>C</a:t>
              </a:r>
              <a:r>
                <a:rPr sz="800" dirty="0">
                  <a:latin typeface="Arial"/>
                  <a:cs typeface="Arial"/>
                </a:rPr>
                <a:t>Q</a:t>
              </a:r>
              <a:r>
                <a:rPr sz="800" spc="-5" dirty="0">
                  <a:latin typeface="Arial"/>
                  <a:cs typeface="Arial"/>
                </a:rPr>
                <a:t>2</a:t>
              </a:r>
              <a:r>
                <a:rPr sz="800" dirty="0">
                  <a:latin typeface="Arial"/>
                  <a:cs typeface="Arial"/>
                </a:rPr>
                <a:t>4</a:t>
              </a:r>
            </a:p>
          </p:txBody>
        </p:sp>
      </p:grpSp>
      <p:grpSp>
        <p:nvGrpSpPr>
          <p:cNvPr id="25" name="그룹 24">
            <a:extLst>
              <a:ext uri="{FF2B5EF4-FFF2-40B4-BE49-F238E27FC236}">
                <a16:creationId xmlns:a16="http://schemas.microsoft.com/office/drawing/2014/main" id="{5D5C2E7F-E125-89B6-FE0E-72A174CC5A19}"/>
              </a:ext>
            </a:extLst>
          </p:cNvPr>
          <p:cNvGrpSpPr/>
          <p:nvPr/>
        </p:nvGrpSpPr>
        <p:grpSpPr>
          <a:xfrm>
            <a:off x="1143000" y="5842013"/>
            <a:ext cx="4918075" cy="2026136"/>
            <a:chOff x="1059666" y="5966840"/>
            <a:chExt cx="4918075" cy="2026136"/>
          </a:xfrm>
        </p:grpSpPr>
        <p:sp>
          <p:nvSpPr>
            <p:cNvPr id="15" name="object 15"/>
            <p:cNvSpPr txBox="1"/>
            <p:nvPr/>
          </p:nvSpPr>
          <p:spPr>
            <a:xfrm>
              <a:off x="4165853" y="5966840"/>
              <a:ext cx="427990" cy="147955"/>
            </a:xfrm>
            <a:prstGeom prst="rect">
              <a:avLst/>
            </a:prstGeom>
          </p:spPr>
          <p:txBody>
            <a:bodyPr vert="horz" wrap="square" lIns="0" tIns="13335" rIns="0" bIns="0" rtlCol="0">
              <a:spAutoFit/>
            </a:bodyPr>
            <a:lstStyle/>
            <a:p>
              <a:pPr marL="12700">
                <a:lnSpc>
                  <a:spcPct val="100000"/>
                </a:lnSpc>
                <a:spcBef>
                  <a:spcPts val="105"/>
                </a:spcBef>
              </a:pPr>
              <a:r>
                <a:rPr sz="800" dirty="0">
                  <a:latin typeface="Arial"/>
                  <a:cs typeface="Arial"/>
                </a:rPr>
                <a:t>AQ</a:t>
              </a:r>
              <a:r>
                <a:rPr sz="800" spc="-5" dirty="0">
                  <a:latin typeface="Arial"/>
                  <a:cs typeface="Arial"/>
                </a:rPr>
                <a:t>06</a:t>
              </a:r>
              <a:r>
                <a:rPr sz="800" dirty="0">
                  <a:latin typeface="Arial"/>
                  <a:cs typeface="Arial"/>
                </a:rPr>
                <a:t>/</a:t>
              </a:r>
              <a:r>
                <a:rPr sz="800" spc="-5" dirty="0">
                  <a:latin typeface="Arial"/>
                  <a:cs typeface="Arial"/>
                </a:rPr>
                <a:t>0</a:t>
              </a:r>
              <a:r>
                <a:rPr sz="800" dirty="0">
                  <a:latin typeface="Arial"/>
                  <a:cs typeface="Arial"/>
                </a:rPr>
                <a:t>8</a:t>
              </a:r>
            </a:p>
          </p:txBody>
        </p:sp>
        <p:sp>
          <p:nvSpPr>
            <p:cNvPr id="16" name="object 16"/>
            <p:cNvSpPr txBox="1"/>
            <p:nvPr/>
          </p:nvSpPr>
          <p:spPr>
            <a:xfrm>
              <a:off x="2091689" y="5966840"/>
              <a:ext cx="291465" cy="147955"/>
            </a:xfrm>
            <a:prstGeom prst="rect">
              <a:avLst/>
            </a:prstGeom>
          </p:spPr>
          <p:txBody>
            <a:bodyPr vert="horz" wrap="square" lIns="0" tIns="13335" rIns="0" bIns="0" rtlCol="0">
              <a:spAutoFit/>
            </a:bodyPr>
            <a:lstStyle/>
            <a:p>
              <a:pPr marL="12700">
                <a:lnSpc>
                  <a:spcPct val="100000"/>
                </a:lnSpc>
                <a:spcBef>
                  <a:spcPts val="105"/>
                </a:spcBef>
              </a:pPr>
              <a:r>
                <a:rPr sz="800" spc="-5" dirty="0">
                  <a:latin typeface="Arial"/>
                  <a:cs typeface="Arial"/>
                </a:rPr>
                <a:t>C</a:t>
              </a:r>
              <a:r>
                <a:rPr sz="800" dirty="0">
                  <a:latin typeface="Arial"/>
                  <a:cs typeface="Arial"/>
                </a:rPr>
                <a:t>Q</a:t>
              </a:r>
              <a:r>
                <a:rPr sz="800" spc="-5" dirty="0">
                  <a:latin typeface="Arial"/>
                  <a:cs typeface="Arial"/>
                </a:rPr>
                <a:t>2</a:t>
              </a:r>
              <a:r>
                <a:rPr sz="800" dirty="0">
                  <a:latin typeface="Arial"/>
                  <a:cs typeface="Arial"/>
                </a:rPr>
                <a:t>4</a:t>
              </a:r>
            </a:p>
          </p:txBody>
        </p:sp>
        <p:grpSp>
          <p:nvGrpSpPr>
            <p:cNvPr id="17" name="object 17"/>
            <p:cNvGrpSpPr/>
            <p:nvPr/>
          </p:nvGrpSpPr>
          <p:grpSpPr>
            <a:xfrm>
              <a:off x="1059666" y="6155921"/>
              <a:ext cx="4918075" cy="1837055"/>
              <a:chOff x="1059666" y="6155921"/>
              <a:chExt cx="4918075" cy="1837055"/>
            </a:xfrm>
          </p:grpSpPr>
          <p:pic>
            <p:nvPicPr>
              <p:cNvPr id="18" name="object 18"/>
              <p:cNvPicPr/>
              <p:nvPr/>
            </p:nvPicPr>
            <p:blipFill>
              <a:blip r:embed="rId4" cstate="print"/>
              <a:stretch>
                <a:fillRect/>
              </a:stretch>
            </p:blipFill>
            <p:spPr>
              <a:xfrm>
                <a:off x="1059666" y="6155921"/>
                <a:ext cx="4836202" cy="1836971"/>
              </a:xfrm>
              <a:prstGeom prst="rect">
                <a:avLst/>
              </a:prstGeom>
            </p:spPr>
          </p:pic>
          <p:pic>
            <p:nvPicPr>
              <p:cNvPr id="19" name="object 19"/>
              <p:cNvPicPr/>
              <p:nvPr/>
            </p:nvPicPr>
            <p:blipFill>
              <a:blip r:embed="rId3" cstate="print"/>
              <a:stretch>
                <a:fillRect/>
              </a:stretch>
            </p:blipFill>
            <p:spPr>
              <a:xfrm>
                <a:off x="5233415" y="6294119"/>
                <a:ext cx="743712" cy="188975"/>
              </a:xfrm>
              <a:prstGeom prst="rect">
                <a:avLst/>
              </a:prstGeom>
            </p:spPr>
          </p:pic>
        </p:grpSp>
      </p:grpSp>
      <p:sp>
        <p:nvSpPr>
          <p:cNvPr id="23" name="object 7">
            <a:extLst>
              <a:ext uri="{FF2B5EF4-FFF2-40B4-BE49-F238E27FC236}">
                <a16:creationId xmlns:a16="http://schemas.microsoft.com/office/drawing/2014/main" id="{7F32A60C-D0E0-556D-F43D-F1B8BB0731BF}"/>
              </a:ext>
            </a:extLst>
          </p:cNvPr>
          <p:cNvSpPr txBox="1"/>
          <p:nvPr/>
        </p:nvSpPr>
        <p:spPr>
          <a:xfrm>
            <a:off x="411382" y="1297716"/>
            <a:ext cx="6038541" cy="1120820"/>
          </a:xfrm>
          <a:prstGeom prst="rect">
            <a:avLst/>
          </a:prstGeom>
        </p:spPr>
        <p:txBody>
          <a:bodyPr vert="horz" wrap="square" lIns="0" tIns="12700" rIns="0" bIns="0" rtlCol="0">
            <a:spAutoFit/>
          </a:bodyPr>
          <a:lstStyle/>
          <a:p>
            <a:pPr marL="12700" marR="5080" algn="just">
              <a:lnSpc>
                <a:spcPct val="100000"/>
              </a:lnSpc>
              <a:spcBef>
                <a:spcPts val="100"/>
              </a:spcBef>
            </a:pPr>
            <a:r>
              <a:rPr sz="900" spc="-5" dirty="0">
                <a:latin typeface="Arial"/>
                <a:cs typeface="Arial"/>
              </a:rPr>
              <a:t>The</a:t>
            </a:r>
            <a:r>
              <a:rPr lang="en-US" sz="900" spc="-5" dirty="0">
                <a:latin typeface="Arial"/>
                <a:cs typeface="Arial"/>
              </a:rPr>
              <a:t> </a:t>
            </a:r>
            <a:r>
              <a:rPr lang="en-US" altLang="ko-KR" sz="900" dirty="0">
                <a:latin typeface="Arial"/>
                <a:cs typeface="Arial"/>
              </a:rPr>
              <a:t>CS/HOLD signals has </a:t>
            </a:r>
            <a:r>
              <a:rPr lang="en-US" altLang="ko-KR" sz="900" spc="-5" dirty="0">
                <a:latin typeface="Arial"/>
                <a:cs typeface="Arial"/>
              </a:rPr>
              <a:t>two </a:t>
            </a:r>
            <a:r>
              <a:rPr lang="en-US" altLang="ko-KR" sz="900" dirty="0">
                <a:latin typeface="Arial"/>
                <a:cs typeface="Arial"/>
              </a:rPr>
              <a:t>functions. </a:t>
            </a:r>
            <a:r>
              <a:rPr lang="en-US" altLang="ko-KR" sz="900" spc="-5" dirty="0">
                <a:latin typeface="Arial"/>
                <a:cs typeface="Arial"/>
              </a:rPr>
              <a:t>The </a:t>
            </a:r>
            <a:r>
              <a:rPr lang="en-US" altLang="ko-KR" sz="900" dirty="0">
                <a:latin typeface="Arial"/>
                <a:cs typeface="Arial"/>
              </a:rPr>
              <a:t>first </a:t>
            </a:r>
            <a:r>
              <a:rPr lang="en-US" altLang="ko-KR" sz="900" spc="-5" dirty="0">
                <a:latin typeface="Arial"/>
                <a:cs typeface="Arial"/>
              </a:rPr>
              <a:t>is </a:t>
            </a:r>
            <a:r>
              <a:rPr lang="en-US" altLang="ko-KR" sz="900" dirty="0">
                <a:latin typeface="Arial"/>
                <a:cs typeface="Arial"/>
              </a:rPr>
              <a:t>used to configure the AQ series at the initialization after POR </a:t>
            </a:r>
            <a:r>
              <a:rPr lang="en-US" altLang="ko-KR" sz="900" spc="-235" dirty="0">
                <a:latin typeface="Arial"/>
                <a:cs typeface="Arial"/>
              </a:rPr>
              <a:t> </a:t>
            </a:r>
            <a:r>
              <a:rPr lang="en-US" altLang="ko-KR" sz="900" spc="-5" dirty="0">
                <a:latin typeface="Arial"/>
                <a:cs typeface="Arial"/>
              </a:rPr>
              <a:t>in </a:t>
            </a:r>
            <a:r>
              <a:rPr lang="en-US" altLang="ko-KR" sz="900" dirty="0">
                <a:latin typeface="Arial"/>
                <a:cs typeface="Arial"/>
              </a:rPr>
              <a:t>order</a:t>
            </a:r>
            <a:r>
              <a:rPr lang="en-US" altLang="ko-KR" sz="900" spc="-5" dirty="0">
                <a:latin typeface="Arial"/>
                <a:cs typeface="Arial"/>
              </a:rPr>
              <a:t> </a:t>
            </a:r>
            <a:r>
              <a:rPr lang="en-US" altLang="ko-KR" sz="900" dirty="0">
                <a:latin typeface="Arial"/>
                <a:cs typeface="Arial"/>
              </a:rPr>
              <a:t>to set</a:t>
            </a:r>
            <a:r>
              <a:rPr lang="en-US" altLang="ko-KR" sz="900" spc="-5" dirty="0">
                <a:latin typeface="Arial"/>
                <a:cs typeface="Arial"/>
              </a:rPr>
              <a:t> </a:t>
            </a:r>
            <a:r>
              <a:rPr lang="en-US" altLang="ko-KR" sz="900" dirty="0">
                <a:latin typeface="Arial"/>
                <a:cs typeface="Arial"/>
              </a:rPr>
              <a:t>the AQ</a:t>
            </a:r>
            <a:r>
              <a:rPr lang="en-US" altLang="ko-KR" sz="900" spc="5" dirty="0">
                <a:latin typeface="Arial"/>
                <a:cs typeface="Arial"/>
              </a:rPr>
              <a:t> </a:t>
            </a:r>
            <a:r>
              <a:rPr lang="en-US" altLang="ko-KR" sz="900" dirty="0">
                <a:latin typeface="Arial"/>
                <a:cs typeface="Arial"/>
              </a:rPr>
              <a:t>series</a:t>
            </a:r>
            <a:r>
              <a:rPr lang="en-US" altLang="ko-KR" sz="900" spc="-15" dirty="0">
                <a:latin typeface="Arial"/>
                <a:cs typeface="Arial"/>
              </a:rPr>
              <a:t> </a:t>
            </a:r>
            <a:r>
              <a:rPr lang="en-US" altLang="ko-KR" sz="900" dirty="0">
                <a:latin typeface="Arial"/>
                <a:cs typeface="Arial"/>
              </a:rPr>
              <a:t>internally</a:t>
            </a:r>
            <a:r>
              <a:rPr lang="en-US" altLang="ko-KR" sz="900" spc="-25" dirty="0">
                <a:latin typeface="Arial"/>
                <a:cs typeface="Arial"/>
              </a:rPr>
              <a:t> </a:t>
            </a:r>
            <a:r>
              <a:rPr lang="en-US" altLang="ko-KR" sz="900" dirty="0">
                <a:latin typeface="Arial"/>
                <a:cs typeface="Arial"/>
              </a:rPr>
              <a:t>to fix those</a:t>
            </a:r>
            <a:r>
              <a:rPr lang="en-US" altLang="ko-KR" sz="900" spc="-15" dirty="0">
                <a:latin typeface="Arial"/>
                <a:cs typeface="Arial"/>
              </a:rPr>
              <a:t> </a:t>
            </a:r>
            <a:r>
              <a:rPr lang="en-US" altLang="ko-KR" sz="900" dirty="0">
                <a:latin typeface="Arial"/>
                <a:cs typeface="Arial"/>
              </a:rPr>
              <a:t>operation</a:t>
            </a:r>
            <a:r>
              <a:rPr lang="en-US" altLang="ko-KR" sz="900" spc="-15" dirty="0">
                <a:latin typeface="Arial"/>
                <a:cs typeface="Arial"/>
              </a:rPr>
              <a:t> </a:t>
            </a:r>
            <a:r>
              <a:rPr lang="en-US" altLang="ko-KR" sz="900" dirty="0">
                <a:latin typeface="Arial"/>
                <a:cs typeface="Arial"/>
              </a:rPr>
              <a:t>modes,</a:t>
            </a:r>
            <a:r>
              <a:rPr lang="en-US" altLang="ko-KR" sz="900" spc="-30" dirty="0">
                <a:latin typeface="Arial"/>
                <a:cs typeface="Arial"/>
              </a:rPr>
              <a:t> </a:t>
            </a:r>
            <a:r>
              <a:rPr lang="en-US" altLang="ko-KR" sz="900" dirty="0">
                <a:latin typeface="Arial"/>
                <a:cs typeface="Arial"/>
              </a:rPr>
              <a:t>1*6</a:t>
            </a:r>
            <a:r>
              <a:rPr lang="en-US" altLang="ko-KR" sz="900" spc="10" dirty="0">
                <a:latin typeface="Arial"/>
                <a:cs typeface="Arial"/>
              </a:rPr>
              <a:t> </a:t>
            </a:r>
            <a:r>
              <a:rPr lang="en-US" altLang="ko-KR" sz="900" dirty="0">
                <a:latin typeface="Arial"/>
                <a:cs typeface="Arial"/>
              </a:rPr>
              <a:t>and 2*3,</a:t>
            </a:r>
            <a:r>
              <a:rPr lang="en-US" altLang="ko-KR" sz="900" spc="-5" dirty="0">
                <a:latin typeface="Arial"/>
                <a:cs typeface="Arial"/>
              </a:rPr>
              <a:t> </a:t>
            </a:r>
            <a:r>
              <a:rPr lang="en-US" altLang="ko-KR" sz="900" dirty="0">
                <a:latin typeface="Arial"/>
                <a:cs typeface="Arial"/>
              </a:rPr>
              <a:t>2*4,</a:t>
            </a:r>
            <a:r>
              <a:rPr lang="en-US" altLang="ko-KR" sz="900" spc="-5" dirty="0">
                <a:latin typeface="Arial"/>
                <a:cs typeface="Arial"/>
              </a:rPr>
              <a:t> </a:t>
            </a:r>
            <a:r>
              <a:rPr lang="en-US" altLang="ko-KR" sz="900" dirty="0">
                <a:latin typeface="Arial"/>
                <a:cs typeface="Arial"/>
              </a:rPr>
              <a:t>and 1*8 array structure. </a:t>
            </a:r>
            <a:r>
              <a:rPr lang="en-US" altLang="ko-KR" sz="900" spc="-5" dirty="0">
                <a:latin typeface="Arial"/>
                <a:cs typeface="Arial"/>
              </a:rPr>
              <a:t>The</a:t>
            </a:r>
            <a:r>
              <a:rPr lang="en-US" altLang="ko-KR" sz="900" spc="10" dirty="0">
                <a:latin typeface="Arial"/>
                <a:cs typeface="Arial"/>
              </a:rPr>
              <a:t> </a:t>
            </a:r>
            <a:r>
              <a:rPr lang="en-US" altLang="ko-KR" sz="900" dirty="0">
                <a:latin typeface="Arial"/>
                <a:cs typeface="Arial"/>
              </a:rPr>
              <a:t>second</a:t>
            </a:r>
            <a:r>
              <a:rPr lang="en-US" altLang="ko-KR" sz="900" spc="-25" dirty="0">
                <a:latin typeface="Arial"/>
                <a:cs typeface="Arial"/>
              </a:rPr>
              <a:t> </a:t>
            </a:r>
            <a:r>
              <a:rPr lang="en-US" altLang="ko-KR" sz="900" spc="-5" dirty="0">
                <a:latin typeface="Arial"/>
                <a:cs typeface="Arial"/>
              </a:rPr>
              <a:t>is</a:t>
            </a:r>
            <a:r>
              <a:rPr lang="en-US" altLang="ko-KR" sz="900" dirty="0">
                <a:latin typeface="Arial"/>
                <a:cs typeface="Arial"/>
              </a:rPr>
              <a:t> used to strobe</a:t>
            </a:r>
            <a:r>
              <a:rPr lang="en-US" altLang="ko-KR" sz="900" spc="-15" dirty="0">
                <a:latin typeface="Arial"/>
                <a:cs typeface="Arial"/>
              </a:rPr>
              <a:t> </a:t>
            </a:r>
            <a:r>
              <a:rPr lang="en-US" altLang="ko-KR" sz="900" dirty="0">
                <a:latin typeface="Arial"/>
                <a:cs typeface="Arial"/>
              </a:rPr>
              <a:t>the</a:t>
            </a:r>
            <a:r>
              <a:rPr lang="en-US" altLang="ko-KR" sz="900" spc="5" dirty="0">
                <a:latin typeface="Arial"/>
                <a:cs typeface="Arial"/>
              </a:rPr>
              <a:t> </a:t>
            </a:r>
            <a:r>
              <a:rPr lang="en-US" altLang="ko-KR" sz="900" spc="-5" dirty="0">
                <a:latin typeface="Arial"/>
                <a:cs typeface="Arial"/>
              </a:rPr>
              <a:t>valid</a:t>
            </a:r>
            <a:r>
              <a:rPr lang="en-US" altLang="ko-KR" sz="900" dirty="0">
                <a:latin typeface="Arial"/>
                <a:cs typeface="Arial"/>
              </a:rPr>
              <a:t> data input</a:t>
            </a:r>
            <a:r>
              <a:rPr lang="en-US" altLang="ko-KR" sz="900" spc="-20" dirty="0">
                <a:latin typeface="Arial"/>
                <a:cs typeface="Arial"/>
              </a:rPr>
              <a:t> </a:t>
            </a:r>
            <a:r>
              <a:rPr lang="en-US" altLang="ko-KR" sz="900" dirty="0">
                <a:latin typeface="Arial"/>
                <a:cs typeface="Arial"/>
              </a:rPr>
              <a:t>to</a:t>
            </a:r>
            <a:r>
              <a:rPr lang="en-US" altLang="ko-KR" sz="900" spc="10" dirty="0">
                <a:latin typeface="Arial"/>
                <a:cs typeface="Arial"/>
              </a:rPr>
              <a:t> </a:t>
            </a:r>
            <a:r>
              <a:rPr lang="en-US" altLang="ko-KR" sz="900" dirty="0">
                <a:latin typeface="Arial"/>
                <a:cs typeface="Arial"/>
              </a:rPr>
              <a:t>AQ</a:t>
            </a:r>
            <a:r>
              <a:rPr lang="en-US" altLang="ko-KR" sz="900" spc="10" dirty="0">
                <a:latin typeface="Arial"/>
                <a:cs typeface="Arial"/>
              </a:rPr>
              <a:t> </a:t>
            </a:r>
            <a:r>
              <a:rPr lang="en-US" altLang="ko-KR" sz="900" dirty="0">
                <a:latin typeface="Arial"/>
                <a:cs typeface="Arial"/>
              </a:rPr>
              <a:t>series</a:t>
            </a:r>
            <a:r>
              <a:rPr lang="en-US" altLang="ko-KR" sz="900" spc="-15" dirty="0">
                <a:latin typeface="Arial"/>
                <a:cs typeface="Arial"/>
              </a:rPr>
              <a:t> </a:t>
            </a:r>
            <a:r>
              <a:rPr lang="en-US" altLang="ko-KR" sz="900" dirty="0">
                <a:latin typeface="Arial"/>
                <a:cs typeface="Arial"/>
              </a:rPr>
              <a:t>during</a:t>
            </a:r>
            <a:r>
              <a:rPr lang="en-US" altLang="ko-KR" sz="900" spc="-15" dirty="0">
                <a:latin typeface="Arial"/>
                <a:cs typeface="Arial"/>
              </a:rPr>
              <a:t> </a:t>
            </a:r>
            <a:r>
              <a:rPr lang="en-US" altLang="ko-KR" sz="900" dirty="0">
                <a:latin typeface="Arial"/>
                <a:cs typeface="Arial"/>
              </a:rPr>
              <a:t>the local</a:t>
            </a:r>
            <a:r>
              <a:rPr lang="en-US" altLang="ko-KR" sz="900" spc="-15" dirty="0">
                <a:latin typeface="Arial"/>
                <a:cs typeface="Arial"/>
              </a:rPr>
              <a:t> </a:t>
            </a:r>
            <a:r>
              <a:rPr lang="en-US" altLang="ko-KR" sz="900" dirty="0">
                <a:latin typeface="Arial"/>
                <a:cs typeface="Arial"/>
              </a:rPr>
              <a:t>dimming. </a:t>
            </a:r>
            <a:r>
              <a:rPr lang="en-US" altLang="ko-KR" sz="900" spc="-5" dirty="0">
                <a:latin typeface="Arial"/>
                <a:cs typeface="Arial"/>
              </a:rPr>
              <a:t>The</a:t>
            </a:r>
            <a:r>
              <a:rPr lang="en-US" altLang="ko-KR" sz="900" spc="10" dirty="0">
                <a:latin typeface="Arial"/>
                <a:cs typeface="Arial"/>
              </a:rPr>
              <a:t> </a:t>
            </a:r>
            <a:r>
              <a:rPr lang="en-US" altLang="ko-KR" sz="900" dirty="0">
                <a:latin typeface="Arial"/>
                <a:cs typeface="Arial"/>
              </a:rPr>
              <a:t>CS/HOLD</a:t>
            </a:r>
            <a:r>
              <a:rPr lang="en-US" altLang="ko-KR" sz="900" spc="5" dirty="0">
                <a:latin typeface="Arial"/>
                <a:cs typeface="Arial"/>
              </a:rPr>
              <a:t> </a:t>
            </a:r>
            <a:r>
              <a:rPr lang="en-US" altLang="ko-KR" sz="900" dirty="0">
                <a:latin typeface="Arial"/>
                <a:cs typeface="Arial"/>
              </a:rPr>
              <a:t>mapping</a:t>
            </a:r>
            <a:r>
              <a:rPr lang="en-US" altLang="ko-KR" sz="900" spc="-25" dirty="0">
                <a:latin typeface="Arial"/>
                <a:cs typeface="Arial"/>
              </a:rPr>
              <a:t> </a:t>
            </a:r>
            <a:r>
              <a:rPr lang="en-US" altLang="ko-KR" sz="900" dirty="0">
                <a:latin typeface="Arial"/>
                <a:cs typeface="Arial"/>
              </a:rPr>
              <a:t>to</a:t>
            </a:r>
            <a:r>
              <a:rPr lang="en-US" altLang="ko-KR" sz="900" spc="10" dirty="0">
                <a:latin typeface="Arial"/>
                <a:cs typeface="Arial"/>
              </a:rPr>
              <a:t> </a:t>
            </a:r>
            <a:r>
              <a:rPr lang="en-US" altLang="ko-KR" sz="900" dirty="0">
                <a:latin typeface="Arial"/>
                <a:cs typeface="Arial"/>
              </a:rPr>
              <a:t>the AQ</a:t>
            </a:r>
            <a:r>
              <a:rPr lang="en-US" altLang="ko-KR" sz="900" spc="5" dirty="0">
                <a:latin typeface="Arial"/>
                <a:cs typeface="Arial"/>
              </a:rPr>
              <a:t> </a:t>
            </a:r>
            <a:r>
              <a:rPr lang="en-US" altLang="ko-KR" sz="900" dirty="0">
                <a:latin typeface="Arial"/>
                <a:cs typeface="Arial"/>
              </a:rPr>
              <a:t>series</a:t>
            </a:r>
            <a:r>
              <a:rPr lang="en-US" altLang="ko-KR" sz="900" spc="-15" dirty="0">
                <a:latin typeface="Arial"/>
                <a:cs typeface="Arial"/>
              </a:rPr>
              <a:t> </a:t>
            </a:r>
            <a:r>
              <a:rPr lang="en-US" altLang="ko-KR" sz="900" spc="-5" dirty="0">
                <a:latin typeface="Arial"/>
                <a:cs typeface="Arial"/>
              </a:rPr>
              <a:t>is</a:t>
            </a:r>
            <a:r>
              <a:rPr lang="en-US" altLang="ko-KR" sz="900" dirty="0">
                <a:latin typeface="Arial"/>
                <a:cs typeface="Arial"/>
              </a:rPr>
              <a:t> different</a:t>
            </a:r>
            <a:r>
              <a:rPr lang="en-US" altLang="ko-KR" sz="900" spc="-20" dirty="0">
                <a:latin typeface="Arial"/>
                <a:cs typeface="Arial"/>
              </a:rPr>
              <a:t> </a:t>
            </a:r>
            <a:r>
              <a:rPr lang="en-US" altLang="ko-KR" sz="900" dirty="0">
                <a:latin typeface="Arial"/>
                <a:cs typeface="Arial"/>
              </a:rPr>
              <a:t>from</a:t>
            </a:r>
            <a:r>
              <a:rPr lang="en-US" altLang="ko-KR" sz="900" spc="-10" dirty="0">
                <a:latin typeface="Arial"/>
                <a:cs typeface="Arial"/>
              </a:rPr>
              <a:t> </a:t>
            </a:r>
            <a:r>
              <a:rPr lang="en-US" altLang="ko-KR" sz="900" dirty="0">
                <a:latin typeface="Arial"/>
                <a:cs typeface="Arial"/>
              </a:rPr>
              <a:t>the </a:t>
            </a:r>
            <a:r>
              <a:rPr lang="en-US" altLang="ko-KR" sz="900" spc="-5" dirty="0">
                <a:latin typeface="Arial"/>
                <a:cs typeface="Arial"/>
              </a:rPr>
              <a:t>drive</a:t>
            </a:r>
            <a:r>
              <a:rPr lang="en-US" altLang="ko-KR" sz="900" spc="10" dirty="0">
                <a:latin typeface="Arial"/>
                <a:cs typeface="Arial"/>
              </a:rPr>
              <a:t> </a:t>
            </a:r>
            <a:r>
              <a:rPr lang="en-US" altLang="ko-KR" sz="900" dirty="0">
                <a:latin typeface="Arial"/>
                <a:cs typeface="Arial"/>
              </a:rPr>
              <a:t>modes,</a:t>
            </a:r>
            <a:r>
              <a:rPr lang="en-US" altLang="ko-KR" sz="900" spc="-30" dirty="0">
                <a:latin typeface="Arial"/>
                <a:cs typeface="Arial"/>
              </a:rPr>
              <a:t> </a:t>
            </a:r>
            <a:r>
              <a:rPr lang="en-US" altLang="ko-KR" sz="900" dirty="0">
                <a:latin typeface="Arial"/>
                <a:cs typeface="Arial"/>
              </a:rPr>
              <a:t>single</a:t>
            </a:r>
            <a:r>
              <a:rPr lang="en-US" altLang="ko-KR" sz="900" spc="-15" dirty="0">
                <a:latin typeface="Arial"/>
                <a:cs typeface="Arial"/>
              </a:rPr>
              <a:t> </a:t>
            </a:r>
            <a:r>
              <a:rPr lang="en-US" altLang="ko-KR" sz="900" dirty="0">
                <a:latin typeface="Arial"/>
                <a:cs typeface="Arial"/>
              </a:rPr>
              <a:t>and dual</a:t>
            </a:r>
            <a:r>
              <a:rPr lang="en-US" altLang="ko-KR" sz="900" spc="-15" dirty="0">
                <a:latin typeface="Arial"/>
                <a:cs typeface="Arial"/>
              </a:rPr>
              <a:t> </a:t>
            </a:r>
            <a:r>
              <a:rPr lang="en-US" altLang="ko-KR" sz="900" dirty="0">
                <a:latin typeface="Arial"/>
                <a:cs typeface="Arial"/>
              </a:rPr>
              <a:t>drive. </a:t>
            </a:r>
            <a:r>
              <a:rPr lang="en-US" altLang="ko-KR" sz="900" spc="-5" dirty="0">
                <a:latin typeface="Arial"/>
                <a:cs typeface="Arial"/>
              </a:rPr>
              <a:t>The </a:t>
            </a:r>
            <a:r>
              <a:rPr lang="en-US" altLang="ko-KR" sz="900" dirty="0">
                <a:latin typeface="Arial"/>
                <a:cs typeface="Arial"/>
              </a:rPr>
              <a:t>strobe channel number should be assigned sequentially, CS1/HOLD1 from CS10/HOLD10, to the AQ series drivers </a:t>
            </a:r>
            <a:r>
              <a:rPr lang="en-US" altLang="ko-KR" sz="900" spc="-235" dirty="0">
                <a:latin typeface="Arial"/>
                <a:cs typeface="Arial"/>
              </a:rPr>
              <a:t> </a:t>
            </a:r>
            <a:r>
              <a:rPr lang="en-US" altLang="ko-KR" sz="900" spc="-5" dirty="0">
                <a:latin typeface="Arial"/>
                <a:cs typeface="Arial"/>
              </a:rPr>
              <a:t>in </a:t>
            </a:r>
            <a:r>
              <a:rPr lang="en-US" altLang="ko-KR" sz="900" dirty="0">
                <a:latin typeface="Arial"/>
                <a:cs typeface="Arial"/>
              </a:rPr>
              <a:t>single </a:t>
            </a:r>
            <a:r>
              <a:rPr lang="en-US" altLang="ko-KR" sz="900" spc="-5" dirty="0">
                <a:latin typeface="Arial"/>
                <a:cs typeface="Arial"/>
              </a:rPr>
              <a:t>drive </a:t>
            </a:r>
            <a:r>
              <a:rPr lang="en-US" altLang="ko-KR" sz="900" dirty="0">
                <a:latin typeface="Arial"/>
                <a:cs typeface="Arial"/>
              </a:rPr>
              <a:t>mode like </a:t>
            </a:r>
            <a:r>
              <a:rPr lang="en-US" altLang="ko-KR" sz="900" spc="-5" dirty="0">
                <a:latin typeface="Arial"/>
                <a:cs typeface="Arial"/>
              </a:rPr>
              <a:t>Figure 11-1, </a:t>
            </a:r>
            <a:r>
              <a:rPr lang="en-US" altLang="ko-KR" sz="900" dirty="0">
                <a:latin typeface="Arial"/>
                <a:cs typeface="Arial"/>
              </a:rPr>
              <a:t>but it should </a:t>
            </a:r>
            <a:r>
              <a:rPr lang="en-US" altLang="ko-KR" sz="900" spc="-5" dirty="0">
                <a:latin typeface="Arial"/>
                <a:cs typeface="Arial"/>
              </a:rPr>
              <a:t>be </a:t>
            </a:r>
            <a:r>
              <a:rPr lang="en-US" altLang="ko-KR" sz="900" dirty="0">
                <a:latin typeface="Arial"/>
                <a:cs typeface="Arial"/>
              </a:rPr>
              <a:t>careful </a:t>
            </a:r>
            <a:r>
              <a:rPr lang="en-US" altLang="ko-KR" sz="900" spc="-5" dirty="0">
                <a:latin typeface="Arial"/>
                <a:cs typeface="Arial"/>
              </a:rPr>
              <a:t>in dual drive </a:t>
            </a:r>
            <a:r>
              <a:rPr lang="en-US" altLang="ko-KR" sz="900" dirty="0">
                <a:latin typeface="Arial"/>
                <a:cs typeface="Arial"/>
              </a:rPr>
              <a:t>mode. In </a:t>
            </a:r>
            <a:r>
              <a:rPr lang="en-US" altLang="ko-KR" sz="900" spc="-5" dirty="0">
                <a:latin typeface="Arial"/>
                <a:cs typeface="Arial"/>
              </a:rPr>
              <a:t>dual drive </a:t>
            </a:r>
            <a:r>
              <a:rPr lang="en-US" altLang="ko-KR" sz="900" dirty="0">
                <a:latin typeface="Arial"/>
                <a:cs typeface="Arial"/>
              </a:rPr>
              <a:t>mode, the strobe channel </a:t>
            </a:r>
            <a:r>
              <a:rPr lang="en-US" altLang="ko-KR" sz="900" spc="5" dirty="0">
                <a:latin typeface="Arial"/>
                <a:cs typeface="Arial"/>
              </a:rPr>
              <a:t> </a:t>
            </a:r>
            <a:r>
              <a:rPr lang="en-US" altLang="ko-KR" sz="900" dirty="0">
                <a:latin typeface="Arial"/>
                <a:cs typeface="Arial"/>
              </a:rPr>
              <a:t>number should be divided into </a:t>
            </a:r>
            <a:r>
              <a:rPr lang="en-US" altLang="ko-KR" sz="900" spc="-5" dirty="0">
                <a:latin typeface="Arial"/>
                <a:cs typeface="Arial"/>
              </a:rPr>
              <a:t>two </a:t>
            </a:r>
            <a:r>
              <a:rPr lang="en-US" altLang="ko-KR" sz="900" dirty="0">
                <a:latin typeface="Arial"/>
                <a:cs typeface="Arial"/>
              </a:rPr>
              <a:t>group, CS1/HOLD1 to CS5/HOLD5 and CS6/HOLD6 to CS10/HOLD10, and then </a:t>
            </a:r>
            <a:r>
              <a:rPr lang="en-US" altLang="ko-KR" sz="900" spc="5" dirty="0">
                <a:latin typeface="Arial"/>
                <a:cs typeface="Arial"/>
              </a:rPr>
              <a:t> </a:t>
            </a:r>
            <a:r>
              <a:rPr lang="en-US" altLang="ko-KR" sz="900" dirty="0">
                <a:latin typeface="Arial"/>
                <a:cs typeface="Arial"/>
              </a:rPr>
              <a:t>should</a:t>
            </a:r>
            <a:r>
              <a:rPr lang="en-US" altLang="ko-KR" sz="900" spc="-20" dirty="0">
                <a:latin typeface="Arial"/>
                <a:cs typeface="Arial"/>
              </a:rPr>
              <a:t> </a:t>
            </a:r>
            <a:r>
              <a:rPr lang="en-US" altLang="ko-KR" sz="900" dirty="0">
                <a:latin typeface="Arial"/>
                <a:cs typeface="Arial"/>
              </a:rPr>
              <a:t>be</a:t>
            </a:r>
            <a:r>
              <a:rPr lang="en-US" altLang="ko-KR" sz="900" spc="-5" dirty="0">
                <a:latin typeface="Arial"/>
                <a:cs typeface="Arial"/>
              </a:rPr>
              <a:t> </a:t>
            </a:r>
            <a:r>
              <a:rPr lang="en-US" altLang="ko-KR" sz="900" dirty="0">
                <a:latin typeface="Arial"/>
                <a:cs typeface="Arial"/>
              </a:rPr>
              <a:t>assigned</a:t>
            </a:r>
            <a:r>
              <a:rPr lang="en-US" altLang="ko-KR" sz="900" spc="-30" dirty="0">
                <a:latin typeface="Arial"/>
                <a:cs typeface="Arial"/>
              </a:rPr>
              <a:t> </a:t>
            </a:r>
            <a:r>
              <a:rPr lang="en-US" altLang="ko-KR" sz="900" dirty="0">
                <a:latin typeface="Arial"/>
                <a:cs typeface="Arial"/>
              </a:rPr>
              <a:t>sequentially</a:t>
            </a:r>
            <a:r>
              <a:rPr lang="en-US" altLang="ko-KR" sz="900" spc="-40" dirty="0">
                <a:latin typeface="Arial"/>
                <a:cs typeface="Arial"/>
              </a:rPr>
              <a:t> </a:t>
            </a:r>
            <a:r>
              <a:rPr lang="en-US" altLang="ko-KR" sz="900" spc="-5" dirty="0">
                <a:latin typeface="Arial"/>
                <a:cs typeface="Arial"/>
              </a:rPr>
              <a:t>in</a:t>
            </a:r>
            <a:r>
              <a:rPr lang="en-US" altLang="ko-KR" sz="900" spc="5" dirty="0">
                <a:latin typeface="Arial"/>
                <a:cs typeface="Arial"/>
              </a:rPr>
              <a:t> </a:t>
            </a:r>
            <a:r>
              <a:rPr lang="en-US" altLang="ko-KR" sz="900" dirty="0">
                <a:latin typeface="Arial"/>
                <a:cs typeface="Arial"/>
              </a:rPr>
              <a:t>each</a:t>
            </a:r>
            <a:r>
              <a:rPr lang="en-US" altLang="ko-KR" sz="900" spc="-20" dirty="0">
                <a:latin typeface="Arial"/>
                <a:cs typeface="Arial"/>
              </a:rPr>
              <a:t> </a:t>
            </a:r>
            <a:r>
              <a:rPr lang="en-US" altLang="ko-KR" sz="900" dirty="0">
                <a:latin typeface="Arial"/>
                <a:cs typeface="Arial"/>
              </a:rPr>
              <a:t>group</a:t>
            </a:r>
            <a:r>
              <a:rPr lang="en-US" altLang="ko-KR" sz="900" spc="-20" dirty="0">
                <a:latin typeface="Arial"/>
                <a:cs typeface="Arial"/>
              </a:rPr>
              <a:t> </a:t>
            </a:r>
            <a:r>
              <a:rPr lang="en-US" altLang="ko-KR" sz="900" dirty="0">
                <a:latin typeface="Arial"/>
                <a:cs typeface="Arial"/>
              </a:rPr>
              <a:t>like</a:t>
            </a:r>
            <a:r>
              <a:rPr lang="en-US" altLang="ko-KR" sz="900" spc="-5" dirty="0">
                <a:latin typeface="Arial"/>
                <a:cs typeface="Arial"/>
              </a:rPr>
              <a:t> Figure 11-2.</a:t>
            </a:r>
            <a:endParaRPr lang="en-US" altLang="ko-KR" sz="900" dirty="0">
              <a:latin typeface="Arial"/>
              <a:cs typeface="Arial"/>
            </a:endParaRPr>
          </a:p>
        </p:txBody>
      </p:sp>
      <p:sp>
        <p:nvSpPr>
          <p:cNvPr id="11" name="object 9">
            <a:extLst>
              <a:ext uri="{FF2B5EF4-FFF2-40B4-BE49-F238E27FC236}">
                <a16:creationId xmlns:a16="http://schemas.microsoft.com/office/drawing/2014/main" id="{969A359E-F5C7-38D5-1752-DB37CBB15495}"/>
              </a:ext>
            </a:extLst>
          </p:cNvPr>
          <p:cNvSpPr txBox="1"/>
          <p:nvPr/>
        </p:nvSpPr>
        <p:spPr>
          <a:xfrm>
            <a:off x="304800" y="9067800"/>
            <a:ext cx="2078355" cy="289823"/>
          </a:xfrm>
          <a:prstGeom prst="rect">
            <a:avLst/>
          </a:prstGeom>
        </p:spPr>
        <p:txBody>
          <a:bodyPr vert="horz" wrap="square" lIns="0" tIns="12700" rIns="0" bIns="0" rtlCol="0">
            <a:spAutoFit/>
          </a:bodyPr>
          <a:lstStyle/>
          <a:p>
            <a:pPr marL="12700">
              <a:lnSpc>
                <a:spcPct val="100000"/>
              </a:lnSpc>
              <a:spcBef>
                <a:spcPts val="100"/>
              </a:spcBef>
            </a:pPr>
            <a:r>
              <a:rPr b="1" spc="-5" dirty="0">
                <a:solidFill>
                  <a:srgbClr val="FF0000"/>
                </a:solidFill>
                <a:cs typeface="Perpetua Titling MT"/>
              </a:rPr>
              <a:t>CONFIDENTIAL</a:t>
            </a:r>
            <a:endParaRPr dirty="0">
              <a:cs typeface="Perpetua Titling MT"/>
            </a:endParaRPr>
          </a:p>
        </p:txBody>
      </p:sp>
      <p:sp>
        <p:nvSpPr>
          <p:cNvPr id="26" name="object 6">
            <a:extLst>
              <a:ext uri="{FF2B5EF4-FFF2-40B4-BE49-F238E27FC236}">
                <a16:creationId xmlns:a16="http://schemas.microsoft.com/office/drawing/2014/main" id="{BD8C87C2-9ABC-6D36-3757-932F839CDEEC}"/>
              </a:ext>
            </a:extLst>
          </p:cNvPr>
          <p:cNvSpPr/>
          <p:nvPr/>
        </p:nvSpPr>
        <p:spPr>
          <a:xfrm>
            <a:off x="301676" y="9458756"/>
            <a:ext cx="6246495" cy="0"/>
          </a:xfrm>
          <a:custGeom>
            <a:avLst/>
            <a:gdLst/>
            <a:ahLst/>
            <a:cxnLst/>
            <a:rect l="l" t="t" r="r" b="b"/>
            <a:pathLst>
              <a:path w="6246495">
                <a:moveTo>
                  <a:pt x="0" y="0"/>
                </a:moveTo>
                <a:lnTo>
                  <a:pt x="6245999" y="0"/>
                </a:lnTo>
              </a:path>
            </a:pathLst>
          </a:custGeom>
          <a:ln w="25920">
            <a:solidFill>
              <a:srgbClr val="BFBFBF"/>
            </a:solidFill>
          </a:ln>
        </p:spPr>
        <p:txBody>
          <a:bodyPr wrap="square" lIns="0" tIns="0" rIns="0" bIns="0" rtlCol="0"/>
          <a:lstStyle/>
          <a:p>
            <a:endParaRPr/>
          </a:p>
        </p:txBody>
      </p:sp>
      <p:sp>
        <p:nvSpPr>
          <p:cNvPr id="27" name="슬라이드 번호 개체 틀 3">
            <a:hlinkClick r:id="rId5"/>
            <a:extLst>
              <a:ext uri="{FF2B5EF4-FFF2-40B4-BE49-F238E27FC236}">
                <a16:creationId xmlns:a16="http://schemas.microsoft.com/office/drawing/2014/main" id="{8CC4B2C6-936D-3B13-585D-50F64A6B56C6}"/>
              </a:ext>
            </a:extLst>
          </p:cNvPr>
          <p:cNvSpPr txBox="1">
            <a:spLocks/>
          </p:cNvSpPr>
          <p:nvPr/>
        </p:nvSpPr>
        <p:spPr>
          <a:xfrm>
            <a:off x="5151602" y="9452864"/>
            <a:ext cx="1487550"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dirty="0">
                <a:solidFill>
                  <a:prstClr val="black"/>
                </a:solidFill>
                <a:latin typeface="Arial" panose="020B0604020202020204" pitchFamily="34" charset="0"/>
                <a:cs typeface="Arial" panose="020B0604020202020204" pitchFamily="34" charset="0"/>
              </a:rPr>
              <a:t>http://www.glbltech.com/</a:t>
            </a:r>
            <a:endParaRPr lang="ko-KR" altLang="en-US" dirty="0">
              <a:solidFill>
                <a:prstClr val="black"/>
              </a:solidFill>
              <a:latin typeface="Arial" panose="020B0604020202020204" pitchFamily="34" charset="0"/>
              <a:cs typeface="Arial" panose="020B0604020202020204" pitchFamily="34" charset="0"/>
            </a:endParaRPr>
          </a:p>
        </p:txBody>
      </p:sp>
      <p:sp>
        <p:nvSpPr>
          <p:cNvPr id="28" name="object 38">
            <a:extLst>
              <a:ext uri="{FF2B5EF4-FFF2-40B4-BE49-F238E27FC236}">
                <a16:creationId xmlns:a16="http://schemas.microsoft.com/office/drawing/2014/main" id="{995F2A23-816D-74DD-877D-DDD9983C2433}"/>
              </a:ext>
            </a:extLst>
          </p:cNvPr>
          <p:cNvSpPr txBox="1">
            <a:spLocks/>
          </p:cNvSpPr>
          <p:nvPr/>
        </p:nvSpPr>
        <p:spPr>
          <a:xfrm>
            <a:off x="3309066" y="9547988"/>
            <a:ext cx="487045" cy="139141"/>
          </a:xfrm>
          <a:prstGeom prst="rect">
            <a:avLst/>
          </a:prstGeom>
        </p:spPr>
        <p:txBody>
          <a:bodyPr vert="horz" wrap="square" lIns="0" tIns="635" rIns="0" bIns="0" rtlCol="0">
            <a:spAutoFit/>
          </a:bodyPr>
          <a:lstStyle>
            <a:defPPr>
              <a:defRPr lang="ko-KR"/>
            </a:defPPr>
            <a:lvl1pPr marL="0" algn="l" defTabSz="914400" rtl="0" eaLnBrk="1" latinLnBrk="1" hangingPunct="1">
              <a:defRPr sz="1050" b="0" i="0" kern="1200">
                <a:solidFill>
                  <a:schemeClr val="tx1"/>
                </a:solidFill>
                <a:latin typeface="Arial"/>
                <a:ea typeface="+mn-ea"/>
                <a:cs typeface="Arial"/>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marL="12700">
              <a:spcBef>
                <a:spcPts val="5"/>
              </a:spcBef>
              <a:defRPr/>
            </a:pPr>
            <a:r>
              <a:rPr lang="en-US" sz="900" dirty="0">
                <a:solidFill>
                  <a:prstClr val="black"/>
                </a:solidFill>
              </a:rPr>
              <a:t>Page</a:t>
            </a:r>
            <a:r>
              <a:rPr lang="en-US" sz="900" spc="-60" dirty="0">
                <a:solidFill>
                  <a:prstClr val="black"/>
                </a:solidFill>
              </a:rPr>
              <a:t> </a:t>
            </a:r>
            <a:fld id="{81D60167-4931-47E6-BA6A-407CBD079E47}" type="slidenum">
              <a:rPr sz="900">
                <a:solidFill>
                  <a:prstClr val="black"/>
                </a:solidFill>
              </a:rPr>
              <a:pPr marL="12700">
                <a:spcBef>
                  <a:spcPts val="5"/>
                </a:spcBef>
                <a:defRPr/>
              </a:pPr>
              <a:t>24</a:t>
            </a:fld>
            <a:endParaRPr sz="900" dirty="0">
              <a:solidFill>
                <a:prstClr val="black"/>
              </a:solidFill>
            </a:endParaRPr>
          </a:p>
        </p:txBody>
      </p:sp>
      <p:sp>
        <p:nvSpPr>
          <p:cNvPr id="29" name="슬라이드 번호 개체 틀 3">
            <a:extLst>
              <a:ext uri="{FF2B5EF4-FFF2-40B4-BE49-F238E27FC236}">
                <a16:creationId xmlns:a16="http://schemas.microsoft.com/office/drawing/2014/main" id="{AC22BFE0-218A-EB88-1697-629EA436C539}"/>
              </a:ext>
            </a:extLst>
          </p:cNvPr>
          <p:cNvSpPr txBox="1">
            <a:spLocks/>
          </p:cNvSpPr>
          <p:nvPr/>
        </p:nvSpPr>
        <p:spPr>
          <a:xfrm>
            <a:off x="299401" y="9520856"/>
            <a:ext cx="2060991" cy="175259"/>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lang="en-US" altLang="ko-KR" dirty="0">
                <a:solidFill>
                  <a:prstClr val="black"/>
                </a:solidFill>
                <a:latin typeface="Arial" panose="020B0604020202020204" pitchFamily="34" charset="0"/>
                <a:cs typeface="Arial" panose="020B0604020202020204" pitchFamily="34" charset="0"/>
              </a:rPr>
              <a:t>Dated 30-Nov 23  Rev. 01</a:t>
            </a:r>
            <a:endParaRPr lang="ko-KR" altLang="en-US" dirty="0">
              <a:solidFill>
                <a:prstClr val="black"/>
              </a:solidFill>
              <a:latin typeface="Arial" panose="020B0604020202020204" pitchFamily="34" charset="0"/>
              <a:cs typeface="Arial" panose="020B0604020202020204" pitchFamily="34" charset="0"/>
            </a:endParaRPr>
          </a:p>
        </p:txBody>
      </p:sp>
      <p:sp>
        <p:nvSpPr>
          <p:cNvPr id="30" name="Holder 3">
            <a:extLst>
              <a:ext uri="{FF2B5EF4-FFF2-40B4-BE49-F238E27FC236}">
                <a16:creationId xmlns:a16="http://schemas.microsoft.com/office/drawing/2014/main" id="{37095877-3A12-8384-25AE-C4780AF63B63}"/>
              </a:ext>
            </a:extLst>
          </p:cNvPr>
          <p:cNvSpPr txBox="1">
            <a:spLocks/>
          </p:cNvSpPr>
          <p:nvPr/>
        </p:nvSpPr>
        <p:spPr>
          <a:xfrm>
            <a:off x="5147476" y="203944"/>
            <a:ext cx="1447800" cy="276999"/>
          </a:xfrm>
          <a:prstGeom prst="rect">
            <a:avLst/>
          </a:prstGeom>
        </p:spPr>
        <p:txBody>
          <a:bodyPr wrap="square" lIns="0" tIns="0" rIns="0" bIns="0">
            <a:spAutoFit/>
          </a:bodyPr>
          <a:lstStyle>
            <a:lvl1pPr marL="0">
              <a:defRPr>
                <a:solidFill>
                  <a:srgbClr val="FF99FF"/>
                </a:solidFill>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defTabSz="914400" latinLnBrk="0"/>
            <a:r>
              <a:rPr lang="en-US" sz="1800" kern="0" dirty="0"/>
              <a:t>&lt;Preliminary&gt;</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p:nvPr/>
        </p:nvSpPr>
        <p:spPr>
          <a:xfrm>
            <a:off x="400913" y="301879"/>
            <a:ext cx="622935" cy="299720"/>
          </a:xfrm>
          <a:prstGeom prst="rect">
            <a:avLst/>
          </a:prstGeom>
        </p:spPr>
        <p:txBody>
          <a:bodyPr vert="horz" wrap="square" lIns="0" tIns="12700" rIns="0" bIns="0" rtlCol="0">
            <a:spAutoFit/>
          </a:bodyPr>
          <a:lstStyle/>
          <a:p>
            <a:pPr marL="12700">
              <a:lnSpc>
                <a:spcPct val="100000"/>
              </a:lnSpc>
              <a:spcBef>
                <a:spcPts val="100"/>
              </a:spcBef>
            </a:pPr>
            <a:r>
              <a:rPr sz="1800" b="1" spc="-5" dirty="0">
                <a:latin typeface="Arial"/>
                <a:cs typeface="Arial"/>
              </a:rPr>
              <a:t>CQ24</a:t>
            </a:r>
            <a:endParaRPr sz="1800" dirty="0">
              <a:latin typeface="Arial"/>
              <a:cs typeface="Arial"/>
            </a:endParaRPr>
          </a:p>
        </p:txBody>
      </p:sp>
      <p:sp>
        <p:nvSpPr>
          <p:cNvPr id="5" name="object 5"/>
          <p:cNvSpPr txBox="1"/>
          <p:nvPr/>
        </p:nvSpPr>
        <p:spPr>
          <a:xfrm>
            <a:off x="400912" y="4331588"/>
            <a:ext cx="6038541" cy="151965"/>
          </a:xfrm>
          <a:prstGeom prst="rect">
            <a:avLst/>
          </a:prstGeom>
        </p:spPr>
        <p:txBody>
          <a:bodyPr vert="horz" wrap="square" lIns="0" tIns="13335" rIns="0" bIns="0" rtlCol="0">
            <a:spAutoFit/>
          </a:bodyPr>
          <a:lstStyle/>
          <a:p>
            <a:pPr marL="12700" algn="ctr">
              <a:lnSpc>
                <a:spcPct val="100000"/>
              </a:lnSpc>
              <a:spcBef>
                <a:spcPts val="105"/>
              </a:spcBef>
            </a:pPr>
            <a:r>
              <a:rPr sz="900" b="1" spc="-5" dirty="0">
                <a:latin typeface="Arial"/>
                <a:cs typeface="Arial"/>
              </a:rPr>
              <a:t>[Figure.</a:t>
            </a:r>
            <a:r>
              <a:rPr sz="900" b="1" spc="5" dirty="0">
                <a:latin typeface="Arial"/>
                <a:cs typeface="Arial"/>
              </a:rPr>
              <a:t> </a:t>
            </a:r>
            <a:r>
              <a:rPr sz="900" b="1" spc="-5" dirty="0">
                <a:latin typeface="Arial"/>
                <a:cs typeface="Arial"/>
              </a:rPr>
              <a:t>1</a:t>
            </a:r>
            <a:r>
              <a:rPr lang="en-US" sz="900" b="1" spc="-5" dirty="0">
                <a:latin typeface="Arial"/>
                <a:cs typeface="Arial"/>
              </a:rPr>
              <a:t>9</a:t>
            </a:r>
            <a:r>
              <a:rPr sz="900" b="1" spc="-5" dirty="0">
                <a:latin typeface="Arial"/>
                <a:cs typeface="Arial"/>
              </a:rPr>
              <a:t>-1]</a:t>
            </a:r>
            <a:r>
              <a:rPr sz="900" b="1" spc="25" dirty="0">
                <a:latin typeface="Arial"/>
                <a:cs typeface="Arial"/>
              </a:rPr>
              <a:t> </a:t>
            </a:r>
            <a:r>
              <a:rPr sz="900" b="1" dirty="0">
                <a:latin typeface="Arial"/>
                <a:cs typeface="Arial"/>
              </a:rPr>
              <a:t>The CS/HOLD</a:t>
            </a:r>
            <a:r>
              <a:rPr sz="900" b="1" spc="5" dirty="0">
                <a:latin typeface="Arial"/>
                <a:cs typeface="Arial"/>
              </a:rPr>
              <a:t> </a:t>
            </a:r>
            <a:r>
              <a:rPr sz="900" b="1" spc="-5" dirty="0">
                <a:latin typeface="Arial"/>
                <a:cs typeface="Arial"/>
              </a:rPr>
              <a:t>sequence</a:t>
            </a:r>
            <a:r>
              <a:rPr sz="900" b="1" spc="10" dirty="0">
                <a:latin typeface="Arial"/>
                <a:cs typeface="Arial"/>
              </a:rPr>
              <a:t> </a:t>
            </a:r>
            <a:r>
              <a:rPr sz="900" b="1" dirty="0">
                <a:latin typeface="Arial"/>
                <a:cs typeface="Arial"/>
              </a:rPr>
              <a:t>in</a:t>
            </a:r>
            <a:r>
              <a:rPr sz="900" b="1" spc="5" dirty="0">
                <a:latin typeface="Arial"/>
                <a:cs typeface="Arial"/>
              </a:rPr>
              <a:t> </a:t>
            </a:r>
            <a:r>
              <a:rPr sz="900" b="1" dirty="0">
                <a:latin typeface="Arial"/>
                <a:cs typeface="Arial"/>
              </a:rPr>
              <a:t>single</a:t>
            </a:r>
            <a:r>
              <a:rPr sz="900" b="1" spc="5" dirty="0">
                <a:latin typeface="Arial"/>
                <a:cs typeface="Arial"/>
              </a:rPr>
              <a:t> </a:t>
            </a:r>
            <a:r>
              <a:rPr sz="900" b="1" spc="-5" dirty="0">
                <a:latin typeface="Arial"/>
                <a:cs typeface="Arial"/>
              </a:rPr>
              <a:t>drive</a:t>
            </a:r>
            <a:r>
              <a:rPr sz="900" b="1" spc="5" dirty="0">
                <a:latin typeface="Arial"/>
                <a:cs typeface="Arial"/>
              </a:rPr>
              <a:t> </a:t>
            </a:r>
            <a:r>
              <a:rPr sz="900" b="1" dirty="0">
                <a:latin typeface="Arial"/>
                <a:cs typeface="Arial"/>
              </a:rPr>
              <a:t>mode</a:t>
            </a:r>
          </a:p>
        </p:txBody>
      </p:sp>
      <p:sp>
        <p:nvSpPr>
          <p:cNvPr id="6" name="object 6"/>
          <p:cNvSpPr txBox="1"/>
          <p:nvPr/>
        </p:nvSpPr>
        <p:spPr>
          <a:xfrm>
            <a:off x="400913" y="906018"/>
            <a:ext cx="6038542" cy="228268"/>
          </a:xfrm>
          <a:prstGeom prst="rect">
            <a:avLst/>
          </a:prstGeom>
        </p:spPr>
        <p:txBody>
          <a:bodyPr vert="horz" wrap="square" lIns="0" tIns="12700" rIns="0" bIns="0" rtlCol="0">
            <a:spAutoFit/>
          </a:bodyPr>
          <a:lstStyle/>
          <a:p>
            <a:pPr marL="12700">
              <a:lnSpc>
                <a:spcPct val="100000"/>
              </a:lnSpc>
              <a:spcBef>
                <a:spcPts val="100"/>
              </a:spcBef>
            </a:pPr>
            <a:r>
              <a:rPr sz="1400" b="1" spc="-5" dirty="0">
                <a:latin typeface="Arial"/>
                <a:cs typeface="Arial"/>
              </a:rPr>
              <a:t>The</a:t>
            </a:r>
            <a:r>
              <a:rPr sz="1400" b="1" spc="-25" dirty="0">
                <a:latin typeface="Arial"/>
                <a:cs typeface="Arial"/>
              </a:rPr>
              <a:t> </a:t>
            </a:r>
            <a:r>
              <a:rPr sz="1400" b="1" dirty="0">
                <a:latin typeface="Arial"/>
                <a:cs typeface="Arial"/>
              </a:rPr>
              <a:t>generation</a:t>
            </a:r>
            <a:r>
              <a:rPr sz="1400" b="1" spc="-45" dirty="0">
                <a:latin typeface="Arial"/>
                <a:cs typeface="Arial"/>
              </a:rPr>
              <a:t> </a:t>
            </a:r>
            <a:r>
              <a:rPr sz="1400" b="1" dirty="0">
                <a:latin typeface="Arial"/>
                <a:cs typeface="Arial"/>
              </a:rPr>
              <a:t>of</a:t>
            </a:r>
            <a:r>
              <a:rPr sz="1400" b="1" spc="-40" dirty="0">
                <a:latin typeface="Arial"/>
                <a:cs typeface="Arial"/>
              </a:rPr>
              <a:t> </a:t>
            </a:r>
            <a:r>
              <a:rPr sz="1400" b="1" dirty="0">
                <a:latin typeface="Arial"/>
                <a:cs typeface="Arial"/>
              </a:rPr>
              <a:t>CS/HOLD</a:t>
            </a:r>
            <a:endParaRPr sz="1400" dirty="0">
              <a:latin typeface="Arial"/>
              <a:cs typeface="Arial"/>
            </a:endParaRPr>
          </a:p>
        </p:txBody>
      </p:sp>
      <p:sp>
        <p:nvSpPr>
          <p:cNvPr id="8" name="object 8"/>
          <p:cNvSpPr txBox="1"/>
          <p:nvPr/>
        </p:nvSpPr>
        <p:spPr>
          <a:xfrm>
            <a:off x="400913" y="7694168"/>
            <a:ext cx="6038542" cy="151323"/>
          </a:xfrm>
          <a:prstGeom prst="rect">
            <a:avLst/>
          </a:prstGeom>
        </p:spPr>
        <p:txBody>
          <a:bodyPr vert="horz" wrap="square" lIns="0" tIns="12700" rIns="0" bIns="0" rtlCol="0">
            <a:spAutoFit/>
          </a:bodyPr>
          <a:lstStyle/>
          <a:p>
            <a:pPr marL="12700" algn="ctr">
              <a:lnSpc>
                <a:spcPct val="100000"/>
              </a:lnSpc>
              <a:spcBef>
                <a:spcPts val="100"/>
              </a:spcBef>
            </a:pPr>
            <a:r>
              <a:rPr sz="900" b="1" spc="-5" dirty="0">
                <a:latin typeface="Arial"/>
                <a:cs typeface="Arial"/>
              </a:rPr>
              <a:t>[Figure.</a:t>
            </a:r>
            <a:r>
              <a:rPr sz="900" b="1" spc="5" dirty="0">
                <a:latin typeface="Arial"/>
                <a:cs typeface="Arial"/>
              </a:rPr>
              <a:t> </a:t>
            </a:r>
            <a:r>
              <a:rPr sz="900" b="1" spc="-5" dirty="0">
                <a:latin typeface="Arial"/>
                <a:cs typeface="Arial"/>
              </a:rPr>
              <a:t>1</a:t>
            </a:r>
            <a:r>
              <a:rPr lang="en-US" sz="900" b="1" spc="-5" dirty="0">
                <a:latin typeface="Arial"/>
                <a:cs typeface="Arial"/>
              </a:rPr>
              <a:t>9</a:t>
            </a:r>
            <a:r>
              <a:rPr sz="900" b="1" spc="-5" dirty="0">
                <a:latin typeface="Arial"/>
                <a:cs typeface="Arial"/>
              </a:rPr>
              <a:t>-2]</a:t>
            </a:r>
            <a:r>
              <a:rPr sz="900" b="1" spc="25" dirty="0">
                <a:latin typeface="Arial"/>
                <a:cs typeface="Arial"/>
              </a:rPr>
              <a:t> </a:t>
            </a:r>
            <a:r>
              <a:rPr sz="900" b="1" dirty="0">
                <a:latin typeface="Arial"/>
                <a:cs typeface="Arial"/>
              </a:rPr>
              <a:t>The CS/HOLD</a:t>
            </a:r>
            <a:r>
              <a:rPr sz="900" b="1" spc="5" dirty="0">
                <a:latin typeface="Arial"/>
                <a:cs typeface="Arial"/>
              </a:rPr>
              <a:t> </a:t>
            </a:r>
            <a:r>
              <a:rPr sz="900" b="1" spc="-5" dirty="0">
                <a:latin typeface="Arial"/>
                <a:cs typeface="Arial"/>
              </a:rPr>
              <a:t>sequence</a:t>
            </a:r>
            <a:r>
              <a:rPr sz="900" b="1" spc="15" dirty="0">
                <a:latin typeface="Arial"/>
                <a:cs typeface="Arial"/>
              </a:rPr>
              <a:t> </a:t>
            </a:r>
            <a:r>
              <a:rPr sz="900" b="1" dirty="0">
                <a:latin typeface="Arial"/>
                <a:cs typeface="Arial"/>
              </a:rPr>
              <a:t>in</a:t>
            </a:r>
            <a:r>
              <a:rPr sz="900" b="1" spc="5" dirty="0">
                <a:latin typeface="Arial"/>
                <a:cs typeface="Arial"/>
              </a:rPr>
              <a:t> </a:t>
            </a:r>
            <a:r>
              <a:rPr sz="900" b="1" spc="-5" dirty="0">
                <a:latin typeface="Arial"/>
                <a:cs typeface="Arial"/>
              </a:rPr>
              <a:t>dual</a:t>
            </a:r>
            <a:r>
              <a:rPr sz="900" b="1" spc="20" dirty="0">
                <a:latin typeface="Arial"/>
                <a:cs typeface="Arial"/>
              </a:rPr>
              <a:t> </a:t>
            </a:r>
            <a:r>
              <a:rPr sz="900" b="1" spc="-5" dirty="0">
                <a:latin typeface="Arial"/>
                <a:cs typeface="Arial"/>
              </a:rPr>
              <a:t>drive</a:t>
            </a:r>
            <a:r>
              <a:rPr sz="900" b="1" spc="5" dirty="0">
                <a:latin typeface="Arial"/>
                <a:cs typeface="Arial"/>
              </a:rPr>
              <a:t> </a:t>
            </a:r>
            <a:r>
              <a:rPr sz="900" b="1" dirty="0">
                <a:latin typeface="Arial"/>
                <a:cs typeface="Arial"/>
              </a:rPr>
              <a:t>mode</a:t>
            </a:r>
          </a:p>
        </p:txBody>
      </p:sp>
      <p:pic>
        <p:nvPicPr>
          <p:cNvPr id="9" name="object 9"/>
          <p:cNvPicPr/>
          <p:nvPr/>
        </p:nvPicPr>
        <p:blipFill>
          <a:blip r:embed="rId2" cstate="print"/>
          <a:stretch>
            <a:fillRect/>
          </a:stretch>
        </p:blipFill>
        <p:spPr>
          <a:xfrm>
            <a:off x="400912" y="2202027"/>
            <a:ext cx="6038541" cy="1769670"/>
          </a:xfrm>
          <a:prstGeom prst="rect">
            <a:avLst/>
          </a:prstGeom>
        </p:spPr>
      </p:pic>
      <p:pic>
        <p:nvPicPr>
          <p:cNvPr id="10" name="object 10"/>
          <p:cNvPicPr/>
          <p:nvPr/>
        </p:nvPicPr>
        <p:blipFill>
          <a:blip r:embed="rId3" cstate="print"/>
          <a:stretch>
            <a:fillRect/>
          </a:stretch>
        </p:blipFill>
        <p:spPr>
          <a:xfrm>
            <a:off x="400912" y="4964330"/>
            <a:ext cx="6038541" cy="2413419"/>
          </a:xfrm>
          <a:prstGeom prst="rect">
            <a:avLst/>
          </a:prstGeom>
        </p:spPr>
      </p:pic>
      <p:sp>
        <p:nvSpPr>
          <p:cNvPr id="14" name="object 7">
            <a:extLst>
              <a:ext uri="{FF2B5EF4-FFF2-40B4-BE49-F238E27FC236}">
                <a16:creationId xmlns:a16="http://schemas.microsoft.com/office/drawing/2014/main" id="{89B7B89A-C6A6-FC2D-759B-E7C666D923E5}"/>
              </a:ext>
            </a:extLst>
          </p:cNvPr>
          <p:cNvSpPr txBox="1"/>
          <p:nvPr/>
        </p:nvSpPr>
        <p:spPr>
          <a:xfrm>
            <a:off x="400914" y="1279211"/>
            <a:ext cx="6038541" cy="566822"/>
          </a:xfrm>
          <a:prstGeom prst="rect">
            <a:avLst/>
          </a:prstGeom>
        </p:spPr>
        <p:txBody>
          <a:bodyPr vert="horz" wrap="square" lIns="0" tIns="12700" rIns="0" bIns="0" rtlCol="0">
            <a:spAutoFit/>
          </a:bodyPr>
          <a:lstStyle/>
          <a:p>
            <a:pPr marL="12700" marR="5080" algn="just">
              <a:lnSpc>
                <a:spcPct val="100000"/>
              </a:lnSpc>
              <a:spcBef>
                <a:spcPts val="100"/>
              </a:spcBef>
            </a:pPr>
            <a:r>
              <a:rPr sz="900" spc="-5" dirty="0">
                <a:latin typeface="Arial"/>
                <a:cs typeface="Arial"/>
              </a:rPr>
              <a:t>The</a:t>
            </a:r>
            <a:r>
              <a:rPr lang="en-US" sz="900" spc="-5" dirty="0">
                <a:latin typeface="Arial"/>
                <a:cs typeface="Arial"/>
              </a:rPr>
              <a:t> </a:t>
            </a:r>
            <a:r>
              <a:rPr lang="en-US" altLang="ko-KR" sz="900" dirty="0">
                <a:latin typeface="Arial"/>
                <a:cs typeface="Arial"/>
              </a:rPr>
              <a:t>HOLDn_SIZE</a:t>
            </a:r>
            <a:r>
              <a:rPr lang="en-US" altLang="ko-KR" sz="900" spc="10" dirty="0">
                <a:latin typeface="Arial"/>
                <a:cs typeface="Arial"/>
              </a:rPr>
              <a:t> </a:t>
            </a:r>
            <a:r>
              <a:rPr lang="en-US" altLang="ko-KR" sz="900" dirty="0">
                <a:latin typeface="Arial"/>
                <a:cs typeface="Arial"/>
              </a:rPr>
              <a:t>means</a:t>
            </a:r>
            <a:r>
              <a:rPr lang="en-US" altLang="ko-KR" sz="900" spc="-5" dirty="0">
                <a:latin typeface="Arial"/>
                <a:cs typeface="Arial"/>
              </a:rPr>
              <a:t> </a:t>
            </a:r>
            <a:r>
              <a:rPr lang="en-US" altLang="ko-KR" sz="900" dirty="0">
                <a:latin typeface="Arial"/>
                <a:cs typeface="Arial"/>
              </a:rPr>
              <a:t>how</a:t>
            </a:r>
            <a:r>
              <a:rPr lang="en-US" altLang="ko-KR" sz="900" spc="5" dirty="0">
                <a:latin typeface="Arial"/>
                <a:cs typeface="Arial"/>
              </a:rPr>
              <a:t> </a:t>
            </a:r>
            <a:r>
              <a:rPr lang="en-US" altLang="ko-KR" sz="900" dirty="0">
                <a:latin typeface="Arial"/>
                <a:cs typeface="Arial"/>
              </a:rPr>
              <a:t>many</a:t>
            </a:r>
            <a:r>
              <a:rPr lang="en-US" altLang="ko-KR" sz="900" spc="10" dirty="0">
                <a:latin typeface="Arial"/>
                <a:cs typeface="Arial"/>
              </a:rPr>
              <a:t> </a:t>
            </a:r>
            <a:r>
              <a:rPr lang="en-US" altLang="ko-KR" sz="900" dirty="0">
                <a:latin typeface="Arial"/>
                <a:cs typeface="Arial"/>
              </a:rPr>
              <a:t>times </a:t>
            </a:r>
            <a:r>
              <a:rPr lang="en-US" altLang="ko-KR" sz="900" spc="-5" dirty="0">
                <a:latin typeface="Arial"/>
                <a:cs typeface="Arial"/>
              </a:rPr>
              <a:t>valid</a:t>
            </a:r>
            <a:r>
              <a:rPr lang="en-US" altLang="ko-KR" sz="900" spc="10" dirty="0">
                <a:latin typeface="Arial"/>
                <a:cs typeface="Arial"/>
              </a:rPr>
              <a:t> </a:t>
            </a:r>
            <a:r>
              <a:rPr lang="en-US" altLang="ko-KR" sz="900" dirty="0">
                <a:latin typeface="Arial"/>
                <a:cs typeface="Arial"/>
              </a:rPr>
              <a:t>HOLD</a:t>
            </a:r>
            <a:r>
              <a:rPr lang="en-US" altLang="ko-KR" sz="900" spc="20" dirty="0">
                <a:latin typeface="Arial"/>
                <a:cs typeface="Arial"/>
              </a:rPr>
              <a:t> </a:t>
            </a:r>
            <a:r>
              <a:rPr lang="en-US" altLang="ko-KR" sz="900" dirty="0">
                <a:latin typeface="Arial"/>
                <a:cs typeface="Arial"/>
              </a:rPr>
              <a:t>signal</a:t>
            </a:r>
            <a:r>
              <a:rPr lang="en-US" altLang="ko-KR" sz="900" spc="-20" dirty="0">
                <a:latin typeface="Arial"/>
                <a:cs typeface="Arial"/>
              </a:rPr>
              <a:t> </a:t>
            </a:r>
            <a:r>
              <a:rPr lang="en-US" altLang="ko-KR" sz="900" dirty="0">
                <a:latin typeface="Arial"/>
                <a:cs typeface="Arial"/>
              </a:rPr>
              <a:t>should be</a:t>
            </a:r>
            <a:r>
              <a:rPr lang="en-US" altLang="ko-KR" sz="900" spc="10" dirty="0">
                <a:latin typeface="Arial"/>
                <a:cs typeface="Arial"/>
              </a:rPr>
              <a:t> </a:t>
            </a:r>
            <a:r>
              <a:rPr lang="en-US" altLang="ko-KR" sz="900" dirty="0">
                <a:latin typeface="Arial"/>
                <a:cs typeface="Arial"/>
              </a:rPr>
              <a:t>asserted for</a:t>
            </a:r>
            <a:r>
              <a:rPr lang="en-US" altLang="ko-KR" sz="900" spc="5" dirty="0">
                <a:latin typeface="Arial"/>
                <a:cs typeface="Arial"/>
              </a:rPr>
              <a:t> </a:t>
            </a:r>
            <a:r>
              <a:rPr lang="en-US" altLang="ko-KR" sz="900" dirty="0">
                <a:latin typeface="Arial"/>
                <a:cs typeface="Arial"/>
              </a:rPr>
              <a:t>one</a:t>
            </a:r>
            <a:r>
              <a:rPr lang="en-US" altLang="ko-KR" sz="900" spc="15" dirty="0">
                <a:latin typeface="Arial"/>
                <a:cs typeface="Arial"/>
              </a:rPr>
              <a:t> </a:t>
            </a:r>
            <a:r>
              <a:rPr lang="en-US" altLang="ko-KR" sz="900" spc="-5" dirty="0">
                <a:latin typeface="Arial"/>
                <a:cs typeface="Arial"/>
              </a:rPr>
              <a:t>CS</a:t>
            </a:r>
            <a:r>
              <a:rPr lang="en-US" altLang="ko-KR" sz="900" spc="15" dirty="0">
                <a:latin typeface="Arial"/>
                <a:cs typeface="Arial"/>
              </a:rPr>
              <a:t> </a:t>
            </a:r>
            <a:r>
              <a:rPr lang="en-US" altLang="ko-KR" sz="900" dirty="0">
                <a:latin typeface="Arial"/>
                <a:cs typeface="Arial"/>
              </a:rPr>
              <a:t>period and</a:t>
            </a:r>
            <a:r>
              <a:rPr lang="en-US" altLang="ko-KR" sz="900" spc="10" dirty="0">
                <a:latin typeface="Arial"/>
                <a:cs typeface="Arial"/>
              </a:rPr>
              <a:t> </a:t>
            </a:r>
            <a:r>
              <a:rPr lang="en-US" altLang="ko-KR" sz="900" dirty="0">
                <a:latin typeface="Arial"/>
                <a:cs typeface="Arial"/>
              </a:rPr>
              <a:t>depends</a:t>
            </a:r>
            <a:r>
              <a:rPr lang="en-US" altLang="ko-KR" sz="900" spc="-10" dirty="0">
                <a:latin typeface="Arial"/>
                <a:cs typeface="Arial"/>
              </a:rPr>
              <a:t> </a:t>
            </a:r>
            <a:r>
              <a:rPr lang="en-US" altLang="ko-KR" sz="900" dirty="0">
                <a:latin typeface="Arial"/>
                <a:cs typeface="Arial"/>
              </a:rPr>
              <a:t>on</a:t>
            </a:r>
            <a:r>
              <a:rPr lang="en-US" altLang="ko-KR" sz="900" spc="10" dirty="0">
                <a:latin typeface="Arial"/>
                <a:cs typeface="Arial"/>
              </a:rPr>
              <a:t> </a:t>
            </a:r>
            <a:r>
              <a:rPr lang="en-US" altLang="ko-KR" sz="900" dirty="0">
                <a:latin typeface="Arial"/>
                <a:cs typeface="Arial"/>
              </a:rPr>
              <a:t>how </a:t>
            </a:r>
            <a:r>
              <a:rPr lang="en-US" altLang="ko-KR" sz="900" spc="5" dirty="0">
                <a:latin typeface="Arial"/>
                <a:cs typeface="Arial"/>
              </a:rPr>
              <a:t> </a:t>
            </a:r>
            <a:r>
              <a:rPr lang="en-US" altLang="ko-KR" sz="900" dirty="0">
                <a:latin typeface="Arial"/>
                <a:cs typeface="Arial"/>
              </a:rPr>
              <a:t>the AQ series </a:t>
            </a:r>
            <a:r>
              <a:rPr lang="en-US" altLang="ko-KR" sz="900" spc="-5" dirty="0">
                <a:latin typeface="Arial"/>
                <a:cs typeface="Arial"/>
              </a:rPr>
              <a:t>is </a:t>
            </a:r>
            <a:r>
              <a:rPr lang="en-US" altLang="ko-KR" sz="900" dirty="0">
                <a:latin typeface="Arial"/>
                <a:cs typeface="Arial"/>
              </a:rPr>
              <a:t>configured and mapped to the block array. </a:t>
            </a:r>
            <a:r>
              <a:rPr lang="en-US" altLang="ko-KR" sz="900" spc="-5" dirty="0">
                <a:latin typeface="Arial"/>
                <a:cs typeface="Arial"/>
              </a:rPr>
              <a:t>The HOLDn_DUMY_SIZE </a:t>
            </a:r>
            <a:r>
              <a:rPr lang="en-US" altLang="ko-KR" sz="900" dirty="0">
                <a:latin typeface="Arial"/>
                <a:cs typeface="Arial"/>
              </a:rPr>
              <a:t>means how many times invalid HOLD </a:t>
            </a:r>
            <a:r>
              <a:rPr lang="en-US" altLang="ko-KR" sz="900" spc="-235" dirty="0">
                <a:latin typeface="Arial"/>
                <a:cs typeface="Arial"/>
              </a:rPr>
              <a:t> </a:t>
            </a:r>
            <a:r>
              <a:rPr lang="en-US" altLang="ko-KR" sz="900" dirty="0">
                <a:latin typeface="Arial"/>
                <a:cs typeface="Arial"/>
              </a:rPr>
              <a:t>signal</a:t>
            </a:r>
            <a:r>
              <a:rPr lang="en-US" altLang="ko-KR" sz="900" spc="-15" dirty="0">
                <a:latin typeface="Arial"/>
                <a:cs typeface="Arial"/>
              </a:rPr>
              <a:t> </a:t>
            </a:r>
            <a:r>
              <a:rPr lang="en-US" altLang="ko-KR" sz="900" dirty="0">
                <a:latin typeface="Arial"/>
                <a:cs typeface="Arial"/>
              </a:rPr>
              <a:t>should</a:t>
            </a:r>
            <a:r>
              <a:rPr lang="en-US" altLang="ko-KR" sz="900" spc="-25" dirty="0">
                <a:latin typeface="Arial"/>
                <a:cs typeface="Arial"/>
              </a:rPr>
              <a:t> </a:t>
            </a:r>
            <a:r>
              <a:rPr lang="en-US" altLang="ko-KR" sz="900" dirty="0">
                <a:latin typeface="Arial"/>
                <a:cs typeface="Arial"/>
              </a:rPr>
              <a:t>be asserted</a:t>
            </a:r>
            <a:r>
              <a:rPr lang="en-US" altLang="ko-KR" sz="900" spc="-15" dirty="0">
                <a:latin typeface="Arial"/>
                <a:cs typeface="Arial"/>
              </a:rPr>
              <a:t> </a:t>
            </a:r>
            <a:r>
              <a:rPr lang="en-US" altLang="ko-KR" sz="900" dirty="0">
                <a:latin typeface="Arial"/>
                <a:cs typeface="Arial"/>
              </a:rPr>
              <a:t>virtually</a:t>
            </a:r>
            <a:r>
              <a:rPr lang="en-US" altLang="ko-KR" sz="900" spc="-10" dirty="0">
                <a:latin typeface="Arial"/>
                <a:cs typeface="Arial"/>
              </a:rPr>
              <a:t> </a:t>
            </a:r>
            <a:r>
              <a:rPr lang="en-US" altLang="ko-KR" sz="900" dirty="0">
                <a:latin typeface="Arial"/>
                <a:cs typeface="Arial"/>
              </a:rPr>
              <a:t>for</a:t>
            </a:r>
            <a:r>
              <a:rPr lang="en-US" altLang="ko-KR" sz="900" spc="-5" dirty="0">
                <a:latin typeface="Arial"/>
                <a:cs typeface="Arial"/>
              </a:rPr>
              <a:t> </a:t>
            </a:r>
            <a:r>
              <a:rPr lang="en-US" altLang="ko-KR" sz="900" dirty="0">
                <a:latin typeface="Arial"/>
                <a:cs typeface="Arial"/>
              </a:rPr>
              <a:t>one</a:t>
            </a:r>
            <a:r>
              <a:rPr lang="en-US" altLang="ko-KR" sz="900" spc="5" dirty="0">
                <a:latin typeface="Arial"/>
                <a:cs typeface="Arial"/>
              </a:rPr>
              <a:t> </a:t>
            </a:r>
            <a:r>
              <a:rPr lang="en-US" altLang="ko-KR" sz="900" spc="-5" dirty="0">
                <a:latin typeface="Arial"/>
                <a:cs typeface="Arial"/>
              </a:rPr>
              <a:t>CS</a:t>
            </a:r>
            <a:r>
              <a:rPr lang="en-US" altLang="ko-KR" sz="900" spc="5" dirty="0">
                <a:latin typeface="Arial"/>
                <a:cs typeface="Arial"/>
              </a:rPr>
              <a:t> </a:t>
            </a:r>
            <a:r>
              <a:rPr lang="en-US" altLang="ko-KR" sz="900" dirty="0">
                <a:latin typeface="Arial"/>
                <a:cs typeface="Arial"/>
              </a:rPr>
              <a:t>period,</a:t>
            </a:r>
            <a:r>
              <a:rPr lang="en-US" altLang="ko-KR" sz="900" spc="-20" dirty="0">
                <a:latin typeface="Arial"/>
                <a:cs typeface="Arial"/>
              </a:rPr>
              <a:t> </a:t>
            </a:r>
            <a:r>
              <a:rPr lang="en-US" altLang="ko-KR" sz="900" dirty="0">
                <a:latin typeface="Arial"/>
                <a:cs typeface="Arial"/>
              </a:rPr>
              <a:t>and this</a:t>
            </a:r>
            <a:r>
              <a:rPr lang="en-US" altLang="ko-KR" sz="900" spc="-15" dirty="0">
                <a:latin typeface="Arial"/>
                <a:cs typeface="Arial"/>
              </a:rPr>
              <a:t> </a:t>
            </a:r>
            <a:r>
              <a:rPr lang="en-US" altLang="ko-KR" sz="900" dirty="0">
                <a:latin typeface="Arial"/>
                <a:cs typeface="Arial"/>
              </a:rPr>
              <a:t>can be</a:t>
            </a:r>
            <a:r>
              <a:rPr lang="en-US" altLang="ko-KR" sz="900" spc="5" dirty="0">
                <a:latin typeface="Arial"/>
                <a:cs typeface="Arial"/>
              </a:rPr>
              <a:t> </a:t>
            </a:r>
            <a:r>
              <a:rPr lang="en-US" altLang="ko-KR" sz="900" dirty="0">
                <a:latin typeface="Arial"/>
                <a:cs typeface="Arial"/>
              </a:rPr>
              <a:t>used </a:t>
            </a:r>
            <a:r>
              <a:rPr lang="en-US" altLang="ko-KR" sz="900" spc="-5" dirty="0">
                <a:latin typeface="Arial"/>
                <a:cs typeface="Arial"/>
              </a:rPr>
              <a:t>in</a:t>
            </a:r>
            <a:r>
              <a:rPr lang="en-US" altLang="ko-KR" sz="900" dirty="0">
                <a:latin typeface="Arial"/>
                <a:cs typeface="Arial"/>
              </a:rPr>
              <a:t> only</a:t>
            </a:r>
            <a:r>
              <a:rPr lang="en-US" altLang="ko-KR" sz="900" spc="-10" dirty="0">
                <a:latin typeface="Arial"/>
                <a:cs typeface="Arial"/>
              </a:rPr>
              <a:t> </a:t>
            </a:r>
            <a:r>
              <a:rPr lang="en-US" altLang="ko-KR" sz="900" dirty="0">
                <a:latin typeface="Arial"/>
                <a:cs typeface="Arial"/>
              </a:rPr>
              <a:t>case</a:t>
            </a:r>
            <a:r>
              <a:rPr lang="en-US" altLang="ko-KR" sz="900" spc="-15" dirty="0">
                <a:latin typeface="Arial"/>
                <a:cs typeface="Arial"/>
              </a:rPr>
              <a:t> </a:t>
            </a:r>
            <a:r>
              <a:rPr lang="en-US" altLang="ko-KR" sz="900" dirty="0">
                <a:latin typeface="Arial"/>
                <a:cs typeface="Arial"/>
              </a:rPr>
              <a:t>that there </a:t>
            </a:r>
            <a:r>
              <a:rPr lang="en-US" altLang="ko-KR" sz="900" spc="-5" dirty="0">
                <a:latin typeface="Arial"/>
                <a:cs typeface="Arial"/>
              </a:rPr>
              <a:t>is</a:t>
            </a:r>
            <a:r>
              <a:rPr lang="en-US" altLang="ko-KR" sz="900" dirty="0">
                <a:latin typeface="Arial"/>
                <a:cs typeface="Arial"/>
              </a:rPr>
              <a:t> any</a:t>
            </a:r>
            <a:r>
              <a:rPr lang="en-US" altLang="ko-KR" sz="900" spc="-10" dirty="0">
                <a:latin typeface="Arial"/>
                <a:cs typeface="Arial"/>
              </a:rPr>
              <a:t> </a:t>
            </a:r>
            <a:r>
              <a:rPr lang="en-US" altLang="ko-KR" sz="900" dirty="0">
                <a:latin typeface="Arial"/>
                <a:cs typeface="Arial"/>
              </a:rPr>
              <a:t>unused</a:t>
            </a:r>
            <a:r>
              <a:rPr lang="en-US" altLang="ko-KR" sz="900" spc="-15" dirty="0">
                <a:latin typeface="Arial"/>
                <a:cs typeface="Arial"/>
              </a:rPr>
              <a:t> </a:t>
            </a:r>
            <a:r>
              <a:rPr lang="en-US" altLang="ko-KR" sz="900" dirty="0">
                <a:latin typeface="Arial"/>
                <a:cs typeface="Arial"/>
              </a:rPr>
              <a:t>block</a:t>
            </a:r>
            <a:r>
              <a:rPr lang="en-US" altLang="ko-KR" sz="900" spc="-15" dirty="0">
                <a:latin typeface="Arial"/>
                <a:cs typeface="Arial"/>
              </a:rPr>
              <a:t> </a:t>
            </a:r>
            <a:r>
              <a:rPr lang="en-US" altLang="ko-KR" sz="900" dirty="0">
                <a:latin typeface="Arial"/>
                <a:cs typeface="Arial"/>
              </a:rPr>
              <a:t>of the AQ series</a:t>
            </a:r>
            <a:r>
              <a:rPr lang="en-US" altLang="ko-KR" sz="900" spc="-15" dirty="0">
                <a:latin typeface="Arial"/>
                <a:cs typeface="Arial"/>
              </a:rPr>
              <a:t> </a:t>
            </a:r>
            <a:r>
              <a:rPr lang="en-US" altLang="ko-KR" sz="900" spc="-5" dirty="0">
                <a:latin typeface="Arial"/>
                <a:cs typeface="Arial"/>
              </a:rPr>
              <a:t>in</a:t>
            </a:r>
            <a:r>
              <a:rPr lang="en-US" altLang="ko-KR" sz="900" dirty="0">
                <a:latin typeface="Arial"/>
                <a:cs typeface="Arial"/>
              </a:rPr>
              <a:t> local</a:t>
            </a:r>
            <a:r>
              <a:rPr lang="en-US" altLang="ko-KR" sz="900" spc="-20" dirty="0">
                <a:latin typeface="Arial"/>
                <a:cs typeface="Arial"/>
              </a:rPr>
              <a:t> </a:t>
            </a:r>
            <a:r>
              <a:rPr lang="en-US" altLang="ko-KR" sz="900" dirty="0">
                <a:latin typeface="Arial"/>
                <a:cs typeface="Arial"/>
              </a:rPr>
              <a:t>dimming.</a:t>
            </a:r>
            <a:r>
              <a:rPr lang="en-US" altLang="ko-KR" sz="900" spc="-30" dirty="0">
                <a:latin typeface="Arial"/>
                <a:cs typeface="Arial"/>
              </a:rPr>
              <a:t> </a:t>
            </a:r>
            <a:r>
              <a:rPr lang="en-US" altLang="ko-KR" sz="900" dirty="0">
                <a:latin typeface="Arial"/>
                <a:cs typeface="Arial"/>
              </a:rPr>
              <a:t>Refer</a:t>
            </a:r>
            <a:r>
              <a:rPr lang="en-US" altLang="ko-KR" sz="900" spc="-5" dirty="0">
                <a:latin typeface="Arial"/>
                <a:cs typeface="Arial"/>
              </a:rPr>
              <a:t> </a:t>
            </a:r>
            <a:r>
              <a:rPr lang="en-US" altLang="ko-KR" sz="900" dirty="0">
                <a:latin typeface="Arial"/>
                <a:cs typeface="Arial"/>
              </a:rPr>
              <a:t>to</a:t>
            </a:r>
            <a:r>
              <a:rPr lang="en-US" altLang="ko-KR" sz="900" spc="5" dirty="0">
                <a:latin typeface="Arial"/>
                <a:cs typeface="Arial"/>
              </a:rPr>
              <a:t> </a:t>
            </a:r>
            <a:r>
              <a:rPr lang="en-US" altLang="ko-KR" sz="900" dirty="0">
                <a:latin typeface="Arial"/>
                <a:cs typeface="Arial"/>
              </a:rPr>
              <a:t>the </a:t>
            </a:r>
            <a:r>
              <a:rPr lang="en-US" altLang="ko-KR" sz="900" spc="-5" dirty="0">
                <a:latin typeface="Arial"/>
                <a:cs typeface="Arial"/>
              </a:rPr>
              <a:t>Figure 11-1</a:t>
            </a:r>
            <a:r>
              <a:rPr lang="en-US" altLang="ko-KR" sz="900" spc="-30" dirty="0">
                <a:latin typeface="Arial"/>
                <a:cs typeface="Arial"/>
              </a:rPr>
              <a:t> </a:t>
            </a:r>
            <a:r>
              <a:rPr lang="en-US" altLang="ko-KR" sz="900" spc="-5" dirty="0">
                <a:latin typeface="Arial"/>
                <a:cs typeface="Arial"/>
              </a:rPr>
              <a:t>and</a:t>
            </a:r>
            <a:r>
              <a:rPr lang="en-US" altLang="ko-KR" sz="900" spc="-10" dirty="0">
                <a:latin typeface="Arial"/>
                <a:cs typeface="Arial"/>
              </a:rPr>
              <a:t> </a:t>
            </a:r>
            <a:r>
              <a:rPr lang="en-US" altLang="ko-KR" sz="900" dirty="0">
                <a:latin typeface="Arial"/>
                <a:cs typeface="Arial"/>
              </a:rPr>
              <a:t>the</a:t>
            </a:r>
            <a:r>
              <a:rPr lang="en-US" altLang="ko-KR" sz="900" spc="-5" dirty="0">
                <a:latin typeface="Arial"/>
                <a:cs typeface="Arial"/>
              </a:rPr>
              <a:t> </a:t>
            </a:r>
            <a:r>
              <a:rPr lang="en-US" altLang="ko-KR" sz="900" dirty="0">
                <a:latin typeface="Arial"/>
                <a:cs typeface="Arial"/>
              </a:rPr>
              <a:t>Figure 11-2.</a:t>
            </a:r>
          </a:p>
        </p:txBody>
      </p:sp>
      <p:sp>
        <p:nvSpPr>
          <p:cNvPr id="7" name="object 9">
            <a:extLst>
              <a:ext uri="{FF2B5EF4-FFF2-40B4-BE49-F238E27FC236}">
                <a16:creationId xmlns:a16="http://schemas.microsoft.com/office/drawing/2014/main" id="{BC221AA2-B4B6-4275-2461-EFB881B618DA}"/>
              </a:ext>
            </a:extLst>
          </p:cNvPr>
          <p:cNvSpPr txBox="1"/>
          <p:nvPr/>
        </p:nvSpPr>
        <p:spPr>
          <a:xfrm>
            <a:off x="304800" y="9067800"/>
            <a:ext cx="2078355" cy="289823"/>
          </a:xfrm>
          <a:prstGeom prst="rect">
            <a:avLst/>
          </a:prstGeom>
        </p:spPr>
        <p:txBody>
          <a:bodyPr vert="horz" wrap="square" lIns="0" tIns="12700" rIns="0" bIns="0" rtlCol="0">
            <a:spAutoFit/>
          </a:bodyPr>
          <a:lstStyle/>
          <a:p>
            <a:pPr marL="12700">
              <a:lnSpc>
                <a:spcPct val="100000"/>
              </a:lnSpc>
              <a:spcBef>
                <a:spcPts val="100"/>
              </a:spcBef>
            </a:pPr>
            <a:r>
              <a:rPr b="1" spc="-5" dirty="0">
                <a:solidFill>
                  <a:srgbClr val="FF0000"/>
                </a:solidFill>
                <a:cs typeface="Perpetua Titling MT"/>
              </a:rPr>
              <a:t>CONFIDENTIAL</a:t>
            </a:r>
            <a:endParaRPr dirty="0">
              <a:cs typeface="Perpetua Titling MT"/>
            </a:endParaRPr>
          </a:p>
        </p:txBody>
      </p:sp>
      <p:sp>
        <p:nvSpPr>
          <p:cNvPr id="15" name="object 6">
            <a:extLst>
              <a:ext uri="{FF2B5EF4-FFF2-40B4-BE49-F238E27FC236}">
                <a16:creationId xmlns:a16="http://schemas.microsoft.com/office/drawing/2014/main" id="{5F92084E-E837-F655-9C0D-84E4ED453A00}"/>
              </a:ext>
            </a:extLst>
          </p:cNvPr>
          <p:cNvSpPr/>
          <p:nvPr/>
        </p:nvSpPr>
        <p:spPr>
          <a:xfrm>
            <a:off x="301676" y="9458756"/>
            <a:ext cx="6246495" cy="0"/>
          </a:xfrm>
          <a:custGeom>
            <a:avLst/>
            <a:gdLst/>
            <a:ahLst/>
            <a:cxnLst/>
            <a:rect l="l" t="t" r="r" b="b"/>
            <a:pathLst>
              <a:path w="6246495">
                <a:moveTo>
                  <a:pt x="0" y="0"/>
                </a:moveTo>
                <a:lnTo>
                  <a:pt x="6245999" y="0"/>
                </a:lnTo>
              </a:path>
            </a:pathLst>
          </a:custGeom>
          <a:ln w="25920">
            <a:solidFill>
              <a:srgbClr val="BFBFBF"/>
            </a:solidFill>
          </a:ln>
        </p:spPr>
        <p:txBody>
          <a:bodyPr wrap="square" lIns="0" tIns="0" rIns="0" bIns="0" rtlCol="0"/>
          <a:lstStyle/>
          <a:p>
            <a:endParaRPr/>
          </a:p>
        </p:txBody>
      </p:sp>
      <p:sp>
        <p:nvSpPr>
          <p:cNvPr id="16" name="슬라이드 번호 개체 틀 3">
            <a:hlinkClick r:id="rId4"/>
            <a:extLst>
              <a:ext uri="{FF2B5EF4-FFF2-40B4-BE49-F238E27FC236}">
                <a16:creationId xmlns:a16="http://schemas.microsoft.com/office/drawing/2014/main" id="{7D77A3E9-4CE8-A82B-A8E6-C40CAEF60F02}"/>
              </a:ext>
            </a:extLst>
          </p:cNvPr>
          <p:cNvSpPr txBox="1">
            <a:spLocks/>
          </p:cNvSpPr>
          <p:nvPr/>
        </p:nvSpPr>
        <p:spPr>
          <a:xfrm>
            <a:off x="5151602" y="9452864"/>
            <a:ext cx="1487550"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dirty="0">
                <a:solidFill>
                  <a:prstClr val="black"/>
                </a:solidFill>
                <a:latin typeface="Arial" panose="020B0604020202020204" pitchFamily="34" charset="0"/>
                <a:cs typeface="Arial" panose="020B0604020202020204" pitchFamily="34" charset="0"/>
              </a:rPr>
              <a:t>http://www.glbltech.com/</a:t>
            </a:r>
            <a:endParaRPr lang="ko-KR" altLang="en-US" dirty="0">
              <a:solidFill>
                <a:prstClr val="black"/>
              </a:solidFill>
              <a:latin typeface="Arial" panose="020B0604020202020204" pitchFamily="34" charset="0"/>
              <a:cs typeface="Arial" panose="020B0604020202020204" pitchFamily="34" charset="0"/>
            </a:endParaRPr>
          </a:p>
        </p:txBody>
      </p:sp>
      <p:sp>
        <p:nvSpPr>
          <p:cNvPr id="17" name="object 38">
            <a:extLst>
              <a:ext uri="{FF2B5EF4-FFF2-40B4-BE49-F238E27FC236}">
                <a16:creationId xmlns:a16="http://schemas.microsoft.com/office/drawing/2014/main" id="{314F1234-1856-727F-1640-6F98A2054463}"/>
              </a:ext>
            </a:extLst>
          </p:cNvPr>
          <p:cNvSpPr txBox="1">
            <a:spLocks/>
          </p:cNvSpPr>
          <p:nvPr/>
        </p:nvSpPr>
        <p:spPr>
          <a:xfrm>
            <a:off x="3309066" y="9547988"/>
            <a:ext cx="487045" cy="139141"/>
          </a:xfrm>
          <a:prstGeom prst="rect">
            <a:avLst/>
          </a:prstGeom>
        </p:spPr>
        <p:txBody>
          <a:bodyPr vert="horz" wrap="square" lIns="0" tIns="635" rIns="0" bIns="0" rtlCol="0">
            <a:spAutoFit/>
          </a:bodyPr>
          <a:lstStyle>
            <a:defPPr>
              <a:defRPr lang="ko-KR"/>
            </a:defPPr>
            <a:lvl1pPr marL="0" algn="l" defTabSz="914400" rtl="0" eaLnBrk="1" latinLnBrk="1" hangingPunct="1">
              <a:defRPr sz="1050" b="0" i="0" kern="1200">
                <a:solidFill>
                  <a:schemeClr val="tx1"/>
                </a:solidFill>
                <a:latin typeface="Arial"/>
                <a:ea typeface="+mn-ea"/>
                <a:cs typeface="Arial"/>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marL="12700">
              <a:spcBef>
                <a:spcPts val="5"/>
              </a:spcBef>
              <a:defRPr/>
            </a:pPr>
            <a:r>
              <a:rPr lang="en-US" sz="900" dirty="0">
                <a:solidFill>
                  <a:prstClr val="black"/>
                </a:solidFill>
              </a:rPr>
              <a:t>Page</a:t>
            </a:r>
            <a:r>
              <a:rPr lang="en-US" sz="900" spc="-60" dirty="0">
                <a:solidFill>
                  <a:prstClr val="black"/>
                </a:solidFill>
              </a:rPr>
              <a:t> </a:t>
            </a:r>
            <a:fld id="{81D60167-4931-47E6-BA6A-407CBD079E47}" type="slidenum">
              <a:rPr sz="900">
                <a:solidFill>
                  <a:prstClr val="black"/>
                </a:solidFill>
              </a:rPr>
              <a:pPr marL="12700">
                <a:spcBef>
                  <a:spcPts val="5"/>
                </a:spcBef>
                <a:defRPr/>
              </a:pPr>
              <a:t>25</a:t>
            </a:fld>
            <a:endParaRPr sz="900" dirty="0">
              <a:solidFill>
                <a:prstClr val="black"/>
              </a:solidFill>
            </a:endParaRPr>
          </a:p>
        </p:txBody>
      </p:sp>
      <p:sp>
        <p:nvSpPr>
          <p:cNvPr id="18" name="슬라이드 번호 개체 틀 3">
            <a:extLst>
              <a:ext uri="{FF2B5EF4-FFF2-40B4-BE49-F238E27FC236}">
                <a16:creationId xmlns:a16="http://schemas.microsoft.com/office/drawing/2014/main" id="{10628D98-43B6-F468-9C1C-706A2525A00E}"/>
              </a:ext>
            </a:extLst>
          </p:cNvPr>
          <p:cNvSpPr txBox="1">
            <a:spLocks/>
          </p:cNvSpPr>
          <p:nvPr/>
        </p:nvSpPr>
        <p:spPr>
          <a:xfrm>
            <a:off x="299401" y="9520856"/>
            <a:ext cx="2060991" cy="175259"/>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lang="en-US" altLang="ko-KR" dirty="0">
                <a:solidFill>
                  <a:prstClr val="black"/>
                </a:solidFill>
                <a:latin typeface="Arial" panose="020B0604020202020204" pitchFamily="34" charset="0"/>
                <a:cs typeface="Arial" panose="020B0604020202020204" pitchFamily="34" charset="0"/>
              </a:rPr>
              <a:t>Dated 30-Nov 23  Rev. 01</a:t>
            </a:r>
            <a:endParaRPr lang="ko-KR" altLang="en-US" dirty="0">
              <a:solidFill>
                <a:prstClr val="black"/>
              </a:solidFill>
              <a:latin typeface="Arial" panose="020B0604020202020204" pitchFamily="34" charset="0"/>
              <a:cs typeface="Arial" panose="020B0604020202020204" pitchFamily="34" charset="0"/>
            </a:endParaRPr>
          </a:p>
        </p:txBody>
      </p:sp>
      <p:sp>
        <p:nvSpPr>
          <p:cNvPr id="19" name="Holder 3">
            <a:extLst>
              <a:ext uri="{FF2B5EF4-FFF2-40B4-BE49-F238E27FC236}">
                <a16:creationId xmlns:a16="http://schemas.microsoft.com/office/drawing/2014/main" id="{F139F4B9-1286-F390-0BF8-C923A64D7987}"/>
              </a:ext>
            </a:extLst>
          </p:cNvPr>
          <p:cNvSpPr txBox="1">
            <a:spLocks/>
          </p:cNvSpPr>
          <p:nvPr/>
        </p:nvSpPr>
        <p:spPr>
          <a:xfrm>
            <a:off x="5147476" y="203944"/>
            <a:ext cx="1447800" cy="276999"/>
          </a:xfrm>
          <a:prstGeom prst="rect">
            <a:avLst/>
          </a:prstGeom>
        </p:spPr>
        <p:txBody>
          <a:bodyPr wrap="square" lIns="0" tIns="0" rIns="0" bIns="0">
            <a:spAutoFit/>
          </a:bodyPr>
          <a:lstStyle>
            <a:lvl1pPr marL="0">
              <a:defRPr>
                <a:solidFill>
                  <a:srgbClr val="FF99FF"/>
                </a:solidFill>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defTabSz="914400" latinLnBrk="0"/>
            <a:r>
              <a:rPr lang="en-US" sz="1800" kern="0" dirty="0"/>
              <a:t>&lt;Preliminary&gt;</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p:nvPr/>
        </p:nvSpPr>
        <p:spPr>
          <a:xfrm>
            <a:off x="400913" y="301879"/>
            <a:ext cx="622935" cy="299720"/>
          </a:xfrm>
          <a:prstGeom prst="rect">
            <a:avLst/>
          </a:prstGeom>
        </p:spPr>
        <p:txBody>
          <a:bodyPr vert="horz" wrap="square" lIns="0" tIns="12700" rIns="0" bIns="0" rtlCol="0">
            <a:spAutoFit/>
          </a:bodyPr>
          <a:lstStyle/>
          <a:p>
            <a:pPr marL="12700">
              <a:lnSpc>
                <a:spcPct val="100000"/>
              </a:lnSpc>
              <a:spcBef>
                <a:spcPts val="100"/>
              </a:spcBef>
            </a:pPr>
            <a:r>
              <a:rPr sz="1800" b="1" spc="-5" dirty="0">
                <a:latin typeface="Arial"/>
                <a:cs typeface="Arial"/>
              </a:rPr>
              <a:t>CQ24</a:t>
            </a:r>
            <a:endParaRPr sz="1800" dirty="0">
              <a:latin typeface="Arial"/>
              <a:cs typeface="Arial"/>
            </a:endParaRPr>
          </a:p>
        </p:txBody>
      </p:sp>
      <p:sp>
        <p:nvSpPr>
          <p:cNvPr id="5" name="object 5"/>
          <p:cNvSpPr txBox="1"/>
          <p:nvPr/>
        </p:nvSpPr>
        <p:spPr>
          <a:xfrm>
            <a:off x="400913" y="3995164"/>
            <a:ext cx="6038541" cy="151965"/>
          </a:xfrm>
          <a:prstGeom prst="rect">
            <a:avLst/>
          </a:prstGeom>
        </p:spPr>
        <p:txBody>
          <a:bodyPr vert="horz" wrap="square" lIns="0" tIns="13335" rIns="0" bIns="0" rtlCol="0">
            <a:spAutoFit/>
          </a:bodyPr>
          <a:lstStyle/>
          <a:p>
            <a:pPr marL="12700" algn="ctr">
              <a:lnSpc>
                <a:spcPct val="100000"/>
              </a:lnSpc>
              <a:spcBef>
                <a:spcPts val="105"/>
              </a:spcBef>
            </a:pPr>
            <a:r>
              <a:rPr sz="900" b="1" spc="-5" dirty="0">
                <a:latin typeface="Arial"/>
                <a:cs typeface="Arial"/>
              </a:rPr>
              <a:t>[Figure.</a:t>
            </a:r>
            <a:r>
              <a:rPr sz="900" b="1" dirty="0">
                <a:latin typeface="Arial"/>
                <a:cs typeface="Arial"/>
              </a:rPr>
              <a:t> </a:t>
            </a:r>
            <a:r>
              <a:rPr lang="en-US" sz="900" b="1" dirty="0">
                <a:latin typeface="Arial"/>
                <a:cs typeface="Arial"/>
              </a:rPr>
              <a:t>20</a:t>
            </a:r>
            <a:r>
              <a:rPr sz="900" b="1" spc="-5" dirty="0">
                <a:latin typeface="Arial"/>
                <a:cs typeface="Arial"/>
              </a:rPr>
              <a:t>]</a:t>
            </a:r>
            <a:r>
              <a:rPr sz="900" b="1" spc="5" dirty="0">
                <a:latin typeface="Arial"/>
                <a:cs typeface="Arial"/>
              </a:rPr>
              <a:t> </a:t>
            </a:r>
            <a:r>
              <a:rPr sz="900" b="1" dirty="0">
                <a:latin typeface="Arial"/>
                <a:cs typeface="Arial"/>
              </a:rPr>
              <a:t>The</a:t>
            </a:r>
            <a:r>
              <a:rPr sz="900" b="1" spc="10" dirty="0">
                <a:latin typeface="Arial"/>
                <a:cs typeface="Arial"/>
              </a:rPr>
              <a:t> </a:t>
            </a:r>
            <a:r>
              <a:rPr sz="900" b="1" dirty="0">
                <a:latin typeface="Arial"/>
                <a:cs typeface="Arial"/>
              </a:rPr>
              <a:t>set</a:t>
            </a:r>
            <a:r>
              <a:rPr sz="900" b="1" spc="-10" dirty="0">
                <a:latin typeface="Arial"/>
                <a:cs typeface="Arial"/>
              </a:rPr>
              <a:t> </a:t>
            </a:r>
            <a:r>
              <a:rPr sz="900" b="1" spc="-5" dirty="0">
                <a:latin typeface="Arial"/>
                <a:cs typeface="Arial"/>
              </a:rPr>
              <a:t>of</a:t>
            </a:r>
            <a:r>
              <a:rPr sz="900" b="1" spc="5" dirty="0">
                <a:latin typeface="Arial"/>
                <a:cs typeface="Arial"/>
              </a:rPr>
              <a:t> </a:t>
            </a:r>
            <a:r>
              <a:rPr sz="900" b="1" dirty="0">
                <a:latin typeface="Arial"/>
                <a:cs typeface="Arial"/>
              </a:rPr>
              <a:t>HOLD timing</a:t>
            </a:r>
          </a:p>
        </p:txBody>
      </p:sp>
      <p:sp>
        <p:nvSpPr>
          <p:cNvPr id="6" name="object 6"/>
          <p:cNvSpPr txBox="1"/>
          <p:nvPr/>
        </p:nvSpPr>
        <p:spPr>
          <a:xfrm>
            <a:off x="400913" y="906018"/>
            <a:ext cx="6038541" cy="227603"/>
          </a:xfrm>
          <a:prstGeom prst="rect">
            <a:avLst/>
          </a:prstGeom>
        </p:spPr>
        <p:txBody>
          <a:bodyPr vert="horz" wrap="square" lIns="0" tIns="12700" rIns="0" bIns="0" rtlCol="0">
            <a:spAutoFit/>
          </a:bodyPr>
          <a:lstStyle/>
          <a:p>
            <a:pPr marL="12700">
              <a:lnSpc>
                <a:spcPct val="100000"/>
              </a:lnSpc>
              <a:spcBef>
                <a:spcPts val="100"/>
              </a:spcBef>
            </a:pPr>
            <a:r>
              <a:rPr sz="1400" b="1" spc="-5" dirty="0">
                <a:latin typeface="Arial"/>
                <a:cs typeface="Arial"/>
              </a:rPr>
              <a:t>The</a:t>
            </a:r>
            <a:r>
              <a:rPr sz="1400" b="1" spc="-15" dirty="0">
                <a:latin typeface="Arial"/>
                <a:cs typeface="Arial"/>
              </a:rPr>
              <a:t> </a:t>
            </a:r>
            <a:r>
              <a:rPr sz="1400" b="1" dirty="0">
                <a:latin typeface="Arial"/>
                <a:cs typeface="Arial"/>
              </a:rPr>
              <a:t>set</a:t>
            </a:r>
            <a:r>
              <a:rPr sz="1400" b="1" spc="-25" dirty="0">
                <a:latin typeface="Arial"/>
                <a:cs typeface="Arial"/>
              </a:rPr>
              <a:t> </a:t>
            </a:r>
            <a:r>
              <a:rPr sz="1400" b="1" dirty="0">
                <a:latin typeface="Arial"/>
                <a:cs typeface="Arial"/>
              </a:rPr>
              <a:t>time</a:t>
            </a:r>
            <a:r>
              <a:rPr sz="1400" b="1" spc="-35" dirty="0">
                <a:latin typeface="Arial"/>
                <a:cs typeface="Arial"/>
              </a:rPr>
              <a:t> </a:t>
            </a:r>
            <a:r>
              <a:rPr sz="1400" b="1" dirty="0">
                <a:latin typeface="Arial"/>
                <a:cs typeface="Arial"/>
              </a:rPr>
              <a:t>of</a:t>
            </a:r>
            <a:r>
              <a:rPr sz="1400" b="1" spc="-15" dirty="0">
                <a:latin typeface="Arial"/>
                <a:cs typeface="Arial"/>
              </a:rPr>
              <a:t> </a:t>
            </a:r>
            <a:r>
              <a:rPr sz="1400" b="1" dirty="0">
                <a:latin typeface="Arial"/>
                <a:cs typeface="Arial"/>
              </a:rPr>
              <a:t>CS/HOLD</a:t>
            </a:r>
            <a:endParaRPr sz="1400" dirty="0">
              <a:latin typeface="Arial"/>
              <a:cs typeface="Arial"/>
            </a:endParaRPr>
          </a:p>
        </p:txBody>
      </p:sp>
      <p:pic>
        <p:nvPicPr>
          <p:cNvPr id="8" name="object 8"/>
          <p:cNvPicPr/>
          <p:nvPr/>
        </p:nvPicPr>
        <p:blipFill>
          <a:blip r:embed="rId2" cstate="print"/>
          <a:stretch>
            <a:fillRect/>
          </a:stretch>
        </p:blipFill>
        <p:spPr>
          <a:xfrm>
            <a:off x="400913" y="2258968"/>
            <a:ext cx="6038541" cy="1210712"/>
          </a:xfrm>
          <a:prstGeom prst="rect">
            <a:avLst/>
          </a:prstGeom>
        </p:spPr>
      </p:pic>
      <p:sp>
        <p:nvSpPr>
          <p:cNvPr id="12" name="object 7">
            <a:extLst>
              <a:ext uri="{FF2B5EF4-FFF2-40B4-BE49-F238E27FC236}">
                <a16:creationId xmlns:a16="http://schemas.microsoft.com/office/drawing/2014/main" id="{61489875-D3C5-05AB-9D43-8067D45E75A7}"/>
              </a:ext>
            </a:extLst>
          </p:cNvPr>
          <p:cNvSpPr txBox="1"/>
          <p:nvPr/>
        </p:nvSpPr>
        <p:spPr>
          <a:xfrm>
            <a:off x="400912" y="1295400"/>
            <a:ext cx="6038541" cy="566822"/>
          </a:xfrm>
          <a:prstGeom prst="rect">
            <a:avLst/>
          </a:prstGeom>
        </p:spPr>
        <p:txBody>
          <a:bodyPr vert="horz" wrap="square" lIns="0" tIns="12700" rIns="0" bIns="0" rtlCol="0">
            <a:spAutoFit/>
          </a:bodyPr>
          <a:lstStyle/>
          <a:p>
            <a:pPr marL="12700" marR="5080" algn="just">
              <a:lnSpc>
                <a:spcPct val="100000"/>
              </a:lnSpc>
              <a:spcBef>
                <a:spcPts val="100"/>
              </a:spcBef>
            </a:pPr>
            <a:r>
              <a:rPr sz="900" spc="-5" dirty="0">
                <a:latin typeface="Arial"/>
                <a:cs typeface="Arial"/>
              </a:rPr>
              <a:t>The</a:t>
            </a:r>
            <a:r>
              <a:rPr lang="en-US" sz="900" spc="-5" dirty="0">
                <a:latin typeface="Arial"/>
                <a:cs typeface="Arial"/>
              </a:rPr>
              <a:t> </a:t>
            </a:r>
            <a:r>
              <a:rPr lang="en-US" altLang="ko-KR" sz="900" dirty="0">
                <a:latin typeface="Arial"/>
                <a:cs typeface="Arial"/>
              </a:rPr>
              <a:t>HOLD_SU and HOLD_ON can be used to adjust the start time of assertion and the </a:t>
            </a:r>
            <a:r>
              <a:rPr lang="en-US" altLang="ko-KR" sz="900" spc="-15" dirty="0">
                <a:latin typeface="Arial"/>
                <a:cs typeface="Arial"/>
              </a:rPr>
              <a:t>on-time </a:t>
            </a:r>
            <a:r>
              <a:rPr lang="en-US" altLang="ko-KR" sz="900" dirty="0">
                <a:latin typeface="Arial"/>
                <a:cs typeface="Arial"/>
              </a:rPr>
              <a:t>of assertion, </a:t>
            </a:r>
            <a:r>
              <a:rPr lang="en-US" altLang="ko-KR" sz="900" spc="-5" dirty="0">
                <a:latin typeface="Arial"/>
                <a:cs typeface="Arial"/>
              </a:rPr>
              <a:t>respectively. </a:t>
            </a:r>
            <a:r>
              <a:rPr lang="en-US" altLang="ko-KR" sz="900" spc="-235" dirty="0">
                <a:latin typeface="Arial"/>
                <a:cs typeface="Arial"/>
              </a:rPr>
              <a:t> </a:t>
            </a:r>
            <a:r>
              <a:rPr lang="en-US" altLang="ko-KR" sz="900" spc="-5" dirty="0">
                <a:latin typeface="Arial"/>
                <a:cs typeface="Arial"/>
              </a:rPr>
              <a:t>The </a:t>
            </a:r>
            <a:r>
              <a:rPr lang="en-US" altLang="ko-KR" sz="900" dirty="0">
                <a:latin typeface="Arial"/>
                <a:cs typeface="Arial"/>
              </a:rPr>
              <a:t>set value depends on the system design environment, the local dimming speed, </a:t>
            </a:r>
            <a:r>
              <a:rPr lang="en-US" altLang="ko-KR" sz="900" spc="-15" dirty="0">
                <a:latin typeface="Arial"/>
                <a:cs typeface="Arial"/>
              </a:rPr>
              <a:t>fan-out </a:t>
            </a:r>
            <a:r>
              <a:rPr lang="en-US" altLang="ko-KR" sz="900" spc="-5" dirty="0">
                <a:latin typeface="Arial"/>
                <a:cs typeface="Arial"/>
              </a:rPr>
              <a:t>and </a:t>
            </a:r>
            <a:r>
              <a:rPr lang="en-US" altLang="ko-KR" sz="900" dirty="0">
                <a:latin typeface="Arial"/>
                <a:cs typeface="Arial"/>
              </a:rPr>
              <a:t>propagation </a:t>
            </a:r>
            <a:r>
              <a:rPr lang="en-US" altLang="ko-KR" sz="900" spc="-5" dirty="0">
                <a:latin typeface="Arial"/>
                <a:cs typeface="Arial"/>
              </a:rPr>
              <a:t>delay in line. </a:t>
            </a:r>
            <a:r>
              <a:rPr lang="en-US" altLang="ko-KR" sz="900" spc="-235" dirty="0">
                <a:latin typeface="Arial"/>
                <a:cs typeface="Arial"/>
              </a:rPr>
              <a:t> </a:t>
            </a:r>
            <a:r>
              <a:rPr lang="en-US" altLang="ko-KR" sz="900" spc="-5" dirty="0">
                <a:latin typeface="Arial"/>
                <a:cs typeface="Arial"/>
              </a:rPr>
              <a:t>The</a:t>
            </a:r>
            <a:r>
              <a:rPr lang="en-US" altLang="ko-KR" sz="900" spc="5" dirty="0">
                <a:latin typeface="Arial"/>
                <a:cs typeface="Arial"/>
              </a:rPr>
              <a:t> </a:t>
            </a:r>
            <a:r>
              <a:rPr lang="en-US" altLang="ko-KR" sz="900" dirty="0">
                <a:latin typeface="Arial"/>
                <a:cs typeface="Arial"/>
              </a:rPr>
              <a:t>hold</a:t>
            </a:r>
            <a:r>
              <a:rPr lang="en-US" altLang="ko-KR" sz="900" spc="-15" dirty="0">
                <a:latin typeface="Arial"/>
                <a:cs typeface="Arial"/>
              </a:rPr>
              <a:t> </a:t>
            </a:r>
            <a:r>
              <a:rPr lang="en-US" altLang="ko-KR" sz="900" dirty="0">
                <a:latin typeface="Arial"/>
                <a:cs typeface="Arial"/>
              </a:rPr>
              <a:t>time</a:t>
            </a:r>
            <a:r>
              <a:rPr lang="en-US" altLang="ko-KR" sz="900" spc="-5" dirty="0">
                <a:latin typeface="Arial"/>
                <a:cs typeface="Arial"/>
              </a:rPr>
              <a:t> </a:t>
            </a:r>
            <a:r>
              <a:rPr lang="en-US" altLang="ko-KR" sz="900" dirty="0">
                <a:latin typeface="Arial"/>
                <a:cs typeface="Arial"/>
              </a:rPr>
              <a:t>of</a:t>
            </a:r>
            <a:r>
              <a:rPr lang="en-US" altLang="ko-KR" sz="900" spc="-5" dirty="0">
                <a:latin typeface="Arial"/>
                <a:cs typeface="Arial"/>
              </a:rPr>
              <a:t> MODE</a:t>
            </a:r>
            <a:r>
              <a:rPr lang="en-US" altLang="ko-KR" sz="900" spc="25" dirty="0">
                <a:latin typeface="Arial"/>
                <a:cs typeface="Arial"/>
              </a:rPr>
              <a:t> </a:t>
            </a:r>
            <a:r>
              <a:rPr lang="en-US" altLang="ko-KR" sz="900" dirty="0">
                <a:latin typeface="Arial"/>
                <a:cs typeface="Arial"/>
              </a:rPr>
              <a:t>and ADO level</a:t>
            </a:r>
            <a:r>
              <a:rPr lang="en-US" altLang="ko-KR" sz="900" spc="-5" dirty="0">
                <a:latin typeface="Arial"/>
                <a:cs typeface="Arial"/>
              </a:rPr>
              <a:t> </a:t>
            </a:r>
            <a:r>
              <a:rPr lang="en-US" altLang="ko-KR" sz="900" dirty="0">
                <a:latin typeface="Arial"/>
                <a:cs typeface="Arial"/>
              </a:rPr>
              <a:t>should</a:t>
            </a:r>
            <a:r>
              <a:rPr lang="en-US" altLang="ko-KR" sz="900" spc="-20" dirty="0">
                <a:latin typeface="Arial"/>
                <a:cs typeface="Arial"/>
              </a:rPr>
              <a:t> </a:t>
            </a:r>
            <a:r>
              <a:rPr lang="en-US" altLang="ko-KR" sz="900" dirty="0">
                <a:latin typeface="Arial"/>
                <a:cs typeface="Arial"/>
              </a:rPr>
              <a:t>be needed</a:t>
            </a:r>
            <a:r>
              <a:rPr lang="en-US" altLang="ko-KR" sz="900" spc="-20" dirty="0">
                <a:latin typeface="Arial"/>
                <a:cs typeface="Arial"/>
              </a:rPr>
              <a:t> </a:t>
            </a:r>
            <a:r>
              <a:rPr lang="en-US" altLang="ko-KR" sz="900" dirty="0">
                <a:latin typeface="Arial"/>
                <a:cs typeface="Arial"/>
              </a:rPr>
              <a:t>to latch</a:t>
            </a:r>
            <a:r>
              <a:rPr lang="en-US" altLang="ko-KR" sz="900" spc="-5" dirty="0">
                <a:latin typeface="Arial"/>
                <a:cs typeface="Arial"/>
              </a:rPr>
              <a:t> </a:t>
            </a:r>
            <a:r>
              <a:rPr lang="en-US" altLang="ko-KR" sz="900" dirty="0">
                <a:latin typeface="Arial"/>
                <a:cs typeface="Arial"/>
              </a:rPr>
              <a:t>stable</a:t>
            </a:r>
            <a:r>
              <a:rPr lang="en-US" altLang="ko-KR" sz="900" spc="-25" dirty="0">
                <a:latin typeface="Arial"/>
                <a:cs typeface="Arial"/>
              </a:rPr>
              <a:t> </a:t>
            </a:r>
            <a:r>
              <a:rPr lang="en-US" altLang="ko-KR" sz="900" dirty="0">
                <a:latin typeface="Arial"/>
                <a:cs typeface="Arial"/>
              </a:rPr>
              <a:t>value</a:t>
            </a:r>
            <a:r>
              <a:rPr lang="en-US" altLang="ko-KR" sz="900" spc="-5" dirty="0">
                <a:latin typeface="Arial"/>
                <a:cs typeface="Arial"/>
              </a:rPr>
              <a:t> </a:t>
            </a:r>
            <a:r>
              <a:rPr lang="en-US" altLang="ko-KR" sz="900" dirty="0">
                <a:latin typeface="Arial"/>
                <a:cs typeface="Arial"/>
              </a:rPr>
              <a:t>from HOLD_ON</a:t>
            </a:r>
            <a:r>
              <a:rPr lang="en-US" altLang="ko-KR" sz="900" spc="10" dirty="0">
                <a:latin typeface="Arial"/>
                <a:cs typeface="Arial"/>
              </a:rPr>
              <a:t> de-assertion</a:t>
            </a:r>
            <a:endParaRPr lang="en-US" altLang="ko-KR" sz="900" dirty="0">
              <a:latin typeface="Arial"/>
              <a:cs typeface="Arial"/>
            </a:endParaRPr>
          </a:p>
        </p:txBody>
      </p:sp>
      <p:sp>
        <p:nvSpPr>
          <p:cNvPr id="7" name="object 9">
            <a:extLst>
              <a:ext uri="{FF2B5EF4-FFF2-40B4-BE49-F238E27FC236}">
                <a16:creationId xmlns:a16="http://schemas.microsoft.com/office/drawing/2014/main" id="{8E8D0CDA-F02B-74AC-6447-41D83E9C8986}"/>
              </a:ext>
            </a:extLst>
          </p:cNvPr>
          <p:cNvSpPr txBox="1"/>
          <p:nvPr/>
        </p:nvSpPr>
        <p:spPr>
          <a:xfrm>
            <a:off x="304800" y="9067800"/>
            <a:ext cx="2078355" cy="289823"/>
          </a:xfrm>
          <a:prstGeom prst="rect">
            <a:avLst/>
          </a:prstGeom>
        </p:spPr>
        <p:txBody>
          <a:bodyPr vert="horz" wrap="square" lIns="0" tIns="12700" rIns="0" bIns="0" rtlCol="0">
            <a:spAutoFit/>
          </a:bodyPr>
          <a:lstStyle/>
          <a:p>
            <a:pPr marL="12700">
              <a:lnSpc>
                <a:spcPct val="100000"/>
              </a:lnSpc>
              <a:spcBef>
                <a:spcPts val="100"/>
              </a:spcBef>
            </a:pPr>
            <a:r>
              <a:rPr b="1" spc="-5" dirty="0">
                <a:solidFill>
                  <a:srgbClr val="FF0000"/>
                </a:solidFill>
                <a:cs typeface="Perpetua Titling MT"/>
              </a:rPr>
              <a:t>CONFIDENTIAL</a:t>
            </a:r>
            <a:endParaRPr dirty="0">
              <a:cs typeface="Perpetua Titling MT"/>
            </a:endParaRPr>
          </a:p>
        </p:txBody>
      </p:sp>
      <p:sp>
        <p:nvSpPr>
          <p:cNvPr id="13" name="object 6">
            <a:extLst>
              <a:ext uri="{FF2B5EF4-FFF2-40B4-BE49-F238E27FC236}">
                <a16:creationId xmlns:a16="http://schemas.microsoft.com/office/drawing/2014/main" id="{C5EC8C72-8F58-06C5-A4DF-B7D2014D50ED}"/>
              </a:ext>
            </a:extLst>
          </p:cNvPr>
          <p:cNvSpPr/>
          <p:nvPr/>
        </p:nvSpPr>
        <p:spPr>
          <a:xfrm>
            <a:off x="301676" y="9458756"/>
            <a:ext cx="6246495" cy="0"/>
          </a:xfrm>
          <a:custGeom>
            <a:avLst/>
            <a:gdLst/>
            <a:ahLst/>
            <a:cxnLst/>
            <a:rect l="l" t="t" r="r" b="b"/>
            <a:pathLst>
              <a:path w="6246495">
                <a:moveTo>
                  <a:pt x="0" y="0"/>
                </a:moveTo>
                <a:lnTo>
                  <a:pt x="6245999" y="0"/>
                </a:lnTo>
              </a:path>
            </a:pathLst>
          </a:custGeom>
          <a:ln w="25920">
            <a:solidFill>
              <a:srgbClr val="BFBFBF"/>
            </a:solidFill>
          </a:ln>
        </p:spPr>
        <p:txBody>
          <a:bodyPr wrap="square" lIns="0" tIns="0" rIns="0" bIns="0" rtlCol="0"/>
          <a:lstStyle/>
          <a:p>
            <a:endParaRPr/>
          </a:p>
        </p:txBody>
      </p:sp>
      <p:sp>
        <p:nvSpPr>
          <p:cNvPr id="14" name="슬라이드 번호 개체 틀 3">
            <a:hlinkClick r:id="rId3"/>
            <a:extLst>
              <a:ext uri="{FF2B5EF4-FFF2-40B4-BE49-F238E27FC236}">
                <a16:creationId xmlns:a16="http://schemas.microsoft.com/office/drawing/2014/main" id="{EA0CFCE1-C4A8-881C-31B9-D8C3853304AB}"/>
              </a:ext>
            </a:extLst>
          </p:cNvPr>
          <p:cNvSpPr txBox="1">
            <a:spLocks/>
          </p:cNvSpPr>
          <p:nvPr/>
        </p:nvSpPr>
        <p:spPr>
          <a:xfrm>
            <a:off x="5151602" y="9452864"/>
            <a:ext cx="1487550"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dirty="0">
                <a:solidFill>
                  <a:prstClr val="black"/>
                </a:solidFill>
                <a:latin typeface="Arial" panose="020B0604020202020204" pitchFamily="34" charset="0"/>
                <a:cs typeface="Arial" panose="020B0604020202020204" pitchFamily="34" charset="0"/>
              </a:rPr>
              <a:t>http://www.glbltech.com/</a:t>
            </a:r>
            <a:endParaRPr lang="ko-KR" altLang="en-US" dirty="0">
              <a:solidFill>
                <a:prstClr val="black"/>
              </a:solidFill>
              <a:latin typeface="Arial" panose="020B0604020202020204" pitchFamily="34" charset="0"/>
              <a:cs typeface="Arial" panose="020B0604020202020204" pitchFamily="34" charset="0"/>
            </a:endParaRPr>
          </a:p>
        </p:txBody>
      </p:sp>
      <p:sp>
        <p:nvSpPr>
          <p:cNvPr id="15" name="object 38">
            <a:extLst>
              <a:ext uri="{FF2B5EF4-FFF2-40B4-BE49-F238E27FC236}">
                <a16:creationId xmlns:a16="http://schemas.microsoft.com/office/drawing/2014/main" id="{87464329-C9E7-EB9F-81E5-B9DA6852F82E}"/>
              </a:ext>
            </a:extLst>
          </p:cNvPr>
          <p:cNvSpPr txBox="1">
            <a:spLocks/>
          </p:cNvSpPr>
          <p:nvPr/>
        </p:nvSpPr>
        <p:spPr>
          <a:xfrm>
            <a:off x="3309066" y="9547988"/>
            <a:ext cx="487045" cy="139141"/>
          </a:xfrm>
          <a:prstGeom prst="rect">
            <a:avLst/>
          </a:prstGeom>
        </p:spPr>
        <p:txBody>
          <a:bodyPr vert="horz" wrap="square" lIns="0" tIns="635" rIns="0" bIns="0" rtlCol="0">
            <a:spAutoFit/>
          </a:bodyPr>
          <a:lstStyle>
            <a:defPPr>
              <a:defRPr lang="ko-KR"/>
            </a:defPPr>
            <a:lvl1pPr marL="0" algn="l" defTabSz="914400" rtl="0" eaLnBrk="1" latinLnBrk="1" hangingPunct="1">
              <a:defRPr sz="1050" b="0" i="0" kern="1200">
                <a:solidFill>
                  <a:schemeClr val="tx1"/>
                </a:solidFill>
                <a:latin typeface="Arial"/>
                <a:ea typeface="+mn-ea"/>
                <a:cs typeface="Arial"/>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marL="12700">
              <a:spcBef>
                <a:spcPts val="5"/>
              </a:spcBef>
              <a:defRPr/>
            </a:pPr>
            <a:r>
              <a:rPr lang="en-US" sz="900" dirty="0">
                <a:solidFill>
                  <a:prstClr val="black"/>
                </a:solidFill>
              </a:rPr>
              <a:t>Page</a:t>
            </a:r>
            <a:r>
              <a:rPr lang="en-US" sz="900" spc="-60" dirty="0">
                <a:solidFill>
                  <a:prstClr val="black"/>
                </a:solidFill>
              </a:rPr>
              <a:t> </a:t>
            </a:r>
            <a:fld id="{81D60167-4931-47E6-BA6A-407CBD079E47}" type="slidenum">
              <a:rPr sz="900">
                <a:solidFill>
                  <a:prstClr val="black"/>
                </a:solidFill>
              </a:rPr>
              <a:pPr marL="12700">
                <a:spcBef>
                  <a:spcPts val="5"/>
                </a:spcBef>
                <a:defRPr/>
              </a:pPr>
              <a:t>26</a:t>
            </a:fld>
            <a:endParaRPr sz="900" dirty="0">
              <a:solidFill>
                <a:prstClr val="black"/>
              </a:solidFill>
            </a:endParaRPr>
          </a:p>
        </p:txBody>
      </p:sp>
      <p:sp>
        <p:nvSpPr>
          <p:cNvPr id="16" name="슬라이드 번호 개체 틀 3">
            <a:extLst>
              <a:ext uri="{FF2B5EF4-FFF2-40B4-BE49-F238E27FC236}">
                <a16:creationId xmlns:a16="http://schemas.microsoft.com/office/drawing/2014/main" id="{EA06F8F4-3EDE-0749-A620-2C1A138A5AF0}"/>
              </a:ext>
            </a:extLst>
          </p:cNvPr>
          <p:cNvSpPr txBox="1">
            <a:spLocks/>
          </p:cNvSpPr>
          <p:nvPr/>
        </p:nvSpPr>
        <p:spPr>
          <a:xfrm>
            <a:off x="299401" y="9520856"/>
            <a:ext cx="2060991" cy="175259"/>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lang="en-US" altLang="ko-KR" dirty="0">
                <a:solidFill>
                  <a:prstClr val="black"/>
                </a:solidFill>
                <a:latin typeface="Arial" panose="020B0604020202020204" pitchFamily="34" charset="0"/>
                <a:cs typeface="Arial" panose="020B0604020202020204" pitchFamily="34" charset="0"/>
              </a:rPr>
              <a:t>Dated 30-Nov 23  Rev. 01</a:t>
            </a:r>
            <a:endParaRPr lang="ko-KR" altLang="en-US" dirty="0">
              <a:solidFill>
                <a:prstClr val="black"/>
              </a:solidFill>
              <a:latin typeface="Arial" panose="020B0604020202020204" pitchFamily="34" charset="0"/>
              <a:cs typeface="Arial" panose="020B0604020202020204" pitchFamily="34" charset="0"/>
            </a:endParaRPr>
          </a:p>
        </p:txBody>
      </p:sp>
      <p:sp>
        <p:nvSpPr>
          <p:cNvPr id="17" name="Holder 3">
            <a:extLst>
              <a:ext uri="{FF2B5EF4-FFF2-40B4-BE49-F238E27FC236}">
                <a16:creationId xmlns:a16="http://schemas.microsoft.com/office/drawing/2014/main" id="{E0ED5FD3-8EBF-2A12-69C4-771EC9E6CE82}"/>
              </a:ext>
            </a:extLst>
          </p:cNvPr>
          <p:cNvSpPr txBox="1">
            <a:spLocks/>
          </p:cNvSpPr>
          <p:nvPr/>
        </p:nvSpPr>
        <p:spPr>
          <a:xfrm>
            <a:off x="5147476" y="203944"/>
            <a:ext cx="1447800" cy="276999"/>
          </a:xfrm>
          <a:prstGeom prst="rect">
            <a:avLst/>
          </a:prstGeom>
        </p:spPr>
        <p:txBody>
          <a:bodyPr wrap="square" lIns="0" tIns="0" rIns="0" bIns="0">
            <a:spAutoFit/>
          </a:bodyPr>
          <a:lstStyle>
            <a:lvl1pPr marL="0">
              <a:defRPr>
                <a:solidFill>
                  <a:srgbClr val="FF99FF"/>
                </a:solidFill>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defTabSz="914400" latinLnBrk="0"/>
            <a:r>
              <a:rPr lang="en-US" sz="1800" kern="0" dirty="0"/>
              <a:t>&lt;Preliminary&gt;</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p:nvPr/>
        </p:nvSpPr>
        <p:spPr>
          <a:xfrm>
            <a:off x="400913" y="301879"/>
            <a:ext cx="622935" cy="299720"/>
          </a:xfrm>
          <a:prstGeom prst="rect">
            <a:avLst/>
          </a:prstGeom>
        </p:spPr>
        <p:txBody>
          <a:bodyPr vert="horz" wrap="square" lIns="0" tIns="12700" rIns="0" bIns="0" rtlCol="0">
            <a:spAutoFit/>
          </a:bodyPr>
          <a:lstStyle/>
          <a:p>
            <a:pPr marL="12700">
              <a:lnSpc>
                <a:spcPct val="100000"/>
              </a:lnSpc>
              <a:spcBef>
                <a:spcPts val="100"/>
              </a:spcBef>
            </a:pPr>
            <a:r>
              <a:rPr sz="1800" b="1" spc="-5" dirty="0">
                <a:latin typeface="Arial"/>
                <a:cs typeface="Arial"/>
              </a:rPr>
              <a:t>CQ24</a:t>
            </a:r>
            <a:endParaRPr sz="1800" dirty="0">
              <a:latin typeface="Arial"/>
              <a:cs typeface="Arial"/>
            </a:endParaRPr>
          </a:p>
        </p:txBody>
      </p:sp>
      <p:sp>
        <p:nvSpPr>
          <p:cNvPr id="5" name="object 5"/>
          <p:cNvSpPr txBox="1"/>
          <p:nvPr/>
        </p:nvSpPr>
        <p:spPr>
          <a:xfrm>
            <a:off x="400913" y="4884712"/>
            <a:ext cx="6038542" cy="151965"/>
          </a:xfrm>
          <a:prstGeom prst="rect">
            <a:avLst/>
          </a:prstGeom>
        </p:spPr>
        <p:txBody>
          <a:bodyPr vert="horz" wrap="square" lIns="0" tIns="13335" rIns="0" bIns="0" rtlCol="0">
            <a:spAutoFit/>
          </a:bodyPr>
          <a:lstStyle/>
          <a:p>
            <a:pPr marL="12700" algn="ctr">
              <a:lnSpc>
                <a:spcPct val="100000"/>
              </a:lnSpc>
              <a:spcBef>
                <a:spcPts val="105"/>
              </a:spcBef>
            </a:pPr>
            <a:r>
              <a:rPr sz="900" b="1" spc="-5" dirty="0">
                <a:latin typeface="Arial"/>
                <a:cs typeface="Arial"/>
              </a:rPr>
              <a:t>[Figure.</a:t>
            </a:r>
            <a:r>
              <a:rPr sz="900" b="1" spc="5" dirty="0">
                <a:latin typeface="Arial"/>
                <a:cs typeface="Arial"/>
              </a:rPr>
              <a:t> </a:t>
            </a:r>
            <a:r>
              <a:rPr lang="en-US" sz="900" b="1" spc="5" dirty="0">
                <a:latin typeface="Arial"/>
                <a:cs typeface="Arial"/>
              </a:rPr>
              <a:t>21</a:t>
            </a:r>
            <a:r>
              <a:rPr sz="900" b="1" spc="-5" dirty="0">
                <a:latin typeface="Arial"/>
                <a:cs typeface="Arial"/>
              </a:rPr>
              <a:t>]</a:t>
            </a:r>
            <a:r>
              <a:rPr sz="900" b="1" spc="5" dirty="0">
                <a:latin typeface="Arial"/>
                <a:cs typeface="Arial"/>
              </a:rPr>
              <a:t> </a:t>
            </a:r>
            <a:r>
              <a:rPr sz="900" b="1" dirty="0">
                <a:latin typeface="Arial"/>
                <a:cs typeface="Arial"/>
              </a:rPr>
              <a:t>The</a:t>
            </a:r>
            <a:r>
              <a:rPr sz="900" b="1" spc="15" dirty="0">
                <a:latin typeface="Arial"/>
                <a:cs typeface="Arial"/>
              </a:rPr>
              <a:t> </a:t>
            </a:r>
            <a:r>
              <a:rPr sz="900" b="1" dirty="0">
                <a:latin typeface="Arial"/>
                <a:cs typeface="Arial"/>
              </a:rPr>
              <a:t>decision</a:t>
            </a:r>
            <a:r>
              <a:rPr sz="900" b="1" spc="-15" dirty="0">
                <a:latin typeface="Arial"/>
                <a:cs typeface="Arial"/>
              </a:rPr>
              <a:t> </a:t>
            </a:r>
            <a:r>
              <a:rPr sz="900" b="1" spc="-5" dirty="0">
                <a:latin typeface="Arial"/>
                <a:cs typeface="Arial"/>
              </a:rPr>
              <a:t>of</a:t>
            </a:r>
            <a:r>
              <a:rPr sz="900" b="1" spc="10" dirty="0">
                <a:latin typeface="Arial"/>
                <a:cs typeface="Arial"/>
              </a:rPr>
              <a:t> </a:t>
            </a:r>
            <a:r>
              <a:rPr sz="900" b="1" spc="-5" dirty="0">
                <a:latin typeface="Arial"/>
                <a:cs typeface="Arial"/>
              </a:rPr>
              <a:t>current</a:t>
            </a:r>
            <a:r>
              <a:rPr sz="900" b="1" spc="5" dirty="0">
                <a:latin typeface="Arial"/>
                <a:cs typeface="Arial"/>
              </a:rPr>
              <a:t> </a:t>
            </a:r>
            <a:r>
              <a:rPr sz="900" b="1" dirty="0">
                <a:latin typeface="Arial"/>
                <a:cs typeface="Arial"/>
              </a:rPr>
              <a:t>dimming</a:t>
            </a:r>
            <a:r>
              <a:rPr sz="900" b="1" spc="-20" dirty="0">
                <a:latin typeface="Arial"/>
                <a:cs typeface="Arial"/>
              </a:rPr>
              <a:t> </a:t>
            </a:r>
            <a:r>
              <a:rPr sz="900" b="1" dirty="0">
                <a:latin typeface="Arial"/>
                <a:cs typeface="Arial"/>
              </a:rPr>
              <a:t>method</a:t>
            </a:r>
          </a:p>
        </p:txBody>
      </p:sp>
      <p:sp>
        <p:nvSpPr>
          <p:cNvPr id="6" name="object 6"/>
          <p:cNvSpPr txBox="1"/>
          <p:nvPr/>
        </p:nvSpPr>
        <p:spPr>
          <a:xfrm>
            <a:off x="392074" y="906018"/>
            <a:ext cx="1797685" cy="239395"/>
          </a:xfrm>
          <a:prstGeom prst="rect">
            <a:avLst/>
          </a:prstGeom>
        </p:spPr>
        <p:txBody>
          <a:bodyPr vert="horz" wrap="square" lIns="0" tIns="12700" rIns="0" bIns="0" rtlCol="0">
            <a:spAutoFit/>
          </a:bodyPr>
          <a:lstStyle/>
          <a:p>
            <a:pPr marL="12700">
              <a:lnSpc>
                <a:spcPct val="100000"/>
              </a:lnSpc>
              <a:spcBef>
                <a:spcPts val="100"/>
              </a:spcBef>
            </a:pPr>
            <a:r>
              <a:rPr sz="1400" b="1" spc="-5" dirty="0">
                <a:latin typeface="Arial"/>
                <a:cs typeface="Arial"/>
              </a:rPr>
              <a:t>The</a:t>
            </a:r>
            <a:r>
              <a:rPr sz="1400" b="1" spc="-25" dirty="0">
                <a:latin typeface="Arial"/>
                <a:cs typeface="Arial"/>
              </a:rPr>
              <a:t> </a:t>
            </a:r>
            <a:r>
              <a:rPr sz="1400" b="1" dirty="0">
                <a:latin typeface="Arial"/>
                <a:cs typeface="Arial"/>
              </a:rPr>
              <a:t>current</a:t>
            </a:r>
            <a:r>
              <a:rPr sz="1400" b="1" spc="-50" dirty="0">
                <a:latin typeface="Arial"/>
                <a:cs typeface="Arial"/>
              </a:rPr>
              <a:t> </a:t>
            </a:r>
            <a:r>
              <a:rPr sz="1400" b="1" dirty="0">
                <a:latin typeface="Arial"/>
                <a:cs typeface="Arial"/>
              </a:rPr>
              <a:t>dimming</a:t>
            </a:r>
            <a:endParaRPr sz="1400" dirty="0">
              <a:latin typeface="Arial"/>
              <a:cs typeface="Arial"/>
            </a:endParaRPr>
          </a:p>
        </p:txBody>
      </p:sp>
      <p:pic>
        <p:nvPicPr>
          <p:cNvPr id="8" name="object 8"/>
          <p:cNvPicPr/>
          <p:nvPr/>
        </p:nvPicPr>
        <p:blipFill>
          <a:blip r:embed="rId2" cstate="print"/>
          <a:stretch>
            <a:fillRect/>
          </a:stretch>
        </p:blipFill>
        <p:spPr>
          <a:xfrm>
            <a:off x="1092530" y="3201937"/>
            <a:ext cx="4713326" cy="1371600"/>
          </a:xfrm>
          <a:prstGeom prst="rect">
            <a:avLst/>
          </a:prstGeom>
        </p:spPr>
      </p:pic>
      <p:sp>
        <p:nvSpPr>
          <p:cNvPr id="13" name="TextBox 12">
            <a:extLst>
              <a:ext uri="{FF2B5EF4-FFF2-40B4-BE49-F238E27FC236}">
                <a16:creationId xmlns:a16="http://schemas.microsoft.com/office/drawing/2014/main" id="{3C4F127A-08FC-A305-C735-76F5DA9BBBFD}"/>
              </a:ext>
            </a:extLst>
          </p:cNvPr>
          <p:cNvSpPr txBox="1"/>
          <p:nvPr/>
        </p:nvSpPr>
        <p:spPr>
          <a:xfrm>
            <a:off x="400913" y="1295906"/>
            <a:ext cx="6038542" cy="1384995"/>
          </a:xfrm>
          <a:prstGeom prst="rect">
            <a:avLst/>
          </a:prstGeom>
          <a:noFill/>
        </p:spPr>
        <p:txBody>
          <a:bodyPr wrap="square" lIns="0" tIns="0" rIns="0" bIns="0" rtlCol="0">
            <a:spAutoFit/>
          </a:bodyPr>
          <a:lstStyle/>
          <a:p>
            <a:pPr algn="just"/>
            <a:r>
              <a:rPr lang="en-US" altLang="ko-KR" sz="900" dirty="0">
                <a:latin typeface="Arial" panose="020B0604020202020204" pitchFamily="34" charset="0"/>
                <a:cs typeface="Arial" panose="020B0604020202020204" pitchFamily="34" charset="0"/>
              </a:rPr>
              <a:t>There </a:t>
            </a:r>
            <a:r>
              <a:rPr lang="en-US" altLang="ko-KR" sz="900" dirty="0">
                <a:latin typeface="Arial"/>
                <a:cs typeface="Arial"/>
              </a:rPr>
              <a:t>are </a:t>
            </a:r>
            <a:r>
              <a:rPr lang="en-US" altLang="ko-KR" sz="900" spc="-5" dirty="0">
                <a:latin typeface="Arial"/>
                <a:cs typeface="Arial"/>
              </a:rPr>
              <a:t>two </a:t>
            </a:r>
            <a:r>
              <a:rPr lang="en-US" altLang="ko-KR" sz="900" dirty="0">
                <a:latin typeface="Arial"/>
                <a:cs typeface="Arial"/>
              </a:rPr>
              <a:t>types of current dimming method, one </a:t>
            </a:r>
            <a:r>
              <a:rPr lang="en-US" altLang="ko-KR" sz="900" spc="-5" dirty="0">
                <a:latin typeface="Arial"/>
                <a:cs typeface="Arial"/>
              </a:rPr>
              <a:t>is </a:t>
            </a:r>
            <a:r>
              <a:rPr lang="en-US" altLang="ko-KR" sz="900" dirty="0">
                <a:latin typeface="Arial"/>
                <a:cs typeface="Arial"/>
              </a:rPr>
              <a:t>that the current step </a:t>
            </a:r>
            <a:r>
              <a:rPr lang="en-US" altLang="ko-KR" sz="900" spc="-5" dirty="0">
                <a:latin typeface="Arial"/>
                <a:cs typeface="Arial"/>
              </a:rPr>
              <a:t>is </a:t>
            </a:r>
            <a:r>
              <a:rPr lang="en-US" altLang="ko-KR" sz="900" dirty="0">
                <a:latin typeface="Arial"/>
                <a:cs typeface="Arial"/>
              </a:rPr>
              <a:t>accomplished to accumulate the same </a:t>
            </a:r>
            <a:r>
              <a:rPr lang="en-US" altLang="ko-KR" sz="900" spc="5" dirty="0">
                <a:latin typeface="Arial"/>
                <a:cs typeface="Arial"/>
              </a:rPr>
              <a:t> </a:t>
            </a:r>
            <a:r>
              <a:rPr lang="en-US" altLang="ko-KR" sz="900" dirty="0">
                <a:latin typeface="Arial"/>
                <a:cs typeface="Arial"/>
              </a:rPr>
              <a:t>amount of step over </a:t>
            </a:r>
            <a:r>
              <a:rPr lang="en-US" altLang="ko-KR" sz="900" spc="-5" dirty="0">
                <a:latin typeface="Arial"/>
                <a:cs typeface="Arial"/>
              </a:rPr>
              <a:t>whole </a:t>
            </a:r>
            <a:r>
              <a:rPr lang="en-US" altLang="ko-KR" sz="900" dirty="0">
                <a:latin typeface="Arial"/>
                <a:cs typeface="Arial"/>
              </a:rPr>
              <a:t>duty period </a:t>
            </a:r>
            <a:r>
              <a:rPr lang="en-US" altLang="ko-KR" sz="900" spc="-5" dirty="0">
                <a:latin typeface="Arial"/>
                <a:cs typeface="Arial"/>
              </a:rPr>
              <a:t>in </a:t>
            </a:r>
            <a:r>
              <a:rPr lang="en-US" altLang="ko-KR" sz="900" dirty="0">
                <a:latin typeface="Arial"/>
                <a:cs typeface="Arial"/>
              </a:rPr>
              <a:t>the </a:t>
            </a:r>
            <a:r>
              <a:rPr lang="en-US" altLang="ko-KR" sz="900" spc="-5" dirty="0">
                <a:latin typeface="Arial"/>
                <a:cs typeface="Arial"/>
              </a:rPr>
              <a:t>Figure.15-1 and </a:t>
            </a:r>
            <a:r>
              <a:rPr lang="en-US" altLang="ko-KR" sz="900" dirty="0">
                <a:latin typeface="Arial"/>
                <a:cs typeface="Arial"/>
              </a:rPr>
              <a:t>the </a:t>
            </a:r>
            <a:r>
              <a:rPr lang="en-US" altLang="ko-KR" sz="900" spc="-5" dirty="0">
                <a:latin typeface="Arial"/>
                <a:cs typeface="Arial"/>
              </a:rPr>
              <a:t>other is </a:t>
            </a:r>
            <a:r>
              <a:rPr lang="en-US" altLang="ko-KR" sz="900" dirty="0">
                <a:latin typeface="Arial"/>
                <a:cs typeface="Arial"/>
              </a:rPr>
              <a:t>that the current step </a:t>
            </a:r>
            <a:r>
              <a:rPr lang="en-US" altLang="ko-KR" sz="900" spc="-5" dirty="0">
                <a:latin typeface="Arial"/>
                <a:cs typeface="Arial"/>
              </a:rPr>
              <a:t>is </a:t>
            </a:r>
            <a:r>
              <a:rPr lang="en-US" altLang="ko-KR" sz="900" dirty="0">
                <a:latin typeface="Arial"/>
                <a:cs typeface="Arial"/>
              </a:rPr>
              <a:t>accomplished to </a:t>
            </a:r>
            <a:r>
              <a:rPr lang="en-US" altLang="ko-KR" sz="900" spc="5" dirty="0">
                <a:latin typeface="Arial"/>
                <a:cs typeface="Arial"/>
              </a:rPr>
              <a:t> </a:t>
            </a:r>
            <a:r>
              <a:rPr lang="en-US" altLang="ko-KR" sz="900" dirty="0">
                <a:latin typeface="Arial"/>
                <a:cs typeface="Arial"/>
              </a:rPr>
              <a:t>accumulate different amount of step </a:t>
            </a:r>
            <a:r>
              <a:rPr lang="en-US" altLang="ko-KR" sz="900" spc="-5" dirty="0">
                <a:latin typeface="Arial"/>
                <a:cs typeface="Arial"/>
              </a:rPr>
              <a:t>in </a:t>
            </a:r>
            <a:r>
              <a:rPr lang="en-US" altLang="ko-KR" sz="900" dirty="0">
                <a:latin typeface="Arial"/>
                <a:cs typeface="Arial"/>
              </a:rPr>
              <a:t>each duty period </a:t>
            </a:r>
            <a:r>
              <a:rPr lang="en-US" altLang="ko-KR" sz="900" spc="-5" dirty="0">
                <a:latin typeface="Arial"/>
                <a:cs typeface="Arial"/>
              </a:rPr>
              <a:t>in </a:t>
            </a:r>
            <a:r>
              <a:rPr lang="en-US" altLang="ko-KR" sz="900" dirty="0">
                <a:latin typeface="Arial"/>
                <a:cs typeface="Arial"/>
              </a:rPr>
              <a:t>the </a:t>
            </a:r>
            <a:r>
              <a:rPr lang="en-US" altLang="ko-KR" sz="900" spc="-5" dirty="0">
                <a:latin typeface="Arial"/>
                <a:cs typeface="Arial"/>
              </a:rPr>
              <a:t>Figure.15-2. The </a:t>
            </a:r>
            <a:r>
              <a:rPr lang="en-US" altLang="ko-KR" sz="900" dirty="0">
                <a:latin typeface="Arial"/>
                <a:cs typeface="Arial"/>
              </a:rPr>
              <a:t>first </a:t>
            </a:r>
            <a:r>
              <a:rPr lang="en-US" altLang="ko-KR" sz="900" spc="-5" dirty="0">
                <a:latin typeface="Arial"/>
                <a:cs typeface="Arial"/>
              </a:rPr>
              <a:t>is </a:t>
            </a:r>
            <a:r>
              <a:rPr lang="en-US" altLang="ko-KR" sz="900" dirty="0">
                <a:latin typeface="Arial"/>
                <a:cs typeface="Arial"/>
              </a:rPr>
              <a:t>named </a:t>
            </a:r>
            <a:r>
              <a:rPr lang="en-US" altLang="ko-KR" sz="900" spc="-5" dirty="0">
                <a:latin typeface="Arial"/>
                <a:cs typeface="Arial"/>
              </a:rPr>
              <a:t>as </a:t>
            </a:r>
            <a:r>
              <a:rPr lang="en-US" altLang="ko-KR" sz="900" dirty="0">
                <a:latin typeface="Arial"/>
                <a:cs typeface="Arial"/>
              </a:rPr>
              <a:t>the current dimming </a:t>
            </a:r>
            <a:r>
              <a:rPr lang="en-US" altLang="ko-KR" sz="900" spc="-5" dirty="0">
                <a:latin typeface="Arial"/>
                <a:cs typeface="Arial"/>
              </a:rPr>
              <a:t>1 </a:t>
            </a:r>
            <a:r>
              <a:rPr lang="en-US" altLang="ko-KR" sz="900" spc="-235" dirty="0">
                <a:latin typeface="Arial"/>
                <a:cs typeface="Arial"/>
              </a:rPr>
              <a:t> </a:t>
            </a:r>
            <a:r>
              <a:rPr lang="en-US" altLang="ko-KR" sz="900" dirty="0">
                <a:latin typeface="Arial"/>
                <a:cs typeface="Arial"/>
              </a:rPr>
              <a:t>and</a:t>
            </a:r>
            <a:r>
              <a:rPr lang="en-US" altLang="ko-KR" sz="900" spc="-10" dirty="0">
                <a:latin typeface="Arial"/>
                <a:cs typeface="Arial"/>
              </a:rPr>
              <a:t> </a:t>
            </a:r>
            <a:r>
              <a:rPr lang="en-US" altLang="ko-KR" sz="900" dirty="0">
                <a:latin typeface="Arial"/>
                <a:cs typeface="Arial"/>
              </a:rPr>
              <a:t>the</a:t>
            </a:r>
            <a:r>
              <a:rPr lang="en-US" altLang="ko-KR" sz="900" spc="-5" dirty="0">
                <a:latin typeface="Arial"/>
                <a:cs typeface="Arial"/>
              </a:rPr>
              <a:t> </a:t>
            </a:r>
            <a:r>
              <a:rPr lang="en-US" altLang="ko-KR" sz="900" dirty="0">
                <a:latin typeface="Arial"/>
                <a:cs typeface="Arial"/>
              </a:rPr>
              <a:t>second,</a:t>
            </a:r>
            <a:r>
              <a:rPr lang="en-US" altLang="ko-KR" sz="900" spc="-35" dirty="0">
                <a:latin typeface="Arial"/>
                <a:cs typeface="Arial"/>
              </a:rPr>
              <a:t> </a:t>
            </a:r>
            <a:r>
              <a:rPr lang="en-US" altLang="ko-KR" sz="900" dirty="0">
                <a:latin typeface="Arial"/>
                <a:cs typeface="Arial"/>
              </a:rPr>
              <a:t>the</a:t>
            </a:r>
            <a:r>
              <a:rPr lang="en-US" altLang="ko-KR" sz="900" spc="-5" dirty="0">
                <a:latin typeface="Arial"/>
                <a:cs typeface="Arial"/>
              </a:rPr>
              <a:t> </a:t>
            </a:r>
            <a:r>
              <a:rPr lang="en-US" altLang="ko-KR" sz="900" dirty="0">
                <a:latin typeface="Arial"/>
                <a:cs typeface="Arial"/>
              </a:rPr>
              <a:t>current</a:t>
            </a:r>
            <a:r>
              <a:rPr lang="en-US" altLang="ko-KR" sz="900" spc="-25" dirty="0">
                <a:latin typeface="Arial"/>
                <a:cs typeface="Arial"/>
              </a:rPr>
              <a:t> </a:t>
            </a:r>
            <a:r>
              <a:rPr lang="en-US" altLang="ko-KR" sz="900" dirty="0">
                <a:latin typeface="Arial"/>
                <a:cs typeface="Arial"/>
              </a:rPr>
              <a:t>dimming 2.</a:t>
            </a:r>
            <a:r>
              <a:rPr lang="en-US" altLang="ko-KR" sz="900" spc="-20" dirty="0">
                <a:latin typeface="Arial"/>
                <a:cs typeface="Arial"/>
              </a:rPr>
              <a:t> </a:t>
            </a:r>
          </a:p>
          <a:p>
            <a:pPr algn="just"/>
            <a:r>
              <a:rPr lang="en-US" altLang="ko-KR" sz="900" spc="-5" dirty="0">
                <a:latin typeface="Arial"/>
                <a:cs typeface="Arial"/>
              </a:rPr>
              <a:t>The</a:t>
            </a:r>
            <a:r>
              <a:rPr lang="en-US" altLang="ko-KR" sz="900" spc="10" dirty="0">
                <a:latin typeface="Arial"/>
                <a:cs typeface="Arial"/>
              </a:rPr>
              <a:t> </a:t>
            </a:r>
            <a:r>
              <a:rPr lang="en-US" altLang="ko-KR" sz="900" dirty="0">
                <a:latin typeface="Arial"/>
                <a:cs typeface="Arial"/>
              </a:rPr>
              <a:t>decision</a:t>
            </a:r>
            <a:r>
              <a:rPr lang="en-US" altLang="ko-KR" sz="900" spc="-20" dirty="0">
                <a:latin typeface="Arial"/>
                <a:cs typeface="Arial"/>
              </a:rPr>
              <a:t> </a:t>
            </a:r>
            <a:r>
              <a:rPr lang="en-US" altLang="ko-KR" sz="900" dirty="0">
                <a:latin typeface="Arial"/>
                <a:cs typeface="Arial"/>
              </a:rPr>
              <a:t>can</a:t>
            </a:r>
            <a:r>
              <a:rPr lang="en-US" altLang="ko-KR" sz="900" spc="-15" dirty="0">
                <a:latin typeface="Arial"/>
                <a:cs typeface="Arial"/>
              </a:rPr>
              <a:t> </a:t>
            </a:r>
            <a:r>
              <a:rPr lang="en-US" altLang="ko-KR" sz="900" dirty="0">
                <a:latin typeface="Arial"/>
                <a:cs typeface="Arial"/>
              </a:rPr>
              <a:t>be</a:t>
            </a:r>
            <a:r>
              <a:rPr lang="en-US" altLang="ko-KR" sz="900" spc="15" dirty="0">
                <a:latin typeface="Arial"/>
                <a:cs typeface="Arial"/>
              </a:rPr>
              <a:t> </a:t>
            </a:r>
            <a:r>
              <a:rPr lang="en-US" altLang="ko-KR" sz="900" dirty="0">
                <a:latin typeface="Arial"/>
                <a:cs typeface="Arial"/>
              </a:rPr>
              <a:t>performed</a:t>
            </a:r>
            <a:r>
              <a:rPr lang="en-US" altLang="ko-KR" sz="900" spc="-20" dirty="0">
                <a:latin typeface="Arial"/>
                <a:cs typeface="Arial"/>
              </a:rPr>
              <a:t> </a:t>
            </a:r>
            <a:r>
              <a:rPr lang="en-US" altLang="ko-KR" sz="900" spc="-5" dirty="0">
                <a:latin typeface="Arial"/>
                <a:cs typeface="Arial"/>
              </a:rPr>
              <a:t>with</a:t>
            </a:r>
            <a:r>
              <a:rPr lang="en-US" altLang="ko-KR" sz="900" spc="10" dirty="0">
                <a:latin typeface="Arial"/>
                <a:cs typeface="Arial"/>
              </a:rPr>
              <a:t> </a:t>
            </a:r>
            <a:r>
              <a:rPr lang="en-US" altLang="ko-KR" sz="900" dirty="0">
                <a:latin typeface="Arial"/>
                <a:cs typeface="Arial"/>
              </a:rPr>
              <a:t>setting</a:t>
            </a:r>
            <a:r>
              <a:rPr lang="en-US" altLang="ko-KR" sz="900" spc="-10" dirty="0">
                <a:latin typeface="Arial"/>
                <a:cs typeface="Arial"/>
              </a:rPr>
              <a:t> </a:t>
            </a:r>
            <a:r>
              <a:rPr lang="en-US" altLang="ko-KR" sz="900" dirty="0">
                <a:latin typeface="Arial"/>
                <a:cs typeface="Arial"/>
              </a:rPr>
              <a:t>the</a:t>
            </a:r>
            <a:r>
              <a:rPr lang="en-US" altLang="ko-KR" sz="900" spc="5" dirty="0">
                <a:latin typeface="Arial"/>
                <a:cs typeface="Arial"/>
              </a:rPr>
              <a:t> </a:t>
            </a:r>
            <a:r>
              <a:rPr lang="en-US" altLang="ko-KR" sz="900" spc="-5" dirty="0">
                <a:latin typeface="Arial"/>
                <a:cs typeface="Arial"/>
              </a:rPr>
              <a:t>FULL_STEP_DUTY_TH</a:t>
            </a:r>
            <a:r>
              <a:rPr lang="en-US" altLang="ko-KR" sz="900" spc="35" dirty="0">
                <a:latin typeface="Arial"/>
                <a:cs typeface="Arial"/>
              </a:rPr>
              <a:t> </a:t>
            </a:r>
            <a:r>
              <a:rPr lang="en-US" altLang="ko-KR" sz="900" dirty="0">
                <a:latin typeface="Arial"/>
                <a:cs typeface="Arial"/>
              </a:rPr>
              <a:t>register. If the </a:t>
            </a:r>
            <a:r>
              <a:rPr lang="en-US" altLang="ko-KR" sz="900" spc="-5" dirty="0">
                <a:latin typeface="Arial"/>
                <a:cs typeface="Arial"/>
              </a:rPr>
              <a:t>DUTY </a:t>
            </a:r>
            <a:r>
              <a:rPr lang="en-US" altLang="ko-KR" sz="900" dirty="0">
                <a:latin typeface="Arial"/>
                <a:cs typeface="Arial"/>
              </a:rPr>
              <a:t>data (or </a:t>
            </a:r>
            <a:r>
              <a:rPr lang="en-US" altLang="ko-KR" sz="900" spc="-5" dirty="0">
                <a:latin typeface="Arial"/>
                <a:cs typeface="Arial"/>
              </a:rPr>
              <a:t>DUTY_FIX </a:t>
            </a:r>
            <a:r>
              <a:rPr lang="en-US" altLang="ko-KR" sz="900" dirty="0">
                <a:latin typeface="Arial"/>
                <a:cs typeface="Arial"/>
              </a:rPr>
              <a:t>register value) </a:t>
            </a:r>
            <a:r>
              <a:rPr lang="en-US" altLang="ko-KR" sz="900" spc="-5" dirty="0">
                <a:latin typeface="Arial"/>
                <a:cs typeface="Arial"/>
              </a:rPr>
              <a:t>is </a:t>
            </a:r>
            <a:r>
              <a:rPr lang="en-US" altLang="ko-KR" sz="900" dirty="0">
                <a:latin typeface="Arial"/>
                <a:cs typeface="Arial"/>
              </a:rPr>
              <a:t>smaller than the </a:t>
            </a:r>
            <a:r>
              <a:rPr lang="en-US" altLang="ko-KR" sz="900" spc="-5" dirty="0">
                <a:latin typeface="Arial"/>
                <a:cs typeface="Arial"/>
              </a:rPr>
              <a:t>FULL_STEP_DUTY_TH </a:t>
            </a:r>
            <a:r>
              <a:rPr lang="en-US" altLang="ko-KR" sz="900" dirty="0">
                <a:latin typeface="Arial"/>
                <a:cs typeface="Arial"/>
              </a:rPr>
              <a:t>, then the current dimming </a:t>
            </a:r>
            <a:r>
              <a:rPr lang="en-US" altLang="ko-KR" sz="900" spc="-5" dirty="0">
                <a:latin typeface="Arial"/>
                <a:cs typeface="Arial"/>
              </a:rPr>
              <a:t>1 is </a:t>
            </a:r>
            <a:r>
              <a:rPr lang="en-US" altLang="ko-KR" sz="900" dirty="0">
                <a:latin typeface="Arial"/>
                <a:cs typeface="Arial"/>
              </a:rPr>
              <a:t> applied for local dimming and if the </a:t>
            </a:r>
            <a:r>
              <a:rPr lang="en-US" altLang="ko-KR" sz="900" spc="-5" dirty="0">
                <a:latin typeface="Arial"/>
                <a:cs typeface="Arial"/>
              </a:rPr>
              <a:t>DUTY </a:t>
            </a:r>
            <a:r>
              <a:rPr lang="en-US" altLang="ko-KR" sz="900" dirty="0">
                <a:latin typeface="Arial"/>
                <a:cs typeface="Arial"/>
              </a:rPr>
              <a:t>data </a:t>
            </a:r>
            <a:r>
              <a:rPr lang="en-US" altLang="ko-KR" sz="900" spc="-5" dirty="0">
                <a:latin typeface="Arial"/>
                <a:cs typeface="Arial"/>
              </a:rPr>
              <a:t>is </a:t>
            </a:r>
            <a:r>
              <a:rPr lang="en-US" altLang="ko-KR" sz="900" dirty="0">
                <a:latin typeface="Arial"/>
                <a:cs typeface="Arial"/>
              </a:rPr>
              <a:t>great than or the same as the </a:t>
            </a:r>
            <a:r>
              <a:rPr lang="en-US" altLang="ko-KR" sz="900" spc="-5" dirty="0">
                <a:latin typeface="Arial"/>
                <a:cs typeface="Arial"/>
              </a:rPr>
              <a:t>FULL_STEP_DUTY_TH </a:t>
            </a:r>
            <a:r>
              <a:rPr lang="en-US" altLang="ko-KR" sz="900" dirty="0">
                <a:latin typeface="Arial"/>
                <a:cs typeface="Arial"/>
              </a:rPr>
              <a:t>, then the current </a:t>
            </a:r>
            <a:r>
              <a:rPr lang="en-US" altLang="ko-KR" sz="900" spc="-235" dirty="0">
                <a:latin typeface="Arial"/>
                <a:cs typeface="Arial"/>
              </a:rPr>
              <a:t> </a:t>
            </a:r>
            <a:r>
              <a:rPr lang="en-US" altLang="ko-KR" sz="900" dirty="0">
                <a:latin typeface="Arial"/>
                <a:cs typeface="Arial"/>
              </a:rPr>
              <a:t>dimming</a:t>
            </a:r>
            <a:r>
              <a:rPr lang="en-US" altLang="ko-KR" sz="900" spc="-30" dirty="0">
                <a:latin typeface="Arial"/>
                <a:cs typeface="Arial"/>
              </a:rPr>
              <a:t> </a:t>
            </a:r>
            <a:r>
              <a:rPr lang="en-US" altLang="ko-KR" sz="900" spc="-5" dirty="0">
                <a:latin typeface="Arial"/>
                <a:cs typeface="Arial"/>
              </a:rPr>
              <a:t>2</a:t>
            </a:r>
            <a:r>
              <a:rPr lang="en-US" altLang="ko-KR" sz="900" spc="5" dirty="0">
                <a:latin typeface="Arial"/>
                <a:cs typeface="Arial"/>
              </a:rPr>
              <a:t> </a:t>
            </a:r>
            <a:r>
              <a:rPr lang="en-US" altLang="ko-KR" sz="900" dirty="0">
                <a:latin typeface="Arial"/>
                <a:cs typeface="Arial"/>
              </a:rPr>
              <a:t>is applied</a:t>
            </a:r>
            <a:r>
              <a:rPr lang="en-US" altLang="ko-KR" sz="900" spc="-30" dirty="0">
                <a:latin typeface="Arial"/>
                <a:cs typeface="Arial"/>
              </a:rPr>
              <a:t> </a:t>
            </a:r>
            <a:r>
              <a:rPr lang="en-US" altLang="ko-KR" sz="900" dirty="0">
                <a:latin typeface="Arial"/>
                <a:cs typeface="Arial"/>
              </a:rPr>
              <a:t>for</a:t>
            </a:r>
            <a:r>
              <a:rPr lang="en-US" altLang="ko-KR" sz="900" spc="-10" dirty="0">
                <a:latin typeface="Arial"/>
                <a:cs typeface="Arial"/>
              </a:rPr>
              <a:t> </a:t>
            </a:r>
            <a:r>
              <a:rPr lang="en-US" altLang="ko-KR" sz="900" dirty="0">
                <a:latin typeface="Arial"/>
                <a:cs typeface="Arial"/>
              </a:rPr>
              <a:t>local</a:t>
            </a:r>
            <a:r>
              <a:rPr lang="en-US" altLang="ko-KR" sz="900" spc="-15" dirty="0">
                <a:latin typeface="Arial"/>
                <a:cs typeface="Arial"/>
              </a:rPr>
              <a:t> </a:t>
            </a:r>
            <a:r>
              <a:rPr lang="en-US" altLang="ko-KR" sz="900" dirty="0">
                <a:latin typeface="Arial"/>
                <a:cs typeface="Arial"/>
              </a:rPr>
              <a:t>dimming.</a:t>
            </a:r>
            <a:r>
              <a:rPr lang="en-US" altLang="ko-KR" sz="900" spc="-25" dirty="0">
                <a:latin typeface="Arial"/>
                <a:cs typeface="Arial"/>
              </a:rPr>
              <a:t> </a:t>
            </a:r>
            <a:r>
              <a:rPr lang="en-US" altLang="ko-KR" sz="900" dirty="0">
                <a:latin typeface="Arial"/>
                <a:cs typeface="Arial"/>
              </a:rPr>
              <a:t>It</a:t>
            </a:r>
            <a:r>
              <a:rPr lang="en-US" altLang="ko-KR" sz="900" spc="-10" dirty="0">
                <a:latin typeface="Arial"/>
                <a:cs typeface="Arial"/>
              </a:rPr>
              <a:t> </a:t>
            </a:r>
            <a:r>
              <a:rPr lang="en-US" altLang="ko-KR" sz="900" dirty="0">
                <a:latin typeface="Arial"/>
                <a:cs typeface="Arial"/>
              </a:rPr>
              <a:t>can be</a:t>
            </a:r>
            <a:r>
              <a:rPr lang="en-US" altLang="ko-KR" sz="900" spc="-5" dirty="0">
                <a:latin typeface="Arial"/>
                <a:cs typeface="Arial"/>
              </a:rPr>
              <a:t> </a:t>
            </a:r>
            <a:r>
              <a:rPr lang="en-US" altLang="ko-KR" sz="900" dirty="0">
                <a:latin typeface="Arial"/>
                <a:cs typeface="Arial"/>
              </a:rPr>
              <a:t>determined</a:t>
            </a:r>
            <a:r>
              <a:rPr lang="en-US" altLang="ko-KR" sz="900" spc="-30" dirty="0">
                <a:latin typeface="Arial"/>
                <a:cs typeface="Arial"/>
              </a:rPr>
              <a:t> </a:t>
            </a:r>
            <a:r>
              <a:rPr lang="en-US" altLang="ko-KR" sz="900" dirty="0">
                <a:latin typeface="Arial"/>
                <a:cs typeface="Arial"/>
              </a:rPr>
              <a:t>according</a:t>
            </a:r>
            <a:r>
              <a:rPr lang="en-US" altLang="ko-KR" sz="900" spc="-25" dirty="0">
                <a:latin typeface="Arial"/>
                <a:cs typeface="Arial"/>
              </a:rPr>
              <a:t> </a:t>
            </a:r>
            <a:r>
              <a:rPr lang="en-US" altLang="ko-KR" sz="900" dirty="0">
                <a:latin typeface="Arial"/>
                <a:cs typeface="Arial"/>
              </a:rPr>
              <a:t>to</a:t>
            </a:r>
            <a:r>
              <a:rPr lang="en-US" altLang="ko-KR" sz="900" spc="-5" dirty="0">
                <a:latin typeface="Arial"/>
                <a:cs typeface="Arial"/>
              </a:rPr>
              <a:t> </a:t>
            </a:r>
            <a:r>
              <a:rPr lang="en-US" altLang="ko-KR" sz="900" dirty="0">
                <a:latin typeface="Arial"/>
                <a:cs typeface="Arial"/>
              </a:rPr>
              <a:t>the</a:t>
            </a:r>
            <a:r>
              <a:rPr lang="en-US" altLang="ko-KR" sz="900" spc="-5" dirty="0">
                <a:latin typeface="Arial"/>
                <a:cs typeface="Arial"/>
              </a:rPr>
              <a:t> </a:t>
            </a:r>
            <a:r>
              <a:rPr lang="en-US" altLang="ko-KR" sz="900" dirty="0">
                <a:latin typeface="Arial"/>
                <a:cs typeface="Arial"/>
              </a:rPr>
              <a:t>system situation.</a:t>
            </a:r>
          </a:p>
          <a:p>
            <a:pPr algn="just"/>
            <a:r>
              <a:rPr lang="en-US" altLang="ko-KR" sz="900" dirty="0">
                <a:latin typeface="Arial"/>
                <a:cs typeface="Arial"/>
              </a:rPr>
              <a:t>If</a:t>
            </a:r>
            <a:r>
              <a:rPr lang="en-US" altLang="ko-KR" sz="900" spc="-5" dirty="0">
                <a:latin typeface="Arial"/>
                <a:cs typeface="Arial"/>
              </a:rPr>
              <a:t> </a:t>
            </a:r>
            <a:r>
              <a:rPr lang="en-US" altLang="ko-KR" sz="900" dirty="0">
                <a:latin typeface="Arial"/>
                <a:cs typeface="Arial"/>
              </a:rPr>
              <a:t>the</a:t>
            </a:r>
            <a:r>
              <a:rPr lang="en-US" altLang="ko-KR" sz="900" spc="5" dirty="0">
                <a:latin typeface="Arial"/>
                <a:cs typeface="Arial"/>
              </a:rPr>
              <a:t> </a:t>
            </a:r>
            <a:r>
              <a:rPr lang="en-US" altLang="ko-KR" sz="900" spc="-5" dirty="0">
                <a:latin typeface="Arial"/>
                <a:cs typeface="Arial"/>
              </a:rPr>
              <a:t>FULL_STEP_DUTY_TH</a:t>
            </a:r>
            <a:r>
              <a:rPr lang="en-US" altLang="ko-KR" sz="900" spc="45" dirty="0">
                <a:latin typeface="Arial"/>
                <a:cs typeface="Arial"/>
              </a:rPr>
              <a:t> </a:t>
            </a:r>
            <a:r>
              <a:rPr lang="en-US" altLang="ko-KR" sz="900" spc="-5" dirty="0">
                <a:latin typeface="Arial"/>
                <a:cs typeface="Arial"/>
              </a:rPr>
              <a:t>is</a:t>
            </a:r>
            <a:r>
              <a:rPr lang="en-US" altLang="ko-KR" sz="900" spc="5" dirty="0">
                <a:latin typeface="Arial"/>
                <a:cs typeface="Arial"/>
              </a:rPr>
              <a:t> </a:t>
            </a:r>
            <a:r>
              <a:rPr lang="en-US" altLang="ko-KR" sz="900" dirty="0">
                <a:latin typeface="Arial"/>
                <a:cs typeface="Arial"/>
              </a:rPr>
              <a:t>set</a:t>
            </a:r>
            <a:r>
              <a:rPr lang="en-US" altLang="ko-KR" sz="900" spc="-5" dirty="0">
                <a:latin typeface="Arial"/>
                <a:cs typeface="Arial"/>
              </a:rPr>
              <a:t> </a:t>
            </a:r>
            <a:r>
              <a:rPr lang="en-US" altLang="ko-KR" sz="900" dirty="0">
                <a:latin typeface="Arial"/>
                <a:cs typeface="Arial"/>
              </a:rPr>
              <a:t>to</a:t>
            </a:r>
            <a:r>
              <a:rPr lang="en-US" altLang="ko-KR" sz="900" spc="5" dirty="0">
                <a:latin typeface="Arial"/>
                <a:cs typeface="Arial"/>
              </a:rPr>
              <a:t> </a:t>
            </a:r>
            <a:r>
              <a:rPr lang="en-US" altLang="ko-KR" sz="900" dirty="0">
                <a:latin typeface="Arial"/>
                <a:cs typeface="Arial"/>
              </a:rPr>
              <a:t>0, the current</a:t>
            </a:r>
            <a:r>
              <a:rPr lang="en-US" altLang="ko-KR" sz="900" spc="-15" dirty="0">
                <a:latin typeface="Arial"/>
                <a:cs typeface="Arial"/>
              </a:rPr>
              <a:t> </a:t>
            </a:r>
            <a:r>
              <a:rPr lang="en-US" altLang="ko-KR" sz="900" dirty="0">
                <a:latin typeface="Arial"/>
                <a:cs typeface="Arial"/>
              </a:rPr>
              <a:t>dimming</a:t>
            </a:r>
            <a:r>
              <a:rPr lang="en-US" altLang="ko-KR" sz="900" spc="-15" dirty="0">
                <a:latin typeface="Arial"/>
                <a:cs typeface="Arial"/>
              </a:rPr>
              <a:t> </a:t>
            </a:r>
            <a:r>
              <a:rPr lang="en-US" altLang="ko-KR" sz="900" spc="-5" dirty="0">
                <a:latin typeface="Arial"/>
                <a:cs typeface="Arial"/>
              </a:rPr>
              <a:t>2</a:t>
            </a:r>
            <a:r>
              <a:rPr lang="en-US" altLang="ko-KR" sz="900" spc="5" dirty="0">
                <a:latin typeface="Arial"/>
                <a:cs typeface="Arial"/>
              </a:rPr>
              <a:t> </a:t>
            </a:r>
            <a:r>
              <a:rPr lang="en-US" altLang="ko-KR" sz="900" spc="-5" dirty="0">
                <a:latin typeface="Arial"/>
                <a:cs typeface="Arial"/>
              </a:rPr>
              <a:t>is</a:t>
            </a:r>
            <a:r>
              <a:rPr lang="en-US" altLang="ko-KR" sz="900" spc="5" dirty="0">
                <a:latin typeface="Arial"/>
                <a:cs typeface="Arial"/>
              </a:rPr>
              <a:t> </a:t>
            </a:r>
            <a:r>
              <a:rPr lang="en-US" altLang="ko-KR" sz="900" spc="-5" dirty="0">
                <a:latin typeface="Arial"/>
                <a:cs typeface="Arial"/>
              </a:rPr>
              <a:t>always</a:t>
            </a:r>
            <a:r>
              <a:rPr lang="en-US" altLang="ko-KR" sz="900" spc="15" dirty="0">
                <a:latin typeface="Arial"/>
                <a:cs typeface="Arial"/>
              </a:rPr>
              <a:t> </a:t>
            </a:r>
            <a:r>
              <a:rPr lang="en-US" altLang="ko-KR" sz="900" dirty="0">
                <a:latin typeface="Arial"/>
                <a:cs typeface="Arial"/>
              </a:rPr>
              <a:t>activated</a:t>
            </a:r>
            <a:r>
              <a:rPr lang="en-US" altLang="ko-KR" sz="900" spc="-15" dirty="0">
                <a:latin typeface="Arial"/>
                <a:cs typeface="Arial"/>
              </a:rPr>
              <a:t> </a:t>
            </a:r>
            <a:r>
              <a:rPr lang="en-US" altLang="ko-KR" sz="900" dirty="0">
                <a:latin typeface="Arial"/>
                <a:cs typeface="Arial"/>
              </a:rPr>
              <a:t>regardless</a:t>
            </a:r>
            <a:r>
              <a:rPr lang="en-US" altLang="ko-KR" sz="900" spc="-20" dirty="0">
                <a:latin typeface="Arial"/>
                <a:cs typeface="Arial"/>
              </a:rPr>
              <a:t> </a:t>
            </a:r>
            <a:r>
              <a:rPr lang="en-US" altLang="ko-KR" sz="900" dirty="0">
                <a:latin typeface="Arial"/>
                <a:cs typeface="Arial"/>
              </a:rPr>
              <a:t>of</a:t>
            </a:r>
            <a:r>
              <a:rPr lang="en-US" altLang="ko-KR" sz="900" spc="-5" dirty="0">
                <a:latin typeface="Arial"/>
                <a:cs typeface="Arial"/>
              </a:rPr>
              <a:t> </a:t>
            </a:r>
            <a:r>
              <a:rPr lang="en-US" altLang="ko-KR" sz="900" dirty="0">
                <a:latin typeface="Arial"/>
                <a:cs typeface="Arial"/>
              </a:rPr>
              <a:t>the</a:t>
            </a:r>
            <a:r>
              <a:rPr lang="en-US" altLang="ko-KR" sz="900" spc="5" dirty="0">
                <a:latin typeface="Arial"/>
                <a:cs typeface="Arial"/>
              </a:rPr>
              <a:t> </a:t>
            </a:r>
            <a:r>
              <a:rPr lang="en-US" altLang="ko-KR" sz="900" spc="-5" dirty="0">
                <a:latin typeface="Arial"/>
                <a:cs typeface="Arial"/>
              </a:rPr>
              <a:t>DUTY</a:t>
            </a:r>
            <a:r>
              <a:rPr lang="en-US" altLang="ko-KR" sz="900" spc="25" dirty="0">
                <a:latin typeface="Arial"/>
                <a:cs typeface="Arial"/>
              </a:rPr>
              <a:t> </a:t>
            </a:r>
            <a:r>
              <a:rPr lang="en-US" altLang="ko-KR" sz="900" dirty="0">
                <a:latin typeface="Arial"/>
                <a:cs typeface="Arial"/>
              </a:rPr>
              <a:t>data, and if</a:t>
            </a:r>
            <a:r>
              <a:rPr lang="en-US" altLang="ko-KR" sz="900" spc="-10" dirty="0">
                <a:latin typeface="Arial"/>
                <a:cs typeface="Arial"/>
              </a:rPr>
              <a:t> </a:t>
            </a:r>
            <a:r>
              <a:rPr lang="en-US" altLang="ko-KR" sz="900" dirty="0">
                <a:latin typeface="Arial"/>
                <a:cs typeface="Arial"/>
              </a:rPr>
              <a:t>it is</a:t>
            </a:r>
            <a:r>
              <a:rPr lang="en-US" altLang="ko-KR" sz="900" spc="-5" dirty="0">
                <a:latin typeface="Arial"/>
                <a:cs typeface="Arial"/>
              </a:rPr>
              <a:t> </a:t>
            </a:r>
            <a:r>
              <a:rPr lang="en-US" altLang="ko-KR" sz="900" dirty="0">
                <a:latin typeface="Arial"/>
                <a:cs typeface="Arial"/>
              </a:rPr>
              <a:t>set</a:t>
            </a:r>
            <a:r>
              <a:rPr lang="en-US" altLang="ko-KR" sz="900" spc="-25" dirty="0">
                <a:latin typeface="Arial"/>
                <a:cs typeface="Arial"/>
              </a:rPr>
              <a:t> </a:t>
            </a:r>
            <a:r>
              <a:rPr lang="en-US" altLang="ko-KR" sz="900" dirty="0">
                <a:latin typeface="Arial"/>
                <a:cs typeface="Arial"/>
              </a:rPr>
              <a:t>to</a:t>
            </a:r>
            <a:r>
              <a:rPr lang="en-US" altLang="ko-KR" sz="900" spc="10" dirty="0">
                <a:latin typeface="Arial"/>
                <a:cs typeface="Arial"/>
              </a:rPr>
              <a:t> </a:t>
            </a:r>
            <a:r>
              <a:rPr lang="en-US" altLang="ko-KR" sz="900" dirty="0">
                <a:latin typeface="Arial"/>
                <a:cs typeface="Arial"/>
              </a:rPr>
              <a:t>the</a:t>
            </a:r>
            <a:r>
              <a:rPr lang="en-US" altLang="ko-KR" sz="900" spc="-10" dirty="0">
                <a:latin typeface="Arial"/>
                <a:cs typeface="Arial"/>
              </a:rPr>
              <a:t> </a:t>
            </a:r>
            <a:r>
              <a:rPr lang="en-US" altLang="ko-KR" sz="900" dirty="0">
                <a:latin typeface="Arial"/>
                <a:cs typeface="Arial"/>
              </a:rPr>
              <a:t>same</a:t>
            </a:r>
            <a:r>
              <a:rPr lang="en-US" altLang="ko-KR" sz="900" spc="-20" dirty="0">
                <a:latin typeface="Arial"/>
                <a:cs typeface="Arial"/>
              </a:rPr>
              <a:t> </a:t>
            </a:r>
            <a:r>
              <a:rPr lang="en-US" altLang="ko-KR" sz="900" dirty="0">
                <a:latin typeface="Arial"/>
                <a:cs typeface="Arial"/>
              </a:rPr>
              <a:t>value</a:t>
            </a:r>
            <a:r>
              <a:rPr lang="en-US" altLang="ko-KR" sz="900" spc="-10" dirty="0">
                <a:latin typeface="Arial"/>
                <a:cs typeface="Arial"/>
              </a:rPr>
              <a:t> </a:t>
            </a:r>
            <a:r>
              <a:rPr lang="en-US" altLang="ko-KR" sz="900" dirty="0">
                <a:latin typeface="Arial"/>
                <a:cs typeface="Arial"/>
              </a:rPr>
              <a:t>as the</a:t>
            </a:r>
            <a:r>
              <a:rPr lang="en-US" altLang="ko-KR" sz="900" spc="-10" dirty="0">
                <a:latin typeface="Arial"/>
                <a:cs typeface="Arial"/>
              </a:rPr>
              <a:t> </a:t>
            </a:r>
            <a:r>
              <a:rPr lang="en-US" altLang="ko-KR" sz="900" dirty="0">
                <a:latin typeface="Arial"/>
                <a:cs typeface="Arial"/>
              </a:rPr>
              <a:t>SVSYNC_SIZE, then</a:t>
            </a:r>
            <a:r>
              <a:rPr lang="en-US" altLang="ko-KR" sz="900" spc="-10" dirty="0">
                <a:latin typeface="Arial"/>
                <a:cs typeface="Arial"/>
              </a:rPr>
              <a:t> </a:t>
            </a:r>
            <a:r>
              <a:rPr lang="en-US" altLang="ko-KR" sz="900" dirty="0">
                <a:latin typeface="Arial"/>
                <a:cs typeface="Arial"/>
              </a:rPr>
              <a:t>the</a:t>
            </a:r>
            <a:r>
              <a:rPr lang="en-US" altLang="ko-KR" sz="900" spc="-5" dirty="0">
                <a:latin typeface="Arial"/>
                <a:cs typeface="Arial"/>
              </a:rPr>
              <a:t> </a:t>
            </a:r>
            <a:r>
              <a:rPr lang="en-US" altLang="ko-KR" sz="900" dirty="0">
                <a:latin typeface="Arial"/>
                <a:cs typeface="Arial"/>
              </a:rPr>
              <a:t>current</a:t>
            </a:r>
            <a:r>
              <a:rPr lang="en-US" altLang="ko-KR" sz="900" spc="-25" dirty="0">
                <a:latin typeface="Arial"/>
                <a:cs typeface="Arial"/>
              </a:rPr>
              <a:t> </a:t>
            </a:r>
            <a:r>
              <a:rPr lang="en-US" altLang="ko-KR" sz="900" dirty="0">
                <a:latin typeface="Arial"/>
                <a:cs typeface="Arial"/>
              </a:rPr>
              <a:t>dimming</a:t>
            </a:r>
            <a:r>
              <a:rPr lang="en-US" altLang="ko-KR" sz="900" spc="-35" dirty="0">
                <a:latin typeface="Arial"/>
                <a:cs typeface="Arial"/>
              </a:rPr>
              <a:t> </a:t>
            </a:r>
            <a:r>
              <a:rPr lang="en-US" altLang="ko-KR" sz="900" dirty="0">
                <a:latin typeface="Arial"/>
                <a:cs typeface="Arial"/>
              </a:rPr>
              <a:t>1 is </a:t>
            </a:r>
            <a:r>
              <a:rPr lang="en-US" altLang="ko-KR" sz="900" spc="-5" dirty="0">
                <a:latin typeface="Arial"/>
                <a:cs typeface="Arial"/>
              </a:rPr>
              <a:t>always activated.</a:t>
            </a:r>
            <a:endParaRPr lang="en-US" altLang="ko-KR" sz="900" dirty="0">
              <a:latin typeface="Arial"/>
              <a:cs typeface="Arial"/>
            </a:endParaRPr>
          </a:p>
        </p:txBody>
      </p:sp>
      <p:sp>
        <p:nvSpPr>
          <p:cNvPr id="7" name="object 9">
            <a:extLst>
              <a:ext uri="{FF2B5EF4-FFF2-40B4-BE49-F238E27FC236}">
                <a16:creationId xmlns:a16="http://schemas.microsoft.com/office/drawing/2014/main" id="{A76B0D29-FF89-3DC4-85B9-4A22260A07EC}"/>
              </a:ext>
            </a:extLst>
          </p:cNvPr>
          <p:cNvSpPr txBox="1"/>
          <p:nvPr/>
        </p:nvSpPr>
        <p:spPr>
          <a:xfrm>
            <a:off x="304800" y="9067800"/>
            <a:ext cx="2078355" cy="289823"/>
          </a:xfrm>
          <a:prstGeom prst="rect">
            <a:avLst/>
          </a:prstGeom>
        </p:spPr>
        <p:txBody>
          <a:bodyPr vert="horz" wrap="square" lIns="0" tIns="12700" rIns="0" bIns="0" rtlCol="0">
            <a:spAutoFit/>
          </a:bodyPr>
          <a:lstStyle/>
          <a:p>
            <a:pPr marL="12700">
              <a:lnSpc>
                <a:spcPct val="100000"/>
              </a:lnSpc>
              <a:spcBef>
                <a:spcPts val="100"/>
              </a:spcBef>
            </a:pPr>
            <a:r>
              <a:rPr b="1" spc="-5" dirty="0">
                <a:solidFill>
                  <a:srgbClr val="FF0000"/>
                </a:solidFill>
                <a:cs typeface="Perpetua Titling MT"/>
              </a:rPr>
              <a:t>CONFIDENTIAL</a:t>
            </a:r>
            <a:endParaRPr dirty="0">
              <a:cs typeface="Perpetua Titling MT"/>
            </a:endParaRPr>
          </a:p>
        </p:txBody>
      </p:sp>
      <p:sp>
        <p:nvSpPr>
          <p:cNvPr id="12" name="object 6">
            <a:extLst>
              <a:ext uri="{FF2B5EF4-FFF2-40B4-BE49-F238E27FC236}">
                <a16:creationId xmlns:a16="http://schemas.microsoft.com/office/drawing/2014/main" id="{002FFE9E-EBC9-D0DF-F53B-8CBF81BADAC7}"/>
              </a:ext>
            </a:extLst>
          </p:cNvPr>
          <p:cNvSpPr/>
          <p:nvPr/>
        </p:nvSpPr>
        <p:spPr>
          <a:xfrm>
            <a:off x="301676" y="9458756"/>
            <a:ext cx="6246495" cy="0"/>
          </a:xfrm>
          <a:custGeom>
            <a:avLst/>
            <a:gdLst/>
            <a:ahLst/>
            <a:cxnLst/>
            <a:rect l="l" t="t" r="r" b="b"/>
            <a:pathLst>
              <a:path w="6246495">
                <a:moveTo>
                  <a:pt x="0" y="0"/>
                </a:moveTo>
                <a:lnTo>
                  <a:pt x="6245999" y="0"/>
                </a:lnTo>
              </a:path>
            </a:pathLst>
          </a:custGeom>
          <a:ln w="25920">
            <a:solidFill>
              <a:srgbClr val="BFBFBF"/>
            </a:solidFill>
          </a:ln>
        </p:spPr>
        <p:txBody>
          <a:bodyPr wrap="square" lIns="0" tIns="0" rIns="0" bIns="0" rtlCol="0"/>
          <a:lstStyle/>
          <a:p>
            <a:endParaRPr/>
          </a:p>
        </p:txBody>
      </p:sp>
      <p:sp>
        <p:nvSpPr>
          <p:cNvPr id="14" name="슬라이드 번호 개체 틀 3">
            <a:hlinkClick r:id="rId3"/>
            <a:extLst>
              <a:ext uri="{FF2B5EF4-FFF2-40B4-BE49-F238E27FC236}">
                <a16:creationId xmlns:a16="http://schemas.microsoft.com/office/drawing/2014/main" id="{48CE20B6-9A2A-98E8-AD67-3E9AF7F0CE9A}"/>
              </a:ext>
            </a:extLst>
          </p:cNvPr>
          <p:cNvSpPr txBox="1">
            <a:spLocks/>
          </p:cNvSpPr>
          <p:nvPr/>
        </p:nvSpPr>
        <p:spPr>
          <a:xfrm>
            <a:off x="5151602" y="9452864"/>
            <a:ext cx="1487550"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dirty="0">
                <a:solidFill>
                  <a:prstClr val="black"/>
                </a:solidFill>
                <a:latin typeface="Arial" panose="020B0604020202020204" pitchFamily="34" charset="0"/>
                <a:cs typeface="Arial" panose="020B0604020202020204" pitchFamily="34" charset="0"/>
              </a:rPr>
              <a:t>http://www.glbltech.com/</a:t>
            </a:r>
            <a:endParaRPr lang="ko-KR" altLang="en-US" dirty="0">
              <a:solidFill>
                <a:prstClr val="black"/>
              </a:solidFill>
              <a:latin typeface="Arial" panose="020B0604020202020204" pitchFamily="34" charset="0"/>
              <a:cs typeface="Arial" panose="020B0604020202020204" pitchFamily="34" charset="0"/>
            </a:endParaRPr>
          </a:p>
        </p:txBody>
      </p:sp>
      <p:sp>
        <p:nvSpPr>
          <p:cNvPr id="15" name="object 38">
            <a:extLst>
              <a:ext uri="{FF2B5EF4-FFF2-40B4-BE49-F238E27FC236}">
                <a16:creationId xmlns:a16="http://schemas.microsoft.com/office/drawing/2014/main" id="{78085D8E-707C-D7BC-6CBB-1E3AEFC46190}"/>
              </a:ext>
            </a:extLst>
          </p:cNvPr>
          <p:cNvSpPr txBox="1">
            <a:spLocks/>
          </p:cNvSpPr>
          <p:nvPr/>
        </p:nvSpPr>
        <p:spPr>
          <a:xfrm>
            <a:off x="3309066" y="9547988"/>
            <a:ext cx="487045" cy="139141"/>
          </a:xfrm>
          <a:prstGeom prst="rect">
            <a:avLst/>
          </a:prstGeom>
        </p:spPr>
        <p:txBody>
          <a:bodyPr vert="horz" wrap="square" lIns="0" tIns="635" rIns="0" bIns="0" rtlCol="0">
            <a:spAutoFit/>
          </a:bodyPr>
          <a:lstStyle>
            <a:defPPr>
              <a:defRPr lang="ko-KR"/>
            </a:defPPr>
            <a:lvl1pPr marL="0" algn="l" defTabSz="914400" rtl="0" eaLnBrk="1" latinLnBrk="1" hangingPunct="1">
              <a:defRPr sz="1050" b="0" i="0" kern="1200">
                <a:solidFill>
                  <a:schemeClr val="tx1"/>
                </a:solidFill>
                <a:latin typeface="Arial"/>
                <a:ea typeface="+mn-ea"/>
                <a:cs typeface="Arial"/>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marL="12700">
              <a:spcBef>
                <a:spcPts val="5"/>
              </a:spcBef>
              <a:defRPr/>
            </a:pPr>
            <a:r>
              <a:rPr lang="en-US" sz="900" dirty="0">
                <a:solidFill>
                  <a:prstClr val="black"/>
                </a:solidFill>
              </a:rPr>
              <a:t>Page</a:t>
            </a:r>
            <a:r>
              <a:rPr lang="en-US" sz="900" spc="-60" dirty="0">
                <a:solidFill>
                  <a:prstClr val="black"/>
                </a:solidFill>
              </a:rPr>
              <a:t> </a:t>
            </a:r>
            <a:fld id="{81D60167-4931-47E6-BA6A-407CBD079E47}" type="slidenum">
              <a:rPr sz="900">
                <a:solidFill>
                  <a:prstClr val="black"/>
                </a:solidFill>
              </a:rPr>
              <a:pPr marL="12700">
                <a:spcBef>
                  <a:spcPts val="5"/>
                </a:spcBef>
                <a:defRPr/>
              </a:pPr>
              <a:t>27</a:t>
            </a:fld>
            <a:endParaRPr sz="900" dirty="0">
              <a:solidFill>
                <a:prstClr val="black"/>
              </a:solidFill>
            </a:endParaRPr>
          </a:p>
        </p:txBody>
      </p:sp>
      <p:sp>
        <p:nvSpPr>
          <p:cNvPr id="16" name="슬라이드 번호 개체 틀 3">
            <a:extLst>
              <a:ext uri="{FF2B5EF4-FFF2-40B4-BE49-F238E27FC236}">
                <a16:creationId xmlns:a16="http://schemas.microsoft.com/office/drawing/2014/main" id="{E4B7C9FE-0BCA-9CBE-D980-A1C2AF10FEED}"/>
              </a:ext>
            </a:extLst>
          </p:cNvPr>
          <p:cNvSpPr txBox="1">
            <a:spLocks/>
          </p:cNvSpPr>
          <p:nvPr/>
        </p:nvSpPr>
        <p:spPr>
          <a:xfrm>
            <a:off x="299401" y="9520856"/>
            <a:ext cx="2060991" cy="175259"/>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lang="en-US" altLang="ko-KR" dirty="0">
                <a:solidFill>
                  <a:prstClr val="black"/>
                </a:solidFill>
                <a:latin typeface="Arial" panose="020B0604020202020204" pitchFamily="34" charset="0"/>
                <a:cs typeface="Arial" panose="020B0604020202020204" pitchFamily="34" charset="0"/>
              </a:rPr>
              <a:t>Dated 30-Nov 23  Rev. 01</a:t>
            </a:r>
            <a:endParaRPr lang="ko-KR" altLang="en-US" dirty="0">
              <a:solidFill>
                <a:prstClr val="black"/>
              </a:solidFill>
              <a:latin typeface="Arial" panose="020B0604020202020204" pitchFamily="34" charset="0"/>
              <a:cs typeface="Arial" panose="020B0604020202020204" pitchFamily="34" charset="0"/>
            </a:endParaRPr>
          </a:p>
        </p:txBody>
      </p:sp>
      <p:sp>
        <p:nvSpPr>
          <p:cNvPr id="17" name="Holder 3">
            <a:extLst>
              <a:ext uri="{FF2B5EF4-FFF2-40B4-BE49-F238E27FC236}">
                <a16:creationId xmlns:a16="http://schemas.microsoft.com/office/drawing/2014/main" id="{F0881DCC-48DB-BCEE-0088-460989155B64}"/>
              </a:ext>
            </a:extLst>
          </p:cNvPr>
          <p:cNvSpPr txBox="1">
            <a:spLocks/>
          </p:cNvSpPr>
          <p:nvPr/>
        </p:nvSpPr>
        <p:spPr>
          <a:xfrm>
            <a:off x="5147476" y="203944"/>
            <a:ext cx="1447800" cy="276999"/>
          </a:xfrm>
          <a:prstGeom prst="rect">
            <a:avLst/>
          </a:prstGeom>
        </p:spPr>
        <p:txBody>
          <a:bodyPr wrap="square" lIns="0" tIns="0" rIns="0" bIns="0">
            <a:spAutoFit/>
          </a:bodyPr>
          <a:lstStyle>
            <a:lvl1pPr marL="0">
              <a:defRPr>
                <a:solidFill>
                  <a:srgbClr val="FF99FF"/>
                </a:solidFill>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defTabSz="914400" latinLnBrk="0"/>
            <a:r>
              <a:rPr lang="en-US" sz="1800" kern="0" dirty="0"/>
              <a:t>&lt;Preliminary&gt;</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p:nvPr/>
        </p:nvSpPr>
        <p:spPr>
          <a:xfrm>
            <a:off x="400913" y="301879"/>
            <a:ext cx="622935" cy="299720"/>
          </a:xfrm>
          <a:prstGeom prst="rect">
            <a:avLst/>
          </a:prstGeom>
        </p:spPr>
        <p:txBody>
          <a:bodyPr vert="horz" wrap="square" lIns="0" tIns="12700" rIns="0" bIns="0" rtlCol="0">
            <a:spAutoFit/>
          </a:bodyPr>
          <a:lstStyle/>
          <a:p>
            <a:pPr marL="12700">
              <a:lnSpc>
                <a:spcPct val="100000"/>
              </a:lnSpc>
              <a:spcBef>
                <a:spcPts val="100"/>
              </a:spcBef>
            </a:pPr>
            <a:r>
              <a:rPr sz="1800" b="1" spc="-5" dirty="0">
                <a:latin typeface="Arial"/>
                <a:cs typeface="Arial"/>
              </a:rPr>
              <a:t>CQ24</a:t>
            </a:r>
            <a:endParaRPr sz="1800" dirty="0">
              <a:latin typeface="Arial"/>
              <a:cs typeface="Arial"/>
            </a:endParaRPr>
          </a:p>
        </p:txBody>
      </p:sp>
      <p:sp>
        <p:nvSpPr>
          <p:cNvPr id="5" name="object 5"/>
          <p:cNvSpPr txBox="1"/>
          <p:nvPr/>
        </p:nvSpPr>
        <p:spPr>
          <a:xfrm>
            <a:off x="400914" y="4504181"/>
            <a:ext cx="6038542" cy="151965"/>
          </a:xfrm>
          <a:prstGeom prst="rect">
            <a:avLst/>
          </a:prstGeom>
        </p:spPr>
        <p:txBody>
          <a:bodyPr vert="horz" wrap="square" lIns="0" tIns="13335" rIns="0" bIns="0" rtlCol="0">
            <a:spAutoFit/>
          </a:bodyPr>
          <a:lstStyle/>
          <a:p>
            <a:pPr marL="12700" algn="ctr">
              <a:lnSpc>
                <a:spcPct val="100000"/>
              </a:lnSpc>
              <a:spcBef>
                <a:spcPts val="105"/>
              </a:spcBef>
            </a:pPr>
            <a:r>
              <a:rPr sz="900" b="1" spc="-5" dirty="0">
                <a:latin typeface="Arial"/>
                <a:cs typeface="Arial"/>
              </a:rPr>
              <a:t>[Figure.</a:t>
            </a:r>
            <a:r>
              <a:rPr sz="900" b="1" spc="5" dirty="0">
                <a:latin typeface="Arial"/>
                <a:cs typeface="Arial"/>
              </a:rPr>
              <a:t> </a:t>
            </a:r>
            <a:r>
              <a:rPr lang="en-US" sz="900" b="1" spc="5" dirty="0">
                <a:latin typeface="Arial"/>
                <a:cs typeface="Arial"/>
              </a:rPr>
              <a:t>22</a:t>
            </a:r>
            <a:r>
              <a:rPr sz="900" b="1" spc="-5" dirty="0">
                <a:latin typeface="Arial"/>
                <a:cs typeface="Arial"/>
              </a:rPr>
              <a:t>-1]</a:t>
            </a:r>
            <a:r>
              <a:rPr sz="900" b="1" spc="20" dirty="0">
                <a:latin typeface="Arial"/>
                <a:cs typeface="Arial"/>
              </a:rPr>
              <a:t> </a:t>
            </a:r>
            <a:r>
              <a:rPr sz="900" b="1" dirty="0">
                <a:latin typeface="Arial"/>
                <a:cs typeface="Arial"/>
              </a:rPr>
              <a:t>The</a:t>
            </a:r>
            <a:r>
              <a:rPr sz="900" b="1" spc="-5" dirty="0">
                <a:latin typeface="Arial"/>
                <a:cs typeface="Arial"/>
              </a:rPr>
              <a:t> current</a:t>
            </a:r>
            <a:r>
              <a:rPr sz="900" b="1" spc="5" dirty="0">
                <a:latin typeface="Arial"/>
                <a:cs typeface="Arial"/>
              </a:rPr>
              <a:t> </a:t>
            </a:r>
            <a:r>
              <a:rPr sz="900" b="1" dirty="0">
                <a:latin typeface="Arial"/>
                <a:cs typeface="Arial"/>
              </a:rPr>
              <a:t>dimming</a:t>
            </a:r>
            <a:r>
              <a:rPr sz="900" b="1" spc="-25" dirty="0">
                <a:latin typeface="Arial"/>
                <a:cs typeface="Arial"/>
              </a:rPr>
              <a:t> </a:t>
            </a:r>
            <a:r>
              <a:rPr sz="900" b="1" dirty="0">
                <a:latin typeface="Arial"/>
                <a:cs typeface="Arial"/>
              </a:rPr>
              <a:t>1</a:t>
            </a:r>
          </a:p>
        </p:txBody>
      </p:sp>
      <p:sp>
        <p:nvSpPr>
          <p:cNvPr id="6" name="object 6"/>
          <p:cNvSpPr txBox="1"/>
          <p:nvPr/>
        </p:nvSpPr>
        <p:spPr>
          <a:xfrm>
            <a:off x="400913" y="906018"/>
            <a:ext cx="6038542" cy="666849"/>
          </a:xfrm>
          <a:prstGeom prst="rect">
            <a:avLst/>
          </a:prstGeom>
        </p:spPr>
        <p:txBody>
          <a:bodyPr vert="horz" wrap="square" lIns="0" tIns="12700" rIns="0" bIns="0" rtlCol="0">
            <a:spAutoFit/>
          </a:bodyPr>
          <a:lstStyle/>
          <a:p>
            <a:pPr marL="12700">
              <a:lnSpc>
                <a:spcPct val="100000"/>
              </a:lnSpc>
              <a:spcBef>
                <a:spcPts val="100"/>
              </a:spcBef>
            </a:pPr>
            <a:r>
              <a:rPr sz="1400" b="1" spc="-5" dirty="0">
                <a:latin typeface="Arial"/>
                <a:cs typeface="Arial"/>
              </a:rPr>
              <a:t>The</a:t>
            </a:r>
            <a:r>
              <a:rPr sz="1400" b="1" spc="-10" dirty="0">
                <a:latin typeface="Arial"/>
                <a:cs typeface="Arial"/>
              </a:rPr>
              <a:t> </a:t>
            </a:r>
            <a:r>
              <a:rPr sz="1400" b="1" dirty="0">
                <a:latin typeface="Arial"/>
                <a:cs typeface="Arial"/>
              </a:rPr>
              <a:t>current</a:t>
            </a:r>
            <a:r>
              <a:rPr sz="1400" b="1" spc="-35" dirty="0">
                <a:latin typeface="Arial"/>
                <a:cs typeface="Arial"/>
              </a:rPr>
              <a:t> </a:t>
            </a:r>
            <a:r>
              <a:rPr sz="1400" b="1" dirty="0">
                <a:latin typeface="Arial"/>
                <a:cs typeface="Arial"/>
              </a:rPr>
              <a:t>dimming</a:t>
            </a:r>
            <a:r>
              <a:rPr sz="1400" b="1" spc="-30" dirty="0">
                <a:latin typeface="Arial"/>
                <a:cs typeface="Arial"/>
              </a:rPr>
              <a:t> </a:t>
            </a:r>
            <a:r>
              <a:rPr sz="1400" b="1" dirty="0">
                <a:latin typeface="Arial"/>
                <a:cs typeface="Arial"/>
              </a:rPr>
              <a:t>1</a:t>
            </a:r>
            <a:r>
              <a:rPr sz="1400" b="1" spc="-20" dirty="0">
                <a:latin typeface="Arial"/>
                <a:cs typeface="Arial"/>
              </a:rPr>
              <a:t> </a:t>
            </a:r>
            <a:r>
              <a:rPr sz="1400" b="1" dirty="0">
                <a:latin typeface="Arial"/>
                <a:cs typeface="Arial"/>
              </a:rPr>
              <a:t>and</a:t>
            </a:r>
            <a:r>
              <a:rPr sz="1400" b="1" spc="-10" dirty="0">
                <a:latin typeface="Arial"/>
                <a:cs typeface="Arial"/>
              </a:rPr>
              <a:t> </a:t>
            </a:r>
            <a:r>
              <a:rPr sz="1400" b="1" dirty="0">
                <a:latin typeface="Arial"/>
                <a:cs typeface="Arial"/>
              </a:rPr>
              <a:t>2</a:t>
            </a:r>
            <a:endParaRPr sz="1400" dirty="0">
              <a:latin typeface="Arial"/>
              <a:cs typeface="Arial"/>
            </a:endParaRPr>
          </a:p>
          <a:p>
            <a:pPr>
              <a:lnSpc>
                <a:spcPct val="100000"/>
              </a:lnSpc>
              <a:spcBef>
                <a:spcPts val="25"/>
              </a:spcBef>
            </a:pPr>
            <a:endParaRPr sz="1750" dirty="0">
              <a:latin typeface="Arial"/>
              <a:cs typeface="Arial"/>
            </a:endParaRPr>
          </a:p>
          <a:p>
            <a:pPr marL="20955">
              <a:lnSpc>
                <a:spcPct val="100000"/>
              </a:lnSpc>
            </a:pPr>
            <a:r>
              <a:rPr sz="1100" b="1" spc="-5" dirty="0">
                <a:latin typeface="Arial"/>
                <a:cs typeface="Arial"/>
              </a:rPr>
              <a:t>The</a:t>
            </a:r>
            <a:r>
              <a:rPr sz="1100" b="1" spc="-10" dirty="0">
                <a:latin typeface="Arial"/>
                <a:cs typeface="Arial"/>
              </a:rPr>
              <a:t> </a:t>
            </a:r>
            <a:r>
              <a:rPr sz="1100" b="1" dirty="0">
                <a:latin typeface="Arial"/>
                <a:cs typeface="Arial"/>
              </a:rPr>
              <a:t>current</a:t>
            </a:r>
            <a:r>
              <a:rPr sz="1100" b="1" spc="-45" dirty="0">
                <a:latin typeface="Arial"/>
                <a:cs typeface="Arial"/>
              </a:rPr>
              <a:t> </a:t>
            </a:r>
            <a:r>
              <a:rPr sz="1100" b="1" dirty="0">
                <a:latin typeface="Arial"/>
                <a:cs typeface="Arial"/>
              </a:rPr>
              <a:t>dimming</a:t>
            </a:r>
            <a:r>
              <a:rPr sz="1100" b="1" spc="-65" dirty="0">
                <a:latin typeface="Arial"/>
                <a:cs typeface="Arial"/>
              </a:rPr>
              <a:t> </a:t>
            </a:r>
            <a:r>
              <a:rPr sz="1100" b="1" dirty="0">
                <a:latin typeface="Arial"/>
                <a:cs typeface="Arial"/>
              </a:rPr>
              <a:t>1</a:t>
            </a:r>
            <a:endParaRPr sz="1100" dirty="0">
              <a:latin typeface="Arial"/>
              <a:cs typeface="Arial"/>
            </a:endParaRPr>
          </a:p>
        </p:txBody>
      </p:sp>
      <p:sp>
        <p:nvSpPr>
          <p:cNvPr id="7" name="object 7"/>
          <p:cNvSpPr txBox="1"/>
          <p:nvPr/>
        </p:nvSpPr>
        <p:spPr>
          <a:xfrm>
            <a:off x="400913" y="8372603"/>
            <a:ext cx="6038542" cy="151323"/>
          </a:xfrm>
          <a:prstGeom prst="rect">
            <a:avLst/>
          </a:prstGeom>
        </p:spPr>
        <p:txBody>
          <a:bodyPr vert="horz" wrap="square" lIns="0" tIns="12700" rIns="0" bIns="0" rtlCol="0">
            <a:spAutoFit/>
          </a:bodyPr>
          <a:lstStyle/>
          <a:p>
            <a:pPr marL="12700" algn="ctr">
              <a:lnSpc>
                <a:spcPct val="100000"/>
              </a:lnSpc>
              <a:spcBef>
                <a:spcPts val="100"/>
              </a:spcBef>
            </a:pPr>
            <a:r>
              <a:rPr sz="900" b="1" spc="-5" dirty="0">
                <a:latin typeface="Arial"/>
                <a:cs typeface="Arial"/>
              </a:rPr>
              <a:t>[Figure.</a:t>
            </a:r>
            <a:r>
              <a:rPr sz="900" b="1" dirty="0">
                <a:latin typeface="Arial"/>
                <a:cs typeface="Arial"/>
              </a:rPr>
              <a:t> </a:t>
            </a:r>
            <a:r>
              <a:rPr lang="en-US" sz="900" b="1" dirty="0">
                <a:latin typeface="Arial"/>
                <a:cs typeface="Arial"/>
              </a:rPr>
              <a:t>22</a:t>
            </a:r>
            <a:r>
              <a:rPr sz="900" b="1" spc="-5" dirty="0">
                <a:latin typeface="Arial"/>
                <a:cs typeface="Arial"/>
              </a:rPr>
              <a:t>-2]</a:t>
            </a:r>
            <a:r>
              <a:rPr sz="900" b="1" spc="20" dirty="0">
                <a:latin typeface="Arial"/>
                <a:cs typeface="Arial"/>
              </a:rPr>
              <a:t> </a:t>
            </a:r>
            <a:r>
              <a:rPr sz="900" b="1" dirty="0">
                <a:latin typeface="Arial"/>
                <a:cs typeface="Arial"/>
              </a:rPr>
              <a:t>The</a:t>
            </a:r>
            <a:r>
              <a:rPr sz="900" b="1" spc="-5" dirty="0">
                <a:latin typeface="Arial"/>
                <a:cs typeface="Arial"/>
              </a:rPr>
              <a:t> current</a:t>
            </a:r>
            <a:r>
              <a:rPr sz="900" b="1" spc="5" dirty="0">
                <a:latin typeface="Arial"/>
                <a:cs typeface="Arial"/>
              </a:rPr>
              <a:t> </a:t>
            </a:r>
            <a:r>
              <a:rPr sz="900" b="1" dirty="0">
                <a:latin typeface="Arial"/>
                <a:cs typeface="Arial"/>
              </a:rPr>
              <a:t>dimming</a:t>
            </a:r>
            <a:r>
              <a:rPr sz="900" b="1" spc="-25" dirty="0">
                <a:latin typeface="Arial"/>
                <a:cs typeface="Arial"/>
              </a:rPr>
              <a:t> </a:t>
            </a:r>
            <a:r>
              <a:rPr sz="900" b="1" dirty="0">
                <a:latin typeface="Arial"/>
                <a:cs typeface="Arial"/>
              </a:rPr>
              <a:t>2</a:t>
            </a:r>
          </a:p>
        </p:txBody>
      </p:sp>
      <p:sp>
        <p:nvSpPr>
          <p:cNvPr id="8" name="object 8"/>
          <p:cNvSpPr txBox="1"/>
          <p:nvPr/>
        </p:nvSpPr>
        <p:spPr>
          <a:xfrm>
            <a:off x="400913" y="5138673"/>
            <a:ext cx="6038542" cy="182742"/>
          </a:xfrm>
          <a:prstGeom prst="rect">
            <a:avLst/>
          </a:prstGeom>
        </p:spPr>
        <p:txBody>
          <a:bodyPr vert="horz" wrap="square" lIns="0" tIns="13335" rIns="0" bIns="0" rtlCol="0">
            <a:spAutoFit/>
          </a:bodyPr>
          <a:lstStyle/>
          <a:p>
            <a:pPr marL="12700">
              <a:lnSpc>
                <a:spcPct val="100000"/>
              </a:lnSpc>
              <a:spcBef>
                <a:spcPts val="105"/>
              </a:spcBef>
            </a:pPr>
            <a:r>
              <a:rPr sz="1100" b="1" spc="-5" dirty="0">
                <a:latin typeface="Arial"/>
                <a:cs typeface="Arial"/>
              </a:rPr>
              <a:t>The</a:t>
            </a:r>
            <a:r>
              <a:rPr sz="1100" b="1" spc="-10" dirty="0">
                <a:latin typeface="Arial"/>
                <a:cs typeface="Arial"/>
              </a:rPr>
              <a:t> </a:t>
            </a:r>
            <a:r>
              <a:rPr sz="1100" b="1" dirty="0">
                <a:latin typeface="Arial"/>
                <a:cs typeface="Arial"/>
              </a:rPr>
              <a:t>current</a:t>
            </a:r>
            <a:r>
              <a:rPr sz="1100" b="1" spc="-45" dirty="0">
                <a:latin typeface="Arial"/>
                <a:cs typeface="Arial"/>
              </a:rPr>
              <a:t> </a:t>
            </a:r>
            <a:r>
              <a:rPr sz="1100" b="1" dirty="0">
                <a:latin typeface="Arial"/>
                <a:cs typeface="Arial"/>
              </a:rPr>
              <a:t>dimming</a:t>
            </a:r>
            <a:r>
              <a:rPr sz="1100" b="1" spc="-65" dirty="0">
                <a:latin typeface="Arial"/>
                <a:cs typeface="Arial"/>
              </a:rPr>
              <a:t> </a:t>
            </a:r>
            <a:r>
              <a:rPr sz="1100" b="1" dirty="0">
                <a:latin typeface="Arial"/>
                <a:cs typeface="Arial"/>
              </a:rPr>
              <a:t>2</a:t>
            </a:r>
            <a:endParaRPr sz="1100" dirty="0">
              <a:latin typeface="Arial"/>
              <a:cs typeface="Arial"/>
            </a:endParaRPr>
          </a:p>
        </p:txBody>
      </p:sp>
      <p:pic>
        <p:nvPicPr>
          <p:cNvPr id="9" name="object 9"/>
          <p:cNvPicPr/>
          <p:nvPr/>
        </p:nvPicPr>
        <p:blipFill>
          <a:blip r:embed="rId2" cstate="print"/>
          <a:stretch>
            <a:fillRect/>
          </a:stretch>
        </p:blipFill>
        <p:spPr>
          <a:xfrm>
            <a:off x="400913" y="6215757"/>
            <a:ext cx="6038542" cy="1932234"/>
          </a:xfrm>
          <a:prstGeom prst="rect">
            <a:avLst/>
          </a:prstGeom>
        </p:spPr>
      </p:pic>
      <p:pic>
        <p:nvPicPr>
          <p:cNvPr id="10" name="object 10"/>
          <p:cNvPicPr/>
          <p:nvPr/>
        </p:nvPicPr>
        <p:blipFill>
          <a:blip r:embed="rId3" cstate="print"/>
          <a:stretch>
            <a:fillRect/>
          </a:stretch>
        </p:blipFill>
        <p:spPr>
          <a:xfrm>
            <a:off x="400914" y="2359885"/>
            <a:ext cx="6038542" cy="1903873"/>
          </a:xfrm>
          <a:prstGeom prst="rect">
            <a:avLst/>
          </a:prstGeom>
        </p:spPr>
      </p:pic>
      <p:sp>
        <p:nvSpPr>
          <p:cNvPr id="14" name="TextBox 13">
            <a:extLst>
              <a:ext uri="{FF2B5EF4-FFF2-40B4-BE49-F238E27FC236}">
                <a16:creationId xmlns:a16="http://schemas.microsoft.com/office/drawing/2014/main" id="{2C91A0D2-C04D-8EB4-CF4D-9A2DE30CEB1B}"/>
              </a:ext>
            </a:extLst>
          </p:cNvPr>
          <p:cNvSpPr txBox="1"/>
          <p:nvPr/>
        </p:nvSpPr>
        <p:spPr>
          <a:xfrm>
            <a:off x="400913" y="1761127"/>
            <a:ext cx="6038542" cy="415498"/>
          </a:xfrm>
          <a:prstGeom prst="rect">
            <a:avLst/>
          </a:prstGeom>
          <a:noFill/>
        </p:spPr>
        <p:txBody>
          <a:bodyPr wrap="square" lIns="0" tIns="0" rIns="0" bIns="0" rtlCol="0">
            <a:spAutoFit/>
          </a:bodyPr>
          <a:lstStyle/>
          <a:p>
            <a:pPr marL="12700" marR="5080" algn="just">
              <a:lnSpc>
                <a:spcPct val="100000"/>
              </a:lnSpc>
              <a:spcBef>
                <a:spcPts val="5"/>
              </a:spcBef>
            </a:pPr>
            <a:r>
              <a:rPr lang="en-US" altLang="ko-KR" sz="900" dirty="0">
                <a:latin typeface="Arial"/>
                <a:cs typeface="Arial"/>
              </a:rPr>
              <a:t>The current step </a:t>
            </a:r>
            <a:r>
              <a:rPr lang="en-US" altLang="ko-KR" sz="900" spc="-5" dirty="0">
                <a:latin typeface="Arial"/>
                <a:cs typeface="Arial"/>
              </a:rPr>
              <a:t>size is </a:t>
            </a:r>
            <a:r>
              <a:rPr lang="en-US" altLang="ko-KR" sz="900" dirty="0">
                <a:latin typeface="Arial"/>
                <a:cs typeface="Arial"/>
              </a:rPr>
              <a:t>decided </a:t>
            </a:r>
            <a:r>
              <a:rPr lang="en-US" altLang="ko-KR" sz="900" spc="-5" dirty="0">
                <a:latin typeface="Arial"/>
                <a:cs typeface="Arial"/>
              </a:rPr>
              <a:t>by </a:t>
            </a:r>
            <a:r>
              <a:rPr lang="en-US" altLang="ko-KR" sz="900" dirty="0">
                <a:latin typeface="Arial"/>
                <a:cs typeface="Arial"/>
              </a:rPr>
              <a:t>the </a:t>
            </a:r>
            <a:r>
              <a:rPr lang="en-US" altLang="ko-KR" sz="900" spc="-5" dirty="0">
                <a:latin typeface="Arial"/>
                <a:cs typeface="Arial"/>
              </a:rPr>
              <a:t>FULL_STEP_SIZE/the </a:t>
            </a:r>
            <a:r>
              <a:rPr lang="en-US" altLang="ko-KR" sz="900" dirty="0">
                <a:latin typeface="Arial"/>
                <a:cs typeface="Arial"/>
              </a:rPr>
              <a:t>number of step </a:t>
            </a:r>
            <a:r>
              <a:rPr lang="en-US" altLang="ko-KR" sz="900" spc="-5" dirty="0">
                <a:latin typeface="Arial"/>
                <a:cs typeface="Arial"/>
              </a:rPr>
              <a:t>in a DUTY and </a:t>
            </a:r>
            <a:r>
              <a:rPr lang="en-US" altLang="ko-KR" sz="900" dirty="0">
                <a:latin typeface="Arial"/>
                <a:cs typeface="Arial"/>
              </a:rPr>
              <a:t>the step </a:t>
            </a:r>
            <a:r>
              <a:rPr lang="en-US" altLang="ko-KR" sz="900" spc="-5" dirty="0">
                <a:latin typeface="Arial"/>
                <a:cs typeface="Arial"/>
              </a:rPr>
              <a:t>size is </a:t>
            </a:r>
            <a:r>
              <a:rPr lang="en-US" altLang="ko-KR" sz="900" dirty="0">
                <a:latin typeface="Arial"/>
                <a:cs typeface="Arial"/>
              </a:rPr>
              <a:t>same for </a:t>
            </a:r>
            <a:r>
              <a:rPr lang="en-US" altLang="ko-KR" sz="900" spc="-5" dirty="0">
                <a:latin typeface="Arial"/>
                <a:cs typeface="Arial"/>
              </a:rPr>
              <a:t>overall </a:t>
            </a:r>
            <a:r>
              <a:rPr lang="en-US" altLang="ko-KR" sz="900" spc="-235" dirty="0">
                <a:latin typeface="Arial"/>
                <a:cs typeface="Arial"/>
              </a:rPr>
              <a:t> </a:t>
            </a:r>
            <a:r>
              <a:rPr lang="en-US" altLang="ko-KR" sz="900" spc="-5" dirty="0">
                <a:latin typeface="Arial"/>
                <a:cs typeface="Arial"/>
              </a:rPr>
              <a:t>DUTY</a:t>
            </a:r>
            <a:r>
              <a:rPr lang="en-US" altLang="ko-KR" sz="900" spc="10" dirty="0">
                <a:latin typeface="Arial"/>
                <a:cs typeface="Arial"/>
              </a:rPr>
              <a:t> </a:t>
            </a:r>
            <a:r>
              <a:rPr lang="en-US" altLang="ko-KR" sz="900" spc="-5" dirty="0">
                <a:latin typeface="Arial"/>
                <a:cs typeface="Arial"/>
              </a:rPr>
              <a:t>period.</a:t>
            </a:r>
            <a:r>
              <a:rPr lang="en-US" altLang="ko-KR" sz="900" spc="-20" dirty="0">
                <a:latin typeface="Arial"/>
                <a:cs typeface="Arial"/>
              </a:rPr>
              <a:t> </a:t>
            </a:r>
            <a:r>
              <a:rPr lang="en-US" altLang="ko-KR" sz="900" spc="-5" dirty="0">
                <a:latin typeface="Arial"/>
                <a:cs typeface="Arial"/>
              </a:rPr>
              <a:t>The</a:t>
            </a:r>
            <a:r>
              <a:rPr lang="en-US" altLang="ko-KR" sz="900" spc="5" dirty="0">
                <a:latin typeface="Arial"/>
                <a:cs typeface="Arial"/>
              </a:rPr>
              <a:t> </a:t>
            </a:r>
            <a:r>
              <a:rPr lang="en-US" altLang="ko-KR" sz="900" spc="-5" dirty="0">
                <a:latin typeface="Arial"/>
                <a:cs typeface="Arial"/>
              </a:rPr>
              <a:t>FULL_STEP_SIZE</a:t>
            </a:r>
            <a:r>
              <a:rPr lang="en-US" altLang="ko-KR" sz="900" spc="-15" dirty="0">
                <a:latin typeface="Arial"/>
                <a:cs typeface="Arial"/>
              </a:rPr>
              <a:t> </a:t>
            </a:r>
            <a:r>
              <a:rPr lang="en-US" altLang="ko-KR" sz="900" dirty="0">
                <a:latin typeface="Arial"/>
                <a:cs typeface="Arial"/>
              </a:rPr>
              <a:t>means</a:t>
            </a:r>
            <a:r>
              <a:rPr lang="en-US" altLang="ko-KR" sz="900" spc="-15" dirty="0">
                <a:latin typeface="Arial"/>
                <a:cs typeface="Arial"/>
              </a:rPr>
              <a:t> </a:t>
            </a:r>
            <a:r>
              <a:rPr lang="en-US" altLang="ko-KR" sz="900" dirty="0">
                <a:latin typeface="Arial"/>
                <a:cs typeface="Arial"/>
              </a:rPr>
              <a:t>the</a:t>
            </a:r>
            <a:r>
              <a:rPr lang="en-US" altLang="ko-KR" sz="900" spc="-5" dirty="0">
                <a:latin typeface="Arial"/>
                <a:cs typeface="Arial"/>
              </a:rPr>
              <a:t> </a:t>
            </a:r>
            <a:r>
              <a:rPr lang="en-US" altLang="ko-KR" sz="900" dirty="0">
                <a:latin typeface="Arial"/>
                <a:cs typeface="Arial"/>
              </a:rPr>
              <a:t>max</a:t>
            </a:r>
            <a:r>
              <a:rPr lang="en-US" altLang="ko-KR" sz="900" spc="-15" dirty="0">
                <a:latin typeface="Arial"/>
                <a:cs typeface="Arial"/>
              </a:rPr>
              <a:t> </a:t>
            </a:r>
            <a:r>
              <a:rPr lang="en-US" altLang="ko-KR" sz="900" dirty="0">
                <a:latin typeface="Arial"/>
                <a:cs typeface="Arial"/>
              </a:rPr>
              <a:t>current</a:t>
            </a:r>
            <a:r>
              <a:rPr lang="en-US" altLang="ko-KR" sz="900" spc="-10" dirty="0">
                <a:latin typeface="Arial"/>
                <a:cs typeface="Arial"/>
              </a:rPr>
              <a:t> </a:t>
            </a:r>
            <a:r>
              <a:rPr lang="en-US" altLang="ko-KR" sz="900" dirty="0">
                <a:latin typeface="Arial"/>
                <a:cs typeface="Arial"/>
              </a:rPr>
              <a:t>of</a:t>
            </a:r>
            <a:r>
              <a:rPr lang="en-US" altLang="ko-KR" sz="900" spc="-5" dirty="0">
                <a:latin typeface="Arial"/>
                <a:cs typeface="Arial"/>
              </a:rPr>
              <a:t> </a:t>
            </a:r>
            <a:r>
              <a:rPr lang="en-US" altLang="ko-KR" sz="900" dirty="0">
                <a:latin typeface="Arial"/>
                <a:cs typeface="Arial"/>
              </a:rPr>
              <a:t>the</a:t>
            </a:r>
            <a:r>
              <a:rPr lang="en-US" altLang="ko-KR" sz="900" spc="-5" dirty="0">
                <a:latin typeface="Arial"/>
                <a:cs typeface="Arial"/>
              </a:rPr>
              <a:t> </a:t>
            </a:r>
            <a:r>
              <a:rPr lang="en-US" altLang="ko-KR" sz="900" dirty="0">
                <a:latin typeface="Arial"/>
                <a:cs typeface="Arial"/>
              </a:rPr>
              <a:t>frame</a:t>
            </a:r>
            <a:r>
              <a:rPr lang="en-US" altLang="ko-KR" sz="900" spc="-20" dirty="0">
                <a:latin typeface="Arial"/>
                <a:cs typeface="Arial"/>
              </a:rPr>
              <a:t> </a:t>
            </a:r>
            <a:r>
              <a:rPr lang="en-US" altLang="ko-KR" sz="900" spc="-5" dirty="0">
                <a:latin typeface="Arial"/>
                <a:cs typeface="Arial"/>
              </a:rPr>
              <a:t>period and</a:t>
            </a:r>
            <a:r>
              <a:rPr lang="en-US" altLang="ko-KR" sz="900" spc="-15" dirty="0">
                <a:latin typeface="Arial"/>
                <a:cs typeface="Arial"/>
              </a:rPr>
              <a:t> </a:t>
            </a:r>
            <a:r>
              <a:rPr lang="en-US" altLang="ko-KR" sz="900" spc="-5" dirty="0">
                <a:latin typeface="Arial"/>
                <a:cs typeface="Arial"/>
              </a:rPr>
              <a:t>is</a:t>
            </a:r>
            <a:r>
              <a:rPr lang="en-US" altLang="ko-KR" sz="900" dirty="0">
                <a:latin typeface="Arial"/>
                <a:cs typeface="Arial"/>
              </a:rPr>
              <a:t> decided</a:t>
            </a:r>
            <a:r>
              <a:rPr lang="en-US" altLang="ko-KR" sz="900" spc="-20" dirty="0">
                <a:latin typeface="Arial"/>
                <a:cs typeface="Arial"/>
              </a:rPr>
              <a:t> </a:t>
            </a:r>
            <a:r>
              <a:rPr lang="en-US" altLang="ko-KR" sz="900" spc="-5" dirty="0">
                <a:latin typeface="Arial"/>
                <a:cs typeface="Arial"/>
              </a:rPr>
              <a:t>by </a:t>
            </a:r>
            <a:r>
              <a:rPr lang="en-US" altLang="ko-KR" sz="900" dirty="0">
                <a:latin typeface="Arial"/>
                <a:cs typeface="Arial"/>
              </a:rPr>
              <a:t>the</a:t>
            </a:r>
            <a:r>
              <a:rPr lang="en-US" altLang="ko-KR" sz="900" spc="-5" dirty="0">
                <a:latin typeface="Arial"/>
                <a:cs typeface="Arial"/>
              </a:rPr>
              <a:t> </a:t>
            </a:r>
            <a:r>
              <a:rPr lang="en-US" altLang="ko-KR" sz="900" dirty="0">
                <a:latin typeface="Arial"/>
                <a:cs typeface="Arial"/>
              </a:rPr>
              <a:t>Frame_VREF</a:t>
            </a:r>
            <a:r>
              <a:rPr lang="en-US" altLang="ko-KR" sz="900" spc="-25" dirty="0">
                <a:latin typeface="Arial"/>
                <a:cs typeface="Arial"/>
              </a:rPr>
              <a:t> </a:t>
            </a:r>
            <a:r>
              <a:rPr lang="en-US" altLang="ko-KR" sz="900" dirty="0">
                <a:latin typeface="Arial"/>
                <a:cs typeface="Arial"/>
              </a:rPr>
              <a:t>of the</a:t>
            </a:r>
            <a:r>
              <a:rPr lang="en-US" altLang="ko-KR" sz="900" spc="-20" dirty="0">
                <a:latin typeface="Arial"/>
                <a:cs typeface="Arial"/>
              </a:rPr>
              <a:t> </a:t>
            </a:r>
            <a:r>
              <a:rPr lang="en-US" altLang="ko-KR" sz="900" dirty="0">
                <a:latin typeface="Arial"/>
                <a:cs typeface="Arial"/>
              </a:rPr>
              <a:t>frame</a:t>
            </a:r>
            <a:r>
              <a:rPr lang="en-US" altLang="ko-KR" sz="900" spc="-25" dirty="0">
                <a:latin typeface="Arial"/>
                <a:cs typeface="Arial"/>
              </a:rPr>
              <a:t> </a:t>
            </a:r>
            <a:r>
              <a:rPr lang="en-US" altLang="ko-KR" sz="900" spc="-5" dirty="0">
                <a:latin typeface="Arial"/>
                <a:cs typeface="Arial"/>
              </a:rPr>
              <a:t>header</a:t>
            </a:r>
            <a:r>
              <a:rPr lang="en-US" altLang="ko-KR" sz="900" spc="-15" dirty="0">
                <a:latin typeface="Arial"/>
                <a:cs typeface="Arial"/>
              </a:rPr>
              <a:t> </a:t>
            </a:r>
            <a:r>
              <a:rPr lang="en-US" altLang="ko-KR" sz="900" dirty="0">
                <a:latin typeface="Arial"/>
                <a:cs typeface="Arial"/>
              </a:rPr>
              <a:t>transferred</a:t>
            </a:r>
            <a:r>
              <a:rPr lang="en-US" altLang="ko-KR" sz="900" spc="-40" dirty="0">
                <a:latin typeface="Arial"/>
                <a:cs typeface="Arial"/>
              </a:rPr>
              <a:t> </a:t>
            </a:r>
            <a:r>
              <a:rPr lang="en-US" altLang="ko-KR" sz="900" dirty="0">
                <a:latin typeface="Arial"/>
                <a:cs typeface="Arial"/>
              </a:rPr>
              <a:t>together</a:t>
            </a:r>
            <a:r>
              <a:rPr lang="en-US" altLang="ko-KR" sz="900" spc="-30" dirty="0">
                <a:latin typeface="Arial"/>
                <a:cs typeface="Arial"/>
              </a:rPr>
              <a:t> </a:t>
            </a:r>
            <a:r>
              <a:rPr lang="en-US" altLang="ko-KR" sz="900" spc="-5" dirty="0">
                <a:latin typeface="Arial"/>
                <a:cs typeface="Arial"/>
              </a:rPr>
              <a:t>with </a:t>
            </a:r>
            <a:r>
              <a:rPr lang="en-US" altLang="ko-KR" sz="900" dirty="0">
                <a:latin typeface="Arial"/>
                <a:cs typeface="Arial"/>
              </a:rPr>
              <a:t>the</a:t>
            </a:r>
            <a:r>
              <a:rPr lang="en-US" altLang="ko-KR" sz="900" spc="-15" dirty="0">
                <a:latin typeface="Arial"/>
                <a:cs typeface="Arial"/>
              </a:rPr>
              <a:t> </a:t>
            </a:r>
            <a:r>
              <a:rPr lang="en-US" altLang="ko-KR" sz="900" spc="-5" dirty="0">
                <a:latin typeface="Arial"/>
                <a:cs typeface="Arial"/>
              </a:rPr>
              <a:t>DUTY</a:t>
            </a:r>
            <a:r>
              <a:rPr lang="en-US" altLang="ko-KR" sz="900" dirty="0">
                <a:latin typeface="Arial"/>
                <a:cs typeface="Arial"/>
              </a:rPr>
              <a:t> data.</a:t>
            </a:r>
          </a:p>
        </p:txBody>
      </p:sp>
      <p:sp>
        <p:nvSpPr>
          <p:cNvPr id="15" name="TextBox 14">
            <a:extLst>
              <a:ext uri="{FF2B5EF4-FFF2-40B4-BE49-F238E27FC236}">
                <a16:creationId xmlns:a16="http://schemas.microsoft.com/office/drawing/2014/main" id="{AE96D6CA-C988-B28E-91E0-3AF6CF43759E}"/>
              </a:ext>
            </a:extLst>
          </p:cNvPr>
          <p:cNvSpPr txBox="1"/>
          <p:nvPr/>
        </p:nvSpPr>
        <p:spPr>
          <a:xfrm>
            <a:off x="400913" y="5471859"/>
            <a:ext cx="6038542" cy="276999"/>
          </a:xfrm>
          <a:prstGeom prst="rect">
            <a:avLst/>
          </a:prstGeom>
          <a:noFill/>
        </p:spPr>
        <p:txBody>
          <a:bodyPr wrap="square" lIns="0" tIns="0" rIns="0" bIns="0" rtlCol="0">
            <a:spAutoFit/>
          </a:bodyPr>
          <a:lstStyle/>
          <a:p>
            <a:pPr algn="just"/>
            <a:r>
              <a:rPr lang="en-US" altLang="ko-KR" sz="900" dirty="0">
                <a:latin typeface="Arial"/>
                <a:cs typeface="Arial"/>
              </a:rPr>
              <a:t>The current step </a:t>
            </a:r>
            <a:r>
              <a:rPr lang="en-US" altLang="ko-KR" sz="900" spc="-5" dirty="0">
                <a:latin typeface="Arial"/>
                <a:cs typeface="Arial"/>
              </a:rPr>
              <a:t>size is </a:t>
            </a:r>
            <a:r>
              <a:rPr lang="en-US" altLang="ko-KR" sz="900" dirty="0">
                <a:latin typeface="Arial"/>
                <a:cs typeface="Arial"/>
              </a:rPr>
              <a:t>decided </a:t>
            </a:r>
            <a:r>
              <a:rPr lang="en-US" altLang="ko-KR" sz="900" spc="-5" dirty="0">
                <a:latin typeface="Arial"/>
                <a:cs typeface="Arial"/>
              </a:rPr>
              <a:t>by </a:t>
            </a:r>
            <a:r>
              <a:rPr lang="en-US" altLang="ko-KR" sz="900" dirty="0">
                <a:latin typeface="Arial"/>
                <a:cs typeface="Arial"/>
              </a:rPr>
              <a:t>the </a:t>
            </a:r>
            <a:r>
              <a:rPr lang="en-US" altLang="ko-KR" sz="900" spc="-5" dirty="0">
                <a:latin typeface="Arial"/>
                <a:cs typeface="Arial"/>
              </a:rPr>
              <a:t>LD_I data and DUTY data and </a:t>
            </a:r>
            <a:r>
              <a:rPr lang="en-US" altLang="ko-KR" sz="900" dirty="0">
                <a:latin typeface="Arial"/>
                <a:cs typeface="Arial"/>
              </a:rPr>
              <a:t>the </a:t>
            </a:r>
            <a:r>
              <a:rPr lang="en-US" altLang="ko-KR" sz="900" spc="-5" dirty="0">
                <a:latin typeface="Arial"/>
                <a:cs typeface="Arial"/>
              </a:rPr>
              <a:t>size </a:t>
            </a:r>
            <a:r>
              <a:rPr lang="en-US" altLang="ko-KR" sz="900" dirty="0">
                <a:latin typeface="Arial"/>
                <a:cs typeface="Arial"/>
              </a:rPr>
              <a:t>is different from each </a:t>
            </a:r>
            <a:r>
              <a:rPr lang="en-US" altLang="ko-KR" sz="900" spc="-10" dirty="0">
                <a:latin typeface="Arial"/>
                <a:cs typeface="Arial"/>
              </a:rPr>
              <a:t>DUTY. </a:t>
            </a:r>
            <a:r>
              <a:rPr lang="en-US" altLang="ko-KR" sz="900" spc="-235" dirty="0">
                <a:latin typeface="Arial"/>
                <a:cs typeface="Arial"/>
              </a:rPr>
              <a:t> </a:t>
            </a:r>
            <a:r>
              <a:rPr lang="en-US" altLang="ko-KR" sz="900" spc="-5" dirty="0">
                <a:latin typeface="Arial"/>
                <a:cs typeface="Arial"/>
              </a:rPr>
              <a:t>The </a:t>
            </a:r>
            <a:r>
              <a:rPr lang="en-US" altLang="ko-KR" sz="900" dirty="0">
                <a:latin typeface="Arial"/>
                <a:cs typeface="Arial"/>
              </a:rPr>
              <a:t>max</a:t>
            </a:r>
            <a:r>
              <a:rPr lang="en-US" altLang="ko-KR" sz="900" spc="-20" dirty="0">
                <a:latin typeface="Arial"/>
                <a:cs typeface="Arial"/>
              </a:rPr>
              <a:t> </a:t>
            </a:r>
            <a:r>
              <a:rPr lang="en-US" altLang="ko-KR" sz="900" dirty="0">
                <a:latin typeface="Arial"/>
                <a:cs typeface="Arial"/>
              </a:rPr>
              <a:t>current</a:t>
            </a:r>
            <a:r>
              <a:rPr lang="en-US" altLang="ko-KR" sz="900" spc="-10" dirty="0">
                <a:latin typeface="Arial"/>
                <a:cs typeface="Arial"/>
              </a:rPr>
              <a:t> </a:t>
            </a:r>
            <a:r>
              <a:rPr lang="en-US" altLang="ko-KR" sz="900" spc="-5" dirty="0">
                <a:latin typeface="Arial"/>
                <a:cs typeface="Arial"/>
              </a:rPr>
              <a:t>is </a:t>
            </a:r>
            <a:r>
              <a:rPr lang="en-US" altLang="ko-KR" sz="900" dirty="0">
                <a:latin typeface="Arial"/>
                <a:cs typeface="Arial"/>
              </a:rPr>
              <a:t>decided</a:t>
            </a:r>
            <a:r>
              <a:rPr lang="en-US" altLang="ko-KR" sz="900" spc="-35" dirty="0">
                <a:latin typeface="Arial"/>
                <a:cs typeface="Arial"/>
              </a:rPr>
              <a:t> </a:t>
            </a:r>
            <a:r>
              <a:rPr lang="en-US" altLang="ko-KR" sz="900" spc="-5" dirty="0">
                <a:latin typeface="Arial"/>
                <a:cs typeface="Arial"/>
              </a:rPr>
              <a:t>with</a:t>
            </a:r>
            <a:r>
              <a:rPr lang="en-US" altLang="ko-KR" sz="900" dirty="0">
                <a:latin typeface="Arial"/>
                <a:cs typeface="Arial"/>
              </a:rPr>
              <a:t> the</a:t>
            </a:r>
            <a:r>
              <a:rPr lang="en-US" altLang="ko-KR" sz="900" spc="-15" dirty="0">
                <a:latin typeface="Arial"/>
                <a:cs typeface="Arial"/>
              </a:rPr>
              <a:t> </a:t>
            </a:r>
            <a:r>
              <a:rPr lang="en-US" altLang="ko-KR" sz="900" dirty="0">
                <a:latin typeface="Arial"/>
                <a:cs typeface="Arial"/>
              </a:rPr>
              <a:t>Frame_VREF</a:t>
            </a:r>
            <a:r>
              <a:rPr lang="en-US" altLang="ko-KR" sz="900" spc="-25" dirty="0">
                <a:latin typeface="Arial"/>
                <a:cs typeface="Arial"/>
              </a:rPr>
              <a:t> </a:t>
            </a:r>
            <a:r>
              <a:rPr lang="en-US" altLang="ko-KR" sz="900" dirty="0">
                <a:latin typeface="Arial"/>
                <a:cs typeface="Arial"/>
              </a:rPr>
              <a:t>[11:0]</a:t>
            </a:r>
            <a:r>
              <a:rPr lang="en-US" altLang="ko-KR" sz="900" spc="-10" dirty="0">
                <a:latin typeface="Arial"/>
                <a:cs typeface="Arial"/>
              </a:rPr>
              <a:t> </a:t>
            </a:r>
            <a:r>
              <a:rPr lang="en-US" altLang="ko-KR" sz="900" dirty="0">
                <a:latin typeface="Arial"/>
                <a:cs typeface="Arial"/>
              </a:rPr>
              <a:t>transferred</a:t>
            </a:r>
            <a:r>
              <a:rPr lang="en-US" altLang="ko-KR" sz="900" spc="-35" dirty="0">
                <a:latin typeface="Arial"/>
                <a:cs typeface="Arial"/>
              </a:rPr>
              <a:t> </a:t>
            </a:r>
            <a:r>
              <a:rPr lang="en-US" altLang="ko-KR" sz="900" spc="-5" dirty="0">
                <a:latin typeface="Arial"/>
                <a:cs typeface="Arial"/>
              </a:rPr>
              <a:t>with</a:t>
            </a:r>
            <a:r>
              <a:rPr lang="en-US" altLang="ko-KR" sz="900" dirty="0">
                <a:latin typeface="Arial"/>
                <a:cs typeface="Arial"/>
              </a:rPr>
              <a:t> the</a:t>
            </a:r>
            <a:r>
              <a:rPr lang="en-US" altLang="ko-KR" sz="900" spc="-10" dirty="0">
                <a:latin typeface="Arial"/>
                <a:cs typeface="Arial"/>
              </a:rPr>
              <a:t> </a:t>
            </a:r>
            <a:r>
              <a:rPr lang="en-US" altLang="ko-KR" sz="900" spc="-5" dirty="0">
                <a:latin typeface="Arial"/>
                <a:cs typeface="Arial"/>
              </a:rPr>
              <a:t>DUTY</a:t>
            </a:r>
            <a:r>
              <a:rPr lang="en-US" altLang="ko-KR" sz="900" spc="5" dirty="0">
                <a:latin typeface="Arial"/>
                <a:cs typeface="Arial"/>
              </a:rPr>
              <a:t> </a:t>
            </a:r>
            <a:r>
              <a:rPr lang="en-US" altLang="ko-KR" sz="900" spc="-5" dirty="0">
                <a:latin typeface="Arial"/>
                <a:cs typeface="Arial"/>
              </a:rPr>
              <a:t>data</a:t>
            </a:r>
            <a:endParaRPr lang="en-US" altLang="ko-KR" sz="900" dirty="0">
              <a:latin typeface="Arial"/>
              <a:cs typeface="Arial"/>
            </a:endParaRPr>
          </a:p>
        </p:txBody>
      </p:sp>
      <p:sp>
        <p:nvSpPr>
          <p:cNvPr id="16" name="object 9">
            <a:extLst>
              <a:ext uri="{FF2B5EF4-FFF2-40B4-BE49-F238E27FC236}">
                <a16:creationId xmlns:a16="http://schemas.microsoft.com/office/drawing/2014/main" id="{D26574CC-4EA3-FD2E-2ADC-C6C0A41F1DF2}"/>
              </a:ext>
            </a:extLst>
          </p:cNvPr>
          <p:cNvSpPr txBox="1"/>
          <p:nvPr/>
        </p:nvSpPr>
        <p:spPr>
          <a:xfrm>
            <a:off x="304800" y="9067800"/>
            <a:ext cx="2078355" cy="289823"/>
          </a:xfrm>
          <a:prstGeom prst="rect">
            <a:avLst/>
          </a:prstGeom>
        </p:spPr>
        <p:txBody>
          <a:bodyPr vert="horz" wrap="square" lIns="0" tIns="12700" rIns="0" bIns="0" rtlCol="0">
            <a:spAutoFit/>
          </a:bodyPr>
          <a:lstStyle/>
          <a:p>
            <a:pPr marL="12700">
              <a:lnSpc>
                <a:spcPct val="100000"/>
              </a:lnSpc>
              <a:spcBef>
                <a:spcPts val="100"/>
              </a:spcBef>
            </a:pPr>
            <a:r>
              <a:rPr b="1" spc="-5" dirty="0">
                <a:solidFill>
                  <a:srgbClr val="FF0000"/>
                </a:solidFill>
                <a:cs typeface="Perpetua Titling MT"/>
              </a:rPr>
              <a:t>CONFIDENTIAL</a:t>
            </a:r>
            <a:endParaRPr dirty="0">
              <a:cs typeface="Perpetua Titling MT"/>
            </a:endParaRPr>
          </a:p>
        </p:txBody>
      </p:sp>
      <p:sp>
        <p:nvSpPr>
          <p:cNvPr id="17" name="object 6">
            <a:extLst>
              <a:ext uri="{FF2B5EF4-FFF2-40B4-BE49-F238E27FC236}">
                <a16:creationId xmlns:a16="http://schemas.microsoft.com/office/drawing/2014/main" id="{0B0D15B9-B495-24A9-D798-DD2CCA3A83BA}"/>
              </a:ext>
            </a:extLst>
          </p:cNvPr>
          <p:cNvSpPr/>
          <p:nvPr/>
        </p:nvSpPr>
        <p:spPr>
          <a:xfrm>
            <a:off x="301676" y="9458756"/>
            <a:ext cx="6246495" cy="0"/>
          </a:xfrm>
          <a:custGeom>
            <a:avLst/>
            <a:gdLst/>
            <a:ahLst/>
            <a:cxnLst/>
            <a:rect l="l" t="t" r="r" b="b"/>
            <a:pathLst>
              <a:path w="6246495">
                <a:moveTo>
                  <a:pt x="0" y="0"/>
                </a:moveTo>
                <a:lnTo>
                  <a:pt x="6245999" y="0"/>
                </a:lnTo>
              </a:path>
            </a:pathLst>
          </a:custGeom>
          <a:ln w="25920">
            <a:solidFill>
              <a:srgbClr val="BFBFBF"/>
            </a:solidFill>
          </a:ln>
        </p:spPr>
        <p:txBody>
          <a:bodyPr wrap="square" lIns="0" tIns="0" rIns="0" bIns="0" rtlCol="0"/>
          <a:lstStyle/>
          <a:p>
            <a:endParaRPr/>
          </a:p>
        </p:txBody>
      </p:sp>
      <p:sp>
        <p:nvSpPr>
          <p:cNvPr id="18" name="슬라이드 번호 개체 틀 3">
            <a:hlinkClick r:id="rId4"/>
            <a:extLst>
              <a:ext uri="{FF2B5EF4-FFF2-40B4-BE49-F238E27FC236}">
                <a16:creationId xmlns:a16="http://schemas.microsoft.com/office/drawing/2014/main" id="{19B2667A-1248-6654-8C96-B7EA1EE3E3CA}"/>
              </a:ext>
            </a:extLst>
          </p:cNvPr>
          <p:cNvSpPr txBox="1">
            <a:spLocks/>
          </p:cNvSpPr>
          <p:nvPr/>
        </p:nvSpPr>
        <p:spPr>
          <a:xfrm>
            <a:off x="5151602" y="9452864"/>
            <a:ext cx="1487550"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dirty="0">
                <a:solidFill>
                  <a:prstClr val="black"/>
                </a:solidFill>
                <a:latin typeface="Arial" panose="020B0604020202020204" pitchFamily="34" charset="0"/>
                <a:cs typeface="Arial" panose="020B0604020202020204" pitchFamily="34" charset="0"/>
              </a:rPr>
              <a:t>http://www.glbltech.com/</a:t>
            </a:r>
            <a:endParaRPr lang="ko-KR" altLang="en-US" dirty="0">
              <a:solidFill>
                <a:prstClr val="black"/>
              </a:solidFill>
              <a:latin typeface="Arial" panose="020B0604020202020204" pitchFamily="34" charset="0"/>
              <a:cs typeface="Arial" panose="020B0604020202020204" pitchFamily="34" charset="0"/>
            </a:endParaRPr>
          </a:p>
        </p:txBody>
      </p:sp>
      <p:sp>
        <p:nvSpPr>
          <p:cNvPr id="19" name="object 38">
            <a:extLst>
              <a:ext uri="{FF2B5EF4-FFF2-40B4-BE49-F238E27FC236}">
                <a16:creationId xmlns:a16="http://schemas.microsoft.com/office/drawing/2014/main" id="{1098BE8D-06D2-72A2-A4CB-408DE719CB52}"/>
              </a:ext>
            </a:extLst>
          </p:cNvPr>
          <p:cNvSpPr txBox="1">
            <a:spLocks/>
          </p:cNvSpPr>
          <p:nvPr/>
        </p:nvSpPr>
        <p:spPr>
          <a:xfrm>
            <a:off x="3309066" y="9547988"/>
            <a:ext cx="487045" cy="139141"/>
          </a:xfrm>
          <a:prstGeom prst="rect">
            <a:avLst/>
          </a:prstGeom>
        </p:spPr>
        <p:txBody>
          <a:bodyPr vert="horz" wrap="square" lIns="0" tIns="635" rIns="0" bIns="0" rtlCol="0">
            <a:spAutoFit/>
          </a:bodyPr>
          <a:lstStyle>
            <a:defPPr>
              <a:defRPr lang="ko-KR"/>
            </a:defPPr>
            <a:lvl1pPr marL="0" algn="l" defTabSz="914400" rtl="0" eaLnBrk="1" latinLnBrk="1" hangingPunct="1">
              <a:defRPr sz="1050" b="0" i="0" kern="1200">
                <a:solidFill>
                  <a:schemeClr val="tx1"/>
                </a:solidFill>
                <a:latin typeface="Arial"/>
                <a:ea typeface="+mn-ea"/>
                <a:cs typeface="Arial"/>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marL="12700">
              <a:spcBef>
                <a:spcPts val="5"/>
              </a:spcBef>
              <a:defRPr/>
            </a:pPr>
            <a:r>
              <a:rPr lang="en-US" sz="900" dirty="0">
                <a:solidFill>
                  <a:prstClr val="black"/>
                </a:solidFill>
              </a:rPr>
              <a:t>Page</a:t>
            </a:r>
            <a:r>
              <a:rPr lang="en-US" sz="900" spc="-60" dirty="0">
                <a:solidFill>
                  <a:prstClr val="black"/>
                </a:solidFill>
              </a:rPr>
              <a:t> </a:t>
            </a:r>
            <a:fld id="{81D60167-4931-47E6-BA6A-407CBD079E47}" type="slidenum">
              <a:rPr sz="900">
                <a:solidFill>
                  <a:prstClr val="black"/>
                </a:solidFill>
              </a:rPr>
              <a:pPr marL="12700">
                <a:spcBef>
                  <a:spcPts val="5"/>
                </a:spcBef>
                <a:defRPr/>
              </a:pPr>
              <a:t>28</a:t>
            </a:fld>
            <a:endParaRPr sz="900" dirty="0">
              <a:solidFill>
                <a:prstClr val="black"/>
              </a:solidFill>
            </a:endParaRPr>
          </a:p>
        </p:txBody>
      </p:sp>
      <p:sp>
        <p:nvSpPr>
          <p:cNvPr id="20" name="슬라이드 번호 개체 틀 3">
            <a:extLst>
              <a:ext uri="{FF2B5EF4-FFF2-40B4-BE49-F238E27FC236}">
                <a16:creationId xmlns:a16="http://schemas.microsoft.com/office/drawing/2014/main" id="{E15B1271-3077-2675-4C9D-0AE5E8CF425C}"/>
              </a:ext>
            </a:extLst>
          </p:cNvPr>
          <p:cNvSpPr txBox="1">
            <a:spLocks/>
          </p:cNvSpPr>
          <p:nvPr/>
        </p:nvSpPr>
        <p:spPr>
          <a:xfrm>
            <a:off x="299401" y="9520856"/>
            <a:ext cx="2060991" cy="175259"/>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lang="en-US" altLang="ko-KR" dirty="0">
                <a:solidFill>
                  <a:prstClr val="black"/>
                </a:solidFill>
                <a:latin typeface="Arial" panose="020B0604020202020204" pitchFamily="34" charset="0"/>
                <a:cs typeface="Arial" panose="020B0604020202020204" pitchFamily="34" charset="0"/>
              </a:rPr>
              <a:t>Dated 30-Nov 23  Rev. 01</a:t>
            </a:r>
            <a:endParaRPr lang="ko-KR" altLang="en-US" dirty="0">
              <a:solidFill>
                <a:prstClr val="black"/>
              </a:solidFill>
              <a:latin typeface="Arial" panose="020B0604020202020204" pitchFamily="34" charset="0"/>
              <a:cs typeface="Arial" panose="020B0604020202020204" pitchFamily="34" charset="0"/>
            </a:endParaRPr>
          </a:p>
        </p:txBody>
      </p:sp>
      <p:sp>
        <p:nvSpPr>
          <p:cNvPr id="21" name="Holder 3">
            <a:extLst>
              <a:ext uri="{FF2B5EF4-FFF2-40B4-BE49-F238E27FC236}">
                <a16:creationId xmlns:a16="http://schemas.microsoft.com/office/drawing/2014/main" id="{0FDA3875-F660-1E62-FDFD-89AB67FDFADF}"/>
              </a:ext>
            </a:extLst>
          </p:cNvPr>
          <p:cNvSpPr txBox="1">
            <a:spLocks/>
          </p:cNvSpPr>
          <p:nvPr/>
        </p:nvSpPr>
        <p:spPr>
          <a:xfrm>
            <a:off x="5147476" y="203944"/>
            <a:ext cx="1447800" cy="276999"/>
          </a:xfrm>
          <a:prstGeom prst="rect">
            <a:avLst/>
          </a:prstGeom>
        </p:spPr>
        <p:txBody>
          <a:bodyPr wrap="square" lIns="0" tIns="0" rIns="0" bIns="0">
            <a:spAutoFit/>
          </a:bodyPr>
          <a:lstStyle>
            <a:lvl1pPr marL="0">
              <a:defRPr>
                <a:solidFill>
                  <a:srgbClr val="FF99FF"/>
                </a:solidFill>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defTabSz="914400" latinLnBrk="0"/>
            <a:r>
              <a:rPr lang="en-US" sz="1800" kern="0" dirty="0"/>
              <a:t>&lt;Preliminary&gt;</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p:nvPr/>
        </p:nvSpPr>
        <p:spPr>
          <a:xfrm>
            <a:off x="400913" y="301879"/>
            <a:ext cx="622935" cy="299720"/>
          </a:xfrm>
          <a:prstGeom prst="rect">
            <a:avLst/>
          </a:prstGeom>
        </p:spPr>
        <p:txBody>
          <a:bodyPr vert="horz" wrap="square" lIns="0" tIns="12700" rIns="0" bIns="0" rtlCol="0">
            <a:spAutoFit/>
          </a:bodyPr>
          <a:lstStyle/>
          <a:p>
            <a:pPr marL="12700">
              <a:lnSpc>
                <a:spcPct val="100000"/>
              </a:lnSpc>
              <a:spcBef>
                <a:spcPts val="100"/>
              </a:spcBef>
            </a:pPr>
            <a:r>
              <a:rPr sz="1800" b="1" spc="-5" dirty="0">
                <a:latin typeface="Arial"/>
                <a:cs typeface="Arial"/>
              </a:rPr>
              <a:t>CQ24</a:t>
            </a:r>
            <a:endParaRPr sz="1800" dirty="0">
              <a:latin typeface="Arial"/>
              <a:cs typeface="Arial"/>
            </a:endParaRPr>
          </a:p>
        </p:txBody>
      </p:sp>
      <p:sp>
        <p:nvSpPr>
          <p:cNvPr id="5" name="object 5"/>
          <p:cNvSpPr txBox="1"/>
          <p:nvPr/>
        </p:nvSpPr>
        <p:spPr>
          <a:xfrm>
            <a:off x="400913" y="5714822"/>
            <a:ext cx="6038541" cy="151965"/>
          </a:xfrm>
          <a:prstGeom prst="rect">
            <a:avLst/>
          </a:prstGeom>
        </p:spPr>
        <p:txBody>
          <a:bodyPr vert="horz" wrap="square" lIns="0" tIns="13335" rIns="0" bIns="0" rtlCol="0">
            <a:spAutoFit/>
          </a:bodyPr>
          <a:lstStyle/>
          <a:p>
            <a:pPr marL="12700" algn="ctr">
              <a:lnSpc>
                <a:spcPct val="100000"/>
              </a:lnSpc>
              <a:spcBef>
                <a:spcPts val="105"/>
              </a:spcBef>
            </a:pPr>
            <a:r>
              <a:rPr sz="900" b="1" spc="-5" dirty="0">
                <a:latin typeface="Arial"/>
                <a:cs typeface="Arial"/>
              </a:rPr>
              <a:t>[Figure.</a:t>
            </a:r>
            <a:r>
              <a:rPr sz="900" b="1" spc="5" dirty="0">
                <a:latin typeface="Arial"/>
                <a:cs typeface="Arial"/>
              </a:rPr>
              <a:t> </a:t>
            </a:r>
            <a:r>
              <a:rPr lang="en-US" sz="900" b="1" spc="5" dirty="0">
                <a:latin typeface="Arial"/>
                <a:cs typeface="Arial"/>
              </a:rPr>
              <a:t>23</a:t>
            </a:r>
            <a:r>
              <a:rPr sz="900" b="1" spc="-5" dirty="0">
                <a:latin typeface="Arial"/>
                <a:cs typeface="Arial"/>
              </a:rPr>
              <a:t>]</a:t>
            </a:r>
            <a:r>
              <a:rPr sz="900" b="1" spc="10" dirty="0">
                <a:latin typeface="Arial"/>
                <a:cs typeface="Arial"/>
              </a:rPr>
              <a:t> </a:t>
            </a:r>
            <a:r>
              <a:rPr sz="900" b="1" dirty="0">
                <a:latin typeface="Arial"/>
                <a:cs typeface="Arial"/>
              </a:rPr>
              <a:t>The</a:t>
            </a:r>
            <a:r>
              <a:rPr sz="900" b="1" spc="10" dirty="0">
                <a:latin typeface="Arial"/>
                <a:cs typeface="Arial"/>
              </a:rPr>
              <a:t> </a:t>
            </a:r>
            <a:r>
              <a:rPr sz="900" b="1" spc="-5" dirty="0">
                <a:latin typeface="Arial"/>
                <a:cs typeface="Arial"/>
              </a:rPr>
              <a:t>change</a:t>
            </a:r>
            <a:r>
              <a:rPr sz="900" b="1" spc="15" dirty="0">
                <a:latin typeface="Arial"/>
                <a:cs typeface="Arial"/>
              </a:rPr>
              <a:t> </a:t>
            </a:r>
            <a:r>
              <a:rPr sz="900" b="1" spc="-5" dirty="0">
                <a:latin typeface="Arial"/>
                <a:cs typeface="Arial"/>
              </a:rPr>
              <a:t>of</a:t>
            </a:r>
            <a:r>
              <a:rPr sz="900" b="1" spc="5" dirty="0">
                <a:latin typeface="Arial"/>
                <a:cs typeface="Arial"/>
              </a:rPr>
              <a:t> </a:t>
            </a:r>
            <a:r>
              <a:rPr sz="900" b="1" dirty="0">
                <a:latin typeface="Arial"/>
                <a:cs typeface="Arial"/>
              </a:rPr>
              <a:t>the</a:t>
            </a:r>
            <a:r>
              <a:rPr sz="900" b="1" spc="15" dirty="0">
                <a:latin typeface="Arial"/>
                <a:cs typeface="Arial"/>
              </a:rPr>
              <a:t> </a:t>
            </a:r>
            <a:r>
              <a:rPr sz="900" b="1" dirty="0">
                <a:latin typeface="Arial"/>
                <a:cs typeface="Arial"/>
              </a:rPr>
              <a:t>frame</a:t>
            </a:r>
            <a:r>
              <a:rPr sz="900" b="1" spc="-20" dirty="0">
                <a:latin typeface="Arial"/>
                <a:cs typeface="Arial"/>
              </a:rPr>
              <a:t> </a:t>
            </a:r>
            <a:r>
              <a:rPr sz="900" b="1" spc="-5" dirty="0">
                <a:latin typeface="Arial"/>
                <a:cs typeface="Arial"/>
              </a:rPr>
              <a:t>period</a:t>
            </a:r>
            <a:endParaRPr sz="900" b="1" dirty="0">
              <a:latin typeface="Arial"/>
              <a:cs typeface="Arial"/>
            </a:endParaRPr>
          </a:p>
        </p:txBody>
      </p:sp>
      <p:sp>
        <p:nvSpPr>
          <p:cNvPr id="6" name="object 6"/>
          <p:cNvSpPr txBox="1"/>
          <p:nvPr/>
        </p:nvSpPr>
        <p:spPr>
          <a:xfrm>
            <a:off x="400910" y="906018"/>
            <a:ext cx="6038543" cy="228268"/>
          </a:xfrm>
          <a:prstGeom prst="rect">
            <a:avLst/>
          </a:prstGeom>
        </p:spPr>
        <p:txBody>
          <a:bodyPr vert="horz" wrap="square" lIns="0" tIns="12700" rIns="0" bIns="0" rtlCol="0">
            <a:spAutoFit/>
          </a:bodyPr>
          <a:lstStyle/>
          <a:p>
            <a:pPr marL="12700">
              <a:lnSpc>
                <a:spcPct val="100000"/>
              </a:lnSpc>
              <a:spcBef>
                <a:spcPts val="100"/>
              </a:spcBef>
            </a:pPr>
            <a:r>
              <a:rPr sz="1400" b="1" spc="-5" dirty="0">
                <a:latin typeface="Arial"/>
                <a:cs typeface="Arial"/>
              </a:rPr>
              <a:t>The</a:t>
            </a:r>
            <a:r>
              <a:rPr sz="1400" b="1" spc="-10" dirty="0">
                <a:latin typeface="Arial"/>
                <a:cs typeface="Arial"/>
              </a:rPr>
              <a:t> </a:t>
            </a:r>
            <a:r>
              <a:rPr sz="1400" b="1" dirty="0">
                <a:latin typeface="Arial"/>
                <a:cs typeface="Arial"/>
              </a:rPr>
              <a:t>change</a:t>
            </a:r>
            <a:r>
              <a:rPr sz="1400" b="1" spc="-35" dirty="0">
                <a:latin typeface="Arial"/>
                <a:cs typeface="Arial"/>
              </a:rPr>
              <a:t> </a:t>
            </a:r>
            <a:r>
              <a:rPr sz="1400" b="1" dirty="0">
                <a:latin typeface="Arial"/>
                <a:cs typeface="Arial"/>
              </a:rPr>
              <a:t>of</a:t>
            </a:r>
            <a:r>
              <a:rPr sz="1400" b="1" spc="-15" dirty="0">
                <a:latin typeface="Arial"/>
                <a:cs typeface="Arial"/>
              </a:rPr>
              <a:t> </a:t>
            </a:r>
            <a:r>
              <a:rPr sz="1400" b="1" dirty="0">
                <a:latin typeface="Arial"/>
                <a:cs typeface="Arial"/>
              </a:rPr>
              <a:t>the</a:t>
            </a:r>
            <a:r>
              <a:rPr sz="1400" b="1" spc="-20" dirty="0">
                <a:latin typeface="Arial"/>
                <a:cs typeface="Arial"/>
              </a:rPr>
              <a:t> </a:t>
            </a:r>
            <a:r>
              <a:rPr sz="1400" b="1" dirty="0">
                <a:latin typeface="Arial"/>
                <a:cs typeface="Arial"/>
              </a:rPr>
              <a:t>frame</a:t>
            </a:r>
            <a:r>
              <a:rPr sz="1400" b="1" spc="-15" dirty="0">
                <a:latin typeface="Arial"/>
                <a:cs typeface="Arial"/>
              </a:rPr>
              <a:t> </a:t>
            </a:r>
            <a:r>
              <a:rPr sz="1400" b="1" dirty="0">
                <a:latin typeface="Arial"/>
                <a:cs typeface="Arial"/>
              </a:rPr>
              <a:t>period</a:t>
            </a:r>
            <a:endParaRPr sz="1400" dirty="0">
              <a:latin typeface="Arial"/>
              <a:cs typeface="Arial"/>
            </a:endParaRPr>
          </a:p>
        </p:txBody>
      </p:sp>
      <p:pic>
        <p:nvPicPr>
          <p:cNvPr id="8" name="object 8"/>
          <p:cNvPicPr/>
          <p:nvPr/>
        </p:nvPicPr>
        <p:blipFill>
          <a:blip r:embed="rId2" cstate="print"/>
          <a:stretch>
            <a:fillRect/>
          </a:stretch>
        </p:blipFill>
        <p:spPr>
          <a:xfrm>
            <a:off x="400911" y="4215557"/>
            <a:ext cx="6038544" cy="1234360"/>
          </a:xfrm>
          <a:prstGeom prst="rect">
            <a:avLst/>
          </a:prstGeom>
        </p:spPr>
      </p:pic>
      <p:sp>
        <p:nvSpPr>
          <p:cNvPr id="12" name="TextBox 11">
            <a:extLst>
              <a:ext uri="{FF2B5EF4-FFF2-40B4-BE49-F238E27FC236}">
                <a16:creationId xmlns:a16="http://schemas.microsoft.com/office/drawing/2014/main" id="{69FBC02F-FB22-CD08-AEA0-8C5E4FAED2D6}"/>
              </a:ext>
            </a:extLst>
          </p:cNvPr>
          <p:cNvSpPr txBox="1"/>
          <p:nvPr/>
        </p:nvSpPr>
        <p:spPr>
          <a:xfrm>
            <a:off x="400913" y="1310014"/>
            <a:ext cx="6038542" cy="2354491"/>
          </a:xfrm>
          <a:prstGeom prst="rect">
            <a:avLst/>
          </a:prstGeom>
          <a:noFill/>
        </p:spPr>
        <p:txBody>
          <a:bodyPr wrap="square" lIns="0" tIns="0" rIns="0" bIns="0" rtlCol="0">
            <a:spAutoFit/>
          </a:bodyPr>
          <a:lstStyle/>
          <a:p>
            <a:pPr marL="12700" marR="5080" algn="just">
              <a:lnSpc>
                <a:spcPct val="100000"/>
              </a:lnSpc>
              <a:spcBef>
                <a:spcPts val="5"/>
              </a:spcBef>
            </a:pPr>
            <a:r>
              <a:rPr lang="en-US" altLang="ko-KR" sz="900" spc="-5" dirty="0">
                <a:latin typeface="Arial"/>
                <a:cs typeface="Arial"/>
              </a:rPr>
              <a:t>Below</a:t>
            </a:r>
            <a:r>
              <a:rPr lang="en-US" altLang="ko-KR" sz="900" dirty="0">
                <a:latin typeface="Arial"/>
                <a:cs typeface="Arial"/>
              </a:rPr>
              <a:t> </a:t>
            </a:r>
            <a:r>
              <a:rPr lang="en-US" altLang="ko-KR" sz="900" spc="-5" dirty="0">
                <a:latin typeface="Arial"/>
                <a:cs typeface="Arial"/>
              </a:rPr>
              <a:t>explains</a:t>
            </a:r>
            <a:r>
              <a:rPr lang="en-US" altLang="ko-KR" sz="900" dirty="0">
                <a:latin typeface="Arial"/>
                <a:cs typeface="Arial"/>
              </a:rPr>
              <a:t> the</a:t>
            </a:r>
            <a:r>
              <a:rPr lang="en-US" altLang="ko-KR" sz="900" spc="-5" dirty="0">
                <a:latin typeface="Arial"/>
                <a:cs typeface="Arial"/>
              </a:rPr>
              <a:t> </a:t>
            </a:r>
            <a:r>
              <a:rPr lang="en-US" altLang="ko-KR" sz="900" dirty="0">
                <a:latin typeface="Arial"/>
                <a:cs typeface="Arial"/>
              </a:rPr>
              <a:t>case</a:t>
            </a:r>
            <a:r>
              <a:rPr lang="en-US" altLang="ko-KR" sz="900" spc="-15" dirty="0">
                <a:latin typeface="Arial"/>
                <a:cs typeface="Arial"/>
              </a:rPr>
              <a:t> </a:t>
            </a:r>
            <a:r>
              <a:rPr lang="en-US" altLang="ko-KR" sz="900" spc="-5" dirty="0">
                <a:latin typeface="Arial"/>
                <a:cs typeface="Arial"/>
              </a:rPr>
              <a:t>how</a:t>
            </a:r>
            <a:r>
              <a:rPr lang="en-US" altLang="ko-KR" sz="900" spc="-10" dirty="0">
                <a:latin typeface="Arial"/>
                <a:cs typeface="Arial"/>
              </a:rPr>
              <a:t> </a:t>
            </a:r>
            <a:r>
              <a:rPr lang="en-US" altLang="ko-KR" sz="900" dirty="0">
                <a:latin typeface="Arial"/>
                <a:cs typeface="Arial"/>
              </a:rPr>
              <a:t>to </a:t>
            </a:r>
            <a:r>
              <a:rPr lang="en-US" altLang="ko-KR" sz="900" spc="-5" dirty="0">
                <a:latin typeface="Arial"/>
                <a:cs typeface="Arial"/>
              </a:rPr>
              <a:t>switch </a:t>
            </a:r>
            <a:r>
              <a:rPr lang="en-US" altLang="ko-KR" sz="900" dirty="0">
                <a:latin typeface="Arial"/>
                <a:cs typeface="Arial"/>
              </a:rPr>
              <a:t>the</a:t>
            </a:r>
            <a:r>
              <a:rPr lang="en-US" altLang="ko-KR" sz="900" spc="-5" dirty="0">
                <a:latin typeface="Arial"/>
                <a:cs typeface="Arial"/>
              </a:rPr>
              <a:t> </a:t>
            </a:r>
            <a:r>
              <a:rPr lang="en-US" altLang="ko-KR" sz="900" dirty="0">
                <a:latin typeface="Arial"/>
                <a:cs typeface="Arial"/>
              </a:rPr>
              <a:t>frame</a:t>
            </a:r>
            <a:r>
              <a:rPr lang="en-US" altLang="ko-KR" sz="900" spc="-15" dirty="0">
                <a:latin typeface="Arial"/>
                <a:cs typeface="Arial"/>
              </a:rPr>
              <a:t> </a:t>
            </a:r>
            <a:r>
              <a:rPr lang="en-US" altLang="ko-KR" sz="900" spc="-5" dirty="0">
                <a:latin typeface="Arial"/>
                <a:cs typeface="Arial"/>
              </a:rPr>
              <a:t>period without</a:t>
            </a:r>
            <a:r>
              <a:rPr lang="en-US" altLang="ko-KR" sz="900" spc="-10" dirty="0">
                <a:latin typeface="Arial"/>
                <a:cs typeface="Arial"/>
              </a:rPr>
              <a:t> </a:t>
            </a:r>
            <a:r>
              <a:rPr lang="en-US" altLang="ko-KR" sz="900" dirty="0">
                <a:latin typeface="Arial"/>
                <a:cs typeface="Arial"/>
              </a:rPr>
              <a:t>the</a:t>
            </a:r>
            <a:r>
              <a:rPr lang="en-US" altLang="ko-KR" sz="900" spc="-5" dirty="0">
                <a:latin typeface="Arial"/>
                <a:cs typeface="Arial"/>
              </a:rPr>
              <a:t> </a:t>
            </a:r>
            <a:r>
              <a:rPr lang="en-US" altLang="ko-KR" sz="900" dirty="0">
                <a:latin typeface="Arial"/>
                <a:cs typeface="Arial"/>
              </a:rPr>
              <a:t>insertion</a:t>
            </a:r>
            <a:r>
              <a:rPr lang="en-US" altLang="ko-KR" sz="900" spc="-30" dirty="0">
                <a:latin typeface="Arial"/>
                <a:cs typeface="Arial"/>
              </a:rPr>
              <a:t> </a:t>
            </a:r>
            <a:r>
              <a:rPr lang="en-US" altLang="ko-KR" sz="900" dirty="0">
                <a:latin typeface="Arial"/>
                <a:cs typeface="Arial"/>
              </a:rPr>
              <a:t>of</a:t>
            </a:r>
            <a:r>
              <a:rPr lang="en-US" altLang="ko-KR" sz="900" spc="-5" dirty="0">
                <a:latin typeface="Arial"/>
                <a:cs typeface="Arial"/>
              </a:rPr>
              <a:t> </a:t>
            </a:r>
            <a:r>
              <a:rPr lang="en-US" altLang="ko-KR" sz="900" dirty="0">
                <a:latin typeface="Arial"/>
                <a:cs typeface="Arial"/>
              </a:rPr>
              <a:t>the</a:t>
            </a:r>
            <a:r>
              <a:rPr lang="en-US" altLang="ko-KR" sz="900" spc="-5" dirty="0">
                <a:latin typeface="Arial"/>
                <a:cs typeface="Arial"/>
              </a:rPr>
              <a:t> </a:t>
            </a:r>
            <a:r>
              <a:rPr lang="en-US" altLang="ko-KR" sz="900" dirty="0">
                <a:latin typeface="Arial"/>
                <a:cs typeface="Arial"/>
              </a:rPr>
              <a:t>black</a:t>
            </a:r>
            <a:r>
              <a:rPr lang="en-US" altLang="ko-KR" sz="900" spc="-20" dirty="0">
                <a:latin typeface="Arial"/>
                <a:cs typeface="Arial"/>
              </a:rPr>
              <a:t> </a:t>
            </a:r>
            <a:r>
              <a:rPr lang="en-US" altLang="ko-KR" sz="900" dirty="0">
                <a:latin typeface="Arial"/>
                <a:cs typeface="Arial"/>
              </a:rPr>
              <a:t>screen. </a:t>
            </a:r>
            <a:r>
              <a:rPr lang="en-US" altLang="ko-KR" sz="900" spc="-5" dirty="0">
                <a:latin typeface="Arial"/>
                <a:cs typeface="Arial"/>
              </a:rPr>
              <a:t>This </a:t>
            </a:r>
            <a:r>
              <a:rPr lang="en-US" altLang="ko-KR" sz="900" dirty="0">
                <a:latin typeface="Arial"/>
                <a:cs typeface="Arial"/>
              </a:rPr>
              <a:t>can </a:t>
            </a:r>
            <a:r>
              <a:rPr lang="en-US" altLang="ko-KR" sz="900" spc="-5" dirty="0">
                <a:latin typeface="Arial"/>
                <a:cs typeface="Arial"/>
              </a:rPr>
              <a:t>be achieved by gradually </a:t>
            </a:r>
            <a:r>
              <a:rPr lang="en-US" altLang="ko-KR" sz="900" dirty="0">
                <a:latin typeface="Arial"/>
                <a:cs typeface="Arial"/>
              </a:rPr>
              <a:t>changing the </a:t>
            </a:r>
            <a:r>
              <a:rPr lang="en-US" altLang="ko-KR" sz="900" spc="-5" dirty="0">
                <a:latin typeface="Arial"/>
                <a:cs typeface="Arial"/>
              </a:rPr>
              <a:t>SVSYNC PERIOD value up or down </a:t>
            </a:r>
            <a:r>
              <a:rPr lang="en-US" altLang="ko-KR" sz="900" dirty="0">
                <a:latin typeface="Arial"/>
                <a:cs typeface="Arial"/>
              </a:rPr>
              <a:t>according to the desired </a:t>
            </a:r>
            <a:r>
              <a:rPr lang="en-US" altLang="ko-KR" sz="900" spc="-5" dirty="0">
                <a:latin typeface="Arial"/>
                <a:cs typeface="Arial"/>
              </a:rPr>
              <a:t>appropriate </a:t>
            </a:r>
            <a:r>
              <a:rPr lang="en-US" altLang="ko-KR" sz="900" dirty="0">
                <a:latin typeface="Arial"/>
                <a:cs typeface="Arial"/>
              </a:rPr>
              <a:t> frame </a:t>
            </a:r>
            <a:r>
              <a:rPr lang="en-US" altLang="ko-KR" sz="900" spc="-5" dirty="0">
                <a:latin typeface="Arial"/>
                <a:cs typeface="Arial"/>
              </a:rPr>
              <a:t>period. </a:t>
            </a:r>
            <a:r>
              <a:rPr lang="en-US" altLang="ko-KR" sz="900" dirty="0">
                <a:latin typeface="Arial"/>
                <a:cs typeface="Arial"/>
              </a:rPr>
              <a:t>After the register </a:t>
            </a:r>
            <a:r>
              <a:rPr lang="en-US" altLang="ko-KR" sz="900" spc="-5" dirty="0">
                <a:latin typeface="Arial"/>
                <a:cs typeface="Arial"/>
              </a:rPr>
              <a:t>is </a:t>
            </a:r>
            <a:r>
              <a:rPr lang="en-US" altLang="ko-KR" sz="900" dirty="0">
                <a:latin typeface="Arial"/>
                <a:cs typeface="Arial"/>
              </a:rPr>
              <a:t>set to the desired </a:t>
            </a:r>
            <a:r>
              <a:rPr lang="en-US" altLang="ko-KR" sz="900" spc="-5" dirty="0">
                <a:latin typeface="Arial"/>
                <a:cs typeface="Arial"/>
              </a:rPr>
              <a:t>value, </a:t>
            </a:r>
            <a:r>
              <a:rPr lang="en-US" altLang="ko-KR" sz="900" dirty="0">
                <a:latin typeface="Arial"/>
                <a:cs typeface="Arial"/>
              </a:rPr>
              <a:t>the </a:t>
            </a:r>
            <a:r>
              <a:rPr lang="en-US" altLang="ko-KR" sz="900" spc="-5" dirty="0">
                <a:latin typeface="Arial"/>
                <a:cs typeface="Arial"/>
              </a:rPr>
              <a:t>SVSYNC PERIOD begins </a:t>
            </a:r>
            <a:r>
              <a:rPr lang="en-US" altLang="ko-KR" sz="900" dirty="0">
                <a:latin typeface="Arial"/>
                <a:cs typeface="Arial"/>
              </a:rPr>
              <a:t>to change </a:t>
            </a:r>
            <a:r>
              <a:rPr lang="en-US" altLang="ko-KR" sz="900" spc="-5" dirty="0">
                <a:latin typeface="Arial"/>
                <a:cs typeface="Arial"/>
              </a:rPr>
              <a:t>when VSYNC is received. </a:t>
            </a:r>
            <a:r>
              <a:rPr lang="en-US" altLang="ko-KR" sz="900" spc="-235" dirty="0">
                <a:latin typeface="Arial"/>
                <a:cs typeface="Arial"/>
              </a:rPr>
              <a:t> </a:t>
            </a:r>
            <a:r>
              <a:rPr lang="en-US" altLang="ko-KR" sz="900" spc="-5" dirty="0">
                <a:latin typeface="Arial"/>
                <a:cs typeface="Arial"/>
              </a:rPr>
              <a:t>Therefore,</a:t>
            </a:r>
            <a:r>
              <a:rPr lang="en-US" altLang="ko-KR" sz="900" spc="-10" dirty="0">
                <a:latin typeface="Arial"/>
                <a:cs typeface="Arial"/>
              </a:rPr>
              <a:t> </a:t>
            </a:r>
            <a:r>
              <a:rPr lang="en-US" altLang="ko-KR" sz="900" dirty="0">
                <a:latin typeface="Arial"/>
                <a:cs typeface="Arial"/>
              </a:rPr>
              <a:t>the</a:t>
            </a:r>
            <a:r>
              <a:rPr lang="en-US" altLang="ko-KR" sz="900" spc="-10" dirty="0">
                <a:latin typeface="Arial"/>
                <a:cs typeface="Arial"/>
              </a:rPr>
              <a:t> </a:t>
            </a:r>
            <a:r>
              <a:rPr lang="en-US" altLang="ko-KR" sz="900" dirty="0">
                <a:latin typeface="Arial"/>
                <a:cs typeface="Arial"/>
              </a:rPr>
              <a:t>desired</a:t>
            </a:r>
            <a:r>
              <a:rPr lang="en-US" altLang="ko-KR" sz="900" spc="-35" dirty="0">
                <a:latin typeface="Arial"/>
                <a:cs typeface="Arial"/>
              </a:rPr>
              <a:t> </a:t>
            </a:r>
            <a:r>
              <a:rPr lang="en-US" altLang="ko-KR" sz="900" spc="-5" dirty="0">
                <a:latin typeface="Arial"/>
                <a:cs typeface="Arial"/>
              </a:rPr>
              <a:t>SVSYNC</a:t>
            </a:r>
            <a:r>
              <a:rPr lang="en-US" altLang="ko-KR" sz="900" spc="20" dirty="0">
                <a:latin typeface="Arial"/>
                <a:cs typeface="Arial"/>
              </a:rPr>
              <a:t> </a:t>
            </a:r>
            <a:r>
              <a:rPr lang="en-US" altLang="ko-KR" sz="900" spc="-5" dirty="0">
                <a:latin typeface="Arial"/>
                <a:cs typeface="Arial"/>
              </a:rPr>
              <a:t>PERIOD</a:t>
            </a:r>
            <a:r>
              <a:rPr lang="en-US" altLang="ko-KR" sz="900" spc="5" dirty="0">
                <a:latin typeface="Arial"/>
                <a:cs typeface="Arial"/>
              </a:rPr>
              <a:t> </a:t>
            </a:r>
            <a:r>
              <a:rPr lang="en-US" altLang="ko-KR" sz="900" dirty="0">
                <a:latin typeface="Arial"/>
                <a:cs typeface="Arial"/>
              </a:rPr>
              <a:t>must</a:t>
            </a:r>
            <a:r>
              <a:rPr lang="en-US" altLang="ko-KR" sz="900" spc="-25" dirty="0">
                <a:latin typeface="Arial"/>
                <a:cs typeface="Arial"/>
              </a:rPr>
              <a:t> </a:t>
            </a:r>
            <a:r>
              <a:rPr lang="en-US" altLang="ko-KR" sz="900" spc="-5" dirty="0">
                <a:latin typeface="Arial"/>
                <a:cs typeface="Arial"/>
              </a:rPr>
              <a:t>be</a:t>
            </a:r>
            <a:r>
              <a:rPr lang="en-US" altLang="ko-KR" sz="900" spc="-10" dirty="0">
                <a:latin typeface="Arial"/>
                <a:cs typeface="Arial"/>
              </a:rPr>
              <a:t> </a:t>
            </a:r>
            <a:r>
              <a:rPr lang="en-US" altLang="ko-KR" sz="900" dirty="0">
                <a:latin typeface="Arial"/>
                <a:cs typeface="Arial"/>
              </a:rPr>
              <a:t>set</a:t>
            </a:r>
            <a:r>
              <a:rPr lang="en-US" altLang="ko-KR" sz="900" spc="-10" dirty="0">
                <a:latin typeface="Arial"/>
                <a:cs typeface="Arial"/>
              </a:rPr>
              <a:t> </a:t>
            </a:r>
            <a:r>
              <a:rPr lang="en-US" altLang="ko-KR" sz="900" spc="-5" dirty="0">
                <a:latin typeface="Arial"/>
                <a:cs typeface="Arial"/>
              </a:rPr>
              <a:t>before</a:t>
            </a:r>
            <a:r>
              <a:rPr lang="en-US" altLang="ko-KR" sz="900" spc="-10" dirty="0">
                <a:latin typeface="Arial"/>
                <a:cs typeface="Arial"/>
              </a:rPr>
              <a:t> </a:t>
            </a:r>
            <a:r>
              <a:rPr lang="en-US" altLang="ko-KR" sz="900" spc="-5" dirty="0">
                <a:latin typeface="Arial"/>
                <a:cs typeface="Arial"/>
              </a:rPr>
              <a:t>VSYNC</a:t>
            </a:r>
            <a:r>
              <a:rPr lang="en-US" altLang="ko-KR" sz="900" spc="10" dirty="0">
                <a:latin typeface="Arial"/>
                <a:cs typeface="Arial"/>
              </a:rPr>
              <a:t> </a:t>
            </a:r>
            <a:r>
              <a:rPr lang="en-US" altLang="ko-KR" sz="900" dirty="0">
                <a:latin typeface="Arial"/>
                <a:cs typeface="Arial"/>
              </a:rPr>
              <a:t>to</a:t>
            </a:r>
            <a:r>
              <a:rPr lang="en-US" altLang="ko-KR" sz="900" spc="-10" dirty="0">
                <a:latin typeface="Arial"/>
                <a:cs typeface="Arial"/>
              </a:rPr>
              <a:t> </a:t>
            </a:r>
            <a:r>
              <a:rPr lang="en-US" altLang="ko-KR" sz="900" spc="-5" dirty="0">
                <a:latin typeface="Arial"/>
                <a:cs typeface="Arial"/>
              </a:rPr>
              <a:t>be</a:t>
            </a:r>
            <a:r>
              <a:rPr lang="en-US" altLang="ko-KR" sz="900" spc="-10" dirty="0">
                <a:latin typeface="Arial"/>
                <a:cs typeface="Arial"/>
              </a:rPr>
              <a:t> </a:t>
            </a:r>
            <a:r>
              <a:rPr lang="en-US" altLang="ko-KR" sz="900" dirty="0">
                <a:latin typeface="Arial"/>
                <a:cs typeface="Arial"/>
              </a:rPr>
              <a:t>desired</a:t>
            </a:r>
            <a:r>
              <a:rPr lang="en-US" altLang="ko-KR" sz="900" spc="-20" dirty="0">
                <a:latin typeface="Arial"/>
                <a:cs typeface="Arial"/>
              </a:rPr>
              <a:t> </a:t>
            </a:r>
            <a:r>
              <a:rPr lang="en-US" altLang="ko-KR" sz="900" dirty="0">
                <a:latin typeface="Arial"/>
                <a:cs typeface="Arial"/>
              </a:rPr>
              <a:t>to</a:t>
            </a:r>
            <a:r>
              <a:rPr lang="en-US" altLang="ko-KR" sz="900" spc="-10" dirty="0">
                <a:latin typeface="Arial"/>
                <a:cs typeface="Arial"/>
              </a:rPr>
              <a:t> </a:t>
            </a:r>
            <a:r>
              <a:rPr lang="en-US" altLang="ko-KR" sz="900" dirty="0">
                <a:latin typeface="Arial"/>
                <a:cs typeface="Arial"/>
              </a:rPr>
              <a:t>change. Since</a:t>
            </a:r>
            <a:r>
              <a:rPr lang="en-US" altLang="ko-KR" sz="900" spc="-15" dirty="0">
                <a:latin typeface="Arial"/>
                <a:cs typeface="Arial"/>
              </a:rPr>
              <a:t> </a:t>
            </a:r>
            <a:r>
              <a:rPr lang="en-US" altLang="ko-KR" sz="900" spc="-5" dirty="0">
                <a:latin typeface="Arial"/>
                <a:cs typeface="Arial"/>
              </a:rPr>
              <a:t>SVSYNC</a:t>
            </a:r>
            <a:r>
              <a:rPr lang="en-US" altLang="ko-KR" sz="900" spc="10" dirty="0">
                <a:latin typeface="Arial"/>
                <a:cs typeface="Arial"/>
              </a:rPr>
              <a:t> </a:t>
            </a:r>
            <a:r>
              <a:rPr lang="en-US" altLang="ko-KR" sz="900" spc="-5" dirty="0">
                <a:latin typeface="Arial"/>
                <a:cs typeface="Arial"/>
              </a:rPr>
              <a:t>PERIODE</a:t>
            </a:r>
            <a:r>
              <a:rPr lang="en-US" altLang="ko-KR" sz="900" spc="15" dirty="0">
                <a:latin typeface="Arial"/>
                <a:cs typeface="Arial"/>
              </a:rPr>
              <a:t> </a:t>
            </a:r>
            <a:r>
              <a:rPr lang="en-US" altLang="ko-KR" sz="900" spc="-5" dirty="0">
                <a:latin typeface="Arial"/>
                <a:cs typeface="Arial"/>
              </a:rPr>
              <a:t>is</a:t>
            </a:r>
            <a:r>
              <a:rPr lang="en-US" altLang="ko-KR" sz="900" dirty="0">
                <a:latin typeface="Arial"/>
                <a:cs typeface="Arial"/>
              </a:rPr>
              <a:t> counted</a:t>
            </a:r>
            <a:r>
              <a:rPr lang="en-US" altLang="ko-KR" sz="900" spc="-30" dirty="0">
                <a:latin typeface="Arial"/>
                <a:cs typeface="Arial"/>
              </a:rPr>
              <a:t> </a:t>
            </a:r>
            <a:r>
              <a:rPr lang="en-US" altLang="ko-KR" sz="900" spc="-5" dirty="0">
                <a:latin typeface="Arial"/>
                <a:cs typeface="Arial"/>
              </a:rPr>
              <a:t>by</a:t>
            </a:r>
            <a:r>
              <a:rPr lang="en-US" altLang="ko-KR" sz="900" dirty="0">
                <a:latin typeface="Arial"/>
                <a:cs typeface="Arial"/>
              </a:rPr>
              <a:t> </a:t>
            </a:r>
            <a:r>
              <a:rPr lang="en-US" altLang="ko-KR" sz="900" spc="-5" dirty="0">
                <a:latin typeface="Arial"/>
                <a:cs typeface="Arial"/>
              </a:rPr>
              <a:t>MCLK,</a:t>
            </a:r>
            <a:r>
              <a:rPr lang="en-US" altLang="ko-KR" sz="900" spc="20" dirty="0">
                <a:latin typeface="Arial"/>
                <a:cs typeface="Arial"/>
              </a:rPr>
              <a:t> </a:t>
            </a:r>
            <a:r>
              <a:rPr lang="en-US" altLang="ko-KR" sz="900" dirty="0">
                <a:latin typeface="Arial"/>
                <a:cs typeface="Arial"/>
              </a:rPr>
              <a:t>the</a:t>
            </a:r>
            <a:r>
              <a:rPr lang="en-US" altLang="ko-KR" sz="900" spc="-5" dirty="0">
                <a:latin typeface="Arial"/>
                <a:cs typeface="Arial"/>
              </a:rPr>
              <a:t> </a:t>
            </a:r>
            <a:r>
              <a:rPr lang="en-US" altLang="ko-KR" sz="900" dirty="0">
                <a:latin typeface="Arial"/>
                <a:cs typeface="Arial"/>
              </a:rPr>
              <a:t>minimum</a:t>
            </a:r>
            <a:r>
              <a:rPr lang="en-US" altLang="ko-KR" sz="900" spc="-25" dirty="0">
                <a:latin typeface="Arial"/>
                <a:cs typeface="Arial"/>
              </a:rPr>
              <a:t> </a:t>
            </a:r>
            <a:r>
              <a:rPr lang="en-US" altLang="ko-KR" sz="900" spc="-5" dirty="0">
                <a:latin typeface="Arial"/>
                <a:cs typeface="Arial"/>
              </a:rPr>
              <a:t>variation in </a:t>
            </a:r>
            <a:r>
              <a:rPr lang="en-US" altLang="ko-KR" sz="900" dirty="0">
                <a:latin typeface="Arial"/>
                <a:cs typeface="Arial"/>
              </a:rPr>
              <a:t>the frame</a:t>
            </a:r>
            <a:r>
              <a:rPr lang="en-US" altLang="ko-KR" sz="900" spc="-15" dirty="0">
                <a:latin typeface="Arial"/>
                <a:cs typeface="Arial"/>
              </a:rPr>
              <a:t> </a:t>
            </a:r>
            <a:r>
              <a:rPr lang="en-US" altLang="ko-KR" sz="900" spc="-5" dirty="0">
                <a:latin typeface="Arial"/>
                <a:cs typeface="Arial"/>
              </a:rPr>
              <a:t>cycle </a:t>
            </a:r>
            <a:r>
              <a:rPr lang="en-US" altLang="ko-KR" sz="900" dirty="0">
                <a:latin typeface="Arial"/>
                <a:cs typeface="Arial"/>
              </a:rPr>
              <a:t>can</a:t>
            </a:r>
            <a:r>
              <a:rPr lang="en-US" altLang="ko-KR" sz="900" spc="-5" dirty="0">
                <a:latin typeface="Arial"/>
                <a:cs typeface="Arial"/>
              </a:rPr>
              <a:t> be </a:t>
            </a:r>
            <a:r>
              <a:rPr lang="en-US" altLang="ko-KR" sz="900" dirty="0">
                <a:latin typeface="Arial"/>
                <a:cs typeface="Arial"/>
              </a:rPr>
              <a:t>changed</a:t>
            </a:r>
            <a:r>
              <a:rPr lang="en-US" altLang="ko-KR" sz="900" spc="-30" dirty="0">
                <a:latin typeface="Arial"/>
                <a:cs typeface="Arial"/>
              </a:rPr>
              <a:t> </a:t>
            </a:r>
            <a:r>
              <a:rPr lang="en-US" altLang="ko-KR" sz="900" spc="-5" dirty="0">
                <a:latin typeface="Arial"/>
                <a:cs typeface="Arial"/>
              </a:rPr>
              <a:t>in</a:t>
            </a:r>
            <a:r>
              <a:rPr lang="en-US" altLang="ko-KR" sz="900" dirty="0">
                <a:latin typeface="Arial"/>
                <a:cs typeface="Arial"/>
              </a:rPr>
              <a:t> </a:t>
            </a:r>
            <a:r>
              <a:rPr lang="en-US" altLang="ko-KR" sz="900" spc="-5" dirty="0">
                <a:latin typeface="Arial"/>
                <a:cs typeface="Arial"/>
              </a:rPr>
              <a:t>units</a:t>
            </a:r>
            <a:r>
              <a:rPr lang="en-US" altLang="ko-KR" sz="900" spc="-15" dirty="0">
                <a:latin typeface="Arial"/>
                <a:cs typeface="Arial"/>
              </a:rPr>
              <a:t> </a:t>
            </a:r>
            <a:r>
              <a:rPr lang="en-US" altLang="ko-KR" sz="900" dirty="0">
                <a:latin typeface="Arial"/>
                <a:cs typeface="Arial"/>
              </a:rPr>
              <a:t>of</a:t>
            </a:r>
            <a:r>
              <a:rPr lang="en-US" altLang="ko-KR" sz="900" spc="5" dirty="0">
                <a:latin typeface="Arial"/>
                <a:cs typeface="Arial"/>
              </a:rPr>
              <a:t> MCLK.</a:t>
            </a:r>
          </a:p>
          <a:p>
            <a:pPr marL="12700" marR="5080" algn="just">
              <a:lnSpc>
                <a:spcPct val="100000"/>
              </a:lnSpc>
              <a:spcBef>
                <a:spcPts val="5"/>
              </a:spcBef>
            </a:pPr>
            <a:endParaRPr lang="en-US" altLang="ko-KR" sz="900" spc="5" dirty="0">
              <a:latin typeface="Arial"/>
              <a:cs typeface="Arial"/>
            </a:endParaRPr>
          </a:p>
          <a:p>
            <a:pPr marL="12700" marR="5080" algn="just">
              <a:spcBef>
                <a:spcPts val="5"/>
              </a:spcBef>
            </a:pPr>
            <a:r>
              <a:rPr lang="en-US" altLang="ko-KR" sz="900" dirty="0">
                <a:latin typeface="Arial"/>
                <a:cs typeface="Arial"/>
              </a:rPr>
              <a:t>	P1 period = </a:t>
            </a:r>
            <a:r>
              <a:rPr lang="en-US" altLang="ko-KR" sz="900" spc="-5" dirty="0">
                <a:latin typeface="Arial"/>
                <a:cs typeface="Arial"/>
              </a:rPr>
              <a:t>SVSYNC_PERIOD </a:t>
            </a:r>
            <a:r>
              <a:rPr lang="en-US" altLang="ko-KR" sz="900" dirty="0">
                <a:latin typeface="Arial"/>
                <a:cs typeface="Arial"/>
              </a:rPr>
              <a:t>p1</a:t>
            </a:r>
            <a:r>
              <a:rPr lang="en-US" altLang="ko-KR" sz="900" spc="5" dirty="0">
                <a:latin typeface="Arial"/>
                <a:cs typeface="Arial"/>
              </a:rPr>
              <a:t> </a:t>
            </a:r>
            <a:r>
              <a:rPr lang="en-US" altLang="ko-KR" sz="900" dirty="0">
                <a:latin typeface="Arial"/>
                <a:cs typeface="Arial"/>
              </a:rPr>
              <a:t>* </a:t>
            </a:r>
            <a:r>
              <a:rPr lang="en-US" altLang="ko-KR" sz="900" spc="-5" dirty="0">
                <a:latin typeface="Arial"/>
                <a:cs typeface="Arial"/>
              </a:rPr>
              <a:t>SVSYNC_SIZE</a:t>
            </a:r>
          </a:p>
          <a:p>
            <a:pPr marL="12700" marR="5080" algn="just">
              <a:spcBef>
                <a:spcPts val="5"/>
              </a:spcBef>
            </a:pPr>
            <a:r>
              <a:rPr lang="en-US" altLang="ko-KR" sz="900" spc="-5" dirty="0">
                <a:latin typeface="Arial"/>
                <a:cs typeface="Arial"/>
              </a:rPr>
              <a:t>	</a:t>
            </a:r>
            <a:r>
              <a:rPr lang="en-US" altLang="ko-KR" sz="900" spc="-235" dirty="0">
                <a:latin typeface="Arial"/>
                <a:cs typeface="Arial"/>
              </a:rPr>
              <a:t> </a:t>
            </a:r>
            <a:r>
              <a:rPr lang="en-US" altLang="ko-KR" sz="900" spc="-5" dirty="0">
                <a:latin typeface="Arial"/>
                <a:cs typeface="Arial"/>
              </a:rPr>
              <a:t>P2 period </a:t>
            </a:r>
            <a:r>
              <a:rPr lang="en-US" altLang="ko-KR" sz="900" dirty="0">
                <a:latin typeface="Arial"/>
                <a:cs typeface="Arial"/>
              </a:rPr>
              <a:t>= </a:t>
            </a:r>
            <a:r>
              <a:rPr lang="en-US" altLang="ko-KR" sz="900" spc="-5" dirty="0">
                <a:latin typeface="Arial"/>
                <a:cs typeface="Arial"/>
              </a:rPr>
              <a:t>SVSYNC_PERIOD p2</a:t>
            </a:r>
            <a:r>
              <a:rPr lang="en-US" altLang="ko-KR" sz="900" dirty="0">
                <a:latin typeface="Arial"/>
                <a:cs typeface="Arial"/>
              </a:rPr>
              <a:t> </a:t>
            </a:r>
            <a:r>
              <a:rPr lang="en-US" altLang="ko-KR" sz="900" spc="-5" dirty="0">
                <a:latin typeface="Arial"/>
                <a:cs typeface="Arial"/>
              </a:rPr>
              <a:t>* SVSYNC_SIZE</a:t>
            </a:r>
          </a:p>
          <a:p>
            <a:pPr marL="12700" marR="5080" algn="just">
              <a:spcBef>
                <a:spcPts val="5"/>
              </a:spcBef>
            </a:pPr>
            <a:r>
              <a:rPr lang="en-US" altLang="ko-KR" sz="900" spc="-5" dirty="0">
                <a:latin typeface="Arial"/>
                <a:cs typeface="Arial"/>
              </a:rPr>
              <a:t>	</a:t>
            </a:r>
            <a:r>
              <a:rPr lang="en-US" altLang="ko-KR" sz="900" spc="-235" dirty="0">
                <a:latin typeface="Arial"/>
                <a:cs typeface="Arial"/>
              </a:rPr>
              <a:t> </a:t>
            </a:r>
            <a:r>
              <a:rPr lang="en-US" altLang="ko-KR" sz="900" spc="-5" dirty="0">
                <a:latin typeface="Arial"/>
                <a:cs typeface="Arial"/>
              </a:rPr>
              <a:t>P3 period </a:t>
            </a:r>
            <a:r>
              <a:rPr lang="en-US" altLang="ko-KR" sz="900" dirty="0">
                <a:latin typeface="Arial"/>
                <a:cs typeface="Arial"/>
              </a:rPr>
              <a:t>= </a:t>
            </a:r>
            <a:r>
              <a:rPr lang="en-US" altLang="ko-KR" sz="900" spc="-5" dirty="0">
                <a:latin typeface="Arial"/>
                <a:cs typeface="Arial"/>
              </a:rPr>
              <a:t>SVSYNC_PERIOD p3</a:t>
            </a:r>
            <a:r>
              <a:rPr lang="en-US" altLang="ko-KR" sz="900" dirty="0">
                <a:latin typeface="Arial"/>
                <a:cs typeface="Arial"/>
              </a:rPr>
              <a:t> </a:t>
            </a:r>
            <a:r>
              <a:rPr lang="en-US" altLang="ko-KR" sz="900" spc="-5" dirty="0">
                <a:latin typeface="Arial"/>
                <a:cs typeface="Arial"/>
              </a:rPr>
              <a:t>* SVSYNC_SIZE</a:t>
            </a:r>
          </a:p>
          <a:p>
            <a:pPr marL="12700" marR="5080" algn="just">
              <a:spcBef>
                <a:spcPts val="5"/>
              </a:spcBef>
            </a:pPr>
            <a:r>
              <a:rPr lang="en-US" altLang="ko-KR" sz="900" spc="-5" dirty="0">
                <a:latin typeface="Arial"/>
                <a:cs typeface="Arial"/>
              </a:rPr>
              <a:t>	</a:t>
            </a:r>
            <a:r>
              <a:rPr lang="en-US" altLang="ko-KR" sz="900" spc="-235" dirty="0">
                <a:latin typeface="Arial"/>
                <a:cs typeface="Arial"/>
              </a:rPr>
              <a:t> </a:t>
            </a:r>
            <a:r>
              <a:rPr lang="en-US" altLang="ko-KR" sz="900" spc="-5" dirty="0">
                <a:latin typeface="Arial"/>
                <a:cs typeface="Arial"/>
              </a:rPr>
              <a:t>P4</a:t>
            </a:r>
            <a:r>
              <a:rPr lang="en-US" altLang="ko-KR" sz="900" spc="-10" dirty="0">
                <a:latin typeface="Arial"/>
                <a:cs typeface="Arial"/>
              </a:rPr>
              <a:t> </a:t>
            </a:r>
            <a:r>
              <a:rPr lang="en-US" altLang="ko-KR" sz="900" spc="-5" dirty="0">
                <a:latin typeface="Arial"/>
                <a:cs typeface="Arial"/>
              </a:rPr>
              <a:t>period </a:t>
            </a:r>
            <a:r>
              <a:rPr lang="en-US" altLang="ko-KR" sz="900" dirty="0">
                <a:latin typeface="Arial"/>
                <a:cs typeface="Arial"/>
              </a:rPr>
              <a:t>=</a:t>
            </a:r>
            <a:r>
              <a:rPr lang="en-US" altLang="ko-KR" sz="900" spc="-5" dirty="0">
                <a:latin typeface="Arial"/>
                <a:cs typeface="Arial"/>
              </a:rPr>
              <a:t> SVSYNC_PERIOD</a:t>
            </a:r>
            <a:r>
              <a:rPr lang="en-US" altLang="ko-KR" sz="900" spc="25" dirty="0">
                <a:latin typeface="Arial"/>
                <a:cs typeface="Arial"/>
              </a:rPr>
              <a:t> </a:t>
            </a:r>
            <a:r>
              <a:rPr lang="en-US" altLang="ko-KR" sz="900" spc="-5" dirty="0">
                <a:latin typeface="Arial"/>
                <a:cs typeface="Arial"/>
              </a:rPr>
              <a:t>p4</a:t>
            </a:r>
            <a:r>
              <a:rPr lang="en-US" altLang="ko-KR" sz="900" spc="10" dirty="0">
                <a:latin typeface="Arial"/>
                <a:cs typeface="Arial"/>
              </a:rPr>
              <a:t> </a:t>
            </a:r>
            <a:r>
              <a:rPr lang="en-US" altLang="ko-KR" sz="900" spc="-5" dirty="0">
                <a:latin typeface="Arial"/>
                <a:cs typeface="Arial"/>
              </a:rPr>
              <a:t>*</a:t>
            </a:r>
            <a:r>
              <a:rPr lang="en-US" altLang="ko-KR" sz="900" dirty="0">
                <a:latin typeface="Arial"/>
                <a:cs typeface="Arial"/>
              </a:rPr>
              <a:t> </a:t>
            </a:r>
            <a:r>
              <a:rPr lang="en-US" altLang="ko-KR" sz="900" spc="-5" dirty="0">
                <a:latin typeface="Arial"/>
                <a:cs typeface="Arial"/>
              </a:rPr>
              <a:t>SVSYNC_SIZE</a:t>
            </a:r>
          </a:p>
          <a:p>
            <a:pPr marL="12700" marR="5080" algn="just">
              <a:spcBef>
                <a:spcPts val="5"/>
              </a:spcBef>
            </a:pPr>
            <a:endParaRPr lang="en-US" altLang="ko-KR" sz="900" spc="-5" dirty="0">
              <a:latin typeface="Arial"/>
              <a:cs typeface="Arial"/>
            </a:endParaRPr>
          </a:p>
          <a:p>
            <a:pPr marL="12700" marR="5080" algn="just">
              <a:spcBef>
                <a:spcPts val="5"/>
              </a:spcBef>
            </a:pPr>
            <a:endParaRPr lang="en-US" altLang="ko-KR" sz="900" dirty="0">
              <a:latin typeface="Arial"/>
              <a:cs typeface="Arial"/>
            </a:endParaRPr>
          </a:p>
          <a:p>
            <a:pPr marL="12700" marR="5080" algn="just">
              <a:lnSpc>
                <a:spcPct val="100000"/>
              </a:lnSpc>
              <a:spcBef>
                <a:spcPts val="5"/>
              </a:spcBef>
            </a:pPr>
            <a:r>
              <a:rPr lang="en-US" altLang="ko-KR" sz="900" dirty="0">
                <a:latin typeface="Arial"/>
                <a:cs typeface="Arial"/>
              </a:rPr>
              <a:t>Suppose that the</a:t>
            </a:r>
            <a:r>
              <a:rPr lang="en-US" altLang="ko-KR" sz="900" spc="20" dirty="0">
                <a:latin typeface="Arial"/>
                <a:cs typeface="Arial"/>
              </a:rPr>
              <a:t> </a:t>
            </a:r>
            <a:r>
              <a:rPr lang="en-US" altLang="ko-KR" sz="900" spc="-5" dirty="0">
                <a:latin typeface="Arial"/>
                <a:cs typeface="Arial"/>
              </a:rPr>
              <a:t>SVSYNC_SIZE</a:t>
            </a:r>
            <a:r>
              <a:rPr lang="en-US" altLang="ko-KR" sz="900" spc="35" dirty="0">
                <a:latin typeface="Arial"/>
                <a:cs typeface="Arial"/>
              </a:rPr>
              <a:t> </a:t>
            </a:r>
            <a:r>
              <a:rPr lang="en-US" altLang="ko-KR" sz="900" spc="-5" dirty="0">
                <a:latin typeface="Arial"/>
                <a:cs typeface="Arial"/>
              </a:rPr>
              <a:t>is</a:t>
            </a:r>
            <a:r>
              <a:rPr lang="en-US" altLang="ko-KR" sz="900" spc="20" dirty="0">
                <a:latin typeface="Arial"/>
                <a:cs typeface="Arial"/>
              </a:rPr>
              <a:t> </a:t>
            </a:r>
            <a:r>
              <a:rPr lang="en-US" altLang="ko-KR" sz="900" spc="-5" dirty="0">
                <a:latin typeface="Arial"/>
                <a:cs typeface="Arial"/>
              </a:rPr>
              <a:t>128</a:t>
            </a:r>
            <a:r>
              <a:rPr lang="en-US" altLang="ko-KR" sz="900" spc="20" dirty="0">
                <a:latin typeface="Arial"/>
                <a:cs typeface="Arial"/>
              </a:rPr>
              <a:t> </a:t>
            </a:r>
            <a:r>
              <a:rPr lang="en-US" altLang="ko-KR" sz="900" spc="-5" dirty="0">
                <a:latin typeface="Arial"/>
                <a:cs typeface="Arial"/>
              </a:rPr>
              <a:t>and</a:t>
            </a:r>
            <a:r>
              <a:rPr lang="en-US" altLang="ko-KR" sz="900" spc="15" dirty="0">
                <a:latin typeface="Arial"/>
                <a:cs typeface="Arial"/>
              </a:rPr>
              <a:t> </a:t>
            </a:r>
            <a:r>
              <a:rPr lang="en-US" altLang="ko-KR" sz="900" spc="-10" dirty="0">
                <a:latin typeface="Arial"/>
                <a:cs typeface="Arial"/>
              </a:rPr>
              <a:t>MCLK</a:t>
            </a:r>
            <a:r>
              <a:rPr lang="en-US" altLang="ko-KR" sz="900" spc="40" dirty="0">
                <a:latin typeface="Arial"/>
                <a:cs typeface="Arial"/>
              </a:rPr>
              <a:t> </a:t>
            </a:r>
            <a:r>
              <a:rPr lang="en-US" altLang="ko-KR" sz="900" spc="-5" dirty="0">
                <a:latin typeface="Arial"/>
                <a:cs typeface="Arial"/>
              </a:rPr>
              <a:t>is</a:t>
            </a:r>
            <a:r>
              <a:rPr lang="en-US" altLang="ko-KR" sz="900" spc="20" dirty="0">
                <a:latin typeface="Arial"/>
                <a:cs typeface="Arial"/>
              </a:rPr>
              <a:t> </a:t>
            </a:r>
            <a:r>
              <a:rPr lang="en-US" altLang="ko-KR" sz="900" dirty="0">
                <a:latin typeface="Arial"/>
                <a:cs typeface="Arial"/>
              </a:rPr>
              <a:t>16.128mhz</a:t>
            </a:r>
            <a:r>
              <a:rPr lang="en-US" altLang="ko-KR" sz="900" spc="-5" dirty="0">
                <a:latin typeface="Arial"/>
                <a:cs typeface="Arial"/>
              </a:rPr>
              <a:t> and</a:t>
            </a:r>
            <a:r>
              <a:rPr lang="en-US" altLang="ko-KR" sz="900" spc="10" dirty="0">
                <a:latin typeface="Arial"/>
                <a:cs typeface="Arial"/>
              </a:rPr>
              <a:t> </a:t>
            </a:r>
            <a:r>
              <a:rPr lang="en-US" altLang="ko-KR" sz="900" dirty="0">
                <a:latin typeface="Arial"/>
                <a:cs typeface="Arial"/>
              </a:rPr>
              <a:t>the</a:t>
            </a:r>
            <a:r>
              <a:rPr lang="en-US" altLang="ko-KR" sz="900" spc="15" dirty="0">
                <a:latin typeface="Arial"/>
                <a:cs typeface="Arial"/>
              </a:rPr>
              <a:t> </a:t>
            </a:r>
            <a:r>
              <a:rPr lang="en-US" altLang="ko-KR" sz="900" dirty="0">
                <a:latin typeface="Arial"/>
                <a:cs typeface="Arial"/>
              </a:rPr>
              <a:t>frame</a:t>
            </a:r>
            <a:r>
              <a:rPr lang="en-US" altLang="ko-KR" sz="900" spc="15" dirty="0">
                <a:latin typeface="Arial"/>
                <a:cs typeface="Arial"/>
              </a:rPr>
              <a:t> </a:t>
            </a:r>
            <a:r>
              <a:rPr lang="en-US" altLang="ko-KR" sz="900" spc="-5" dirty="0">
                <a:latin typeface="Arial"/>
                <a:cs typeface="Arial"/>
              </a:rPr>
              <a:t>period</a:t>
            </a:r>
            <a:r>
              <a:rPr lang="en-US" altLang="ko-KR" sz="900" spc="10" dirty="0">
                <a:latin typeface="Arial"/>
                <a:cs typeface="Arial"/>
              </a:rPr>
              <a:t> </a:t>
            </a:r>
            <a:r>
              <a:rPr lang="en-US" altLang="ko-KR" sz="900" dirty="0">
                <a:latin typeface="Arial"/>
                <a:cs typeface="Arial"/>
              </a:rPr>
              <a:t>changes</a:t>
            </a:r>
            <a:r>
              <a:rPr lang="en-US" altLang="ko-KR" sz="900" spc="-5" dirty="0">
                <a:latin typeface="Arial"/>
                <a:cs typeface="Arial"/>
              </a:rPr>
              <a:t> </a:t>
            </a:r>
            <a:r>
              <a:rPr lang="en-US" altLang="ko-KR" sz="900" dirty="0">
                <a:latin typeface="Arial"/>
                <a:cs typeface="Arial"/>
              </a:rPr>
              <a:t>from</a:t>
            </a:r>
            <a:r>
              <a:rPr lang="en-US" altLang="ko-KR" sz="900" spc="20" dirty="0">
                <a:latin typeface="Arial"/>
                <a:cs typeface="Arial"/>
              </a:rPr>
              <a:t> </a:t>
            </a:r>
            <a:r>
              <a:rPr lang="en-US" altLang="ko-KR" sz="900" spc="-5" dirty="0">
                <a:latin typeface="Arial"/>
                <a:cs typeface="Arial"/>
              </a:rPr>
              <a:t>50hz</a:t>
            </a:r>
            <a:r>
              <a:rPr lang="en-US" altLang="ko-KR" sz="900" spc="10" dirty="0">
                <a:latin typeface="Arial"/>
                <a:cs typeface="Arial"/>
              </a:rPr>
              <a:t> </a:t>
            </a:r>
            <a:r>
              <a:rPr lang="en-US" altLang="ko-KR" sz="900" dirty="0">
                <a:latin typeface="Arial"/>
                <a:cs typeface="Arial"/>
              </a:rPr>
              <a:t>to</a:t>
            </a:r>
            <a:r>
              <a:rPr lang="en-US" altLang="ko-KR" sz="900" spc="25" dirty="0">
                <a:latin typeface="Arial"/>
                <a:cs typeface="Arial"/>
              </a:rPr>
              <a:t> </a:t>
            </a:r>
            <a:r>
              <a:rPr lang="en-US" altLang="ko-KR" sz="900" spc="-5" dirty="0">
                <a:latin typeface="Arial"/>
                <a:cs typeface="Arial"/>
              </a:rPr>
              <a:t>60hz. </a:t>
            </a:r>
            <a:r>
              <a:rPr lang="en-US" altLang="ko-KR" sz="900" dirty="0">
                <a:latin typeface="Arial"/>
                <a:cs typeface="Arial"/>
              </a:rPr>
              <a:t> </a:t>
            </a:r>
            <a:r>
              <a:rPr lang="en-US" altLang="ko-KR" sz="900" spc="-5" dirty="0">
                <a:latin typeface="Arial"/>
                <a:cs typeface="Arial"/>
              </a:rPr>
              <a:t>The maximum </a:t>
            </a:r>
            <a:r>
              <a:rPr lang="en-US" altLang="ko-KR" sz="900" dirty="0">
                <a:latin typeface="Arial"/>
                <a:cs typeface="Arial"/>
              </a:rPr>
              <a:t>number of </a:t>
            </a:r>
            <a:r>
              <a:rPr lang="en-US" altLang="ko-KR" sz="900" spc="-5" dirty="0">
                <a:latin typeface="Arial"/>
                <a:cs typeface="Arial"/>
              </a:rPr>
              <a:t>variation in </a:t>
            </a:r>
            <a:r>
              <a:rPr lang="en-US" altLang="ko-KR" sz="900" dirty="0">
                <a:latin typeface="Arial"/>
                <a:cs typeface="Arial"/>
              </a:rPr>
              <a:t>the frame </a:t>
            </a:r>
            <a:r>
              <a:rPr lang="en-US" altLang="ko-KR" sz="900" spc="-5" dirty="0">
                <a:latin typeface="Arial"/>
                <a:cs typeface="Arial"/>
              </a:rPr>
              <a:t>period is 210, </a:t>
            </a:r>
            <a:r>
              <a:rPr lang="en-US" altLang="ko-KR" sz="900" dirty="0">
                <a:latin typeface="Arial"/>
                <a:cs typeface="Arial"/>
              </a:rPr>
              <a:t>so it </a:t>
            </a:r>
            <a:r>
              <a:rPr lang="en-US" altLang="ko-KR" sz="900" spc="-5" dirty="0">
                <a:latin typeface="Arial"/>
                <a:cs typeface="Arial"/>
              </a:rPr>
              <a:t>is </a:t>
            </a:r>
            <a:r>
              <a:rPr lang="en-US" altLang="ko-KR" sz="900" dirty="0">
                <a:latin typeface="Arial"/>
                <a:cs typeface="Arial"/>
              </a:rPr>
              <a:t>possible to </a:t>
            </a:r>
            <a:r>
              <a:rPr lang="en-US" altLang="ko-KR" sz="900" spc="-5" dirty="0">
                <a:latin typeface="Arial"/>
                <a:cs typeface="Arial"/>
              </a:rPr>
              <a:t>gradually </a:t>
            </a:r>
            <a:r>
              <a:rPr lang="en-US" altLang="ko-KR" sz="900" dirty="0">
                <a:latin typeface="Arial"/>
                <a:cs typeface="Arial"/>
              </a:rPr>
              <a:t>change the frame </a:t>
            </a:r>
            <a:r>
              <a:rPr lang="en-US" altLang="ko-KR" sz="900" spc="-5" dirty="0">
                <a:latin typeface="Arial"/>
                <a:cs typeface="Arial"/>
              </a:rPr>
              <a:t>period over 210 times.</a:t>
            </a:r>
            <a:endParaRPr lang="en-US" altLang="ko-KR" sz="900" spc="5" dirty="0">
              <a:latin typeface="Arial"/>
              <a:cs typeface="Arial"/>
            </a:endParaRPr>
          </a:p>
          <a:p>
            <a:pPr marL="12700" marR="5080" algn="just">
              <a:lnSpc>
                <a:spcPct val="100000"/>
              </a:lnSpc>
              <a:spcBef>
                <a:spcPts val="5"/>
              </a:spcBef>
            </a:pPr>
            <a:endParaRPr lang="en-US" altLang="ko-KR" sz="900" spc="5" dirty="0">
              <a:latin typeface="Arial"/>
              <a:cs typeface="Arial"/>
            </a:endParaRPr>
          </a:p>
          <a:p>
            <a:pPr marL="12700" marR="5080" algn="just">
              <a:spcBef>
                <a:spcPts val="5"/>
              </a:spcBef>
            </a:pPr>
            <a:r>
              <a:rPr lang="en-US" altLang="ko-KR" sz="900" spc="-5" dirty="0">
                <a:latin typeface="Arial"/>
                <a:cs typeface="Arial"/>
              </a:rPr>
              <a:t>	The</a:t>
            </a:r>
            <a:r>
              <a:rPr lang="en-US" altLang="ko-KR" sz="900" spc="5" dirty="0">
                <a:latin typeface="Arial"/>
                <a:cs typeface="Arial"/>
              </a:rPr>
              <a:t> </a:t>
            </a:r>
            <a:r>
              <a:rPr lang="en-US" altLang="ko-KR" sz="900" spc="-5" dirty="0">
                <a:latin typeface="Arial"/>
                <a:cs typeface="Arial"/>
              </a:rPr>
              <a:t>maximum</a:t>
            </a:r>
            <a:r>
              <a:rPr lang="en-US" altLang="ko-KR" sz="900" dirty="0">
                <a:latin typeface="Arial"/>
                <a:cs typeface="Arial"/>
              </a:rPr>
              <a:t> number</a:t>
            </a:r>
            <a:r>
              <a:rPr lang="en-US" altLang="ko-KR" sz="900" spc="-25" dirty="0">
                <a:latin typeface="Arial"/>
                <a:cs typeface="Arial"/>
              </a:rPr>
              <a:t> </a:t>
            </a:r>
            <a:r>
              <a:rPr lang="en-US" altLang="ko-KR" sz="900" dirty="0">
                <a:latin typeface="Arial"/>
                <a:cs typeface="Arial"/>
              </a:rPr>
              <a:t>of</a:t>
            </a:r>
            <a:r>
              <a:rPr lang="en-US" altLang="ko-KR" sz="900" spc="-5" dirty="0">
                <a:latin typeface="Arial"/>
                <a:cs typeface="Arial"/>
              </a:rPr>
              <a:t> variation</a:t>
            </a:r>
            <a:r>
              <a:rPr lang="en-US" altLang="ko-KR" sz="900" spc="-15" dirty="0">
                <a:latin typeface="Arial"/>
                <a:cs typeface="Arial"/>
              </a:rPr>
              <a:t> </a:t>
            </a:r>
            <a:r>
              <a:rPr lang="en-US" altLang="ko-KR" sz="900" dirty="0">
                <a:latin typeface="Arial"/>
                <a:cs typeface="Arial"/>
              </a:rPr>
              <a:t>=</a:t>
            </a:r>
            <a:r>
              <a:rPr lang="en-US" altLang="ko-KR" sz="900" spc="5" dirty="0">
                <a:latin typeface="Arial"/>
                <a:cs typeface="Arial"/>
              </a:rPr>
              <a:t> </a:t>
            </a:r>
            <a:r>
              <a:rPr lang="en-US" altLang="ko-KR" sz="900" spc="-5" dirty="0">
                <a:latin typeface="Arial"/>
                <a:cs typeface="Arial"/>
              </a:rPr>
              <a:t>(50hz</a:t>
            </a:r>
            <a:r>
              <a:rPr lang="en-US" altLang="ko-KR" sz="900" spc="15" dirty="0">
                <a:latin typeface="Arial"/>
                <a:cs typeface="Arial"/>
              </a:rPr>
              <a:t> </a:t>
            </a:r>
            <a:r>
              <a:rPr lang="en-US" altLang="ko-KR" sz="900" dirty="0">
                <a:latin typeface="Arial"/>
                <a:cs typeface="Arial"/>
              </a:rPr>
              <a:t>–</a:t>
            </a:r>
            <a:r>
              <a:rPr lang="en-US" altLang="ko-KR" sz="900" spc="10" dirty="0">
                <a:latin typeface="Arial"/>
                <a:cs typeface="Arial"/>
              </a:rPr>
              <a:t> </a:t>
            </a:r>
            <a:r>
              <a:rPr lang="en-US" altLang="ko-KR" sz="900" spc="-5" dirty="0">
                <a:latin typeface="Arial"/>
                <a:cs typeface="Arial"/>
              </a:rPr>
              <a:t>60hz) </a:t>
            </a:r>
            <a:r>
              <a:rPr lang="en-US" altLang="ko-KR" sz="900" dirty="0">
                <a:latin typeface="Arial"/>
                <a:cs typeface="Arial"/>
              </a:rPr>
              <a:t>/</a:t>
            </a:r>
            <a:r>
              <a:rPr lang="en-US" altLang="ko-KR" sz="900" spc="5" dirty="0">
                <a:latin typeface="Arial"/>
                <a:cs typeface="Arial"/>
              </a:rPr>
              <a:t> </a:t>
            </a:r>
            <a:r>
              <a:rPr lang="en-US" altLang="ko-KR" sz="900" spc="-5" dirty="0">
                <a:latin typeface="Arial"/>
                <a:cs typeface="Arial"/>
              </a:rPr>
              <a:t>SVSYNC_SIZE</a:t>
            </a:r>
            <a:r>
              <a:rPr lang="en-US" altLang="ko-KR" sz="900" spc="10" dirty="0">
                <a:latin typeface="Arial"/>
                <a:cs typeface="Arial"/>
              </a:rPr>
              <a:t> </a:t>
            </a:r>
            <a:r>
              <a:rPr lang="en-US" altLang="ko-KR" sz="900" dirty="0">
                <a:latin typeface="Arial"/>
                <a:cs typeface="Arial"/>
              </a:rPr>
              <a:t>/</a:t>
            </a:r>
            <a:r>
              <a:rPr lang="en-US" altLang="ko-KR" sz="900" spc="5" dirty="0">
                <a:latin typeface="Arial"/>
                <a:cs typeface="Arial"/>
              </a:rPr>
              <a:t> </a:t>
            </a:r>
            <a:r>
              <a:rPr lang="en-US" altLang="ko-KR" sz="900" spc="-10" dirty="0">
                <a:latin typeface="Arial"/>
                <a:cs typeface="Arial"/>
              </a:rPr>
              <a:t>MCLK</a:t>
            </a:r>
            <a:endParaRPr lang="en-US" altLang="ko-KR" sz="900" dirty="0">
              <a:latin typeface="Arial"/>
              <a:cs typeface="Arial"/>
            </a:endParaRPr>
          </a:p>
        </p:txBody>
      </p:sp>
      <p:sp>
        <p:nvSpPr>
          <p:cNvPr id="7" name="object 9">
            <a:extLst>
              <a:ext uri="{FF2B5EF4-FFF2-40B4-BE49-F238E27FC236}">
                <a16:creationId xmlns:a16="http://schemas.microsoft.com/office/drawing/2014/main" id="{4901A10D-1B74-D94D-9929-4DDB4F5904AE}"/>
              </a:ext>
            </a:extLst>
          </p:cNvPr>
          <p:cNvSpPr txBox="1"/>
          <p:nvPr/>
        </p:nvSpPr>
        <p:spPr>
          <a:xfrm>
            <a:off x="304800" y="9067800"/>
            <a:ext cx="2078355" cy="289823"/>
          </a:xfrm>
          <a:prstGeom prst="rect">
            <a:avLst/>
          </a:prstGeom>
        </p:spPr>
        <p:txBody>
          <a:bodyPr vert="horz" wrap="square" lIns="0" tIns="12700" rIns="0" bIns="0" rtlCol="0">
            <a:spAutoFit/>
          </a:bodyPr>
          <a:lstStyle/>
          <a:p>
            <a:pPr marL="12700">
              <a:lnSpc>
                <a:spcPct val="100000"/>
              </a:lnSpc>
              <a:spcBef>
                <a:spcPts val="100"/>
              </a:spcBef>
            </a:pPr>
            <a:r>
              <a:rPr b="1" spc="-5" dirty="0">
                <a:solidFill>
                  <a:srgbClr val="FF0000"/>
                </a:solidFill>
                <a:cs typeface="Perpetua Titling MT"/>
              </a:rPr>
              <a:t>CONFIDENTIAL</a:t>
            </a:r>
            <a:endParaRPr dirty="0">
              <a:cs typeface="Perpetua Titling MT"/>
            </a:endParaRPr>
          </a:p>
        </p:txBody>
      </p:sp>
      <p:sp>
        <p:nvSpPr>
          <p:cNvPr id="13" name="object 6">
            <a:extLst>
              <a:ext uri="{FF2B5EF4-FFF2-40B4-BE49-F238E27FC236}">
                <a16:creationId xmlns:a16="http://schemas.microsoft.com/office/drawing/2014/main" id="{F5F9CA6C-7289-C989-E3A6-097E44C46033}"/>
              </a:ext>
            </a:extLst>
          </p:cNvPr>
          <p:cNvSpPr/>
          <p:nvPr/>
        </p:nvSpPr>
        <p:spPr>
          <a:xfrm>
            <a:off x="301676" y="9458756"/>
            <a:ext cx="6246495" cy="0"/>
          </a:xfrm>
          <a:custGeom>
            <a:avLst/>
            <a:gdLst/>
            <a:ahLst/>
            <a:cxnLst/>
            <a:rect l="l" t="t" r="r" b="b"/>
            <a:pathLst>
              <a:path w="6246495">
                <a:moveTo>
                  <a:pt x="0" y="0"/>
                </a:moveTo>
                <a:lnTo>
                  <a:pt x="6245999" y="0"/>
                </a:lnTo>
              </a:path>
            </a:pathLst>
          </a:custGeom>
          <a:ln w="25920">
            <a:solidFill>
              <a:srgbClr val="BFBFBF"/>
            </a:solidFill>
          </a:ln>
        </p:spPr>
        <p:txBody>
          <a:bodyPr wrap="square" lIns="0" tIns="0" rIns="0" bIns="0" rtlCol="0"/>
          <a:lstStyle/>
          <a:p>
            <a:endParaRPr/>
          </a:p>
        </p:txBody>
      </p:sp>
      <p:sp>
        <p:nvSpPr>
          <p:cNvPr id="14" name="슬라이드 번호 개체 틀 3">
            <a:hlinkClick r:id="rId3"/>
            <a:extLst>
              <a:ext uri="{FF2B5EF4-FFF2-40B4-BE49-F238E27FC236}">
                <a16:creationId xmlns:a16="http://schemas.microsoft.com/office/drawing/2014/main" id="{6CC33C99-2C43-9E91-4432-14CEB9D2F2FB}"/>
              </a:ext>
            </a:extLst>
          </p:cNvPr>
          <p:cNvSpPr txBox="1">
            <a:spLocks/>
          </p:cNvSpPr>
          <p:nvPr/>
        </p:nvSpPr>
        <p:spPr>
          <a:xfrm>
            <a:off x="5151602" y="9452864"/>
            <a:ext cx="1487550"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dirty="0">
                <a:solidFill>
                  <a:prstClr val="black"/>
                </a:solidFill>
                <a:latin typeface="Arial" panose="020B0604020202020204" pitchFamily="34" charset="0"/>
                <a:cs typeface="Arial" panose="020B0604020202020204" pitchFamily="34" charset="0"/>
              </a:rPr>
              <a:t>http://www.glbltech.com/</a:t>
            </a:r>
            <a:endParaRPr lang="ko-KR" altLang="en-US" dirty="0">
              <a:solidFill>
                <a:prstClr val="black"/>
              </a:solidFill>
              <a:latin typeface="Arial" panose="020B0604020202020204" pitchFamily="34" charset="0"/>
              <a:cs typeface="Arial" panose="020B0604020202020204" pitchFamily="34" charset="0"/>
            </a:endParaRPr>
          </a:p>
        </p:txBody>
      </p:sp>
      <p:sp>
        <p:nvSpPr>
          <p:cNvPr id="15" name="object 38">
            <a:extLst>
              <a:ext uri="{FF2B5EF4-FFF2-40B4-BE49-F238E27FC236}">
                <a16:creationId xmlns:a16="http://schemas.microsoft.com/office/drawing/2014/main" id="{85E69EE0-3DC6-2A47-BA56-56200BD06917}"/>
              </a:ext>
            </a:extLst>
          </p:cNvPr>
          <p:cNvSpPr txBox="1">
            <a:spLocks/>
          </p:cNvSpPr>
          <p:nvPr/>
        </p:nvSpPr>
        <p:spPr>
          <a:xfrm>
            <a:off x="3309066" y="9547988"/>
            <a:ext cx="487045" cy="139141"/>
          </a:xfrm>
          <a:prstGeom prst="rect">
            <a:avLst/>
          </a:prstGeom>
        </p:spPr>
        <p:txBody>
          <a:bodyPr vert="horz" wrap="square" lIns="0" tIns="635" rIns="0" bIns="0" rtlCol="0">
            <a:spAutoFit/>
          </a:bodyPr>
          <a:lstStyle>
            <a:defPPr>
              <a:defRPr lang="ko-KR"/>
            </a:defPPr>
            <a:lvl1pPr marL="0" algn="l" defTabSz="914400" rtl="0" eaLnBrk="1" latinLnBrk="1" hangingPunct="1">
              <a:defRPr sz="1050" b="0" i="0" kern="1200">
                <a:solidFill>
                  <a:schemeClr val="tx1"/>
                </a:solidFill>
                <a:latin typeface="Arial"/>
                <a:ea typeface="+mn-ea"/>
                <a:cs typeface="Arial"/>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marL="12700">
              <a:spcBef>
                <a:spcPts val="5"/>
              </a:spcBef>
              <a:defRPr/>
            </a:pPr>
            <a:r>
              <a:rPr lang="en-US" sz="900" dirty="0">
                <a:solidFill>
                  <a:prstClr val="black"/>
                </a:solidFill>
              </a:rPr>
              <a:t>Page</a:t>
            </a:r>
            <a:r>
              <a:rPr lang="en-US" sz="900" spc="-60" dirty="0">
                <a:solidFill>
                  <a:prstClr val="black"/>
                </a:solidFill>
              </a:rPr>
              <a:t> </a:t>
            </a:r>
            <a:fld id="{81D60167-4931-47E6-BA6A-407CBD079E47}" type="slidenum">
              <a:rPr sz="900">
                <a:solidFill>
                  <a:prstClr val="black"/>
                </a:solidFill>
              </a:rPr>
              <a:pPr marL="12700">
                <a:spcBef>
                  <a:spcPts val="5"/>
                </a:spcBef>
                <a:defRPr/>
              </a:pPr>
              <a:t>29</a:t>
            </a:fld>
            <a:endParaRPr sz="900" dirty="0">
              <a:solidFill>
                <a:prstClr val="black"/>
              </a:solidFill>
            </a:endParaRPr>
          </a:p>
        </p:txBody>
      </p:sp>
      <p:sp>
        <p:nvSpPr>
          <p:cNvPr id="16" name="슬라이드 번호 개체 틀 3">
            <a:extLst>
              <a:ext uri="{FF2B5EF4-FFF2-40B4-BE49-F238E27FC236}">
                <a16:creationId xmlns:a16="http://schemas.microsoft.com/office/drawing/2014/main" id="{F2E5F87B-15D6-C0E1-9561-24EA53B072E0}"/>
              </a:ext>
            </a:extLst>
          </p:cNvPr>
          <p:cNvSpPr txBox="1">
            <a:spLocks/>
          </p:cNvSpPr>
          <p:nvPr/>
        </p:nvSpPr>
        <p:spPr>
          <a:xfrm>
            <a:off x="299401" y="9520856"/>
            <a:ext cx="2060991" cy="175259"/>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lang="en-US" altLang="ko-KR" dirty="0">
                <a:solidFill>
                  <a:prstClr val="black"/>
                </a:solidFill>
                <a:latin typeface="Arial" panose="020B0604020202020204" pitchFamily="34" charset="0"/>
                <a:cs typeface="Arial" panose="020B0604020202020204" pitchFamily="34" charset="0"/>
              </a:rPr>
              <a:t>Dated 30-Nov 23  Rev. 01</a:t>
            </a:r>
            <a:endParaRPr lang="ko-KR" altLang="en-US" dirty="0">
              <a:solidFill>
                <a:prstClr val="black"/>
              </a:solidFill>
              <a:latin typeface="Arial" panose="020B0604020202020204" pitchFamily="34" charset="0"/>
              <a:cs typeface="Arial" panose="020B0604020202020204" pitchFamily="34" charset="0"/>
            </a:endParaRPr>
          </a:p>
        </p:txBody>
      </p:sp>
      <p:sp>
        <p:nvSpPr>
          <p:cNvPr id="17" name="Holder 3">
            <a:extLst>
              <a:ext uri="{FF2B5EF4-FFF2-40B4-BE49-F238E27FC236}">
                <a16:creationId xmlns:a16="http://schemas.microsoft.com/office/drawing/2014/main" id="{70CD846E-E11F-227A-D042-31689DAC3F9C}"/>
              </a:ext>
            </a:extLst>
          </p:cNvPr>
          <p:cNvSpPr txBox="1">
            <a:spLocks/>
          </p:cNvSpPr>
          <p:nvPr/>
        </p:nvSpPr>
        <p:spPr>
          <a:xfrm>
            <a:off x="5147476" y="203944"/>
            <a:ext cx="1447800" cy="276999"/>
          </a:xfrm>
          <a:prstGeom prst="rect">
            <a:avLst/>
          </a:prstGeom>
        </p:spPr>
        <p:txBody>
          <a:bodyPr wrap="square" lIns="0" tIns="0" rIns="0" bIns="0">
            <a:spAutoFit/>
          </a:bodyPr>
          <a:lstStyle>
            <a:lvl1pPr marL="0">
              <a:defRPr>
                <a:solidFill>
                  <a:srgbClr val="FF99FF"/>
                </a:solidFill>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defTabSz="914400" latinLnBrk="0"/>
            <a:r>
              <a:rPr lang="en-US" sz="1800" kern="0" dirty="0"/>
              <a:t>&lt;Preliminary&gt;</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7878" y="909066"/>
            <a:ext cx="6041576" cy="228268"/>
          </a:xfrm>
          <a:prstGeom prst="rect">
            <a:avLst/>
          </a:prstGeom>
        </p:spPr>
        <p:txBody>
          <a:bodyPr vert="horz" wrap="square" lIns="0" tIns="12700" rIns="0" bIns="0" rtlCol="0">
            <a:spAutoFit/>
          </a:bodyPr>
          <a:lstStyle/>
          <a:p>
            <a:pPr marL="12700">
              <a:lnSpc>
                <a:spcPct val="100000"/>
              </a:lnSpc>
              <a:spcBef>
                <a:spcPts val="100"/>
              </a:spcBef>
            </a:pPr>
            <a:r>
              <a:rPr sz="1400" b="1" dirty="0">
                <a:latin typeface="Arial"/>
                <a:cs typeface="Arial"/>
              </a:rPr>
              <a:t>3.</a:t>
            </a:r>
            <a:r>
              <a:rPr sz="1400" b="1" spc="-40" dirty="0">
                <a:latin typeface="Arial"/>
                <a:cs typeface="Arial"/>
              </a:rPr>
              <a:t> </a:t>
            </a:r>
            <a:r>
              <a:rPr sz="1400" b="1" spc="-5" dirty="0">
                <a:latin typeface="Arial"/>
                <a:cs typeface="Arial"/>
              </a:rPr>
              <a:t>Register</a:t>
            </a:r>
            <a:r>
              <a:rPr sz="1400" b="1" spc="-55" dirty="0">
                <a:latin typeface="Arial"/>
                <a:cs typeface="Arial"/>
              </a:rPr>
              <a:t> </a:t>
            </a:r>
            <a:r>
              <a:rPr sz="1400" b="1" spc="5" dirty="0">
                <a:latin typeface="Arial"/>
                <a:cs typeface="Arial"/>
              </a:rPr>
              <a:t>Map</a:t>
            </a:r>
            <a:endParaRPr sz="1400" dirty="0">
              <a:latin typeface="Arial"/>
              <a:cs typeface="Arial"/>
            </a:endParaRPr>
          </a:p>
        </p:txBody>
      </p:sp>
      <p:sp>
        <p:nvSpPr>
          <p:cNvPr id="3" name="object 3"/>
          <p:cNvSpPr txBox="1"/>
          <p:nvPr/>
        </p:nvSpPr>
        <p:spPr>
          <a:xfrm>
            <a:off x="397878" y="1339089"/>
            <a:ext cx="6041576" cy="154665"/>
          </a:xfrm>
          <a:prstGeom prst="rect">
            <a:avLst/>
          </a:prstGeom>
        </p:spPr>
        <p:txBody>
          <a:bodyPr vert="horz" wrap="square" lIns="0" tIns="12700" rIns="0" bIns="0" rtlCol="0">
            <a:spAutoFit/>
          </a:bodyPr>
          <a:lstStyle/>
          <a:p>
            <a:pPr marL="12700" algn="just">
              <a:lnSpc>
                <a:spcPct val="100000"/>
              </a:lnSpc>
              <a:spcBef>
                <a:spcPts val="100"/>
              </a:spcBef>
            </a:pPr>
            <a:r>
              <a:rPr sz="900" spc="-5" dirty="0">
                <a:latin typeface="Arial"/>
                <a:cs typeface="Arial"/>
              </a:rPr>
              <a:t>There</a:t>
            </a:r>
            <a:r>
              <a:rPr sz="900" spc="5" dirty="0">
                <a:latin typeface="Arial"/>
                <a:cs typeface="Arial"/>
              </a:rPr>
              <a:t> </a:t>
            </a:r>
            <a:r>
              <a:rPr sz="900" dirty="0">
                <a:latin typeface="Arial"/>
                <a:cs typeface="Arial"/>
              </a:rPr>
              <a:t>is </a:t>
            </a:r>
            <a:r>
              <a:rPr sz="900" spc="-5" dirty="0">
                <a:latin typeface="Arial"/>
                <a:cs typeface="Arial"/>
              </a:rPr>
              <a:t>2 types</a:t>
            </a:r>
            <a:r>
              <a:rPr sz="900" dirty="0">
                <a:latin typeface="Arial"/>
                <a:cs typeface="Arial"/>
              </a:rPr>
              <a:t> of</a:t>
            </a:r>
            <a:r>
              <a:rPr sz="900" spc="-5" dirty="0">
                <a:latin typeface="Arial"/>
                <a:cs typeface="Arial"/>
              </a:rPr>
              <a:t> </a:t>
            </a:r>
            <a:r>
              <a:rPr sz="900" dirty="0">
                <a:latin typeface="Arial"/>
                <a:cs typeface="Arial"/>
              </a:rPr>
              <a:t>the</a:t>
            </a:r>
            <a:r>
              <a:rPr sz="900" spc="-5" dirty="0">
                <a:latin typeface="Arial"/>
                <a:cs typeface="Arial"/>
              </a:rPr>
              <a:t> </a:t>
            </a:r>
            <a:r>
              <a:rPr sz="900" dirty="0">
                <a:latin typeface="Arial"/>
                <a:cs typeface="Arial"/>
              </a:rPr>
              <a:t>register</a:t>
            </a:r>
            <a:r>
              <a:rPr sz="900" spc="-20" dirty="0">
                <a:latin typeface="Arial"/>
                <a:cs typeface="Arial"/>
              </a:rPr>
              <a:t> </a:t>
            </a:r>
            <a:r>
              <a:rPr sz="900" spc="-5" dirty="0">
                <a:latin typeface="Arial"/>
                <a:cs typeface="Arial"/>
              </a:rPr>
              <a:t>group, </a:t>
            </a:r>
            <a:r>
              <a:rPr sz="900" spc="-10" dirty="0">
                <a:latin typeface="Arial"/>
                <a:cs typeface="Arial"/>
              </a:rPr>
              <a:t>CMD1</a:t>
            </a:r>
            <a:r>
              <a:rPr sz="900" spc="20" dirty="0">
                <a:latin typeface="Arial"/>
                <a:cs typeface="Arial"/>
              </a:rPr>
              <a:t> </a:t>
            </a:r>
            <a:r>
              <a:rPr sz="900" spc="-5" dirty="0">
                <a:latin typeface="Arial"/>
                <a:cs typeface="Arial"/>
              </a:rPr>
              <a:t>which</a:t>
            </a:r>
            <a:r>
              <a:rPr sz="900" spc="5" dirty="0">
                <a:latin typeface="Arial"/>
                <a:cs typeface="Arial"/>
              </a:rPr>
              <a:t> </a:t>
            </a:r>
            <a:r>
              <a:rPr sz="900" dirty="0">
                <a:latin typeface="Arial"/>
                <a:cs typeface="Arial"/>
              </a:rPr>
              <a:t>consists</a:t>
            </a:r>
            <a:r>
              <a:rPr sz="900" spc="-35" dirty="0">
                <a:latin typeface="Arial"/>
                <a:cs typeface="Arial"/>
              </a:rPr>
              <a:t> </a:t>
            </a:r>
            <a:r>
              <a:rPr sz="900" dirty="0">
                <a:latin typeface="Arial"/>
                <a:cs typeface="Arial"/>
              </a:rPr>
              <a:t>of</a:t>
            </a:r>
            <a:r>
              <a:rPr sz="900" spc="5" dirty="0">
                <a:latin typeface="Arial"/>
                <a:cs typeface="Arial"/>
              </a:rPr>
              <a:t> </a:t>
            </a:r>
            <a:r>
              <a:rPr sz="900" spc="-5" dirty="0">
                <a:latin typeface="Arial"/>
                <a:cs typeface="Arial"/>
              </a:rPr>
              <a:t>11 </a:t>
            </a:r>
            <a:r>
              <a:rPr sz="900" dirty="0">
                <a:latin typeface="Arial"/>
                <a:cs typeface="Arial"/>
              </a:rPr>
              <a:t>bits</a:t>
            </a:r>
            <a:r>
              <a:rPr sz="900" spc="-15" dirty="0">
                <a:latin typeface="Arial"/>
                <a:cs typeface="Arial"/>
              </a:rPr>
              <a:t> </a:t>
            </a:r>
            <a:r>
              <a:rPr sz="900" spc="-5" dirty="0">
                <a:latin typeface="Arial"/>
                <a:cs typeface="Arial"/>
              </a:rPr>
              <a:t>data and </a:t>
            </a:r>
            <a:r>
              <a:rPr sz="900" spc="-10" dirty="0">
                <a:latin typeface="Arial"/>
                <a:cs typeface="Arial"/>
              </a:rPr>
              <a:t>CMD2</a:t>
            </a:r>
            <a:r>
              <a:rPr sz="900" spc="20" dirty="0">
                <a:latin typeface="Arial"/>
                <a:cs typeface="Arial"/>
              </a:rPr>
              <a:t> </a:t>
            </a:r>
            <a:r>
              <a:rPr sz="900" spc="-5" dirty="0">
                <a:latin typeface="Arial"/>
                <a:cs typeface="Arial"/>
              </a:rPr>
              <a:t>which</a:t>
            </a:r>
            <a:r>
              <a:rPr sz="900" spc="5" dirty="0">
                <a:latin typeface="Arial"/>
                <a:cs typeface="Arial"/>
              </a:rPr>
              <a:t> </a:t>
            </a:r>
            <a:r>
              <a:rPr sz="900" dirty="0">
                <a:latin typeface="Arial"/>
                <a:cs typeface="Arial"/>
              </a:rPr>
              <a:t>consists</a:t>
            </a:r>
            <a:r>
              <a:rPr sz="900" spc="-35" dirty="0">
                <a:latin typeface="Arial"/>
                <a:cs typeface="Arial"/>
              </a:rPr>
              <a:t> </a:t>
            </a:r>
            <a:r>
              <a:rPr sz="900" dirty="0">
                <a:latin typeface="Arial"/>
                <a:cs typeface="Arial"/>
              </a:rPr>
              <a:t>of</a:t>
            </a:r>
            <a:r>
              <a:rPr sz="900" spc="5" dirty="0">
                <a:latin typeface="Arial"/>
                <a:cs typeface="Arial"/>
              </a:rPr>
              <a:t> </a:t>
            </a:r>
            <a:r>
              <a:rPr sz="900" spc="-5" dirty="0">
                <a:latin typeface="Arial"/>
                <a:cs typeface="Arial"/>
              </a:rPr>
              <a:t>16 </a:t>
            </a:r>
            <a:r>
              <a:rPr sz="900" dirty="0">
                <a:latin typeface="Arial"/>
                <a:cs typeface="Arial"/>
              </a:rPr>
              <a:t>bits</a:t>
            </a:r>
            <a:r>
              <a:rPr sz="900" spc="-15" dirty="0">
                <a:latin typeface="Arial"/>
                <a:cs typeface="Arial"/>
              </a:rPr>
              <a:t> </a:t>
            </a:r>
            <a:r>
              <a:rPr sz="900" dirty="0">
                <a:latin typeface="Arial"/>
                <a:cs typeface="Arial"/>
              </a:rPr>
              <a:t>data.</a:t>
            </a:r>
          </a:p>
        </p:txBody>
      </p:sp>
      <p:graphicFrame>
        <p:nvGraphicFramePr>
          <p:cNvPr id="4" name="object 4"/>
          <p:cNvGraphicFramePr>
            <a:graphicFrameLocks noGrp="1"/>
          </p:cNvGraphicFramePr>
          <p:nvPr>
            <p:extLst>
              <p:ext uri="{D42A27DB-BD31-4B8C-83A1-F6EECF244321}">
                <p14:modId xmlns:p14="http://schemas.microsoft.com/office/powerpoint/2010/main" val="1167740822"/>
              </p:ext>
            </p:extLst>
          </p:nvPr>
        </p:nvGraphicFramePr>
        <p:xfrm>
          <a:off x="397878" y="2322766"/>
          <a:ext cx="6041577" cy="193675"/>
        </p:xfrm>
        <a:graphic>
          <a:graphicData uri="http://schemas.openxmlformats.org/drawingml/2006/table">
            <a:tbl>
              <a:tblPr firstRow="1" bandRow="1">
                <a:tableStyleId>{2D5ABB26-0587-4C30-8999-92F81FD0307C}</a:tableStyleId>
              </a:tblPr>
              <a:tblGrid>
                <a:gridCol w="1132368">
                  <a:extLst>
                    <a:ext uri="{9D8B030D-6E8A-4147-A177-3AD203B41FA5}">
                      <a16:colId xmlns:a16="http://schemas.microsoft.com/office/drawing/2014/main" val="20000"/>
                    </a:ext>
                  </a:extLst>
                </a:gridCol>
                <a:gridCol w="720880">
                  <a:extLst>
                    <a:ext uri="{9D8B030D-6E8A-4147-A177-3AD203B41FA5}">
                      <a16:colId xmlns:a16="http://schemas.microsoft.com/office/drawing/2014/main" val="20001"/>
                    </a:ext>
                  </a:extLst>
                </a:gridCol>
                <a:gridCol w="755742">
                  <a:extLst>
                    <a:ext uri="{9D8B030D-6E8A-4147-A177-3AD203B41FA5}">
                      <a16:colId xmlns:a16="http://schemas.microsoft.com/office/drawing/2014/main" val="20002"/>
                    </a:ext>
                  </a:extLst>
                </a:gridCol>
                <a:gridCol w="3432587">
                  <a:extLst>
                    <a:ext uri="{9D8B030D-6E8A-4147-A177-3AD203B41FA5}">
                      <a16:colId xmlns:a16="http://schemas.microsoft.com/office/drawing/2014/main" val="20003"/>
                    </a:ext>
                  </a:extLst>
                </a:gridCol>
              </a:tblGrid>
              <a:tr h="193675">
                <a:tc>
                  <a:txBody>
                    <a:bodyPr/>
                    <a:lstStyle/>
                    <a:p>
                      <a:pPr marL="340995">
                        <a:lnSpc>
                          <a:spcPct val="100000"/>
                        </a:lnSpc>
                        <a:spcBef>
                          <a:spcPts val="265"/>
                        </a:spcBef>
                      </a:pPr>
                      <a:r>
                        <a:rPr sz="800" spc="-5" dirty="0">
                          <a:latin typeface="Arial"/>
                          <a:cs typeface="Arial"/>
                        </a:rPr>
                        <a:t>C1</a:t>
                      </a:r>
                      <a:r>
                        <a:rPr sz="800" spc="-30" dirty="0">
                          <a:latin typeface="Arial"/>
                          <a:cs typeface="Arial"/>
                        </a:rPr>
                        <a:t> </a:t>
                      </a:r>
                      <a:r>
                        <a:rPr sz="800" spc="-5" dirty="0">
                          <a:latin typeface="Arial"/>
                          <a:cs typeface="Arial"/>
                        </a:rPr>
                        <a:t>[15:14]</a:t>
                      </a:r>
                      <a:endParaRPr sz="8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FFFCC"/>
                    </a:solidFill>
                  </a:tcPr>
                </a:tc>
                <a:tc>
                  <a:txBody>
                    <a:bodyPr/>
                    <a:lstStyle/>
                    <a:p>
                      <a:pPr marL="88900">
                        <a:lnSpc>
                          <a:spcPct val="100000"/>
                        </a:lnSpc>
                        <a:spcBef>
                          <a:spcPts val="265"/>
                        </a:spcBef>
                      </a:pPr>
                      <a:r>
                        <a:rPr sz="800" spc="-5" dirty="0">
                          <a:latin typeface="Arial"/>
                          <a:cs typeface="Arial"/>
                        </a:rPr>
                        <a:t>Addr</a:t>
                      </a:r>
                      <a:r>
                        <a:rPr sz="800" spc="-25" dirty="0">
                          <a:latin typeface="Arial"/>
                          <a:cs typeface="Arial"/>
                        </a:rPr>
                        <a:t> </a:t>
                      </a:r>
                      <a:r>
                        <a:rPr sz="800" spc="-5" dirty="0">
                          <a:latin typeface="Arial"/>
                          <a:cs typeface="Arial"/>
                        </a:rPr>
                        <a:t>[13:12]</a:t>
                      </a:r>
                      <a:endParaRPr sz="8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algn="ctr">
                        <a:lnSpc>
                          <a:spcPct val="100000"/>
                        </a:lnSpc>
                        <a:spcBef>
                          <a:spcPts val="265"/>
                        </a:spcBef>
                      </a:pPr>
                      <a:r>
                        <a:rPr sz="800" dirty="0">
                          <a:latin typeface="Arial"/>
                          <a:cs typeface="Arial"/>
                        </a:rPr>
                        <a:t>R/W</a:t>
                      </a: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635" algn="ctr">
                        <a:lnSpc>
                          <a:spcPct val="100000"/>
                        </a:lnSpc>
                        <a:spcBef>
                          <a:spcPts val="265"/>
                        </a:spcBef>
                      </a:pPr>
                      <a:r>
                        <a:rPr sz="800" spc="-5" dirty="0">
                          <a:latin typeface="Arial"/>
                          <a:cs typeface="Arial"/>
                        </a:rPr>
                        <a:t>Data</a:t>
                      </a:r>
                      <a:r>
                        <a:rPr sz="800" spc="-30" dirty="0">
                          <a:latin typeface="Arial"/>
                          <a:cs typeface="Arial"/>
                        </a:rPr>
                        <a:t> </a:t>
                      </a:r>
                      <a:r>
                        <a:rPr sz="800" spc="-5" dirty="0">
                          <a:latin typeface="Arial"/>
                          <a:cs typeface="Arial"/>
                        </a:rPr>
                        <a:t>[10:0]</a:t>
                      </a:r>
                      <a:endParaRPr sz="8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extLst>
                  <a:ext uri="{0D108BD9-81ED-4DB2-BD59-A6C34878D82A}">
                    <a16:rowId xmlns:a16="http://schemas.microsoft.com/office/drawing/2014/main" val="10000"/>
                  </a:ext>
                </a:extLst>
              </a:tr>
            </a:tbl>
          </a:graphicData>
        </a:graphic>
      </p:graphicFrame>
      <p:graphicFrame>
        <p:nvGraphicFramePr>
          <p:cNvPr id="7" name="object 7"/>
          <p:cNvGraphicFramePr>
            <a:graphicFrameLocks noGrp="1"/>
          </p:cNvGraphicFramePr>
          <p:nvPr>
            <p:extLst>
              <p:ext uri="{D42A27DB-BD31-4B8C-83A1-F6EECF244321}">
                <p14:modId xmlns:p14="http://schemas.microsoft.com/office/powerpoint/2010/main" val="308296469"/>
              </p:ext>
            </p:extLst>
          </p:nvPr>
        </p:nvGraphicFramePr>
        <p:xfrm>
          <a:off x="406400" y="2589212"/>
          <a:ext cx="6033054" cy="1554480"/>
        </p:xfrm>
        <a:graphic>
          <a:graphicData uri="http://schemas.openxmlformats.org/drawingml/2006/table">
            <a:tbl>
              <a:tblPr firstRow="1" bandRow="1">
                <a:tableStyleId>{2D5ABB26-0587-4C30-8999-92F81FD0307C}</a:tableStyleId>
              </a:tblPr>
              <a:tblGrid>
                <a:gridCol w="1130654">
                  <a:extLst>
                    <a:ext uri="{9D8B030D-6E8A-4147-A177-3AD203B41FA5}">
                      <a16:colId xmlns:a16="http://schemas.microsoft.com/office/drawing/2014/main" val="20000"/>
                    </a:ext>
                  </a:extLst>
                </a:gridCol>
                <a:gridCol w="1471280">
                  <a:extLst>
                    <a:ext uri="{9D8B030D-6E8A-4147-A177-3AD203B41FA5}">
                      <a16:colId xmlns:a16="http://schemas.microsoft.com/office/drawing/2014/main" val="20001"/>
                    </a:ext>
                  </a:extLst>
                </a:gridCol>
                <a:gridCol w="3431120">
                  <a:extLst>
                    <a:ext uri="{9D8B030D-6E8A-4147-A177-3AD203B41FA5}">
                      <a16:colId xmlns:a16="http://schemas.microsoft.com/office/drawing/2014/main" val="20002"/>
                    </a:ext>
                  </a:extLst>
                </a:gridCol>
              </a:tblGrid>
              <a:tr h="208915">
                <a:tc>
                  <a:txBody>
                    <a:bodyPr/>
                    <a:lstStyle/>
                    <a:p>
                      <a:pPr algn="ctr">
                        <a:lnSpc>
                          <a:spcPct val="100000"/>
                        </a:lnSpc>
                        <a:spcBef>
                          <a:spcPts val="260"/>
                        </a:spcBef>
                      </a:pPr>
                      <a:r>
                        <a:rPr sz="900" b="1" dirty="0">
                          <a:latin typeface="Arial"/>
                          <a:cs typeface="Arial"/>
                        </a:rPr>
                        <a:t>Bits</a:t>
                      </a:r>
                      <a:endParaRPr sz="900" dirty="0">
                        <a:latin typeface="Arial"/>
                        <a:cs typeface="Arial"/>
                      </a:endParaRPr>
                    </a:p>
                  </a:txBody>
                  <a:tcPr marL="0" marR="0" marT="3302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algn="ctr">
                        <a:lnSpc>
                          <a:spcPct val="100000"/>
                        </a:lnSpc>
                        <a:spcBef>
                          <a:spcPts val="260"/>
                        </a:spcBef>
                      </a:pPr>
                      <a:r>
                        <a:rPr sz="900" b="1" dirty="0">
                          <a:latin typeface="Arial"/>
                          <a:cs typeface="Arial"/>
                        </a:rPr>
                        <a:t>Fields</a:t>
                      </a:r>
                      <a:endParaRPr sz="900" dirty="0">
                        <a:latin typeface="Arial"/>
                        <a:cs typeface="Arial"/>
                      </a:endParaRPr>
                    </a:p>
                  </a:txBody>
                  <a:tcPr marL="0" marR="0" marT="3302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635" algn="ctr">
                        <a:lnSpc>
                          <a:spcPct val="100000"/>
                        </a:lnSpc>
                        <a:spcBef>
                          <a:spcPts val="260"/>
                        </a:spcBef>
                      </a:pPr>
                      <a:r>
                        <a:rPr sz="900" b="1" dirty="0">
                          <a:latin typeface="Arial"/>
                          <a:cs typeface="Arial"/>
                        </a:rPr>
                        <a:t>Descriptions</a:t>
                      </a:r>
                      <a:endParaRPr sz="900" dirty="0">
                        <a:latin typeface="Arial"/>
                        <a:cs typeface="Arial"/>
                      </a:endParaRPr>
                    </a:p>
                  </a:txBody>
                  <a:tcPr marL="0" marR="0" marT="3302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extLst>
                  <a:ext uri="{0D108BD9-81ED-4DB2-BD59-A6C34878D82A}">
                    <a16:rowId xmlns:a16="http://schemas.microsoft.com/office/drawing/2014/main" val="10000"/>
                  </a:ext>
                </a:extLst>
              </a:tr>
              <a:tr h="208915">
                <a:tc>
                  <a:txBody>
                    <a:bodyPr/>
                    <a:lstStyle/>
                    <a:p>
                      <a:pPr algn="ctr">
                        <a:lnSpc>
                          <a:spcPct val="100000"/>
                        </a:lnSpc>
                        <a:spcBef>
                          <a:spcPts val="260"/>
                        </a:spcBef>
                      </a:pPr>
                      <a:r>
                        <a:rPr sz="900" spc="-5" dirty="0">
                          <a:latin typeface="Arial"/>
                          <a:cs typeface="Arial"/>
                        </a:rPr>
                        <a:t>15:14</a:t>
                      </a:r>
                      <a:endParaRPr sz="900" dirty="0">
                        <a:latin typeface="Arial"/>
                        <a:cs typeface="Arial"/>
                      </a:endParaRPr>
                    </a:p>
                  </a:txBody>
                  <a:tcPr marL="0" marR="0" marT="3302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algn="ctr">
                        <a:lnSpc>
                          <a:spcPct val="100000"/>
                        </a:lnSpc>
                        <a:spcBef>
                          <a:spcPts val="260"/>
                        </a:spcBef>
                      </a:pPr>
                      <a:r>
                        <a:rPr sz="900" dirty="0">
                          <a:latin typeface="Arial"/>
                          <a:cs typeface="Arial"/>
                        </a:rPr>
                        <a:t>Command</a:t>
                      </a:r>
                      <a:r>
                        <a:rPr sz="900" spc="-60" dirty="0">
                          <a:latin typeface="Arial"/>
                          <a:cs typeface="Arial"/>
                        </a:rPr>
                        <a:t> </a:t>
                      </a:r>
                      <a:r>
                        <a:rPr sz="900" spc="-5" dirty="0">
                          <a:latin typeface="Arial"/>
                          <a:cs typeface="Arial"/>
                        </a:rPr>
                        <a:t>Type</a:t>
                      </a:r>
                      <a:endParaRPr sz="900" dirty="0">
                        <a:latin typeface="Arial"/>
                        <a:cs typeface="Arial"/>
                      </a:endParaRPr>
                    </a:p>
                  </a:txBody>
                  <a:tcPr marL="0" marR="0" marT="3302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36195">
                        <a:lnSpc>
                          <a:spcPct val="100000"/>
                        </a:lnSpc>
                        <a:spcBef>
                          <a:spcPts val="260"/>
                        </a:spcBef>
                      </a:pPr>
                      <a:r>
                        <a:rPr lang="en-US" sz="900" dirty="0">
                          <a:latin typeface="Arial"/>
                          <a:cs typeface="Arial"/>
                        </a:rPr>
                        <a:t>2’</a:t>
                      </a:r>
                      <a:r>
                        <a:rPr sz="900" dirty="0">
                          <a:latin typeface="Arial"/>
                          <a:cs typeface="Arial"/>
                        </a:rPr>
                        <a:t>b11</a:t>
                      </a:r>
                      <a:r>
                        <a:rPr sz="900" spc="-35" dirty="0">
                          <a:latin typeface="Arial"/>
                          <a:cs typeface="Arial"/>
                        </a:rPr>
                        <a:t> </a:t>
                      </a:r>
                      <a:r>
                        <a:rPr sz="900" dirty="0">
                          <a:latin typeface="Arial"/>
                          <a:cs typeface="Arial"/>
                        </a:rPr>
                        <a:t>to</a:t>
                      </a:r>
                      <a:r>
                        <a:rPr sz="900" spc="-20" dirty="0">
                          <a:latin typeface="Arial"/>
                          <a:cs typeface="Arial"/>
                        </a:rPr>
                        <a:t> </a:t>
                      </a:r>
                      <a:r>
                        <a:rPr sz="900" dirty="0">
                          <a:latin typeface="Arial"/>
                          <a:cs typeface="Arial"/>
                        </a:rPr>
                        <a:t>access</a:t>
                      </a:r>
                      <a:r>
                        <a:rPr sz="900" spc="-30" dirty="0">
                          <a:latin typeface="Arial"/>
                          <a:cs typeface="Arial"/>
                        </a:rPr>
                        <a:t> </a:t>
                      </a:r>
                      <a:r>
                        <a:rPr sz="900" dirty="0">
                          <a:latin typeface="Arial"/>
                          <a:cs typeface="Arial"/>
                        </a:rPr>
                        <a:t>the</a:t>
                      </a:r>
                      <a:r>
                        <a:rPr sz="900" spc="-20" dirty="0">
                          <a:latin typeface="Arial"/>
                          <a:cs typeface="Arial"/>
                        </a:rPr>
                        <a:t> </a:t>
                      </a:r>
                      <a:r>
                        <a:rPr sz="900" spc="-10" dirty="0">
                          <a:latin typeface="Arial"/>
                          <a:cs typeface="Arial"/>
                        </a:rPr>
                        <a:t>CMD1</a:t>
                      </a:r>
                      <a:r>
                        <a:rPr sz="900" spc="-5" dirty="0">
                          <a:latin typeface="Arial"/>
                          <a:cs typeface="Arial"/>
                        </a:rPr>
                        <a:t> </a:t>
                      </a:r>
                      <a:r>
                        <a:rPr sz="900" dirty="0">
                          <a:latin typeface="Arial"/>
                          <a:cs typeface="Arial"/>
                        </a:rPr>
                        <a:t>registers</a:t>
                      </a:r>
                    </a:p>
                  </a:txBody>
                  <a:tcPr marL="0" marR="0" marT="3302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extLst>
                  <a:ext uri="{0D108BD9-81ED-4DB2-BD59-A6C34878D82A}">
                    <a16:rowId xmlns:a16="http://schemas.microsoft.com/office/drawing/2014/main" val="10001"/>
                  </a:ext>
                </a:extLst>
              </a:tr>
              <a:tr h="620395">
                <a:tc>
                  <a:txBody>
                    <a:bodyPr/>
                    <a:lstStyle/>
                    <a:p>
                      <a:pPr>
                        <a:lnSpc>
                          <a:spcPct val="100000"/>
                        </a:lnSpc>
                      </a:pPr>
                      <a:endParaRPr sz="1000" dirty="0">
                        <a:latin typeface="Times New Roman"/>
                        <a:cs typeface="Times New Roman"/>
                      </a:endParaRPr>
                    </a:p>
                    <a:p>
                      <a:pPr algn="ctr">
                        <a:lnSpc>
                          <a:spcPct val="100000"/>
                        </a:lnSpc>
                        <a:spcBef>
                          <a:spcPts val="730"/>
                        </a:spcBef>
                      </a:pPr>
                      <a:r>
                        <a:rPr sz="900" spc="-5" dirty="0">
                          <a:latin typeface="Arial"/>
                          <a:cs typeface="Arial"/>
                        </a:rPr>
                        <a:t>13:12</a:t>
                      </a:r>
                      <a:endParaRPr sz="900" dirty="0">
                        <a:latin typeface="Arial"/>
                        <a:cs typeface="Arial"/>
                      </a:endParaRPr>
                    </a:p>
                  </a:txBody>
                  <a:tcPr marL="0" marR="0" marT="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a:lnSpc>
                          <a:spcPct val="100000"/>
                        </a:lnSpc>
                      </a:pPr>
                      <a:endParaRPr sz="1000" dirty="0">
                        <a:latin typeface="Times New Roman"/>
                        <a:cs typeface="Times New Roman"/>
                      </a:endParaRPr>
                    </a:p>
                    <a:p>
                      <a:pPr marL="635" algn="ctr">
                        <a:lnSpc>
                          <a:spcPct val="100000"/>
                        </a:lnSpc>
                        <a:spcBef>
                          <a:spcPts val="730"/>
                        </a:spcBef>
                      </a:pPr>
                      <a:r>
                        <a:rPr sz="900" dirty="0">
                          <a:latin typeface="Arial"/>
                          <a:cs typeface="Arial"/>
                        </a:rPr>
                        <a:t>Address</a:t>
                      </a:r>
                    </a:p>
                  </a:txBody>
                  <a:tcPr marL="0" marR="0" marT="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36195" marR="1738630">
                        <a:lnSpc>
                          <a:spcPct val="100000"/>
                        </a:lnSpc>
                        <a:spcBef>
                          <a:spcPts val="260"/>
                        </a:spcBef>
                      </a:pPr>
                      <a:r>
                        <a:rPr sz="900" dirty="0">
                          <a:latin typeface="Arial"/>
                          <a:cs typeface="Arial"/>
                        </a:rPr>
                        <a:t>2’b00 : </a:t>
                      </a:r>
                      <a:r>
                        <a:rPr sz="900" spc="-5" dirty="0">
                          <a:latin typeface="Arial"/>
                          <a:cs typeface="Arial"/>
                        </a:rPr>
                        <a:t>SOFT RESET </a:t>
                      </a:r>
                      <a:r>
                        <a:rPr sz="900" dirty="0">
                          <a:latin typeface="Arial"/>
                          <a:cs typeface="Arial"/>
                        </a:rPr>
                        <a:t>register </a:t>
                      </a:r>
                      <a:r>
                        <a:rPr sz="900" spc="5" dirty="0">
                          <a:latin typeface="Arial"/>
                          <a:cs typeface="Arial"/>
                        </a:rPr>
                        <a:t> </a:t>
                      </a:r>
                      <a:r>
                        <a:rPr sz="900" dirty="0">
                          <a:latin typeface="Arial"/>
                          <a:cs typeface="Arial"/>
                        </a:rPr>
                        <a:t>2’b01 : </a:t>
                      </a:r>
                      <a:r>
                        <a:rPr sz="900" spc="-10" dirty="0">
                          <a:latin typeface="Arial"/>
                          <a:cs typeface="Arial"/>
                        </a:rPr>
                        <a:t>MODE CONTROL </a:t>
                      </a:r>
                      <a:r>
                        <a:rPr sz="900" dirty="0">
                          <a:latin typeface="Arial"/>
                          <a:cs typeface="Arial"/>
                        </a:rPr>
                        <a:t>register </a:t>
                      </a:r>
                      <a:r>
                        <a:rPr sz="900" spc="-235" dirty="0">
                          <a:latin typeface="Arial"/>
                          <a:cs typeface="Arial"/>
                        </a:rPr>
                        <a:t> </a:t>
                      </a:r>
                      <a:r>
                        <a:rPr sz="900" dirty="0">
                          <a:latin typeface="Arial"/>
                          <a:cs typeface="Arial"/>
                        </a:rPr>
                        <a:t>2’b10</a:t>
                      </a:r>
                      <a:r>
                        <a:rPr sz="900" spc="-30" dirty="0">
                          <a:latin typeface="Arial"/>
                          <a:cs typeface="Arial"/>
                        </a:rPr>
                        <a:t> </a:t>
                      </a:r>
                      <a:r>
                        <a:rPr sz="900" dirty="0">
                          <a:latin typeface="Arial"/>
                          <a:cs typeface="Arial"/>
                        </a:rPr>
                        <a:t>:</a:t>
                      </a:r>
                      <a:r>
                        <a:rPr sz="900" spc="-5" dirty="0">
                          <a:latin typeface="Arial"/>
                          <a:cs typeface="Arial"/>
                        </a:rPr>
                        <a:t> </a:t>
                      </a:r>
                      <a:r>
                        <a:rPr sz="900" dirty="0">
                          <a:latin typeface="Arial"/>
                          <a:cs typeface="Arial"/>
                        </a:rPr>
                        <a:t>FIX</a:t>
                      </a:r>
                      <a:r>
                        <a:rPr sz="900" spc="-25" dirty="0">
                          <a:latin typeface="Arial"/>
                          <a:cs typeface="Arial"/>
                        </a:rPr>
                        <a:t> </a:t>
                      </a:r>
                      <a:r>
                        <a:rPr sz="900" spc="-10" dirty="0">
                          <a:latin typeface="Arial"/>
                          <a:cs typeface="Arial"/>
                        </a:rPr>
                        <a:t>CONTROL</a:t>
                      </a:r>
                      <a:r>
                        <a:rPr sz="900" spc="20" dirty="0">
                          <a:latin typeface="Arial"/>
                          <a:cs typeface="Arial"/>
                        </a:rPr>
                        <a:t> </a:t>
                      </a:r>
                      <a:r>
                        <a:rPr sz="900" dirty="0">
                          <a:latin typeface="Arial"/>
                          <a:cs typeface="Arial"/>
                        </a:rPr>
                        <a:t>register</a:t>
                      </a:r>
                    </a:p>
                    <a:p>
                      <a:pPr marL="36195">
                        <a:lnSpc>
                          <a:spcPct val="100000"/>
                        </a:lnSpc>
                      </a:pPr>
                      <a:r>
                        <a:rPr sz="900" dirty="0">
                          <a:latin typeface="Arial"/>
                          <a:cs typeface="Arial"/>
                        </a:rPr>
                        <a:t>2’b11</a:t>
                      </a:r>
                      <a:r>
                        <a:rPr sz="900" spc="-35" dirty="0">
                          <a:latin typeface="Arial"/>
                          <a:cs typeface="Arial"/>
                        </a:rPr>
                        <a:t> </a:t>
                      </a:r>
                      <a:r>
                        <a:rPr sz="900" dirty="0">
                          <a:latin typeface="Arial"/>
                          <a:cs typeface="Arial"/>
                        </a:rPr>
                        <a:t>:</a:t>
                      </a:r>
                      <a:r>
                        <a:rPr sz="900" spc="-15" dirty="0">
                          <a:latin typeface="Arial"/>
                          <a:cs typeface="Arial"/>
                        </a:rPr>
                        <a:t> </a:t>
                      </a:r>
                      <a:r>
                        <a:rPr sz="900" spc="-5" dirty="0">
                          <a:latin typeface="Arial"/>
                          <a:cs typeface="Arial"/>
                        </a:rPr>
                        <a:t>CS/HOLD</a:t>
                      </a:r>
                      <a:r>
                        <a:rPr sz="900" spc="-20" dirty="0">
                          <a:latin typeface="Arial"/>
                          <a:cs typeface="Arial"/>
                        </a:rPr>
                        <a:t> </a:t>
                      </a:r>
                      <a:r>
                        <a:rPr sz="900" dirty="0">
                          <a:latin typeface="Arial"/>
                          <a:cs typeface="Arial"/>
                        </a:rPr>
                        <a:t>FIX</a:t>
                      </a:r>
                      <a:r>
                        <a:rPr sz="900" spc="-25" dirty="0">
                          <a:latin typeface="Arial"/>
                          <a:cs typeface="Arial"/>
                        </a:rPr>
                        <a:t> </a:t>
                      </a:r>
                      <a:r>
                        <a:rPr sz="900" spc="-5" dirty="0">
                          <a:latin typeface="Arial"/>
                          <a:cs typeface="Arial"/>
                        </a:rPr>
                        <a:t>CHANNEL </a:t>
                      </a:r>
                      <a:r>
                        <a:rPr sz="900" dirty="0">
                          <a:latin typeface="Arial"/>
                          <a:cs typeface="Arial"/>
                        </a:rPr>
                        <a:t>register</a:t>
                      </a:r>
                    </a:p>
                  </a:txBody>
                  <a:tcPr marL="0" marR="0" marT="3302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extLst>
                  <a:ext uri="{0D108BD9-81ED-4DB2-BD59-A6C34878D82A}">
                    <a16:rowId xmlns:a16="http://schemas.microsoft.com/office/drawing/2014/main" val="10002"/>
                  </a:ext>
                </a:extLst>
              </a:tr>
              <a:tr h="208915">
                <a:tc>
                  <a:txBody>
                    <a:bodyPr/>
                    <a:lstStyle/>
                    <a:p>
                      <a:pPr algn="ctr">
                        <a:lnSpc>
                          <a:spcPct val="100000"/>
                        </a:lnSpc>
                        <a:spcBef>
                          <a:spcPts val="260"/>
                        </a:spcBef>
                      </a:pPr>
                      <a:r>
                        <a:rPr sz="900" spc="-5" dirty="0">
                          <a:latin typeface="Arial"/>
                          <a:cs typeface="Arial"/>
                        </a:rPr>
                        <a:t>11</a:t>
                      </a:r>
                      <a:endParaRPr sz="900" dirty="0">
                        <a:latin typeface="Arial"/>
                        <a:cs typeface="Arial"/>
                      </a:endParaRPr>
                    </a:p>
                  </a:txBody>
                  <a:tcPr marL="0" marR="0" marT="3302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algn="ctr">
                        <a:lnSpc>
                          <a:spcPct val="100000"/>
                        </a:lnSpc>
                        <a:spcBef>
                          <a:spcPts val="260"/>
                        </a:spcBef>
                      </a:pPr>
                      <a:r>
                        <a:rPr sz="900" dirty="0">
                          <a:latin typeface="Arial"/>
                          <a:cs typeface="Arial"/>
                        </a:rPr>
                        <a:t>Read</a:t>
                      </a:r>
                      <a:r>
                        <a:rPr sz="900" spc="-35" dirty="0">
                          <a:latin typeface="Arial"/>
                          <a:cs typeface="Arial"/>
                        </a:rPr>
                        <a:t> </a:t>
                      </a:r>
                      <a:r>
                        <a:rPr sz="900" dirty="0">
                          <a:latin typeface="Arial"/>
                          <a:cs typeface="Arial"/>
                        </a:rPr>
                        <a:t>/</a:t>
                      </a:r>
                      <a:r>
                        <a:rPr sz="900" spc="-30" dirty="0">
                          <a:latin typeface="Arial"/>
                          <a:cs typeface="Arial"/>
                        </a:rPr>
                        <a:t> </a:t>
                      </a:r>
                      <a:r>
                        <a:rPr sz="900" spc="5" dirty="0">
                          <a:latin typeface="Arial"/>
                          <a:cs typeface="Arial"/>
                        </a:rPr>
                        <a:t>Write</a:t>
                      </a:r>
                      <a:endParaRPr sz="900" dirty="0">
                        <a:latin typeface="Arial"/>
                        <a:cs typeface="Arial"/>
                      </a:endParaRPr>
                    </a:p>
                  </a:txBody>
                  <a:tcPr marL="0" marR="0" marT="3302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36195">
                        <a:lnSpc>
                          <a:spcPct val="100000"/>
                        </a:lnSpc>
                        <a:spcBef>
                          <a:spcPts val="260"/>
                        </a:spcBef>
                      </a:pPr>
                      <a:r>
                        <a:rPr sz="900" spc="5" dirty="0">
                          <a:latin typeface="Arial"/>
                          <a:cs typeface="Arial"/>
                        </a:rPr>
                        <a:t>Write</a:t>
                      </a:r>
                      <a:r>
                        <a:rPr sz="900" spc="-45" dirty="0">
                          <a:latin typeface="Arial"/>
                          <a:cs typeface="Arial"/>
                        </a:rPr>
                        <a:t> </a:t>
                      </a:r>
                      <a:r>
                        <a:rPr sz="900" dirty="0">
                          <a:latin typeface="Arial"/>
                          <a:cs typeface="Arial"/>
                        </a:rPr>
                        <a:t>:</a:t>
                      </a:r>
                      <a:r>
                        <a:rPr sz="900" spc="-25" dirty="0">
                          <a:latin typeface="Arial"/>
                          <a:cs typeface="Arial"/>
                        </a:rPr>
                        <a:t> </a:t>
                      </a:r>
                      <a:r>
                        <a:rPr sz="900" dirty="0">
                          <a:latin typeface="Arial"/>
                          <a:cs typeface="Arial"/>
                        </a:rPr>
                        <a:t>‘0’,</a:t>
                      </a:r>
                      <a:r>
                        <a:rPr sz="900" spc="-25" dirty="0">
                          <a:latin typeface="Arial"/>
                          <a:cs typeface="Arial"/>
                        </a:rPr>
                        <a:t> </a:t>
                      </a:r>
                      <a:r>
                        <a:rPr sz="900" spc="-5" dirty="0">
                          <a:latin typeface="Arial"/>
                          <a:cs typeface="Arial"/>
                        </a:rPr>
                        <a:t>Read</a:t>
                      </a:r>
                      <a:r>
                        <a:rPr sz="900" spc="-25" dirty="0">
                          <a:latin typeface="Arial"/>
                          <a:cs typeface="Arial"/>
                        </a:rPr>
                        <a:t> </a:t>
                      </a:r>
                      <a:r>
                        <a:rPr sz="900" dirty="0">
                          <a:latin typeface="Arial"/>
                          <a:cs typeface="Arial"/>
                        </a:rPr>
                        <a:t>:</a:t>
                      </a:r>
                      <a:r>
                        <a:rPr sz="900" spc="-15" dirty="0">
                          <a:latin typeface="Arial"/>
                          <a:cs typeface="Arial"/>
                        </a:rPr>
                        <a:t> </a:t>
                      </a:r>
                      <a:r>
                        <a:rPr sz="900" dirty="0">
                          <a:latin typeface="Arial"/>
                          <a:cs typeface="Arial"/>
                        </a:rPr>
                        <a:t>‘1’</a:t>
                      </a:r>
                    </a:p>
                  </a:txBody>
                  <a:tcPr marL="0" marR="0" marT="3302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extLst>
                  <a:ext uri="{0D108BD9-81ED-4DB2-BD59-A6C34878D82A}">
                    <a16:rowId xmlns:a16="http://schemas.microsoft.com/office/drawing/2014/main" val="10003"/>
                  </a:ext>
                </a:extLst>
              </a:tr>
              <a:tr h="208915">
                <a:tc>
                  <a:txBody>
                    <a:bodyPr/>
                    <a:lstStyle/>
                    <a:p>
                      <a:pPr algn="ctr">
                        <a:lnSpc>
                          <a:spcPct val="100000"/>
                        </a:lnSpc>
                        <a:spcBef>
                          <a:spcPts val="265"/>
                        </a:spcBef>
                      </a:pPr>
                      <a:r>
                        <a:rPr sz="900" spc="-5" dirty="0">
                          <a:latin typeface="Arial"/>
                          <a:cs typeface="Arial"/>
                        </a:rPr>
                        <a:t>10:0</a:t>
                      </a:r>
                      <a:endParaRPr sz="9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1270" algn="ctr">
                        <a:lnSpc>
                          <a:spcPct val="100000"/>
                        </a:lnSpc>
                        <a:spcBef>
                          <a:spcPts val="265"/>
                        </a:spcBef>
                      </a:pPr>
                      <a:r>
                        <a:rPr sz="900" spc="-5" dirty="0">
                          <a:latin typeface="Arial"/>
                          <a:cs typeface="Arial"/>
                        </a:rPr>
                        <a:t>Data</a:t>
                      </a:r>
                      <a:endParaRPr sz="9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36195">
                        <a:lnSpc>
                          <a:spcPct val="100000"/>
                        </a:lnSpc>
                        <a:spcBef>
                          <a:spcPts val="265"/>
                        </a:spcBef>
                      </a:pPr>
                      <a:r>
                        <a:rPr sz="900" spc="-5" dirty="0">
                          <a:latin typeface="Arial"/>
                          <a:cs typeface="Arial"/>
                        </a:rPr>
                        <a:t>Refer</a:t>
                      </a:r>
                      <a:r>
                        <a:rPr sz="900" spc="-25" dirty="0">
                          <a:latin typeface="Arial"/>
                          <a:cs typeface="Arial"/>
                        </a:rPr>
                        <a:t> </a:t>
                      </a:r>
                      <a:r>
                        <a:rPr sz="900" dirty="0">
                          <a:latin typeface="Arial"/>
                          <a:cs typeface="Arial"/>
                        </a:rPr>
                        <a:t>to</a:t>
                      </a:r>
                      <a:r>
                        <a:rPr sz="900" spc="-20" dirty="0">
                          <a:latin typeface="Arial"/>
                          <a:cs typeface="Arial"/>
                        </a:rPr>
                        <a:t> </a:t>
                      </a:r>
                      <a:r>
                        <a:rPr sz="900" dirty="0">
                          <a:latin typeface="Arial"/>
                          <a:cs typeface="Arial"/>
                        </a:rPr>
                        <a:t>each</a:t>
                      </a:r>
                      <a:r>
                        <a:rPr sz="900" spc="-20" dirty="0">
                          <a:latin typeface="Arial"/>
                          <a:cs typeface="Arial"/>
                        </a:rPr>
                        <a:t> </a:t>
                      </a:r>
                      <a:r>
                        <a:rPr sz="900" dirty="0">
                          <a:latin typeface="Arial"/>
                          <a:cs typeface="Arial"/>
                        </a:rPr>
                        <a:t>register’s</a:t>
                      </a:r>
                      <a:r>
                        <a:rPr sz="900" spc="-45" dirty="0">
                          <a:latin typeface="Arial"/>
                          <a:cs typeface="Arial"/>
                        </a:rPr>
                        <a:t> </a:t>
                      </a:r>
                      <a:r>
                        <a:rPr sz="900" dirty="0">
                          <a:latin typeface="Arial"/>
                          <a:cs typeface="Arial"/>
                        </a:rPr>
                        <a:t>description</a:t>
                      </a: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extLst>
                  <a:ext uri="{0D108BD9-81ED-4DB2-BD59-A6C34878D82A}">
                    <a16:rowId xmlns:a16="http://schemas.microsoft.com/office/drawing/2014/main" val="10004"/>
                  </a:ext>
                </a:extLst>
              </a:tr>
            </a:tbl>
          </a:graphicData>
        </a:graphic>
      </p:graphicFrame>
      <p:sp>
        <p:nvSpPr>
          <p:cNvPr id="8" name="object 8"/>
          <p:cNvSpPr txBox="1"/>
          <p:nvPr/>
        </p:nvSpPr>
        <p:spPr>
          <a:xfrm>
            <a:off x="400913" y="301879"/>
            <a:ext cx="622935" cy="299720"/>
          </a:xfrm>
          <a:prstGeom prst="rect">
            <a:avLst/>
          </a:prstGeom>
        </p:spPr>
        <p:txBody>
          <a:bodyPr vert="horz" wrap="square" lIns="0" tIns="12700" rIns="0" bIns="0" rtlCol="0">
            <a:spAutoFit/>
          </a:bodyPr>
          <a:lstStyle/>
          <a:p>
            <a:pPr marL="12700">
              <a:lnSpc>
                <a:spcPct val="100000"/>
              </a:lnSpc>
              <a:spcBef>
                <a:spcPts val="100"/>
              </a:spcBef>
            </a:pPr>
            <a:r>
              <a:rPr sz="1800" b="1" spc="-5" dirty="0">
                <a:latin typeface="Arial"/>
                <a:cs typeface="Arial"/>
              </a:rPr>
              <a:t>CQ24</a:t>
            </a:r>
            <a:endParaRPr sz="1800" dirty="0">
              <a:latin typeface="Arial"/>
              <a:cs typeface="Arial"/>
            </a:endParaRPr>
          </a:p>
        </p:txBody>
      </p:sp>
      <p:sp>
        <p:nvSpPr>
          <p:cNvPr id="9" name="object 9"/>
          <p:cNvSpPr txBox="1"/>
          <p:nvPr/>
        </p:nvSpPr>
        <p:spPr>
          <a:xfrm>
            <a:off x="386892" y="1949018"/>
            <a:ext cx="1331595" cy="240029"/>
          </a:xfrm>
          <a:prstGeom prst="rect">
            <a:avLst/>
          </a:prstGeom>
        </p:spPr>
        <p:txBody>
          <a:bodyPr vert="horz" wrap="square" lIns="0" tIns="13335" rIns="0" bIns="0" rtlCol="0">
            <a:spAutoFit/>
          </a:bodyPr>
          <a:lstStyle/>
          <a:p>
            <a:pPr marL="12700">
              <a:lnSpc>
                <a:spcPct val="100000"/>
              </a:lnSpc>
              <a:spcBef>
                <a:spcPts val="105"/>
              </a:spcBef>
            </a:pPr>
            <a:r>
              <a:rPr sz="1400" b="1" dirty="0">
                <a:latin typeface="Arial"/>
                <a:cs typeface="Arial"/>
              </a:rPr>
              <a:t>CMD1</a:t>
            </a:r>
            <a:r>
              <a:rPr sz="1400" b="1" spc="-95" dirty="0">
                <a:latin typeface="Arial"/>
                <a:cs typeface="Arial"/>
              </a:rPr>
              <a:t> </a:t>
            </a:r>
            <a:r>
              <a:rPr sz="1400" b="1" dirty="0">
                <a:latin typeface="Arial"/>
                <a:cs typeface="Arial"/>
              </a:rPr>
              <a:t>registers</a:t>
            </a:r>
            <a:endParaRPr sz="1400" dirty="0">
              <a:latin typeface="Arial"/>
              <a:cs typeface="Arial"/>
            </a:endParaRPr>
          </a:p>
        </p:txBody>
      </p:sp>
      <p:graphicFrame>
        <p:nvGraphicFramePr>
          <p:cNvPr id="10" name="object 10"/>
          <p:cNvGraphicFramePr>
            <a:graphicFrameLocks noGrp="1"/>
          </p:cNvGraphicFramePr>
          <p:nvPr>
            <p:extLst>
              <p:ext uri="{D42A27DB-BD31-4B8C-83A1-F6EECF244321}">
                <p14:modId xmlns:p14="http://schemas.microsoft.com/office/powerpoint/2010/main" val="2815234683"/>
              </p:ext>
            </p:extLst>
          </p:nvPr>
        </p:nvGraphicFramePr>
        <p:xfrm>
          <a:off x="406397" y="4834445"/>
          <a:ext cx="6033059" cy="372110"/>
        </p:xfrm>
        <a:graphic>
          <a:graphicData uri="http://schemas.openxmlformats.org/drawingml/2006/table">
            <a:tbl>
              <a:tblPr firstRow="1" bandRow="1">
                <a:tableStyleId>{2D5ABB26-0587-4C30-8999-92F81FD0307C}</a:tableStyleId>
              </a:tblPr>
              <a:tblGrid>
                <a:gridCol w="349943">
                  <a:extLst>
                    <a:ext uri="{9D8B030D-6E8A-4147-A177-3AD203B41FA5}">
                      <a16:colId xmlns:a16="http://schemas.microsoft.com/office/drawing/2014/main" val="20000"/>
                    </a:ext>
                  </a:extLst>
                </a:gridCol>
                <a:gridCol w="400114">
                  <a:extLst>
                    <a:ext uri="{9D8B030D-6E8A-4147-A177-3AD203B41FA5}">
                      <a16:colId xmlns:a16="http://schemas.microsoft.com/office/drawing/2014/main" val="20001"/>
                    </a:ext>
                  </a:extLst>
                </a:gridCol>
                <a:gridCol w="474743">
                  <a:extLst>
                    <a:ext uri="{9D8B030D-6E8A-4147-A177-3AD203B41FA5}">
                      <a16:colId xmlns:a16="http://schemas.microsoft.com/office/drawing/2014/main" val="20002"/>
                    </a:ext>
                  </a:extLst>
                </a:gridCol>
                <a:gridCol w="474742">
                  <a:extLst>
                    <a:ext uri="{9D8B030D-6E8A-4147-A177-3AD203B41FA5}">
                      <a16:colId xmlns:a16="http://schemas.microsoft.com/office/drawing/2014/main" val="20003"/>
                    </a:ext>
                  </a:extLst>
                </a:gridCol>
                <a:gridCol w="474742">
                  <a:extLst>
                    <a:ext uri="{9D8B030D-6E8A-4147-A177-3AD203B41FA5}">
                      <a16:colId xmlns:a16="http://schemas.microsoft.com/office/drawing/2014/main" val="20004"/>
                    </a:ext>
                  </a:extLst>
                </a:gridCol>
                <a:gridCol w="480387">
                  <a:extLst>
                    <a:ext uri="{9D8B030D-6E8A-4147-A177-3AD203B41FA5}">
                      <a16:colId xmlns:a16="http://schemas.microsoft.com/office/drawing/2014/main" val="20005"/>
                    </a:ext>
                  </a:extLst>
                </a:gridCol>
                <a:gridCol w="474742">
                  <a:extLst>
                    <a:ext uri="{9D8B030D-6E8A-4147-A177-3AD203B41FA5}">
                      <a16:colId xmlns:a16="http://schemas.microsoft.com/office/drawing/2014/main" val="20006"/>
                    </a:ext>
                  </a:extLst>
                </a:gridCol>
                <a:gridCol w="497320">
                  <a:extLst>
                    <a:ext uri="{9D8B030D-6E8A-4147-A177-3AD203B41FA5}">
                      <a16:colId xmlns:a16="http://schemas.microsoft.com/office/drawing/2014/main" val="20007"/>
                    </a:ext>
                  </a:extLst>
                </a:gridCol>
                <a:gridCol w="474743">
                  <a:extLst>
                    <a:ext uri="{9D8B030D-6E8A-4147-A177-3AD203B41FA5}">
                      <a16:colId xmlns:a16="http://schemas.microsoft.com/office/drawing/2014/main" val="20008"/>
                    </a:ext>
                  </a:extLst>
                </a:gridCol>
                <a:gridCol w="474743">
                  <a:extLst>
                    <a:ext uri="{9D8B030D-6E8A-4147-A177-3AD203B41FA5}">
                      <a16:colId xmlns:a16="http://schemas.microsoft.com/office/drawing/2014/main" val="20009"/>
                    </a:ext>
                  </a:extLst>
                </a:gridCol>
                <a:gridCol w="474743">
                  <a:extLst>
                    <a:ext uri="{9D8B030D-6E8A-4147-A177-3AD203B41FA5}">
                      <a16:colId xmlns:a16="http://schemas.microsoft.com/office/drawing/2014/main" val="20010"/>
                    </a:ext>
                  </a:extLst>
                </a:gridCol>
                <a:gridCol w="507354">
                  <a:extLst>
                    <a:ext uri="{9D8B030D-6E8A-4147-A177-3AD203B41FA5}">
                      <a16:colId xmlns:a16="http://schemas.microsoft.com/office/drawing/2014/main" val="20011"/>
                    </a:ext>
                  </a:extLst>
                </a:gridCol>
                <a:gridCol w="474743">
                  <a:extLst>
                    <a:ext uri="{9D8B030D-6E8A-4147-A177-3AD203B41FA5}">
                      <a16:colId xmlns:a16="http://schemas.microsoft.com/office/drawing/2014/main" val="20012"/>
                    </a:ext>
                  </a:extLst>
                </a:gridCol>
              </a:tblGrid>
              <a:tr h="193675">
                <a:tc>
                  <a:txBody>
                    <a:bodyPr/>
                    <a:lstStyle/>
                    <a:p>
                      <a:pPr marL="42545">
                        <a:lnSpc>
                          <a:spcPct val="100000"/>
                        </a:lnSpc>
                        <a:spcBef>
                          <a:spcPts val="270"/>
                        </a:spcBef>
                      </a:pPr>
                      <a:r>
                        <a:rPr sz="800" dirty="0">
                          <a:latin typeface="Arial"/>
                          <a:cs typeface="Arial"/>
                        </a:rPr>
                        <a:t>A[1:0]</a:t>
                      </a: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D9D9D9"/>
                    </a:solidFill>
                  </a:tcPr>
                </a:tc>
                <a:tc>
                  <a:txBody>
                    <a:bodyPr/>
                    <a:lstStyle/>
                    <a:p>
                      <a:pPr algn="ctr">
                        <a:lnSpc>
                          <a:spcPct val="100000"/>
                        </a:lnSpc>
                        <a:spcBef>
                          <a:spcPts val="270"/>
                        </a:spcBef>
                      </a:pPr>
                      <a:r>
                        <a:rPr sz="800" spc="-5" dirty="0">
                          <a:latin typeface="Arial"/>
                          <a:cs typeface="Arial"/>
                        </a:rPr>
                        <a:t>Default</a:t>
                      </a:r>
                      <a:endParaRPr sz="8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D9D9D9"/>
                    </a:solidFill>
                  </a:tcPr>
                </a:tc>
                <a:tc>
                  <a:txBody>
                    <a:bodyPr/>
                    <a:lstStyle/>
                    <a:p>
                      <a:pPr marL="1905" algn="ctr">
                        <a:lnSpc>
                          <a:spcPct val="100000"/>
                        </a:lnSpc>
                        <a:spcBef>
                          <a:spcPts val="270"/>
                        </a:spcBef>
                      </a:pPr>
                      <a:r>
                        <a:rPr sz="800" spc="-5" dirty="0">
                          <a:latin typeface="Arial"/>
                          <a:cs typeface="Arial"/>
                        </a:rPr>
                        <a:t>D10</a:t>
                      </a:r>
                      <a:endParaRPr sz="8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D9D9D9"/>
                    </a:solidFill>
                  </a:tcPr>
                </a:tc>
                <a:tc>
                  <a:txBody>
                    <a:bodyPr/>
                    <a:lstStyle/>
                    <a:p>
                      <a:pPr algn="ctr">
                        <a:lnSpc>
                          <a:spcPct val="100000"/>
                        </a:lnSpc>
                        <a:spcBef>
                          <a:spcPts val="270"/>
                        </a:spcBef>
                      </a:pPr>
                      <a:r>
                        <a:rPr sz="800" spc="-5" dirty="0">
                          <a:latin typeface="Arial"/>
                          <a:cs typeface="Arial"/>
                        </a:rPr>
                        <a:t>D9</a:t>
                      </a:r>
                      <a:endParaRPr sz="8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D9D9D9"/>
                    </a:solidFill>
                  </a:tcPr>
                </a:tc>
                <a:tc>
                  <a:txBody>
                    <a:bodyPr/>
                    <a:lstStyle/>
                    <a:p>
                      <a:pPr algn="ctr">
                        <a:lnSpc>
                          <a:spcPct val="100000"/>
                        </a:lnSpc>
                        <a:spcBef>
                          <a:spcPts val="270"/>
                        </a:spcBef>
                      </a:pPr>
                      <a:r>
                        <a:rPr sz="800" spc="-5" dirty="0">
                          <a:latin typeface="Arial"/>
                          <a:cs typeface="Arial"/>
                        </a:rPr>
                        <a:t>D8</a:t>
                      </a:r>
                      <a:endParaRPr sz="8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D9D9D9"/>
                    </a:solidFill>
                  </a:tcPr>
                </a:tc>
                <a:tc>
                  <a:txBody>
                    <a:bodyPr/>
                    <a:lstStyle/>
                    <a:p>
                      <a:pPr algn="ctr">
                        <a:lnSpc>
                          <a:spcPct val="100000"/>
                        </a:lnSpc>
                        <a:spcBef>
                          <a:spcPts val="270"/>
                        </a:spcBef>
                      </a:pPr>
                      <a:r>
                        <a:rPr sz="800" spc="-5" dirty="0">
                          <a:latin typeface="Arial"/>
                          <a:cs typeface="Arial"/>
                        </a:rPr>
                        <a:t>D7</a:t>
                      </a:r>
                      <a:endParaRPr sz="8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D9D9D9"/>
                    </a:solidFill>
                  </a:tcPr>
                </a:tc>
                <a:tc>
                  <a:txBody>
                    <a:bodyPr/>
                    <a:lstStyle/>
                    <a:p>
                      <a:pPr marR="167640" algn="r">
                        <a:lnSpc>
                          <a:spcPct val="100000"/>
                        </a:lnSpc>
                        <a:spcBef>
                          <a:spcPts val="270"/>
                        </a:spcBef>
                      </a:pPr>
                      <a:r>
                        <a:rPr sz="800" spc="-5" dirty="0">
                          <a:latin typeface="Arial"/>
                          <a:cs typeface="Arial"/>
                        </a:rPr>
                        <a:t>D6</a:t>
                      </a:r>
                      <a:endParaRPr sz="8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D9D9D9"/>
                    </a:solidFill>
                  </a:tcPr>
                </a:tc>
                <a:tc>
                  <a:txBody>
                    <a:bodyPr/>
                    <a:lstStyle/>
                    <a:p>
                      <a:pPr algn="ctr">
                        <a:lnSpc>
                          <a:spcPct val="100000"/>
                        </a:lnSpc>
                        <a:spcBef>
                          <a:spcPts val="270"/>
                        </a:spcBef>
                      </a:pPr>
                      <a:r>
                        <a:rPr sz="800" spc="-5" dirty="0">
                          <a:latin typeface="Arial"/>
                          <a:cs typeface="Arial"/>
                        </a:rPr>
                        <a:t>D5</a:t>
                      </a:r>
                      <a:endParaRPr sz="8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D9D9D9"/>
                    </a:solidFill>
                  </a:tcPr>
                </a:tc>
                <a:tc>
                  <a:txBody>
                    <a:bodyPr/>
                    <a:lstStyle/>
                    <a:p>
                      <a:pPr marL="635" algn="ctr">
                        <a:lnSpc>
                          <a:spcPct val="100000"/>
                        </a:lnSpc>
                        <a:spcBef>
                          <a:spcPts val="270"/>
                        </a:spcBef>
                      </a:pPr>
                      <a:r>
                        <a:rPr sz="800" spc="-5" dirty="0">
                          <a:latin typeface="Arial"/>
                          <a:cs typeface="Arial"/>
                        </a:rPr>
                        <a:t>D4</a:t>
                      </a:r>
                      <a:endParaRPr sz="8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D9D9D9"/>
                    </a:solidFill>
                  </a:tcPr>
                </a:tc>
                <a:tc>
                  <a:txBody>
                    <a:bodyPr/>
                    <a:lstStyle/>
                    <a:p>
                      <a:pPr marL="635" algn="ctr">
                        <a:lnSpc>
                          <a:spcPct val="100000"/>
                        </a:lnSpc>
                        <a:spcBef>
                          <a:spcPts val="270"/>
                        </a:spcBef>
                      </a:pPr>
                      <a:r>
                        <a:rPr sz="800" spc="-5" dirty="0">
                          <a:latin typeface="Arial"/>
                          <a:cs typeface="Arial"/>
                        </a:rPr>
                        <a:t>D3</a:t>
                      </a:r>
                      <a:endParaRPr sz="8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D9D9D9"/>
                    </a:solidFill>
                  </a:tcPr>
                </a:tc>
                <a:tc>
                  <a:txBody>
                    <a:bodyPr/>
                    <a:lstStyle/>
                    <a:p>
                      <a:pPr marL="635" algn="ctr">
                        <a:lnSpc>
                          <a:spcPct val="100000"/>
                        </a:lnSpc>
                        <a:spcBef>
                          <a:spcPts val="270"/>
                        </a:spcBef>
                      </a:pPr>
                      <a:r>
                        <a:rPr sz="800" spc="-5" dirty="0">
                          <a:latin typeface="Arial"/>
                          <a:cs typeface="Arial"/>
                        </a:rPr>
                        <a:t>D2</a:t>
                      </a:r>
                      <a:endParaRPr sz="8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D9D9D9"/>
                    </a:solidFill>
                  </a:tcPr>
                </a:tc>
                <a:tc>
                  <a:txBody>
                    <a:bodyPr/>
                    <a:lstStyle/>
                    <a:p>
                      <a:pPr marL="1270" algn="ctr">
                        <a:lnSpc>
                          <a:spcPct val="100000"/>
                        </a:lnSpc>
                        <a:spcBef>
                          <a:spcPts val="270"/>
                        </a:spcBef>
                      </a:pPr>
                      <a:r>
                        <a:rPr sz="800" spc="-5" dirty="0">
                          <a:latin typeface="Arial"/>
                          <a:cs typeface="Arial"/>
                        </a:rPr>
                        <a:t>D1</a:t>
                      </a:r>
                      <a:endParaRPr sz="8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D9D9D9"/>
                    </a:solidFill>
                  </a:tcPr>
                </a:tc>
                <a:tc>
                  <a:txBody>
                    <a:bodyPr/>
                    <a:lstStyle/>
                    <a:p>
                      <a:pPr marL="3175" algn="ctr">
                        <a:lnSpc>
                          <a:spcPct val="100000"/>
                        </a:lnSpc>
                        <a:spcBef>
                          <a:spcPts val="270"/>
                        </a:spcBef>
                      </a:pPr>
                      <a:r>
                        <a:rPr sz="800" spc="-5" dirty="0">
                          <a:latin typeface="Arial"/>
                          <a:cs typeface="Arial"/>
                        </a:rPr>
                        <a:t>D0</a:t>
                      </a:r>
                      <a:endParaRPr sz="8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D9D9D9"/>
                    </a:solidFill>
                  </a:tcPr>
                </a:tc>
                <a:extLst>
                  <a:ext uri="{0D108BD9-81ED-4DB2-BD59-A6C34878D82A}">
                    <a16:rowId xmlns:a16="http://schemas.microsoft.com/office/drawing/2014/main" val="10000"/>
                  </a:ext>
                </a:extLst>
              </a:tr>
              <a:tr h="178435">
                <a:tc>
                  <a:txBody>
                    <a:bodyPr/>
                    <a:lstStyle/>
                    <a:p>
                      <a:pPr marL="68580">
                        <a:lnSpc>
                          <a:spcPct val="100000"/>
                        </a:lnSpc>
                        <a:spcBef>
                          <a:spcPts val="270"/>
                        </a:spcBef>
                      </a:pPr>
                      <a:r>
                        <a:rPr sz="700" spc="-10" dirty="0">
                          <a:latin typeface="Arial"/>
                          <a:cs typeface="Arial"/>
                        </a:rPr>
                        <a:t>‘2b00</a:t>
                      </a:r>
                      <a:endParaRPr sz="7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635" algn="ctr">
                        <a:lnSpc>
                          <a:spcPct val="100000"/>
                        </a:lnSpc>
                        <a:spcBef>
                          <a:spcPts val="270"/>
                        </a:spcBef>
                      </a:pPr>
                      <a:r>
                        <a:rPr sz="700" dirty="0">
                          <a:latin typeface="Arial"/>
                          <a:cs typeface="Arial"/>
                        </a:rPr>
                        <a:t>0</a:t>
                      </a: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2540" algn="ctr">
                        <a:lnSpc>
                          <a:spcPct val="100000"/>
                        </a:lnSpc>
                        <a:spcBef>
                          <a:spcPts val="245"/>
                        </a:spcBef>
                      </a:pPr>
                      <a:r>
                        <a:rPr sz="700" dirty="0">
                          <a:latin typeface="Arial"/>
                          <a:cs typeface="Arial"/>
                        </a:rPr>
                        <a:t>x</a:t>
                      </a:r>
                    </a:p>
                  </a:txBody>
                  <a:tcPr marL="0" marR="0" marT="3111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3175" algn="ctr">
                        <a:lnSpc>
                          <a:spcPct val="100000"/>
                        </a:lnSpc>
                        <a:spcBef>
                          <a:spcPts val="270"/>
                        </a:spcBef>
                      </a:pPr>
                      <a:r>
                        <a:rPr sz="700" dirty="0">
                          <a:latin typeface="Arial"/>
                          <a:cs typeface="Arial"/>
                        </a:rPr>
                        <a:t>x</a:t>
                      </a: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1270" algn="ctr">
                        <a:lnSpc>
                          <a:spcPct val="100000"/>
                        </a:lnSpc>
                        <a:spcBef>
                          <a:spcPts val="245"/>
                        </a:spcBef>
                      </a:pPr>
                      <a:r>
                        <a:rPr sz="700" spc="-5" dirty="0">
                          <a:latin typeface="Arial"/>
                          <a:cs typeface="Arial"/>
                        </a:rPr>
                        <a:t>Broadcast</a:t>
                      </a:r>
                      <a:endParaRPr sz="700" dirty="0">
                        <a:latin typeface="Arial"/>
                        <a:cs typeface="Arial"/>
                      </a:endParaRPr>
                    </a:p>
                  </a:txBody>
                  <a:tcPr marL="0" marR="0" marT="3111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2540" algn="ctr">
                        <a:lnSpc>
                          <a:spcPct val="100000"/>
                        </a:lnSpc>
                        <a:spcBef>
                          <a:spcPts val="270"/>
                        </a:spcBef>
                      </a:pPr>
                      <a:r>
                        <a:rPr sz="700" dirty="0">
                          <a:latin typeface="Arial"/>
                          <a:cs typeface="Arial"/>
                        </a:rPr>
                        <a:t>x</a:t>
                      </a: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R="208915" algn="r">
                        <a:lnSpc>
                          <a:spcPct val="100000"/>
                        </a:lnSpc>
                        <a:spcBef>
                          <a:spcPts val="270"/>
                        </a:spcBef>
                      </a:pPr>
                      <a:r>
                        <a:rPr sz="700" dirty="0">
                          <a:latin typeface="Arial"/>
                          <a:cs typeface="Arial"/>
                        </a:rPr>
                        <a:t>x</a:t>
                      </a: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3175" algn="ctr">
                        <a:lnSpc>
                          <a:spcPct val="100000"/>
                        </a:lnSpc>
                        <a:spcBef>
                          <a:spcPts val="270"/>
                        </a:spcBef>
                      </a:pPr>
                      <a:r>
                        <a:rPr sz="700" dirty="0">
                          <a:latin typeface="Arial"/>
                          <a:cs typeface="Arial"/>
                        </a:rPr>
                        <a:t>x</a:t>
                      </a: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4445" algn="ctr">
                        <a:lnSpc>
                          <a:spcPct val="100000"/>
                        </a:lnSpc>
                        <a:spcBef>
                          <a:spcPts val="270"/>
                        </a:spcBef>
                      </a:pPr>
                      <a:r>
                        <a:rPr sz="700" dirty="0">
                          <a:latin typeface="Arial"/>
                          <a:cs typeface="Arial"/>
                        </a:rPr>
                        <a:t>x</a:t>
                      </a: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4445" algn="ctr">
                        <a:lnSpc>
                          <a:spcPct val="100000"/>
                        </a:lnSpc>
                        <a:spcBef>
                          <a:spcPts val="245"/>
                        </a:spcBef>
                      </a:pPr>
                      <a:r>
                        <a:rPr sz="700" dirty="0">
                          <a:latin typeface="Arial"/>
                          <a:cs typeface="Arial"/>
                        </a:rPr>
                        <a:t>x</a:t>
                      </a:r>
                    </a:p>
                  </a:txBody>
                  <a:tcPr marL="0" marR="0" marT="3111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1270" algn="ctr">
                        <a:lnSpc>
                          <a:spcPct val="100000"/>
                        </a:lnSpc>
                        <a:spcBef>
                          <a:spcPts val="270"/>
                        </a:spcBef>
                      </a:pPr>
                      <a:r>
                        <a:rPr sz="700" spc="-5" dirty="0">
                          <a:latin typeface="Arial"/>
                          <a:cs typeface="Arial"/>
                        </a:rPr>
                        <a:t>RST3</a:t>
                      </a:r>
                      <a:endParaRPr sz="7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1905" algn="ctr">
                        <a:lnSpc>
                          <a:spcPct val="100000"/>
                        </a:lnSpc>
                        <a:spcBef>
                          <a:spcPts val="270"/>
                        </a:spcBef>
                      </a:pPr>
                      <a:r>
                        <a:rPr sz="700" spc="-5" dirty="0">
                          <a:latin typeface="Arial"/>
                          <a:cs typeface="Arial"/>
                        </a:rPr>
                        <a:t>RST2</a:t>
                      </a:r>
                      <a:endParaRPr sz="7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3810" algn="ctr">
                        <a:lnSpc>
                          <a:spcPct val="100000"/>
                        </a:lnSpc>
                        <a:spcBef>
                          <a:spcPts val="270"/>
                        </a:spcBef>
                      </a:pPr>
                      <a:r>
                        <a:rPr sz="700" spc="-5" dirty="0">
                          <a:latin typeface="Arial"/>
                          <a:cs typeface="Arial"/>
                        </a:rPr>
                        <a:t>RST1</a:t>
                      </a:r>
                      <a:endParaRPr sz="7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extLst>
                  <a:ext uri="{0D108BD9-81ED-4DB2-BD59-A6C34878D82A}">
                    <a16:rowId xmlns:a16="http://schemas.microsoft.com/office/drawing/2014/main" val="10001"/>
                  </a:ext>
                </a:extLst>
              </a:tr>
            </a:tbl>
          </a:graphicData>
        </a:graphic>
      </p:graphicFrame>
      <p:sp>
        <p:nvSpPr>
          <p:cNvPr id="12" name="object 12"/>
          <p:cNvSpPr txBox="1"/>
          <p:nvPr/>
        </p:nvSpPr>
        <p:spPr>
          <a:xfrm>
            <a:off x="386892" y="4574235"/>
            <a:ext cx="902335" cy="194310"/>
          </a:xfrm>
          <a:prstGeom prst="rect">
            <a:avLst/>
          </a:prstGeom>
        </p:spPr>
        <p:txBody>
          <a:bodyPr vert="horz" wrap="square" lIns="0" tIns="13335" rIns="0" bIns="0" rtlCol="0">
            <a:spAutoFit/>
          </a:bodyPr>
          <a:lstStyle/>
          <a:p>
            <a:pPr marL="12700">
              <a:lnSpc>
                <a:spcPct val="100000"/>
              </a:lnSpc>
              <a:spcBef>
                <a:spcPts val="105"/>
              </a:spcBef>
            </a:pPr>
            <a:r>
              <a:rPr sz="1100" b="1" dirty="0">
                <a:latin typeface="Arial"/>
                <a:cs typeface="Arial"/>
              </a:rPr>
              <a:t>SOFT</a:t>
            </a:r>
            <a:r>
              <a:rPr sz="1100" b="1" spc="-80" dirty="0">
                <a:latin typeface="Arial"/>
                <a:cs typeface="Arial"/>
              </a:rPr>
              <a:t> </a:t>
            </a:r>
            <a:r>
              <a:rPr sz="1100" b="1" spc="-5" dirty="0">
                <a:latin typeface="Arial"/>
                <a:cs typeface="Arial"/>
              </a:rPr>
              <a:t>RESET</a:t>
            </a:r>
            <a:endParaRPr sz="1100" dirty="0">
              <a:latin typeface="Arial"/>
              <a:cs typeface="Arial"/>
            </a:endParaRPr>
          </a:p>
        </p:txBody>
      </p:sp>
      <p:graphicFrame>
        <p:nvGraphicFramePr>
          <p:cNvPr id="16" name="표 15">
            <a:extLst>
              <a:ext uri="{FF2B5EF4-FFF2-40B4-BE49-F238E27FC236}">
                <a16:creationId xmlns:a16="http://schemas.microsoft.com/office/drawing/2014/main" id="{CA4AF7D8-AA42-BBAD-6122-B871D1632EC6}"/>
              </a:ext>
            </a:extLst>
          </p:cNvPr>
          <p:cNvGraphicFramePr>
            <a:graphicFrameLocks noGrp="1"/>
          </p:cNvGraphicFramePr>
          <p:nvPr>
            <p:extLst>
              <p:ext uri="{D42A27DB-BD31-4B8C-83A1-F6EECF244321}">
                <p14:modId xmlns:p14="http://schemas.microsoft.com/office/powerpoint/2010/main" val="3950130019"/>
              </p:ext>
            </p:extLst>
          </p:nvPr>
        </p:nvGraphicFramePr>
        <p:xfrm>
          <a:off x="397878" y="5389612"/>
          <a:ext cx="6041576" cy="1863618"/>
        </p:xfrm>
        <a:graphic>
          <a:graphicData uri="http://schemas.openxmlformats.org/drawingml/2006/table">
            <a:tbl>
              <a:tblPr firstRow="1" bandRow="1">
                <a:tableStyleId>{5C22544A-7EE6-4342-B048-85BDC9FD1C3A}</a:tableStyleId>
              </a:tblPr>
              <a:tblGrid>
                <a:gridCol w="385109">
                  <a:extLst>
                    <a:ext uri="{9D8B030D-6E8A-4147-A177-3AD203B41FA5}">
                      <a16:colId xmlns:a16="http://schemas.microsoft.com/office/drawing/2014/main" val="4170535043"/>
                    </a:ext>
                  </a:extLst>
                </a:gridCol>
                <a:gridCol w="1525092">
                  <a:extLst>
                    <a:ext uri="{9D8B030D-6E8A-4147-A177-3AD203B41FA5}">
                      <a16:colId xmlns:a16="http://schemas.microsoft.com/office/drawing/2014/main" val="2079070694"/>
                    </a:ext>
                  </a:extLst>
                </a:gridCol>
                <a:gridCol w="4131375">
                  <a:extLst>
                    <a:ext uri="{9D8B030D-6E8A-4147-A177-3AD203B41FA5}">
                      <a16:colId xmlns:a16="http://schemas.microsoft.com/office/drawing/2014/main" val="32595803"/>
                    </a:ext>
                  </a:extLst>
                </a:gridCol>
              </a:tblGrid>
              <a:tr h="256197">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0" marR="0" marT="3600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0" marR="0" marT="3600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0" marR="0" marT="3600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677683">
                <a:tc>
                  <a:txBody>
                    <a:bodyPr/>
                    <a:lstStyle/>
                    <a:p>
                      <a:pPr marR="82550" algn="l">
                        <a:lnSpc>
                          <a:spcPct val="100000"/>
                        </a:lnSpc>
                        <a:spcBef>
                          <a:spcPts val="775"/>
                        </a:spcBef>
                      </a:pPr>
                      <a:r>
                        <a:rPr lang="en-US" sz="900" dirty="0">
                          <a:latin typeface="Arial"/>
                          <a:cs typeface="Arial"/>
                        </a:rPr>
                        <a:t>8</a:t>
                      </a:r>
                      <a:endParaRPr sz="900" dirty="0">
                        <a:latin typeface="Arial"/>
                        <a:cs typeface="Arial"/>
                      </a:endParaRPr>
                    </a:p>
                  </a:txBody>
                  <a:tcPr marL="0" marR="0" marT="36000" marB="0">
                    <a:lnL w="3175"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62230" marR="0" lvl="0" indent="0" algn="l" defTabSz="914400" eaLnBrk="1" fontAlgn="auto" latinLnBrk="0" hangingPunct="1">
                        <a:lnSpc>
                          <a:spcPct val="100000"/>
                        </a:lnSpc>
                        <a:spcBef>
                          <a:spcPts val="775"/>
                        </a:spcBef>
                        <a:spcAft>
                          <a:spcPts val="0"/>
                        </a:spcAft>
                        <a:buClrTx/>
                        <a:buSzTx/>
                        <a:buFontTx/>
                        <a:buNone/>
                        <a:tabLst/>
                        <a:defRPr/>
                      </a:pPr>
                      <a:r>
                        <a:rPr lang="en-US" altLang="ko-KR" sz="900" dirty="0">
                          <a:latin typeface="Arial"/>
                          <a:cs typeface="Arial"/>
                        </a:rPr>
                        <a:t>Broadcast</a:t>
                      </a:r>
                    </a:p>
                  </a:txBody>
                  <a:tcPr marL="0" marR="0" marT="3600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dirty="0">
                          <a:latin typeface="Arial"/>
                          <a:cs typeface="Arial"/>
                        </a:rPr>
                        <a:t>Broadcast</a:t>
                      </a:r>
                      <a:r>
                        <a:rPr lang="en-US" altLang="ko-KR" sz="900" spc="-45" dirty="0">
                          <a:latin typeface="Arial"/>
                          <a:cs typeface="Arial"/>
                        </a:rPr>
                        <a:t> </a:t>
                      </a:r>
                      <a:r>
                        <a:rPr lang="en-US" altLang="ko-KR" sz="900" spc="-5" dirty="0">
                          <a:latin typeface="Arial"/>
                          <a:cs typeface="Arial"/>
                        </a:rPr>
                        <a:t>Enable</a:t>
                      </a:r>
                      <a:r>
                        <a:rPr lang="en-US" altLang="ko-KR" sz="900" spc="-25" dirty="0">
                          <a:latin typeface="Arial"/>
                          <a:cs typeface="Arial"/>
                        </a:rPr>
                        <a:t> </a:t>
                      </a:r>
                      <a:r>
                        <a:rPr lang="en-US" altLang="ko-KR" sz="900" spc="-5" dirty="0">
                          <a:latin typeface="Arial"/>
                          <a:cs typeface="Arial"/>
                        </a:rPr>
                        <a:t>in </a:t>
                      </a:r>
                      <a:r>
                        <a:rPr lang="en-US" altLang="ko-KR" sz="900" dirty="0">
                          <a:latin typeface="Arial"/>
                          <a:cs typeface="Arial"/>
                        </a:rPr>
                        <a:t>SPI</a:t>
                      </a:r>
                      <a:r>
                        <a:rPr lang="en-US" altLang="ko-KR" sz="900" spc="-15" dirty="0">
                          <a:latin typeface="Arial"/>
                          <a:cs typeface="Arial"/>
                        </a:rPr>
                        <a:t> </a:t>
                      </a:r>
                      <a:r>
                        <a:rPr lang="en-US" altLang="ko-KR" sz="900" dirty="0">
                          <a:latin typeface="Arial"/>
                          <a:cs typeface="Arial"/>
                        </a:rPr>
                        <a:t>Daisy</a:t>
                      </a:r>
                      <a:r>
                        <a:rPr lang="en-US" altLang="ko-KR" sz="900" spc="-15" dirty="0">
                          <a:latin typeface="Arial"/>
                          <a:cs typeface="Arial"/>
                        </a:rPr>
                        <a:t> </a:t>
                      </a:r>
                      <a:r>
                        <a:rPr lang="en-US" altLang="ko-KR" sz="900" dirty="0">
                          <a:latin typeface="Arial"/>
                          <a:cs typeface="Arial"/>
                        </a:rPr>
                        <a:t>connection.</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dirty="0">
                          <a:latin typeface="Arial"/>
                          <a:cs typeface="Arial"/>
                        </a:rPr>
                        <a:t>It</a:t>
                      </a:r>
                      <a:r>
                        <a:rPr lang="en-US" altLang="ko-KR" sz="900" spc="-10" dirty="0">
                          <a:latin typeface="Arial"/>
                          <a:cs typeface="Arial"/>
                        </a:rPr>
                        <a:t> </a:t>
                      </a:r>
                      <a:r>
                        <a:rPr lang="en-US" altLang="ko-KR" sz="900" dirty="0">
                          <a:latin typeface="Arial"/>
                          <a:cs typeface="Arial"/>
                        </a:rPr>
                        <a:t>can</a:t>
                      </a:r>
                      <a:r>
                        <a:rPr lang="en-US" altLang="ko-KR" sz="900" spc="-10" dirty="0">
                          <a:latin typeface="Arial"/>
                          <a:cs typeface="Arial"/>
                        </a:rPr>
                        <a:t> </a:t>
                      </a:r>
                      <a:r>
                        <a:rPr lang="en-US" altLang="ko-KR" sz="900" dirty="0">
                          <a:latin typeface="Arial"/>
                          <a:cs typeface="Arial"/>
                        </a:rPr>
                        <a:t>show</a:t>
                      </a:r>
                      <a:r>
                        <a:rPr lang="en-US" altLang="ko-KR" sz="900" spc="-10" dirty="0">
                          <a:latin typeface="Arial"/>
                          <a:cs typeface="Arial"/>
                        </a:rPr>
                        <a:t> </a:t>
                      </a:r>
                      <a:r>
                        <a:rPr lang="en-US" altLang="ko-KR" sz="900" spc="-5" dirty="0">
                          <a:latin typeface="Arial"/>
                          <a:cs typeface="Arial"/>
                        </a:rPr>
                        <a:t>very</a:t>
                      </a:r>
                      <a:r>
                        <a:rPr lang="en-US" altLang="ko-KR" sz="900" spc="-10" dirty="0">
                          <a:latin typeface="Arial"/>
                          <a:cs typeface="Arial"/>
                        </a:rPr>
                        <a:t> </a:t>
                      </a:r>
                      <a:r>
                        <a:rPr lang="en-US" altLang="ko-KR" sz="900" dirty="0">
                          <a:latin typeface="Arial"/>
                          <a:cs typeface="Arial"/>
                        </a:rPr>
                        <a:t>fast</a:t>
                      </a:r>
                      <a:r>
                        <a:rPr lang="en-US" altLang="ko-KR" sz="900" spc="-5" dirty="0">
                          <a:latin typeface="Arial"/>
                          <a:cs typeface="Arial"/>
                        </a:rPr>
                        <a:t> </a:t>
                      </a:r>
                      <a:r>
                        <a:rPr lang="en-US" altLang="ko-KR" sz="900" dirty="0">
                          <a:latin typeface="Arial"/>
                          <a:cs typeface="Arial"/>
                        </a:rPr>
                        <a:t>transfer</a:t>
                      </a:r>
                      <a:r>
                        <a:rPr lang="en-US" altLang="ko-KR" sz="900" spc="-25" dirty="0">
                          <a:latin typeface="Arial"/>
                          <a:cs typeface="Arial"/>
                        </a:rPr>
                        <a:t> </a:t>
                      </a:r>
                      <a:r>
                        <a:rPr lang="en-US" altLang="ko-KR" sz="900" dirty="0">
                          <a:latin typeface="Arial"/>
                          <a:cs typeface="Arial"/>
                        </a:rPr>
                        <a:t>to </a:t>
                      </a:r>
                      <a:r>
                        <a:rPr lang="en-US" altLang="ko-KR" sz="900" spc="-5" dirty="0">
                          <a:latin typeface="Arial"/>
                          <a:cs typeface="Arial"/>
                        </a:rPr>
                        <a:t>all</a:t>
                      </a:r>
                      <a:r>
                        <a:rPr lang="en-US" altLang="ko-KR" sz="900" spc="-15" dirty="0">
                          <a:latin typeface="Arial"/>
                          <a:cs typeface="Arial"/>
                        </a:rPr>
                        <a:t> </a:t>
                      </a:r>
                      <a:r>
                        <a:rPr lang="en-US" altLang="ko-KR" sz="900" dirty="0">
                          <a:latin typeface="Arial"/>
                          <a:cs typeface="Arial"/>
                        </a:rPr>
                        <a:t>daisied</a:t>
                      </a:r>
                      <a:r>
                        <a:rPr lang="en-US" altLang="ko-KR" sz="900" spc="-20" dirty="0">
                          <a:latin typeface="Arial"/>
                          <a:cs typeface="Arial"/>
                        </a:rPr>
                        <a:t> </a:t>
                      </a:r>
                      <a:r>
                        <a:rPr lang="en-US" altLang="ko-KR" sz="900" spc="-5" dirty="0">
                          <a:latin typeface="Arial"/>
                          <a:cs typeface="Arial"/>
                        </a:rPr>
                        <a:t>devices</a:t>
                      </a:r>
                      <a:r>
                        <a:rPr lang="en-US" altLang="ko-KR" sz="900" spc="-15" dirty="0">
                          <a:latin typeface="Arial"/>
                          <a:cs typeface="Arial"/>
                        </a:rPr>
                        <a:t> </a:t>
                      </a:r>
                      <a:r>
                        <a:rPr lang="en-US" altLang="ko-KR" sz="900" dirty="0">
                          <a:latin typeface="Arial"/>
                          <a:cs typeface="Arial"/>
                        </a:rPr>
                        <a:t>at</a:t>
                      </a:r>
                      <a:r>
                        <a:rPr lang="en-US" altLang="ko-KR" sz="900" spc="-10" dirty="0">
                          <a:latin typeface="Arial"/>
                          <a:cs typeface="Arial"/>
                        </a:rPr>
                        <a:t> </a:t>
                      </a:r>
                      <a:r>
                        <a:rPr lang="en-US" altLang="ko-KR" sz="900" spc="-5" dirty="0">
                          <a:latin typeface="Arial"/>
                          <a:cs typeface="Arial"/>
                        </a:rPr>
                        <a:t>one</a:t>
                      </a:r>
                      <a:r>
                        <a:rPr lang="en-US" altLang="ko-KR" sz="900" spc="-10" dirty="0">
                          <a:latin typeface="Arial"/>
                          <a:cs typeface="Arial"/>
                        </a:rPr>
                        <a:t> </a:t>
                      </a:r>
                      <a:r>
                        <a:rPr lang="en-US" altLang="ko-KR" sz="900" dirty="0">
                          <a:latin typeface="Arial"/>
                          <a:cs typeface="Arial"/>
                        </a:rPr>
                        <a:t>time</a:t>
                      </a:r>
                      <a:r>
                        <a:rPr lang="en-US" altLang="ko-KR" sz="900" spc="-15" dirty="0">
                          <a:latin typeface="Arial"/>
                          <a:cs typeface="Arial"/>
                        </a:rPr>
                        <a:t> </a:t>
                      </a:r>
                      <a:r>
                        <a:rPr lang="en-US" altLang="ko-KR" sz="900" dirty="0">
                          <a:latin typeface="Arial"/>
                          <a:cs typeface="Arial"/>
                        </a:rPr>
                        <a:t>but</a:t>
                      </a:r>
                      <a:r>
                        <a:rPr lang="en-US" altLang="ko-KR" sz="900" spc="-10" dirty="0">
                          <a:latin typeface="Arial"/>
                          <a:cs typeface="Arial"/>
                        </a:rPr>
                        <a:t> </a:t>
                      </a:r>
                      <a:r>
                        <a:rPr lang="en-US" altLang="ko-KR" sz="900" dirty="0">
                          <a:latin typeface="Arial"/>
                          <a:cs typeface="Arial"/>
                        </a:rPr>
                        <a:t>can</a:t>
                      </a:r>
                      <a:r>
                        <a:rPr lang="en-US" altLang="ko-KR" sz="900" spc="-5" dirty="0">
                          <a:latin typeface="Arial"/>
                          <a:cs typeface="Arial"/>
                        </a:rPr>
                        <a:t> be</a:t>
                      </a:r>
                      <a:r>
                        <a:rPr lang="en-US" altLang="ko-KR" sz="900" spc="-10" dirty="0">
                          <a:latin typeface="Arial"/>
                          <a:cs typeface="Arial"/>
                        </a:rPr>
                        <a:t> </a:t>
                      </a:r>
                      <a:r>
                        <a:rPr lang="en-US" altLang="ko-KR" sz="900" dirty="0">
                          <a:latin typeface="Arial"/>
                          <a:cs typeface="Arial"/>
                        </a:rPr>
                        <a:t>used</a:t>
                      </a:r>
                      <a:r>
                        <a:rPr lang="en-US" altLang="ko-KR" sz="900" spc="-10" dirty="0">
                          <a:latin typeface="Arial"/>
                          <a:cs typeface="Arial"/>
                        </a:rPr>
                        <a:t> </a:t>
                      </a:r>
                      <a:r>
                        <a:rPr lang="en-US" altLang="ko-KR" sz="900" spc="-5" dirty="0">
                          <a:latin typeface="Arial"/>
                          <a:cs typeface="Arial"/>
                        </a:rPr>
                        <a:t>in </a:t>
                      </a:r>
                      <a:r>
                        <a:rPr lang="en-US" altLang="ko-KR" sz="900" spc="-235" dirty="0">
                          <a:latin typeface="Arial"/>
                          <a:cs typeface="Arial"/>
                        </a:rPr>
                        <a:t> </a:t>
                      </a:r>
                      <a:r>
                        <a:rPr lang="en-US" altLang="ko-KR" sz="900" dirty="0">
                          <a:latin typeface="Arial"/>
                          <a:cs typeface="Arial"/>
                        </a:rPr>
                        <a:t>case</a:t>
                      </a:r>
                      <a:r>
                        <a:rPr lang="en-US" altLang="ko-KR" sz="900" spc="-20" dirty="0">
                          <a:latin typeface="Arial"/>
                          <a:cs typeface="Arial"/>
                        </a:rPr>
                        <a:t> </a:t>
                      </a:r>
                      <a:r>
                        <a:rPr lang="en-US" altLang="ko-KR" sz="900" dirty="0">
                          <a:latin typeface="Arial"/>
                          <a:cs typeface="Arial"/>
                        </a:rPr>
                        <a:t>the</a:t>
                      </a:r>
                      <a:r>
                        <a:rPr lang="en-US" altLang="ko-KR" sz="900" spc="-10" dirty="0">
                          <a:latin typeface="Arial"/>
                          <a:cs typeface="Arial"/>
                        </a:rPr>
                        <a:t> </a:t>
                      </a:r>
                      <a:r>
                        <a:rPr lang="en-US" altLang="ko-KR" sz="900" spc="-5" dirty="0">
                          <a:latin typeface="Arial"/>
                          <a:cs typeface="Arial"/>
                        </a:rPr>
                        <a:t>data and</a:t>
                      </a:r>
                      <a:r>
                        <a:rPr lang="en-US" altLang="ko-KR" sz="900" spc="-10" dirty="0">
                          <a:latin typeface="Arial"/>
                          <a:cs typeface="Arial"/>
                        </a:rPr>
                        <a:t> </a:t>
                      </a:r>
                      <a:r>
                        <a:rPr lang="en-US" altLang="ko-KR" sz="900" dirty="0">
                          <a:latin typeface="Arial"/>
                          <a:cs typeface="Arial"/>
                        </a:rPr>
                        <a:t>address</a:t>
                      </a:r>
                      <a:r>
                        <a:rPr lang="en-US" altLang="ko-KR" sz="900" spc="-25" dirty="0">
                          <a:latin typeface="Arial"/>
                          <a:cs typeface="Arial"/>
                        </a:rPr>
                        <a:t> </a:t>
                      </a:r>
                      <a:r>
                        <a:rPr lang="en-US" altLang="ko-KR" sz="900" dirty="0">
                          <a:latin typeface="Arial"/>
                          <a:cs typeface="Arial"/>
                        </a:rPr>
                        <a:t>to</a:t>
                      </a:r>
                      <a:r>
                        <a:rPr lang="en-US" altLang="ko-KR" sz="900" spc="-10" dirty="0">
                          <a:latin typeface="Arial"/>
                          <a:cs typeface="Arial"/>
                        </a:rPr>
                        <a:t> </a:t>
                      </a:r>
                      <a:r>
                        <a:rPr lang="en-US" altLang="ko-KR" sz="900" spc="-5" dirty="0">
                          <a:latin typeface="Arial"/>
                          <a:cs typeface="Arial"/>
                        </a:rPr>
                        <a:t>be</a:t>
                      </a:r>
                      <a:r>
                        <a:rPr lang="en-US" altLang="ko-KR" sz="900" spc="5" dirty="0">
                          <a:latin typeface="Arial"/>
                          <a:cs typeface="Arial"/>
                        </a:rPr>
                        <a:t> </a:t>
                      </a:r>
                      <a:r>
                        <a:rPr lang="en-US" altLang="ko-KR" sz="900" dirty="0">
                          <a:latin typeface="Arial"/>
                          <a:cs typeface="Arial"/>
                        </a:rPr>
                        <a:t>transferred</a:t>
                      </a:r>
                      <a:r>
                        <a:rPr lang="en-US" altLang="ko-KR" sz="900" spc="-35" dirty="0">
                          <a:latin typeface="Arial"/>
                          <a:cs typeface="Arial"/>
                        </a:rPr>
                        <a:t> </a:t>
                      </a:r>
                      <a:r>
                        <a:rPr lang="en-US" altLang="ko-KR" sz="900" spc="-5" dirty="0">
                          <a:latin typeface="Arial"/>
                          <a:cs typeface="Arial"/>
                        </a:rPr>
                        <a:t>are all</a:t>
                      </a:r>
                      <a:r>
                        <a:rPr lang="en-US" altLang="ko-KR" sz="900" spc="-10" dirty="0">
                          <a:latin typeface="Arial"/>
                          <a:cs typeface="Arial"/>
                        </a:rPr>
                        <a:t> </a:t>
                      </a:r>
                      <a:r>
                        <a:rPr lang="en-US" altLang="ko-KR" sz="900" dirty="0">
                          <a:latin typeface="Arial"/>
                          <a:cs typeface="Arial"/>
                        </a:rPr>
                        <a:t>the</a:t>
                      </a:r>
                      <a:r>
                        <a:rPr lang="en-US" altLang="ko-KR" sz="900" spc="-5" dirty="0">
                          <a:latin typeface="Arial"/>
                          <a:cs typeface="Arial"/>
                        </a:rPr>
                        <a:t> </a:t>
                      </a:r>
                      <a:r>
                        <a:rPr lang="en-US" altLang="ko-KR" sz="900" dirty="0">
                          <a:latin typeface="Arial"/>
                          <a:cs typeface="Arial"/>
                        </a:rPr>
                        <a:t>same</a:t>
                      </a:r>
                      <a:r>
                        <a:rPr lang="en-US" altLang="ko-KR" sz="900" spc="-20" dirty="0">
                          <a:latin typeface="Arial"/>
                          <a:cs typeface="Arial"/>
                        </a:rPr>
                        <a:t> </a:t>
                      </a:r>
                      <a:r>
                        <a:rPr lang="en-US" altLang="ko-KR" sz="900" dirty="0">
                          <a:latin typeface="Arial"/>
                          <a:cs typeface="Arial"/>
                        </a:rPr>
                        <a:t>for</a:t>
                      </a:r>
                      <a:r>
                        <a:rPr lang="en-US" altLang="ko-KR" sz="900" spc="5" dirty="0">
                          <a:latin typeface="Arial"/>
                          <a:cs typeface="Arial"/>
                        </a:rPr>
                        <a:t> </a:t>
                      </a:r>
                      <a:r>
                        <a:rPr lang="en-US" altLang="ko-KR" sz="900" spc="-5" dirty="0">
                          <a:latin typeface="Arial"/>
                          <a:cs typeface="Arial"/>
                        </a:rPr>
                        <a:t>all</a:t>
                      </a:r>
                      <a:r>
                        <a:rPr lang="en-US" altLang="ko-KR" sz="900" spc="-20" dirty="0">
                          <a:latin typeface="Arial"/>
                          <a:cs typeface="Arial"/>
                        </a:rPr>
                        <a:t> </a:t>
                      </a:r>
                      <a:r>
                        <a:rPr lang="en-US" altLang="ko-KR" sz="900" spc="-5" dirty="0">
                          <a:latin typeface="Arial"/>
                          <a:cs typeface="Arial"/>
                        </a:rPr>
                        <a:t>devices. </a:t>
                      </a:r>
                      <a:r>
                        <a:rPr lang="en-US" altLang="ko-KR" sz="900" dirty="0">
                          <a:latin typeface="Arial"/>
                          <a:cs typeface="Arial"/>
                        </a:rPr>
                        <a:t>And</a:t>
                      </a:r>
                      <a:r>
                        <a:rPr lang="en-US" altLang="ko-KR" sz="900" spc="-15" dirty="0">
                          <a:latin typeface="Arial"/>
                          <a:cs typeface="Arial"/>
                        </a:rPr>
                        <a:t> </a:t>
                      </a:r>
                      <a:r>
                        <a:rPr lang="en-US" altLang="ko-KR" sz="900" dirty="0">
                          <a:latin typeface="Arial"/>
                          <a:cs typeface="Arial"/>
                        </a:rPr>
                        <a:t>this</a:t>
                      </a:r>
                      <a:r>
                        <a:rPr lang="en-US" altLang="ko-KR" sz="900" spc="-10" dirty="0">
                          <a:latin typeface="Arial"/>
                          <a:cs typeface="Arial"/>
                        </a:rPr>
                        <a:t> </a:t>
                      </a:r>
                      <a:r>
                        <a:rPr lang="en-US" altLang="ko-KR" sz="900" dirty="0">
                          <a:latin typeface="Arial"/>
                          <a:cs typeface="Arial"/>
                        </a:rPr>
                        <a:t>is</a:t>
                      </a:r>
                      <a:r>
                        <a:rPr lang="en-US" altLang="ko-KR" sz="900" spc="-5" dirty="0">
                          <a:latin typeface="Arial"/>
                          <a:cs typeface="Arial"/>
                        </a:rPr>
                        <a:t> </a:t>
                      </a:r>
                      <a:r>
                        <a:rPr lang="en-US" altLang="ko-KR" sz="900" dirty="0">
                          <a:latin typeface="Arial"/>
                          <a:cs typeface="Arial"/>
                        </a:rPr>
                        <a:t>needed</a:t>
                      </a:r>
                      <a:r>
                        <a:rPr lang="en-US" altLang="ko-KR" sz="900" spc="-35" dirty="0">
                          <a:latin typeface="Arial"/>
                          <a:cs typeface="Arial"/>
                        </a:rPr>
                        <a:t> </a:t>
                      </a:r>
                      <a:r>
                        <a:rPr lang="en-US" altLang="ko-KR" sz="900" dirty="0">
                          <a:latin typeface="Arial"/>
                          <a:cs typeface="Arial"/>
                        </a:rPr>
                        <a:t>to</a:t>
                      </a:r>
                      <a:r>
                        <a:rPr lang="en-US" altLang="ko-KR" sz="900" spc="-5" dirty="0">
                          <a:latin typeface="Arial"/>
                          <a:cs typeface="Arial"/>
                        </a:rPr>
                        <a:t> </a:t>
                      </a:r>
                      <a:r>
                        <a:rPr lang="en-US" altLang="ko-KR" sz="900" dirty="0">
                          <a:latin typeface="Arial"/>
                          <a:cs typeface="Arial"/>
                        </a:rPr>
                        <a:t>read</a:t>
                      </a:r>
                      <a:r>
                        <a:rPr lang="en-US" altLang="ko-KR" sz="900" spc="-15" dirty="0">
                          <a:latin typeface="Arial"/>
                          <a:cs typeface="Arial"/>
                        </a:rPr>
                        <a:t> </a:t>
                      </a:r>
                      <a:r>
                        <a:rPr lang="en-US" altLang="ko-KR" sz="900" dirty="0">
                          <a:latin typeface="Arial"/>
                          <a:cs typeface="Arial"/>
                        </a:rPr>
                        <a:t>each</a:t>
                      </a:r>
                      <a:r>
                        <a:rPr lang="en-US" altLang="ko-KR" sz="900" spc="-20" dirty="0">
                          <a:latin typeface="Arial"/>
                          <a:cs typeface="Arial"/>
                        </a:rPr>
                        <a:t> </a:t>
                      </a:r>
                      <a:r>
                        <a:rPr lang="en-US" altLang="ko-KR" sz="900" spc="-5" dirty="0">
                          <a:latin typeface="Arial"/>
                          <a:cs typeface="Arial"/>
                        </a:rPr>
                        <a:t>device’s</a:t>
                      </a:r>
                      <a:r>
                        <a:rPr lang="en-US" altLang="ko-KR" sz="900" spc="-25" dirty="0">
                          <a:latin typeface="Arial"/>
                          <a:cs typeface="Arial"/>
                        </a:rPr>
                        <a:t> </a:t>
                      </a:r>
                      <a:r>
                        <a:rPr lang="en-US" altLang="ko-KR" sz="900" dirty="0">
                          <a:latin typeface="Arial"/>
                          <a:cs typeface="Arial"/>
                        </a:rPr>
                        <a:t>register</a:t>
                      </a:r>
                      <a:r>
                        <a:rPr lang="en-US" altLang="ko-KR" sz="900" spc="-25" dirty="0">
                          <a:latin typeface="Arial"/>
                          <a:cs typeface="Arial"/>
                        </a:rPr>
                        <a:t> </a:t>
                      </a:r>
                      <a:r>
                        <a:rPr lang="en-US" altLang="ko-KR" sz="900" spc="-5" dirty="0">
                          <a:latin typeface="Arial"/>
                          <a:cs typeface="Arial"/>
                        </a:rPr>
                        <a:t>value</a:t>
                      </a:r>
                      <a:r>
                        <a:rPr lang="en-US" altLang="ko-KR" sz="900" spc="-10" dirty="0">
                          <a:latin typeface="Arial"/>
                          <a:cs typeface="Arial"/>
                        </a:rPr>
                        <a:t> </a:t>
                      </a:r>
                      <a:r>
                        <a:rPr lang="en-US" altLang="ko-KR" sz="900" dirty="0">
                          <a:latin typeface="Arial"/>
                          <a:cs typeface="Arial"/>
                        </a:rPr>
                        <a:t>in</a:t>
                      </a:r>
                      <a:r>
                        <a:rPr lang="en-US" altLang="ko-KR" sz="900" spc="-15" dirty="0">
                          <a:latin typeface="Arial"/>
                          <a:cs typeface="Arial"/>
                        </a:rPr>
                        <a:t> </a:t>
                      </a:r>
                      <a:r>
                        <a:rPr lang="en-US" altLang="ko-KR" sz="900" dirty="0">
                          <a:latin typeface="Arial"/>
                          <a:cs typeface="Arial"/>
                        </a:rPr>
                        <a:t>daisy</a:t>
                      </a:r>
                      <a:r>
                        <a:rPr lang="en-US" altLang="ko-KR" sz="900" spc="-20" dirty="0">
                          <a:latin typeface="Arial"/>
                          <a:cs typeface="Arial"/>
                        </a:rPr>
                        <a:t> </a:t>
                      </a:r>
                      <a:r>
                        <a:rPr lang="en-US" altLang="ko-KR" sz="900" dirty="0">
                          <a:latin typeface="Arial"/>
                          <a:cs typeface="Arial"/>
                        </a:rPr>
                        <a:t>connection.</a:t>
                      </a:r>
                      <a:endParaRPr lang="en-US" altLang="ko-KR" sz="900" b="0" dirty="0">
                        <a:solidFill>
                          <a:schemeClr val="tx1"/>
                        </a:solidFill>
                        <a:latin typeface="Arial"/>
                        <a:ea typeface="+mn-ea"/>
                        <a:cs typeface="Arial"/>
                      </a:endParaRPr>
                    </a:p>
                  </a:txBody>
                  <a:tcPr marL="0" marR="0" marT="36000" marB="0">
                    <a:lnL w="12700"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61280097"/>
                  </a:ext>
                </a:extLst>
              </a:tr>
              <a:tr h="242830">
                <a:tc>
                  <a:txBody>
                    <a:bodyPr/>
                    <a:lstStyle/>
                    <a:p>
                      <a:pPr marR="82550" algn="l">
                        <a:lnSpc>
                          <a:spcPct val="100000"/>
                        </a:lnSpc>
                        <a:spcBef>
                          <a:spcPts val="775"/>
                        </a:spcBef>
                      </a:pPr>
                      <a:r>
                        <a:rPr lang="en-US" sz="900" dirty="0">
                          <a:latin typeface="Arial"/>
                          <a:cs typeface="Arial"/>
                        </a:rPr>
                        <a:t>2</a:t>
                      </a:r>
                      <a:endParaRPr sz="900" dirty="0">
                        <a:latin typeface="Arial"/>
                        <a:cs typeface="Arial"/>
                      </a:endParaRPr>
                    </a:p>
                  </a:txBody>
                  <a:tcPr marL="0" marR="0" marT="36000" marB="0">
                    <a:lnL w="3175"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62230" marR="0" lvl="0" indent="0" algn="l" defTabSz="914400" eaLnBrk="1" fontAlgn="auto" latinLnBrk="0" hangingPunct="1">
                        <a:lnSpc>
                          <a:spcPct val="100000"/>
                        </a:lnSpc>
                        <a:spcBef>
                          <a:spcPts val="775"/>
                        </a:spcBef>
                        <a:spcAft>
                          <a:spcPts val="0"/>
                        </a:spcAft>
                        <a:buClrTx/>
                        <a:buSzTx/>
                        <a:buFontTx/>
                        <a:buNone/>
                        <a:tabLst/>
                        <a:defRPr/>
                      </a:pPr>
                      <a:r>
                        <a:rPr lang="en-US" altLang="ko-KR" sz="900" spc="-5" dirty="0">
                          <a:latin typeface="Arial"/>
                          <a:cs typeface="Arial"/>
                        </a:rPr>
                        <a:t>RST3</a:t>
                      </a:r>
                      <a:endParaRPr lang="en-US" altLang="ko-KR" sz="900" dirty="0">
                        <a:latin typeface="Arial"/>
                        <a:cs typeface="Arial"/>
                      </a:endParaRPr>
                    </a:p>
                  </a:txBody>
                  <a:tcPr marL="0" marR="0" marT="3600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dirty="0">
                          <a:latin typeface="Arial"/>
                          <a:cs typeface="Arial"/>
                        </a:rPr>
                        <a:t>Reset</a:t>
                      </a:r>
                      <a:r>
                        <a:rPr lang="en-US" altLang="ko-KR" sz="900" spc="-20" dirty="0">
                          <a:latin typeface="Arial"/>
                          <a:cs typeface="Arial"/>
                        </a:rPr>
                        <a:t> </a:t>
                      </a:r>
                      <a:r>
                        <a:rPr lang="en-US" altLang="ko-KR" sz="900" dirty="0">
                          <a:latin typeface="Arial"/>
                          <a:cs typeface="Arial"/>
                        </a:rPr>
                        <a:t>to</a:t>
                      </a:r>
                      <a:r>
                        <a:rPr lang="en-US" altLang="ko-KR" sz="900" spc="-15" dirty="0">
                          <a:latin typeface="Arial"/>
                          <a:cs typeface="Arial"/>
                        </a:rPr>
                        <a:t> </a:t>
                      </a:r>
                      <a:r>
                        <a:rPr lang="en-US" altLang="ko-KR" sz="900" spc="-5" dirty="0">
                          <a:latin typeface="Arial"/>
                          <a:cs typeface="Arial"/>
                        </a:rPr>
                        <a:t>only</a:t>
                      </a:r>
                      <a:r>
                        <a:rPr lang="en-US" altLang="ko-KR" sz="900" spc="-25" dirty="0">
                          <a:latin typeface="Arial"/>
                          <a:cs typeface="Arial"/>
                        </a:rPr>
                        <a:t> </a:t>
                      </a:r>
                      <a:r>
                        <a:rPr lang="en-US" altLang="ko-KR" sz="900" dirty="0">
                          <a:latin typeface="Arial"/>
                          <a:cs typeface="Arial"/>
                        </a:rPr>
                        <a:t>the</a:t>
                      </a:r>
                      <a:r>
                        <a:rPr lang="en-US" altLang="ko-KR" sz="900" spc="-15" dirty="0">
                          <a:latin typeface="Arial"/>
                          <a:cs typeface="Arial"/>
                        </a:rPr>
                        <a:t> </a:t>
                      </a:r>
                      <a:r>
                        <a:rPr lang="en-US" altLang="ko-KR" sz="900" dirty="0">
                          <a:latin typeface="Arial"/>
                          <a:cs typeface="Arial"/>
                        </a:rPr>
                        <a:t>frame</a:t>
                      </a:r>
                      <a:r>
                        <a:rPr lang="en-US" altLang="ko-KR" sz="900" spc="-15" dirty="0">
                          <a:latin typeface="Arial"/>
                          <a:cs typeface="Arial"/>
                        </a:rPr>
                        <a:t> </a:t>
                      </a:r>
                      <a:r>
                        <a:rPr lang="en-US" altLang="ko-KR" sz="900" dirty="0">
                          <a:latin typeface="Arial"/>
                          <a:cs typeface="Arial"/>
                        </a:rPr>
                        <a:t>buffers.</a:t>
                      </a:r>
                      <a:r>
                        <a:rPr lang="en-US" altLang="ko-KR" sz="900" spc="-30" dirty="0">
                          <a:latin typeface="Arial"/>
                          <a:cs typeface="Arial"/>
                        </a:rPr>
                        <a:t> </a:t>
                      </a:r>
                      <a:r>
                        <a:rPr lang="en-US" altLang="ko-KR" sz="900" dirty="0">
                          <a:latin typeface="Arial"/>
                          <a:cs typeface="Arial"/>
                        </a:rPr>
                        <a:t>Auto-cleared.</a:t>
                      </a:r>
                      <a:endParaRPr lang="en-US" altLang="ko-KR" sz="900" b="0" dirty="0">
                        <a:solidFill>
                          <a:schemeClr val="tx1"/>
                        </a:solidFill>
                        <a:latin typeface="Arial"/>
                        <a:ea typeface="+mn-ea"/>
                        <a:cs typeface="Arial"/>
                      </a:endParaRPr>
                    </a:p>
                  </a:txBody>
                  <a:tcPr marL="0" marR="0" marT="36000" marB="0">
                    <a:lnL w="12700"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34967678"/>
                  </a:ext>
                </a:extLst>
              </a:tr>
              <a:tr h="444078">
                <a:tc>
                  <a:txBody>
                    <a:bodyPr/>
                    <a:lstStyle/>
                    <a:p>
                      <a:pPr marR="82550" algn="l">
                        <a:lnSpc>
                          <a:spcPct val="100000"/>
                        </a:lnSpc>
                        <a:spcBef>
                          <a:spcPts val="775"/>
                        </a:spcBef>
                      </a:pPr>
                      <a:r>
                        <a:rPr lang="en-US" sz="900" dirty="0">
                          <a:latin typeface="Arial"/>
                          <a:cs typeface="Arial"/>
                        </a:rPr>
                        <a:t>1</a:t>
                      </a:r>
                      <a:endParaRPr sz="900" dirty="0">
                        <a:latin typeface="Arial"/>
                        <a:cs typeface="Arial"/>
                      </a:endParaRPr>
                    </a:p>
                  </a:txBody>
                  <a:tcPr marL="0" marR="0" marT="36000" marB="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62230" marR="0" lvl="0" indent="0" algn="l" defTabSz="914400" eaLnBrk="1" fontAlgn="auto" latinLnBrk="0" hangingPunct="1">
                        <a:lnSpc>
                          <a:spcPct val="100000"/>
                        </a:lnSpc>
                        <a:spcBef>
                          <a:spcPts val="775"/>
                        </a:spcBef>
                        <a:spcAft>
                          <a:spcPts val="0"/>
                        </a:spcAft>
                        <a:buClrTx/>
                        <a:buSzTx/>
                        <a:buFontTx/>
                        <a:buNone/>
                        <a:tabLst/>
                        <a:defRPr/>
                      </a:pPr>
                      <a:r>
                        <a:rPr lang="en-US" altLang="ko-KR" sz="900" spc="-5" dirty="0">
                          <a:latin typeface="Arial"/>
                          <a:cs typeface="Arial"/>
                        </a:rPr>
                        <a:t>RST2</a:t>
                      </a:r>
                      <a:endParaRPr lang="en-US" altLang="ko-KR" sz="900" dirty="0">
                        <a:latin typeface="Arial"/>
                        <a:cs typeface="Arial"/>
                      </a:endParaRPr>
                    </a:p>
                  </a:txBody>
                  <a:tcPr marL="0" marR="0" marT="3600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dirty="0">
                          <a:latin typeface="Arial"/>
                          <a:cs typeface="Arial"/>
                        </a:rPr>
                        <a:t>Reset</a:t>
                      </a:r>
                      <a:r>
                        <a:rPr lang="en-US" altLang="ko-KR" sz="900" spc="-10" dirty="0">
                          <a:latin typeface="Arial"/>
                          <a:cs typeface="Arial"/>
                        </a:rPr>
                        <a:t> </a:t>
                      </a:r>
                      <a:r>
                        <a:rPr lang="en-US" altLang="ko-KR" sz="900" dirty="0">
                          <a:latin typeface="Arial"/>
                          <a:cs typeface="Arial"/>
                        </a:rPr>
                        <a:t>to</a:t>
                      </a:r>
                      <a:r>
                        <a:rPr lang="en-US" altLang="ko-KR" sz="900" spc="-10" dirty="0">
                          <a:latin typeface="Arial"/>
                          <a:cs typeface="Arial"/>
                        </a:rPr>
                        <a:t> </a:t>
                      </a:r>
                      <a:r>
                        <a:rPr lang="en-US" altLang="ko-KR" sz="900" dirty="0">
                          <a:latin typeface="Arial"/>
                          <a:cs typeface="Arial"/>
                        </a:rPr>
                        <a:t>the</a:t>
                      </a:r>
                      <a:r>
                        <a:rPr lang="en-US" altLang="ko-KR" sz="900" spc="-10" dirty="0">
                          <a:latin typeface="Arial"/>
                          <a:cs typeface="Arial"/>
                        </a:rPr>
                        <a:t> </a:t>
                      </a:r>
                      <a:r>
                        <a:rPr lang="en-US" altLang="ko-KR" sz="900" spc="-5" dirty="0">
                          <a:latin typeface="Arial"/>
                          <a:cs typeface="Arial"/>
                        </a:rPr>
                        <a:t>internal</a:t>
                      </a:r>
                      <a:r>
                        <a:rPr lang="en-US" altLang="ko-KR" sz="900" spc="-20" dirty="0">
                          <a:latin typeface="Arial"/>
                          <a:cs typeface="Arial"/>
                        </a:rPr>
                        <a:t> </a:t>
                      </a:r>
                      <a:r>
                        <a:rPr lang="en-US" altLang="ko-KR" sz="900" dirty="0">
                          <a:latin typeface="Arial"/>
                          <a:cs typeface="Arial"/>
                        </a:rPr>
                        <a:t>state</a:t>
                      </a:r>
                      <a:r>
                        <a:rPr lang="en-US" altLang="ko-KR" sz="900" spc="-20" dirty="0">
                          <a:latin typeface="Arial"/>
                          <a:cs typeface="Arial"/>
                        </a:rPr>
                        <a:t> </a:t>
                      </a:r>
                      <a:r>
                        <a:rPr lang="en-US" altLang="ko-KR" sz="900" dirty="0">
                          <a:latin typeface="Arial"/>
                          <a:cs typeface="Arial"/>
                        </a:rPr>
                        <a:t>machines</a:t>
                      </a:r>
                      <a:r>
                        <a:rPr lang="en-US" altLang="ko-KR" sz="900" spc="-30" dirty="0">
                          <a:latin typeface="Arial"/>
                          <a:cs typeface="Arial"/>
                        </a:rPr>
                        <a:t> </a:t>
                      </a:r>
                      <a:r>
                        <a:rPr lang="en-US" altLang="ko-KR" sz="900" spc="-5" dirty="0">
                          <a:latin typeface="Arial"/>
                          <a:cs typeface="Arial"/>
                        </a:rPr>
                        <a:t>and</a:t>
                      </a:r>
                      <a:r>
                        <a:rPr lang="en-US" altLang="ko-KR" sz="900" spc="-10" dirty="0">
                          <a:latin typeface="Arial"/>
                          <a:cs typeface="Arial"/>
                        </a:rPr>
                        <a:t> </a:t>
                      </a:r>
                      <a:r>
                        <a:rPr lang="en-US" altLang="ko-KR" sz="900" dirty="0">
                          <a:latin typeface="Arial"/>
                          <a:cs typeface="Arial"/>
                        </a:rPr>
                        <a:t>the</a:t>
                      </a:r>
                      <a:r>
                        <a:rPr lang="en-US" altLang="ko-KR" sz="900" spc="-10" dirty="0">
                          <a:latin typeface="Arial"/>
                          <a:cs typeface="Arial"/>
                        </a:rPr>
                        <a:t> </a:t>
                      </a:r>
                      <a:r>
                        <a:rPr lang="en-US" altLang="ko-KR" sz="900" dirty="0">
                          <a:latin typeface="Arial"/>
                          <a:cs typeface="Arial"/>
                        </a:rPr>
                        <a:t>frame</a:t>
                      </a:r>
                      <a:r>
                        <a:rPr lang="en-US" altLang="ko-KR" sz="900" spc="-15" dirty="0">
                          <a:latin typeface="Arial"/>
                          <a:cs typeface="Arial"/>
                        </a:rPr>
                        <a:t> </a:t>
                      </a:r>
                      <a:r>
                        <a:rPr lang="en-US" altLang="ko-KR" sz="900" dirty="0">
                          <a:latin typeface="Arial"/>
                          <a:cs typeface="Arial"/>
                        </a:rPr>
                        <a:t>buffers</a:t>
                      </a:r>
                      <a:r>
                        <a:rPr lang="en-US" altLang="ko-KR" sz="900" spc="-20" dirty="0">
                          <a:latin typeface="Arial"/>
                          <a:cs typeface="Arial"/>
                        </a:rPr>
                        <a:t> </a:t>
                      </a:r>
                      <a:r>
                        <a:rPr lang="en-US" altLang="ko-KR" sz="900" spc="-5" dirty="0">
                          <a:latin typeface="Arial"/>
                          <a:cs typeface="Arial"/>
                        </a:rPr>
                        <a:t>(except</a:t>
                      </a:r>
                      <a:r>
                        <a:rPr lang="en-US" altLang="ko-KR" sz="900" dirty="0">
                          <a:latin typeface="Arial"/>
                          <a:cs typeface="Arial"/>
                        </a:rPr>
                        <a:t> for</a:t>
                      </a:r>
                      <a:r>
                        <a:rPr lang="en-US" altLang="ko-KR" sz="900" spc="-10" dirty="0">
                          <a:latin typeface="Arial"/>
                          <a:cs typeface="Arial"/>
                        </a:rPr>
                        <a:t> </a:t>
                      </a:r>
                      <a:r>
                        <a:rPr lang="en-US" altLang="ko-KR" sz="900" dirty="0">
                          <a:latin typeface="Arial"/>
                          <a:cs typeface="Arial"/>
                        </a:rPr>
                        <a:t>registers), </a:t>
                      </a:r>
                      <a:r>
                        <a:rPr lang="en-US" altLang="ko-KR" sz="900" spc="-235" dirty="0">
                          <a:latin typeface="Arial"/>
                          <a:cs typeface="Arial"/>
                        </a:rPr>
                        <a:t> </a:t>
                      </a:r>
                      <a:r>
                        <a:rPr lang="en-US" altLang="ko-KR" sz="900" dirty="0">
                          <a:latin typeface="Arial"/>
                          <a:cs typeface="Arial"/>
                        </a:rPr>
                        <a:t>Auto-cleared.</a:t>
                      </a:r>
                      <a:endParaRPr lang="en-US" altLang="ko-KR" sz="900" b="0" dirty="0">
                        <a:solidFill>
                          <a:schemeClr val="tx1"/>
                        </a:solidFill>
                        <a:latin typeface="Arial"/>
                        <a:ea typeface="+mn-ea"/>
                        <a:cs typeface="Arial"/>
                      </a:endParaRPr>
                    </a:p>
                  </a:txBody>
                  <a:tcPr marL="0" marR="0" marT="36000" marB="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73383762"/>
                  </a:ext>
                </a:extLst>
              </a:tr>
              <a:tr h="242830">
                <a:tc>
                  <a:txBody>
                    <a:bodyPr/>
                    <a:lstStyle/>
                    <a:p>
                      <a:pPr marR="82550" algn="l">
                        <a:lnSpc>
                          <a:spcPct val="100000"/>
                        </a:lnSpc>
                        <a:spcBef>
                          <a:spcPts val="775"/>
                        </a:spcBef>
                      </a:pPr>
                      <a:r>
                        <a:rPr lang="en-US" sz="900" dirty="0">
                          <a:latin typeface="Arial"/>
                          <a:cs typeface="Arial"/>
                        </a:rPr>
                        <a:t>0</a:t>
                      </a:r>
                      <a:endParaRPr sz="900" dirty="0">
                        <a:latin typeface="Arial"/>
                        <a:cs typeface="Arial"/>
                      </a:endParaRPr>
                    </a:p>
                  </a:txBody>
                  <a:tcPr marL="0" marR="0" marT="36000" marB="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62230" marR="0" lvl="0" indent="0" algn="l" defTabSz="914400" eaLnBrk="1" fontAlgn="auto" latinLnBrk="0" hangingPunct="1">
                        <a:lnSpc>
                          <a:spcPct val="100000"/>
                        </a:lnSpc>
                        <a:spcBef>
                          <a:spcPts val="775"/>
                        </a:spcBef>
                        <a:spcAft>
                          <a:spcPts val="0"/>
                        </a:spcAft>
                        <a:buClrTx/>
                        <a:buSzTx/>
                        <a:buFontTx/>
                        <a:buNone/>
                        <a:tabLst/>
                        <a:defRPr/>
                      </a:pPr>
                      <a:r>
                        <a:rPr lang="en-US" altLang="ko-KR" sz="900" spc="-5" dirty="0">
                          <a:latin typeface="Arial"/>
                          <a:cs typeface="Arial"/>
                        </a:rPr>
                        <a:t>RST1</a:t>
                      </a:r>
                      <a:endParaRPr lang="en-US" altLang="ko-KR" sz="900" dirty="0">
                        <a:latin typeface="Arial"/>
                        <a:cs typeface="Arial"/>
                      </a:endParaRPr>
                    </a:p>
                  </a:txBody>
                  <a:tcPr marL="0" marR="0" marT="3600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dirty="0">
                          <a:latin typeface="Arial"/>
                          <a:cs typeface="Arial"/>
                        </a:rPr>
                        <a:t>Reset</a:t>
                      </a:r>
                      <a:r>
                        <a:rPr lang="en-US" altLang="ko-KR" sz="900" spc="-20" dirty="0">
                          <a:latin typeface="Arial"/>
                          <a:cs typeface="Arial"/>
                        </a:rPr>
                        <a:t> </a:t>
                      </a:r>
                      <a:r>
                        <a:rPr lang="en-US" altLang="ko-KR" sz="900" dirty="0">
                          <a:latin typeface="Arial"/>
                          <a:cs typeface="Arial"/>
                        </a:rPr>
                        <a:t>to</a:t>
                      </a:r>
                      <a:r>
                        <a:rPr lang="en-US" altLang="ko-KR" sz="900" spc="-20" dirty="0">
                          <a:latin typeface="Arial"/>
                          <a:cs typeface="Arial"/>
                        </a:rPr>
                        <a:t> </a:t>
                      </a:r>
                      <a:r>
                        <a:rPr lang="en-US" altLang="ko-KR" sz="900" spc="-5" dirty="0">
                          <a:latin typeface="Arial"/>
                          <a:cs typeface="Arial"/>
                        </a:rPr>
                        <a:t>all</a:t>
                      </a:r>
                      <a:r>
                        <a:rPr lang="en-US" altLang="ko-KR" sz="900" spc="-20" dirty="0">
                          <a:latin typeface="Arial"/>
                          <a:cs typeface="Arial"/>
                        </a:rPr>
                        <a:t> </a:t>
                      </a:r>
                      <a:r>
                        <a:rPr lang="en-US" altLang="ko-KR" sz="900" dirty="0">
                          <a:latin typeface="Arial"/>
                          <a:cs typeface="Arial"/>
                        </a:rPr>
                        <a:t>logics,</a:t>
                      </a:r>
                      <a:r>
                        <a:rPr lang="en-US" altLang="ko-KR" sz="900" spc="-40" dirty="0">
                          <a:latin typeface="Arial"/>
                          <a:cs typeface="Arial"/>
                        </a:rPr>
                        <a:t> </a:t>
                      </a:r>
                      <a:r>
                        <a:rPr lang="en-US" altLang="ko-KR" sz="900" dirty="0">
                          <a:latin typeface="Arial"/>
                          <a:cs typeface="Arial"/>
                        </a:rPr>
                        <a:t>Not</a:t>
                      </a:r>
                      <a:r>
                        <a:rPr lang="en-US" altLang="ko-KR" sz="900" spc="-10" dirty="0">
                          <a:latin typeface="Arial"/>
                          <a:cs typeface="Arial"/>
                        </a:rPr>
                        <a:t> </a:t>
                      </a:r>
                      <a:r>
                        <a:rPr lang="en-US" altLang="ko-KR" sz="900" dirty="0">
                          <a:latin typeface="Arial"/>
                          <a:cs typeface="Arial"/>
                        </a:rPr>
                        <a:t>Auto-cleared.</a:t>
                      </a:r>
                      <a:endParaRPr lang="en-US" altLang="ko-KR" sz="900" b="0" dirty="0">
                        <a:solidFill>
                          <a:schemeClr val="tx1"/>
                        </a:solidFill>
                        <a:latin typeface="Arial"/>
                        <a:ea typeface="+mn-ea"/>
                        <a:cs typeface="Arial"/>
                      </a:endParaRPr>
                    </a:p>
                  </a:txBody>
                  <a:tcPr marL="0" marR="0" marT="36000" marB="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52320658"/>
                  </a:ext>
                </a:extLst>
              </a:tr>
            </a:tbl>
          </a:graphicData>
        </a:graphic>
      </p:graphicFrame>
      <p:sp>
        <p:nvSpPr>
          <p:cNvPr id="11" name="object 9">
            <a:extLst>
              <a:ext uri="{FF2B5EF4-FFF2-40B4-BE49-F238E27FC236}">
                <a16:creationId xmlns:a16="http://schemas.microsoft.com/office/drawing/2014/main" id="{C01ACDF3-E67D-28E7-DCB7-387FF8FC2C72}"/>
              </a:ext>
            </a:extLst>
          </p:cNvPr>
          <p:cNvSpPr txBox="1"/>
          <p:nvPr/>
        </p:nvSpPr>
        <p:spPr>
          <a:xfrm>
            <a:off x="304800" y="9067800"/>
            <a:ext cx="2078355" cy="289823"/>
          </a:xfrm>
          <a:prstGeom prst="rect">
            <a:avLst/>
          </a:prstGeom>
        </p:spPr>
        <p:txBody>
          <a:bodyPr vert="horz" wrap="square" lIns="0" tIns="12700" rIns="0" bIns="0" rtlCol="0">
            <a:spAutoFit/>
          </a:bodyPr>
          <a:lstStyle/>
          <a:p>
            <a:pPr marL="12700">
              <a:lnSpc>
                <a:spcPct val="100000"/>
              </a:lnSpc>
              <a:spcBef>
                <a:spcPts val="100"/>
              </a:spcBef>
            </a:pPr>
            <a:r>
              <a:rPr b="1" spc="-5" dirty="0">
                <a:solidFill>
                  <a:srgbClr val="FF0000"/>
                </a:solidFill>
                <a:cs typeface="Perpetua Titling MT"/>
              </a:rPr>
              <a:t>CONFIDENTIAL</a:t>
            </a:r>
            <a:endParaRPr dirty="0">
              <a:cs typeface="Perpetua Titling MT"/>
            </a:endParaRPr>
          </a:p>
        </p:txBody>
      </p:sp>
      <p:sp>
        <p:nvSpPr>
          <p:cNvPr id="17" name="object 6">
            <a:extLst>
              <a:ext uri="{FF2B5EF4-FFF2-40B4-BE49-F238E27FC236}">
                <a16:creationId xmlns:a16="http://schemas.microsoft.com/office/drawing/2014/main" id="{A441BD03-B82E-2905-AC8D-136FD2CE50DA}"/>
              </a:ext>
            </a:extLst>
          </p:cNvPr>
          <p:cNvSpPr/>
          <p:nvPr/>
        </p:nvSpPr>
        <p:spPr>
          <a:xfrm>
            <a:off x="301676" y="9458756"/>
            <a:ext cx="6246495" cy="0"/>
          </a:xfrm>
          <a:custGeom>
            <a:avLst/>
            <a:gdLst/>
            <a:ahLst/>
            <a:cxnLst/>
            <a:rect l="l" t="t" r="r" b="b"/>
            <a:pathLst>
              <a:path w="6246495">
                <a:moveTo>
                  <a:pt x="0" y="0"/>
                </a:moveTo>
                <a:lnTo>
                  <a:pt x="6245999" y="0"/>
                </a:lnTo>
              </a:path>
            </a:pathLst>
          </a:custGeom>
          <a:ln w="25920">
            <a:solidFill>
              <a:srgbClr val="BFBFBF"/>
            </a:solidFill>
          </a:ln>
        </p:spPr>
        <p:txBody>
          <a:bodyPr wrap="square" lIns="0" tIns="0" rIns="0" bIns="0" rtlCol="0"/>
          <a:lstStyle/>
          <a:p>
            <a:endParaRPr/>
          </a:p>
        </p:txBody>
      </p:sp>
      <p:sp>
        <p:nvSpPr>
          <p:cNvPr id="18" name="슬라이드 번호 개체 틀 3">
            <a:hlinkClick r:id="rId2"/>
            <a:extLst>
              <a:ext uri="{FF2B5EF4-FFF2-40B4-BE49-F238E27FC236}">
                <a16:creationId xmlns:a16="http://schemas.microsoft.com/office/drawing/2014/main" id="{A54319EF-7C62-00FF-CC90-3C8CF7CD3C06}"/>
              </a:ext>
            </a:extLst>
          </p:cNvPr>
          <p:cNvSpPr txBox="1">
            <a:spLocks/>
          </p:cNvSpPr>
          <p:nvPr/>
        </p:nvSpPr>
        <p:spPr>
          <a:xfrm>
            <a:off x="5151602" y="9452864"/>
            <a:ext cx="1487550"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dirty="0">
                <a:solidFill>
                  <a:prstClr val="black"/>
                </a:solidFill>
                <a:latin typeface="Arial" panose="020B0604020202020204" pitchFamily="34" charset="0"/>
                <a:cs typeface="Arial" panose="020B0604020202020204" pitchFamily="34" charset="0"/>
              </a:rPr>
              <a:t>http://www.glbltech.com/</a:t>
            </a:r>
            <a:endParaRPr lang="ko-KR" altLang="en-US" dirty="0">
              <a:solidFill>
                <a:prstClr val="black"/>
              </a:solidFill>
              <a:latin typeface="Arial" panose="020B0604020202020204" pitchFamily="34" charset="0"/>
              <a:cs typeface="Arial" panose="020B0604020202020204" pitchFamily="34" charset="0"/>
            </a:endParaRPr>
          </a:p>
        </p:txBody>
      </p:sp>
      <p:sp>
        <p:nvSpPr>
          <p:cNvPr id="19" name="object 38">
            <a:extLst>
              <a:ext uri="{FF2B5EF4-FFF2-40B4-BE49-F238E27FC236}">
                <a16:creationId xmlns:a16="http://schemas.microsoft.com/office/drawing/2014/main" id="{15F562E2-7895-D90A-7770-5DE9F2E43190}"/>
              </a:ext>
            </a:extLst>
          </p:cNvPr>
          <p:cNvSpPr txBox="1">
            <a:spLocks/>
          </p:cNvSpPr>
          <p:nvPr/>
        </p:nvSpPr>
        <p:spPr>
          <a:xfrm>
            <a:off x="3309066" y="9547988"/>
            <a:ext cx="487045" cy="139141"/>
          </a:xfrm>
          <a:prstGeom prst="rect">
            <a:avLst/>
          </a:prstGeom>
        </p:spPr>
        <p:txBody>
          <a:bodyPr vert="horz" wrap="square" lIns="0" tIns="635" rIns="0" bIns="0" rtlCol="0">
            <a:spAutoFit/>
          </a:bodyPr>
          <a:lstStyle>
            <a:defPPr>
              <a:defRPr lang="ko-KR"/>
            </a:defPPr>
            <a:lvl1pPr marL="0" algn="l" defTabSz="914400" rtl="0" eaLnBrk="1" latinLnBrk="1" hangingPunct="1">
              <a:defRPr sz="1050" b="0" i="0" kern="1200">
                <a:solidFill>
                  <a:schemeClr val="tx1"/>
                </a:solidFill>
                <a:latin typeface="Arial"/>
                <a:ea typeface="+mn-ea"/>
                <a:cs typeface="Arial"/>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marL="12700">
              <a:spcBef>
                <a:spcPts val="5"/>
              </a:spcBef>
              <a:defRPr/>
            </a:pPr>
            <a:r>
              <a:rPr lang="en-US" sz="900" dirty="0">
                <a:solidFill>
                  <a:prstClr val="black"/>
                </a:solidFill>
              </a:rPr>
              <a:t>Page</a:t>
            </a:r>
            <a:r>
              <a:rPr lang="en-US" sz="900" spc="-60" dirty="0">
                <a:solidFill>
                  <a:prstClr val="black"/>
                </a:solidFill>
              </a:rPr>
              <a:t> </a:t>
            </a:r>
            <a:fld id="{81D60167-4931-47E6-BA6A-407CBD079E47}" type="slidenum">
              <a:rPr sz="900">
                <a:solidFill>
                  <a:prstClr val="black"/>
                </a:solidFill>
              </a:rPr>
              <a:pPr marL="12700">
                <a:spcBef>
                  <a:spcPts val="5"/>
                </a:spcBef>
                <a:defRPr/>
              </a:pPr>
              <a:t>30</a:t>
            </a:fld>
            <a:endParaRPr sz="900" dirty="0">
              <a:solidFill>
                <a:prstClr val="black"/>
              </a:solidFill>
            </a:endParaRPr>
          </a:p>
        </p:txBody>
      </p:sp>
      <p:sp>
        <p:nvSpPr>
          <p:cNvPr id="20" name="슬라이드 번호 개체 틀 3">
            <a:extLst>
              <a:ext uri="{FF2B5EF4-FFF2-40B4-BE49-F238E27FC236}">
                <a16:creationId xmlns:a16="http://schemas.microsoft.com/office/drawing/2014/main" id="{05F4AAE5-598A-444D-45AA-0F2EB1AC0D5C}"/>
              </a:ext>
            </a:extLst>
          </p:cNvPr>
          <p:cNvSpPr txBox="1">
            <a:spLocks/>
          </p:cNvSpPr>
          <p:nvPr/>
        </p:nvSpPr>
        <p:spPr>
          <a:xfrm>
            <a:off x="299401" y="9520856"/>
            <a:ext cx="2060991" cy="175259"/>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lang="en-US" altLang="ko-KR" dirty="0">
                <a:solidFill>
                  <a:prstClr val="black"/>
                </a:solidFill>
                <a:latin typeface="Arial" panose="020B0604020202020204" pitchFamily="34" charset="0"/>
                <a:cs typeface="Arial" panose="020B0604020202020204" pitchFamily="34" charset="0"/>
              </a:rPr>
              <a:t>Dated 30-Nov 23  Rev. 01</a:t>
            </a:r>
            <a:endParaRPr lang="ko-KR" altLang="en-US" dirty="0">
              <a:solidFill>
                <a:prstClr val="black"/>
              </a:solidFill>
              <a:latin typeface="Arial" panose="020B0604020202020204" pitchFamily="34" charset="0"/>
              <a:cs typeface="Arial" panose="020B0604020202020204" pitchFamily="34" charset="0"/>
            </a:endParaRPr>
          </a:p>
        </p:txBody>
      </p:sp>
      <p:sp>
        <p:nvSpPr>
          <p:cNvPr id="21" name="Holder 3">
            <a:extLst>
              <a:ext uri="{FF2B5EF4-FFF2-40B4-BE49-F238E27FC236}">
                <a16:creationId xmlns:a16="http://schemas.microsoft.com/office/drawing/2014/main" id="{449D0531-43D7-988F-A177-C199B7D5E985}"/>
              </a:ext>
            </a:extLst>
          </p:cNvPr>
          <p:cNvSpPr txBox="1">
            <a:spLocks/>
          </p:cNvSpPr>
          <p:nvPr/>
        </p:nvSpPr>
        <p:spPr>
          <a:xfrm>
            <a:off x="5147476" y="203944"/>
            <a:ext cx="1447800" cy="276999"/>
          </a:xfrm>
          <a:prstGeom prst="rect">
            <a:avLst/>
          </a:prstGeom>
        </p:spPr>
        <p:txBody>
          <a:bodyPr wrap="square" lIns="0" tIns="0" rIns="0" bIns="0">
            <a:spAutoFit/>
          </a:bodyPr>
          <a:lstStyle>
            <a:lvl1pPr marL="0">
              <a:defRPr>
                <a:solidFill>
                  <a:srgbClr val="FF99FF"/>
                </a:solidFill>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defTabSz="914400" latinLnBrk="0"/>
            <a:r>
              <a:rPr lang="en-US" sz="1800" kern="0" dirty="0"/>
              <a:t>&lt;Preliminary&gt;</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p:nvPr/>
        </p:nvSpPr>
        <p:spPr>
          <a:xfrm>
            <a:off x="400913" y="301879"/>
            <a:ext cx="622935" cy="299720"/>
          </a:xfrm>
          <a:prstGeom prst="rect">
            <a:avLst/>
          </a:prstGeom>
        </p:spPr>
        <p:txBody>
          <a:bodyPr vert="horz" wrap="square" lIns="0" tIns="12700" rIns="0" bIns="0" rtlCol="0">
            <a:spAutoFit/>
          </a:bodyPr>
          <a:lstStyle/>
          <a:p>
            <a:pPr marL="12700">
              <a:lnSpc>
                <a:spcPct val="100000"/>
              </a:lnSpc>
              <a:spcBef>
                <a:spcPts val="100"/>
              </a:spcBef>
            </a:pPr>
            <a:r>
              <a:rPr sz="1800" b="1" spc="-5" dirty="0">
                <a:latin typeface="Arial"/>
                <a:cs typeface="Arial"/>
              </a:rPr>
              <a:t>CQ24</a:t>
            </a:r>
            <a:endParaRPr sz="1800" dirty="0">
              <a:latin typeface="Arial"/>
              <a:cs typeface="Arial"/>
            </a:endParaRPr>
          </a:p>
        </p:txBody>
      </p:sp>
      <p:graphicFrame>
        <p:nvGraphicFramePr>
          <p:cNvPr id="5" name="object 5"/>
          <p:cNvGraphicFramePr>
            <a:graphicFrameLocks noGrp="1"/>
          </p:cNvGraphicFramePr>
          <p:nvPr>
            <p:extLst>
              <p:ext uri="{D42A27DB-BD31-4B8C-83A1-F6EECF244321}">
                <p14:modId xmlns:p14="http://schemas.microsoft.com/office/powerpoint/2010/main" val="3579162995"/>
              </p:ext>
            </p:extLst>
          </p:nvPr>
        </p:nvGraphicFramePr>
        <p:xfrm>
          <a:off x="400913" y="1172781"/>
          <a:ext cx="6038540" cy="372110"/>
        </p:xfrm>
        <a:graphic>
          <a:graphicData uri="http://schemas.openxmlformats.org/drawingml/2006/table">
            <a:tbl>
              <a:tblPr firstRow="1" bandRow="1">
                <a:tableStyleId>{2D5ABB26-0587-4C30-8999-92F81FD0307C}</a:tableStyleId>
              </a:tblPr>
              <a:tblGrid>
                <a:gridCol w="401815">
                  <a:extLst>
                    <a:ext uri="{9D8B030D-6E8A-4147-A177-3AD203B41FA5}">
                      <a16:colId xmlns:a16="http://schemas.microsoft.com/office/drawing/2014/main" val="20000"/>
                    </a:ext>
                  </a:extLst>
                </a:gridCol>
                <a:gridCol w="459666">
                  <a:extLst>
                    <a:ext uri="{9D8B030D-6E8A-4147-A177-3AD203B41FA5}">
                      <a16:colId xmlns:a16="http://schemas.microsoft.com/office/drawing/2014/main" val="20001"/>
                    </a:ext>
                  </a:extLst>
                </a:gridCol>
                <a:gridCol w="523806">
                  <a:extLst>
                    <a:ext uri="{9D8B030D-6E8A-4147-A177-3AD203B41FA5}">
                      <a16:colId xmlns:a16="http://schemas.microsoft.com/office/drawing/2014/main" val="20002"/>
                    </a:ext>
                  </a:extLst>
                </a:gridCol>
                <a:gridCol w="617499">
                  <a:extLst>
                    <a:ext uri="{9D8B030D-6E8A-4147-A177-3AD203B41FA5}">
                      <a16:colId xmlns:a16="http://schemas.microsoft.com/office/drawing/2014/main" val="20003"/>
                    </a:ext>
                  </a:extLst>
                </a:gridCol>
                <a:gridCol w="797970">
                  <a:extLst>
                    <a:ext uri="{9D8B030D-6E8A-4147-A177-3AD203B41FA5}">
                      <a16:colId xmlns:a16="http://schemas.microsoft.com/office/drawing/2014/main" val="20004"/>
                    </a:ext>
                  </a:extLst>
                </a:gridCol>
                <a:gridCol w="785393">
                  <a:extLst>
                    <a:ext uri="{9D8B030D-6E8A-4147-A177-3AD203B41FA5}">
                      <a16:colId xmlns:a16="http://schemas.microsoft.com/office/drawing/2014/main" val="20005"/>
                    </a:ext>
                  </a:extLst>
                </a:gridCol>
                <a:gridCol w="262217">
                  <a:extLst>
                    <a:ext uri="{9D8B030D-6E8A-4147-A177-3AD203B41FA5}">
                      <a16:colId xmlns:a16="http://schemas.microsoft.com/office/drawing/2014/main" val="20006"/>
                    </a:ext>
                  </a:extLst>
                </a:gridCol>
                <a:gridCol w="262217">
                  <a:extLst>
                    <a:ext uri="{9D8B030D-6E8A-4147-A177-3AD203B41FA5}">
                      <a16:colId xmlns:a16="http://schemas.microsoft.com/office/drawing/2014/main" val="20007"/>
                    </a:ext>
                  </a:extLst>
                </a:gridCol>
                <a:gridCol w="542042">
                  <a:extLst>
                    <a:ext uri="{9D8B030D-6E8A-4147-A177-3AD203B41FA5}">
                      <a16:colId xmlns:a16="http://schemas.microsoft.com/office/drawing/2014/main" val="20008"/>
                    </a:ext>
                  </a:extLst>
                </a:gridCol>
                <a:gridCol w="262217">
                  <a:extLst>
                    <a:ext uri="{9D8B030D-6E8A-4147-A177-3AD203B41FA5}">
                      <a16:colId xmlns:a16="http://schemas.microsoft.com/office/drawing/2014/main" val="20009"/>
                    </a:ext>
                  </a:extLst>
                </a:gridCol>
                <a:gridCol w="262217">
                  <a:extLst>
                    <a:ext uri="{9D8B030D-6E8A-4147-A177-3AD203B41FA5}">
                      <a16:colId xmlns:a16="http://schemas.microsoft.com/office/drawing/2014/main" val="20010"/>
                    </a:ext>
                  </a:extLst>
                </a:gridCol>
                <a:gridCol w="262217">
                  <a:extLst>
                    <a:ext uri="{9D8B030D-6E8A-4147-A177-3AD203B41FA5}">
                      <a16:colId xmlns:a16="http://schemas.microsoft.com/office/drawing/2014/main" val="20011"/>
                    </a:ext>
                  </a:extLst>
                </a:gridCol>
                <a:gridCol w="599264">
                  <a:extLst>
                    <a:ext uri="{9D8B030D-6E8A-4147-A177-3AD203B41FA5}">
                      <a16:colId xmlns:a16="http://schemas.microsoft.com/office/drawing/2014/main" val="20012"/>
                    </a:ext>
                  </a:extLst>
                </a:gridCol>
              </a:tblGrid>
              <a:tr h="193675">
                <a:tc>
                  <a:txBody>
                    <a:bodyPr/>
                    <a:lstStyle/>
                    <a:p>
                      <a:pPr marL="67945">
                        <a:lnSpc>
                          <a:spcPct val="100000"/>
                        </a:lnSpc>
                        <a:spcBef>
                          <a:spcPts val="265"/>
                        </a:spcBef>
                      </a:pPr>
                      <a:r>
                        <a:rPr sz="800" dirty="0">
                          <a:latin typeface="Arial"/>
                          <a:cs typeface="Arial"/>
                        </a:rPr>
                        <a:t>A[1:0]</a:t>
                      </a: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algn="ctr">
                        <a:lnSpc>
                          <a:spcPct val="100000"/>
                        </a:lnSpc>
                        <a:spcBef>
                          <a:spcPts val="265"/>
                        </a:spcBef>
                      </a:pPr>
                      <a:r>
                        <a:rPr sz="800" spc="-5" dirty="0">
                          <a:latin typeface="Arial"/>
                          <a:cs typeface="Arial"/>
                        </a:rPr>
                        <a:t>Default</a:t>
                      </a:r>
                      <a:endParaRPr sz="8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algn="ctr">
                        <a:lnSpc>
                          <a:spcPct val="100000"/>
                        </a:lnSpc>
                        <a:spcBef>
                          <a:spcPts val="265"/>
                        </a:spcBef>
                      </a:pPr>
                      <a:r>
                        <a:rPr sz="800" spc="-5" dirty="0">
                          <a:latin typeface="Arial"/>
                          <a:cs typeface="Arial"/>
                        </a:rPr>
                        <a:t>D10</a:t>
                      </a:r>
                      <a:endParaRPr sz="8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algn="ctr">
                        <a:lnSpc>
                          <a:spcPct val="100000"/>
                        </a:lnSpc>
                        <a:spcBef>
                          <a:spcPts val="265"/>
                        </a:spcBef>
                      </a:pPr>
                      <a:r>
                        <a:rPr sz="800" spc="-5" dirty="0">
                          <a:latin typeface="Arial"/>
                          <a:cs typeface="Arial"/>
                        </a:rPr>
                        <a:t>D9</a:t>
                      </a:r>
                      <a:endParaRPr sz="8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635" algn="ctr">
                        <a:lnSpc>
                          <a:spcPct val="100000"/>
                        </a:lnSpc>
                        <a:spcBef>
                          <a:spcPts val="265"/>
                        </a:spcBef>
                      </a:pPr>
                      <a:r>
                        <a:rPr sz="800" spc="-5" dirty="0">
                          <a:latin typeface="Arial"/>
                          <a:cs typeface="Arial"/>
                        </a:rPr>
                        <a:t>D8</a:t>
                      </a:r>
                      <a:endParaRPr sz="8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1905" algn="ctr">
                        <a:lnSpc>
                          <a:spcPct val="100000"/>
                        </a:lnSpc>
                        <a:spcBef>
                          <a:spcPts val="265"/>
                        </a:spcBef>
                      </a:pPr>
                      <a:r>
                        <a:rPr sz="800" spc="-5" dirty="0">
                          <a:latin typeface="Arial"/>
                          <a:cs typeface="Arial"/>
                        </a:rPr>
                        <a:t>D7</a:t>
                      </a:r>
                      <a:endParaRPr sz="8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R="59690" algn="r">
                        <a:lnSpc>
                          <a:spcPct val="100000"/>
                        </a:lnSpc>
                        <a:spcBef>
                          <a:spcPts val="265"/>
                        </a:spcBef>
                      </a:pPr>
                      <a:r>
                        <a:rPr sz="800" spc="-5" dirty="0">
                          <a:latin typeface="Arial"/>
                          <a:cs typeface="Arial"/>
                        </a:rPr>
                        <a:t>D6</a:t>
                      </a:r>
                      <a:endParaRPr sz="8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algn="ctr">
                        <a:lnSpc>
                          <a:spcPct val="100000"/>
                        </a:lnSpc>
                        <a:spcBef>
                          <a:spcPts val="265"/>
                        </a:spcBef>
                      </a:pPr>
                      <a:r>
                        <a:rPr sz="800" spc="-5" dirty="0">
                          <a:latin typeface="Arial"/>
                          <a:cs typeface="Arial"/>
                        </a:rPr>
                        <a:t>D5</a:t>
                      </a:r>
                      <a:endParaRPr sz="8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1270" algn="ctr">
                        <a:lnSpc>
                          <a:spcPct val="100000"/>
                        </a:lnSpc>
                        <a:spcBef>
                          <a:spcPts val="265"/>
                        </a:spcBef>
                      </a:pPr>
                      <a:r>
                        <a:rPr sz="800" spc="-5" dirty="0">
                          <a:latin typeface="Arial"/>
                          <a:cs typeface="Arial"/>
                        </a:rPr>
                        <a:t>D4</a:t>
                      </a:r>
                      <a:endParaRPr sz="8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635" algn="ctr">
                        <a:lnSpc>
                          <a:spcPct val="100000"/>
                        </a:lnSpc>
                        <a:spcBef>
                          <a:spcPts val="265"/>
                        </a:spcBef>
                      </a:pPr>
                      <a:r>
                        <a:rPr sz="800" spc="-5" dirty="0">
                          <a:latin typeface="Arial"/>
                          <a:cs typeface="Arial"/>
                        </a:rPr>
                        <a:t>D3</a:t>
                      </a:r>
                      <a:endParaRPr sz="8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R="59690" algn="r">
                        <a:lnSpc>
                          <a:spcPct val="100000"/>
                        </a:lnSpc>
                        <a:spcBef>
                          <a:spcPts val="265"/>
                        </a:spcBef>
                      </a:pPr>
                      <a:r>
                        <a:rPr sz="800" spc="-5" dirty="0">
                          <a:latin typeface="Arial"/>
                          <a:cs typeface="Arial"/>
                        </a:rPr>
                        <a:t>D2</a:t>
                      </a:r>
                      <a:endParaRPr sz="8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635" algn="ctr">
                        <a:lnSpc>
                          <a:spcPct val="100000"/>
                        </a:lnSpc>
                        <a:spcBef>
                          <a:spcPts val="265"/>
                        </a:spcBef>
                      </a:pPr>
                      <a:r>
                        <a:rPr sz="800" spc="-5" dirty="0">
                          <a:latin typeface="Arial"/>
                          <a:cs typeface="Arial"/>
                        </a:rPr>
                        <a:t>D1</a:t>
                      </a:r>
                      <a:endParaRPr sz="8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2540" algn="ctr">
                        <a:lnSpc>
                          <a:spcPct val="100000"/>
                        </a:lnSpc>
                        <a:spcBef>
                          <a:spcPts val="265"/>
                        </a:spcBef>
                      </a:pPr>
                      <a:r>
                        <a:rPr sz="800" spc="-5" dirty="0">
                          <a:latin typeface="Arial"/>
                          <a:cs typeface="Arial"/>
                        </a:rPr>
                        <a:t>D0</a:t>
                      </a:r>
                      <a:endParaRPr sz="8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extLst>
                  <a:ext uri="{0D108BD9-81ED-4DB2-BD59-A6C34878D82A}">
                    <a16:rowId xmlns:a16="http://schemas.microsoft.com/office/drawing/2014/main" val="10000"/>
                  </a:ext>
                </a:extLst>
              </a:tr>
              <a:tr h="178435">
                <a:tc>
                  <a:txBody>
                    <a:bodyPr/>
                    <a:lstStyle/>
                    <a:p>
                      <a:pPr marL="95250">
                        <a:lnSpc>
                          <a:spcPct val="100000"/>
                        </a:lnSpc>
                        <a:spcBef>
                          <a:spcPts val="265"/>
                        </a:spcBef>
                      </a:pPr>
                      <a:r>
                        <a:rPr sz="700" spc="-10" dirty="0">
                          <a:latin typeface="Arial"/>
                          <a:cs typeface="Arial"/>
                        </a:rPr>
                        <a:t>‘2b01</a:t>
                      </a:r>
                      <a:endParaRPr sz="7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algn="ctr">
                        <a:lnSpc>
                          <a:spcPct val="100000"/>
                        </a:lnSpc>
                        <a:spcBef>
                          <a:spcPts val="265"/>
                        </a:spcBef>
                      </a:pPr>
                      <a:r>
                        <a:rPr sz="700" dirty="0">
                          <a:latin typeface="Arial"/>
                          <a:cs typeface="Arial"/>
                        </a:rPr>
                        <a:t>0</a:t>
                      </a: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algn="ctr">
                        <a:lnSpc>
                          <a:spcPct val="100000"/>
                        </a:lnSpc>
                        <a:spcBef>
                          <a:spcPts val="245"/>
                        </a:spcBef>
                      </a:pPr>
                      <a:r>
                        <a:rPr sz="700" spc="-5" dirty="0">
                          <a:latin typeface="Arial"/>
                          <a:cs typeface="Arial"/>
                        </a:rPr>
                        <a:t>INT_CLK</a:t>
                      </a:r>
                      <a:endParaRPr sz="700" dirty="0">
                        <a:latin typeface="Arial"/>
                        <a:cs typeface="Arial"/>
                      </a:endParaRPr>
                    </a:p>
                  </a:txBody>
                  <a:tcPr marL="0" marR="0" marT="3111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algn="ctr">
                        <a:lnSpc>
                          <a:spcPct val="100000"/>
                        </a:lnSpc>
                        <a:spcBef>
                          <a:spcPts val="265"/>
                        </a:spcBef>
                      </a:pPr>
                      <a:r>
                        <a:rPr sz="700" spc="-5" dirty="0">
                          <a:latin typeface="Arial"/>
                          <a:cs typeface="Arial"/>
                        </a:rPr>
                        <a:t>VS_FT_EN</a:t>
                      </a:r>
                      <a:endParaRPr sz="7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635" algn="ctr">
                        <a:lnSpc>
                          <a:spcPct val="100000"/>
                        </a:lnSpc>
                        <a:spcBef>
                          <a:spcPts val="245"/>
                        </a:spcBef>
                      </a:pPr>
                      <a:r>
                        <a:rPr sz="700" spc="-5" dirty="0">
                          <a:latin typeface="Arial"/>
                          <a:cs typeface="Arial"/>
                        </a:rPr>
                        <a:t>VS_COMP_EN</a:t>
                      </a:r>
                      <a:endParaRPr sz="700" dirty="0">
                        <a:latin typeface="Arial"/>
                        <a:cs typeface="Arial"/>
                      </a:endParaRPr>
                    </a:p>
                  </a:txBody>
                  <a:tcPr marL="0" marR="0" marT="3111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algn="ctr">
                        <a:lnSpc>
                          <a:spcPct val="100000"/>
                        </a:lnSpc>
                        <a:spcBef>
                          <a:spcPts val="265"/>
                        </a:spcBef>
                      </a:pPr>
                      <a:r>
                        <a:rPr sz="700" spc="-10" dirty="0">
                          <a:latin typeface="Arial"/>
                          <a:cs typeface="Arial"/>
                        </a:rPr>
                        <a:t>FRAME_KEEP</a:t>
                      </a:r>
                      <a:endParaRPr sz="7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R="73660" algn="r">
                        <a:lnSpc>
                          <a:spcPct val="100000"/>
                        </a:lnSpc>
                        <a:spcBef>
                          <a:spcPts val="265"/>
                        </a:spcBef>
                      </a:pPr>
                      <a:r>
                        <a:rPr sz="700" spc="-30" dirty="0">
                          <a:latin typeface="Arial"/>
                          <a:cs typeface="Arial"/>
                        </a:rPr>
                        <a:t>X2</a:t>
                      </a:r>
                      <a:endParaRPr sz="7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algn="ctr">
                        <a:lnSpc>
                          <a:spcPct val="100000"/>
                        </a:lnSpc>
                        <a:spcBef>
                          <a:spcPts val="265"/>
                        </a:spcBef>
                      </a:pPr>
                      <a:r>
                        <a:rPr sz="700" spc="-30" dirty="0">
                          <a:latin typeface="Arial"/>
                          <a:cs typeface="Arial"/>
                        </a:rPr>
                        <a:t>X8</a:t>
                      </a:r>
                      <a:endParaRPr sz="7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1270" algn="ctr">
                        <a:lnSpc>
                          <a:spcPct val="100000"/>
                        </a:lnSpc>
                        <a:spcBef>
                          <a:spcPts val="265"/>
                        </a:spcBef>
                      </a:pPr>
                      <a:r>
                        <a:rPr sz="700" spc="-10" dirty="0">
                          <a:latin typeface="Arial"/>
                          <a:cs typeface="Arial"/>
                        </a:rPr>
                        <a:t>NORMAL</a:t>
                      </a:r>
                      <a:endParaRPr sz="7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3810" algn="ctr">
                        <a:lnSpc>
                          <a:spcPct val="100000"/>
                        </a:lnSpc>
                        <a:spcBef>
                          <a:spcPts val="245"/>
                        </a:spcBef>
                      </a:pPr>
                      <a:r>
                        <a:rPr sz="700" dirty="0">
                          <a:latin typeface="Arial"/>
                          <a:cs typeface="Arial"/>
                        </a:rPr>
                        <a:t>x</a:t>
                      </a:r>
                    </a:p>
                  </a:txBody>
                  <a:tcPr marL="0" marR="0" marT="3111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R="100330" algn="r">
                        <a:lnSpc>
                          <a:spcPct val="100000"/>
                        </a:lnSpc>
                        <a:spcBef>
                          <a:spcPts val="265"/>
                        </a:spcBef>
                      </a:pPr>
                      <a:r>
                        <a:rPr sz="700" dirty="0">
                          <a:latin typeface="Arial"/>
                          <a:cs typeface="Arial"/>
                        </a:rPr>
                        <a:t>x</a:t>
                      </a: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3810" algn="ctr">
                        <a:lnSpc>
                          <a:spcPct val="100000"/>
                        </a:lnSpc>
                        <a:spcBef>
                          <a:spcPts val="265"/>
                        </a:spcBef>
                      </a:pPr>
                      <a:r>
                        <a:rPr sz="700" dirty="0">
                          <a:latin typeface="Arial"/>
                          <a:cs typeface="Arial"/>
                        </a:rPr>
                        <a:t>x</a:t>
                      </a: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635" algn="ctr">
                        <a:lnSpc>
                          <a:spcPct val="100000"/>
                        </a:lnSpc>
                        <a:spcBef>
                          <a:spcPts val="265"/>
                        </a:spcBef>
                      </a:pPr>
                      <a:r>
                        <a:rPr sz="700" spc="-10" dirty="0">
                          <a:latin typeface="Arial"/>
                          <a:cs typeface="Arial"/>
                        </a:rPr>
                        <a:t>DRV_MODE</a:t>
                      </a:r>
                      <a:endParaRPr sz="7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extLst>
                  <a:ext uri="{0D108BD9-81ED-4DB2-BD59-A6C34878D82A}">
                    <a16:rowId xmlns:a16="http://schemas.microsoft.com/office/drawing/2014/main" val="10001"/>
                  </a:ext>
                </a:extLst>
              </a:tr>
            </a:tbl>
          </a:graphicData>
        </a:graphic>
      </p:graphicFrame>
      <p:sp>
        <p:nvSpPr>
          <p:cNvPr id="7" name="object 7"/>
          <p:cNvSpPr txBox="1"/>
          <p:nvPr/>
        </p:nvSpPr>
        <p:spPr>
          <a:xfrm>
            <a:off x="400913" y="918463"/>
            <a:ext cx="6038542" cy="182101"/>
          </a:xfrm>
          <a:prstGeom prst="rect">
            <a:avLst/>
          </a:prstGeom>
        </p:spPr>
        <p:txBody>
          <a:bodyPr vert="horz" wrap="square" lIns="0" tIns="12700" rIns="0" bIns="0" rtlCol="0">
            <a:spAutoFit/>
          </a:bodyPr>
          <a:lstStyle/>
          <a:p>
            <a:pPr marL="12700">
              <a:lnSpc>
                <a:spcPct val="100000"/>
              </a:lnSpc>
              <a:spcBef>
                <a:spcPts val="100"/>
              </a:spcBef>
            </a:pPr>
            <a:r>
              <a:rPr sz="1100" b="1" dirty="0">
                <a:latin typeface="Arial"/>
                <a:cs typeface="Arial"/>
              </a:rPr>
              <a:t>MO</a:t>
            </a:r>
            <a:r>
              <a:rPr sz="1100" b="1" spc="-10" dirty="0">
                <a:latin typeface="Arial"/>
                <a:cs typeface="Arial"/>
              </a:rPr>
              <a:t>D</a:t>
            </a:r>
            <a:r>
              <a:rPr sz="1100" b="1" dirty="0">
                <a:latin typeface="Arial"/>
                <a:cs typeface="Arial"/>
              </a:rPr>
              <a:t>E</a:t>
            </a:r>
            <a:r>
              <a:rPr sz="1100" b="1" spc="-25" dirty="0">
                <a:latin typeface="Arial"/>
                <a:cs typeface="Arial"/>
              </a:rPr>
              <a:t> </a:t>
            </a:r>
            <a:r>
              <a:rPr sz="1100" b="1" spc="-10" dirty="0">
                <a:latin typeface="Arial"/>
                <a:cs typeface="Arial"/>
              </a:rPr>
              <a:t>C</a:t>
            </a:r>
            <a:r>
              <a:rPr sz="1100" b="1" dirty="0">
                <a:latin typeface="Arial"/>
                <a:cs typeface="Arial"/>
              </a:rPr>
              <a:t>O</a:t>
            </a:r>
            <a:r>
              <a:rPr sz="1100" b="1" spc="-10" dirty="0">
                <a:latin typeface="Arial"/>
                <a:cs typeface="Arial"/>
              </a:rPr>
              <a:t>N</a:t>
            </a:r>
            <a:r>
              <a:rPr sz="1100" b="1" spc="-15" dirty="0">
                <a:latin typeface="Arial"/>
                <a:cs typeface="Arial"/>
              </a:rPr>
              <a:t>T</a:t>
            </a:r>
            <a:r>
              <a:rPr sz="1100" b="1" spc="-10" dirty="0">
                <a:latin typeface="Arial"/>
                <a:cs typeface="Arial"/>
              </a:rPr>
              <a:t>R</a:t>
            </a:r>
            <a:r>
              <a:rPr sz="1100" b="1" dirty="0">
                <a:latin typeface="Arial"/>
                <a:cs typeface="Arial"/>
              </a:rPr>
              <a:t>OL</a:t>
            </a:r>
            <a:endParaRPr sz="1100" dirty="0">
              <a:latin typeface="Arial"/>
              <a:cs typeface="Arial"/>
            </a:endParaRPr>
          </a:p>
        </p:txBody>
      </p:sp>
      <p:graphicFrame>
        <p:nvGraphicFramePr>
          <p:cNvPr id="6" name="표 5">
            <a:extLst>
              <a:ext uri="{FF2B5EF4-FFF2-40B4-BE49-F238E27FC236}">
                <a16:creationId xmlns:a16="http://schemas.microsoft.com/office/drawing/2014/main" id="{A9E685AE-9379-31DE-EF28-98E36364B68C}"/>
              </a:ext>
            </a:extLst>
          </p:cNvPr>
          <p:cNvGraphicFramePr>
            <a:graphicFrameLocks noGrp="1"/>
          </p:cNvGraphicFramePr>
          <p:nvPr>
            <p:extLst>
              <p:ext uri="{D42A27DB-BD31-4B8C-83A1-F6EECF244321}">
                <p14:modId xmlns:p14="http://schemas.microsoft.com/office/powerpoint/2010/main" val="3008625935"/>
              </p:ext>
            </p:extLst>
          </p:nvPr>
        </p:nvGraphicFramePr>
        <p:xfrm>
          <a:off x="400912" y="1752600"/>
          <a:ext cx="6038541" cy="4420156"/>
        </p:xfrm>
        <a:graphic>
          <a:graphicData uri="http://schemas.openxmlformats.org/drawingml/2006/table">
            <a:tbl>
              <a:tblPr firstRow="1" bandRow="1">
                <a:tableStyleId>{5C22544A-7EE6-4342-B048-85BDC9FD1C3A}</a:tableStyleId>
              </a:tblPr>
              <a:tblGrid>
                <a:gridCol w="365703">
                  <a:extLst>
                    <a:ext uri="{9D8B030D-6E8A-4147-A177-3AD203B41FA5}">
                      <a16:colId xmlns:a16="http://schemas.microsoft.com/office/drawing/2014/main" val="4170535043"/>
                    </a:ext>
                  </a:extLst>
                </a:gridCol>
                <a:gridCol w="1221864">
                  <a:extLst>
                    <a:ext uri="{9D8B030D-6E8A-4147-A177-3AD203B41FA5}">
                      <a16:colId xmlns:a16="http://schemas.microsoft.com/office/drawing/2014/main" val="2079070694"/>
                    </a:ext>
                  </a:extLst>
                </a:gridCol>
                <a:gridCol w="304617">
                  <a:extLst>
                    <a:ext uri="{9D8B030D-6E8A-4147-A177-3AD203B41FA5}">
                      <a16:colId xmlns:a16="http://schemas.microsoft.com/office/drawing/2014/main" val="32595803"/>
                    </a:ext>
                  </a:extLst>
                </a:gridCol>
                <a:gridCol w="4146357">
                  <a:extLst>
                    <a:ext uri="{9D8B030D-6E8A-4147-A177-3AD203B41FA5}">
                      <a16:colId xmlns:a16="http://schemas.microsoft.com/office/drawing/2014/main" val="4057665825"/>
                    </a:ext>
                  </a:extLst>
                </a:gridCol>
              </a:tblGrid>
              <a:tr h="256197">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l" latinLnBrk="1"/>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58200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spc="-5" dirty="0">
                          <a:solidFill>
                            <a:schemeClr val="tx1"/>
                          </a:solidFill>
                          <a:latin typeface="Arial"/>
                          <a:ea typeface="+mn-ea"/>
                          <a:cs typeface="Arial"/>
                        </a:rPr>
                        <a:t>10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0" marR="0" marT="36000" marB="0">
                    <a:lnL w="3175"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spc="-5" dirty="0">
                          <a:latin typeface="Arial" panose="020B0604020202020204" pitchFamily="34" charset="0"/>
                          <a:cs typeface="Arial" panose="020B0604020202020204" pitchFamily="34" charset="0"/>
                        </a:rPr>
                        <a:t>INT_CLK</a:t>
                      </a:r>
                      <a:endParaRPr lang="en-US" altLang="ko-KR" sz="900" dirty="0">
                        <a:latin typeface="Arial" panose="020B0604020202020204" pitchFamily="34" charset="0"/>
                        <a:cs typeface="Arial" panose="020B0604020202020204" pitchFamily="34" charset="0"/>
                      </a:endParaRPr>
                    </a:p>
                  </a:txBody>
                  <a:tcPr marL="0" marR="0" marT="3600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a:ea typeface="+mn-ea"/>
                          <a:cs typeface="Arial"/>
                        </a:rPr>
                        <a:t>‘0’</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a:ea typeface="+mn-ea"/>
                          <a:cs typeface="Arial"/>
                        </a:rPr>
                        <a:t>‘1’</a:t>
                      </a:r>
                    </a:p>
                  </a:txBody>
                  <a:tcPr marL="0" marR="0" marT="36000" marB="0">
                    <a:lnL w="12700"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spc="-5" dirty="0">
                          <a:latin typeface="Arial" panose="020B0604020202020204" pitchFamily="34" charset="0"/>
                          <a:cs typeface="Arial" panose="020B0604020202020204" pitchFamily="34" charset="0"/>
                        </a:rPr>
                        <a:t>The external</a:t>
                      </a:r>
                      <a:r>
                        <a:rPr lang="en-US" altLang="ko-KR" sz="900" dirty="0">
                          <a:latin typeface="Arial" panose="020B0604020202020204" pitchFamily="34" charset="0"/>
                          <a:cs typeface="Arial" panose="020B0604020202020204" pitchFamily="34" charset="0"/>
                        </a:rPr>
                        <a:t> clock</a:t>
                      </a:r>
                      <a:r>
                        <a:rPr lang="en-US" altLang="ko-KR" sz="900" spc="-2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source</a:t>
                      </a:r>
                      <a:r>
                        <a:rPr lang="en-US" altLang="ko-KR" sz="900" spc="-4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is</a:t>
                      </a:r>
                      <a:r>
                        <a:rPr lang="en-US" altLang="ko-KR" sz="900" spc="5"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used</a:t>
                      </a:r>
                      <a:r>
                        <a:rPr lang="en-US" altLang="ko-KR" sz="900" spc="-2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for</a:t>
                      </a:r>
                      <a:r>
                        <a:rPr lang="en-US" altLang="ko-KR" sz="900" spc="-15"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the</a:t>
                      </a:r>
                      <a:r>
                        <a:rPr lang="en-US" altLang="ko-KR" sz="900" spc="-1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main</a:t>
                      </a:r>
                      <a:r>
                        <a:rPr lang="en-US" altLang="ko-KR" sz="900" spc="-1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clock,</a:t>
                      </a:r>
                      <a:r>
                        <a:rPr lang="en-US" altLang="ko-KR" sz="900" spc="-35" dirty="0">
                          <a:latin typeface="Arial" panose="020B0604020202020204" pitchFamily="34" charset="0"/>
                          <a:cs typeface="Arial" panose="020B0604020202020204" pitchFamily="34" charset="0"/>
                        </a:rPr>
                        <a:t> </a:t>
                      </a:r>
                      <a:r>
                        <a:rPr lang="en-US" altLang="ko-KR" sz="900" spc="-10" dirty="0">
                          <a:latin typeface="Arial" panose="020B0604020202020204" pitchFamily="34" charset="0"/>
                          <a:cs typeface="Arial" panose="020B0604020202020204" pitchFamily="34" charset="0"/>
                        </a:rPr>
                        <a:t>MCLK</a:t>
                      </a:r>
                      <a:r>
                        <a:rPr lang="en-US" altLang="ko-KR" sz="900" b="0" dirty="0">
                          <a:solidFill>
                            <a:schemeClr val="tx1"/>
                          </a:solidFill>
                          <a:latin typeface="Arial"/>
                          <a:ea typeface="+mn-ea"/>
                          <a:cs typeface="Arial"/>
                        </a:rPr>
                        <a:t>.</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spc="-5" dirty="0">
                          <a:latin typeface="Arial" panose="020B0604020202020204" pitchFamily="34" charset="0"/>
                          <a:cs typeface="Arial" panose="020B0604020202020204" pitchFamily="34" charset="0"/>
                        </a:rPr>
                        <a:t>The </a:t>
                      </a:r>
                      <a:r>
                        <a:rPr lang="en-US" altLang="ko-KR" sz="900" dirty="0">
                          <a:latin typeface="Arial" panose="020B0604020202020204" pitchFamily="34" charset="0"/>
                          <a:cs typeface="Arial" panose="020B0604020202020204" pitchFamily="34" charset="0"/>
                        </a:rPr>
                        <a:t>internal</a:t>
                      </a:r>
                      <a:r>
                        <a:rPr lang="en-US" altLang="ko-KR" sz="900" spc="-25"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clock</a:t>
                      </a:r>
                      <a:r>
                        <a:rPr lang="en-US" altLang="ko-KR" sz="900" spc="-2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out</a:t>
                      </a:r>
                      <a:r>
                        <a:rPr lang="en-US" altLang="ko-KR" sz="900" spc="-15"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from</a:t>
                      </a:r>
                      <a:r>
                        <a:rPr lang="en-US" altLang="ko-KR" sz="900" spc="-1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PLL</a:t>
                      </a:r>
                      <a:r>
                        <a:rPr lang="en-US" altLang="ko-KR" sz="900" spc="-1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is</a:t>
                      </a:r>
                      <a:r>
                        <a:rPr lang="en-US" altLang="ko-KR" sz="900" spc="-1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used</a:t>
                      </a:r>
                      <a:r>
                        <a:rPr lang="en-US" altLang="ko-KR" sz="900" spc="-2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for</a:t>
                      </a:r>
                      <a:r>
                        <a:rPr lang="en-US" altLang="ko-KR" sz="900" spc="-5"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the</a:t>
                      </a:r>
                      <a:r>
                        <a:rPr lang="en-US" altLang="ko-KR" sz="900" spc="-15"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main</a:t>
                      </a:r>
                      <a:r>
                        <a:rPr lang="en-US" altLang="ko-KR" sz="900" spc="-20" dirty="0">
                          <a:latin typeface="Arial" panose="020B0604020202020204" pitchFamily="34" charset="0"/>
                          <a:cs typeface="Arial" panose="020B0604020202020204" pitchFamily="34" charset="0"/>
                        </a:rPr>
                        <a:t> clock. </a:t>
                      </a:r>
                      <a:r>
                        <a:rPr lang="en-US" altLang="ko-KR" sz="900" spc="-5" dirty="0">
                          <a:latin typeface="Arial" panose="020B0604020202020204" pitchFamily="34" charset="0"/>
                          <a:cs typeface="Arial" panose="020B0604020202020204" pitchFamily="34" charset="0"/>
                        </a:rPr>
                        <a:t>The PLL</a:t>
                      </a:r>
                      <a:r>
                        <a:rPr lang="en-US" altLang="ko-KR" sz="900" spc="-15"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reference</a:t>
                      </a:r>
                      <a:r>
                        <a:rPr lang="en-US" altLang="ko-KR" sz="900" spc="-4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clock</a:t>
                      </a:r>
                      <a:r>
                        <a:rPr lang="en-US" altLang="ko-KR" sz="900" spc="-2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source</a:t>
                      </a:r>
                      <a:r>
                        <a:rPr lang="en-US" altLang="ko-KR" sz="900" spc="-25" dirty="0">
                          <a:latin typeface="Arial" panose="020B0604020202020204" pitchFamily="34" charset="0"/>
                          <a:cs typeface="Arial" panose="020B0604020202020204" pitchFamily="34" charset="0"/>
                        </a:rPr>
                        <a:t> </a:t>
                      </a:r>
                      <a:r>
                        <a:rPr lang="en-US" altLang="ko-KR" sz="900" spc="-5" dirty="0">
                          <a:latin typeface="Arial" panose="020B0604020202020204" pitchFamily="34" charset="0"/>
                          <a:cs typeface="Arial" panose="020B0604020202020204" pitchFamily="34" charset="0"/>
                        </a:rPr>
                        <a:t>is</a:t>
                      </a:r>
                      <a:r>
                        <a:rPr lang="en-US" altLang="ko-KR" sz="900" spc="-10" dirty="0">
                          <a:latin typeface="Arial" panose="020B0604020202020204" pitchFamily="34" charset="0"/>
                          <a:cs typeface="Arial" panose="020B0604020202020204" pitchFamily="34" charset="0"/>
                        </a:rPr>
                        <a:t> </a:t>
                      </a:r>
                      <a:r>
                        <a:rPr lang="en-US" altLang="ko-KR" sz="900" spc="-5" dirty="0">
                          <a:latin typeface="Arial" panose="020B0604020202020204" pitchFamily="34" charset="0"/>
                          <a:cs typeface="Arial" panose="020B0604020202020204" pitchFamily="34" charset="0"/>
                        </a:rPr>
                        <a:t>16.128MHz.</a:t>
                      </a:r>
                      <a:endParaRPr lang="en-US" altLang="ko-KR" sz="900" dirty="0">
                        <a:latin typeface="Arial"/>
                        <a:cs typeface="Arial"/>
                      </a:endParaRPr>
                    </a:p>
                  </a:txBody>
                  <a:tcPr marL="0" marR="0" marT="36000" marB="0">
                    <a:lnL w="12700"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485664">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spc="-5" dirty="0">
                          <a:solidFill>
                            <a:schemeClr val="tx1"/>
                          </a:solidFill>
                          <a:latin typeface="Arial"/>
                          <a:ea typeface="+mn-ea"/>
                          <a:cs typeface="Arial"/>
                        </a:rPr>
                        <a:t>9</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0" marR="0" marT="36000" marB="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spc="-5" dirty="0">
                          <a:latin typeface="Arial" panose="020B0604020202020204" pitchFamily="34" charset="0"/>
                          <a:cs typeface="Arial" panose="020B0604020202020204" pitchFamily="34" charset="0"/>
                        </a:rPr>
                        <a:t>VS_FT_EN</a:t>
                      </a:r>
                      <a:endParaRPr lang="en-US" altLang="ko-KR" sz="900" dirty="0">
                        <a:latin typeface="Arial" panose="020B0604020202020204" pitchFamily="34" charset="0"/>
                        <a:cs typeface="Arial" panose="020B0604020202020204" pitchFamily="34" charset="0"/>
                      </a:endParaRPr>
                    </a:p>
                  </a:txBody>
                  <a:tcPr marL="0" marR="0" marT="3600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a:ea typeface="+mn-ea"/>
                          <a:cs typeface="Arial"/>
                        </a:rPr>
                        <a:t>‘0’</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a:ea typeface="+mn-ea"/>
                          <a:cs typeface="Arial"/>
                        </a:rPr>
                        <a:t>‘1’</a:t>
                      </a:r>
                    </a:p>
                  </a:txBody>
                  <a:tcPr marL="0" marR="0" marT="36000" marB="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spc="5" dirty="0">
                          <a:latin typeface="Arial"/>
                          <a:cs typeface="Arial"/>
                        </a:rPr>
                        <a:t>No operation.</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spc="-5" dirty="0">
                          <a:latin typeface="Arial" panose="020B0604020202020204" pitchFamily="34" charset="0"/>
                          <a:cs typeface="Arial" panose="020B0604020202020204" pitchFamily="34" charset="0"/>
                        </a:rPr>
                        <a:t>The VSYNC </a:t>
                      </a:r>
                      <a:r>
                        <a:rPr lang="en-US" altLang="ko-KR" sz="900" dirty="0">
                          <a:latin typeface="Arial" panose="020B0604020202020204" pitchFamily="34" charset="0"/>
                          <a:cs typeface="Arial" panose="020B0604020202020204" pitchFamily="34" charset="0"/>
                        </a:rPr>
                        <a:t>input is masked from </a:t>
                      </a:r>
                      <a:r>
                        <a:rPr lang="en-US" altLang="ko-KR" sz="900" spc="5" dirty="0">
                          <a:latin typeface="Arial" panose="020B0604020202020204" pitchFamily="34" charset="0"/>
                          <a:cs typeface="Arial" panose="020B0604020202020204" pitchFamily="34" charset="0"/>
                        </a:rPr>
                        <a:t>1</a:t>
                      </a:r>
                      <a:r>
                        <a:rPr lang="en-US" altLang="ko-KR" sz="900" spc="7" baseline="27777" dirty="0">
                          <a:latin typeface="Arial" panose="020B0604020202020204" pitchFamily="34" charset="0"/>
                          <a:cs typeface="Arial" panose="020B0604020202020204" pitchFamily="34" charset="0"/>
                        </a:rPr>
                        <a:t>st </a:t>
                      </a:r>
                      <a:r>
                        <a:rPr lang="en-US" altLang="ko-KR" sz="900" spc="-5" dirty="0">
                          <a:latin typeface="Arial" panose="020B0604020202020204" pitchFamily="34" charset="0"/>
                          <a:cs typeface="Arial" panose="020B0604020202020204" pitchFamily="34" charset="0"/>
                        </a:rPr>
                        <a:t>svsync </a:t>
                      </a:r>
                      <a:r>
                        <a:rPr lang="en-US" altLang="ko-KR" sz="900" dirty="0">
                          <a:latin typeface="Arial" panose="020B0604020202020204" pitchFamily="34" charset="0"/>
                          <a:cs typeface="Arial" panose="020B0604020202020204" pitchFamily="34" charset="0"/>
                        </a:rPr>
                        <a:t>assertion to last shsync assertion of  the</a:t>
                      </a:r>
                      <a:r>
                        <a:rPr lang="en-US" altLang="ko-KR" sz="900" spc="-15"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last</a:t>
                      </a:r>
                      <a:r>
                        <a:rPr lang="en-US" altLang="ko-KR" sz="900" spc="-25" dirty="0">
                          <a:latin typeface="Arial" panose="020B0604020202020204" pitchFamily="34" charset="0"/>
                          <a:cs typeface="Arial" panose="020B0604020202020204" pitchFamily="34" charset="0"/>
                        </a:rPr>
                        <a:t> </a:t>
                      </a:r>
                      <a:r>
                        <a:rPr lang="en-US" altLang="ko-KR" sz="900" spc="-5" dirty="0">
                          <a:latin typeface="Arial" panose="020B0604020202020204" pitchFamily="34" charset="0"/>
                          <a:cs typeface="Arial" panose="020B0604020202020204" pitchFamily="34" charset="0"/>
                        </a:rPr>
                        <a:t>svsync </a:t>
                      </a:r>
                      <a:r>
                        <a:rPr lang="en-US" altLang="ko-KR" sz="900" dirty="0">
                          <a:latin typeface="Arial" panose="020B0604020202020204" pitchFamily="34" charset="0"/>
                          <a:cs typeface="Arial" panose="020B0604020202020204" pitchFamily="34" charset="0"/>
                        </a:rPr>
                        <a:t>for </a:t>
                      </a:r>
                      <a:r>
                        <a:rPr lang="en-US" altLang="ko-KR" sz="900" spc="-5" dirty="0">
                          <a:latin typeface="Arial" panose="020B0604020202020204" pitchFamily="34" charset="0"/>
                          <a:cs typeface="Arial" panose="020B0604020202020204" pitchFamily="34" charset="0"/>
                        </a:rPr>
                        <a:t>avoiding</a:t>
                      </a:r>
                      <a:r>
                        <a:rPr lang="en-US" altLang="ko-KR" sz="900" spc="-2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the</a:t>
                      </a:r>
                      <a:r>
                        <a:rPr lang="en-US" altLang="ko-KR" sz="900" spc="-10" dirty="0">
                          <a:latin typeface="Arial" panose="020B0604020202020204" pitchFamily="34" charset="0"/>
                          <a:cs typeface="Arial" panose="020B0604020202020204" pitchFamily="34" charset="0"/>
                        </a:rPr>
                        <a:t> </a:t>
                      </a:r>
                      <a:r>
                        <a:rPr lang="en-US" altLang="ko-KR" sz="900" spc="-5" dirty="0">
                          <a:latin typeface="Arial" panose="020B0604020202020204" pitchFamily="34" charset="0"/>
                          <a:cs typeface="Arial" panose="020B0604020202020204" pitchFamily="34" charset="0"/>
                        </a:rPr>
                        <a:t>VSYNC</a:t>
                      </a:r>
                      <a:r>
                        <a:rPr lang="en-US" altLang="ko-KR" sz="900" spc="5"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noise.</a:t>
                      </a:r>
                      <a:endParaRPr lang="en-US" altLang="ko-KR" sz="900" b="0" dirty="0">
                        <a:solidFill>
                          <a:schemeClr val="tx1"/>
                        </a:solidFill>
                        <a:latin typeface="Arial"/>
                        <a:ea typeface="+mn-ea"/>
                        <a:cs typeface="Arial"/>
                      </a:endParaRPr>
                    </a:p>
                  </a:txBody>
                  <a:tcPr marL="0" marR="0" marT="36000" marB="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61280097"/>
                  </a:ext>
                </a:extLst>
              </a:tr>
              <a:tr h="807292">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8</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0" marR="0" marT="36000" marB="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spc="-5" dirty="0">
                          <a:latin typeface="Arial" panose="020B0604020202020204" pitchFamily="34" charset="0"/>
                          <a:cs typeface="Arial" panose="020B0604020202020204" pitchFamily="34" charset="0"/>
                        </a:rPr>
                        <a:t>VS_COMP_EN</a:t>
                      </a:r>
                      <a:endParaRPr lang="en-US" altLang="ko-KR" sz="900" dirty="0">
                        <a:latin typeface="Arial" panose="020B0604020202020204" pitchFamily="34" charset="0"/>
                        <a:cs typeface="Arial" panose="020B0604020202020204" pitchFamily="34" charset="0"/>
                      </a:endParaRPr>
                    </a:p>
                  </a:txBody>
                  <a:tcPr marL="0" marR="0" marT="3600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a:ea typeface="+mn-ea"/>
                          <a:cs typeface="Arial"/>
                        </a:rPr>
                        <a:t>‘0’</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a:ea typeface="+mn-ea"/>
                          <a:cs typeface="Arial"/>
                        </a:rPr>
                        <a:t>‘1’</a:t>
                      </a:r>
                    </a:p>
                  </a:txBody>
                  <a:tcPr marL="0" marR="0" marT="36000" marB="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spc="5" dirty="0">
                          <a:latin typeface="Arial"/>
                          <a:cs typeface="Arial"/>
                        </a:rPr>
                        <a:t>No operation.</a:t>
                      </a:r>
                      <a:endParaRPr lang="en-US" altLang="ko-KR" sz="900" b="0" dirty="0">
                        <a:solidFill>
                          <a:schemeClr val="tx1"/>
                        </a:solidFill>
                        <a:latin typeface="Arial"/>
                        <a:ea typeface="+mn-ea"/>
                        <a:cs typeface="Arial"/>
                      </a:endParaRP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spc="-5" dirty="0">
                          <a:latin typeface="Arial" panose="020B0604020202020204" pitchFamily="34" charset="0"/>
                          <a:cs typeface="Arial" panose="020B0604020202020204" pitchFamily="34" charset="0"/>
                        </a:rPr>
                        <a:t>The VSYNC </a:t>
                      </a:r>
                      <a:r>
                        <a:rPr lang="en-US" altLang="ko-KR" sz="900" dirty="0">
                          <a:latin typeface="Arial" panose="020B0604020202020204" pitchFamily="34" charset="0"/>
                          <a:cs typeface="Arial" panose="020B0604020202020204" pitchFamily="34" charset="0"/>
                        </a:rPr>
                        <a:t>can be sensed </a:t>
                      </a:r>
                      <a:r>
                        <a:rPr lang="en-US" altLang="ko-KR" sz="900" spc="-5" dirty="0">
                          <a:latin typeface="Arial" panose="020B0604020202020204" pitchFamily="34" charset="0"/>
                          <a:cs typeface="Arial" panose="020B0604020202020204" pitchFamily="34" charset="0"/>
                        </a:rPr>
                        <a:t>within </a:t>
                      </a:r>
                      <a:r>
                        <a:rPr lang="en-US" altLang="ko-KR" sz="900" dirty="0">
                          <a:latin typeface="Arial" panose="020B0604020202020204" pitchFamily="34" charset="0"/>
                          <a:cs typeface="Arial" panose="020B0604020202020204" pitchFamily="34" charset="0"/>
                        </a:rPr>
                        <a:t>special time </a:t>
                      </a:r>
                      <a:r>
                        <a:rPr lang="en-US" altLang="ko-KR" sz="900" spc="-5" dirty="0">
                          <a:latin typeface="Arial" panose="020B0604020202020204" pitchFamily="34" charset="0"/>
                          <a:cs typeface="Arial" panose="020B0604020202020204" pitchFamily="34" charset="0"/>
                        </a:rPr>
                        <a:t>zone </a:t>
                      </a:r>
                      <a:r>
                        <a:rPr lang="en-US" altLang="ko-KR" sz="900" dirty="0">
                          <a:latin typeface="Arial" panose="020B0604020202020204" pitchFamily="34" charset="0"/>
                          <a:cs typeface="Arial" panose="020B0604020202020204" pitchFamily="34" charset="0"/>
                        </a:rPr>
                        <a:t>at high </a:t>
                      </a:r>
                      <a:r>
                        <a:rPr lang="en-US" altLang="ko-KR" sz="900" spc="-5" dirty="0">
                          <a:latin typeface="Arial" panose="020B0604020202020204" pitchFamily="34" charset="0"/>
                          <a:cs typeface="Arial" panose="020B0604020202020204" pitchFamily="34" charset="0"/>
                        </a:rPr>
                        <a:t>level </a:t>
                      </a:r>
                      <a:r>
                        <a:rPr lang="en-US" altLang="ko-KR" sz="900" dirty="0">
                          <a:latin typeface="Arial" panose="020B0604020202020204" pitchFamily="34" charset="0"/>
                          <a:cs typeface="Arial" panose="020B0604020202020204" pitchFamily="34" charset="0"/>
                        </a:rPr>
                        <a:t>of </a:t>
                      </a:r>
                      <a:r>
                        <a:rPr lang="en-US" altLang="ko-KR" sz="900" spc="-5" dirty="0">
                          <a:latin typeface="Arial" panose="020B0604020202020204" pitchFamily="34" charset="0"/>
                          <a:cs typeface="Arial" panose="020B0604020202020204" pitchFamily="34" charset="0"/>
                        </a:rPr>
                        <a:t>VSYNC. </a:t>
                      </a:r>
                      <a:r>
                        <a:rPr lang="en-US" altLang="ko-KR" sz="900" dirty="0">
                          <a:latin typeface="Arial" panose="020B0604020202020204" pitchFamily="34" charset="0"/>
                          <a:cs typeface="Arial" panose="020B0604020202020204" pitchFamily="34" charset="0"/>
                        </a:rPr>
                        <a:t>Impossible to use this bit </a:t>
                      </a:r>
                      <a:r>
                        <a:rPr lang="en-US" altLang="ko-KR" sz="900" spc="-5" dirty="0">
                          <a:latin typeface="Arial" panose="020B0604020202020204" pitchFamily="34" charset="0"/>
                          <a:cs typeface="Arial" panose="020B0604020202020204" pitchFamily="34" charset="0"/>
                        </a:rPr>
                        <a:t>when VSYNC_OFFSET is </a:t>
                      </a:r>
                      <a:r>
                        <a:rPr lang="en-US" altLang="ko-KR" sz="900" dirty="0">
                          <a:latin typeface="Arial" panose="020B0604020202020204" pitchFamily="34" charset="0"/>
                          <a:cs typeface="Arial" panose="020B0604020202020204" pitchFamily="34" charset="0"/>
                        </a:rPr>
                        <a:t>set to some </a:t>
                      </a:r>
                      <a:r>
                        <a:rPr lang="en-US" altLang="ko-KR" sz="900" spc="-5" dirty="0">
                          <a:latin typeface="Arial" panose="020B0604020202020204" pitchFamily="34" charset="0"/>
                          <a:cs typeface="Arial" panose="020B0604020202020204" pitchFamily="34" charset="0"/>
                        </a:rPr>
                        <a:t>value or </a:t>
                      </a:r>
                      <a:r>
                        <a:rPr lang="en-US" altLang="ko-KR" sz="900" dirty="0">
                          <a:latin typeface="Arial" panose="020B0604020202020204" pitchFamily="34" charset="0"/>
                          <a:cs typeface="Arial" panose="020B0604020202020204" pitchFamily="34" charset="0"/>
                        </a:rPr>
                        <a:t>if the </a:t>
                      </a:r>
                      <a:r>
                        <a:rPr lang="en-US" altLang="ko-KR" sz="900" spc="-5" dirty="0">
                          <a:latin typeface="Arial" panose="020B0604020202020204" pitchFamily="34" charset="0"/>
                          <a:cs typeface="Arial" panose="020B0604020202020204" pitchFamily="34" charset="0"/>
                        </a:rPr>
                        <a:t>VSYNC period is </a:t>
                      </a:r>
                      <a:r>
                        <a:rPr lang="en-US" altLang="ko-KR" sz="900" dirty="0">
                          <a:latin typeface="Arial" panose="020B0604020202020204" pitchFamily="34" charset="0"/>
                          <a:cs typeface="Arial" panose="020B0604020202020204" pitchFamily="34" charset="0"/>
                        </a:rPr>
                        <a:t>changed frequently like frame frequency </a:t>
                      </a:r>
                      <a:r>
                        <a:rPr lang="en-US" altLang="ko-KR" sz="900" spc="-5" dirty="0">
                          <a:latin typeface="Arial" panose="020B0604020202020204" pitchFamily="34" charset="0"/>
                          <a:cs typeface="Arial" panose="020B0604020202020204" pitchFamily="34" charset="0"/>
                        </a:rPr>
                        <a:t>switch </a:t>
                      </a:r>
                      <a:r>
                        <a:rPr lang="en-US" altLang="ko-KR" sz="900" dirty="0">
                          <a:latin typeface="Arial" panose="020B0604020202020204" pitchFamily="34" charset="0"/>
                          <a:cs typeface="Arial" panose="020B0604020202020204" pitchFamily="34" charset="0"/>
                        </a:rPr>
                        <a:t>to </a:t>
                      </a:r>
                      <a:r>
                        <a:rPr lang="en-US" altLang="ko-KR" sz="900" spc="-5" dirty="0">
                          <a:latin typeface="Arial" panose="020B0604020202020204" pitchFamily="34" charset="0"/>
                          <a:cs typeface="Arial" panose="020B0604020202020204" pitchFamily="34" charset="0"/>
                        </a:rPr>
                        <a:t>50/60hz. </a:t>
                      </a:r>
                      <a:r>
                        <a:rPr lang="en-US" altLang="ko-KR" sz="900" dirty="0">
                          <a:latin typeface="Arial" panose="020B0604020202020204" pitchFamily="34" charset="0"/>
                          <a:cs typeface="Arial" panose="020B0604020202020204" pitchFamily="34" charset="0"/>
                        </a:rPr>
                        <a:t>Recommended</a:t>
                      </a:r>
                      <a:r>
                        <a:rPr lang="en-US" altLang="ko-KR" sz="900" spc="-4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to</a:t>
                      </a:r>
                      <a:r>
                        <a:rPr lang="en-US" altLang="ko-KR" sz="900" spc="-1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not</a:t>
                      </a:r>
                      <a:r>
                        <a:rPr lang="en-US" altLang="ko-KR" sz="900" spc="-1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use</a:t>
                      </a:r>
                      <a:r>
                        <a:rPr lang="en-US" altLang="ko-KR" sz="900" spc="-10" dirty="0">
                          <a:latin typeface="Arial" panose="020B0604020202020204" pitchFamily="34" charset="0"/>
                          <a:cs typeface="Arial" panose="020B0604020202020204" pitchFamily="34" charset="0"/>
                        </a:rPr>
                        <a:t> </a:t>
                      </a:r>
                      <a:r>
                        <a:rPr lang="en-US" altLang="ko-KR" sz="900" spc="-5" dirty="0">
                          <a:latin typeface="Arial" panose="020B0604020202020204" pitchFamily="34" charset="0"/>
                          <a:cs typeface="Arial" panose="020B0604020202020204" pitchFamily="34" charset="0"/>
                        </a:rPr>
                        <a:t>under</a:t>
                      </a:r>
                      <a:r>
                        <a:rPr lang="en-US" altLang="ko-KR" sz="900" spc="-10" dirty="0">
                          <a:latin typeface="Arial" panose="020B0604020202020204" pitchFamily="34" charset="0"/>
                          <a:cs typeface="Arial" panose="020B0604020202020204" pitchFamily="34" charset="0"/>
                        </a:rPr>
                        <a:t> </a:t>
                      </a:r>
                      <a:r>
                        <a:rPr lang="en-US" altLang="ko-KR" sz="900" spc="-5" dirty="0">
                          <a:latin typeface="Arial" panose="020B0604020202020204" pitchFamily="34" charset="0"/>
                          <a:cs typeface="Arial" panose="020B0604020202020204" pitchFamily="34" charset="0"/>
                        </a:rPr>
                        <a:t>VSYNC</a:t>
                      </a:r>
                      <a:r>
                        <a:rPr lang="en-US" altLang="ko-KR" sz="900" spc="5" dirty="0">
                          <a:latin typeface="Arial" panose="020B0604020202020204" pitchFamily="34" charset="0"/>
                          <a:cs typeface="Arial" panose="020B0604020202020204" pitchFamily="34" charset="0"/>
                        </a:rPr>
                        <a:t> </a:t>
                      </a:r>
                      <a:r>
                        <a:rPr lang="en-US" altLang="ko-KR" sz="900" spc="-5" dirty="0">
                          <a:latin typeface="Arial" panose="020B0604020202020204" pitchFamily="34" charset="0"/>
                          <a:cs typeface="Arial" panose="020B0604020202020204" pitchFamily="34" charset="0"/>
                        </a:rPr>
                        <a:t>delay</a:t>
                      </a:r>
                      <a:r>
                        <a:rPr lang="en-US" altLang="ko-KR" sz="900" spc="-2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mode.</a:t>
                      </a:r>
                      <a:endParaRPr lang="en-US" altLang="ko-KR" sz="900" b="0" dirty="0">
                        <a:solidFill>
                          <a:schemeClr val="tx1"/>
                        </a:solidFill>
                        <a:latin typeface="Arial"/>
                        <a:ea typeface="+mn-ea"/>
                        <a:cs typeface="Arial"/>
                      </a:endParaRPr>
                    </a:p>
                  </a:txBody>
                  <a:tcPr marL="0" marR="0" marT="36000" marB="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64637528"/>
                  </a:ext>
                </a:extLst>
              </a:tr>
              <a:tr h="813454">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7</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0" marR="0" marT="36000" marB="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spc="-5" dirty="0">
                          <a:latin typeface="Arial" panose="020B0604020202020204" pitchFamily="34" charset="0"/>
                          <a:cs typeface="Arial" panose="020B0604020202020204" pitchFamily="34" charset="0"/>
                        </a:rPr>
                        <a:t>FRAME_KEEP</a:t>
                      </a:r>
                      <a:endParaRPr lang="en-US" altLang="ko-KR" sz="900" dirty="0">
                        <a:latin typeface="Arial" panose="020B0604020202020204" pitchFamily="34" charset="0"/>
                        <a:cs typeface="Arial" panose="020B0604020202020204" pitchFamily="34" charset="0"/>
                      </a:endParaRPr>
                    </a:p>
                  </a:txBody>
                  <a:tcPr marL="0" marR="0" marT="3600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a:ea typeface="+mn-ea"/>
                          <a:cs typeface="Arial"/>
                        </a:rPr>
                        <a:t>‘0’</a:t>
                      </a: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a:ea typeface="+mn-ea"/>
                        <a:cs typeface="Arial"/>
                      </a:endParaRP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a:ea typeface="+mn-ea"/>
                          <a:cs typeface="Arial"/>
                        </a:rPr>
                        <a:t>‘1’</a:t>
                      </a:r>
                    </a:p>
                  </a:txBody>
                  <a:tcPr marL="0" marR="0" marT="36000" marB="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spc="-5" dirty="0">
                          <a:latin typeface="Arial" panose="020B0604020202020204" pitchFamily="34" charset="0"/>
                          <a:cs typeface="Arial" panose="020B0604020202020204" pitchFamily="34" charset="0"/>
                        </a:rPr>
                        <a:t>The </a:t>
                      </a:r>
                      <a:r>
                        <a:rPr lang="en-US" altLang="ko-KR" sz="900" dirty="0">
                          <a:latin typeface="Arial" panose="020B0604020202020204" pitchFamily="34" charset="0"/>
                          <a:cs typeface="Arial" panose="020B0604020202020204" pitchFamily="34" charset="0"/>
                        </a:rPr>
                        <a:t>LD mode operating currently </a:t>
                      </a:r>
                      <a:r>
                        <a:rPr lang="en-US" altLang="ko-KR" sz="900" spc="-5" dirty="0">
                          <a:latin typeface="Arial" panose="020B0604020202020204" pitchFamily="34" charset="0"/>
                          <a:cs typeface="Arial" panose="020B0604020202020204" pitchFamily="34" charset="0"/>
                        </a:rPr>
                        <a:t>will </a:t>
                      </a:r>
                      <a:r>
                        <a:rPr lang="en-US" altLang="ko-KR" sz="900" dirty="0">
                          <a:latin typeface="Arial" panose="020B0604020202020204" pitchFamily="34" charset="0"/>
                          <a:cs typeface="Arial" panose="020B0604020202020204" pitchFamily="34" charset="0"/>
                        </a:rPr>
                        <a:t>be changed </a:t>
                      </a:r>
                      <a:r>
                        <a:rPr lang="en-US" altLang="ko-KR" sz="900" spc="-5" dirty="0">
                          <a:latin typeface="Arial" panose="020B0604020202020204" pitchFamily="34" charset="0"/>
                          <a:cs typeface="Arial" panose="020B0604020202020204" pitchFamily="34" charset="0"/>
                        </a:rPr>
                        <a:t>immediately as </a:t>
                      </a:r>
                      <a:r>
                        <a:rPr lang="en-US" altLang="ko-KR" sz="900" dirty="0">
                          <a:latin typeface="Arial" panose="020B0604020202020204" pitchFamily="34" charset="0"/>
                          <a:cs typeface="Arial" panose="020B0604020202020204" pitchFamily="34" charset="0"/>
                        </a:rPr>
                        <a:t>soon </a:t>
                      </a:r>
                      <a:r>
                        <a:rPr lang="en-US" altLang="ko-KR" sz="900" spc="-5" dirty="0">
                          <a:latin typeface="Arial" panose="020B0604020202020204" pitchFamily="34" charset="0"/>
                          <a:cs typeface="Arial" panose="020B0604020202020204" pitchFamily="34" charset="0"/>
                        </a:rPr>
                        <a:t>as VSYNC is</a:t>
                      </a:r>
                      <a:r>
                        <a:rPr lang="en-US" altLang="ko-KR" sz="900" spc="-1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sensed.</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spc="-5" dirty="0">
                          <a:latin typeface="Arial" panose="020B0604020202020204" pitchFamily="34" charset="0"/>
                          <a:cs typeface="Arial" panose="020B0604020202020204" pitchFamily="34" charset="0"/>
                        </a:rPr>
                        <a:t>The </a:t>
                      </a:r>
                      <a:r>
                        <a:rPr lang="en-US" altLang="ko-KR" sz="900" dirty="0">
                          <a:latin typeface="Arial" panose="020B0604020202020204" pitchFamily="34" charset="0"/>
                          <a:cs typeface="Arial" panose="020B0604020202020204" pitchFamily="34" charset="0"/>
                        </a:rPr>
                        <a:t>LD mode operating currently</a:t>
                      </a:r>
                      <a:r>
                        <a:rPr lang="en-US" altLang="ko-KR" sz="900" spc="5"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mode </a:t>
                      </a:r>
                      <a:r>
                        <a:rPr lang="en-US" altLang="ko-KR" sz="900" spc="-5" dirty="0">
                          <a:latin typeface="Arial" panose="020B0604020202020204" pitchFamily="34" charset="0"/>
                          <a:cs typeface="Arial" panose="020B0604020202020204" pitchFamily="34" charset="0"/>
                        </a:rPr>
                        <a:t>will be </a:t>
                      </a:r>
                      <a:r>
                        <a:rPr lang="en-US" altLang="ko-KR" sz="900" dirty="0">
                          <a:latin typeface="Arial" panose="020B0604020202020204" pitchFamily="34" charset="0"/>
                          <a:cs typeface="Arial" panose="020B0604020202020204" pitchFamily="34" charset="0"/>
                        </a:rPr>
                        <a:t>changed </a:t>
                      </a:r>
                      <a:r>
                        <a:rPr lang="en-US" altLang="ko-KR" sz="900" spc="-5" dirty="0">
                          <a:latin typeface="Arial" panose="020B0604020202020204" pitchFamily="34" charset="0"/>
                          <a:cs typeface="Arial" panose="020B0604020202020204" pitchFamily="34" charset="0"/>
                        </a:rPr>
                        <a:t>gradually in line order </a:t>
                      </a:r>
                      <a:r>
                        <a:rPr lang="en-US" altLang="ko-KR" sz="900" dirty="0">
                          <a:latin typeface="Arial" panose="020B0604020202020204" pitchFamily="34" charset="0"/>
                          <a:cs typeface="Arial" panose="020B0604020202020204" pitchFamily="34" charset="0"/>
                        </a:rPr>
                        <a:t>after </a:t>
                      </a:r>
                      <a:r>
                        <a:rPr lang="en-US" altLang="ko-KR" sz="900" spc="-5" dirty="0">
                          <a:latin typeface="Arial" panose="020B0604020202020204" pitchFamily="34" charset="0"/>
                          <a:cs typeface="Arial" panose="020B0604020202020204" pitchFamily="34" charset="0"/>
                        </a:rPr>
                        <a:t>previous LD </a:t>
                      </a:r>
                      <a:r>
                        <a:rPr lang="en-US" altLang="ko-KR" sz="900" dirty="0">
                          <a:latin typeface="Arial" panose="020B0604020202020204" pitchFamily="34" charset="0"/>
                          <a:cs typeface="Arial" panose="020B0604020202020204" pitchFamily="34" charset="0"/>
                        </a:rPr>
                        <a:t>mode </a:t>
                      </a:r>
                      <a:r>
                        <a:rPr lang="en-US" altLang="ko-KR" sz="900" spc="-5" dirty="0">
                          <a:latin typeface="Arial" panose="020B0604020202020204" pitchFamily="34" charset="0"/>
                          <a:cs typeface="Arial" panose="020B0604020202020204" pitchFamily="34" charset="0"/>
                        </a:rPr>
                        <a:t>is </a:t>
                      </a:r>
                      <a:r>
                        <a:rPr lang="en-US" altLang="ko-KR" sz="900" dirty="0">
                          <a:latin typeface="Arial" panose="020B0604020202020204" pitchFamily="34" charset="0"/>
                          <a:cs typeface="Arial" panose="020B0604020202020204" pitchFamily="34" charset="0"/>
                        </a:rPr>
                        <a:t>completed at the time of the </a:t>
                      </a:r>
                      <a:r>
                        <a:rPr lang="en-US" altLang="ko-KR" sz="900" spc="-5" dirty="0">
                          <a:latin typeface="Arial" panose="020B0604020202020204" pitchFamily="34" charset="0"/>
                          <a:cs typeface="Arial" panose="020B0604020202020204" pitchFamily="34" charset="0"/>
                        </a:rPr>
                        <a:t>VSYNC </a:t>
                      </a:r>
                      <a:r>
                        <a:rPr lang="en-US" altLang="ko-KR" sz="900" dirty="0">
                          <a:latin typeface="Arial" panose="020B0604020202020204" pitchFamily="34" charset="0"/>
                          <a:cs typeface="Arial" panose="020B0604020202020204" pitchFamily="34" charset="0"/>
                        </a:rPr>
                        <a:t>sensing </a:t>
                      </a:r>
                      <a:r>
                        <a:rPr lang="en-US" altLang="ko-KR" sz="900" spc="-5" dirty="0">
                          <a:latin typeface="Arial" panose="020B0604020202020204" pitchFamily="34" charset="0"/>
                          <a:cs typeface="Arial" panose="020B0604020202020204" pitchFamily="34" charset="0"/>
                        </a:rPr>
                        <a:t>and </a:t>
                      </a:r>
                      <a:r>
                        <a:rPr lang="en-US" altLang="ko-KR" sz="900" dirty="0">
                          <a:latin typeface="Arial" panose="020B0604020202020204" pitchFamily="34" charset="0"/>
                          <a:cs typeface="Arial" panose="020B0604020202020204" pitchFamily="34" charset="0"/>
                        </a:rPr>
                        <a:t>recommended</a:t>
                      </a:r>
                      <a:r>
                        <a:rPr lang="en-US" altLang="ko-KR" sz="900" spc="-4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to</a:t>
                      </a:r>
                      <a:r>
                        <a:rPr lang="en-US" altLang="ko-KR" sz="900" spc="-1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set</a:t>
                      </a:r>
                      <a:r>
                        <a:rPr lang="en-US" altLang="ko-KR" sz="900" spc="-1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1.</a:t>
                      </a:r>
                      <a:endParaRPr lang="en-US" altLang="ko-KR" sz="900" b="0" dirty="0">
                        <a:solidFill>
                          <a:schemeClr val="tx1"/>
                        </a:solidFill>
                        <a:latin typeface="Arial"/>
                        <a:ea typeface="+mn-ea"/>
                        <a:cs typeface="Arial"/>
                      </a:endParaRPr>
                    </a:p>
                  </a:txBody>
                  <a:tcPr marL="0" marR="0" marT="36000" marB="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95670193"/>
                  </a:ext>
                </a:extLst>
              </a:tr>
              <a:tr h="309892">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6</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0" marR="0" marT="36000" marB="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spc="-5" dirty="0">
                          <a:latin typeface="Arial"/>
                          <a:cs typeface="Arial"/>
                        </a:rPr>
                        <a:t>X2</a:t>
                      </a:r>
                      <a:endParaRPr lang="en-US" altLang="ko-KR" sz="900" dirty="0">
                        <a:latin typeface="Arial"/>
                        <a:cs typeface="Arial"/>
                      </a:endParaRPr>
                    </a:p>
                  </a:txBody>
                  <a:tcPr marL="0" marR="0" marT="3600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a:ea typeface="+mn-ea"/>
                          <a:cs typeface="Arial"/>
                        </a:rPr>
                        <a:t>‘1’</a:t>
                      </a:r>
                    </a:p>
                  </a:txBody>
                  <a:tcPr marL="0" marR="0" marT="36000" marB="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spc="-10" dirty="0">
                          <a:latin typeface="Arial" panose="020B0604020202020204" pitchFamily="34" charset="0"/>
                          <a:cs typeface="Arial" panose="020B0604020202020204" pitchFamily="34" charset="0"/>
                        </a:rPr>
                        <a:t>X2</a:t>
                      </a:r>
                      <a:r>
                        <a:rPr lang="en-US" altLang="ko-KR" sz="900" dirty="0">
                          <a:latin typeface="Arial" panose="020B0604020202020204" pitchFamily="34" charset="0"/>
                          <a:cs typeface="Arial" panose="020B0604020202020204" pitchFamily="34" charset="0"/>
                        </a:rPr>
                        <a:t> local</a:t>
                      </a:r>
                      <a:r>
                        <a:rPr lang="en-US" altLang="ko-KR" sz="900" spc="-3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dimming</a:t>
                      </a:r>
                      <a:r>
                        <a:rPr lang="en-US" altLang="ko-KR" sz="900" spc="-45"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enabled.</a:t>
                      </a:r>
                      <a:endParaRPr lang="en-US" altLang="ko-KR" sz="900" b="0" dirty="0">
                        <a:solidFill>
                          <a:schemeClr val="tx1"/>
                        </a:solidFill>
                        <a:latin typeface="Arial"/>
                        <a:ea typeface="+mn-ea"/>
                        <a:cs typeface="Arial"/>
                      </a:endParaRPr>
                    </a:p>
                  </a:txBody>
                  <a:tcPr marL="0" marR="0" marT="36000" marB="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58579362"/>
                  </a:ext>
                </a:extLst>
              </a:tr>
              <a:tr h="375908">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5</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0" marR="0" marT="36000" marB="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spc="-20" dirty="0">
                          <a:latin typeface="Arial" panose="020B0604020202020204" pitchFamily="34" charset="0"/>
                          <a:cs typeface="Arial" panose="020B0604020202020204" pitchFamily="34" charset="0"/>
                        </a:rPr>
                        <a:t>X8</a:t>
                      </a:r>
                      <a:endParaRPr lang="en-US" altLang="ko-KR" sz="900" dirty="0">
                        <a:latin typeface="Arial"/>
                        <a:cs typeface="Arial"/>
                      </a:endParaRPr>
                    </a:p>
                  </a:txBody>
                  <a:tcPr marL="0" marR="0" marT="3600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a:ea typeface="+mn-ea"/>
                          <a:cs typeface="Arial"/>
                        </a:rPr>
                        <a:t>‘1’</a:t>
                      </a:r>
                    </a:p>
                  </a:txBody>
                  <a:tcPr marL="0" marR="0" marT="36000" marB="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spc="-10" dirty="0">
                          <a:latin typeface="Arial" panose="020B0604020202020204" pitchFamily="34" charset="0"/>
                          <a:cs typeface="Arial" panose="020B0604020202020204" pitchFamily="34" charset="0"/>
                        </a:rPr>
                        <a:t>X8</a:t>
                      </a:r>
                      <a:r>
                        <a:rPr lang="en-US" altLang="ko-KR" sz="900" dirty="0">
                          <a:latin typeface="Arial" panose="020B0604020202020204" pitchFamily="34" charset="0"/>
                          <a:cs typeface="Arial" panose="020B0604020202020204" pitchFamily="34" charset="0"/>
                        </a:rPr>
                        <a:t> local</a:t>
                      </a:r>
                      <a:r>
                        <a:rPr lang="en-US" altLang="ko-KR" sz="900" spc="-3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dimming</a:t>
                      </a:r>
                      <a:r>
                        <a:rPr lang="en-US" altLang="ko-KR" sz="900" spc="-45"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enabled.</a:t>
                      </a:r>
                      <a:endParaRPr lang="en-US" altLang="ko-KR" sz="900" b="0" dirty="0">
                        <a:solidFill>
                          <a:schemeClr val="tx1"/>
                        </a:solidFill>
                        <a:latin typeface="Arial"/>
                        <a:ea typeface="+mn-ea"/>
                        <a:cs typeface="Arial"/>
                      </a:endParaRPr>
                    </a:p>
                  </a:txBody>
                  <a:tcPr marL="0" marR="0" marT="36000" marB="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02780645"/>
                  </a:ext>
                </a:extLst>
              </a:tr>
              <a:tr h="38100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4</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0" marR="0" marT="36000" marB="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spc="-5" dirty="0">
                          <a:latin typeface="Arial" panose="020B0604020202020204" pitchFamily="34" charset="0"/>
                          <a:cs typeface="Arial" panose="020B0604020202020204" pitchFamily="34" charset="0"/>
                        </a:rPr>
                        <a:t>NORMAL</a:t>
                      </a:r>
                      <a:endParaRPr lang="en-US" altLang="ko-KR" sz="900" dirty="0">
                        <a:latin typeface="Arial"/>
                        <a:cs typeface="Arial"/>
                      </a:endParaRPr>
                    </a:p>
                  </a:txBody>
                  <a:tcPr marL="0" marR="0" marT="3600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a:ea typeface="+mn-ea"/>
                          <a:cs typeface="Arial"/>
                        </a:rPr>
                        <a:t>‘1’</a:t>
                      </a:r>
                    </a:p>
                  </a:txBody>
                  <a:tcPr marL="0" marR="0" marT="36000" marB="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spc="-10" dirty="0">
                          <a:latin typeface="Arial" panose="020B0604020202020204" pitchFamily="34" charset="0"/>
                          <a:cs typeface="Arial" panose="020B0604020202020204" pitchFamily="34" charset="0"/>
                        </a:rPr>
                        <a:t>NORMAL</a:t>
                      </a:r>
                      <a:r>
                        <a:rPr lang="en-US" altLang="ko-KR" sz="900" spc="15"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local</a:t>
                      </a:r>
                      <a:r>
                        <a:rPr lang="en-US" altLang="ko-KR" sz="900" spc="-3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dimming</a:t>
                      </a:r>
                      <a:r>
                        <a:rPr lang="en-US" altLang="ko-KR" sz="900" spc="-4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enabled.</a:t>
                      </a:r>
                      <a:endParaRPr lang="en-US" altLang="ko-KR" sz="900" b="0" dirty="0">
                        <a:solidFill>
                          <a:schemeClr val="tx1"/>
                        </a:solidFill>
                        <a:latin typeface="Arial"/>
                        <a:ea typeface="+mn-ea"/>
                        <a:cs typeface="Arial"/>
                      </a:endParaRPr>
                    </a:p>
                  </a:txBody>
                  <a:tcPr marL="0" marR="0" marT="36000" marB="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30913409"/>
                  </a:ext>
                </a:extLst>
              </a:tr>
              <a:tr h="408746">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0" marR="0" marT="36000" marB="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spc="-5" dirty="0">
                          <a:latin typeface="Arial" panose="020B0604020202020204" pitchFamily="34" charset="0"/>
                          <a:cs typeface="Arial" panose="020B0604020202020204" pitchFamily="34" charset="0"/>
                        </a:rPr>
                        <a:t>DRV_MODE</a:t>
                      </a:r>
                      <a:endParaRPr lang="en-US" altLang="ko-KR" sz="900" dirty="0">
                        <a:latin typeface="Arial"/>
                        <a:cs typeface="Arial"/>
                      </a:endParaRPr>
                    </a:p>
                  </a:txBody>
                  <a:tcPr marL="0" marR="0" marT="3600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a:ea typeface="+mn-ea"/>
                          <a:cs typeface="Arial"/>
                        </a:rPr>
                        <a:t>‘0’</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a:ea typeface="+mn-ea"/>
                          <a:cs typeface="Arial"/>
                        </a:rPr>
                        <a:t>‘1’</a:t>
                      </a:r>
                    </a:p>
                  </a:txBody>
                  <a:tcPr marL="0" marR="0" marT="36000" marB="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dirty="0">
                          <a:latin typeface="Arial" panose="020B0604020202020204" pitchFamily="34" charset="0"/>
                          <a:cs typeface="Arial" panose="020B0604020202020204" pitchFamily="34" charset="0"/>
                        </a:rPr>
                        <a:t>Single</a:t>
                      </a:r>
                      <a:r>
                        <a:rPr lang="en-US" altLang="ko-KR" sz="900" spc="-25" dirty="0">
                          <a:latin typeface="Arial" panose="020B0604020202020204" pitchFamily="34" charset="0"/>
                          <a:cs typeface="Arial" panose="020B0604020202020204" pitchFamily="34" charset="0"/>
                        </a:rPr>
                        <a:t> </a:t>
                      </a:r>
                      <a:r>
                        <a:rPr lang="en-US" altLang="ko-KR" sz="900" spc="-5" dirty="0">
                          <a:latin typeface="Arial" panose="020B0604020202020204" pitchFamily="34" charset="0"/>
                          <a:cs typeface="Arial" panose="020B0604020202020204" pitchFamily="34" charset="0"/>
                        </a:rPr>
                        <a:t>drive</a:t>
                      </a:r>
                      <a:r>
                        <a:rPr lang="en-US" altLang="ko-KR" sz="900" spc="-25"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mode</a:t>
                      </a:r>
                      <a:r>
                        <a:rPr lang="en-US" altLang="ko-KR" sz="900" spc="-3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enabled.</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spc="-5" dirty="0">
                          <a:latin typeface="Arial" panose="020B0604020202020204" pitchFamily="34" charset="0"/>
                          <a:cs typeface="Arial" panose="020B0604020202020204" pitchFamily="34" charset="0"/>
                        </a:rPr>
                        <a:t>Dual</a:t>
                      </a:r>
                      <a:r>
                        <a:rPr lang="en-US" altLang="ko-KR" sz="900" spc="-20" dirty="0">
                          <a:latin typeface="Arial" panose="020B0604020202020204" pitchFamily="34" charset="0"/>
                          <a:cs typeface="Arial" panose="020B0604020202020204" pitchFamily="34" charset="0"/>
                        </a:rPr>
                        <a:t> </a:t>
                      </a:r>
                      <a:r>
                        <a:rPr lang="en-US" altLang="ko-KR" sz="900" spc="-5" dirty="0">
                          <a:latin typeface="Arial" panose="020B0604020202020204" pitchFamily="34" charset="0"/>
                          <a:cs typeface="Arial" panose="020B0604020202020204" pitchFamily="34" charset="0"/>
                        </a:rPr>
                        <a:t>drive</a:t>
                      </a:r>
                      <a:r>
                        <a:rPr lang="en-US" altLang="ko-KR" sz="900" spc="-1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mode</a:t>
                      </a:r>
                      <a:r>
                        <a:rPr lang="en-US" altLang="ko-KR" sz="900" spc="-25"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enabled.</a:t>
                      </a:r>
                      <a:endParaRPr lang="en-US" altLang="ko-KR" sz="900" b="0" dirty="0">
                        <a:solidFill>
                          <a:schemeClr val="tx1"/>
                        </a:solidFill>
                        <a:latin typeface="Arial"/>
                        <a:ea typeface="+mn-ea"/>
                        <a:cs typeface="Arial"/>
                      </a:endParaRPr>
                    </a:p>
                  </a:txBody>
                  <a:tcPr marL="0" marR="0" marT="36000" marB="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89140048"/>
                  </a:ext>
                </a:extLst>
              </a:tr>
            </a:tbl>
          </a:graphicData>
        </a:graphic>
      </p:graphicFrame>
      <p:sp>
        <p:nvSpPr>
          <p:cNvPr id="11" name="object 9">
            <a:extLst>
              <a:ext uri="{FF2B5EF4-FFF2-40B4-BE49-F238E27FC236}">
                <a16:creationId xmlns:a16="http://schemas.microsoft.com/office/drawing/2014/main" id="{52BE4EB8-7576-4FBC-A1C0-30F21213F89B}"/>
              </a:ext>
            </a:extLst>
          </p:cNvPr>
          <p:cNvSpPr txBox="1"/>
          <p:nvPr/>
        </p:nvSpPr>
        <p:spPr>
          <a:xfrm>
            <a:off x="304800" y="9067800"/>
            <a:ext cx="2078355" cy="289823"/>
          </a:xfrm>
          <a:prstGeom prst="rect">
            <a:avLst/>
          </a:prstGeom>
        </p:spPr>
        <p:txBody>
          <a:bodyPr vert="horz" wrap="square" lIns="0" tIns="12700" rIns="0" bIns="0" rtlCol="0">
            <a:spAutoFit/>
          </a:bodyPr>
          <a:lstStyle/>
          <a:p>
            <a:pPr marL="12700">
              <a:lnSpc>
                <a:spcPct val="100000"/>
              </a:lnSpc>
              <a:spcBef>
                <a:spcPts val="100"/>
              </a:spcBef>
            </a:pPr>
            <a:r>
              <a:rPr b="1" spc="-5" dirty="0">
                <a:solidFill>
                  <a:srgbClr val="FF0000"/>
                </a:solidFill>
                <a:cs typeface="Perpetua Titling MT"/>
              </a:rPr>
              <a:t>CONFIDENTIAL</a:t>
            </a:r>
            <a:endParaRPr dirty="0">
              <a:cs typeface="Perpetua Titling MT"/>
            </a:endParaRPr>
          </a:p>
        </p:txBody>
      </p:sp>
      <p:sp>
        <p:nvSpPr>
          <p:cNvPr id="12" name="object 6">
            <a:extLst>
              <a:ext uri="{FF2B5EF4-FFF2-40B4-BE49-F238E27FC236}">
                <a16:creationId xmlns:a16="http://schemas.microsoft.com/office/drawing/2014/main" id="{4F9B9B4E-450D-889E-0515-184D6CE09B28}"/>
              </a:ext>
            </a:extLst>
          </p:cNvPr>
          <p:cNvSpPr/>
          <p:nvPr/>
        </p:nvSpPr>
        <p:spPr>
          <a:xfrm>
            <a:off x="301676" y="9458756"/>
            <a:ext cx="6246495" cy="0"/>
          </a:xfrm>
          <a:custGeom>
            <a:avLst/>
            <a:gdLst/>
            <a:ahLst/>
            <a:cxnLst/>
            <a:rect l="l" t="t" r="r" b="b"/>
            <a:pathLst>
              <a:path w="6246495">
                <a:moveTo>
                  <a:pt x="0" y="0"/>
                </a:moveTo>
                <a:lnTo>
                  <a:pt x="6245999" y="0"/>
                </a:lnTo>
              </a:path>
            </a:pathLst>
          </a:custGeom>
          <a:ln w="25920">
            <a:solidFill>
              <a:srgbClr val="BFBFBF"/>
            </a:solidFill>
          </a:ln>
        </p:spPr>
        <p:txBody>
          <a:bodyPr wrap="square" lIns="0" tIns="0" rIns="0" bIns="0" rtlCol="0"/>
          <a:lstStyle/>
          <a:p>
            <a:endParaRPr/>
          </a:p>
        </p:txBody>
      </p:sp>
      <p:sp>
        <p:nvSpPr>
          <p:cNvPr id="13" name="슬라이드 번호 개체 틀 3">
            <a:hlinkClick r:id="rId2"/>
            <a:extLst>
              <a:ext uri="{FF2B5EF4-FFF2-40B4-BE49-F238E27FC236}">
                <a16:creationId xmlns:a16="http://schemas.microsoft.com/office/drawing/2014/main" id="{64A8AF16-4AD9-0560-52E4-2CEF3ED4B2CF}"/>
              </a:ext>
            </a:extLst>
          </p:cNvPr>
          <p:cNvSpPr txBox="1">
            <a:spLocks/>
          </p:cNvSpPr>
          <p:nvPr/>
        </p:nvSpPr>
        <p:spPr>
          <a:xfrm>
            <a:off x="5151602" y="9452864"/>
            <a:ext cx="1487550"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dirty="0">
                <a:solidFill>
                  <a:prstClr val="black"/>
                </a:solidFill>
                <a:latin typeface="Arial" panose="020B0604020202020204" pitchFamily="34" charset="0"/>
                <a:cs typeface="Arial" panose="020B0604020202020204" pitchFamily="34" charset="0"/>
              </a:rPr>
              <a:t>http://www.glbltech.com/</a:t>
            </a:r>
            <a:endParaRPr lang="ko-KR" altLang="en-US" dirty="0">
              <a:solidFill>
                <a:prstClr val="black"/>
              </a:solidFill>
              <a:latin typeface="Arial" panose="020B0604020202020204" pitchFamily="34" charset="0"/>
              <a:cs typeface="Arial" panose="020B0604020202020204" pitchFamily="34" charset="0"/>
            </a:endParaRPr>
          </a:p>
        </p:txBody>
      </p:sp>
      <p:sp>
        <p:nvSpPr>
          <p:cNvPr id="14" name="object 38">
            <a:extLst>
              <a:ext uri="{FF2B5EF4-FFF2-40B4-BE49-F238E27FC236}">
                <a16:creationId xmlns:a16="http://schemas.microsoft.com/office/drawing/2014/main" id="{DA014060-6840-859B-0532-DC7853F9008C}"/>
              </a:ext>
            </a:extLst>
          </p:cNvPr>
          <p:cNvSpPr txBox="1">
            <a:spLocks/>
          </p:cNvSpPr>
          <p:nvPr/>
        </p:nvSpPr>
        <p:spPr>
          <a:xfrm>
            <a:off x="3309066" y="9547988"/>
            <a:ext cx="487045" cy="139141"/>
          </a:xfrm>
          <a:prstGeom prst="rect">
            <a:avLst/>
          </a:prstGeom>
        </p:spPr>
        <p:txBody>
          <a:bodyPr vert="horz" wrap="square" lIns="0" tIns="635" rIns="0" bIns="0" rtlCol="0">
            <a:spAutoFit/>
          </a:bodyPr>
          <a:lstStyle>
            <a:defPPr>
              <a:defRPr lang="ko-KR"/>
            </a:defPPr>
            <a:lvl1pPr marL="0" algn="l" defTabSz="914400" rtl="0" eaLnBrk="1" latinLnBrk="1" hangingPunct="1">
              <a:defRPr sz="1050" b="0" i="0" kern="1200">
                <a:solidFill>
                  <a:schemeClr val="tx1"/>
                </a:solidFill>
                <a:latin typeface="Arial"/>
                <a:ea typeface="+mn-ea"/>
                <a:cs typeface="Arial"/>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marL="12700">
              <a:spcBef>
                <a:spcPts val="5"/>
              </a:spcBef>
              <a:defRPr/>
            </a:pPr>
            <a:r>
              <a:rPr lang="en-US" sz="900" dirty="0">
                <a:solidFill>
                  <a:prstClr val="black"/>
                </a:solidFill>
              </a:rPr>
              <a:t>Page</a:t>
            </a:r>
            <a:r>
              <a:rPr lang="en-US" sz="900" spc="-60" dirty="0">
                <a:solidFill>
                  <a:prstClr val="black"/>
                </a:solidFill>
              </a:rPr>
              <a:t> </a:t>
            </a:r>
            <a:fld id="{81D60167-4931-47E6-BA6A-407CBD079E47}" type="slidenum">
              <a:rPr sz="900">
                <a:solidFill>
                  <a:prstClr val="black"/>
                </a:solidFill>
              </a:rPr>
              <a:pPr marL="12700">
                <a:spcBef>
                  <a:spcPts val="5"/>
                </a:spcBef>
                <a:defRPr/>
              </a:pPr>
              <a:t>31</a:t>
            </a:fld>
            <a:endParaRPr sz="900" dirty="0">
              <a:solidFill>
                <a:prstClr val="black"/>
              </a:solidFill>
            </a:endParaRPr>
          </a:p>
        </p:txBody>
      </p:sp>
      <p:sp>
        <p:nvSpPr>
          <p:cNvPr id="15" name="슬라이드 번호 개체 틀 3">
            <a:extLst>
              <a:ext uri="{FF2B5EF4-FFF2-40B4-BE49-F238E27FC236}">
                <a16:creationId xmlns:a16="http://schemas.microsoft.com/office/drawing/2014/main" id="{4A03C448-1EEB-B5A3-A769-CFC21C78BC9D}"/>
              </a:ext>
            </a:extLst>
          </p:cNvPr>
          <p:cNvSpPr txBox="1">
            <a:spLocks/>
          </p:cNvSpPr>
          <p:nvPr/>
        </p:nvSpPr>
        <p:spPr>
          <a:xfrm>
            <a:off x="299401" y="9520856"/>
            <a:ext cx="2060991" cy="175259"/>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lang="en-US" altLang="ko-KR" dirty="0">
                <a:solidFill>
                  <a:prstClr val="black"/>
                </a:solidFill>
                <a:latin typeface="Arial" panose="020B0604020202020204" pitchFamily="34" charset="0"/>
                <a:cs typeface="Arial" panose="020B0604020202020204" pitchFamily="34" charset="0"/>
              </a:rPr>
              <a:t>Dated 30-Nov 23  Rev. 01</a:t>
            </a:r>
            <a:endParaRPr lang="ko-KR" altLang="en-US" dirty="0">
              <a:solidFill>
                <a:prstClr val="black"/>
              </a:solidFill>
              <a:latin typeface="Arial" panose="020B0604020202020204" pitchFamily="34" charset="0"/>
              <a:cs typeface="Arial" panose="020B0604020202020204" pitchFamily="34" charset="0"/>
            </a:endParaRPr>
          </a:p>
        </p:txBody>
      </p:sp>
      <p:sp>
        <p:nvSpPr>
          <p:cNvPr id="16" name="Holder 3">
            <a:extLst>
              <a:ext uri="{FF2B5EF4-FFF2-40B4-BE49-F238E27FC236}">
                <a16:creationId xmlns:a16="http://schemas.microsoft.com/office/drawing/2014/main" id="{772853AB-BBE0-8E81-5279-9834D188970D}"/>
              </a:ext>
            </a:extLst>
          </p:cNvPr>
          <p:cNvSpPr txBox="1">
            <a:spLocks/>
          </p:cNvSpPr>
          <p:nvPr/>
        </p:nvSpPr>
        <p:spPr>
          <a:xfrm>
            <a:off x="5147476" y="203944"/>
            <a:ext cx="1447800" cy="276999"/>
          </a:xfrm>
          <a:prstGeom prst="rect">
            <a:avLst/>
          </a:prstGeom>
        </p:spPr>
        <p:txBody>
          <a:bodyPr wrap="square" lIns="0" tIns="0" rIns="0" bIns="0">
            <a:spAutoFit/>
          </a:bodyPr>
          <a:lstStyle>
            <a:lvl1pPr marL="0">
              <a:defRPr>
                <a:solidFill>
                  <a:srgbClr val="FF99FF"/>
                </a:solidFill>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defTabSz="914400" latinLnBrk="0"/>
            <a:r>
              <a:rPr lang="en-US" sz="1800" kern="0" dirty="0"/>
              <a:t>&lt;Preliminary&gt;</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p:nvPr/>
        </p:nvSpPr>
        <p:spPr>
          <a:xfrm>
            <a:off x="400913" y="301879"/>
            <a:ext cx="622935" cy="299720"/>
          </a:xfrm>
          <a:prstGeom prst="rect">
            <a:avLst/>
          </a:prstGeom>
        </p:spPr>
        <p:txBody>
          <a:bodyPr vert="horz" wrap="square" lIns="0" tIns="12700" rIns="0" bIns="0" rtlCol="0">
            <a:spAutoFit/>
          </a:bodyPr>
          <a:lstStyle/>
          <a:p>
            <a:pPr marL="12700">
              <a:lnSpc>
                <a:spcPct val="100000"/>
              </a:lnSpc>
              <a:spcBef>
                <a:spcPts val="100"/>
              </a:spcBef>
            </a:pPr>
            <a:r>
              <a:rPr sz="1800" b="1" spc="-5" dirty="0">
                <a:latin typeface="Arial"/>
                <a:cs typeface="Arial"/>
              </a:rPr>
              <a:t>CQ24</a:t>
            </a:r>
            <a:endParaRPr sz="1800" dirty="0">
              <a:latin typeface="Arial"/>
              <a:cs typeface="Arial"/>
            </a:endParaRPr>
          </a:p>
        </p:txBody>
      </p:sp>
      <p:graphicFrame>
        <p:nvGraphicFramePr>
          <p:cNvPr id="5" name="object 5"/>
          <p:cNvGraphicFramePr>
            <a:graphicFrameLocks noGrp="1"/>
          </p:cNvGraphicFramePr>
          <p:nvPr>
            <p:extLst>
              <p:ext uri="{D42A27DB-BD31-4B8C-83A1-F6EECF244321}">
                <p14:modId xmlns:p14="http://schemas.microsoft.com/office/powerpoint/2010/main" val="2657768029"/>
              </p:ext>
            </p:extLst>
          </p:nvPr>
        </p:nvGraphicFramePr>
        <p:xfrm>
          <a:off x="400912" y="1172781"/>
          <a:ext cx="6038542" cy="372110"/>
        </p:xfrm>
        <a:graphic>
          <a:graphicData uri="http://schemas.openxmlformats.org/drawingml/2006/table">
            <a:tbl>
              <a:tblPr firstRow="1" bandRow="1">
                <a:tableStyleId>{2D5ABB26-0587-4C30-8999-92F81FD0307C}</a:tableStyleId>
              </a:tblPr>
              <a:tblGrid>
                <a:gridCol w="381972">
                  <a:extLst>
                    <a:ext uri="{9D8B030D-6E8A-4147-A177-3AD203B41FA5}">
                      <a16:colId xmlns:a16="http://schemas.microsoft.com/office/drawing/2014/main" val="20000"/>
                    </a:ext>
                  </a:extLst>
                </a:gridCol>
                <a:gridCol w="439236">
                  <a:extLst>
                    <a:ext uri="{9D8B030D-6E8A-4147-A177-3AD203B41FA5}">
                      <a16:colId xmlns:a16="http://schemas.microsoft.com/office/drawing/2014/main" val="20001"/>
                    </a:ext>
                  </a:extLst>
                </a:gridCol>
                <a:gridCol w="415952">
                  <a:extLst>
                    <a:ext uri="{9D8B030D-6E8A-4147-A177-3AD203B41FA5}">
                      <a16:colId xmlns:a16="http://schemas.microsoft.com/office/drawing/2014/main" val="20002"/>
                    </a:ext>
                  </a:extLst>
                </a:gridCol>
                <a:gridCol w="238496">
                  <a:extLst>
                    <a:ext uri="{9D8B030D-6E8A-4147-A177-3AD203B41FA5}">
                      <a16:colId xmlns:a16="http://schemas.microsoft.com/office/drawing/2014/main" val="20003"/>
                    </a:ext>
                  </a:extLst>
                </a:gridCol>
                <a:gridCol w="588374">
                  <a:extLst>
                    <a:ext uri="{9D8B030D-6E8A-4147-A177-3AD203B41FA5}">
                      <a16:colId xmlns:a16="http://schemas.microsoft.com/office/drawing/2014/main" val="20004"/>
                    </a:ext>
                  </a:extLst>
                </a:gridCol>
                <a:gridCol w="238495">
                  <a:extLst>
                    <a:ext uri="{9D8B030D-6E8A-4147-A177-3AD203B41FA5}">
                      <a16:colId xmlns:a16="http://schemas.microsoft.com/office/drawing/2014/main" val="20005"/>
                    </a:ext>
                  </a:extLst>
                </a:gridCol>
                <a:gridCol w="542436">
                  <a:extLst>
                    <a:ext uri="{9D8B030D-6E8A-4147-A177-3AD203B41FA5}">
                      <a16:colId xmlns:a16="http://schemas.microsoft.com/office/drawing/2014/main" val="20006"/>
                    </a:ext>
                  </a:extLst>
                </a:gridCol>
                <a:gridCol w="542436">
                  <a:extLst>
                    <a:ext uri="{9D8B030D-6E8A-4147-A177-3AD203B41FA5}">
                      <a16:colId xmlns:a16="http://schemas.microsoft.com/office/drawing/2014/main" val="20007"/>
                    </a:ext>
                  </a:extLst>
                </a:gridCol>
                <a:gridCol w="673956">
                  <a:extLst>
                    <a:ext uri="{9D8B030D-6E8A-4147-A177-3AD203B41FA5}">
                      <a16:colId xmlns:a16="http://schemas.microsoft.com/office/drawing/2014/main" val="20008"/>
                    </a:ext>
                  </a:extLst>
                </a:gridCol>
                <a:gridCol w="599701">
                  <a:extLst>
                    <a:ext uri="{9D8B030D-6E8A-4147-A177-3AD203B41FA5}">
                      <a16:colId xmlns:a16="http://schemas.microsoft.com/office/drawing/2014/main" val="20009"/>
                    </a:ext>
                  </a:extLst>
                </a:gridCol>
                <a:gridCol w="599701">
                  <a:extLst>
                    <a:ext uri="{9D8B030D-6E8A-4147-A177-3AD203B41FA5}">
                      <a16:colId xmlns:a16="http://schemas.microsoft.com/office/drawing/2014/main" val="20010"/>
                    </a:ext>
                  </a:extLst>
                </a:gridCol>
                <a:gridCol w="273735">
                  <a:extLst>
                    <a:ext uri="{9D8B030D-6E8A-4147-A177-3AD203B41FA5}">
                      <a16:colId xmlns:a16="http://schemas.microsoft.com/office/drawing/2014/main" val="20011"/>
                    </a:ext>
                  </a:extLst>
                </a:gridCol>
                <a:gridCol w="504052">
                  <a:extLst>
                    <a:ext uri="{9D8B030D-6E8A-4147-A177-3AD203B41FA5}">
                      <a16:colId xmlns:a16="http://schemas.microsoft.com/office/drawing/2014/main" val="20012"/>
                    </a:ext>
                  </a:extLst>
                </a:gridCol>
              </a:tblGrid>
              <a:tr h="193675">
                <a:tc>
                  <a:txBody>
                    <a:bodyPr/>
                    <a:lstStyle/>
                    <a:p>
                      <a:pPr algn="ctr">
                        <a:lnSpc>
                          <a:spcPct val="100000"/>
                        </a:lnSpc>
                        <a:spcBef>
                          <a:spcPts val="265"/>
                        </a:spcBef>
                      </a:pPr>
                      <a:r>
                        <a:rPr sz="800" dirty="0">
                          <a:latin typeface="Arial"/>
                          <a:cs typeface="Arial"/>
                        </a:rPr>
                        <a:t>A[1:0]</a:t>
                      </a: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algn="ctr">
                        <a:lnSpc>
                          <a:spcPct val="100000"/>
                        </a:lnSpc>
                        <a:spcBef>
                          <a:spcPts val="265"/>
                        </a:spcBef>
                      </a:pPr>
                      <a:r>
                        <a:rPr sz="800" spc="-5" dirty="0">
                          <a:latin typeface="Arial"/>
                          <a:cs typeface="Arial"/>
                        </a:rPr>
                        <a:t>Default</a:t>
                      </a:r>
                      <a:endParaRPr sz="8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635" algn="ctr">
                        <a:lnSpc>
                          <a:spcPct val="100000"/>
                        </a:lnSpc>
                        <a:spcBef>
                          <a:spcPts val="265"/>
                        </a:spcBef>
                      </a:pPr>
                      <a:r>
                        <a:rPr sz="800" spc="-5" dirty="0">
                          <a:latin typeface="Arial"/>
                          <a:cs typeface="Arial"/>
                        </a:rPr>
                        <a:t>D10</a:t>
                      </a:r>
                      <a:endParaRPr sz="8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54610">
                        <a:lnSpc>
                          <a:spcPct val="100000"/>
                        </a:lnSpc>
                        <a:spcBef>
                          <a:spcPts val="265"/>
                        </a:spcBef>
                      </a:pPr>
                      <a:r>
                        <a:rPr sz="800" spc="-5" dirty="0">
                          <a:latin typeface="Arial"/>
                          <a:cs typeface="Arial"/>
                        </a:rPr>
                        <a:t>D9</a:t>
                      </a:r>
                      <a:endParaRPr sz="8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algn="ctr">
                        <a:lnSpc>
                          <a:spcPct val="100000"/>
                        </a:lnSpc>
                        <a:spcBef>
                          <a:spcPts val="265"/>
                        </a:spcBef>
                      </a:pPr>
                      <a:r>
                        <a:rPr sz="800" spc="-5" dirty="0">
                          <a:latin typeface="Arial"/>
                          <a:cs typeface="Arial"/>
                        </a:rPr>
                        <a:t>D8</a:t>
                      </a:r>
                      <a:endParaRPr sz="8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algn="ctr">
                        <a:lnSpc>
                          <a:spcPct val="100000"/>
                        </a:lnSpc>
                        <a:spcBef>
                          <a:spcPts val="265"/>
                        </a:spcBef>
                      </a:pPr>
                      <a:r>
                        <a:rPr sz="800" spc="-5" dirty="0">
                          <a:latin typeface="Arial"/>
                          <a:cs typeface="Arial"/>
                        </a:rPr>
                        <a:t>D7</a:t>
                      </a:r>
                      <a:endParaRPr sz="8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algn="ctr">
                        <a:lnSpc>
                          <a:spcPct val="100000"/>
                        </a:lnSpc>
                        <a:spcBef>
                          <a:spcPts val="265"/>
                        </a:spcBef>
                      </a:pPr>
                      <a:r>
                        <a:rPr sz="800" spc="-5" dirty="0">
                          <a:latin typeface="Arial"/>
                          <a:cs typeface="Arial"/>
                        </a:rPr>
                        <a:t>D6</a:t>
                      </a:r>
                      <a:endParaRPr sz="8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635" algn="ctr">
                        <a:lnSpc>
                          <a:spcPct val="100000"/>
                        </a:lnSpc>
                        <a:spcBef>
                          <a:spcPts val="265"/>
                        </a:spcBef>
                      </a:pPr>
                      <a:r>
                        <a:rPr sz="800" spc="-5" dirty="0">
                          <a:latin typeface="Arial"/>
                          <a:cs typeface="Arial"/>
                        </a:rPr>
                        <a:t>D5</a:t>
                      </a:r>
                      <a:endParaRPr sz="8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1905" algn="ctr">
                        <a:lnSpc>
                          <a:spcPct val="100000"/>
                        </a:lnSpc>
                        <a:spcBef>
                          <a:spcPts val="265"/>
                        </a:spcBef>
                      </a:pPr>
                      <a:r>
                        <a:rPr sz="800" spc="-5" dirty="0">
                          <a:latin typeface="Arial"/>
                          <a:cs typeface="Arial"/>
                        </a:rPr>
                        <a:t>D4</a:t>
                      </a:r>
                      <a:endParaRPr sz="8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algn="ctr">
                        <a:lnSpc>
                          <a:spcPct val="100000"/>
                        </a:lnSpc>
                        <a:spcBef>
                          <a:spcPts val="265"/>
                        </a:spcBef>
                      </a:pPr>
                      <a:r>
                        <a:rPr sz="800" spc="-5" dirty="0">
                          <a:latin typeface="Arial"/>
                          <a:cs typeface="Arial"/>
                        </a:rPr>
                        <a:t>D3</a:t>
                      </a:r>
                      <a:endParaRPr sz="8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635" algn="ctr">
                        <a:lnSpc>
                          <a:spcPct val="100000"/>
                        </a:lnSpc>
                        <a:spcBef>
                          <a:spcPts val="265"/>
                        </a:spcBef>
                      </a:pPr>
                      <a:r>
                        <a:rPr sz="800" spc="-5" dirty="0">
                          <a:latin typeface="Arial"/>
                          <a:cs typeface="Arial"/>
                        </a:rPr>
                        <a:t>D2</a:t>
                      </a:r>
                      <a:endParaRPr sz="8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1905" algn="ctr">
                        <a:lnSpc>
                          <a:spcPct val="100000"/>
                        </a:lnSpc>
                        <a:spcBef>
                          <a:spcPts val="265"/>
                        </a:spcBef>
                      </a:pPr>
                      <a:r>
                        <a:rPr sz="800" spc="-5" dirty="0">
                          <a:latin typeface="Arial"/>
                          <a:cs typeface="Arial"/>
                        </a:rPr>
                        <a:t>D1</a:t>
                      </a:r>
                      <a:endParaRPr sz="8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1905" algn="ctr">
                        <a:lnSpc>
                          <a:spcPct val="100000"/>
                        </a:lnSpc>
                        <a:spcBef>
                          <a:spcPts val="265"/>
                        </a:spcBef>
                      </a:pPr>
                      <a:r>
                        <a:rPr sz="800" spc="-5" dirty="0">
                          <a:latin typeface="Arial"/>
                          <a:cs typeface="Arial"/>
                        </a:rPr>
                        <a:t>D0</a:t>
                      </a:r>
                      <a:endParaRPr sz="8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extLst>
                  <a:ext uri="{0D108BD9-81ED-4DB2-BD59-A6C34878D82A}">
                    <a16:rowId xmlns:a16="http://schemas.microsoft.com/office/drawing/2014/main" val="10000"/>
                  </a:ext>
                </a:extLst>
              </a:tr>
              <a:tr h="178435">
                <a:tc>
                  <a:txBody>
                    <a:bodyPr/>
                    <a:lstStyle/>
                    <a:p>
                      <a:pPr algn="ctr">
                        <a:lnSpc>
                          <a:spcPct val="100000"/>
                        </a:lnSpc>
                        <a:spcBef>
                          <a:spcPts val="265"/>
                        </a:spcBef>
                      </a:pPr>
                      <a:r>
                        <a:rPr sz="700" spc="-10" dirty="0">
                          <a:latin typeface="Arial"/>
                          <a:cs typeface="Arial"/>
                        </a:rPr>
                        <a:t>‘2b10</a:t>
                      </a:r>
                      <a:endParaRPr sz="7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algn="ctr">
                        <a:lnSpc>
                          <a:spcPct val="100000"/>
                        </a:lnSpc>
                        <a:spcBef>
                          <a:spcPts val="265"/>
                        </a:spcBef>
                      </a:pPr>
                      <a:r>
                        <a:rPr sz="700" dirty="0">
                          <a:latin typeface="Arial"/>
                          <a:cs typeface="Arial"/>
                        </a:rPr>
                        <a:t>0</a:t>
                      </a: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algn="ctr">
                        <a:lnSpc>
                          <a:spcPct val="100000"/>
                        </a:lnSpc>
                        <a:spcBef>
                          <a:spcPts val="245"/>
                        </a:spcBef>
                      </a:pPr>
                      <a:r>
                        <a:rPr sz="700" spc="-5" dirty="0">
                          <a:latin typeface="Arial"/>
                          <a:cs typeface="Arial"/>
                        </a:rPr>
                        <a:t>DUP_O</a:t>
                      </a:r>
                      <a:endParaRPr sz="700" dirty="0">
                        <a:latin typeface="Arial"/>
                        <a:cs typeface="Arial"/>
                      </a:endParaRPr>
                    </a:p>
                  </a:txBody>
                  <a:tcPr marL="0" marR="0" marT="3111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99060">
                        <a:lnSpc>
                          <a:spcPct val="100000"/>
                        </a:lnSpc>
                        <a:spcBef>
                          <a:spcPts val="265"/>
                        </a:spcBef>
                      </a:pPr>
                      <a:r>
                        <a:rPr sz="700" dirty="0">
                          <a:latin typeface="Arial"/>
                          <a:cs typeface="Arial"/>
                        </a:rPr>
                        <a:t>x</a:t>
                      </a: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algn="ctr">
                        <a:lnSpc>
                          <a:spcPct val="100000"/>
                        </a:lnSpc>
                        <a:spcBef>
                          <a:spcPts val="245"/>
                        </a:spcBef>
                      </a:pPr>
                      <a:r>
                        <a:rPr sz="700" spc="-5" dirty="0">
                          <a:latin typeface="Arial"/>
                          <a:cs typeface="Arial"/>
                        </a:rPr>
                        <a:t>LD_FORCE</a:t>
                      </a:r>
                      <a:endParaRPr sz="700" dirty="0">
                        <a:latin typeface="Arial"/>
                        <a:cs typeface="Arial"/>
                      </a:endParaRPr>
                    </a:p>
                  </a:txBody>
                  <a:tcPr marL="0" marR="0" marT="3111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1905" algn="ctr">
                        <a:lnSpc>
                          <a:spcPct val="100000"/>
                        </a:lnSpc>
                        <a:spcBef>
                          <a:spcPts val="265"/>
                        </a:spcBef>
                      </a:pPr>
                      <a:r>
                        <a:rPr sz="700" dirty="0">
                          <a:latin typeface="Arial"/>
                          <a:cs typeface="Arial"/>
                        </a:rPr>
                        <a:t>x</a:t>
                      </a: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3175" algn="ctr">
                        <a:lnSpc>
                          <a:spcPct val="100000"/>
                        </a:lnSpc>
                        <a:spcBef>
                          <a:spcPts val="265"/>
                        </a:spcBef>
                      </a:pPr>
                      <a:r>
                        <a:rPr sz="700" spc="-10" dirty="0">
                          <a:latin typeface="Arial"/>
                          <a:cs typeface="Arial"/>
                        </a:rPr>
                        <a:t>LD_I_FIX</a:t>
                      </a:r>
                      <a:endParaRPr sz="7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3175" algn="ctr">
                        <a:lnSpc>
                          <a:spcPct val="100000"/>
                        </a:lnSpc>
                        <a:spcBef>
                          <a:spcPts val="265"/>
                        </a:spcBef>
                      </a:pPr>
                      <a:r>
                        <a:rPr sz="700" spc="-10" dirty="0">
                          <a:latin typeface="Arial"/>
                          <a:cs typeface="Arial"/>
                        </a:rPr>
                        <a:t>DUTY_FIX</a:t>
                      </a:r>
                      <a:endParaRPr sz="7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2540" algn="ctr">
                        <a:lnSpc>
                          <a:spcPct val="100000"/>
                        </a:lnSpc>
                        <a:spcBef>
                          <a:spcPts val="265"/>
                        </a:spcBef>
                      </a:pPr>
                      <a:r>
                        <a:rPr sz="700" spc="-5" dirty="0">
                          <a:latin typeface="Arial"/>
                          <a:cs typeface="Arial"/>
                        </a:rPr>
                        <a:t>HEADER_FIX</a:t>
                      </a:r>
                      <a:endParaRPr sz="7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635" algn="ctr">
                        <a:lnSpc>
                          <a:spcPct val="100000"/>
                        </a:lnSpc>
                        <a:spcBef>
                          <a:spcPts val="265"/>
                        </a:spcBef>
                      </a:pPr>
                      <a:r>
                        <a:rPr sz="700" spc="-5" dirty="0">
                          <a:latin typeface="Arial"/>
                          <a:cs typeface="Arial"/>
                        </a:rPr>
                        <a:t>CS_OUT</a:t>
                      </a:r>
                      <a:endParaRPr sz="7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1270" algn="ctr">
                        <a:lnSpc>
                          <a:spcPct val="100000"/>
                        </a:lnSpc>
                        <a:spcBef>
                          <a:spcPts val="245"/>
                        </a:spcBef>
                      </a:pPr>
                      <a:r>
                        <a:rPr sz="700" spc="-5" dirty="0">
                          <a:latin typeface="Arial"/>
                          <a:cs typeface="Arial"/>
                        </a:rPr>
                        <a:t>HOLD_OUT</a:t>
                      </a:r>
                      <a:endParaRPr sz="700" dirty="0">
                        <a:latin typeface="Arial"/>
                        <a:cs typeface="Arial"/>
                      </a:endParaRPr>
                    </a:p>
                  </a:txBody>
                  <a:tcPr marL="0" marR="0" marT="3111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1905" algn="ctr">
                        <a:lnSpc>
                          <a:spcPct val="100000"/>
                        </a:lnSpc>
                        <a:spcBef>
                          <a:spcPts val="265"/>
                        </a:spcBef>
                      </a:pPr>
                      <a:r>
                        <a:rPr sz="700" dirty="0">
                          <a:latin typeface="Arial"/>
                          <a:cs typeface="Arial"/>
                        </a:rPr>
                        <a:t>x</a:t>
                      </a: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3175" algn="ctr">
                        <a:lnSpc>
                          <a:spcPct val="100000"/>
                        </a:lnSpc>
                        <a:spcBef>
                          <a:spcPts val="265"/>
                        </a:spcBef>
                      </a:pPr>
                      <a:r>
                        <a:rPr sz="700" spc="-10" dirty="0">
                          <a:latin typeface="Arial"/>
                          <a:cs typeface="Arial"/>
                        </a:rPr>
                        <a:t>CS/HD_FIX</a:t>
                      </a:r>
                      <a:endParaRPr sz="7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extLst>
                  <a:ext uri="{0D108BD9-81ED-4DB2-BD59-A6C34878D82A}">
                    <a16:rowId xmlns:a16="http://schemas.microsoft.com/office/drawing/2014/main" val="10001"/>
                  </a:ext>
                </a:extLst>
              </a:tr>
            </a:tbl>
          </a:graphicData>
        </a:graphic>
      </p:graphicFrame>
      <p:sp>
        <p:nvSpPr>
          <p:cNvPr id="7" name="object 7"/>
          <p:cNvSpPr txBox="1"/>
          <p:nvPr/>
        </p:nvSpPr>
        <p:spPr>
          <a:xfrm>
            <a:off x="397878" y="918463"/>
            <a:ext cx="6041577" cy="182101"/>
          </a:xfrm>
          <a:prstGeom prst="rect">
            <a:avLst/>
          </a:prstGeom>
        </p:spPr>
        <p:txBody>
          <a:bodyPr vert="horz" wrap="square" lIns="0" tIns="12700" rIns="0" bIns="0" rtlCol="0">
            <a:spAutoFit/>
          </a:bodyPr>
          <a:lstStyle/>
          <a:p>
            <a:pPr marL="12700">
              <a:lnSpc>
                <a:spcPct val="100000"/>
              </a:lnSpc>
              <a:spcBef>
                <a:spcPts val="100"/>
              </a:spcBef>
            </a:pPr>
            <a:r>
              <a:rPr sz="1100" b="1" dirty="0">
                <a:latin typeface="Arial"/>
                <a:cs typeface="Arial"/>
              </a:rPr>
              <a:t>FIX</a:t>
            </a:r>
            <a:r>
              <a:rPr sz="1100" b="1" spc="-70" dirty="0">
                <a:latin typeface="Arial"/>
                <a:cs typeface="Arial"/>
              </a:rPr>
              <a:t> </a:t>
            </a:r>
            <a:r>
              <a:rPr sz="1100" b="1" spc="-5" dirty="0">
                <a:latin typeface="Arial"/>
                <a:cs typeface="Arial"/>
              </a:rPr>
              <a:t>CONTROL</a:t>
            </a:r>
            <a:endParaRPr sz="1100" dirty="0">
              <a:latin typeface="Arial"/>
              <a:cs typeface="Arial"/>
            </a:endParaRPr>
          </a:p>
        </p:txBody>
      </p:sp>
      <p:graphicFrame>
        <p:nvGraphicFramePr>
          <p:cNvPr id="8" name="object 8"/>
          <p:cNvGraphicFramePr>
            <a:graphicFrameLocks noGrp="1"/>
          </p:cNvGraphicFramePr>
          <p:nvPr>
            <p:extLst>
              <p:ext uri="{D42A27DB-BD31-4B8C-83A1-F6EECF244321}">
                <p14:modId xmlns:p14="http://schemas.microsoft.com/office/powerpoint/2010/main" val="3462701653"/>
              </p:ext>
            </p:extLst>
          </p:nvPr>
        </p:nvGraphicFramePr>
        <p:xfrm>
          <a:off x="399466" y="7282878"/>
          <a:ext cx="6035373" cy="372110"/>
        </p:xfrm>
        <a:graphic>
          <a:graphicData uri="http://schemas.openxmlformats.org/drawingml/2006/table">
            <a:tbl>
              <a:tblPr firstRow="1" bandRow="1">
                <a:tableStyleId>{2D5ABB26-0587-4C30-8999-92F81FD0307C}</a:tableStyleId>
              </a:tblPr>
              <a:tblGrid>
                <a:gridCol w="392397">
                  <a:extLst>
                    <a:ext uri="{9D8B030D-6E8A-4147-A177-3AD203B41FA5}">
                      <a16:colId xmlns:a16="http://schemas.microsoft.com/office/drawing/2014/main" val="20000"/>
                    </a:ext>
                  </a:extLst>
                </a:gridCol>
                <a:gridCol w="451413">
                  <a:extLst>
                    <a:ext uri="{9D8B030D-6E8A-4147-A177-3AD203B41FA5}">
                      <a16:colId xmlns:a16="http://schemas.microsoft.com/office/drawing/2014/main" val="20001"/>
                    </a:ext>
                  </a:extLst>
                </a:gridCol>
                <a:gridCol w="306382">
                  <a:extLst>
                    <a:ext uri="{9D8B030D-6E8A-4147-A177-3AD203B41FA5}">
                      <a16:colId xmlns:a16="http://schemas.microsoft.com/office/drawing/2014/main" val="20002"/>
                    </a:ext>
                  </a:extLst>
                </a:gridCol>
                <a:gridCol w="543077">
                  <a:extLst>
                    <a:ext uri="{9D8B030D-6E8A-4147-A177-3AD203B41FA5}">
                      <a16:colId xmlns:a16="http://schemas.microsoft.com/office/drawing/2014/main" val="20003"/>
                    </a:ext>
                  </a:extLst>
                </a:gridCol>
                <a:gridCol w="490966">
                  <a:extLst>
                    <a:ext uri="{9D8B030D-6E8A-4147-A177-3AD203B41FA5}">
                      <a16:colId xmlns:a16="http://schemas.microsoft.com/office/drawing/2014/main" val="20004"/>
                    </a:ext>
                  </a:extLst>
                </a:gridCol>
                <a:gridCol w="490966">
                  <a:extLst>
                    <a:ext uri="{9D8B030D-6E8A-4147-A177-3AD203B41FA5}">
                      <a16:colId xmlns:a16="http://schemas.microsoft.com/office/drawing/2014/main" val="20005"/>
                    </a:ext>
                  </a:extLst>
                </a:gridCol>
                <a:gridCol w="490966">
                  <a:extLst>
                    <a:ext uri="{9D8B030D-6E8A-4147-A177-3AD203B41FA5}">
                      <a16:colId xmlns:a16="http://schemas.microsoft.com/office/drawing/2014/main" val="20006"/>
                    </a:ext>
                  </a:extLst>
                </a:gridCol>
                <a:gridCol w="490967">
                  <a:extLst>
                    <a:ext uri="{9D8B030D-6E8A-4147-A177-3AD203B41FA5}">
                      <a16:colId xmlns:a16="http://schemas.microsoft.com/office/drawing/2014/main" val="20007"/>
                    </a:ext>
                  </a:extLst>
                </a:gridCol>
                <a:gridCol w="490967">
                  <a:extLst>
                    <a:ext uri="{9D8B030D-6E8A-4147-A177-3AD203B41FA5}">
                      <a16:colId xmlns:a16="http://schemas.microsoft.com/office/drawing/2014/main" val="20008"/>
                    </a:ext>
                  </a:extLst>
                </a:gridCol>
                <a:gridCol w="490967">
                  <a:extLst>
                    <a:ext uri="{9D8B030D-6E8A-4147-A177-3AD203B41FA5}">
                      <a16:colId xmlns:a16="http://schemas.microsoft.com/office/drawing/2014/main" val="20009"/>
                    </a:ext>
                  </a:extLst>
                </a:gridCol>
                <a:gridCol w="490967">
                  <a:extLst>
                    <a:ext uri="{9D8B030D-6E8A-4147-A177-3AD203B41FA5}">
                      <a16:colId xmlns:a16="http://schemas.microsoft.com/office/drawing/2014/main" val="20010"/>
                    </a:ext>
                  </a:extLst>
                </a:gridCol>
                <a:gridCol w="490967">
                  <a:extLst>
                    <a:ext uri="{9D8B030D-6E8A-4147-A177-3AD203B41FA5}">
                      <a16:colId xmlns:a16="http://schemas.microsoft.com/office/drawing/2014/main" val="20011"/>
                    </a:ext>
                  </a:extLst>
                </a:gridCol>
                <a:gridCol w="414371">
                  <a:extLst>
                    <a:ext uri="{9D8B030D-6E8A-4147-A177-3AD203B41FA5}">
                      <a16:colId xmlns:a16="http://schemas.microsoft.com/office/drawing/2014/main" val="20012"/>
                    </a:ext>
                  </a:extLst>
                </a:gridCol>
              </a:tblGrid>
              <a:tr h="193675">
                <a:tc>
                  <a:txBody>
                    <a:bodyPr/>
                    <a:lstStyle/>
                    <a:p>
                      <a:pPr marL="63500">
                        <a:lnSpc>
                          <a:spcPct val="100000"/>
                        </a:lnSpc>
                        <a:spcBef>
                          <a:spcPts val="270"/>
                        </a:spcBef>
                      </a:pPr>
                      <a:r>
                        <a:rPr sz="800" dirty="0">
                          <a:latin typeface="Arial"/>
                          <a:cs typeface="Arial"/>
                        </a:rPr>
                        <a:t>A[1:0]</a:t>
                      </a: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algn="ctr">
                        <a:lnSpc>
                          <a:spcPct val="100000"/>
                        </a:lnSpc>
                        <a:spcBef>
                          <a:spcPts val="270"/>
                        </a:spcBef>
                      </a:pPr>
                      <a:r>
                        <a:rPr sz="800" spc="-5" dirty="0">
                          <a:latin typeface="Arial"/>
                          <a:cs typeface="Arial"/>
                        </a:rPr>
                        <a:t>Default</a:t>
                      </a:r>
                      <a:endParaRPr sz="8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algn="ctr">
                        <a:lnSpc>
                          <a:spcPct val="100000"/>
                        </a:lnSpc>
                        <a:spcBef>
                          <a:spcPts val="270"/>
                        </a:spcBef>
                      </a:pPr>
                      <a:r>
                        <a:rPr sz="800" spc="-5" dirty="0">
                          <a:latin typeface="Arial"/>
                          <a:cs typeface="Arial"/>
                        </a:rPr>
                        <a:t>D10</a:t>
                      </a:r>
                      <a:endParaRPr sz="8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1270" algn="ctr">
                        <a:lnSpc>
                          <a:spcPct val="100000"/>
                        </a:lnSpc>
                        <a:spcBef>
                          <a:spcPts val="270"/>
                        </a:spcBef>
                      </a:pPr>
                      <a:r>
                        <a:rPr sz="800" spc="-5" dirty="0">
                          <a:latin typeface="Arial"/>
                          <a:cs typeface="Arial"/>
                        </a:rPr>
                        <a:t>D9</a:t>
                      </a:r>
                      <a:endParaRPr sz="8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algn="ctr">
                        <a:lnSpc>
                          <a:spcPct val="100000"/>
                        </a:lnSpc>
                        <a:spcBef>
                          <a:spcPts val="270"/>
                        </a:spcBef>
                      </a:pPr>
                      <a:r>
                        <a:rPr sz="800" spc="-5" dirty="0">
                          <a:latin typeface="Arial"/>
                          <a:cs typeface="Arial"/>
                        </a:rPr>
                        <a:t>D8</a:t>
                      </a:r>
                      <a:endParaRPr sz="8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algn="ctr">
                        <a:lnSpc>
                          <a:spcPct val="100000"/>
                        </a:lnSpc>
                        <a:spcBef>
                          <a:spcPts val="270"/>
                        </a:spcBef>
                      </a:pPr>
                      <a:r>
                        <a:rPr sz="800" spc="-5" dirty="0">
                          <a:latin typeface="Arial"/>
                          <a:cs typeface="Arial"/>
                        </a:rPr>
                        <a:t>D7</a:t>
                      </a:r>
                      <a:endParaRPr sz="8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algn="ctr">
                        <a:lnSpc>
                          <a:spcPct val="100000"/>
                        </a:lnSpc>
                        <a:spcBef>
                          <a:spcPts val="270"/>
                        </a:spcBef>
                      </a:pPr>
                      <a:r>
                        <a:rPr sz="800" spc="-5" dirty="0">
                          <a:latin typeface="Arial"/>
                          <a:cs typeface="Arial"/>
                        </a:rPr>
                        <a:t>D6</a:t>
                      </a:r>
                      <a:endParaRPr sz="8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algn="ctr">
                        <a:lnSpc>
                          <a:spcPct val="100000"/>
                        </a:lnSpc>
                        <a:spcBef>
                          <a:spcPts val="270"/>
                        </a:spcBef>
                      </a:pPr>
                      <a:r>
                        <a:rPr sz="800" spc="-5" dirty="0">
                          <a:latin typeface="Arial"/>
                          <a:cs typeface="Arial"/>
                        </a:rPr>
                        <a:t>D5</a:t>
                      </a:r>
                      <a:endParaRPr sz="8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algn="ctr">
                        <a:lnSpc>
                          <a:spcPct val="100000"/>
                        </a:lnSpc>
                        <a:spcBef>
                          <a:spcPts val="270"/>
                        </a:spcBef>
                      </a:pPr>
                      <a:r>
                        <a:rPr sz="800" spc="-5" dirty="0">
                          <a:latin typeface="Arial"/>
                          <a:cs typeface="Arial"/>
                        </a:rPr>
                        <a:t>D4</a:t>
                      </a:r>
                      <a:endParaRPr sz="8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635" algn="ctr">
                        <a:lnSpc>
                          <a:spcPct val="100000"/>
                        </a:lnSpc>
                        <a:spcBef>
                          <a:spcPts val="270"/>
                        </a:spcBef>
                      </a:pPr>
                      <a:r>
                        <a:rPr sz="800" spc="-5" dirty="0">
                          <a:latin typeface="Arial"/>
                          <a:cs typeface="Arial"/>
                        </a:rPr>
                        <a:t>D3</a:t>
                      </a:r>
                      <a:endParaRPr sz="8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635" algn="ctr">
                        <a:lnSpc>
                          <a:spcPct val="100000"/>
                        </a:lnSpc>
                        <a:spcBef>
                          <a:spcPts val="270"/>
                        </a:spcBef>
                      </a:pPr>
                      <a:r>
                        <a:rPr sz="800" spc="-5" dirty="0">
                          <a:latin typeface="Arial"/>
                          <a:cs typeface="Arial"/>
                        </a:rPr>
                        <a:t>D2</a:t>
                      </a:r>
                      <a:endParaRPr sz="8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635" algn="ctr">
                        <a:lnSpc>
                          <a:spcPct val="100000"/>
                        </a:lnSpc>
                        <a:spcBef>
                          <a:spcPts val="270"/>
                        </a:spcBef>
                      </a:pPr>
                      <a:r>
                        <a:rPr sz="800" spc="-5" dirty="0">
                          <a:latin typeface="Arial"/>
                          <a:cs typeface="Arial"/>
                        </a:rPr>
                        <a:t>D1</a:t>
                      </a:r>
                      <a:endParaRPr sz="8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1270" algn="ctr">
                        <a:lnSpc>
                          <a:spcPct val="100000"/>
                        </a:lnSpc>
                        <a:spcBef>
                          <a:spcPts val="270"/>
                        </a:spcBef>
                      </a:pPr>
                      <a:r>
                        <a:rPr sz="800" spc="-5" dirty="0">
                          <a:latin typeface="Arial"/>
                          <a:cs typeface="Arial"/>
                        </a:rPr>
                        <a:t>D0</a:t>
                      </a:r>
                      <a:endParaRPr sz="8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extLst>
                  <a:ext uri="{0D108BD9-81ED-4DB2-BD59-A6C34878D82A}">
                    <a16:rowId xmlns:a16="http://schemas.microsoft.com/office/drawing/2014/main" val="10000"/>
                  </a:ext>
                </a:extLst>
              </a:tr>
              <a:tr h="178435">
                <a:tc>
                  <a:txBody>
                    <a:bodyPr/>
                    <a:lstStyle/>
                    <a:p>
                      <a:pPr marL="91440">
                        <a:lnSpc>
                          <a:spcPct val="100000"/>
                        </a:lnSpc>
                        <a:spcBef>
                          <a:spcPts val="275"/>
                        </a:spcBef>
                      </a:pPr>
                      <a:r>
                        <a:rPr sz="700" spc="-10" dirty="0">
                          <a:latin typeface="Arial"/>
                          <a:cs typeface="Arial"/>
                        </a:rPr>
                        <a:t>‘2b11</a:t>
                      </a:r>
                      <a:endParaRPr sz="700" dirty="0">
                        <a:latin typeface="Arial"/>
                        <a:cs typeface="Arial"/>
                      </a:endParaRPr>
                    </a:p>
                  </a:txBody>
                  <a:tcPr marL="0" marR="0" marT="3492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635" algn="ctr">
                        <a:lnSpc>
                          <a:spcPct val="100000"/>
                        </a:lnSpc>
                        <a:spcBef>
                          <a:spcPts val="275"/>
                        </a:spcBef>
                      </a:pPr>
                      <a:r>
                        <a:rPr sz="700" dirty="0">
                          <a:latin typeface="Arial"/>
                          <a:cs typeface="Arial"/>
                        </a:rPr>
                        <a:t>0</a:t>
                      </a:r>
                    </a:p>
                  </a:txBody>
                  <a:tcPr marL="0" marR="0" marT="3492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algn="ctr">
                        <a:lnSpc>
                          <a:spcPct val="100000"/>
                        </a:lnSpc>
                        <a:spcBef>
                          <a:spcPts val="250"/>
                        </a:spcBef>
                      </a:pPr>
                      <a:r>
                        <a:rPr sz="700" dirty="0">
                          <a:latin typeface="Arial"/>
                          <a:cs typeface="Arial"/>
                        </a:rPr>
                        <a:t>x</a:t>
                      </a:r>
                    </a:p>
                  </a:txBody>
                  <a:tcPr marL="0" marR="0" marT="3175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1270" algn="ctr">
                        <a:lnSpc>
                          <a:spcPct val="100000"/>
                        </a:lnSpc>
                        <a:spcBef>
                          <a:spcPts val="250"/>
                        </a:spcBef>
                      </a:pPr>
                      <a:r>
                        <a:rPr sz="700" spc="-10" dirty="0">
                          <a:latin typeface="Arial"/>
                          <a:cs typeface="Arial"/>
                        </a:rPr>
                        <a:t>FIX_CH10</a:t>
                      </a:r>
                      <a:endParaRPr sz="700" dirty="0">
                        <a:latin typeface="Arial"/>
                        <a:cs typeface="Arial"/>
                      </a:endParaRPr>
                    </a:p>
                  </a:txBody>
                  <a:tcPr marL="0" marR="0" marT="3175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algn="ctr">
                        <a:lnSpc>
                          <a:spcPct val="100000"/>
                        </a:lnSpc>
                        <a:spcBef>
                          <a:spcPts val="250"/>
                        </a:spcBef>
                      </a:pPr>
                      <a:r>
                        <a:rPr sz="700" spc="-15" dirty="0">
                          <a:latin typeface="Arial"/>
                          <a:cs typeface="Arial"/>
                        </a:rPr>
                        <a:t>FIX_CH9</a:t>
                      </a:r>
                      <a:endParaRPr sz="700" dirty="0">
                        <a:latin typeface="Arial"/>
                        <a:cs typeface="Arial"/>
                      </a:endParaRPr>
                    </a:p>
                  </a:txBody>
                  <a:tcPr marL="0" marR="0" marT="3175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algn="ctr">
                        <a:lnSpc>
                          <a:spcPct val="100000"/>
                        </a:lnSpc>
                        <a:spcBef>
                          <a:spcPts val="250"/>
                        </a:spcBef>
                      </a:pPr>
                      <a:r>
                        <a:rPr sz="700" spc="-15" dirty="0">
                          <a:latin typeface="Arial"/>
                          <a:cs typeface="Arial"/>
                        </a:rPr>
                        <a:t>FIX_CH8</a:t>
                      </a:r>
                      <a:endParaRPr sz="700" dirty="0">
                        <a:latin typeface="Arial"/>
                        <a:cs typeface="Arial"/>
                      </a:endParaRPr>
                    </a:p>
                  </a:txBody>
                  <a:tcPr marL="0" marR="0" marT="3175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algn="ctr">
                        <a:lnSpc>
                          <a:spcPct val="100000"/>
                        </a:lnSpc>
                        <a:spcBef>
                          <a:spcPts val="250"/>
                        </a:spcBef>
                      </a:pPr>
                      <a:r>
                        <a:rPr sz="700" spc="-15" dirty="0" err="1">
                          <a:latin typeface="Arial"/>
                          <a:cs typeface="Arial"/>
                        </a:rPr>
                        <a:t>FIX_CH7</a:t>
                      </a:r>
                      <a:endParaRPr sz="700" dirty="0">
                        <a:latin typeface="Arial"/>
                        <a:cs typeface="Arial"/>
                      </a:endParaRPr>
                    </a:p>
                  </a:txBody>
                  <a:tcPr marL="0" marR="0" marT="3175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algn="ctr">
                        <a:lnSpc>
                          <a:spcPct val="100000"/>
                        </a:lnSpc>
                        <a:spcBef>
                          <a:spcPts val="250"/>
                        </a:spcBef>
                      </a:pPr>
                      <a:r>
                        <a:rPr sz="700" spc="-15" dirty="0">
                          <a:latin typeface="Arial"/>
                          <a:cs typeface="Arial"/>
                        </a:rPr>
                        <a:t>FIX_CH6</a:t>
                      </a:r>
                      <a:endParaRPr sz="700" dirty="0">
                        <a:latin typeface="Arial"/>
                        <a:cs typeface="Arial"/>
                      </a:endParaRPr>
                    </a:p>
                  </a:txBody>
                  <a:tcPr marL="0" marR="0" marT="3175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635" algn="ctr">
                        <a:lnSpc>
                          <a:spcPct val="100000"/>
                        </a:lnSpc>
                        <a:spcBef>
                          <a:spcPts val="250"/>
                        </a:spcBef>
                      </a:pPr>
                      <a:r>
                        <a:rPr sz="700" spc="-15" dirty="0">
                          <a:latin typeface="Arial"/>
                          <a:cs typeface="Arial"/>
                        </a:rPr>
                        <a:t>FIX_CH5</a:t>
                      </a:r>
                      <a:endParaRPr sz="700" dirty="0">
                        <a:latin typeface="Arial"/>
                        <a:cs typeface="Arial"/>
                      </a:endParaRPr>
                    </a:p>
                  </a:txBody>
                  <a:tcPr marL="0" marR="0" marT="3175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635" algn="ctr">
                        <a:lnSpc>
                          <a:spcPct val="100000"/>
                        </a:lnSpc>
                        <a:spcBef>
                          <a:spcPts val="250"/>
                        </a:spcBef>
                      </a:pPr>
                      <a:r>
                        <a:rPr sz="700" spc="-15" dirty="0">
                          <a:latin typeface="Arial"/>
                          <a:cs typeface="Arial"/>
                        </a:rPr>
                        <a:t>FIX_CH4</a:t>
                      </a:r>
                      <a:endParaRPr sz="700" dirty="0">
                        <a:latin typeface="Arial"/>
                        <a:cs typeface="Arial"/>
                      </a:endParaRPr>
                    </a:p>
                  </a:txBody>
                  <a:tcPr marL="0" marR="0" marT="3175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1270" algn="ctr">
                        <a:lnSpc>
                          <a:spcPct val="100000"/>
                        </a:lnSpc>
                        <a:spcBef>
                          <a:spcPts val="250"/>
                        </a:spcBef>
                      </a:pPr>
                      <a:r>
                        <a:rPr sz="700" spc="-15" dirty="0">
                          <a:latin typeface="Arial"/>
                          <a:cs typeface="Arial"/>
                        </a:rPr>
                        <a:t>FIX_CH3</a:t>
                      </a:r>
                      <a:endParaRPr sz="700" dirty="0">
                        <a:latin typeface="Arial"/>
                        <a:cs typeface="Arial"/>
                      </a:endParaRPr>
                    </a:p>
                  </a:txBody>
                  <a:tcPr marL="0" marR="0" marT="3175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1905" algn="ctr">
                        <a:lnSpc>
                          <a:spcPct val="100000"/>
                        </a:lnSpc>
                        <a:spcBef>
                          <a:spcPts val="250"/>
                        </a:spcBef>
                      </a:pPr>
                      <a:r>
                        <a:rPr sz="700" spc="-10" dirty="0">
                          <a:latin typeface="Arial"/>
                          <a:cs typeface="Arial"/>
                        </a:rPr>
                        <a:t>FIX_CH2</a:t>
                      </a:r>
                      <a:endParaRPr sz="700" dirty="0">
                        <a:latin typeface="Arial"/>
                        <a:cs typeface="Arial"/>
                      </a:endParaRPr>
                    </a:p>
                  </a:txBody>
                  <a:tcPr marL="0" marR="0" marT="3175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1270" algn="ctr">
                        <a:lnSpc>
                          <a:spcPct val="100000"/>
                        </a:lnSpc>
                        <a:spcBef>
                          <a:spcPts val="250"/>
                        </a:spcBef>
                      </a:pPr>
                      <a:r>
                        <a:rPr sz="700" spc="-15" dirty="0" err="1">
                          <a:latin typeface="Arial"/>
                          <a:cs typeface="Arial"/>
                        </a:rPr>
                        <a:t>FIX_CH1</a:t>
                      </a:r>
                      <a:endParaRPr sz="700" dirty="0">
                        <a:latin typeface="Arial"/>
                        <a:cs typeface="Arial"/>
                      </a:endParaRPr>
                    </a:p>
                  </a:txBody>
                  <a:tcPr marL="0" marR="0" marT="3175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extLst>
                  <a:ext uri="{0D108BD9-81ED-4DB2-BD59-A6C34878D82A}">
                    <a16:rowId xmlns:a16="http://schemas.microsoft.com/office/drawing/2014/main" val="10001"/>
                  </a:ext>
                </a:extLst>
              </a:tr>
            </a:tbl>
          </a:graphicData>
        </a:graphic>
      </p:graphicFrame>
      <p:sp>
        <p:nvSpPr>
          <p:cNvPr id="10" name="object 10"/>
          <p:cNvSpPr txBox="1"/>
          <p:nvPr/>
        </p:nvSpPr>
        <p:spPr>
          <a:xfrm>
            <a:off x="399245" y="7029450"/>
            <a:ext cx="6037176" cy="182101"/>
          </a:xfrm>
          <a:prstGeom prst="rect">
            <a:avLst/>
          </a:prstGeom>
        </p:spPr>
        <p:txBody>
          <a:bodyPr vert="horz" wrap="square" lIns="0" tIns="12700" rIns="0" bIns="0" rtlCol="0">
            <a:spAutoFit/>
          </a:bodyPr>
          <a:lstStyle/>
          <a:p>
            <a:pPr marL="12700">
              <a:lnSpc>
                <a:spcPct val="100000"/>
              </a:lnSpc>
              <a:spcBef>
                <a:spcPts val="100"/>
              </a:spcBef>
            </a:pPr>
            <a:r>
              <a:rPr sz="1100" b="1" spc="-5" dirty="0">
                <a:latin typeface="Arial"/>
                <a:cs typeface="Arial"/>
              </a:rPr>
              <a:t>CS/HOLD</a:t>
            </a:r>
            <a:r>
              <a:rPr sz="1100" b="1" spc="-25" dirty="0">
                <a:latin typeface="Arial"/>
                <a:cs typeface="Arial"/>
              </a:rPr>
              <a:t> </a:t>
            </a:r>
            <a:r>
              <a:rPr sz="1100" b="1" dirty="0">
                <a:latin typeface="Arial"/>
                <a:cs typeface="Arial"/>
              </a:rPr>
              <a:t>FIX</a:t>
            </a:r>
            <a:r>
              <a:rPr sz="1100" b="1" spc="-30" dirty="0">
                <a:latin typeface="Arial"/>
                <a:cs typeface="Arial"/>
              </a:rPr>
              <a:t> </a:t>
            </a:r>
            <a:r>
              <a:rPr sz="1100" b="1" spc="-10" dirty="0">
                <a:latin typeface="Arial"/>
                <a:cs typeface="Arial"/>
              </a:rPr>
              <a:t>CHANNEL</a:t>
            </a:r>
            <a:endParaRPr sz="1100" dirty="0">
              <a:latin typeface="Arial"/>
              <a:cs typeface="Arial"/>
            </a:endParaRPr>
          </a:p>
        </p:txBody>
      </p:sp>
      <p:graphicFrame>
        <p:nvGraphicFramePr>
          <p:cNvPr id="14" name="표 13">
            <a:extLst>
              <a:ext uri="{FF2B5EF4-FFF2-40B4-BE49-F238E27FC236}">
                <a16:creationId xmlns:a16="http://schemas.microsoft.com/office/drawing/2014/main" id="{67EE23AC-BB84-DD91-33F4-0682549E9C89}"/>
              </a:ext>
            </a:extLst>
          </p:cNvPr>
          <p:cNvGraphicFramePr>
            <a:graphicFrameLocks noGrp="1"/>
          </p:cNvGraphicFramePr>
          <p:nvPr>
            <p:extLst>
              <p:ext uri="{D42A27DB-BD31-4B8C-83A1-F6EECF244321}">
                <p14:modId xmlns:p14="http://schemas.microsoft.com/office/powerpoint/2010/main" val="2048156726"/>
              </p:ext>
            </p:extLst>
          </p:nvPr>
        </p:nvGraphicFramePr>
        <p:xfrm>
          <a:off x="393768" y="7808924"/>
          <a:ext cx="6046761" cy="671039"/>
        </p:xfrm>
        <a:graphic>
          <a:graphicData uri="http://schemas.openxmlformats.org/drawingml/2006/table">
            <a:tbl>
              <a:tblPr firstRow="1" bandRow="1">
                <a:tableStyleId>{5C22544A-7EE6-4342-B048-85BDC9FD1C3A}</a:tableStyleId>
              </a:tblPr>
              <a:tblGrid>
                <a:gridCol w="321630">
                  <a:extLst>
                    <a:ext uri="{9D8B030D-6E8A-4147-A177-3AD203B41FA5}">
                      <a16:colId xmlns:a16="http://schemas.microsoft.com/office/drawing/2014/main" val="4170535043"/>
                    </a:ext>
                  </a:extLst>
                </a:gridCol>
                <a:gridCol w="1562079">
                  <a:extLst>
                    <a:ext uri="{9D8B030D-6E8A-4147-A177-3AD203B41FA5}">
                      <a16:colId xmlns:a16="http://schemas.microsoft.com/office/drawing/2014/main" val="2079070694"/>
                    </a:ext>
                  </a:extLst>
                </a:gridCol>
                <a:gridCol w="220821">
                  <a:extLst>
                    <a:ext uri="{9D8B030D-6E8A-4147-A177-3AD203B41FA5}">
                      <a16:colId xmlns:a16="http://schemas.microsoft.com/office/drawing/2014/main" val="32595803"/>
                    </a:ext>
                  </a:extLst>
                </a:gridCol>
                <a:gridCol w="3942231">
                  <a:extLst>
                    <a:ext uri="{9D8B030D-6E8A-4147-A177-3AD203B41FA5}">
                      <a16:colId xmlns:a16="http://schemas.microsoft.com/office/drawing/2014/main" val="184732826"/>
                    </a:ext>
                  </a:extLst>
                </a:gridCol>
              </a:tblGrid>
              <a:tr h="256197">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l" latinLnBrk="1"/>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414842">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9:0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spc="-5" dirty="0">
                          <a:latin typeface="Arial"/>
                          <a:cs typeface="Arial"/>
                        </a:rPr>
                        <a:t>FIX_CHx</a:t>
                      </a:r>
                      <a:endParaRPr lang="en-US" altLang="ko-KR" sz="900" dirty="0">
                        <a:latin typeface="Arial"/>
                        <a:cs typeface="Arial"/>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No operation</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spc="-5" dirty="0">
                          <a:latin typeface="Arial"/>
                          <a:cs typeface="Arial"/>
                        </a:rPr>
                        <a:t>CSx/HOLDx</a:t>
                      </a:r>
                      <a:r>
                        <a:rPr lang="en-US" altLang="ko-KR" sz="900" spc="5" dirty="0">
                          <a:latin typeface="Arial"/>
                          <a:cs typeface="Arial"/>
                        </a:rPr>
                        <a:t> </a:t>
                      </a:r>
                      <a:r>
                        <a:rPr lang="en-US" altLang="ko-KR" sz="900" dirty="0">
                          <a:latin typeface="Arial"/>
                          <a:cs typeface="Arial"/>
                        </a:rPr>
                        <a:t>pins’</a:t>
                      </a:r>
                      <a:r>
                        <a:rPr lang="en-US" altLang="ko-KR" sz="900" spc="-25" dirty="0">
                          <a:latin typeface="Arial"/>
                          <a:cs typeface="Arial"/>
                        </a:rPr>
                        <a:t> </a:t>
                      </a:r>
                      <a:r>
                        <a:rPr lang="en-US" altLang="ko-KR" sz="900" dirty="0">
                          <a:latin typeface="Arial"/>
                          <a:cs typeface="Arial"/>
                        </a:rPr>
                        <a:t>output</a:t>
                      </a:r>
                      <a:r>
                        <a:rPr lang="en-US" altLang="ko-KR" sz="900" spc="-25" dirty="0">
                          <a:latin typeface="Arial"/>
                          <a:cs typeface="Arial"/>
                        </a:rPr>
                        <a:t> </a:t>
                      </a:r>
                      <a:r>
                        <a:rPr lang="en-US" altLang="ko-KR" sz="900" dirty="0">
                          <a:latin typeface="Arial"/>
                          <a:cs typeface="Arial"/>
                        </a:rPr>
                        <a:t>are</a:t>
                      </a:r>
                      <a:r>
                        <a:rPr lang="en-US" altLang="ko-KR" sz="900" spc="-15" dirty="0">
                          <a:latin typeface="Arial"/>
                          <a:cs typeface="Arial"/>
                        </a:rPr>
                        <a:t> </a:t>
                      </a:r>
                      <a:r>
                        <a:rPr lang="en-US" altLang="ko-KR" sz="900" dirty="0">
                          <a:latin typeface="Arial"/>
                          <a:cs typeface="Arial"/>
                        </a:rPr>
                        <a:t>activated</a:t>
                      </a:r>
                      <a:r>
                        <a:rPr lang="en-US" altLang="ko-KR" sz="900" spc="-25" dirty="0">
                          <a:latin typeface="Arial"/>
                          <a:cs typeface="Arial"/>
                        </a:rPr>
                        <a:t> </a:t>
                      </a:r>
                      <a:r>
                        <a:rPr lang="en-US" altLang="ko-KR" sz="900" dirty="0">
                          <a:latin typeface="Arial"/>
                          <a:cs typeface="Arial"/>
                        </a:rPr>
                        <a:t>under</a:t>
                      </a:r>
                      <a:r>
                        <a:rPr lang="en-US" altLang="ko-KR" sz="900" spc="-15" dirty="0">
                          <a:latin typeface="Arial"/>
                          <a:cs typeface="Arial"/>
                        </a:rPr>
                        <a:t> </a:t>
                      </a:r>
                      <a:r>
                        <a:rPr lang="en-US" altLang="ko-KR" sz="900" dirty="0">
                          <a:latin typeface="Arial"/>
                          <a:cs typeface="Arial"/>
                        </a:rPr>
                        <a:t>the</a:t>
                      </a:r>
                      <a:r>
                        <a:rPr lang="en-US" altLang="ko-KR" sz="900" spc="-15" dirty="0">
                          <a:latin typeface="Arial"/>
                          <a:cs typeface="Arial"/>
                        </a:rPr>
                        <a:t> </a:t>
                      </a:r>
                      <a:r>
                        <a:rPr lang="en-US" altLang="ko-KR" sz="900" dirty="0">
                          <a:latin typeface="Arial"/>
                          <a:cs typeface="Arial"/>
                        </a:rPr>
                        <a:t>set</a:t>
                      </a:r>
                      <a:r>
                        <a:rPr lang="en-US" altLang="ko-KR" sz="900" spc="-30" dirty="0">
                          <a:latin typeface="Arial"/>
                          <a:cs typeface="Arial"/>
                        </a:rPr>
                        <a:t> </a:t>
                      </a:r>
                      <a:r>
                        <a:rPr lang="en-US" altLang="ko-KR" sz="900" dirty="0">
                          <a:latin typeface="Arial"/>
                          <a:cs typeface="Arial"/>
                        </a:rPr>
                        <a:t>of</a:t>
                      </a:r>
                      <a:r>
                        <a:rPr lang="en-US" altLang="ko-KR" sz="900" spc="-5" dirty="0">
                          <a:latin typeface="Arial"/>
                          <a:cs typeface="Arial"/>
                        </a:rPr>
                        <a:t> CS/HD_FIX</a:t>
                      </a:r>
                      <a:r>
                        <a:rPr lang="en-US" altLang="ko-KR" sz="900" spc="-20" dirty="0">
                          <a:latin typeface="Arial"/>
                          <a:cs typeface="Arial"/>
                        </a:rPr>
                        <a:t> </a:t>
                      </a:r>
                      <a:r>
                        <a:rPr lang="en-US" altLang="ko-KR" sz="900" dirty="0">
                          <a:latin typeface="Arial"/>
                          <a:cs typeface="Arial"/>
                        </a:rPr>
                        <a:t>bit.</a:t>
                      </a:r>
                      <a:endParaRPr lang="en-US" altLang="ko-KR"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15" name="표 14">
            <a:extLst>
              <a:ext uri="{FF2B5EF4-FFF2-40B4-BE49-F238E27FC236}">
                <a16:creationId xmlns:a16="http://schemas.microsoft.com/office/drawing/2014/main" id="{08EBE4A4-02BC-4E99-C29A-077F804E0B7E}"/>
              </a:ext>
            </a:extLst>
          </p:cNvPr>
          <p:cNvGraphicFramePr>
            <a:graphicFrameLocks noGrp="1"/>
          </p:cNvGraphicFramePr>
          <p:nvPr>
            <p:extLst>
              <p:ext uri="{D42A27DB-BD31-4B8C-83A1-F6EECF244321}">
                <p14:modId xmlns:p14="http://schemas.microsoft.com/office/powerpoint/2010/main" val="2493084797"/>
              </p:ext>
            </p:extLst>
          </p:nvPr>
        </p:nvGraphicFramePr>
        <p:xfrm>
          <a:off x="396297" y="1766827"/>
          <a:ext cx="6038541" cy="4329173"/>
        </p:xfrm>
        <a:graphic>
          <a:graphicData uri="http://schemas.openxmlformats.org/drawingml/2006/table">
            <a:tbl>
              <a:tblPr firstRow="1" bandRow="1">
                <a:tableStyleId>{5C22544A-7EE6-4342-B048-85BDC9FD1C3A}</a:tableStyleId>
              </a:tblPr>
              <a:tblGrid>
                <a:gridCol w="365703">
                  <a:extLst>
                    <a:ext uri="{9D8B030D-6E8A-4147-A177-3AD203B41FA5}">
                      <a16:colId xmlns:a16="http://schemas.microsoft.com/office/drawing/2014/main" val="4170535043"/>
                    </a:ext>
                  </a:extLst>
                </a:gridCol>
                <a:gridCol w="1221864">
                  <a:extLst>
                    <a:ext uri="{9D8B030D-6E8A-4147-A177-3AD203B41FA5}">
                      <a16:colId xmlns:a16="http://schemas.microsoft.com/office/drawing/2014/main" val="2079070694"/>
                    </a:ext>
                  </a:extLst>
                </a:gridCol>
                <a:gridCol w="304617">
                  <a:extLst>
                    <a:ext uri="{9D8B030D-6E8A-4147-A177-3AD203B41FA5}">
                      <a16:colId xmlns:a16="http://schemas.microsoft.com/office/drawing/2014/main" val="32595803"/>
                    </a:ext>
                  </a:extLst>
                </a:gridCol>
                <a:gridCol w="4146357">
                  <a:extLst>
                    <a:ext uri="{9D8B030D-6E8A-4147-A177-3AD203B41FA5}">
                      <a16:colId xmlns:a16="http://schemas.microsoft.com/office/drawing/2014/main" val="4057665825"/>
                    </a:ext>
                  </a:extLst>
                </a:gridCol>
              </a:tblGrid>
              <a:tr h="256197">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l" latinLnBrk="1"/>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691712">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spc="-5" dirty="0">
                          <a:solidFill>
                            <a:schemeClr val="tx1"/>
                          </a:solidFill>
                          <a:latin typeface="Arial"/>
                          <a:ea typeface="+mn-ea"/>
                          <a:cs typeface="Arial"/>
                        </a:rPr>
                        <a:t>10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0" marR="0" marT="36000" marB="0">
                    <a:lnL w="3175"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spc="-5" dirty="0">
                          <a:latin typeface="Arial"/>
                          <a:cs typeface="Arial"/>
                        </a:rPr>
                        <a:t>DUP_O</a:t>
                      </a:r>
                      <a:endParaRPr lang="en-US" altLang="ko-KR" sz="900" dirty="0">
                        <a:latin typeface="Arial"/>
                        <a:cs typeface="Arial"/>
                      </a:endParaRPr>
                    </a:p>
                  </a:txBody>
                  <a:tcPr marL="0" marR="0" marT="3600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a:ea typeface="+mn-ea"/>
                        <a:cs typeface="Arial"/>
                      </a:endParaRP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a:ea typeface="+mn-ea"/>
                          <a:cs typeface="Arial"/>
                        </a:rPr>
                        <a:t>‘1’</a:t>
                      </a:r>
                    </a:p>
                  </a:txBody>
                  <a:tcPr marL="0" marR="0" marT="36000" marB="0">
                    <a:lnL w="12700"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a:ea typeface="+mn-ea"/>
                          <a:cs typeface="Arial"/>
                        </a:rPr>
                        <a:t>Duplicated Output enable.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spc="-5" dirty="0">
                          <a:latin typeface="Arial"/>
                          <a:cs typeface="Arial"/>
                        </a:rPr>
                        <a:t>Several internal</a:t>
                      </a:r>
                      <a:r>
                        <a:rPr lang="en-US" altLang="ko-KR" sz="900" spc="-10" dirty="0">
                          <a:latin typeface="Arial"/>
                          <a:cs typeface="Arial"/>
                        </a:rPr>
                        <a:t> </a:t>
                      </a:r>
                      <a:r>
                        <a:rPr lang="en-US" altLang="ko-KR" sz="900" dirty="0">
                          <a:latin typeface="Arial"/>
                          <a:cs typeface="Arial"/>
                        </a:rPr>
                        <a:t>signals</a:t>
                      </a:r>
                      <a:r>
                        <a:rPr lang="en-US" altLang="ko-KR" sz="900" spc="-30" dirty="0">
                          <a:latin typeface="Arial"/>
                          <a:cs typeface="Arial"/>
                        </a:rPr>
                        <a:t> </a:t>
                      </a:r>
                      <a:r>
                        <a:rPr lang="en-US" altLang="ko-KR" sz="900" spc="-5" dirty="0">
                          <a:latin typeface="Arial"/>
                          <a:cs typeface="Arial"/>
                        </a:rPr>
                        <a:t>are</a:t>
                      </a:r>
                      <a:r>
                        <a:rPr lang="en-US" altLang="ko-KR" sz="900" spc="10" dirty="0">
                          <a:latin typeface="Arial"/>
                          <a:cs typeface="Arial"/>
                        </a:rPr>
                        <a:t> </a:t>
                      </a:r>
                      <a:r>
                        <a:rPr lang="en-US" altLang="ko-KR" sz="900" spc="-5" dirty="0">
                          <a:latin typeface="Arial"/>
                          <a:cs typeface="Arial"/>
                        </a:rPr>
                        <a:t>duplicated</a:t>
                      </a:r>
                      <a:r>
                        <a:rPr lang="en-US" altLang="ko-KR" sz="900" spc="-40" dirty="0">
                          <a:latin typeface="Arial"/>
                          <a:cs typeface="Arial"/>
                        </a:rPr>
                        <a:t> </a:t>
                      </a:r>
                      <a:r>
                        <a:rPr lang="en-US" altLang="ko-KR" sz="900" spc="-5" dirty="0">
                          <a:latin typeface="Arial"/>
                          <a:cs typeface="Arial"/>
                        </a:rPr>
                        <a:t>on</a:t>
                      </a:r>
                      <a:r>
                        <a:rPr lang="en-US" altLang="ko-KR" sz="900" dirty="0">
                          <a:latin typeface="Arial"/>
                          <a:cs typeface="Arial"/>
                        </a:rPr>
                        <a:t> some</a:t>
                      </a:r>
                      <a:r>
                        <a:rPr lang="en-US" altLang="ko-KR" sz="900" spc="-20" dirty="0">
                          <a:latin typeface="Arial"/>
                          <a:cs typeface="Arial"/>
                        </a:rPr>
                        <a:t> </a:t>
                      </a:r>
                      <a:r>
                        <a:rPr lang="en-US" altLang="ko-KR" sz="900" spc="-5" dirty="0">
                          <a:latin typeface="Arial"/>
                          <a:cs typeface="Arial"/>
                        </a:rPr>
                        <a:t>output</a:t>
                      </a:r>
                      <a:r>
                        <a:rPr lang="en-US" altLang="ko-KR" sz="900" dirty="0">
                          <a:latin typeface="Arial"/>
                          <a:cs typeface="Arial"/>
                        </a:rPr>
                        <a:t> </a:t>
                      </a:r>
                      <a:r>
                        <a:rPr lang="en-US" altLang="ko-KR" sz="900" spc="-5" dirty="0">
                          <a:latin typeface="Arial"/>
                          <a:cs typeface="Arial"/>
                        </a:rPr>
                        <a:t>pins</a:t>
                      </a:r>
                      <a:r>
                        <a:rPr lang="en-US" altLang="ko-KR" sz="900" spc="-10" dirty="0">
                          <a:latin typeface="Arial"/>
                          <a:cs typeface="Arial"/>
                        </a:rPr>
                        <a:t> </a:t>
                      </a:r>
                      <a:r>
                        <a:rPr lang="en-US" altLang="ko-KR" sz="900" dirty="0">
                          <a:latin typeface="Arial"/>
                          <a:cs typeface="Arial"/>
                        </a:rPr>
                        <a:t>for</a:t>
                      </a:r>
                      <a:r>
                        <a:rPr lang="en-US" altLang="ko-KR" sz="900" spc="-10" dirty="0">
                          <a:latin typeface="Arial"/>
                          <a:cs typeface="Arial"/>
                        </a:rPr>
                        <a:t> </a:t>
                      </a:r>
                      <a:r>
                        <a:rPr lang="en-US" altLang="ko-KR" sz="900" spc="-5" dirty="0">
                          <a:latin typeface="Arial"/>
                          <a:cs typeface="Arial"/>
                        </a:rPr>
                        <a:t>debugging </a:t>
                      </a:r>
                      <a:r>
                        <a:rPr lang="en-US" altLang="ko-KR" sz="900" dirty="0">
                          <a:latin typeface="Arial"/>
                          <a:cs typeface="Arial"/>
                        </a:rPr>
                        <a:t>the</a:t>
                      </a:r>
                      <a:r>
                        <a:rPr lang="en-US" altLang="ko-KR" sz="900" spc="-15" dirty="0">
                          <a:latin typeface="Arial"/>
                          <a:cs typeface="Arial"/>
                        </a:rPr>
                        <a:t> </a:t>
                      </a:r>
                      <a:r>
                        <a:rPr lang="en-US" altLang="ko-KR" sz="900" spc="-5" dirty="0">
                          <a:latin typeface="Arial"/>
                          <a:cs typeface="Arial"/>
                        </a:rPr>
                        <a:t>svsync on</a:t>
                      </a:r>
                      <a:r>
                        <a:rPr lang="en-US" altLang="ko-KR" sz="900" spc="-10" dirty="0">
                          <a:latin typeface="Arial"/>
                          <a:cs typeface="Arial"/>
                        </a:rPr>
                        <a:t> </a:t>
                      </a:r>
                      <a:r>
                        <a:rPr lang="en-US" altLang="ko-KR" sz="900" spc="-5" dirty="0">
                          <a:latin typeface="Arial"/>
                          <a:cs typeface="Arial"/>
                        </a:rPr>
                        <a:t>CS10,</a:t>
                      </a:r>
                      <a:r>
                        <a:rPr lang="en-US" altLang="ko-KR" sz="900" spc="235" dirty="0">
                          <a:latin typeface="Arial"/>
                          <a:cs typeface="Arial"/>
                        </a:rPr>
                        <a:t> </a:t>
                      </a:r>
                      <a:r>
                        <a:rPr lang="en-US" altLang="ko-KR" sz="900" dirty="0">
                          <a:latin typeface="Arial"/>
                          <a:cs typeface="Arial"/>
                        </a:rPr>
                        <a:t>the</a:t>
                      </a:r>
                      <a:r>
                        <a:rPr lang="en-US" altLang="ko-KR" sz="900" spc="-10" dirty="0">
                          <a:latin typeface="Arial"/>
                          <a:cs typeface="Arial"/>
                        </a:rPr>
                        <a:t> </a:t>
                      </a:r>
                      <a:r>
                        <a:rPr lang="en-US" altLang="ko-KR" sz="900" dirty="0">
                          <a:latin typeface="Arial"/>
                          <a:cs typeface="Arial"/>
                        </a:rPr>
                        <a:t>shsync</a:t>
                      </a:r>
                      <a:r>
                        <a:rPr lang="en-US" altLang="ko-KR" sz="900" spc="-20" dirty="0">
                          <a:latin typeface="Arial"/>
                          <a:cs typeface="Arial"/>
                        </a:rPr>
                        <a:t> </a:t>
                      </a:r>
                      <a:r>
                        <a:rPr lang="en-US" altLang="ko-KR" sz="900" spc="-5" dirty="0">
                          <a:latin typeface="Arial"/>
                          <a:cs typeface="Arial"/>
                        </a:rPr>
                        <a:t>on</a:t>
                      </a:r>
                      <a:r>
                        <a:rPr lang="en-US" altLang="ko-KR" sz="900" spc="-15" dirty="0">
                          <a:latin typeface="Arial"/>
                          <a:cs typeface="Arial"/>
                        </a:rPr>
                        <a:t> </a:t>
                      </a:r>
                      <a:r>
                        <a:rPr lang="en-US" altLang="ko-KR" sz="900" spc="-5" dirty="0">
                          <a:latin typeface="Arial"/>
                          <a:cs typeface="Arial"/>
                        </a:rPr>
                        <a:t>HOLD10, </a:t>
                      </a:r>
                      <a:r>
                        <a:rPr lang="en-US" altLang="ko-KR" sz="900" dirty="0">
                          <a:latin typeface="Arial"/>
                          <a:cs typeface="Arial"/>
                        </a:rPr>
                        <a:t>the</a:t>
                      </a:r>
                      <a:r>
                        <a:rPr lang="en-US" altLang="ko-KR" sz="900" spc="-5" dirty="0">
                          <a:latin typeface="Arial"/>
                          <a:cs typeface="Arial"/>
                        </a:rPr>
                        <a:t> vsync edge</a:t>
                      </a:r>
                      <a:r>
                        <a:rPr lang="en-US" altLang="ko-KR" sz="900" spc="-20" dirty="0">
                          <a:latin typeface="Arial"/>
                          <a:cs typeface="Arial"/>
                        </a:rPr>
                        <a:t> </a:t>
                      </a:r>
                      <a:r>
                        <a:rPr lang="en-US" altLang="ko-KR" sz="900" spc="-5" dirty="0">
                          <a:latin typeface="Arial"/>
                          <a:cs typeface="Arial"/>
                        </a:rPr>
                        <a:t>on </a:t>
                      </a:r>
                      <a:r>
                        <a:rPr lang="en-US" altLang="ko-KR" sz="900" dirty="0">
                          <a:latin typeface="Arial"/>
                          <a:cs typeface="Arial"/>
                        </a:rPr>
                        <a:t>CS9,</a:t>
                      </a:r>
                      <a:r>
                        <a:rPr lang="en-US" altLang="ko-KR" sz="900" spc="250" dirty="0">
                          <a:latin typeface="Arial"/>
                          <a:cs typeface="Arial"/>
                        </a:rPr>
                        <a:t> </a:t>
                      </a:r>
                      <a:r>
                        <a:rPr lang="en-US" altLang="ko-KR" sz="900" dirty="0">
                          <a:latin typeface="Arial"/>
                          <a:cs typeface="Arial"/>
                        </a:rPr>
                        <a:t>the</a:t>
                      </a:r>
                      <a:r>
                        <a:rPr lang="en-US" altLang="ko-KR" sz="900" spc="-5" dirty="0">
                          <a:latin typeface="Arial"/>
                          <a:cs typeface="Arial"/>
                        </a:rPr>
                        <a:t> internal</a:t>
                      </a:r>
                      <a:r>
                        <a:rPr lang="en-US" altLang="ko-KR" sz="900" spc="-15" dirty="0">
                          <a:latin typeface="Arial"/>
                          <a:cs typeface="Arial"/>
                        </a:rPr>
                        <a:t> </a:t>
                      </a:r>
                      <a:r>
                        <a:rPr lang="en-US" altLang="ko-KR" sz="900" spc="-5" dirty="0">
                          <a:latin typeface="Arial"/>
                          <a:cs typeface="Arial"/>
                        </a:rPr>
                        <a:t>or external</a:t>
                      </a:r>
                      <a:r>
                        <a:rPr lang="en-US" altLang="ko-KR" sz="900" spc="5" dirty="0">
                          <a:latin typeface="Arial"/>
                          <a:cs typeface="Arial"/>
                        </a:rPr>
                        <a:t> </a:t>
                      </a:r>
                      <a:r>
                        <a:rPr lang="en-US" altLang="ko-KR" sz="900" spc="-10" dirty="0">
                          <a:latin typeface="Arial"/>
                          <a:cs typeface="Arial"/>
                        </a:rPr>
                        <a:t>MCLK</a:t>
                      </a:r>
                      <a:r>
                        <a:rPr lang="en-US" altLang="ko-KR" sz="900" spc="20" dirty="0">
                          <a:latin typeface="Arial"/>
                          <a:cs typeface="Arial"/>
                        </a:rPr>
                        <a:t> </a:t>
                      </a:r>
                      <a:r>
                        <a:rPr lang="en-US" altLang="ko-KR" sz="900" spc="-5" dirty="0">
                          <a:latin typeface="Arial"/>
                          <a:cs typeface="Arial"/>
                        </a:rPr>
                        <a:t>on HOLD9</a:t>
                      </a:r>
                      <a:r>
                        <a:rPr lang="en-US" altLang="ko-KR" sz="900" b="0" spc="-5" dirty="0">
                          <a:solidFill>
                            <a:schemeClr val="tx1"/>
                          </a:solidFill>
                          <a:latin typeface="Arial"/>
                          <a:ea typeface="+mn-ea"/>
                          <a:cs typeface="Arial"/>
                        </a:rPr>
                        <a:t>.</a:t>
                      </a:r>
                      <a:endParaRPr lang="en-US" altLang="ko-KR" sz="900" dirty="0">
                        <a:latin typeface="Arial"/>
                        <a:cs typeface="Arial"/>
                      </a:endParaRPr>
                    </a:p>
                  </a:txBody>
                  <a:tcPr marL="0" marR="0" marT="36000" marB="0">
                    <a:lnL w="12700"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485664">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spc="-5" dirty="0">
                          <a:solidFill>
                            <a:schemeClr val="tx1"/>
                          </a:solidFill>
                          <a:latin typeface="Arial"/>
                          <a:ea typeface="+mn-ea"/>
                          <a:cs typeface="Arial"/>
                        </a:rPr>
                        <a:t>8</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0" marR="0" marT="36000" marB="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spc="-5" dirty="0">
                          <a:latin typeface="Arial"/>
                          <a:cs typeface="Arial"/>
                        </a:rPr>
                        <a:t>LD_FORCE</a:t>
                      </a:r>
                    </a:p>
                  </a:txBody>
                  <a:tcPr marL="0" marR="0" marT="3600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a:ea typeface="+mn-ea"/>
                          <a:cs typeface="Arial"/>
                        </a:rPr>
                        <a:t>‘1’</a:t>
                      </a:r>
                    </a:p>
                  </a:txBody>
                  <a:tcPr marL="0" marR="0" marT="36000" marB="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spc="5" dirty="0">
                          <a:latin typeface="Arial"/>
                          <a:cs typeface="Arial"/>
                        </a:rPr>
                        <a:t>Always driver the LD_I </a:t>
                      </a:r>
                      <a:r>
                        <a:rPr lang="en-US" altLang="ko-KR" sz="900" dirty="0">
                          <a:latin typeface="Arial"/>
                          <a:cs typeface="Arial"/>
                        </a:rPr>
                        <a:t>[11:0] &amp; </a:t>
                      </a:r>
                      <a:r>
                        <a:rPr lang="en-US" altLang="ko-KR" sz="900" spc="-5" dirty="0">
                          <a:latin typeface="Arial"/>
                          <a:cs typeface="Arial"/>
                        </a:rPr>
                        <a:t>FRAME_HEADER </a:t>
                      </a:r>
                      <a:r>
                        <a:rPr lang="en-US" altLang="ko-KR" sz="900" dirty="0">
                          <a:latin typeface="Arial"/>
                          <a:cs typeface="Arial"/>
                        </a:rPr>
                        <a:t>[14:0] register’s value continuously to</a:t>
                      </a:r>
                      <a:r>
                        <a:rPr lang="en-US" altLang="ko-KR" sz="900" spc="5" dirty="0">
                          <a:latin typeface="Arial"/>
                          <a:cs typeface="Arial"/>
                        </a:rPr>
                        <a:t> </a:t>
                      </a:r>
                      <a:r>
                        <a:rPr lang="en-US" altLang="ko-KR" sz="900" spc="-5" dirty="0">
                          <a:latin typeface="Arial"/>
                          <a:cs typeface="Arial"/>
                        </a:rPr>
                        <a:t>DACs </a:t>
                      </a:r>
                      <a:r>
                        <a:rPr lang="en-US" altLang="ko-KR" sz="900" dirty="0">
                          <a:latin typeface="Arial"/>
                          <a:cs typeface="Arial"/>
                        </a:rPr>
                        <a:t>regardless</a:t>
                      </a:r>
                      <a:r>
                        <a:rPr lang="en-US" altLang="ko-KR" sz="900" spc="-25" dirty="0">
                          <a:latin typeface="Arial"/>
                          <a:cs typeface="Arial"/>
                        </a:rPr>
                        <a:t> </a:t>
                      </a:r>
                      <a:r>
                        <a:rPr lang="en-US" altLang="ko-KR" sz="900" dirty="0">
                          <a:latin typeface="Arial"/>
                          <a:cs typeface="Arial"/>
                        </a:rPr>
                        <a:t>of</a:t>
                      </a:r>
                      <a:r>
                        <a:rPr lang="en-US" altLang="ko-KR" sz="900" spc="5" dirty="0">
                          <a:latin typeface="Arial"/>
                          <a:cs typeface="Arial"/>
                        </a:rPr>
                        <a:t> </a:t>
                      </a:r>
                      <a:r>
                        <a:rPr lang="en-US" altLang="ko-KR" sz="900" dirty="0">
                          <a:latin typeface="Arial"/>
                          <a:cs typeface="Arial"/>
                        </a:rPr>
                        <a:t>the</a:t>
                      </a:r>
                      <a:r>
                        <a:rPr lang="en-US" altLang="ko-KR" sz="900" spc="-5" dirty="0">
                          <a:latin typeface="Arial"/>
                          <a:cs typeface="Arial"/>
                        </a:rPr>
                        <a:t> DUTY</a:t>
                      </a:r>
                      <a:r>
                        <a:rPr lang="en-US" altLang="ko-KR" sz="900" spc="15" dirty="0">
                          <a:latin typeface="Arial"/>
                          <a:cs typeface="Arial"/>
                        </a:rPr>
                        <a:t> </a:t>
                      </a:r>
                      <a:r>
                        <a:rPr lang="en-US" altLang="ko-KR" sz="900" spc="-5" dirty="0">
                          <a:latin typeface="Arial"/>
                          <a:cs typeface="Arial"/>
                        </a:rPr>
                        <a:t>data</a:t>
                      </a:r>
                      <a:r>
                        <a:rPr lang="en-US" altLang="ko-KR" sz="900" spc="-15" dirty="0">
                          <a:latin typeface="Arial"/>
                          <a:cs typeface="Arial"/>
                        </a:rPr>
                        <a:t> </a:t>
                      </a:r>
                      <a:r>
                        <a:rPr lang="en-US" altLang="ko-KR" sz="900" spc="-5" dirty="0">
                          <a:latin typeface="Arial"/>
                          <a:cs typeface="Arial"/>
                        </a:rPr>
                        <a:t>under</a:t>
                      </a:r>
                      <a:r>
                        <a:rPr lang="en-US" altLang="ko-KR" sz="900" spc="-10" dirty="0">
                          <a:latin typeface="Arial"/>
                          <a:cs typeface="Arial"/>
                        </a:rPr>
                        <a:t> </a:t>
                      </a:r>
                      <a:r>
                        <a:rPr lang="en-US" altLang="ko-KR" sz="900" spc="-5" dirty="0">
                          <a:latin typeface="Arial"/>
                          <a:cs typeface="Arial"/>
                        </a:rPr>
                        <a:t>no VSYNC</a:t>
                      </a:r>
                      <a:r>
                        <a:rPr lang="en-US" altLang="ko-KR" sz="900" spc="10" dirty="0">
                          <a:latin typeface="Arial"/>
                          <a:cs typeface="Arial"/>
                        </a:rPr>
                        <a:t> </a:t>
                      </a:r>
                      <a:r>
                        <a:rPr lang="en-US" altLang="ko-KR" sz="900" dirty="0">
                          <a:latin typeface="Arial"/>
                          <a:cs typeface="Arial"/>
                        </a:rPr>
                        <a:t>input.</a:t>
                      </a:r>
                      <a:endParaRPr lang="en-US" altLang="ko-KR" sz="900" b="0" dirty="0">
                        <a:solidFill>
                          <a:schemeClr val="tx1"/>
                        </a:solidFill>
                        <a:latin typeface="Arial"/>
                        <a:ea typeface="+mn-ea"/>
                        <a:cs typeface="Arial"/>
                      </a:endParaRPr>
                    </a:p>
                  </a:txBody>
                  <a:tcPr marL="0" marR="0" marT="36000" marB="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61280097"/>
                  </a:ext>
                </a:extLst>
              </a:tr>
              <a:tr h="45720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6</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0" marR="0" marT="36000" marB="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spc="-5" dirty="0">
                          <a:latin typeface="Arial"/>
                          <a:cs typeface="Arial"/>
                        </a:rPr>
                        <a:t>LD_I_FIX</a:t>
                      </a:r>
                    </a:p>
                  </a:txBody>
                  <a:tcPr marL="0" marR="0" marT="3600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a:ea typeface="+mn-ea"/>
                          <a:cs typeface="Arial"/>
                        </a:rPr>
                        <a:t>‘1’</a:t>
                      </a:r>
                    </a:p>
                  </a:txBody>
                  <a:tcPr marL="0" marR="0" marT="36000" marB="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spc="-5" dirty="0">
                          <a:latin typeface="Arial"/>
                          <a:cs typeface="Arial"/>
                        </a:rPr>
                        <a:t>The LD_I</a:t>
                      </a:r>
                      <a:r>
                        <a:rPr lang="en-US" altLang="ko-KR" sz="900" dirty="0">
                          <a:latin typeface="Arial"/>
                          <a:cs typeface="Arial"/>
                        </a:rPr>
                        <a:t> [11:0]</a:t>
                      </a:r>
                      <a:r>
                        <a:rPr lang="en-US" altLang="ko-KR" sz="900" spc="-30" dirty="0">
                          <a:latin typeface="Arial"/>
                          <a:cs typeface="Arial"/>
                        </a:rPr>
                        <a:t> </a:t>
                      </a:r>
                      <a:r>
                        <a:rPr lang="en-US" altLang="ko-KR" sz="900" dirty="0">
                          <a:latin typeface="Arial"/>
                          <a:cs typeface="Arial"/>
                        </a:rPr>
                        <a:t>register’s</a:t>
                      </a:r>
                      <a:r>
                        <a:rPr lang="en-US" altLang="ko-KR" sz="900" spc="-30" dirty="0">
                          <a:latin typeface="Arial"/>
                          <a:cs typeface="Arial"/>
                        </a:rPr>
                        <a:t> </a:t>
                      </a:r>
                      <a:r>
                        <a:rPr lang="en-US" altLang="ko-KR" sz="900" spc="-5" dirty="0">
                          <a:latin typeface="Arial"/>
                          <a:cs typeface="Arial"/>
                        </a:rPr>
                        <a:t>value</a:t>
                      </a:r>
                      <a:r>
                        <a:rPr lang="en-US" altLang="ko-KR" sz="900" spc="-10" dirty="0">
                          <a:latin typeface="Arial"/>
                          <a:cs typeface="Arial"/>
                        </a:rPr>
                        <a:t> </a:t>
                      </a:r>
                      <a:r>
                        <a:rPr lang="en-US" altLang="ko-KR" sz="900" dirty="0">
                          <a:latin typeface="Arial"/>
                          <a:cs typeface="Arial"/>
                        </a:rPr>
                        <a:t>is</a:t>
                      </a:r>
                      <a:r>
                        <a:rPr lang="en-US" altLang="ko-KR" sz="900" spc="-10" dirty="0">
                          <a:latin typeface="Arial"/>
                          <a:cs typeface="Arial"/>
                        </a:rPr>
                        <a:t> </a:t>
                      </a:r>
                      <a:r>
                        <a:rPr lang="en-US" altLang="ko-KR" sz="900" dirty="0">
                          <a:latin typeface="Arial"/>
                          <a:cs typeface="Arial"/>
                        </a:rPr>
                        <a:t>used</a:t>
                      </a:r>
                      <a:r>
                        <a:rPr lang="en-US" altLang="ko-KR" sz="900" spc="-20" dirty="0">
                          <a:latin typeface="Arial"/>
                          <a:cs typeface="Arial"/>
                        </a:rPr>
                        <a:t> </a:t>
                      </a:r>
                      <a:r>
                        <a:rPr lang="en-US" altLang="ko-KR" sz="900" dirty="0">
                          <a:latin typeface="Arial"/>
                          <a:cs typeface="Arial"/>
                        </a:rPr>
                        <a:t>for</a:t>
                      </a:r>
                      <a:r>
                        <a:rPr lang="en-US" altLang="ko-KR" sz="900" spc="-5" dirty="0">
                          <a:latin typeface="Arial"/>
                          <a:cs typeface="Arial"/>
                        </a:rPr>
                        <a:t> </a:t>
                      </a:r>
                      <a:r>
                        <a:rPr lang="en-US" altLang="ko-KR" sz="900" dirty="0">
                          <a:latin typeface="Arial"/>
                          <a:cs typeface="Arial"/>
                        </a:rPr>
                        <a:t>the</a:t>
                      </a:r>
                      <a:r>
                        <a:rPr lang="en-US" altLang="ko-KR" sz="900" spc="-10" dirty="0">
                          <a:latin typeface="Arial"/>
                          <a:cs typeface="Arial"/>
                        </a:rPr>
                        <a:t> </a:t>
                      </a:r>
                      <a:r>
                        <a:rPr lang="en-US" altLang="ko-KR" sz="900" dirty="0">
                          <a:latin typeface="Arial"/>
                          <a:cs typeface="Arial"/>
                        </a:rPr>
                        <a:t>local</a:t>
                      </a:r>
                      <a:r>
                        <a:rPr lang="en-US" altLang="ko-KR" sz="900" spc="-20" dirty="0">
                          <a:latin typeface="Arial"/>
                          <a:cs typeface="Arial"/>
                        </a:rPr>
                        <a:t> </a:t>
                      </a:r>
                      <a:r>
                        <a:rPr lang="en-US" altLang="ko-KR" sz="900" dirty="0">
                          <a:latin typeface="Arial"/>
                          <a:cs typeface="Arial"/>
                        </a:rPr>
                        <a:t>dimming,</a:t>
                      </a:r>
                      <a:r>
                        <a:rPr lang="en-US" altLang="ko-KR" sz="900" spc="-40" dirty="0">
                          <a:latin typeface="Arial"/>
                          <a:cs typeface="Arial"/>
                        </a:rPr>
                        <a:t> </a:t>
                      </a:r>
                      <a:r>
                        <a:rPr lang="en-US" altLang="ko-KR" sz="900" dirty="0">
                          <a:latin typeface="Arial"/>
                          <a:cs typeface="Arial"/>
                        </a:rPr>
                        <a:t>not</a:t>
                      </a:r>
                      <a:r>
                        <a:rPr lang="en-US" altLang="ko-KR" sz="900" spc="-10" dirty="0">
                          <a:latin typeface="Arial"/>
                          <a:cs typeface="Arial"/>
                        </a:rPr>
                        <a:t> </a:t>
                      </a:r>
                      <a:r>
                        <a:rPr lang="en-US" altLang="ko-KR" sz="900" dirty="0">
                          <a:latin typeface="Arial"/>
                          <a:cs typeface="Arial"/>
                        </a:rPr>
                        <a:t>the</a:t>
                      </a:r>
                      <a:r>
                        <a:rPr lang="en-US" altLang="ko-KR" sz="900" spc="-15" dirty="0">
                          <a:latin typeface="Arial"/>
                          <a:cs typeface="Arial"/>
                        </a:rPr>
                        <a:t> </a:t>
                      </a:r>
                      <a:r>
                        <a:rPr lang="en-US" altLang="ko-KR" sz="900" spc="-5" dirty="0">
                          <a:latin typeface="Arial"/>
                          <a:cs typeface="Arial"/>
                        </a:rPr>
                        <a:t>LD_I</a:t>
                      </a:r>
                      <a:r>
                        <a:rPr lang="en-US" altLang="ko-KR" sz="900" spc="-10" dirty="0">
                          <a:latin typeface="Arial"/>
                          <a:cs typeface="Arial"/>
                        </a:rPr>
                        <a:t> </a:t>
                      </a:r>
                      <a:r>
                        <a:rPr lang="en-US" altLang="ko-KR" sz="900" dirty="0">
                          <a:latin typeface="Arial"/>
                          <a:cs typeface="Arial"/>
                        </a:rPr>
                        <a:t>data transferred</a:t>
                      </a:r>
                      <a:r>
                        <a:rPr lang="en-US" altLang="ko-KR" sz="900" spc="-40" dirty="0">
                          <a:latin typeface="Arial"/>
                          <a:cs typeface="Arial"/>
                        </a:rPr>
                        <a:t> </a:t>
                      </a:r>
                      <a:r>
                        <a:rPr lang="en-US" altLang="ko-KR" sz="900" dirty="0">
                          <a:latin typeface="Arial"/>
                          <a:cs typeface="Arial"/>
                        </a:rPr>
                        <a:t>from</a:t>
                      </a:r>
                      <a:r>
                        <a:rPr lang="en-US" altLang="ko-KR" sz="900" spc="-5" dirty="0">
                          <a:latin typeface="Arial"/>
                          <a:cs typeface="Arial"/>
                        </a:rPr>
                        <a:t> </a:t>
                      </a:r>
                      <a:r>
                        <a:rPr lang="en-US" altLang="ko-KR" sz="900" dirty="0">
                          <a:latin typeface="Arial"/>
                          <a:cs typeface="Arial"/>
                        </a:rPr>
                        <a:t>SPI interface.</a:t>
                      </a:r>
                      <a:endParaRPr lang="en-US" altLang="ko-KR" sz="900" b="0" dirty="0">
                        <a:solidFill>
                          <a:schemeClr val="tx1"/>
                        </a:solidFill>
                        <a:latin typeface="Arial"/>
                        <a:ea typeface="+mn-ea"/>
                        <a:cs typeface="Arial"/>
                      </a:endParaRPr>
                    </a:p>
                  </a:txBody>
                  <a:tcPr marL="0" marR="0" marT="36000" marB="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64637528"/>
                  </a:ext>
                </a:extLst>
              </a:tr>
              <a:tr h="45720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5</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0" marR="0" marT="36000" marB="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spc="-5" dirty="0">
                          <a:latin typeface="Arial"/>
                          <a:cs typeface="Arial"/>
                        </a:rPr>
                        <a:t>DUTY_FIX</a:t>
                      </a:r>
                      <a:endParaRPr lang="en-US" altLang="ko-KR" sz="900" dirty="0">
                        <a:latin typeface="Arial"/>
                        <a:cs typeface="Arial"/>
                      </a:endParaRPr>
                    </a:p>
                  </a:txBody>
                  <a:tcPr marL="0" marR="0" marT="3600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a:ea typeface="+mn-ea"/>
                          <a:cs typeface="Arial"/>
                        </a:rPr>
                        <a:t>‘1’</a:t>
                      </a:r>
                    </a:p>
                  </a:txBody>
                  <a:tcPr marL="0" marR="0" marT="36000" marB="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spc="-5" dirty="0">
                          <a:latin typeface="Arial"/>
                          <a:cs typeface="Arial"/>
                        </a:rPr>
                        <a:t>The </a:t>
                      </a:r>
                      <a:r>
                        <a:rPr lang="en-US" altLang="ko-KR" sz="900" spc="-10" dirty="0">
                          <a:latin typeface="Arial"/>
                          <a:cs typeface="Arial"/>
                        </a:rPr>
                        <a:t>DUTY</a:t>
                      </a:r>
                      <a:r>
                        <a:rPr lang="en-US" altLang="ko-KR" sz="900" spc="10" dirty="0">
                          <a:latin typeface="Arial"/>
                          <a:cs typeface="Arial"/>
                        </a:rPr>
                        <a:t> </a:t>
                      </a:r>
                      <a:r>
                        <a:rPr lang="en-US" altLang="ko-KR" sz="900" dirty="0">
                          <a:latin typeface="Arial"/>
                          <a:cs typeface="Arial"/>
                        </a:rPr>
                        <a:t>[7:0]</a:t>
                      </a:r>
                      <a:r>
                        <a:rPr lang="en-US" altLang="ko-KR" sz="900" spc="-15" dirty="0">
                          <a:latin typeface="Arial"/>
                          <a:cs typeface="Arial"/>
                        </a:rPr>
                        <a:t> </a:t>
                      </a:r>
                      <a:r>
                        <a:rPr lang="en-US" altLang="ko-KR" sz="900" dirty="0">
                          <a:latin typeface="Arial"/>
                          <a:cs typeface="Arial"/>
                        </a:rPr>
                        <a:t>register’s</a:t>
                      </a:r>
                      <a:r>
                        <a:rPr lang="en-US" altLang="ko-KR" sz="900" spc="-30" dirty="0">
                          <a:latin typeface="Arial"/>
                          <a:cs typeface="Arial"/>
                        </a:rPr>
                        <a:t> </a:t>
                      </a:r>
                      <a:r>
                        <a:rPr lang="en-US" altLang="ko-KR" sz="900" spc="-5" dirty="0">
                          <a:latin typeface="Arial"/>
                          <a:cs typeface="Arial"/>
                        </a:rPr>
                        <a:t>value</a:t>
                      </a:r>
                      <a:r>
                        <a:rPr lang="en-US" altLang="ko-KR" sz="900" spc="-15" dirty="0">
                          <a:latin typeface="Arial"/>
                          <a:cs typeface="Arial"/>
                        </a:rPr>
                        <a:t> </a:t>
                      </a:r>
                      <a:r>
                        <a:rPr lang="en-US" altLang="ko-KR" sz="900" dirty="0">
                          <a:latin typeface="Arial"/>
                          <a:cs typeface="Arial"/>
                        </a:rPr>
                        <a:t>is</a:t>
                      </a:r>
                      <a:r>
                        <a:rPr lang="en-US" altLang="ko-KR" sz="900" spc="-5" dirty="0">
                          <a:latin typeface="Arial"/>
                          <a:cs typeface="Arial"/>
                        </a:rPr>
                        <a:t> </a:t>
                      </a:r>
                      <a:r>
                        <a:rPr lang="en-US" altLang="ko-KR" sz="900" dirty="0">
                          <a:latin typeface="Arial"/>
                          <a:cs typeface="Arial"/>
                        </a:rPr>
                        <a:t>used</a:t>
                      </a:r>
                      <a:r>
                        <a:rPr lang="en-US" altLang="ko-KR" sz="900" spc="-15" dirty="0">
                          <a:latin typeface="Arial"/>
                          <a:cs typeface="Arial"/>
                        </a:rPr>
                        <a:t> </a:t>
                      </a:r>
                      <a:r>
                        <a:rPr lang="en-US" altLang="ko-KR" sz="900" dirty="0">
                          <a:latin typeface="Arial"/>
                          <a:cs typeface="Arial"/>
                        </a:rPr>
                        <a:t>for</a:t>
                      </a:r>
                      <a:r>
                        <a:rPr lang="en-US" altLang="ko-KR" sz="900" spc="-10" dirty="0">
                          <a:latin typeface="Arial"/>
                          <a:cs typeface="Arial"/>
                        </a:rPr>
                        <a:t> </a:t>
                      </a:r>
                      <a:r>
                        <a:rPr lang="en-US" altLang="ko-KR" sz="900" dirty="0">
                          <a:latin typeface="Arial"/>
                          <a:cs typeface="Arial"/>
                        </a:rPr>
                        <a:t>the</a:t>
                      </a:r>
                      <a:r>
                        <a:rPr lang="en-US" altLang="ko-KR" sz="900" spc="-15" dirty="0">
                          <a:latin typeface="Arial"/>
                          <a:cs typeface="Arial"/>
                        </a:rPr>
                        <a:t> </a:t>
                      </a:r>
                      <a:r>
                        <a:rPr lang="en-US" altLang="ko-KR" sz="900" dirty="0">
                          <a:latin typeface="Arial"/>
                          <a:cs typeface="Arial"/>
                        </a:rPr>
                        <a:t>local</a:t>
                      </a:r>
                      <a:r>
                        <a:rPr lang="en-US" altLang="ko-KR" sz="900" spc="-20" dirty="0">
                          <a:latin typeface="Arial"/>
                          <a:cs typeface="Arial"/>
                        </a:rPr>
                        <a:t> </a:t>
                      </a:r>
                      <a:r>
                        <a:rPr lang="en-US" altLang="ko-KR" sz="900" dirty="0">
                          <a:latin typeface="Arial"/>
                          <a:cs typeface="Arial"/>
                        </a:rPr>
                        <a:t>dimming,</a:t>
                      </a:r>
                      <a:r>
                        <a:rPr lang="en-US" altLang="ko-KR" sz="900" spc="-35" dirty="0">
                          <a:latin typeface="Arial"/>
                          <a:cs typeface="Arial"/>
                        </a:rPr>
                        <a:t> </a:t>
                      </a:r>
                      <a:r>
                        <a:rPr lang="en-US" altLang="ko-KR" sz="900" dirty="0">
                          <a:latin typeface="Arial"/>
                          <a:cs typeface="Arial"/>
                        </a:rPr>
                        <a:t>not</a:t>
                      </a:r>
                      <a:r>
                        <a:rPr lang="en-US" altLang="ko-KR" sz="900" spc="-15" dirty="0">
                          <a:latin typeface="Arial"/>
                          <a:cs typeface="Arial"/>
                        </a:rPr>
                        <a:t> </a:t>
                      </a:r>
                      <a:r>
                        <a:rPr lang="en-US" altLang="ko-KR" sz="900" dirty="0">
                          <a:latin typeface="Arial"/>
                          <a:cs typeface="Arial"/>
                        </a:rPr>
                        <a:t>the</a:t>
                      </a:r>
                      <a:r>
                        <a:rPr lang="en-US" altLang="ko-KR" sz="900" spc="-10" dirty="0">
                          <a:latin typeface="Arial"/>
                          <a:cs typeface="Arial"/>
                        </a:rPr>
                        <a:t> </a:t>
                      </a:r>
                      <a:r>
                        <a:rPr lang="en-US" altLang="ko-KR" sz="900" spc="-5" dirty="0">
                          <a:latin typeface="Arial"/>
                          <a:cs typeface="Arial"/>
                        </a:rPr>
                        <a:t>DUTY</a:t>
                      </a:r>
                      <a:r>
                        <a:rPr lang="en-US" altLang="ko-KR" sz="900" spc="5" dirty="0">
                          <a:latin typeface="Arial"/>
                          <a:cs typeface="Arial"/>
                        </a:rPr>
                        <a:t> </a:t>
                      </a:r>
                      <a:r>
                        <a:rPr lang="en-US" altLang="ko-KR" sz="900" dirty="0">
                          <a:latin typeface="Arial"/>
                          <a:cs typeface="Arial"/>
                        </a:rPr>
                        <a:t>data transferred</a:t>
                      </a:r>
                      <a:r>
                        <a:rPr lang="en-US" altLang="ko-KR" sz="900" spc="-40" dirty="0">
                          <a:latin typeface="Arial"/>
                          <a:cs typeface="Arial"/>
                        </a:rPr>
                        <a:t> </a:t>
                      </a:r>
                      <a:r>
                        <a:rPr lang="en-US" altLang="ko-KR" sz="900" dirty="0">
                          <a:latin typeface="Arial"/>
                          <a:cs typeface="Arial"/>
                        </a:rPr>
                        <a:t>from</a:t>
                      </a:r>
                      <a:r>
                        <a:rPr lang="en-US" altLang="ko-KR" sz="900" spc="-5" dirty="0">
                          <a:latin typeface="Arial"/>
                          <a:cs typeface="Arial"/>
                        </a:rPr>
                        <a:t> </a:t>
                      </a:r>
                      <a:r>
                        <a:rPr lang="en-US" altLang="ko-KR" sz="900" dirty="0">
                          <a:latin typeface="Arial"/>
                          <a:cs typeface="Arial"/>
                        </a:rPr>
                        <a:t>SPI interface.</a:t>
                      </a:r>
                      <a:endParaRPr lang="en-US" altLang="ko-KR" sz="900" b="0" dirty="0">
                        <a:solidFill>
                          <a:schemeClr val="tx1"/>
                        </a:solidFill>
                        <a:latin typeface="Arial"/>
                        <a:ea typeface="+mn-ea"/>
                        <a:cs typeface="Arial"/>
                      </a:endParaRPr>
                    </a:p>
                  </a:txBody>
                  <a:tcPr marL="0" marR="0" marT="36000" marB="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95670193"/>
                  </a:ext>
                </a:extLst>
              </a:tr>
              <a:tr h="45720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4</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0" marR="0" marT="36000" marB="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spc="-5" dirty="0">
                          <a:latin typeface="Arial"/>
                          <a:cs typeface="Arial"/>
                        </a:rPr>
                        <a:t>HEADER_FIX</a:t>
                      </a:r>
                      <a:endParaRPr lang="en-US" altLang="ko-KR" sz="900" dirty="0">
                        <a:latin typeface="Arial"/>
                        <a:cs typeface="Arial"/>
                      </a:endParaRPr>
                    </a:p>
                  </a:txBody>
                  <a:tcPr marL="0" marR="0" marT="3600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a:ea typeface="+mn-ea"/>
                          <a:cs typeface="Arial"/>
                        </a:rPr>
                        <a:t>‘1’</a:t>
                      </a:r>
                    </a:p>
                  </a:txBody>
                  <a:tcPr marL="0" marR="0" marT="36000" marB="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spc="-5" dirty="0">
                          <a:latin typeface="Arial"/>
                          <a:cs typeface="Arial"/>
                        </a:rPr>
                        <a:t>The FRAME_HEADER </a:t>
                      </a:r>
                      <a:r>
                        <a:rPr lang="en-US" altLang="ko-KR" sz="900" dirty="0">
                          <a:latin typeface="Arial"/>
                          <a:cs typeface="Arial"/>
                        </a:rPr>
                        <a:t>[14:0] register’s </a:t>
                      </a:r>
                      <a:r>
                        <a:rPr lang="en-US" altLang="ko-KR" sz="900" spc="-5" dirty="0">
                          <a:latin typeface="Arial"/>
                          <a:cs typeface="Arial"/>
                        </a:rPr>
                        <a:t>value </a:t>
                      </a:r>
                      <a:r>
                        <a:rPr lang="en-US" altLang="ko-KR" sz="900" dirty="0">
                          <a:latin typeface="Arial"/>
                          <a:cs typeface="Arial"/>
                        </a:rPr>
                        <a:t>is used for the local dimming, not</a:t>
                      </a:r>
                      <a:r>
                        <a:rPr lang="en-US" altLang="ko-KR" sz="900" spc="-15" dirty="0">
                          <a:latin typeface="Arial"/>
                          <a:cs typeface="Arial"/>
                        </a:rPr>
                        <a:t> </a:t>
                      </a:r>
                      <a:r>
                        <a:rPr lang="en-US" altLang="ko-KR" sz="900" dirty="0">
                          <a:latin typeface="Arial"/>
                          <a:cs typeface="Arial"/>
                        </a:rPr>
                        <a:t>the</a:t>
                      </a:r>
                      <a:r>
                        <a:rPr lang="en-US" altLang="ko-KR" sz="900" spc="-10" dirty="0">
                          <a:latin typeface="Arial"/>
                          <a:cs typeface="Arial"/>
                        </a:rPr>
                        <a:t> </a:t>
                      </a:r>
                      <a:r>
                        <a:rPr lang="en-US" altLang="ko-KR" sz="900" dirty="0">
                          <a:latin typeface="Arial"/>
                          <a:cs typeface="Arial"/>
                        </a:rPr>
                        <a:t>frame</a:t>
                      </a:r>
                      <a:r>
                        <a:rPr lang="en-US" altLang="ko-KR" sz="900" spc="-20" dirty="0">
                          <a:latin typeface="Arial"/>
                          <a:cs typeface="Arial"/>
                        </a:rPr>
                        <a:t> </a:t>
                      </a:r>
                      <a:r>
                        <a:rPr lang="en-US" altLang="ko-KR" sz="900" spc="-5" dirty="0">
                          <a:latin typeface="Arial"/>
                          <a:cs typeface="Arial"/>
                        </a:rPr>
                        <a:t>header</a:t>
                      </a:r>
                      <a:r>
                        <a:rPr lang="en-US" altLang="ko-KR" sz="900" spc="-25" dirty="0">
                          <a:latin typeface="Arial"/>
                          <a:cs typeface="Arial"/>
                        </a:rPr>
                        <a:t> </a:t>
                      </a:r>
                      <a:r>
                        <a:rPr lang="en-US" altLang="ko-KR" sz="900" spc="-5" dirty="0">
                          <a:latin typeface="Arial"/>
                          <a:cs typeface="Arial"/>
                        </a:rPr>
                        <a:t>data</a:t>
                      </a:r>
                      <a:r>
                        <a:rPr lang="en-US" altLang="ko-KR" sz="900" spc="-10" dirty="0">
                          <a:latin typeface="Arial"/>
                          <a:cs typeface="Arial"/>
                        </a:rPr>
                        <a:t> </a:t>
                      </a:r>
                      <a:r>
                        <a:rPr lang="en-US" altLang="ko-KR" sz="900" dirty="0">
                          <a:latin typeface="Arial"/>
                          <a:cs typeface="Arial"/>
                        </a:rPr>
                        <a:t>transferred</a:t>
                      </a:r>
                      <a:r>
                        <a:rPr lang="en-US" altLang="ko-KR" sz="900" spc="-25" dirty="0">
                          <a:latin typeface="Arial"/>
                          <a:cs typeface="Arial"/>
                        </a:rPr>
                        <a:t> </a:t>
                      </a:r>
                      <a:r>
                        <a:rPr lang="en-US" altLang="ko-KR" sz="900" dirty="0">
                          <a:latin typeface="Arial"/>
                          <a:cs typeface="Arial"/>
                        </a:rPr>
                        <a:t>from</a:t>
                      </a:r>
                      <a:r>
                        <a:rPr lang="en-US" altLang="ko-KR" sz="900" spc="-20" dirty="0">
                          <a:latin typeface="Arial"/>
                          <a:cs typeface="Arial"/>
                        </a:rPr>
                        <a:t> </a:t>
                      </a:r>
                      <a:r>
                        <a:rPr lang="en-US" altLang="ko-KR" sz="900" dirty="0">
                          <a:latin typeface="Arial"/>
                          <a:cs typeface="Arial"/>
                        </a:rPr>
                        <a:t>SPI interface.</a:t>
                      </a:r>
                      <a:endParaRPr lang="en-US" altLang="ko-KR" sz="900" b="0" dirty="0">
                        <a:solidFill>
                          <a:schemeClr val="tx1"/>
                        </a:solidFill>
                        <a:latin typeface="Arial"/>
                        <a:ea typeface="+mn-ea"/>
                        <a:cs typeface="Arial"/>
                      </a:endParaRPr>
                    </a:p>
                  </a:txBody>
                  <a:tcPr marL="0" marR="0" marT="36000" marB="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58579362"/>
                  </a:ext>
                </a:extLst>
              </a:tr>
              <a:tr h="55762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3</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0" marR="0" marT="36000" marB="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spc="-5" dirty="0">
                          <a:latin typeface="Arial"/>
                          <a:cs typeface="Arial"/>
                        </a:rPr>
                        <a:t>CS_OUT</a:t>
                      </a:r>
                      <a:endParaRPr lang="en-US" altLang="ko-KR" sz="900" dirty="0">
                        <a:latin typeface="Arial"/>
                        <a:cs typeface="Arial"/>
                      </a:endParaRPr>
                    </a:p>
                  </a:txBody>
                  <a:tcPr marL="0" marR="0" marT="3600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a:ea typeface="+mn-ea"/>
                        <a:cs typeface="Arial"/>
                      </a:endParaRP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a:ea typeface="+mn-ea"/>
                          <a:cs typeface="Arial"/>
                        </a:rPr>
                        <a:t>‘0’</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a:ea typeface="+mn-ea"/>
                          <a:cs typeface="Arial"/>
                        </a:rPr>
                        <a:t>‘1’</a:t>
                      </a:r>
                    </a:p>
                  </a:txBody>
                  <a:tcPr marL="0" marR="0" marT="36000" marB="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spc="-5" dirty="0">
                          <a:latin typeface="Arial"/>
                          <a:cs typeface="Arial"/>
                        </a:rPr>
                        <a:t>This is </a:t>
                      </a:r>
                      <a:r>
                        <a:rPr lang="en-US" altLang="ko-KR" sz="900" dirty="0">
                          <a:latin typeface="Arial"/>
                          <a:cs typeface="Arial"/>
                        </a:rPr>
                        <a:t>activated</a:t>
                      </a:r>
                      <a:r>
                        <a:rPr lang="en-US" altLang="ko-KR" sz="900" spc="-20" dirty="0">
                          <a:latin typeface="Arial"/>
                          <a:cs typeface="Arial"/>
                        </a:rPr>
                        <a:t> </a:t>
                      </a:r>
                      <a:r>
                        <a:rPr lang="en-US" altLang="ko-KR" sz="900" spc="-5" dirty="0">
                          <a:latin typeface="Arial"/>
                          <a:cs typeface="Arial"/>
                        </a:rPr>
                        <a:t>only</a:t>
                      </a:r>
                      <a:r>
                        <a:rPr lang="en-US" altLang="ko-KR" sz="900" spc="-10" dirty="0">
                          <a:latin typeface="Arial"/>
                          <a:cs typeface="Arial"/>
                        </a:rPr>
                        <a:t> </a:t>
                      </a:r>
                      <a:r>
                        <a:rPr lang="en-US" altLang="ko-KR" sz="900" spc="-5" dirty="0">
                          <a:latin typeface="Arial"/>
                          <a:cs typeface="Arial"/>
                        </a:rPr>
                        <a:t>under</a:t>
                      </a:r>
                      <a:r>
                        <a:rPr lang="en-US" altLang="ko-KR" sz="900" spc="-25" dirty="0">
                          <a:latin typeface="Arial"/>
                          <a:cs typeface="Arial"/>
                        </a:rPr>
                        <a:t> </a:t>
                      </a:r>
                      <a:r>
                        <a:rPr lang="en-US" altLang="ko-KR" sz="900" dirty="0">
                          <a:latin typeface="Arial"/>
                          <a:cs typeface="Arial"/>
                        </a:rPr>
                        <a:t>set</a:t>
                      </a:r>
                      <a:r>
                        <a:rPr lang="en-US" altLang="ko-KR" sz="900" spc="-5" dirty="0">
                          <a:latin typeface="Arial"/>
                          <a:cs typeface="Arial"/>
                        </a:rPr>
                        <a:t> </a:t>
                      </a:r>
                      <a:r>
                        <a:rPr lang="en-US" altLang="ko-KR" sz="900" dirty="0">
                          <a:latin typeface="Arial"/>
                          <a:cs typeface="Arial"/>
                        </a:rPr>
                        <a:t>of</a:t>
                      </a:r>
                      <a:r>
                        <a:rPr lang="en-US" altLang="ko-KR" sz="900" spc="-10" dirty="0">
                          <a:latin typeface="Arial"/>
                          <a:cs typeface="Arial"/>
                        </a:rPr>
                        <a:t> </a:t>
                      </a:r>
                      <a:r>
                        <a:rPr lang="en-US" altLang="ko-KR" sz="900" spc="-5" dirty="0">
                          <a:latin typeface="Arial"/>
                          <a:cs typeface="Arial"/>
                        </a:rPr>
                        <a:t>CS/HD_FIX</a:t>
                      </a:r>
                      <a:r>
                        <a:rPr lang="en-US" altLang="ko-KR" sz="900" dirty="0">
                          <a:latin typeface="Arial"/>
                          <a:cs typeface="Arial"/>
                        </a:rPr>
                        <a:t> bit.</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dirty="0">
                          <a:latin typeface="Arial"/>
                          <a:cs typeface="Arial"/>
                        </a:rPr>
                        <a:t>All</a:t>
                      </a:r>
                      <a:r>
                        <a:rPr lang="en-US" altLang="ko-KR" sz="900" spc="-5" dirty="0">
                          <a:latin typeface="Arial"/>
                          <a:cs typeface="Arial"/>
                        </a:rPr>
                        <a:t> CS</a:t>
                      </a:r>
                      <a:r>
                        <a:rPr lang="en-US" altLang="ko-KR" sz="900" spc="-10" dirty="0">
                          <a:latin typeface="Arial"/>
                          <a:cs typeface="Arial"/>
                        </a:rPr>
                        <a:t> </a:t>
                      </a:r>
                      <a:r>
                        <a:rPr lang="en-US" altLang="ko-KR" sz="900" dirty="0">
                          <a:latin typeface="Arial"/>
                          <a:cs typeface="Arial"/>
                        </a:rPr>
                        <a:t>pins</a:t>
                      </a:r>
                      <a:r>
                        <a:rPr lang="en-US" altLang="ko-KR" sz="900" spc="-20" dirty="0">
                          <a:latin typeface="Arial"/>
                          <a:cs typeface="Arial"/>
                        </a:rPr>
                        <a:t> </a:t>
                      </a:r>
                      <a:r>
                        <a:rPr lang="en-US" altLang="ko-KR" sz="900" dirty="0">
                          <a:latin typeface="Arial"/>
                          <a:cs typeface="Arial"/>
                        </a:rPr>
                        <a:t>activated</a:t>
                      </a:r>
                      <a:r>
                        <a:rPr lang="en-US" altLang="ko-KR" sz="900" spc="-25" dirty="0">
                          <a:latin typeface="Arial"/>
                          <a:cs typeface="Arial"/>
                        </a:rPr>
                        <a:t> </a:t>
                      </a:r>
                      <a:r>
                        <a:rPr lang="en-US" altLang="ko-KR" sz="900" dirty="0">
                          <a:latin typeface="Arial"/>
                          <a:cs typeface="Arial"/>
                        </a:rPr>
                        <a:t>in</a:t>
                      </a:r>
                      <a:r>
                        <a:rPr lang="en-US" altLang="ko-KR" sz="900" spc="-10" dirty="0">
                          <a:latin typeface="Arial"/>
                          <a:cs typeface="Arial"/>
                        </a:rPr>
                        <a:t> </a:t>
                      </a:r>
                      <a:r>
                        <a:rPr lang="en-US" altLang="ko-KR" sz="900" spc="-5" dirty="0">
                          <a:latin typeface="Arial"/>
                          <a:cs typeface="Arial"/>
                        </a:rPr>
                        <a:t>CS/HOLD</a:t>
                      </a:r>
                      <a:r>
                        <a:rPr lang="en-US" altLang="ko-KR" sz="900" spc="-10" dirty="0">
                          <a:latin typeface="Arial"/>
                          <a:cs typeface="Arial"/>
                        </a:rPr>
                        <a:t> </a:t>
                      </a:r>
                      <a:r>
                        <a:rPr lang="en-US" altLang="ko-KR" sz="900" dirty="0">
                          <a:latin typeface="Arial"/>
                          <a:cs typeface="Arial"/>
                        </a:rPr>
                        <a:t>FIX</a:t>
                      </a:r>
                      <a:r>
                        <a:rPr lang="en-US" altLang="ko-KR" sz="900" spc="-5" dirty="0">
                          <a:latin typeface="Arial"/>
                          <a:cs typeface="Arial"/>
                        </a:rPr>
                        <a:t> CHANNEL</a:t>
                      </a:r>
                      <a:r>
                        <a:rPr lang="en-US" altLang="ko-KR" sz="900" dirty="0">
                          <a:latin typeface="Arial"/>
                          <a:cs typeface="Arial"/>
                        </a:rPr>
                        <a:t> register</a:t>
                      </a:r>
                      <a:r>
                        <a:rPr lang="en-US" altLang="ko-KR" sz="900" spc="-30" dirty="0">
                          <a:latin typeface="Arial"/>
                          <a:cs typeface="Arial"/>
                        </a:rPr>
                        <a:t> </a:t>
                      </a:r>
                      <a:r>
                        <a:rPr lang="en-US" altLang="ko-KR" sz="900" dirty="0">
                          <a:latin typeface="Arial"/>
                          <a:cs typeface="Arial"/>
                        </a:rPr>
                        <a:t>are</a:t>
                      </a:r>
                      <a:r>
                        <a:rPr lang="en-US" altLang="ko-KR" sz="900" spc="-10" dirty="0">
                          <a:latin typeface="Arial"/>
                          <a:cs typeface="Arial"/>
                        </a:rPr>
                        <a:t> </a:t>
                      </a:r>
                      <a:r>
                        <a:rPr lang="en-US" altLang="ko-KR" sz="900" spc="-5" dirty="0">
                          <a:latin typeface="Arial"/>
                          <a:cs typeface="Arial"/>
                        </a:rPr>
                        <a:t>driven</a:t>
                      </a:r>
                      <a:r>
                        <a:rPr lang="en-US" altLang="ko-KR" sz="900" spc="-15" dirty="0">
                          <a:latin typeface="Arial"/>
                          <a:cs typeface="Arial"/>
                        </a:rPr>
                        <a:t> </a:t>
                      </a:r>
                      <a:r>
                        <a:rPr lang="en-US" altLang="ko-KR" sz="900" dirty="0">
                          <a:latin typeface="Arial"/>
                          <a:cs typeface="Arial"/>
                        </a:rPr>
                        <a:t>to</a:t>
                      </a:r>
                      <a:r>
                        <a:rPr lang="en-US" altLang="ko-KR" sz="900" spc="-10" dirty="0">
                          <a:latin typeface="Arial"/>
                          <a:cs typeface="Arial"/>
                        </a:rPr>
                        <a:t> </a:t>
                      </a:r>
                      <a:r>
                        <a:rPr lang="en-US" altLang="ko-KR" sz="900" dirty="0">
                          <a:latin typeface="Arial"/>
                          <a:cs typeface="Arial"/>
                        </a:rPr>
                        <a:t>0.</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dirty="0">
                          <a:latin typeface="Arial"/>
                          <a:cs typeface="Arial"/>
                        </a:rPr>
                        <a:t>All</a:t>
                      </a:r>
                      <a:r>
                        <a:rPr lang="en-US" altLang="ko-KR" sz="900" spc="-5" dirty="0">
                          <a:latin typeface="Arial"/>
                          <a:cs typeface="Arial"/>
                        </a:rPr>
                        <a:t> CS</a:t>
                      </a:r>
                      <a:r>
                        <a:rPr lang="en-US" altLang="ko-KR" sz="900" spc="-10" dirty="0">
                          <a:latin typeface="Arial"/>
                          <a:cs typeface="Arial"/>
                        </a:rPr>
                        <a:t> </a:t>
                      </a:r>
                      <a:r>
                        <a:rPr lang="en-US" altLang="ko-KR" sz="900" dirty="0">
                          <a:latin typeface="Arial"/>
                          <a:cs typeface="Arial"/>
                        </a:rPr>
                        <a:t>pins</a:t>
                      </a:r>
                      <a:r>
                        <a:rPr lang="en-US" altLang="ko-KR" sz="900" spc="-20" dirty="0">
                          <a:latin typeface="Arial"/>
                          <a:cs typeface="Arial"/>
                        </a:rPr>
                        <a:t> </a:t>
                      </a:r>
                      <a:r>
                        <a:rPr lang="en-US" altLang="ko-KR" sz="900" dirty="0">
                          <a:latin typeface="Arial"/>
                          <a:cs typeface="Arial"/>
                        </a:rPr>
                        <a:t>activated</a:t>
                      </a:r>
                      <a:r>
                        <a:rPr lang="en-US" altLang="ko-KR" sz="900" spc="-25" dirty="0">
                          <a:latin typeface="Arial"/>
                          <a:cs typeface="Arial"/>
                        </a:rPr>
                        <a:t> </a:t>
                      </a:r>
                      <a:r>
                        <a:rPr lang="en-US" altLang="ko-KR" sz="900" dirty="0">
                          <a:latin typeface="Arial"/>
                          <a:cs typeface="Arial"/>
                        </a:rPr>
                        <a:t>in</a:t>
                      </a:r>
                      <a:r>
                        <a:rPr lang="en-US" altLang="ko-KR" sz="900" spc="-10" dirty="0">
                          <a:latin typeface="Arial"/>
                          <a:cs typeface="Arial"/>
                        </a:rPr>
                        <a:t> </a:t>
                      </a:r>
                      <a:r>
                        <a:rPr lang="en-US" altLang="ko-KR" sz="900" spc="-5" dirty="0">
                          <a:latin typeface="Arial"/>
                          <a:cs typeface="Arial"/>
                        </a:rPr>
                        <a:t>CS/HOLD</a:t>
                      </a:r>
                      <a:r>
                        <a:rPr lang="en-US" altLang="ko-KR" sz="900" spc="-10" dirty="0">
                          <a:latin typeface="Arial"/>
                          <a:cs typeface="Arial"/>
                        </a:rPr>
                        <a:t> </a:t>
                      </a:r>
                      <a:r>
                        <a:rPr lang="en-US" altLang="ko-KR" sz="900" dirty="0">
                          <a:latin typeface="Arial"/>
                          <a:cs typeface="Arial"/>
                        </a:rPr>
                        <a:t>FIX</a:t>
                      </a:r>
                      <a:r>
                        <a:rPr lang="en-US" altLang="ko-KR" sz="900" spc="-5" dirty="0">
                          <a:latin typeface="Arial"/>
                          <a:cs typeface="Arial"/>
                        </a:rPr>
                        <a:t> CHANNEL</a:t>
                      </a:r>
                      <a:r>
                        <a:rPr lang="en-US" altLang="ko-KR" sz="900" dirty="0">
                          <a:latin typeface="Arial"/>
                          <a:cs typeface="Arial"/>
                        </a:rPr>
                        <a:t> register</a:t>
                      </a:r>
                      <a:r>
                        <a:rPr lang="en-US" altLang="ko-KR" sz="900" spc="-30" dirty="0">
                          <a:latin typeface="Arial"/>
                          <a:cs typeface="Arial"/>
                        </a:rPr>
                        <a:t> </a:t>
                      </a:r>
                      <a:r>
                        <a:rPr lang="en-US" altLang="ko-KR" sz="900" dirty="0">
                          <a:latin typeface="Arial"/>
                          <a:cs typeface="Arial"/>
                        </a:rPr>
                        <a:t>are</a:t>
                      </a:r>
                      <a:r>
                        <a:rPr lang="en-US" altLang="ko-KR" sz="900" spc="-10" dirty="0">
                          <a:latin typeface="Arial"/>
                          <a:cs typeface="Arial"/>
                        </a:rPr>
                        <a:t> </a:t>
                      </a:r>
                      <a:r>
                        <a:rPr lang="en-US" altLang="ko-KR" sz="900" spc="-5" dirty="0">
                          <a:latin typeface="Arial"/>
                          <a:cs typeface="Arial"/>
                        </a:rPr>
                        <a:t>driven</a:t>
                      </a:r>
                      <a:r>
                        <a:rPr lang="en-US" altLang="ko-KR" sz="900" spc="-15" dirty="0">
                          <a:latin typeface="Arial"/>
                          <a:cs typeface="Arial"/>
                        </a:rPr>
                        <a:t> </a:t>
                      </a:r>
                      <a:r>
                        <a:rPr lang="en-US" altLang="ko-KR" sz="900" dirty="0">
                          <a:latin typeface="Arial"/>
                          <a:cs typeface="Arial"/>
                        </a:rPr>
                        <a:t>to</a:t>
                      </a:r>
                      <a:r>
                        <a:rPr lang="en-US" altLang="ko-KR" sz="900" spc="-10" dirty="0">
                          <a:latin typeface="Arial"/>
                          <a:cs typeface="Arial"/>
                        </a:rPr>
                        <a:t> </a:t>
                      </a:r>
                      <a:r>
                        <a:rPr lang="en-US" altLang="ko-KR" sz="900" dirty="0">
                          <a:latin typeface="Arial"/>
                          <a:cs typeface="Arial"/>
                        </a:rPr>
                        <a:t>1.</a:t>
                      </a:r>
                      <a:endParaRPr lang="en-US" altLang="ko-KR" sz="900" b="0" dirty="0">
                        <a:solidFill>
                          <a:schemeClr val="tx1"/>
                        </a:solidFill>
                        <a:latin typeface="Arial"/>
                        <a:ea typeface="+mn-ea"/>
                        <a:cs typeface="Arial"/>
                      </a:endParaRPr>
                    </a:p>
                  </a:txBody>
                  <a:tcPr marL="0" marR="0" marT="36000" marB="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02780645"/>
                  </a:ext>
                </a:extLst>
              </a:tr>
              <a:tr h="55762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2</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0" marR="0" marT="36000" marB="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spc="-5" dirty="0">
                          <a:latin typeface="Arial"/>
                          <a:cs typeface="Arial"/>
                        </a:rPr>
                        <a:t>HOLD_OUT</a:t>
                      </a:r>
                      <a:endParaRPr lang="en-US" altLang="ko-KR" sz="900" dirty="0">
                        <a:latin typeface="Arial"/>
                        <a:cs typeface="Arial"/>
                      </a:endParaRPr>
                    </a:p>
                  </a:txBody>
                  <a:tcPr marL="0" marR="0" marT="3600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a:ea typeface="+mn-ea"/>
                        <a:cs typeface="Arial"/>
                      </a:endParaRP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a:ea typeface="+mn-ea"/>
                          <a:cs typeface="Arial"/>
                        </a:rPr>
                        <a:t>‘0’</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a:ea typeface="+mn-ea"/>
                          <a:cs typeface="Arial"/>
                        </a:rPr>
                        <a:t>‘1’</a:t>
                      </a:r>
                    </a:p>
                  </a:txBody>
                  <a:tcPr marL="0" marR="0" marT="36000" marB="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spc="-5" dirty="0">
                          <a:latin typeface="Arial"/>
                          <a:cs typeface="Arial"/>
                        </a:rPr>
                        <a:t>This is </a:t>
                      </a:r>
                      <a:r>
                        <a:rPr lang="en-US" altLang="ko-KR" sz="900" dirty="0">
                          <a:latin typeface="Arial"/>
                          <a:cs typeface="Arial"/>
                        </a:rPr>
                        <a:t>activated</a:t>
                      </a:r>
                      <a:r>
                        <a:rPr lang="en-US" altLang="ko-KR" sz="900" spc="-20" dirty="0">
                          <a:latin typeface="Arial"/>
                          <a:cs typeface="Arial"/>
                        </a:rPr>
                        <a:t> </a:t>
                      </a:r>
                      <a:r>
                        <a:rPr lang="en-US" altLang="ko-KR" sz="900" spc="-5" dirty="0">
                          <a:latin typeface="Arial"/>
                          <a:cs typeface="Arial"/>
                        </a:rPr>
                        <a:t>only</a:t>
                      </a:r>
                      <a:r>
                        <a:rPr lang="en-US" altLang="ko-KR" sz="900" spc="-10" dirty="0">
                          <a:latin typeface="Arial"/>
                          <a:cs typeface="Arial"/>
                        </a:rPr>
                        <a:t> </a:t>
                      </a:r>
                      <a:r>
                        <a:rPr lang="en-US" altLang="ko-KR" sz="900" spc="-5" dirty="0">
                          <a:latin typeface="Arial"/>
                          <a:cs typeface="Arial"/>
                        </a:rPr>
                        <a:t>under</a:t>
                      </a:r>
                      <a:r>
                        <a:rPr lang="en-US" altLang="ko-KR" sz="900" spc="-25" dirty="0">
                          <a:latin typeface="Arial"/>
                          <a:cs typeface="Arial"/>
                        </a:rPr>
                        <a:t> </a:t>
                      </a:r>
                      <a:r>
                        <a:rPr lang="en-US" altLang="ko-KR" sz="900" dirty="0">
                          <a:latin typeface="Arial"/>
                          <a:cs typeface="Arial"/>
                        </a:rPr>
                        <a:t>set</a:t>
                      </a:r>
                      <a:r>
                        <a:rPr lang="en-US" altLang="ko-KR" sz="900" spc="-5" dirty="0">
                          <a:latin typeface="Arial"/>
                          <a:cs typeface="Arial"/>
                        </a:rPr>
                        <a:t> </a:t>
                      </a:r>
                      <a:r>
                        <a:rPr lang="en-US" altLang="ko-KR" sz="900" dirty="0">
                          <a:latin typeface="Arial"/>
                          <a:cs typeface="Arial"/>
                        </a:rPr>
                        <a:t>of</a:t>
                      </a:r>
                      <a:r>
                        <a:rPr lang="en-US" altLang="ko-KR" sz="900" spc="-10" dirty="0">
                          <a:latin typeface="Arial"/>
                          <a:cs typeface="Arial"/>
                        </a:rPr>
                        <a:t> </a:t>
                      </a:r>
                      <a:r>
                        <a:rPr lang="en-US" altLang="ko-KR" sz="900" spc="-5" dirty="0">
                          <a:latin typeface="Arial"/>
                          <a:cs typeface="Arial"/>
                        </a:rPr>
                        <a:t>CS/HD_FIX</a:t>
                      </a:r>
                      <a:r>
                        <a:rPr lang="en-US" altLang="ko-KR" sz="900" dirty="0">
                          <a:latin typeface="Arial"/>
                          <a:cs typeface="Arial"/>
                        </a:rPr>
                        <a:t> bit.</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dirty="0">
                          <a:latin typeface="Arial"/>
                          <a:cs typeface="Arial"/>
                        </a:rPr>
                        <a:t>All</a:t>
                      </a:r>
                      <a:r>
                        <a:rPr lang="en-US" altLang="ko-KR" sz="900" spc="5" dirty="0">
                          <a:latin typeface="Arial"/>
                          <a:cs typeface="Arial"/>
                        </a:rPr>
                        <a:t> </a:t>
                      </a:r>
                      <a:r>
                        <a:rPr lang="en-US" altLang="ko-KR" sz="900" spc="-5" dirty="0">
                          <a:latin typeface="Arial"/>
                          <a:cs typeface="Arial"/>
                        </a:rPr>
                        <a:t>HOLD</a:t>
                      </a:r>
                      <a:r>
                        <a:rPr lang="en-US" altLang="ko-KR" sz="900" spc="5" dirty="0">
                          <a:latin typeface="Arial"/>
                          <a:cs typeface="Arial"/>
                        </a:rPr>
                        <a:t> </a:t>
                      </a:r>
                      <a:r>
                        <a:rPr lang="en-US" altLang="ko-KR" sz="900" spc="-5" dirty="0">
                          <a:latin typeface="Arial"/>
                          <a:cs typeface="Arial"/>
                        </a:rPr>
                        <a:t>pins</a:t>
                      </a:r>
                      <a:r>
                        <a:rPr lang="en-US" altLang="ko-KR" sz="900" spc="-15" dirty="0">
                          <a:latin typeface="Arial"/>
                          <a:cs typeface="Arial"/>
                        </a:rPr>
                        <a:t> </a:t>
                      </a:r>
                      <a:r>
                        <a:rPr lang="en-US" altLang="ko-KR" sz="900" spc="-5" dirty="0">
                          <a:latin typeface="Arial"/>
                          <a:cs typeface="Arial"/>
                        </a:rPr>
                        <a:t>activated</a:t>
                      </a:r>
                      <a:r>
                        <a:rPr lang="en-US" altLang="ko-KR" sz="900" spc="-20" dirty="0">
                          <a:latin typeface="Arial"/>
                          <a:cs typeface="Arial"/>
                        </a:rPr>
                        <a:t> </a:t>
                      </a:r>
                      <a:r>
                        <a:rPr lang="en-US" altLang="ko-KR" sz="900" dirty="0">
                          <a:latin typeface="Arial"/>
                          <a:cs typeface="Arial"/>
                        </a:rPr>
                        <a:t>in</a:t>
                      </a:r>
                      <a:r>
                        <a:rPr lang="en-US" altLang="ko-KR" sz="900" spc="-5" dirty="0">
                          <a:latin typeface="Arial"/>
                          <a:cs typeface="Arial"/>
                        </a:rPr>
                        <a:t> CS/HOLD</a:t>
                      </a:r>
                      <a:r>
                        <a:rPr lang="en-US" altLang="ko-KR" sz="900" spc="5" dirty="0">
                          <a:latin typeface="Arial"/>
                          <a:cs typeface="Arial"/>
                        </a:rPr>
                        <a:t> </a:t>
                      </a:r>
                      <a:r>
                        <a:rPr lang="en-US" altLang="ko-KR" sz="900" dirty="0">
                          <a:latin typeface="Arial"/>
                          <a:cs typeface="Arial"/>
                        </a:rPr>
                        <a:t>FIX </a:t>
                      </a:r>
                      <a:r>
                        <a:rPr lang="en-US" altLang="ko-KR" sz="900" spc="-5" dirty="0">
                          <a:latin typeface="Arial"/>
                          <a:cs typeface="Arial"/>
                        </a:rPr>
                        <a:t>CHANNEL</a:t>
                      </a:r>
                      <a:r>
                        <a:rPr lang="en-US" altLang="ko-KR" sz="900" spc="5" dirty="0">
                          <a:latin typeface="Arial"/>
                          <a:cs typeface="Arial"/>
                        </a:rPr>
                        <a:t> </a:t>
                      </a:r>
                      <a:r>
                        <a:rPr lang="en-US" altLang="ko-KR" sz="900" dirty="0">
                          <a:latin typeface="Arial"/>
                          <a:cs typeface="Arial"/>
                        </a:rPr>
                        <a:t>register</a:t>
                      </a:r>
                      <a:r>
                        <a:rPr lang="en-US" altLang="ko-KR" sz="900" spc="-20" dirty="0">
                          <a:latin typeface="Arial"/>
                          <a:cs typeface="Arial"/>
                        </a:rPr>
                        <a:t> </a:t>
                      </a:r>
                      <a:r>
                        <a:rPr lang="en-US" altLang="ko-KR" sz="900" spc="-5" dirty="0">
                          <a:latin typeface="Arial"/>
                          <a:cs typeface="Arial"/>
                        </a:rPr>
                        <a:t>are</a:t>
                      </a:r>
                      <a:r>
                        <a:rPr lang="en-US" altLang="ko-KR" sz="900" spc="-10" dirty="0">
                          <a:latin typeface="Arial"/>
                          <a:cs typeface="Arial"/>
                        </a:rPr>
                        <a:t> </a:t>
                      </a:r>
                      <a:r>
                        <a:rPr lang="en-US" altLang="ko-KR" sz="900" spc="-5" dirty="0">
                          <a:latin typeface="Arial"/>
                          <a:cs typeface="Arial"/>
                        </a:rPr>
                        <a:t>driven </a:t>
                      </a:r>
                      <a:r>
                        <a:rPr lang="en-US" altLang="ko-KR" sz="900" dirty="0">
                          <a:latin typeface="Arial"/>
                          <a:cs typeface="Arial"/>
                        </a:rPr>
                        <a:t>to</a:t>
                      </a:r>
                      <a:r>
                        <a:rPr lang="en-US" altLang="ko-KR" sz="900" spc="-5" dirty="0">
                          <a:latin typeface="Arial"/>
                          <a:cs typeface="Arial"/>
                        </a:rPr>
                        <a:t> 0.</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dirty="0">
                          <a:latin typeface="Arial"/>
                          <a:cs typeface="Arial"/>
                        </a:rPr>
                        <a:t>All</a:t>
                      </a:r>
                      <a:r>
                        <a:rPr lang="en-US" altLang="ko-KR" sz="900" spc="-5" dirty="0">
                          <a:latin typeface="Arial"/>
                          <a:cs typeface="Arial"/>
                        </a:rPr>
                        <a:t> HOLD </a:t>
                      </a:r>
                      <a:r>
                        <a:rPr lang="en-US" altLang="ko-KR" sz="900" dirty="0">
                          <a:latin typeface="Arial"/>
                          <a:cs typeface="Arial"/>
                        </a:rPr>
                        <a:t>pins</a:t>
                      </a:r>
                      <a:r>
                        <a:rPr lang="en-US" altLang="ko-KR" sz="900" spc="-25" dirty="0">
                          <a:latin typeface="Arial"/>
                          <a:cs typeface="Arial"/>
                        </a:rPr>
                        <a:t> </a:t>
                      </a:r>
                      <a:r>
                        <a:rPr lang="en-US" altLang="ko-KR" sz="900" dirty="0">
                          <a:latin typeface="Arial"/>
                          <a:cs typeface="Arial"/>
                        </a:rPr>
                        <a:t>activated</a:t>
                      </a:r>
                      <a:r>
                        <a:rPr lang="en-US" altLang="ko-KR" sz="900" spc="-20" dirty="0">
                          <a:latin typeface="Arial"/>
                          <a:cs typeface="Arial"/>
                        </a:rPr>
                        <a:t> </a:t>
                      </a:r>
                      <a:r>
                        <a:rPr lang="en-US" altLang="ko-KR" sz="900" dirty="0">
                          <a:latin typeface="Arial"/>
                          <a:cs typeface="Arial"/>
                        </a:rPr>
                        <a:t>in</a:t>
                      </a:r>
                      <a:r>
                        <a:rPr lang="en-US" altLang="ko-KR" sz="900" spc="-15" dirty="0">
                          <a:latin typeface="Arial"/>
                          <a:cs typeface="Arial"/>
                        </a:rPr>
                        <a:t> </a:t>
                      </a:r>
                      <a:r>
                        <a:rPr lang="en-US" altLang="ko-KR" sz="900" spc="-5" dirty="0">
                          <a:latin typeface="Arial"/>
                          <a:cs typeface="Arial"/>
                        </a:rPr>
                        <a:t>CS/HOLD </a:t>
                      </a:r>
                      <a:r>
                        <a:rPr lang="en-US" altLang="ko-KR" sz="900" dirty="0">
                          <a:latin typeface="Arial"/>
                          <a:cs typeface="Arial"/>
                        </a:rPr>
                        <a:t>FIX</a:t>
                      </a:r>
                      <a:r>
                        <a:rPr lang="en-US" altLang="ko-KR" sz="900" spc="-5" dirty="0">
                          <a:latin typeface="Arial"/>
                          <a:cs typeface="Arial"/>
                        </a:rPr>
                        <a:t> CHANNEL</a:t>
                      </a:r>
                      <a:r>
                        <a:rPr lang="en-US" altLang="ko-KR" sz="900" dirty="0">
                          <a:latin typeface="Arial"/>
                          <a:cs typeface="Arial"/>
                        </a:rPr>
                        <a:t> register</a:t>
                      </a:r>
                      <a:r>
                        <a:rPr lang="en-US" altLang="ko-KR" sz="900" spc="-30" dirty="0">
                          <a:latin typeface="Arial"/>
                          <a:cs typeface="Arial"/>
                        </a:rPr>
                        <a:t> </a:t>
                      </a:r>
                      <a:r>
                        <a:rPr lang="en-US" altLang="ko-KR" sz="900" dirty="0">
                          <a:latin typeface="Arial"/>
                          <a:cs typeface="Arial"/>
                        </a:rPr>
                        <a:t>are</a:t>
                      </a:r>
                      <a:r>
                        <a:rPr lang="en-US" altLang="ko-KR" sz="900" spc="-10" dirty="0">
                          <a:latin typeface="Arial"/>
                          <a:cs typeface="Arial"/>
                        </a:rPr>
                        <a:t> </a:t>
                      </a:r>
                      <a:r>
                        <a:rPr lang="en-US" altLang="ko-KR" sz="900" spc="-5" dirty="0">
                          <a:latin typeface="Arial"/>
                          <a:cs typeface="Arial"/>
                        </a:rPr>
                        <a:t>driven</a:t>
                      </a:r>
                      <a:r>
                        <a:rPr lang="en-US" altLang="ko-KR" sz="900" spc="-15" dirty="0">
                          <a:latin typeface="Arial"/>
                          <a:cs typeface="Arial"/>
                        </a:rPr>
                        <a:t> </a:t>
                      </a:r>
                      <a:r>
                        <a:rPr lang="en-US" altLang="ko-KR" sz="900" dirty="0">
                          <a:latin typeface="Arial"/>
                          <a:cs typeface="Arial"/>
                        </a:rPr>
                        <a:t>to</a:t>
                      </a:r>
                      <a:r>
                        <a:rPr lang="en-US" altLang="ko-KR" sz="900" spc="-10" dirty="0">
                          <a:latin typeface="Arial"/>
                          <a:cs typeface="Arial"/>
                        </a:rPr>
                        <a:t> </a:t>
                      </a:r>
                      <a:r>
                        <a:rPr lang="en-US" altLang="ko-KR" sz="900" dirty="0">
                          <a:latin typeface="Arial"/>
                          <a:cs typeface="Arial"/>
                        </a:rPr>
                        <a:t>1.</a:t>
                      </a:r>
                      <a:endParaRPr lang="en-US" altLang="ko-KR" sz="900" b="0" dirty="0">
                        <a:solidFill>
                          <a:schemeClr val="tx1"/>
                        </a:solidFill>
                        <a:latin typeface="Arial"/>
                        <a:ea typeface="+mn-ea"/>
                        <a:cs typeface="Arial"/>
                      </a:endParaRPr>
                    </a:p>
                  </a:txBody>
                  <a:tcPr marL="0" marR="0" marT="36000" marB="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30913409"/>
                  </a:ext>
                </a:extLst>
              </a:tr>
              <a:tr h="408746">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0" marR="0" marT="36000" marB="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spc="-5" dirty="0">
                          <a:latin typeface="Arial"/>
                          <a:cs typeface="Arial"/>
                        </a:rPr>
                        <a:t>CS/HD_FIX</a:t>
                      </a:r>
                      <a:endParaRPr lang="en-US" altLang="ko-KR" sz="900" dirty="0">
                        <a:latin typeface="Arial"/>
                        <a:cs typeface="Arial"/>
                      </a:endParaRPr>
                    </a:p>
                  </a:txBody>
                  <a:tcPr marL="0" marR="0" marT="3600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a:ea typeface="+mn-ea"/>
                        <a:cs typeface="Arial"/>
                      </a:endParaRP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a:ea typeface="+mn-ea"/>
                          <a:cs typeface="Arial"/>
                        </a:rPr>
                        <a:t>‘1’</a:t>
                      </a:r>
                    </a:p>
                  </a:txBody>
                  <a:tcPr marL="0" marR="0" marT="36000" marB="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spc="-5" dirty="0">
                          <a:latin typeface="Arial"/>
                          <a:cs typeface="Arial"/>
                        </a:rPr>
                        <a:t>This is </a:t>
                      </a:r>
                      <a:r>
                        <a:rPr lang="en-US" altLang="ko-KR" sz="900" dirty="0">
                          <a:latin typeface="Arial"/>
                          <a:cs typeface="Arial"/>
                        </a:rPr>
                        <a:t>used to configure the </a:t>
                      </a:r>
                      <a:r>
                        <a:rPr lang="en-US" altLang="ko-KR" sz="900" spc="-5" dirty="0">
                          <a:latin typeface="Arial"/>
                          <a:cs typeface="Arial"/>
                        </a:rPr>
                        <a:t>AQ06/AQ08 LED drivers </a:t>
                      </a:r>
                      <a:r>
                        <a:rPr lang="en-US" altLang="ko-KR" sz="900" dirty="0">
                          <a:latin typeface="Arial"/>
                          <a:cs typeface="Arial"/>
                        </a:rPr>
                        <a:t>at </a:t>
                      </a:r>
                      <a:r>
                        <a:rPr lang="en-US" altLang="ko-KR" sz="900" spc="-5" dirty="0">
                          <a:latin typeface="Arial"/>
                          <a:cs typeface="Arial"/>
                        </a:rPr>
                        <a:t>initialization </a:t>
                      </a:r>
                      <a:r>
                        <a:rPr lang="en-US" altLang="ko-KR" sz="900" dirty="0">
                          <a:latin typeface="Arial"/>
                          <a:cs typeface="Arial"/>
                        </a:rPr>
                        <a:t>after </a:t>
                      </a:r>
                      <a:r>
                        <a:rPr lang="en-US" altLang="ko-KR" sz="900" spc="-5" dirty="0">
                          <a:latin typeface="Arial"/>
                          <a:cs typeface="Arial"/>
                        </a:rPr>
                        <a:t>POR.</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spc="-5" dirty="0">
                          <a:latin typeface="Arial"/>
                          <a:cs typeface="Arial"/>
                        </a:rPr>
                        <a:t>CS_OUT </a:t>
                      </a:r>
                      <a:r>
                        <a:rPr lang="en-US" altLang="ko-KR" sz="900" dirty="0">
                          <a:latin typeface="Arial"/>
                          <a:cs typeface="Arial"/>
                        </a:rPr>
                        <a:t>and</a:t>
                      </a:r>
                      <a:r>
                        <a:rPr lang="en-US" altLang="ko-KR" sz="900" spc="-10" dirty="0">
                          <a:latin typeface="Arial"/>
                          <a:cs typeface="Arial"/>
                        </a:rPr>
                        <a:t> </a:t>
                      </a:r>
                      <a:r>
                        <a:rPr lang="en-US" altLang="ko-KR" sz="900" spc="-5" dirty="0">
                          <a:latin typeface="Arial"/>
                          <a:cs typeface="Arial"/>
                        </a:rPr>
                        <a:t>HOLD_OUT</a:t>
                      </a:r>
                      <a:r>
                        <a:rPr lang="en-US" altLang="ko-KR" sz="900" spc="15" dirty="0">
                          <a:latin typeface="Arial"/>
                          <a:cs typeface="Arial"/>
                        </a:rPr>
                        <a:t> </a:t>
                      </a:r>
                      <a:r>
                        <a:rPr lang="en-US" altLang="ko-KR" sz="900" dirty="0">
                          <a:latin typeface="Arial"/>
                          <a:cs typeface="Arial"/>
                        </a:rPr>
                        <a:t>are</a:t>
                      </a:r>
                      <a:r>
                        <a:rPr lang="en-US" altLang="ko-KR" sz="900" spc="-15" dirty="0">
                          <a:latin typeface="Arial"/>
                          <a:cs typeface="Arial"/>
                        </a:rPr>
                        <a:t> </a:t>
                      </a:r>
                      <a:r>
                        <a:rPr lang="en-US" altLang="ko-KR" sz="900" dirty="0">
                          <a:latin typeface="Arial"/>
                          <a:cs typeface="Arial"/>
                        </a:rPr>
                        <a:t>activated.</a:t>
                      </a:r>
                      <a:endParaRPr lang="en-US" altLang="ko-KR" sz="900" b="0" dirty="0">
                        <a:solidFill>
                          <a:schemeClr val="tx1"/>
                        </a:solidFill>
                        <a:latin typeface="Arial"/>
                        <a:ea typeface="+mn-ea"/>
                        <a:cs typeface="Arial"/>
                      </a:endParaRPr>
                    </a:p>
                  </a:txBody>
                  <a:tcPr marL="0" marR="0" marT="36000" marB="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89140048"/>
                  </a:ext>
                </a:extLst>
              </a:tr>
            </a:tbl>
          </a:graphicData>
        </a:graphic>
      </p:graphicFrame>
      <p:sp>
        <p:nvSpPr>
          <p:cNvPr id="6" name="object 9">
            <a:extLst>
              <a:ext uri="{FF2B5EF4-FFF2-40B4-BE49-F238E27FC236}">
                <a16:creationId xmlns:a16="http://schemas.microsoft.com/office/drawing/2014/main" id="{4AD5D309-B9C1-F479-A325-B605BB3772CF}"/>
              </a:ext>
            </a:extLst>
          </p:cNvPr>
          <p:cNvSpPr txBox="1"/>
          <p:nvPr/>
        </p:nvSpPr>
        <p:spPr>
          <a:xfrm>
            <a:off x="304800" y="9067800"/>
            <a:ext cx="2078355" cy="289823"/>
          </a:xfrm>
          <a:prstGeom prst="rect">
            <a:avLst/>
          </a:prstGeom>
        </p:spPr>
        <p:txBody>
          <a:bodyPr vert="horz" wrap="square" lIns="0" tIns="12700" rIns="0" bIns="0" rtlCol="0">
            <a:spAutoFit/>
          </a:bodyPr>
          <a:lstStyle/>
          <a:p>
            <a:pPr marL="12700">
              <a:lnSpc>
                <a:spcPct val="100000"/>
              </a:lnSpc>
              <a:spcBef>
                <a:spcPts val="100"/>
              </a:spcBef>
            </a:pPr>
            <a:r>
              <a:rPr b="1" spc="-5" dirty="0">
                <a:solidFill>
                  <a:srgbClr val="FF0000"/>
                </a:solidFill>
                <a:cs typeface="Perpetua Titling MT"/>
              </a:rPr>
              <a:t>CONFIDENTIAL</a:t>
            </a:r>
            <a:endParaRPr dirty="0">
              <a:cs typeface="Perpetua Titling MT"/>
            </a:endParaRPr>
          </a:p>
        </p:txBody>
      </p:sp>
      <p:sp>
        <p:nvSpPr>
          <p:cNvPr id="9" name="object 6">
            <a:extLst>
              <a:ext uri="{FF2B5EF4-FFF2-40B4-BE49-F238E27FC236}">
                <a16:creationId xmlns:a16="http://schemas.microsoft.com/office/drawing/2014/main" id="{E1861CC2-294F-A7FB-64B3-00EE740BF012}"/>
              </a:ext>
            </a:extLst>
          </p:cNvPr>
          <p:cNvSpPr/>
          <p:nvPr/>
        </p:nvSpPr>
        <p:spPr>
          <a:xfrm>
            <a:off x="301676" y="9458756"/>
            <a:ext cx="6246495" cy="0"/>
          </a:xfrm>
          <a:custGeom>
            <a:avLst/>
            <a:gdLst/>
            <a:ahLst/>
            <a:cxnLst/>
            <a:rect l="l" t="t" r="r" b="b"/>
            <a:pathLst>
              <a:path w="6246495">
                <a:moveTo>
                  <a:pt x="0" y="0"/>
                </a:moveTo>
                <a:lnTo>
                  <a:pt x="6245999" y="0"/>
                </a:lnTo>
              </a:path>
            </a:pathLst>
          </a:custGeom>
          <a:ln w="25920">
            <a:solidFill>
              <a:srgbClr val="BFBFBF"/>
            </a:solidFill>
          </a:ln>
        </p:spPr>
        <p:txBody>
          <a:bodyPr wrap="square" lIns="0" tIns="0" rIns="0" bIns="0" rtlCol="0"/>
          <a:lstStyle/>
          <a:p>
            <a:endParaRPr/>
          </a:p>
        </p:txBody>
      </p:sp>
      <p:sp>
        <p:nvSpPr>
          <p:cNvPr id="16" name="슬라이드 번호 개체 틀 3">
            <a:hlinkClick r:id="rId2"/>
            <a:extLst>
              <a:ext uri="{FF2B5EF4-FFF2-40B4-BE49-F238E27FC236}">
                <a16:creationId xmlns:a16="http://schemas.microsoft.com/office/drawing/2014/main" id="{4F0E45D9-1FDF-C9FD-C359-A40EC2A076DF}"/>
              </a:ext>
            </a:extLst>
          </p:cNvPr>
          <p:cNvSpPr txBox="1">
            <a:spLocks/>
          </p:cNvSpPr>
          <p:nvPr/>
        </p:nvSpPr>
        <p:spPr>
          <a:xfrm>
            <a:off x="5151602" y="9452864"/>
            <a:ext cx="1487550"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dirty="0">
                <a:solidFill>
                  <a:prstClr val="black"/>
                </a:solidFill>
                <a:latin typeface="Arial" panose="020B0604020202020204" pitchFamily="34" charset="0"/>
                <a:cs typeface="Arial" panose="020B0604020202020204" pitchFamily="34" charset="0"/>
              </a:rPr>
              <a:t>http://www.glbltech.com/</a:t>
            </a:r>
            <a:endParaRPr lang="ko-KR" altLang="en-US" dirty="0">
              <a:solidFill>
                <a:prstClr val="black"/>
              </a:solidFill>
              <a:latin typeface="Arial" panose="020B0604020202020204" pitchFamily="34" charset="0"/>
              <a:cs typeface="Arial" panose="020B0604020202020204" pitchFamily="34" charset="0"/>
            </a:endParaRPr>
          </a:p>
        </p:txBody>
      </p:sp>
      <p:sp>
        <p:nvSpPr>
          <p:cNvPr id="17" name="object 38">
            <a:extLst>
              <a:ext uri="{FF2B5EF4-FFF2-40B4-BE49-F238E27FC236}">
                <a16:creationId xmlns:a16="http://schemas.microsoft.com/office/drawing/2014/main" id="{9FC9CE88-1810-9010-4D0E-6F61C51FD694}"/>
              </a:ext>
            </a:extLst>
          </p:cNvPr>
          <p:cNvSpPr txBox="1">
            <a:spLocks/>
          </p:cNvSpPr>
          <p:nvPr/>
        </p:nvSpPr>
        <p:spPr>
          <a:xfrm>
            <a:off x="3309066" y="9547988"/>
            <a:ext cx="487045" cy="139141"/>
          </a:xfrm>
          <a:prstGeom prst="rect">
            <a:avLst/>
          </a:prstGeom>
        </p:spPr>
        <p:txBody>
          <a:bodyPr vert="horz" wrap="square" lIns="0" tIns="635" rIns="0" bIns="0" rtlCol="0">
            <a:spAutoFit/>
          </a:bodyPr>
          <a:lstStyle>
            <a:defPPr>
              <a:defRPr lang="ko-KR"/>
            </a:defPPr>
            <a:lvl1pPr marL="0" algn="l" defTabSz="914400" rtl="0" eaLnBrk="1" latinLnBrk="1" hangingPunct="1">
              <a:defRPr sz="1050" b="0" i="0" kern="1200">
                <a:solidFill>
                  <a:schemeClr val="tx1"/>
                </a:solidFill>
                <a:latin typeface="Arial"/>
                <a:ea typeface="+mn-ea"/>
                <a:cs typeface="Arial"/>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marL="12700">
              <a:spcBef>
                <a:spcPts val="5"/>
              </a:spcBef>
              <a:defRPr/>
            </a:pPr>
            <a:r>
              <a:rPr lang="en-US" sz="900" dirty="0">
                <a:solidFill>
                  <a:prstClr val="black"/>
                </a:solidFill>
              </a:rPr>
              <a:t>Page</a:t>
            </a:r>
            <a:r>
              <a:rPr lang="en-US" sz="900" spc="-60" dirty="0">
                <a:solidFill>
                  <a:prstClr val="black"/>
                </a:solidFill>
              </a:rPr>
              <a:t> </a:t>
            </a:r>
            <a:fld id="{81D60167-4931-47E6-BA6A-407CBD079E47}" type="slidenum">
              <a:rPr sz="900">
                <a:solidFill>
                  <a:prstClr val="black"/>
                </a:solidFill>
              </a:rPr>
              <a:pPr marL="12700">
                <a:spcBef>
                  <a:spcPts val="5"/>
                </a:spcBef>
                <a:defRPr/>
              </a:pPr>
              <a:t>32</a:t>
            </a:fld>
            <a:endParaRPr sz="900" dirty="0">
              <a:solidFill>
                <a:prstClr val="black"/>
              </a:solidFill>
            </a:endParaRPr>
          </a:p>
        </p:txBody>
      </p:sp>
      <p:sp>
        <p:nvSpPr>
          <p:cNvPr id="18" name="슬라이드 번호 개체 틀 3">
            <a:extLst>
              <a:ext uri="{FF2B5EF4-FFF2-40B4-BE49-F238E27FC236}">
                <a16:creationId xmlns:a16="http://schemas.microsoft.com/office/drawing/2014/main" id="{C90DEE72-04C2-1B65-71D6-CD89C9A0C851}"/>
              </a:ext>
            </a:extLst>
          </p:cNvPr>
          <p:cNvSpPr txBox="1">
            <a:spLocks/>
          </p:cNvSpPr>
          <p:nvPr/>
        </p:nvSpPr>
        <p:spPr>
          <a:xfrm>
            <a:off x="299401" y="9520856"/>
            <a:ext cx="2060991" cy="175259"/>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lang="en-US" altLang="ko-KR" dirty="0">
                <a:solidFill>
                  <a:prstClr val="black"/>
                </a:solidFill>
                <a:latin typeface="Arial" panose="020B0604020202020204" pitchFamily="34" charset="0"/>
                <a:cs typeface="Arial" panose="020B0604020202020204" pitchFamily="34" charset="0"/>
              </a:rPr>
              <a:t>Dated 30-Nov 23  Rev. 01</a:t>
            </a:r>
            <a:endParaRPr lang="ko-KR" altLang="en-US" dirty="0">
              <a:solidFill>
                <a:prstClr val="black"/>
              </a:solidFill>
              <a:latin typeface="Arial" panose="020B0604020202020204" pitchFamily="34" charset="0"/>
              <a:cs typeface="Arial" panose="020B0604020202020204" pitchFamily="34" charset="0"/>
            </a:endParaRPr>
          </a:p>
        </p:txBody>
      </p:sp>
      <p:sp>
        <p:nvSpPr>
          <p:cNvPr id="19" name="Holder 3">
            <a:extLst>
              <a:ext uri="{FF2B5EF4-FFF2-40B4-BE49-F238E27FC236}">
                <a16:creationId xmlns:a16="http://schemas.microsoft.com/office/drawing/2014/main" id="{462C3825-390E-21AD-5BE3-8B538574A127}"/>
              </a:ext>
            </a:extLst>
          </p:cNvPr>
          <p:cNvSpPr txBox="1">
            <a:spLocks/>
          </p:cNvSpPr>
          <p:nvPr/>
        </p:nvSpPr>
        <p:spPr>
          <a:xfrm>
            <a:off x="5147476" y="203944"/>
            <a:ext cx="1447800" cy="276999"/>
          </a:xfrm>
          <a:prstGeom prst="rect">
            <a:avLst/>
          </a:prstGeom>
        </p:spPr>
        <p:txBody>
          <a:bodyPr wrap="square" lIns="0" tIns="0" rIns="0" bIns="0">
            <a:spAutoFit/>
          </a:bodyPr>
          <a:lstStyle>
            <a:lvl1pPr marL="0">
              <a:defRPr>
                <a:solidFill>
                  <a:srgbClr val="FF99FF"/>
                </a:solidFill>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defTabSz="914400" latinLnBrk="0"/>
            <a:r>
              <a:rPr lang="en-US" sz="1800" kern="0" dirty="0"/>
              <a:t>&lt;Preliminary&gt;</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2"/>
          <p:cNvGraphicFramePr>
            <a:graphicFrameLocks noGrp="1"/>
          </p:cNvGraphicFramePr>
          <p:nvPr>
            <p:extLst>
              <p:ext uri="{D42A27DB-BD31-4B8C-83A1-F6EECF244321}">
                <p14:modId xmlns:p14="http://schemas.microsoft.com/office/powerpoint/2010/main" val="397810837"/>
              </p:ext>
            </p:extLst>
          </p:nvPr>
        </p:nvGraphicFramePr>
        <p:xfrm>
          <a:off x="400911" y="1338135"/>
          <a:ext cx="6038544" cy="193675"/>
        </p:xfrm>
        <a:graphic>
          <a:graphicData uri="http://schemas.openxmlformats.org/drawingml/2006/table">
            <a:tbl>
              <a:tblPr firstRow="1" bandRow="1">
                <a:tableStyleId>{2D5ABB26-0587-4C30-8999-92F81FD0307C}</a:tableStyleId>
              </a:tblPr>
              <a:tblGrid>
                <a:gridCol w="1128846">
                  <a:extLst>
                    <a:ext uri="{9D8B030D-6E8A-4147-A177-3AD203B41FA5}">
                      <a16:colId xmlns:a16="http://schemas.microsoft.com/office/drawing/2014/main" val="20000"/>
                    </a:ext>
                  </a:extLst>
                </a:gridCol>
                <a:gridCol w="229501">
                  <a:extLst>
                    <a:ext uri="{9D8B030D-6E8A-4147-A177-3AD203B41FA5}">
                      <a16:colId xmlns:a16="http://schemas.microsoft.com/office/drawing/2014/main" val="20001"/>
                    </a:ext>
                  </a:extLst>
                </a:gridCol>
                <a:gridCol w="202135">
                  <a:extLst>
                    <a:ext uri="{9D8B030D-6E8A-4147-A177-3AD203B41FA5}">
                      <a16:colId xmlns:a16="http://schemas.microsoft.com/office/drawing/2014/main" val="20002"/>
                    </a:ext>
                  </a:extLst>
                </a:gridCol>
                <a:gridCol w="276147">
                  <a:extLst>
                    <a:ext uri="{9D8B030D-6E8A-4147-A177-3AD203B41FA5}">
                      <a16:colId xmlns:a16="http://schemas.microsoft.com/office/drawing/2014/main" val="20003"/>
                    </a:ext>
                  </a:extLst>
                </a:gridCol>
                <a:gridCol w="198402">
                  <a:extLst>
                    <a:ext uri="{9D8B030D-6E8A-4147-A177-3AD203B41FA5}">
                      <a16:colId xmlns:a16="http://schemas.microsoft.com/office/drawing/2014/main" val="20004"/>
                    </a:ext>
                  </a:extLst>
                </a:gridCol>
                <a:gridCol w="175390">
                  <a:extLst>
                    <a:ext uri="{9D8B030D-6E8A-4147-A177-3AD203B41FA5}">
                      <a16:colId xmlns:a16="http://schemas.microsoft.com/office/drawing/2014/main" val="20005"/>
                    </a:ext>
                  </a:extLst>
                </a:gridCol>
                <a:gridCol w="175390">
                  <a:extLst>
                    <a:ext uri="{9D8B030D-6E8A-4147-A177-3AD203B41FA5}">
                      <a16:colId xmlns:a16="http://schemas.microsoft.com/office/drawing/2014/main" val="20006"/>
                    </a:ext>
                  </a:extLst>
                </a:gridCol>
                <a:gridCol w="210221">
                  <a:extLst>
                    <a:ext uri="{9D8B030D-6E8A-4147-A177-3AD203B41FA5}">
                      <a16:colId xmlns:a16="http://schemas.microsoft.com/office/drawing/2014/main" val="20007"/>
                    </a:ext>
                  </a:extLst>
                </a:gridCol>
                <a:gridCol w="3442512">
                  <a:extLst>
                    <a:ext uri="{9D8B030D-6E8A-4147-A177-3AD203B41FA5}">
                      <a16:colId xmlns:a16="http://schemas.microsoft.com/office/drawing/2014/main" val="20008"/>
                    </a:ext>
                  </a:extLst>
                </a:gridCol>
              </a:tblGrid>
              <a:tr h="193675">
                <a:tc>
                  <a:txBody>
                    <a:bodyPr/>
                    <a:lstStyle/>
                    <a:p>
                      <a:pPr marL="339725">
                        <a:lnSpc>
                          <a:spcPct val="100000"/>
                        </a:lnSpc>
                        <a:spcBef>
                          <a:spcPts val="265"/>
                        </a:spcBef>
                      </a:pPr>
                      <a:r>
                        <a:rPr sz="800" spc="-5" dirty="0">
                          <a:latin typeface="Arial"/>
                          <a:cs typeface="Arial"/>
                        </a:rPr>
                        <a:t>C1</a:t>
                      </a:r>
                      <a:r>
                        <a:rPr sz="800" spc="-30" dirty="0">
                          <a:latin typeface="Arial"/>
                          <a:cs typeface="Arial"/>
                        </a:rPr>
                        <a:t> </a:t>
                      </a:r>
                      <a:r>
                        <a:rPr sz="800" spc="-5" dirty="0">
                          <a:latin typeface="Arial"/>
                          <a:cs typeface="Arial"/>
                        </a:rPr>
                        <a:t>[15:14]</a:t>
                      </a:r>
                      <a:endParaRPr sz="8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FFFCC"/>
                    </a:solidFill>
                  </a:tcPr>
                </a:tc>
                <a:tc>
                  <a:txBody>
                    <a:bodyPr/>
                    <a:lstStyle/>
                    <a:p>
                      <a:pPr marL="2540" algn="ctr">
                        <a:lnSpc>
                          <a:spcPct val="100000"/>
                        </a:lnSpc>
                        <a:spcBef>
                          <a:spcPts val="265"/>
                        </a:spcBef>
                      </a:pPr>
                      <a:r>
                        <a:rPr sz="800" dirty="0">
                          <a:latin typeface="Arial"/>
                          <a:cs typeface="Arial"/>
                        </a:rPr>
                        <a:t>x</a:t>
                      </a: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3810" algn="ctr">
                        <a:lnSpc>
                          <a:spcPct val="100000"/>
                        </a:lnSpc>
                        <a:spcBef>
                          <a:spcPts val="265"/>
                        </a:spcBef>
                      </a:pPr>
                      <a:r>
                        <a:rPr sz="800" dirty="0">
                          <a:latin typeface="Arial"/>
                          <a:cs typeface="Arial"/>
                        </a:rPr>
                        <a:t>x</a:t>
                      </a: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41275">
                        <a:lnSpc>
                          <a:spcPct val="100000"/>
                        </a:lnSpc>
                        <a:spcBef>
                          <a:spcPts val="265"/>
                        </a:spcBef>
                      </a:pPr>
                      <a:r>
                        <a:rPr sz="800" dirty="0">
                          <a:latin typeface="Arial"/>
                          <a:cs typeface="Arial"/>
                        </a:rPr>
                        <a:t>R/W</a:t>
                      </a: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1270" algn="ctr">
                        <a:lnSpc>
                          <a:spcPct val="100000"/>
                        </a:lnSpc>
                        <a:spcBef>
                          <a:spcPts val="265"/>
                        </a:spcBef>
                      </a:pPr>
                      <a:r>
                        <a:rPr sz="800" dirty="0">
                          <a:latin typeface="Arial"/>
                          <a:cs typeface="Arial"/>
                        </a:rPr>
                        <a:t>x</a:t>
                      </a: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3810" algn="ctr">
                        <a:lnSpc>
                          <a:spcPct val="100000"/>
                        </a:lnSpc>
                        <a:spcBef>
                          <a:spcPts val="265"/>
                        </a:spcBef>
                      </a:pPr>
                      <a:r>
                        <a:rPr sz="800" dirty="0">
                          <a:latin typeface="Arial"/>
                          <a:cs typeface="Arial"/>
                        </a:rPr>
                        <a:t>x</a:t>
                      </a: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3810" algn="ctr">
                        <a:lnSpc>
                          <a:spcPct val="100000"/>
                        </a:lnSpc>
                        <a:spcBef>
                          <a:spcPts val="265"/>
                        </a:spcBef>
                      </a:pPr>
                      <a:r>
                        <a:rPr sz="800" dirty="0">
                          <a:latin typeface="Arial"/>
                          <a:cs typeface="Arial"/>
                        </a:rPr>
                        <a:t>x</a:t>
                      </a: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2540" algn="ctr">
                        <a:lnSpc>
                          <a:spcPct val="100000"/>
                        </a:lnSpc>
                        <a:spcBef>
                          <a:spcPts val="265"/>
                        </a:spcBef>
                      </a:pPr>
                      <a:r>
                        <a:rPr sz="800" dirty="0">
                          <a:latin typeface="Arial"/>
                          <a:cs typeface="Arial"/>
                        </a:rPr>
                        <a:t>x</a:t>
                      </a: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algn="ctr">
                        <a:lnSpc>
                          <a:spcPct val="100000"/>
                        </a:lnSpc>
                        <a:spcBef>
                          <a:spcPts val="265"/>
                        </a:spcBef>
                      </a:pPr>
                      <a:r>
                        <a:rPr sz="800" spc="-5" dirty="0">
                          <a:latin typeface="Arial"/>
                          <a:cs typeface="Arial"/>
                        </a:rPr>
                        <a:t>Addr</a:t>
                      </a:r>
                      <a:r>
                        <a:rPr sz="800" spc="-30" dirty="0">
                          <a:latin typeface="Arial"/>
                          <a:cs typeface="Arial"/>
                        </a:rPr>
                        <a:t> </a:t>
                      </a:r>
                      <a:r>
                        <a:rPr sz="800" spc="-5" dirty="0">
                          <a:latin typeface="Arial"/>
                          <a:cs typeface="Arial"/>
                        </a:rPr>
                        <a:t>[6:0]</a:t>
                      </a:r>
                      <a:endParaRPr sz="8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extLst>
                  <a:ext uri="{0D108BD9-81ED-4DB2-BD59-A6C34878D82A}">
                    <a16:rowId xmlns:a16="http://schemas.microsoft.com/office/drawing/2014/main" val="10000"/>
                  </a:ext>
                </a:extLst>
              </a:tr>
            </a:tbl>
          </a:graphicData>
        </a:graphic>
      </p:graphicFrame>
      <p:graphicFrame>
        <p:nvGraphicFramePr>
          <p:cNvPr id="5" name="object 5"/>
          <p:cNvGraphicFramePr>
            <a:graphicFrameLocks noGrp="1"/>
          </p:cNvGraphicFramePr>
          <p:nvPr>
            <p:extLst>
              <p:ext uri="{D42A27DB-BD31-4B8C-83A1-F6EECF244321}">
                <p14:modId xmlns:p14="http://schemas.microsoft.com/office/powerpoint/2010/main" val="2718677489"/>
              </p:ext>
            </p:extLst>
          </p:nvPr>
        </p:nvGraphicFramePr>
        <p:xfrm>
          <a:off x="400912" y="1995487"/>
          <a:ext cx="6038544" cy="835660"/>
        </p:xfrm>
        <a:graphic>
          <a:graphicData uri="http://schemas.openxmlformats.org/drawingml/2006/table">
            <a:tbl>
              <a:tblPr firstRow="1" bandRow="1">
                <a:tableStyleId>{2D5ABB26-0587-4C30-8999-92F81FD0307C}</a:tableStyleId>
              </a:tblPr>
              <a:tblGrid>
                <a:gridCol w="1131682">
                  <a:extLst>
                    <a:ext uri="{9D8B030D-6E8A-4147-A177-3AD203B41FA5}">
                      <a16:colId xmlns:a16="http://schemas.microsoft.com/office/drawing/2014/main" val="20000"/>
                    </a:ext>
                  </a:extLst>
                </a:gridCol>
                <a:gridCol w="1472618">
                  <a:extLst>
                    <a:ext uri="{9D8B030D-6E8A-4147-A177-3AD203B41FA5}">
                      <a16:colId xmlns:a16="http://schemas.microsoft.com/office/drawing/2014/main" val="20001"/>
                    </a:ext>
                  </a:extLst>
                </a:gridCol>
                <a:gridCol w="3434244">
                  <a:extLst>
                    <a:ext uri="{9D8B030D-6E8A-4147-A177-3AD203B41FA5}">
                      <a16:colId xmlns:a16="http://schemas.microsoft.com/office/drawing/2014/main" val="20002"/>
                    </a:ext>
                  </a:extLst>
                </a:gridCol>
              </a:tblGrid>
              <a:tr h="208915">
                <a:tc>
                  <a:txBody>
                    <a:bodyPr/>
                    <a:lstStyle/>
                    <a:p>
                      <a:pPr marR="461645" algn="r">
                        <a:lnSpc>
                          <a:spcPct val="100000"/>
                        </a:lnSpc>
                        <a:spcBef>
                          <a:spcPts val="260"/>
                        </a:spcBef>
                      </a:pPr>
                      <a:r>
                        <a:rPr sz="900" b="1" dirty="0">
                          <a:latin typeface="Arial"/>
                          <a:cs typeface="Arial"/>
                        </a:rPr>
                        <a:t>Bits</a:t>
                      </a:r>
                      <a:endParaRPr sz="900" dirty="0">
                        <a:latin typeface="Arial"/>
                        <a:cs typeface="Arial"/>
                      </a:endParaRPr>
                    </a:p>
                  </a:txBody>
                  <a:tcPr marL="0" marR="0" marT="3302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algn="ctr">
                        <a:lnSpc>
                          <a:spcPct val="100000"/>
                        </a:lnSpc>
                        <a:spcBef>
                          <a:spcPts val="260"/>
                        </a:spcBef>
                      </a:pPr>
                      <a:r>
                        <a:rPr sz="900" b="1" dirty="0">
                          <a:latin typeface="Arial"/>
                          <a:cs typeface="Arial"/>
                        </a:rPr>
                        <a:t>Fields</a:t>
                      </a:r>
                      <a:endParaRPr sz="900" dirty="0">
                        <a:latin typeface="Arial"/>
                        <a:cs typeface="Arial"/>
                      </a:endParaRPr>
                    </a:p>
                  </a:txBody>
                  <a:tcPr marL="0" marR="0" marT="3302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635" algn="ctr">
                        <a:lnSpc>
                          <a:spcPct val="100000"/>
                        </a:lnSpc>
                        <a:spcBef>
                          <a:spcPts val="260"/>
                        </a:spcBef>
                      </a:pPr>
                      <a:r>
                        <a:rPr sz="900" b="1" dirty="0">
                          <a:latin typeface="Arial"/>
                          <a:cs typeface="Arial"/>
                        </a:rPr>
                        <a:t>Descriptions</a:t>
                      </a:r>
                      <a:endParaRPr sz="900" dirty="0">
                        <a:latin typeface="Arial"/>
                        <a:cs typeface="Arial"/>
                      </a:endParaRPr>
                    </a:p>
                  </a:txBody>
                  <a:tcPr marL="0" marR="0" marT="3302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extLst>
                  <a:ext uri="{0D108BD9-81ED-4DB2-BD59-A6C34878D82A}">
                    <a16:rowId xmlns:a16="http://schemas.microsoft.com/office/drawing/2014/main" val="10000"/>
                  </a:ext>
                </a:extLst>
              </a:tr>
              <a:tr h="208915">
                <a:tc>
                  <a:txBody>
                    <a:bodyPr/>
                    <a:lstStyle/>
                    <a:p>
                      <a:pPr marR="427355" algn="r">
                        <a:lnSpc>
                          <a:spcPct val="100000"/>
                        </a:lnSpc>
                        <a:spcBef>
                          <a:spcPts val="260"/>
                        </a:spcBef>
                      </a:pPr>
                      <a:r>
                        <a:rPr sz="900" spc="-5" dirty="0">
                          <a:latin typeface="Arial"/>
                          <a:cs typeface="Arial"/>
                        </a:rPr>
                        <a:t>15:14</a:t>
                      </a:r>
                      <a:endParaRPr sz="900" dirty="0">
                        <a:latin typeface="Arial"/>
                        <a:cs typeface="Arial"/>
                      </a:endParaRPr>
                    </a:p>
                  </a:txBody>
                  <a:tcPr marL="0" marR="0" marT="3302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635" algn="ctr">
                        <a:lnSpc>
                          <a:spcPct val="100000"/>
                        </a:lnSpc>
                        <a:spcBef>
                          <a:spcPts val="260"/>
                        </a:spcBef>
                      </a:pPr>
                      <a:r>
                        <a:rPr sz="900" dirty="0">
                          <a:latin typeface="Arial"/>
                          <a:cs typeface="Arial"/>
                        </a:rPr>
                        <a:t>Command</a:t>
                      </a:r>
                      <a:r>
                        <a:rPr sz="900" spc="-60" dirty="0">
                          <a:latin typeface="Arial"/>
                          <a:cs typeface="Arial"/>
                        </a:rPr>
                        <a:t> </a:t>
                      </a:r>
                      <a:r>
                        <a:rPr sz="900" spc="-5" dirty="0">
                          <a:latin typeface="Arial"/>
                          <a:cs typeface="Arial"/>
                        </a:rPr>
                        <a:t>Type</a:t>
                      </a:r>
                      <a:endParaRPr sz="900" dirty="0">
                        <a:latin typeface="Arial"/>
                        <a:cs typeface="Arial"/>
                      </a:endParaRPr>
                    </a:p>
                  </a:txBody>
                  <a:tcPr marL="0" marR="0" marT="3302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36830">
                        <a:lnSpc>
                          <a:spcPct val="100000"/>
                        </a:lnSpc>
                        <a:spcBef>
                          <a:spcPts val="260"/>
                        </a:spcBef>
                      </a:pPr>
                      <a:r>
                        <a:rPr sz="900" dirty="0">
                          <a:latin typeface="Arial"/>
                          <a:cs typeface="Arial"/>
                        </a:rPr>
                        <a:t>‘2b10</a:t>
                      </a:r>
                      <a:r>
                        <a:rPr sz="900" spc="-35" dirty="0">
                          <a:latin typeface="Arial"/>
                          <a:cs typeface="Arial"/>
                        </a:rPr>
                        <a:t> </a:t>
                      </a:r>
                      <a:r>
                        <a:rPr sz="900" dirty="0">
                          <a:latin typeface="Arial"/>
                          <a:cs typeface="Arial"/>
                        </a:rPr>
                        <a:t>to</a:t>
                      </a:r>
                      <a:r>
                        <a:rPr sz="900" spc="-20" dirty="0">
                          <a:latin typeface="Arial"/>
                          <a:cs typeface="Arial"/>
                        </a:rPr>
                        <a:t> </a:t>
                      </a:r>
                      <a:r>
                        <a:rPr sz="900" dirty="0">
                          <a:latin typeface="Arial"/>
                          <a:cs typeface="Arial"/>
                        </a:rPr>
                        <a:t>access</a:t>
                      </a:r>
                      <a:r>
                        <a:rPr sz="900" spc="-30" dirty="0">
                          <a:latin typeface="Arial"/>
                          <a:cs typeface="Arial"/>
                        </a:rPr>
                        <a:t> </a:t>
                      </a:r>
                      <a:r>
                        <a:rPr sz="900" dirty="0">
                          <a:latin typeface="Arial"/>
                          <a:cs typeface="Arial"/>
                        </a:rPr>
                        <a:t>the</a:t>
                      </a:r>
                      <a:r>
                        <a:rPr sz="900" spc="-20" dirty="0">
                          <a:latin typeface="Arial"/>
                          <a:cs typeface="Arial"/>
                        </a:rPr>
                        <a:t> </a:t>
                      </a:r>
                      <a:r>
                        <a:rPr sz="900" spc="-10" dirty="0">
                          <a:latin typeface="Arial"/>
                          <a:cs typeface="Arial"/>
                        </a:rPr>
                        <a:t>CMD1</a:t>
                      </a:r>
                      <a:r>
                        <a:rPr sz="900" spc="-5" dirty="0">
                          <a:latin typeface="Arial"/>
                          <a:cs typeface="Arial"/>
                        </a:rPr>
                        <a:t> </a:t>
                      </a:r>
                      <a:r>
                        <a:rPr sz="900" dirty="0">
                          <a:latin typeface="Arial"/>
                          <a:cs typeface="Arial"/>
                        </a:rPr>
                        <a:t>registers</a:t>
                      </a:r>
                    </a:p>
                  </a:txBody>
                  <a:tcPr marL="0" marR="0" marT="3302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extLst>
                  <a:ext uri="{0D108BD9-81ED-4DB2-BD59-A6C34878D82A}">
                    <a16:rowId xmlns:a16="http://schemas.microsoft.com/office/drawing/2014/main" val="10001"/>
                  </a:ext>
                </a:extLst>
              </a:tr>
              <a:tr h="208915">
                <a:tc>
                  <a:txBody>
                    <a:bodyPr/>
                    <a:lstStyle/>
                    <a:p>
                      <a:pPr algn="ctr">
                        <a:lnSpc>
                          <a:spcPct val="100000"/>
                        </a:lnSpc>
                        <a:spcBef>
                          <a:spcPts val="260"/>
                        </a:spcBef>
                      </a:pPr>
                      <a:r>
                        <a:rPr sz="900" spc="-5" dirty="0">
                          <a:latin typeface="Arial"/>
                          <a:cs typeface="Arial"/>
                        </a:rPr>
                        <a:t>11</a:t>
                      </a:r>
                      <a:endParaRPr sz="900" dirty="0">
                        <a:latin typeface="Arial"/>
                        <a:cs typeface="Arial"/>
                      </a:endParaRPr>
                    </a:p>
                  </a:txBody>
                  <a:tcPr marL="0" marR="0" marT="3302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algn="ctr">
                        <a:lnSpc>
                          <a:spcPct val="100000"/>
                        </a:lnSpc>
                        <a:spcBef>
                          <a:spcPts val="260"/>
                        </a:spcBef>
                      </a:pPr>
                      <a:r>
                        <a:rPr sz="900" spc="-5" dirty="0">
                          <a:latin typeface="Arial"/>
                          <a:cs typeface="Arial"/>
                        </a:rPr>
                        <a:t>Read</a:t>
                      </a:r>
                      <a:r>
                        <a:rPr sz="900" spc="-35" dirty="0">
                          <a:latin typeface="Arial"/>
                          <a:cs typeface="Arial"/>
                        </a:rPr>
                        <a:t> </a:t>
                      </a:r>
                      <a:r>
                        <a:rPr sz="900" dirty="0">
                          <a:latin typeface="Arial"/>
                          <a:cs typeface="Arial"/>
                        </a:rPr>
                        <a:t>/</a:t>
                      </a:r>
                      <a:r>
                        <a:rPr sz="900" spc="-30" dirty="0">
                          <a:latin typeface="Arial"/>
                          <a:cs typeface="Arial"/>
                        </a:rPr>
                        <a:t> </a:t>
                      </a:r>
                      <a:r>
                        <a:rPr sz="900" spc="5" dirty="0">
                          <a:latin typeface="Arial"/>
                          <a:cs typeface="Arial"/>
                        </a:rPr>
                        <a:t>Write</a:t>
                      </a:r>
                      <a:endParaRPr sz="900" dirty="0">
                        <a:latin typeface="Arial"/>
                        <a:cs typeface="Arial"/>
                      </a:endParaRPr>
                    </a:p>
                  </a:txBody>
                  <a:tcPr marL="0" marR="0" marT="3302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36830">
                        <a:lnSpc>
                          <a:spcPct val="100000"/>
                        </a:lnSpc>
                        <a:spcBef>
                          <a:spcPts val="260"/>
                        </a:spcBef>
                      </a:pPr>
                      <a:r>
                        <a:rPr sz="900" spc="5" dirty="0">
                          <a:latin typeface="Arial"/>
                          <a:cs typeface="Arial"/>
                        </a:rPr>
                        <a:t>Write</a:t>
                      </a:r>
                      <a:r>
                        <a:rPr sz="900" spc="-45" dirty="0">
                          <a:latin typeface="Arial"/>
                          <a:cs typeface="Arial"/>
                        </a:rPr>
                        <a:t> </a:t>
                      </a:r>
                      <a:r>
                        <a:rPr sz="900" dirty="0">
                          <a:latin typeface="Arial"/>
                          <a:cs typeface="Arial"/>
                        </a:rPr>
                        <a:t>:</a:t>
                      </a:r>
                      <a:r>
                        <a:rPr sz="900" spc="-25" dirty="0">
                          <a:latin typeface="Arial"/>
                          <a:cs typeface="Arial"/>
                        </a:rPr>
                        <a:t> </a:t>
                      </a:r>
                      <a:r>
                        <a:rPr sz="900" dirty="0">
                          <a:latin typeface="Arial"/>
                          <a:cs typeface="Arial"/>
                        </a:rPr>
                        <a:t>‘0’,</a:t>
                      </a:r>
                      <a:r>
                        <a:rPr sz="900" spc="-25" dirty="0">
                          <a:latin typeface="Arial"/>
                          <a:cs typeface="Arial"/>
                        </a:rPr>
                        <a:t> </a:t>
                      </a:r>
                      <a:r>
                        <a:rPr sz="900" spc="-5" dirty="0">
                          <a:latin typeface="Arial"/>
                          <a:cs typeface="Arial"/>
                        </a:rPr>
                        <a:t>Read</a:t>
                      </a:r>
                      <a:r>
                        <a:rPr sz="900" spc="-25" dirty="0">
                          <a:latin typeface="Arial"/>
                          <a:cs typeface="Arial"/>
                        </a:rPr>
                        <a:t> </a:t>
                      </a:r>
                      <a:r>
                        <a:rPr sz="900" dirty="0">
                          <a:latin typeface="Arial"/>
                          <a:cs typeface="Arial"/>
                        </a:rPr>
                        <a:t>:</a:t>
                      </a:r>
                      <a:r>
                        <a:rPr sz="900" spc="-15" dirty="0">
                          <a:latin typeface="Arial"/>
                          <a:cs typeface="Arial"/>
                        </a:rPr>
                        <a:t> </a:t>
                      </a:r>
                      <a:r>
                        <a:rPr sz="900" dirty="0">
                          <a:latin typeface="Arial"/>
                          <a:cs typeface="Arial"/>
                        </a:rPr>
                        <a:t>‘1’</a:t>
                      </a:r>
                    </a:p>
                  </a:txBody>
                  <a:tcPr marL="0" marR="0" marT="3302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extLst>
                  <a:ext uri="{0D108BD9-81ED-4DB2-BD59-A6C34878D82A}">
                    <a16:rowId xmlns:a16="http://schemas.microsoft.com/office/drawing/2014/main" val="10002"/>
                  </a:ext>
                </a:extLst>
              </a:tr>
              <a:tr h="208915">
                <a:tc>
                  <a:txBody>
                    <a:bodyPr/>
                    <a:lstStyle/>
                    <a:p>
                      <a:pPr algn="ctr">
                        <a:lnSpc>
                          <a:spcPct val="100000"/>
                        </a:lnSpc>
                        <a:spcBef>
                          <a:spcPts val="260"/>
                        </a:spcBef>
                      </a:pPr>
                      <a:r>
                        <a:rPr sz="900" dirty="0">
                          <a:latin typeface="Arial"/>
                          <a:cs typeface="Arial"/>
                        </a:rPr>
                        <a:t>6:0</a:t>
                      </a:r>
                    </a:p>
                  </a:txBody>
                  <a:tcPr marL="0" marR="0" marT="3302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635" algn="ctr">
                        <a:lnSpc>
                          <a:spcPct val="100000"/>
                        </a:lnSpc>
                        <a:spcBef>
                          <a:spcPts val="260"/>
                        </a:spcBef>
                      </a:pPr>
                      <a:r>
                        <a:rPr sz="900" dirty="0">
                          <a:latin typeface="Arial"/>
                          <a:cs typeface="Arial"/>
                        </a:rPr>
                        <a:t>Address</a:t>
                      </a:r>
                    </a:p>
                  </a:txBody>
                  <a:tcPr marL="0" marR="0" marT="3302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36830">
                        <a:lnSpc>
                          <a:spcPct val="100000"/>
                        </a:lnSpc>
                        <a:spcBef>
                          <a:spcPts val="260"/>
                        </a:spcBef>
                      </a:pPr>
                      <a:r>
                        <a:rPr sz="900" spc="-10" dirty="0">
                          <a:latin typeface="Arial"/>
                          <a:cs typeface="Arial"/>
                        </a:rPr>
                        <a:t>CMD2 </a:t>
                      </a:r>
                      <a:r>
                        <a:rPr sz="900" spc="-5" dirty="0">
                          <a:latin typeface="Arial"/>
                          <a:cs typeface="Arial"/>
                        </a:rPr>
                        <a:t>type</a:t>
                      </a:r>
                      <a:r>
                        <a:rPr sz="900" spc="-10" dirty="0">
                          <a:latin typeface="Arial"/>
                          <a:cs typeface="Arial"/>
                        </a:rPr>
                        <a:t> </a:t>
                      </a:r>
                      <a:r>
                        <a:rPr sz="900" dirty="0">
                          <a:latin typeface="Arial"/>
                          <a:cs typeface="Arial"/>
                        </a:rPr>
                        <a:t>registers’</a:t>
                      </a:r>
                      <a:r>
                        <a:rPr sz="900" spc="-50" dirty="0">
                          <a:latin typeface="Arial"/>
                          <a:cs typeface="Arial"/>
                        </a:rPr>
                        <a:t> </a:t>
                      </a:r>
                      <a:r>
                        <a:rPr sz="900" dirty="0">
                          <a:latin typeface="Arial"/>
                          <a:cs typeface="Arial"/>
                        </a:rPr>
                        <a:t>address</a:t>
                      </a:r>
                    </a:p>
                  </a:txBody>
                  <a:tcPr marL="0" marR="0" marT="3302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extLst>
                  <a:ext uri="{0D108BD9-81ED-4DB2-BD59-A6C34878D82A}">
                    <a16:rowId xmlns:a16="http://schemas.microsoft.com/office/drawing/2014/main" val="10003"/>
                  </a:ext>
                </a:extLst>
              </a:tr>
            </a:tbl>
          </a:graphicData>
        </a:graphic>
      </p:graphicFrame>
      <p:sp>
        <p:nvSpPr>
          <p:cNvPr id="6" name="object 6"/>
          <p:cNvSpPr txBox="1"/>
          <p:nvPr/>
        </p:nvSpPr>
        <p:spPr>
          <a:xfrm>
            <a:off x="400913" y="301879"/>
            <a:ext cx="622935" cy="299720"/>
          </a:xfrm>
          <a:prstGeom prst="rect">
            <a:avLst/>
          </a:prstGeom>
        </p:spPr>
        <p:txBody>
          <a:bodyPr vert="horz" wrap="square" lIns="0" tIns="12700" rIns="0" bIns="0" rtlCol="0">
            <a:spAutoFit/>
          </a:bodyPr>
          <a:lstStyle/>
          <a:p>
            <a:pPr marL="12700">
              <a:lnSpc>
                <a:spcPct val="100000"/>
              </a:lnSpc>
              <a:spcBef>
                <a:spcPts val="100"/>
              </a:spcBef>
            </a:pPr>
            <a:r>
              <a:rPr sz="1800" b="1" spc="-5" dirty="0">
                <a:latin typeface="Arial"/>
                <a:cs typeface="Arial"/>
              </a:rPr>
              <a:t>CQ24</a:t>
            </a:r>
            <a:endParaRPr sz="1800" dirty="0">
              <a:latin typeface="Arial"/>
              <a:cs typeface="Arial"/>
            </a:endParaRPr>
          </a:p>
        </p:txBody>
      </p:sp>
      <p:sp>
        <p:nvSpPr>
          <p:cNvPr id="7" name="object 7"/>
          <p:cNvSpPr txBox="1"/>
          <p:nvPr/>
        </p:nvSpPr>
        <p:spPr>
          <a:xfrm>
            <a:off x="400912" y="909065"/>
            <a:ext cx="6038543" cy="228268"/>
          </a:xfrm>
          <a:prstGeom prst="rect">
            <a:avLst/>
          </a:prstGeom>
        </p:spPr>
        <p:txBody>
          <a:bodyPr vert="horz" wrap="square" lIns="0" tIns="12700" rIns="0" bIns="0" rtlCol="0">
            <a:spAutoFit/>
          </a:bodyPr>
          <a:lstStyle/>
          <a:p>
            <a:pPr marL="12700">
              <a:lnSpc>
                <a:spcPct val="100000"/>
              </a:lnSpc>
              <a:spcBef>
                <a:spcPts val="100"/>
              </a:spcBef>
            </a:pPr>
            <a:r>
              <a:rPr sz="1400" b="1" spc="5" dirty="0">
                <a:latin typeface="Arial"/>
                <a:cs typeface="Arial"/>
              </a:rPr>
              <a:t>CMD2</a:t>
            </a:r>
            <a:r>
              <a:rPr sz="1400" b="1" spc="-80" dirty="0">
                <a:latin typeface="Arial"/>
                <a:cs typeface="Arial"/>
              </a:rPr>
              <a:t> </a:t>
            </a:r>
            <a:r>
              <a:rPr sz="1400" b="1" dirty="0">
                <a:latin typeface="Arial"/>
                <a:cs typeface="Arial"/>
              </a:rPr>
              <a:t>registers</a:t>
            </a:r>
            <a:endParaRPr sz="1400" dirty="0">
              <a:latin typeface="Arial"/>
              <a:cs typeface="Arial"/>
            </a:endParaRPr>
          </a:p>
        </p:txBody>
      </p:sp>
      <p:sp>
        <p:nvSpPr>
          <p:cNvPr id="8" name="object 8"/>
          <p:cNvSpPr txBox="1"/>
          <p:nvPr/>
        </p:nvSpPr>
        <p:spPr>
          <a:xfrm>
            <a:off x="400911" y="1598421"/>
            <a:ext cx="6038544" cy="157094"/>
          </a:xfrm>
          <a:prstGeom prst="rect">
            <a:avLst/>
          </a:prstGeom>
          <a:ln w="3175">
            <a:solidFill>
              <a:srgbClr val="7E7E7E"/>
            </a:solidFill>
          </a:ln>
        </p:spPr>
        <p:txBody>
          <a:bodyPr vert="horz" wrap="square" lIns="0" tIns="33655" rIns="0" bIns="0" rtlCol="0">
            <a:spAutoFit/>
          </a:bodyPr>
          <a:lstStyle/>
          <a:p>
            <a:pPr algn="ctr">
              <a:lnSpc>
                <a:spcPct val="100000"/>
              </a:lnSpc>
              <a:spcBef>
                <a:spcPts val="265"/>
              </a:spcBef>
            </a:pPr>
            <a:r>
              <a:rPr sz="800" spc="-5" dirty="0">
                <a:latin typeface="Arial"/>
                <a:cs typeface="Arial"/>
              </a:rPr>
              <a:t>Data</a:t>
            </a:r>
            <a:r>
              <a:rPr sz="800" spc="-30" dirty="0">
                <a:latin typeface="Arial"/>
                <a:cs typeface="Arial"/>
              </a:rPr>
              <a:t> </a:t>
            </a:r>
            <a:r>
              <a:rPr sz="800" spc="-5" dirty="0">
                <a:latin typeface="Arial"/>
                <a:cs typeface="Arial"/>
              </a:rPr>
              <a:t>[15:0]</a:t>
            </a:r>
            <a:endParaRPr sz="800" dirty="0">
              <a:latin typeface="Arial"/>
              <a:cs typeface="Arial"/>
            </a:endParaRPr>
          </a:p>
        </p:txBody>
      </p:sp>
      <p:graphicFrame>
        <p:nvGraphicFramePr>
          <p:cNvPr id="9" name="object 9"/>
          <p:cNvGraphicFramePr>
            <a:graphicFrameLocks noGrp="1"/>
          </p:cNvGraphicFramePr>
          <p:nvPr>
            <p:extLst>
              <p:ext uri="{D42A27DB-BD31-4B8C-83A1-F6EECF244321}">
                <p14:modId xmlns:p14="http://schemas.microsoft.com/office/powerpoint/2010/main" val="522880319"/>
              </p:ext>
            </p:extLst>
          </p:nvPr>
        </p:nvGraphicFramePr>
        <p:xfrm>
          <a:off x="392806" y="2897822"/>
          <a:ext cx="6046650" cy="417830"/>
        </p:xfrm>
        <a:graphic>
          <a:graphicData uri="http://schemas.openxmlformats.org/drawingml/2006/table">
            <a:tbl>
              <a:tblPr firstRow="1" bandRow="1">
                <a:tableStyleId>{2D5ABB26-0587-4C30-8999-92F81FD0307C}</a:tableStyleId>
              </a:tblPr>
              <a:tblGrid>
                <a:gridCol w="1133201">
                  <a:extLst>
                    <a:ext uri="{9D8B030D-6E8A-4147-A177-3AD203B41FA5}">
                      <a16:colId xmlns:a16="http://schemas.microsoft.com/office/drawing/2014/main" val="20000"/>
                    </a:ext>
                  </a:extLst>
                </a:gridCol>
                <a:gridCol w="1474595">
                  <a:extLst>
                    <a:ext uri="{9D8B030D-6E8A-4147-A177-3AD203B41FA5}">
                      <a16:colId xmlns:a16="http://schemas.microsoft.com/office/drawing/2014/main" val="20001"/>
                    </a:ext>
                  </a:extLst>
                </a:gridCol>
                <a:gridCol w="3438854">
                  <a:extLst>
                    <a:ext uri="{9D8B030D-6E8A-4147-A177-3AD203B41FA5}">
                      <a16:colId xmlns:a16="http://schemas.microsoft.com/office/drawing/2014/main" val="20002"/>
                    </a:ext>
                  </a:extLst>
                </a:gridCol>
              </a:tblGrid>
              <a:tr h="208915">
                <a:tc>
                  <a:txBody>
                    <a:bodyPr/>
                    <a:lstStyle/>
                    <a:p>
                      <a:pPr algn="ctr">
                        <a:lnSpc>
                          <a:spcPct val="100000"/>
                        </a:lnSpc>
                        <a:spcBef>
                          <a:spcPts val="260"/>
                        </a:spcBef>
                      </a:pPr>
                      <a:r>
                        <a:rPr sz="900" b="1" dirty="0">
                          <a:latin typeface="Arial"/>
                          <a:cs typeface="Arial"/>
                        </a:rPr>
                        <a:t>Bits</a:t>
                      </a:r>
                      <a:endParaRPr sz="900" dirty="0">
                        <a:latin typeface="Arial"/>
                        <a:cs typeface="Arial"/>
                      </a:endParaRPr>
                    </a:p>
                  </a:txBody>
                  <a:tcPr marL="0" marR="0" marT="3302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algn="ctr">
                        <a:lnSpc>
                          <a:spcPct val="100000"/>
                        </a:lnSpc>
                        <a:spcBef>
                          <a:spcPts val="260"/>
                        </a:spcBef>
                      </a:pPr>
                      <a:r>
                        <a:rPr sz="900" b="1" dirty="0">
                          <a:latin typeface="Arial"/>
                          <a:cs typeface="Arial"/>
                        </a:rPr>
                        <a:t>Fields</a:t>
                      </a:r>
                      <a:endParaRPr sz="900" dirty="0">
                        <a:latin typeface="Arial"/>
                        <a:cs typeface="Arial"/>
                      </a:endParaRPr>
                    </a:p>
                  </a:txBody>
                  <a:tcPr marL="0" marR="0" marT="3302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635" algn="ctr">
                        <a:lnSpc>
                          <a:spcPct val="100000"/>
                        </a:lnSpc>
                        <a:spcBef>
                          <a:spcPts val="260"/>
                        </a:spcBef>
                      </a:pPr>
                      <a:r>
                        <a:rPr sz="900" b="1" dirty="0">
                          <a:latin typeface="Arial"/>
                          <a:cs typeface="Arial"/>
                        </a:rPr>
                        <a:t>Descriptions</a:t>
                      </a:r>
                      <a:endParaRPr sz="900" dirty="0">
                        <a:latin typeface="Arial"/>
                        <a:cs typeface="Arial"/>
                      </a:endParaRPr>
                    </a:p>
                  </a:txBody>
                  <a:tcPr marL="0" marR="0" marT="3302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extLst>
                  <a:ext uri="{0D108BD9-81ED-4DB2-BD59-A6C34878D82A}">
                    <a16:rowId xmlns:a16="http://schemas.microsoft.com/office/drawing/2014/main" val="10000"/>
                  </a:ext>
                </a:extLst>
              </a:tr>
              <a:tr h="208915">
                <a:tc>
                  <a:txBody>
                    <a:bodyPr/>
                    <a:lstStyle/>
                    <a:p>
                      <a:pPr algn="ctr">
                        <a:lnSpc>
                          <a:spcPct val="100000"/>
                        </a:lnSpc>
                        <a:spcBef>
                          <a:spcPts val="260"/>
                        </a:spcBef>
                      </a:pPr>
                      <a:r>
                        <a:rPr sz="900" spc="-5" dirty="0">
                          <a:latin typeface="Arial"/>
                          <a:cs typeface="Arial"/>
                        </a:rPr>
                        <a:t>15:0</a:t>
                      </a:r>
                      <a:endParaRPr sz="900" dirty="0">
                        <a:latin typeface="Arial"/>
                        <a:cs typeface="Arial"/>
                      </a:endParaRPr>
                    </a:p>
                  </a:txBody>
                  <a:tcPr marL="0" marR="0" marT="3302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algn="ctr">
                        <a:lnSpc>
                          <a:spcPct val="100000"/>
                        </a:lnSpc>
                        <a:spcBef>
                          <a:spcPts val="260"/>
                        </a:spcBef>
                      </a:pPr>
                      <a:r>
                        <a:rPr sz="900" spc="-5" dirty="0">
                          <a:latin typeface="Arial"/>
                          <a:cs typeface="Arial"/>
                        </a:rPr>
                        <a:t>Data</a:t>
                      </a:r>
                      <a:r>
                        <a:rPr sz="900" spc="-50" dirty="0">
                          <a:latin typeface="Arial"/>
                          <a:cs typeface="Arial"/>
                        </a:rPr>
                        <a:t> </a:t>
                      </a:r>
                      <a:r>
                        <a:rPr sz="900" dirty="0">
                          <a:latin typeface="Arial"/>
                          <a:cs typeface="Arial"/>
                        </a:rPr>
                        <a:t>[15:0]</a:t>
                      </a:r>
                    </a:p>
                  </a:txBody>
                  <a:tcPr marL="0" marR="0" marT="3302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36830">
                        <a:lnSpc>
                          <a:spcPct val="100000"/>
                        </a:lnSpc>
                        <a:spcBef>
                          <a:spcPts val="260"/>
                        </a:spcBef>
                      </a:pPr>
                      <a:r>
                        <a:rPr sz="900" spc="-10" dirty="0">
                          <a:latin typeface="Arial"/>
                          <a:cs typeface="Arial"/>
                        </a:rPr>
                        <a:t>CMD2 </a:t>
                      </a:r>
                      <a:r>
                        <a:rPr sz="900" spc="-5" dirty="0">
                          <a:latin typeface="Arial"/>
                          <a:cs typeface="Arial"/>
                        </a:rPr>
                        <a:t>type</a:t>
                      </a:r>
                      <a:r>
                        <a:rPr sz="900" spc="-15" dirty="0">
                          <a:latin typeface="Arial"/>
                          <a:cs typeface="Arial"/>
                        </a:rPr>
                        <a:t> </a:t>
                      </a:r>
                      <a:r>
                        <a:rPr sz="900" dirty="0">
                          <a:latin typeface="Arial"/>
                          <a:cs typeface="Arial"/>
                        </a:rPr>
                        <a:t>registers’</a:t>
                      </a:r>
                      <a:r>
                        <a:rPr sz="900" spc="-50" dirty="0">
                          <a:latin typeface="Arial"/>
                          <a:cs typeface="Arial"/>
                        </a:rPr>
                        <a:t> </a:t>
                      </a:r>
                      <a:r>
                        <a:rPr sz="900" dirty="0">
                          <a:latin typeface="Arial"/>
                          <a:cs typeface="Arial"/>
                        </a:rPr>
                        <a:t>data</a:t>
                      </a:r>
                    </a:p>
                  </a:txBody>
                  <a:tcPr marL="0" marR="0" marT="3302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extLst>
                  <a:ext uri="{0D108BD9-81ED-4DB2-BD59-A6C34878D82A}">
                    <a16:rowId xmlns:a16="http://schemas.microsoft.com/office/drawing/2014/main" val="10001"/>
                  </a:ext>
                </a:extLst>
              </a:tr>
            </a:tbl>
          </a:graphicData>
        </a:graphic>
      </p:graphicFrame>
      <p:graphicFrame>
        <p:nvGraphicFramePr>
          <p:cNvPr id="10" name="object 10"/>
          <p:cNvGraphicFramePr>
            <a:graphicFrameLocks noGrp="1"/>
          </p:cNvGraphicFramePr>
          <p:nvPr>
            <p:extLst>
              <p:ext uri="{D42A27DB-BD31-4B8C-83A1-F6EECF244321}">
                <p14:modId xmlns:p14="http://schemas.microsoft.com/office/powerpoint/2010/main" val="1378651646"/>
              </p:ext>
            </p:extLst>
          </p:nvPr>
        </p:nvGraphicFramePr>
        <p:xfrm>
          <a:off x="400911" y="4042600"/>
          <a:ext cx="6038557" cy="387350"/>
        </p:xfrm>
        <a:graphic>
          <a:graphicData uri="http://schemas.openxmlformats.org/drawingml/2006/table">
            <a:tbl>
              <a:tblPr firstRow="1" bandRow="1">
                <a:tableStyleId>{2D5ABB26-0587-4C30-8999-92F81FD0307C}</a:tableStyleId>
              </a:tblPr>
              <a:tblGrid>
                <a:gridCol w="412680">
                  <a:extLst>
                    <a:ext uri="{9D8B030D-6E8A-4147-A177-3AD203B41FA5}">
                      <a16:colId xmlns:a16="http://schemas.microsoft.com/office/drawing/2014/main" val="20000"/>
                    </a:ext>
                  </a:extLst>
                </a:gridCol>
                <a:gridCol w="474830">
                  <a:extLst>
                    <a:ext uri="{9D8B030D-6E8A-4147-A177-3AD203B41FA5}">
                      <a16:colId xmlns:a16="http://schemas.microsoft.com/office/drawing/2014/main" val="20001"/>
                    </a:ext>
                  </a:extLst>
                </a:gridCol>
                <a:gridCol w="321941">
                  <a:extLst>
                    <a:ext uri="{9D8B030D-6E8A-4147-A177-3AD203B41FA5}">
                      <a16:colId xmlns:a16="http://schemas.microsoft.com/office/drawing/2014/main" val="20002"/>
                    </a:ext>
                  </a:extLst>
                </a:gridCol>
                <a:gridCol w="321941">
                  <a:extLst>
                    <a:ext uri="{9D8B030D-6E8A-4147-A177-3AD203B41FA5}">
                      <a16:colId xmlns:a16="http://schemas.microsoft.com/office/drawing/2014/main" val="20003"/>
                    </a:ext>
                  </a:extLst>
                </a:gridCol>
                <a:gridCol w="321941">
                  <a:extLst>
                    <a:ext uri="{9D8B030D-6E8A-4147-A177-3AD203B41FA5}">
                      <a16:colId xmlns:a16="http://schemas.microsoft.com/office/drawing/2014/main" val="20004"/>
                    </a:ext>
                  </a:extLst>
                </a:gridCol>
                <a:gridCol w="321941">
                  <a:extLst>
                    <a:ext uri="{9D8B030D-6E8A-4147-A177-3AD203B41FA5}">
                      <a16:colId xmlns:a16="http://schemas.microsoft.com/office/drawing/2014/main" val="20005"/>
                    </a:ext>
                  </a:extLst>
                </a:gridCol>
                <a:gridCol w="321941">
                  <a:extLst>
                    <a:ext uri="{9D8B030D-6E8A-4147-A177-3AD203B41FA5}">
                      <a16:colId xmlns:a16="http://schemas.microsoft.com/office/drawing/2014/main" val="20006"/>
                    </a:ext>
                  </a:extLst>
                </a:gridCol>
                <a:gridCol w="321941">
                  <a:extLst>
                    <a:ext uri="{9D8B030D-6E8A-4147-A177-3AD203B41FA5}">
                      <a16:colId xmlns:a16="http://schemas.microsoft.com/office/drawing/2014/main" val="20007"/>
                    </a:ext>
                  </a:extLst>
                </a:gridCol>
                <a:gridCol w="321941">
                  <a:extLst>
                    <a:ext uri="{9D8B030D-6E8A-4147-A177-3AD203B41FA5}">
                      <a16:colId xmlns:a16="http://schemas.microsoft.com/office/drawing/2014/main" val="20008"/>
                    </a:ext>
                  </a:extLst>
                </a:gridCol>
                <a:gridCol w="321940">
                  <a:extLst>
                    <a:ext uri="{9D8B030D-6E8A-4147-A177-3AD203B41FA5}">
                      <a16:colId xmlns:a16="http://schemas.microsoft.com/office/drawing/2014/main" val="20009"/>
                    </a:ext>
                  </a:extLst>
                </a:gridCol>
                <a:gridCol w="321940">
                  <a:extLst>
                    <a:ext uri="{9D8B030D-6E8A-4147-A177-3AD203B41FA5}">
                      <a16:colId xmlns:a16="http://schemas.microsoft.com/office/drawing/2014/main" val="20010"/>
                    </a:ext>
                  </a:extLst>
                </a:gridCol>
                <a:gridCol w="321940">
                  <a:extLst>
                    <a:ext uri="{9D8B030D-6E8A-4147-A177-3AD203B41FA5}">
                      <a16:colId xmlns:a16="http://schemas.microsoft.com/office/drawing/2014/main" val="20011"/>
                    </a:ext>
                  </a:extLst>
                </a:gridCol>
                <a:gridCol w="321940">
                  <a:extLst>
                    <a:ext uri="{9D8B030D-6E8A-4147-A177-3AD203B41FA5}">
                      <a16:colId xmlns:a16="http://schemas.microsoft.com/office/drawing/2014/main" val="20012"/>
                    </a:ext>
                  </a:extLst>
                </a:gridCol>
                <a:gridCol w="321940">
                  <a:extLst>
                    <a:ext uri="{9D8B030D-6E8A-4147-A177-3AD203B41FA5}">
                      <a16:colId xmlns:a16="http://schemas.microsoft.com/office/drawing/2014/main" val="20013"/>
                    </a:ext>
                  </a:extLst>
                </a:gridCol>
                <a:gridCol w="321940">
                  <a:extLst>
                    <a:ext uri="{9D8B030D-6E8A-4147-A177-3AD203B41FA5}">
                      <a16:colId xmlns:a16="http://schemas.microsoft.com/office/drawing/2014/main" val="20014"/>
                    </a:ext>
                  </a:extLst>
                </a:gridCol>
                <a:gridCol w="321940">
                  <a:extLst>
                    <a:ext uri="{9D8B030D-6E8A-4147-A177-3AD203B41FA5}">
                      <a16:colId xmlns:a16="http://schemas.microsoft.com/office/drawing/2014/main" val="20015"/>
                    </a:ext>
                  </a:extLst>
                </a:gridCol>
                <a:gridCol w="321940">
                  <a:extLst>
                    <a:ext uri="{9D8B030D-6E8A-4147-A177-3AD203B41FA5}">
                      <a16:colId xmlns:a16="http://schemas.microsoft.com/office/drawing/2014/main" val="20016"/>
                    </a:ext>
                  </a:extLst>
                </a:gridCol>
                <a:gridCol w="321940">
                  <a:extLst>
                    <a:ext uri="{9D8B030D-6E8A-4147-A177-3AD203B41FA5}">
                      <a16:colId xmlns:a16="http://schemas.microsoft.com/office/drawing/2014/main" val="20017"/>
                    </a:ext>
                  </a:extLst>
                </a:gridCol>
              </a:tblGrid>
              <a:tr h="193675">
                <a:tc>
                  <a:txBody>
                    <a:bodyPr/>
                    <a:lstStyle/>
                    <a:p>
                      <a:pPr algn="ctr">
                        <a:lnSpc>
                          <a:spcPct val="100000"/>
                        </a:lnSpc>
                        <a:spcBef>
                          <a:spcPts val="270"/>
                        </a:spcBef>
                      </a:pPr>
                      <a:r>
                        <a:rPr sz="800" dirty="0">
                          <a:latin typeface="Arial"/>
                          <a:cs typeface="Arial"/>
                        </a:rPr>
                        <a:t>A[6:0]</a:t>
                      </a: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algn="ctr">
                        <a:lnSpc>
                          <a:spcPct val="100000"/>
                        </a:lnSpc>
                        <a:spcBef>
                          <a:spcPts val="270"/>
                        </a:spcBef>
                      </a:pPr>
                      <a:r>
                        <a:rPr sz="800" spc="-5" dirty="0">
                          <a:latin typeface="Arial"/>
                          <a:cs typeface="Arial"/>
                        </a:rPr>
                        <a:t>Default</a:t>
                      </a:r>
                      <a:endParaRPr sz="8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algn="ctr">
                        <a:lnSpc>
                          <a:spcPct val="100000"/>
                        </a:lnSpc>
                        <a:spcBef>
                          <a:spcPts val="270"/>
                        </a:spcBef>
                      </a:pPr>
                      <a:r>
                        <a:rPr sz="800" dirty="0">
                          <a:latin typeface="Arial"/>
                          <a:cs typeface="Arial"/>
                        </a:rPr>
                        <a:t>D15</a:t>
                      </a: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algn="ctr">
                        <a:lnSpc>
                          <a:spcPct val="100000"/>
                        </a:lnSpc>
                        <a:spcBef>
                          <a:spcPts val="270"/>
                        </a:spcBef>
                      </a:pPr>
                      <a:r>
                        <a:rPr sz="800" spc="-5" dirty="0">
                          <a:latin typeface="Arial"/>
                          <a:cs typeface="Arial"/>
                        </a:rPr>
                        <a:t>D14</a:t>
                      </a:r>
                      <a:endParaRPr sz="8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71120">
                        <a:lnSpc>
                          <a:spcPct val="100000"/>
                        </a:lnSpc>
                        <a:spcBef>
                          <a:spcPts val="270"/>
                        </a:spcBef>
                      </a:pPr>
                      <a:r>
                        <a:rPr sz="800" spc="-5" dirty="0">
                          <a:latin typeface="Arial"/>
                          <a:cs typeface="Arial"/>
                        </a:rPr>
                        <a:t>D13</a:t>
                      </a:r>
                      <a:endParaRPr sz="8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71755">
                        <a:lnSpc>
                          <a:spcPct val="100000"/>
                        </a:lnSpc>
                        <a:spcBef>
                          <a:spcPts val="270"/>
                        </a:spcBef>
                      </a:pPr>
                      <a:r>
                        <a:rPr sz="800" spc="-5" dirty="0">
                          <a:latin typeface="Arial"/>
                          <a:cs typeface="Arial"/>
                        </a:rPr>
                        <a:t>D12</a:t>
                      </a:r>
                      <a:endParaRPr sz="8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71120">
                        <a:lnSpc>
                          <a:spcPct val="100000"/>
                        </a:lnSpc>
                        <a:spcBef>
                          <a:spcPts val="270"/>
                        </a:spcBef>
                      </a:pPr>
                      <a:r>
                        <a:rPr sz="800" spc="-5" dirty="0">
                          <a:latin typeface="Arial"/>
                          <a:cs typeface="Arial"/>
                        </a:rPr>
                        <a:t>D11</a:t>
                      </a:r>
                      <a:endParaRPr sz="8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71755">
                        <a:lnSpc>
                          <a:spcPct val="100000"/>
                        </a:lnSpc>
                        <a:spcBef>
                          <a:spcPts val="270"/>
                        </a:spcBef>
                      </a:pPr>
                      <a:r>
                        <a:rPr sz="800" spc="-5" dirty="0">
                          <a:latin typeface="Arial"/>
                          <a:cs typeface="Arial"/>
                        </a:rPr>
                        <a:t>D10</a:t>
                      </a:r>
                      <a:endParaRPr sz="8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100330">
                        <a:lnSpc>
                          <a:spcPct val="100000"/>
                        </a:lnSpc>
                        <a:spcBef>
                          <a:spcPts val="270"/>
                        </a:spcBef>
                      </a:pPr>
                      <a:r>
                        <a:rPr sz="800" spc="-5" dirty="0">
                          <a:latin typeface="Arial"/>
                          <a:cs typeface="Arial"/>
                        </a:rPr>
                        <a:t>D9</a:t>
                      </a:r>
                      <a:endParaRPr sz="8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100965">
                        <a:lnSpc>
                          <a:spcPct val="100000"/>
                        </a:lnSpc>
                        <a:spcBef>
                          <a:spcPts val="270"/>
                        </a:spcBef>
                      </a:pPr>
                      <a:r>
                        <a:rPr sz="800" spc="-5" dirty="0">
                          <a:latin typeface="Arial"/>
                          <a:cs typeface="Arial"/>
                        </a:rPr>
                        <a:t>D8</a:t>
                      </a:r>
                      <a:endParaRPr sz="8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100330">
                        <a:lnSpc>
                          <a:spcPct val="100000"/>
                        </a:lnSpc>
                        <a:spcBef>
                          <a:spcPts val="270"/>
                        </a:spcBef>
                      </a:pPr>
                      <a:r>
                        <a:rPr sz="800" spc="-5" dirty="0">
                          <a:latin typeface="Arial"/>
                          <a:cs typeface="Arial"/>
                        </a:rPr>
                        <a:t>D7</a:t>
                      </a:r>
                      <a:endParaRPr sz="8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100965">
                        <a:lnSpc>
                          <a:spcPct val="100000"/>
                        </a:lnSpc>
                        <a:spcBef>
                          <a:spcPts val="270"/>
                        </a:spcBef>
                      </a:pPr>
                      <a:r>
                        <a:rPr sz="800" spc="-5" dirty="0">
                          <a:latin typeface="Arial"/>
                          <a:cs typeface="Arial"/>
                        </a:rPr>
                        <a:t>D6</a:t>
                      </a:r>
                      <a:endParaRPr sz="8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100965">
                        <a:lnSpc>
                          <a:spcPct val="100000"/>
                        </a:lnSpc>
                        <a:spcBef>
                          <a:spcPts val="270"/>
                        </a:spcBef>
                      </a:pPr>
                      <a:r>
                        <a:rPr sz="800" spc="-5" dirty="0">
                          <a:latin typeface="Arial"/>
                          <a:cs typeface="Arial"/>
                        </a:rPr>
                        <a:t>D5</a:t>
                      </a:r>
                      <a:endParaRPr sz="8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100965">
                        <a:lnSpc>
                          <a:spcPct val="100000"/>
                        </a:lnSpc>
                        <a:spcBef>
                          <a:spcPts val="270"/>
                        </a:spcBef>
                      </a:pPr>
                      <a:r>
                        <a:rPr sz="800" spc="-5" dirty="0">
                          <a:latin typeface="Arial"/>
                          <a:cs typeface="Arial"/>
                        </a:rPr>
                        <a:t>D4</a:t>
                      </a:r>
                      <a:endParaRPr sz="8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100965">
                        <a:lnSpc>
                          <a:spcPct val="100000"/>
                        </a:lnSpc>
                        <a:spcBef>
                          <a:spcPts val="270"/>
                        </a:spcBef>
                      </a:pPr>
                      <a:r>
                        <a:rPr sz="800" spc="-5" dirty="0">
                          <a:latin typeface="Arial"/>
                          <a:cs typeface="Arial"/>
                        </a:rPr>
                        <a:t>D3</a:t>
                      </a:r>
                      <a:endParaRPr sz="8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100965">
                        <a:lnSpc>
                          <a:spcPct val="100000"/>
                        </a:lnSpc>
                        <a:spcBef>
                          <a:spcPts val="270"/>
                        </a:spcBef>
                      </a:pPr>
                      <a:r>
                        <a:rPr sz="800" spc="-5" dirty="0">
                          <a:latin typeface="Arial"/>
                          <a:cs typeface="Arial"/>
                        </a:rPr>
                        <a:t>D2</a:t>
                      </a:r>
                      <a:endParaRPr sz="8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100965">
                        <a:lnSpc>
                          <a:spcPct val="100000"/>
                        </a:lnSpc>
                        <a:spcBef>
                          <a:spcPts val="270"/>
                        </a:spcBef>
                      </a:pPr>
                      <a:r>
                        <a:rPr sz="800" spc="-5" dirty="0">
                          <a:latin typeface="Arial"/>
                          <a:cs typeface="Arial"/>
                        </a:rPr>
                        <a:t>D1</a:t>
                      </a:r>
                      <a:endParaRPr sz="8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101600">
                        <a:lnSpc>
                          <a:spcPct val="100000"/>
                        </a:lnSpc>
                        <a:spcBef>
                          <a:spcPts val="270"/>
                        </a:spcBef>
                      </a:pPr>
                      <a:r>
                        <a:rPr sz="800" spc="-5" dirty="0">
                          <a:latin typeface="Arial"/>
                          <a:cs typeface="Arial"/>
                        </a:rPr>
                        <a:t>D0</a:t>
                      </a:r>
                      <a:endParaRPr sz="8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extLst>
                  <a:ext uri="{0D108BD9-81ED-4DB2-BD59-A6C34878D82A}">
                    <a16:rowId xmlns:a16="http://schemas.microsoft.com/office/drawing/2014/main" val="10000"/>
                  </a:ext>
                </a:extLst>
              </a:tr>
              <a:tr h="193675">
                <a:tc>
                  <a:txBody>
                    <a:bodyPr/>
                    <a:lstStyle/>
                    <a:p>
                      <a:pPr algn="ctr">
                        <a:lnSpc>
                          <a:spcPct val="100000"/>
                        </a:lnSpc>
                        <a:spcBef>
                          <a:spcPts val="265"/>
                        </a:spcBef>
                      </a:pPr>
                      <a:r>
                        <a:rPr sz="800" spc="-5" dirty="0">
                          <a:latin typeface="Arial"/>
                          <a:cs typeface="Arial"/>
                        </a:rPr>
                        <a:t>‘h00</a:t>
                      </a:r>
                      <a:endParaRPr sz="8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635" algn="ctr">
                        <a:lnSpc>
                          <a:spcPct val="100000"/>
                        </a:lnSpc>
                        <a:spcBef>
                          <a:spcPts val="265"/>
                        </a:spcBef>
                      </a:pPr>
                      <a:r>
                        <a:rPr sz="800" dirty="0">
                          <a:latin typeface="Arial"/>
                          <a:cs typeface="Arial"/>
                        </a:rPr>
                        <a:t>0</a:t>
                      </a: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1270" algn="ctr">
                        <a:lnSpc>
                          <a:spcPct val="100000"/>
                        </a:lnSpc>
                        <a:spcBef>
                          <a:spcPts val="305"/>
                        </a:spcBef>
                      </a:pPr>
                      <a:r>
                        <a:rPr sz="700" dirty="0">
                          <a:latin typeface="Arial"/>
                          <a:cs typeface="Arial"/>
                        </a:rPr>
                        <a:t>x</a:t>
                      </a:r>
                    </a:p>
                  </a:txBody>
                  <a:tcPr marL="0" marR="0" marT="3873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1270" algn="ctr">
                        <a:lnSpc>
                          <a:spcPct val="100000"/>
                        </a:lnSpc>
                        <a:spcBef>
                          <a:spcPts val="330"/>
                        </a:spcBef>
                      </a:pPr>
                      <a:r>
                        <a:rPr sz="700" dirty="0">
                          <a:latin typeface="Arial"/>
                          <a:cs typeface="Arial"/>
                        </a:rPr>
                        <a:t>x</a:t>
                      </a:r>
                    </a:p>
                  </a:txBody>
                  <a:tcPr marL="0" marR="0" marT="4191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gridSpan="6">
                  <a:txBody>
                    <a:bodyPr/>
                    <a:lstStyle/>
                    <a:p>
                      <a:pPr marL="582930">
                        <a:lnSpc>
                          <a:spcPct val="100000"/>
                        </a:lnSpc>
                        <a:spcBef>
                          <a:spcPts val="305"/>
                        </a:spcBef>
                      </a:pPr>
                      <a:r>
                        <a:rPr sz="700" spc="-10" dirty="0">
                          <a:latin typeface="Arial"/>
                          <a:cs typeface="Arial"/>
                        </a:rPr>
                        <a:t>SHSYNC_SIZE</a:t>
                      </a:r>
                      <a:r>
                        <a:rPr sz="700" spc="-15" dirty="0">
                          <a:latin typeface="Arial"/>
                          <a:cs typeface="Arial"/>
                        </a:rPr>
                        <a:t> </a:t>
                      </a:r>
                      <a:r>
                        <a:rPr sz="700" spc="-5" dirty="0">
                          <a:latin typeface="Arial"/>
                          <a:cs typeface="Arial"/>
                        </a:rPr>
                        <a:t>[5:0]</a:t>
                      </a:r>
                      <a:endParaRPr sz="700" dirty="0">
                        <a:latin typeface="Arial"/>
                        <a:cs typeface="Arial"/>
                      </a:endParaRPr>
                    </a:p>
                  </a:txBody>
                  <a:tcPr marL="0" marR="0" marT="3873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gridSpan="8">
                  <a:txBody>
                    <a:bodyPr/>
                    <a:lstStyle/>
                    <a:p>
                      <a:pPr marL="1270" algn="ctr">
                        <a:lnSpc>
                          <a:spcPct val="100000"/>
                        </a:lnSpc>
                        <a:spcBef>
                          <a:spcPts val="305"/>
                        </a:spcBef>
                      </a:pPr>
                      <a:r>
                        <a:rPr sz="700" spc="-10" dirty="0">
                          <a:latin typeface="Arial"/>
                          <a:cs typeface="Arial"/>
                        </a:rPr>
                        <a:t>SVSYNC_SIZE</a:t>
                      </a:r>
                      <a:r>
                        <a:rPr sz="700" spc="-15" dirty="0">
                          <a:latin typeface="Arial"/>
                          <a:cs typeface="Arial"/>
                        </a:rPr>
                        <a:t> </a:t>
                      </a:r>
                      <a:r>
                        <a:rPr sz="700" spc="-5" dirty="0">
                          <a:latin typeface="Arial"/>
                          <a:cs typeface="Arial"/>
                        </a:rPr>
                        <a:t>[7:0]</a:t>
                      </a:r>
                      <a:endParaRPr sz="700" dirty="0">
                        <a:latin typeface="Arial"/>
                        <a:cs typeface="Arial"/>
                      </a:endParaRPr>
                    </a:p>
                  </a:txBody>
                  <a:tcPr marL="0" marR="0" marT="3873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1"/>
                  </a:ext>
                </a:extLst>
              </a:tr>
            </a:tbl>
          </a:graphicData>
        </a:graphic>
      </p:graphicFrame>
      <p:sp>
        <p:nvSpPr>
          <p:cNvPr id="12" name="object 12"/>
          <p:cNvSpPr txBox="1"/>
          <p:nvPr/>
        </p:nvSpPr>
        <p:spPr>
          <a:xfrm>
            <a:off x="400897" y="3765550"/>
            <a:ext cx="6038557" cy="182742"/>
          </a:xfrm>
          <a:prstGeom prst="rect">
            <a:avLst/>
          </a:prstGeom>
        </p:spPr>
        <p:txBody>
          <a:bodyPr vert="horz" wrap="square" lIns="0" tIns="13335" rIns="0" bIns="0" rtlCol="0">
            <a:spAutoFit/>
          </a:bodyPr>
          <a:lstStyle/>
          <a:p>
            <a:pPr marL="12700">
              <a:lnSpc>
                <a:spcPct val="100000"/>
              </a:lnSpc>
              <a:spcBef>
                <a:spcPts val="105"/>
              </a:spcBef>
            </a:pPr>
            <a:r>
              <a:rPr sz="1100" b="1" spc="-10" dirty="0">
                <a:latin typeface="Arial"/>
                <a:cs typeface="Arial"/>
              </a:rPr>
              <a:t>FRAME</a:t>
            </a:r>
            <a:r>
              <a:rPr sz="1100" b="1" spc="-30" dirty="0">
                <a:latin typeface="Arial"/>
                <a:cs typeface="Arial"/>
              </a:rPr>
              <a:t> </a:t>
            </a:r>
            <a:r>
              <a:rPr sz="1100" b="1" dirty="0">
                <a:latin typeface="Arial"/>
                <a:cs typeface="Arial"/>
              </a:rPr>
              <a:t>SIZE</a:t>
            </a:r>
            <a:endParaRPr sz="1100" dirty="0">
              <a:latin typeface="Arial"/>
              <a:cs typeface="Arial"/>
            </a:endParaRPr>
          </a:p>
        </p:txBody>
      </p:sp>
      <p:sp>
        <p:nvSpPr>
          <p:cNvPr id="14" name="object 14"/>
          <p:cNvSpPr txBox="1"/>
          <p:nvPr/>
        </p:nvSpPr>
        <p:spPr>
          <a:xfrm>
            <a:off x="400897" y="6218935"/>
            <a:ext cx="6038558" cy="181865"/>
          </a:xfrm>
          <a:prstGeom prst="rect">
            <a:avLst/>
          </a:prstGeom>
        </p:spPr>
        <p:txBody>
          <a:bodyPr vert="horz" wrap="square" lIns="0" tIns="13335" rIns="0" bIns="0" rtlCol="0">
            <a:spAutoFit/>
          </a:bodyPr>
          <a:lstStyle/>
          <a:p>
            <a:pPr marL="12700">
              <a:lnSpc>
                <a:spcPct val="100000"/>
              </a:lnSpc>
              <a:spcBef>
                <a:spcPts val="105"/>
              </a:spcBef>
            </a:pPr>
            <a:r>
              <a:rPr sz="1100" b="1" spc="-10" dirty="0">
                <a:latin typeface="Arial"/>
                <a:cs typeface="Arial"/>
              </a:rPr>
              <a:t>FRAME</a:t>
            </a:r>
            <a:r>
              <a:rPr sz="1100" b="1" spc="10" dirty="0">
                <a:latin typeface="Arial"/>
                <a:cs typeface="Arial"/>
              </a:rPr>
              <a:t> </a:t>
            </a:r>
            <a:r>
              <a:rPr sz="1100" b="1" spc="-10" dirty="0">
                <a:latin typeface="Arial"/>
                <a:cs typeface="Arial"/>
              </a:rPr>
              <a:t>START</a:t>
            </a:r>
            <a:r>
              <a:rPr sz="1100" b="1" spc="10" dirty="0">
                <a:latin typeface="Arial"/>
                <a:cs typeface="Arial"/>
              </a:rPr>
              <a:t> </a:t>
            </a:r>
            <a:r>
              <a:rPr sz="1100" b="1" spc="-5" dirty="0">
                <a:latin typeface="Arial"/>
                <a:cs typeface="Arial"/>
              </a:rPr>
              <a:t>TIME</a:t>
            </a:r>
            <a:endParaRPr sz="1100" dirty="0">
              <a:latin typeface="Arial"/>
              <a:cs typeface="Arial"/>
            </a:endParaRPr>
          </a:p>
        </p:txBody>
      </p:sp>
      <p:graphicFrame>
        <p:nvGraphicFramePr>
          <p:cNvPr id="15" name="object 15"/>
          <p:cNvGraphicFramePr>
            <a:graphicFrameLocks noGrp="1"/>
          </p:cNvGraphicFramePr>
          <p:nvPr>
            <p:extLst>
              <p:ext uri="{D42A27DB-BD31-4B8C-83A1-F6EECF244321}">
                <p14:modId xmlns:p14="http://schemas.microsoft.com/office/powerpoint/2010/main" val="3793530376"/>
              </p:ext>
            </p:extLst>
          </p:nvPr>
        </p:nvGraphicFramePr>
        <p:xfrm>
          <a:off x="400893" y="6485191"/>
          <a:ext cx="6038554" cy="387350"/>
        </p:xfrm>
        <a:graphic>
          <a:graphicData uri="http://schemas.openxmlformats.org/drawingml/2006/table">
            <a:tbl>
              <a:tblPr firstRow="1" bandRow="1">
                <a:tableStyleId>{2D5ABB26-0587-4C30-8999-92F81FD0307C}</a:tableStyleId>
              </a:tblPr>
              <a:tblGrid>
                <a:gridCol w="412144">
                  <a:extLst>
                    <a:ext uri="{9D8B030D-6E8A-4147-A177-3AD203B41FA5}">
                      <a16:colId xmlns:a16="http://schemas.microsoft.com/office/drawing/2014/main" val="20000"/>
                    </a:ext>
                  </a:extLst>
                </a:gridCol>
                <a:gridCol w="474308">
                  <a:extLst>
                    <a:ext uri="{9D8B030D-6E8A-4147-A177-3AD203B41FA5}">
                      <a16:colId xmlns:a16="http://schemas.microsoft.com/office/drawing/2014/main" val="20001"/>
                    </a:ext>
                  </a:extLst>
                </a:gridCol>
                <a:gridCol w="322006">
                  <a:extLst>
                    <a:ext uri="{9D8B030D-6E8A-4147-A177-3AD203B41FA5}">
                      <a16:colId xmlns:a16="http://schemas.microsoft.com/office/drawing/2014/main" val="20002"/>
                    </a:ext>
                  </a:extLst>
                </a:gridCol>
                <a:gridCol w="322007">
                  <a:extLst>
                    <a:ext uri="{9D8B030D-6E8A-4147-A177-3AD203B41FA5}">
                      <a16:colId xmlns:a16="http://schemas.microsoft.com/office/drawing/2014/main" val="20003"/>
                    </a:ext>
                  </a:extLst>
                </a:gridCol>
                <a:gridCol w="322007">
                  <a:extLst>
                    <a:ext uri="{9D8B030D-6E8A-4147-A177-3AD203B41FA5}">
                      <a16:colId xmlns:a16="http://schemas.microsoft.com/office/drawing/2014/main" val="20004"/>
                    </a:ext>
                  </a:extLst>
                </a:gridCol>
                <a:gridCol w="322007">
                  <a:extLst>
                    <a:ext uri="{9D8B030D-6E8A-4147-A177-3AD203B41FA5}">
                      <a16:colId xmlns:a16="http://schemas.microsoft.com/office/drawing/2014/main" val="20005"/>
                    </a:ext>
                  </a:extLst>
                </a:gridCol>
                <a:gridCol w="322007">
                  <a:extLst>
                    <a:ext uri="{9D8B030D-6E8A-4147-A177-3AD203B41FA5}">
                      <a16:colId xmlns:a16="http://schemas.microsoft.com/office/drawing/2014/main" val="20006"/>
                    </a:ext>
                  </a:extLst>
                </a:gridCol>
                <a:gridCol w="322007">
                  <a:extLst>
                    <a:ext uri="{9D8B030D-6E8A-4147-A177-3AD203B41FA5}">
                      <a16:colId xmlns:a16="http://schemas.microsoft.com/office/drawing/2014/main" val="20007"/>
                    </a:ext>
                  </a:extLst>
                </a:gridCol>
                <a:gridCol w="322007">
                  <a:extLst>
                    <a:ext uri="{9D8B030D-6E8A-4147-A177-3AD203B41FA5}">
                      <a16:colId xmlns:a16="http://schemas.microsoft.com/office/drawing/2014/main" val="20008"/>
                    </a:ext>
                  </a:extLst>
                </a:gridCol>
                <a:gridCol w="322006">
                  <a:extLst>
                    <a:ext uri="{9D8B030D-6E8A-4147-A177-3AD203B41FA5}">
                      <a16:colId xmlns:a16="http://schemas.microsoft.com/office/drawing/2014/main" val="20009"/>
                    </a:ext>
                  </a:extLst>
                </a:gridCol>
                <a:gridCol w="322006">
                  <a:extLst>
                    <a:ext uri="{9D8B030D-6E8A-4147-A177-3AD203B41FA5}">
                      <a16:colId xmlns:a16="http://schemas.microsoft.com/office/drawing/2014/main" val="20010"/>
                    </a:ext>
                  </a:extLst>
                </a:gridCol>
                <a:gridCol w="322006">
                  <a:extLst>
                    <a:ext uri="{9D8B030D-6E8A-4147-A177-3AD203B41FA5}">
                      <a16:colId xmlns:a16="http://schemas.microsoft.com/office/drawing/2014/main" val="20011"/>
                    </a:ext>
                  </a:extLst>
                </a:gridCol>
                <a:gridCol w="322006">
                  <a:extLst>
                    <a:ext uri="{9D8B030D-6E8A-4147-A177-3AD203B41FA5}">
                      <a16:colId xmlns:a16="http://schemas.microsoft.com/office/drawing/2014/main" val="20012"/>
                    </a:ext>
                  </a:extLst>
                </a:gridCol>
                <a:gridCol w="322006">
                  <a:extLst>
                    <a:ext uri="{9D8B030D-6E8A-4147-A177-3AD203B41FA5}">
                      <a16:colId xmlns:a16="http://schemas.microsoft.com/office/drawing/2014/main" val="20013"/>
                    </a:ext>
                  </a:extLst>
                </a:gridCol>
                <a:gridCol w="322006">
                  <a:extLst>
                    <a:ext uri="{9D8B030D-6E8A-4147-A177-3AD203B41FA5}">
                      <a16:colId xmlns:a16="http://schemas.microsoft.com/office/drawing/2014/main" val="20014"/>
                    </a:ext>
                  </a:extLst>
                </a:gridCol>
                <a:gridCol w="322006">
                  <a:extLst>
                    <a:ext uri="{9D8B030D-6E8A-4147-A177-3AD203B41FA5}">
                      <a16:colId xmlns:a16="http://schemas.microsoft.com/office/drawing/2014/main" val="20015"/>
                    </a:ext>
                  </a:extLst>
                </a:gridCol>
                <a:gridCol w="322006">
                  <a:extLst>
                    <a:ext uri="{9D8B030D-6E8A-4147-A177-3AD203B41FA5}">
                      <a16:colId xmlns:a16="http://schemas.microsoft.com/office/drawing/2014/main" val="20016"/>
                    </a:ext>
                  </a:extLst>
                </a:gridCol>
                <a:gridCol w="322006">
                  <a:extLst>
                    <a:ext uri="{9D8B030D-6E8A-4147-A177-3AD203B41FA5}">
                      <a16:colId xmlns:a16="http://schemas.microsoft.com/office/drawing/2014/main" val="20017"/>
                    </a:ext>
                  </a:extLst>
                </a:gridCol>
              </a:tblGrid>
              <a:tr h="193675">
                <a:tc>
                  <a:txBody>
                    <a:bodyPr/>
                    <a:lstStyle/>
                    <a:p>
                      <a:pPr algn="ctr">
                        <a:lnSpc>
                          <a:spcPct val="100000"/>
                        </a:lnSpc>
                        <a:spcBef>
                          <a:spcPts val="270"/>
                        </a:spcBef>
                      </a:pPr>
                      <a:r>
                        <a:rPr sz="800" dirty="0">
                          <a:latin typeface="Arial"/>
                          <a:cs typeface="Arial"/>
                        </a:rPr>
                        <a:t>A[6:0]</a:t>
                      </a: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algn="ctr">
                        <a:lnSpc>
                          <a:spcPct val="100000"/>
                        </a:lnSpc>
                        <a:spcBef>
                          <a:spcPts val="270"/>
                        </a:spcBef>
                      </a:pPr>
                      <a:r>
                        <a:rPr sz="800" spc="-5" dirty="0">
                          <a:latin typeface="Arial"/>
                          <a:cs typeface="Arial"/>
                        </a:rPr>
                        <a:t>Default</a:t>
                      </a:r>
                      <a:endParaRPr sz="8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1270" algn="ctr">
                        <a:lnSpc>
                          <a:spcPct val="100000"/>
                        </a:lnSpc>
                        <a:spcBef>
                          <a:spcPts val="270"/>
                        </a:spcBef>
                      </a:pPr>
                      <a:r>
                        <a:rPr sz="800" spc="-5" dirty="0">
                          <a:latin typeface="Arial"/>
                          <a:cs typeface="Arial"/>
                        </a:rPr>
                        <a:t>D15</a:t>
                      </a:r>
                      <a:endParaRPr sz="8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71755">
                        <a:lnSpc>
                          <a:spcPct val="100000"/>
                        </a:lnSpc>
                        <a:spcBef>
                          <a:spcPts val="270"/>
                        </a:spcBef>
                      </a:pPr>
                      <a:r>
                        <a:rPr sz="800" spc="-5" dirty="0">
                          <a:latin typeface="Arial"/>
                          <a:cs typeface="Arial"/>
                        </a:rPr>
                        <a:t>D14</a:t>
                      </a:r>
                      <a:endParaRPr sz="8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71755">
                        <a:lnSpc>
                          <a:spcPct val="100000"/>
                        </a:lnSpc>
                        <a:spcBef>
                          <a:spcPts val="270"/>
                        </a:spcBef>
                      </a:pPr>
                      <a:r>
                        <a:rPr sz="800" spc="-5" dirty="0">
                          <a:latin typeface="Arial"/>
                          <a:cs typeface="Arial"/>
                        </a:rPr>
                        <a:t>D13</a:t>
                      </a:r>
                      <a:endParaRPr sz="8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71755">
                        <a:lnSpc>
                          <a:spcPct val="100000"/>
                        </a:lnSpc>
                        <a:spcBef>
                          <a:spcPts val="270"/>
                        </a:spcBef>
                      </a:pPr>
                      <a:r>
                        <a:rPr sz="800" spc="-5" dirty="0">
                          <a:latin typeface="Arial"/>
                          <a:cs typeface="Arial"/>
                        </a:rPr>
                        <a:t>D12</a:t>
                      </a:r>
                      <a:endParaRPr sz="8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71755">
                        <a:lnSpc>
                          <a:spcPct val="100000"/>
                        </a:lnSpc>
                        <a:spcBef>
                          <a:spcPts val="270"/>
                        </a:spcBef>
                      </a:pPr>
                      <a:r>
                        <a:rPr sz="800" spc="-5" dirty="0">
                          <a:latin typeface="Arial"/>
                          <a:cs typeface="Arial"/>
                        </a:rPr>
                        <a:t>D11</a:t>
                      </a:r>
                      <a:endParaRPr sz="8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71755">
                        <a:lnSpc>
                          <a:spcPct val="100000"/>
                        </a:lnSpc>
                        <a:spcBef>
                          <a:spcPts val="270"/>
                        </a:spcBef>
                      </a:pPr>
                      <a:r>
                        <a:rPr sz="800" spc="-5" dirty="0">
                          <a:latin typeface="Arial"/>
                          <a:cs typeface="Arial"/>
                        </a:rPr>
                        <a:t>D10</a:t>
                      </a:r>
                      <a:endParaRPr sz="8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99060">
                        <a:lnSpc>
                          <a:spcPct val="100000"/>
                        </a:lnSpc>
                        <a:spcBef>
                          <a:spcPts val="270"/>
                        </a:spcBef>
                      </a:pPr>
                      <a:r>
                        <a:rPr sz="800" spc="-5" dirty="0">
                          <a:latin typeface="Arial"/>
                          <a:cs typeface="Arial"/>
                        </a:rPr>
                        <a:t>D9</a:t>
                      </a:r>
                      <a:endParaRPr sz="8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99695">
                        <a:lnSpc>
                          <a:spcPct val="100000"/>
                        </a:lnSpc>
                        <a:spcBef>
                          <a:spcPts val="270"/>
                        </a:spcBef>
                      </a:pPr>
                      <a:r>
                        <a:rPr sz="800" spc="-5" dirty="0">
                          <a:latin typeface="Arial"/>
                          <a:cs typeface="Arial"/>
                        </a:rPr>
                        <a:t>D8</a:t>
                      </a:r>
                      <a:endParaRPr sz="8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635" algn="ctr">
                        <a:lnSpc>
                          <a:spcPct val="100000"/>
                        </a:lnSpc>
                        <a:spcBef>
                          <a:spcPts val="270"/>
                        </a:spcBef>
                      </a:pPr>
                      <a:r>
                        <a:rPr sz="800" spc="-5" dirty="0">
                          <a:latin typeface="Arial"/>
                          <a:cs typeface="Arial"/>
                        </a:rPr>
                        <a:t>D7</a:t>
                      </a:r>
                      <a:endParaRPr sz="8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99695">
                        <a:lnSpc>
                          <a:spcPct val="100000"/>
                        </a:lnSpc>
                        <a:spcBef>
                          <a:spcPts val="270"/>
                        </a:spcBef>
                      </a:pPr>
                      <a:r>
                        <a:rPr sz="800" spc="-5" dirty="0">
                          <a:latin typeface="Arial"/>
                          <a:cs typeface="Arial"/>
                        </a:rPr>
                        <a:t>D6</a:t>
                      </a:r>
                      <a:endParaRPr sz="8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99695">
                        <a:lnSpc>
                          <a:spcPct val="100000"/>
                        </a:lnSpc>
                        <a:spcBef>
                          <a:spcPts val="270"/>
                        </a:spcBef>
                      </a:pPr>
                      <a:r>
                        <a:rPr sz="800" spc="-5" dirty="0">
                          <a:latin typeface="Arial"/>
                          <a:cs typeface="Arial"/>
                        </a:rPr>
                        <a:t>D5</a:t>
                      </a:r>
                      <a:endParaRPr sz="8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99695">
                        <a:lnSpc>
                          <a:spcPct val="100000"/>
                        </a:lnSpc>
                        <a:spcBef>
                          <a:spcPts val="270"/>
                        </a:spcBef>
                      </a:pPr>
                      <a:r>
                        <a:rPr sz="800" spc="-5" dirty="0">
                          <a:latin typeface="Arial"/>
                          <a:cs typeface="Arial"/>
                        </a:rPr>
                        <a:t>D4</a:t>
                      </a:r>
                      <a:endParaRPr sz="8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99695">
                        <a:lnSpc>
                          <a:spcPct val="100000"/>
                        </a:lnSpc>
                        <a:spcBef>
                          <a:spcPts val="270"/>
                        </a:spcBef>
                      </a:pPr>
                      <a:r>
                        <a:rPr sz="800" spc="-5" dirty="0">
                          <a:latin typeface="Arial"/>
                          <a:cs typeface="Arial"/>
                        </a:rPr>
                        <a:t>D3</a:t>
                      </a:r>
                      <a:endParaRPr sz="8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99695">
                        <a:lnSpc>
                          <a:spcPct val="100000"/>
                        </a:lnSpc>
                        <a:spcBef>
                          <a:spcPts val="270"/>
                        </a:spcBef>
                      </a:pPr>
                      <a:r>
                        <a:rPr sz="800" spc="-5" dirty="0">
                          <a:latin typeface="Arial"/>
                          <a:cs typeface="Arial"/>
                        </a:rPr>
                        <a:t>D2</a:t>
                      </a:r>
                      <a:endParaRPr sz="8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100330">
                        <a:lnSpc>
                          <a:spcPct val="100000"/>
                        </a:lnSpc>
                        <a:spcBef>
                          <a:spcPts val="270"/>
                        </a:spcBef>
                      </a:pPr>
                      <a:r>
                        <a:rPr sz="800" spc="-5" dirty="0">
                          <a:latin typeface="Arial"/>
                          <a:cs typeface="Arial"/>
                        </a:rPr>
                        <a:t>D1</a:t>
                      </a:r>
                      <a:endParaRPr sz="8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100330">
                        <a:lnSpc>
                          <a:spcPct val="100000"/>
                        </a:lnSpc>
                        <a:spcBef>
                          <a:spcPts val="270"/>
                        </a:spcBef>
                      </a:pPr>
                      <a:r>
                        <a:rPr sz="800" spc="-5" dirty="0">
                          <a:latin typeface="Arial"/>
                          <a:cs typeface="Arial"/>
                        </a:rPr>
                        <a:t>D0</a:t>
                      </a:r>
                      <a:endParaRPr sz="8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extLst>
                  <a:ext uri="{0D108BD9-81ED-4DB2-BD59-A6C34878D82A}">
                    <a16:rowId xmlns:a16="http://schemas.microsoft.com/office/drawing/2014/main" val="10000"/>
                  </a:ext>
                </a:extLst>
              </a:tr>
              <a:tr h="193675">
                <a:tc>
                  <a:txBody>
                    <a:bodyPr/>
                    <a:lstStyle/>
                    <a:p>
                      <a:pPr algn="ctr">
                        <a:lnSpc>
                          <a:spcPct val="100000"/>
                        </a:lnSpc>
                        <a:spcBef>
                          <a:spcPts val="270"/>
                        </a:spcBef>
                      </a:pPr>
                      <a:r>
                        <a:rPr sz="800" spc="-5" dirty="0">
                          <a:latin typeface="Arial"/>
                          <a:cs typeface="Arial"/>
                        </a:rPr>
                        <a:t>‘h01</a:t>
                      </a:r>
                      <a:endParaRPr sz="8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algn="ctr">
                        <a:lnSpc>
                          <a:spcPct val="100000"/>
                        </a:lnSpc>
                        <a:spcBef>
                          <a:spcPts val="270"/>
                        </a:spcBef>
                      </a:pPr>
                      <a:r>
                        <a:rPr sz="800" dirty="0">
                          <a:latin typeface="Arial"/>
                          <a:cs typeface="Arial"/>
                        </a:rPr>
                        <a:t>0</a:t>
                      </a: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2540" algn="ctr">
                        <a:lnSpc>
                          <a:spcPct val="100000"/>
                        </a:lnSpc>
                        <a:spcBef>
                          <a:spcPts val="310"/>
                        </a:spcBef>
                      </a:pPr>
                      <a:r>
                        <a:rPr sz="700" dirty="0">
                          <a:latin typeface="Arial"/>
                          <a:cs typeface="Arial"/>
                        </a:rPr>
                        <a:t>x</a:t>
                      </a:r>
                    </a:p>
                  </a:txBody>
                  <a:tcPr marL="0" marR="0" marT="3937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gridSpan="7">
                  <a:txBody>
                    <a:bodyPr/>
                    <a:lstStyle/>
                    <a:p>
                      <a:pPr marL="676910">
                        <a:lnSpc>
                          <a:spcPct val="100000"/>
                        </a:lnSpc>
                        <a:spcBef>
                          <a:spcPts val="335"/>
                        </a:spcBef>
                      </a:pPr>
                      <a:r>
                        <a:rPr sz="700" dirty="0">
                          <a:latin typeface="Arial"/>
                          <a:cs typeface="Arial"/>
                        </a:rPr>
                        <a:t>SVS</a:t>
                      </a:r>
                      <a:r>
                        <a:rPr sz="700" spc="-10" dirty="0">
                          <a:latin typeface="Arial"/>
                          <a:cs typeface="Arial"/>
                        </a:rPr>
                        <a:t>Y</a:t>
                      </a:r>
                      <a:r>
                        <a:rPr sz="700" dirty="0">
                          <a:latin typeface="Arial"/>
                          <a:cs typeface="Arial"/>
                        </a:rPr>
                        <a:t>NC</a:t>
                      </a:r>
                      <a:r>
                        <a:rPr sz="700" spc="-5" dirty="0">
                          <a:latin typeface="Arial"/>
                          <a:cs typeface="Arial"/>
                        </a:rPr>
                        <a:t>_</a:t>
                      </a:r>
                      <a:r>
                        <a:rPr sz="700" dirty="0">
                          <a:latin typeface="Arial"/>
                          <a:cs typeface="Arial"/>
                        </a:rPr>
                        <a:t>S</a:t>
                      </a:r>
                      <a:r>
                        <a:rPr sz="700" spc="5" dirty="0">
                          <a:latin typeface="Arial"/>
                          <a:cs typeface="Arial"/>
                        </a:rPr>
                        <a:t>T</a:t>
                      </a:r>
                      <a:r>
                        <a:rPr sz="700" dirty="0">
                          <a:latin typeface="Arial"/>
                          <a:cs typeface="Arial"/>
                        </a:rPr>
                        <a:t>AR</a:t>
                      </a:r>
                      <a:r>
                        <a:rPr sz="700" spc="-5" dirty="0">
                          <a:latin typeface="Arial"/>
                          <a:cs typeface="Arial"/>
                        </a:rPr>
                        <a:t>T</a:t>
                      </a:r>
                      <a:r>
                        <a:rPr sz="700" dirty="0">
                          <a:latin typeface="Arial"/>
                          <a:cs typeface="Arial"/>
                        </a:rPr>
                        <a:t>2</a:t>
                      </a:r>
                      <a:r>
                        <a:rPr sz="700" spc="-30" dirty="0">
                          <a:latin typeface="Arial"/>
                          <a:cs typeface="Arial"/>
                        </a:rPr>
                        <a:t> </a:t>
                      </a:r>
                      <a:r>
                        <a:rPr sz="700" dirty="0">
                          <a:latin typeface="Arial"/>
                          <a:cs typeface="Arial"/>
                        </a:rPr>
                        <a:t>[</a:t>
                      </a:r>
                      <a:r>
                        <a:rPr sz="700" spc="-5" dirty="0">
                          <a:latin typeface="Arial"/>
                          <a:cs typeface="Arial"/>
                        </a:rPr>
                        <a:t>6</a:t>
                      </a:r>
                      <a:r>
                        <a:rPr sz="700" dirty="0">
                          <a:latin typeface="Arial"/>
                          <a:cs typeface="Arial"/>
                        </a:rPr>
                        <a:t>:</a:t>
                      </a:r>
                      <a:r>
                        <a:rPr sz="700" spc="-5" dirty="0">
                          <a:latin typeface="Arial"/>
                          <a:cs typeface="Arial"/>
                        </a:rPr>
                        <a:t>0</a:t>
                      </a:r>
                      <a:r>
                        <a:rPr sz="700" dirty="0">
                          <a:latin typeface="Arial"/>
                          <a:cs typeface="Arial"/>
                        </a:rPr>
                        <a:t>]</a:t>
                      </a:r>
                    </a:p>
                  </a:txBody>
                  <a:tcPr marL="0" marR="0" marT="4254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a:txBody>
                    <a:bodyPr/>
                    <a:lstStyle/>
                    <a:p>
                      <a:pPr marL="3810" algn="ctr">
                        <a:lnSpc>
                          <a:spcPct val="100000"/>
                        </a:lnSpc>
                        <a:spcBef>
                          <a:spcPts val="310"/>
                        </a:spcBef>
                      </a:pPr>
                      <a:r>
                        <a:rPr sz="700" dirty="0">
                          <a:latin typeface="Arial"/>
                          <a:cs typeface="Arial"/>
                        </a:rPr>
                        <a:t>x</a:t>
                      </a:r>
                    </a:p>
                  </a:txBody>
                  <a:tcPr marL="0" marR="0" marT="3937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gridSpan="7">
                  <a:txBody>
                    <a:bodyPr/>
                    <a:lstStyle/>
                    <a:p>
                      <a:pPr marL="677545">
                        <a:lnSpc>
                          <a:spcPct val="100000"/>
                        </a:lnSpc>
                        <a:spcBef>
                          <a:spcPts val="335"/>
                        </a:spcBef>
                      </a:pPr>
                      <a:r>
                        <a:rPr sz="700" dirty="0">
                          <a:latin typeface="Arial"/>
                          <a:cs typeface="Arial"/>
                        </a:rPr>
                        <a:t>SVS</a:t>
                      </a:r>
                      <a:r>
                        <a:rPr sz="700" spc="-10" dirty="0">
                          <a:latin typeface="Arial"/>
                          <a:cs typeface="Arial"/>
                        </a:rPr>
                        <a:t>Y</a:t>
                      </a:r>
                      <a:r>
                        <a:rPr sz="700" dirty="0">
                          <a:latin typeface="Arial"/>
                          <a:cs typeface="Arial"/>
                        </a:rPr>
                        <a:t>NC</a:t>
                      </a:r>
                      <a:r>
                        <a:rPr sz="700" spc="-5" dirty="0">
                          <a:latin typeface="Arial"/>
                          <a:cs typeface="Arial"/>
                        </a:rPr>
                        <a:t>_</a:t>
                      </a:r>
                      <a:r>
                        <a:rPr sz="700" dirty="0">
                          <a:latin typeface="Arial"/>
                          <a:cs typeface="Arial"/>
                        </a:rPr>
                        <a:t>S</a:t>
                      </a:r>
                      <a:r>
                        <a:rPr sz="700" spc="5" dirty="0">
                          <a:latin typeface="Arial"/>
                          <a:cs typeface="Arial"/>
                        </a:rPr>
                        <a:t>T</a:t>
                      </a:r>
                      <a:r>
                        <a:rPr sz="700" dirty="0">
                          <a:latin typeface="Arial"/>
                          <a:cs typeface="Arial"/>
                        </a:rPr>
                        <a:t>AR</a:t>
                      </a:r>
                      <a:r>
                        <a:rPr sz="700" spc="-5" dirty="0">
                          <a:latin typeface="Arial"/>
                          <a:cs typeface="Arial"/>
                        </a:rPr>
                        <a:t>T</a:t>
                      </a:r>
                      <a:r>
                        <a:rPr sz="700" dirty="0">
                          <a:latin typeface="Arial"/>
                          <a:cs typeface="Arial"/>
                        </a:rPr>
                        <a:t>1</a:t>
                      </a:r>
                      <a:r>
                        <a:rPr sz="700" spc="-30" dirty="0">
                          <a:latin typeface="Arial"/>
                          <a:cs typeface="Arial"/>
                        </a:rPr>
                        <a:t> </a:t>
                      </a:r>
                      <a:r>
                        <a:rPr sz="700" dirty="0">
                          <a:latin typeface="Arial"/>
                          <a:cs typeface="Arial"/>
                        </a:rPr>
                        <a:t>[</a:t>
                      </a:r>
                      <a:r>
                        <a:rPr sz="700" spc="-5" dirty="0">
                          <a:latin typeface="Arial"/>
                          <a:cs typeface="Arial"/>
                        </a:rPr>
                        <a:t>6</a:t>
                      </a:r>
                      <a:r>
                        <a:rPr sz="700" dirty="0">
                          <a:latin typeface="Arial"/>
                          <a:cs typeface="Arial"/>
                        </a:rPr>
                        <a:t>:</a:t>
                      </a:r>
                      <a:r>
                        <a:rPr sz="700" spc="-5" dirty="0">
                          <a:latin typeface="Arial"/>
                          <a:cs typeface="Arial"/>
                        </a:rPr>
                        <a:t>0</a:t>
                      </a:r>
                      <a:r>
                        <a:rPr sz="700" dirty="0">
                          <a:latin typeface="Arial"/>
                          <a:cs typeface="Arial"/>
                        </a:rPr>
                        <a:t>]</a:t>
                      </a:r>
                    </a:p>
                  </a:txBody>
                  <a:tcPr marL="0" marR="0" marT="4254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1"/>
                  </a:ext>
                </a:extLst>
              </a:tr>
            </a:tbl>
          </a:graphicData>
        </a:graphic>
      </p:graphicFrame>
      <p:graphicFrame>
        <p:nvGraphicFramePr>
          <p:cNvPr id="19" name="표 18">
            <a:extLst>
              <a:ext uri="{FF2B5EF4-FFF2-40B4-BE49-F238E27FC236}">
                <a16:creationId xmlns:a16="http://schemas.microsoft.com/office/drawing/2014/main" id="{DF13BFAA-9621-FA29-834A-5FE75D37728F}"/>
              </a:ext>
            </a:extLst>
          </p:cNvPr>
          <p:cNvGraphicFramePr>
            <a:graphicFrameLocks noGrp="1"/>
          </p:cNvGraphicFramePr>
          <p:nvPr>
            <p:extLst>
              <p:ext uri="{D42A27DB-BD31-4B8C-83A1-F6EECF244321}">
                <p14:modId xmlns:p14="http://schemas.microsoft.com/office/powerpoint/2010/main" val="3934079473"/>
              </p:ext>
            </p:extLst>
          </p:nvPr>
        </p:nvGraphicFramePr>
        <p:xfrm>
          <a:off x="405677" y="4591902"/>
          <a:ext cx="6033770" cy="1370000"/>
        </p:xfrm>
        <a:graphic>
          <a:graphicData uri="http://schemas.openxmlformats.org/drawingml/2006/table">
            <a:tbl>
              <a:tblPr firstRow="1" bandRow="1">
                <a:tableStyleId>{5C22544A-7EE6-4342-B048-85BDC9FD1C3A}</a:tableStyleId>
              </a:tblPr>
              <a:tblGrid>
                <a:gridCol w="384612">
                  <a:extLst>
                    <a:ext uri="{9D8B030D-6E8A-4147-A177-3AD203B41FA5}">
                      <a16:colId xmlns:a16="http://schemas.microsoft.com/office/drawing/2014/main" val="4170535043"/>
                    </a:ext>
                  </a:extLst>
                </a:gridCol>
                <a:gridCol w="1523121">
                  <a:extLst>
                    <a:ext uri="{9D8B030D-6E8A-4147-A177-3AD203B41FA5}">
                      <a16:colId xmlns:a16="http://schemas.microsoft.com/office/drawing/2014/main" val="2079070694"/>
                    </a:ext>
                  </a:extLst>
                </a:gridCol>
                <a:gridCol w="4126037">
                  <a:extLst>
                    <a:ext uri="{9D8B030D-6E8A-4147-A177-3AD203B41FA5}">
                      <a16:colId xmlns:a16="http://schemas.microsoft.com/office/drawing/2014/main" val="32595803"/>
                    </a:ext>
                  </a:extLst>
                </a:gridCol>
              </a:tblGrid>
              <a:tr h="256197">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556176">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spc="-5" dirty="0">
                          <a:latin typeface="Arial"/>
                          <a:cs typeface="Arial"/>
                        </a:rPr>
                        <a:t>13:8</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spc="-5" dirty="0">
                          <a:latin typeface="Arial"/>
                          <a:cs typeface="Arial"/>
                        </a:rPr>
                        <a:t>SHSYNC_SIZE</a:t>
                      </a:r>
                      <a:endParaRPr lang="en-US" altLang="ko-KR" sz="900" dirty="0">
                        <a:latin typeface="Arial"/>
                        <a:cs typeface="Arial"/>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spc="-5" dirty="0">
                          <a:latin typeface="Arial"/>
                          <a:cs typeface="Arial"/>
                        </a:rPr>
                        <a:t>The </a:t>
                      </a:r>
                      <a:r>
                        <a:rPr lang="en-US" altLang="ko-KR" sz="900" dirty="0">
                          <a:latin typeface="Arial"/>
                          <a:cs typeface="Arial"/>
                        </a:rPr>
                        <a:t>number of the shsync </a:t>
                      </a:r>
                      <a:r>
                        <a:rPr lang="en-US" altLang="ko-KR" sz="900" spc="-5" dirty="0">
                          <a:latin typeface="Arial"/>
                          <a:cs typeface="Arial"/>
                        </a:rPr>
                        <a:t>within one svsync period. </a:t>
                      </a:r>
                      <a:r>
                        <a:rPr lang="en-US" altLang="ko-KR" sz="900" spc="-235" dirty="0">
                          <a:latin typeface="Arial"/>
                          <a:cs typeface="Arial"/>
                        </a:rPr>
                        <a:t> </a:t>
                      </a:r>
                      <a:r>
                        <a:rPr lang="en-US" altLang="ko-KR" sz="900" spc="-5" dirty="0">
                          <a:latin typeface="Arial"/>
                          <a:cs typeface="Arial"/>
                        </a:rPr>
                        <a:t>This</a:t>
                      </a:r>
                      <a:r>
                        <a:rPr lang="en-US" altLang="ko-KR" sz="900" spc="-10" dirty="0">
                          <a:latin typeface="Arial"/>
                          <a:cs typeface="Arial"/>
                        </a:rPr>
                        <a:t> </a:t>
                      </a:r>
                      <a:r>
                        <a:rPr lang="en-US" altLang="ko-KR" sz="900" spc="-5" dirty="0">
                          <a:latin typeface="Arial"/>
                          <a:cs typeface="Arial"/>
                        </a:rPr>
                        <a:t>is </a:t>
                      </a:r>
                      <a:r>
                        <a:rPr lang="en-US" altLang="ko-KR" sz="900" dirty="0">
                          <a:latin typeface="Arial"/>
                          <a:cs typeface="Arial"/>
                        </a:rPr>
                        <a:t>the</a:t>
                      </a:r>
                      <a:r>
                        <a:rPr lang="en-US" altLang="ko-KR" sz="900" spc="-10" dirty="0">
                          <a:latin typeface="Arial"/>
                          <a:cs typeface="Arial"/>
                        </a:rPr>
                        <a:t> </a:t>
                      </a:r>
                      <a:r>
                        <a:rPr lang="en-US" altLang="ko-KR" sz="900" dirty="0">
                          <a:latin typeface="Arial"/>
                          <a:cs typeface="Arial"/>
                        </a:rPr>
                        <a:t>same</a:t>
                      </a:r>
                      <a:r>
                        <a:rPr lang="en-US" altLang="ko-KR" sz="900" spc="-10" dirty="0">
                          <a:latin typeface="Arial"/>
                          <a:cs typeface="Arial"/>
                        </a:rPr>
                        <a:t> </a:t>
                      </a:r>
                      <a:r>
                        <a:rPr lang="en-US" altLang="ko-KR" sz="900" spc="-5" dirty="0">
                          <a:latin typeface="Arial"/>
                          <a:cs typeface="Arial"/>
                        </a:rPr>
                        <a:t>as line</a:t>
                      </a:r>
                      <a:r>
                        <a:rPr lang="en-US" altLang="ko-KR" sz="900" spc="-25" dirty="0">
                          <a:latin typeface="Arial"/>
                          <a:cs typeface="Arial"/>
                        </a:rPr>
                        <a:t> </a:t>
                      </a:r>
                      <a:r>
                        <a:rPr lang="en-US" altLang="ko-KR" sz="900" dirty="0">
                          <a:latin typeface="Arial"/>
                          <a:cs typeface="Arial"/>
                        </a:rPr>
                        <a:t>numbers. It</a:t>
                      </a:r>
                      <a:r>
                        <a:rPr lang="en-US" altLang="ko-KR" sz="900" spc="-10" dirty="0">
                          <a:latin typeface="Arial"/>
                          <a:cs typeface="Arial"/>
                        </a:rPr>
                        <a:t> </a:t>
                      </a:r>
                      <a:r>
                        <a:rPr lang="en-US" altLang="ko-KR" sz="900" spc="-5" dirty="0">
                          <a:latin typeface="Arial"/>
                          <a:cs typeface="Arial"/>
                        </a:rPr>
                        <a:t>needs</a:t>
                      </a:r>
                      <a:r>
                        <a:rPr lang="en-US" altLang="ko-KR" sz="900" spc="-20" dirty="0">
                          <a:latin typeface="Arial"/>
                          <a:cs typeface="Arial"/>
                        </a:rPr>
                        <a:t> </a:t>
                      </a:r>
                      <a:r>
                        <a:rPr lang="en-US" altLang="ko-KR" sz="900" dirty="0">
                          <a:latin typeface="Arial"/>
                          <a:cs typeface="Arial"/>
                        </a:rPr>
                        <a:t>to </a:t>
                      </a:r>
                      <a:r>
                        <a:rPr lang="en-US" altLang="ko-KR" sz="900" spc="-5" dirty="0">
                          <a:latin typeface="Arial"/>
                          <a:cs typeface="Arial"/>
                        </a:rPr>
                        <a:t>be </a:t>
                      </a:r>
                      <a:r>
                        <a:rPr lang="en-US" altLang="ko-KR" sz="900" dirty="0">
                          <a:latin typeface="Arial"/>
                          <a:cs typeface="Arial"/>
                        </a:rPr>
                        <a:t>careful</a:t>
                      </a:r>
                      <a:r>
                        <a:rPr lang="en-US" altLang="ko-KR" sz="900" spc="-20" dirty="0">
                          <a:latin typeface="Arial"/>
                          <a:cs typeface="Arial"/>
                        </a:rPr>
                        <a:t> </a:t>
                      </a:r>
                      <a:r>
                        <a:rPr lang="en-US" altLang="ko-KR" sz="900" dirty="0">
                          <a:latin typeface="Arial"/>
                          <a:cs typeface="Arial"/>
                        </a:rPr>
                        <a:t>the</a:t>
                      </a:r>
                      <a:r>
                        <a:rPr lang="en-US" altLang="ko-KR" sz="900" spc="-10" dirty="0">
                          <a:latin typeface="Arial"/>
                          <a:cs typeface="Arial"/>
                        </a:rPr>
                        <a:t> </a:t>
                      </a:r>
                      <a:r>
                        <a:rPr lang="en-US" altLang="ko-KR" sz="900" spc="-5" dirty="0">
                          <a:latin typeface="Arial"/>
                          <a:cs typeface="Arial"/>
                        </a:rPr>
                        <a:t>value is </a:t>
                      </a:r>
                      <a:r>
                        <a:rPr lang="en-US" altLang="ko-KR" sz="900" dirty="0">
                          <a:latin typeface="Arial"/>
                          <a:cs typeface="Arial"/>
                        </a:rPr>
                        <a:t>different</a:t>
                      </a:r>
                      <a:r>
                        <a:rPr lang="en-US" altLang="ko-KR" sz="900" spc="-25" dirty="0">
                          <a:latin typeface="Arial"/>
                          <a:cs typeface="Arial"/>
                        </a:rPr>
                        <a:t> </a:t>
                      </a:r>
                      <a:r>
                        <a:rPr lang="en-US" altLang="ko-KR" sz="900" spc="-5" dirty="0">
                          <a:latin typeface="Arial"/>
                          <a:cs typeface="Arial"/>
                        </a:rPr>
                        <a:t>with</a:t>
                      </a:r>
                      <a:r>
                        <a:rPr lang="en-US" altLang="ko-KR" sz="900" spc="5" dirty="0">
                          <a:latin typeface="Arial"/>
                          <a:cs typeface="Arial"/>
                        </a:rPr>
                        <a:t> </a:t>
                      </a:r>
                      <a:r>
                        <a:rPr lang="en-US" altLang="ko-KR" sz="900" dirty="0">
                          <a:latin typeface="Arial"/>
                          <a:cs typeface="Arial"/>
                        </a:rPr>
                        <a:t>the</a:t>
                      </a:r>
                      <a:r>
                        <a:rPr lang="en-US" altLang="ko-KR" sz="900" spc="-10" dirty="0">
                          <a:latin typeface="Arial"/>
                          <a:cs typeface="Arial"/>
                        </a:rPr>
                        <a:t> </a:t>
                      </a:r>
                      <a:r>
                        <a:rPr lang="en-US" altLang="ko-KR" sz="900" spc="-5" dirty="0">
                          <a:latin typeface="Arial"/>
                          <a:cs typeface="Arial"/>
                        </a:rPr>
                        <a:t>drive</a:t>
                      </a:r>
                      <a:r>
                        <a:rPr lang="en-US" altLang="ko-KR" sz="900" spc="-10" dirty="0">
                          <a:latin typeface="Arial"/>
                          <a:cs typeface="Arial"/>
                        </a:rPr>
                        <a:t> </a:t>
                      </a:r>
                      <a:r>
                        <a:rPr lang="en-US" altLang="ko-KR" sz="900" dirty="0">
                          <a:latin typeface="Arial"/>
                          <a:cs typeface="Arial"/>
                        </a:rPr>
                        <a:t>mode,</a:t>
                      </a:r>
                      <a:r>
                        <a:rPr lang="en-US" altLang="ko-KR" sz="900" spc="-20" dirty="0">
                          <a:latin typeface="Arial"/>
                          <a:cs typeface="Arial"/>
                        </a:rPr>
                        <a:t> </a:t>
                      </a:r>
                      <a:r>
                        <a:rPr lang="en-US" altLang="ko-KR" sz="900" dirty="0">
                          <a:latin typeface="Arial"/>
                          <a:cs typeface="Arial"/>
                        </a:rPr>
                        <a:t>single</a:t>
                      </a:r>
                      <a:r>
                        <a:rPr lang="en-US" altLang="ko-KR" sz="900" spc="-20" dirty="0">
                          <a:latin typeface="Arial"/>
                          <a:cs typeface="Arial"/>
                        </a:rPr>
                        <a:t> </a:t>
                      </a:r>
                      <a:r>
                        <a:rPr lang="en-US" altLang="ko-KR" sz="900" spc="-5" dirty="0">
                          <a:latin typeface="Arial"/>
                          <a:cs typeface="Arial"/>
                        </a:rPr>
                        <a:t>or</a:t>
                      </a:r>
                      <a:r>
                        <a:rPr lang="en-US" altLang="ko-KR" sz="900" spc="-10" dirty="0">
                          <a:latin typeface="Arial"/>
                          <a:cs typeface="Arial"/>
                        </a:rPr>
                        <a:t> </a:t>
                      </a:r>
                      <a:r>
                        <a:rPr lang="en-US" altLang="ko-KR" sz="900" spc="-5" dirty="0">
                          <a:latin typeface="Arial"/>
                          <a:cs typeface="Arial"/>
                        </a:rPr>
                        <a:t>dual.</a:t>
                      </a:r>
                      <a:endParaRPr lang="en-US" altLang="ko-KR" sz="900" b="0" dirty="0">
                        <a:solidFill>
                          <a:schemeClr val="tx1"/>
                        </a:solidFill>
                        <a:latin typeface="Arial"/>
                        <a:ea typeface="+mn-ea"/>
                        <a:cs typeface="Arial"/>
                      </a:endParaRP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557627">
                <a:tc>
                  <a:txBody>
                    <a:bodyPr/>
                    <a:lstStyle/>
                    <a:p>
                      <a:pPr marR="82550" algn="ctr">
                        <a:lnSpc>
                          <a:spcPct val="100000"/>
                        </a:lnSpc>
                        <a:spcBef>
                          <a:spcPts val="775"/>
                        </a:spcBef>
                      </a:pPr>
                      <a:r>
                        <a:rPr lang="en-US" altLang="ko-KR" sz="900" dirty="0">
                          <a:latin typeface="Arial"/>
                          <a:cs typeface="Arial"/>
                        </a:rPr>
                        <a:t>7:0</a:t>
                      </a:r>
                      <a:endParaRPr sz="900" dirty="0">
                        <a:latin typeface="Arial"/>
                        <a:cs typeface="Arial"/>
                      </a:endParaRPr>
                    </a:p>
                  </a:txBody>
                  <a:tcPr marL="0" marR="0" marT="98425" marB="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62230" marR="0" lvl="0" indent="0" defTabSz="914400" eaLnBrk="1" fontAlgn="auto" latinLnBrk="0" hangingPunct="1">
                        <a:lnSpc>
                          <a:spcPct val="100000"/>
                        </a:lnSpc>
                        <a:spcBef>
                          <a:spcPts val="775"/>
                        </a:spcBef>
                        <a:spcAft>
                          <a:spcPts val="0"/>
                        </a:spcAft>
                        <a:buClrTx/>
                        <a:buSzTx/>
                        <a:buFontTx/>
                        <a:buNone/>
                        <a:tabLst/>
                        <a:defRPr/>
                      </a:pPr>
                      <a:r>
                        <a:rPr lang="en-US" altLang="ko-KR" sz="900" spc="-5" dirty="0">
                          <a:latin typeface="Arial"/>
                          <a:cs typeface="Arial"/>
                        </a:rPr>
                        <a:t>SVSYNC_SIZE</a:t>
                      </a:r>
                      <a:endParaRPr lang="en-US" altLang="ko-KR" sz="900" dirty="0">
                        <a:latin typeface="Arial"/>
                        <a:cs typeface="Arial"/>
                      </a:endParaRPr>
                    </a:p>
                  </a:txBody>
                  <a:tcPr marL="0" marR="0" marT="98425"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spc="-5" dirty="0">
                          <a:latin typeface="Arial"/>
                          <a:cs typeface="Arial"/>
                        </a:rPr>
                        <a:t>The </a:t>
                      </a:r>
                      <a:r>
                        <a:rPr lang="en-US" altLang="ko-KR" sz="900" dirty="0">
                          <a:latin typeface="Arial"/>
                          <a:cs typeface="Arial"/>
                        </a:rPr>
                        <a:t>number of the </a:t>
                      </a:r>
                      <a:r>
                        <a:rPr lang="en-US" altLang="ko-KR" sz="900" spc="-5" dirty="0">
                          <a:latin typeface="Arial"/>
                          <a:cs typeface="Arial"/>
                        </a:rPr>
                        <a:t>svsync within one </a:t>
                      </a:r>
                      <a:r>
                        <a:rPr lang="en-US" altLang="ko-KR" sz="900" dirty="0">
                          <a:latin typeface="Arial"/>
                          <a:cs typeface="Arial"/>
                        </a:rPr>
                        <a:t>source frame </a:t>
                      </a:r>
                      <a:r>
                        <a:rPr lang="en-US" altLang="ko-KR" sz="900" spc="-5" dirty="0">
                          <a:latin typeface="Arial"/>
                          <a:cs typeface="Arial"/>
                        </a:rPr>
                        <a:t>period. </a:t>
                      </a:r>
                      <a:r>
                        <a:rPr lang="en-US" altLang="ko-KR" sz="900" spc="-235" dirty="0">
                          <a:latin typeface="Arial"/>
                          <a:cs typeface="Arial"/>
                        </a:rPr>
                        <a:t> </a:t>
                      </a:r>
                      <a:r>
                        <a:rPr lang="en-US" altLang="ko-KR" sz="900" spc="-5" dirty="0">
                          <a:latin typeface="Arial"/>
                          <a:cs typeface="Arial"/>
                        </a:rPr>
                        <a:t>The maximum</a:t>
                      </a:r>
                      <a:r>
                        <a:rPr lang="en-US" altLang="ko-KR" sz="900" spc="-10" dirty="0">
                          <a:latin typeface="Arial"/>
                          <a:cs typeface="Arial"/>
                        </a:rPr>
                        <a:t> </a:t>
                      </a:r>
                      <a:r>
                        <a:rPr lang="en-US" altLang="ko-KR" sz="900" dirty="0">
                          <a:latin typeface="Arial"/>
                          <a:cs typeface="Arial"/>
                        </a:rPr>
                        <a:t>number</a:t>
                      </a:r>
                      <a:r>
                        <a:rPr lang="en-US" altLang="ko-KR" sz="900" spc="-30" dirty="0">
                          <a:latin typeface="Arial"/>
                          <a:cs typeface="Arial"/>
                        </a:rPr>
                        <a:t> </a:t>
                      </a:r>
                      <a:r>
                        <a:rPr lang="en-US" altLang="ko-KR" sz="900" dirty="0">
                          <a:latin typeface="Arial"/>
                          <a:cs typeface="Arial"/>
                        </a:rPr>
                        <a:t>don’t</a:t>
                      </a:r>
                      <a:r>
                        <a:rPr lang="en-US" altLang="ko-KR" sz="900" spc="-25" dirty="0">
                          <a:latin typeface="Arial"/>
                          <a:cs typeface="Arial"/>
                        </a:rPr>
                        <a:t> </a:t>
                      </a:r>
                      <a:r>
                        <a:rPr lang="en-US" altLang="ko-KR" sz="900" dirty="0">
                          <a:latin typeface="Arial"/>
                          <a:cs typeface="Arial"/>
                        </a:rPr>
                        <a:t>be</a:t>
                      </a:r>
                      <a:r>
                        <a:rPr lang="en-US" altLang="ko-KR" sz="900" spc="-15" dirty="0">
                          <a:latin typeface="Arial"/>
                          <a:cs typeface="Arial"/>
                        </a:rPr>
                        <a:t> </a:t>
                      </a:r>
                      <a:r>
                        <a:rPr lang="en-US" altLang="ko-KR" sz="900" spc="-5" dirty="0">
                          <a:latin typeface="Arial"/>
                          <a:cs typeface="Arial"/>
                        </a:rPr>
                        <a:t>over 0x80. (decimal 128)</a:t>
                      </a:r>
                      <a:endParaRPr lang="en-US" altLang="ko-KR" sz="900" b="0" dirty="0">
                        <a:solidFill>
                          <a:schemeClr val="tx1"/>
                        </a:solidFill>
                        <a:latin typeface="Arial"/>
                        <a:ea typeface="+mn-ea"/>
                        <a:cs typeface="Arial"/>
                      </a:endParaRP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61280097"/>
                  </a:ext>
                </a:extLst>
              </a:tr>
            </a:tbl>
          </a:graphicData>
        </a:graphic>
      </p:graphicFrame>
      <p:graphicFrame>
        <p:nvGraphicFramePr>
          <p:cNvPr id="20" name="표 19">
            <a:extLst>
              <a:ext uri="{FF2B5EF4-FFF2-40B4-BE49-F238E27FC236}">
                <a16:creationId xmlns:a16="http://schemas.microsoft.com/office/drawing/2014/main" id="{DA3C0C99-E27D-63CA-3A7F-63EFD2CCB416}"/>
              </a:ext>
            </a:extLst>
          </p:cNvPr>
          <p:cNvGraphicFramePr>
            <a:graphicFrameLocks noGrp="1"/>
          </p:cNvGraphicFramePr>
          <p:nvPr>
            <p:extLst>
              <p:ext uri="{D42A27DB-BD31-4B8C-83A1-F6EECF244321}">
                <p14:modId xmlns:p14="http://schemas.microsoft.com/office/powerpoint/2010/main" val="2466440136"/>
              </p:ext>
            </p:extLst>
          </p:nvPr>
        </p:nvGraphicFramePr>
        <p:xfrm>
          <a:off x="404572" y="7081682"/>
          <a:ext cx="6033770" cy="1434464"/>
        </p:xfrm>
        <a:graphic>
          <a:graphicData uri="http://schemas.openxmlformats.org/drawingml/2006/table">
            <a:tbl>
              <a:tblPr firstRow="1" bandRow="1">
                <a:tableStyleId>{5C22544A-7EE6-4342-B048-85BDC9FD1C3A}</a:tableStyleId>
              </a:tblPr>
              <a:tblGrid>
                <a:gridCol w="384612">
                  <a:extLst>
                    <a:ext uri="{9D8B030D-6E8A-4147-A177-3AD203B41FA5}">
                      <a16:colId xmlns:a16="http://schemas.microsoft.com/office/drawing/2014/main" val="4170535043"/>
                    </a:ext>
                  </a:extLst>
                </a:gridCol>
                <a:gridCol w="1523121">
                  <a:extLst>
                    <a:ext uri="{9D8B030D-6E8A-4147-A177-3AD203B41FA5}">
                      <a16:colId xmlns:a16="http://schemas.microsoft.com/office/drawing/2014/main" val="2079070694"/>
                    </a:ext>
                  </a:extLst>
                </a:gridCol>
                <a:gridCol w="4126037">
                  <a:extLst>
                    <a:ext uri="{9D8B030D-6E8A-4147-A177-3AD203B41FA5}">
                      <a16:colId xmlns:a16="http://schemas.microsoft.com/office/drawing/2014/main" val="32595803"/>
                    </a:ext>
                  </a:extLst>
                </a:gridCol>
              </a:tblGrid>
              <a:tr h="256197">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556176">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spc="-5" dirty="0">
                          <a:latin typeface="Arial"/>
                          <a:cs typeface="Arial"/>
                        </a:rPr>
                        <a:t>14:8</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spc="-5" dirty="0">
                          <a:latin typeface="Arial"/>
                          <a:cs typeface="Arial"/>
                        </a:rPr>
                        <a:t>SVSYNC_START1</a:t>
                      </a:r>
                      <a:endParaRPr lang="en-US" altLang="ko-KR" sz="900" dirty="0">
                        <a:latin typeface="Arial"/>
                        <a:cs typeface="Arial"/>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spc="-5" dirty="0">
                          <a:latin typeface="Arial"/>
                          <a:cs typeface="Arial"/>
                        </a:rPr>
                        <a:t>This value </a:t>
                      </a:r>
                      <a:r>
                        <a:rPr lang="en-US" altLang="ko-KR" sz="900" dirty="0">
                          <a:latin typeface="Arial"/>
                          <a:cs typeface="Arial"/>
                        </a:rPr>
                        <a:t>designates at </a:t>
                      </a:r>
                      <a:r>
                        <a:rPr lang="en-US" altLang="ko-KR" sz="900" spc="-5" dirty="0">
                          <a:latin typeface="Arial"/>
                          <a:cs typeface="Arial"/>
                        </a:rPr>
                        <a:t>which svsync </a:t>
                      </a:r>
                      <a:r>
                        <a:rPr lang="en-US" altLang="ko-KR" sz="900" dirty="0">
                          <a:latin typeface="Arial"/>
                          <a:cs typeface="Arial"/>
                        </a:rPr>
                        <a:t>the first line’s local dimming starts in single </a:t>
                      </a:r>
                      <a:r>
                        <a:rPr lang="en-US" altLang="ko-KR" sz="900" spc="-235" dirty="0">
                          <a:latin typeface="Arial"/>
                          <a:cs typeface="Arial"/>
                        </a:rPr>
                        <a:t> </a:t>
                      </a:r>
                      <a:r>
                        <a:rPr lang="en-US" altLang="ko-KR" sz="900" spc="-5" dirty="0">
                          <a:latin typeface="Arial"/>
                          <a:cs typeface="Arial"/>
                        </a:rPr>
                        <a:t>drive </a:t>
                      </a:r>
                      <a:r>
                        <a:rPr lang="en-US" altLang="ko-KR" sz="900" dirty="0">
                          <a:latin typeface="Arial"/>
                          <a:cs typeface="Arial"/>
                        </a:rPr>
                        <a:t>mode. In case of </a:t>
                      </a:r>
                      <a:r>
                        <a:rPr lang="en-US" altLang="ko-KR" sz="900" spc="-5" dirty="0">
                          <a:latin typeface="Arial"/>
                          <a:cs typeface="Arial"/>
                        </a:rPr>
                        <a:t>dual drive </a:t>
                      </a:r>
                      <a:r>
                        <a:rPr lang="en-US" altLang="ko-KR" sz="900" dirty="0">
                          <a:latin typeface="Arial"/>
                          <a:cs typeface="Arial"/>
                        </a:rPr>
                        <a:t>mode, this </a:t>
                      </a:r>
                      <a:r>
                        <a:rPr lang="en-US" altLang="ko-KR" sz="900" spc="-5" dirty="0">
                          <a:latin typeface="Arial"/>
                          <a:cs typeface="Arial"/>
                        </a:rPr>
                        <a:t>value </a:t>
                      </a:r>
                      <a:r>
                        <a:rPr lang="en-US" altLang="ko-KR" sz="900" dirty="0">
                          <a:latin typeface="Arial"/>
                          <a:cs typeface="Arial"/>
                        </a:rPr>
                        <a:t>designates at </a:t>
                      </a:r>
                      <a:r>
                        <a:rPr lang="en-US" altLang="ko-KR" sz="900" spc="-5" dirty="0">
                          <a:latin typeface="Arial"/>
                          <a:cs typeface="Arial"/>
                        </a:rPr>
                        <a:t>which svsync </a:t>
                      </a:r>
                      <a:r>
                        <a:rPr lang="en-US" altLang="ko-KR" sz="900" dirty="0">
                          <a:latin typeface="Arial"/>
                          <a:cs typeface="Arial"/>
                        </a:rPr>
                        <a:t>the </a:t>
                      </a:r>
                      <a:r>
                        <a:rPr lang="en-US" altLang="ko-KR" sz="900" spc="5" dirty="0">
                          <a:latin typeface="Arial"/>
                          <a:cs typeface="Arial"/>
                        </a:rPr>
                        <a:t> </a:t>
                      </a:r>
                      <a:r>
                        <a:rPr lang="en-US" altLang="ko-KR" sz="900" dirty="0">
                          <a:latin typeface="Arial"/>
                          <a:cs typeface="Arial"/>
                        </a:rPr>
                        <a:t>first</a:t>
                      </a:r>
                      <a:r>
                        <a:rPr lang="en-US" altLang="ko-KR" sz="900" spc="-15" dirty="0">
                          <a:latin typeface="Arial"/>
                          <a:cs typeface="Arial"/>
                        </a:rPr>
                        <a:t> </a:t>
                      </a:r>
                      <a:r>
                        <a:rPr lang="en-US" altLang="ko-KR" sz="900" dirty="0">
                          <a:latin typeface="Arial"/>
                          <a:cs typeface="Arial"/>
                        </a:rPr>
                        <a:t>line’s</a:t>
                      </a:r>
                      <a:r>
                        <a:rPr lang="en-US" altLang="ko-KR" sz="900" spc="-30" dirty="0">
                          <a:latin typeface="Arial"/>
                          <a:cs typeface="Arial"/>
                        </a:rPr>
                        <a:t> </a:t>
                      </a:r>
                      <a:r>
                        <a:rPr lang="en-US" altLang="ko-KR" sz="900" dirty="0">
                          <a:latin typeface="Arial"/>
                          <a:cs typeface="Arial"/>
                        </a:rPr>
                        <a:t>local</a:t>
                      </a:r>
                      <a:r>
                        <a:rPr lang="en-US" altLang="ko-KR" sz="900" spc="-20" dirty="0">
                          <a:latin typeface="Arial"/>
                          <a:cs typeface="Arial"/>
                        </a:rPr>
                        <a:t> </a:t>
                      </a:r>
                      <a:r>
                        <a:rPr lang="en-US" altLang="ko-KR" sz="900" dirty="0">
                          <a:latin typeface="Arial"/>
                          <a:cs typeface="Arial"/>
                        </a:rPr>
                        <a:t>dimming</a:t>
                      </a:r>
                      <a:r>
                        <a:rPr lang="en-US" altLang="ko-KR" sz="900" spc="-40" dirty="0">
                          <a:latin typeface="Arial"/>
                          <a:cs typeface="Arial"/>
                        </a:rPr>
                        <a:t> </a:t>
                      </a:r>
                      <a:r>
                        <a:rPr lang="en-US" altLang="ko-KR" sz="900" dirty="0">
                          <a:latin typeface="Arial"/>
                          <a:cs typeface="Arial"/>
                        </a:rPr>
                        <a:t>corresponding</a:t>
                      </a:r>
                      <a:r>
                        <a:rPr lang="en-US" altLang="ko-KR" sz="900" spc="-45" dirty="0">
                          <a:latin typeface="Arial"/>
                          <a:cs typeface="Arial"/>
                        </a:rPr>
                        <a:t> </a:t>
                      </a:r>
                      <a:r>
                        <a:rPr lang="en-US" altLang="ko-KR" sz="900" dirty="0">
                          <a:latin typeface="Arial"/>
                          <a:cs typeface="Arial"/>
                        </a:rPr>
                        <a:t>to a</a:t>
                      </a:r>
                      <a:r>
                        <a:rPr lang="en-US" altLang="ko-KR" sz="900" spc="-10" dirty="0">
                          <a:latin typeface="Arial"/>
                          <a:cs typeface="Arial"/>
                        </a:rPr>
                        <a:t> </a:t>
                      </a:r>
                      <a:r>
                        <a:rPr lang="en-US" altLang="ko-KR" sz="900" dirty="0">
                          <a:latin typeface="Arial"/>
                          <a:cs typeface="Arial"/>
                        </a:rPr>
                        <a:t>first</a:t>
                      </a:r>
                      <a:r>
                        <a:rPr lang="en-US" altLang="ko-KR" sz="900" spc="-15" dirty="0">
                          <a:latin typeface="Arial"/>
                          <a:cs typeface="Arial"/>
                        </a:rPr>
                        <a:t> </a:t>
                      </a:r>
                      <a:r>
                        <a:rPr lang="en-US" altLang="ko-KR" sz="900" dirty="0">
                          <a:latin typeface="Arial"/>
                          <a:cs typeface="Arial"/>
                        </a:rPr>
                        <a:t>half</a:t>
                      </a:r>
                      <a:r>
                        <a:rPr lang="en-US" altLang="ko-KR" sz="900" spc="-10" dirty="0">
                          <a:latin typeface="Arial"/>
                          <a:cs typeface="Arial"/>
                        </a:rPr>
                        <a:t> </a:t>
                      </a:r>
                      <a:r>
                        <a:rPr lang="en-US" altLang="ko-KR" sz="900" dirty="0">
                          <a:latin typeface="Arial"/>
                          <a:cs typeface="Arial"/>
                        </a:rPr>
                        <a:t>of</a:t>
                      </a:r>
                      <a:r>
                        <a:rPr lang="en-US" altLang="ko-KR" sz="900" spc="-10" dirty="0">
                          <a:latin typeface="Arial"/>
                          <a:cs typeface="Arial"/>
                        </a:rPr>
                        <a:t> </a:t>
                      </a:r>
                      <a:r>
                        <a:rPr lang="en-US" altLang="ko-KR" sz="900" dirty="0">
                          <a:latin typeface="Arial"/>
                          <a:cs typeface="Arial"/>
                        </a:rPr>
                        <a:t>total</a:t>
                      </a:r>
                      <a:r>
                        <a:rPr lang="en-US" altLang="ko-KR" sz="900" spc="-25" dirty="0">
                          <a:latin typeface="Arial"/>
                          <a:cs typeface="Arial"/>
                        </a:rPr>
                        <a:t> </a:t>
                      </a:r>
                      <a:r>
                        <a:rPr lang="en-US" altLang="ko-KR" sz="900" dirty="0">
                          <a:latin typeface="Arial"/>
                          <a:cs typeface="Arial"/>
                        </a:rPr>
                        <a:t>lines</a:t>
                      </a:r>
                      <a:r>
                        <a:rPr lang="en-US" altLang="ko-KR" sz="900" spc="-20" dirty="0">
                          <a:latin typeface="Arial"/>
                          <a:cs typeface="Arial"/>
                        </a:rPr>
                        <a:t> </a:t>
                      </a:r>
                      <a:r>
                        <a:rPr lang="en-US" altLang="ko-KR" sz="900" dirty="0">
                          <a:latin typeface="Arial"/>
                          <a:cs typeface="Arial"/>
                        </a:rPr>
                        <a:t>starts. Normally</a:t>
                      </a:r>
                      <a:r>
                        <a:rPr lang="en-US" altLang="ko-KR" sz="900" spc="-40" dirty="0">
                          <a:latin typeface="Arial"/>
                          <a:cs typeface="Arial"/>
                        </a:rPr>
                        <a:t> </a:t>
                      </a:r>
                      <a:r>
                        <a:rPr lang="en-US" altLang="ko-KR" sz="900" dirty="0">
                          <a:latin typeface="Arial"/>
                          <a:cs typeface="Arial"/>
                        </a:rPr>
                        <a:t>recommended</a:t>
                      </a:r>
                      <a:r>
                        <a:rPr lang="en-US" altLang="ko-KR" sz="900" spc="-50" dirty="0">
                          <a:latin typeface="Arial"/>
                          <a:cs typeface="Arial"/>
                        </a:rPr>
                        <a:t> </a:t>
                      </a:r>
                      <a:r>
                        <a:rPr lang="en-US" altLang="ko-KR" sz="900" dirty="0">
                          <a:latin typeface="Arial"/>
                          <a:cs typeface="Arial"/>
                        </a:rPr>
                        <a:t>to</a:t>
                      </a:r>
                      <a:r>
                        <a:rPr lang="en-US" altLang="ko-KR" sz="900" spc="-25" dirty="0">
                          <a:latin typeface="Arial"/>
                          <a:cs typeface="Arial"/>
                        </a:rPr>
                        <a:t> </a:t>
                      </a:r>
                      <a:r>
                        <a:rPr lang="en-US" altLang="ko-KR" sz="900" dirty="0">
                          <a:latin typeface="Arial"/>
                          <a:cs typeface="Arial"/>
                        </a:rPr>
                        <a:t>set</a:t>
                      </a:r>
                      <a:r>
                        <a:rPr lang="en-US" altLang="ko-KR" sz="900" spc="-30" dirty="0">
                          <a:latin typeface="Arial"/>
                          <a:cs typeface="Arial"/>
                        </a:rPr>
                        <a:t> </a:t>
                      </a:r>
                      <a:r>
                        <a:rPr lang="en-US" altLang="ko-KR" sz="900" dirty="0">
                          <a:latin typeface="Arial"/>
                          <a:cs typeface="Arial"/>
                        </a:rPr>
                        <a:t>1.</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557627">
                <a:tc>
                  <a:txBody>
                    <a:bodyPr/>
                    <a:lstStyle/>
                    <a:p>
                      <a:pPr marR="82550" algn="ctr">
                        <a:lnSpc>
                          <a:spcPct val="100000"/>
                        </a:lnSpc>
                        <a:spcBef>
                          <a:spcPts val="775"/>
                        </a:spcBef>
                      </a:pPr>
                      <a:r>
                        <a:rPr lang="en-US" altLang="ko-KR" sz="900" dirty="0">
                          <a:latin typeface="Arial"/>
                          <a:cs typeface="Arial"/>
                        </a:rPr>
                        <a:t>6:0</a:t>
                      </a:r>
                      <a:endParaRPr sz="900" dirty="0">
                        <a:latin typeface="Arial"/>
                        <a:cs typeface="Arial"/>
                      </a:endParaRPr>
                    </a:p>
                  </a:txBody>
                  <a:tcPr marL="0" marR="0" marT="98425" marB="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62230" marR="0" lvl="0" indent="0" defTabSz="914400" eaLnBrk="1" fontAlgn="auto" latinLnBrk="0" hangingPunct="1">
                        <a:lnSpc>
                          <a:spcPct val="100000"/>
                        </a:lnSpc>
                        <a:spcBef>
                          <a:spcPts val="775"/>
                        </a:spcBef>
                        <a:spcAft>
                          <a:spcPts val="0"/>
                        </a:spcAft>
                        <a:buClrTx/>
                        <a:buSzTx/>
                        <a:buFontTx/>
                        <a:buNone/>
                        <a:tabLst/>
                        <a:defRPr/>
                      </a:pPr>
                      <a:r>
                        <a:rPr lang="en-US" altLang="ko-KR" sz="900" spc="-5" dirty="0">
                          <a:latin typeface="Arial"/>
                          <a:cs typeface="Arial"/>
                        </a:rPr>
                        <a:t>SVSYNC_START2</a:t>
                      </a:r>
                      <a:endParaRPr lang="en-US" altLang="ko-KR" sz="900" dirty="0">
                        <a:latin typeface="Arial"/>
                        <a:cs typeface="Arial"/>
                      </a:endParaRPr>
                    </a:p>
                  </a:txBody>
                  <a:tcPr marL="0" marR="0" marT="98425"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spc="-5" dirty="0">
                          <a:latin typeface="Arial"/>
                          <a:cs typeface="Arial"/>
                        </a:rPr>
                        <a:t>This value </a:t>
                      </a:r>
                      <a:r>
                        <a:rPr lang="en-US" altLang="ko-KR" sz="900" dirty="0">
                          <a:latin typeface="Arial"/>
                          <a:cs typeface="Arial"/>
                        </a:rPr>
                        <a:t>designates at </a:t>
                      </a:r>
                      <a:r>
                        <a:rPr lang="en-US" altLang="ko-KR" sz="900" spc="-5" dirty="0">
                          <a:latin typeface="Arial"/>
                          <a:cs typeface="Arial"/>
                        </a:rPr>
                        <a:t>which svsync </a:t>
                      </a:r>
                      <a:r>
                        <a:rPr lang="en-US" altLang="ko-KR" sz="900" dirty="0">
                          <a:latin typeface="Arial"/>
                          <a:cs typeface="Arial"/>
                        </a:rPr>
                        <a:t>the first line’s local dimming corresponding to</a:t>
                      </a:r>
                      <a:r>
                        <a:rPr lang="en-US" altLang="ko-KR" sz="900" spc="-10" dirty="0">
                          <a:latin typeface="Arial"/>
                          <a:cs typeface="Arial"/>
                        </a:rPr>
                        <a:t> </a:t>
                      </a:r>
                      <a:r>
                        <a:rPr lang="en-US" altLang="ko-KR" sz="900" spc="-5" dirty="0">
                          <a:latin typeface="Arial"/>
                          <a:cs typeface="Arial"/>
                        </a:rPr>
                        <a:t>a</a:t>
                      </a:r>
                      <a:r>
                        <a:rPr lang="en-US" altLang="ko-KR" sz="900" dirty="0">
                          <a:latin typeface="Arial"/>
                          <a:cs typeface="Arial"/>
                        </a:rPr>
                        <a:t> second</a:t>
                      </a:r>
                      <a:r>
                        <a:rPr lang="en-US" altLang="ko-KR" sz="900" spc="-35" dirty="0">
                          <a:latin typeface="Arial"/>
                          <a:cs typeface="Arial"/>
                        </a:rPr>
                        <a:t> </a:t>
                      </a:r>
                      <a:r>
                        <a:rPr lang="en-US" altLang="ko-KR" sz="900" spc="-5" dirty="0">
                          <a:latin typeface="Arial"/>
                          <a:cs typeface="Arial"/>
                        </a:rPr>
                        <a:t>half</a:t>
                      </a:r>
                      <a:r>
                        <a:rPr lang="en-US" altLang="ko-KR" sz="900" spc="-10" dirty="0">
                          <a:latin typeface="Arial"/>
                          <a:cs typeface="Arial"/>
                        </a:rPr>
                        <a:t> </a:t>
                      </a:r>
                      <a:r>
                        <a:rPr lang="en-US" altLang="ko-KR" sz="900" dirty="0">
                          <a:latin typeface="Arial"/>
                          <a:cs typeface="Arial"/>
                        </a:rPr>
                        <a:t>of</a:t>
                      </a:r>
                      <a:r>
                        <a:rPr lang="en-US" altLang="ko-KR" sz="900" spc="-10" dirty="0">
                          <a:latin typeface="Arial"/>
                          <a:cs typeface="Arial"/>
                        </a:rPr>
                        <a:t> </a:t>
                      </a:r>
                      <a:r>
                        <a:rPr lang="en-US" altLang="ko-KR" sz="900" dirty="0">
                          <a:latin typeface="Arial"/>
                          <a:cs typeface="Arial"/>
                        </a:rPr>
                        <a:t>total</a:t>
                      </a:r>
                      <a:r>
                        <a:rPr lang="en-US" altLang="ko-KR" sz="900" spc="-10" dirty="0">
                          <a:latin typeface="Arial"/>
                          <a:cs typeface="Arial"/>
                        </a:rPr>
                        <a:t> </a:t>
                      </a:r>
                      <a:r>
                        <a:rPr lang="en-US" altLang="ko-KR" sz="900" spc="-5" dirty="0">
                          <a:latin typeface="Arial"/>
                          <a:cs typeface="Arial"/>
                        </a:rPr>
                        <a:t>lines</a:t>
                      </a:r>
                      <a:r>
                        <a:rPr lang="en-US" altLang="ko-KR" sz="900" spc="-20" dirty="0">
                          <a:latin typeface="Arial"/>
                          <a:cs typeface="Arial"/>
                        </a:rPr>
                        <a:t> </a:t>
                      </a:r>
                      <a:r>
                        <a:rPr lang="en-US" altLang="ko-KR" sz="900" dirty="0">
                          <a:latin typeface="Arial"/>
                          <a:cs typeface="Arial"/>
                        </a:rPr>
                        <a:t>starts</a:t>
                      </a:r>
                      <a:r>
                        <a:rPr lang="en-US" altLang="ko-KR" sz="900" spc="-20" dirty="0">
                          <a:latin typeface="Arial"/>
                          <a:cs typeface="Arial"/>
                        </a:rPr>
                        <a:t> </a:t>
                      </a:r>
                      <a:r>
                        <a:rPr lang="en-US" altLang="ko-KR" sz="900" spc="-5" dirty="0">
                          <a:latin typeface="Arial"/>
                          <a:cs typeface="Arial"/>
                        </a:rPr>
                        <a:t>in</a:t>
                      </a:r>
                      <a:r>
                        <a:rPr lang="en-US" altLang="ko-KR" sz="900" spc="-10" dirty="0">
                          <a:latin typeface="Arial"/>
                          <a:cs typeface="Arial"/>
                        </a:rPr>
                        <a:t> </a:t>
                      </a:r>
                      <a:r>
                        <a:rPr lang="en-US" altLang="ko-KR" sz="900" spc="-5" dirty="0">
                          <a:latin typeface="Arial"/>
                          <a:cs typeface="Arial"/>
                        </a:rPr>
                        <a:t>dual</a:t>
                      </a:r>
                      <a:r>
                        <a:rPr lang="en-US" altLang="ko-KR" sz="900" spc="-10" dirty="0">
                          <a:latin typeface="Arial"/>
                          <a:cs typeface="Arial"/>
                        </a:rPr>
                        <a:t> </a:t>
                      </a:r>
                      <a:r>
                        <a:rPr lang="en-US" altLang="ko-KR" sz="900" spc="-5" dirty="0">
                          <a:latin typeface="Arial"/>
                          <a:cs typeface="Arial"/>
                        </a:rPr>
                        <a:t>drive</a:t>
                      </a:r>
                      <a:r>
                        <a:rPr lang="en-US" altLang="ko-KR" sz="900" spc="-10" dirty="0">
                          <a:latin typeface="Arial"/>
                          <a:cs typeface="Arial"/>
                        </a:rPr>
                        <a:t> </a:t>
                      </a:r>
                      <a:r>
                        <a:rPr lang="en-US" altLang="ko-KR" sz="900" dirty="0">
                          <a:latin typeface="Arial"/>
                          <a:cs typeface="Arial"/>
                        </a:rPr>
                        <a:t>mode. </a:t>
                      </a:r>
                      <a:r>
                        <a:rPr lang="en-US" altLang="ko-KR" sz="900" spc="-5" dirty="0">
                          <a:latin typeface="Arial"/>
                          <a:cs typeface="Arial"/>
                        </a:rPr>
                        <a:t>This</a:t>
                      </a:r>
                      <a:r>
                        <a:rPr lang="en-US" altLang="ko-KR" sz="900" spc="-10" dirty="0">
                          <a:latin typeface="Arial"/>
                          <a:cs typeface="Arial"/>
                        </a:rPr>
                        <a:t> </a:t>
                      </a:r>
                      <a:r>
                        <a:rPr lang="en-US" altLang="ko-KR" sz="900" spc="-5" dirty="0">
                          <a:latin typeface="Arial"/>
                          <a:cs typeface="Arial"/>
                        </a:rPr>
                        <a:t>is </a:t>
                      </a:r>
                      <a:r>
                        <a:rPr lang="en-US" altLang="ko-KR" sz="900" dirty="0">
                          <a:latin typeface="Arial"/>
                          <a:cs typeface="Arial"/>
                        </a:rPr>
                        <a:t>used</a:t>
                      </a:r>
                      <a:r>
                        <a:rPr lang="en-US" altLang="ko-KR" sz="900" spc="-10" dirty="0">
                          <a:latin typeface="Arial"/>
                          <a:cs typeface="Arial"/>
                        </a:rPr>
                        <a:t> </a:t>
                      </a:r>
                      <a:r>
                        <a:rPr lang="en-US" altLang="ko-KR" sz="900" spc="-5" dirty="0">
                          <a:latin typeface="Arial"/>
                          <a:cs typeface="Arial"/>
                        </a:rPr>
                        <a:t>only</a:t>
                      </a:r>
                      <a:r>
                        <a:rPr lang="en-US" altLang="ko-KR" sz="900" spc="-20" dirty="0">
                          <a:latin typeface="Arial"/>
                          <a:cs typeface="Arial"/>
                        </a:rPr>
                        <a:t> </a:t>
                      </a:r>
                      <a:r>
                        <a:rPr lang="en-US" altLang="ko-KR" sz="900" spc="-5" dirty="0">
                          <a:latin typeface="Arial"/>
                          <a:cs typeface="Arial"/>
                        </a:rPr>
                        <a:t>in</a:t>
                      </a:r>
                      <a:r>
                        <a:rPr lang="en-US" altLang="ko-KR" sz="900" spc="-10" dirty="0">
                          <a:latin typeface="Arial"/>
                          <a:cs typeface="Arial"/>
                        </a:rPr>
                        <a:t> </a:t>
                      </a:r>
                      <a:r>
                        <a:rPr lang="en-US" altLang="ko-KR" sz="900" spc="-5" dirty="0">
                          <a:latin typeface="Arial"/>
                          <a:cs typeface="Arial"/>
                        </a:rPr>
                        <a:t>dual</a:t>
                      </a:r>
                      <a:r>
                        <a:rPr lang="en-US" altLang="ko-KR" sz="900" spc="-15" dirty="0">
                          <a:latin typeface="Arial"/>
                          <a:cs typeface="Arial"/>
                        </a:rPr>
                        <a:t> </a:t>
                      </a:r>
                      <a:r>
                        <a:rPr lang="en-US" altLang="ko-KR" sz="900" spc="-5" dirty="0">
                          <a:latin typeface="Arial"/>
                          <a:cs typeface="Arial"/>
                        </a:rPr>
                        <a:t>drive</a:t>
                      </a:r>
                      <a:r>
                        <a:rPr lang="en-US" altLang="ko-KR" sz="900" spc="-10" dirty="0">
                          <a:latin typeface="Arial"/>
                          <a:cs typeface="Arial"/>
                        </a:rPr>
                        <a:t> </a:t>
                      </a:r>
                      <a:r>
                        <a:rPr lang="en-US" altLang="ko-KR" sz="900" dirty="0">
                          <a:latin typeface="Arial"/>
                          <a:cs typeface="Arial"/>
                        </a:rPr>
                        <a:t>mode.</a:t>
                      </a:r>
                      <a:endParaRPr lang="en-US" altLang="ko-KR" sz="900" b="0" dirty="0">
                        <a:solidFill>
                          <a:schemeClr val="tx1"/>
                        </a:solidFill>
                        <a:latin typeface="Arial"/>
                        <a:ea typeface="+mn-ea"/>
                        <a:cs typeface="Arial"/>
                      </a:endParaRP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61280097"/>
                  </a:ext>
                </a:extLst>
              </a:tr>
            </a:tbl>
          </a:graphicData>
        </a:graphic>
      </p:graphicFrame>
      <p:sp>
        <p:nvSpPr>
          <p:cNvPr id="11" name="object 9">
            <a:extLst>
              <a:ext uri="{FF2B5EF4-FFF2-40B4-BE49-F238E27FC236}">
                <a16:creationId xmlns:a16="http://schemas.microsoft.com/office/drawing/2014/main" id="{F6C7CD12-E64A-C8BA-4650-31FD9E0CC73E}"/>
              </a:ext>
            </a:extLst>
          </p:cNvPr>
          <p:cNvSpPr txBox="1"/>
          <p:nvPr/>
        </p:nvSpPr>
        <p:spPr>
          <a:xfrm>
            <a:off x="304800" y="9067800"/>
            <a:ext cx="2078355" cy="289823"/>
          </a:xfrm>
          <a:prstGeom prst="rect">
            <a:avLst/>
          </a:prstGeom>
        </p:spPr>
        <p:txBody>
          <a:bodyPr vert="horz" wrap="square" lIns="0" tIns="12700" rIns="0" bIns="0" rtlCol="0">
            <a:spAutoFit/>
          </a:bodyPr>
          <a:lstStyle/>
          <a:p>
            <a:pPr marL="12700">
              <a:lnSpc>
                <a:spcPct val="100000"/>
              </a:lnSpc>
              <a:spcBef>
                <a:spcPts val="100"/>
              </a:spcBef>
            </a:pPr>
            <a:r>
              <a:rPr b="1" spc="-5" dirty="0">
                <a:solidFill>
                  <a:srgbClr val="FF0000"/>
                </a:solidFill>
                <a:cs typeface="Perpetua Titling MT"/>
              </a:rPr>
              <a:t>CONFIDENTIAL</a:t>
            </a:r>
            <a:endParaRPr dirty="0">
              <a:cs typeface="Perpetua Titling MT"/>
            </a:endParaRPr>
          </a:p>
        </p:txBody>
      </p:sp>
      <p:sp>
        <p:nvSpPr>
          <p:cNvPr id="13" name="object 6">
            <a:extLst>
              <a:ext uri="{FF2B5EF4-FFF2-40B4-BE49-F238E27FC236}">
                <a16:creationId xmlns:a16="http://schemas.microsoft.com/office/drawing/2014/main" id="{0D1AA302-6BCC-6AC3-2098-9CC0EDF02953}"/>
              </a:ext>
            </a:extLst>
          </p:cNvPr>
          <p:cNvSpPr/>
          <p:nvPr/>
        </p:nvSpPr>
        <p:spPr>
          <a:xfrm>
            <a:off x="301676" y="9458756"/>
            <a:ext cx="6246495" cy="0"/>
          </a:xfrm>
          <a:custGeom>
            <a:avLst/>
            <a:gdLst/>
            <a:ahLst/>
            <a:cxnLst/>
            <a:rect l="l" t="t" r="r" b="b"/>
            <a:pathLst>
              <a:path w="6246495">
                <a:moveTo>
                  <a:pt x="0" y="0"/>
                </a:moveTo>
                <a:lnTo>
                  <a:pt x="6245999" y="0"/>
                </a:lnTo>
              </a:path>
            </a:pathLst>
          </a:custGeom>
          <a:ln w="25920">
            <a:solidFill>
              <a:srgbClr val="BFBFBF"/>
            </a:solidFill>
          </a:ln>
        </p:spPr>
        <p:txBody>
          <a:bodyPr wrap="square" lIns="0" tIns="0" rIns="0" bIns="0" rtlCol="0"/>
          <a:lstStyle/>
          <a:p>
            <a:endParaRPr/>
          </a:p>
        </p:txBody>
      </p:sp>
      <p:sp>
        <p:nvSpPr>
          <p:cNvPr id="21" name="슬라이드 번호 개체 틀 3">
            <a:hlinkClick r:id="rId2"/>
            <a:extLst>
              <a:ext uri="{FF2B5EF4-FFF2-40B4-BE49-F238E27FC236}">
                <a16:creationId xmlns:a16="http://schemas.microsoft.com/office/drawing/2014/main" id="{7BCC4A03-01D3-7F78-57B9-B4FC4470A425}"/>
              </a:ext>
            </a:extLst>
          </p:cNvPr>
          <p:cNvSpPr txBox="1">
            <a:spLocks/>
          </p:cNvSpPr>
          <p:nvPr/>
        </p:nvSpPr>
        <p:spPr>
          <a:xfrm>
            <a:off x="5151602" y="9452864"/>
            <a:ext cx="1487550"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dirty="0">
                <a:solidFill>
                  <a:prstClr val="black"/>
                </a:solidFill>
                <a:latin typeface="Arial" panose="020B0604020202020204" pitchFamily="34" charset="0"/>
                <a:cs typeface="Arial" panose="020B0604020202020204" pitchFamily="34" charset="0"/>
              </a:rPr>
              <a:t>http://www.glbltech.com/</a:t>
            </a:r>
            <a:endParaRPr lang="ko-KR" altLang="en-US" dirty="0">
              <a:solidFill>
                <a:prstClr val="black"/>
              </a:solidFill>
              <a:latin typeface="Arial" panose="020B0604020202020204" pitchFamily="34" charset="0"/>
              <a:cs typeface="Arial" panose="020B0604020202020204" pitchFamily="34" charset="0"/>
            </a:endParaRPr>
          </a:p>
        </p:txBody>
      </p:sp>
      <p:sp>
        <p:nvSpPr>
          <p:cNvPr id="22" name="object 38">
            <a:extLst>
              <a:ext uri="{FF2B5EF4-FFF2-40B4-BE49-F238E27FC236}">
                <a16:creationId xmlns:a16="http://schemas.microsoft.com/office/drawing/2014/main" id="{2B513A9A-1A3C-7F84-992C-F8B3CD424007}"/>
              </a:ext>
            </a:extLst>
          </p:cNvPr>
          <p:cNvSpPr txBox="1">
            <a:spLocks/>
          </p:cNvSpPr>
          <p:nvPr/>
        </p:nvSpPr>
        <p:spPr>
          <a:xfrm>
            <a:off x="3309066" y="9547988"/>
            <a:ext cx="487045" cy="139141"/>
          </a:xfrm>
          <a:prstGeom prst="rect">
            <a:avLst/>
          </a:prstGeom>
        </p:spPr>
        <p:txBody>
          <a:bodyPr vert="horz" wrap="square" lIns="0" tIns="635" rIns="0" bIns="0" rtlCol="0">
            <a:spAutoFit/>
          </a:bodyPr>
          <a:lstStyle>
            <a:defPPr>
              <a:defRPr lang="ko-KR"/>
            </a:defPPr>
            <a:lvl1pPr marL="0" algn="l" defTabSz="914400" rtl="0" eaLnBrk="1" latinLnBrk="1" hangingPunct="1">
              <a:defRPr sz="1050" b="0" i="0" kern="1200">
                <a:solidFill>
                  <a:schemeClr val="tx1"/>
                </a:solidFill>
                <a:latin typeface="Arial"/>
                <a:ea typeface="+mn-ea"/>
                <a:cs typeface="Arial"/>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marL="12700">
              <a:spcBef>
                <a:spcPts val="5"/>
              </a:spcBef>
              <a:defRPr/>
            </a:pPr>
            <a:r>
              <a:rPr lang="en-US" sz="900" dirty="0">
                <a:solidFill>
                  <a:prstClr val="black"/>
                </a:solidFill>
              </a:rPr>
              <a:t>Page</a:t>
            </a:r>
            <a:r>
              <a:rPr lang="en-US" sz="900" spc="-60" dirty="0">
                <a:solidFill>
                  <a:prstClr val="black"/>
                </a:solidFill>
              </a:rPr>
              <a:t> </a:t>
            </a:r>
            <a:fld id="{81D60167-4931-47E6-BA6A-407CBD079E47}" type="slidenum">
              <a:rPr sz="900">
                <a:solidFill>
                  <a:prstClr val="black"/>
                </a:solidFill>
              </a:rPr>
              <a:pPr marL="12700">
                <a:spcBef>
                  <a:spcPts val="5"/>
                </a:spcBef>
                <a:defRPr/>
              </a:pPr>
              <a:t>33</a:t>
            </a:fld>
            <a:endParaRPr sz="900" dirty="0">
              <a:solidFill>
                <a:prstClr val="black"/>
              </a:solidFill>
            </a:endParaRPr>
          </a:p>
        </p:txBody>
      </p:sp>
      <p:sp>
        <p:nvSpPr>
          <p:cNvPr id="23" name="슬라이드 번호 개체 틀 3">
            <a:extLst>
              <a:ext uri="{FF2B5EF4-FFF2-40B4-BE49-F238E27FC236}">
                <a16:creationId xmlns:a16="http://schemas.microsoft.com/office/drawing/2014/main" id="{D34BFD89-AAA5-A4E2-39EA-9F9051CFE95C}"/>
              </a:ext>
            </a:extLst>
          </p:cNvPr>
          <p:cNvSpPr txBox="1">
            <a:spLocks/>
          </p:cNvSpPr>
          <p:nvPr/>
        </p:nvSpPr>
        <p:spPr>
          <a:xfrm>
            <a:off x="299401" y="9520856"/>
            <a:ext cx="2060991" cy="175259"/>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lang="en-US" altLang="ko-KR" dirty="0">
                <a:solidFill>
                  <a:prstClr val="black"/>
                </a:solidFill>
                <a:latin typeface="Arial" panose="020B0604020202020204" pitchFamily="34" charset="0"/>
                <a:cs typeface="Arial" panose="020B0604020202020204" pitchFamily="34" charset="0"/>
              </a:rPr>
              <a:t>Dated 30-Nov 23  Rev. 01</a:t>
            </a:r>
            <a:endParaRPr lang="ko-KR" altLang="en-US" dirty="0">
              <a:solidFill>
                <a:prstClr val="black"/>
              </a:solidFill>
              <a:latin typeface="Arial" panose="020B0604020202020204" pitchFamily="34" charset="0"/>
              <a:cs typeface="Arial" panose="020B0604020202020204" pitchFamily="34" charset="0"/>
            </a:endParaRPr>
          </a:p>
        </p:txBody>
      </p:sp>
      <p:sp>
        <p:nvSpPr>
          <p:cNvPr id="24" name="Holder 3">
            <a:extLst>
              <a:ext uri="{FF2B5EF4-FFF2-40B4-BE49-F238E27FC236}">
                <a16:creationId xmlns:a16="http://schemas.microsoft.com/office/drawing/2014/main" id="{58114818-1B04-CAB7-BDC9-720541508FC6}"/>
              </a:ext>
            </a:extLst>
          </p:cNvPr>
          <p:cNvSpPr txBox="1">
            <a:spLocks/>
          </p:cNvSpPr>
          <p:nvPr/>
        </p:nvSpPr>
        <p:spPr>
          <a:xfrm>
            <a:off x="5147476" y="203944"/>
            <a:ext cx="1447800" cy="276999"/>
          </a:xfrm>
          <a:prstGeom prst="rect">
            <a:avLst/>
          </a:prstGeom>
        </p:spPr>
        <p:txBody>
          <a:bodyPr wrap="square" lIns="0" tIns="0" rIns="0" bIns="0">
            <a:spAutoFit/>
          </a:bodyPr>
          <a:lstStyle>
            <a:lvl1pPr marL="0">
              <a:defRPr>
                <a:solidFill>
                  <a:srgbClr val="FF99FF"/>
                </a:solidFill>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defTabSz="914400" latinLnBrk="0"/>
            <a:r>
              <a:rPr lang="en-US" sz="1800" kern="0" dirty="0"/>
              <a:t>&lt;Preliminary&gt;</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p:nvPr/>
        </p:nvSpPr>
        <p:spPr>
          <a:xfrm>
            <a:off x="400913" y="301879"/>
            <a:ext cx="622935" cy="299720"/>
          </a:xfrm>
          <a:prstGeom prst="rect">
            <a:avLst/>
          </a:prstGeom>
        </p:spPr>
        <p:txBody>
          <a:bodyPr vert="horz" wrap="square" lIns="0" tIns="12700" rIns="0" bIns="0" rtlCol="0">
            <a:spAutoFit/>
          </a:bodyPr>
          <a:lstStyle/>
          <a:p>
            <a:pPr marL="12700">
              <a:lnSpc>
                <a:spcPct val="100000"/>
              </a:lnSpc>
              <a:spcBef>
                <a:spcPts val="100"/>
              </a:spcBef>
            </a:pPr>
            <a:r>
              <a:rPr sz="1800" b="1" spc="-5" dirty="0">
                <a:latin typeface="Arial"/>
                <a:cs typeface="Arial"/>
              </a:rPr>
              <a:t>CQ24</a:t>
            </a:r>
            <a:endParaRPr sz="1800" dirty="0">
              <a:latin typeface="Arial"/>
              <a:cs typeface="Arial"/>
            </a:endParaRPr>
          </a:p>
        </p:txBody>
      </p:sp>
      <p:sp>
        <p:nvSpPr>
          <p:cNvPr id="6" name="object 6"/>
          <p:cNvSpPr txBox="1"/>
          <p:nvPr/>
        </p:nvSpPr>
        <p:spPr>
          <a:xfrm>
            <a:off x="400909" y="927354"/>
            <a:ext cx="6038545" cy="182101"/>
          </a:xfrm>
          <a:prstGeom prst="rect">
            <a:avLst/>
          </a:prstGeom>
        </p:spPr>
        <p:txBody>
          <a:bodyPr vert="horz" wrap="square" lIns="0" tIns="12700" rIns="0" bIns="0" rtlCol="0">
            <a:spAutoFit/>
          </a:bodyPr>
          <a:lstStyle/>
          <a:p>
            <a:pPr marL="12700">
              <a:lnSpc>
                <a:spcPct val="100000"/>
              </a:lnSpc>
              <a:spcBef>
                <a:spcPts val="100"/>
              </a:spcBef>
            </a:pPr>
            <a:r>
              <a:rPr sz="1100" b="1" spc="-10" dirty="0">
                <a:latin typeface="Arial"/>
                <a:cs typeface="Arial"/>
              </a:rPr>
              <a:t>CHANNEL</a:t>
            </a:r>
            <a:r>
              <a:rPr sz="1100" b="1" spc="35" dirty="0">
                <a:latin typeface="Arial"/>
                <a:cs typeface="Arial"/>
              </a:rPr>
              <a:t> </a:t>
            </a:r>
            <a:r>
              <a:rPr sz="1100" b="1" dirty="0">
                <a:latin typeface="Arial"/>
                <a:cs typeface="Arial"/>
              </a:rPr>
              <a:t>SIZE</a:t>
            </a:r>
            <a:r>
              <a:rPr sz="1100" b="1" spc="-25" dirty="0">
                <a:latin typeface="Arial"/>
                <a:cs typeface="Arial"/>
              </a:rPr>
              <a:t> </a:t>
            </a:r>
            <a:r>
              <a:rPr sz="1100" b="1" dirty="0">
                <a:latin typeface="Arial"/>
                <a:cs typeface="Arial"/>
              </a:rPr>
              <a:t>and</a:t>
            </a:r>
            <a:r>
              <a:rPr sz="1100" b="1" spc="-10" dirty="0">
                <a:latin typeface="Arial"/>
                <a:cs typeface="Arial"/>
              </a:rPr>
              <a:t> </a:t>
            </a:r>
            <a:r>
              <a:rPr sz="1100" b="1" spc="-5" dirty="0">
                <a:latin typeface="Arial"/>
                <a:cs typeface="Arial"/>
              </a:rPr>
              <a:t>SVSYNC</a:t>
            </a:r>
            <a:r>
              <a:rPr sz="1100" b="1" spc="10" dirty="0">
                <a:latin typeface="Arial"/>
                <a:cs typeface="Arial"/>
              </a:rPr>
              <a:t> </a:t>
            </a:r>
            <a:r>
              <a:rPr sz="1100" b="1" spc="-10" dirty="0">
                <a:latin typeface="Arial"/>
                <a:cs typeface="Arial"/>
              </a:rPr>
              <a:t>DELAY</a:t>
            </a:r>
            <a:endParaRPr sz="1100" dirty="0">
              <a:latin typeface="Arial"/>
              <a:cs typeface="Arial"/>
            </a:endParaRPr>
          </a:p>
        </p:txBody>
      </p:sp>
      <p:sp>
        <p:nvSpPr>
          <p:cNvPr id="8" name="object 8"/>
          <p:cNvSpPr txBox="1"/>
          <p:nvPr/>
        </p:nvSpPr>
        <p:spPr>
          <a:xfrm>
            <a:off x="400911" y="3135631"/>
            <a:ext cx="6038540" cy="181720"/>
          </a:xfrm>
          <a:prstGeom prst="rect">
            <a:avLst/>
          </a:prstGeom>
        </p:spPr>
        <p:txBody>
          <a:bodyPr vert="horz" wrap="square" lIns="0" tIns="12700" rIns="0" bIns="0" rtlCol="0">
            <a:spAutoFit/>
          </a:bodyPr>
          <a:lstStyle/>
          <a:p>
            <a:pPr marL="12700">
              <a:lnSpc>
                <a:spcPct val="100000"/>
              </a:lnSpc>
              <a:spcBef>
                <a:spcPts val="100"/>
              </a:spcBef>
            </a:pPr>
            <a:r>
              <a:rPr sz="1100" b="1" spc="-5" dirty="0">
                <a:latin typeface="Arial"/>
                <a:cs typeface="Arial"/>
              </a:rPr>
              <a:t>SVSYNC</a:t>
            </a:r>
            <a:r>
              <a:rPr sz="1100" b="1" spc="-25" dirty="0">
                <a:latin typeface="Arial"/>
                <a:cs typeface="Arial"/>
              </a:rPr>
              <a:t> </a:t>
            </a:r>
            <a:r>
              <a:rPr sz="1100" b="1" spc="-5" dirty="0">
                <a:latin typeface="Arial"/>
                <a:cs typeface="Arial"/>
              </a:rPr>
              <a:t>OFFSET</a:t>
            </a:r>
            <a:endParaRPr sz="1100" dirty="0">
              <a:latin typeface="Arial"/>
              <a:cs typeface="Arial"/>
            </a:endParaRPr>
          </a:p>
        </p:txBody>
      </p:sp>
      <p:graphicFrame>
        <p:nvGraphicFramePr>
          <p:cNvPr id="9" name="object 9"/>
          <p:cNvGraphicFramePr>
            <a:graphicFrameLocks noGrp="1"/>
          </p:cNvGraphicFramePr>
          <p:nvPr>
            <p:extLst>
              <p:ext uri="{D42A27DB-BD31-4B8C-83A1-F6EECF244321}">
                <p14:modId xmlns:p14="http://schemas.microsoft.com/office/powerpoint/2010/main" val="3398774951"/>
              </p:ext>
            </p:extLst>
          </p:nvPr>
        </p:nvGraphicFramePr>
        <p:xfrm>
          <a:off x="400911" y="3413061"/>
          <a:ext cx="6038536" cy="387350"/>
        </p:xfrm>
        <a:graphic>
          <a:graphicData uri="http://schemas.openxmlformats.org/drawingml/2006/table">
            <a:tbl>
              <a:tblPr firstRow="1" bandRow="1">
                <a:tableStyleId>{2D5ABB26-0587-4C30-8999-92F81FD0307C}</a:tableStyleId>
              </a:tblPr>
              <a:tblGrid>
                <a:gridCol w="412143">
                  <a:extLst>
                    <a:ext uri="{9D8B030D-6E8A-4147-A177-3AD203B41FA5}">
                      <a16:colId xmlns:a16="http://schemas.microsoft.com/office/drawing/2014/main" val="20000"/>
                    </a:ext>
                  </a:extLst>
                </a:gridCol>
                <a:gridCol w="474307">
                  <a:extLst>
                    <a:ext uri="{9D8B030D-6E8A-4147-A177-3AD203B41FA5}">
                      <a16:colId xmlns:a16="http://schemas.microsoft.com/office/drawing/2014/main" val="20001"/>
                    </a:ext>
                  </a:extLst>
                </a:gridCol>
                <a:gridCol w="322005">
                  <a:extLst>
                    <a:ext uri="{9D8B030D-6E8A-4147-A177-3AD203B41FA5}">
                      <a16:colId xmlns:a16="http://schemas.microsoft.com/office/drawing/2014/main" val="20002"/>
                    </a:ext>
                  </a:extLst>
                </a:gridCol>
                <a:gridCol w="322006">
                  <a:extLst>
                    <a:ext uri="{9D8B030D-6E8A-4147-A177-3AD203B41FA5}">
                      <a16:colId xmlns:a16="http://schemas.microsoft.com/office/drawing/2014/main" val="20003"/>
                    </a:ext>
                  </a:extLst>
                </a:gridCol>
                <a:gridCol w="322006">
                  <a:extLst>
                    <a:ext uri="{9D8B030D-6E8A-4147-A177-3AD203B41FA5}">
                      <a16:colId xmlns:a16="http://schemas.microsoft.com/office/drawing/2014/main" val="20004"/>
                    </a:ext>
                  </a:extLst>
                </a:gridCol>
                <a:gridCol w="322006">
                  <a:extLst>
                    <a:ext uri="{9D8B030D-6E8A-4147-A177-3AD203B41FA5}">
                      <a16:colId xmlns:a16="http://schemas.microsoft.com/office/drawing/2014/main" val="20005"/>
                    </a:ext>
                  </a:extLst>
                </a:gridCol>
                <a:gridCol w="322006">
                  <a:extLst>
                    <a:ext uri="{9D8B030D-6E8A-4147-A177-3AD203B41FA5}">
                      <a16:colId xmlns:a16="http://schemas.microsoft.com/office/drawing/2014/main" val="20006"/>
                    </a:ext>
                  </a:extLst>
                </a:gridCol>
                <a:gridCol w="322006">
                  <a:extLst>
                    <a:ext uri="{9D8B030D-6E8A-4147-A177-3AD203B41FA5}">
                      <a16:colId xmlns:a16="http://schemas.microsoft.com/office/drawing/2014/main" val="20007"/>
                    </a:ext>
                  </a:extLst>
                </a:gridCol>
                <a:gridCol w="322006">
                  <a:extLst>
                    <a:ext uri="{9D8B030D-6E8A-4147-A177-3AD203B41FA5}">
                      <a16:colId xmlns:a16="http://schemas.microsoft.com/office/drawing/2014/main" val="20008"/>
                    </a:ext>
                  </a:extLst>
                </a:gridCol>
                <a:gridCol w="322005">
                  <a:extLst>
                    <a:ext uri="{9D8B030D-6E8A-4147-A177-3AD203B41FA5}">
                      <a16:colId xmlns:a16="http://schemas.microsoft.com/office/drawing/2014/main" val="20009"/>
                    </a:ext>
                  </a:extLst>
                </a:gridCol>
                <a:gridCol w="322005">
                  <a:extLst>
                    <a:ext uri="{9D8B030D-6E8A-4147-A177-3AD203B41FA5}">
                      <a16:colId xmlns:a16="http://schemas.microsoft.com/office/drawing/2014/main" val="20010"/>
                    </a:ext>
                  </a:extLst>
                </a:gridCol>
                <a:gridCol w="322005">
                  <a:extLst>
                    <a:ext uri="{9D8B030D-6E8A-4147-A177-3AD203B41FA5}">
                      <a16:colId xmlns:a16="http://schemas.microsoft.com/office/drawing/2014/main" val="20011"/>
                    </a:ext>
                  </a:extLst>
                </a:gridCol>
                <a:gridCol w="322005">
                  <a:extLst>
                    <a:ext uri="{9D8B030D-6E8A-4147-A177-3AD203B41FA5}">
                      <a16:colId xmlns:a16="http://schemas.microsoft.com/office/drawing/2014/main" val="20012"/>
                    </a:ext>
                  </a:extLst>
                </a:gridCol>
                <a:gridCol w="322005">
                  <a:extLst>
                    <a:ext uri="{9D8B030D-6E8A-4147-A177-3AD203B41FA5}">
                      <a16:colId xmlns:a16="http://schemas.microsoft.com/office/drawing/2014/main" val="20013"/>
                    </a:ext>
                  </a:extLst>
                </a:gridCol>
                <a:gridCol w="322005">
                  <a:extLst>
                    <a:ext uri="{9D8B030D-6E8A-4147-A177-3AD203B41FA5}">
                      <a16:colId xmlns:a16="http://schemas.microsoft.com/office/drawing/2014/main" val="20014"/>
                    </a:ext>
                  </a:extLst>
                </a:gridCol>
                <a:gridCol w="322005">
                  <a:extLst>
                    <a:ext uri="{9D8B030D-6E8A-4147-A177-3AD203B41FA5}">
                      <a16:colId xmlns:a16="http://schemas.microsoft.com/office/drawing/2014/main" val="20015"/>
                    </a:ext>
                  </a:extLst>
                </a:gridCol>
                <a:gridCol w="322005">
                  <a:extLst>
                    <a:ext uri="{9D8B030D-6E8A-4147-A177-3AD203B41FA5}">
                      <a16:colId xmlns:a16="http://schemas.microsoft.com/office/drawing/2014/main" val="20016"/>
                    </a:ext>
                  </a:extLst>
                </a:gridCol>
                <a:gridCol w="322005">
                  <a:extLst>
                    <a:ext uri="{9D8B030D-6E8A-4147-A177-3AD203B41FA5}">
                      <a16:colId xmlns:a16="http://schemas.microsoft.com/office/drawing/2014/main" val="20017"/>
                    </a:ext>
                  </a:extLst>
                </a:gridCol>
              </a:tblGrid>
              <a:tr h="193675">
                <a:tc>
                  <a:txBody>
                    <a:bodyPr/>
                    <a:lstStyle/>
                    <a:p>
                      <a:pPr algn="ctr">
                        <a:lnSpc>
                          <a:spcPct val="100000"/>
                        </a:lnSpc>
                        <a:spcBef>
                          <a:spcPts val="265"/>
                        </a:spcBef>
                      </a:pPr>
                      <a:r>
                        <a:rPr sz="800" dirty="0">
                          <a:latin typeface="Arial"/>
                          <a:cs typeface="Arial"/>
                        </a:rPr>
                        <a:t>A[6:0]</a:t>
                      </a: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algn="ctr">
                        <a:lnSpc>
                          <a:spcPct val="100000"/>
                        </a:lnSpc>
                        <a:spcBef>
                          <a:spcPts val="265"/>
                        </a:spcBef>
                      </a:pPr>
                      <a:r>
                        <a:rPr sz="800" spc="-5" dirty="0">
                          <a:latin typeface="Arial"/>
                          <a:cs typeface="Arial"/>
                        </a:rPr>
                        <a:t>Default</a:t>
                      </a:r>
                      <a:endParaRPr sz="8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1270" algn="ctr">
                        <a:lnSpc>
                          <a:spcPct val="100000"/>
                        </a:lnSpc>
                        <a:spcBef>
                          <a:spcPts val="265"/>
                        </a:spcBef>
                      </a:pPr>
                      <a:r>
                        <a:rPr sz="800" spc="-5" dirty="0">
                          <a:latin typeface="Arial"/>
                          <a:cs typeface="Arial"/>
                        </a:rPr>
                        <a:t>D15</a:t>
                      </a:r>
                      <a:endParaRPr sz="8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71755">
                        <a:lnSpc>
                          <a:spcPct val="100000"/>
                        </a:lnSpc>
                        <a:spcBef>
                          <a:spcPts val="265"/>
                        </a:spcBef>
                      </a:pPr>
                      <a:r>
                        <a:rPr sz="800" spc="-5" dirty="0">
                          <a:latin typeface="Arial"/>
                          <a:cs typeface="Arial"/>
                        </a:rPr>
                        <a:t>D14</a:t>
                      </a:r>
                      <a:endParaRPr sz="8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71755">
                        <a:lnSpc>
                          <a:spcPct val="100000"/>
                        </a:lnSpc>
                        <a:spcBef>
                          <a:spcPts val="265"/>
                        </a:spcBef>
                      </a:pPr>
                      <a:r>
                        <a:rPr sz="800" spc="-5" dirty="0">
                          <a:latin typeface="Arial"/>
                          <a:cs typeface="Arial"/>
                        </a:rPr>
                        <a:t>D13</a:t>
                      </a:r>
                      <a:endParaRPr sz="8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71755">
                        <a:lnSpc>
                          <a:spcPct val="100000"/>
                        </a:lnSpc>
                        <a:spcBef>
                          <a:spcPts val="265"/>
                        </a:spcBef>
                      </a:pPr>
                      <a:r>
                        <a:rPr sz="800" spc="-5" dirty="0">
                          <a:latin typeface="Arial"/>
                          <a:cs typeface="Arial"/>
                        </a:rPr>
                        <a:t>D12</a:t>
                      </a:r>
                      <a:endParaRPr sz="8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71755">
                        <a:lnSpc>
                          <a:spcPct val="100000"/>
                        </a:lnSpc>
                        <a:spcBef>
                          <a:spcPts val="265"/>
                        </a:spcBef>
                      </a:pPr>
                      <a:r>
                        <a:rPr sz="800" spc="-5" dirty="0">
                          <a:latin typeface="Arial"/>
                          <a:cs typeface="Arial"/>
                        </a:rPr>
                        <a:t>D11</a:t>
                      </a:r>
                      <a:endParaRPr sz="8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71755">
                        <a:lnSpc>
                          <a:spcPct val="100000"/>
                        </a:lnSpc>
                        <a:spcBef>
                          <a:spcPts val="265"/>
                        </a:spcBef>
                      </a:pPr>
                      <a:r>
                        <a:rPr sz="800" spc="-5" dirty="0">
                          <a:latin typeface="Arial"/>
                          <a:cs typeface="Arial"/>
                        </a:rPr>
                        <a:t>D10</a:t>
                      </a:r>
                      <a:endParaRPr sz="8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99060">
                        <a:lnSpc>
                          <a:spcPct val="100000"/>
                        </a:lnSpc>
                        <a:spcBef>
                          <a:spcPts val="265"/>
                        </a:spcBef>
                      </a:pPr>
                      <a:r>
                        <a:rPr sz="800" spc="-5" dirty="0">
                          <a:latin typeface="Arial"/>
                          <a:cs typeface="Arial"/>
                        </a:rPr>
                        <a:t>D9</a:t>
                      </a:r>
                      <a:endParaRPr sz="8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99695">
                        <a:lnSpc>
                          <a:spcPct val="100000"/>
                        </a:lnSpc>
                        <a:spcBef>
                          <a:spcPts val="265"/>
                        </a:spcBef>
                      </a:pPr>
                      <a:r>
                        <a:rPr sz="800" spc="-5" dirty="0">
                          <a:latin typeface="Arial"/>
                          <a:cs typeface="Arial"/>
                        </a:rPr>
                        <a:t>D8</a:t>
                      </a:r>
                      <a:endParaRPr sz="8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99695">
                        <a:lnSpc>
                          <a:spcPct val="100000"/>
                        </a:lnSpc>
                        <a:spcBef>
                          <a:spcPts val="265"/>
                        </a:spcBef>
                      </a:pPr>
                      <a:r>
                        <a:rPr sz="800" spc="-5" dirty="0">
                          <a:latin typeface="Arial"/>
                          <a:cs typeface="Arial"/>
                        </a:rPr>
                        <a:t>D7</a:t>
                      </a:r>
                      <a:endParaRPr sz="8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99695">
                        <a:lnSpc>
                          <a:spcPct val="100000"/>
                        </a:lnSpc>
                        <a:spcBef>
                          <a:spcPts val="265"/>
                        </a:spcBef>
                      </a:pPr>
                      <a:r>
                        <a:rPr sz="800" spc="-5" dirty="0">
                          <a:latin typeface="Arial"/>
                          <a:cs typeface="Arial"/>
                        </a:rPr>
                        <a:t>D6</a:t>
                      </a:r>
                      <a:endParaRPr sz="8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99695">
                        <a:lnSpc>
                          <a:spcPct val="100000"/>
                        </a:lnSpc>
                        <a:spcBef>
                          <a:spcPts val="265"/>
                        </a:spcBef>
                      </a:pPr>
                      <a:r>
                        <a:rPr sz="800" spc="-5" dirty="0">
                          <a:latin typeface="Arial"/>
                          <a:cs typeface="Arial"/>
                        </a:rPr>
                        <a:t>D5</a:t>
                      </a:r>
                      <a:endParaRPr sz="8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99695">
                        <a:lnSpc>
                          <a:spcPct val="100000"/>
                        </a:lnSpc>
                        <a:spcBef>
                          <a:spcPts val="265"/>
                        </a:spcBef>
                      </a:pPr>
                      <a:r>
                        <a:rPr sz="800" spc="-5" dirty="0">
                          <a:latin typeface="Arial"/>
                          <a:cs typeface="Arial"/>
                        </a:rPr>
                        <a:t>D4</a:t>
                      </a:r>
                      <a:endParaRPr sz="8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99695">
                        <a:lnSpc>
                          <a:spcPct val="100000"/>
                        </a:lnSpc>
                        <a:spcBef>
                          <a:spcPts val="265"/>
                        </a:spcBef>
                      </a:pPr>
                      <a:r>
                        <a:rPr sz="800" spc="-5" dirty="0">
                          <a:latin typeface="Arial"/>
                          <a:cs typeface="Arial"/>
                        </a:rPr>
                        <a:t>D3</a:t>
                      </a:r>
                      <a:endParaRPr sz="8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99695">
                        <a:lnSpc>
                          <a:spcPct val="100000"/>
                        </a:lnSpc>
                        <a:spcBef>
                          <a:spcPts val="265"/>
                        </a:spcBef>
                      </a:pPr>
                      <a:r>
                        <a:rPr sz="800" spc="-5" dirty="0">
                          <a:latin typeface="Arial"/>
                          <a:cs typeface="Arial"/>
                        </a:rPr>
                        <a:t>D2</a:t>
                      </a:r>
                      <a:endParaRPr sz="8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100330">
                        <a:lnSpc>
                          <a:spcPct val="100000"/>
                        </a:lnSpc>
                        <a:spcBef>
                          <a:spcPts val="265"/>
                        </a:spcBef>
                      </a:pPr>
                      <a:r>
                        <a:rPr sz="800" spc="-5" dirty="0">
                          <a:latin typeface="Arial"/>
                          <a:cs typeface="Arial"/>
                        </a:rPr>
                        <a:t>D1</a:t>
                      </a:r>
                      <a:endParaRPr sz="8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100330">
                        <a:lnSpc>
                          <a:spcPct val="100000"/>
                        </a:lnSpc>
                        <a:spcBef>
                          <a:spcPts val="265"/>
                        </a:spcBef>
                      </a:pPr>
                      <a:r>
                        <a:rPr sz="800" spc="-5" dirty="0">
                          <a:latin typeface="Arial"/>
                          <a:cs typeface="Arial"/>
                        </a:rPr>
                        <a:t>D0</a:t>
                      </a:r>
                      <a:endParaRPr sz="8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extLst>
                  <a:ext uri="{0D108BD9-81ED-4DB2-BD59-A6C34878D82A}">
                    <a16:rowId xmlns:a16="http://schemas.microsoft.com/office/drawing/2014/main" val="10000"/>
                  </a:ext>
                </a:extLst>
              </a:tr>
              <a:tr h="193675">
                <a:tc>
                  <a:txBody>
                    <a:bodyPr/>
                    <a:lstStyle/>
                    <a:p>
                      <a:pPr algn="ctr">
                        <a:lnSpc>
                          <a:spcPct val="100000"/>
                        </a:lnSpc>
                        <a:spcBef>
                          <a:spcPts val="265"/>
                        </a:spcBef>
                      </a:pPr>
                      <a:r>
                        <a:rPr sz="800" spc="-5" dirty="0">
                          <a:latin typeface="Arial"/>
                          <a:cs typeface="Arial"/>
                        </a:rPr>
                        <a:t>‘h03</a:t>
                      </a:r>
                      <a:endParaRPr sz="8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algn="ctr">
                        <a:lnSpc>
                          <a:spcPct val="100000"/>
                        </a:lnSpc>
                        <a:spcBef>
                          <a:spcPts val="265"/>
                        </a:spcBef>
                      </a:pPr>
                      <a:r>
                        <a:rPr sz="800" dirty="0">
                          <a:latin typeface="Arial"/>
                          <a:cs typeface="Arial"/>
                        </a:rPr>
                        <a:t>0</a:t>
                      </a: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2540" algn="ctr">
                        <a:lnSpc>
                          <a:spcPct val="100000"/>
                        </a:lnSpc>
                        <a:spcBef>
                          <a:spcPts val="305"/>
                        </a:spcBef>
                      </a:pPr>
                      <a:r>
                        <a:rPr sz="700" dirty="0">
                          <a:latin typeface="Arial"/>
                          <a:cs typeface="Arial"/>
                        </a:rPr>
                        <a:t>x</a:t>
                      </a:r>
                    </a:p>
                  </a:txBody>
                  <a:tcPr marL="0" marR="0" marT="3873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gridSpan="15">
                  <a:txBody>
                    <a:bodyPr/>
                    <a:lstStyle/>
                    <a:p>
                      <a:pPr algn="ctr">
                        <a:lnSpc>
                          <a:spcPct val="100000"/>
                        </a:lnSpc>
                        <a:spcBef>
                          <a:spcPts val="330"/>
                        </a:spcBef>
                      </a:pPr>
                      <a:r>
                        <a:rPr sz="700" spc="-10" dirty="0">
                          <a:latin typeface="Arial"/>
                          <a:cs typeface="Arial"/>
                        </a:rPr>
                        <a:t>SVSYNC_OFFSET</a:t>
                      </a:r>
                      <a:r>
                        <a:rPr sz="700" spc="-15" dirty="0">
                          <a:latin typeface="Arial"/>
                          <a:cs typeface="Arial"/>
                        </a:rPr>
                        <a:t> </a:t>
                      </a:r>
                      <a:r>
                        <a:rPr sz="700" spc="-5" dirty="0">
                          <a:latin typeface="Arial"/>
                          <a:cs typeface="Arial"/>
                        </a:rPr>
                        <a:t>[14:0]</a:t>
                      </a:r>
                      <a:endParaRPr sz="700" dirty="0">
                        <a:latin typeface="Arial"/>
                        <a:cs typeface="Arial"/>
                      </a:endParaRPr>
                    </a:p>
                  </a:txBody>
                  <a:tcPr marL="0" marR="0" marT="4191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1"/>
                  </a:ext>
                </a:extLst>
              </a:tr>
            </a:tbl>
          </a:graphicData>
        </a:graphic>
      </p:graphicFrame>
      <p:graphicFrame>
        <p:nvGraphicFramePr>
          <p:cNvPr id="10" name="object 10"/>
          <p:cNvGraphicFramePr>
            <a:graphicFrameLocks noGrp="1"/>
          </p:cNvGraphicFramePr>
          <p:nvPr>
            <p:extLst>
              <p:ext uri="{D42A27DB-BD31-4B8C-83A1-F6EECF244321}">
                <p14:modId xmlns:p14="http://schemas.microsoft.com/office/powerpoint/2010/main" val="2245256170"/>
              </p:ext>
            </p:extLst>
          </p:nvPr>
        </p:nvGraphicFramePr>
        <p:xfrm>
          <a:off x="400910" y="1202880"/>
          <a:ext cx="6038536" cy="387350"/>
        </p:xfrm>
        <a:graphic>
          <a:graphicData uri="http://schemas.openxmlformats.org/drawingml/2006/table">
            <a:tbl>
              <a:tblPr firstRow="1" bandRow="1">
                <a:tableStyleId>{2D5ABB26-0587-4C30-8999-92F81FD0307C}</a:tableStyleId>
              </a:tblPr>
              <a:tblGrid>
                <a:gridCol w="412143">
                  <a:extLst>
                    <a:ext uri="{9D8B030D-6E8A-4147-A177-3AD203B41FA5}">
                      <a16:colId xmlns:a16="http://schemas.microsoft.com/office/drawing/2014/main" val="20000"/>
                    </a:ext>
                  </a:extLst>
                </a:gridCol>
                <a:gridCol w="474307">
                  <a:extLst>
                    <a:ext uri="{9D8B030D-6E8A-4147-A177-3AD203B41FA5}">
                      <a16:colId xmlns:a16="http://schemas.microsoft.com/office/drawing/2014/main" val="20001"/>
                    </a:ext>
                  </a:extLst>
                </a:gridCol>
                <a:gridCol w="322005">
                  <a:extLst>
                    <a:ext uri="{9D8B030D-6E8A-4147-A177-3AD203B41FA5}">
                      <a16:colId xmlns:a16="http://schemas.microsoft.com/office/drawing/2014/main" val="20002"/>
                    </a:ext>
                  </a:extLst>
                </a:gridCol>
                <a:gridCol w="322006">
                  <a:extLst>
                    <a:ext uri="{9D8B030D-6E8A-4147-A177-3AD203B41FA5}">
                      <a16:colId xmlns:a16="http://schemas.microsoft.com/office/drawing/2014/main" val="20003"/>
                    </a:ext>
                  </a:extLst>
                </a:gridCol>
                <a:gridCol w="322006">
                  <a:extLst>
                    <a:ext uri="{9D8B030D-6E8A-4147-A177-3AD203B41FA5}">
                      <a16:colId xmlns:a16="http://schemas.microsoft.com/office/drawing/2014/main" val="20004"/>
                    </a:ext>
                  </a:extLst>
                </a:gridCol>
                <a:gridCol w="322006">
                  <a:extLst>
                    <a:ext uri="{9D8B030D-6E8A-4147-A177-3AD203B41FA5}">
                      <a16:colId xmlns:a16="http://schemas.microsoft.com/office/drawing/2014/main" val="20005"/>
                    </a:ext>
                  </a:extLst>
                </a:gridCol>
                <a:gridCol w="322006">
                  <a:extLst>
                    <a:ext uri="{9D8B030D-6E8A-4147-A177-3AD203B41FA5}">
                      <a16:colId xmlns:a16="http://schemas.microsoft.com/office/drawing/2014/main" val="20006"/>
                    </a:ext>
                  </a:extLst>
                </a:gridCol>
                <a:gridCol w="322006">
                  <a:extLst>
                    <a:ext uri="{9D8B030D-6E8A-4147-A177-3AD203B41FA5}">
                      <a16:colId xmlns:a16="http://schemas.microsoft.com/office/drawing/2014/main" val="20007"/>
                    </a:ext>
                  </a:extLst>
                </a:gridCol>
                <a:gridCol w="322006">
                  <a:extLst>
                    <a:ext uri="{9D8B030D-6E8A-4147-A177-3AD203B41FA5}">
                      <a16:colId xmlns:a16="http://schemas.microsoft.com/office/drawing/2014/main" val="20008"/>
                    </a:ext>
                  </a:extLst>
                </a:gridCol>
                <a:gridCol w="322005">
                  <a:extLst>
                    <a:ext uri="{9D8B030D-6E8A-4147-A177-3AD203B41FA5}">
                      <a16:colId xmlns:a16="http://schemas.microsoft.com/office/drawing/2014/main" val="20009"/>
                    </a:ext>
                  </a:extLst>
                </a:gridCol>
                <a:gridCol w="322005">
                  <a:extLst>
                    <a:ext uri="{9D8B030D-6E8A-4147-A177-3AD203B41FA5}">
                      <a16:colId xmlns:a16="http://schemas.microsoft.com/office/drawing/2014/main" val="20010"/>
                    </a:ext>
                  </a:extLst>
                </a:gridCol>
                <a:gridCol w="322005">
                  <a:extLst>
                    <a:ext uri="{9D8B030D-6E8A-4147-A177-3AD203B41FA5}">
                      <a16:colId xmlns:a16="http://schemas.microsoft.com/office/drawing/2014/main" val="20011"/>
                    </a:ext>
                  </a:extLst>
                </a:gridCol>
                <a:gridCol w="322005">
                  <a:extLst>
                    <a:ext uri="{9D8B030D-6E8A-4147-A177-3AD203B41FA5}">
                      <a16:colId xmlns:a16="http://schemas.microsoft.com/office/drawing/2014/main" val="20012"/>
                    </a:ext>
                  </a:extLst>
                </a:gridCol>
                <a:gridCol w="322005">
                  <a:extLst>
                    <a:ext uri="{9D8B030D-6E8A-4147-A177-3AD203B41FA5}">
                      <a16:colId xmlns:a16="http://schemas.microsoft.com/office/drawing/2014/main" val="20013"/>
                    </a:ext>
                  </a:extLst>
                </a:gridCol>
                <a:gridCol w="322005">
                  <a:extLst>
                    <a:ext uri="{9D8B030D-6E8A-4147-A177-3AD203B41FA5}">
                      <a16:colId xmlns:a16="http://schemas.microsoft.com/office/drawing/2014/main" val="20014"/>
                    </a:ext>
                  </a:extLst>
                </a:gridCol>
                <a:gridCol w="322005">
                  <a:extLst>
                    <a:ext uri="{9D8B030D-6E8A-4147-A177-3AD203B41FA5}">
                      <a16:colId xmlns:a16="http://schemas.microsoft.com/office/drawing/2014/main" val="20015"/>
                    </a:ext>
                  </a:extLst>
                </a:gridCol>
                <a:gridCol w="322005">
                  <a:extLst>
                    <a:ext uri="{9D8B030D-6E8A-4147-A177-3AD203B41FA5}">
                      <a16:colId xmlns:a16="http://schemas.microsoft.com/office/drawing/2014/main" val="20016"/>
                    </a:ext>
                  </a:extLst>
                </a:gridCol>
                <a:gridCol w="322005">
                  <a:extLst>
                    <a:ext uri="{9D8B030D-6E8A-4147-A177-3AD203B41FA5}">
                      <a16:colId xmlns:a16="http://schemas.microsoft.com/office/drawing/2014/main" val="20017"/>
                    </a:ext>
                  </a:extLst>
                </a:gridCol>
              </a:tblGrid>
              <a:tr h="193675">
                <a:tc>
                  <a:txBody>
                    <a:bodyPr/>
                    <a:lstStyle/>
                    <a:p>
                      <a:pPr algn="ctr">
                        <a:lnSpc>
                          <a:spcPct val="100000"/>
                        </a:lnSpc>
                        <a:spcBef>
                          <a:spcPts val="260"/>
                        </a:spcBef>
                      </a:pPr>
                      <a:r>
                        <a:rPr sz="800" dirty="0">
                          <a:latin typeface="Arial"/>
                          <a:cs typeface="Arial"/>
                        </a:rPr>
                        <a:t>A[6:0]</a:t>
                      </a:r>
                    </a:p>
                  </a:txBody>
                  <a:tcPr marL="0" marR="0" marT="3302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algn="ctr">
                        <a:lnSpc>
                          <a:spcPct val="100000"/>
                        </a:lnSpc>
                        <a:spcBef>
                          <a:spcPts val="260"/>
                        </a:spcBef>
                      </a:pPr>
                      <a:r>
                        <a:rPr sz="800" spc="-5" dirty="0">
                          <a:latin typeface="Arial"/>
                          <a:cs typeface="Arial"/>
                        </a:rPr>
                        <a:t>Default</a:t>
                      </a:r>
                      <a:endParaRPr sz="800" dirty="0">
                        <a:latin typeface="Arial"/>
                        <a:cs typeface="Arial"/>
                      </a:endParaRPr>
                    </a:p>
                  </a:txBody>
                  <a:tcPr marL="0" marR="0" marT="3302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1270" algn="ctr">
                        <a:lnSpc>
                          <a:spcPct val="100000"/>
                        </a:lnSpc>
                        <a:spcBef>
                          <a:spcPts val="260"/>
                        </a:spcBef>
                      </a:pPr>
                      <a:r>
                        <a:rPr sz="800" spc="-5" dirty="0">
                          <a:latin typeface="Arial"/>
                          <a:cs typeface="Arial"/>
                        </a:rPr>
                        <a:t>D15</a:t>
                      </a:r>
                      <a:endParaRPr sz="800" dirty="0">
                        <a:latin typeface="Arial"/>
                        <a:cs typeface="Arial"/>
                      </a:endParaRPr>
                    </a:p>
                  </a:txBody>
                  <a:tcPr marL="0" marR="0" marT="3302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1905" algn="ctr">
                        <a:lnSpc>
                          <a:spcPct val="100000"/>
                        </a:lnSpc>
                        <a:spcBef>
                          <a:spcPts val="260"/>
                        </a:spcBef>
                      </a:pPr>
                      <a:r>
                        <a:rPr sz="800" spc="-5" dirty="0">
                          <a:latin typeface="Arial"/>
                          <a:cs typeface="Arial"/>
                        </a:rPr>
                        <a:t>D14</a:t>
                      </a:r>
                      <a:endParaRPr sz="800" dirty="0">
                        <a:latin typeface="Arial"/>
                        <a:cs typeface="Arial"/>
                      </a:endParaRPr>
                    </a:p>
                  </a:txBody>
                  <a:tcPr marL="0" marR="0" marT="3302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1905" algn="ctr">
                        <a:lnSpc>
                          <a:spcPct val="100000"/>
                        </a:lnSpc>
                        <a:spcBef>
                          <a:spcPts val="260"/>
                        </a:spcBef>
                      </a:pPr>
                      <a:r>
                        <a:rPr sz="800" spc="-5" dirty="0">
                          <a:latin typeface="Arial"/>
                          <a:cs typeface="Arial"/>
                        </a:rPr>
                        <a:t>D13</a:t>
                      </a:r>
                      <a:endParaRPr sz="800" dirty="0">
                        <a:latin typeface="Arial"/>
                        <a:cs typeface="Arial"/>
                      </a:endParaRPr>
                    </a:p>
                  </a:txBody>
                  <a:tcPr marL="0" marR="0" marT="3302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71755">
                        <a:lnSpc>
                          <a:spcPct val="100000"/>
                        </a:lnSpc>
                        <a:spcBef>
                          <a:spcPts val="260"/>
                        </a:spcBef>
                      </a:pPr>
                      <a:r>
                        <a:rPr sz="800" spc="-5" dirty="0">
                          <a:latin typeface="Arial"/>
                          <a:cs typeface="Arial"/>
                        </a:rPr>
                        <a:t>D12</a:t>
                      </a:r>
                      <a:endParaRPr sz="800" dirty="0">
                        <a:latin typeface="Arial"/>
                        <a:cs typeface="Arial"/>
                      </a:endParaRPr>
                    </a:p>
                  </a:txBody>
                  <a:tcPr marL="0" marR="0" marT="3302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71755">
                        <a:lnSpc>
                          <a:spcPct val="100000"/>
                        </a:lnSpc>
                        <a:spcBef>
                          <a:spcPts val="260"/>
                        </a:spcBef>
                      </a:pPr>
                      <a:r>
                        <a:rPr sz="800" spc="-5" dirty="0">
                          <a:latin typeface="Arial"/>
                          <a:cs typeface="Arial"/>
                        </a:rPr>
                        <a:t>D11</a:t>
                      </a:r>
                      <a:endParaRPr sz="800" dirty="0">
                        <a:latin typeface="Arial"/>
                        <a:cs typeface="Arial"/>
                      </a:endParaRPr>
                    </a:p>
                  </a:txBody>
                  <a:tcPr marL="0" marR="0" marT="3302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71755">
                        <a:lnSpc>
                          <a:spcPct val="100000"/>
                        </a:lnSpc>
                        <a:spcBef>
                          <a:spcPts val="260"/>
                        </a:spcBef>
                      </a:pPr>
                      <a:r>
                        <a:rPr sz="800" spc="-5" dirty="0">
                          <a:latin typeface="Arial"/>
                          <a:cs typeface="Arial"/>
                        </a:rPr>
                        <a:t>D10</a:t>
                      </a:r>
                      <a:endParaRPr sz="800" dirty="0">
                        <a:latin typeface="Arial"/>
                        <a:cs typeface="Arial"/>
                      </a:endParaRPr>
                    </a:p>
                  </a:txBody>
                  <a:tcPr marL="0" marR="0" marT="3302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99060">
                        <a:lnSpc>
                          <a:spcPct val="100000"/>
                        </a:lnSpc>
                        <a:spcBef>
                          <a:spcPts val="260"/>
                        </a:spcBef>
                      </a:pPr>
                      <a:r>
                        <a:rPr sz="800" spc="-10" dirty="0">
                          <a:latin typeface="Arial"/>
                          <a:cs typeface="Arial"/>
                        </a:rPr>
                        <a:t>D9</a:t>
                      </a:r>
                      <a:endParaRPr sz="800" dirty="0">
                        <a:latin typeface="Arial"/>
                        <a:cs typeface="Arial"/>
                      </a:endParaRPr>
                    </a:p>
                  </a:txBody>
                  <a:tcPr marL="0" marR="0" marT="3302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99695">
                        <a:lnSpc>
                          <a:spcPct val="100000"/>
                        </a:lnSpc>
                        <a:spcBef>
                          <a:spcPts val="260"/>
                        </a:spcBef>
                      </a:pPr>
                      <a:r>
                        <a:rPr sz="800" spc="-10" dirty="0">
                          <a:latin typeface="Arial"/>
                          <a:cs typeface="Arial"/>
                        </a:rPr>
                        <a:t>D8</a:t>
                      </a:r>
                      <a:endParaRPr sz="800" dirty="0">
                        <a:latin typeface="Arial"/>
                        <a:cs typeface="Arial"/>
                      </a:endParaRPr>
                    </a:p>
                  </a:txBody>
                  <a:tcPr marL="0" marR="0" marT="3302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635" algn="ctr">
                        <a:lnSpc>
                          <a:spcPct val="100000"/>
                        </a:lnSpc>
                        <a:spcBef>
                          <a:spcPts val="260"/>
                        </a:spcBef>
                      </a:pPr>
                      <a:r>
                        <a:rPr sz="800" spc="-10" dirty="0">
                          <a:latin typeface="Arial"/>
                          <a:cs typeface="Arial"/>
                        </a:rPr>
                        <a:t>D7</a:t>
                      </a:r>
                      <a:endParaRPr sz="800" dirty="0">
                        <a:latin typeface="Arial"/>
                        <a:cs typeface="Arial"/>
                      </a:endParaRPr>
                    </a:p>
                  </a:txBody>
                  <a:tcPr marL="0" marR="0" marT="3302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R="90805" algn="r">
                        <a:lnSpc>
                          <a:spcPct val="100000"/>
                        </a:lnSpc>
                        <a:spcBef>
                          <a:spcPts val="260"/>
                        </a:spcBef>
                      </a:pPr>
                      <a:r>
                        <a:rPr sz="800" spc="-10" dirty="0">
                          <a:latin typeface="Arial"/>
                          <a:cs typeface="Arial"/>
                        </a:rPr>
                        <a:t>D6</a:t>
                      </a:r>
                      <a:endParaRPr sz="800" dirty="0">
                        <a:latin typeface="Arial"/>
                        <a:cs typeface="Arial"/>
                      </a:endParaRPr>
                    </a:p>
                  </a:txBody>
                  <a:tcPr marL="0" marR="0" marT="3302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635" algn="ctr">
                        <a:lnSpc>
                          <a:spcPct val="100000"/>
                        </a:lnSpc>
                        <a:spcBef>
                          <a:spcPts val="260"/>
                        </a:spcBef>
                      </a:pPr>
                      <a:r>
                        <a:rPr sz="800" spc="-10" dirty="0">
                          <a:latin typeface="Arial"/>
                          <a:cs typeface="Arial"/>
                        </a:rPr>
                        <a:t>D5</a:t>
                      </a:r>
                      <a:endParaRPr sz="800" dirty="0">
                        <a:latin typeface="Arial"/>
                        <a:cs typeface="Arial"/>
                      </a:endParaRPr>
                    </a:p>
                  </a:txBody>
                  <a:tcPr marL="0" marR="0" marT="3302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99695">
                        <a:lnSpc>
                          <a:spcPct val="100000"/>
                        </a:lnSpc>
                        <a:spcBef>
                          <a:spcPts val="260"/>
                        </a:spcBef>
                      </a:pPr>
                      <a:r>
                        <a:rPr sz="800" spc="-10" dirty="0">
                          <a:latin typeface="Arial"/>
                          <a:cs typeface="Arial"/>
                        </a:rPr>
                        <a:t>D4</a:t>
                      </a:r>
                      <a:endParaRPr sz="800" dirty="0">
                        <a:latin typeface="Arial"/>
                        <a:cs typeface="Arial"/>
                      </a:endParaRPr>
                    </a:p>
                  </a:txBody>
                  <a:tcPr marL="0" marR="0" marT="3302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99695">
                        <a:lnSpc>
                          <a:spcPct val="100000"/>
                        </a:lnSpc>
                        <a:spcBef>
                          <a:spcPts val="260"/>
                        </a:spcBef>
                      </a:pPr>
                      <a:r>
                        <a:rPr sz="800" spc="-5" dirty="0">
                          <a:latin typeface="Arial"/>
                          <a:cs typeface="Arial"/>
                        </a:rPr>
                        <a:t>D3</a:t>
                      </a:r>
                      <a:endParaRPr sz="800" dirty="0">
                        <a:latin typeface="Arial"/>
                        <a:cs typeface="Arial"/>
                      </a:endParaRPr>
                    </a:p>
                  </a:txBody>
                  <a:tcPr marL="0" marR="0" marT="3302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99695">
                        <a:lnSpc>
                          <a:spcPct val="100000"/>
                        </a:lnSpc>
                        <a:spcBef>
                          <a:spcPts val="260"/>
                        </a:spcBef>
                      </a:pPr>
                      <a:r>
                        <a:rPr sz="800" spc="-10" dirty="0">
                          <a:latin typeface="Arial"/>
                          <a:cs typeface="Arial"/>
                        </a:rPr>
                        <a:t>D2</a:t>
                      </a:r>
                      <a:endParaRPr sz="800" dirty="0">
                        <a:latin typeface="Arial"/>
                        <a:cs typeface="Arial"/>
                      </a:endParaRPr>
                    </a:p>
                  </a:txBody>
                  <a:tcPr marL="0" marR="0" marT="3302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100330">
                        <a:lnSpc>
                          <a:spcPct val="100000"/>
                        </a:lnSpc>
                        <a:spcBef>
                          <a:spcPts val="260"/>
                        </a:spcBef>
                      </a:pPr>
                      <a:r>
                        <a:rPr sz="800" spc="-10" dirty="0">
                          <a:latin typeface="Arial"/>
                          <a:cs typeface="Arial"/>
                        </a:rPr>
                        <a:t>D1</a:t>
                      </a:r>
                      <a:endParaRPr sz="800" dirty="0">
                        <a:latin typeface="Arial"/>
                        <a:cs typeface="Arial"/>
                      </a:endParaRPr>
                    </a:p>
                  </a:txBody>
                  <a:tcPr marL="0" marR="0" marT="3302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100330">
                        <a:lnSpc>
                          <a:spcPct val="100000"/>
                        </a:lnSpc>
                        <a:spcBef>
                          <a:spcPts val="260"/>
                        </a:spcBef>
                      </a:pPr>
                      <a:r>
                        <a:rPr sz="800" spc="-10" dirty="0">
                          <a:latin typeface="Arial"/>
                          <a:cs typeface="Arial"/>
                        </a:rPr>
                        <a:t>D0</a:t>
                      </a:r>
                      <a:endParaRPr sz="800" dirty="0">
                        <a:latin typeface="Arial"/>
                        <a:cs typeface="Arial"/>
                      </a:endParaRPr>
                    </a:p>
                  </a:txBody>
                  <a:tcPr marL="0" marR="0" marT="3302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extLst>
                  <a:ext uri="{0D108BD9-81ED-4DB2-BD59-A6C34878D82A}">
                    <a16:rowId xmlns:a16="http://schemas.microsoft.com/office/drawing/2014/main" val="10000"/>
                  </a:ext>
                </a:extLst>
              </a:tr>
              <a:tr h="193675">
                <a:tc>
                  <a:txBody>
                    <a:bodyPr/>
                    <a:lstStyle/>
                    <a:p>
                      <a:pPr algn="ctr">
                        <a:lnSpc>
                          <a:spcPct val="100000"/>
                        </a:lnSpc>
                        <a:spcBef>
                          <a:spcPts val="265"/>
                        </a:spcBef>
                      </a:pPr>
                      <a:r>
                        <a:rPr sz="800" spc="-5" dirty="0">
                          <a:latin typeface="Arial"/>
                          <a:cs typeface="Arial"/>
                        </a:rPr>
                        <a:t>‘h02</a:t>
                      </a:r>
                      <a:endParaRPr sz="8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algn="ctr">
                        <a:lnSpc>
                          <a:spcPct val="100000"/>
                        </a:lnSpc>
                        <a:spcBef>
                          <a:spcPts val="265"/>
                        </a:spcBef>
                      </a:pPr>
                      <a:r>
                        <a:rPr sz="800" dirty="0">
                          <a:latin typeface="Arial"/>
                          <a:cs typeface="Arial"/>
                        </a:rPr>
                        <a:t>0</a:t>
                      </a: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2540" algn="ctr">
                        <a:lnSpc>
                          <a:spcPct val="100000"/>
                        </a:lnSpc>
                        <a:spcBef>
                          <a:spcPts val="305"/>
                        </a:spcBef>
                      </a:pPr>
                      <a:r>
                        <a:rPr sz="700" dirty="0">
                          <a:latin typeface="Arial"/>
                          <a:cs typeface="Arial"/>
                        </a:rPr>
                        <a:t>x</a:t>
                      </a:r>
                    </a:p>
                  </a:txBody>
                  <a:tcPr marL="0" marR="0" marT="3873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3175" algn="ctr">
                        <a:lnSpc>
                          <a:spcPct val="100000"/>
                        </a:lnSpc>
                        <a:spcBef>
                          <a:spcPts val="330"/>
                        </a:spcBef>
                      </a:pPr>
                      <a:r>
                        <a:rPr sz="700" dirty="0">
                          <a:latin typeface="Arial"/>
                          <a:cs typeface="Arial"/>
                        </a:rPr>
                        <a:t>x</a:t>
                      </a:r>
                    </a:p>
                  </a:txBody>
                  <a:tcPr marL="0" marR="0" marT="4191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2540" algn="ctr">
                        <a:lnSpc>
                          <a:spcPct val="100000"/>
                        </a:lnSpc>
                        <a:spcBef>
                          <a:spcPts val="305"/>
                        </a:spcBef>
                      </a:pPr>
                      <a:r>
                        <a:rPr sz="700" dirty="0">
                          <a:latin typeface="Arial"/>
                          <a:cs typeface="Arial"/>
                        </a:rPr>
                        <a:t>x</a:t>
                      </a:r>
                    </a:p>
                  </a:txBody>
                  <a:tcPr marL="0" marR="0" marT="3873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gridSpan="5">
                  <a:txBody>
                    <a:bodyPr/>
                    <a:lstStyle/>
                    <a:p>
                      <a:pPr marL="341630">
                        <a:lnSpc>
                          <a:spcPct val="100000"/>
                        </a:lnSpc>
                        <a:spcBef>
                          <a:spcPts val="330"/>
                        </a:spcBef>
                      </a:pPr>
                      <a:r>
                        <a:rPr sz="700" spc="-5" dirty="0">
                          <a:latin typeface="Arial"/>
                          <a:cs typeface="Arial"/>
                        </a:rPr>
                        <a:t>OUTPUT</a:t>
                      </a:r>
                      <a:r>
                        <a:rPr sz="700" spc="-25" dirty="0">
                          <a:latin typeface="Arial"/>
                          <a:cs typeface="Arial"/>
                        </a:rPr>
                        <a:t> </a:t>
                      </a:r>
                      <a:r>
                        <a:rPr sz="700" spc="-10" dirty="0">
                          <a:latin typeface="Arial"/>
                          <a:cs typeface="Arial"/>
                        </a:rPr>
                        <a:t>CH_SIZE</a:t>
                      </a:r>
                      <a:r>
                        <a:rPr sz="700" dirty="0">
                          <a:latin typeface="Arial"/>
                          <a:cs typeface="Arial"/>
                        </a:rPr>
                        <a:t> </a:t>
                      </a:r>
                      <a:r>
                        <a:rPr sz="700" spc="-5" dirty="0">
                          <a:latin typeface="Arial"/>
                          <a:cs typeface="Arial"/>
                        </a:rPr>
                        <a:t>[4:0]</a:t>
                      </a:r>
                      <a:endParaRPr sz="700" dirty="0">
                        <a:latin typeface="Arial"/>
                        <a:cs typeface="Arial"/>
                      </a:endParaRPr>
                    </a:p>
                  </a:txBody>
                  <a:tcPr marL="0" marR="0" marT="4191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a:txBody>
                    <a:bodyPr/>
                    <a:lstStyle/>
                    <a:p>
                      <a:pPr marL="3810" algn="ctr">
                        <a:lnSpc>
                          <a:spcPct val="100000"/>
                        </a:lnSpc>
                        <a:spcBef>
                          <a:spcPts val="305"/>
                        </a:spcBef>
                      </a:pPr>
                      <a:r>
                        <a:rPr sz="700" dirty="0">
                          <a:latin typeface="Arial"/>
                          <a:cs typeface="Arial"/>
                        </a:rPr>
                        <a:t>x</a:t>
                      </a:r>
                    </a:p>
                  </a:txBody>
                  <a:tcPr marL="0" marR="0" marT="3873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R="132080" algn="r">
                        <a:lnSpc>
                          <a:spcPct val="100000"/>
                        </a:lnSpc>
                        <a:spcBef>
                          <a:spcPts val="330"/>
                        </a:spcBef>
                      </a:pPr>
                      <a:r>
                        <a:rPr sz="700" dirty="0">
                          <a:latin typeface="Arial"/>
                          <a:cs typeface="Arial"/>
                        </a:rPr>
                        <a:t>x</a:t>
                      </a:r>
                    </a:p>
                  </a:txBody>
                  <a:tcPr marL="0" marR="0" marT="4191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3810" algn="ctr">
                        <a:lnSpc>
                          <a:spcPct val="100000"/>
                        </a:lnSpc>
                        <a:spcBef>
                          <a:spcPts val="305"/>
                        </a:spcBef>
                      </a:pPr>
                      <a:r>
                        <a:rPr sz="700" dirty="0">
                          <a:latin typeface="Arial"/>
                          <a:cs typeface="Arial"/>
                        </a:rPr>
                        <a:t>x</a:t>
                      </a:r>
                    </a:p>
                  </a:txBody>
                  <a:tcPr marL="0" marR="0" marT="3873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gridSpan="5">
                  <a:txBody>
                    <a:bodyPr/>
                    <a:lstStyle/>
                    <a:p>
                      <a:pPr marL="372745">
                        <a:lnSpc>
                          <a:spcPct val="100000"/>
                        </a:lnSpc>
                        <a:spcBef>
                          <a:spcPts val="305"/>
                        </a:spcBef>
                      </a:pPr>
                      <a:r>
                        <a:rPr sz="700" dirty="0">
                          <a:latin typeface="Arial"/>
                          <a:cs typeface="Arial"/>
                        </a:rPr>
                        <a:t>SVS</a:t>
                      </a:r>
                      <a:r>
                        <a:rPr sz="700" spc="-10" dirty="0">
                          <a:latin typeface="Arial"/>
                          <a:cs typeface="Arial"/>
                        </a:rPr>
                        <a:t>Y</a:t>
                      </a:r>
                      <a:r>
                        <a:rPr sz="700" dirty="0">
                          <a:latin typeface="Arial"/>
                          <a:cs typeface="Arial"/>
                        </a:rPr>
                        <a:t>NC</a:t>
                      </a:r>
                      <a:r>
                        <a:rPr sz="700" spc="-5" dirty="0">
                          <a:latin typeface="Arial"/>
                          <a:cs typeface="Arial"/>
                        </a:rPr>
                        <a:t>_</a:t>
                      </a:r>
                      <a:r>
                        <a:rPr sz="700" dirty="0">
                          <a:latin typeface="Arial"/>
                          <a:cs typeface="Arial"/>
                        </a:rPr>
                        <a:t>DE</a:t>
                      </a:r>
                      <a:r>
                        <a:rPr sz="700" spc="-5" dirty="0">
                          <a:latin typeface="Arial"/>
                          <a:cs typeface="Arial"/>
                        </a:rPr>
                        <a:t>L</a:t>
                      </a:r>
                      <a:r>
                        <a:rPr sz="700" dirty="0">
                          <a:latin typeface="Arial"/>
                          <a:cs typeface="Arial"/>
                        </a:rPr>
                        <a:t>AY</a:t>
                      </a:r>
                      <a:r>
                        <a:rPr sz="700" spc="-25" dirty="0">
                          <a:latin typeface="Arial"/>
                          <a:cs typeface="Arial"/>
                        </a:rPr>
                        <a:t> </a:t>
                      </a:r>
                      <a:r>
                        <a:rPr sz="700" dirty="0">
                          <a:latin typeface="Arial"/>
                          <a:cs typeface="Arial"/>
                        </a:rPr>
                        <a:t>[</a:t>
                      </a:r>
                      <a:r>
                        <a:rPr sz="700" spc="-5" dirty="0">
                          <a:latin typeface="Arial"/>
                          <a:cs typeface="Arial"/>
                        </a:rPr>
                        <a:t>4</a:t>
                      </a:r>
                      <a:r>
                        <a:rPr sz="700" dirty="0">
                          <a:latin typeface="Arial"/>
                          <a:cs typeface="Arial"/>
                        </a:rPr>
                        <a:t>:</a:t>
                      </a:r>
                      <a:r>
                        <a:rPr sz="700" spc="-5" dirty="0">
                          <a:latin typeface="Arial"/>
                          <a:cs typeface="Arial"/>
                        </a:rPr>
                        <a:t>0</a:t>
                      </a:r>
                      <a:r>
                        <a:rPr sz="700" dirty="0">
                          <a:latin typeface="Arial"/>
                          <a:cs typeface="Arial"/>
                        </a:rPr>
                        <a:t>]</a:t>
                      </a:r>
                    </a:p>
                  </a:txBody>
                  <a:tcPr marL="0" marR="0" marT="3873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1"/>
                  </a:ext>
                </a:extLst>
              </a:tr>
            </a:tbl>
          </a:graphicData>
        </a:graphic>
      </p:graphicFrame>
      <p:sp>
        <p:nvSpPr>
          <p:cNvPr id="12" name="object 12"/>
          <p:cNvSpPr txBox="1"/>
          <p:nvPr/>
        </p:nvSpPr>
        <p:spPr>
          <a:xfrm>
            <a:off x="400911" y="5248782"/>
            <a:ext cx="6038540" cy="181721"/>
          </a:xfrm>
          <a:prstGeom prst="rect">
            <a:avLst/>
          </a:prstGeom>
        </p:spPr>
        <p:txBody>
          <a:bodyPr vert="horz" wrap="square" lIns="0" tIns="13335" rIns="0" bIns="0" rtlCol="0">
            <a:spAutoFit/>
          </a:bodyPr>
          <a:lstStyle/>
          <a:p>
            <a:pPr marL="12700">
              <a:lnSpc>
                <a:spcPct val="100000"/>
              </a:lnSpc>
              <a:spcBef>
                <a:spcPts val="105"/>
              </a:spcBef>
            </a:pPr>
            <a:r>
              <a:rPr sz="1100" b="1" spc="-5" dirty="0">
                <a:latin typeface="Arial"/>
                <a:cs typeface="Arial"/>
              </a:rPr>
              <a:t>SVSYNC</a:t>
            </a:r>
            <a:r>
              <a:rPr sz="1100" b="1" spc="-25" dirty="0">
                <a:latin typeface="Arial"/>
                <a:cs typeface="Arial"/>
              </a:rPr>
              <a:t> </a:t>
            </a:r>
            <a:r>
              <a:rPr sz="1100" b="1" spc="-5" dirty="0">
                <a:latin typeface="Arial"/>
                <a:cs typeface="Arial"/>
              </a:rPr>
              <a:t>PERIOD</a:t>
            </a:r>
            <a:endParaRPr sz="1100" dirty="0">
              <a:latin typeface="Arial"/>
              <a:cs typeface="Arial"/>
            </a:endParaRPr>
          </a:p>
        </p:txBody>
      </p:sp>
      <p:graphicFrame>
        <p:nvGraphicFramePr>
          <p:cNvPr id="13" name="object 13"/>
          <p:cNvGraphicFramePr>
            <a:graphicFrameLocks noGrp="1"/>
          </p:cNvGraphicFramePr>
          <p:nvPr>
            <p:extLst>
              <p:ext uri="{D42A27DB-BD31-4B8C-83A1-F6EECF244321}">
                <p14:modId xmlns:p14="http://schemas.microsoft.com/office/powerpoint/2010/main" val="1560410211"/>
              </p:ext>
            </p:extLst>
          </p:nvPr>
        </p:nvGraphicFramePr>
        <p:xfrm>
          <a:off x="400911" y="5526087"/>
          <a:ext cx="6038536" cy="387350"/>
        </p:xfrm>
        <a:graphic>
          <a:graphicData uri="http://schemas.openxmlformats.org/drawingml/2006/table">
            <a:tbl>
              <a:tblPr firstRow="1" bandRow="1">
                <a:tableStyleId>{2D5ABB26-0587-4C30-8999-92F81FD0307C}</a:tableStyleId>
              </a:tblPr>
              <a:tblGrid>
                <a:gridCol w="412143">
                  <a:extLst>
                    <a:ext uri="{9D8B030D-6E8A-4147-A177-3AD203B41FA5}">
                      <a16:colId xmlns:a16="http://schemas.microsoft.com/office/drawing/2014/main" val="20000"/>
                    </a:ext>
                  </a:extLst>
                </a:gridCol>
                <a:gridCol w="474307">
                  <a:extLst>
                    <a:ext uri="{9D8B030D-6E8A-4147-A177-3AD203B41FA5}">
                      <a16:colId xmlns:a16="http://schemas.microsoft.com/office/drawing/2014/main" val="20001"/>
                    </a:ext>
                  </a:extLst>
                </a:gridCol>
                <a:gridCol w="322005">
                  <a:extLst>
                    <a:ext uri="{9D8B030D-6E8A-4147-A177-3AD203B41FA5}">
                      <a16:colId xmlns:a16="http://schemas.microsoft.com/office/drawing/2014/main" val="20002"/>
                    </a:ext>
                  </a:extLst>
                </a:gridCol>
                <a:gridCol w="322006">
                  <a:extLst>
                    <a:ext uri="{9D8B030D-6E8A-4147-A177-3AD203B41FA5}">
                      <a16:colId xmlns:a16="http://schemas.microsoft.com/office/drawing/2014/main" val="20003"/>
                    </a:ext>
                  </a:extLst>
                </a:gridCol>
                <a:gridCol w="322006">
                  <a:extLst>
                    <a:ext uri="{9D8B030D-6E8A-4147-A177-3AD203B41FA5}">
                      <a16:colId xmlns:a16="http://schemas.microsoft.com/office/drawing/2014/main" val="20004"/>
                    </a:ext>
                  </a:extLst>
                </a:gridCol>
                <a:gridCol w="322006">
                  <a:extLst>
                    <a:ext uri="{9D8B030D-6E8A-4147-A177-3AD203B41FA5}">
                      <a16:colId xmlns:a16="http://schemas.microsoft.com/office/drawing/2014/main" val="20005"/>
                    </a:ext>
                  </a:extLst>
                </a:gridCol>
                <a:gridCol w="322006">
                  <a:extLst>
                    <a:ext uri="{9D8B030D-6E8A-4147-A177-3AD203B41FA5}">
                      <a16:colId xmlns:a16="http://schemas.microsoft.com/office/drawing/2014/main" val="20006"/>
                    </a:ext>
                  </a:extLst>
                </a:gridCol>
                <a:gridCol w="322006">
                  <a:extLst>
                    <a:ext uri="{9D8B030D-6E8A-4147-A177-3AD203B41FA5}">
                      <a16:colId xmlns:a16="http://schemas.microsoft.com/office/drawing/2014/main" val="20007"/>
                    </a:ext>
                  </a:extLst>
                </a:gridCol>
                <a:gridCol w="322006">
                  <a:extLst>
                    <a:ext uri="{9D8B030D-6E8A-4147-A177-3AD203B41FA5}">
                      <a16:colId xmlns:a16="http://schemas.microsoft.com/office/drawing/2014/main" val="20008"/>
                    </a:ext>
                  </a:extLst>
                </a:gridCol>
                <a:gridCol w="322005">
                  <a:extLst>
                    <a:ext uri="{9D8B030D-6E8A-4147-A177-3AD203B41FA5}">
                      <a16:colId xmlns:a16="http://schemas.microsoft.com/office/drawing/2014/main" val="20009"/>
                    </a:ext>
                  </a:extLst>
                </a:gridCol>
                <a:gridCol w="322005">
                  <a:extLst>
                    <a:ext uri="{9D8B030D-6E8A-4147-A177-3AD203B41FA5}">
                      <a16:colId xmlns:a16="http://schemas.microsoft.com/office/drawing/2014/main" val="20010"/>
                    </a:ext>
                  </a:extLst>
                </a:gridCol>
                <a:gridCol w="322005">
                  <a:extLst>
                    <a:ext uri="{9D8B030D-6E8A-4147-A177-3AD203B41FA5}">
                      <a16:colId xmlns:a16="http://schemas.microsoft.com/office/drawing/2014/main" val="20011"/>
                    </a:ext>
                  </a:extLst>
                </a:gridCol>
                <a:gridCol w="322005">
                  <a:extLst>
                    <a:ext uri="{9D8B030D-6E8A-4147-A177-3AD203B41FA5}">
                      <a16:colId xmlns:a16="http://schemas.microsoft.com/office/drawing/2014/main" val="20012"/>
                    </a:ext>
                  </a:extLst>
                </a:gridCol>
                <a:gridCol w="322005">
                  <a:extLst>
                    <a:ext uri="{9D8B030D-6E8A-4147-A177-3AD203B41FA5}">
                      <a16:colId xmlns:a16="http://schemas.microsoft.com/office/drawing/2014/main" val="20013"/>
                    </a:ext>
                  </a:extLst>
                </a:gridCol>
                <a:gridCol w="322005">
                  <a:extLst>
                    <a:ext uri="{9D8B030D-6E8A-4147-A177-3AD203B41FA5}">
                      <a16:colId xmlns:a16="http://schemas.microsoft.com/office/drawing/2014/main" val="20014"/>
                    </a:ext>
                  </a:extLst>
                </a:gridCol>
                <a:gridCol w="322005">
                  <a:extLst>
                    <a:ext uri="{9D8B030D-6E8A-4147-A177-3AD203B41FA5}">
                      <a16:colId xmlns:a16="http://schemas.microsoft.com/office/drawing/2014/main" val="20015"/>
                    </a:ext>
                  </a:extLst>
                </a:gridCol>
                <a:gridCol w="322005">
                  <a:extLst>
                    <a:ext uri="{9D8B030D-6E8A-4147-A177-3AD203B41FA5}">
                      <a16:colId xmlns:a16="http://schemas.microsoft.com/office/drawing/2014/main" val="20016"/>
                    </a:ext>
                  </a:extLst>
                </a:gridCol>
                <a:gridCol w="322005">
                  <a:extLst>
                    <a:ext uri="{9D8B030D-6E8A-4147-A177-3AD203B41FA5}">
                      <a16:colId xmlns:a16="http://schemas.microsoft.com/office/drawing/2014/main" val="20017"/>
                    </a:ext>
                  </a:extLst>
                </a:gridCol>
              </a:tblGrid>
              <a:tr h="193675">
                <a:tc>
                  <a:txBody>
                    <a:bodyPr/>
                    <a:lstStyle/>
                    <a:p>
                      <a:pPr algn="ctr">
                        <a:lnSpc>
                          <a:spcPct val="100000"/>
                        </a:lnSpc>
                        <a:spcBef>
                          <a:spcPts val="270"/>
                        </a:spcBef>
                      </a:pPr>
                      <a:r>
                        <a:rPr sz="800" dirty="0">
                          <a:latin typeface="Arial"/>
                          <a:cs typeface="Arial"/>
                        </a:rPr>
                        <a:t>A[6:0]</a:t>
                      </a: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algn="ctr">
                        <a:lnSpc>
                          <a:spcPct val="100000"/>
                        </a:lnSpc>
                        <a:spcBef>
                          <a:spcPts val="270"/>
                        </a:spcBef>
                      </a:pPr>
                      <a:r>
                        <a:rPr sz="800" spc="-5" dirty="0">
                          <a:latin typeface="Arial"/>
                          <a:cs typeface="Arial"/>
                        </a:rPr>
                        <a:t>Default</a:t>
                      </a:r>
                      <a:endParaRPr sz="8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1270" algn="ctr">
                        <a:lnSpc>
                          <a:spcPct val="100000"/>
                        </a:lnSpc>
                        <a:spcBef>
                          <a:spcPts val="270"/>
                        </a:spcBef>
                      </a:pPr>
                      <a:r>
                        <a:rPr sz="800" spc="-5" dirty="0">
                          <a:latin typeface="Arial"/>
                          <a:cs typeface="Arial"/>
                        </a:rPr>
                        <a:t>D15</a:t>
                      </a:r>
                      <a:endParaRPr sz="8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71755">
                        <a:lnSpc>
                          <a:spcPct val="100000"/>
                        </a:lnSpc>
                        <a:spcBef>
                          <a:spcPts val="270"/>
                        </a:spcBef>
                      </a:pPr>
                      <a:r>
                        <a:rPr sz="800" spc="-5" dirty="0">
                          <a:latin typeface="Arial"/>
                          <a:cs typeface="Arial"/>
                        </a:rPr>
                        <a:t>D14</a:t>
                      </a:r>
                      <a:endParaRPr sz="8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71755">
                        <a:lnSpc>
                          <a:spcPct val="100000"/>
                        </a:lnSpc>
                        <a:spcBef>
                          <a:spcPts val="270"/>
                        </a:spcBef>
                      </a:pPr>
                      <a:r>
                        <a:rPr sz="800" spc="-5" dirty="0">
                          <a:latin typeface="Arial"/>
                          <a:cs typeface="Arial"/>
                        </a:rPr>
                        <a:t>D13</a:t>
                      </a:r>
                      <a:endParaRPr sz="8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71755">
                        <a:lnSpc>
                          <a:spcPct val="100000"/>
                        </a:lnSpc>
                        <a:spcBef>
                          <a:spcPts val="270"/>
                        </a:spcBef>
                      </a:pPr>
                      <a:r>
                        <a:rPr sz="800" spc="-5" dirty="0">
                          <a:latin typeface="Arial"/>
                          <a:cs typeface="Arial"/>
                        </a:rPr>
                        <a:t>D12</a:t>
                      </a:r>
                      <a:endParaRPr sz="8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71755">
                        <a:lnSpc>
                          <a:spcPct val="100000"/>
                        </a:lnSpc>
                        <a:spcBef>
                          <a:spcPts val="270"/>
                        </a:spcBef>
                      </a:pPr>
                      <a:r>
                        <a:rPr sz="800" spc="-5" dirty="0">
                          <a:latin typeface="Arial"/>
                          <a:cs typeface="Arial"/>
                        </a:rPr>
                        <a:t>D11</a:t>
                      </a:r>
                      <a:endParaRPr sz="8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71755">
                        <a:lnSpc>
                          <a:spcPct val="100000"/>
                        </a:lnSpc>
                        <a:spcBef>
                          <a:spcPts val="270"/>
                        </a:spcBef>
                      </a:pPr>
                      <a:r>
                        <a:rPr sz="800" spc="-5" dirty="0">
                          <a:latin typeface="Arial"/>
                          <a:cs typeface="Arial"/>
                        </a:rPr>
                        <a:t>D10</a:t>
                      </a:r>
                      <a:endParaRPr sz="8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99060">
                        <a:lnSpc>
                          <a:spcPct val="100000"/>
                        </a:lnSpc>
                        <a:spcBef>
                          <a:spcPts val="270"/>
                        </a:spcBef>
                      </a:pPr>
                      <a:r>
                        <a:rPr sz="800" spc="-5" dirty="0">
                          <a:latin typeface="Arial"/>
                          <a:cs typeface="Arial"/>
                        </a:rPr>
                        <a:t>D9</a:t>
                      </a:r>
                      <a:endParaRPr sz="8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99695">
                        <a:lnSpc>
                          <a:spcPct val="100000"/>
                        </a:lnSpc>
                        <a:spcBef>
                          <a:spcPts val="270"/>
                        </a:spcBef>
                      </a:pPr>
                      <a:r>
                        <a:rPr sz="800" spc="-5" dirty="0">
                          <a:latin typeface="Arial"/>
                          <a:cs typeface="Arial"/>
                        </a:rPr>
                        <a:t>D8</a:t>
                      </a:r>
                      <a:endParaRPr sz="8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99695">
                        <a:lnSpc>
                          <a:spcPct val="100000"/>
                        </a:lnSpc>
                        <a:spcBef>
                          <a:spcPts val="270"/>
                        </a:spcBef>
                      </a:pPr>
                      <a:r>
                        <a:rPr sz="800" spc="-5" dirty="0">
                          <a:latin typeface="Arial"/>
                          <a:cs typeface="Arial"/>
                        </a:rPr>
                        <a:t>D7</a:t>
                      </a:r>
                      <a:endParaRPr sz="8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99695">
                        <a:lnSpc>
                          <a:spcPct val="100000"/>
                        </a:lnSpc>
                        <a:spcBef>
                          <a:spcPts val="270"/>
                        </a:spcBef>
                      </a:pPr>
                      <a:r>
                        <a:rPr sz="800" spc="-5" dirty="0">
                          <a:latin typeface="Arial"/>
                          <a:cs typeface="Arial"/>
                        </a:rPr>
                        <a:t>D6</a:t>
                      </a:r>
                      <a:endParaRPr sz="8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99695">
                        <a:lnSpc>
                          <a:spcPct val="100000"/>
                        </a:lnSpc>
                        <a:spcBef>
                          <a:spcPts val="270"/>
                        </a:spcBef>
                      </a:pPr>
                      <a:r>
                        <a:rPr sz="800" spc="-5" dirty="0">
                          <a:latin typeface="Arial"/>
                          <a:cs typeface="Arial"/>
                        </a:rPr>
                        <a:t>D5</a:t>
                      </a:r>
                      <a:endParaRPr sz="8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99695">
                        <a:lnSpc>
                          <a:spcPct val="100000"/>
                        </a:lnSpc>
                        <a:spcBef>
                          <a:spcPts val="270"/>
                        </a:spcBef>
                      </a:pPr>
                      <a:r>
                        <a:rPr sz="800" spc="-5" dirty="0">
                          <a:latin typeface="Arial"/>
                          <a:cs typeface="Arial"/>
                        </a:rPr>
                        <a:t>D4</a:t>
                      </a:r>
                      <a:endParaRPr sz="8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99695">
                        <a:lnSpc>
                          <a:spcPct val="100000"/>
                        </a:lnSpc>
                        <a:spcBef>
                          <a:spcPts val="270"/>
                        </a:spcBef>
                      </a:pPr>
                      <a:r>
                        <a:rPr sz="800" spc="-5" dirty="0">
                          <a:latin typeface="Arial"/>
                          <a:cs typeface="Arial"/>
                        </a:rPr>
                        <a:t>D3</a:t>
                      </a:r>
                      <a:endParaRPr sz="8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99695">
                        <a:lnSpc>
                          <a:spcPct val="100000"/>
                        </a:lnSpc>
                        <a:spcBef>
                          <a:spcPts val="270"/>
                        </a:spcBef>
                      </a:pPr>
                      <a:r>
                        <a:rPr sz="800" spc="-5" dirty="0">
                          <a:latin typeface="Arial"/>
                          <a:cs typeface="Arial"/>
                        </a:rPr>
                        <a:t>D2</a:t>
                      </a:r>
                      <a:endParaRPr sz="8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100330">
                        <a:lnSpc>
                          <a:spcPct val="100000"/>
                        </a:lnSpc>
                        <a:spcBef>
                          <a:spcPts val="270"/>
                        </a:spcBef>
                      </a:pPr>
                      <a:r>
                        <a:rPr sz="800" spc="-5" dirty="0">
                          <a:latin typeface="Arial"/>
                          <a:cs typeface="Arial"/>
                        </a:rPr>
                        <a:t>D1</a:t>
                      </a:r>
                      <a:endParaRPr sz="8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100330">
                        <a:lnSpc>
                          <a:spcPct val="100000"/>
                        </a:lnSpc>
                        <a:spcBef>
                          <a:spcPts val="270"/>
                        </a:spcBef>
                      </a:pPr>
                      <a:r>
                        <a:rPr sz="800" spc="-5" dirty="0">
                          <a:latin typeface="Arial"/>
                          <a:cs typeface="Arial"/>
                        </a:rPr>
                        <a:t>D0</a:t>
                      </a:r>
                      <a:endParaRPr sz="8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extLst>
                  <a:ext uri="{0D108BD9-81ED-4DB2-BD59-A6C34878D82A}">
                    <a16:rowId xmlns:a16="http://schemas.microsoft.com/office/drawing/2014/main" val="10000"/>
                  </a:ext>
                </a:extLst>
              </a:tr>
              <a:tr h="193675">
                <a:tc>
                  <a:txBody>
                    <a:bodyPr/>
                    <a:lstStyle/>
                    <a:p>
                      <a:pPr algn="ctr">
                        <a:lnSpc>
                          <a:spcPct val="100000"/>
                        </a:lnSpc>
                        <a:spcBef>
                          <a:spcPts val="265"/>
                        </a:spcBef>
                      </a:pPr>
                      <a:r>
                        <a:rPr sz="800" spc="-5" dirty="0">
                          <a:latin typeface="Arial"/>
                          <a:cs typeface="Arial"/>
                        </a:rPr>
                        <a:t>‘h04</a:t>
                      </a:r>
                      <a:endParaRPr sz="8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algn="ctr">
                        <a:lnSpc>
                          <a:spcPct val="100000"/>
                        </a:lnSpc>
                        <a:spcBef>
                          <a:spcPts val="265"/>
                        </a:spcBef>
                      </a:pPr>
                      <a:r>
                        <a:rPr sz="800" dirty="0">
                          <a:latin typeface="Arial"/>
                          <a:cs typeface="Arial"/>
                        </a:rPr>
                        <a:t>0</a:t>
                      </a: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2540" algn="ctr">
                        <a:lnSpc>
                          <a:spcPct val="100000"/>
                        </a:lnSpc>
                        <a:spcBef>
                          <a:spcPts val="305"/>
                        </a:spcBef>
                      </a:pPr>
                      <a:r>
                        <a:rPr sz="700" dirty="0">
                          <a:latin typeface="Arial"/>
                          <a:cs typeface="Arial"/>
                        </a:rPr>
                        <a:t>x</a:t>
                      </a:r>
                    </a:p>
                  </a:txBody>
                  <a:tcPr marL="0" marR="0" marT="3873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gridSpan="15">
                  <a:txBody>
                    <a:bodyPr/>
                    <a:lstStyle/>
                    <a:p>
                      <a:pPr algn="ctr">
                        <a:lnSpc>
                          <a:spcPct val="100000"/>
                        </a:lnSpc>
                        <a:spcBef>
                          <a:spcPts val="330"/>
                        </a:spcBef>
                      </a:pPr>
                      <a:r>
                        <a:rPr sz="700" dirty="0">
                          <a:latin typeface="Arial"/>
                          <a:cs typeface="Arial"/>
                        </a:rPr>
                        <a:t>SVS</a:t>
                      </a:r>
                      <a:r>
                        <a:rPr sz="700" spc="-10" dirty="0">
                          <a:latin typeface="Arial"/>
                          <a:cs typeface="Arial"/>
                        </a:rPr>
                        <a:t>Y</a:t>
                      </a:r>
                      <a:r>
                        <a:rPr sz="700" dirty="0">
                          <a:latin typeface="Arial"/>
                          <a:cs typeface="Arial"/>
                        </a:rPr>
                        <a:t>NC</a:t>
                      </a:r>
                      <a:r>
                        <a:rPr sz="700" spc="-5" dirty="0">
                          <a:latin typeface="Arial"/>
                          <a:cs typeface="Arial"/>
                        </a:rPr>
                        <a:t>_</a:t>
                      </a:r>
                      <a:r>
                        <a:rPr sz="700" dirty="0">
                          <a:latin typeface="Arial"/>
                          <a:cs typeface="Arial"/>
                        </a:rPr>
                        <a:t>PER</a:t>
                      </a:r>
                      <a:r>
                        <a:rPr sz="700" spc="-15" dirty="0">
                          <a:latin typeface="Arial"/>
                          <a:cs typeface="Arial"/>
                        </a:rPr>
                        <a:t>I</a:t>
                      </a:r>
                      <a:r>
                        <a:rPr sz="700" dirty="0">
                          <a:latin typeface="Arial"/>
                          <a:cs typeface="Arial"/>
                        </a:rPr>
                        <a:t>OD</a:t>
                      </a:r>
                      <a:r>
                        <a:rPr sz="700" spc="-5" dirty="0">
                          <a:latin typeface="Arial"/>
                          <a:cs typeface="Arial"/>
                        </a:rPr>
                        <a:t> [14</a:t>
                      </a:r>
                      <a:r>
                        <a:rPr sz="700" dirty="0">
                          <a:latin typeface="Arial"/>
                          <a:cs typeface="Arial"/>
                        </a:rPr>
                        <a:t>:</a:t>
                      </a:r>
                      <a:r>
                        <a:rPr sz="700" spc="-5" dirty="0">
                          <a:latin typeface="Arial"/>
                          <a:cs typeface="Arial"/>
                        </a:rPr>
                        <a:t>0</a:t>
                      </a:r>
                      <a:r>
                        <a:rPr sz="700" dirty="0">
                          <a:latin typeface="Arial"/>
                          <a:cs typeface="Arial"/>
                        </a:rPr>
                        <a:t>]</a:t>
                      </a:r>
                    </a:p>
                  </a:txBody>
                  <a:tcPr marL="0" marR="0" marT="4191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1"/>
                  </a:ext>
                </a:extLst>
              </a:tr>
            </a:tbl>
          </a:graphicData>
        </a:graphic>
      </p:graphicFrame>
      <p:sp>
        <p:nvSpPr>
          <p:cNvPr id="15" name="object 15"/>
          <p:cNvSpPr txBox="1"/>
          <p:nvPr/>
        </p:nvSpPr>
        <p:spPr>
          <a:xfrm>
            <a:off x="400911" y="7231126"/>
            <a:ext cx="6036229" cy="182101"/>
          </a:xfrm>
          <a:prstGeom prst="rect">
            <a:avLst/>
          </a:prstGeom>
        </p:spPr>
        <p:txBody>
          <a:bodyPr vert="horz" wrap="square" lIns="0" tIns="12700" rIns="0" bIns="0" rtlCol="0">
            <a:spAutoFit/>
          </a:bodyPr>
          <a:lstStyle/>
          <a:p>
            <a:pPr marL="12700">
              <a:lnSpc>
                <a:spcPct val="100000"/>
              </a:lnSpc>
              <a:spcBef>
                <a:spcPts val="100"/>
              </a:spcBef>
            </a:pPr>
            <a:r>
              <a:rPr sz="1100" b="1" spc="-5" dirty="0">
                <a:latin typeface="Arial"/>
                <a:cs typeface="Arial"/>
              </a:rPr>
              <a:t>SHSYNC</a:t>
            </a:r>
            <a:r>
              <a:rPr sz="1100" b="1" spc="-30" dirty="0">
                <a:latin typeface="Arial"/>
                <a:cs typeface="Arial"/>
              </a:rPr>
              <a:t> </a:t>
            </a:r>
            <a:r>
              <a:rPr sz="1100" b="1" spc="-5" dirty="0">
                <a:latin typeface="Arial"/>
                <a:cs typeface="Arial"/>
              </a:rPr>
              <a:t>PERIOD</a:t>
            </a:r>
            <a:endParaRPr sz="1100" dirty="0">
              <a:latin typeface="Arial"/>
              <a:cs typeface="Arial"/>
            </a:endParaRPr>
          </a:p>
        </p:txBody>
      </p:sp>
      <p:graphicFrame>
        <p:nvGraphicFramePr>
          <p:cNvPr id="16" name="object 16"/>
          <p:cNvGraphicFramePr>
            <a:graphicFrameLocks noGrp="1"/>
          </p:cNvGraphicFramePr>
          <p:nvPr>
            <p:extLst>
              <p:ext uri="{D42A27DB-BD31-4B8C-83A1-F6EECF244321}">
                <p14:modId xmlns:p14="http://schemas.microsoft.com/office/powerpoint/2010/main" val="3295687483"/>
              </p:ext>
            </p:extLst>
          </p:nvPr>
        </p:nvGraphicFramePr>
        <p:xfrm>
          <a:off x="400912" y="7508303"/>
          <a:ext cx="6036229" cy="387350"/>
        </p:xfrm>
        <a:graphic>
          <a:graphicData uri="http://schemas.openxmlformats.org/drawingml/2006/table">
            <a:tbl>
              <a:tblPr firstRow="1" bandRow="1">
                <a:tableStyleId>{2D5ABB26-0587-4C30-8999-92F81FD0307C}</a:tableStyleId>
              </a:tblPr>
              <a:tblGrid>
                <a:gridCol w="411986">
                  <a:extLst>
                    <a:ext uri="{9D8B030D-6E8A-4147-A177-3AD203B41FA5}">
                      <a16:colId xmlns:a16="http://schemas.microsoft.com/office/drawing/2014/main" val="20000"/>
                    </a:ext>
                  </a:extLst>
                </a:gridCol>
                <a:gridCol w="474125">
                  <a:extLst>
                    <a:ext uri="{9D8B030D-6E8A-4147-A177-3AD203B41FA5}">
                      <a16:colId xmlns:a16="http://schemas.microsoft.com/office/drawing/2014/main" val="20001"/>
                    </a:ext>
                  </a:extLst>
                </a:gridCol>
                <a:gridCol w="321882">
                  <a:extLst>
                    <a:ext uri="{9D8B030D-6E8A-4147-A177-3AD203B41FA5}">
                      <a16:colId xmlns:a16="http://schemas.microsoft.com/office/drawing/2014/main" val="20002"/>
                    </a:ext>
                  </a:extLst>
                </a:gridCol>
                <a:gridCol w="321883">
                  <a:extLst>
                    <a:ext uri="{9D8B030D-6E8A-4147-A177-3AD203B41FA5}">
                      <a16:colId xmlns:a16="http://schemas.microsoft.com/office/drawing/2014/main" val="20003"/>
                    </a:ext>
                  </a:extLst>
                </a:gridCol>
                <a:gridCol w="321883">
                  <a:extLst>
                    <a:ext uri="{9D8B030D-6E8A-4147-A177-3AD203B41FA5}">
                      <a16:colId xmlns:a16="http://schemas.microsoft.com/office/drawing/2014/main" val="20004"/>
                    </a:ext>
                  </a:extLst>
                </a:gridCol>
                <a:gridCol w="321883">
                  <a:extLst>
                    <a:ext uri="{9D8B030D-6E8A-4147-A177-3AD203B41FA5}">
                      <a16:colId xmlns:a16="http://schemas.microsoft.com/office/drawing/2014/main" val="20005"/>
                    </a:ext>
                  </a:extLst>
                </a:gridCol>
                <a:gridCol w="321883">
                  <a:extLst>
                    <a:ext uri="{9D8B030D-6E8A-4147-A177-3AD203B41FA5}">
                      <a16:colId xmlns:a16="http://schemas.microsoft.com/office/drawing/2014/main" val="20006"/>
                    </a:ext>
                  </a:extLst>
                </a:gridCol>
                <a:gridCol w="321883">
                  <a:extLst>
                    <a:ext uri="{9D8B030D-6E8A-4147-A177-3AD203B41FA5}">
                      <a16:colId xmlns:a16="http://schemas.microsoft.com/office/drawing/2014/main" val="20007"/>
                    </a:ext>
                  </a:extLst>
                </a:gridCol>
                <a:gridCol w="321883">
                  <a:extLst>
                    <a:ext uri="{9D8B030D-6E8A-4147-A177-3AD203B41FA5}">
                      <a16:colId xmlns:a16="http://schemas.microsoft.com/office/drawing/2014/main" val="20008"/>
                    </a:ext>
                  </a:extLst>
                </a:gridCol>
                <a:gridCol w="321882">
                  <a:extLst>
                    <a:ext uri="{9D8B030D-6E8A-4147-A177-3AD203B41FA5}">
                      <a16:colId xmlns:a16="http://schemas.microsoft.com/office/drawing/2014/main" val="20009"/>
                    </a:ext>
                  </a:extLst>
                </a:gridCol>
                <a:gridCol w="321882">
                  <a:extLst>
                    <a:ext uri="{9D8B030D-6E8A-4147-A177-3AD203B41FA5}">
                      <a16:colId xmlns:a16="http://schemas.microsoft.com/office/drawing/2014/main" val="20010"/>
                    </a:ext>
                  </a:extLst>
                </a:gridCol>
                <a:gridCol w="321882">
                  <a:extLst>
                    <a:ext uri="{9D8B030D-6E8A-4147-A177-3AD203B41FA5}">
                      <a16:colId xmlns:a16="http://schemas.microsoft.com/office/drawing/2014/main" val="20011"/>
                    </a:ext>
                  </a:extLst>
                </a:gridCol>
                <a:gridCol w="321882">
                  <a:extLst>
                    <a:ext uri="{9D8B030D-6E8A-4147-A177-3AD203B41FA5}">
                      <a16:colId xmlns:a16="http://schemas.microsoft.com/office/drawing/2014/main" val="20012"/>
                    </a:ext>
                  </a:extLst>
                </a:gridCol>
                <a:gridCol w="321882">
                  <a:extLst>
                    <a:ext uri="{9D8B030D-6E8A-4147-A177-3AD203B41FA5}">
                      <a16:colId xmlns:a16="http://schemas.microsoft.com/office/drawing/2014/main" val="20013"/>
                    </a:ext>
                  </a:extLst>
                </a:gridCol>
                <a:gridCol w="321882">
                  <a:extLst>
                    <a:ext uri="{9D8B030D-6E8A-4147-A177-3AD203B41FA5}">
                      <a16:colId xmlns:a16="http://schemas.microsoft.com/office/drawing/2014/main" val="20014"/>
                    </a:ext>
                  </a:extLst>
                </a:gridCol>
                <a:gridCol w="321882">
                  <a:extLst>
                    <a:ext uri="{9D8B030D-6E8A-4147-A177-3AD203B41FA5}">
                      <a16:colId xmlns:a16="http://schemas.microsoft.com/office/drawing/2014/main" val="20015"/>
                    </a:ext>
                  </a:extLst>
                </a:gridCol>
                <a:gridCol w="321882">
                  <a:extLst>
                    <a:ext uri="{9D8B030D-6E8A-4147-A177-3AD203B41FA5}">
                      <a16:colId xmlns:a16="http://schemas.microsoft.com/office/drawing/2014/main" val="20016"/>
                    </a:ext>
                  </a:extLst>
                </a:gridCol>
                <a:gridCol w="321882">
                  <a:extLst>
                    <a:ext uri="{9D8B030D-6E8A-4147-A177-3AD203B41FA5}">
                      <a16:colId xmlns:a16="http://schemas.microsoft.com/office/drawing/2014/main" val="20017"/>
                    </a:ext>
                  </a:extLst>
                </a:gridCol>
              </a:tblGrid>
              <a:tr h="193675">
                <a:tc>
                  <a:txBody>
                    <a:bodyPr/>
                    <a:lstStyle/>
                    <a:p>
                      <a:pPr marL="76200">
                        <a:lnSpc>
                          <a:spcPct val="100000"/>
                        </a:lnSpc>
                        <a:spcBef>
                          <a:spcPts val="270"/>
                        </a:spcBef>
                      </a:pPr>
                      <a:r>
                        <a:rPr sz="800" dirty="0">
                          <a:latin typeface="Arial"/>
                          <a:cs typeface="Arial"/>
                        </a:rPr>
                        <a:t>A[6:0]</a:t>
                      </a: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algn="ctr">
                        <a:lnSpc>
                          <a:spcPct val="100000"/>
                        </a:lnSpc>
                        <a:spcBef>
                          <a:spcPts val="270"/>
                        </a:spcBef>
                      </a:pPr>
                      <a:r>
                        <a:rPr sz="800" spc="-5" dirty="0">
                          <a:latin typeface="Arial"/>
                          <a:cs typeface="Arial"/>
                        </a:rPr>
                        <a:t>Default</a:t>
                      </a:r>
                      <a:endParaRPr sz="8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1270" algn="ctr">
                        <a:lnSpc>
                          <a:spcPct val="100000"/>
                        </a:lnSpc>
                        <a:spcBef>
                          <a:spcPts val="270"/>
                        </a:spcBef>
                      </a:pPr>
                      <a:r>
                        <a:rPr sz="800" spc="-5" dirty="0">
                          <a:latin typeface="Arial"/>
                          <a:cs typeface="Arial"/>
                        </a:rPr>
                        <a:t>D15</a:t>
                      </a:r>
                      <a:endParaRPr sz="8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71755">
                        <a:lnSpc>
                          <a:spcPct val="100000"/>
                        </a:lnSpc>
                        <a:spcBef>
                          <a:spcPts val="270"/>
                        </a:spcBef>
                      </a:pPr>
                      <a:r>
                        <a:rPr sz="800" spc="-5" dirty="0">
                          <a:latin typeface="Arial"/>
                          <a:cs typeface="Arial"/>
                        </a:rPr>
                        <a:t>D14</a:t>
                      </a:r>
                      <a:endParaRPr sz="8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71755">
                        <a:lnSpc>
                          <a:spcPct val="100000"/>
                        </a:lnSpc>
                        <a:spcBef>
                          <a:spcPts val="270"/>
                        </a:spcBef>
                      </a:pPr>
                      <a:r>
                        <a:rPr sz="800" dirty="0">
                          <a:latin typeface="Arial"/>
                          <a:cs typeface="Arial"/>
                        </a:rPr>
                        <a:t>D13</a:t>
                      </a: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71755">
                        <a:lnSpc>
                          <a:spcPct val="100000"/>
                        </a:lnSpc>
                        <a:spcBef>
                          <a:spcPts val="270"/>
                        </a:spcBef>
                      </a:pPr>
                      <a:r>
                        <a:rPr sz="800" spc="-5" dirty="0">
                          <a:latin typeface="Arial"/>
                          <a:cs typeface="Arial"/>
                        </a:rPr>
                        <a:t>D12</a:t>
                      </a:r>
                      <a:endParaRPr sz="8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71755">
                        <a:lnSpc>
                          <a:spcPct val="100000"/>
                        </a:lnSpc>
                        <a:spcBef>
                          <a:spcPts val="270"/>
                        </a:spcBef>
                      </a:pPr>
                      <a:r>
                        <a:rPr sz="800" spc="-5" dirty="0">
                          <a:latin typeface="Arial"/>
                          <a:cs typeface="Arial"/>
                        </a:rPr>
                        <a:t>D11</a:t>
                      </a:r>
                      <a:endParaRPr sz="8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71755">
                        <a:lnSpc>
                          <a:spcPct val="100000"/>
                        </a:lnSpc>
                        <a:spcBef>
                          <a:spcPts val="270"/>
                        </a:spcBef>
                      </a:pPr>
                      <a:r>
                        <a:rPr sz="800" spc="-5" dirty="0">
                          <a:latin typeface="Arial"/>
                          <a:cs typeface="Arial"/>
                        </a:rPr>
                        <a:t>D10</a:t>
                      </a:r>
                      <a:endParaRPr sz="8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99695">
                        <a:lnSpc>
                          <a:spcPct val="100000"/>
                        </a:lnSpc>
                        <a:spcBef>
                          <a:spcPts val="270"/>
                        </a:spcBef>
                      </a:pPr>
                      <a:r>
                        <a:rPr sz="800" spc="-5" dirty="0">
                          <a:latin typeface="Arial"/>
                          <a:cs typeface="Arial"/>
                        </a:rPr>
                        <a:t>D9</a:t>
                      </a:r>
                      <a:endParaRPr sz="8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99695">
                        <a:lnSpc>
                          <a:spcPct val="100000"/>
                        </a:lnSpc>
                        <a:spcBef>
                          <a:spcPts val="270"/>
                        </a:spcBef>
                      </a:pPr>
                      <a:r>
                        <a:rPr sz="800" spc="-5" dirty="0">
                          <a:latin typeface="Arial"/>
                          <a:cs typeface="Arial"/>
                        </a:rPr>
                        <a:t>D8</a:t>
                      </a:r>
                      <a:endParaRPr sz="8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99695">
                        <a:lnSpc>
                          <a:spcPct val="100000"/>
                        </a:lnSpc>
                        <a:spcBef>
                          <a:spcPts val="270"/>
                        </a:spcBef>
                      </a:pPr>
                      <a:r>
                        <a:rPr sz="800" spc="-5" dirty="0">
                          <a:latin typeface="Arial"/>
                          <a:cs typeface="Arial"/>
                        </a:rPr>
                        <a:t>D7</a:t>
                      </a:r>
                      <a:endParaRPr sz="8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99695">
                        <a:lnSpc>
                          <a:spcPct val="100000"/>
                        </a:lnSpc>
                        <a:spcBef>
                          <a:spcPts val="270"/>
                        </a:spcBef>
                      </a:pPr>
                      <a:r>
                        <a:rPr sz="800" spc="-5" dirty="0">
                          <a:latin typeface="Arial"/>
                          <a:cs typeface="Arial"/>
                        </a:rPr>
                        <a:t>D6</a:t>
                      </a:r>
                      <a:endParaRPr sz="8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99695">
                        <a:lnSpc>
                          <a:spcPct val="100000"/>
                        </a:lnSpc>
                        <a:spcBef>
                          <a:spcPts val="270"/>
                        </a:spcBef>
                      </a:pPr>
                      <a:r>
                        <a:rPr sz="800" spc="-5" dirty="0">
                          <a:latin typeface="Arial"/>
                          <a:cs typeface="Arial"/>
                        </a:rPr>
                        <a:t>D5</a:t>
                      </a:r>
                      <a:endParaRPr sz="8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99695">
                        <a:lnSpc>
                          <a:spcPct val="100000"/>
                        </a:lnSpc>
                        <a:spcBef>
                          <a:spcPts val="270"/>
                        </a:spcBef>
                      </a:pPr>
                      <a:r>
                        <a:rPr sz="800" spc="-5" dirty="0">
                          <a:latin typeface="Arial"/>
                          <a:cs typeface="Arial"/>
                        </a:rPr>
                        <a:t>D4</a:t>
                      </a:r>
                      <a:endParaRPr sz="8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99695">
                        <a:lnSpc>
                          <a:spcPct val="100000"/>
                        </a:lnSpc>
                        <a:spcBef>
                          <a:spcPts val="270"/>
                        </a:spcBef>
                      </a:pPr>
                      <a:r>
                        <a:rPr sz="800" spc="-5" dirty="0">
                          <a:latin typeface="Arial"/>
                          <a:cs typeface="Arial"/>
                        </a:rPr>
                        <a:t>D3</a:t>
                      </a:r>
                      <a:endParaRPr sz="8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99695">
                        <a:lnSpc>
                          <a:spcPct val="100000"/>
                        </a:lnSpc>
                        <a:spcBef>
                          <a:spcPts val="270"/>
                        </a:spcBef>
                      </a:pPr>
                      <a:r>
                        <a:rPr sz="800" spc="-5" dirty="0">
                          <a:latin typeface="Arial"/>
                          <a:cs typeface="Arial"/>
                        </a:rPr>
                        <a:t>D2</a:t>
                      </a:r>
                      <a:endParaRPr sz="8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99695">
                        <a:lnSpc>
                          <a:spcPct val="100000"/>
                        </a:lnSpc>
                        <a:spcBef>
                          <a:spcPts val="270"/>
                        </a:spcBef>
                      </a:pPr>
                      <a:r>
                        <a:rPr sz="800" spc="-5" dirty="0">
                          <a:latin typeface="Arial"/>
                          <a:cs typeface="Arial"/>
                        </a:rPr>
                        <a:t>D1</a:t>
                      </a:r>
                      <a:endParaRPr sz="8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100330">
                        <a:lnSpc>
                          <a:spcPct val="100000"/>
                        </a:lnSpc>
                        <a:spcBef>
                          <a:spcPts val="270"/>
                        </a:spcBef>
                      </a:pPr>
                      <a:r>
                        <a:rPr sz="800" spc="-5" dirty="0">
                          <a:latin typeface="Arial"/>
                          <a:cs typeface="Arial"/>
                        </a:rPr>
                        <a:t>D0</a:t>
                      </a:r>
                      <a:endParaRPr sz="8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extLst>
                  <a:ext uri="{0D108BD9-81ED-4DB2-BD59-A6C34878D82A}">
                    <a16:rowId xmlns:a16="http://schemas.microsoft.com/office/drawing/2014/main" val="10000"/>
                  </a:ext>
                </a:extLst>
              </a:tr>
              <a:tr h="193675">
                <a:tc>
                  <a:txBody>
                    <a:bodyPr/>
                    <a:lstStyle/>
                    <a:p>
                      <a:pPr marL="114300">
                        <a:lnSpc>
                          <a:spcPct val="100000"/>
                        </a:lnSpc>
                        <a:spcBef>
                          <a:spcPts val="270"/>
                        </a:spcBef>
                      </a:pPr>
                      <a:r>
                        <a:rPr sz="800" spc="-5" dirty="0">
                          <a:latin typeface="Arial"/>
                          <a:cs typeface="Arial"/>
                        </a:rPr>
                        <a:t>‘h05</a:t>
                      </a:r>
                      <a:endParaRPr sz="8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algn="ctr">
                        <a:lnSpc>
                          <a:spcPct val="100000"/>
                        </a:lnSpc>
                        <a:spcBef>
                          <a:spcPts val="270"/>
                        </a:spcBef>
                      </a:pPr>
                      <a:r>
                        <a:rPr sz="800" dirty="0">
                          <a:latin typeface="Arial"/>
                          <a:cs typeface="Arial"/>
                        </a:rPr>
                        <a:t>0</a:t>
                      </a: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2540" algn="ctr">
                        <a:lnSpc>
                          <a:spcPct val="100000"/>
                        </a:lnSpc>
                        <a:spcBef>
                          <a:spcPts val="310"/>
                        </a:spcBef>
                      </a:pPr>
                      <a:r>
                        <a:rPr sz="700" dirty="0">
                          <a:latin typeface="Arial"/>
                          <a:cs typeface="Arial"/>
                        </a:rPr>
                        <a:t>x</a:t>
                      </a:r>
                    </a:p>
                  </a:txBody>
                  <a:tcPr marL="0" marR="0" marT="3937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gridSpan="15">
                  <a:txBody>
                    <a:bodyPr/>
                    <a:lstStyle/>
                    <a:p>
                      <a:pPr marL="635" algn="ctr">
                        <a:lnSpc>
                          <a:spcPct val="100000"/>
                        </a:lnSpc>
                        <a:spcBef>
                          <a:spcPts val="335"/>
                        </a:spcBef>
                      </a:pPr>
                      <a:r>
                        <a:rPr sz="700" dirty="0">
                          <a:latin typeface="Arial"/>
                          <a:cs typeface="Arial"/>
                        </a:rPr>
                        <a:t>SHS</a:t>
                      </a:r>
                      <a:r>
                        <a:rPr sz="700" spc="-10" dirty="0">
                          <a:latin typeface="Arial"/>
                          <a:cs typeface="Arial"/>
                        </a:rPr>
                        <a:t>Y</a:t>
                      </a:r>
                      <a:r>
                        <a:rPr sz="700" dirty="0">
                          <a:latin typeface="Arial"/>
                          <a:cs typeface="Arial"/>
                        </a:rPr>
                        <a:t>NC</a:t>
                      </a:r>
                      <a:r>
                        <a:rPr sz="700" spc="-5" dirty="0">
                          <a:latin typeface="Arial"/>
                          <a:cs typeface="Arial"/>
                        </a:rPr>
                        <a:t>_</a:t>
                      </a:r>
                      <a:r>
                        <a:rPr sz="700" dirty="0">
                          <a:latin typeface="Arial"/>
                          <a:cs typeface="Arial"/>
                        </a:rPr>
                        <a:t>PER</a:t>
                      </a:r>
                      <a:r>
                        <a:rPr sz="700" spc="-15" dirty="0">
                          <a:latin typeface="Arial"/>
                          <a:cs typeface="Arial"/>
                        </a:rPr>
                        <a:t>I</a:t>
                      </a:r>
                      <a:r>
                        <a:rPr sz="700" dirty="0">
                          <a:latin typeface="Arial"/>
                          <a:cs typeface="Arial"/>
                        </a:rPr>
                        <a:t>OD</a:t>
                      </a:r>
                      <a:r>
                        <a:rPr sz="700" spc="-5" dirty="0">
                          <a:latin typeface="Arial"/>
                          <a:cs typeface="Arial"/>
                        </a:rPr>
                        <a:t> [14</a:t>
                      </a:r>
                      <a:r>
                        <a:rPr sz="700" dirty="0">
                          <a:latin typeface="Arial"/>
                          <a:cs typeface="Arial"/>
                        </a:rPr>
                        <a:t>:</a:t>
                      </a:r>
                      <a:r>
                        <a:rPr sz="700" spc="-5" dirty="0">
                          <a:latin typeface="Arial"/>
                          <a:cs typeface="Arial"/>
                        </a:rPr>
                        <a:t>0</a:t>
                      </a:r>
                      <a:r>
                        <a:rPr sz="700" dirty="0">
                          <a:latin typeface="Arial"/>
                          <a:cs typeface="Arial"/>
                        </a:rPr>
                        <a:t>]</a:t>
                      </a:r>
                    </a:p>
                  </a:txBody>
                  <a:tcPr marL="0" marR="0" marT="4254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1"/>
                  </a:ext>
                </a:extLst>
              </a:tr>
            </a:tbl>
          </a:graphicData>
        </a:graphic>
      </p:graphicFrame>
      <p:graphicFrame>
        <p:nvGraphicFramePr>
          <p:cNvPr id="20" name="표 19">
            <a:extLst>
              <a:ext uri="{FF2B5EF4-FFF2-40B4-BE49-F238E27FC236}">
                <a16:creationId xmlns:a16="http://schemas.microsoft.com/office/drawing/2014/main" id="{5022AA38-ECE8-FF00-439F-FA4269016CB3}"/>
              </a:ext>
            </a:extLst>
          </p:cNvPr>
          <p:cNvGraphicFramePr>
            <a:graphicFrameLocks noGrp="1"/>
          </p:cNvGraphicFramePr>
          <p:nvPr>
            <p:extLst>
              <p:ext uri="{D42A27DB-BD31-4B8C-83A1-F6EECF244321}">
                <p14:modId xmlns:p14="http://schemas.microsoft.com/office/powerpoint/2010/main" val="3480540663"/>
              </p:ext>
            </p:extLst>
          </p:nvPr>
        </p:nvGraphicFramePr>
        <p:xfrm>
          <a:off x="395482" y="1703349"/>
          <a:ext cx="6033770" cy="887451"/>
        </p:xfrm>
        <a:graphic>
          <a:graphicData uri="http://schemas.openxmlformats.org/drawingml/2006/table">
            <a:tbl>
              <a:tblPr firstRow="1" bandRow="1">
                <a:tableStyleId>{5C22544A-7EE6-4342-B048-85BDC9FD1C3A}</a:tableStyleId>
              </a:tblPr>
              <a:tblGrid>
                <a:gridCol w="384612">
                  <a:extLst>
                    <a:ext uri="{9D8B030D-6E8A-4147-A177-3AD203B41FA5}">
                      <a16:colId xmlns:a16="http://schemas.microsoft.com/office/drawing/2014/main" val="4170535043"/>
                    </a:ext>
                  </a:extLst>
                </a:gridCol>
                <a:gridCol w="1523121">
                  <a:extLst>
                    <a:ext uri="{9D8B030D-6E8A-4147-A177-3AD203B41FA5}">
                      <a16:colId xmlns:a16="http://schemas.microsoft.com/office/drawing/2014/main" val="2079070694"/>
                    </a:ext>
                  </a:extLst>
                </a:gridCol>
                <a:gridCol w="4126037">
                  <a:extLst>
                    <a:ext uri="{9D8B030D-6E8A-4147-A177-3AD203B41FA5}">
                      <a16:colId xmlns:a16="http://schemas.microsoft.com/office/drawing/2014/main" val="32595803"/>
                    </a:ext>
                  </a:extLst>
                </a:gridCol>
              </a:tblGrid>
              <a:tr h="256197">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326454">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spc="-5" dirty="0">
                          <a:latin typeface="Arial"/>
                          <a:cs typeface="Arial"/>
                        </a:rPr>
                        <a:t>12:8</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spc="-5" dirty="0">
                          <a:latin typeface="Arial"/>
                          <a:cs typeface="Arial"/>
                        </a:rPr>
                        <a:t>OUTPUT</a:t>
                      </a:r>
                      <a:r>
                        <a:rPr lang="en-US" altLang="ko-KR" sz="900" spc="-20" dirty="0">
                          <a:latin typeface="Arial"/>
                          <a:cs typeface="Arial"/>
                        </a:rPr>
                        <a:t> </a:t>
                      </a:r>
                      <a:r>
                        <a:rPr lang="en-US" altLang="ko-KR" sz="900" spc="-5" dirty="0">
                          <a:latin typeface="Arial"/>
                          <a:cs typeface="Arial"/>
                        </a:rPr>
                        <a:t>CH_SIZE</a:t>
                      </a:r>
                      <a:endParaRPr lang="en-US" altLang="ko-KR" sz="900" dirty="0">
                        <a:latin typeface="Arial"/>
                        <a:cs typeface="Arial"/>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spc="-5" dirty="0">
                          <a:latin typeface="Arial"/>
                          <a:cs typeface="Arial"/>
                        </a:rPr>
                        <a:t>This</a:t>
                      </a:r>
                      <a:r>
                        <a:rPr lang="en-US" altLang="ko-KR" sz="900" spc="-20" dirty="0">
                          <a:latin typeface="Arial"/>
                          <a:cs typeface="Arial"/>
                        </a:rPr>
                        <a:t> </a:t>
                      </a:r>
                      <a:r>
                        <a:rPr lang="en-US" altLang="ko-KR" sz="900" spc="-5" dirty="0">
                          <a:latin typeface="Arial"/>
                          <a:cs typeface="Arial"/>
                        </a:rPr>
                        <a:t>is</a:t>
                      </a:r>
                      <a:r>
                        <a:rPr lang="en-US" altLang="ko-KR" sz="900" spc="-10" dirty="0">
                          <a:latin typeface="Arial"/>
                          <a:cs typeface="Arial"/>
                        </a:rPr>
                        <a:t> </a:t>
                      </a:r>
                      <a:r>
                        <a:rPr lang="en-US" altLang="ko-KR" sz="900" dirty="0">
                          <a:latin typeface="Arial"/>
                          <a:cs typeface="Arial"/>
                        </a:rPr>
                        <a:t>used</a:t>
                      </a:r>
                      <a:r>
                        <a:rPr lang="en-US" altLang="ko-KR" sz="900" spc="-10" dirty="0">
                          <a:latin typeface="Arial"/>
                          <a:cs typeface="Arial"/>
                        </a:rPr>
                        <a:t> </a:t>
                      </a:r>
                      <a:r>
                        <a:rPr lang="en-US" altLang="ko-KR" sz="900" dirty="0">
                          <a:latin typeface="Arial"/>
                          <a:cs typeface="Arial"/>
                        </a:rPr>
                        <a:t>to</a:t>
                      </a:r>
                      <a:r>
                        <a:rPr lang="en-US" altLang="ko-KR" sz="900" spc="-15" dirty="0">
                          <a:latin typeface="Arial"/>
                          <a:cs typeface="Arial"/>
                        </a:rPr>
                        <a:t> </a:t>
                      </a:r>
                      <a:r>
                        <a:rPr lang="en-US" altLang="ko-KR" sz="900" dirty="0">
                          <a:latin typeface="Arial"/>
                          <a:cs typeface="Arial"/>
                        </a:rPr>
                        <a:t>set</a:t>
                      </a:r>
                      <a:r>
                        <a:rPr lang="en-US" altLang="ko-KR" sz="900" spc="-10" dirty="0">
                          <a:latin typeface="Arial"/>
                          <a:cs typeface="Arial"/>
                        </a:rPr>
                        <a:t> </a:t>
                      </a:r>
                      <a:r>
                        <a:rPr lang="en-US" altLang="ko-KR" sz="900" spc="-5" dirty="0">
                          <a:latin typeface="Arial"/>
                          <a:cs typeface="Arial"/>
                        </a:rPr>
                        <a:t>how</a:t>
                      </a:r>
                      <a:r>
                        <a:rPr lang="en-US" altLang="ko-KR" sz="900" spc="-20" dirty="0">
                          <a:latin typeface="Arial"/>
                          <a:cs typeface="Arial"/>
                        </a:rPr>
                        <a:t> </a:t>
                      </a:r>
                      <a:r>
                        <a:rPr lang="en-US" altLang="ko-KR" sz="900" dirty="0">
                          <a:latin typeface="Arial"/>
                          <a:cs typeface="Arial"/>
                        </a:rPr>
                        <a:t>many</a:t>
                      </a:r>
                      <a:r>
                        <a:rPr lang="en-US" altLang="ko-KR" sz="900" spc="-20" dirty="0">
                          <a:latin typeface="Arial"/>
                          <a:cs typeface="Arial"/>
                        </a:rPr>
                        <a:t> </a:t>
                      </a:r>
                      <a:r>
                        <a:rPr lang="en-US" altLang="ko-KR" sz="900" dirty="0">
                          <a:latin typeface="Arial"/>
                          <a:cs typeface="Arial"/>
                        </a:rPr>
                        <a:t>channels</a:t>
                      </a:r>
                      <a:r>
                        <a:rPr lang="en-US" altLang="ko-KR" sz="900" spc="-35" dirty="0">
                          <a:latin typeface="Arial"/>
                          <a:cs typeface="Arial"/>
                        </a:rPr>
                        <a:t> </a:t>
                      </a:r>
                      <a:r>
                        <a:rPr lang="en-US" altLang="ko-KR" sz="900" spc="-5" dirty="0">
                          <a:latin typeface="Arial"/>
                          <a:cs typeface="Arial"/>
                        </a:rPr>
                        <a:t>are</a:t>
                      </a:r>
                      <a:r>
                        <a:rPr lang="en-US" altLang="ko-KR" sz="900" dirty="0">
                          <a:latin typeface="Arial"/>
                          <a:cs typeface="Arial"/>
                        </a:rPr>
                        <a:t> used.</a:t>
                      </a: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30480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dirty="0">
                          <a:latin typeface="Arial"/>
                          <a:cs typeface="Arial"/>
                        </a:rPr>
                        <a:t>4:0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spc="-5" dirty="0">
                          <a:latin typeface="Arial"/>
                          <a:cs typeface="Arial"/>
                        </a:rPr>
                        <a:t>SVSYNC_DELAY</a:t>
                      </a:r>
                      <a:endParaRPr lang="en-US" altLang="ko-KR" sz="900" dirty="0">
                        <a:latin typeface="Arial"/>
                        <a:cs typeface="Arial"/>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spc="-5" dirty="0">
                          <a:latin typeface="Arial"/>
                          <a:cs typeface="Arial"/>
                        </a:rPr>
                        <a:t>This </a:t>
                      </a:r>
                      <a:r>
                        <a:rPr lang="en-US" altLang="ko-KR" sz="900" dirty="0">
                          <a:latin typeface="Arial"/>
                          <a:cs typeface="Arial"/>
                        </a:rPr>
                        <a:t>means</a:t>
                      </a:r>
                      <a:r>
                        <a:rPr lang="en-US" altLang="ko-KR" sz="900" spc="-20" dirty="0">
                          <a:latin typeface="Arial"/>
                          <a:cs typeface="Arial"/>
                        </a:rPr>
                        <a:t> </a:t>
                      </a:r>
                      <a:r>
                        <a:rPr lang="en-US" altLang="ko-KR" sz="900" dirty="0">
                          <a:latin typeface="Arial"/>
                          <a:cs typeface="Arial"/>
                        </a:rPr>
                        <a:t>the</a:t>
                      </a:r>
                      <a:r>
                        <a:rPr lang="en-US" altLang="ko-KR" sz="900" spc="-10" dirty="0">
                          <a:latin typeface="Arial"/>
                          <a:cs typeface="Arial"/>
                        </a:rPr>
                        <a:t> </a:t>
                      </a:r>
                      <a:r>
                        <a:rPr lang="en-US" altLang="ko-KR" sz="900" spc="-5" dirty="0">
                          <a:latin typeface="Arial"/>
                          <a:cs typeface="Arial"/>
                        </a:rPr>
                        <a:t>interval</a:t>
                      </a:r>
                      <a:r>
                        <a:rPr lang="en-US" altLang="ko-KR" sz="900" spc="-10" dirty="0">
                          <a:latin typeface="Arial"/>
                          <a:cs typeface="Arial"/>
                        </a:rPr>
                        <a:t> </a:t>
                      </a:r>
                      <a:r>
                        <a:rPr lang="en-US" altLang="ko-KR" sz="900" dirty="0">
                          <a:latin typeface="Arial"/>
                          <a:cs typeface="Arial"/>
                        </a:rPr>
                        <a:t>of</a:t>
                      </a:r>
                      <a:r>
                        <a:rPr lang="en-US" altLang="ko-KR" sz="900" spc="-10" dirty="0">
                          <a:latin typeface="Arial"/>
                          <a:cs typeface="Arial"/>
                        </a:rPr>
                        <a:t> </a:t>
                      </a:r>
                      <a:r>
                        <a:rPr lang="en-US" altLang="ko-KR" sz="900" spc="-5" dirty="0">
                          <a:latin typeface="Arial"/>
                          <a:cs typeface="Arial"/>
                        </a:rPr>
                        <a:t>svsync between </a:t>
                      </a:r>
                      <a:r>
                        <a:rPr lang="en-US" altLang="ko-KR" sz="900" dirty="0">
                          <a:latin typeface="Arial"/>
                          <a:cs typeface="Arial"/>
                        </a:rPr>
                        <a:t>lines’</a:t>
                      </a:r>
                      <a:r>
                        <a:rPr lang="en-US" altLang="ko-KR" sz="900" spc="-20" dirty="0">
                          <a:latin typeface="Arial"/>
                          <a:cs typeface="Arial"/>
                        </a:rPr>
                        <a:t> </a:t>
                      </a:r>
                      <a:r>
                        <a:rPr lang="en-US" altLang="ko-KR" sz="900" dirty="0">
                          <a:latin typeface="Arial"/>
                          <a:cs typeface="Arial"/>
                        </a:rPr>
                        <a:t>start</a:t>
                      </a:r>
                      <a:r>
                        <a:rPr lang="en-US" altLang="ko-KR" sz="900" spc="-10" dirty="0">
                          <a:latin typeface="Arial"/>
                          <a:cs typeface="Arial"/>
                        </a:rPr>
                        <a:t> </a:t>
                      </a:r>
                      <a:r>
                        <a:rPr lang="en-US" altLang="ko-KR" sz="900" dirty="0">
                          <a:latin typeface="Arial"/>
                          <a:cs typeface="Arial"/>
                        </a:rPr>
                        <a:t>of</a:t>
                      </a:r>
                      <a:r>
                        <a:rPr lang="en-US" altLang="ko-KR" sz="900" spc="-10" dirty="0">
                          <a:latin typeface="Arial"/>
                          <a:cs typeface="Arial"/>
                        </a:rPr>
                        <a:t> </a:t>
                      </a:r>
                      <a:r>
                        <a:rPr lang="en-US" altLang="ko-KR" sz="900" dirty="0">
                          <a:latin typeface="Arial"/>
                          <a:cs typeface="Arial"/>
                        </a:rPr>
                        <a:t>the</a:t>
                      </a:r>
                      <a:r>
                        <a:rPr lang="en-US" altLang="ko-KR" sz="900" spc="-10" dirty="0">
                          <a:latin typeface="Arial"/>
                          <a:cs typeface="Arial"/>
                        </a:rPr>
                        <a:t> </a:t>
                      </a:r>
                      <a:r>
                        <a:rPr lang="en-US" altLang="ko-KR" sz="900" dirty="0">
                          <a:latin typeface="Arial"/>
                          <a:cs typeface="Arial"/>
                        </a:rPr>
                        <a:t>local</a:t>
                      </a:r>
                      <a:r>
                        <a:rPr lang="en-US" altLang="ko-KR" sz="900" spc="-20" dirty="0">
                          <a:latin typeface="Arial"/>
                          <a:cs typeface="Arial"/>
                        </a:rPr>
                        <a:t> </a:t>
                      </a:r>
                      <a:r>
                        <a:rPr lang="en-US" altLang="ko-KR" sz="900" dirty="0">
                          <a:latin typeface="Arial"/>
                          <a:cs typeface="Arial"/>
                        </a:rPr>
                        <a:t>dimming</a:t>
                      </a:r>
                      <a:r>
                        <a:rPr lang="en-US" altLang="ko-KR" sz="900" spc="-35" dirty="0">
                          <a:latin typeface="Arial"/>
                          <a:cs typeface="Arial"/>
                        </a:rPr>
                        <a:t> </a:t>
                      </a:r>
                      <a:r>
                        <a:rPr lang="en-US" altLang="ko-KR" sz="900" dirty="0">
                          <a:latin typeface="Arial"/>
                          <a:cs typeface="Arial"/>
                        </a:rPr>
                        <a:t>out.</a:t>
                      </a: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63706801"/>
                  </a:ext>
                </a:extLst>
              </a:tr>
            </a:tbl>
          </a:graphicData>
        </a:graphic>
      </p:graphicFrame>
      <p:graphicFrame>
        <p:nvGraphicFramePr>
          <p:cNvPr id="21" name="표 20">
            <a:extLst>
              <a:ext uri="{FF2B5EF4-FFF2-40B4-BE49-F238E27FC236}">
                <a16:creationId xmlns:a16="http://schemas.microsoft.com/office/drawing/2014/main" id="{3F226493-918D-5CB9-FC6C-D440931318C4}"/>
              </a:ext>
            </a:extLst>
          </p:cNvPr>
          <p:cNvGraphicFramePr>
            <a:graphicFrameLocks noGrp="1"/>
          </p:cNvGraphicFramePr>
          <p:nvPr>
            <p:extLst>
              <p:ext uri="{D42A27DB-BD31-4B8C-83A1-F6EECF244321}">
                <p14:modId xmlns:p14="http://schemas.microsoft.com/office/powerpoint/2010/main" val="1100055873"/>
              </p:ext>
            </p:extLst>
          </p:nvPr>
        </p:nvGraphicFramePr>
        <p:xfrm>
          <a:off x="392684" y="3959679"/>
          <a:ext cx="6033770" cy="602517"/>
        </p:xfrm>
        <a:graphic>
          <a:graphicData uri="http://schemas.openxmlformats.org/drawingml/2006/table">
            <a:tbl>
              <a:tblPr firstRow="1" bandRow="1">
                <a:tableStyleId>{5C22544A-7EE6-4342-B048-85BDC9FD1C3A}</a:tableStyleId>
              </a:tblPr>
              <a:tblGrid>
                <a:gridCol w="384612">
                  <a:extLst>
                    <a:ext uri="{9D8B030D-6E8A-4147-A177-3AD203B41FA5}">
                      <a16:colId xmlns:a16="http://schemas.microsoft.com/office/drawing/2014/main" val="4170535043"/>
                    </a:ext>
                  </a:extLst>
                </a:gridCol>
                <a:gridCol w="1523121">
                  <a:extLst>
                    <a:ext uri="{9D8B030D-6E8A-4147-A177-3AD203B41FA5}">
                      <a16:colId xmlns:a16="http://schemas.microsoft.com/office/drawing/2014/main" val="2079070694"/>
                    </a:ext>
                  </a:extLst>
                </a:gridCol>
                <a:gridCol w="4126037">
                  <a:extLst>
                    <a:ext uri="{9D8B030D-6E8A-4147-A177-3AD203B41FA5}">
                      <a16:colId xmlns:a16="http://schemas.microsoft.com/office/drawing/2014/main" val="32595803"/>
                    </a:ext>
                  </a:extLst>
                </a:gridCol>
              </a:tblGrid>
              <a:tr h="256197">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326454">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spc="-5" dirty="0">
                          <a:latin typeface="Arial"/>
                          <a:cs typeface="Arial"/>
                        </a:rPr>
                        <a:t>14:0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spc="-5" dirty="0">
                          <a:latin typeface="Arial"/>
                          <a:cs typeface="Arial"/>
                        </a:rPr>
                        <a:t>SVSYNC_OFFSET</a:t>
                      </a:r>
                      <a:endParaRPr lang="en-US" altLang="ko-KR" sz="900" dirty="0">
                        <a:latin typeface="Arial"/>
                        <a:cs typeface="Arial"/>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spc="-5" dirty="0">
                          <a:latin typeface="Arial"/>
                          <a:cs typeface="Arial"/>
                        </a:rPr>
                        <a:t>The</a:t>
                      </a:r>
                      <a:r>
                        <a:rPr lang="en-US" altLang="ko-KR" sz="900" spc="-20" dirty="0">
                          <a:latin typeface="Arial"/>
                          <a:cs typeface="Arial"/>
                        </a:rPr>
                        <a:t> </a:t>
                      </a:r>
                      <a:r>
                        <a:rPr lang="en-US" altLang="ko-KR" sz="900" dirty="0">
                          <a:latin typeface="Arial"/>
                          <a:cs typeface="Arial"/>
                        </a:rPr>
                        <a:t>internal</a:t>
                      </a:r>
                      <a:r>
                        <a:rPr lang="en-US" altLang="ko-KR" sz="900" spc="-20" dirty="0">
                          <a:latin typeface="Arial"/>
                          <a:cs typeface="Arial"/>
                        </a:rPr>
                        <a:t> </a:t>
                      </a:r>
                      <a:r>
                        <a:rPr lang="en-US" altLang="ko-KR" sz="900" spc="-5" dirty="0">
                          <a:latin typeface="Arial"/>
                          <a:cs typeface="Arial"/>
                        </a:rPr>
                        <a:t>svsync </a:t>
                      </a:r>
                      <a:r>
                        <a:rPr lang="en-US" altLang="ko-KR" sz="900" dirty="0">
                          <a:latin typeface="Arial"/>
                          <a:cs typeface="Arial"/>
                        </a:rPr>
                        <a:t>starts</a:t>
                      </a:r>
                      <a:r>
                        <a:rPr lang="en-US" altLang="ko-KR" sz="900" spc="-20" dirty="0">
                          <a:latin typeface="Arial"/>
                          <a:cs typeface="Arial"/>
                        </a:rPr>
                        <a:t> </a:t>
                      </a:r>
                      <a:r>
                        <a:rPr lang="en-US" altLang="ko-KR" sz="900" dirty="0">
                          <a:latin typeface="Arial"/>
                          <a:cs typeface="Arial"/>
                        </a:rPr>
                        <a:t>asserting</a:t>
                      </a:r>
                      <a:r>
                        <a:rPr lang="en-US" altLang="ko-KR" sz="900" spc="-35" dirty="0">
                          <a:latin typeface="Arial"/>
                          <a:cs typeface="Arial"/>
                        </a:rPr>
                        <a:t> </a:t>
                      </a:r>
                      <a:r>
                        <a:rPr lang="en-US" altLang="ko-KR" sz="900" dirty="0">
                          <a:latin typeface="Arial"/>
                          <a:cs typeface="Arial"/>
                        </a:rPr>
                        <a:t>just</a:t>
                      </a:r>
                      <a:r>
                        <a:rPr lang="en-US" altLang="ko-KR" sz="900" spc="-25" dirty="0">
                          <a:latin typeface="Arial"/>
                          <a:cs typeface="Arial"/>
                        </a:rPr>
                        <a:t> </a:t>
                      </a:r>
                      <a:r>
                        <a:rPr lang="en-US" altLang="ko-KR" sz="900" dirty="0">
                          <a:latin typeface="Arial"/>
                          <a:cs typeface="Arial"/>
                        </a:rPr>
                        <a:t>after</a:t>
                      </a:r>
                      <a:r>
                        <a:rPr lang="en-US" altLang="ko-KR" sz="900" spc="-15" dirty="0">
                          <a:latin typeface="Arial"/>
                          <a:cs typeface="Arial"/>
                        </a:rPr>
                        <a:t> </a:t>
                      </a:r>
                      <a:r>
                        <a:rPr lang="en-US" altLang="ko-KR" sz="900" dirty="0">
                          <a:latin typeface="Arial"/>
                          <a:cs typeface="Arial"/>
                        </a:rPr>
                        <a:t>this</a:t>
                      </a:r>
                      <a:r>
                        <a:rPr lang="en-US" altLang="ko-KR" sz="900" spc="-5" dirty="0">
                          <a:latin typeface="Arial"/>
                          <a:cs typeface="Arial"/>
                        </a:rPr>
                        <a:t> </a:t>
                      </a:r>
                      <a:r>
                        <a:rPr lang="en-US" altLang="ko-KR" sz="900" dirty="0">
                          <a:latin typeface="Arial"/>
                          <a:cs typeface="Arial"/>
                        </a:rPr>
                        <a:t>register’s</a:t>
                      </a:r>
                      <a:r>
                        <a:rPr lang="en-US" altLang="ko-KR" sz="900" spc="-30" dirty="0">
                          <a:latin typeface="Arial"/>
                          <a:cs typeface="Arial"/>
                        </a:rPr>
                        <a:t> </a:t>
                      </a:r>
                      <a:r>
                        <a:rPr lang="en-US" altLang="ko-KR" sz="900" spc="-5" dirty="0">
                          <a:latin typeface="Arial"/>
                          <a:cs typeface="Arial"/>
                        </a:rPr>
                        <a:t>value</a:t>
                      </a:r>
                      <a:r>
                        <a:rPr lang="en-US" altLang="ko-KR" sz="900" spc="-10" dirty="0">
                          <a:latin typeface="Arial"/>
                          <a:cs typeface="Arial"/>
                        </a:rPr>
                        <a:t> </a:t>
                      </a:r>
                      <a:r>
                        <a:rPr lang="en-US" altLang="ko-KR" sz="900" spc="-5" dirty="0">
                          <a:latin typeface="Arial"/>
                          <a:cs typeface="Arial"/>
                        </a:rPr>
                        <a:t>expires </a:t>
                      </a:r>
                      <a:r>
                        <a:rPr lang="en-US" altLang="ko-KR" sz="900" dirty="0">
                          <a:latin typeface="Arial"/>
                          <a:cs typeface="Arial"/>
                        </a:rPr>
                        <a:t>from </a:t>
                      </a:r>
                      <a:r>
                        <a:rPr lang="en-US" altLang="ko-KR" sz="900" spc="-5" dirty="0">
                          <a:latin typeface="Arial"/>
                          <a:cs typeface="Arial"/>
                        </a:rPr>
                        <a:t>VSYNC. This</a:t>
                      </a:r>
                      <a:r>
                        <a:rPr lang="en-US" altLang="ko-KR" sz="900" spc="-20" dirty="0">
                          <a:latin typeface="Arial"/>
                          <a:cs typeface="Arial"/>
                        </a:rPr>
                        <a:t> </a:t>
                      </a:r>
                      <a:r>
                        <a:rPr lang="en-US" altLang="ko-KR" sz="900" dirty="0">
                          <a:latin typeface="Arial"/>
                          <a:cs typeface="Arial"/>
                        </a:rPr>
                        <a:t>value</a:t>
                      </a:r>
                      <a:r>
                        <a:rPr lang="en-US" altLang="ko-KR" sz="900" spc="-15" dirty="0">
                          <a:latin typeface="Arial"/>
                          <a:cs typeface="Arial"/>
                        </a:rPr>
                        <a:t> </a:t>
                      </a:r>
                      <a:r>
                        <a:rPr lang="en-US" altLang="ko-KR" sz="900" dirty="0">
                          <a:latin typeface="Arial"/>
                          <a:cs typeface="Arial"/>
                        </a:rPr>
                        <a:t>is</a:t>
                      </a:r>
                      <a:r>
                        <a:rPr lang="en-US" altLang="ko-KR" sz="900" spc="-20" dirty="0">
                          <a:latin typeface="Arial"/>
                          <a:cs typeface="Arial"/>
                        </a:rPr>
                        <a:t> </a:t>
                      </a:r>
                      <a:r>
                        <a:rPr lang="en-US" altLang="ko-KR" sz="900" dirty="0">
                          <a:latin typeface="Arial"/>
                          <a:cs typeface="Arial"/>
                        </a:rPr>
                        <a:t>counted</a:t>
                      </a:r>
                      <a:r>
                        <a:rPr lang="en-US" altLang="ko-KR" sz="900" spc="-25" dirty="0">
                          <a:latin typeface="Arial"/>
                          <a:cs typeface="Arial"/>
                        </a:rPr>
                        <a:t> </a:t>
                      </a:r>
                      <a:r>
                        <a:rPr lang="en-US" altLang="ko-KR" sz="900" dirty="0">
                          <a:latin typeface="Arial"/>
                          <a:cs typeface="Arial"/>
                        </a:rPr>
                        <a:t>by</a:t>
                      </a:r>
                      <a:r>
                        <a:rPr lang="en-US" altLang="ko-KR" sz="900" spc="-15" dirty="0">
                          <a:latin typeface="Arial"/>
                          <a:cs typeface="Arial"/>
                        </a:rPr>
                        <a:t> </a:t>
                      </a:r>
                      <a:r>
                        <a:rPr lang="en-US" altLang="ko-KR" sz="900" spc="-5" dirty="0">
                          <a:latin typeface="Arial"/>
                          <a:cs typeface="Arial"/>
                        </a:rPr>
                        <a:t>MCLK. </a:t>
                      </a:r>
                      <a:r>
                        <a:rPr lang="en-US" altLang="ko-KR" sz="900" dirty="0">
                          <a:latin typeface="Arial"/>
                          <a:cs typeface="Arial"/>
                        </a:rPr>
                        <a:t>Normally</a:t>
                      </a:r>
                      <a:r>
                        <a:rPr lang="en-US" altLang="ko-KR" sz="900" spc="-40" dirty="0">
                          <a:latin typeface="Arial"/>
                          <a:cs typeface="Arial"/>
                        </a:rPr>
                        <a:t> </a:t>
                      </a:r>
                      <a:r>
                        <a:rPr lang="en-US" altLang="ko-KR" sz="900" dirty="0">
                          <a:latin typeface="Arial"/>
                          <a:cs typeface="Arial"/>
                        </a:rPr>
                        <a:t>recommended</a:t>
                      </a:r>
                      <a:r>
                        <a:rPr lang="en-US" altLang="ko-KR" sz="900" spc="-50" dirty="0">
                          <a:latin typeface="Arial"/>
                          <a:cs typeface="Arial"/>
                        </a:rPr>
                        <a:t> </a:t>
                      </a:r>
                      <a:r>
                        <a:rPr lang="en-US" altLang="ko-KR" sz="900" dirty="0">
                          <a:latin typeface="Arial"/>
                          <a:cs typeface="Arial"/>
                        </a:rPr>
                        <a:t>to</a:t>
                      </a:r>
                      <a:r>
                        <a:rPr lang="en-US" altLang="ko-KR" sz="900" spc="-25" dirty="0">
                          <a:latin typeface="Arial"/>
                          <a:cs typeface="Arial"/>
                        </a:rPr>
                        <a:t> </a:t>
                      </a:r>
                      <a:r>
                        <a:rPr lang="en-US" altLang="ko-KR" sz="900" dirty="0">
                          <a:latin typeface="Arial"/>
                          <a:cs typeface="Arial"/>
                        </a:rPr>
                        <a:t>set</a:t>
                      </a:r>
                      <a:r>
                        <a:rPr lang="en-US" altLang="ko-KR" sz="900" spc="-30" dirty="0">
                          <a:latin typeface="Arial"/>
                          <a:cs typeface="Arial"/>
                        </a:rPr>
                        <a:t> </a:t>
                      </a:r>
                      <a:r>
                        <a:rPr lang="en-US" altLang="ko-KR" sz="900" dirty="0">
                          <a:latin typeface="Arial"/>
                          <a:cs typeface="Arial"/>
                        </a:rPr>
                        <a:t>0.</a:t>
                      </a: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22" name="표 21">
            <a:extLst>
              <a:ext uri="{FF2B5EF4-FFF2-40B4-BE49-F238E27FC236}">
                <a16:creationId xmlns:a16="http://schemas.microsoft.com/office/drawing/2014/main" id="{91548EC3-7AE0-19E4-8B54-75CA19725507}"/>
              </a:ext>
            </a:extLst>
          </p:cNvPr>
          <p:cNvGraphicFramePr>
            <a:graphicFrameLocks noGrp="1"/>
          </p:cNvGraphicFramePr>
          <p:nvPr>
            <p:extLst>
              <p:ext uri="{D42A27DB-BD31-4B8C-83A1-F6EECF244321}">
                <p14:modId xmlns:p14="http://schemas.microsoft.com/office/powerpoint/2010/main" val="3981492686"/>
              </p:ext>
            </p:extLst>
          </p:nvPr>
        </p:nvGraphicFramePr>
        <p:xfrm>
          <a:off x="400909" y="6117089"/>
          <a:ext cx="6033770" cy="602517"/>
        </p:xfrm>
        <a:graphic>
          <a:graphicData uri="http://schemas.openxmlformats.org/drawingml/2006/table">
            <a:tbl>
              <a:tblPr firstRow="1" bandRow="1">
                <a:tableStyleId>{5C22544A-7EE6-4342-B048-85BDC9FD1C3A}</a:tableStyleId>
              </a:tblPr>
              <a:tblGrid>
                <a:gridCol w="384612">
                  <a:extLst>
                    <a:ext uri="{9D8B030D-6E8A-4147-A177-3AD203B41FA5}">
                      <a16:colId xmlns:a16="http://schemas.microsoft.com/office/drawing/2014/main" val="4170535043"/>
                    </a:ext>
                  </a:extLst>
                </a:gridCol>
                <a:gridCol w="1523121">
                  <a:extLst>
                    <a:ext uri="{9D8B030D-6E8A-4147-A177-3AD203B41FA5}">
                      <a16:colId xmlns:a16="http://schemas.microsoft.com/office/drawing/2014/main" val="2079070694"/>
                    </a:ext>
                  </a:extLst>
                </a:gridCol>
                <a:gridCol w="4126037">
                  <a:extLst>
                    <a:ext uri="{9D8B030D-6E8A-4147-A177-3AD203B41FA5}">
                      <a16:colId xmlns:a16="http://schemas.microsoft.com/office/drawing/2014/main" val="32595803"/>
                    </a:ext>
                  </a:extLst>
                </a:gridCol>
              </a:tblGrid>
              <a:tr h="256197">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326454">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spc="-5" dirty="0">
                          <a:latin typeface="Arial"/>
                          <a:cs typeface="Arial"/>
                        </a:rPr>
                        <a:t>14:0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spc="-5" dirty="0">
                          <a:latin typeface="Arial"/>
                          <a:cs typeface="Arial"/>
                        </a:rPr>
                        <a:t>SVSYNC_PERIOD</a:t>
                      </a:r>
                      <a:endParaRPr lang="en-US" altLang="ko-KR" sz="900" dirty="0">
                        <a:latin typeface="Arial"/>
                        <a:cs typeface="Arial"/>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spc="-5" dirty="0">
                          <a:latin typeface="Arial"/>
                          <a:cs typeface="Arial"/>
                        </a:rPr>
                        <a:t>Means</a:t>
                      </a:r>
                      <a:r>
                        <a:rPr lang="en-US" altLang="ko-KR" sz="900" spc="5" dirty="0">
                          <a:latin typeface="Arial"/>
                          <a:cs typeface="Arial"/>
                        </a:rPr>
                        <a:t> </a:t>
                      </a:r>
                      <a:r>
                        <a:rPr lang="en-US" altLang="ko-KR" sz="900" dirty="0">
                          <a:latin typeface="Arial"/>
                          <a:cs typeface="Arial"/>
                        </a:rPr>
                        <a:t>the</a:t>
                      </a:r>
                      <a:r>
                        <a:rPr lang="en-US" altLang="ko-KR" sz="900" spc="-5" dirty="0">
                          <a:latin typeface="Arial"/>
                          <a:cs typeface="Arial"/>
                        </a:rPr>
                        <a:t> period</a:t>
                      </a:r>
                      <a:r>
                        <a:rPr lang="en-US" altLang="ko-KR" sz="900" spc="-20" dirty="0">
                          <a:latin typeface="Arial"/>
                          <a:cs typeface="Arial"/>
                        </a:rPr>
                        <a:t> </a:t>
                      </a:r>
                      <a:r>
                        <a:rPr lang="en-US" altLang="ko-KR" sz="900" dirty="0">
                          <a:latin typeface="Arial"/>
                          <a:cs typeface="Arial"/>
                        </a:rPr>
                        <a:t>of</a:t>
                      </a:r>
                      <a:r>
                        <a:rPr lang="en-US" altLang="ko-KR" sz="900" spc="-5" dirty="0">
                          <a:latin typeface="Arial"/>
                          <a:cs typeface="Arial"/>
                        </a:rPr>
                        <a:t> one svsync.</a:t>
                      </a:r>
                      <a:r>
                        <a:rPr lang="en-US" altLang="ko-KR" sz="900" spc="-10" dirty="0">
                          <a:latin typeface="Arial"/>
                          <a:cs typeface="Arial"/>
                        </a:rPr>
                        <a:t> </a:t>
                      </a:r>
                      <a:r>
                        <a:rPr lang="en-US" altLang="ko-KR" sz="900" spc="-5" dirty="0">
                          <a:latin typeface="Arial"/>
                          <a:cs typeface="Arial"/>
                        </a:rPr>
                        <a:t>This</a:t>
                      </a:r>
                      <a:r>
                        <a:rPr lang="en-US" altLang="ko-KR" sz="900" spc="10" dirty="0">
                          <a:latin typeface="Arial"/>
                          <a:cs typeface="Arial"/>
                        </a:rPr>
                        <a:t> </a:t>
                      </a:r>
                      <a:r>
                        <a:rPr lang="en-US" altLang="ko-KR" sz="900" spc="-5" dirty="0">
                          <a:latin typeface="Arial"/>
                          <a:cs typeface="Arial"/>
                        </a:rPr>
                        <a:t>value</a:t>
                      </a:r>
                      <a:r>
                        <a:rPr lang="en-US" altLang="ko-KR" sz="900" spc="-10" dirty="0">
                          <a:latin typeface="Arial"/>
                          <a:cs typeface="Arial"/>
                        </a:rPr>
                        <a:t> </a:t>
                      </a:r>
                      <a:r>
                        <a:rPr lang="en-US" altLang="ko-KR" sz="900" spc="-5" dirty="0">
                          <a:latin typeface="Arial"/>
                          <a:cs typeface="Arial"/>
                        </a:rPr>
                        <a:t>is</a:t>
                      </a:r>
                      <a:r>
                        <a:rPr lang="en-US" altLang="ko-KR" sz="900" dirty="0">
                          <a:latin typeface="Arial"/>
                          <a:cs typeface="Arial"/>
                        </a:rPr>
                        <a:t> counted</a:t>
                      </a:r>
                      <a:r>
                        <a:rPr lang="en-US" altLang="ko-KR" sz="900" spc="-30" dirty="0">
                          <a:latin typeface="Arial"/>
                          <a:cs typeface="Arial"/>
                        </a:rPr>
                        <a:t> </a:t>
                      </a:r>
                      <a:r>
                        <a:rPr lang="en-US" altLang="ko-KR" sz="900" spc="-5" dirty="0">
                          <a:latin typeface="Arial"/>
                          <a:cs typeface="Arial"/>
                        </a:rPr>
                        <a:t>by</a:t>
                      </a:r>
                      <a:r>
                        <a:rPr lang="en-US" altLang="ko-KR" sz="900" spc="-10" dirty="0">
                          <a:latin typeface="Arial"/>
                          <a:cs typeface="Arial"/>
                        </a:rPr>
                        <a:t> </a:t>
                      </a:r>
                      <a:r>
                        <a:rPr lang="en-US" altLang="ko-KR" sz="900" spc="-5" dirty="0">
                          <a:latin typeface="Arial"/>
                          <a:cs typeface="Arial"/>
                        </a:rPr>
                        <a:t>MCLK.</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spc="-5" dirty="0">
                          <a:latin typeface="Arial"/>
                          <a:cs typeface="Arial"/>
                        </a:rPr>
                        <a:t>= </a:t>
                      </a:r>
                      <a:r>
                        <a:rPr lang="en-US" altLang="ko-KR" sz="900" dirty="0">
                          <a:latin typeface="Arial"/>
                          <a:cs typeface="Arial"/>
                        </a:rPr>
                        <a:t>the</a:t>
                      </a:r>
                      <a:r>
                        <a:rPr lang="en-US" altLang="ko-KR" sz="900" spc="-15" dirty="0">
                          <a:latin typeface="Arial"/>
                          <a:cs typeface="Arial"/>
                        </a:rPr>
                        <a:t> </a:t>
                      </a:r>
                      <a:r>
                        <a:rPr lang="en-US" altLang="ko-KR" sz="900" dirty="0">
                          <a:latin typeface="Arial"/>
                          <a:cs typeface="Arial"/>
                        </a:rPr>
                        <a:t>source</a:t>
                      </a:r>
                      <a:r>
                        <a:rPr lang="en-US" altLang="ko-KR" sz="900" spc="-35" dirty="0">
                          <a:latin typeface="Arial"/>
                          <a:cs typeface="Arial"/>
                        </a:rPr>
                        <a:t> </a:t>
                      </a:r>
                      <a:r>
                        <a:rPr lang="en-US" altLang="ko-KR" sz="900" dirty="0">
                          <a:latin typeface="Arial"/>
                          <a:cs typeface="Arial"/>
                        </a:rPr>
                        <a:t>frame</a:t>
                      </a:r>
                      <a:r>
                        <a:rPr lang="en-US" altLang="ko-KR" sz="900" spc="-15" dirty="0">
                          <a:latin typeface="Arial"/>
                          <a:cs typeface="Arial"/>
                        </a:rPr>
                        <a:t> </a:t>
                      </a:r>
                      <a:r>
                        <a:rPr lang="en-US" altLang="ko-KR" sz="900" spc="-5" dirty="0">
                          <a:latin typeface="Arial"/>
                          <a:cs typeface="Arial"/>
                        </a:rPr>
                        <a:t>period</a:t>
                      </a:r>
                      <a:r>
                        <a:rPr lang="en-US" altLang="ko-KR" sz="900" spc="-20" dirty="0">
                          <a:latin typeface="Arial"/>
                          <a:cs typeface="Arial"/>
                        </a:rPr>
                        <a:t> </a:t>
                      </a:r>
                      <a:r>
                        <a:rPr lang="en-US" altLang="ko-KR" sz="900" dirty="0">
                          <a:latin typeface="Arial"/>
                          <a:cs typeface="Arial"/>
                        </a:rPr>
                        <a:t>/</a:t>
                      </a:r>
                      <a:r>
                        <a:rPr lang="en-US" altLang="ko-KR" sz="900" spc="-5" dirty="0">
                          <a:latin typeface="Arial"/>
                          <a:cs typeface="Arial"/>
                        </a:rPr>
                        <a:t> SVSYNC_SIZE</a:t>
                      </a:r>
                      <a:endParaRPr lang="en-US" altLang="ko-KR" sz="900" dirty="0">
                        <a:latin typeface="Arial"/>
                        <a:cs typeface="Arial"/>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23" name="표 22">
            <a:extLst>
              <a:ext uri="{FF2B5EF4-FFF2-40B4-BE49-F238E27FC236}">
                <a16:creationId xmlns:a16="http://schemas.microsoft.com/office/drawing/2014/main" id="{EE52CF19-45E6-6139-34F9-0B3A1065C113}"/>
              </a:ext>
            </a:extLst>
          </p:cNvPr>
          <p:cNvGraphicFramePr>
            <a:graphicFrameLocks noGrp="1"/>
          </p:cNvGraphicFramePr>
          <p:nvPr>
            <p:extLst>
              <p:ext uri="{D42A27DB-BD31-4B8C-83A1-F6EECF244321}">
                <p14:modId xmlns:p14="http://schemas.microsoft.com/office/powerpoint/2010/main" val="2514181413"/>
              </p:ext>
            </p:extLst>
          </p:nvPr>
        </p:nvGraphicFramePr>
        <p:xfrm>
          <a:off x="392684" y="8031498"/>
          <a:ext cx="6033770" cy="602517"/>
        </p:xfrm>
        <a:graphic>
          <a:graphicData uri="http://schemas.openxmlformats.org/drawingml/2006/table">
            <a:tbl>
              <a:tblPr firstRow="1" bandRow="1">
                <a:tableStyleId>{5C22544A-7EE6-4342-B048-85BDC9FD1C3A}</a:tableStyleId>
              </a:tblPr>
              <a:tblGrid>
                <a:gridCol w="384612">
                  <a:extLst>
                    <a:ext uri="{9D8B030D-6E8A-4147-A177-3AD203B41FA5}">
                      <a16:colId xmlns:a16="http://schemas.microsoft.com/office/drawing/2014/main" val="4170535043"/>
                    </a:ext>
                  </a:extLst>
                </a:gridCol>
                <a:gridCol w="1523121">
                  <a:extLst>
                    <a:ext uri="{9D8B030D-6E8A-4147-A177-3AD203B41FA5}">
                      <a16:colId xmlns:a16="http://schemas.microsoft.com/office/drawing/2014/main" val="2079070694"/>
                    </a:ext>
                  </a:extLst>
                </a:gridCol>
                <a:gridCol w="4126037">
                  <a:extLst>
                    <a:ext uri="{9D8B030D-6E8A-4147-A177-3AD203B41FA5}">
                      <a16:colId xmlns:a16="http://schemas.microsoft.com/office/drawing/2014/main" val="32595803"/>
                    </a:ext>
                  </a:extLst>
                </a:gridCol>
              </a:tblGrid>
              <a:tr h="256197">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326454">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spc="-5" dirty="0">
                          <a:latin typeface="Arial"/>
                          <a:cs typeface="Arial"/>
                        </a:rPr>
                        <a:t>14:0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spc="-5" dirty="0">
                          <a:latin typeface="Arial"/>
                          <a:cs typeface="Arial"/>
                        </a:rPr>
                        <a:t>SHSYNC_PERIOD</a:t>
                      </a:r>
                      <a:endParaRPr lang="en-US" altLang="ko-KR" sz="900" dirty="0">
                        <a:latin typeface="Arial"/>
                        <a:cs typeface="Arial"/>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spc="-5" dirty="0">
                          <a:latin typeface="Arial"/>
                          <a:cs typeface="Arial"/>
                        </a:rPr>
                        <a:t>Means</a:t>
                      </a:r>
                      <a:r>
                        <a:rPr lang="en-US" altLang="ko-KR" sz="900" spc="5" dirty="0">
                          <a:latin typeface="Arial"/>
                          <a:cs typeface="Arial"/>
                        </a:rPr>
                        <a:t> </a:t>
                      </a:r>
                      <a:r>
                        <a:rPr lang="en-US" altLang="ko-KR" sz="900" dirty="0">
                          <a:latin typeface="Arial"/>
                          <a:cs typeface="Arial"/>
                        </a:rPr>
                        <a:t>the</a:t>
                      </a:r>
                      <a:r>
                        <a:rPr lang="en-US" altLang="ko-KR" sz="900" spc="-5" dirty="0">
                          <a:latin typeface="Arial"/>
                          <a:cs typeface="Arial"/>
                        </a:rPr>
                        <a:t> period</a:t>
                      </a:r>
                      <a:r>
                        <a:rPr lang="en-US" altLang="ko-KR" sz="900" spc="-20" dirty="0">
                          <a:latin typeface="Arial"/>
                          <a:cs typeface="Arial"/>
                        </a:rPr>
                        <a:t> </a:t>
                      </a:r>
                      <a:r>
                        <a:rPr lang="en-US" altLang="ko-KR" sz="900" dirty="0">
                          <a:latin typeface="Arial"/>
                          <a:cs typeface="Arial"/>
                        </a:rPr>
                        <a:t>of</a:t>
                      </a:r>
                      <a:r>
                        <a:rPr lang="en-US" altLang="ko-KR" sz="900" spc="-5" dirty="0">
                          <a:latin typeface="Arial"/>
                          <a:cs typeface="Arial"/>
                        </a:rPr>
                        <a:t> one shsync.</a:t>
                      </a:r>
                      <a:r>
                        <a:rPr lang="en-US" altLang="ko-KR" sz="900" spc="-10" dirty="0">
                          <a:latin typeface="Arial"/>
                          <a:cs typeface="Arial"/>
                        </a:rPr>
                        <a:t> </a:t>
                      </a:r>
                      <a:r>
                        <a:rPr lang="en-US" altLang="ko-KR" sz="900" spc="-5" dirty="0">
                          <a:latin typeface="Arial"/>
                          <a:cs typeface="Arial"/>
                        </a:rPr>
                        <a:t>This</a:t>
                      </a:r>
                      <a:r>
                        <a:rPr lang="en-US" altLang="ko-KR" sz="900" spc="10" dirty="0">
                          <a:latin typeface="Arial"/>
                          <a:cs typeface="Arial"/>
                        </a:rPr>
                        <a:t> </a:t>
                      </a:r>
                      <a:r>
                        <a:rPr lang="en-US" altLang="ko-KR" sz="900" spc="-5" dirty="0">
                          <a:latin typeface="Arial"/>
                          <a:cs typeface="Arial"/>
                        </a:rPr>
                        <a:t>value</a:t>
                      </a:r>
                      <a:r>
                        <a:rPr lang="en-US" altLang="ko-KR" sz="900" spc="-10" dirty="0">
                          <a:latin typeface="Arial"/>
                          <a:cs typeface="Arial"/>
                        </a:rPr>
                        <a:t> </a:t>
                      </a:r>
                      <a:r>
                        <a:rPr lang="en-US" altLang="ko-KR" sz="900" spc="-5" dirty="0">
                          <a:latin typeface="Arial"/>
                          <a:cs typeface="Arial"/>
                        </a:rPr>
                        <a:t>is</a:t>
                      </a:r>
                      <a:r>
                        <a:rPr lang="en-US" altLang="ko-KR" sz="900" dirty="0">
                          <a:latin typeface="Arial"/>
                          <a:cs typeface="Arial"/>
                        </a:rPr>
                        <a:t> counted</a:t>
                      </a:r>
                      <a:r>
                        <a:rPr lang="en-US" altLang="ko-KR" sz="900" spc="-30" dirty="0">
                          <a:latin typeface="Arial"/>
                          <a:cs typeface="Arial"/>
                        </a:rPr>
                        <a:t> </a:t>
                      </a:r>
                      <a:r>
                        <a:rPr lang="en-US" altLang="ko-KR" sz="900" spc="-5" dirty="0">
                          <a:latin typeface="Arial"/>
                          <a:cs typeface="Arial"/>
                        </a:rPr>
                        <a:t>by</a:t>
                      </a:r>
                      <a:r>
                        <a:rPr lang="en-US" altLang="ko-KR" sz="900" spc="-10" dirty="0">
                          <a:latin typeface="Arial"/>
                          <a:cs typeface="Arial"/>
                        </a:rPr>
                        <a:t> </a:t>
                      </a:r>
                      <a:r>
                        <a:rPr lang="en-US" altLang="ko-KR" sz="900" spc="-5" dirty="0">
                          <a:latin typeface="Arial"/>
                          <a:cs typeface="Arial"/>
                        </a:rPr>
                        <a:t>MCLK.</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spc="-5" dirty="0">
                          <a:latin typeface="Arial"/>
                          <a:cs typeface="Arial"/>
                        </a:rPr>
                        <a:t>= SVSYNC_PERIOD</a:t>
                      </a:r>
                      <a:r>
                        <a:rPr lang="en-US" altLang="ko-KR" sz="900" spc="5" dirty="0">
                          <a:latin typeface="Arial"/>
                          <a:cs typeface="Arial"/>
                        </a:rPr>
                        <a:t> </a:t>
                      </a:r>
                      <a:r>
                        <a:rPr lang="en-US" altLang="ko-KR" sz="900" dirty="0">
                          <a:latin typeface="Arial"/>
                          <a:cs typeface="Arial"/>
                        </a:rPr>
                        <a:t>/</a:t>
                      </a:r>
                      <a:r>
                        <a:rPr lang="en-US" altLang="ko-KR" sz="900" spc="-5" dirty="0">
                          <a:latin typeface="Arial"/>
                          <a:cs typeface="Arial"/>
                        </a:rPr>
                        <a:t> SHSYNC_SIZE</a:t>
                      </a:r>
                      <a:endParaRPr lang="en-US" altLang="ko-KR" sz="900" dirty="0">
                        <a:latin typeface="Arial"/>
                        <a:cs typeface="Arial"/>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5" name="object 9">
            <a:extLst>
              <a:ext uri="{FF2B5EF4-FFF2-40B4-BE49-F238E27FC236}">
                <a16:creationId xmlns:a16="http://schemas.microsoft.com/office/drawing/2014/main" id="{C5D84023-800D-91CB-E9D9-199412BF8CE6}"/>
              </a:ext>
            </a:extLst>
          </p:cNvPr>
          <p:cNvSpPr txBox="1"/>
          <p:nvPr/>
        </p:nvSpPr>
        <p:spPr>
          <a:xfrm>
            <a:off x="304800" y="9067800"/>
            <a:ext cx="2078355" cy="289823"/>
          </a:xfrm>
          <a:prstGeom prst="rect">
            <a:avLst/>
          </a:prstGeom>
        </p:spPr>
        <p:txBody>
          <a:bodyPr vert="horz" wrap="square" lIns="0" tIns="12700" rIns="0" bIns="0" rtlCol="0">
            <a:spAutoFit/>
          </a:bodyPr>
          <a:lstStyle/>
          <a:p>
            <a:pPr marL="12700">
              <a:lnSpc>
                <a:spcPct val="100000"/>
              </a:lnSpc>
              <a:spcBef>
                <a:spcPts val="100"/>
              </a:spcBef>
            </a:pPr>
            <a:r>
              <a:rPr b="1" spc="-5" dirty="0">
                <a:solidFill>
                  <a:srgbClr val="FF0000"/>
                </a:solidFill>
                <a:cs typeface="Perpetua Titling MT"/>
              </a:rPr>
              <a:t>CONFIDENTIAL</a:t>
            </a:r>
            <a:endParaRPr dirty="0">
              <a:cs typeface="Perpetua Titling MT"/>
            </a:endParaRPr>
          </a:p>
        </p:txBody>
      </p:sp>
      <p:sp>
        <p:nvSpPr>
          <p:cNvPr id="7" name="object 6">
            <a:extLst>
              <a:ext uri="{FF2B5EF4-FFF2-40B4-BE49-F238E27FC236}">
                <a16:creationId xmlns:a16="http://schemas.microsoft.com/office/drawing/2014/main" id="{E34A7A4C-09D6-F70B-912E-27C4A2499AB3}"/>
              </a:ext>
            </a:extLst>
          </p:cNvPr>
          <p:cNvSpPr/>
          <p:nvPr/>
        </p:nvSpPr>
        <p:spPr>
          <a:xfrm>
            <a:off x="301676" y="9458756"/>
            <a:ext cx="6246495" cy="0"/>
          </a:xfrm>
          <a:custGeom>
            <a:avLst/>
            <a:gdLst/>
            <a:ahLst/>
            <a:cxnLst/>
            <a:rect l="l" t="t" r="r" b="b"/>
            <a:pathLst>
              <a:path w="6246495">
                <a:moveTo>
                  <a:pt x="0" y="0"/>
                </a:moveTo>
                <a:lnTo>
                  <a:pt x="6245999" y="0"/>
                </a:lnTo>
              </a:path>
            </a:pathLst>
          </a:custGeom>
          <a:ln w="25920">
            <a:solidFill>
              <a:srgbClr val="BFBFBF"/>
            </a:solidFill>
          </a:ln>
        </p:spPr>
        <p:txBody>
          <a:bodyPr wrap="square" lIns="0" tIns="0" rIns="0" bIns="0" rtlCol="0"/>
          <a:lstStyle/>
          <a:p>
            <a:endParaRPr/>
          </a:p>
        </p:txBody>
      </p:sp>
      <p:sp>
        <p:nvSpPr>
          <p:cNvPr id="11" name="슬라이드 번호 개체 틀 3">
            <a:hlinkClick r:id="rId2"/>
            <a:extLst>
              <a:ext uri="{FF2B5EF4-FFF2-40B4-BE49-F238E27FC236}">
                <a16:creationId xmlns:a16="http://schemas.microsoft.com/office/drawing/2014/main" id="{78D8039C-4C2C-2A70-E11F-03B3AF4AB537}"/>
              </a:ext>
            </a:extLst>
          </p:cNvPr>
          <p:cNvSpPr txBox="1">
            <a:spLocks/>
          </p:cNvSpPr>
          <p:nvPr/>
        </p:nvSpPr>
        <p:spPr>
          <a:xfrm>
            <a:off x="5151602" y="9452864"/>
            <a:ext cx="1487550"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dirty="0">
                <a:solidFill>
                  <a:prstClr val="black"/>
                </a:solidFill>
                <a:latin typeface="Arial" panose="020B0604020202020204" pitchFamily="34" charset="0"/>
                <a:cs typeface="Arial" panose="020B0604020202020204" pitchFamily="34" charset="0"/>
              </a:rPr>
              <a:t>http://www.glbltech.com/</a:t>
            </a:r>
            <a:endParaRPr lang="ko-KR" altLang="en-US" dirty="0">
              <a:solidFill>
                <a:prstClr val="black"/>
              </a:solidFill>
              <a:latin typeface="Arial" panose="020B0604020202020204" pitchFamily="34" charset="0"/>
              <a:cs typeface="Arial" panose="020B0604020202020204" pitchFamily="34" charset="0"/>
            </a:endParaRPr>
          </a:p>
        </p:txBody>
      </p:sp>
      <p:sp>
        <p:nvSpPr>
          <p:cNvPr id="14" name="object 38">
            <a:extLst>
              <a:ext uri="{FF2B5EF4-FFF2-40B4-BE49-F238E27FC236}">
                <a16:creationId xmlns:a16="http://schemas.microsoft.com/office/drawing/2014/main" id="{F69E8FFF-623D-0FBD-DA50-1E3BAA5E7E4C}"/>
              </a:ext>
            </a:extLst>
          </p:cNvPr>
          <p:cNvSpPr txBox="1">
            <a:spLocks/>
          </p:cNvSpPr>
          <p:nvPr/>
        </p:nvSpPr>
        <p:spPr>
          <a:xfrm>
            <a:off x="3309066" y="9547988"/>
            <a:ext cx="487045" cy="139141"/>
          </a:xfrm>
          <a:prstGeom prst="rect">
            <a:avLst/>
          </a:prstGeom>
        </p:spPr>
        <p:txBody>
          <a:bodyPr vert="horz" wrap="square" lIns="0" tIns="635" rIns="0" bIns="0" rtlCol="0">
            <a:spAutoFit/>
          </a:bodyPr>
          <a:lstStyle>
            <a:defPPr>
              <a:defRPr lang="ko-KR"/>
            </a:defPPr>
            <a:lvl1pPr marL="0" algn="l" defTabSz="914400" rtl="0" eaLnBrk="1" latinLnBrk="1" hangingPunct="1">
              <a:defRPr sz="1050" b="0" i="0" kern="1200">
                <a:solidFill>
                  <a:schemeClr val="tx1"/>
                </a:solidFill>
                <a:latin typeface="Arial"/>
                <a:ea typeface="+mn-ea"/>
                <a:cs typeface="Arial"/>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marL="12700">
              <a:spcBef>
                <a:spcPts val="5"/>
              </a:spcBef>
              <a:defRPr/>
            </a:pPr>
            <a:r>
              <a:rPr lang="en-US" sz="900" dirty="0">
                <a:solidFill>
                  <a:prstClr val="black"/>
                </a:solidFill>
              </a:rPr>
              <a:t>Page</a:t>
            </a:r>
            <a:r>
              <a:rPr lang="en-US" sz="900" spc="-60" dirty="0">
                <a:solidFill>
                  <a:prstClr val="black"/>
                </a:solidFill>
              </a:rPr>
              <a:t> </a:t>
            </a:r>
            <a:fld id="{81D60167-4931-47E6-BA6A-407CBD079E47}" type="slidenum">
              <a:rPr sz="900">
                <a:solidFill>
                  <a:prstClr val="black"/>
                </a:solidFill>
              </a:rPr>
              <a:pPr marL="12700">
                <a:spcBef>
                  <a:spcPts val="5"/>
                </a:spcBef>
                <a:defRPr/>
              </a:pPr>
              <a:t>34</a:t>
            </a:fld>
            <a:endParaRPr sz="900" dirty="0">
              <a:solidFill>
                <a:prstClr val="black"/>
              </a:solidFill>
            </a:endParaRPr>
          </a:p>
        </p:txBody>
      </p:sp>
      <p:sp>
        <p:nvSpPr>
          <p:cNvPr id="24" name="슬라이드 번호 개체 틀 3">
            <a:extLst>
              <a:ext uri="{FF2B5EF4-FFF2-40B4-BE49-F238E27FC236}">
                <a16:creationId xmlns:a16="http://schemas.microsoft.com/office/drawing/2014/main" id="{DA538026-71A4-615D-DEA4-5F15D592EF17}"/>
              </a:ext>
            </a:extLst>
          </p:cNvPr>
          <p:cNvSpPr txBox="1">
            <a:spLocks/>
          </p:cNvSpPr>
          <p:nvPr/>
        </p:nvSpPr>
        <p:spPr>
          <a:xfrm>
            <a:off x="299401" y="9520856"/>
            <a:ext cx="2060991" cy="175259"/>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lang="en-US" altLang="ko-KR" dirty="0">
                <a:solidFill>
                  <a:prstClr val="black"/>
                </a:solidFill>
                <a:latin typeface="Arial" panose="020B0604020202020204" pitchFamily="34" charset="0"/>
                <a:cs typeface="Arial" panose="020B0604020202020204" pitchFamily="34" charset="0"/>
              </a:rPr>
              <a:t>Dated 30-Nov 23  Rev. 01</a:t>
            </a:r>
            <a:endParaRPr lang="ko-KR" altLang="en-US" dirty="0">
              <a:solidFill>
                <a:prstClr val="black"/>
              </a:solidFill>
              <a:latin typeface="Arial" panose="020B0604020202020204" pitchFamily="34" charset="0"/>
              <a:cs typeface="Arial" panose="020B0604020202020204" pitchFamily="34" charset="0"/>
            </a:endParaRPr>
          </a:p>
        </p:txBody>
      </p:sp>
      <p:sp>
        <p:nvSpPr>
          <p:cNvPr id="25" name="Holder 3">
            <a:extLst>
              <a:ext uri="{FF2B5EF4-FFF2-40B4-BE49-F238E27FC236}">
                <a16:creationId xmlns:a16="http://schemas.microsoft.com/office/drawing/2014/main" id="{57868493-E747-3DC8-CB0A-6E9EFFA39B64}"/>
              </a:ext>
            </a:extLst>
          </p:cNvPr>
          <p:cNvSpPr txBox="1">
            <a:spLocks/>
          </p:cNvSpPr>
          <p:nvPr/>
        </p:nvSpPr>
        <p:spPr>
          <a:xfrm>
            <a:off x="5147476" y="203944"/>
            <a:ext cx="1447800" cy="276999"/>
          </a:xfrm>
          <a:prstGeom prst="rect">
            <a:avLst/>
          </a:prstGeom>
        </p:spPr>
        <p:txBody>
          <a:bodyPr wrap="square" lIns="0" tIns="0" rIns="0" bIns="0">
            <a:spAutoFit/>
          </a:bodyPr>
          <a:lstStyle>
            <a:lvl1pPr marL="0">
              <a:defRPr>
                <a:solidFill>
                  <a:srgbClr val="FF99FF"/>
                </a:solidFill>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defTabSz="914400" latinLnBrk="0"/>
            <a:r>
              <a:rPr lang="en-US" sz="1800" kern="0" dirty="0"/>
              <a:t>&lt;Preliminary&gt;</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p:nvPr/>
        </p:nvSpPr>
        <p:spPr>
          <a:xfrm>
            <a:off x="400913" y="301879"/>
            <a:ext cx="622935" cy="299720"/>
          </a:xfrm>
          <a:prstGeom prst="rect">
            <a:avLst/>
          </a:prstGeom>
        </p:spPr>
        <p:txBody>
          <a:bodyPr vert="horz" wrap="square" lIns="0" tIns="12700" rIns="0" bIns="0" rtlCol="0">
            <a:spAutoFit/>
          </a:bodyPr>
          <a:lstStyle/>
          <a:p>
            <a:pPr marL="12700">
              <a:lnSpc>
                <a:spcPct val="100000"/>
              </a:lnSpc>
              <a:spcBef>
                <a:spcPts val="100"/>
              </a:spcBef>
            </a:pPr>
            <a:r>
              <a:rPr sz="1800" b="1" spc="-5" dirty="0">
                <a:latin typeface="Arial"/>
                <a:cs typeface="Arial"/>
              </a:rPr>
              <a:t>CQ24</a:t>
            </a:r>
            <a:endParaRPr sz="1800" dirty="0">
              <a:latin typeface="Arial"/>
              <a:cs typeface="Arial"/>
            </a:endParaRPr>
          </a:p>
        </p:txBody>
      </p:sp>
      <p:sp>
        <p:nvSpPr>
          <p:cNvPr id="6" name="object 6"/>
          <p:cNvSpPr txBox="1"/>
          <p:nvPr/>
        </p:nvSpPr>
        <p:spPr>
          <a:xfrm>
            <a:off x="400913" y="927353"/>
            <a:ext cx="6038542" cy="182101"/>
          </a:xfrm>
          <a:prstGeom prst="rect">
            <a:avLst/>
          </a:prstGeom>
        </p:spPr>
        <p:txBody>
          <a:bodyPr vert="horz" wrap="square" lIns="0" tIns="12700" rIns="0" bIns="0" rtlCol="0">
            <a:spAutoFit/>
          </a:bodyPr>
          <a:lstStyle/>
          <a:p>
            <a:pPr marL="12700">
              <a:lnSpc>
                <a:spcPct val="100000"/>
              </a:lnSpc>
              <a:spcBef>
                <a:spcPts val="100"/>
              </a:spcBef>
            </a:pPr>
            <a:r>
              <a:rPr sz="1100" b="1" spc="-10" dirty="0">
                <a:latin typeface="Arial"/>
                <a:cs typeface="Arial"/>
              </a:rPr>
              <a:t>H</a:t>
            </a:r>
            <a:r>
              <a:rPr sz="1100" b="1" dirty="0">
                <a:latin typeface="Arial"/>
                <a:cs typeface="Arial"/>
              </a:rPr>
              <a:t>OLD</a:t>
            </a:r>
            <a:r>
              <a:rPr sz="1100" b="1" spc="-15" dirty="0">
                <a:latin typeface="Arial"/>
                <a:cs typeface="Arial"/>
              </a:rPr>
              <a:t> </a:t>
            </a:r>
            <a:r>
              <a:rPr sz="1100" b="1" spc="-5" dirty="0">
                <a:latin typeface="Arial"/>
                <a:cs typeface="Arial"/>
              </a:rPr>
              <a:t>S</a:t>
            </a:r>
            <a:r>
              <a:rPr sz="1100" b="1" dirty="0">
                <a:latin typeface="Arial"/>
                <a:cs typeface="Arial"/>
              </a:rPr>
              <a:t>IZE</a:t>
            </a:r>
            <a:endParaRPr sz="1100" dirty="0">
              <a:latin typeface="Arial"/>
              <a:cs typeface="Arial"/>
            </a:endParaRPr>
          </a:p>
        </p:txBody>
      </p:sp>
      <p:sp>
        <p:nvSpPr>
          <p:cNvPr id="7" name="object 7"/>
          <p:cNvSpPr txBox="1"/>
          <p:nvPr/>
        </p:nvSpPr>
        <p:spPr>
          <a:xfrm>
            <a:off x="400913" y="4497704"/>
            <a:ext cx="6038542" cy="183706"/>
          </a:xfrm>
          <a:prstGeom prst="rect">
            <a:avLst/>
          </a:prstGeom>
        </p:spPr>
        <p:txBody>
          <a:bodyPr vert="horz" wrap="square" lIns="0" tIns="13335" rIns="0" bIns="0" rtlCol="0">
            <a:spAutoFit/>
          </a:bodyPr>
          <a:lstStyle/>
          <a:p>
            <a:pPr marL="12700">
              <a:lnSpc>
                <a:spcPct val="100000"/>
              </a:lnSpc>
              <a:spcBef>
                <a:spcPts val="105"/>
              </a:spcBef>
            </a:pPr>
            <a:r>
              <a:rPr sz="1100" b="1" dirty="0">
                <a:latin typeface="Arial"/>
                <a:cs typeface="Arial"/>
              </a:rPr>
              <a:t>HOLD</a:t>
            </a:r>
            <a:r>
              <a:rPr sz="1100" b="1" spc="-50" dirty="0">
                <a:latin typeface="Arial"/>
                <a:cs typeface="Arial"/>
              </a:rPr>
              <a:t> </a:t>
            </a:r>
            <a:r>
              <a:rPr sz="1100" b="1" spc="-5" dirty="0">
                <a:latin typeface="Arial"/>
                <a:cs typeface="Arial"/>
              </a:rPr>
              <a:t>DUMMY</a:t>
            </a:r>
            <a:r>
              <a:rPr sz="1100" b="1" spc="-40" dirty="0">
                <a:latin typeface="Arial"/>
                <a:cs typeface="Arial"/>
              </a:rPr>
              <a:t> </a:t>
            </a:r>
            <a:r>
              <a:rPr sz="1100" b="1" dirty="0">
                <a:latin typeface="Arial"/>
                <a:cs typeface="Arial"/>
              </a:rPr>
              <a:t>SIZE</a:t>
            </a:r>
            <a:endParaRPr sz="1100" dirty="0">
              <a:latin typeface="Arial"/>
              <a:cs typeface="Arial"/>
            </a:endParaRPr>
          </a:p>
        </p:txBody>
      </p:sp>
      <p:graphicFrame>
        <p:nvGraphicFramePr>
          <p:cNvPr id="8" name="object 8"/>
          <p:cNvGraphicFramePr>
            <a:graphicFrameLocks noGrp="1"/>
          </p:cNvGraphicFramePr>
          <p:nvPr>
            <p:extLst>
              <p:ext uri="{D42A27DB-BD31-4B8C-83A1-F6EECF244321}">
                <p14:modId xmlns:p14="http://schemas.microsoft.com/office/powerpoint/2010/main" val="2597632758"/>
              </p:ext>
            </p:extLst>
          </p:nvPr>
        </p:nvGraphicFramePr>
        <p:xfrm>
          <a:off x="400912" y="1229931"/>
          <a:ext cx="6038536" cy="387350"/>
        </p:xfrm>
        <a:graphic>
          <a:graphicData uri="http://schemas.openxmlformats.org/drawingml/2006/table">
            <a:tbl>
              <a:tblPr firstRow="1" bandRow="1">
                <a:tableStyleId>{2D5ABB26-0587-4C30-8999-92F81FD0307C}</a:tableStyleId>
              </a:tblPr>
              <a:tblGrid>
                <a:gridCol w="412143">
                  <a:extLst>
                    <a:ext uri="{9D8B030D-6E8A-4147-A177-3AD203B41FA5}">
                      <a16:colId xmlns:a16="http://schemas.microsoft.com/office/drawing/2014/main" val="20000"/>
                    </a:ext>
                  </a:extLst>
                </a:gridCol>
                <a:gridCol w="474307">
                  <a:extLst>
                    <a:ext uri="{9D8B030D-6E8A-4147-A177-3AD203B41FA5}">
                      <a16:colId xmlns:a16="http://schemas.microsoft.com/office/drawing/2014/main" val="20001"/>
                    </a:ext>
                  </a:extLst>
                </a:gridCol>
                <a:gridCol w="322005">
                  <a:extLst>
                    <a:ext uri="{9D8B030D-6E8A-4147-A177-3AD203B41FA5}">
                      <a16:colId xmlns:a16="http://schemas.microsoft.com/office/drawing/2014/main" val="20002"/>
                    </a:ext>
                  </a:extLst>
                </a:gridCol>
                <a:gridCol w="322006">
                  <a:extLst>
                    <a:ext uri="{9D8B030D-6E8A-4147-A177-3AD203B41FA5}">
                      <a16:colId xmlns:a16="http://schemas.microsoft.com/office/drawing/2014/main" val="20003"/>
                    </a:ext>
                  </a:extLst>
                </a:gridCol>
                <a:gridCol w="322006">
                  <a:extLst>
                    <a:ext uri="{9D8B030D-6E8A-4147-A177-3AD203B41FA5}">
                      <a16:colId xmlns:a16="http://schemas.microsoft.com/office/drawing/2014/main" val="20004"/>
                    </a:ext>
                  </a:extLst>
                </a:gridCol>
                <a:gridCol w="322006">
                  <a:extLst>
                    <a:ext uri="{9D8B030D-6E8A-4147-A177-3AD203B41FA5}">
                      <a16:colId xmlns:a16="http://schemas.microsoft.com/office/drawing/2014/main" val="20005"/>
                    </a:ext>
                  </a:extLst>
                </a:gridCol>
                <a:gridCol w="322006">
                  <a:extLst>
                    <a:ext uri="{9D8B030D-6E8A-4147-A177-3AD203B41FA5}">
                      <a16:colId xmlns:a16="http://schemas.microsoft.com/office/drawing/2014/main" val="20006"/>
                    </a:ext>
                  </a:extLst>
                </a:gridCol>
                <a:gridCol w="322006">
                  <a:extLst>
                    <a:ext uri="{9D8B030D-6E8A-4147-A177-3AD203B41FA5}">
                      <a16:colId xmlns:a16="http://schemas.microsoft.com/office/drawing/2014/main" val="20007"/>
                    </a:ext>
                  </a:extLst>
                </a:gridCol>
                <a:gridCol w="322006">
                  <a:extLst>
                    <a:ext uri="{9D8B030D-6E8A-4147-A177-3AD203B41FA5}">
                      <a16:colId xmlns:a16="http://schemas.microsoft.com/office/drawing/2014/main" val="20008"/>
                    </a:ext>
                  </a:extLst>
                </a:gridCol>
                <a:gridCol w="322005">
                  <a:extLst>
                    <a:ext uri="{9D8B030D-6E8A-4147-A177-3AD203B41FA5}">
                      <a16:colId xmlns:a16="http://schemas.microsoft.com/office/drawing/2014/main" val="20009"/>
                    </a:ext>
                  </a:extLst>
                </a:gridCol>
                <a:gridCol w="322005">
                  <a:extLst>
                    <a:ext uri="{9D8B030D-6E8A-4147-A177-3AD203B41FA5}">
                      <a16:colId xmlns:a16="http://schemas.microsoft.com/office/drawing/2014/main" val="20010"/>
                    </a:ext>
                  </a:extLst>
                </a:gridCol>
                <a:gridCol w="322005">
                  <a:extLst>
                    <a:ext uri="{9D8B030D-6E8A-4147-A177-3AD203B41FA5}">
                      <a16:colId xmlns:a16="http://schemas.microsoft.com/office/drawing/2014/main" val="20011"/>
                    </a:ext>
                  </a:extLst>
                </a:gridCol>
                <a:gridCol w="322005">
                  <a:extLst>
                    <a:ext uri="{9D8B030D-6E8A-4147-A177-3AD203B41FA5}">
                      <a16:colId xmlns:a16="http://schemas.microsoft.com/office/drawing/2014/main" val="20012"/>
                    </a:ext>
                  </a:extLst>
                </a:gridCol>
                <a:gridCol w="322005">
                  <a:extLst>
                    <a:ext uri="{9D8B030D-6E8A-4147-A177-3AD203B41FA5}">
                      <a16:colId xmlns:a16="http://schemas.microsoft.com/office/drawing/2014/main" val="20013"/>
                    </a:ext>
                  </a:extLst>
                </a:gridCol>
                <a:gridCol w="322005">
                  <a:extLst>
                    <a:ext uri="{9D8B030D-6E8A-4147-A177-3AD203B41FA5}">
                      <a16:colId xmlns:a16="http://schemas.microsoft.com/office/drawing/2014/main" val="20014"/>
                    </a:ext>
                  </a:extLst>
                </a:gridCol>
                <a:gridCol w="322005">
                  <a:extLst>
                    <a:ext uri="{9D8B030D-6E8A-4147-A177-3AD203B41FA5}">
                      <a16:colId xmlns:a16="http://schemas.microsoft.com/office/drawing/2014/main" val="20015"/>
                    </a:ext>
                  </a:extLst>
                </a:gridCol>
                <a:gridCol w="322005">
                  <a:extLst>
                    <a:ext uri="{9D8B030D-6E8A-4147-A177-3AD203B41FA5}">
                      <a16:colId xmlns:a16="http://schemas.microsoft.com/office/drawing/2014/main" val="20016"/>
                    </a:ext>
                  </a:extLst>
                </a:gridCol>
                <a:gridCol w="322005">
                  <a:extLst>
                    <a:ext uri="{9D8B030D-6E8A-4147-A177-3AD203B41FA5}">
                      <a16:colId xmlns:a16="http://schemas.microsoft.com/office/drawing/2014/main" val="20017"/>
                    </a:ext>
                  </a:extLst>
                </a:gridCol>
              </a:tblGrid>
              <a:tr h="193675">
                <a:tc>
                  <a:txBody>
                    <a:bodyPr/>
                    <a:lstStyle/>
                    <a:p>
                      <a:pPr algn="ctr">
                        <a:lnSpc>
                          <a:spcPct val="100000"/>
                        </a:lnSpc>
                        <a:spcBef>
                          <a:spcPts val="265"/>
                        </a:spcBef>
                      </a:pPr>
                      <a:r>
                        <a:rPr sz="800" dirty="0">
                          <a:latin typeface="Arial"/>
                          <a:cs typeface="Arial"/>
                        </a:rPr>
                        <a:t>A[6:0]</a:t>
                      </a: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algn="ctr">
                        <a:lnSpc>
                          <a:spcPct val="100000"/>
                        </a:lnSpc>
                        <a:spcBef>
                          <a:spcPts val="265"/>
                        </a:spcBef>
                      </a:pPr>
                      <a:r>
                        <a:rPr sz="800" spc="-5" dirty="0">
                          <a:latin typeface="Arial"/>
                          <a:cs typeface="Arial"/>
                        </a:rPr>
                        <a:t>Default</a:t>
                      </a:r>
                      <a:endParaRPr sz="8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71755">
                        <a:lnSpc>
                          <a:spcPct val="100000"/>
                        </a:lnSpc>
                        <a:spcBef>
                          <a:spcPts val="265"/>
                        </a:spcBef>
                      </a:pPr>
                      <a:r>
                        <a:rPr sz="800" spc="-5" dirty="0">
                          <a:latin typeface="Arial"/>
                          <a:cs typeface="Arial"/>
                        </a:rPr>
                        <a:t>D15</a:t>
                      </a:r>
                      <a:endParaRPr sz="8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71755">
                        <a:lnSpc>
                          <a:spcPct val="100000"/>
                        </a:lnSpc>
                        <a:spcBef>
                          <a:spcPts val="265"/>
                        </a:spcBef>
                      </a:pPr>
                      <a:r>
                        <a:rPr sz="800" spc="-5" dirty="0">
                          <a:latin typeface="Arial"/>
                          <a:cs typeface="Arial"/>
                        </a:rPr>
                        <a:t>D14</a:t>
                      </a:r>
                      <a:endParaRPr sz="8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71755">
                        <a:lnSpc>
                          <a:spcPct val="100000"/>
                        </a:lnSpc>
                        <a:spcBef>
                          <a:spcPts val="265"/>
                        </a:spcBef>
                      </a:pPr>
                      <a:r>
                        <a:rPr sz="800" spc="-5" dirty="0">
                          <a:latin typeface="Arial"/>
                          <a:cs typeface="Arial"/>
                        </a:rPr>
                        <a:t>D13</a:t>
                      </a:r>
                      <a:endParaRPr sz="8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71755">
                        <a:lnSpc>
                          <a:spcPct val="100000"/>
                        </a:lnSpc>
                        <a:spcBef>
                          <a:spcPts val="265"/>
                        </a:spcBef>
                      </a:pPr>
                      <a:r>
                        <a:rPr sz="800" spc="-5" dirty="0">
                          <a:latin typeface="Arial"/>
                          <a:cs typeface="Arial"/>
                        </a:rPr>
                        <a:t>D12</a:t>
                      </a:r>
                      <a:endParaRPr sz="8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71755">
                        <a:lnSpc>
                          <a:spcPct val="100000"/>
                        </a:lnSpc>
                        <a:spcBef>
                          <a:spcPts val="265"/>
                        </a:spcBef>
                      </a:pPr>
                      <a:r>
                        <a:rPr sz="800" spc="-5" dirty="0">
                          <a:latin typeface="Arial"/>
                          <a:cs typeface="Arial"/>
                        </a:rPr>
                        <a:t>D11</a:t>
                      </a:r>
                      <a:endParaRPr sz="8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71755">
                        <a:lnSpc>
                          <a:spcPct val="100000"/>
                        </a:lnSpc>
                        <a:spcBef>
                          <a:spcPts val="265"/>
                        </a:spcBef>
                      </a:pPr>
                      <a:r>
                        <a:rPr sz="800" spc="-5" dirty="0">
                          <a:latin typeface="Arial"/>
                          <a:cs typeface="Arial"/>
                        </a:rPr>
                        <a:t>D10</a:t>
                      </a:r>
                      <a:endParaRPr sz="8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99060">
                        <a:lnSpc>
                          <a:spcPct val="100000"/>
                        </a:lnSpc>
                        <a:spcBef>
                          <a:spcPts val="265"/>
                        </a:spcBef>
                      </a:pPr>
                      <a:r>
                        <a:rPr sz="800" spc="-5" dirty="0">
                          <a:latin typeface="Arial"/>
                          <a:cs typeface="Arial"/>
                        </a:rPr>
                        <a:t>D9</a:t>
                      </a:r>
                      <a:endParaRPr sz="8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99695">
                        <a:lnSpc>
                          <a:spcPct val="100000"/>
                        </a:lnSpc>
                        <a:spcBef>
                          <a:spcPts val="265"/>
                        </a:spcBef>
                      </a:pPr>
                      <a:r>
                        <a:rPr sz="800" spc="-5" dirty="0">
                          <a:latin typeface="Arial"/>
                          <a:cs typeface="Arial"/>
                        </a:rPr>
                        <a:t>D8</a:t>
                      </a:r>
                      <a:endParaRPr sz="8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99695">
                        <a:lnSpc>
                          <a:spcPct val="100000"/>
                        </a:lnSpc>
                        <a:spcBef>
                          <a:spcPts val="265"/>
                        </a:spcBef>
                      </a:pPr>
                      <a:r>
                        <a:rPr sz="800" spc="-5" dirty="0">
                          <a:latin typeface="Arial"/>
                          <a:cs typeface="Arial"/>
                        </a:rPr>
                        <a:t>D7</a:t>
                      </a:r>
                      <a:endParaRPr sz="8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99695">
                        <a:lnSpc>
                          <a:spcPct val="100000"/>
                        </a:lnSpc>
                        <a:spcBef>
                          <a:spcPts val="265"/>
                        </a:spcBef>
                      </a:pPr>
                      <a:r>
                        <a:rPr sz="800" spc="-5" dirty="0">
                          <a:latin typeface="Arial"/>
                          <a:cs typeface="Arial"/>
                        </a:rPr>
                        <a:t>D6</a:t>
                      </a:r>
                      <a:endParaRPr sz="8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99695">
                        <a:lnSpc>
                          <a:spcPct val="100000"/>
                        </a:lnSpc>
                        <a:spcBef>
                          <a:spcPts val="265"/>
                        </a:spcBef>
                      </a:pPr>
                      <a:r>
                        <a:rPr sz="800" spc="-5" dirty="0">
                          <a:latin typeface="Arial"/>
                          <a:cs typeface="Arial"/>
                        </a:rPr>
                        <a:t>D5</a:t>
                      </a:r>
                      <a:endParaRPr sz="8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99695">
                        <a:lnSpc>
                          <a:spcPct val="100000"/>
                        </a:lnSpc>
                        <a:spcBef>
                          <a:spcPts val="265"/>
                        </a:spcBef>
                      </a:pPr>
                      <a:r>
                        <a:rPr sz="800" spc="-5" dirty="0">
                          <a:latin typeface="Arial"/>
                          <a:cs typeface="Arial"/>
                        </a:rPr>
                        <a:t>D4</a:t>
                      </a:r>
                      <a:endParaRPr sz="8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99695">
                        <a:lnSpc>
                          <a:spcPct val="100000"/>
                        </a:lnSpc>
                        <a:spcBef>
                          <a:spcPts val="265"/>
                        </a:spcBef>
                      </a:pPr>
                      <a:r>
                        <a:rPr sz="800" spc="-5" dirty="0">
                          <a:latin typeface="Arial"/>
                          <a:cs typeface="Arial"/>
                        </a:rPr>
                        <a:t>D3</a:t>
                      </a:r>
                      <a:endParaRPr sz="8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99695">
                        <a:lnSpc>
                          <a:spcPct val="100000"/>
                        </a:lnSpc>
                        <a:spcBef>
                          <a:spcPts val="265"/>
                        </a:spcBef>
                      </a:pPr>
                      <a:r>
                        <a:rPr sz="800" spc="-5" dirty="0">
                          <a:latin typeface="Arial"/>
                          <a:cs typeface="Arial"/>
                        </a:rPr>
                        <a:t>D2</a:t>
                      </a:r>
                      <a:endParaRPr sz="8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100330">
                        <a:lnSpc>
                          <a:spcPct val="100000"/>
                        </a:lnSpc>
                        <a:spcBef>
                          <a:spcPts val="265"/>
                        </a:spcBef>
                      </a:pPr>
                      <a:r>
                        <a:rPr sz="800" spc="-5" dirty="0">
                          <a:latin typeface="Arial"/>
                          <a:cs typeface="Arial"/>
                        </a:rPr>
                        <a:t>D1</a:t>
                      </a:r>
                      <a:endParaRPr sz="8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100330">
                        <a:lnSpc>
                          <a:spcPct val="100000"/>
                        </a:lnSpc>
                        <a:spcBef>
                          <a:spcPts val="265"/>
                        </a:spcBef>
                      </a:pPr>
                      <a:r>
                        <a:rPr sz="800" spc="-5" dirty="0">
                          <a:latin typeface="Arial"/>
                          <a:cs typeface="Arial"/>
                        </a:rPr>
                        <a:t>D0</a:t>
                      </a:r>
                      <a:endParaRPr sz="8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extLst>
                  <a:ext uri="{0D108BD9-81ED-4DB2-BD59-A6C34878D82A}">
                    <a16:rowId xmlns:a16="http://schemas.microsoft.com/office/drawing/2014/main" val="10000"/>
                  </a:ext>
                </a:extLst>
              </a:tr>
              <a:tr h="193675">
                <a:tc>
                  <a:txBody>
                    <a:bodyPr/>
                    <a:lstStyle/>
                    <a:p>
                      <a:pPr algn="ctr">
                        <a:lnSpc>
                          <a:spcPct val="100000"/>
                        </a:lnSpc>
                        <a:spcBef>
                          <a:spcPts val="265"/>
                        </a:spcBef>
                      </a:pPr>
                      <a:r>
                        <a:rPr sz="800" spc="-5" dirty="0">
                          <a:latin typeface="Arial"/>
                          <a:cs typeface="Arial"/>
                        </a:rPr>
                        <a:t>‘h06</a:t>
                      </a:r>
                      <a:endParaRPr sz="8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algn="ctr">
                        <a:lnSpc>
                          <a:spcPct val="100000"/>
                        </a:lnSpc>
                        <a:spcBef>
                          <a:spcPts val="265"/>
                        </a:spcBef>
                      </a:pPr>
                      <a:r>
                        <a:rPr sz="800" dirty="0">
                          <a:latin typeface="Arial"/>
                          <a:cs typeface="Arial"/>
                        </a:rPr>
                        <a:t>0</a:t>
                      </a: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gridSpan="4">
                  <a:txBody>
                    <a:bodyPr/>
                    <a:lstStyle/>
                    <a:p>
                      <a:pPr marL="288290">
                        <a:lnSpc>
                          <a:spcPct val="100000"/>
                        </a:lnSpc>
                        <a:spcBef>
                          <a:spcPts val="305"/>
                        </a:spcBef>
                      </a:pPr>
                      <a:r>
                        <a:rPr sz="700" spc="-10" dirty="0">
                          <a:latin typeface="Arial"/>
                          <a:cs typeface="Arial"/>
                        </a:rPr>
                        <a:t>HOLD4_SIZE</a:t>
                      </a:r>
                      <a:r>
                        <a:rPr sz="700" spc="5" dirty="0">
                          <a:latin typeface="Arial"/>
                          <a:cs typeface="Arial"/>
                        </a:rPr>
                        <a:t> </a:t>
                      </a:r>
                      <a:r>
                        <a:rPr sz="700" spc="-5" dirty="0">
                          <a:latin typeface="Arial"/>
                          <a:cs typeface="Arial"/>
                        </a:rPr>
                        <a:t>[3:0]</a:t>
                      </a:r>
                      <a:endParaRPr sz="700" dirty="0">
                        <a:latin typeface="Arial"/>
                        <a:cs typeface="Arial"/>
                      </a:endParaRPr>
                    </a:p>
                  </a:txBody>
                  <a:tcPr marL="0" marR="0" marT="3873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gridSpan="4">
                  <a:txBody>
                    <a:bodyPr/>
                    <a:lstStyle/>
                    <a:p>
                      <a:pPr marL="288925">
                        <a:lnSpc>
                          <a:spcPct val="100000"/>
                        </a:lnSpc>
                        <a:spcBef>
                          <a:spcPts val="305"/>
                        </a:spcBef>
                      </a:pPr>
                      <a:r>
                        <a:rPr sz="700" spc="-10" dirty="0">
                          <a:latin typeface="Arial"/>
                          <a:cs typeface="Arial"/>
                        </a:rPr>
                        <a:t>HOLD3_SIZE</a:t>
                      </a:r>
                      <a:r>
                        <a:rPr sz="700" spc="5" dirty="0">
                          <a:latin typeface="Arial"/>
                          <a:cs typeface="Arial"/>
                        </a:rPr>
                        <a:t> </a:t>
                      </a:r>
                      <a:r>
                        <a:rPr sz="700" spc="-5" dirty="0">
                          <a:latin typeface="Arial"/>
                          <a:cs typeface="Arial"/>
                        </a:rPr>
                        <a:t>[3:0]</a:t>
                      </a:r>
                      <a:endParaRPr sz="700" dirty="0">
                        <a:latin typeface="Arial"/>
                        <a:cs typeface="Arial"/>
                      </a:endParaRPr>
                    </a:p>
                  </a:txBody>
                  <a:tcPr marL="0" marR="0" marT="3873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gridSpan="4">
                  <a:txBody>
                    <a:bodyPr/>
                    <a:lstStyle/>
                    <a:p>
                      <a:pPr marL="288925">
                        <a:lnSpc>
                          <a:spcPct val="100000"/>
                        </a:lnSpc>
                        <a:spcBef>
                          <a:spcPts val="305"/>
                        </a:spcBef>
                      </a:pPr>
                      <a:r>
                        <a:rPr sz="700" spc="-10" dirty="0" err="1">
                          <a:latin typeface="Arial"/>
                          <a:cs typeface="Arial"/>
                        </a:rPr>
                        <a:t>HOLD2_SIZE</a:t>
                      </a:r>
                      <a:r>
                        <a:rPr sz="700" spc="5" dirty="0">
                          <a:latin typeface="Arial"/>
                          <a:cs typeface="Arial"/>
                        </a:rPr>
                        <a:t> </a:t>
                      </a:r>
                      <a:r>
                        <a:rPr sz="700" spc="-5" dirty="0">
                          <a:latin typeface="Arial"/>
                          <a:cs typeface="Arial"/>
                        </a:rPr>
                        <a:t>[3:0]</a:t>
                      </a:r>
                      <a:endParaRPr sz="700" dirty="0">
                        <a:latin typeface="Arial"/>
                        <a:cs typeface="Arial"/>
                      </a:endParaRPr>
                    </a:p>
                  </a:txBody>
                  <a:tcPr marL="0" marR="0" marT="3873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gridSpan="4">
                  <a:txBody>
                    <a:bodyPr/>
                    <a:lstStyle/>
                    <a:p>
                      <a:pPr marL="289560">
                        <a:lnSpc>
                          <a:spcPct val="100000"/>
                        </a:lnSpc>
                        <a:spcBef>
                          <a:spcPts val="305"/>
                        </a:spcBef>
                      </a:pPr>
                      <a:r>
                        <a:rPr sz="700" spc="-10" dirty="0" err="1">
                          <a:latin typeface="Arial"/>
                          <a:cs typeface="Arial"/>
                        </a:rPr>
                        <a:t>HOLD1_SIZE</a:t>
                      </a:r>
                      <a:r>
                        <a:rPr sz="700" spc="5" dirty="0">
                          <a:latin typeface="Arial"/>
                          <a:cs typeface="Arial"/>
                        </a:rPr>
                        <a:t> </a:t>
                      </a:r>
                      <a:r>
                        <a:rPr sz="700" spc="-5" dirty="0">
                          <a:latin typeface="Arial"/>
                          <a:cs typeface="Arial"/>
                        </a:rPr>
                        <a:t>[3:0]</a:t>
                      </a:r>
                      <a:endParaRPr sz="700" dirty="0">
                        <a:latin typeface="Arial"/>
                        <a:cs typeface="Arial"/>
                      </a:endParaRPr>
                    </a:p>
                  </a:txBody>
                  <a:tcPr marL="0" marR="0" marT="3873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1"/>
                  </a:ext>
                </a:extLst>
              </a:tr>
            </a:tbl>
          </a:graphicData>
        </a:graphic>
      </p:graphicFrame>
      <p:graphicFrame>
        <p:nvGraphicFramePr>
          <p:cNvPr id="9" name="object 9"/>
          <p:cNvGraphicFramePr>
            <a:graphicFrameLocks noGrp="1"/>
          </p:cNvGraphicFramePr>
          <p:nvPr>
            <p:extLst>
              <p:ext uri="{D42A27DB-BD31-4B8C-83A1-F6EECF244321}">
                <p14:modId xmlns:p14="http://schemas.microsoft.com/office/powerpoint/2010/main" val="1298929988"/>
              </p:ext>
            </p:extLst>
          </p:nvPr>
        </p:nvGraphicFramePr>
        <p:xfrm>
          <a:off x="400913" y="4763198"/>
          <a:ext cx="6038534" cy="387350"/>
        </p:xfrm>
        <a:graphic>
          <a:graphicData uri="http://schemas.openxmlformats.org/drawingml/2006/table">
            <a:tbl>
              <a:tblPr firstRow="1" bandRow="1">
                <a:tableStyleId>{2D5ABB26-0587-4C30-8999-92F81FD0307C}</a:tableStyleId>
              </a:tblPr>
              <a:tblGrid>
                <a:gridCol w="412142">
                  <a:extLst>
                    <a:ext uri="{9D8B030D-6E8A-4147-A177-3AD203B41FA5}">
                      <a16:colId xmlns:a16="http://schemas.microsoft.com/office/drawing/2014/main" val="20000"/>
                    </a:ext>
                  </a:extLst>
                </a:gridCol>
                <a:gridCol w="474306">
                  <a:extLst>
                    <a:ext uri="{9D8B030D-6E8A-4147-A177-3AD203B41FA5}">
                      <a16:colId xmlns:a16="http://schemas.microsoft.com/office/drawing/2014/main" val="20001"/>
                    </a:ext>
                  </a:extLst>
                </a:gridCol>
                <a:gridCol w="322005">
                  <a:extLst>
                    <a:ext uri="{9D8B030D-6E8A-4147-A177-3AD203B41FA5}">
                      <a16:colId xmlns:a16="http://schemas.microsoft.com/office/drawing/2014/main" val="20002"/>
                    </a:ext>
                  </a:extLst>
                </a:gridCol>
                <a:gridCol w="322006">
                  <a:extLst>
                    <a:ext uri="{9D8B030D-6E8A-4147-A177-3AD203B41FA5}">
                      <a16:colId xmlns:a16="http://schemas.microsoft.com/office/drawing/2014/main" val="20003"/>
                    </a:ext>
                  </a:extLst>
                </a:gridCol>
                <a:gridCol w="322006">
                  <a:extLst>
                    <a:ext uri="{9D8B030D-6E8A-4147-A177-3AD203B41FA5}">
                      <a16:colId xmlns:a16="http://schemas.microsoft.com/office/drawing/2014/main" val="20004"/>
                    </a:ext>
                  </a:extLst>
                </a:gridCol>
                <a:gridCol w="322006">
                  <a:extLst>
                    <a:ext uri="{9D8B030D-6E8A-4147-A177-3AD203B41FA5}">
                      <a16:colId xmlns:a16="http://schemas.microsoft.com/office/drawing/2014/main" val="20005"/>
                    </a:ext>
                  </a:extLst>
                </a:gridCol>
                <a:gridCol w="322006">
                  <a:extLst>
                    <a:ext uri="{9D8B030D-6E8A-4147-A177-3AD203B41FA5}">
                      <a16:colId xmlns:a16="http://schemas.microsoft.com/office/drawing/2014/main" val="20006"/>
                    </a:ext>
                  </a:extLst>
                </a:gridCol>
                <a:gridCol w="322006">
                  <a:extLst>
                    <a:ext uri="{9D8B030D-6E8A-4147-A177-3AD203B41FA5}">
                      <a16:colId xmlns:a16="http://schemas.microsoft.com/office/drawing/2014/main" val="20007"/>
                    </a:ext>
                  </a:extLst>
                </a:gridCol>
                <a:gridCol w="322006">
                  <a:extLst>
                    <a:ext uri="{9D8B030D-6E8A-4147-A177-3AD203B41FA5}">
                      <a16:colId xmlns:a16="http://schemas.microsoft.com/office/drawing/2014/main" val="20008"/>
                    </a:ext>
                  </a:extLst>
                </a:gridCol>
                <a:gridCol w="322005">
                  <a:extLst>
                    <a:ext uri="{9D8B030D-6E8A-4147-A177-3AD203B41FA5}">
                      <a16:colId xmlns:a16="http://schemas.microsoft.com/office/drawing/2014/main" val="20009"/>
                    </a:ext>
                  </a:extLst>
                </a:gridCol>
                <a:gridCol w="322005">
                  <a:extLst>
                    <a:ext uri="{9D8B030D-6E8A-4147-A177-3AD203B41FA5}">
                      <a16:colId xmlns:a16="http://schemas.microsoft.com/office/drawing/2014/main" val="20010"/>
                    </a:ext>
                  </a:extLst>
                </a:gridCol>
                <a:gridCol w="322005">
                  <a:extLst>
                    <a:ext uri="{9D8B030D-6E8A-4147-A177-3AD203B41FA5}">
                      <a16:colId xmlns:a16="http://schemas.microsoft.com/office/drawing/2014/main" val="20011"/>
                    </a:ext>
                  </a:extLst>
                </a:gridCol>
                <a:gridCol w="322005">
                  <a:extLst>
                    <a:ext uri="{9D8B030D-6E8A-4147-A177-3AD203B41FA5}">
                      <a16:colId xmlns:a16="http://schemas.microsoft.com/office/drawing/2014/main" val="20012"/>
                    </a:ext>
                  </a:extLst>
                </a:gridCol>
                <a:gridCol w="322005">
                  <a:extLst>
                    <a:ext uri="{9D8B030D-6E8A-4147-A177-3AD203B41FA5}">
                      <a16:colId xmlns:a16="http://schemas.microsoft.com/office/drawing/2014/main" val="20013"/>
                    </a:ext>
                  </a:extLst>
                </a:gridCol>
                <a:gridCol w="322005">
                  <a:extLst>
                    <a:ext uri="{9D8B030D-6E8A-4147-A177-3AD203B41FA5}">
                      <a16:colId xmlns:a16="http://schemas.microsoft.com/office/drawing/2014/main" val="20014"/>
                    </a:ext>
                  </a:extLst>
                </a:gridCol>
                <a:gridCol w="322005">
                  <a:extLst>
                    <a:ext uri="{9D8B030D-6E8A-4147-A177-3AD203B41FA5}">
                      <a16:colId xmlns:a16="http://schemas.microsoft.com/office/drawing/2014/main" val="20015"/>
                    </a:ext>
                  </a:extLst>
                </a:gridCol>
                <a:gridCol w="322005">
                  <a:extLst>
                    <a:ext uri="{9D8B030D-6E8A-4147-A177-3AD203B41FA5}">
                      <a16:colId xmlns:a16="http://schemas.microsoft.com/office/drawing/2014/main" val="20016"/>
                    </a:ext>
                  </a:extLst>
                </a:gridCol>
                <a:gridCol w="322005">
                  <a:extLst>
                    <a:ext uri="{9D8B030D-6E8A-4147-A177-3AD203B41FA5}">
                      <a16:colId xmlns:a16="http://schemas.microsoft.com/office/drawing/2014/main" val="20017"/>
                    </a:ext>
                  </a:extLst>
                </a:gridCol>
              </a:tblGrid>
              <a:tr h="193675">
                <a:tc>
                  <a:txBody>
                    <a:bodyPr/>
                    <a:lstStyle/>
                    <a:p>
                      <a:pPr algn="ctr">
                        <a:lnSpc>
                          <a:spcPct val="100000"/>
                        </a:lnSpc>
                        <a:spcBef>
                          <a:spcPts val="265"/>
                        </a:spcBef>
                      </a:pPr>
                      <a:r>
                        <a:rPr sz="800" dirty="0">
                          <a:latin typeface="Arial"/>
                          <a:cs typeface="Arial"/>
                        </a:rPr>
                        <a:t>A[6:0]</a:t>
                      </a: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algn="ctr">
                        <a:lnSpc>
                          <a:spcPct val="100000"/>
                        </a:lnSpc>
                        <a:spcBef>
                          <a:spcPts val="265"/>
                        </a:spcBef>
                      </a:pPr>
                      <a:r>
                        <a:rPr sz="800" spc="-5" dirty="0">
                          <a:latin typeface="Arial"/>
                          <a:cs typeface="Arial"/>
                        </a:rPr>
                        <a:t>Default</a:t>
                      </a:r>
                      <a:endParaRPr sz="8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1270" algn="ctr">
                        <a:lnSpc>
                          <a:spcPct val="100000"/>
                        </a:lnSpc>
                        <a:spcBef>
                          <a:spcPts val="265"/>
                        </a:spcBef>
                      </a:pPr>
                      <a:r>
                        <a:rPr sz="800" spc="-5" dirty="0">
                          <a:latin typeface="Arial"/>
                          <a:cs typeface="Arial"/>
                        </a:rPr>
                        <a:t>D15</a:t>
                      </a:r>
                      <a:endParaRPr sz="8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71755">
                        <a:lnSpc>
                          <a:spcPct val="100000"/>
                        </a:lnSpc>
                        <a:spcBef>
                          <a:spcPts val="265"/>
                        </a:spcBef>
                      </a:pPr>
                      <a:r>
                        <a:rPr sz="800" spc="-5" dirty="0">
                          <a:latin typeface="Arial"/>
                          <a:cs typeface="Arial"/>
                        </a:rPr>
                        <a:t>D14</a:t>
                      </a:r>
                      <a:endParaRPr sz="8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71755">
                        <a:lnSpc>
                          <a:spcPct val="100000"/>
                        </a:lnSpc>
                        <a:spcBef>
                          <a:spcPts val="265"/>
                        </a:spcBef>
                      </a:pPr>
                      <a:r>
                        <a:rPr sz="800" spc="-5" dirty="0">
                          <a:latin typeface="Arial"/>
                          <a:cs typeface="Arial"/>
                        </a:rPr>
                        <a:t>D13</a:t>
                      </a:r>
                      <a:endParaRPr sz="8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71755">
                        <a:lnSpc>
                          <a:spcPct val="100000"/>
                        </a:lnSpc>
                        <a:spcBef>
                          <a:spcPts val="265"/>
                        </a:spcBef>
                      </a:pPr>
                      <a:r>
                        <a:rPr sz="800" spc="-5" dirty="0">
                          <a:latin typeface="Arial"/>
                          <a:cs typeface="Arial"/>
                        </a:rPr>
                        <a:t>D12</a:t>
                      </a:r>
                      <a:endParaRPr sz="8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71755">
                        <a:lnSpc>
                          <a:spcPct val="100000"/>
                        </a:lnSpc>
                        <a:spcBef>
                          <a:spcPts val="265"/>
                        </a:spcBef>
                      </a:pPr>
                      <a:r>
                        <a:rPr sz="800" spc="-5" dirty="0">
                          <a:latin typeface="Arial"/>
                          <a:cs typeface="Arial"/>
                        </a:rPr>
                        <a:t>D11</a:t>
                      </a:r>
                      <a:endParaRPr sz="8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71755">
                        <a:lnSpc>
                          <a:spcPct val="100000"/>
                        </a:lnSpc>
                        <a:spcBef>
                          <a:spcPts val="265"/>
                        </a:spcBef>
                      </a:pPr>
                      <a:r>
                        <a:rPr sz="800" spc="-5" dirty="0">
                          <a:latin typeface="Arial"/>
                          <a:cs typeface="Arial"/>
                        </a:rPr>
                        <a:t>D10</a:t>
                      </a:r>
                      <a:endParaRPr sz="8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99695">
                        <a:lnSpc>
                          <a:spcPct val="100000"/>
                        </a:lnSpc>
                        <a:spcBef>
                          <a:spcPts val="265"/>
                        </a:spcBef>
                      </a:pPr>
                      <a:r>
                        <a:rPr sz="800" spc="-5" dirty="0">
                          <a:latin typeface="Arial"/>
                          <a:cs typeface="Arial"/>
                        </a:rPr>
                        <a:t>D9</a:t>
                      </a:r>
                      <a:endParaRPr sz="8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99695">
                        <a:lnSpc>
                          <a:spcPct val="100000"/>
                        </a:lnSpc>
                        <a:spcBef>
                          <a:spcPts val="265"/>
                        </a:spcBef>
                      </a:pPr>
                      <a:r>
                        <a:rPr sz="800" spc="-5" dirty="0">
                          <a:latin typeface="Arial"/>
                          <a:cs typeface="Arial"/>
                        </a:rPr>
                        <a:t>D8</a:t>
                      </a:r>
                      <a:endParaRPr sz="8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99695">
                        <a:lnSpc>
                          <a:spcPct val="100000"/>
                        </a:lnSpc>
                        <a:spcBef>
                          <a:spcPts val="265"/>
                        </a:spcBef>
                      </a:pPr>
                      <a:r>
                        <a:rPr sz="800" spc="-5" dirty="0">
                          <a:latin typeface="Arial"/>
                          <a:cs typeface="Arial"/>
                        </a:rPr>
                        <a:t>D7</a:t>
                      </a:r>
                      <a:endParaRPr sz="8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99695">
                        <a:lnSpc>
                          <a:spcPct val="100000"/>
                        </a:lnSpc>
                        <a:spcBef>
                          <a:spcPts val="265"/>
                        </a:spcBef>
                      </a:pPr>
                      <a:r>
                        <a:rPr sz="800" spc="-5" dirty="0">
                          <a:latin typeface="Arial"/>
                          <a:cs typeface="Arial"/>
                        </a:rPr>
                        <a:t>D6</a:t>
                      </a:r>
                      <a:endParaRPr sz="8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99695">
                        <a:lnSpc>
                          <a:spcPct val="100000"/>
                        </a:lnSpc>
                        <a:spcBef>
                          <a:spcPts val="265"/>
                        </a:spcBef>
                      </a:pPr>
                      <a:r>
                        <a:rPr sz="800" spc="-5" dirty="0">
                          <a:latin typeface="Arial"/>
                          <a:cs typeface="Arial"/>
                        </a:rPr>
                        <a:t>D5</a:t>
                      </a:r>
                      <a:endParaRPr sz="8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99695">
                        <a:lnSpc>
                          <a:spcPct val="100000"/>
                        </a:lnSpc>
                        <a:spcBef>
                          <a:spcPts val="265"/>
                        </a:spcBef>
                      </a:pPr>
                      <a:r>
                        <a:rPr sz="800" spc="-5" dirty="0">
                          <a:latin typeface="Arial"/>
                          <a:cs typeface="Arial"/>
                        </a:rPr>
                        <a:t>D4</a:t>
                      </a:r>
                      <a:endParaRPr sz="8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99695">
                        <a:lnSpc>
                          <a:spcPct val="100000"/>
                        </a:lnSpc>
                        <a:spcBef>
                          <a:spcPts val="265"/>
                        </a:spcBef>
                      </a:pPr>
                      <a:r>
                        <a:rPr sz="800" spc="-5" dirty="0">
                          <a:latin typeface="Arial"/>
                          <a:cs typeface="Arial"/>
                        </a:rPr>
                        <a:t>D3</a:t>
                      </a:r>
                      <a:endParaRPr sz="8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99695">
                        <a:lnSpc>
                          <a:spcPct val="100000"/>
                        </a:lnSpc>
                        <a:spcBef>
                          <a:spcPts val="265"/>
                        </a:spcBef>
                      </a:pPr>
                      <a:r>
                        <a:rPr sz="800" spc="-5" dirty="0">
                          <a:latin typeface="Arial"/>
                          <a:cs typeface="Arial"/>
                        </a:rPr>
                        <a:t>D2</a:t>
                      </a:r>
                      <a:endParaRPr sz="8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99695">
                        <a:lnSpc>
                          <a:spcPct val="100000"/>
                        </a:lnSpc>
                        <a:spcBef>
                          <a:spcPts val="265"/>
                        </a:spcBef>
                      </a:pPr>
                      <a:r>
                        <a:rPr sz="800" spc="-5" dirty="0">
                          <a:latin typeface="Arial"/>
                          <a:cs typeface="Arial"/>
                        </a:rPr>
                        <a:t>D1</a:t>
                      </a:r>
                      <a:endParaRPr sz="8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100330">
                        <a:lnSpc>
                          <a:spcPct val="100000"/>
                        </a:lnSpc>
                        <a:spcBef>
                          <a:spcPts val="265"/>
                        </a:spcBef>
                      </a:pPr>
                      <a:r>
                        <a:rPr sz="800" spc="-5" dirty="0">
                          <a:latin typeface="Arial"/>
                          <a:cs typeface="Arial"/>
                        </a:rPr>
                        <a:t>D0</a:t>
                      </a:r>
                      <a:endParaRPr sz="8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extLst>
                  <a:ext uri="{0D108BD9-81ED-4DB2-BD59-A6C34878D82A}">
                    <a16:rowId xmlns:a16="http://schemas.microsoft.com/office/drawing/2014/main" val="10000"/>
                  </a:ext>
                </a:extLst>
              </a:tr>
              <a:tr h="193675">
                <a:tc>
                  <a:txBody>
                    <a:bodyPr/>
                    <a:lstStyle/>
                    <a:p>
                      <a:pPr algn="ctr">
                        <a:lnSpc>
                          <a:spcPct val="100000"/>
                        </a:lnSpc>
                        <a:spcBef>
                          <a:spcPts val="270"/>
                        </a:spcBef>
                      </a:pPr>
                      <a:r>
                        <a:rPr sz="800" spc="-5" dirty="0">
                          <a:latin typeface="Arial"/>
                          <a:cs typeface="Arial"/>
                        </a:rPr>
                        <a:t>‘h09</a:t>
                      </a:r>
                      <a:endParaRPr sz="8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algn="ctr">
                        <a:lnSpc>
                          <a:spcPct val="100000"/>
                        </a:lnSpc>
                        <a:spcBef>
                          <a:spcPts val="270"/>
                        </a:spcBef>
                      </a:pPr>
                      <a:r>
                        <a:rPr sz="800" dirty="0">
                          <a:latin typeface="Arial"/>
                          <a:cs typeface="Arial"/>
                        </a:rPr>
                        <a:t>0</a:t>
                      </a: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2540" algn="ctr">
                        <a:lnSpc>
                          <a:spcPct val="100000"/>
                        </a:lnSpc>
                        <a:spcBef>
                          <a:spcPts val="370"/>
                        </a:spcBef>
                      </a:pPr>
                      <a:r>
                        <a:rPr sz="600" dirty="0">
                          <a:latin typeface="Arial"/>
                          <a:cs typeface="Arial"/>
                        </a:rPr>
                        <a:t>x</a:t>
                      </a:r>
                    </a:p>
                  </a:txBody>
                  <a:tcPr marL="0" marR="0" marT="469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gridSpan="3">
                  <a:txBody>
                    <a:bodyPr/>
                    <a:lstStyle/>
                    <a:p>
                      <a:pPr marL="51435">
                        <a:lnSpc>
                          <a:spcPct val="100000"/>
                        </a:lnSpc>
                        <a:spcBef>
                          <a:spcPts val="370"/>
                        </a:spcBef>
                      </a:pPr>
                      <a:r>
                        <a:rPr sz="600" spc="-5" dirty="0" err="1">
                          <a:latin typeface="Arial"/>
                          <a:cs typeface="Arial"/>
                        </a:rPr>
                        <a:t>HOLD5_DUMY_SIZE</a:t>
                      </a:r>
                      <a:r>
                        <a:rPr sz="600" spc="-5" dirty="0">
                          <a:latin typeface="Arial"/>
                          <a:cs typeface="Arial"/>
                        </a:rPr>
                        <a:t>[2:0]</a:t>
                      </a:r>
                      <a:endParaRPr sz="600" dirty="0">
                        <a:latin typeface="Arial"/>
                        <a:cs typeface="Arial"/>
                      </a:endParaRPr>
                    </a:p>
                  </a:txBody>
                  <a:tcPr marL="0" marR="0" marT="469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hMerge="1">
                  <a:txBody>
                    <a:bodyPr/>
                    <a:lstStyle/>
                    <a:p>
                      <a:endParaRPr/>
                    </a:p>
                  </a:txBody>
                  <a:tcPr marL="0" marR="0" marT="0" marB="0"/>
                </a:tc>
                <a:tc hMerge="1">
                  <a:txBody>
                    <a:bodyPr/>
                    <a:lstStyle/>
                    <a:p>
                      <a:endParaRPr/>
                    </a:p>
                  </a:txBody>
                  <a:tcPr marL="0" marR="0" marT="0" marB="0"/>
                </a:tc>
                <a:tc gridSpan="3">
                  <a:txBody>
                    <a:bodyPr/>
                    <a:lstStyle/>
                    <a:p>
                      <a:pPr marL="51435">
                        <a:lnSpc>
                          <a:spcPct val="100000"/>
                        </a:lnSpc>
                        <a:spcBef>
                          <a:spcPts val="370"/>
                        </a:spcBef>
                      </a:pPr>
                      <a:r>
                        <a:rPr sz="600" spc="-5" dirty="0">
                          <a:latin typeface="Arial"/>
                          <a:cs typeface="Arial"/>
                        </a:rPr>
                        <a:t>HOLD4_DUMY_SIZE[2:0]</a:t>
                      </a:r>
                      <a:endParaRPr sz="600" dirty="0">
                        <a:latin typeface="Arial"/>
                        <a:cs typeface="Arial"/>
                      </a:endParaRPr>
                    </a:p>
                  </a:txBody>
                  <a:tcPr marL="0" marR="0" marT="469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hMerge="1">
                  <a:txBody>
                    <a:bodyPr/>
                    <a:lstStyle/>
                    <a:p>
                      <a:endParaRPr/>
                    </a:p>
                  </a:txBody>
                  <a:tcPr marL="0" marR="0" marT="0" marB="0"/>
                </a:tc>
                <a:tc hMerge="1">
                  <a:txBody>
                    <a:bodyPr/>
                    <a:lstStyle/>
                    <a:p>
                      <a:endParaRPr/>
                    </a:p>
                  </a:txBody>
                  <a:tcPr marL="0" marR="0" marT="0" marB="0"/>
                </a:tc>
                <a:tc gridSpan="3">
                  <a:txBody>
                    <a:bodyPr/>
                    <a:lstStyle/>
                    <a:p>
                      <a:pPr marL="52069">
                        <a:lnSpc>
                          <a:spcPct val="100000"/>
                        </a:lnSpc>
                        <a:spcBef>
                          <a:spcPts val="370"/>
                        </a:spcBef>
                      </a:pPr>
                      <a:r>
                        <a:rPr sz="600" spc="-5" dirty="0">
                          <a:latin typeface="Arial"/>
                          <a:cs typeface="Arial"/>
                        </a:rPr>
                        <a:t>HOLD3_DUMY_SIZE[2:0]</a:t>
                      </a:r>
                      <a:endParaRPr sz="600" dirty="0">
                        <a:latin typeface="Arial"/>
                        <a:cs typeface="Arial"/>
                      </a:endParaRPr>
                    </a:p>
                  </a:txBody>
                  <a:tcPr marL="0" marR="0" marT="469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hMerge="1">
                  <a:txBody>
                    <a:bodyPr/>
                    <a:lstStyle/>
                    <a:p>
                      <a:endParaRPr/>
                    </a:p>
                  </a:txBody>
                  <a:tcPr marL="0" marR="0" marT="0" marB="0"/>
                </a:tc>
                <a:tc hMerge="1">
                  <a:txBody>
                    <a:bodyPr/>
                    <a:lstStyle/>
                    <a:p>
                      <a:endParaRPr/>
                    </a:p>
                  </a:txBody>
                  <a:tcPr marL="0" marR="0" marT="0" marB="0"/>
                </a:tc>
                <a:tc gridSpan="3">
                  <a:txBody>
                    <a:bodyPr/>
                    <a:lstStyle/>
                    <a:p>
                      <a:pPr marL="52069">
                        <a:lnSpc>
                          <a:spcPct val="100000"/>
                        </a:lnSpc>
                        <a:spcBef>
                          <a:spcPts val="370"/>
                        </a:spcBef>
                      </a:pPr>
                      <a:r>
                        <a:rPr sz="600" dirty="0" err="1">
                          <a:latin typeface="Arial"/>
                          <a:cs typeface="Arial"/>
                        </a:rPr>
                        <a:t>HOLD2_DUMY_SIZE</a:t>
                      </a:r>
                      <a:r>
                        <a:rPr sz="600" dirty="0">
                          <a:latin typeface="Arial"/>
                          <a:cs typeface="Arial"/>
                        </a:rPr>
                        <a:t>[2:0]</a:t>
                      </a:r>
                    </a:p>
                  </a:txBody>
                  <a:tcPr marL="0" marR="0" marT="469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hMerge="1">
                  <a:txBody>
                    <a:bodyPr/>
                    <a:lstStyle/>
                    <a:p>
                      <a:endParaRPr/>
                    </a:p>
                  </a:txBody>
                  <a:tcPr marL="0" marR="0" marT="0" marB="0"/>
                </a:tc>
                <a:tc hMerge="1">
                  <a:txBody>
                    <a:bodyPr/>
                    <a:lstStyle/>
                    <a:p>
                      <a:endParaRPr/>
                    </a:p>
                  </a:txBody>
                  <a:tcPr marL="0" marR="0" marT="0" marB="0"/>
                </a:tc>
                <a:tc gridSpan="3">
                  <a:txBody>
                    <a:bodyPr/>
                    <a:lstStyle/>
                    <a:p>
                      <a:pPr marL="52705">
                        <a:lnSpc>
                          <a:spcPct val="100000"/>
                        </a:lnSpc>
                        <a:spcBef>
                          <a:spcPts val="370"/>
                        </a:spcBef>
                      </a:pPr>
                      <a:r>
                        <a:rPr sz="600" spc="-5" dirty="0" err="1">
                          <a:latin typeface="Arial"/>
                          <a:cs typeface="Arial"/>
                        </a:rPr>
                        <a:t>HOLD1_DUMY_SIZE</a:t>
                      </a:r>
                      <a:r>
                        <a:rPr sz="600" spc="-5" dirty="0">
                          <a:latin typeface="Arial"/>
                          <a:cs typeface="Arial"/>
                        </a:rPr>
                        <a:t>[2:0]</a:t>
                      </a:r>
                      <a:endParaRPr sz="600" dirty="0">
                        <a:latin typeface="Arial"/>
                        <a:cs typeface="Arial"/>
                      </a:endParaRPr>
                    </a:p>
                  </a:txBody>
                  <a:tcPr marL="0" marR="0" marT="469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1"/>
                  </a:ext>
                </a:extLst>
              </a:tr>
            </a:tbl>
          </a:graphicData>
        </a:graphic>
      </p:graphicFrame>
      <p:graphicFrame>
        <p:nvGraphicFramePr>
          <p:cNvPr id="10" name="object 10"/>
          <p:cNvGraphicFramePr>
            <a:graphicFrameLocks noGrp="1"/>
          </p:cNvGraphicFramePr>
          <p:nvPr>
            <p:extLst>
              <p:ext uri="{D42A27DB-BD31-4B8C-83A1-F6EECF244321}">
                <p14:modId xmlns:p14="http://schemas.microsoft.com/office/powerpoint/2010/main" val="2077081796"/>
              </p:ext>
            </p:extLst>
          </p:nvPr>
        </p:nvGraphicFramePr>
        <p:xfrm>
          <a:off x="400913" y="1704530"/>
          <a:ext cx="6038535" cy="387350"/>
        </p:xfrm>
        <a:graphic>
          <a:graphicData uri="http://schemas.openxmlformats.org/drawingml/2006/table">
            <a:tbl>
              <a:tblPr firstRow="1" bandRow="1">
                <a:tableStyleId>{2D5ABB26-0587-4C30-8999-92F81FD0307C}</a:tableStyleId>
              </a:tblPr>
              <a:tblGrid>
                <a:gridCol w="412143">
                  <a:extLst>
                    <a:ext uri="{9D8B030D-6E8A-4147-A177-3AD203B41FA5}">
                      <a16:colId xmlns:a16="http://schemas.microsoft.com/office/drawing/2014/main" val="20000"/>
                    </a:ext>
                  </a:extLst>
                </a:gridCol>
                <a:gridCol w="474306">
                  <a:extLst>
                    <a:ext uri="{9D8B030D-6E8A-4147-A177-3AD203B41FA5}">
                      <a16:colId xmlns:a16="http://schemas.microsoft.com/office/drawing/2014/main" val="20001"/>
                    </a:ext>
                  </a:extLst>
                </a:gridCol>
                <a:gridCol w="322005">
                  <a:extLst>
                    <a:ext uri="{9D8B030D-6E8A-4147-A177-3AD203B41FA5}">
                      <a16:colId xmlns:a16="http://schemas.microsoft.com/office/drawing/2014/main" val="20002"/>
                    </a:ext>
                  </a:extLst>
                </a:gridCol>
                <a:gridCol w="322006">
                  <a:extLst>
                    <a:ext uri="{9D8B030D-6E8A-4147-A177-3AD203B41FA5}">
                      <a16:colId xmlns:a16="http://schemas.microsoft.com/office/drawing/2014/main" val="20003"/>
                    </a:ext>
                  </a:extLst>
                </a:gridCol>
                <a:gridCol w="322006">
                  <a:extLst>
                    <a:ext uri="{9D8B030D-6E8A-4147-A177-3AD203B41FA5}">
                      <a16:colId xmlns:a16="http://schemas.microsoft.com/office/drawing/2014/main" val="20004"/>
                    </a:ext>
                  </a:extLst>
                </a:gridCol>
                <a:gridCol w="322006">
                  <a:extLst>
                    <a:ext uri="{9D8B030D-6E8A-4147-A177-3AD203B41FA5}">
                      <a16:colId xmlns:a16="http://schemas.microsoft.com/office/drawing/2014/main" val="20005"/>
                    </a:ext>
                  </a:extLst>
                </a:gridCol>
                <a:gridCol w="322006">
                  <a:extLst>
                    <a:ext uri="{9D8B030D-6E8A-4147-A177-3AD203B41FA5}">
                      <a16:colId xmlns:a16="http://schemas.microsoft.com/office/drawing/2014/main" val="20006"/>
                    </a:ext>
                  </a:extLst>
                </a:gridCol>
                <a:gridCol w="322006">
                  <a:extLst>
                    <a:ext uri="{9D8B030D-6E8A-4147-A177-3AD203B41FA5}">
                      <a16:colId xmlns:a16="http://schemas.microsoft.com/office/drawing/2014/main" val="20007"/>
                    </a:ext>
                  </a:extLst>
                </a:gridCol>
                <a:gridCol w="322006">
                  <a:extLst>
                    <a:ext uri="{9D8B030D-6E8A-4147-A177-3AD203B41FA5}">
                      <a16:colId xmlns:a16="http://schemas.microsoft.com/office/drawing/2014/main" val="20008"/>
                    </a:ext>
                  </a:extLst>
                </a:gridCol>
                <a:gridCol w="322005">
                  <a:extLst>
                    <a:ext uri="{9D8B030D-6E8A-4147-A177-3AD203B41FA5}">
                      <a16:colId xmlns:a16="http://schemas.microsoft.com/office/drawing/2014/main" val="20009"/>
                    </a:ext>
                  </a:extLst>
                </a:gridCol>
                <a:gridCol w="322005">
                  <a:extLst>
                    <a:ext uri="{9D8B030D-6E8A-4147-A177-3AD203B41FA5}">
                      <a16:colId xmlns:a16="http://schemas.microsoft.com/office/drawing/2014/main" val="20010"/>
                    </a:ext>
                  </a:extLst>
                </a:gridCol>
                <a:gridCol w="322005">
                  <a:extLst>
                    <a:ext uri="{9D8B030D-6E8A-4147-A177-3AD203B41FA5}">
                      <a16:colId xmlns:a16="http://schemas.microsoft.com/office/drawing/2014/main" val="20011"/>
                    </a:ext>
                  </a:extLst>
                </a:gridCol>
                <a:gridCol w="322005">
                  <a:extLst>
                    <a:ext uri="{9D8B030D-6E8A-4147-A177-3AD203B41FA5}">
                      <a16:colId xmlns:a16="http://schemas.microsoft.com/office/drawing/2014/main" val="20012"/>
                    </a:ext>
                  </a:extLst>
                </a:gridCol>
                <a:gridCol w="322005">
                  <a:extLst>
                    <a:ext uri="{9D8B030D-6E8A-4147-A177-3AD203B41FA5}">
                      <a16:colId xmlns:a16="http://schemas.microsoft.com/office/drawing/2014/main" val="20013"/>
                    </a:ext>
                  </a:extLst>
                </a:gridCol>
                <a:gridCol w="322005">
                  <a:extLst>
                    <a:ext uri="{9D8B030D-6E8A-4147-A177-3AD203B41FA5}">
                      <a16:colId xmlns:a16="http://schemas.microsoft.com/office/drawing/2014/main" val="20014"/>
                    </a:ext>
                  </a:extLst>
                </a:gridCol>
                <a:gridCol w="322005">
                  <a:extLst>
                    <a:ext uri="{9D8B030D-6E8A-4147-A177-3AD203B41FA5}">
                      <a16:colId xmlns:a16="http://schemas.microsoft.com/office/drawing/2014/main" val="20015"/>
                    </a:ext>
                  </a:extLst>
                </a:gridCol>
                <a:gridCol w="322005">
                  <a:extLst>
                    <a:ext uri="{9D8B030D-6E8A-4147-A177-3AD203B41FA5}">
                      <a16:colId xmlns:a16="http://schemas.microsoft.com/office/drawing/2014/main" val="20016"/>
                    </a:ext>
                  </a:extLst>
                </a:gridCol>
                <a:gridCol w="322005">
                  <a:extLst>
                    <a:ext uri="{9D8B030D-6E8A-4147-A177-3AD203B41FA5}">
                      <a16:colId xmlns:a16="http://schemas.microsoft.com/office/drawing/2014/main" val="20017"/>
                    </a:ext>
                  </a:extLst>
                </a:gridCol>
              </a:tblGrid>
              <a:tr h="193675">
                <a:tc>
                  <a:txBody>
                    <a:bodyPr/>
                    <a:lstStyle/>
                    <a:p>
                      <a:pPr algn="ctr">
                        <a:lnSpc>
                          <a:spcPct val="100000"/>
                        </a:lnSpc>
                        <a:spcBef>
                          <a:spcPts val="260"/>
                        </a:spcBef>
                      </a:pPr>
                      <a:r>
                        <a:rPr sz="800" dirty="0">
                          <a:latin typeface="Arial"/>
                          <a:cs typeface="Arial"/>
                        </a:rPr>
                        <a:t>A[6:0]</a:t>
                      </a:r>
                    </a:p>
                  </a:txBody>
                  <a:tcPr marL="0" marR="0" marT="3302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algn="ctr">
                        <a:lnSpc>
                          <a:spcPct val="100000"/>
                        </a:lnSpc>
                        <a:spcBef>
                          <a:spcPts val="260"/>
                        </a:spcBef>
                      </a:pPr>
                      <a:r>
                        <a:rPr sz="800" spc="-5" dirty="0">
                          <a:latin typeface="Arial"/>
                          <a:cs typeface="Arial"/>
                        </a:rPr>
                        <a:t>Default</a:t>
                      </a:r>
                      <a:endParaRPr sz="800" dirty="0">
                        <a:latin typeface="Arial"/>
                        <a:cs typeface="Arial"/>
                      </a:endParaRPr>
                    </a:p>
                  </a:txBody>
                  <a:tcPr marL="0" marR="0" marT="3302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71120">
                        <a:lnSpc>
                          <a:spcPct val="100000"/>
                        </a:lnSpc>
                        <a:spcBef>
                          <a:spcPts val="260"/>
                        </a:spcBef>
                      </a:pPr>
                      <a:r>
                        <a:rPr sz="800" spc="-5" dirty="0">
                          <a:latin typeface="Arial"/>
                          <a:cs typeface="Arial"/>
                        </a:rPr>
                        <a:t>D15</a:t>
                      </a:r>
                      <a:endParaRPr sz="800" dirty="0">
                        <a:latin typeface="Arial"/>
                        <a:cs typeface="Arial"/>
                      </a:endParaRPr>
                    </a:p>
                  </a:txBody>
                  <a:tcPr marL="0" marR="0" marT="3302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71755">
                        <a:lnSpc>
                          <a:spcPct val="100000"/>
                        </a:lnSpc>
                        <a:spcBef>
                          <a:spcPts val="260"/>
                        </a:spcBef>
                      </a:pPr>
                      <a:r>
                        <a:rPr sz="800" spc="-5" dirty="0">
                          <a:latin typeface="Arial"/>
                          <a:cs typeface="Arial"/>
                        </a:rPr>
                        <a:t>D14</a:t>
                      </a:r>
                      <a:endParaRPr sz="800" dirty="0">
                        <a:latin typeface="Arial"/>
                        <a:cs typeface="Arial"/>
                      </a:endParaRPr>
                    </a:p>
                  </a:txBody>
                  <a:tcPr marL="0" marR="0" marT="3302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71755">
                        <a:lnSpc>
                          <a:spcPct val="100000"/>
                        </a:lnSpc>
                        <a:spcBef>
                          <a:spcPts val="260"/>
                        </a:spcBef>
                      </a:pPr>
                      <a:r>
                        <a:rPr sz="800" spc="-5" dirty="0">
                          <a:latin typeface="Arial"/>
                          <a:cs typeface="Arial"/>
                        </a:rPr>
                        <a:t>D13</a:t>
                      </a:r>
                      <a:endParaRPr sz="800" dirty="0">
                        <a:latin typeface="Arial"/>
                        <a:cs typeface="Arial"/>
                      </a:endParaRPr>
                    </a:p>
                  </a:txBody>
                  <a:tcPr marL="0" marR="0" marT="3302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71755">
                        <a:lnSpc>
                          <a:spcPct val="100000"/>
                        </a:lnSpc>
                        <a:spcBef>
                          <a:spcPts val="260"/>
                        </a:spcBef>
                      </a:pPr>
                      <a:r>
                        <a:rPr sz="800" spc="-5" dirty="0">
                          <a:latin typeface="Arial"/>
                          <a:cs typeface="Arial"/>
                        </a:rPr>
                        <a:t>D12</a:t>
                      </a:r>
                      <a:endParaRPr sz="800" dirty="0">
                        <a:latin typeface="Arial"/>
                        <a:cs typeface="Arial"/>
                      </a:endParaRPr>
                    </a:p>
                  </a:txBody>
                  <a:tcPr marL="0" marR="0" marT="3302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71755">
                        <a:lnSpc>
                          <a:spcPct val="100000"/>
                        </a:lnSpc>
                        <a:spcBef>
                          <a:spcPts val="260"/>
                        </a:spcBef>
                      </a:pPr>
                      <a:r>
                        <a:rPr sz="800" spc="-5" dirty="0">
                          <a:latin typeface="Arial"/>
                          <a:cs typeface="Arial"/>
                        </a:rPr>
                        <a:t>D11</a:t>
                      </a:r>
                      <a:endParaRPr sz="800" dirty="0">
                        <a:latin typeface="Arial"/>
                        <a:cs typeface="Arial"/>
                      </a:endParaRPr>
                    </a:p>
                  </a:txBody>
                  <a:tcPr marL="0" marR="0" marT="3302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71755">
                        <a:lnSpc>
                          <a:spcPct val="100000"/>
                        </a:lnSpc>
                        <a:spcBef>
                          <a:spcPts val="260"/>
                        </a:spcBef>
                      </a:pPr>
                      <a:r>
                        <a:rPr sz="800" spc="-5" dirty="0">
                          <a:latin typeface="Arial"/>
                          <a:cs typeface="Arial"/>
                        </a:rPr>
                        <a:t>D10</a:t>
                      </a:r>
                      <a:endParaRPr sz="800" dirty="0">
                        <a:latin typeface="Arial"/>
                        <a:cs typeface="Arial"/>
                      </a:endParaRPr>
                    </a:p>
                  </a:txBody>
                  <a:tcPr marL="0" marR="0" marT="3302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99060">
                        <a:lnSpc>
                          <a:spcPct val="100000"/>
                        </a:lnSpc>
                        <a:spcBef>
                          <a:spcPts val="260"/>
                        </a:spcBef>
                      </a:pPr>
                      <a:r>
                        <a:rPr sz="800" spc="-5" dirty="0">
                          <a:latin typeface="Arial"/>
                          <a:cs typeface="Arial"/>
                        </a:rPr>
                        <a:t>D9</a:t>
                      </a:r>
                      <a:endParaRPr sz="800" dirty="0">
                        <a:latin typeface="Arial"/>
                        <a:cs typeface="Arial"/>
                      </a:endParaRPr>
                    </a:p>
                  </a:txBody>
                  <a:tcPr marL="0" marR="0" marT="3302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99695">
                        <a:lnSpc>
                          <a:spcPct val="100000"/>
                        </a:lnSpc>
                        <a:spcBef>
                          <a:spcPts val="260"/>
                        </a:spcBef>
                      </a:pPr>
                      <a:r>
                        <a:rPr sz="800" spc="-5" dirty="0">
                          <a:latin typeface="Arial"/>
                          <a:cs typeface="Arial"/>
                        </a:rPr>
                        <a:t>D8</a:t>
                      </a:r>
                      <a:endParaRPr sz="800" dirty="0">
                        <a:latin typeface="Arial"/>
                        <a:cs typeface="Arial"/>
                      </a:endParaRPr>
                    </a:p>
                  </a:txBody>
                  <a:tcPr marL="0" marR="0" marT="3302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99060">
                        <a:lnSpc>
                          <a:spcPct val="100000"/>
                        </a:lnSpc>
                        <a:spcBef>
                          <a:spcPts val="260"/>
                        </a:spcBef>
                      </a:pPr>
                      <a:r>
                        <a:rPr sz="800" spc="-5" dirty="0">
                          <a:latin typeface="Arial"/>
                          <a:cs typeface="Arial"/>
                        </a:rPr>
                        <a:t>D7</a:t>
                      </a:r>
                      <a:endParaRPr sz="800" dirty="0">
                        <a:latin typeface="Arial"/>
                        <a:cs typeface="Arial"/>
                      </a:endParaRPr>
                    </a:p>
                  </a:txBody>
                  <a:tcPr marL="0" marR="0" marT="3302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99695">
                        <a:lnSpc>
                          <a:spcPct val="100000"/>
                        </a:lnSpc>
                        <a:spcBef>
                          <a:spcPts val="260"/>
                        </a:spcBef>
                      </a:pPr>
                      <a:r>
                        <a:rPr sz="800" spc="-5" dirty="0">
                          <a:latin typeface="Arial"/>
                          <a:cs typeface="Arial"/>
                        </a:rPr>
                        <a:t>D6</a:t>
                      </a:r>
                      <a:endParaRPr sz="800" dirty="0">
                        <a:latin typeface="Arial"/>
                        <a:cs typeface="Arial"/>
                      </a:endParaRPr>
                    </a:p>
                  </a:txBody>
                  <a:tcPr marL="0" marR="0" marT="3302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99695">
                        <a:lnSpc>
                          <a:spcPct val="100000"/>
                        </a:lnSpc>
                        <a:spcBef>
                          <a:spcPts val="260"/>
                        </a:spcBef>
                      </a:pPr>
                      <a:r>
                        <a:rPr sz="800" spc="-5" dirty="0">
                          <a:latin typeface="Arial"/>
                          <a:cs typeface="Arial"/>
                        </a:rPr>
                        <a:t>D5</a:t>
                      </a:r>
                      <a:endParaRPr sz="800" dirty="0">
                        <a:latin typeface="Arial"/>
                        <a:cs typeface="Arial"/>
                      </a:endParaRPr>
                    </a:p>
                  </a:txBody>
                  <a:tcPr marL="0" marR="0" marT="3302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99695">
                        <a:lnSpc>
                          <a:spcPct val="100000"/>
                        </a:lnSpc>
                        <a:spcBef>
                          <a:spcPts val="260"/>
                        </a:spcBef>
                      </a:pPr>
                      <a:r>
                        <a:rPr sz="800" spc="-5" dirty="0">
                          <a:latin typeface="Arial"/>
                          <a:cs typeface="Arial"/>
                        </a:rPr>
                        <a:t>D4</a:t>
                      </a:r>
                      <a:endParaRPr sz="800" dirty="0">
                        <a:latin typeface="Arial"/>
                        <a:cs typeface="Arial"/>
                      </a:endParaRPr>
                    </a:p>
                  </a:txBody>
                  <a:tcPr marL="0" marR="0" marT="3302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100330">
                        <a:lnSpc>
                          <a:spcPct val="100000"/>
                        </a:lnSpc>
                        <a:spcBef>
                          <a:spcPts val="260"/>
                        </a:spcBef>
                      </a:pPr>
                      <a:r>
                        <a:rPr sz="800" spc="-5" dirty="0">
                          <a:latin typeface="Arial"/>
                          <a:cs typeface="Arial"/>
                        </a:rPr>
                        <a:t>D3</a:t>
                      </a:r>
                      <a:endParaRPr sz="800" dirty="0">
                        <a:latin typeface="Arial"/>
                        <a:cs typeface="Arial"/>
                      </a:endParaRPr>
                    </a:p>
                  </a:txBody>
                  <a:tcPr marL="0" marR="0" marT="3302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99695">
                        <a:lnSpc>
                          <a:spcPct val="100000"/>
                        </a:lnSpc>
                        <a:spcBef>
                          <a:spcPts val="260"/>
                        </a:spcBef>
                      </a:pPr>
                      <a:r>
                        <a:rPr sz="800" spc="-5" dirty="0">
                          <a:latin typeface="Arial"/>
                          <a:cs typeface="Arial"/>
                        </a:rPr>
                        <a:t>D2</a:t>
                      </a:r>
                      <a:endParaRPr sz="800" dirty="0">
                        <a:latin typeface="Arial"/>
                        <a:cs typeface="Arial"/>
                      </a:endParaRPr>
                    </a:p>
                  </a:txBody>
                  <a:tcPr marL="0" marR="0" marT="3302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100330">
                        <a:lnSpc>
                          <a:spcPct val="100000"/>
                        </a:lnSpc>
                        <a:spcBef>
                          <a:spcPts val="260"/>
                        </a:spcBef>
                      </a:pPr>
                      <a:r>
                        <a:rPr sz="800" spc="-5" dirty="0">
                          <a:latin typeface="Arial"/>
                          <a:cs typeface="Arial"/>
                        </a:rPr>
                        <a:t>D1</a:t>
                      </a:r>
                      <a:endParaRPr sz="800" dirty="0">
                        <a:latin typeface="Arial"/>
                        <a:cs typeface="Arial"/>
                      </a:endParaRPr>
                    </a:p>
                  </a:txBody>
                  <a:tcPr marL="0" marR="0" marT="3302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100330">
                        <a:lnSpc>
                          <a:spcPct val="100000"/>
                        </a:lnSpc>
                        <a:spcBef>
                          <a:spcPts val="260"/>
                        </a:spcBef>
                      </a:pPr>
                      <a:r>
                        <a:rPr sz="800" spc="-5" dirty="0">
                          <a:latin typeface="Arial"/>
                          <a:cs typeface="Arial"/>
                        </a:rPr>
                        <a:t>D0</a:t>
                      </a:r>
                      <a:endParaRPr sz="800" dirty="0">
                        <a:latin typeface="Arial"/>
                        <a:cs typeface="Arial"/>
                      </a:endParaRPr>
                    </a:p>
                  </a:txBody>
                  <a:tcPr marL="0" marR="0" marT="3302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extLst>
                  <a:ext uri="{0D108BD9-81ED-4DB2-BD59-A6C34878D82A}">
                    <a16:rowId xmlns:a16="http://schemas.microsoft.com/office/drawing/2014/main" val="10000"/>
                  </a:ext>
                </a:extLst>
              </a:tr>
              <a:tr h="193675">
                <a:tc>
                  <a:txBody>
                    <a:bodyPr/>
                    <a:lstStyle/>
                    <a:p>
                      <a:pPr marL="635" algn="ctr">
                        <a:lnSpc>
                          <a:spcPct val="100000"/>
                        </a:lnSpc>
                        <a:spcBef>
                          <a:spcPts val="265"/>
                        </a:spcBef>
                      </a:pPr>
                      <a:r>
                        <a:rPr sz="800" spc="-5" dirty="0">
                          <a:latin typeface="Arial"/>
                          <a:cs typeface="Arial"/>
                        </a:rPr>
                        <a:t>‘h07</a:t>
                      </a:r>
                      <a:endParaRPr sz="8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algn="ctr">
                        <a:lnSpc>
                          <a:spcPct val="100000"/>
                        </a:lnSpc>
                        <a:spcBef>
                          <a:spcPts val="265"/>
                        </a:spcBef>
                      </a:pPr>
                      <a:r>
                        <a:rPr sz="800" dirty="0">
                          <a:latin typeface="Arial"/>
                          <a:cs typeface="Arial"/>
                        </a:rPr>
                        <a:t>0</a:t>
                      </a: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gridSpan="4">
                  <a:txBody>
                    <a:bodyPr/>
                    <a:lstStyle/>
                    <a:p>
                      <a:pPr marL="288290">
                        <a:lnSpc>
                          <a:spcPct val="100000"/>
                        </a:lnSpc>
                        <a:spcBef>
                          <a:spcPts val="305"/>
                        </a:spcBef>
                      </a:pPr>
                      <a:r>
                        <a:rPr sz="700" spc="-5" dirty="0">
                          <a:latin typeface="Arial"/>
                          <a:cs typeface="Arial"/>
                        </a:rPr>
                        <a:t>HOLD8_SIZE</a:t>
                      </a:r>
                      <a:r>
                        <a:rPr sz="700" spc="-10" dirty="0">
                          <a:latin typeface="Arial"/>
                          <a:cs typeface="Arial"/>
                        </a:rPr>
                        <a:t> </a:t>
                      </a:r>
                      <a:r>
                        <a:rPr sz="700" spc="-5" dirty="0">
                          <a:latin typeface="Arial"/>
                          <a:cs typeface="Arial"/>
                        </a:rPr>
                        <a:t>[3:0]</a:t>
                      </a:r>
                      <a:endParaRPr sz="700" dirty="0">
                        <a:latin typeface="Arial"/>
                        <a:cs typeface="Arial"/>
                      </a:endParaRPr>
                    </a:p>
                  </a:txBody>
                  <a:tcPr marL="0" marR="0" marT="3873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gridSpan="4">
                  <a:txBody>
                    <a:bodyPr/>
                    <a:lstStyle/>
                    <a:p>
                      <a:pPr marL="288925">
                        <a:lnSpc>
                          <a:spcPct val="100000"/>
                        </a:lnSpc>
                        <a:spcBef>
                          <a:spcPts val="305"/>
                        </a:spcBef>
                      </a:pPr>
                      <a:r>
                        <a:rPr sz="700" spc="-10" dirty="0" err="1">
                          <a:latin typeface="Arial"/>
                          <a:cs typeface="Arial"/>
                        </a:rPr>
                        <a:t>HOLD7_SIZE</a:t>
                      </a:r>
                      <a:r>
                        <a:rPr sz="700" spc="5" dirty="0">
                          <a:latin typeface="Arial"/>
                          <a:cs typeface="Arial"/>
                        </a:rPr>
                        <a:t> </a:t>
                      </a:r>
                      <a:r>
                        <a:rPr sz="700" spc="-5" dirty="0">
                          <a:latin typeface="Arial"/>
                          <a:cs typeface="Arial"/>
                        </a:rPr>
                        <a:t>[3:0]</a:t>
                      </a:r>
                      <a:endParaRPr sz="700" dirty="0">
                        <a:latin typeface="Arial"/>
                        <a:cs typeface="Arial"/>
                      </a:endParaRPr>
                    </a:p>
                  </a:txBody>
                  <a:tcPr marL="0" marR="0" marT="3873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gridSpan="4">
                  <a:txBody>
                    <a:bodyPr/>
                    <a:lstStyle/>
                    <a:p>
                      <a:pPr marL="288925">
                        <a:lnSpc>
                          <a:spcPct val="100000"/>
                        </a:lnSpc>
                        <a:spcBef>
                          <a:spcPts val="305"/>
                        </a:spcBef>
                      </a:pPr>
                      <a:r>
                        <a:rPr sz="700" spc="-10" dirty="0" err="1">
                          <a:latin typeface="Arial"/>
                          <a:cs typeface="Arial"/>
                        </a:rPr>
                        <a:t>HOLD6_SIZE</a:t>
                      </a:r>
                      <a:r>
                        <a:rPr sz="700" spc="5" dirty="0">
                          <a:latin typeface="Arial"/>
                          <a:cs typeface="Arial"/>
                        </a:rPr>
                        <a:t> </a:t>
                      </a:r>
                      <a:r>
                        <a:rPr sz="700" spc="-5" dirty="0">
                          <a:latin typeface="Arial"/>
                          <a:cs typeface="Arial"/>
                        </a:rPr>
                        <a:t>[3:0]</a:t>
                      </a:r>
                      <a:endParaRPr sz="700" dirty="0">
                        <a:latin typeface="Arial"/>
                        <a:cs typeface="Arial"/>
                      </a:endParaRPr>
                    </a:p>
                  </a:txBody>
                  <a:tcPr marL="0" marR="0" marT="3873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gridSpan="4">
                  <a:txBody>
                    <a:bodyPr/>
                    <a:lstStyle/>
                    <a:p>
                      <a:pPr marL="289560">
                        <a:lnSpc>
                          <a:spcPct val="100000"/>
                        </a:lnSpc>
                        <a:spcBef>
                          <a:spcPts val="305"/>
                        </a:spcBef>
                      </a:pPr>
                      <a:r>
                        <a:rPr sz="700" spc="-10" dirty="0" err="1">
                          <a:latin typeface="Arial"/>
                          <a:cs typeface="Arial"/>
                        </a:rPr>
                        <a:t>HOLD5_SIZE</a:t>
                      </a:r>
                      <a:r>
                        <a:rPr sz="700" spc="5" dirty="0">
                          <a:latin typeface="Arial"/>
                          <a:cs typeface="Arial"/>
                        </a:rPr>
                        <a:t> </a:t>
                      </a:r>
                      <a:r>
                        <a:rPr sz="700" spc="-5" dirty="0">
                          <a:latin typeface="Arial"/>
                          <a:cs typeface="Arial"/>
                        </a:rPr>
                        <a:t>[3:0]</a:t>
                      </a:r>
                      <a:endParaRPr sz="700" dirty="0">
                        <a:latin typeface="Arial"/>
                        <a:cs typeface="Arial"/>
                      </a:endParaRPr>
                    </a:p>
                  </a:txBody>
                  <a:tcPr marL="0" marR="0" marT="3873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1"/>
                  </a:ext>
                </a:extLst>
              </a:tr>
            </a:tbl>
          </a:graphicData>
        </a:graphic>
      </p:graphicFrame>
      <p:graphicFrame>
        <p:nvGraphicFramePr>
          <p:cNvPr id="11" name="object 11"/>
          <p:cNvGraphicFramePr>
            <a:graphicFrameLocks noGrp="1"/>
          </p:cNvGraphicFramePr>
          <p:nvPr>
            <p:extLst>
              <p:ext uri="{D42A27DB-BD31-4B8C-83A1-F6EECF244321}">
                <p14:modId xmlns:p14="http://schemas.microsoft.com/office/powerpoint/2010/main" val="3743283602"/>
              </p:ext>
            </p:extLst>
          </p:nvPr>
        </p:nvGraphicFramePr>
        <p:xfrm>
          <a:off x="400913" y="2173541"/>
          <a:ext cx="6038535" cy="387350"/>
        </p:xfrm>
        <a:graphic>
          <a:graphicData uri="http://schemas.openxmlformats.org/drawingml/2006/table">
            <a:tbl>
              <a:tblPr firstRow="1" bandRow="1">
                <a:tableStyleId>{2D5ABB26-0587-4C30-8999-92F81FD0307C}</a:tableStyleId>
              </a:tblPr>
              <a:tblGrid>
                <a:gridCol w="412143">
                  <a:extLst>
                    <a:ext uri="{9D8B030D-6E8A-4147-A177-3AD203B41FA5}">
                      <a16:colId xmlns:a16="http://schemas.microsoft.com/office/drawing/2014/main" val="20000"/>
                    </a:ext>
                  </a:extLst>
                </a:gridCol>
                <a:gridCol w="474306">
                  <a:extLst>
                    <a:ext uri="{9D8B030D-6E8A-4147-A177-3AD203B41FA5}">
                      <a16:colId xmlns:a16="http://schemas.microsoft.com/office/drawing/2014/main" val="20001"/>
                    </a:ext>
                  </a:extLst>
                </a:gridCol>
                <a:gridCol w="322005">
                  <a:extLst>
                    <a:ext uri="{9D8B030D-6E8A-4147-A177-3AD203B41FA5}">
                      <a16:colId xmlns:a16="http://schemas.microsoft.com/office/drawing/2014/main" val="20002"/>
                    </a:ext>
                  </a:extLst>
                </a:gridCol>
                <a:gridCol w="322006">
                  <a:extLst>
                    <a:ext uri="{9D8B030D-6E8A-4147-A177-3AD203B41FA5}">
                      <a16:colId xmlns:a16="http://schemas.microsoft.com/office/drawing/2014/main" val="20003"/>
                    </a:ext>
                  </a:extLst>
                </a:gridCol>
                <a:gridCol w="322006">
                  <a:extLst>
                    <a:ext uri="{9D8B030D-6E8A-4147-A177-3AD203B41FA5}">
                      <a16:colId xmlns:a16="http://schemas.microsoft.com/office/drawing/2014/main" val="20004"/>
                    </a:ext>
                  </a:extLst>
                </a:gridCol>
                <a:gridCol w="322006">
                  <a:extLst>
                    <a:ext uri="{9D8B030D-6E8A-4147-A177-3AD203B41FA5}">
                      <a16:colId xmlns:a16="http://schemas.microsoft.com/office/drawing/2014/main" val="20005"/>
                    </a:ext>
                  </a:extLst>
                </a:gridCol>
                <a:gridCol w="322006">
                  <a:extLst>
                    <a:ext uri="{9D8B030D-6E8A-4147-A177-3AD203B41FA5}">
                      <a16:colId xmlns:a16="http://schemas.microsoft.com/office/drawing/2014/main" val="20006"/>
                    </a:ext>
                  </a:extLst>
                </a:gridCol>
                <a:gridCol w="322006">
                  <a:extLst>
                    <a:ext uri="{9D8B030D-6E8A-4147-A177-3AD203B41FA5}">
                      <a16:colId xmlns:a16="http://schemas.microsoft.com/office/drawing/2014/main" val="20007"/>
                    </a:ext>
                  </a:extLst>
                </a:gridCol>
                <a:gridCol w="322006">
                  <a:extLst>
                    <a:ext uri="{9D8B030D-6E8A-4147-A177-3AD203B41FA5}">
                      <a16:colId xmlns:a16="http://schemas.microsoft.com/office/drawing/2014/main" val="20008"/>
                    </a:ext>
                  </a:extLst>
                </a:gridCol>
                <a:gridCol w="322005">
                  <a:extLst>
                    <a:ext uri="{9D8B030D-6E8A-4147-A177-3AD203B41FA5}">
                      <a16:colId xmlns:a16="http://schemas.microsoft.com/office/drawing/2014/main" val="20009"/>
                    </a:ext>
                  </a:extLst>
                </a:gridCol>
                <a:gridCol w="322005">
                  <a:extLst>
                    <a:ext uri="{9D8B030D-6E8A-4147-A177-3AD203B41FA5}">
                      <a16:colId xmlns:a16="http://schemas.microsoft.com/office/drawing/2014/main" val="20010"/>
                    </a:ext>
                  </a:extLst>
                </a:gridCol>
                <a:gridCol w="322005">
                  <a:extLst>
                    <a:ext uri="{9D8B030D-6E8A-4147-A177-3AD203B41FA5}">
                      <a16:colId xmlns:a16="http://schemas.microsoft.com/office/drawing/2014/main" val="20011"/>
                    </a:ext>
                  </a:extLst>
                </a:gridCol>
                <a:gridCol w="322005">
                  <a:extLst>
                    <a:ext uri="{9D8B030D-6E8A-4147-A177-3AD203B41FA5}">
                      <a16:colId xmlns:a16="http://schemas.microsoft.com/office/drawing/2014/main" val="20012"/>
                    </a:ext>
                  </a:extLst>
                </a:gridCol>
                <a:gridCol w="322005">
                  <a:extLst>
                    <a:ext uri="{9D8B030D-6E8A-4147-A177-3AD203B41FA5}">
                      <a16:colId xmlns:a16="http://schemas.microsoft.com/office/drawing/2014/main" val="20013"/>
                    </a:ext>
                  </a:extLst>
                </a:gridCol>
                <a:gridCol w="322005">
                  <a:extLst>
                    <a:ext uri="{9D8B030D-6E8A-4147-A177-3AD203B41FA5}">
                      <a16:colId xmlns:a16="http://schemas.microsoft.com/office/drawing/2014/main" val="20014"/>
                    </a:ext>
                  </a:extLst>
                </a:gridCol>
                <a:gridCol w="322005">
                  <a:extLst>
                    <a:ext uri="{9D8B030D-6E8A-4147-A177-3AD203B41FA5}">
                      <a16:colId xmlns:a16="http://schemas.microsoft.com/office/drawing/2014/main" val="20015"/>
                    </a:ext>
                  </a:extLst>
                </a:gridCol>
                <a:gridCol w="322005">
                  <a:extLst>
                    <a:ext uri="{9D8B030D-6E8A-4147-A177-3AD203B41FA5}">
                      <a16:colId xmlns:a16="http://schemas.microsoft.com/office/drawing/2014/main" val="20016"/>
                    </a:ext>
                  </a:extLst>
                </a:gridCol>
                <a:gridCol w="322005">
                  <a:extLst>
                    <a:ext uri="{9D8B030D-6E8A-4147-A177-3AD203B41FA5}">
                      <a16:colId xmlns:a16="http://schemas.microsoft.com/office/drawing/2014/main" val="20017"/>
                    </a:ext>
                  </a:extLst>
                </a:gridCol>
              </a:tblGrid>
              <a:tr h="193675">
                <a:tc>
                  <a:txBody>
                    <a:bodyPr/>
                    <a:lstStyle/>
                    <a:p>
                      <a:pPr algn="ctr">
                        <a:lnSpc>
                          <a:spcPct val="100000"/>
                        </a:lnSpc>
                        <a:spcBef>
                          <a:spcPts val="265"/>
                        </a:spcBef>
                      </a:pPr>
                      <a:r>
                        <a:rPr sz="800" dirty="0">
                          <a:latin typeface="Arial"/>
                          <a:cs typeface="Arial"/>
                        </a:rPr>
                        <a:t>A[6:0]</a:t>
                      </a: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algn="ctr">
                        <a:lnSpc>
                          <a:spcPct val="100000"/>
                        </a:lnSpc>
                        <a:spcBef>
                          <a:spcPts val="265"/>
                        </a:spcBef>
                      </a:pPr>
                      <a:r>
                        <a:rPr sz="800" spc="-5" dirty="0">
                          <a:latin typeface="Arial"/>
                          <a:cs typeface="Arial"/>
                        </a:rPr>
                        <a:t>Default</a:t>
                      </a:r>
                      <a:endParaRPr sz="8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1270" algn="ctr">
                        <a:lnSpc>
                          <a:spcPct val="100000"/>
                        </a:lnSpc>
                        <a:spcBef>
                          <a:spcPts val="265"/>
                        </a:spcBef>
                      </a:pPr>
                      <a:r>
                        <a:rPr sz="800" spc="-5" dirty="0">
                          <a:latin typeface="Arial"/>
                          <a:cs typeface="Arial"/>
                        </a:rPr>
                        <a:t>D15</a:t>
                      </a:r>
                      <a:endParaRPr sz="8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1905" algn="ctr">
                        <a:lnSpc>
                          <a:spcPct val="100000"/>
                        </a:lnSpc>
                        <a:spcBef>
                          <a:spcPts val="265"/>
                        </a:spcBef>
                      </a:pPr>
                      <a:r>
                        <a:rPr sz="800" spc="-5" dirty="0">
                          <a:latin typeface="Arial"/>
                          <a:cs typeface="Arial"/>
                        </a:rPr>
                        <a:t>D14</a:t>
                      </a:r>
                      <a:endParaRPr sz="8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1270" algn="ctr">
                        <a:lnSpc>
                          <a:spcPct val="100000"/>
                        </a:lnSpc>
                        <a:spcBef>
                          <a:spcPts val="265"/>
                        </a:spcBef>
                      </a:pPr>
                      <a:r>
                        <a:rPr sz="800" spc="-5" dirty="0">
                          <a:latin typeface="Arial"/>
                          <a:cs typeface="Arial"/>
                        </a:rPr>
                        <a:t>D13</a:t>
                      </a:r>
                      <a:endParaRPr sz="8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1905" algn="ctr">
                        <a:lnSpc>
                          <a:spcPct val="100000"/>
                        </a:lnSpc>
                        <a:spcBef>
                          <a:spcPts val="265"/>
                        </a:spcBef>
                      </a:pPr>
                      <a:r>
                        <a:rPr sz="800" spc="-5" dirty="0">
                          <a:latin typeface="Arial"/>
                          <a:cs typeface="Arial"/>
                        </a:rPr>
                        <a:t>D12</a:t>
                      </a:r>
                      <a:endParaRPr sz="8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1905" algn="ctr">
                        <a:lnSpc>
                          <a:spcPct val="100000"/>
                        </a:lnSpc>
                        <a:spcBef>
                          <a:spcPts val="265"/>
                        </a:spcBef>
                      </a:pPr>
                      <a:r>
                        <a:rPr sz="800" spc="-5" dirty="0">
                          <a:latin typeface="Arial"/>
                          <a:cs typeface="Arial"/>
                        </a:rPr>
                        <a:t>D11</a:t>
                      </a:r>
                      <a:endParaRPr sz="8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2540" algn="ctr">
                        <a:lnSpc>
                          <a:spcPct val="100000"/>
                        </a:lnSpc>
                        <a:spcBef>
                          <a:spcPts val="265"/>
                        </a:spcBef>
                      </a:pPr>
                      <a:r>
                        <a:rPr sz="800" spc="-5" dirty="0">
                          <a:latin typeface="Arial"/>
                          <a:cs typeface="Arial"/>
                        </a:rPr>
                        <a:t>D10</a:t>
                      </a:r>
                      <a:endParaRPr sz="8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algn="ctr">
                        <a:lnSpc>
                          <a:spcPct val="100000"/>
                        </a:lnSpc>
                        <a:spcBef>
                          <a:spcPts val="265"/>
                        </a:spcBef>
                      </a:pPr>
                      <a:r>
                        <a:rPr sz="800" spc="-10" dirty="0">
                          <a:latin typeface="Arial"/>
                          <a:cs typeface="Arial"/>
                        </a:rPr>
                        <a:t>D9</a:t>
                      </a:r>
                      <a:endParaRPr sz="8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R="91440" algn="r">
                        <a:lnSpc>
                          <a:spcPct val="100000"/>
                        </a:lnSpc>
                        <a:spcBef>
                          <a:spcPts val="265"/>
                        </a:spcBef>
                      </a:pPr>
                      <a:r>
                        <a:rPr sz="800" spc="-10" dirty="0">
                          <a:latin typeface="Arial"/>
                          <a:cs typeface="Arial"/>
                        </a:rPr>
                        <a:t>D8</a:t>
                      </a:r>
                      <a:endParaRPr sz="8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99060">
                        <a:lnSpc>
                          <a:spcPct val="100000"/>
                        </a:lnSpc>
                        <a:spcBef>
                          <a:spcPts val="265"/>
                        </a:spcBef>
                      </a:pPr>
                      <a:r>
                        <a:rPr sz="800" spc="-10" dirty="0">
                          <a:latin typeface="Arial"/>
                          <a:cs typeface="Arial"/>
                        </a:rPr>
                        <a:t>D7</a:t>
                      </a:r>
                      <a:endParaRPr sz="8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99695">
                        <a:lnSpc>
                          <a:spcPct val="100000"/>
                        </a:lnSpc>
                        <a:spcBef>
                          <a:spcPts val="265"/>
                        </a:spcBef>
                      </a:pPr>
                      <a:r>
                        <a:rPr sz="800" spc="-10" dirty="0">
                          <a:latin typeface="Arial"/>
                          <a:cs typeface="Arial"/>
                        </a:rPr>
                        <a:t>D6</a:t>
                      </a:r>
                      <a:endParaRPr sz="8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99695">
                        <a:lnSpc>
                          <a:spcPct val="100000"/>
                        </a:lnSpc>
                        <a:spcBef>
                          <a:spcPts val="265"/>
                        </a:spcBef>
                      </a:pPr>
                      <a:r>
                        <a:rPr sz="800" spc="-10" dirty="0">
                          <a:latin typeface="Arial"/>
                          <a:cs typeface="Arial"/>
                        </a:rPr>
                        <a:t>D5</a:t>
                      </a:r>
                      <a:endParaRPr sz="8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99695">
                        <a:lnSpc>
                          <a:spcPct val="100000"/>
                        </a:lnSpc>
                        <a:spcBef>
                          <a:spcPts val="265"/>
                        </a:spcBef>
                      </a:pPr>
                      <a:r>
                        <a:rPr sz="800" spc="-10" dirty="0">
                          <a:latin typeface="Arial"/>
                          <a:cs typeface="Arial"/>
                        </a:rPr>
                        <a:t>D4</a:t>
                      </a:r>
                      <a:endParaRPr sz="8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100330">
                        <a:lnSpc>
                          <a:spcPct val="100000"/>
                        </a:lnSpc>
                        <a:spcBef>
                          <a:spcPts val="265"/>
                        </a:spcBef>
                      </a:pPr>
                      <a:r>
                        <a:rPr sz="800" spc="-10" dirty="0">
                          <a:latin typeface="Arial"/>
                          <a:cs typeface="Arial"/>
                        </a:rPr>
                        <a:t>D3</a:t>
                      </a:r>
                      <a:endParaRPr sz="8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99695">
                        <a:lnSpc>
                          <a:spcPct val="100000"/>
                        </a:lnSpc>
                        <a:spcBef>
                          <a:spcPts val="265"/>
                        </a:spcBef>
                      </a:pPr>
                      <a:r>
                        <a:rPr sz="800" spc="-10" dirty="0">
                          <a:latin typeface="Arial"/>
                          <a:cs typeface="Arial"/>
                        </a:rPr>
                        <a:t>D2</a:t>
                      </a:r>
                      <a:endParaRPr sz="8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100330">
                        <a:lnSpc>
                          <a:spcPct val="100000"/>
                        </a:lnSpc>
                        <a:spcBef>
                          <a:spcPts val="265"/>
                        </a:spcBef>
                      </a:pPr>
                      <a:r>
                        <a:rPr sz="800" spc="-10" dirty="0">
                          <a:latin typeface="Arial"/>
                          <a:cs typeface="Arial"/>
                        </a:rPr>
                        <a:t>D1</a:t>
                      </a:r>
                      <a:endParaRPr sz="8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100330">
                        <a:lnSpc>
                          <a:spcPct val="100000"/>
                        </a:lnSpc>
                        <a:spcBef>
                          <a:spcPts val="265"/>
                        </a:spcBef>
                      </a:pPr>
                      <a:r>
                        <a:rPr sz="800" spc="-10" dirty="0">
                          <a:latin typeface="Arial"/>
                          <a:cs typeface="Arial"/>
                        </a:rPr>
                        <a:t>D0</a:t>
                      </a:r>
                      <a:endParaRPr sz="8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extLst>
                  <a:ext uri="{0D108BD9-81ED-4DB2-BD59-A6C34878D82A}">
                    <a16:rowId xmlns:a16="http://schemas.microsoft.com/office/drawing/2014/main" val="10000"/>
                  </a:ext>
                </a:extLst>
              </a:tr>
              <a:tr h="193675">
                <a:tc>
                  <a:txBody>
                    <a:bodyPr/>
                    <a:lstStyle/>
                    <a:p>
                      <a:pPr marL="635" algn="ctr">
                        <a:lnSpc>
                          <a:spcPct val="100000"/>
                        </a:lnSpc>
                        <a:spcBef>
                          <a:spcPts val="265"/>
                        </a:spcBef>
                      </a:pPr>
                      <a:r>
                        <a:rPr sz="800" spc="-5" dirty="0">
                          <a:latin typeface="Arial"/>
                          <a:cs typeface="Arial"/>
                        </a:rPr>
                        <a:t>‘h08</a:t>
                      </a:r>
                      <a:endParaRPr sz="8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algn="ctr">
                        <a:lnSpc>
                          <a:spcPct val="100000"/>
                        </a:lnSpc>
                        <a:spcBef>
                          <a:spcPts val="265"/>
                        </a:spcBef>
                      </a:pPr>
                      <a:r>
                        <a:rPr sz="800" dirty="0">
                          <a:latin typeface="Arial"/>
                          <a:cs typeface="Arial"/>
                        </a:rPr>
                        <a:t>0</a:t>
                      </a: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2540" algn="ctr">
                        <a:lnSpc>
                          <a:spcPct val="100000"/>
                        </a:lnSpc>
                        <a:spcBef>
                          <a:spcPts val="305"/>
                        </a:spcBef>
                      </a:pPr>
                      <a:r>
                        <a:rPr sz="700" dirty="0">
                          <a:latin typeface="Arial"/>
                          <a:cs typeface="Arial"/>
                        </a:rPr>
                        <a:t>x</a:t>
                      </a:r>
                    </a:p>
                  </a:txBody>
                  <a:tcPr marL="0" marR="0" marT="3873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3175" algn="ctr">
                        <a:lnSpc>
                          <a:spcPct val="100000"/>
                        </a:lnSpc>
                        <a:spcBef>
                          <a:spcPts val="330"/>
                        </a:spcBef>
                      </a:pPr>
                      <a:r>
                        <a:rPr sz="700" dirty="0">
                          <a:latin typeface="Arial"/>
                          <a:cs typeface="Arial"/>
                        </a:rPr>
                        <a:t>x</a:t>
                      </a:r>
                    </a:p>
                  </a:txBody>
                  <a:tcPr marL="0" marR="0" marT="4191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2540" algn="ctr">
                        <a:lnSpc>
                          <a:spcPct val="100000"/>
                        </a:lnSpc>
                        <a:spcBef>
                          <a:spcPts val="305"/>
                        </a:spcBef>
                      </a:pPr>
                      <a:r>
                        <a:rPr sz="700" dirty="0">
                          <a:latin typeface="Arial"/>
                          <a:cs typeface="Arial"/>
                        </a:rPr>
                        <a:t>x</a:t>
                      </a:r>
                    </a:p>
                  </a:txBody>
                  <a:tcPr marL="0" marR="0" marT="3873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3175" algn="ctr">
                        <a:lnSpc>
                          <a:spcPct val="100000"/>
                        </a:lnSpc>
                        <a:spcBef>
                          <a:spcPts val="330"/>
                        </a:spcBef>
                      </a:pPr>
                      <a:r>
                        <a:rPr sz="700" dirty="0">
                          <a:latin typeface="Arial"/>
                          <a:cs typeface="Arial"/>
                        </a:rPr>
                        <a:t>x</a:t>
                      </a:r>
                    </a:p>
                  </a:txBody>
                  <a:tcPr marL="0" marR="0" marT="4191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3175" algn="ctr">
                        <a:lnSpc>
                          <a:spcPct val="100000"/>
                        </a:lnSpc>
                        <a:spcBef>
                          <a:spcPts val="305"/>
                        </a:spcBef>
                      </a:pPr>
                      <a:r>
                        <a:rPr sz="700" dirty="0">
                          <a:latin typeface="Arial"/>
                          <a:cs typeface="Arial"/>
                        </a:rPr>
                        <a:t>x</a:t>
                      </a:r>
                    </a:p>
                  </a:txBody>
                  <a:tcPr marL="0" marR="0" marT="3873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3810" algn="ctr">
                        <a:lnSpc>
                          <a:spcPct val="100000"/>
                        </a:lnSpc>
                        <a:spcBef>
                          <a:spcPts val="330"/>
                        </a:spcBef>
                      </a:pPr>
                      <a:r>
                        <a:rPr sz="700" dirty="0">
                          <a:latin typeface="Arial"/>
                          <a:cs typeface="Arial"/>
                        </a:rPr>
                        <a:t>x</a:t>
                      </a:r>
                    </a:p>
                  </a:txBody>
                  <a:tcPr marL="0" marR="0" marT="4191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3175" algn="ctr">
                        <a:lnSpc>
                          <a:spcPct val="100000"/>
                        </a:lnSpc>
                        <a:spcBef>
                          <a:spcPts val="305"/>
                        </a:spcBef>
                      </a:pPr>
                      <a:r>
                        <a:rPr sz="700" dirty="0">
                          <a:latin typeface="Arial"/>
                          <a:cs typeface="Arial"/>
                        </a:rPr>
                        <a:t>x</a:t>
                      </a:r>
                    </a:p>
                  </a:txBody>
                  <a:tcPr marL="0" marR="0" marT="3873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R="132080" algn="r">
                        <a:lnSpc>
                          <a:spcPct val="100000"/>
                        </a:lnSpc>
                        <a:spcBef>
                          <a:spcPts val="330"/>
                        </a:spcBef>
                      </a:pPr>
                      <a:r>
                        <a:rPr sz="700" dirty="0">
                          <a:latin typeface="Arial"/>
                          <a:cs typeface="Arial"/>
                        </a:rPr>
                        <a:t>x</a:t>
                      </a:r>
                    </a:p>
                  </a:txBody>
                  <a:tcPr marL="0" marR="0" marT="4191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gridSpan="4">
                  <a:txBody>
                    <a:bodyPr/>
                    <a:lstStyle/>
                    <a:p>
                      <a:pPr marL="201930">
                        <a:lnSpc>
                          <a:spcPct val="100000"/>
                        </a:lnSpc>
                        <a:spcBef>
                          <a:spcPts val="305"/>
                        </a:spcBef>
                      </a:pPr>
                      <a:r>
                        <a:rPr sz="700" spc="-10" dirty="0" err="1">
                          <a:latin typeface="Arial"/>
                          <a:cs typeface="Arial"/>
                        </a:rPr>
                        <a:t>HOLD10_SIZE</a:t>
                      </a:r>
                      <a:r>
                        <a:rPr sz="700" spc="15" dirty="0">
                          <a:latin typeface="Arial"/>
                          <a:cs typeface="Arial"/>
                        </a:rPr>
                        <a:t> </a:t>
                      </a:r>
                      <a:r>
                        <a:rPr sz="700" spc="-5" dirty="0">
                          <a:latin typeface="Arial"/>
                          <a:cs typeface="Arial"/>
                        </a:rPr>
                        <a:t>10</a:t>
                      </a:r>
                      <a:r>
                        <a:rPr sz="700" spc="-10" dirty="0">
                          <a:latin typeface="Arial"/>
                          <a:cs typeface="Arial"/>
                        </a:rPr>
                        <a:t> </a:t>
                      </a:r>
                      <a:r>
                        <a:rPr sz="700" spc="-5" dirty="0">
                          <a:latin typeface="Arial"/>
                          <a:cs typeface="Arial"/>
                        </a:rPr>
                        <a:t>[3:0]</a:t>
                      </a:r>
                      <a:endParaRPr sz="700" dirty="0">
                        <a:latin typeface="Arial"/>
                        <a:cs typeface="Arial"/>
                      </a:endParaRPr>
                    </a:p>
                  </a:txBody>
                  <a:tcPr marL="0" marR="0" marT="3873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gridSpan="4">
                  <a:txBody>
                    <a:bodyPr/>
                    <a:lstStyle/>
                    <a:p>
                      <a:pPr marL="289560">
                        <a:lnSpc>
                          <a:spcPct val="100000"/>
                        </a:lnSpc>
                        <a:spcBef>
                          <a:spcPts val="305"/>
                        </a:spcBef>
                      </a:pPr>
                      <a:r>
                        <a:rPr sz="700" spc="-10" dirty="0" err="1">
                          <a:latin typeface="Arial"/>
                          <a:cs typeface="Arial"/>
                        </a:rPr>
                        <a:t>HOLD9_SIZE</a:t>
                      </a:r>
                      <a:r>
                        <a:rPr sz="700" spc="5" dirty="0">
                          <a:latin typeface="Arial"/>
                          <a:cs typeface="Arial"/>
                        </a:rPr>
                        <a:t> </a:t>
                      </a:r>
                      <a:r>
                        <a:rPr sz="700" spc="-5" dirty="0">
                          <a:latin typeface="Arial"/>
                          <a:cs typeface="Arial"/>
                        </a:rPr>
                        <a:t>[3:0]</a:t>
                      </a:r>
                      <a:endParaRPr sz="700" dirty="0">
                        <a:latin typeface="Arial"/>
                        <a:cs typeface="Arial"/>
                      </a:endParaRPr>
                    </a:p>
                  </a:txBody>
                  <a:tcPr marL="0" marR="0" marT="3873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1"/>
                  </a:ext>
                </a:extLst>
              </a:tr>
            </a:tbl>
          </a:graphicData>
        </a:graphic>
      </p:graphicFrame>
      <p:graphicFrame>
        <p:nvGraphicFramePr>
          <p:cNvPr id="12" name="object 12"/>
          <p:cNvGraphicFramePr>
            <a:graphicFrameLocks noGrp="1"/>
          </p:cNvGraphicFramePr>
          <p:nvPr>
            <p:extLst>
              <p:ext uri="{D42A27DB-BD31-4B8C-83A1-F6EECF244321}">
                <p14:modId xmlns:p14="http://schemas.microsoft.com/office/powerpoint/2010/main" val="222408022"/>
              </p:ext>
            </p:extLst>
          </p:nvPr>
        </p:nvGraphicFramePr>
        <p:xfrm>
          <a:off x="400912" y="5232336"/>
          <a:ext cx="6038534" cy="387350"/>
        </p:xfrm>
        <a:graphic>
          <a:graphicData uri="http://schemas.openxmlformats.org/drawingml/2006/table">
            <a:tbl>
              <a:tblPr firstRow="1" bandRow="1">
                <a:tableStyleId>{2D5ABB26-0587-4C30-8999-92F81FD0307C}</a:tableStyleId>
              </a:tblPr>
              <a:tblGrid>
                <a:gridCol w="412143">
                  <a:extLst>
                    <a:ext uri="{9D8B030D-6E8A-4147-A177-3AD203B41FA5}">
                      <a16:colId xmlns:a16="http://schemas.microsoft.com/office/drawing/2014/main" val="20000"/>
                    </a:ext>
                  </a:extLst>
                </a:gridCol>
                <a:gridCol w="474305">
                  <a:extLst>
                    <a:ext uri="{9D8B030D-6E8A-4147-A177-3AD203B41FA5}">
                      <a16:colId xmlns:a16="http://schemas.microsoft.com/office/drawing/2014/main" val="20001"/>
                    </a:ext>
                  </a:extLst>
                </a:gridCol>
                <a:gridCol w="322005">
                  <a:extLst>
                    <a:ext uri="{9D8B030D-6E8A-4147-A177-3AD203B41FA5}">
                      <a16:colId xmlns:a16="http://schemas.microsoft.com/office/drawing/2014/main" val="20002"/>
                    </a:ext>
                  </a:extLst>
                </a:gridCol>
                <a:gridCol w="322006">
                  <a:extLst>
                    <a:ext uri="{9D8B030D-6E8A-4147-A177-3AD203B41FA5}">
                      <a16:colId xmlns:a16="http://schemas.microsoft.com/office/drawing/2014/main" val="20003"/>
                    </a:ext>
                  </a:extLst>
                </a:gridCol>
                <a:gridCol w="322006">
                  <a:extLst>
                    <a:ext uri="{9D8B030D-6E8A-4147-A177-3AD203B41FA5}">
                      <a16:colId xmlns:a16="http://schemas.microsoft.com/office/drawing/2014/main" val="20004"/>
                    </a:ext>
                  </a:extLst>
                </a:gridCol>
                <a:gridCol w="322006">
                  <a:extLst>
                    <a:ext uri="{9D8B030D-6E8A-4147-A177-3AD203B41FA5}">
                      <a16:colId xmlns:a16="http://schemas.microsoft.com/office/drawing/2014/main" val="20005"/>
                    </a:ext>
                  </a:extLst>
                </a:gridCol>
                <a:gridCol w="322006">
                  <a:extLst>
                    <a:ext uri="{9D8B030D-6E8A-4147-A177-3AD203B41FA5}">
                      <a16:colId xmlns:a16="http://schemas.microsoft.com/office/drawing/2014/main" val="20006"/>
                    </a:ext>
                  </a:extLst>
                </a:gridCol>
                <a:gridCol w="322006">
                  <a:extLst>
                    <a:ext uri="{9D8B030D-6E8A-4147-A177-3AD203B41FA5}">
                      <a16:colId xmlns:a16="http://schemas.microsoft.com/office/drawing/2014/main" val="20007"/>
                    </a:ext>
                  </a:extLst>
                </a:gridCol>
                <a:gridCol w="322006">
                  <a:extLst>
                    <a:ext uri="{9D8B030D-6E8A-4147-A177-3AD203B41FA5}">
                      <a16:colId xmlns:a16="http://schemas.microsoft.com/office/drawing/2014/main" val="20008"/>
                    </a:ext>
                  </a:extLst>
                </a:gridCol>
                <a:gridCol w="322005">
                  <a:extLst>
                    <a:ext uri="{9D8B030D-6E8A-4147-A177-3AD203B41FA5}">
                      <a16:colId xmlns:a16="http://schemas.microsoft.com/office/drawing/2014/main" val="20009"/>
                    </a:ext>
                  </a:extLst>
                </a:gridCol>
                <a:gridCol w="322005">
                  <a:extLst>
                    <a:ext uri="{9D8B030D-6E8A-4147-A177-3AD203B41FA5}">
                      <a16:colId xmlns:a16="http://schemas.microsoft.com/office/drawing/2014/main" val="20010"/>
                    </a:ext>
                  </a:extLst>
                </a:gridCol>
                <a:gridCol w="322005">
                  <a:extLst>
                    <a:ext uri="{9D8B030D-6E8A-4147-A177-3AD203B41FA5}">
                      <a16:colId xmlns:a16="http://schemas.microsoft.com/office/drawing/2014/main" val="20011"/>
                    </a:ext>
                  </a:extLst>
                </a:gridCol>
                <a:gridCol w="322005">
                  <a:extLst>
                    <a:ext uri="{9D8B030D-6E8A-4147-A177-3AD203B41FA5}">
                      <a16:colId xmlns:a16="http://schemas.microsoft.com/office/drawing/2014/main" val="20012"/>
                    </a:ext>
                  </a:extLst>
                </a:gridCol>
                <a:gridCol w="322005">
                  <a:extLst>
                    <a:ext uri="{9D8B030D-6E8A-4147-A177-3AD203B41FA5}">
                      <a16:colId xmlns:a16="http://schemas.microsoft.com/office/drawing/2014/main" val="20013"/>
                    </a:ext>
                  </a:extLst>
                </a:gridCol>
                <a:gridCol w="322005">
                  <a:extLst>
                    <a:ext uri="{9D8B030D-6E8A-4147-A177-3AD203B41FA5}">
                      <a16:colId xmlns:a16="http://schemas.microsoft.com/office/drawing/2014/main" val="20014"/>
                    </a:ext>
                  </a:extLst>
                </a:gridCol>
                <a:gridCol w="322005">
                  <a:extLst>
                    <a:ext uri="{9D8B030D-6E8A-4147-A177-3AD203B41FA5}">
                      <a16:colId xmlns:a16="http://schemas.microsoft.com/office/drawing/2014/main" val="20015"/>
                    </a:ext>
                  </a:extLst>
                </a:gridCol>
                <a:gridCol w="322005">
                  <a:extLst>
                    <a:ext uri="{9D8B030D-6E8A-4147-A177-3AD203B41FA5}">
                      <a16:colId xmlns:a16="http://schemas.microsoft.com/office/drawing/2014/main" val="20016"/>
                    </a:ext>
                  </a:extLst>
                </a:gridCol>
                <a:gridCol w="322005">
                  <a:extLst>
                    <a:ext uri="{9D8B030D-6E8A-4147-A177-3AD203B41FA5}">
                      <a16:colId xmlns:a16="http://schemas.microsoft.com/office/drawing/2014/main" val="20017"/>
                    </a:ext>
                  </a:extLst>
                </a:gridCol>
              </a:tblGrid>
              <a:tr h="193675">
                <a:tc>
                  <a:txBody>
                    <a:bodyPr/>
                    <a:lstStyle/>
                    <a:p>
                      <a:pPr algn="ctr">
                        <a:lnSpc>
                          <a:spcPct val="100000"/>
                        </a:lnSpc>
                        <a:spcBef>
                          <a:spcPts val="265"/>
                        </a:spcBef>
                      </a:pPr>
                      <a:r>
                        <a:rPr sz="800" dirty="0">
                          <a:latin typeface="Arial"/>
                          <a:cs typeface="Arial"/>
                        </a:rPr>
                        <a:t>A[6:0]</a:t>
                      </a: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algn="ctr">
                        <a:lnSpc>
                          <a:spcPct val="100000"/>
                        </a:lnSpc>
                        <a:spcBef>
                          <a:spcPts val="265"/>
                        </a:spcBef>
                      </a:pPr>
                      <a:r>
                        <a:rPr sz="800" spc="-5" dirty="0">
                          <a:latin typeface="Arial"/>
                          <a:cs typeface="Arial"/>
                        </a:rPr>
                        <a:t>Default</a:t>
                      </a:r>
                      <a:endParaRPr sz="8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1270" algn="ctr">
                        <a:lnSpc>
                          <a:spcPct val="100000"/>
                        </a:lnSpc>
                        <a:spcBef>
                          <a:spcPts val="265"/>
                        </a:spcBef>
                      </a:pPr>
                      <a:r>
                        <a:rPr sz="800" spc="-5" dirty="0">
                          <a:latin typeface="Arial"/>
                          <a:cs typeface="Arial"/>
                        </a:rPr>
                        <a:t>D15</a:t>
                      </a:r>
                      <a:endParaRPr sz="8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71755">
                        <a:lnSpc>
                          <a:spcPct val="100000"/>
                        </a:lnSpc>
                        <a:spcBef>
                          <a:spcPts val="265"/>
                        </a:spcBef>
                      </a:pPr>
                      <a:r>
                        <a:rPr sz="800" spc="-5" dirty="0">
                          <a:latin typeface="Arial"/>
                          <a:cs typeface="Arial"/>
                        </a:rPr>
                        <a:t>D14</a:t>
                      </a:r>
                      <a:endParaRPr sz="8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71755">
                        <a:lnSpc>
                          <a:spcPct val="100000"/>
                        </a:lnSpc>
                        <a:spcBef>
                          <a:spcPts val="265"/>
                        </a:spcBef>
                      </a:pPr>
                      <a:r>
                        <a:rPr sz="800" spc="-5" dirty="0">
                          <a:latin typeface="Arial"/>
                          <a:cs typeface="Arial"/>
                        </a:rPr>
                        <a:t>D13</a:t>
                      </a:r>
                      <a:endParaRPr sz="8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71755">
                        <a:lnSpc>
                          <a:spcPct val="100000"/>
                        </a:lnSpc>
                        <a:spcBef>
                          <a:spcPts val="265"/>
                        </a:spcBef>
                      </a:pPr>
                      <a:r>
                        <a:rPr sz="800" spc="-5" dirty="0">
                          <a:latin typeface="Arial"/>
                          <a:cs typeface="Arial"/>
                        </a:rPr>
                        <a:t>D12</a:t>
                      </a:r>
                      <a:endParaRPr sz="8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71755">
                        <a:lnSpc>
                          <a:spcPct val="100000"/>
                        </a:lnSpc>
                        <a:spcBef>
                          <a:spcPts val="265"/>
                        </a:spcBef>
                      </a:pPr>
                      <a:r>
                        <a:rPr sz="800" spc="-5" dirty="0">
                          <a:latin typeface="Arial"/>
                          <a:cs typeface="Arial"/>
                        </a:rPr>
                        <a:t>D11</a:t>
                      </a:r>
                      <a:endParaRPr sz="8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71755">
                        <a:lnSpc>
                          <a:spcPct val="100000"/>
                        </a:lnSpc>
                        <a:spcBef>
                          <a:spcPts val="265"/>
                        </a:spcBef>
                      </a:pPr>
                      <a:r>
                        <a:rPr sz="800" spc="-5" dirty="0">
                          <a:latin typeface="Arial"/>
                          <a:cs typeface="Arial"/>
                        </a:rPr>
                        <a:t>D10</a:t>
                      </a:r>
                      <a:endParaRPr sz="800" dirty="0">
                        <a:latin typeface="Arial"/>
                        <a:cs typeface="Arial"/>
                      </a:endParaRPr>
                    </a:p>
                  </a:txBody>
                  <a:tcPr marL="0" marR="0" marT="33655" marB="0">
                    <a:lnL w="3175">
                      <a:solidFill>
                        <a:srgbClr val="7E7E7E"/>
                      </a:solidFill>
                      <a:prstDash val="solid"/>
                    </a:lnL>
                    <a:lnR w="6350">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99060">
                        <a:lnSpc>
                          <a:spcPct val="100000"/>
                        </a:lnSpc>
                        <a:spcBef>
                          <a:spcPts val="265"/>
                        </a:spcBef>
                      </a:pPr>
                      <a:r>
                        <a:rPr sz="800" spc="-5" dirty="0">
                          <a:latin typeface="Arial"/>
                          <a:cs typeface="Arial"/>
                        </a:rPr>
                        <a:t>D9</a:t>
                      </a:r>
                      <a:endParaRPr sz="800" dirty="0">
                        <a:latin typeface="Arial"/>
                        <a:cs typeface="Arial"/>
                      </a:endParaRPr>
                    </a:p>
                  </a:txBody>
                  <a:tcPr marL="0" marR="0" marT="33655" marB="0">
                    <a:lnL w="6350">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99695">
                        <a:lnSpc>
                          <a:spcPct val="100000"/>
                        </a:lnSpc>
                        <a:spcBef>
                          <a:spcPts val="265"/>
                        </a:spcBef>
                      </a:pPr>
                      <a:r>
                        <a:rPr sz="800" spc="-5" dirty="0">
                          <a:latin typeface="Arial"/>
                          <a:cs typeface="Arial"/>
                        </a:rPr>
                        <a:t>D8</a:t>
                      </a:r>
                      <a:endParaRPr sz="8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99695">
                        <a:lnSpc>
                          <a:spcPct val="100000"/>
                        </a:lnSpc>
                        <a:spcBef>
                          <a:spcPts val="265"/>
                        </a:spcBef>
                      </a:pPr>
                      <a:r>
                        <a:rPr sz="800" spc="-5" dirty="0">
                          <a:latin typeface="Arial"/>
                          <a:cs typeface="Arial"/>
                        </a:rPr>
                        <a:t>D7</a:t>
                      </a:r>
                      <a:endParaRPr sz="8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99695">
                        <a:lnSpc>
                          <a:spcPct val="100000"/>
                        </a:lnSpc>
                        <a:spcBef>
                          <a:spcPts val="265"/>
                        </a:spcBef>
                      </a:pPr>
                      <a:r>
                        <a:rPr sz="800" spc="-5" dirty="0">
                          <a:latin typeface="Arial"/>
                          <a:cs typeface="Arial"/>
                        </a:rPr>
                        <a:t>D6</a:t>
                      </a:r>
                      <a:endParaRPr sz="8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99695">
                        <a:lnSpc>
                          <a:spcPct val="100000"/>
                        </a:lnSpc>
                        <a:spcBef>
                          <a:spcPts val="265"/>
                        </a:spcBef>
                      </a:pPr>
                      <a:r>
                        <a:rPr sz="800" spc="-5" dirty="0">
                          <a:latin typeface="Arial"/>
                          <a:cs typeface="Arial"/>
                        </a:rPr>
                        <a:t>D5</a:t>
                      </a:r>
                      <a:endParaRPr sz="8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99695">
                        <a:lnSpc>
                          <a:spcPct val="100000"/>
                        </a:lnSpc>
                        <a:spcBef>
                          <a:spcPts val="265"/>
                        </a:spcBef>
                      </a:pPr>
                      <a:r>
                        <a:rPr sz="800" spc="-5" dirty="0">
                          <a:latin typeface="Arial"/>
                          <a:cs typeface="Arial"/>
                        </a:rPr>
                        <a:t>D4</a:t>
                      </a:r>
                      <a:endParaRPr sz="8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99695">
                        <a:lnSpc>
                          <a:spcPct val="100000"/>
                        </a:lnSpc>
                        <a:spcBef>
                          <a:spcPts val="265"/>
                        </a:spcBef>
                      </a:pPr>
                      <a:r>
                        <a:rPr sz="800" spc="-5" dirty="0">
                          <a:latin typeface="Arial"/>
                          <a:cs typeface="Arial"/>
                        </a:rPr>
                        <a:t>D3</a:t>
                      </a:r>
                      <a:endParaRPr sz="8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99695">
                        <a:lnSpc>
                          <a:spcPct val="100000"/>
                        </a:lnSpc>
                        <a:spcBef>
                          <a:spcPts val="265"/>
                        </a:spcBef>
                      </a:pPr>
                      <a:r>
                        <a:rPr sz="800" spc="-5" dirty="0">
                          <a:latin typeface="Arial"/>
                          <a:cs typeface="Arial"/>
                        </a:rPr>
                        <a:t>D2</a:t>
                      </a:r>
                      <a:endParaRPr sz="8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100330">
                        <a:lnSpc>
                          <a:spcPct val="100000"/>
                        </a:lnSpc>
                        <a:spcBef>
                          <a:spcPts val="265"/>
                        </a:spcBef>
                      </a:pPr>
                      <a:r>
                        <a:rPr sz="800" spc="-5" dirty="0">
                          <a:latin typeface="Arial"/>
                          <a:cs typeface="Arial"/>
                        </a:rPr>
                        <a:t>D1</a:t>
                      </a:r>
                      <a:endParaRPr sz="8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100330">
                        <a:lnSpc>
                          <a:spcPct val="100000"/>
                        </a:lnSpc>
                        <a:spcBef>
                          <a:spcPts val="265"/>
                        </a:spcBef>
                      </a:pPr>
                      <a:r>
                        <a:rPr sz="800" spc="-5" dirty="0">
                          <a:latin typeface="Arial"/>
                          <a:cs typeface="Arial"/>
                        </a:rPr>
                        <a:t>D0</a:t>
                      </a:r>
                      <a:endParaRPr sz="8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extLst>
                  <a:ext uri="{0D108BD9-81ED-4DB2-BD59-A6C34878D82A}">
                    <a16:rowId xmlns:a16="http://schemas.microsoft.com/office/drawing/2014/main" val="10000"/>
                  </a:ext>
                </a:extLst>
              </a:tr>
              <a:tr h="193675">
                <a:tc>
                  <a:txBody>
                    <a:bodyPr/>
                    <a:lstStyle/>
                    <a:p>
                      <a:pPr algn="ctr">
                        <a:lnSpc>
                          <a:spcPct val="100000"/>
                        </a:lnSpc>
                        <a:spcBef>
                          <a:spcPts val="270"/>
                        </a:spcBef>
                      </a:pPr>
                      <a:r>
                        <a:rPr sz="800" spc="-5" dirty="0">
                          <a:latin typeface="Arial"/>
                          <a:cs typeface="Arial"/>
                        </a:rPr>
                        <a:t>‘h0A</a:t>
                      </a:r>
                      <a:endParaRPr sz="8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algn="ctr">
                        <a:lnSpc>
                          <a:spcPct val="100000"/>
                        </a:lnSpc>
                        <a:spcBef>
                          <a:spcPts val="270"/>
                        </a:spcBef>
                      </a:pPr>
                      <a:r>
                        <a:rPr sz="800" dirty="0">
                          <a:latin typeface="Arial"/>
                          <a:cs typeface="Arial"/>
                        </a:rPr>
                        <a:t>0</a:t>
                      </a: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2540" algn="ctr">
                        <a:lnSpc>
                          <a:spcPct val="100000"/>
                        </a:lnSpc>
                        <a:spcBef>
                          <a:spcPts val="370"/>
                        </a:spcBef>
                      </a:pPr>
                      <a:r>
                        <a:rPr sz="600" dirty="0">
                          <a:latin typeface="Arial"/>
                          <a:cs typeface="Arial"/>
                        </a:rPr>
                        <a:t>x</a:t>
                      </a:r>
                    </a:p>
                  </a:txBody>
                  <a:tcPr marL="0" marR="0" marT="469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gridSpan="3">
                  <a:txBody>
                    <a:bodyPr/>
                    <a:lstStyle/>
                    <a:p>
                      <a:pPr marL="29845">
                        <a:lnSpc>
                          <a:spcPct val="100000"/>
                        </a:lnSpc>
                        <a:spcBef>
                          <a:spcPts val="370"/>
                        </a:spcBef>
                      </a:pPr>
                      <a:r>
                        <a:rPr sz="600" dirty="0" err="1">
                          <a:latin typeface="Arial"/>
                          <a:cs typeface="Arial"/>
                        </a:rPr>
                        <a:t>HOLD10_DUMY_SIZE</a:t>
                      </a:r>
                      <a:r>
                        <a:rPr sz="600" dirty="0">
                          <a:latin typeface="Arial"/>
                          <a:cs typeface="Arial"/>
                        </a:rPr>
                        <a:t>[2:0]</a:t>
                      </a:r>
                    </a:p>
                  </a:txBody>
                  <a:tcPr marL="0" marR="0" marT="469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hMerge="1">
                  <a:txBody>
                    <a:bodyPr/>
                    <a:lstStyle/>
                    <a:p>
                      <a:endParaRPr/>
                    </a:p>
                  </a:txBody>
                  <a:tcPr marL="0" marR="0" marT="0" marB="0"/>
                </a:tc>
                <a:tc hMerge="1">
                  <a:txBody>
                    <a:bodyPr/>
                    <a:lstStyle/>
                    <a:p>
                      <a:endParaRPr/>
                    </a:p>
                  </a:txBody>
                  <a:tcPr marL="0" marR="0" marT="0" marB="0"/>
                </a:tc>
                <a:tc gridSpan="3">
                  <a:txBody>
                    <a:bodyPr/>
                    <a:lstStyle/>
                    <a:p>
                      <a:pPr marL="51435">
                        <a:lnSpc>
                          <a:spcPct val="100000"/>
                        </a:lnSpc>
                        <a:spcBef>
                          <a:spcPts val="370"/>
                        </a:spcBef>
                      </a:pPr>
                      <a:r>
                        <a:rPr sz="600" spc="-5" dirty="0" err="1">
                          <a:latin typeface="Arial"/>
                          <a:cs typeface="Arial"/>
                        </a:rPr>
                        <a:t>HOLD9_DUMY_SIZE</a:t>
                      </a:r>
                      <a:r>
                        <a:rPr sz="600" spc="-5" dirty="0">
                          <a:latin typeface="Arial"/>
                          <a:cs typeface="Arial"/>
                        </a:rPr>
                        <a:t>[2:0]</a:t>
                      </a:r>
                      <a:endParaRPr sz="600" dirty="0">
                        <a:latin typeface="Arial"/>
                        <a:cs typeface="Arial"/>
                      </a:endParaRPr>
                    </a:p>
                  </a:txBody>
                  <a:tcPr marL="0" marR="0" marT="469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hMerge="1">
                  <a:txBody>
                    <a:bodyPr/>
                    <a:lstStyle/>
                    <a:p>
                      <a:endParaRPr/>
                    </a:p>
                  </a:txBody>
                  <a:tcPr marL="0" marR="0" marT="0" marB="0"/>
                </a:tc>
                <a:tc hMerge="1">
                  <a:txBody>
                    <a:bodyPr/>
                    <a:lstStyle/>
                    <a:p>
                      <a:endParaRPr/>
                    </a:p>
                  </a:txBody>
                  <a:tcPr marL="0" marR="0" marT="0" marB="0"/>
                </a:tc>
                <a:tc gridSpan="3">
                  <a:txBody>
                    <a:bodyPr/>
                    <a:lstStyle/>
                    <a:p>
                      <a:pPr marL="52069">
                        <a:lnSpc>
                          <a:spcPct val="100000"/>
                        </a:lnSpc>
                        <a:spcBef>
                          <a:spcPts val="370"/>
                        </a:spcBef>
                      </a:pPr>
                      <a:r>
                        <a:rPr sz="600" spc="-5" dirty="0">
                          <a:latin typeface="Arial"/>
                          <a:cs typeface="Arial"/>
                        </a:rPr>
                        <a:t>HOLD8_DUMY_SIZE[2:0]</a:t>
                      </a:r>
                      <a:endParaRPr sz="600" dirty="0">
                        <a:latin typeface="Arial"/>
                        <a:cs typeface="Arial"/>
                      </a:endParaRPr>
                    </a:p>
                  </a:txBody>
                  <a:tcPr marL="0" marR="0" marT="469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hMerge="1">
                  <a:txBody>
                    <a:bodyPr/>
                    <a:lstStyle/>
                    <a:p>
                      <a:endParaRPr/>
                    </a:p>
                  </a:txBody>
                  <a:tcPr marL="0" marR="0" marT="0" marB="0"/>
                </a:tc>
                <a:tc hMerge="1">
                  <a:txBody>
                    <a:bodyPr/>
                    <a:lstStyle/>
                    <a:p>
                      <a:endParaRPr/>
                    </a:p>
                  </a:txBody>
                  <a:tcPr marL="0" marR="0" marT="0" marB="0"/>
                </a:tc>
                <a:tc gridSpan="3">
                  <a:txBody>
                    <a:bodyPr/>
                    <a:lstStyle/>
                    <a:p>
                      <a:pPr marL="52069">
                        <a:lnSpc>
                          <a:spcPct val="100000"/>
                        </a:lnSpc>
                        <a:spcBef>
                          <a:spcPts val="370"/>
                        </a:spcBef>
                      </a:pPr>
                      <a:r>
                        <a:rPr sz="600" dirty="0" err="1">
                          <a:latin typeface="Arial"/>
                          <a:cs typeface="Arial"/>
                        </a:rPr>
                        <a:t>HOLD7_DUMY_SIZE</a:t>
                      </a:r>
                      <a:r>
                        <a:rPr sz="600" dirty="0">
                          <a:latin typeface="Arial"/>
                          <a:cs typeface="Arial"/>
                        </a:rPr>
                        <a:t>[2:0]</a:t>
                      </a:r>
                    </a:p>
                  </a:txBody>
                  <a:tcPr marL="0" marR="0" marT="469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hMerge="1">
                  <a:txBody>
                    <a:bodyPr/>
                    <a:lstStyle/>
                    <a:p>
                      <a:endParaRPr/>
                    </a:p>
                  </a:txBody>
                  <a:tcPr marL="0" marR="0" marT="0" marB="0"/>
                </a:tc>
                <a:tc hMerge="1">
                  <a:txBody>
                    <a:bodyPr/>
                    <a:lstStyle/>
                    <a:p>
                      <a:endParaRPr/>
                    </a:p>
                  </a:txBody>
                  <a:tcPr marL="0" marR="0" marT="0" marB="0"/>
                </a:tc>
                <a:tc gridSpan="3">
                  <a:txBody>
                    <a:bodyPr/>
                    <a:lstStyle/>
                    <a:p>
                      <a:pPr marL="52705">
                        <a:lnSpc>
                          <a:spcPct val="100000"/>
                        </a:lnSpc>
                        <a:spcBef>
                          <a:spcPts val="370"/>
                        </a:spcBef>
                      </a:pPr>
                      <a:r>
                        <a:rPr sz="600" spc="-5" dirty="0" err="1">
                          <a:latin typeface="Arial"/>
                          <a:cs typeface="Arial"/>
                        </a:rPr>
                        <a:t>HOLD6_DUMY_SIZE</a:t>
                      </a:r>
                      <a:r>
                        <a:rPr sz="600" spc="-5" dirty="0">
                          <a:latin typeface="Arial"/>
                          <a:cs typeface="Arial"/>
                        </a:rPr>
                        <a:t>[2:0]</a:t>
                      </a:r>
                      <a:endParaRPr sz="600" dirty="0">
                        <a:latin typeface="Arial"/>
                        <a:cs typeface="Arial"/>
                      </a:endParaRPr>
                    </a:p>
                  </a:txBody>
                  <a:tcPr marL="0" marR="0" marT="469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1"/>
                  </a:ext>
                </a:extLst>
              </a:tr>
            </a:tbl>
          </a:graphicData>
        </a:graphic>
      </p:graphicFrame>
      <p:graphicFrame>
        <p:nvGraphicFramePr>
          <p:cNvPr id="17" name="표 16">
            <a:extLst>
              <a:ext uri="{FF2B5EF4-FFF2-40B4-BE49-F238E27FC236}">
                <a16:creationId xmlns:a16="http://schemas.microsoft.com/office/drawing/2014/main" id="{2C9D6AB5-794E-4241-1257-0E5A967C3FBA}"/>
              </a:ext>
            </a:extLst>
          </p:cNvPr>
          <p:cNvGraphicFramePr>
            <a:graphicFrameLocks noGrp="1"/>
          </p:cNvGraphicFramePr>
          <p:nvPr>
            <p:extLst>
              <p:ext uri="{D42A27DB-BD31-4B8C-83A1-F6EECF244321}">
                <p14:modId xmlns:p14="http://schemas.microsoft.com/office/powerpoint/2010/main" val="3035308347"/>
              </p:ext>
            </p:extLst>
          </p:nvPr>
        </p:nvGraphicFramePr>
        <p:xfrm>
          <a:off x="400912" y="5807001"/>
          <a:ext cx="6033770" cy="876837"/>
        </p:xfrm>
        <a:graphic>
          <a:graphicData uri="http://schemas.openxmlformats.org/drawingml/2006/table">
            <a:tbl>
              <a:tblPr firstRow="1" bandRow="1">
                <a:tableStyleId>{5C22544A-7EE6-4342-B048-85BDC9FD1C3A}</a:tableStyleId>
              </a:tblPr>
              <a:tblGrid>
                <a:gridCol w="384612">
                  <a:extLst>
                    <a:ext uri="{9D8B030D-6E8A-4147-A177-3AD203B41FA5}">
                      <a16:colId xmlns:a16="http://schemas.microsoft.com/office/drawing/2014/main" val="4170535043"/>
                    </a:ext>
                  </a:extLst>
                </a:gridCol>
                <a:gridCol w="1523121">
                  <a:extLst>
                    <a:ext uri="{9D8B030D-6E8A-4147-A177-3AD203B41FA5}">
                      <a16:colId xmlns:a16="http://schemas.microsoft.com/office/drawing/2014/main" val="2079070694"/>
                    </a:ext>
                  </a:extLst>
                </a:gridCol>
                <a:gridCol w="4126037">
                  <a:extLst>
                    <a:ext uri="{9D8B030D-6E8A-4147-A177-3AD203B41FA5}">
                      <a16:colId xmlns:a16="http://schemas.microsoft.com/office/drawing/2014/main" val="32595803"/>
                    </a:ext>
                  </a:extLst>
                </a:gridCol>
              </a:tblGrid>
              <a:tr h="256197">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457558">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dirty="0">
                          <a:latin typeface="Arial"/>
                          <a:cs typeface="Arial"/>
                        </a:rPr>
                        <a:t>14:0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spc="-5" dirty="0">
                          <a:latin typeface="Arial"/>
                          <a:cs typeface="Arial"/>
                        </a:rPr>
                        <a:t>HOLDx_DUMY_SIZE</a:t>
                      </a:r>
                      <a:endParaRPr lang="en-US" altLang="ko-KR" sz="900" dirty="0">
                        <a:latin typeface="Arial"/>
                        <a:cs typeface="Arial"/>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spc="-5" dirty="0">
                          <a:latin typeface="Arial"/>
                          <a:cs typeface="Arial"/>
                        </a:rPr>
                        <a:t>This</a:t>
                      </a:r>
                      <a:r>
                        <a:rPr lang="en-US" altLang="ko-KR" sz="900" spc="-20" dirty="0">
                          <a:latin typeface="Arial"/>
                          <a:cs typeface="Arial"/>
                        </a:rPr>
                        <a:t> </a:t>
                      </a:r>
                      <a:r>
                        <a:rPr lang="en-US" altLang="ko-KR" sz="900" spc="-5" dirty="0">
                          <a:latin typeface="Arial"/>
                          <a:cs typeface="Arial"/>
                        </a:rPr>
                        <a:t>is </a:t>
                      </a:r>
                      <a:r>
                        <a:rPr lang="en-US" altLang="ko-KR" sz="900" dirty="0">
                          <a:latin typeface="Arial"/>
                          <a:cs typeface="Arial"/>
                        </a:rPr>
                        <a:t>used to designate the value how many times invalid HOLD signal should be </a:t>
                      </a:r>
                      <a:r>
                        <a:rPr lang="en-US" altLang="ko-KR" sz="900" spc="-235" dirty="0">
                          <a:latin typeface="Arial"/>
                          <a:cs typeface="Arial"/>
                        </a:rPr>
                        <a:t> </a:t>
                      </a:r>
                      <a:r>
                        <a:rPr lang="en-US" altLang="ko-KR" sz="900" dirty="0">
                          <a:latin typeface="Arial"/>
                          <a:cs typeface="Arial"/>
                        </a:rPr>
                        <a:t>asserted</a:t>
                      </a:r>
                      <a:r>
                        <a:rPr lang="en-US" altLang="ko-KR" sz="900" spc="-35" dirty="0">
                          <a:latin typeface="Arial"/>
                          <a:cs typeface="Arial"/>
                        </a:rPr>
                        <a:t> </a:t>
                      </a:r>
                      <a:r>
                        <a:rPr lang="en-US" altLang="ko-KR" sz="900" dirty="0">
                          <a:latin typeface="Arial"/>
                          <a:cs typeface="Arial"/>
                        </a:rPr>
                        <a:t>for one</a:t>
                      </a:r>
                      <a:r>
                        <a:rPr lang="en-US" altLang="ko-KR" sz="900" spc="-20" dirty="0">
                          <a:latin typeface="Arial"/>
                          <a:cs typeface="Arial"/>
                        </a:rPr>
                        <a:t> </a:t>
                      </a:r>
                      <a:r>
                        <a:rPr lang="en-US" altLang="ko-KR" sz="900" spc="-5" dirty="0">
                          <a:latin typeface="Arial"/>
                          <a:cs typeface="Arial"/>
                        </a:rPr>
                        <a:t>CS</a:t>
                      </a:r>
                      <a:r>
                        <a:rPr lang="en-US" altLang="ko-KR" sz="900" dirty="0">
                          <a:latin typeface="Arial"/>
                          <a:cs typeface="Arial"/>
                        </a:rPr>
                        <a:t> period. It</a:t>
                      </a:r>
                      <a:r>
                        <a:rPr lang="en-US" altLang="ko-KR" sz="900" spc="-5" dirty="0">
                          <a:latin typeface="Arial"/>
                          <a:cs typeface="Arial"/>
                        </a:rPr>
                        <a:t> is</a:t>
                      </a:r>
                      <a:r>
                        <a:rPr lang="en-US" altLang="ko-KR" sz="900" dirty="0">
                          <a:latin typeface="Arial"/>
                          <a:cs typeface="Arial"/>
                        </a:rPr>
                        <a:t> equipped</a:t>
                      </a:r>
                      <a:r>
                        <a:rPr lang="en-US" altLang="ko-KR" sz="900" spc="-15" dirty="0">
                          <a:latin typeface="Arial"/>
                          <a:cs typeface="Arial"/>
                        </a:rPr>
                        <a:t> </a:t>
                      </a:r>
                      <a:r>
                        <a:rPr lang="en-US" altLang="ko-KR" sz="900" dirty="0">
                          <a:latin typeface="Arial"/>
                          <a:cs typeface="Arial"/>
                        </a:rPr>
                        <a:t>to be able to set each</a:t>
                      </a:r>
                      <a:r>
                        <a:rPr lang="en-US" altLang="ko-KR" sz="900" spc="-15" dirty="0">
                          <a:latin typeface="Arial"/>
                          <a:cs typeface="Arial"/>
                        </a:rPr>
                        <a:t> </a:t>
                      </a:r>
                      <a:r>
                        <a:rPr lang="en-US" altLang="ko-KR" sz="900" dirty="0">
                          <a:latin typeface="Arial"/>
                          <a:cs typeface="Arial"/>
                        </a:rPr>
                        <a:t>HOLD</a:t>
                      </a:r>
                      <a:r>
                        <a:rPr lang="en-US" altLang="ko-KR" sz="900" spc="5" dirty="0">
                          <a:latin typeface="Arial"/>
                          <a:cs typeface="Arial"/>
                        </a:rPr>
                        <a:t> </a:t>
                      </a:r>
                      <a:r>
                        <a:rPr lang="en-US" altLang="ko-KR" sz="900" dirty="0">
                          <a:latin typeface="Arial"/>
                          <a:cs typeface="Arial"/>
                        </a:rPr>
                        <a:t>channel,</a:t>
                      </a:r>
                      <a:r>
                        <a:rPr lang="en-US" altLang="ko-KR" sz="900" spc="-20" dirty="0">
                          <a:latin typeface="Arial"/>
                          <a:cs typeface="Arial"/>
                        </a:rPr>
                        <a:t> </a:t>
                      </a:r>
                      <a:r>
                        <a:rPr lang="en-US" altLang="ko-KR" sz="900" dirty="0">
                          <a:latin typeface="Arial"/>
                          <a:cs typeface="Arial"/>
                        </a:rPr>
                        <a:t>respectively</a:t>
                      </a:r>
                      <a:r>
                        <a:rPr lang="en-US" altLang="ko-KR" sz="900" spc="-35" dirty="0">
                          <a:latin typeface="Arial"/>
                          <a:cs typeface="Arial"/>
                        </a:rPr>
                        <a:t> </a:t>
                      </a:r>
                      <a:r>
                        <a:rPr lang="en-US" altLang="ko-KR" sz="900" dirty="0">
                          <a:latin typeface="Arial"/>
                          <a:cs typeface="Arial"/>
                        </a:rPr>
                        <a:t>and depends</a:t>
                      </a:r>
                      <a:r>
                        <a:rPr lang="en-US" altLang="ko-KR" sz="900" spc="-25" dirty="0">
                          <a:latin typeface="Arial"/>
                          <a:cs typeface="Arial"/>
                        </a:rPr>
                        <a:t> </a:t>
                      </a:r>
                      <a:r>
                        <a:rPr lang="en-US" altLang="ko-KR" sz="900" dirty="0">
                          <a:latin typeface="Arial"/>
                          <a:cs typeface="Arial"/>
                        </a:rPr>
                        <a:t>on </a:t>
                      </a:r>
                      <a:r>
                        <a:rPr lang="en-US" altLang="ko-KR" sz="900" spc="-235" dirty="0">
                          <a:latin typeface="Arial"/>
                          <a:cs typeface="Arial"/>
                        </a:rPr>
                        <a:t> </a:t>
                      </a:r>
                      <a:r>
                        <a:rPr lang="en-US" altLang="ko-KR" sz="900" dirty="0">
                          <a:latin typeface="Arial"/>
                          <a:cs typeface="Arial"/>
                        </a:rPr>
                        <a:t>the</a:t>
                      </a:r>
                      <a:r>
                        <a:rPr lang="en-US" altLang="ko-KR" sz="900" spc="-5" dirty="0">
                          <a:latin typeface="Arial"/>
                          <a:cs typeface="Arial"/>
                        </a:rPr>
                        <a:t> </a:t>
                      </a:r>
                      <a:r>
                        <a:rPr lang="en-US" altLang="ko-KR" sz="900" dirty="0">
                          <a:latin typeface="Arial"/>
                          <a:cs typeface="Arial"/>
                        </a:rPr>
                        <a:t>number</a:t>
                      </a:r>
                      <a:r>
                        <a:rPr lang="en-US" altLang="ko-KR" sz="900" spc="-25" dirty="0">
                          <a:latin typeface="Arial"/>
                          <a:cs typeface="Arial"/>
                        </a:rPr>
                        <a:t> </a:t>
                      </a:r>
                      <a:r>
                        <a:rPr lang="en-US" altLang="ko-KR" sz="900" dirty="0">
                          <a:latin typeface="Arial"/>
                          <a:cs typeface="Arial"/>
                        </a:rPr>
                        <a:t>of</a:t>
                      </a:r>
                      <a:r>
                        <a:rPr lang="en-US" altLang="ko-KR" sz="900" spc="-10" dirty="0">
                          <a:latin typeface="Arial"/>
                          <a:cs typeface="Arial"/>
                        </a:rPr>
                        <a:t> </a:t>
                      </a:r>
                      <a:r>
                        <a:rPr lang="en-US" altLang="ko-KR" sz="900" dirty="0">
                          <a:latin typeface="Arial"/>
                          <a:cs typeface="Arial"/>
                        </a:rPr>
                        <a:t>unused</a:t>
                      </a:r>
                      <a:r>
                        <a:rPr lang="en-US" altLang="ko-KR" sz="900" spc="-20" dirty="0">
                          <a:latin typeface="Arial"/>
                          <a:cs typeface="Arial"/>
                        </a:rPr>
                        <a:t> </a:t>
                      </a:r>
                      <a:r>
                        <a:rPr lang="en-US" altLang="ko-KR" sz="900" dirty="0">
                          <a:latin typeface="Arial"/>
                          <a:cs typeface="Arial"/>
                        </a:rPr>
                        <a:t>channels</a:t>
                      </a:r>
                      <a:r>
                        <a:rPr lang="en-US" altLang="ko-KR" sz="900" spc="-30" dirty="0">
                          <a:latin typeface="Arial"/>
                          <a:cs typeface="Arial"/>
                        </a:rPr>
                        <a:t> </a:t>
                      </a:r>
                      <a:r>
                        <a:rPr lang="en-US" altLang="ko-KR" sz="900" dirty="0">
                          <a:latin typeface="Arial"/>
                          <a:cs typeface="Arial"/>
                        </a:rPr>
                        <a:t>of</a:t>
                      </a:r>
                      <a:r>
                        <a:rPr lang="en-US" altLang="ko-KR" sz="900" spc="-10" dirty="0">
                          <a:latin typeface="Arial"/>
                          <a:cs typeface="Arial"/>
                        </a:rPr>
                        <a:t> </a:t>
                      </a:r>
                      <a:r>
                        <a:rPr lang="en-US" altLang="ko-KR" sz="900" dirty="0">
                          <a:latin typeface="Arial"/>
                          <a:cs typeface="Arial"/>
                        </a:rPr>
                        <a:t>AQ series. </a:t>
                      </a:r>
                      <a:r>
                        <a:rPr lang="en-US" altLang="ko-KR" sz="900" spc="-5" dirty="0">
                          <a:latin typeface="Arial"/>
                          <a:cs typeface="Arial"/>
                        </a:rPr>
                        <a:t>Refer</a:t>
                      </a:r>
                      <a:r>
                        <a:rPr lang="en-US" altLang="ko-KR" sz="900" spc="-20" dirty="0">
                          <a:latin typeface="Arial"/>
                          <a:cs typeface="Arial"/>
                        </a:rPr>
                        <a:t> </a:t>
                      </a:r>
                      <a:r>
                        <a:rPr lang="en-US" altLang="ko-KR" sz="900" dirty="0">
                          <a:latin typeface="Arial"/>
                          <a:cs typeface="Arial"/>
                        </a:rPr>
                        <a:t>to</a:t>
                      </a:r>
                      <a:r>
                        <a:rPr lang="en-US" altLang="ko-KR" sz="900" spc="-15" dirty="0">
                          <a:latin typeface="Arial"/>
                          <a:cs typeface="Arial"/>
                        </a:rPr>
                        <a:t> </a:t>
                      </a:r>
                      <a:r>
                        <a:rPr lang="en-US" altLang="ko-KR" sz="900" spc="-5" dirty="0">
                          <a:latin typeface="Arial"/>
                          <a:cs typeface="Arial"/>
                        </a:rPr>
                        <a:t>the</a:t>
                      </a:r>
                      <a:r>
                        <a:rPr lang="en-US" altLang="ko-KR" sz="900" spc="-15" dirty="0">
                          <a:latin typeface="Arial"/>
                          <a:cs typeface="Arial"/>
                        </a:rPr>
                        <a:t> </a:t>
                      </a:r>
                      <a:r>
                        <a:rPr lang="en-US" altLang="ko-KR" sz="900" dirty="0">
                          <a:latin typeface="Arial"/>
                          <a:cs typeface="Arial"/>
                        </a:rPr>
                        <a:t>Figure 11</a:t>
                      </a:r>
                      <a:r>
                        <a:rPr lang="en-US" altLang="ko-KR" sz="900" spc="-25" dirty="0">
                          <a:latin typeface="Arial"/>
                          <a:cs typeface="Arial"/>
                        </a:rPr>
                        <a:t> </a:t>
                      </a:r>
                      <a:r>
                        <a:rPr lang="en-US" altLang="ko-KR" sz="900" spc="-5" dirty="0">
                          <a:latin typeface="Arial"/>
                          <a:cs typeface="Arial"/>
                        </a:rPr>
                        <a:t>and</a:t>
                      </a:r>
                      <a:r>
                        <a:rPr lang="en-US" altLang="ko-KR" sz="900" spc="-15" dirty="0">
                          <a:latin typeface="Arial"/>
                          <a:cs typeface="Arial"/>
                        </a:rPr>
                        <a:t> </a:t>
                      </a:r>
                      <a:r>
                        <a:rPr lang="en-US" altLang="ko-KR" sz="900" dirty="0">
                          <a:latin typeface="Arial"/>
                          <a:cs typeface="Arial"/>
                        </a:rPr>
                        <a:t>Figure 12.</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18" name="표 17">
            <a:extLst>
              <a:ext uri="{FF2B5EF4-FFF2-40B4-BE49-F238E27FC236}">
                <a16:creationId xmlns:a16="http://schemas.microsoft.com/office/drawing/2014/main" id="{34E9ED5D-587C-6913-F164-F6AD193CB5DA}"/>
              </a:ext>
            </a:extLst>
          </p:cNvPr>
          <p:cNvGraphicFramePr>
            <a:graphicFrameLocks noGrp="1"/>
          </p:cNvGraphicFramePr>
          <p:nvPr>
            <p:extLst>
              <p:ext uri="{D42A27DB-BD31-4B8C-83A1-F6EECF244321}">
                <p14:modId xmlns:p14="http://schemas.microsoft.com/office/powerpoint/2010/main" val="3264370654"/>
              </p:ext>
            </p:extLst>
          </p:nvPr>
        </p:nvGraphicFramePr>
        <p:xfrm>
          <a:off x="392684" y="2680423"/>
          <a:ext cx="6033770" cy="876837"/>
        </p:xfrm>
        <a:graphic>
          <a:graphicData uri="http://schemas.openxmlformats.org/drawingml/2006/table">
            <a:tbl>
              <a:tblPr firstRow="1" bandRow="1">
                <a:tableStyleId>{5C22544A-7EE6-4342-B048-85BDC9FD1C3A}</a:tableStyleId>
              </a:tblPr>
              <a:tblGrid>
                <a:gridCol w="384612">
                  <a:extLst>
                    <a:ext uri="{9D8B030D-6E8A-4147-A177-3AD203B41FA5}">
                      <a16:colId xmlns:a16="http://schemas.microsoft.com/office/drawing/2014/main" val="4170535043"/>
                    </a:ext>
                  </a:extLst>
                </a:gridCol>
                <a:gridCol w="1523121">
                  <a:extLst>
                    <a:ext uri="{9D8B030D-6E8A-4147-A177-3AD203B41FA5}">
                      <a16:colId xmlns:a16="http://schemas.microsoft.com/office/drawing/2014/main" val="2079070694"/>
                    </a:ext>
                  </a:extLst>
                </a:gridCol>
                <a:gridCol w="4126037">
                  <a:extLst>
                    <a:ext uri="{9D8B030D-6E8A-4147-A177-3AD203B41FA5}">
                      <a16:colId xmlns:a16="http://schemas.microsoft.com/office/drawing/2014/main" val="32595803"/>
                    </a:ext>
                  </a:extLst>
                </a:gridCol>
              </a:tblGrid>
              <a:tr h="256197">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457558">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spc="-5" dirty="0">
                          <a:latin typeface="Arial"/>
                          <a:cs typeface="Arial"/>
                        </a:rPr>
                        <a:t>HOLDx_SIZE</a:t>
                      </a:r>
                      <a:endParaRPr lang="en-US" altLang="ko-KR" sz="900" dirty="0">
                        <a:latin typeface="Arial"/>
                        <a:cs typeface="Arial"/>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spc="-5" dirty="0">
                          <a:latin typeface="Arial"/>
                          <a:cs typeface="Arial"/>
                        </a:rPr>
                        <a:t>This</a:t>
                      </a:r>
                      <a:r>
                        <a:rPr lang="en-US" altLang="ko-KR" sz="900" spc="-20" dirty="0">
                          <a:latin typeface="Arial"/>
                          <a:cs typeface="Arial"/>
                        </a:rPr>
                        <a:t> </a:t>
                      </a:r>
                      <a:r>
                        <a:rPr lang="en-US" altLang="ko-KR" sz="900" spc="-5" dirty="0">
                          <a:latin typeface="Arial"/>
                          <a:cs typeface="Arial"/>
                        </a:rPr>
                        <a:t>is </a:t>
                      </a:r>
                      <a:r>
                        <a:rPr lang="en-US" altLang="ko-KR" sz="900" dirty="0">
                          <a:latin typeface="Arial"/>
                          <a:cs typeface="Arial"/>
                        </a:rPr>
                        <a:t>used to designate the </a:t>
                      </a:r>
                      <a:r>
                        <a:rPr lang="en-US" altLang="ko-KR" sz="900" spc="-5" dirty="0">
                          <a:latin typeface="Arial"/>
                          <a:cs typeface="Arial"/>
                        </a:rPr>
                        <a:t>value how </a:t>
                      </a:r>
                      <a:r>
                        <a:rPr lang="en-US" altLang="ko-KR" sz="900" dirty="0">
                          <a:latin typeface="Arial"/>
                          <a:cs typeface="Arial"/>
                        </a:rPr>
                        <a:t>many times </a:t>
                      </a:r>
                      <a:r>
                        <a:rPr lang="en-US" altLang="ko-KR" sz="900" spc="-5" dirty="0">
                          <a:latin typeface="Arial"/>
                          <a:cs typeface="Arial"/>
                        </a:rPr>
                        <a:t>valid HOLD </a:t>
                      </a:r>
                      <a:r>
                        <a:rPr lang="en-US" altLang="ko-KR" sz="900" dirty="0">
                          <a:latin typeface="Arial"/>
                          <a:cs typeface="Arial"/>
                        </a:rPr>
                        <a:t>signal should </a:t>
                      </a:r>
                      <a:r>
                        <a:rPr lang="en-US" altLang="ko-KR" sz="900" spc="-5" dirty="0">
                          <a:latin typeface="Arial"/>
                          <a:cs typeface="Arial"/>
                        </a:rPr>
                        <a:t>be </a:t>
                      </a:r>
                      <a:r>
                        <a:rPr lang="en-US" altLang="ko-KR" sz="900" spc="-240" dirty="0">
                          <a:latin typeface="Arial"/>
                          <a:cs typeface="Arial"/>
                        </a:rPr>
                        <a:t> </a:t>
                      </a:r>
                      <a:r>
                        <a:rPr lang="en-US" altLang="ko-KR" sz="900" dirty="0">
                          <a:latin typeface="Arial"/>
                          <a:cs typeface="Arial"/>
                        </a:rPr>
                        <a:t>asserted</a:t>
                      </a:r>
                      <a:r>
                        <a:rPr lang="en-US" altLang="ko-KR" sz="900" spc="-40" dirty="0">
                          <a:latin typeface="Arial"/>
                          <a:cs typeface="Arial"/>
                        </a:rPr>
                        <a:t> </a:t>
                      </a:r>
                      <a:r>
                        <a:rPr lang="en-US" altLang="ko-KR" sz="900" dirty="0">
                          <a:latin typeface="Arial"/>
                          <a:cs typeface="Arial"/>
                        </a:rPr>
                        <a:t>for </a:t>
                      </a:r>
                      <a:r>
                        <a:rPr lang="en-US" altLang="ko-KR" sz="900" spc="-5" dirty="0">
                          <a:latin typeface="Arial"/>
                          <a:cs typeface="Arial"/>
                        </a:rPr>
                        <a:t>one</a:t>
                      </a:r>
                      <a:r>
                        <a:rPr lang="en-US" altLang="ko-KR" sz="900" spc="-20" dirty="0">
                          <a:latin typeface="Arial"/>
                          <a:cs typeface="Arial"/>
                        </a:rPr>
                        <a:t> </a:t>
                      </a:r>
                      <a:r>
                        <a:rPr lang="en-US" altLang="ko-KR" sz="900" spc="-5" dirty="0">
                          <a:latin typeface="Arial"/>
                          <a:cs typeface="Arial"/>
                        </a:rPr>
                        <a:t>CS</a:t>
                      </a:r>
                      <a:r>
                        <a:rPr lang="en-US" altLang="ko-KR" sz="900" dirty="0">
                          <a:latin typeface="Arial"/>
                          <a:cs typeface="Arial"/>
                        </a:rPr>
                        <a:t> </a:t>
                      </a:r>
                      <a:r>
                        <a:rPr lang="en-US" altLang="ko-KR" sz="900" spc="-5" dirty="0">
                          <a:latin typeface="Arial"/>
                          <a:cs typeface="Arial"/>
                        </a:rPr>
                        <a:t>period. </a:t>
                      </a:r>
                      <a:r>
                        <a:rPr lang="en-US" altLang="ko-KR" sz="900" dirty="0">
                          <a:latin typeface="Arial"/>
                          <a:cs typeface="Arial"/>
                        </a:rPr>
                        <a:t>It </a:t>
                      </a:r>
                      <a:r>
                        <a:rPr lang="en-US" altLang="ko-KR" sz="900" spc="-5" dirty="0">
                          <a:latin typeface="Arial"/>
                          <a:cs typeface="Arial"/>
                        </a:rPr>
                        <a:t>is equipped </a:t>
                      </a:r>
                      <a:r>
                        <a:rPr lang="en-US" altLang="ko-KR" sz="900" dirty="0">
                          <a:latin typeface="Arial"/>
                          <a:cs typeface="Arial"/>
                        </a:rPr>
                        <a:t>to </a:t>
                      </a:r>
                      <a:r>
                        <a:rPr lang="en-US" altLang="ko-KR" sz="900" spc="-5" dirty="0">
                          <a:latin typeface="Arial"/>
                          <a:cs typeface="Arial"/>
                        </a:rPr>
                        <a:t>be able </a:t>
                      </a:r>
                      <a:r>
                        <a:rPr lang="en-US" altLang="ko-KR" sz="900" dirty="0">
                          <a:latin typeface="Arial"/>
                          <a:cs typeface="Arial"/>
                        </a:rPr>
                        <a:t>to set each </a:t>
                      </a:r>
                      <a:r>
                        <a:rPr lang="en-US" altLang="ko-KR" sz="900" spc="-5" dirty="0">
                          <a:latin typeface="Arial"/>
                          <a:cs typeface="Arial"/>
                        </a:rPr>
                        <a:t>HOLD </a:t>
                      </a:r>
                      <a:r>
                        <a:rPr lang="en-US" altLang="ko-KR" sz="900" dirty="0">
                          <a:latin typeface="Arial"/>
                          <a:cs typeface="Arial"/>
                        </a:rPr>
                        <a:t>channel, respectively </a:t>
                      </a:r>
                      <a:r>
                        <a:rPr lang="en-US" altLang="ko-KR" sz="900" spc="-5" dirty="0">
                          <a:latin typeface="Arial"/>
                          <a:cs typeface="Arial"/>
                        </a:rPr>
                        <a:t>and depends on </a:t>
                      </a:r>
                      <a:r>
                        <a:rPr lang="en-US" altLang="ko-KR" sz="900" spc="-235" dirty="0">
                          <a:latin typeface="Arial"/>
                          <a:cs typeface="Arial"/>
                        </a:rPr>
                        <a:t> </a:t>
                      </a:r>
                      <a:r>
                        <a:rPr lang="en-US" altLang="ko-KR" sz="900" dirty="0">
                          <a:latin typeface="Arial"/>
                          <a:cs typeface="Arial"/>
                        </a:rPr>
                        <a:t>the</a:t>
                      </a:r>
                      <a:r>
                        <a:rPr lang="en-US" altLang="ko-KR" sz="900" spc="-15" dirty="0">
                          <a:latin typeface="Arial"/>
                          <a:cs typeface="Arial"/>
                        </a:rPr>
                        <a:t> </a:t>
                      </a:r>
                      <a:r>
                        <a:rPr lang="en-US" altLang="ko-KR" sz="900" dirty="0">
                          <a:latin typeface="Arial"/>
                          <a:cs typeface="Arial"/>
                        </a:rPr>
                        <a:t>number</a:t>
                      </a:r>
                      <a:r>
                        <a:rPr lang="en-US" altLang="ko-KR" sz="900" spc="-25" dirty="0">
                          <a:latin typeface="Arial"/>
                          <a:cs typeface="Arial"/>
                        </a:rPr>
                        <a:t> </a:t>
                      </a:r>
                      <a:r>
                        <a:rPr lang="en-US" altLang="ko-KR" sz="900" dirty="0">
                          <a:latin typeface="Arial"/>
                          <a:cs typeface="Arial"/>
                        </a:rPr>
                        <a:t>of</a:t>
                      </a:r>
                      <a:r>
                        <a:rPr lang="en-US" altLang="ko-KR" sz="900" spc="-10" dirty="0">
                          <a:latin typeface="Arial"/>
                          <a:cs typeface="Arial"/>
                        </a:rPr>
                        <a:t> </a:t>
                      </a:r>
                      <a:r>
                        <a:rPr lang="en-US" altLang="ko-KR" sz="900" dirty="0">
                          <a:latin typeface="Arial"/>
                          <a:cs typeface="Arial"/>
                        </a:rPr>
                        <a:t>used</a:t>
                      </a:r>
                      <a:r>
                        <a:rPr lang="en-US" altLang="ko-KR" sz="900" spc="-10" dirty="0">
                          <a:latin typeface="Arial"/>
                          <a:cs typeface="Arial"/>
                        </a:rPr>
                        <a:t> </a:t>
                      </a:r>
                      <a:r>
                        <a:rPr lang="en-US" altLang="ko-KR" sz="900" dirty="0">
                          <a:latin typeface="Arial"/>
                          <a:cs typeface="Arial"/>
                        </a:rPr>
                        <a:t>channels</a:t>
                      </a:r>
                      <a:r>
                        <a:rPr lang="en-US" altLang="ko-KR" sz="900" spc="-50" dirty="0">
                          <a:latin typeface="Arial"/>
                          <a:cs typeface="Arial"/>
                        </a:rPr>
                        <a:t> </a:t>
                      </a:r>
                      <a:r>
                        <a:rPr lang="en-US" altLang="ko-KR" sz="900" dirty="0">
                          <a:latin typeface="Arial"/>
                          <a:cs typeface="Arial"/>
                        </a:rPr>
                        <a:t>of AQ</a:t>
                      </a:r>
                      <a:r>
                        <a:rPr lang="en-US" altLang="ko-KR" sz="900" spc="-5" dirty="0">
                          <a:latin typeface="Arial"/>
                          <a:cs typeface="Arial"/>
                        </a:rPr>
                        <a:t> </a:t>
                      </a:r>
                      <a:r>
                        <a:rPr lang="en-US" altLang="ko-KR" sz="900" dirty="0">
                          <a:latin typeface="Arial"/>
                          <a:cs typeface="Arial"/>
                        </a:rPr>
                        <a:t>series. </a:t>
                      </a:r>
                      <a:r>
                        <a:rPr lang="en-US" altLang="ko-KR" sz="900" spc="-5" dirty="0">
                          <a:latin typeface="Arial"/>
                          <a:cs typeface="Arial"/>
                        </a:rPr>
                        <a:t>Refer</a:t>
                      </a:r>
                      <a:r>
                        <a:rPr lang="en-US" altLang="ko-KR" sz="900" spc="-20" dirty="0">
                          <a:latin typeface="Arial"/>
                          <a:cs typeface="Arial"/>
                        </a:rPr>
                        <a:t> </a:t>
                      </a:r>
                      <a:r>
                        <a:rPr lang="en-US" altLang="ko-KR" sz="900" dirty="0">
                          <a:latin typeface="Arial"/>
                          <a:cs typeface="Arial"/>
                        </a:rPr>
                        <a:t>to</a:t>
                      </a:r>
                      <a:r>
                        <a:rPr lang="en-US" altLang="ko-KR" sz="900" spc="-15" dirty="0">
                          <a:latin typeface="Arial"/>
                          <a:cs typeface="Arial"/>
                        </a:rPr>
                        <a:t> </a:t>
                      </a:r>
                      <a:r>
                        <a:rPr lang="en-US" altLang="ko-KR" sz="900" spc="-5" dirty="0">
                          <a:latin typeface="Arial"/>
                          <a:cs typeface="Arial"/>
                        </a:rPr>
                        <a:t>the</a:t>
                      </a:r>
                      <a:r>
                        <a:rPr lang="en-US" altLang="ko-KR" sz="900" spc="-15" dirty="0">
                          <a:latin typeface="Arial"/>
                          <a:cs typeface="Arial"/>
                        </a:rPr>
                        <a:t> </a:t>
                      </a:r>
                      <a:r>
                        <a:rPr lang="en-US" altLang="ko-KR" sz="900" dirty="0">
                          <a:latin typeface="Arial"/>
                          <a:cs typeface="Arial"/>
                        </a:rPr>
                        <a:t>Figure 11</a:t>
                      </a:r>
                      <a:r>
                        <a:rPr lang="en-US" altLang="ko-KR" sz="900" spc="-25" dirty="0">
                          <a:latin typeface="Arial"/>
                          <a:cs typeface="Arial"/>
                        </a:rPr>
                        <a:t> </a:t>
                      </a:r>
                      <a:r>
                        <a:rPr lang="en-US" altLang="ko-KR" sz="900" spc="-5" dirty="0">
                          <a:latin typeface="Arial"/>
                          <a:cs typeface="Arial"/>
                        </a:rPr>
                        <a:t>and</a:t>
                      </a:r>
                      <a:r>
                        <a:rPr lang="en-US" altLang="ko-KR" sz="900" spc="-15" dirty="0">
                          <a:latin typeface="Arial"/>
                          <a:cs typeface="Arial"/>
                        </a:rPr>
                        <a:t> </a:t>
                      </a:r>
                      <a:r>
                        <a:rPr lang="en-US" altLang="ko-KR" sz="900" dirty="0">
                          <a:latin typeface="Arial"/>
                          <a:cs typeface="Arial"/>
                        </a:rPr>
                        <a:t>Figure 12.</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5" name="object 9">
            <a:extLst>
              <a:ext uri="{FF2B5EF4-FFF2-40B4-BE49-F238E27FC236}">
                <a16:creationId xmlns:a16="http://schemas.microsoft.com/office/drawing/2014/main" id="{C6A25B42-6313-3214-1F2F-69839401B1E8}"/>
              </a:ext>
            </a:extLst>
          </p:cNvPr>
          <p:cNvSpPr txBox="1"/>
          <p:nvPr/>
        </p:nvSpPr>
        <p:spPr>
          <a:xfrm>
            <a:off x="304800" y="9067800"/>
            <a:ext cx="2078355" cy="289823"/>
          </a:xfrm>
          <a:prstGeom prst="rect">
            <a:avLst/>
          </a:prstGeom>
        </p:spPr>
        <p:txBody>
          <a:bodyPr vert="horz" wrap="square" lIns="0" tIns="12700" rIns="0" bIns="0" rtlCol="0">
            <a:spAutoFit/>
          </a:bodyPr>
          <a:lstStyle/>
          <a:p>
            <a:pPr marL="12700">
              <a:lnSpc>
                <a:spcPct val="100000"/>
              </a:lnSpc>
              <a:spcBef>
                <a:spcPts val="100"/>
              </a:spcBef>
            </a:pPr>
            <a:r>
              <a:rPr b="1" spc="-5" dirty="0">
                <a:solidFill>
                  <a:srgbClr val="FF0000"/>
                </a:solidFill>
                <a:cs typeface="Perpetua Titling MT"/>
              </a:rPr>
              <a:t>CONFIDENTIAL</a:t>
            </a:r>
            <a:endParaRPr dirty="0">
              <a:cs typeface="Perpetua Titling MT"/>
            </a:endParaRPr>
          </a:p>
        </p:txBody>
      </p:sp>
      <p:sp>
        <p:nvSpPr>
          <p:cNvPr id="13" name="object 6">
            <a:extLst>
              <a:ext uri="{FF2B5EF4-FFF2-40B4-BE49-F238E27FC236}">
                <a16:creationId xmlns:a16="http://schemas.microsoft.com/office/drawing/2014/main" id="{EE56C2AA-4DAF-EAF3-708E-C27E40CD85E7}"/>
              </a:ext>
            </a:extLst>
          </p:cNvPr>
          <p:cNvSpPr/>
          <p:nvPr/>
        </p:nvSpPr>
        <p:spPr>
          <a:xfrm>
            <a:off x="301676" y="9458756"/>
            <a:ext cx="6246495" cy="0"/>
          </a:xfrm>
          <a:custGeom>
            <a:avLst/>
            <a:gdLst/>
            <a:ahLst/>
            <a:cxnLst/>
            <a:rect l="l" t="t" r="r" b="b"/>
            <a:pathLst>
              <a:path w="6246495">
                <a:moveTo>
                  <a:pt x="0" y="0"/>
                </a:moveTo>
                <a:lnTo>
                  <a:pt x="6245999" y="0"/>
                </a:lnTo>
              </a:path>
            </a:pathLst>
          </a:custGeom>
          <a:ln w="25920">
            <a:solidFill>
              <a:srgbClr val="BFBFBF"/>
            </a:solidFill>
          </a:ln>
        </p:spPr>
        <p:txBody>
          <a:bodyPr wrap="square" lIns="0" tIns="0" rIns="0" bIns="0" rtlCol="0"/>
          <a:lstStyle/>
          <a:p>
            <a:endParaRPr/>
          </a:p>
        </p:txBody>
      </p:sp>
      <p:sp>
        <p:nvSpPr>
          <p:cNvPr id="19" name="슬라이드 번호 개체 틀 3">
            <a:hlinkClick r:id="rId2"/>
            <a:extLst>
              <a:ext uri="{FF2B5EF4-FFF2-40B4-BE49-F238E27FC236}">
                <a16:creationId xmlns:a16="http://schemas.microsoft.com/office/drawing/2014/main" id="{2D8D2430-FE6E-E75D-A93C-7DC768E4F225}"/>
              </a:ext>
            </a:extLst>
          </p:cNvPr>
          <p:cNvSpPr txBox="1">
            <a:spLocks/>
          </p:cNvSpPr>
          <p:nvPr/>
        </p:nvSpPr>
        <p:spPr>
          <a:xfrm>
            <a:off x="5151602" y="9452864"/>
            <a:ext cx="1487550"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dirty="0">
                <a:solidFill>
                  <a:prstClr val="black"/>
                </a:solidFill>
                <a:latin typeface="Arial" panose="020B0604020202020204" pitchFamily="34" charset="0"/>
                <a:cs typeface="Arial" panose="020B0604020202020204" pitchFamily="34" charset="0"/>
              </a:rPr>
              <a:t>http://www.glbltech.com/</a:t>
            </a:r>
            <a:endParaRPr lang="ko-KR" altLang="en-US" dirty="0">
              <a:solidFill>
                <a:prstClr val="black"/>
              </a:solidFill>
              <a:latin typeface="Arial" panose="020B0604020202020204" pitchFamily="34" charset="0"/>
              <a:cs typeface="Arial" panose="020B0604020202020204" pitchFamily="34" charset="0"/>
            </a:endParaRPr>
          </a:p>
        </p:txBody>
      </p:sp>
      <p:sp>
        <p:nvSpPr>
          <p:cNvPr id="20" name="object 38">
            <a:extLst>
              <a:ext uri="{FF2B5EF4-FFF2-40B4-BE49-F238E27FC236}">
                <a16:creationId xmlns:a16="http://schemas.microsoft.com/office/drawing/2014/main" id="{EF8ACB94-0071-E105-4519-7C5547C210E7}"/>
              </a:ext>
            </a:extLst>
          </p:cNvPr>
          <p:cNvSpPr txBox="1">
            <a:spLocks/>
          </p:cNvSpPr>
          <p:nvPr/>
        </p:nvSpPr>
        <p:spPr>
          <a:xfrm>
            <a:off x="3309066" y="9547988"/>
            <a:ext cx="487045" cy="139141"/>
          </a:xfrm>
          <a:prstGeom prst="rect">
            <a:avLst/>
          </a:prstGeom>
        </p:spPr>
        <p:txBody>
          <a:bodyPr vert="horz" wrap="square" lIns="0" tIns="635" rIns="0" bIns="0" rtlCol="0">
            <a:spAutoFit/>
          </a:bodyPr>
          <a:lstStyle>
            <a:defPPr>
              <a:defRPr lang="ko-KR"/>
            </a:defPPr>
            <a:lvl1pPr marL="0" algn="l" defTabSz="914400" rtl="0" eaLnBrk="1" latinLnBrk="1" hangingPunct="1">
              <a:defRPr sz="1050" b="0" i="0" kern="1200">
                <a:solidFill>
                  <a:schemeClr val="tx1"/>
                </a:solidFill>
                <a:latin typeface="Arial"/>
                <a:ea typeface="+mn-ea"/>
                <a:cs typeface="Arial"/>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marL="12700">
              <a:spcBef>
                <a:spcPts val="5"/>
              </a:spcBef>
              <a:defRPr/>
            </a:pPr>
            <a:r>
              <a:rPr lang="en-US" sz="900" dirty="0">
                <a:solidFill>
                  <a:prstClr val="black"/>
                </a:solidFill>
              </a:rPr>
              <a:t>Page</a:t>
            </a:r>
            <a:r>
              <a:rPr lang="en-US" sz="900" spc="-60" dirty="0">
                <a:solidFill>
                  <a:prstClr val="black"/>
                </a:solidFill>
              </a:rPr>
              <a:t> </a:t>
            </a:r>
            <a:fld id="{81D60167-4931-47E6-BA6A-407CBD079E47}" type="slidenum">
              <a:rPr sz="900">
                <a:solidFill>
                  <a:prstClr val="black"/>
                </a:solidFill>
              </a:rPr>
              <a:pPr marL="12700">
                <a:spcBef>
                  <a:spcPts val="5"/>
                </a:spcBef>
                <a:defRPr/>
              </a:pPr>
              <a:t>35</a:t>
            </a:fld>
            <a:endParaRPr sz="900" dirty="0">
              <a:solidFill>
                <a:prstClr val="black"/>
              </a:solidFill>
            </a:endParaRPr>
          </a:p>
        </p:txBody>
      </p:sp>
      <p:sp>
        <p:nvSpPr>
          <p:cNvPr id="21" name="슬라이드 번호 개체 틀 3">
            <a:extLst>
              <a:ext uri="{FF2B5EF4-FFF2-40B4-BE49-F238E27FC236}">
                <a16:creationId xmlns:a16="http://schemas.microsoft.com/office/drawing/2014/main" id="{8EA9C981-2C16-1963-46F6-D7B338C81030}"/>
              </a:ext>
            </a:extLst>
          </p:cNvPr>
          <p:cNvSpPr txBox="1">
            <a:spLocks/>
          </p:cNvSpPr>
          <p:nvPr/>
        </p:nvSpPr>
        <p:spPr>
          <a:xfrm>
            <a:off x="299401" y="9520856"/>
            <a:ext cx="2060991" cy="175259"/>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lang="en-US" altLang="ko-KR" dirty="0">
                <a:solidFill>
                  <a:prstClr val="black"/>
                </a:solidFill>
                <a:latin typeface="Arial" panose="020B0604020202020204" pitchFamily="34" charset="0"/>
                <a:cs typeface="Arial" panose="020B0604020202020204" pitchFamily="34" charset="0"/>
              </a:rPr>
              <a:t>Dated 30-Nov 23  Rev. 01</a:t>
            </a:r>
            <a:endParaRPr lang="ko-KR" altLang="en-US" dirty="0">
              <a:solidFill>
                <a:prstClr val="black"/>
              </a:solidFill>
              <a:latin typeface="Arial" panose="020B0604020202020204" pitchFamily="34" charset="0"/>
              <a:cs typeface="Arial" panose="020B0604020202020204" pitchFamily="34" charset="0"/>
            </a:endParaRPr>
          </a:p>
        </p:txBody>
      </p:sp>
      <p:sp>
        <p:nvSpPr>
          <p:cNvPr id="22" name="Holder 3">
            <a:extLst>
              <a:ext uri="{FF2B5EF4-FFF2-40B4-BE49-F238E27FC236}">
                <a16:creationId xmlns:a16="http://schemas.microsoft.com/office/drawing/2014/main" id="{9EF480F7-A9E1-2878-5C6F-0DAA59557BF2}"/>
              </a:ext>
            </a:extLst>
          </p:cNvPr>
          <p:cNvSpPr txBox="1">
            <a:spLocks/>
          </p:cNvSpPr>
          <p:nvPr/>
        </p:nvSpPr>
        <p:spPr>
          <a:xfrm>
            <a:off x="5147476" y="203944"/>
            <a:ext cx="1447800" cy="276999"/>
          </a:xfrm>
          <a:prstGeom prst="rect">
            <a:avLst/>
          </a:prstGeom>
        </p:spPr>
        <p:txBody>
          <a:bodyPr wrap="square" lIns="0" tIns="0" rIns="0" bIns="0">
            <a:spAutoFit/>
          </a:bodyPr>
          <a:lstStyle>
            <a:lvl1pPr marL="0">
              <a:defRPr>
                <a:solidFill>
                  <a:srgbClr val="FF99FF"/>
                </a:solidFill>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defTabSz="914400" latinLnBrk="0"/>
            <a:r>
              <a:rPr lang="en-US" sz="1800" kern="0" dirty="0"/>
              <a:t>&lt;Preliminary&gt;</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p:nvPr/>
        </p:nvSpPr>
        <p:spPr>
          <a:xfrm>
            <a:off x="400913" y="301879"/>
            <a:ext cx="622935" cy="299720"/>
          </a:xfrm>
          <a:prstGeom prst="rect">
            <a:avLst/>
          </a:prstGeom>
        </p:spPr>
        <p:txBody>
          <a:bodyPr vert="horz" wrap="square" lIns="0" tIns="12700" rIns="0" bIns="0" rtlCol="0">
            <a:spAutoFit/>
          </a:bodyPr>
          <a:lstStyle/>
          <a:p>
            <a:pPr marL="12700">
              <a:lnSpc>
                <a:spcPct val="100000"/>
              </a:lnSpc>
              <a:spcBef>
                <a:spcPts val="100"/>
              </a:spcBef>
            </a:pPr>
            <a:r>
              <a:rPr sz="1800" b="1" spc="-5" dirty="0">
                <a:latin typeface="Arial"/>
                <a:cs typeface="Arial"/>
              </a:rPr>
              <a:t>CQ24</a:t>
            </a:r>
            <a:endParaRPr sz="1800" dirty="0">
              <a:latin typeface="Arial"/>
              <a:cs typeface="Arial"/>
            </a:endParaRPr>
          </a:p>
        </p:txBody>
      </p:sp>
      <p:sp>
        <p:nvSpPr>
          <p:cNvPr id="6" name="object 6"/>
          <p:cNvSpPr txBox="1"/>
          <p:nvPr/>
        </p:nvSpPr>
        <p:spPr>
          <a:xfrm>
            <a:off x="400913" y="927354"/>
            <a:ext cx="6038542" cy="182101"/>
          </a:xfrm>
          <a:prstGeom prst="rect">
            <a:avLst/>
          </a:prstGeom>
        </p:spPr>
        <p:txBody>
          <a:bodyPr vert="horz" wrap="square" lIns="0" tIns="12700" rIns="0" bIns="0" rtlCol="0">
            <a:spAutoFit/>
          </a:bodyPr>
          <a:lstStyle/>
          <a:p>
            <a:pPr marL="12700">
              <a:lnSpc>
                <a:spcPct val="100000"/>
              </a:lnSpc>
              <a:spcBef>
                <a:spcPts val="100"/>
              </a:spcBef>
            </a:pPr>
            <a:r>
              <a:rPr sz="1100" b="1" dirty="0">
                <a:latin typeface="Arial"/>
                <a:cs typeface="Arial"/>
              </a:rPr>
              <a:t>HOLD</a:t>
            </a:r>
            <a:r>
              <a:rPr sz="1100" b="1" spc="-50" dirty="0">
                <a:latin typeface="Arial"/>
                <a:cs typeface="Arial"/>
              </a:rPr>
              <a:t> </a:t>
            </a:r>
            <a:r>
              <a:rPr sz="1100" b="1" spc="-5" dirty="0">
                <a:latin typeface="Arial"/>
                <a:cs typeface="Arial"/>
              </a:rPr>
              <a:t>SETUP</a:t>
            </a:r>
            <a:r>
              <a:rPr sz="1100" b="1" dirty="0">
                <a:latin typeface="Arial"/>
                <a:cs typeface="Arial"/>
              </a:rPr>
              <a:t> </a:t>
            </a:r>
            <a:r>
              <a:rPr sz="1100" b="1" spc="-5" dirty="0">
                <a:latin typeface="Arial"/>
                <a:cs typeface="Arial"/>
              </a:rPr>
              <a:t>TIME</a:t>
            </a:r>
            <a:endParaRPr sz="1100" dirty="0">
              <a:latin typeface="Arial"/>
              <a:cs typeface="Arial"/>
            </a:endParaRPr>
          </a:p>
        </p:txBody>
      </p:sp>
      <p:sp>
        <p:nvSpPr>
          <p:cNvPr id="7" name="object 7"/>
          <p:cNvSpPr txBox="1"/>
          <p:nvPr/>
        </p:nvSpPr>
        <p:spPr>
          <a:xfrm>
            <a:off x="400913" y="3305301"/>
            <a:ext cx="6038542" cy="182101"/>
          </a:xfrm>
          <a:prstGeom prst="rect">
            <a:avLst/>
          </a:prstGeom>
        </p:spPr>
        <p:txBody>
          <a:bodyPr vert="horz" wrap="square" lIns="0" tIns="12700" rIns="0" bIns="0" rtlCol="0">
            <a:spAutoFit/>
          </a:bodyPr>
          <a:lstStyle/>
          <a:p>
            <a:pPr marL="12700">
              <a:lnSpc>
                <a:spcPct val="100000"/>
              </a:lnSpc>
              <a:spcBef>
                <a:spcPts val="100"/>
              </a:spcBef>
            </a:pPr>
            <a:r>
              <a:rPr sz="1100" b="1" dirty="0">
                <a:latin typeface="Arial"/>
                <a:cs typeface="Arial"/>
              </a:rPr>
              <a:t>HOLD</a:t>
            </a:r>
            <a:r>
              <a:rPr sz="1100" b="1" spc="-50" dirty="0">
                <a:latin typeface="Arial"/>
                <a:cs typeface="Arial"/>
              </a:rPr>
              <a:t> </a:t>
            </a:r>
            <a:r>
              <a:rPr sz="1100" b="1" dirty="0">
                <a:latin typeface="Arial"/>
                <a:cs typeface="Arial"/>
              </a:rPr>
              <a:t>ON</a:t>
            </a:r>
            <a:r>
              <a:rPr sz="1100" b="1" spc="-45" dirty="0">
                <a:latin typeface="Arial"/>
                <a:cs typeface="Arial"/>
              </a:rPr>
              <a:t> </a:t>
            </a:r>
            <a:r>
              <a:rPr sz="1100" b="1" spc="-5" dirty="0">
                <a:latin typeface="Arial"/>
                <a:cs typeface="Arial"/>
              </a:rPr>
              <a:t>TIME</a:t>
            </a:r>
            <a:endParaRPr sz="1100" dirty="0">
              <a:latin typeface="Arial"/>
              <a:cs typeface="Arial"/>
            </a:endParaRPr>
          </a:p>
        </p:txBody>
      </p:sp>
      <p:graphicFrame>
        <p:nvGraphicFramePr>
          <p:cNvPr id="8" name="object 8"/>
          <p:cNvGraphicFramePr>
            <a:graphicFrameLocks noGrp="1"/>
          </p:cNvGraphicFramePr>
          <p:nvPr>
            <p:extLst>
              <p:ext uri="{D42A27DB-BD31-4B8C-83A1-F6EECF244321}">
                <p14:modId xmlns:p14="http://schemas.microsoft.com/office/powerpoint/2010/main" val="579844264"/>
              </p:ext>
            </p:extLst>
          </p:nvPr>
        </p:nvGraphicFramePr>
        <p:xfrm>
          <a:off x="400913" y="1230566"/>
          <a:ext cx="6038536" cy="387350"/>
        </p:xfrm>
        <a:graphic>
          <a:graphicData uri="http://schemas.openxmlformats.org/drawingml/2006/table">
            <a:tbl>
              <a:tblPr firstRow="1" bandRow="1">
                <a:tableStyleId>{2D5ABB26-0587-4C30-8999-92F81FD0307C}</a:tableStyleId>
              </a:tblPr>
              <a:tblGrid>
                <a:gridCol w="412143">
                  <a:extLst>
                    <a:ext uri="{9D8B030D-6E8A-4147-A177-3AD203B41FA5}">
                      <a16:colId xmlns:a16="http://schemas.microsoft.com/office/drawing/2014/main" val="20000"/>
                    </a:ext>
                  </a:extLst>
                </a:gridCol>
                <a:gridCol w="474307">
                  <a:extLst>
                    <a:ext uri="{9D8B030D-6E8A-4147-A177-3AD203B41FA5}">
                      <a16:colId xmlns:a16="http://schemas.microsoft.com/office/drawing/2014/main" val="20001"/>
                    </a:ext>
                  </a:extLst>
                </a:gridCol>
                <a:gridCol w="322005">
                  <a:extLst>
                    <a:ext uri="{9D8B030D-6E8A-4147-A177-3AD203B41FA5}">
                      <a16:colId xmlns:a16="http://schemas.microsoft.com/office/drawing/2014/main" val="20002"/>
                    </a:ext>
                  </a:extLst>
                </a:gridCol>
                <a:gridCol w="322006">
                  <a:extLst>
                    <a:ext uri="{9D8B030D-6E8A-4147-A177-3AD203B41FA5}">
                      <a16:colId xmlns:a16="http://schemas.microsoft.com/office/drawing/2014/main" val="20003"/>
                    </a:ext>
                  </a:extLst>
                </a:gridCol>
                <a:gridCol w="322006">
                  <a:extLst>
                    <a:ext uri="{9D8B030D-6E8A-4147-A177-3AD203B41FA5}">
                      <a16:colId xmlns:a16="http://schemas.microsoft.com/office/drawing/2014/main" val="20004"/>
                    </a:ext>
                  </a:extLst>
                </a:gridCol>
                <a:gridCol w="322006">
                  <a:extLst>
                    <a:ext uri="{9D8B030D-6E8A-4147-A177-3AD203B41FA5}">
                      <a16:colId xmlns:a16="http://schemas.microsoft.com/office/drawing/2014/main" val="20005"/>
                    </a:ext>
                  </a:extLst>
                </a:gridCol>
                <a:gridCol w="322006">
                  <a:extLst>
                    <a:ext uri="{9D8B030D-6E8A-4147-A177-3AD203B41FA5}">
                      <a16:colId xmlns:a16="http://schemas.microsoft.com/office/drawing/2014/main" val="20006"/>
                    </a:ext>
                  </a:extLst>
                </a:gridCol>
                <a:gridCol w="322006">
                  <a:extLst>
                    <a:ext uri="{9D8B030D-6E8A-4147-A177-3AD203B41FA5}">
                      <a16:colId xmlns:a16="http://schemas.microsoft.com/office/drawing/2014/main" val="20007"/>
                    </a:ext>
                  </a:extLst>
                </a:gridCol>
                <a:gridCol w="322006">
                  <a:extLst>
                    <a:ext uri="{9D8B030D-6E8A-4147-A177-3AD203B41FA5}">
                      <a16:colId xmlns:a16="http://schemas.microsoft.com/office/drawing/2014/main" val="20008"/>
                    </a:ext>
                  </a:extLst>
                </a:gridCol>
                <a:gridCol w="322005">
                  <a:extLst>
                    <a:ext uri="{9D8B030D-6E8A-4147-A177-3AD203B41FA5}">
                      <a16:colId xmlns:a16="http://schemas.microsoft.com/office/drawing/2014/main" val="20009"/>
                    </a:ext>
                  </a:extLst>
                </a:gridCol>
                <a:gridCol w="322005">
                  <a:extLst>
                    <a:ext uri="{9D8B030D-6E8A-4147-A177-3AD203B41FA5}">
                      <a16:colId xmlns:a16="http://schemas.microsoft.com/office/drawing/2014/main" val="20010"/>
                    </a:ext>
                  </a:extLst>
                </a:gridCol>
                <a:gridCol w="322005">
                  <a:extLst>
                    <a:ext uri="{9D8B030D-6E8A-4147-A177-3AD203B41FA5}">
                      <a16:colId xmlns:a16="http://schemas.microsoft.com/office/drawing/2014/main" val="20011"/>
                    </a:ext>
                  </a:extLst>
                </a:gridCol>
                <a:gridCol w="322005">
                  <a:extLst>
                    <a:ext uri="{9D8B030D-6E8A-4147-A177-3AD203B41FA5}">
                      <a16:colId xmlns:a16="http://schemas.microsoft.com/office/drawing/2014/main" val="20012"/>
                    </a:ext>
                  </a:extLst>
                </a:gridCol>
                <a:gridCol w="322005">
                  <a:extLst>
                    <a:ext uri="{9D8B030D-6E8A-4147-A177-3AD203B41FA5}">
                      <a16:colId xmlns:a16="http://schemas.microsoft.com/office/drawing/2014/main" val="20013"/>
                    </a:ext>
                  </a:extLst>
                </a:gridCol>
                <a:gridCol w="322005">
                  <a:extLst>
                    <a:ext uri="{9D8B030D-6E8A-4147-A177-3AD203B41FA5}">
                      <a16:colId xmlns:a16="http://schemas.microsoft.com/office/drawing/2014/main" val="20014"/>
                    </a:ext>
                  </a:extLst>
                </a:gridCol>
                <a:gridCol w="322005">
                  <a:extLst>
                    <a:ext uri="{9D8B030D-6E8A-4147-A177-3AD203B41FA5}">
                      <a16:colId xmlns:a16="http://schemas.microsoft.com/office/drawing/2014/main" val="20015"/>
                    </a:ext>
                  </a:extLst>
                </a:gridCol>
                <a:gridCol w="322005">
                  <a:extLst>
                    <a:ext uri="{9D8B030D-6E8A-4147-A177-3AD203B41FA5}">
                      <a16:colId xmlns:a16="http://schemas.microsoft.com/office/drawing/2014/main" val="20016"/>
                    </a:ext>
                  </a:extLst>
                </a:gridCol>
                <a:gridCol w="322005">
                  <a:extLst>
                    <a:ext uri="{9D8B030D-6E8A-4147-A177-3AD203B41FA5}">
                      <a16:colId xmlns:a16="http://schemas.microsoft.com/office/drawing/2014/main" val="20017"/>
                    </a:ext>
                  </a:extLst>
                </a:gridCol>
              </a:tblGrid>
              <a:tr h="193675">
                <a:tc>
                  <a:txBody>
                    <a:bodyPr/>
                    <a:lstStyle/>
                    <a:p>
                      <a:pPr algn="ctr">
                        <a:lnSpc>
                          <a:spcPct val="100000"/>
                        </a:lnSpc>
                        <a:spcBef>
                          <a:spcPts val="260"/>
                        </a:spcBef>
                      </a:pPr>
                      <a:r>
                        <a:rPr sz="800" dirty="0">
                          <a:latin typeface="Arial"/>
                          <a:cs typeface="Arial"/>
                        </a:rPr>
                        <a:t>A[6:0]</a:t>
                      </a:r>
                    </a:p>
                  </a:txBody>
                  <a:tcPr marL="0" marR="0" marT="3302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algn="ctr">
                        <a:lnSpc>
                          <a:spcPct val="100000"/>
                        </a:lnSpc>
                        <a:spcBef>
                          <a:spcPts val="260"/>
                        </a:spcBef>
                      </a:pPr>
                      <a:r>
                        <a:rPr sz="800" spc="-5" dirty="0">
                          <a:latin typeface="Arial"/>
                          <a:cs typeface="Arial"/>
                        </a:rPr>
                        <a:t>Default</a:t>
                      </a:r>
                      <a:endParaRPr sz="800" dirty="0">
                        <a:latin typeface="Arial"/>
                        <a:cs typeface="Arial"/>
                      </a:endParaRPr>
                    </a:p>
                  </a:txBody>
                  <a:tcPr marL="0" marR="0" marT="3302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1270" algn="ctr">
                        <a:lnSpc>
                          <a:spcPct val="100000"/>
                        </a:lnSpc>
                        <a:spcBef>
                          <a:spcPts val="260"/>
                        </a:spcBef>
                      </a:pPr>
                      <a:r>
                        <a:rPr sz="800" spc="-5" dirty="0">
                          <a:latin typeface="Arial"/>
                          <a:cs typeface="Arial"/>
                        </a:rPr>
                        <a:t>D15</a:t>
                      </a:r>
                      <a:endParaRPr sz="800" dirty="0">
                        <a:latin typeface="Arial"/>
                        <a:cs typeface="Arial"/>
                      </a:endParaRPr>
                    </a:p>
                  </a:txBody>
                  <a:tcPr marL="0" marR="0" marT="3302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1905" algn="ctr">
                        <a:lnSpc>
                          <a:spcPct val="100000"/>
                        </a:lnSpc>
                        <a:spcBef>
                          <a:spcPts val="260"/>
                        </a:spcBef>
                      </a:pPr>
                      <a:r>
                        <a:rPr sz="800" spc="-5" dirty="0">
                          <a:latin typeface="Arial"/>
                          <a:cs typeface="Arial"/>
                        </a:rPr>
                        <a:t>D14</a:t>
                      </a:r>
                      <a:endParaRPr sz="800" dirty="0">
                        <a:latin typeface="Arial"/>
                        <a:cs typeface="Arial"/>
                      </a:endParaRPr>
                    </a:p>
                  </a:txBody>
                  <a:tcPr marL="0" marR="0" marT="3302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1270" algn="ctr">
                        <a:lnSpc>
                          <a:spcPct val="100000"/>
                        </a:lnSpc>
                        <a:spcBef>
                          <a:spcPts val="260"/>
                        </a:spcBef>
                      </a:pPr>
                      <a:r>
                        <a:rPr sz="800" spc="-5" dirty="0">
                          <a:latin typeface="Arial"/>
                          <a:cs typeface="Arial"/>
                        </a:rPr>
                        <a:t>D13</a:t>
                      </a:r>
                      <a:endParaRPr sz="800" dirty="0">
                        <a:latin typeface="Arial"/>
                        <a:cs typeface="Arial"/>
                      </a:endParaRPr>
                    </a:p>
                  </a:txBody>
                  <a:tcPr marL="0" marR="0" marT="3302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1905" algn="ctr">
                        <a:lnSpc>
                          <a:spcPct val="100000"/>
                        </a:lnSpc>
                        <a:spcBef>
                          <a:spcPts val="260"/>
                        </a:spcBef>
                      </a:pPr>
                      <a:r>
                        <a:rPr sz="800" spc="-5" dirty="0">
                          <a:latin typeface="Arial"/>
                          <a:cs typeface="Arial"/>
                        </a:rPr>
                        <a:t>D12</a:t>
                      </a:r>
                      <a:endParaRPr sz="800" dirty="0">
                        <a:latin typeface="Arial"/>
                        <a:cs typeface="Arial"/>
                      </a:endParaRPr>
                    </a:p>
                  </a:txBody>
                  <a:tcPr marL="0" marR="0" marT="3302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1905" algn="ctr">
                        <a:lnSpc>
                          <a:spcPct val="100000"/>
                        </a:lnSpc>
                        <a:spcBef>
                          <a:spcPts val="260"/>
                        </a:spcBef>
                      </a:pPr>
                      <a:r>
                        <a:rPr sz="800" spc="-5" dirty="0">
                          <a:latin typeface="Arial"/>
                          <a:cs typeface="Arial"/>
                        </a:rPr>
                        <a:t>D11</a:t>
                      </a:r>
                      <a:endParaRPr sz="800" dirty="0">
                        <a:latin typeface="Arial"/>
                        <a:cs typeface="Arial"/>
                      </a:endParaRPr>
                    </a:p>
                  </a:txBody>
                  <a:tcPr marL="0" marR="0" marT="3302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1905" algn="ctr">
                        <a:lnSpc>
                          <a:spcPct val="100000"/>
                        </a:lnSpc>
                        <a:spcBef>
                          <a:spcPts val="260"/>
                        </a:spcBef>
                      </a:pPr>
                      <a:r>
                        <a:rPr sz="800" spc="-5" dirty="0">
                          <a:latin typeface="Arial"/>
                          <a:cs typeface="Arial"/>
                        </a:rPr>
                        <a:t>D10</a:t>
                      </a:r>
                      <a:endParaRPr sz="800" dirty="0">
                        <a:latin typeface="Arial"/>
                        <a:cs typeface="Arial"/>
                      </a:endParaRPr>
                    </a:p>
                  </a:txBody>
                  <a:tcPr marL="0" marR="0" marT="3302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99060">
                        <a:lnSpc>
                          <a:spcPct val="100000"/>
                        </a:lnSpc>
                        <a:spcBef>
                          <a:spcPts val="260"/>
                        </a:spcBef>
                      </a:pPr>
                      <a:r>
                        <a:rPr sz="800" spc="-5" dirty="0">
                          <a:latin typeface="Arial"/>
                          <a:cs typeface="Arial"/>
                        </a:rPr>
                        <a:t>D9</a:t>
                      </a:r>
                      <a:endParaRPr sz="800" dirty="0">
                        <a:latin typeface="Arial"/>
                        <a:cs typeface="Arial"/>
                      </a:endParaRPr>
                    </a:p>
                  </a:txBody>
                  <a:tcPr marL="0" marR="0" marT="3302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99695">
                        <a:lnSpc>
                          <a:spcPct val="100000"/>
                        </a:lnSpc>
                        <a:spcBef>
                          <a:spcPts val="260"/>
                        </a:spcBef>
                      </a:pPr>
                      <a:r>
                        <a:rPr sz="800" spc="-5" dirty="0">
                          <a:latin typeface="Arial"/>
                          <a:cs typeface="Arial"/>
                        </a:rPr>
                        <a:t>D8</a:t>
                      </a:r>
                      <a:endParaRPr sz="800" dirty="0">
                        <a:latin typeface="Arial"/>
                        <a:cs typeface="Arial"/>
                      </a:endParaRPr>
                    </a:p>
                  </a:txBody>
                  <a:tcPr marL="0" marR="0" marT="3302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99695">
                        <a:lnSpc>
                          <a:spcPct val="100000"/>
                        </a:lnSpc>
                        <a:spcBef>
                          <a:spcPts val="260"/>
                        </a:spcBef>
                      </a:pPr>
                      <a:r>
                        <a:rPr sz="800" spc="-5" dirty="0">
                          <a:latin typeface="Arial"/>
                          <a:cs typeface="Arial"/>
                        </a:rPr>
                        <a:t>D7</a:t>
                      </a:r>
                      <a:endParaRPr sz="800" dirty="0">
                        <a:latin typeface="Arial"/>
                        <a:cs typeface="Arial"/>
                      </a:endParaRPr>
                    </a:p>
                  </a:txBody>
                  <a:tcPr marL="0" marR="0" marT="3302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99695">
                        <a:lnSpc>
                          <a:spcPct val="100000"/>
                        </a:lnSpc>
                        <a:spcBef>
                          <a:spcPts val="260"/>
                        </a:spcBef>
                      </a:pPr>
                      <a:r>
                        <a:rPr sz="800" spc="-5" dirty="0">
                          <a:latin typeface="Arial"/>
                          <a:cs typeface="Arial"/>
                        </a:rPr>
                        <a:t>D6</a:t>
                      </a:r>
                      <a:endParaRPr sz="800" dirty="0">
                        <a:latin typeface="Arial"/>
                        <a:cs typeface="Arial"/>
                      </a:endParaRPr>
                    </a:p>
                  </a:txBody>
                  <a:tcPr marL="0" marR="0" marT="3302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99695">
                        <a:lnSpc>
                          <a:spcPct val="100000"/>
                        </a:lnSpc>
                        <a:spcBef>
                          <a:spcPts val="260"/>
                        </a:spcBef>
                      </a:pPr>
                      <a:r>
                        <a:rPr sz="800" spc="-5" dirty="0">
                          <a:latin typeface="Arial"/>
                          <a:cs typeface="Arial"/>
                        </a:rPr>
                        <a:t>D5</a:t>
                      </a:r>
                      <a:endParaRPr sz="800" dirty="0">
                        <a:latin typeface="Arial"/>
                        <a:cs typeface="Arial"/>
                      </a:endParaRPr>
                    </a:p>
                  </a:txBody>
                  <a:tcPr marL="0" marR="0" marT="3302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99695">
                        <a:lnSpc>
                          <a:spcPct val="100000"/>
                        </a:lnSpc>
                        <a:spcBef>
                          <a:spcPts val="260"/>
                        </a:spcBef>
                      </a:pPr>
                      <a:r>
                        <a:rPr sz="800" spc="-5" dirty="0">
                          <a:latin typeface="Arial"/>
                          <a:cs typeface="Arial"/>
                        </a:rPr>
                        <a:t>D4</a:t>
                      </a:r>
                      <a:endParaRPr sz="800" dirty="0">
                        <a:latin typeface="Arial"/>
                        <a:cs typeface="Arial"/>
                      </a:endParaRPr>
                    </a:p>
                  </a:txBody>
                  <a:tcPr marL="0" marR="0" marT="3302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99695">
                        <a:lnSpc>
                          <a:spcPct val="100000"/>
                        </a:lnSpc>
                        <a:spcBef>
                          <a:spcPts val="260"/>
                        </a:spcBef>
                      </a:pPr>
                      <a:r>
                        <a:rPr sz="800" spc="-5" dirty="0">
                          <a:latin typeface="Arial"/>
                          <a:cs typeface="Arial"/>
                        </a:rPr>
                        <a:t>D3</a:t>
                      </a:r>
                      <a:endParaRPr sz="800" dirty="0">
                        <a:latin typeface="Arial"/>
                        <a:cs typeface="Arial"/>
                      </a:endParaRPr>
                    </a:p>
                  </a:txBody>
                  <a:tcPr marL="0" marR="0" marT="3302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99695">
                        <a:lnSpc>
                          <a:spcPct val="100000"/>
                        </a:lnSpc>
                        <a:spcBef>
                          <a:spcPts val="260"/>
                        </a:spcBef>
                      </a:pPr>
                      <a:r>
                        <a:rPr sz="800" spc="-5" dirty="0">
                          <a:latin typeface="Arial"/>
                          <a:cs typeface="Arial"/>
                        </a:rPr>
                        <a:t>D2</a:t>
                      </a:r>
                      <a:endParaRPr sz="800" dirty="0">
                        <a:latin typeface="Arial"/>
                        <a:cs typeface="Arial"/>
                      </a:endParaRPr>
                    </a:p>
                  </a:txBody>
                  <a:tcPr marL="0" marR="0" marT="3302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100330">
                        <a:lnSpc>
                          <a:spcPct val="100000"/>
                        </a:lnSpc>
                        <a:spcBef>
                          <a:spcPts val="260"/>
                        </a:spcBef>
                      </a:pPr>
                      <a:r>
                        <a:rPr sz="800" spc="-5" dirty="0">
                          <a:latin typeface="Arial"/>
                          <a:cs typeface="Arial"/>
                        </a:rPr>
                        <a:t>D1</a:t>
                      </a:r>
                      <a:endParaRPr sz="800" dirty="0">
                        <a:latin typeface="Arial"/>
                        <a:cs typeface="Arial"/>
                      </a:endParaRPr>
                    </a:p>
                  </a:txBody>
                  <a:tcPr marL="0" marR="0" marT="3302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100330">
                        <a:lnSpc>
                          <a:spcPct val="100000"/>
                        </a:lnSpc>
                        <a:spcBef>
                          <a:spcPts val="260"/>
                        </a:spcBef>
                      </a:pPr>
                      <a:r>
                        <a:rPr sz="800" spc="-5" dirty="0">
                          <a:latin typeface="Arial"/>
                          <a:cs typeface="Arial"/>
                        </a:rPr>
                        <a:t>D0</a:t>
                      </a:r>
                      <a:endParaRPr sz="800" dirty="0">
                        <a:latin typeface="Arial"/>
                        <a:cs typeface="Arial"/>
                      </a:endParaRPr>
                    </a:p>
                  </a:txBody>
                  <a:tcPr marL="0" marR="0" marT="3302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extLst>
                  <a:ext uri="{0D108BD9-81ED-4DB2-BD59-A6C34878D82A}">
                    <a16:rowId xmlns:a16="http://schemas.microsoft.com/office/drawing/2014/main" val="10000"/>
                  </a:ext>
                </a:extLst>
              </a:tr>
              <a:tr h="193675">
                <a:tc>
                  <a:txBody>
                    <a:bodyPr/>
                    <a:lstStyle/>
                    <a:p>
                      <a:pPr algn="ctr">
                        <a:lnSpc>
                          <a:spcPct val="100000"/>
                        </a:lnSpc>
                        <a:spcBef>
                          <a:spcPts val="265"/>
                        </a:spcBef>
                      </a:pPr>
                      <a:r>
                        <a:rPr sz="800" spc="-5" dirty="0">
                          <a:latin typeface="Arial"/>
                          <a:cs typeface="Arial"/>
                        </a:rPr>
                        <a:t>‘h0B</a:t>
                      </a:r>
                      <a:endParaRPr sz="8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algn="ctr">
                        <a:lnSpc>
                          <a:spcPct val="100000"/>
                        </a:lnSpc>
                        <a:spcBef>
                          <a:spcPts val="265"/>
                        </a:spcBef>
                      </a:pPr>
                      <a:r>
                        <a:rPr sz="800" dirty="0">
                          <a:latin typeface="Arial"/>
                          <a:cs typeface="Arial"/>
                        </a:rPr>
                        <a:t>0</a:t>
                      </a: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2540" algn="ctr">
                        <a:lnSpc>
                          <a:spcPct val="100000"/>
                        </a:lnSpc>
                        <a:spcBef>
                          <a:spcPts val="305"/>
                        </a:spcBef>
                      </a:pPr>
                      <a:r>
                        <a:rPr sz="700" dirty="0">
                          <a:latin typeface="Arial"/>
                          <a:cs typeface="Arial"/>
                        </a:rPr>
                        <a:t>x</a:t>
                      </a:r>
                    </a:p>
                  </a:txBody>
                  <a:tcPr marL="0" marR="0" marT="3873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3175" algn="ctr">
                        <a:lnSpc>
                          <a:spcPct val="100000"/>
                        </a:lnSpc>
                        <a:spcBef>
                          <a:spcPts val="330"/>
                        </a:spcBef>
                      </a:pPr>
                      <a:r>
                        <a:rPr sz="700" dirty="0">
                          <a:latin typeface="Arial"/>
                          <a:cs typeface="Arial"/>
                        </a:rPr>
                        <a:t>x</a:t>
                      </a:r>
                    </a:p>
                  </a:txBody>
                  <a:tcPr marL="0" marR="0" marT="4191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2540" algn="ctr">
                        <a:lnSpc>
                          <a:spcPct val="100000"/>
                        </a:lnSpc>
                        <a:spcBef>
                          <a:spcPts val="305"/>
                        </a:spcBef>
                      </a:pPr>
                      <a:r>
                        <a:rPr sz="700" dirty="0">
                          <a:latin typeface="Arial"/>
                          <a:cs typeface="Arial"/>
                        </a:rPr>
                        <a:t>x</a:t>
                      </a:r>
                    </a:p>
                  </a:txBody>
                  <a:tcPr marL="0" marR="0" marT="3873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3175" algn="ctr">
                        <a:lnSpc>
                          <a:spcPct val="100000"/>
                        </a:lnSpc>
                        <a:spcBef>
                          <a:spcPts val="330"/>
                        </a:spcBef>
                      </a:pPr>
                      <a:r>
                        <a:rPr sz="700" dirty="0">
                          <a:latin typeface="Arial"/>
                          <a:cs typeface="Arial"/>
                        </a:rPr>
                        <a:t>x</a:t>
                      </a:r>
                    </a:p>
                  </a:txBody>
                  <a:tcPr marL="0" marR="0" marT="4191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3175" algn="ctr">
                        <a:lnSpc>
                          <a:spcPct val="100000"/>
                        </a:lnSpc>
                        <a:spcBef>
                          <a:spcPts val="305"/>
                        </a:spcBef>
                      </a:pPr>
                      <a:r>
                        <a:rPr sz="700" dirty="0">
                          <a:latin typeface="Arial"/>
                          <a:cs typeface="Arial"/>
                        </a:rPr>
                        <a:t>x</a:t>
                      </a:r>
                    </a:p>
                  </a:txBody>
                  <a:tcPr marL="0" marR="0" marT="3873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3175" algn="ctr">
                        <a:lnSpc>
                          <a:spcPct val="100000"/>
                        </a:lnSpc>
                        <a:spcBef>
                          <a:spcPts val="330"/>
                        </a:spcBef>
                      </a:pPr>
                      <a:r>
                        <a:rPr sz="700" dirty="0">
                          <a:latin typeface="Arial"/>
                          <a:cs typeface="Arial"/>
                        </a:rPr>
                        <a:t>x</a:t>
                      </a:r>
                    </a:p>
                  </a:txBody>
                  <a:tcPr marL="0" marR="0" marT="4191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gridSpan="10">
                  <a:txBody>
                    <a:bodyPr/>
                    <a:lstStyle/>
                    <a:p>
                      <a:pPr marL="1905" algn="ctr">
                        <a:lnSpc>
                          <a:spcPct val="100000"/>
                        </a:lnSpc>
                        <a:spcBef>
                          <a:spcPts val="305"/>
                        </a:spcBef>
                      </a:pPr>
                      <a:r>
                        <a:rPr sz="700" spc="-5" dirty="0">
                          <a:latin typeface="Arial"/>
                          <a:cs typeface="Arial"/>
                        </a:rPr>
                        <a:t>HOLD_SU</a:t>
                      </a:r>
                      <a:r>
                        <a:rPr sz="700" spc="-30" dirty="0">
                          <a:latin typeface="Arial"/>
                          <a:cs typeface="Arial"/>
                        </a:rPr>
                        <a:t> </a:t>
                      </a:r>
                      <a:r>
                        <a:rPr sz="700" spc="-5" dirty="0">
                          <a:latin typeface="Arial"/>
                          <a:cs typeface="Arial"/>
                        </a:rPr>
                        <a:t>[9:0]</a:t>
                      </a:r>
                      <a:endParaRPr sz="700" dirty="0">
                        <a:latin typeface="Arial"/>
                        <a:cs typeface="Arial"/>
                      </a:endParaRPr>
                    </a:p>
                  </a:txBody>
                  <a:tcPr marL="0" marR="0" marT="3873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1"/>
                  </a:ext>
                </a:extLst>
              </a:tr>
            </a:tbl>
          </a:graphicData>
        </a:graphic>
      </p:graphicFrame>
      <p:graphicFrame>
        <p:nvGraphicFramePr>
          <p:cNvPr id="10" name="object 10"/>
          <p:cNvGraphicFramePr>
            <a:graphicFrameLocks noGrp="1"/>
          </p:cNvGraphicFramePr>
          <p:nvPr>
            <p:extLst>
              <p:ext uri="{D42A27DB-BD31-4B8C-83A1-F6EECF244321}">
                <p14:modId xmlns:p14="http://schemas.microsoft.com/office/powerpoint/2010/main" val="3424192138"/>
              </p:ext>
            </p:extLst>
          </p:nvPr>
        </p:nvGraphicFramePr>
        <p:xfrm>
          <a:off x="400912" y="3621214"/>
          <a:ext cx="6038536" cy="387350"/>
        </p:xfrm>
        <a:graphic>
          <a:graphicData uri="http://schemas.openxmlformats.org/drawingml/2006/table">
            <a:tbl>
              <a:tblPr firstRow="1" bandRow="1">
                <a:tableStyleId>{2D5ABB26-0587-4C30-8999-92F81FD0307C}</a:tableStyleId>
              </a:tblPr>
              <a:tblGrid>
                <a:gridCol w="412143">
                  <a:extLst>
                    <a:ext uri="{9D8B030D-6E8A-4147-A177-3AD203B41FA5}">
                      <a16:colId xmlns:a16="http://schemas.microsoft.com/office/drawing/2014/main" val="20000"/>
                    </a:ext>
                  </a:extLst>
                </a:gridCol>
                <a:gridCol w="474307">
                  <a:extLst>
                    <a:ext uri="{9D8B030D-6E8A-4147-A177-3AD203B41FA5}">
                      <a16:colId xmlns:a16="http://schemas.microsoft.com/office/drawing/2014/main" val="20001"/>
                    </a:ext>
                  </a:extLst>
                </a:gridCol>
                <a:gridCol w="322005">
                  <a:extLst>
                    <a:ext uri="{9D8B030D-6E8A-4147-A177-3AD203B41FA5}">
                      <a16:colId xmlns:a16="http://schemas.microsoft.com/office/drawing/2014/main" val="20002"/>
                    </a:ext>
                  </a:extLst>
                </a:gridCol>
                <a:gridCol w="322006">
                  <a:extLst>
                    <a:ext uri="{9D8B030D-6E8A-4147-A177-3AD203B41FA5}">
                      <a16:colId xmlns:a16="http://schemas.microsoft.com/office/drawing/2014/main" val="20003"/>
                    </a:ext>
                  </a:extLst>
                </a:gridCol>
                <a:gridCol w="322006">
                  <a:extLst>
                    <a:ext uri="{9D8B030D-6E8A-4147-A177-3AD203B41FA5}">
                      <a16:colId xmlns:a16="http://schemas.microsoft.com/office/drawing/2014/main" val="20004"/>
                    </a:ext>
                  </a:extLst>
                </a:gridCol>
                <a:gridCol w="322006">
                  <a:extLst>
                    <a:ext uri="{9D8B030D-6E8A-4147-A177-3AD203B41FA5}">
                      <a16:colId xmlns:a16="http://schemas.microsoft.com/office/drawing/2014/main" val="20005"/>
                    </a:ext>
                  </a:extLst>
                </a:gridCol>
                <a:gridCol w="322006">
                  <a:extLst>
                    <a:ext uri="{9D8B030D-6E8A-4147-A177-3AD203B41FA5}">
                      <a16:colId xmlns:a16="http://schemas.microsoft.com/office/drawing/2014/main" val="20006"/>
                    </a:ext>
                  </a:extLst>
                </a:gridCol>
                <a:gridCol w="322006">
                  <a:extLst>
                    <a:ext uri="{9D8B030D-6E8A-4147-A177-3AD203B41FA5}">
                      <a16:colId xmlns:a16="http://schemas.microsoft.com/office/drawing/2014/main" val="20007"/>
                    </a:ext>
                  </a:extLst>
                </a:gridCol>
                <a:gridCol w="322006">
                  <a:extLst>
                    <a:ext uri="{9D8B030D-6E8A-4147-A177-3AD203B41FA5}">
                      <a16:colId xmlns:a16="http://schemas.microsoft.com/office/drawing/2014/main" val="20008"/>
                    </a:ext>
                  </a:extLst>
                </a:gridCol>
                <a:gridCol w="322005">
                  <a:extLst>
                    <a:ext uri="{9D8B030D-6E8A-4147-A177-3AD203B41FA5}">
                      <a16:colId xmlns:a16="http://schemas.microsoft.com/office/drawing/2014/main" val="20009"/>
                    </a:ext>
                  </a:extLst>
                </a:gridCol>
                <a:gridCol w="322005">
                  <a:extLst>
                    <a:ext uri="{9D8B030D-6E8A-4147-A177-3AD203B41FA5}">
                      <a16:colId xmlns:a16="http://schemas.microsoft.com/office/drawing/2014/main" val="20010"/>
                    </a:ext>
                  </a:extLst>
                </a:gridCol>
                <a:gridCol w="322005">
                  <a:extLst>
                    <a:ext uri="{9D8B030D-6E8A-4147-A177-3AD203B41FA5}">
                      <a16:colId xmlns:a16="http://schemas.microsoft.com/office/drawing/2014/main" val="20011"/>
                    </a:ext>
                  </a:extLst>
                </a:gridCol>
                <a:gridCol w="322005">
                  <a:extLst>
                    <a:ext uri="{9D8B030D-6E8A-4147-A177-3AD203B41FA5}">
                      <a16:colId xmlns:a16="http://schemas.microsoft.com/office/drawing/2014/main" val="20012"/>
                    </a:ext>
                  </a:extLst>
                </a:gridCol>
                <a:gridCol w="322005">
                  <a:extLst>
                    <a:ext uri="{9D8B030D-6E8A-4147-A177-3AD203B41FA5}">
                      <a16:colId xmlns:a16="http://schemas.microsoft.com/office/drawing/2014/main" val="20013"/>
                    </a:ext>
                  </a:extLst>
                </a:gridCol>
                <a:gridCol w="322005">
                  <a:extLst>
                    <a:ext uri="{9D8B030D-6E8A-4147-A177-3AD203B41FA5}">
                      <a16:colId xmlns:a16="http://schemas.microsoft.com/office/drawing/2014/main" val="20014"/>
                    </a:ext>
                  </a:extLst>
                </a:gridCol>
                <a:gridCol w="322005">
                  <a:extLst>
                    <a:ext uri="{9D8B030D-6E8A-4147-A177-3AD203B41FA5}">
                      <a16:colId xmlns:a16="http://schemas.microsoft.com/office/drawing/2014/main" val="20015"/>
                    </a:ext>
                  </a:extLst>
                </a:gridCol>
                <a:gridCol w="322005">
                  <a:extLst>
                    <a:ext uri="{9D8B030D-6E8A-4147-A177-3AD203B41FA5}">
                      <a16:colId xmlns:a16="http://schemas.microsoft.com/office/drawing/2014/main" val="20016"/>
                    </a:ext>
                  </a:extLst>
                </a:gridCol>
                <a:gridCol w="322005">
                  <a:extLst>
                    <a:ext uri="{9D8B030D-6E8A-4147-A177-3AD203B41FA5}">
                      <a16:colId xmlns:a16="http://schemas.microsoft.com/office/drawing/2014/main" val="20017"/>
                    </a:ext>
                  </a:extLst>
                </a:gridCol>
              </a:tblGrid>
              <a:tr h="193675">
                <a:tc>
                  <a:txBody>
                    <a:bodyPr/>
                    <a:lstStyle/>
                    <a:p>
                      <a:pPr algn="ctr">
                        <a:lnSpc>
                          <a:spcPct val="100000"/>
                        </a:lnSpc>
                        <a:spcBef>
                          <a:spcPts val="265"/>
                        </a:spcBef>
                      </a:pPr>
                      <a:r>
                        <a:rPr sz="800" dirty="0">
                          <a:latin typeface="Arial"/>
                          <a:cs typeface="Arial"/>
                        </a:rPr>
                        <a:t>A[6:0]</a:t>
                      </a: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algn="ctr">
                        <a:lnSpc>
                          <a:spcPct val="100000"/>
                        </a:lnSpc>
                        <a:spcBef>
                          <a:spcPts val="265"/>
                        </a:spcBef>
                      </a:pPr>
                      <a:r>
                        <a:rPr sz="800" spc="-5" dirty="0">
                          <a:latin typeface="Arial"/>
                          <a:cs typeface="Arial"/>
                        </a:rPr>
                        <a:t>Default</a:t>
                      </a:r>
                      <a:endParaRPr sz="8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1270" algn="ctr">
                        <a:lnSpc>
                          <a:spcPct val="100000"/>
                        </a:lnSpc>
                        <a:spcBef>
                          <a:spcPts val="265"/>
                        </a:spcBef>
                      </a:pPr>
                      <a:r>
                        <a:rPr sz="800" spc="-5" dirty="0">
                          <a:latin typeface="Arial"/>
                          <a:cs typeface="Arial"/>
                        </a:rPr>
                        <a:t>D15</a:t>
                      </a:r>
                      <a:endParaRPr sz="8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1905" algn="ctr">
                        <a:lnSpc>
                          <a:spcPct val="100000"/>
                        </a:lnSpc>
                        <a:spcBef>
                          <a:spcPts val="265"/>
                        </a:spcBef>
                      </a:pPr>
                      <a:r>
                        <a:rPr sz="800" spc="-5" dirty="0">
                          <a:latin typeface="Arial"/>
                          <a:cs typeface="Arial"/>
                        </a:rPr>
                        <a:t>D14</a:t>
                      </a:r>
                      <a:endParaRPr sz="8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1270" algn="ctr">
                        <a:lnSpc>
                          <a:spcPct val="100000"/>
                        </a:lnSpc>
                        <a:spcBef>
                          <a:spcPts val="265"/>
                        </a:spcBef>
                      </a:pPr>
                      <a:r>
                        <a:rPr sz="800" spc="-5" dirty="0">
                          <a:latin typeface="Arial"/>
                          <a:cs typeface="Arial"/>
                        </a:rPr>
                        <a:t>D13</a:t>
                      </a:r>
                      <a:endParaRPr sz="8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1905" algn="ctr">
                        <a:lnSpc>
                          <a:spcPct val="100000"/>
                        </a:lnSpc>
                        <a:spcBef>
                          <a:spcPts val="265"/>
                        </a:spcBef>
                      </a:pPr>
                      <a:r>
                        <a:rPr sz="800" spc="-5" dirty="0">
                          <a:latin typeface="Arial"/>
                          <a:cs typeface="Arial"/>
                        </a:rPr>
                        <a:t>D12</a:t>
                      </a:r>
                      <a:endParaRPr sz="8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1905" algn="ctr">
                        <a:lnSpc>
                          <a:spcPct val="100000"/>
                        </a:lnSpc>
                        <a:spcBef>
                          <a:spcPts val="265"/>
                        </a:spcBef>
                      </a:pPr>
                      <a:r>
                        <a:rPr sz="800" spc="-5" dirty="0">
                          <a:latin typeface="Arial"/>
                          <a:cs typeface="Arial"/>
                        </a:rPr>
                        <a:t>D11</a:t>
                      </a:r>
                      <a:endParaRPr sz="8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1905" algn="ctr">
                        <a:lnSpc>
                          <a:spcPct val="100000"/>
                        </a:lnSpc>
                        <a:spcBef>
                          <a:spcPts val="265"/>
                        </a:spcBef>
                      </a:pPr>
                      <a:r>
                        <a:rPr sz="800" spc="-5" dirty="0">
                          <a:latin typeface="Arial"/>
                          <a:cs typeface="Arial"/>
                        </a:rPr>
                        <a:t>D10</a:t>
                      </a:r>
                      <a:endParaRPr sz="8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algn="ctr">
                        <a:lnSpc>
                          <a:spcPct val="100000"/>
                        </a:lnSpc>
                        <a:spcBef>
                          <a:spcPts val="265"/>
                        </a:spcBef>
                      </a:pPr>
                      <a:r>
                        <a:rPr sz="800" spc="-5" dirty="0">
                          <a:latin typeface="Arial"/>
                          <a:cs typeface="Arial"/>
                        </a:rPr>
                        <a:t>D9</a:t>
                      </a:r>
                      <a:endParaRPr sz="8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99695">
                        <a:lnSpc>
                          <a:spcPct val="100000"/>
                        </a:lnSpc>
                        <a:spcBef>
                          <a:spcPts val="265"/>
                        </a:spcBef>
                      </a:pPr>
                      <a:r>
                        <a:rPr sz="800" spc="-5" dirty="0">
                          <a:latin typeface="Arial"/>
                          <a:cs typeface="Arial"/>
                        </a:rPr>
                        <a:t>D8</a:t>
                      </a:r>
                      <a:endParaRPr sz="8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99695">
                        <a:lnSpc>
                          <a:spcPct val="100000"/>
                        </a:lnSpc>
                        <a:spcBef>
                          <a:spcPts val="265"/>
                        </a:spcBef>
                      </a:pPr>
                      <a:r>
                        <a:rPr sz="800" spc="-5" dirty="0">
                          <a:latin typeface="Arial"/>
                          <a:cs typeface="Arial"/>
                        </a:rPr>
                        <a:t>D7</a:t>
                      </a:r>
                      <a:endParaRPr sz="8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99695">
                        <a:lnSpc>
                          <a:spcPct val="100000"/>
                        </a:lnSpc>
                        <a:spcBef>
                          <a:spcPts val="265"/>
                        </a:spcBef>
                      </a:pPr>
                      <a:r>
                        <a:rPr sz="800" spc="-5" dirty="0">
                          <a:latin typeface="Arial"/>
                          <a:cs typeface="Arial"/>
                        </a:rPr>
                        <a:t>D6</a:t>
                      </a:r>
                      <a:endParaRPr sz="8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99695">
                        <a:lnSpc>
                          <a:spcPct val="100000"/>
                        </a:lnSpc>
                        <a:spcBef>
                          <a:spcPts val="265"/>
                        </a:spcBef>
                      </a:pPr>
                      <a:r>
                        <a:rPr sz="800" spc="-5" dirty="0">
                          <a:latin typeface="Arial"/>
                          <a:cs typeface="Arial"/>
                        </a:rPr>
                        <a:t>D5</a:t>
                      </a:r>
                      <a:endParaRPr sz="8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99695">
                        <a:lnSpc>
                          <a:spcPct val="100000"/>
                        </a:lnSpc>
                        <a:spcBef>
                          <a:spcPts val="265"/>
                        </a:spcBef>
                      </a:pPr>
                      <a:r>
                        <a:rPr sz="800" spc="-5" dirty="0">
                          <a:latin typeface="Arial"/>
                          <a:cs typeface="Arial"/>
                        </a:rPr>
                        <a:t>D4</a:t>
                      </a:r>
                      <a:endParaRPr sz="8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99695">
                        <a:lnSpc>
                          <a:spcPct val="100000"/>
                        </a:lnSpc>
                        <a:spcBef>
                          <a:spcPts val="265"/>
                        </a:spcBef>
                      </a:pPr>
                      <a:r>
                        <a:rPr sz="800" spc="-5" dirty="0">
                          <a:latin typeface="Arial"/>
                          <a:cs typeface="Arial"/>
                        </a:rPr>
                        <a:t>D3</a:t>
                      </a:r>
                      <a:endParaRPr sz="8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99695">
                        <a:lnSpc>
                          <a:spcPct val="100000"/>
                        </a:lnSpc>
                        <a:spcBef>
                          <a:spcPts val="265"/>
                        </a:spcBef>
                      </a:pPr>
                      <a:r>
                        <a:rPr sz="800" spc="-5" dirty="0">
                          <a:latin typeface="Arial"/>
                          <a:cs typeface="Arial"/>
                        </a:rPr>
                        <a:t>D2</a:t>
                      </a:r>
                      <a:endParaRPr sz="8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100330">
                        <a:lnSpc>
                          <a:spcPct val="100000"/>
                        </a:lnSpc>
                        <a:spcBef>
                          <a:spcPts val="265"/>
                        </a:spcBef>
                      </a:pPr>
                      <a:r>
                        <a:rPr sz="800" spc="-5" dirty="0">
                          <a:latin typeface="Arial"/>
                          <a:cs typeface="Arial"/>
                        </a:rPr>
                        <a:t>D1</a:t>
                      </a:r>
                      <a:endParaRPr sz="8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100330">
                        <a:lnSpc>
                          <a:spcPct val="100000"/>
                        </a:lnSpc>
                        <a:spcBef>
                          <a:spcPts val="265"/>
                        </a:spcBef>
                      </a:pPr>
                      <a:r>
                        <a:rPr sz="800" spc="-5" dirty="0">
                          <a:latin typeface="Arial"/>
                          <a:cs typeface="Arial"/>
                        </a:rPr>
                        <a:t>D0</a:t>
                      </a:r>
                      <a:endParaRPr sz="8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extLst>
                  <a:ext uri="{0D108BD9-81ED-4DB2-BD59-A6C34878D82A}">
                    <a16:rowId xmlns:a16="http://schemas.microsoft.com/office/drawing/2014/main" val="10000"/>
                  </a:ext>
                </a:extLst>
              </a:tr>
              <a:tr h="193675">
                <a:tc>
                  <a:txBody>
                    <a:bodyPr/>
                    <a:lstStyle/>
                    <a:p>
                      <a:pPr algn="ctr">
                        <a:lnSpc>
                          <a:spcPct val="100000"/>
                        </a:lnSpc>
                        <a:spcBef>
                          <a:spcPts val="265"/>
                        </a:spcBef>
                      </a:pPr>
                      <a:r>
                        <a:rPr sz="800" spc="-5" dirty="0">
                          <a:latin typeface="Arial"/>
                          <a:cs typeface="Arial"/>
                        </a:rPr>
                        <a:t>‘h0C</a:t>
                      </a:r>
                      <a:endParaRPr sz="8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algn="ctr">
                        <a:lnSpc>
                          <a:spcPct val="100000"/>
                        </a:lnSpc>
                        <a:spcBef>
                          <a:spcPts val="265"/>
                        </a:spcBef>
                      </a:pPr>
                      <a:r>
                        <a:rPr sz="800" dirty="0">
                          <a:latin typeface="Arial"/>
                          <a:cs typeface="Arial"/>
                        </a:rPr>
                        <a:t>0</a:t>
                      </a: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2540" algn="ctr">
                        <a:lnSpc>
                          <a:spcPct val="100000"/>
                        </a:lnSpc>
                        <a:spcBef>
                          <a:spcPts val="305"/>
                        </a:spcBef>
                      </a:pPr>
                      <a:r>
                        <a:rPr sz="700" dirty="0">
                          <a:latin typeface="Arial"/>
                          <a:cs typeface="Arial"/>
                        </a:rPr>
                        <a:t>x</a:t>
                      </a:r>
                    </a:p>
                  </a:txBody>
                  <a:tcPr marL="0" marR="0" marT="3873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3175" algn="ctr">
                        <a:lnSpc>
                          <a:spcPct val="100000"/>
                        </a:lnSpc>
                        <a:spcBef>
                          <a:spcPts val="330"/>
                        </a:spcBef>
                      </a:pPr>
                      <a:r>
                        <a:rPr sz="700" dirty="0">
                          <a:latin typeface="Arial"/>
                          <a:cs typeface="Arial"/>
                        </a:rPr>
                        <a:t>x</a:t>
                      </a:r>
                    </a:p>
                  </a:txBody>
                  <a:tcPr marL="0" marR="0" marT="4191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2540" algn="ctr">
                        <a:lnSpc>
                          <a:spcPct val="100000"/>
                        </a:lnSpc>
                        <a:spcBef>
                          <a:spcPts val="305"/>
                        </a:spcBef>
                      </a:pPr>
                      <a:r>
                        <a:rPr sz="700" dirty="0">
                          <a:latin typeface="Arial"/>
                          <a:cs typeface="Arial"/>
                        </a:rPr>
                        <a:t>x</a:t>
                      </a:r>
                    </a:p>
                  </a:txBody>
                  <a:tcPr marL="0" marR="0" marT="3873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3175" algn="ctr">
                        <a:lnSpc>
                          <a:spcPct val="100000"/>
                        </a:lnSpc>
                        <a:spcBef>
                          <a:spcPts val="330"/>
                        </a:spcBef>
                      </a:pPr>
                      <a:r>
                        <a:rPr sz="700" dirty="0">
                          <a:latin typeface="Arial"/>
                          <a:cs typeface="Arial"/>
                        </a:rPr>
                        <a:t>x</a:t>
                      </a:r>
                    </a:p>
                  </a:txBody>
                  <a:tcPr marL="0" marR="0" marT="4191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3175" algn="ctr">
                        <a:lnSpc>
                          <a:spcPct val="100000"/>
                        </a:lnSpc>
                        <a:spcBef>
                          <a:spcPts val="305"/>
                        </a:spcBef>
                      </a:pPr>
                      <a:r>
                        <a:rPr sz="700" dirty="0">
                          <a:latin typeface="Arial"/>
                          <a:cs typeface="Arial"/>
                        </a:rPr>
                        <a:t>x</a:t>
                      </a:r>
                    </a:p>
                  </a:txBody>
                  <a:tcPr marL="0" marR="0" marT="3873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3175" algn="ctr">
                        <a:lnSpc>
                          <a:spcPct val="100000"/>
                        </a:lnSpc>
                        <a:spcBef>
                          <a:spcPts val="330"/>
                        </a:spcBef>
                      </a:pPr>
                      <a:r>
                        <a:rPr sz="700" dirty="0">
                          <a:latin typeface="Arial"/>
                          <a:cs typeface="Arial"/>
                        </a:rPr>
                        <a:t>x</a:t>
                      </a:r>
                    </a:p>
                  </a:txBody>
                  <a:tcPr marL="0" marR="0" marT="4191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3175" algn="ctr">
                        <a:lnSpc>
                          <a:spcPct val="100000"/>
                        </a:lnSpc>
                        <a:spcBef>
                          <a:spcPts val="305"/>
                        </a:spcBef>
                      </a:pPr>
                      <a:r>
                        <a:rPr sz="700" dirty="0">
                          <a:latin typeface="Arial"/>
                          <a:cs typeface="Arial"/>
                        </a:rPr>
                        <a:t>x</a:t>
                      </a:r>
                    </a:p>
                  </a:txBody>
                  <a:tcPr marL="0" marR="0" marT="3873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gridSpan="9">
                  <a:txBody>
                    <a:bodyPr/>
                    <a:lstStyle/>
                    <a:p>
                      <a:pPr marL="3175" algn="ctr">
                        <a:lnSpc>
                          <a:spcPct val="100000"/>
                        </a:lnSpc>
                        <a:spcBef>
                          <a:spcPts val="330"/>
                        </a:spcBef>
                      </a:pPr>
                      <a:r>
                        <a:rPr sz="700" spc="-5" dirty="0">
                          <a:latin typeface="Arial"/>
                          <a:cs typeface="Arial"/>
                        </a:rPr>
                        <a:t>HOLD_ON</a:t>
                      </a:r>
                      <a:r>
                        <a:rPr sz="700" spc="-25" dirty="0">
                          <a:latin typeface="Arial"/>
                          <a:cs typeface="Arial"/>
                        </a:rPr>
                        <a:t> </a:t>
                      </a:r>
                      <a:r>
                        <a:rPr sz="700" spc="-5" dirty="0">
                          <a:latin typeface="Arial"/>
                          <a:cs typeface="Arial"/>
                        </a:rPr>
                        <a:t>[8:0]</a:t>
                      </a:r>
                      <a:endParaRPr sz="700" dirty="0">
                        <a:latin typeface="Arial"/>
                        <a:cs typeface="Arial"/>
                      </a:endParaRPr>
                    </a:p>
                  </a:txBody>
                  <a:tcPr marL="0" marR="0" marT="4191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1"/>
                  </a:ext>
                </a:extLst>
              </a:tr>
            </a:tbl>
          </a:graphicData>
        </a:graphic>
      </p:graphicFrame>
      <p:sp>
        <p:nvSpPr>
          <p:cNvPr id="11" name="object 11"/>
          <p:cNvSpPr txBox="1"/>
          <p:nvPr/>
        </p:nvSpPr>
        <p:spPr>
          <a:xfrm>
            <a:off x="400913" y="5751956"/>
            <a:ext cx="6038541" cy="182742"/>
          </a:xfrm>
          <a:prstGeom prst="rect">
            <a:avLst/>
          </a:prstGeom>
        </p:spPr>
        <p:txBody>
          <a:bodyPr vert="horz" wrap="square" lIns="0" tIns="13335" rIns="0" bIns="0" rtlCol="0">
            <a:spAutoFit/>
          </a:bodyPr>
          <a:lstStyle/>
          <a:p>
            <a:pPr marL="12700">
              <a:lnSpc>
                <a:spcPct val="100000"/>
              </a:lnSpc>
              <a:spcBef>
                <a:spcPts val="105"/>
              </a:spcBef>
            </a:pPr>
            <a:r>
              <a:rPr sz="1100" b="1" dirty="0">
                <a:latin typeface="Arial"/>
                <a:cs typeface="Arial"/>
              </a:rPr>
              <a:t>X</a:t>
            </a:r>
            <a:r>
              <a:rPr sz="1100" b="1" spc="-65" dirty="0">
                <a:latin typeface="Arial"/>
                <a:cs typeface="Arial"/>
              </a:rPr>
              <a:t> </a:t>
            </a:r>
            <a:r>
              <a:rPr sz="1100" b="1" spc="-5" dirty="0">
                <a:latin typeface="Arial"/>
                <a:cs typeface="Arial"/>
              </a:rPr>
              <a:t>PERIOD</a:t>
            </a:r>
            <a:endParaRPr sz="1100" dirty="0">
              <a:latin typeface="Arial"/>
              <a:cs typeface="Arial"/>
            </a:endParaRPr>
          </a:p>
        </p:txBody>
      </p:sp>
      <p:graphicFrame>
        <p:nvGraphicFramePr>
          <p:cNvPr id="13" name="object 13"/>
          <p:cNvGraphicFramePr>
            <a:graphicFrameLocks noGrp="1"/>
          </p:cNvGraphicFramePr>
          <p:nvPr>
            <p:extLst>
              <p:ext uri="{D42A27DB-BD31-4B8C-83A1-F6EECF244321}">
                <p14:modId xmlns:p14="http://schemas.microsoft.com/office/powerpoint/2010/main" val="20130340"/>
              </p:ext>
            </p:extLst>
          </p:nvPr>
        </p:nvGraphicFramePr>
        <p:xfrm>
          <a:off x="400913" y="6062535"/>
          <a:ext cx="6038534" cy="387350"/>
        </p:xfrm>
        <a:graphic>
          <a:graphicData uri="http://schemas.openxmlformats.org/drawingml/2006/table">
            <a:tbl>
              <a:tblPr firstRow="1" bandRow="1">
                <a:tableStyleId>{2D5ABB26-0587-4C30-8999-92F81FD0307C}</a:tableStyleId>
              </a:tblPr>
              <a:tblGrid>
                <a:gridCol w="412143">
                  <a:extLst>
                    <a:ext uri="{9D8B030D-6E8A-4147-A177-3AD203B41FA5}">
                      <a16:colId xmlns:a16="http://schemas.microsoft.com/office/drawing/2014/main" val="20000"/>
                    </a:ext>
                  </a:extLst>
                </a:gridCol>
                <a:gridCol w="474305">
                  <a:extLst>
                    <a:ext uri="{9D8B030D-6E8A-4147-A177-3AD203B41FA5}">
                      <a16:colId xmlns:a16="http://schemas.microsoft.com/office/drawing/2014/main" val="20001"/>
                    </a:ext>
                  </a:extLst>
                </a:gridCol>
                <a:gridCol w="322005">
                  <a:extLst>
                    <a:ext uri="{9D8B030D-6E8A-4147-A177-3AD203B41FA5}">
                      <a16:colId xmlns:a16="http://schemas.microsoft.com/office/drawing/2014/main" val="20002"/>
                    </a:ext>
                  </a:extLst>
                </a:gridCol>
                <a:gridCol w="322006">
                  <a:extLst>
                    <a:ext uri="{9D8B030D-6E8A-4147-A177-3AD203B41FA5}">
                      <a16:colId xmlns:a16="http://schemas.microsoft.com/office/drawing/2014/main" val="20003"/>
                    </a:ext>
                  </a:extLst>
                </a:gridCol>
                <a:gridCol w="322006">
                  <a:extLst>
                    <a:ext uri="{9D8B030D-6E8A-4147-A177-3AD203B41FA5}">
                      <a16:colId xmlns:a16="http://schemas.microsoft.com/office/drawing/2014/main" val="20004"/>
                    </a:ext>
                  </a:extLst>
                </a:gridCol>
                <a:gridCol w="322006">
                  <a:extLst>
                    <a:ext uri="{9D8B030D-6E8A-4147-A177-3AD203B41FA5}">
                      <a16:colId xmlns:a16="http://schemas.microsoft.com/office/drawing/2014/main" val="20005"/>
                    </a:ext>
                  </a:extLst>
                </a:gridCol>
                <a:gridCol w="322006">
                  <a:extLst>
                    <a:ext uri="{9D8B030D-6E8A-4147-A177-3AD203B41FA5}">
                      <a16:colId xmlns:a16="http://schemas.microsoft.com/office/drawing/2014/main" val="20006"/>
                    </a:ext>
                  </a:extLst>
                </a:gridCol>
                <a:gridCol w="322006">
                  <a:extLst>
                    <a:ext uri="{9D8B030D-6E8A-4147-A177-3AD203B41FA5}">
                      <a16:colId xmlns:a16="http://schemas.microsoft.com/office/drawing/2014/main" val="20007"/>
                    </a:ext>
                  </a:extLst>
                </a:gridCol>
                <a:gridCol w="322006">
                  <a:extLst>
                    <a:ext uri="{9D8B030D-6E8A-4147-A177-3AD203B41FA5}">
                      <a16:colId xmlns:a16="http://schemas.microsoft.com/office/drawing/2014/main" val="20008"/>
                    </a:ext>
                  </a:extLst>
                </a:gridCol>
                <a:gridCol w="322005">
                  <a:extLst>
                    <a:ext uri="{9D8B030D-6E8A-4147-A177-3AD203B41FA5}">
                      <a16:colId xmlns:a16="http://schemas.microsoft.com/office/drawing/2014/main" val="20009"/>
                    </a:ext>
                  </a:extLst>
                </a:gridCol>
                <a:gridCol w="322005">
                  <a:extLst>
                    <a:ext uri="{9D8B030D-6E8A-4147-A177-3AD203B41FA5}">
                      <a16:colId xmlns:a16="http://schemas.microsoft.com/office/drawing/2014/main" val="20010"/>
                    </a:ext>
                  </a:extLst>
                </a:gridCol>
                <a:gridCol w="322005">
                  <a:extLst>
                    <a:ext uri="{9D8B030D-6E8A-4147-A177-3AD203B41FA5}">
                      <a16:colId xmlns:a16="http://schemas.microsoft.com/office/drawing/2014/main" val="20011"/>
                    </a:ext>
                  </a:extLst>
                </a:gridCol>
                <a:gridCol w="322005">
                  <a:extLst>
                    <a:ext uri="{9D8B030D-6E8A-4147-A177-3AD203B41FA5}">
                      <a16:colId xmlns:a16="http://schemas.microsoft.com/office/drawing/2014/main" val="20012"/>
                    </a:ext>
                  </a:extLst>
                </a:gridCol>
                <a:gridCol w="322005">
                  <a:extLst>
                    <a:ext uri="{9D8B030D-6E8A-4147-A177-3AD203B41FA5}">
                      <a16:colId xmlns:a16="http://schemas.microsoft.com/office/drawing/2014/main" val="20013"/>
                    </a:ext>
                  </a:extLst>
                </a:gridCol>
                <a:gridCol w="322005">
                  <a:extLst>
                    <a:ext uri="{9D8B030D-6E8A-4147-A177-3AD203B41FA5}">
                      <a16:colId xmlns:a16="http://schemas.microsoft.com/office/drawing/2014/main" val="20014"/>
                    </a:ext>
                  </a:extLst>
                </a:gridCol>
                <a:gridCol w="322005">
                  <a:extLst>
                    <a:ext uri="{9D8B030D-6E8A-4147-A177-3AD203B41FA5}">
                      <a16:colId xmlns:a16="http://schemas.microsoft.com/office/drawing/2014/main" val="20015"/>
                    </a:ext>
                  </a:extLst>
                </a:gridCol>
                <a:gridCol w="322005">
                  <a:extLst>
                    <a:ext uri="{9D8B030D-6E8A-4147-A177-3AD203B41FA5}">
                      <a16:colId xmlns:a16="http://schemas.microsoft.com/office/drawing/2014/main" val="20016"/>
                    </a:ext>
                  </a:extLst>
                </a:gridCol>
                <a:gridCol w="322005">
                  <a:extLst>
                    <a:ext uri="{9D8B030D-6E8A-4147-A177-3AD203B41FA5}">
                      <a16:colId xmlns:a16="http://schemas.microsoft.com/office/drawing/2014/main" val="20017"/>
                    </a:ext>
                  </a:extLst>
                </a:gridCol>
              </a:tblGrid>
              <a:tr h="193675">
                <a:tc>
                  <a:txBody>
                    <a:bodyPr/>
                    <a:lstStyle/>
                    <a:p>
                      <a:pPr algn="ctr">
                        <a:lnSpc>
                          <a:spcPct val="100000"/>
                        </a:lnSpc>
                        <a:spcBef>
                          <a:spcPts val="270"/>
                        </a:spcBef>
                      </a:pPr>
                      <a:r>
                        <a:rPr sz="800" dirty="0">
                          <a:latin typeface="Arial"/>
                          <a:cs typeface="Arial"/>
                        </a:rPr>
                        <a:t>A[6:0]</a:t>
                      </a: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algn="ctr">
                        <a:lnSpc>
                          <a:spcPct val="100000"/>
                        </a:lnSpc>
                        <a:spcBef>
                          <a:spcPts val="270"/>
                        </a:spcBef>
                      </a:pPr>
                      <a:r>
                        <a:rPr sz="800" spc="-5" dirty="0">
                          <a:latin typeface="Arial"/>
                          <a:cs typeface="Arial"/>
                        </a:rPr>
                        <a:t>Default</a:t>
                      </a:r>
                      <a:endParaRPr sz="8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1270" algn="ctr">
                        <a:lnSpc>
                          <a:spcPct val="100000"/>
                        </a:lnSpc>
                        <a:spcBef>
                          <a:spcPts val="270"/>
                        </a:spcBef>
                      </a:pPr>
                      <a:r>
                        <a:rPr sz="800" spc="-5" dirty="0">
                          <a:latin typeface="Arial"/>
                          <a:cs typeface="Arial"/>
                        </a:rPr>
                        <a:t>D15</a:t>
                      </a:r>
                      <a:endParaRPr sz="8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1905" algn="ctr">
                        <a:lnSpc>
                          <a:spcPct val="100000"/>
                        </a:lnSpc>
                        <a:spcBef>
                          <a:spcPts val="270"/>
                        </a:spcBef>
                      </a:pPr>
                      <a:r>
                        <a:rPr sz="800" spc="-5" dirty="0">
                          <a:latin typeface="Arial"/>
                          <a:cs typeface="Arial"/>
                        </a:rPr>
                        <a:t>D14</a:t>
                      </a:r>
                      <a:endParaRPr sz="8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1270" algn="ctr">
                        <a:lnSpc>
                          <a:spcPct val="100000"/>
                        </a:lnSpc>
                        <a:spcBef>
                          <a:spcPts val="270"/>
                        </a:spcBef>
                      </a:pPr>
                      <a:r>
                        <a:rPr sz="800" spc="-5" dirty="0">
                          <a:latin typeface="Arial"/>
                          <a:cs typeface="Arial"/>
                        </a:rPr>
                        <a:t>D13</a:t>
                      </a:r>
                      <a:endParaRPr sz="8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1905" algn="ctr">
                        <a:lnSpc>
                          <a:spcPct val="100000"/>
                        </a:lnSpc>
                        <a:spcBef>
                          <a:spcPts val="270"/>
                        </a:spcBef>
                      </a:pPr>
                      <a:r>
                        <a:rPr sz="800" spc="-5" dirty="0">
                          <a:latin typeface="Arial"/>
                          <a:cs typeface="Arial"/>
                        </a:rPr>
                        <a:t>D12</a:t>
                      </a:r>
                      <a:endParaRPr sz="8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1905" algn="ctr">
                        <a:lnSpc>
                          <a:spcPct val="100000"/>
                        </a:lnSpc>
                        <a:spcBef>
                          <a:spcPts val="270"/>
                        </a:spcBef>
                      </a:pPr>
                      <a:r>
                        <a:rPr sz="800" spc="-5" dirty="0">
                          <a:latin typeface="Arial"/>
                          <a:cs typeface="Arial"/>
                        </a:rPr>
                        <a:t>D11</a:t>
                      </a:r>
                      <a:endParaRPr sz="8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1905" algn="ctr">
                        <a:lnSpc>
                          <a:spcPct val="100000"/>
                        </a:lnSpc>
                        <a:spcBef>
                          <a:spcPts val="270"/>
                        </a:spcBef>
                      </a:pPr>
                      <a:r>
                        <a:rPr sz="800" spc="-5" dirty="0">
                          <a:latin typeface="Arial"/>
                          <a:cs typeface="Arial"/>
                        </a:rPr>
                        <a:t>D10</a:t>
                      </a:r>
                      <a:endParaRPr sz="800" dirty="0">
                        <a:latin typeface="Arial"/>
                        <a:cs typeface="Arial"/>
                      </a:endParaRPr>
                    </a:p>
                  </a:txBody>
                  <a:tcPr marL="0" marR="0" marT="34290" marB="0">
                    <a:lnL w="3175">
                      <a:solidFill>
                        <a:srgbClr val="7E7E7E"/>
                      </a:solidFill>
                      <a:prstDash val="solid"/>
                    </a:lnL>
                    <a:lnR w="6350">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algn="ctr">
                        <a:lnSpc>
                          <a:spcPct val="100000"/>
                        </a:lnSpc>
                        <a:spcBef>
                          <a:spcPts val="270"/>
                        </a:spcBef>
                      </a:pPr>
                      <a:r>
                        <a:rPr sz="800" spc="-5" dirty="0">
                          <a:latin typeface="Arial"/>
                          <a:cs typeface="Arial"/>
                        </a:rPr>
                        <a:t>D9</a:t>
                      </a:r>
                      <a:endParaRPr sz="800" dirty="0">
                        <a:latin typeface="Arial"/>
                        <a:cs typeface="Arial"/>
                      </a:endParaRPr>
                    </a:p>
                  </a:txBody>
                  <a:tcPr marL="0" marR="0" marT="34290" marB="0">
                    <a:lnL w="6350">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R="91440" algn="r">
                        <a:lnSpc>
                          <a:spcPct val="100000"/>
                        </a:lnSpc>
                        <a:spcBef>
                          <a:spcPts val="270"/>
                        </a:spcBef>
                      </a:pPr>
                      <a:r>
                        <a:rPr sz="800" spc="-5" dirty="0">
                          <a:latin typeface="Arial"/>
                          <a:cs typeface="Arial"/>
                        </a:rPr>
                        <a:t>D8</a:t>
                      </a:r>
                      <a:endParaRPr sz="8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algn="ctr">
                        <a:lnSpc>
                          <a:spcPct val="100000"/>
                        </a:lnSpc>
                        <a:spcBef>
                          <a:spcPts val="270"/>
                        </a:spcBef>
                      </a:pPr>
                      <a:r>
                        <a:rPr sz="800" spc="-5" dirty="0">
                          <a:latin typeface="Arial"/>
                          <a:cs typeface="Arial"/>
                        </a:rPr>
                        <a:t>D7</a:t>
                      </a:r>
                      <a:endParaRPr sz="8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99695">
                        <a:lnSpc>
                          <a:spcPct val="100000"/>
                        </a:lnSpc>
                        <a:spcBef>
                          <a:spcPts val="270"/>
                        </a:spcBef>
                      </a:pPr>
                      <a:r>
                        <a:rPr sz="800" spc="-5" dirty="0">
                          <a:latin typeface="Arial"/>
                          <a:cs typeface="Arial"/>
                        </a:rPr>
                        <a:t>D6</a:t>
                      </a:r>
                      <a:endParaRPr sz="8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99695">
                        <a:lnSpc>
                          <a:spcPct val="100000"/>
                        </a:lnSpc>
                        <a:spcBef>
                          <a:spcPts val="270"/>
                        </a:spcBef>
                      </a:pPr>
                      <a:r>
                        <a:rPr sz="800" spc="-5" dirty="0">
                          <a:latin typeface="Arial"/>
                          <a:cs typeface="Arial"/>
                        </a:rPr>
                        <a:t>D5</a:t>
                      </a:r>
                      <a:endParaRPr sz="8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99695">
                        <a:lnSpc>
                          <a:spcPct val="100000"/>
                        </a:lnSpc>
                        <a:spcBef>
                          <a:spcPts val="270"/>
                        </a:spcBef>
                      </a:pPr>
                      <a:r>
                        <a:rPr sz="800" spc="-5" dirty="0">
                          <a:latin typeface="Arial"/>
                          <a:cs typeface="Arial"/>
                        </a:rPr>
                        <a:t>D4</a:t>
                      </a:r>
                      <a:endParaRPr sz="8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99695">
                        <a:lnSpc>
                          <a:spcPct val="100000"/>
                        </a:lnSpc>
                        <a:spcBef>
                          <a:spcPts val="270"/>
                        </a:spcBef>
                      </a:pPr>
                      <a:r>
                        <a:rPr sz="800" spc="-5" dirty="0">
                          <a:latin typeface="Arial"/>
                          <a:cs typeface="Arial"/>
                        </a:rPr>
                        <a:t>D3</a:t>
                      </a:r>
                      <a:endParaRPr sz="8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99695">
                        <a:lnSpc>
                          <a:spcPct val="100000"/>
                        </a:lnSpc>
                        <a:spcBef>
                          <a:spcPts val="270"/>
                        </a:spcBef>
                      </a:pPr>
                      <a:r>
                        <a:rPr sz="800" spc="-5" dirty="0">
                          <a:latin typeface="Arial"/>
                          <a:cs typeface="Arial"/>
                        </a:rPr>
                        <a:t>D2</a:t>
                      </a:r>
                      <a:endParaRPr sz="8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100330">
                        <a:lnSpc>
                          <a:spcPct val="100000"/>
                        </a:lnSpc>
                        <a:spcBef>
                          <a:spcPts val="270"/>
                        </a:spcBef>
                      </a:pPr>
                      <a:r>
                        <a:rPr sz="800" spc="-5" dirty="0">
                          <a:latin typeface="Arial"/>
                          <a:cs typeface="Arial"/>
                        </a:rPr>
                        <a:t>D1</a:t>
                      </a:r>
                      <a:endParaRPr sz="8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100330">
                        <a:lnSpc>
                          <a:spcPct val="100000"/>
                        </a:lnSpc>
                        <a:spcBef>
                          <a:spcPts val="270"/>
                        </a:spcBef>
                      </a:pPr>
                      <a:r>
                        <a:rPr sz="800" spc="-5" dirty="0">
                          <a:latin typeface="Arial"/>
                          <a:cs typeface="Arial"/>
                        </a:rPr>
                        <a:t>D0</a:t>
                      </a:r>
                      <a:endParaRPr sz="8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extLst>
                  <a:ext uri="{0D108BD9-81ED-4DB2-BD59-A6C34878D82A}">
                    <a16:rowId xmlns:a16="http://schemas.microsoft.com/office/drawing/2014/main" val="10000"/>
                  </a:ext>
                </a:extLst>
              </a:tr>
              <a:tr h="193675">
                <a:tc>
                  <a:txBody>
                    <a:bodyPr/>
                    <a:lstStyle/>
                    <a:p>
                      <a:pPr algn="ctr">
                        <a:lnSpc>
                          <a:spcPct val="100000"/>
                        </a:lnSpc>
                        <a:spcBef>
                          <a:spcPts val="270"/>
                        </a:spcBef>
                      </a:pPr>
                      <a:r>
                        <a:rPr sz="800" spc="-5" dirty="0">
                          <a:latin typeface="Arial"/>
                          <a:cs typeface="Arial"/>
                        </a:rPr>
                        <a:t>‘h0D</a:t>
                      </a:r>
                      <a:endParaRPr sz="8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algn="ctr">
                        <a:lnSpc>
                          <a:spcPct val="100000"/>
                        </a:lnSpc>
                        <a:spcBef>
                          <a:spcPts val="270"/>
                        </a:spcBef>
                      </a:pPr>
                      <a:r>
                        <a:rPr sz="800" dirty="0">
                          <a:latin typeface="Arial"/>
                          <a:cs typeface="Arial"/>
                        </a:rPr>
                        <a:t>0</a:t>
                      </a: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2540" algn="ctr">
                        <a:lnSpc>
                          <a:spcPct val="100000"/>
                        </a:lnSpc>
                        <a:spcBef>
                          <a:spcPts val="310"/>
                        </a:spcBef>
                      </a:pPr>
                      <a:r>
                        <a:rPr sz="700" dirty="0">
                          <a:latin typeface="Arial"/>
                          <a:cs typeface="Arial"/>
                        </a:rPr>
                        <a:t>x</a:t>
                      </a:r>
                    </a:p>
                  </a:txBody>
                  <a:tcPr marL="0" marR="0" marT="3937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3175" algn="ctr">
                        <a:lnSpc>
                          <a:spcPct val="100000"/>
                        </a:lnSpc>
                        <a:spcBef>
                          <a:spcPts val="334"/>
                        </a:spcBef>
                      </a:pPr>
                      <a:r>
                        <a:rPr sz="700" dirty="0">
                          <a:latin typeface="Arial"/>
                          <a:cs typeface="Arial"/>
                        </a:rPr>
                        <a:t>x</a:t>
                      </a:r>
                    </a:p>
                  </a:txBody>
                  <a:tcPr marL="0" marR="0" marT="42544"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2540" algn="ctr">
                        <a:lnSpc>
                          <a:spcPct val="100000"/>
                        </a:lnSpc>
                        <a:spcBef>
                          <a:spcPts val="310"/>
                        </a:spcBef>
                      </a:pPr>
                      <a:r>
                        <a:rPr sz="700" dirty="0">
                          <a:latin typeface="Arial"/>
                          <a:cs typeface="Arial"/>
                        </a:rPr>
                        <a:t>x</a:t>
                      </a:r>
                    </a:p>
                  </a:txBody>
                  <a:tcPr marL="0" marR="0" marT="3937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3175" algn="ctr">
                        <a:lnSpc>
                          <a:spcPct val="100000"/>
                        </a:lnSpc>
                        <a:spcBef>
                          <a:spcPts val="334"/>
                        </a:spcBef>
                      </a:pPr>
                      <a:r>
                        <a:rPr sz="700" dirty="0">
                          <a:latin typeface="Arial"/>
                          <a:cs typeface="Arial"/>
                        </a:rPr>
                        <a:t>x</a:t>
                      </a:r>
                    </a:p>
                  </a:txBody>
                  <a:tcPr marL="0" marR="0" marT="42544"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3175" algn="ctr">
                        <a:lnSpc>
                          <a:spcPct val="100000"/>
                        </a:lnSpc>
                        <a:spcBef>
                          <a:spcPts val="310"/>
                        </a:spcBef>
                      </a:pPr>
                      <a:r>
                        <a:rPr sz="700" dirty="0">
                          <a:latin typeface="Arial"/>
                          <a:cs typeface="Arial"/>
                        </a:rPr>
                        <a:t>x</a:t>
                      </a:r>
                    </a:p>
                  </a:txBody>
                  <a:tcPr marL="0" marR="0" marT="3937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3175" algn="ctr">
                        <a:lnSpc>
                          <a:spcPct val="100000"/>
                        </a:lnSpc>
                        <a:spcBef>
                          <a:spcPts val="334"/>
                        </a:spcBef>
                      </a:pPr>
                      <a:r>
                        <a:rPr sz="700" dirty="0">
                          <a:latin typeface="Arial"/>
                          <a:cs typeface="Arial"/>
                        </a:rPr>
                        <a:t>x</a:t>
                      </a:r>
                    </a:p>
                  </a:txBody>
                  <a:tcPr marL="0" marR="0" marT="42544" marB="0">
                    <a:lnL w="3175">
                      <a:solidFill>
                        <a:srgbClr val="7E7E7E"/>
                      </a:solidFill>
                      <a:prstDash val="solid"/>
                    </a:lnL>
                    <a:lnR w="6350">
                      <a:solidFill>
                        <a:srgbClr val="7E7E7E"/>
                      </a:solidFill>
                      <a:prstDash val="solid"/>
                    </a:lnR>
                    <a:lnT w="3175">
                      <a:solidFill>
                        <a:srgbClr val="7E7E7E"/>
                      </a:solidFill>
                      <a:prstDash val="solid"/>
                    </a:lnT>
                    <a:lnB w="3175">
                      <a:solidFill>
                        <a:srgbClr val="7E7E7E"/>
                      </a:solidFill>
                      <a:prstDash val="solid"/>
                    </a:lnB>
                  </a:tcPr>
                </a:tc>
                <a:tc>
                  <a:txBody>
                    <a:bodyPr/>
                    <a:lstStyle/>
                    <a:p>
                      <a:pPr marL="3175" algn="ctr">
                        <a:lnSpc>
                          <a:spcPct val="100000"/>
                        </a:lnSpc>
                        <a:spcBef>
                          <a:spcPts val="310"/>
                        </a:spcBef>
                      </a:pPr>
                      <a:r>
                        <a:rPr sz="700" dirty="0">
                          <a:latin typeface="Arial"/>
                          <a:cs typeface="Arial"/>
                        </a:rPr>
                        <a:t>x</a:t>
                      </a:r>
                    </a:p>
                  </a:txBody>
                  <a:tcPr marL="0" marR="0" marT="39370" marB="0">
                    <a:lnL w="6350">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R="132080" algn="r">
                        <a:lnSpc>
                          <a:spcPct val="100000"/>
                        </a:lnSpc>
                        <a:spcBef>
                          <a:spcPts val="334"/>
                        </a:spcBef>
                      </a:pPr>
                      <a:r>
                        <a:rPr sz="700" dirty="0">
                          <a:latin typeface="Arial"/>
                          <a:cs typeface="Arial"/>
                        </a:rPr>
                        <a:t>x</a:t>
                      </a:r>
                    </a:p>
                  </a:txBody>
                  <a:tcPr marL="0" marR="0" marT="42544"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3810" algn="ctr">
                        <a:lnSpc>
                          <a:spcPct val="100000"/>
                        </a:lnSpc>
                        <a:spcBef>
                          <a:spcPts val="310"/>
                        </a:spcBef>
                      </a:pPr>
                      <a:r>
                        <a:rPr sz="700" dirty="0">
                          <a:latin typeface="Arial"/>
                          <a:cs typeface="Arial"/>
                        </a:rPr>
                        <a:t>x</a:t>
                      </a:r>
                    </a:p>
                  </a:txBody>
                  <a:tcPr marL="0" marR="0" marT="3937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gridSpan="7">
                  <a:txBody>
                    <a:bodyPr/>
                    <a:lstStyle/>
                    <a:p>
                      <a:pPr marL="1270" algn="ctr">
                        <a:lnSpc>
                          <a:spcPct val="100000"/>
                        </a:lnSpc>
                        <a:spcBef>
                          <a:spcPts val="334"/>
                        </a:spcBef>
                      </a:pPr>
                      <a:r>
                        <a:rPr sz="700" spc="-10" dirty="0">
                          <a:latin typeface="Arial"/>
                          <a:cs typeface="Arial"/>
                        </a:rPr>
                        <a:t>X_PERIOD </a:t>
                      </a:r>
                      <a:r>
                        <a:rPr sz="700" spc="-5" dirty="0">
                          <a:latin typeface="Arial"/>
                          <a:cs typeface="Arial"/>
                        </a:rPr>
                        <a:t>[6:0]</a:t>
                      </a:r>
                      <a:endParaRPr sz="700" dirty="0">
                        <a:latin typeface="Arial"/>
                        <a:cs typeface="Arial"/>
                      </a:endParaRPr>
                    </a:p>
                  </a:txBody>
                  <a:tcPr marL="0" marR="0" marT="42544"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1"/>
                  </a:ext>
                </a:extLst>
              </a:tr>
            </a:tbl>
          </a:graphicData>
        </a:graphic>
      </p:graphicFrame>
      <p:graphicFrame>
        <p:nvGraphicFramePr>
          <p:cNvPr id="17" name="표 16">
            <a:extLst>
              <a:ext uri="{FF2B5EF4-FFF2-40B4-BE49-F238E27FC236}">
                <a16:creationId xmlns:a16="http://schemas.microsoft.com/office/drawing/2014/main" id="{6282F7B3-B3C0-C652-1E4C-7ADC26208199}"/>
              </a:ext>
            </a:extLst>
          </p:cNvPr>
          <p:cNvGraphicFramePr>
            <a:graphicFrameLocks noGrp="1"/>
          </p:cNvGraphicFramePr>
          <p:nvPr>
            <p:extLst>
              <p:ext uri="{D42A27DB-BD31-4B8C-83A1-F6EECF244321}">
                <p14:modId xmlns:p14="http://schemas.microsoft.com/office/powerpoint/2010/main" val="1589765907"/>
              </p:ext>
            </p:extLst>
          </p:nvPr>
        </p:nvGraphicFramePr>
        <p:xfrm>
          <a:off x="403294" y="6602285"/>
          <a:ext cx="6033770" cy="739677"/>
        </p:xfrm>
        <a:graphic>
          <a:graphicData uri="http://schemas.openxmlformats.org/drawingml/2006/table">
            <a:tbl>
              <a:tblPr firstRow="1" bandRow="1">
                <a:tableStyleId>{5C22544A-7EE6-4342-B048-85BDC9FD1C3A}</a:tableStyleId>
              </a:tblPr>
              <a:tblGrid>
                <a:gridCol w="384612">
                  <a:extLst>
                    <a:ext uri="{9D8B030D-6E8A-4147-A177-3AD203B41FA5}">
                      <a16:colId xmlns:a16="http://schemas.microsoft.com/office/drawing/2014/main" val="4170535043"/>
                    </a:ext>
                  </a:extLst>
                </a:gridCol>
                <a:gridCol w="1523121">
                  <a:extLst>
                    <a:ext uri="{9D8B030D-6E8A-4147-A177-3AD203B41FA5}">
                      <a16:colId xmlns:a16="http://schemas.microsoft.com/office/drawing/2014/main" val="2079070694"/>
                    </a:ext>
                  </a:extLst>
                </a:gridCol>
                <a:gridCol w="4126037">
                  <a:extLst>
                    <a:ext uri="{9D8B030D-6E8A-4147-A177-3AD203B41FA5}">
                      <a16:colId xmlns:a16="http://schemas.microsoft.com/office/drawing/2014/main" val="32595803"/>
                    </a:ext>
                  </a:extLst>
                </a:gridCol>
              </a:tblGrid>
              <a:tr h="256197">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457558">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dirty="0">
                          <a:latin typeface="Arial"/>
                          <a:cs typeface="Arial"/>
                        </a:rPr>
                        <a:t>6:0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spc="-5" dirty="0">
                          <a:latin typeface="Arial"/>
                          <a:cs typeface="Arial"/>
                        </a:rPr>
                        <a:t>X_PERIOD</a:t>
                      </a:r>
                      <a:endParaRPr lang="en-US" altLang="ko-KR" sz="900" dirty="0">
                        <a:latin typeface="Arial"/>
                        <a:cs typeface="Arial"/>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spc="-5" dirty="0">
                          <a:latin typeface="Arial"/>
                          <a:cs typeface="Arial"/>
                        </a:rPr>
                        <a:t>This</a:t>
                      </a:r>
                      <a:r>
                        <a:rPr lang="en-US" altLang="ko-KR" sz="900" spc="-20" dirty="0">
                          <a:latin typeface="Arial"/>
                          <a:cs typeface="Arial"/>
                        </a:rPr>
                        <a:t> </a:t>
                      </a:r>
                      <a:r>
                        <a:rPr lang="en-US" altLang="ko-KR" sz="900" dirty="0">
                          <a:latin typeface="Arial"/>
                          <a:cs typeface="Arial"/>
                        </a:rPr>
                        <a:t>means the </a:t>
                      </a:r>
                      <a:r>
                        <a:rPr lang="en-US" altLang="ko-KR" sz="900" spc="-5" dirty="0">
                          <a:latin typeface="Arial"/>
                          <a:cs typeface="Arial"/>
                        </a:rPr>
                        <a:t>value how </a:t>
                      </a:r>
                      <a:r>
                        <a:rPr lang="en-US" altLang="ko-KR" sz="900" dirty="0">
                          <a:latin typeface="Arial"/>
                          <a:cs typeface="Arial"/>
                        </a:rPr>
                        <a:t>many </a:t>
                      </a:r>
                      <a:r>
                        <a:rPr lang="en-US" altLang="ko-KR" sz="900" spc="-5" dirty="0">
                          <a:latin typeface="Arial"/>
                          <a:cs typeface="Arial"/>
                        </a:rPr>
                        <a:t>svsync exist within one </a:t>
                      </a:r>
                      <a:r>
                        <a:rPr lang="en-US" altLang="ko-KR" sz="900" dirty="0">
                          <a:latin typeface="Arial"/>
                          <a:cs typeface="Arial"/>
                        </a:rPr>
                        <a:t>X </a:t>
                      </a:r>
                      <a:r>
                        <a:rPr lang="en-US" altLang="ko-KR" sz="900" spc="-5" dirty="0">
                          <a:latin typeface="Arial"/>
                          <a:cs typeface="Arial"/>
                        </a:rPr>
                        <a:t>period in </a:t>
                      </a:r>
                      <a:r>
                        <a:rPr lang="en-US" altLang="ko-KR" sz="900" spc="-10" dirty="0">
                          <a:latin typeface="Arial"/>
                          <a:cs typeface="Arial"/>
                        </a:rPr>
                        <a:t>X8 </a:t>
                      </a:r>
                      <a:r>
                        <a:rPr lang="en-US" altLang="ko-KR" sz="900" spc="-5" dirty="0">
                          <a:latin typeface="Arial"/>
                          <a:cs typeface="Arial"/>
                        </a:rPr>
                        <a:t>and X2. </a:t>
                      </a:r>
                      <a:r>
                        <a:rPr lang="en-US" altLang="ko-KR" sz="900" dirty="0">
                          <a:latin typeface="Arial"/>
                          <a:cs typeface="Arial"/>
                        </a:rPr>
                        <a:t> </a:t>
                      </a:r>
                      <a:r>
                        <a:rPr lang="en-US" altLang="ko-KR" sz="900" spc="-5" dirty="0">
                          <a:latin typeface="Arial"/>
                          <a:cs typeface="Arial"/>
                        </a:rPr>
                        <a:t>This</a:t>
                      </a:r>
                      <a:r>
                        <a:rPr lang="en-US" altLang="ko-KR" sz="900" dirty="0">
                          <a:latin typeface="Arial"/>
                          <a:cs typeface="Arial"/>
                        </a:rPr>
                        <a:t> can</a:t>
                      </a:r>
                      <a:r>
                        <a:rPr lang="en-US" altLang="ko-KR" sz="900" spc="-5" dirty="0">
                          <a:latin typeface="Arial"/>
                          <a:cs typeface="Arial"/>
                        </a:rPr>
                        <a:t> be obtained</a:t>
                      </a:r>
                      <a:r>
                        <a:rPr lang="en-US" altLang="ko-KR" sz="900" spc="-15" dirty="0">
                          <a:latin typeface="Arial"/>
                          <a:cs typeface="Arial"/>
                        </a:rPr>
                        <a:t> </a:t>
                      </a:r>
                      <a:r>
                        <a:rPr lang="en-US" altLang="ko-KR" sz="900" spc="-5" dirty="0">
                          <a:latin typeface="Arial"/>
                          <a:cs typeface="Arial"/>
                        </a:rPr>
                        <a:t>(SVSYNC_SIZE</a:t>
                      </a:r>
                      <a:r>
                        <a:rPr lang="en-US" altLang="ko-KR" sz="900" spc="10" dirty="0">
                          <a:latin typeface="Arial"/>
                          <a:cs typeface="Arial"/>
                        </a:rPr>
                        <a:t> </a:t>
                      </a:r>
                      <a:r>
                        <a:rPr lang="en-US" altLang="ko-KR" sz="900" dirty="0">
                          <a:latin typeface="Arial"/>
                          <a:cs typeface="Arial"/>
                        </a:rPr>
                        <a:t>/</a:t>
                      </a:r>
                      <a:r>
                        <a:rPr lang="en-US" altLang="ko-KR" sz="900" spc="5" dirty="0">
                          <a:latin typeface="Arial"/>
                          <a:cs typeface="Arial"/>
                        </a:rPr>
                        <a:t> </a:t>
                      </a:r>
                      <a:r>
                        <a:rPr lang="en-US" altLang="ko-KR" sz="900" spc="-5" dirty="0">
                          <a:latin typeface="Arial"/>
                          <a:cs typeface="Arial"/>
                        </a:rPr>
                        <a:t>8) in</a:t>
                      </a:r>
                      <a:r>
                        <a:rPr lang="en-US" altLang="ko-KR" sz="900" spc="10" dirty="0">
                          <a:latin typeface="Arial"/>
                          <a:cs typeface="Arial"/>
                        </a:rPr>
                        <a:t> </a:t>
                      </a:r>
                      <a:r>
                        <a:rPr lang="en-US" altLang="ko-KR" sz="900" spc="-10" dirty="0">
                          <a:latin typeface="Arial"/>
                          <a:cs typeface="Arial"/>
                        </a:rPr>
                        <a:t>X8</a:t>
                      </a:r>
                      <a:r>
                        <a:rPr lang="en-US" altLang="ko-KR" sz="900" spc="5" dirty="0">
                          <a:latin typeface="Arial"/>
                          <a:cs typeface="Arial"/>
                        </a:rPr>
                        <a:t> </a:t>
                      </a:r>
                      <a:r>
                        <a:rPr lang="en-US" altLang="ko-KR" sz="900" dirty="0">
                          <a:latin typeface="Arial"/>
                          <a:cs typeface="Arial"/>
                        </a:rPr>
                        <a:t>mode,</a:t>
                      </a:r>
                      <a:r>
                        <a:rPr lang="en-US" altLang="ko-KR" sz="900" spc="-20" dirty="0">
                          <a:latin typeface="Arial"/>
                          <a:cs typeface="Arial"/>
                        </a:rPr>
                        <a:t> </a:t>
                      </a:r>
                      <a:r>
                        <a:rPr lang="en-US" altLang="ko-KR" sz="900" spc="-5" dirty="0">
                          <a:latin typeface="Arial"/>
                          <a:cs typeface="Arial"/>
                        </a:rPr>
                        <a:t>(SVSYNC_SIZE</a:t>
                      </a:r>
                      <a:r>
                        <a:rPr lang="en-US" altLang="ko-KR" sz="900" spc="15" dirty="0">
                          <a:latin typeface="Arial"/>
                          <a:cs typeface="Arial"/>
                        </a:rPr>
                        <a:t> </a:t>
                      </a:r>
                      <a:r>
                        <a:rPr lang="en-US" altLang="ko-KR" sz="900" dirty="0">
                          <a:latin typeface="Arial"/>
                          <a:cs typeface="Arial"/>
                        </a:rPr>
                        <a:t>/ </a:t>
                      </a:r>
                      <a:r>
                        <a:rPr lang="en-US" altLang="ko-KR" sz="900" spc="-5" dirty="0">
                          <a:latin typeface="Arial"/>
                          <a:cs typeface="Arial"/>
                        </a:rPr>
                        <a:t>2)</a:t>
                      </a:r>
                      <a:r>
                        <a:rPr lang="en-US" altLang="ko-KR" sz="900" spc="5" dirty="0">
                          <a:latin typeface="Arial"/>
                          <a:cs typeface="Arial"/>
                        </a:rPr>
                        <a:t> </a:t>
                      </a:r>
                      <a:r>
                        <a:rPr lang="en-US" altLang="ko-KR" sz="900" dirty="0">
                          <a:latin typeface="Arial"/>
                          <a:cs typeface="Arial"/>
                        </a:rPr>
                        <a:t>in</a:t>
                      </a:r>
                      <a:r>
                        <a:rPr lang="en-US" altLang="ko-KR" sz="900" spc="-5" dirty="0">
                          <a:latin typeface="Arial"/>
                          <a:cs typeface="Arial"/>
                        </a:rPr>
                        <a:t> </a:t>
                      </a:r>
                      <a:r>
                        <a:rPr lang="en-US" altLang="ko-KR" sz="900" spc="-10" dirty="0">
                          <a:latin typeface="Arial"/>
                          <a:cs typeface="Arial"/>
                        </a:rPr>
                        <a:t>X2 </a:t>
                      </a:r>
                      <a:r>
                        <a:rPr lang="en-US" altLang="ko-KR" sz="900" spc="-235" dirty="0">
                          <a:latin typeface="Arial"/>
                          <a:cs typeface="Arial"/>
                        </a:rPr>
                        <a:t> </a:t>
                      </a:r>
                      <a:r>
                        <a:rPr lang="en-US" altLang="ko-KR" sz="900" dirty="0">
                          <a:latin typeface="Arial"/>
                          <a:cs typeface="Arial"/>
                        </a:rPr>
                        <a:t>mode.</a:t>
                      </a:r>
                      <a:endParaRPr lang="en-US" altLang="ko-KR" sz="900" spc="-5" dirty="0">
                        <a:latin typeface="Arial"/>
                        <a:cs typeface="Arial"/>
                      </a:endParaRP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18" name="표 17">
            <a:extLst>
              <a:ext uri="{FF2B5EF4-FFF2-40B4-BE49-F238E27FC236}">
                <a16:creationId xmlns:a16="http://schemas.microsoft.com/office/drawing/2014/main" id="{C0DB61AD-606E-28CB-5758-4385A7B25D25}"/>
              </a:ext>
            </a:extLst>
          </p:cNvPr>
          <p:cNvGraphicFramePr>
            <a:graphicFrameLocks noGrp="1"/>
          </p:cNvGraphicFramePr>
          <p:nvPr>
            <p:extLst>
              <p:ext uri="{D42A27DB-BD31-4B8C-83A1-F6EECF244321}">
                <p14:modId xmlns:p14="http://schemas.microsoft.com/office/powerpoint/2010/main" val="2882969575"/>
              </p:ext>
            </p:extLst>
          </p:nvPr>
        </p:nvGraphicFramePr>
        <p:xfrm>
          <a:off x="403294" y="4175967"/>
          <a:ext cx="6033770" cy="739677"/>
        </p:xfrm>
        <a:graphic>
          <a:graphicData uri="http://schemas.openxmlformats.org/drawingml/2006/table">
            <a:tbl>
              <a:tblPr firstRow="1" bandRow="1">
                <a:tableStyleId>{5C22544A-7EE6-4342-B048-85BDC9FD1C3A}</a:tableStyleId>
              </a:tblPr>
              <a:tblGrid>
                <a:gridCol w="384612">
                  <a:extLst>
                    <a:ext uri="{9D8B030D-6E8A-4147-A177-3AD203B41FA5}">
                      <a16:colId xmlns:a16="http://schemas.microsoft.com/office/drawing/2014/main" val="4170535043"/>
                    </a:ext>
                  </a:extLst>
                </a:gridCol>
                <a:gridCol w="1523121">
                  <a:extLst>
                    <a:ext uri="{9D8B030D-6E8A-4147-A177-3AD203B41FA5}">
                      <a16:colId xmlns:a16="http://schemas.microsoft.com/office/drawing/2014/main" val="2079070694"/>
                    </a:ext>
                  </a:extLst>
                </a:gridCol>
                <a:gridCol w="4126037">
                  <a:extLst>
                    <a:ext uri="{9D8B030D-6E8A-4147-A177-3AD203B41FA5}">
                      <a16:colId xmlns:a16="http://schemas.microsoft.com/office/drawing/2014/main" val="32595803"/>
                    </a:ext>
                  </a:extLst>
                </a:gridCol>
              </a:tblGrid>
              <a:tr h="256197">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457558">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dirty="0">
                          <a:latin typeface="Arial"/>
                          <a:cs typeface="Arial"/>
                        </a:rPr>
                        <a:t>8:0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spc="-5" dirty="0">
                          <a:latin typeface="Arial"/>
                          <a:cs typeface="Arial"/>
                        </a:rPr>
                        <a:t>HOLD_ON</a:t>
                      </a:r>
                      <a:endParaRPr lang="en-US" altLang="ko-KR" sz="900" dirty="0">
                        <a:latin typeface="Arial"/>
                        <a:cs typeface="Arial"/>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spc="-5" dirty="0">
                          <a:latin typeface="Arial"/>
                          <a:cs typeface="Arial"/>
                        </a:rPr>
                        <a:t>This</a:t>
                      </a:r>
                      <a:r>
                        <a:rPr lang="en-US" altLang="ko-KR" sz="900" spc="-20" dirty="0">
                          <a:latin typeface="Arial"/>
                          <a:cs typeface="Arial"/>
                        </a:rPr>
                        <a:t> </a:t>
                      </a:r>
                      <a:r>
                        <a:rPr lang="en-US" altLang="ko-KR" sz="900" dirty="0">
                          <a:latin typeface="Arial"/>
                          <a:cs typeface="Arial"/>
                        </a:rPr>
                        <a:t>means the </a:t>
                      </a:r>
                      <a:r>
                        <a:rPr lang="en-US" altLang="ko-KR" sz="900" spc="-5" dirty="0">
                          <a:latin typeface="Arial"/>
                          <a:cs typeface="Arial"/>
                        </a:rPr>
                        <a:t>high </a:t>
                      </a:r>
                      <a:r>
                        <a:rPr lang="en-US" altLang="ko-KR" sz="900" dirty="0">
                          <a:latin typeface="Arial"/>
                          <a:cs typeface="Arial"/>
                        </a:rPr>
                        <a:t>active time of </a:t>
                      </a:r>
                      <a:r>
                        <a:rPr lang="en-US" altLang="ko-KR" sz="900" spc="-5" dirty="0">
                          <a:latin typeface="Arial"/>
                          <a:cs typeface="Arial"/>
                        </a:rPr>
                        <a:t>HOLD </a:t>
                      </a:r>
                      <a:r>
                        <a:rPr lang="en-US" altLang="ko-KR" sz="900" dirty="0">
                          <a:latin typeface="Arial"/>
                          <a:cs typeface="Arial"/>
                        </a:rPr>
                        <a:t>signal </a:t>
                      </a:r>
                      <a:r>
                        <a:rPr lang="en-US" altLang="ko-KR" sz="900" spc="-5" dirty="0">
                          <a:latin typeface="Arial"/>
                          <a:cs typeface="Arial"/>
                        </a:rPr>
                        <a:t>and depends on AQ06/08 </a:t>
                      </a:r>
                      <a:r>
                        <a:rPr lang="en-US" altLang="ko-KR" sz="900" spc="-235" dirty="0">
                          <a:latin typeface="Arial"/>
                          <a:cs typeface="Arial"/>
                        </a:rPr>
                        <a:t> </a:t>
                      </a:r>
                      <a:r>
                        <a:rPr lang="en-US" altLang="ko-KR" sz="900" dirty="0">
                          <a:latin typeface="Arial"/>
                          <a:cs typeface="Arial"/>
                        </a:rPr>
                        <a:t>specification</a:t>
                      </a:r>
                      <a:r>
                        <a:rPr lang="en-US" altLang="ko-KR" sz="900" spc="-45" dirty="0">
                          <a:latin typeface="Arial"/>
                          <a:cs typeface="Arial"/>
                        </a:rPr>
                        <a:t> </a:t>
                      </a:r>
                      <a:r>
                        <a:rPr lang="en-US" altLang="ko-KR" sz="900" dirty="0">
                          <a:latin typeface="Arial"/>
                          <a:cs typeface="Arial"/>
                        </a:rPr>
                        <a:t>including</a:t>
                      </a:r>
                      <a:r>
                        <a:rPr lang="en-US" altLang="ko-KR" sz="900" spc="-35" dirty="0">
                          <a:latin typeface="Arial"/>
                          <a:cs typeface="Arial"/>
                        </a:rPr>
                        <a:t> </a:t>
                      </a:r>
                      <a:r>
                        <a:rPr lang="en-US" altLang="ko-KR" sz="900" spc="-5" dirty="0">
                          <a:latin typeface="Arial"/>
                          <a:cs typeface="Arial"/>
                        </a:rPr>
                        <a:t>external</a:t>
                      </a:r>
                      <a:r>
                        <a:rPr lang="en-US" altLang="ko-KR" sz="900" dirty="0">
                          <a:latin typeface="Arial"/>
                          <a:cs typeface="Arial"/>
                        </a:rPr>
                        <a:t> </a:t>
                      </a:r>
                      <a:r>
                        <a:rPr lang="en-US" altLang="ko-KR" sz="900" spc="-5" dirty="0">
                          <a:latin typeface="Arial"/>
                          <a:cs typeface="Arial"/>
                        </a:rPr>
                        <a:t>environment</a:t>
                      </a:r>
                      <a:r>
                        <a:rPr lang="en-US" altLang="ko-KR" sz="900" spc="-30" dirty="0">
                          <a:latin typeface="Arial"/>
                          <a:cs typeface="Arial"/>
                        </a:rPr>
                        <a:t> </a:t>
                      </a:r>
                      <a:r>
                        <a:rPr lang="en-US" altLang="ko-KR" sz="900" spc="-5" dirty="0">
                          <a:latin typeface="Arial"/>
                          <a:cs typeface="Arial"/>
                        </a:rPr>
                        <a:t>in</a:t>
                      </a:r>
                      <a:r>
                        <a:rPr lang="en-US" altLang="ko-KR" sz="900" spc="-10" dirty="0">
                          <a:latin typeface="Arial"/>
                          <a:cs typeface="Arial"/>
                        </a:rPr>
                        <a:t> </a:t>
                      </a:r>
                      <a:r>
                        <a:rPr lang="en-US" altLang="ko-KR" sz="900" dirty="0">
                          <a:latin typeface="Arial"/>
                          <a:cs typeface="Arial"/>
                        </a:rPr>
                        <a:t>signal</a:t>
                      </a:r>
                      <a:r>
                        <a:rPr lang="en-US" altLang="ko-KR" sz="900" spc="-20" dirty="0">
                          <a:latin typeface="Arial"/>
                          <a:cs typeface="Arial"/>
                        </a:rPr>
                        <a:t> </a:t>
                      </a:r>
                      <a:r>
                        <a:rPr lang="en-US" altLang="ko-KR" sz="900" dirty="0">
                          <a:latin typeface="Arial"/>
                          <a:cs typeface="Arial"/>
                        </a:rPr>
                        <a:t>propagation</a:t>
                      </a:r>
                      <a:r>
                        <a:rPr lang="en-US" altLang="ko-KR" sz="900" spc="-40" dirty="0">
                          <a:latin typeface="Arial"/>
                          <a:cs typeface="Arial"/>
                        </a:rPr>
                        <a:t> </a:t>
                      </a:r>
                      <a:r>
                        <a:rPr lang="en-US" altLang="ko-KR" sz="900" spc="-5" dirty="0">
                          <a:latin typeface="Arial"/>
                          <a:cs typeface="Arial"/>
                        </a:rPr>
                        <a:t>line. This is counted by MCLK.  Refer to the Figure 13.</a:t>
                      </a:r>
                      <a:endParaRPr lang="en-US" altLang="ko-KR" sz="900" dirty="0">
                        <a:latin typeface="Arial"/>
                        <a:cs typeface="Arial"/>
                      </a:endParaRP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19" name="표 18">
            <a:extLst>
              <a:ext uri="{FF2B5EF4-FFF2-40B4-BE49-F238E27FC236}">
                <a16:creationId xmlns:a16="http://schemas.microsoft.com/office/drawing/2014/main" id="{549DDC30-4224-1F70-91ED-7356DD710A18}"/>
              </a:ext>
            </a:extLst>
          </p:cNvPr>
          <p:cNvGraphicFramePr>
            <a:graphicFrameLocks noGrp="1"/>
          </p:cNvGraphicFramePr>
          <p:nvPr>
            <p:extLst>
              <p:ext uri="{D42A27DB-BD31-4B8C-83A1-F6EECF244321}">
                <p14:modId xmlns:p14="http://schemas.microsoft.com/office/powerpoint/2010/main" val="3406544949"/>
              </p:ext>
            </p:extLst>
          </p:nvPr>
        </p:nvGraphicFramePr>
        <p:xfrm>
          <a:off x="403294" y="1795967"/>
          <a:ext cx="6033770" cy="739677"/>
        </p:xfrm>
        <a:graphic>
          <a:graphicData uri="http://schemas.openxmlformats.org/drawingml/2006/table">
            <a:tbl>
              <a:tblPr firstRow="1" bandRow="1">
                <a:tableStyleId>{5C22544A-7EE6-4342-B048-85BDC9FD1C3A}</a:tableStyleId>
              </a:tblPr>
              <a:tblGrid>
                <a:gridCol w="384612">
                  <a:extLst>
                    <a:ext uri="{9D8B030D-6E8A-4147-A177-3AD203B41FA5}">
                      <a16:colId xmlns:a16="http://schemas.microsoft.com/office/drawing/2014/main" val="4170535043"/>
                    </a:ext>
                  </a:extLst>
                </a:gridCol>
                <a:gridCol w="1523121">
                  <a:extLst>
                    <a:ext uri="{9D8B030D-6E8A-4147-A177-3AD203B41FA5}">
                      <a16:colId xmlns:a16="http://schemas.microsoft.com/office/drawing/2014/main" val="2079070694"/>
                    </a:ext>
                  </a:extLst>
                </a:gridCol>
                <a:gridCol w="4126037">
                  <a:extLst>
                    <a:ext uri="{9D8B030D-6E8A-4147-A177-3AD203B41FA5}">
                      <a16:colId xmlns:a16="http://schemas.microsoft.com/office/drawing/2014/main" val="32595803"/>
                    </a:ext>
                  </a:extLst>
                </a:gridCol>
              </a:tblGrid>
              <a:tr h="256197">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457558">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dirty="0">
                          <a:latin typeface="Arial"/>
                          <a:cs typeface="Arial"/>
                        </a:rPr>
                        <a:t>9:0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spc="-5" dirty="0">
                          <a:latin typeface="Arial"/>
                          <a:cs typeface="Arial"/>
                        </a:rPr>
                        <a:t>HOLD_SU</a:t>
                      </a:r>
                      <a:endParaRPr lang="en-US" altLang="ko-KR" sz="900" dirty="0">
                        <a:latin typeface="Arial"/>
                        <a:cs typeface="Arial"/>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spc="-5" dirty="0">
                          <a:latin typeface="Arial"/>
                          <a:cs typeface="Arial"/>
                        </a:rPr>
                        <a:t>This</a:t>
                      </a:r>
                      <a:r>
                        <a:rPr lang="en-US" altLang="ko-KR" sz="900" spc="-20" dirty="0">
                          <a:latin typeface="Arial"/>
                          <a:cs typeface="Arial"/>
                        </a:rPr>
                        <a:t> </a:t>
                      </a:r>
                      <a:r>
                        <a:rPr lang="en-US" altLang="ko-KR" sz="900" dirty="0">
                          <a:latin typeface="Arial"/>
                          <a:cs typeface="Arial"/>
                        </a:rPr>
                        <a:t>means the </a:t>
                      </a:r>
                      <a:r>
                        <a:rPr lang="en-US" altLang="ko-KR" sz="900" spc="-5" dirty="0">
                          <a:latin typeface="Arial"/>
                          <a:cs typeface="Arial"/>
                        </a:rPr>
                        <a:t>interval </a:t>
                      </a:r>
                      <a:r>
                        <a:rPr lang="en-US" altLang="ko-KR" sz="900" dirty="0">
                          <a:latin typeface="Arial"/>
                          <a:cs typeface="Arial"/>
                        </a:rPr>
                        <a:t>time from the </a:t>
                      </a:r>
                      <a:r>
                        <a:rPr lang="en-US" altLang="ko-KR" sz="900" spc="-5" dirty="0">
                          <a:latin typeface="Arial"/>
                          <a:cs typeface="Arial"/>
                        </a:rPr>
                        <a:t>point </a:t>
                      </a:r>
                      <a:r>
                        <a:rPr lang="en-US" altLang="ko-KR" sz="900" dirty="0">
                          <a:latin typeface="Arial"/>
                          <a:cs typeface="Arial"/>
                        </a:rPr>
                        <a:t>of </a:t>
                      </a:r>
                      <a:r>
                        <a:rPr lang="en-US" altLang="ko-KR" sz="900" spc="-5" dirty="0">
                          <a:latin typeface="Arial"/>
                          <a:cs typeface="Arial"/>
                        </a:rPr>
                        <a:t>outputting </a:t>
                      </a:r>
                      <a:r>
                        <a:rPr lang="en-US" altLang="ko-KR" sz="900" dirty="0">
                          <a:latin typeface="Arial"/>
                          <a:cs typeface="Arial"/>
                        </a:rPr>
                        <a:t>ADO signal to the </a:t>
                      </a:r>
                      <a:r>
                        <a:rPr lang="en-US" altLang="ko-KR" sz="900" spc="-5" dirty="0">
                          <a:latin typeface="Arial"/>
                          <a:cs typeface="Arial"/>
                        </a:rPr>
                        <a:t>point </a:t>
                      </a:r>
                      <a:r>
                        <a:rPr lang="en-US" altLang="ko-KR" sz="900" dirty="0">
                          <a:latin typeface="Arial"/>
                          <a:cs typeface="Arial"/>
                        </a:rPr>
                        <a:t>of </a:t>
                      </a:r>
                      <a:r>
                        <a:rPr lang="en-US" altLang="ko-KR" sz="900" spc="-235" dirty="0">
                          <a:latin typeface="Arial"/>
                          <a:cs typeface="Arial"/>
                        </a:rPr>
                        <a:t> </a:t>
                      </a:r>
                      <a:r>
                        <a:rPr lang="en-US" altLang="ko-KR" sz="900" dirty="0">
                          <a:latin typeface="Arial"/>
                          <a:cs typeface="Arial"/>
                        </a:rPr>
                        <a:t>rising-edge</a:t>
                      </a:r>
                      <a:r>
                        <a:rPr lang="en-US" altLang="ko-KR" sz="900" spc="-35" dirty="0">
                          <a:latin typeface="Arial"/>
                          <a:cs typeface="Arial"/>
                        </a:rPr>
                        <a:t> </a:t>
                      </a:r>
                      <a:r>
                        <a:rPr lang="en-US" altLang="ko-KR" sz="900" dirty="0">
                          <a:latin typeface="Arial"/>
                          <a:cs typeface="Arial"/>
                        </a:rPr>
                        <a:t>of</a:t>
                      </a:r>
                      <a:r>
                        <a:rPr lang="en-US" altLang="ko-KR" sz="900" spc="-10" dirty="0">
                          <a:latin typeface="Arial"/>
                          <a:cs typeface="Arial"/>
                        </a:rPr>
                        <a:t> </a:t>
                      </a:r>
                      <a:r>
                        <a:rPr lang="en-US" altLang="ko-KR" sz="900" spc="-5" dirty="0">
                          <a:latin typeface="Arial"/>
                          <a:cs typeface="Arial"/>
                        </a:rPr>
                        <a:t>HOLD</a:t>
                      </a:r>
                      <a:r>
                        <a:rPr lang="en-US" altLang="ko-KR" sz="900" dirty="0">
                          <a:latin typeface="Arial"/>
                          <a:cs typeface="Arial"/>
                        </a:rPr>
                        <a:t> signal</a:t>
                      </a:r>
                      <a:r>
                        <a:rPr lang="en-US" altLang="ko-KR" sz="900" spc="-20" dirty="0">
                          <a:latin typeface="Arial"/>
                          <a:cs typeface="Arial"/>
                        </a:rPr>
                        <a:t> </a:t>
                      </a:r>
                      <a:r>
                        <a:rPr lang="en-US" altLang="ko-KR" sz="900" dirty="0">
                          <a:latin typeface="Arial"/>
                          <a:cs typeface="Arial"/>
                        </a:rPr>
                        <a:t>to</a:t>
                      </a:r>
                      <a:r>
                        <a:rPr lang="en-US" altLang="ko-KR" sz="900" spc="-10" dirty="0">
                          <a:latin typeface="Arial"/>
                          <a:cs typeface="Arial"/>
                        </a:rPr>
                        <a:t> </a:t>
                      </a:r>
                      <a:r>
                        <a:rPr lang="en-US" altLang="ko-KR" sz="900" spc="-5" dirty="0">
                          <a:latin typeface="Arial"/>
                          <a:cs typeface="Arial"/>
                        </a:rPr>
                        <a:t>validate</a:t>
                      </a:r>
                      <a:r>
                        <a:rPr lang="en-US" altLang="ko-KR" sz="900" spc="-20" dirty="0">
                          <a:latin typeface="Arial"/>
                          <a:cs typeface="Arial"/>
                        </a:rPr>
                        <a:t> </a:t>
                      </a:r>
                      <a:r>
                        <a:rPr lang="en-US" altLang="ko-KR" sz="900" dirty="0">
                          <a:latin typeface="Arial"/>
                          <a:cs typeface="Arial"/>
                        </a:rPr>
                        <a:t>AQ</a:t>
                      </a:r>
                      <a:r>
                        <a:rPr lang="en-US" altLang="ko-KR" sz="900" spc="5" dirty="0">
                          <a:latin typeface="Arial"/>
                          <a:cs typeface="Arial"/>
                        </a:rPr>
                        <a:t> </a:t>
                      </a:r>
                      <a:r>
                        <a:rPr lang="en-US" altLang="ko-KR" sz="900" dirty="0">
                          <a:latin typeface="Arial"/>
                          <a:cs typeface="Arial"/>
                        </a:rPr>
                        <a:t>series</a:t>
                      </a:r>
                      <a:r>
                        <a:rPr lang="en-US" altLang="ko-KR" sz="900" spc="-30" dirty="0">
                          <a:latin typeface="Arial"/>
                          <a:cs typeface="Arial"/>
                        </a:rPr>
                        <a:t> </a:t>
                      </a:r>
                      <a:r>
                        <a:rPr lang="en-US" altLang="ko-KR" sz="900" dirty="0">
                          <a:latin typeface="Arial"/>
                          <a:cs typeface="Arial"/>
                        </a:rPr>
                        <a:t>to </a:t>
                      </a:r>
                      <a:r>
                        <a:rPr lang="en-US" altLang="ko-KR" sz="900" spc="-5" dirty="0">
                          <a:latin typeface="Arial"/>
                          <a:cs typeface="Arial"/>
                        </a:rPr>
                        <a:t>be</a:t>
                      </a:r>
                      <a:r>
                        <a:rPr lang="en-US" altLang="ko-KR" sz="900" spc="-10" dirty="0">
                          <a:latin typeface="Arial"/>
                          <a:cs typeface="Arial"/>
                        </a:rPr>
                        <a:t> </a:t>
                      </a:r>
                      <a:r>
                        <a:rPr lang="en-US" altLang="ko-KR" sz="900" dirty="0">
                          <a:latin typeface="Arial"/>
                          <a:cs typeface="Arial"/>
                        </a:rPr>
                        <a:t>sensed</a:t>
                      </a:r>
                      <a:r>
                        <a:rPr lang="en-US" altLang="ko-KR" sz="900" spc="-30" dirty="0">
                          <a:latin typeface="Arial"/>
                          <a:cs typeface="Arial"/>
                        </a:rPr>
                        <a:t> </a:t>
                      </a:r>
                      <a:r>
                        <a:rPr lang="en-US" altLang="ko-KR" sz="900" spc="-5" dirty="0">
                          <a:latin typeface="Arial"/>
                          <a:cs typeface="Arial"/>
                        </a:rPr>
                        <a:t>on</a:t>
                      </a:r>
                      <a:r>
                        <a:rPr lang="en-US" altLang="ko-KR" sz="900" dirty="0">
                          <a:latin typeface="Arial"/>
                          <a:cs typeface="Arial"/>
                        </a:rPr>
                        <a:t> stable</a:t>
                      </a:r>
                      <a:r>
                        <a:rPr lang="en-US" altLang="ko-KR" sz="900" spc="-35" dirty="0">
                          <a:latin typeface="Arial"/>
                          <a:cs typeface="Arial"/>
                        </a:rPr>
                        <a:t> </a:t>
                      </a:r>
                      <a:r>
                        <a:rPr lang="en-US" altLang="ko-KR" sz="900" spc="-5" dirty="0">
                          <a:latin typeface="Arial"/>
                          <a:cs typeface="Arial"/>
                        </a:rPr>
                        <a:t>level. This is counted by MCLK.  Refer to the Figure 13.</a:t>
                      </a:r>
                      <a:endParaRPr lang="en-US" altLang="ko-KR" sz="900" dirty="0">
                        <a:latin typeface="Arial"/>
                        <a:cs typeface="Arial"/>
                      </a:endParaRP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5" name="object 9">
            <a:extLst>
              <a:ext uri="{FF2B5EF4-FFF2-40B4-BE49-F238E27FC236}">
                <a16:creationId xmlns:a16="http://schemas.microsoft.com/office/drawing/2014/main" id="{0D3DDDFA-6780-5901-FE6F-F9CA8A78DFD6}"/>
              </a:ext>
            </a:extLst>
          </p:cNvPr>
          <p:cNvSpPr txBox="1"/>
          <p:nvPr/>
        </p:nvSpPr>
        <p:spPr>
          <a:xfrm>
            <a:off x="304800" y="9067800"/>
            <a:ext cx="2078355" cy="289823"/>
          </a:xfrm>
          <a:prstGeom prst="rect">
            <a:avLst/>
          </a:prstGeom>
        </p:spPr>
        <p:txBody>
          <a:bodyPr vert="horz" wrap="square" lIns="0" tIns="12700" rIns="0" bIns="0" rtlCol="0">
            <a:spAutoFit/>
          </a:bodyPr>
          <a:lstStyle/>
          <a:p>
            <a:pPr marL="12700">
              <a:lnSpc>
                <a:spcPct val="100000"/>
              </a:lnSpc>
              <a:spcBef>
                <a:spcPts val="100"/>
              </a:spcBef>
            </a:pPr>
            <a:r>
              <a:rPr b="1" spc="-5" dirty="0">
                <a:solidFill>
                  <a:srgbClr val="FF0000"/>
                </a:solidFill>
                <a:cs typeface="Perpetua Titling MT"/>
              </a:rPr>
              <a:t>CONFIDENTIAL</a:t>
            </a:r>
            <a:endParaRPr dirty="0">
              <a:cs typeface="Perpetua Titling MT"/>
            </a:endParaRPr>
          </a:p>
        </p:txBody>
      </p:sp>
      <p:sp>
        <p:nvSpPr>
          <p:cNvPr id="9" name="object 6">
            <a:extLst>
              <a:ext uri="{FF2B5EF4-FFF2-40B4-BE49-F238E27FC236}">
                <a16:creationId xmlns:a16="http://schemas.microsoft.com/office/drawing/2014/main" id="{9590000F-AFD0-C25C-8DEB-B6CD10774B1D}"/>
              </a:ext>
            </a:extLst>
          </p:cNvPr>
          <p:cNvSpPr/>
          <p:nvPr/>
        </p:nvSpPr>
        <p:spPr>
          <a:xfrm>
            <a:off x="301676" y="9458756"/>
            <a:ext cx="6246495" cy="0"/>
          </a:xfrm>
          <a:custGeom>
            <a:avLst/>
            <a:gdLst/>
            <a:ahLst/>
            <a:cxnLst/>
            <a:rect l="l" t="t" r="r" b="b"/>
            <a:pathLst>
              <a:path w="6246495">
                <a:moveTo>
                  <a:pt x="0" y="0"/>
                </a:moveTo>
                <a:lnTo>
                  <a:pt x="6245999" y="0"/>
                </a:lnTo>
              </a:path>
            </a:pathLst>
          </a:custGeom>
          <a:ln w="25920">
            <a:solidFill>
              <a:srgbClr val="BFBFBF"/>
            </a:solidFill>
          </a:ln>
        </p:spPr>
        <p:txBody>
          <a:bodyPr wrap="square" lIns="0" tIns="0" rIns="0" bIns="0" rtlCol="0"/>
          <a:lstStyle/>
          <a:p>
            <a:endParaRPr/>
          </a:p>
        </p:txBody>
      </p:sp>
      <p:sp>
        <p:nvSpPr>
          <p:cNvPr id="12" name="슬라이드 번호 개체 틀 3">
            <a:hlinkClick r:id="rId2"/>
            <a:extLst>
              <a:ext uri="{FF2B5EF4-FFF2-40B4-BE49-F238E27FC236}">
                <a16:creationId xmlns:a16="http://schemas.microsoft.com/office/drawing/2014/main" id="{8C166BB2-CFE3-071E-C1CA-5A3620C9ADD7}"/>
              </a:ext>
            </a:extLst>
          </p:cNvPr>
          <p:cNvSpPr txBox="1">
            <a:spLocks/>
          </p:cNvSpPr>
          <p:nvPr/>
        </p:nvSpPr>
        <p:spPr>
          <a:xfrm>
            <a:off x="5151602" y="9452864"/>
            <a:ext cx="1487550"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dirty="0">
                <a:solidFill>
                  <a:prstClr val="black"/>
                </a:solidFill>
                <a:latin typeface="Arial" panose="020B0604020202020204" pitchFamily="34" charset="0"/>
                <a:cs typeface="Arial" panose="020B0604020202020204" pitchFamily="34" charset="0"/>
              </a:rPr>
              <a:t>http://www.glbltech.com/</a:t>
            </a:r>
            <a:endParaRPr lang="ko-KR" altLang="en-US" dirty="0">
              <a:solidFill>
                <a:prstClr val="black"/>
              </a:solidFill>
              <a:latin typeface="Arial" panose="020B0604020202020204" pitchFamily="34" charset="0"/>
              <a:cs typeface="Arial" panose="020B0604020202020204" pitchFamily="34" charset="0"/>
            </a:endParaRPr>
          </a:p>
        </p:txBody>
      </p:sp>
      <p:sp>
        <p:nvSpPr>
          <p:cNvPr id="20" name="object 38">
            <a:extLst>
              <a:ext uri="{FF2B5EF4-FFF2-40B4-BE49-F238E27FC236}">
                <a16:creationId xmlns:a16="http://schemas.microsoft.com/office/drawing/2014/main" id="{D6FE7552-C88D-483C-ADA1-4FC7D874C175}"/>
              </a:ext>
            </a:extLst>
          </p:cNvPr>
          <p:cNvSpPr txBox="1">
            <a:spLocks/>
          </p:cNvSpPr>
          <p:nvPr/>
        </p:nvSpPr>
        <p:spPr>
          <a:xfrm>
            <a:off x="3309066" y="9547988"/>
            <a:ext cx="487045" cy="139141"/>
          </a:xfrm>
          <a:prstGeom prst="rect">
            <a:avLst/>
          </a:prstGeom>
        </p:spPr>
        <p:txBody>
          <a:bodyPr vert="horz" wrap="square" lIns="0" tIns="635" rIns="0" bIns="0" rtlCol="0">
            <a:spAutoFit/>
          </a:bodyPr>
          <a:lstStyle>
            <a:defPPr>
              <a:defRPr lang="ko-KR"/>
            </a:defPPr>
            <a:lvl1pPr marL="0" algn="l" defTabSz="914400" rtl="0" eaLnBrk="1" latinLnBrk="1" hangingPunct="1">
              <a:defRPr sz="1050" b="0" i="0" kern="1200">
                <a:solidFill>
                  <a:schemeClr val="tx1"/>
                </a:solidFill>
                <a:latin typeface="Arial"/>
                <a:ea typeface="+mn-ea"/>
                <a:cs typeface="Arial"/>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marL="12700">
              <a:spcBef>
                <a:spcPts val="5"/>
              </a:spcBef>
              <a:defRPr/>
            </a:pPr>
            <a:r>
              <a:rPr lang="en-US" sz="900" dirty="0">
                <a:solidFill>
                  <a:prstClr val="black"/>
                </a:solidFill>
              </a:rPr>
              <a:t>Page</a:t>
            </a:r>
            <a:r>
              <a:rPr lang="en-US" sz="900" spc="-60" dirty="0">
                <a:solidFill>
                  <a:prstClr val="black"/>
                </a:solidFill>
              </a:rPr>
              <a:t> </a:t>
            </a:r>
            <a:fld id="{81D60167-4931-47E6-BA6A-407CBD079E47}" type="slidenum">
              <a:rPr sz="900">
                <a:solidFill>
                  <a:prstClr val="black"/>
                </a:solidFill>
              </a:rPr>
              <a:pPr marL="12700">
                <a:spcBef>
                  <a:spcPts val="5"/>
                </a:spcBef>
                <a:defRPr/>
              </a:pPr>
              <a:t>36</a:t>
            </a:fld>
            <a:endParaRPr sz="900" dirty="0">
              <a:solidFill>
                <a:prstClr val="black"/>
              </a:solidFill>
            </a:endParaRPr>
          </a:p>
        </p:txBody>
      </p:sp>
      <p:sp>
        <p:nvSpPr>
          <p:cNvPr id="21" name="슬라이드 번호 개체 틀 3">
            <a:extLst>
              <a:ext uri="{FF2B5EF4-FFF2-40B4-BE49-F238E27FC236}">
                <a16:creationId xmlns:a16="http://schemas.microsoft.com/office/drawing/2014/main" id="{335BA827-E2EE-B006-5030-38B1E65750A7}"/>
              </a:ext>
            </a:extLst>
          </p:cNvPr>
          <p:cNvSpPr txBox="1">
            <a:spLocks/>
          </p:cNvSpPr>
          <p:nvPr/>
        </p:nvSpPr>
        <p:spPr>
          <a:xfrm>
            <a:off x="299401" y="9520856"/>
            <a:ext cx="2060991" cy="175259"/>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lang="en-US" altLang="ko-KR" dirty="0">
                <a:solidFill>
                  <a:prstClr val="black"/>
                </a:solidFill>
                <a:latin typeface="Arial" panose="020B0604020202020204" pitchFamily="34" charset="0"/>
                <a:cs typeface="Arial" panose="020B0604020202020204" pitchFamily="34" charset="0"/>
              </a:rPr>
              <a:t>Dated 30-Nov 23  Rev. 01</a:t>
            </a:r>
            <a:endParaRPr lang="ko-KR" altLang="en-US" dirty="0">
              <a:solidFill>
                <a:prstClr val="black"/>
              </a:solidFill>
              <a:latin typeface="Arial" panose="020B0604020202020204" pitchFamily="34" charset="0"/>
              <a:cs typeface="Arial" panose="020B0604020202020204" pitchFamily="34" charset="0"/>
            </a:endParaRPr>
          </a:p>
        </p:txBody>
      </p:sp>
      <p:sp>
        <p:nvSpPr>
          <p:cNvPr id="22" name="Holder 3">
            <a:extLst>
              <a:ext uri="{FF2B5EF4-FFF2-40B4-BE49-F238E27FC236}">
                <a16:creationId xmlns:a16="http://schemas.microsoft.com/office/drawing/2014/main" id="{8BE3EB42-A92A-555B-AA3F-2522A616EBD4}"/>
              </a:ext>
            </a:extLst>
          </p:cNvPr>
          <p:cNvSpPr txBox="1">
            <a:spLocks/>
          </p:cNvSpPr>
          <p:nvPr/>
        </p:nvSpPr>
        <p:spPr>
          <a:xfrm>
            <a:off x="5147476" y="203944"/>
            <a:ext cx="1447800" cy="276999"/>
          </a:xfrm>
          <a:prstGeom prst="rect">
            <a:avLst/>
          </a:prstGeom>
        </p:spPr>
        <p:txBody>
          <a:bodyPr wrap="square" lIns="0" tIns="0" rIns="0" bIns="0">
            <a:spAutoFit/>
          </a:bodyPr>
          <a:lstStyle>
            <a:lvl1pPr marL="0">
              <a:defRPr>
                <a:solidFill>
                  <a:srgbClr val="FF99FF"/>
                </a:solidFill>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defTabSz="914400" latinLnBrk="0"/>
            <a:r>
              <a:rPr lang="en-US" sz="1800" kern="0" dirty="0"/>
              <a:t>&lt;Preliminary&gt;</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p:nvPr/>
        </p:nvSpPr>
        <p:spPr>
          <a:xfrm>
            <a:off x="400913" y="301879"/>
            <a:ext cx="622935" cy="299720"/>
          </a:xfrm>
          <a:prstGeom prst="rect">
            <a:avLst/>
          </a:prstGeom>
        </p:spPr>
        <p:txBody>
          <a:bodyPr vert="horz" wrap="square" lIns="0" tIns="12700" rIns="0" bIns="0" rtlCol="0">
            <a:spAutoFit/>
          </a:bodyPr>
          <a:lstStyle/>
          <a:p>
            <a:pPr marL="12700">
              <a:lnSpc>
                <a:spcPct val="100000"/>
              </a:lnSpc>
              <a:spcBef>
                <a:spcPts val="100"/>
              </a:spcBef>
            </a:pPr>
            <a:r>
              <a:rPr sz="1800" b="1" spc="-5" dirty="0">
                <a:latin typeface="Arial"/>
                <a:cs typeface="Arial"/>
              </a:rPr>
              <a:t>CQ24</a:t>
            </a:r>
            <a:endParaRPr sz="1800" dirty="0">
              <a:latin typeface="Arial"/>
              <a:cs typeface="Arial"/>
            </a:endParaRPr>
          </a:p>
        </p:txBody>
      </p:sp>
      <p:sp>
        <p:nvSpPr>
          <p:cNvPr id="6" name="object 6"/>
          <p:cNvSpPr txBox="1"/>
          <p:nvPr/>
        </p:nvSpPr>
        <p:spPr>
          <a:xfrm>
            <a:off x="360679" y="927353"/>
            <a:ext cx="2176780" cy="193675"/>
          </a:xfrm>
          <a:prstGeom prst="rect">
            <a:avLst/>
          </a:prstGeom>
        </p:spPr>
        <p:txBody>
          <a:bodyPr vert="horz" wrap="square" lIns="0" tIns="12700" rIns="0" bIns="0" rtlCol="0">
            <a:spAutoFit/>
          </a:bodyPr>
          <a:lstStyle/>
          <a:p>
            <a:pPr marL="12700">
              <a:lnSpc>
                <a:spcPct val="100000"/>
              </a:lnSpc>
              <a:spcBef>
                <a:spcPts val="100"/>
              </a:spcBef>
            </a:pPr>
            <a:r>
              <a:rPr sz="1100" b="1" spc="-5" dirty="0">
                <a:latin typeface="Arial"/>
                <a:cs typeface="Arial"/>
              </a:rPr>
              <a:t>VSYNC</a:t>
            </a:r>
            <a:r>
              <a:rPr sz="1100" b="1" spc="15" dirty="0">
                <a:latin typeface="Arial"/>
                <a:cs typeface="Arial"/>
              </a:rPr>
              <a:t> </a:t>
            </a:r>
            <a:r>
              <a:rPr sz="1100" b="1" spc="-10" dirty="0">
                <a:latin typeface="Arial"/>
                <a:cs typeface="Arial"/>
              </a:rPr>
              <a:t>COMPENSATION</a:t>
            </a:r>
            <a:r>
              <a:rPr sz="1100" b="1" spc="30" dirty="0">
                <a:latin typeface="Arial"/>
                <a:cs typeface="Arial"/>
              </a:rPr>
              <a:t> </a:t>
            </a:r>
            <a:r>
              <a:rPr sz="1100" b="1" spc="-5" dirty="0">
                <a:latin typeface="Arial"/>
                <a:cs typeface="Arial"/>
              </a:rPr>
              <a:t>TIME</a:t>
            </a:r>
            <a:r>
              <a:rPr sz="1100" b="1" spc="-30" dirty="0">
                <a:latin typeface="Arial"/>
                <a:cs typeface="Arial"/>
              </a:rPr>
              <a:t> </a:t>
            </a:r>
            <a:r>
              <a:rPr sz="1100" b="1" dirty="0">
                <a:latin typeface="Arial"/>
                <a:cs typeface="Arial"/>
              </a:rPr>
              <a:t>1</a:t>
            </a:r>
            <a:endParaRPr sz="1100" dirty="0">
              <a:latin typeface="Arial"/>
              <a:cs typeface="Arial"/>
            </a:endParaRPr>
          </a:p>
        </p:txBody>
      </p:sp>
      <p:sp>
        <p:nvSpPr>
          <p:cNvPr id="7" name="object 7"/>
          <p:cNvSpPr txBox="1"/>
          <p:nvPr/>
        </p:nvSpPr>
        <p:spPr>
          <a:xfrm>
            <a:off x="400912" y="3305301"/>
            <a:ext cx="6038543" cy="182101"/>
          </a:xfrm>
          <a:prstGeom prst="rect">
            <a:avLst/>
          </a:prstGeom>
        </p:spPr>
        <p:txBody>
          <a:bodyPr vert="horz" wrap="square" lIns="0" tIns="12700" rIns="0" bIns="0" rtlCol="0">
            <a:spAutoFit/>
          </a:bodyPr>
          <a:lstStyle/>
          <a:p>
            <a:pPr marL="12700">
              <a:lnSpc>
                <a:spcPct val="100000"/>
              </a:lnSpc>
              <a:spcBef>
                <a:spcPts val="100"/>
              </a:spcBef>
            </a:pPr>
            <a:r>
              <a:rPr sz="1100" b="1" spc="-5" dirty="0">
                <a:latin typeface="Arial"/>
                <a:cs typeface="Arial"/>
              </a:rPr>
              <a:t>VSYNC</a:t>
            </a:r>
            <a:r>
              <a:rPr sz="1100" b="1" spc="15" dirty="0">
                <a:latin typeface="Arial"/>
                <a:cs typeface="Arial"/>
              </a:rPr>
              <a:t> </a:t>
            </a:r>
            <a:r>
              <a:rPr sz="1100" b="1" spc="-10" dirty="0">
                <a:latin typeface="Arial"/>
                <a:cs typeface="Arial"/>
              </a:rPr>
              <a:t>COMPENSATION</a:t>
            </a:r>
            <a:r>
              <a:rPr sz="1100" b="1" spc="30" dirty="0">
                <a:latin typeface="Arial"/>
                <a:cs typeface="Arial"/>
              </a:rPr>
              <a:t> </a:t>
            </a:r>
            <a:r>
              <a:rPr sz="1100" b="1" spc="-5" dirty="0">
                <a:latin typeface="Arial"/>
                <a:cs typeface="Arial"/>
              </a:rPr>
              <a:t>TIME</a:t>
            </a:r>
            <a:r>
              <a:rPr sz="1100" b="1" spc="-30" dirty="0">
                <a:latin typeface="Arial"/>
                <a:cs typeface="Arial"/>
              </a:rPr>
              <a:t> </a:t>
            </a:r>
            <a:r>
              <a:rPr sz="1100" b="1" dirty="0">
                <a:latin typeface="Arial"/>
                <a:cs typeface="Arial"/>
              </a:rPr>
              <a:t>2</a:t>
            </a:r>
            <a:endParaRPr sz="1100" dirty="0">
              <a:latin typeface="Arial"/>
              <a:cs typeface="Arial"/>
            </a:endParaRPr>
          </a:p>
        </p:txBody>
      </p:sp>
      <p:graphicFrame>
        <p:nvGraphicFramePr>
          <p:cNvPr id="8" name="object 8"/>
          <p:cNvGraphicFramePr>
            <a:graphicFrameLocks noGrp="1"/>
          </p:cNvGraphicFramePr>
          <p:nvPr>
            <p:extLst>
              <p:ext uri="{D42A27DB-BD31-4B8C-83A1-F6EECF244321}">
                <p14:modId xmlns:p14="http://schemas.microsoft.com/office/powerpoint/2010/main" val="3097477251"/>
              </p:ext>
            </p:extLst>
          </p:nvPr>
        </p:nvGraphicFramePr>
        <p:xfrm>
          <a:off x="400913" y="1230566"/>
          <a:ext cx="6038536" cy="387350"/>
        </p:xfrm>
        <a:graphic>
          <a:graphicData uri="http://schemas.openxmlformats.org/drawingml/2006/table">
            <a:tbl>
              <a:tblPr firstRow="1" bandRow="1">
                <a:tableStyleId>{2D5ABB26-0587-4C30-8999-92F81FD0307C}</a:tableStyleId>
              </a:tblPr>
              <a:tblGrid>
                <a:gridCol w="412143">
                  <a:extLst>
                    <a:ext uri="{9D8B030D-6E8A-4147-A177-3AD203B41FA5}">
                      <a16:colId xmlns:a16="http://schemas.microsoft.com/office/drawing/2014/main" val="20000"/>
                    </a:ext>
                  </a:extLst>
                </a:gridCol>
                <a:gridCol w="474307">
                  <a:extLst>
                    <a:ext uri="{9D8B030D-6E8A-4147-A177-3AD203B41FA5}">
                      <a16:colId xmlns:a16="http://schemas.microsoft.com/office/drawing/2014/main" val="20001"/>
                    </a:ext>
                  </a:extLst>
                </a:gridCol>
                <a:gridCol w="322005">
                  <a:extLst>
                    <a:ext uri="{9D8B030D-6E8A-4147-A177-3AD203B41FA5}">
                      <a16:colId xmlns:a16="http://schemas.microsoft.com/office/drawing/2014/main" val="20002"/>
                    </a:ext>
                  </a:extLst>
                </a:gridCol>
                <a:gridCol w="322006">
                  <a:extLst>
                    <a:ext uri="{9D8B030D-6E8A-4147-A177-3AD203B41FA5}">
                      <a16:colId xmlns:a16="http://schemas.microsoft.com/office/drawing/2014/main" val="20003"/>
                    </a:ext>
                  </a:extLst>
                </a:gridCol>
                <a:gridCol w="322006">
                  <a:extLst>
                    <a:ext uri="{9D8B030D-6E8A-4147-A177-3AD203B41FA5}">
                      <a16:colId xmlns:a16="http://schemas.microsoft.com/office/drawing/2014/main" val="20004"/>
                    </a:ext>
                  </a:extLst>
                </a:gridCol>
                <a:gridCol w="322006">
                  <a:extLst>
                    <a:ext uri="{9D8B030D-6E8A-4147-A177-3AD203B41FA5}">
                      <a16:colId xmlns:a16="http://schemas.microsoft.com/office/drawing/2014/main" val="20005"/>
                    </a:ext>
                  </a:extLst>
                </a:gridCol>
                <a:gridCol w="322006">
                  <a:extLst>
                    <a:ext uri="{9D8B030D-6E8A-4147-A177-3AD203B41FA5}">
                      <a16:colId xmlns:a16="http://schemas.microsoft.com/office/drawing/2014/main" val="20006"/>
                    </a:ext>
                  </a:extLst>
                </a:gridCol>
                <a:gridCol w="322006">
                  <a:extLst>
                    <a:ext uri="{9D8B030D-6E8A-4147-A177-3AD203B41FA5}">
                      <a16:colId xmlns:a16="http://schemas.microsoft.com/office/drawing/2014/main" val="20007"/>
                    </a:ext>
                  </a:extLst>
                </a:gridCol>
                <a:gridCol w="322006">
                  <a:extLst>
                    <a:ext uri="{9D8B030D-6E8A-4147-A177-3AD203B41FA5}">
                      <a16:colId xmlns:a16="http://schemas.microsoft.com/office/drawing/2014/main" val="20008"/>
                    </a:ext>
                  </a:extLst>
                </a:gridCol>
                <a:gridCol w="322005">
                  <a:extLst>
                    <a:ext uri="{9D8B030D-6E8A-4147-A177-3AD203B41FA5}">
                      <a16:colId xmlns:a16="http://schemas.microsoft.com/office/drawing/2014/main" val="20009"/>
                    </a:ext>
                  </a:extLst>
                </a:gridCol>
                <a:gridCol w="322005">
                  <a:extLst>
                    <a:ext uri="{9D8B030D-6E8A-4147-A177-3AD203B41FA5}">
                      <a16:colId xmlns:a16="http://schemas.microsoft.com/office/drawing/2014/main" val="20010"/>
                    </a:ext>
                  </a:extLst>
                </a:gridCol>
                <a:gridCol w="322005">
                  <a:extLst>
                    <a:ext uri="{9D8B030D-6E8A-4147-A177-3AD203B41FA5}">
                      <a16:colId xmlns:a16="http://schemas.microsoft.com/office/drawing/2014/main" val="20011"/>
                    </a:ext>
                  </a:extLst>
                </a:gridCol>
                <a:gridCol w="322005">
                  <a:extLst>
                    <a:ext uri="{9D8B030D-6E8A-4147-A177-3AD203B41FA5}">
                      <a16:colId xmlns:a16="http://schemas.microsoft.com/office/drawing/2014/main" val="20012"/>
                    </a:ext>
                  </a:extLst>
                </a:gridCol>
                <a:gridCol w="322005">
                  <a:extLst>
                    <a:ext uri="{9D8B030D-6E8A-4147-A177-3AD203B41FA5}">
                      <a16:colId xmlns:a16="http://schemas.microsoft.com/office/drawing/2014/main" val="20013"/>
                    </a:ext>
                  </a:extLst>
                </a:gridCol>
                <a:gridCol w="322005">
                  <a:extLst>
                    <a:ext uri="{9D8B030D-6E8A-4147-A177-3AD203B41FA5}">
                      <a16:colId xmlns:a16="http://schemas.microsoft.com/office/drawing/2014/main" val="20014"/>
                    </a:ext>
                  </a:extLst>
                </a:gridCol>
                <a:gridCol w="322005">
                  <a:extLst>
                    <a:ext uri="{9D8B030D-6E8A-4147-A177-3AD203B41FA5}">
                      <a16:colId xmlns:a16="http://schemas.microsoft.com/office/drawing/2014/main" val="20015"/>
                    </a:ext>
                  </a:extLst>
                </a:gridCol>
                <a:gridCol w="322005">
                  <a:extLst>
                    <a:ext uri="{9D8B030D-6E8A-4147-A177-3AD203B41FA5}">
                      <a16:colId xmlns:a16="http://schemas.microsoft.com/office/drawing/2014/main" val="20016"/>
                    </a:ext>
                  </a:extLst>
                </a:gridCol>
                <a:gridCol w="322005">
                  <a:extLst>
                    <a:ext uri="{9D8B030D-6E8A-4147-A177-3AD203B41FA5}">
                      <a16:colId xmlns:a16="http://schemas.microsoft.com/office/drawing/2014/main" val="20017"/>
                    </a:ext>
                  </a:extLst>
                </a:gridCol>
              </a:tblGrid>
              <a:tr h="193675">
                <a:tc>
                  <a:txBody>
                    <a:bodyPr/>
                    <a:lstStyle/>
                    <a:p>
                      <a:pPr algn="ctr">
                        <a:lnSpc>
                          <a:spcPct val="100000"/>
                        </a:lnSpc>
                        <a:spcBef>
                          <a:spcPts val="260"/>
                        </a:spcBef>
                      </a:pPr>
                      <a:r>
                        <a:rPr sz="800" dirty="0">
                          <a:latin typeface="Arial"/>
                          <a:cs typeface="Arial"/>
                        </a:rPr>
                        <a:t>A[6:0]</a:t>
                      </a:r>
                    </a:p>
                  </a:txBody>
                  <a:tcPr marL="0" marR="0" marT="3302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algn="ctr">
                        <a:lnSpc>
                          <a:spcPct val="100000"/>
                        </a:lnSpc>
                        <a:spcBef>
                          <a:spcPts val="260"/>
                        </a:spcBef>
                      </a:pPr>
                      <a:r>
                        <a:rPr sz="800" spc="-5" dirty="0">
                          <a:latin typeface="Arial"/>
                          <a:cs typeface="Arial"/>
                        </a:rPr>
                        <a:t>Default</a:t>
                      </a:r>
                      <a:endParaRPr sz="800" dirty="0">
                        <a:latin typeface="Arial"/>
                        <a:cs typeface="Arial"/>
                      </a:endParaRPr>
                    </a:p>
                  </a:txBody>
                  <a:tcPr marL="0" marR="0" marT="3302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1270" algn="ctr">
                        <a:lnSpc>
                          <a:spcPct val="100000"/>
                        </a:lnSpc>
                        <a:spcBef>
                          <a:spcPts val="260"/>
                        </a:spcBef>
                      </a:pPr>
                      <a:r>
                        <a:rPr sz="800" spc="-5" dirty="0">
                          <a:latin typeface="Arial"/>
                          <a:cs typeface="Arial"/>
                        </a:rPr>
                        <a:t>D15</a:t>
                      </a:r>
                      <a:endParaRPr sz="800" dirty="0">
                        <a:latin typeface="Arial"/>
                        <a:cs typeface="Arial"/>
                      </a:endParaRPr>
                    </a:p>
                  </a:txBody>
                  <a:tcPr marL="0" marR="0" marT="3302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1905" algn="ctr">
                        <a:lnSpc>
                          <a:spcPct val="100000"/>
                        </a:lnSpc>
                        <a:spcBef>
                          <a:spcPts val="260"/>
                        </a:spcBef>
                      </a:pPr>
                      <a:r>
                        <a:rPr sz="800" spc="-5" dirty="0">
                          <a:latin typeface="Arial"/>
                          <a:cs typeface="Arial"/>
                        </a:rPr>
                        <a:t>D14</a:t>
                      </a:r>
                      <a:endParaRPr sz="800" dirty="0">
                        <a:latin typeface="Arial"/>
                        <a:cs typeface="Arial"/>
                      </a:endParaRPr>
                    </a:p>
                  </a:txBody>
                  <a:tcPr marL="0" marR="0" marT="3302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1270" algn="ctr">
                        <a:lnSpc>
                          <a:spcPct val="100000"/>
                        </a:lnSpc>
                        <a:spcBef>
                          <a:spcPts val="260"/>
                        </a:spcBef>
                      </a:pPr>
                      <a:r>
                        <a:rPr sz="800" spc="-5" dirty="0">
                          <a:latin typeface="Arial"/>
                          <a:cs typeface="Arial"/>
                        </a:rPr>
                        <a:t>D13</a:t>
                      </a:r>
                      <a:endParaRPr sz="800" dirty="0">
                        <a:latin typeface="Arial"/>
                        <a:cs typeface="Arial"/>
                      </a:endParaRPr>
                    </a:p>
                  </a:txBody>
                  <a:tcPr marL="0" marR="0" marT="3302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1905" algn="ctr">
                        <a:lnSpc>
                          <a:spcPct val="100000"/>
                        </a:lnSpc>
                        <a:spcBef>
                          <a:spcPts val="260"/>
                        </a:spcBef>
                      </a:pPr>
                      <a:r>
                        <a:rPr sz="800" spc="-5" dirty="0">
                          <a:latin typeface="Arial"/>
                          <a:cs typeface="Arial"/>
                        </a:rPr>
                        <a:t>D12</a:t>
                      </a:r>
                      <a:endParaRPr sz="800" dirty="0">
                        <a:latin typeface="Arial"/>
                        <a:cs typeface="Arial"/>
                      </a:endParaRPr>
                    </a:p>
                  </a:txBody>
                  <a:tcPr marL="0" marR="0" marT="3302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71755">
                        <a:lnSpc>
                          <a:spcPct val="100000"/>
                        </a:lnSpc>
                        <a:spcBef>
                          <a:spcPts val="260"/>
                        </a:spcBef>
                      </a:pPr>
                      <a:r>
                        <a:rPr sz="800" spc="-5" dirty="0">
                          <a:latin typeface="Arial"/>
                          <a:cs typeface="Arial"/>
                        </a:rPr>
                        <a:t>D11</a:t>
                      </a:r>
                      <a:endParaRPr sz="800" dirty="0">
                        <a:latin typeface="Arial"/>
                        <a:cs typeface="Arial"/>
                      </a:endParaRPr>
                    </a:p>
                  </a:txBody>
                  <a:tcPr marL="0" marR="0" marT="3302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71755">
                        <a:lnSpc>
                          <a:spcPct val="100000"/>
                        </a:lnSpc>
                        <a:spcBef>
                          <a:spcPts val="260"/>
                        </a:spcBef>
                      </a:pPr>
                      <a:r>
                        <a:rPr sz="800" spc="-5" dirty="0">
                          <a:latin typeface="Arial"/>
                          <a:cs typeface="Arial"/>
                        </a:rPr>
                        <a:t>D10</a:t>
                      </a:r>
                      <a:endParaRPr sz="800" dirty="0">
                        <a:latin typeface="Arial"/>
                        <a:cs typeface="Arial"/>
                      </a:endParaRPr>
                    </a:p>
                  </a:txBody>
                  <a:tcPr marL="0" marR="0" marT="3302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99060">
                        <a:lnSpc>
                          <a:spcPct val="100000"/>
                        </a:lnSpc>
                        <a:spcBef>
                          <a:spcPts val="260"/>
                        </a:spcBef>
                      </a:pPr>
                      <a:r>
                        <a:rPr sz="800" spc="-5" dirty="0">
                          <a:latin typeface="Arial"/>
                          <a:cs typeface="Arial"/>
                        </a:rPr>
                        <a:t>D9</a:t>
                      </a:r>
                      <a:endParaRPr sz="800" dirty="0">
                        <a:latin typeface="Arial"/>
                        <a:cs typeface="Arial"/>
                      </a:endParaRPr>
                    </a:p>
                  </a:txBody>
                  <a:tcPr marL="0" marR="0" marT="3302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99695">
                        <a:lnSpc>
                          <a:spcPct val="100000"/>
                        </a:lnSpc>
                        <a:spcBef>
                          <a:spcPts val="260"/>
                        </a:spcBef>
                      </a:pPr>
                      <a:r>
                        <a:rPr sz="800" spc="-5" dirty="0">
                          <a:latin typeface="Arial"/>
                          <a:cs typeface="Arial"/>
                        </a:rPr>
                        <a:t>D8</a:t>
                      </a:r>
                      <a:endParaRPr sz="800" dirty="0">
                        <a:latin typeface="Arial"/>
                        <a:cs typeface="Arial"/>
                      </a:endParaRPr>
                    </a:p>
                  </a:txBody>
                  <a:tcPr marL="0" marR="0" marT="3302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99695">
                        <a:lnSpc>
                          <a:spcPct val="100000"/>
                        </a:lnSpc>
                        <a:spcBef>
                          <a:spcPts val="260"/>
                        </a:spcBef>
                      </a:pPr>
                      <a:r>
                        <a:rPr sz="800" spc="-5" dirty="0">
                          <a:latin typeface="Arial"/>
                          <a:cs typeface="Arial"/>
                        </a:rPr>
                        <a:t>D7</a:t>
                      </a:r>
                      <a:endParaRPr sz="800" dirty="0">
                        <a:latin typeface="Arial"/>
                        <a:cs typeface="Arial"/>
                      </a:endParaRPr>
                    </a:p>
                  </a:txBody>
                  <a:tcPr marL="0" marR="0" marT="3302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99695">
                        <a:lnSpc>
                          <a:spcPct val="100000"/>
                        </a:lnSpc>
                        <a:spcBef>
                          <a:spcPts val="260"/>
                        </a:spcBef>
                      </a:pPr>
                      <a:r>
                        <a:rPr sz="800" spc="-5" dirty="0">
                          <a:latin typeface="Arial"/>
                          <a:cs typeface="Arial"/>
                        </a:rPr>
                        <a:t>D6</a:t>
                      </a:r>
                      <a:endParaRPr sz="800" dirty="0">
                        <a:latin typeface="Arial"/>
                        <a:cs typeface="Arial"/>
                      </a:endParaRPr>
                    </a:p>
                  </a:txBody>
                  <a:tcPr marL="0" marR="0" marT="3302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99695">
                        <a:lnSpc>
                          <a:spcPct val="100000"/>
                        </a:lnSpc>
                        <a:spcBef>
                          <a:spcPts val="260"/>
                        </a:spcBef>
                      </a:pPr>
                      <a:r>
                        <a:rPr sz="800" spc="-5" dirty="0">
                          <a:latin typeface="Arial"/>
                          <a:cs typeface="Arial"/>
                        </a:rPr>
                        <a:t>D5</a:t>
                      </a:r>
                      <a:endParaRPr sz="800" dirty="0">
                        <a:latin typeface="Arial"/>
                        <a:cs typeface="Arial"/>
                      </a:endParaRPr>
                    </a:p>
                  </a:txBody>
                  <a:tcPr marL="0" marR="0" marT="3302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99695">
                        <a:lnSpc>
                          <a:spcPct val="100000"/>
                        </a:lnSpc>
                        <a:spcBef>
                          <a:spcPts val="260"/>
                        </a:spcBef>
                      </a:pPr>
                      <a:r>
                        <a:rPr sz="800" spc="-5" dirty="0">
                          <a:latin typeface="Arial"/>
                          <a:cs typeface="Arial"/>
                        </a:rPr>
                        <a:t>D4</a:t>
                      </a:r>
                      <a:endParaRPr sz="800" dirty="0">
                        <a:latin typeface="Arial"/>
                        <a:cs typeface="Arial"/>
                      </a:endParaRPr>
                    </a:p>
                  </a:txBody>
                  <a:tcPr marL="0" marR="0" marT="3302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99695">
                        <a:lnSpc>
                          <a:spcPct val="100000"/>
                        </a:lnSpc>
                        <a:spcBef>
                          <a:spcPts val="260"/>
                        </a:spcBef>
                      </a:pPr>
                      <a:r>
                        <a:rPr sz="800" spc="-5" dirty="0">
                          <a:latin typeface="Arial"/>
                          <a:cs typeface="Arial"/>
                        </a:rPr>
                        <a:t>D3</a:t>
                      </a:r>
                      <a:endParaRPr sz="800" dirty="0">
                        <a:latin typeface="Arial"/>
                        <a:cs typeface="Arial"/>
                      </a:endParaRPr>
                    </a:p>
                  </a:txBody>
                  <a:tcPr marL="0" marR="0" marT="3302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99695">
                        <a:lnSpc>
                          <a:spcPct val="100000"/>
                        </a:lnSpc>
                        <a:spcBef>
                          <a:spcPts val="260"/>
                        </a:spcBef>
                      </a:pPr>
                      <a:r>
                        <a:rPr sz="800" spc="-5" dirty="0">
                          <a:latin typeface="Arial"/>
                          <a:cs typeface="Arial"/>
                        </a:rPr>
                        <a:t>D2</a:t>
                      </a:r>
                      <a:endParaRPr sz="800" dirty="0">
                        <a:latin typeface="Arial"/>
                        <a:cs typeface="Arial"/>
                      </a:endParaRPr>
                    </a:p>
                  </a:txBody>
                  <a:tcPr marL="0" marR="0" marT="3302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100330">
                        <a:lnSpc>
                          <a:spcPct val="100000"/>
                        </a:lnSpc>
                        <a:spcBef>
                          <a:spcPts val="260"/>
                        </a:spcBef>
                      </a:pPr>
                      <a:r>
                        <a:rPr sz="800" spc="-5" dirty="0">
                          <a:latin typeface="Arial"/>
                          <a:cs typeface="Arial"/>
                        </a:rPr>
                        <a:t>D1</a:t>
                      </a:r>
                      <a:endParaRPr sz="800" dirty="0">
                        <a:latin typeface="Arial"/>
                        <a:cs typeface="Arial"/>
                      </a:endParaRPr>
                    </a:p>
                  </a:txBody>
                  <a:tcPr marL="0" marR="0" marT="3302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100330">
                        <a:lnSpc>
                          <a:spcPct val="100000"/>
                        </a:lnSpc>
                        <a:spcBef>
                          <a:spcPts val="260"/>
                        </a:spcBef>
                      </a:pPr>
                      <a:r>
                        <a:rPr sz="800" spc="-5" dirty="0">
                          <a:latin typeface="Arial"/>
                          <a:cs typeface="Arial"/>
                        </a:rPr>
                        <a:t>D0</a:t>
                      </a:r>
                      <a:endParaRPr sz="800" dirty="0">
                        <a:latin typeface="Arial"/>
                        <a:cs typeface="Arial"/>
                      </a:endParaRPr>
                    </a:p>
                  </a:txBody>
                  <a:tcPr marL="0" marR="0" marT="3302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extLst>
                  <a:ext uri="{0D108BD9-81ED-4DB2-BD59-A6C34878D82A}">
                    <a16:rowId xmlns:a16="http://schemas.microsoft.com/office/drawing/2014/main" val="10000"/>
                  </a:ext>
                </a:extLst>
              </a:tr>
              <a:tr h="193675">
                <a:tc>
                  <a:txBody>
                    <a:bodyPr/>
                    <a:lstStyle/>
                    <a:p>
                      <a:pPr algn="ctr">
                        <a:lnSpc>
                          <a:spcPct val="100000"/>
                        </a:lnSpc>
                        <a:spcBef>
                          <a:spcPts val="265"/>
                        </a:spcBef>
                      </a:pPr>
                      <a:r>
                        <a:rPr sz="800" spc="-5" dirty="0">
                          <a:latin typeface="Arial"/>
                          <a:cs typeface="Arial"/>
                        </a:rPr>
                        <a:t>‘h0E</a:t>
                      </a:r>
                      <a:endParaRPr sz="8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algn="ctr">
                        <a:lnSpc>
                          <a:spcPct val="100000"/>
                        </a:lnSpc>
                        <a:spcBef>
                          <a:spcPts val="265"/>
                        </a:spcBef>
                      </a:pPr>
                      <a:r>
                        <a:rPr sz="800" dirty="0">
                          <a:latin typeface="Arial"/>
                          <a:cs typeface="Arial"/>
                        </a:rPr>
                        <a:t>0</a:t>
                      </a: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2540" algn="ctr">
                        <a:lnSpc>
                          <a:spcPct val="100000"/>
                        </a:lnSpc>
                        <a:spcBef>
                          <a:spcPts val="305"/>
                        </a:spcBef>
                      </a:pPr>
                      <a:r>
                        <a:rPr sz="700" dirty="0">
                          <a:latin typeface="Arial"/>
                          <a:cs typeface="Arial"/>
                        </a:rPr>
                        <a:t>x</a:t>
                      </a:r>
                    </a:p>
                  </a:txBody>
                  <a:tcPr marL="0" marR="0" marT="3873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3175" algn="ctr">
                        <a:lnSpc>
                          <a:spcPct val="100000"/>
                        </a:lnSpc>
                        <a:spcBef>
                          <a:spcPts val="330"/>
                        </a:spcBef>
                      </a:pPr>
                      <a:r>
                        <a:rPr sz="700" dirty="0">
                          <a:latin typeface="Arial"/>
                          <a:cs typeface="Arial"/>
                        </a:rPr>
                        <a:t>x</a:t>
                      </a:r>
                    </a:p>
                  </a:txBody>
                  <a:tcPr marL="0" marR="0" marT="4191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2540" algn="ctr">
                        <a:lnSpc>
                          <a:spcPct val="100000"/>
                        </a:lnSpc>
                        <a:spcBef>
                          <a:spcPts val="305"/>
                        </a:spcBef>
                      </a:pPr>
                      <a:r>
                        <a:rPr sz="700" dirty="0">
                          <a:latin typeface="Arial"/>
                          <a:cs typeface="Arial"/>
                        </a:rPr>
                        <a:t>x</a:t>
                      </a:r>
                    </a:p>
                  </a:txBody>
                  <a:tcPr marL="0" marR="0" marT="3873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3175" algn="ctr">
                        <a:lnSpc>
                          <a:spcPct val="100000"/>
                        </a:lnSpc>
                        <a:spcBef>
                          <a:spcPts val="330"/>
                        </a:spcBef>
                      </a:pPr>
                      <a:r>
                        <a:rPr sz="700" dirty="0">
                          <a:latin typeface="Arial"/>
                          <a:cs typeface="Arial"/>
                        </a:rPr>
                        <a:t>x</a:t>
                      </a:r>
                    </a:p>
                  </a:txBody>
                  <a:tcPr marL="0" marR="0" marT="4191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gridSpan="12">
                  <a:txBody>
                    <a:bodyPr/>
                    <a:lstStyle/>
                    <a:p>
                      <a:pPr marL="1905" algn="ctr">
                        <a:lnSpc>
                          <a:spcPct val="100000"/>
                        </a:lnSpc>
                        <a:spcBef>
                          <a:spcPts val="305"/>
                        </a:spcBef>
                      </a:pPr>
                      <a:r>
                        <a:rPr sz="700" spc="-10" dirty="0">
                          <a:latin typeface="Arial"/>
                          <a:cs typeface="Arial"/>
                        </a:rPr>
                        <a:t>VSYNC_COMP</a:t>
                      </a:r>
                      <a:r>
                        <a:rPr sz="700" dirty="0">
                          <a:latin typeface="Arial"/>
                          <a:cs typeface="Arial"/>
                        </a:rPr>
                        <a:t> </a:t>
                      </a:r>
                      <a:r>
                        <a:rPr sz="700" spc="-5" dirty="0">
                          <a:latin typeface="Arial"/>
                          <a:cs typeface="Arial"/>
                        </a:rPr>
                        <a:t>1</a:t>
                      </a:r>
                      <a:r>
                        <a:rPr sz="700" spc="-15" dirty="0">
                          <a:latin typeface="Arial"/>
                          <a:cs typeface="Arial"/>
                        </a:rPr>
                        <a:t> </a:t>
                      </a:r>
                      <a:r>
                        <a:rPr sz="700" spc="-5" dirty="0">
                          <a:latin typeface="Arial"/>
                          <a:cs typeface="Arial"/>
                        </a:rPr>
                        <a:t>[11:0]</a:t>
                      </a:r>
                      <a:endParaRPr sz="700" dirty="0">
                        <a:latin typeface="Arial"/>
                        <a:cs typeface="Arial"/>
                      </a:endParaRPr>
                    </a:p>
                  </a:txBody>
                  <a:tcPr marL="0" marR="0" marT="3873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1"/>
                  </a:ext>
                </a:extLst>
              </a:tr>
            </a:tbl>
          </a:graphicData>
        </a:graphic>
      </p:graphicFrame>
      <p:graphicFrame>
        <p:nvGraphicFramePr>
          <p:cNvPr id="10" name="object 10"/>
          <p:cNvGraphicFramePr>
            <a:graphicFrameLocks noGrp="1"/>
          </p:cNvGraphicFramePr>
          <p:nvPr>
            <p:extLst>
              <p:ext uri="{D42A27DB-BD31-4B8C-83A1-F6EECF244321}">
                <p14:modId xmlns:p14="http://schemas.microsoft.com/office/powerpoint/2010/main" val="3602458795"/>
              </p:ext>
            </p:extLst>
          </p:nvPr>
        </p:nvGraphicFramePr>
        <p:xfrm>
          <a:off x="400912" y="3621214"/>
          <a:ext cx="6038536" cy="387350"/>
        </p:xfrm>
        <a:graphic>
          <a:graphicData uri="http://schemas.openxmlformats.org/drawingml/2006/table">
            <a:tbl>
              <a:tblPr firstRow="1" bandRow="1">
                <a:tableStyleId>{2D5ABB26-0587-4C30-8999-92F81FD0307C}</a:tableStyleId>
              </a:tblPr>
              <a:tblGrid>
                <a:gridCol w="412143">
                  <a:extLst>
                    <a:ext uri="{9D8B030D-6E8A-4147-A177-3AD203B41FA5}">
                      <a16:colId xmlns:a16="http://schemas.microsoft.com/office/drawing/2014/main" val="20000"/>
                    </a:ext>
                  </a:extLst>
                </a:gridCol>
                <a:gridCol w="474307">
                  <a:extLst>
                    <a:ext uri="{9D8B030D-6E8A-4147-A177-3AD203B41FA5}">
                      <a16:colId xmlns:a16="http://schemas.microsoft.com/office/drawing/2014/main" val="20001"/>
                    </a:ext>
                  </a:extLst>
                </a:gridCol>
                <a:gridCol w="322005">
                  <a:extLst>
                    <a:ext uri="{9D8B030D-6E8A-4147-A177-3AD203B41FA5}">
                      <a16:colId xmlns:a16="http://schemas.microsoft.com/office/drawing/2014/main" val="20002"/>
                    </a:ext>
                  </a:extLst>
                </a:gridCol>
                <a:gridCol w="322006">
                  <a:extLst>
                    <a:ext uri="{9D8B030D-6E8A-4147-A177-3AD203B41FA5}">
                      <a16:colId xmlns:a16="http://schemas.microsoft.com/office/drawing/2014/main" val="20003"/>
                    </a:ext>
                  </a:extLst>
                </a:gridCol>
                <a:gridCol w="322006">
                  <a:extLst>
                    <a:ext uri="{9D8B030D-6E8A-4147-A177-3AD203B41FA5}">
                      <a16:colId xmlns:a16="http://schemas.microsoft.com/office/drawing/2014/main" val="20004"/>
                    </a:ext>
                  </a:extLst>
                </a:gridCol>
                <a:gridCol w="322006">
                  <a:extLst>
                    <a:ext uri="{9D8B030D-6E8A-4147-A177-3AD203B41FA5}">
                      <a16:colId xmlns:a16="http://schemas.microsoft.com/office/drawing/2014/main" val="20005"/>
                    </a:ext>
                  </a:extLst>
                </a:gridCol>
                <a:gridCol w="322006">
                  <a:extLst>
                    <a:ext uri="{9D8B030D-6E8A-4147-A177-3AD203B41FA5}">
                      <a16:colId xmlns:a16="http://schemas.microsoft.com/office/drawing/2014/main" val="20006"/>
                    </a:ext>
                  </a:extLst>
                </a:gridCol>
                <a:gridCol w="322006">
                  <a:extLst>
                    <a:ext uri="{9D8B030D-6E8A-4147-A177-3AD203B41FA5}">
                      <a16:colId xmlns:a16="http://schemas.microsoft.com/office/drawing/2014/main" val="20007"/>
                    </a:ext>
                  </a:extLst>
                </a:gridCol>
                <a:gridCol w="322006">
                  <a:extLst>
                    <a:ext uri="{9D8B030D-6E8A-4147-A177-3AD203B41FA5}">
                      <a16:colId xmlns:a16="http://schemas.microsoft.com/office/drawing/2014/main" val="20008"/>
                    </a:ext>
                  </a:extLst>
                </a:gridCol>
                <a:gridCol w="322005">
                  <a:extLst>
                    <a:ext uri="{9D8B030D-6E8A-4147-A177-3AD203B41FA5}">
                      <a16:colId xmlns:a16="http://schemas.microsoft.com/office/drawing/2014/main" val="20009"/>
                    </a:ext>
                  </a:extLst>
                </a:gridCol>
                <a:gridCol w="322005">
                  <a:extLst>
                    <a:ext uri="{9D8B030D-6E8A-4147-A177-3AD203B41FA5}">
                      <a16:colId xmlns:a16="http://schemas.microsoft.com/office/drawing/2014/main" val="20010"/>
                    </a:ext>
                  </a:extLst>
                </a:gridCol>
                <a:gridCol w="322005">
                  <a:extLst>
                    <a:ext uri="{9D8B030D-6E8A-4147-A177-3AD203B41FA5}">
                      <a16:colId xmlns:a16="http://schemas.microsoft.com/office/drawing/2014/main" val="20011"/>
                    </a:ext>
                  </a:extLst>
                </a:gridCol>
                <a:gridCol w="322005">
                  <a:extLst>
                    <a:ext uri="{9D8B030D-6E8A-4147-A177-3AD203B41FA5}">
                      <a16:colId xmlns:a16="http://schemas.microsoft.com/office/drawing/2014/main" val="20012"/>
                    </a:ext>
                  </a:extLst>
                </a:gridCol>
                <a:gridCol w="322005">
                  <a:extLst>
                    <a:ext uri="{9D8B030D-6E8A-4147-A177-3AD203B41FA5}">
                      <a16:colId xmlns:a16="http://schemas.microsoft.com/office/drawing/2014/main" val="20013"/>
                    </a:ext>
                  </a:extLst>
                </a:gridCol>
                <a:gridCol w="322005">
                  <a:extLst>
                    <a:ext uri="{9D8B030D-6E8A-4147-A177-3AD203B41FA5}">
                      <a16:colId xmlns:a16="http://schemas.microsoft.com/office/drawing/2014/main" val="20014"/>
                    </a:ext>
                  </a:extLst>
                </a:gridCol>
                <a:gridCol w="322005">
                  <a:extLst>
                    <a:ext uri="{9D8B030D-6E8A-4147-A177-3AD203B41FA5}">
                      <a16:colId xmlns:a16="http://schemas.microsoft.com/office/drawing/2014/main" val="20015"/>
                    </a:ext>
                  </a:extLst>
                </a:gridCol>
                <a:gridCol w="322005">
                  <a:extLst>
                    <a:ext uri="{9D8B030D-6E8A-4147-A177-3AD203B41FA5}">
                      <a16:colId xmlns:a16="http://schemas.microsoft.com/office/drawing/2014/main" val="20016"/>
                    </a:ext>
                  </a:extLst>
                </a:gridCol>
                <a:gridCol w="322005">
                  <a:extLst>
                    <a:ext uri="{9D8B030D-6E8A-4147-A177-3AD203B41FA5}">
                      <a16:colId xmlns:a16="http://schemas.microsoft.com/office/drawing/2014/main" val="20017"/>
                    </a:ext>
                  </a:extLst>
                </a:gridCol>
              </a:tblGrid>
              <a:tr h="193675">
                <a:tc>
                  <a:txBody>
                    <a:bodyPr/>
                    <a:lstStyle/>
                    <a:p>
                      <a:pPr algn="ctr">
                        <a:lnSpc>
                          <a:spcPct val="100000"/>
                        </a:lnSpc>
                        <a:spcBef>
                          <a:spcPts val="265"/>
                        </a:spcBef>
                      </a:pPr>
                      <a:r>
                        <a:rPr sz="800" dirty="0">
                          <a:latin typeface="Arial"/>
                          <a:cs typeface="Arial"/>
                        </a:rPr>
                        <a:t>A[6:0]</a:t>
                      </a: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algn="ctr">
                        <a:lnSpc>
                          <a:spcPct val="100000"/>
                        </a:lnSpc>
                        <a:spcBef>
                          <a:spcPts val="265"/>
                        </a:spcBef>
                      </a:pPr>
                      <a:r>
                        <a:rPr sz="800" spc="-5" dirty="0">
                          <a:latin typeface="Arial"/>
                          <a:cs typeface="Arial"/>
                        </a:rPr>
                        <a:t>Default</a:t>
                      </a:r>
                      <a:endParaRPr sz="8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1270" algn="ctr">
                        <a:lnSpc>
                          <a:spcPct val="100000"/>
                        </a:lnSpc>
                        <a:spcBef>
                          <a:spcPts val="265"/>
                        </a:spcBef>
                      </a:pPr>
                      <a:r>
                        <a:rPr sz="800" spc="-5" dirty="0">
                          <a:latin typeface="Arial"/>
                          <a:cs typeface="Arial"/>
                        </a:rPr>
                        <a:t>D15</a:t>
                      </a:r>
                      <a:endParaRPr sz="8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1905" algn="ctr">
                        <a:lnSpc>
                          <a:spcPct val="100000"/>
                        </a:lnSpc>
                        <a:spcBef>
                          <a:spcPts val="265"/>
                        </a:spcBef>
                      </a:pPr>
                      <a:r>
                        <a:rPr sz="800" spc="-5" dirty="0">
                          <a:latin typeface="Arial"/>
                          <a:cs typeface="Arial"/>
                        </a:rPr>
                        <a:t>D14</a:t>
                      </a:r>
                      <a:endParaRPr sz="8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1270" algn="ctr">
                        <a:lnSpc>
                          <a:spcPct val="100000"/>
                        </a:lnSpc>
                        <a:spcBef>
                          <a:spcPts val="265"/>
                        </a:spcBef>
                      </a:pPr>
                      <a:r>
                        <a:rPr sz="800" spc="-5" dirty="0">
                          <a:latin typeface="Arial"/>
                          <a:cs typeface="Arial"/>
                        </a:rPr>
                        <a:t>D13</a:t>
                      </a:r>
                      <a:endParaRPr sz="8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1905" algn="ctr">
                        <a:lnSpc>
                          <a:spcPct val="100000"/>
                        </a:lnSpc>
                        <a:spcBef>
                          <a:spcPts val="265"/>
                        </a:spcBef>
                      </a:pPr>
                      <a:r>
                        <a:rPr sz="800" spc="-5" dirty="0">
                          <a:latin typeface="Arial"/>
                          <a:cs typeface="Arial"/>
                        </a:rPr>
                        <a:t>D12</a:t>
                      </a:r>
                      <a:endParaRPr sz="8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1905" algn="ctr">
                        <a:lnSpc>
                          <a:spcPct val="100000"/>
                        </a:lnSpc>
                        <a:spcBef>
                          <a:spcPts val="265"/>
                        </a:spcBef>
                      </a:pPr>
                      <a:r>
                        <a:rPr sz="800" spc="-5" dirty="0">
                          <a:latin typeface="Arial"/>
                          <a:cs typeface="Arial"/>
                        </a:rPr>
                        <a:t>D11</a:t>
                      </a:r>
                      <a:endParaRPr sz="8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1905" algn="ctr">
                        <a:lnSpc>
                          <a:spcPct val="100000"/>
                        </a:lnSpc>
                        <a:spcBef>
                          <a:spcPts val="265"/>
                        </a:spcBef>
                      </a:pPr>
                      <a:r>
                        <a:rPr sz="800" spc="-5" dirty="0">
                          <a:latin typeface="Arial"/>
                          <a:cs typeface="Arial"/>
                        </a:rPr>
                        <a:t>D10</a:t>
                      </a:r>
                      <a:endParaRPr sz="8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99060">
                        <a:lnSpc>
                          <a:spcPct val="100000"/>
                        </a:lnSpc>
                        <a:spcBef>
                          <a:spcPts val="265"/>
                        </a:spcBef>
                      </a:pPr>
                      <a:r>
                        <a:rPr sz="800" spc="-5" dirty="0">
                          <a:latin typeface="Arial"/>
                          <a:cs typeface="Arial"/>
                        </a:rPr>
                        <a:t>D9</a:t>
                      </a:r>
                      <a:endParaRPr sz="8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99695">
                        <a:lnSpc>
                          <a:spcPct val="100000"/>
                        </a:lnSpc>
                        <a:spcBef>
                          <a:spcPts val="265"/>
                        </a:spcBef>
                      </a:pPr>
                      <a:r>
                        <a:rPr sz="800" spc="-5" dirty="0">
                          <a:latin typeface="Arial"/>
                          <a:cs typeface="Arial"/>
                        </a:rPr>
                        <a:t>D8</a:t>
                      </a:r>
                      <a:endParaRPr sz="8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99695">
                        <a:lnSpc>
                          <a:spcPct val="100000"/>
                        </a:lnSpc>
                        <a:spcBef>
                          <a:spcPts val="265"/>
                        </a:spcBef>
                      </a:pPr>
                      <a:r>
                        <a:rPr sz="800" spc="-5" dirty="0">
                          <a:latin typeface="Arial"/>
                          <a:cs typeface="Arial"/>
                        </a:rPr>
                        <a:t>D7</a:t>
                      </a:r>
                      <a:endParaRPr sz="8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99695">
                        <a:lnSpc>
                          <a:spcPct val="100000"/>
                        </a:lnSpc>
                        <a:spcBef>
                          <a:spcPts val="265"/>
                        </a:spcBef>
                      </a:pPr>
                      <a:r>
                        <a:rPr sz="800" spc="-5" dirty="0">
                          <a:latin typeface="Arial"/>
                          <a:cs typeface="Arial"/>
                        </a:rPr>
                        <a:t>D6</a:t>
                      </a:r>
                      <a:endParaRPr sz="8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99695">
                        <a:lnSpc>
                          <a:spcPct val="100000"/>
                        </a:lnSpc>
                        <a:spcBef>
                          <a:spcPts val="265"/>
                        </a:spcBef>
                      </a:pPr>
                      <a:r>
                        <a:rPr sz="800" spc="-5" dirty="0">
                          <a:latin typeface="Arial"/>
                          <a:cs typeface="Arial"/>
                        </a:rPr>
                        <a:t>D5</a:t>
                      </a:r>
                      <a:endParaRPr sz="8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99695">
                        <a:lnSpc>
                          <a:spcPct val="100000"/>
                        </a:lnSpc>
                        <a:spcBef>
                          <a:spcPts val="265"/>
                        </a:spcBef>
                      </a:pPr>
                      <a:r>
                        <a:rPr sz="800" spc="-5" dirty="0">
                          <a:latin typeface="Arial"/>
                          <a:cs typeface="Arial"/>
                        </a:rPr>
                        <a:t>D4</a:t>
                      </a:r>
                      <a:endParaRPr sz="8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99695">
                        <a:lnSpc>
                          <a:spcPct val="100000"/>
                        </a:lnSpc>
                        <a:spcBef>
                          <a:spcPts val="265"/>
                        </a:spcBef>
                      </a:pPr>
                      <a:r>
                        <a:rPr sz="800" spc="-5" dirty="0">
                          <a:latin typeface="Arial"/>
                          <a:cs typeface="Arial"/>
                        </a:rPr>
                        <a:t>D3</a:t>
                      </a:r>
                      <a:endParaRPr sz="8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99695">
                        <a:lnSpc>
                          <a:spcPct val="100000"/>
                        </a:lnSpc>
                        <a:spcBef>
                          <a:spcPts val="265"/>
                        </a:spcBef>
                      </a:pPr>
                      <a:r>
                        <a:rPr sz="800" spc="-5" dirty="0">
                          <a:latin typeface="Arial"/>
                          <a:cs typeface="Arial"/>
                        </a:rPr>
                        <a:t>D2</a:t>
                      </a:r>
                      <a:endParaRPr sz="8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100330">
                        <a:lnSpc>
                          <a:spcPct val="100000"/>
                        </a:lnSpc>
                        <a:spcBef>
                          <a:spcPts val="265"/>
                        </a:spcBef>
                      </a:pPr>
                      <a:r>
                        <a:rPr sz="800" spc="-5" dirty="0">
                          <a:latin typeface="Arial"/>
                          <a:cs typeface="Arial"/>
                        </a:rPr>
                        <a:t>D1</a:t>
                      </a:r>
                      <a:endParaRPr sz="8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100330">
                        <a:lnSpc>
                          <a:spcPct val="100000"/>
                        </a:lnSpc>
                        <a:spcBef>
                          <a:spcPts val="265"/>
                        </a:spcBef>
                      </a:pPr>
                      <a:r>
                        <a:rPr sz="800" spc="-5" dirty="0">
                          <a:latin typeface="Arial"/>
                          <a:cs typeface="Arial"/>
                        </a:rPr>
                        <a:t>D0</a:t>
                      </a:r>
                      <a:endParaRPr sz="8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extLst>
                  <a:ext uri="{0D108BD9-81ED-4DB2-BD59-A6C34878D82A}">
                    <a16:rowId xmlns:a16="http://schemas.microsoft.com/office/drawing/2014/main" val="10000"/>
                  </a:ext>
                </a:extLst>
              </a:tr>
              <a:tr h="193675">
                <a:tc>
                  <a:txBody>
                    <a:bodyPr/>
                    <a:lstStyle/>
                    <a:p>
                      <a:pPr algn="ctr">
                        <a:lnSpc>
                          <a:spcPct val="100000"/>
                        </a:lnSpc>
                        <a:spcBef>
                          <a:spcPts val="265"/>
                        </a:spcBef>
                      </a:pPr>
                      <a:r>
                        <a:rPr sz="800" spc="-5" dirty="0">
                          <a:latin typeface="Arial"/>
                          <a:cs typeface="Arial"/>
                        </a:rPr>
                        <a:t>‘h0F</a:t>
                      </a:r>
                      <a:endParaRPr sz="8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algn="ctr">
                        <a:lnSpc>
                          <a:spcPct val="100000"/>
                        </a:lnSpc>
                        <a:spcBef>
                          <a:spcPts val="265"/>
                        </a:spcBef>
                      </a:pPr>
                      <a:r>
                        <a:rPr sz="800" dirty="0">
                          <a:latin typeface="Arial"/>
                          <a:cs typeface="Arial"/>
                        </a:rPr>
                        <a:t>0</a:t>
                      </a: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2540" algn="ctr">
                        <a:lnSpc>
                          <a:spcPct val="100000"/>
                        </a:lnSpc>
                        <a:spcBef>
                          <a:spcPts val="305"/>
                        </a:spcBef>
                      </a:pPr>
                      <a:r>
                        <a:rPr sz="700" dirty="0">
                          <a:latin typeface="Arial"/>
                          <a:cs typeface="Arial"/>
                        </a:rPr>
                        <a:t>x</a:t>
                      </a:r>
                    </a:p>
                  </a:txBody>
                  <a:tcPr marL="0" marR="0" marT="3873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3175" algn="ctr">
                        <a:lnSpc>
                          <a:spcPct val="100000"/>
                        </a:lnSpc>
                        <a:spcBef>
                          <a:spcPts val="330"/>
                        </a:spcBef>
                      </a:pPr>
                      <a:r>
                        <a:rPr sz="700" dirty="0">
                          <a:latin typeface="Arial"/>
                          <a:cs typeface="Arial"/>
                        </a:rPr>
                        <a:t>x</a:t>
                      </a:r>
                    </a:p>
                  </a:txBody>
                  <a:tcPr marL="0" marR="0" marT="4191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2540" algn="ctr">
                        <a:lnSpc>
                          <a:spcPct val="100000"/>
                        </a:lnSpc>
                        <a:spcBef>
                          <a:spcPts val="305"/>
                        </a:spcBef>
                      </a:pPr>
                      <a:r>
                        <a:rPr sz="700" dirty="0">
                          <a:latin typeface="Arial"/>
                          <a:cs typeface="Arial"/>
                        </a:rPr>
                        <a:t>x</a:t>
                      </a:r>
                    </a:p>
                  </a:txBody>
                  <a:tcPr marL="0" marR="0" marT="3873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3175" algn="ctr">
                        <a:lnSpc>
                          <a:spcPct val="100000"/>
                        </a:lnSpc>
                        <a:spcBef>
                          <a:spcPts val="330"/>
                        </a:spcBef>
                      </a:pPr>
                      <a:r>
                        <a:rPr sz="700" dirty="0">
                          <a:latin typeface="Arial"/>
                          <a:cs typeface="Arial"/>
                        </a:rPr>
                        <a:t>x</a:t>
                      </a:r>
                    </a:p>
                  </a:txBody>
                  <a:tcPr marL="0" marR="0" marT="4191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3175" algn="ctr">
                        <a:lnSpc>
                          <a:spcPct val="100000"/>
                        </a:lnSpc>
                        <a:spcBef>
                          <a:spcPts val="305"/>
                        </a:spcBef>
                      </a:pPr>
                      <a:r>
                        <a:rPr sz="700" dirty="0">
                          <a:latin typeface="Arial"/>
                          <a:cs typeface="Arial"/>
                        </a:rPr>
                        <a:t>x</a:t>
                      </a:r>
                    </a:p>
                  </a:txBody>
                  <a:tcPr marL="0" marR="0" marT="3873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3175" algn="ctr">
                        <a:lnSpc>
                          <a:spcPct val="100000"/>
                        </a:lnSpc>
                        <a:spcBef>
                          <a:spcPts val="330"/>
                        </a:spcBef>
                      </a:pPr>
                      <a:r>
                        <a:rPr sz="700" dirty="0">
                          <a:latin typeface="Arial"/>
                          <a:cs typeface="Arial"/>
                        </a:rPr>
                        <a:t>x</a:t>
                      </a:r>
                    </a:p>
                  </a:txBody>
                  <a:tcPr marL="0" marR="0" marT="4191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gridSpan="10">
                  <a:txBody>
                    <a:bodyPr/>
                    <a:lstStyle/>
                    <a:p>
                      <a:pPr algn="ctr">
                        <a:lnSpc>
                          <a:spcPct val="100000"/>
                        </a:lnSpc>
                        <a:spcBef>
                          <a:spcPts val="305"/>
                        </a:spcBef>
                      </a:pPr>
                      <a:r>
                        <a:rPr sz="700" spc="-10" dirty="0">
                          <a:latin typeface="Arial"/>
                          <a:cs typeface="Arial"/>
                        </a:rPr>
                        <a:t>VSYNC_COMP</a:t>
                      </a:r>
                      <a:r>
                        <a:rPr sz="700" dirty="0">
                          <a:latin typeface="Arial"/>
                          <a:cs typeface="Arial"/>
                        </a:rPr>
                        <a:t> </a:t>
                      </a:r>
                      <a:r>
                        <a:rPr sz="700" spc="-5" dirty="0">
                          <a:latin typeface="Arial"/>
                          <a:cs typeface="Arial"/>
                        </a:rPr>
                        <a:t>2</a:t>
                      </a:r>
                      <a:r>
                        <a:rPr sz="700" spc="-10" dirty="0">
                          <a:latin typeface="Arial"/>
                          <a:cs typeface="Arial"/>
                        </a:rPr>
                        <a:t> </a:t>
                      </a:r>
                      <a:r>
                        <a:rPr sz="700" spc="-5" dirty="0">
                          <a:latin typeface="Arial"/>
                          <a:cs typeface="Arial"/>
                        </a:rPr>
                        <a:t>[9:0]</a:t>
                      </a:r>
                      <a:endParaRPr sz="700" dirty="0">
                        <a:latin typeface="Arial"/>
                        <a:cs typeface="Arial"/>
                      </a:endParaRPr>
                    </a:p>
                  </a:txBody>
                  <a:tcPr marL="0" marR="0" marT="3873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1"/>
                  </a:ext>
                </a:extLst>
              </a:tr>
            </a:tbl>
          </a:graphicData>
        </a:graphic>
      </p:graphicFrame>
      <p:graphicFrame>
        <p:nvGraphicFramePr>
          <p:cNvPr id="14" name="표 13">
            <a:extLst>
              <a:ext uri="{FF2B5EF4-FFF2-40B4-BE49-F238E27FC236}">
                <a16:creationId xmlns:a16="http://schemas.microsoft.com/office/drawing/2014/main" id="{9F5FBCC4-B012-24D6-1345-C67A198DCDEF}"/>
              </a:ext>
            </a:extLst>
          </p:cNvPr>
          <p:cNvGraphicFramePr>
            <a:graphicFrameLocks noGrp="1"/>
          </p:cNvGraphicFramePr>
          <p:nvPr>
            <p:extLst>
              <p:ext uri="{D42A27DB-BD31-4B8C-83A1-F6EECF244321}">
                <p14:modId xmlns:p14="http://schemas.microsoft.com/office/powerpoint/2010/main" val="3405308072"/>
              </p:ext>
            </p:extLst>
          </p:nvPr>
        </p:nvGraphicFramePr>
        <p:xfrm>
          <a:off x="392684" y="4191000"/>
          <a:ext cx="6033770" cy="713755"/>
        </p:xfrm>
        <a:graphic>
          <a:graphicData uri="http://schemas.openxmlformats.org/drawingml/2006/table">
            <a:tbl>
              <a:tblPr firstRow="1" bandRow="1">
                <a:tableStyleId>{5C22544A-7EE6-4342-B048-85BDC9FD1C3A}</a:tableStyleId>
              </a:tblPr>
              <a:tblGrid>
                <a:gridCol w="384612">
                  <a:extLst>
                    <a:ext uri="{9D8B030D-6E8A-4147-A177-3AD203B41FA5}">
                      <a16:colId xmlns:a16="http://schemas.microsoft.com/office/drawing/2014/main" val="4170535043"/>
                    </a:ext>
                  </a:extLst>
                </a:gridCol>
                <a:gridCol w="1523121">
                  <a:extLst>
                    <a:ext uri="{9D8B030D-6E8A-4147-A177-3AD203B41FA5}">
                      <a16:colId xmlns:a16="http://schemas.microsoft.com/office/drawing/2014/main" val="2079070694"/>
                    </a:ext>
                  </a:extLst>
                </a:gridCol>
                <a:gridCol w="4126037">
                  <a:extLst>
                    <a:ext uri="{9D8B030D-6E8A-4147-A177-3AD203B41FA5}">
                      <a16:colId xmlns:a16="http://schemas.microsoft.com/office/drawing/2014/main" val="32595803"/>
                    </a:ext>
                  </a:extLst>
                </a:gridCol>
              </a:tblGrid>
              <a:tr h="256197">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457558">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dirty="0">
                          <a:latin typeface="Arial"/>
                          <a:cs typeface="Arial"/>
                        </a:rPr>
                        <a:t>9:0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spc="-5" dirty="0">
                          <a:latin typeface="Arial"/>
                          <a:cs typeface="Arial"/>
                        </a:rPr>
                        <a:t>VSYNC_COMP </a:t>
                      </a:r>
                      <a:r>
                        <a:rPr lang="en-US" altLang="ko-KR" sz="900" spc="-15" dirty="0">
                          <a:latin typeface="Arial"/>
                          <a:cs typeface="Arial"/>
                        </a:rPr>
                        <a:t>2</a:t>
                      </a:r>
                      <a:endParaRPr lang="en-US" altLang="ko-KR" sz="900" dirty="0">
                        <a:latin typeface="Arial"/>
                        <a:cs typeface="Arial"/>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spc="-5" dirty="0">
                          <a:latin typeface="Arial"/>
                          <a:cs typeface="Arial"/>
                        </a:rPr>
                        <a:t>This</a:t>
                      </a:r>
                      <a:r>
                        <a:rPr lang="en-US" altLang="ko-KR" sz="900" spc="-20" dirty="0">
                          <a:latin typeface="Arial"/>
                          <a:cs typeface="Arial"/>
                        </a:rPr>
                        <a:t> </a:t>
                      </a:r>
                      <a:r>
                        <a:rPr lang="en-US" altLang="ko-KR" sz="900" spc="-5" dirty="0">
                          <a:latin typeface="Arial"/>
                          <a:cs typeface="Arial"/>
                        </a:rPr>
                        <a:t>is</a:t>
                      </a:r>
                      <a:r>
                        <a:rPr lang="en-US" altLang="ko-KR" sz="900" spc="-15" dirty="0">
                          <a:latin typeface="Arial"/>
                          <a:cs typeface="Arial"/>
                        </a:rPr>
                        <a:t> </a:t>
                      </a:r>
                      <a:r>
                        <a:rPr lang="en-US" altLang="ko-KR" sz="900" dirty="0">
                          <a:latin typeface="Arial"/>
                          <a:cs typeface="Arial"/>
                        </a:rPr>
                        <a:t>counted</a:t>
                      </a:r>
                      <a:r>
                        <a:rPr lang="en-US" altLang="ko-KR" sz="900" spc="-30" dirty="0">
                          <a:latin typeface="Arial"/>
                          <a:cs typeface="Arial"/>
                        </a:rPr>
                        <a:t> </a:t>
                      </a:r>
                      <a:r>
                        <a:rPr lang="en-US" altLang="ko-KR" sz="900" spc="-5" dirty="0">
                          <a:latin typeface="Arial"/>
                          <a:cs typeface="Arial"/>
                        </a:rPr>
                        <a:t>by</a:t>
                      </a:r>
                      <a:r>
                        <a:rPr lang="en-US" altLang="ko-KR" sz="900" spc="-25" dirty="0">
                          <a:latin typeface="Arial"/>
                          <a:cs typeface="Arial"/>
                        </a:rPr>
                        <a:t> </a:t>
                      </a:r>
                      <a:r>
                        <a:rPr lang="en-US" altLang="ko-KR" sz="900" spc="-5" dirty="0">
                          <a:latin typeface="Arial"/>
                          <a:cs typeface="Arial"/>
                        </a:rPr>
                        <a:t>MCLK.  Don’t </a:t>
                      </a:r>
                      <a:r>
                        <a:rPr lang="en-US" altLang="ko-KR" sz="900" dirty="0">
                          <a:latin typeface="Arial"/>
                          <a:cs typeface="Arial"/>
                        </a:rPr>
                        <a:t>use</a:t>
                      </a:r>
                      <a:r>
                        <a:rPr lang="en-US" altLang="ko-KR" sz="900" spc="-30" dirty="0">
                          <a:latin typeface="Arial"/>
                          <a:cs typeface="Arial"/>
                        </a:rPr>
                        <a:t> </a:t>
                      </a:r>
                      <a:r>
                        <a:rPr lang="en-US" altLang="ko-KR" sz="900" dirty="0">
                          <a:latin typeface="Arial"/>
                          <a:cs typeface="Arial"/>
                        </a:rPr>
                        <a:t>in</a:t>
                      </a:r>
                      <a:r>
                        <a:rPr lang="en-US" altLang="ko-KR" sz="900" spc="-10" dirty="0">
                          <a:latin typeface="Arial"/>
                          <a:cs typeface="Arial"/>
                        </a:rPr>
                        <a:t> </a:t>
                      </a:r>
                      <a:r>
                        <a:rPr lang="en-US" altLang="ko-KR" sz="900" spc="-5" dirty="0">
                          <a:latin typeface="Arial"/>
                          <a:cs typeface="Arial"/>
                        </a:rPr>
                        <a:t>VSYNC</a:t>
                      </a:r>
                      <a:r>
                        <a:rPr lang="en-US" altLang="ko-KR" sz="900" spc="-10" dirty="0">
                          <a:latin typeface="Arial"/>
                          <a:cs typeface="Arial"/>
                        </a:rPr>
                        <a:t> </a:t>
                      </a:r>
                      <a:r>
                        <a:rPr lang="en-US" altLang="ko-KR" sz="900" dirty="0">
                          <a:latin typeface="Arial"/>
                          <a:cs typeface="Arial"/>
                        </a:rPr>
                        <a:t>delay</a:t>
                      </a:r>
                      <a:r>
                        <a:rPr lang="en-US" altLang="ko-KR" sz="900" spc="-30" dirty="0">
                          <a:latin typeface="Arial"/>
                          <a:cs typeface="Arial"/>
                        </a:rPr>
                        <a:t> </a:t>
                      </a:r>
                      <a:r>
                        <a:rPr lang="en-US" altLang="ko-KR" sz="900" dirty="0">
                          <a:latin typeface="Arial"/>
                          <a:cs typeface="Arial"/>
                        </a:rPr>
                        <a:t>mode.</a:t>
                      </a:r>
                      <a:endParaRPr lang="en-US" altLang="ko-KR" sz="900" spc="-5" dirty="0">
                        <a:latin typeface="Arial"/>
                        <a:cs typeface="Arial"/>
                      </a:endParaRP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15" name="표 14">
            <a:extLst>
              <a:ext uri="{FF2B5EF4-FFF2-40B4-BE49-F238E27FC236}">
                <a16:creationId xmlns:a16="http://schemas.microsoft.com/office/drawing/2014/main" id="{D834C117-777E-BB47-24C3-10A3F2CDD17E}"/>
              </a:ext>
            </a:extLst>
          </p:cNvPr>
          <p:cNvGraphicFramePr>
            <a:graphicFrameLocks noGrp="1"/>
          </p:cNvGraphicFramePr>
          <p:nvPr>
            <p:extLst>
              <p:ext uri="{D42A27DB-BD31-4B8C-83A1-F6EECF244321}">
                <p14:modId xmlns:p14="http://schemas.microsoft.com/office/powerpoint/2010/main" val="295096098"/>
              </p:ext>
            </p:extLst>
          </p:nvPr>
        </p:nvGraphicFramePr>
        <p:xfrm>
          <a:off x="392684" y="1800845"/>
          <a:ext cx="6033770" cy="713755"/>
        </p:xfrm>
        <a:graphic>
          <a:graphicData uri="http://schemas.openxmlformats.org/drawingml/2006/table">
            <a:tbl>
              <a:tblPr firstRow="1" bandRow="1">
                <a:tableStyleId>{5C22544A-7EE6-4342-B048-85BDC9FD1C3A}</a:tableStyleId>
              </a:tblPr>
              <a:tblGrid>
                <a:gridCol w="384612">
                  <a:extLst>
                    <a:ext uri="{9D8B030D-6E8A-4147-A177-3AD203B41FA5}">
                      <a16:colId xmlns:a16="http://schemas.microsoft.com/office/drawing/2014/main" val="4170535043"/>
                    </a:ext>
                  </a:extLst>
                </a:gridCol>
                <a:gridCol w="1523121">
                  <a:extLst>
                    <a:ext uri="{9D8B030D-6E8A-4147-A177-3AD203B41FA5}">
                      <a16:colId xmlns:a16="http://schemas.microsoft.com/office/drawing/2014/main" val="2079070694"/>
                    </a:ext>
                  </a:extLst>
                </a:gridCol>
                <a:gridCol w="4126037">
                  <a:extLst>
                    <a:ext uri="{9D8B030D-6E8A-4147-A177-3AD203B41FA5}">
                      <a16:colId xmlns:a16="http://schemas.microsoft.com/office/drawing/2014/main" val="32595803"/>
                    </a:ext>
                  </a:extLst>
                </a:gridCol>
              </a:tblGrid>
              <a:tr h="256197">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457558">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dirty="0">
                          <a:latin typeface="Arial"/>
                          <a:cs typeface="Arial"/>
                        </a:rPr>
                        <a:t>11:0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spc="-5" dirty="0">
                          <a:latin typeface="Arial"/>
                          <a:cs typeface="Arial"/>
                        </a:rPr>
                        <a:t>VSYNC_COMP 1</a:t>
                      </a:r>
                      <a:endParaRPr lang="en-US" altLang="ko-KR" sz="900" dirty="0">
                        <a:latin typeface="Arial"/>
                        <a:cs typeface="Arial"/>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spc="-5" dirty="0">
                          <a:latin typeface="Arial"/>
                          <a:cs typeface="Arial"/>
                        </a:rPr>
                        <a:t>This</a:t>
                      </a:r>
                      <a:r>
                        <a:rPr lang="en-US" altLang="ko-KR" sz="900" spc="-20" dirty="0">
                          <a:latin typeface="Arial"/>
                          <a:cs typeface="Arial"/>
                        </a:rPr>
                        <a:t> </a:t>
                      </a:r>
                      <a:r>
                        <a:rPr lang="en-US" altLang="ko-KR" sz="900" spc="-5" dirty="0">
                          <a:latin typeface="Arial"/>
                          <a:cs typeface="Arial"/>
                        </a:rPr>
                        <a:t>is</a:t>
                      </a:r>
                      <a:r>
                        <a:rPr lang="en-US" altLang="ko-KR" sz="900" spc="-15" dirty="0">
                          <a:latin typeface="Arial"/>
                          <a:cs typeface="Arial"/>
                        </a:rPr>
                        <a:t> </a:t>
                      </a:r>
                      <a:r>
                        <a:rPr lang="en-US" altLang="ko-KR" sz="900" dirty="0">
                          <a:latin typeface="Arial"/>
                          <a:cs typeface="Arial"/>
                        </a:rPr>
                        <a:t>counted</a:t>
                      </a:r>
                      <a:r>
                        <a:rPr lang="en-US" altLang="ko-KR" sz="900" spc="-30" dirty="0">
                          <a:latin typeface="Arial"/>
                          <a:cs typeface="Arial"/>
                        </a:rPr>
                        <a:t> </a:t>
                      </a:r>
                      <a:r>
                        <a:rPr lang="en-US" altLang="ko-KR" sz="900" spc="-5" dirty="0">
                          <a:latin typeface="Arial"/>
                          <a:cs typeface="Arial"/>
                        </a:rPr>
                        <a:t>by</a:t>
                      </a:r>
                      <a:r>
                        <a:rPr lang="en-US" altLang="ko-KR" sz="900" spc="-25" dirty="0">
                          <a:latin typeface="Arial"/>
                          <a:cs typeface="Arial"/>
                        </a:rPr>
                        <a:t> </a:t>
                      </a:r>
                      <a:r>
                        <a:rPr lang="en-US" altLang="ko-KR" sz="900" spc="-5" dirty="0">
                          <a:latin typeface="Arial"/>
                          <a:cs typeface="Arial"/>
                        </a:rPr>
                        <a:t>MCLK.  Don’t </a:t>
                      </a:r>
                      <a:r>
                        <a:rPr lang="en-US" altLang="ko-KR" sz="900" dirty="0">
                          <a:latin typeface="Arial"/>
                          <a:cs typeface="Arial"/>
                        </a:rPr>
                        <a:t>use</a:t>
                      </a:r>
                      <a:r>
                        <a:rPr lang="en-US" altLang="ko-KR" sz="900" spc="-30" dirty="0">
                          <a:latin typeface="Arial"/>
                          <a:cs typeface="Arial"/>
                        </a:rPr>
                        <a:t> </a:t>
                      </a:r>
                      <a:r>
                        <a:rPr lang="en-US" altLang="ko-KR" sz="900" dirty="0">
                          <a:latin typeface="Arial"/>
                          <a:cs typeface="Arial"/>
                        </a:rPr>
                        <a:t>in</a:t>
                      </a:r>
                      <a:r>
                        <a:rPr lang="en-US" altLang="ko-KR" sz="900" spc="-10" dirty="0">
                          <a:latin typeface="Arial"/>
                          <a:cs typeface="Arial"/>
                        </a:rPr>
                        <a:t> </a:t>
                      </a:r>
                      <a:r>
                        <a:rPr lang="en-US" altLang="ko-KR" sz="900" spc="-5" dirty="0">
                          <a:latin typeface="Arial"/>
                          <a:cs typeface="Arial"/>
                        </a:rPr>
                        <a:t>VSYNC</a:t>
                      </a:r>
                      <a:r>
                        <a:rPr lang="en-US" altLang="ko-KR" sz="900" spc="-10" dirty="0">
                          <a:latin typeface="Arial"/>
                          <a:cs typeface="Arial"/>
                        </a:rPr>
                        <a:t> </a:t>
                      </a:r>
                      <a:r>
                        <a:rPr lang="en-US" altLang="ko-KR" sz="900" dirty="0">
                          <a:latin typeface="Arial"/>
                          <a:cs typeface="Arial"/>
                        </a:rPr>
                        <a:t>delay</a:t>
                      </a:r>
                      <a:r>
                        <a:rPr lang="en-US" altLang="ko-KR" sz="900" spc="-30" dirty="0">
                          <a:latin typeface="Arial"/>
                          <a:cs typeface="Arial"/>
                        </a:rPr>
                        <a:t> </a:t>
                      </a:r>
                      <a:r>
                        <a:rPr lang="en-US" altLang="ko-KR" sz="900" dirty="0">
                          <a:latin typeface="Arial"/>
                          <a:cs typeface="Arial"/>
                        </a:rPr>
                        <a:t>mode.</a:t>
                      </a:r>
                      <a:endParaRPr lang="en-US" altLang="ko-KR" sz="900" spc="-5" dirty="0">
                        <a:latin typeface="Arial"/>
                        <a:cs typeface="Arial"/>
                      </a:endParaRP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5" name="object 9">
            <a:extLst>
              <a:ext uri="{FF2B5EF4-FFF2-40B4-BE49-F238E27FC236}">
                <a16:creationId xmlns:a16="http://schemas.microsoft.com/office/drawing/2014/main" id="{89D382F5-C840-C7D9-0724-FF3F0ADE90B0}"/>
              </a:ext>
            </a:extLst>
          </p:cNvPr>
          <p:cNvSpPr txBox="1"/>
          <p:nvPr/>
        </p:nvSpPr>
        <p:spPr>
          <a:xfrm>
            <a:off x="304800" y="9067800"/>
            <a:ext cx="2078355" cy="289823"/>
          </a:xfrm>
          <a:prstGeom prst="rect">
            <a:avLst/>
          </a:prstGeom>
        </p:spPr>
        <p:txBody>
          <a:bodyPr vert="horz" wrap="square" lIns="0" tIns="12700" rIns="0" bIns="0" rtlCol="0">
            <a:spAutoFit/>
          </a:bodyPr>
          <a:lstStyle/>
          <a:p>
            <a:pPr marL="12700">
              <a:lnSpc>
                <a:spcPct val="100000"/>
              </a:lnSpc>
              <a:spcBef>
                <a:spcPts val="100"/>
              </a:spcBef>
            </a:pPr>
            <a:r>
              <a:rPr b="1" spc="-5" dirty="0">
                <a:solidFill>
                  <a:srgbClr val="FF0000"/>
                </a:solidFill>
                <a:cs typeface="Perpetua Titling MT"/>
              </a:rPr>
              <a:t>CONFIDENTIAL</a:t>
            </a:r>
            <a:endParaRPr dirty="0">
              <a:cs typeface="Perpetua Titling MT"/>
            </a:endParaRPr>
          </a:p>
        </p:txBody>
      </p:sp>
      <p:sp>
        <p:nvSpPr>
          <p:cNvPr id="9" name="object 6">
            <a:extLst>
              <a:ext uri="{FF2B5EF4-FFF2-40B4-BE49-F238E27FC236}">
                <a16:creationId xmlns:a16="http://schemas.microsoft.com/office/drawing/2014/main" id="{39F3353B-E4FD-5C78-51EA-343F4ED1796D}"/>
              </a:ext>
            </a:extLst>
          </p:cNvPr>
          <p:cNvSpPr/>
          <p:nvPr/>
        </p:nvSpPr>
        <p:spPr>
          <a:xfrm>
            <a:off x="301676" y="9458756"/>
            <a:ext cx="6246495" cy="0"/>
          </a:xfrm>
          <a:custGeom>
            <a:avLst/>
            <a:gdLst/>
            <a:ahLst/>
            <a:cxnLst/>
            <a:rect l="l" t="t" r="r" b="b"/>
            <a:pathLst>
              <a:path w="6246495">
                <a:moveTo>
                  <a:pt x="0" y="0"/>
                </a:moveTo>
                <a:lnTo>
                  <a:pt x="6245999" y="0"/>
                </a:lnTo>
              </a:path>
            </a:pathLst>
          </a:custGeom>
          <a:ln w="25920">
            <a:solidFill>
              <a:srgbClr val="BFBFBF"/>
            </a:solidFill>
          </a:ln>
        </p:spPr>
        <p:txBody>
          <a:bodyPr wrap="square" lIns="0" tIns="0" rIns="0" bIns="0" rtlCol="0"/>
          <a:lstStyle/>
          <a:p>
            <a:endParaRPr/>
          </a:p>
        </p:txBody>
      </p:sp>
      <p:sp>
        <p:nvSpPr>
          <p:cNvPr id="16" name="슬라이드 번호 개체 틀 3">
            <a:hlinkClick r:id="rId2"/>
            <a:extLst>
              <a:ext uri="{FF2B5EF4-FFF2-40B4-BE49-F238E27FC236}">
                <a16:creationId xmlns:a16="http://schemas.microsoft.com/office/drawing/2014/main" id="{7373823C-4FDC-D9E6-E7C0-787401526A22}"/>
              </a:ext>
            </a:extLst>
          </p:cNvPr>
          <p:cNvSpPr txBox="1">
            <a:spLocks/>
          </p:cNvSpPr>
          <p:nvPr/>
        </p:nvSpPr>
        <p:spPr>
          <a:xfrm>
            <a:off x="5151602" y="9452864"/>
            <a:ext cx="1487550"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dirty="0">
                <a:solidFill>
                  <a:prstClr val="black"/>
                </a:solidFill>
                <a:latin typeface="Arial" panose="020B0604020202020204" pitchFamily="34" charset="0"/>
                <a:cs typeface="Arial" panose="020B0604020202020204" pitchFamily="34" charset="0"/>
              </a:rPr>
              <a:t>http://www.glbltech.com/</a:t>
            </a:r>
            <a:endParaRPr lang="ko-KR" altLang="en-US" dirty="0">
              <a:solidFill>
                <a:prstClr val="black"/>
              </a:solidFill>
              <a:latin typeface="Arial" panose="020B0604020202020204" pitchFamily="34" charset="0"/>
              <a:cs typeface="Arial" panose="020B0604020202020204" pitchFamily="34" charset="0"/>
            </a:endParaRPr>
          </a:p>
        </p:txBody>
      </p:sp>
      <p:sp>
        <p:nvSpPr>
          <p:cNvPr id="17" name="object 38">
            <a:extLst>
              <a:ext uri="{FF2B5EF4-FFF2-40B4-BE49-F238E27FC236}">
                <a16:creationId xmlns:a16="http://schemas.microsoft.com/office/drawing/2014/main" id="{7479D650-1AE3-B457-9D8C-792B754B8599}"/>
              </a:ext>
            </a:extLst>
          </p:cNvPr>
          <p:cNvSpPr txBox="1">
            <a:spLocks/>
          </p:cNvSpPr>
          <p:nvPr/>
        </p:nvSpPr>
        <p:spPr>
          <a:xfrm>
            <a:off x="3309066" y="9547988"/>
            <a:ext cx="487045" cy="139141"/>
          </a:xfrm>
          <a:prstGeom prst="rect">
            <a:avLst/>
          </a:prstGeom>
        </p:spPr>
        <p:txBody>
          <a:bodyPr vert="horz" wrap="square" lIns="0" tIns="635" rIns="0" bIns="0" rtlCol="0">
            <a:spAutoFit/>
          </a:bodyPr>
          <a:lstStyle>
            <a:defPPr>
              <a:defRPr lang="ko-KR"/>
            </a:defPPr>
            <a:lvl1pPr marL="0" algn="l" defTabSz="914400" rtl="0" eaLnBrk="1" latinLnBrk="1" hangingPunct="1">
              <a:defRPr sz="1050" b="0" i="0" kern="1200">
                <a:solidFill>
                  <a:schemeClr val="tx1"/>
                </a:solidFill>
                <a:latin typeface="Arial"/>
                <a:ea typeface="+mn-ea"/>
                <a:cs typeface="Arial"/>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marL="12700">
              <a:spcBef>
                <a:spcPts val="5"/>
              </a:spcBef>
              <a:defRPr/>
            </a:pPr>
            <a:r>
              <a:rPr lang="en-US" sz="900" dirty="0">
                <a:solidFill>
                  <a:prstClr val="black"/>
                </a:solidFill>
              </a:rPr>
              <a:t>Page</a:t>
            </a:r>
            <a:r>
              <a:rPr lang="en-US" sz="900" spc="-60" dirty="0">
                <a:solidFill>
                  <a:prstClr val="black"/>
                </a:solidFill>
              </a:rPr>
              <a:t> </a:t>
            </a:r>
            <a:fld id="{81D60167-4931-47E6-BA6A-407CBD079E47}" type="slidenum">
              <a:rPr sz="900">
                <a:solidFill>
                  <a:prstClr val="black"/>
                </a:solidFill>
              </a:rPr>
              <a:pPr marL="12700">
                <a:spcBef>
                  <a:spcPts val="5"/>
                </a:spcBef>
                <a:defRPr/>
              </a:pPr>
              <a:t>37</a:t>
            </a:fld>
            <a:endParaRPr sz="900" dirty="0">
              <a:solidFill>
                <a:prstClr val="black"/>
              </a:solidFill>
            </a:endParaRPr>
          </a:p>
        </p:txBody>
      </p:sp>
      <p:sp>
        <p:nvSpPr>
          <p:cNvPr id="18" name="슬라이드 번호 개체 틀 3">
            <a:extLst>
              <a:ext uri="{FF2B5EF4-FFF2-40B4-BE49-F238E27FC236}">
                <a16:creationId xmlns:a16="http://schemas.microsoft.com/office/drawing/2014/main" id="{E3B5894B-1FCD-1C0A-13A2-D4865C467016}"/>
              </a:ext>
            </a:extLst>
          </p:cNvPr>
          <p:cNvSpPr txBox="1">
            <a:spLocks/>
          </p:cNvSpPr>
          <p:nvPr/>
        </p:nvSpPr>
        <p:spPr>
          <a:xfrm>
            <a:off x="299401" y="9520856"/>
            <a:ext cx="2060991" cy="175259"/>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lang="en-US" altLang="ko-KR" dirty="0">
                <a:solidFill>
                  <a:prstClr val="black"/>
                </a:solidFill>
                <a:latin typeface="Arial" panose="020B0604020202020204" pitchFamily="34" charset="0"/>
                <a:cs typeface="Arial" panose="020B0604020202020204" pitchFamily="34" charset="0"/>
              </a:rPr>
              <a:t>Dated 30-Nov 23  Rev. 01</a:t>
            </a:r>
            <a:endParaRPr lang="ko-KR" altLang="en-US" dirty="0">
              <a:solidFill>
                <a:prstClr val="black"/>
              </a:solidFill>
              <a:latin typeface="Arial" panose="020B0604020202020204" pitchFamily="34" charset="0"/>
              <a:cs typeface="Arial" panose="020B0604020202020204" pitchFamily="34" charset="0"/>
            </a:endParaRPr>
          </a:p>
        </p:txBody>
      </p:sp>
      <p:sp>
        <p:nvSpPr>
          <p:cNvPr id="19" name="Holder 3">
            <a:extLst>
              <a:ext uri="{FF2B5EF4-FFF2-40B4-BE49-F238E27FC236}">
                <a16:creationId xmlns:a16="http://schemas.microsoft.com/office/drawing/2014/main" id="{887932F9-98A9-6FDD-D04C-8EF79E5B7DF3}"/>
              </a:ext>
            </a:extLst>
          </p:cNvPr>
          <p:cNvSpPr txBox="1">
            <a:spLocks/>
          </p:cNvSpPr>
          <p:nvPr/>
        </p:nvSpPr>
        <p:spPr>
          <a:xfrm>
            <a:off x="5147476" y="203944"/>
            <a:ext cx="1447800" cy="276999"/>
          </a:xfrm>
          <a:prstGeom prst="rect">
            <a:avLst/>
          </a:prstGeom>
        </p:spPr>
        <p:txBody>
          <a:bodyPr wrap="square" lIns="0" tIns="0" rIns="0" bIns="0">
            <a:spAutoFit/>
          </a:bodyPr>
          <a:lstStyle>
            <a:lvl1pPr marL="0">
              <a:defRPr>
                <a:solidFill>
                  <a:srgbClr val="FF99FF"/>
                </a:solidFill>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defTabSz="914400" latinLnBrk="0"/>
            <a:r>
              <a:rPr lang="en-US" sz="1800" kern="0" dirty="0"/>
              <a:t>&lt;Preliminary&gt;</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p:nvPr/>
        </p:nvSpPr>
        <p:spPr>
          <a:xfrm>
            <a:off x="400913" y="301879"/>
            <a:ext cx="622935" cy="299720"/>
          </a:xfrm>
          <a:prstGeom prst="rect">
            <a:avLst/>
          </a:prstGeom>
        </p:spPr>
        <p:txBody>
          <a:bodyPr vert="horz" wrap="square" lIns="0" tIns="12700" rIns="0" bIns="0" rtlCol="0">
            <a:spAutoFit/>
          </a:bodyPr>
          <a:lstStyle/>
          <a:p>
            <a:pPr marL="12700">
              <a:lnSpc>
                <a:spcPct val="100000"/>
              </a:lnSpc>
              <a:spcBef>
                <a:spcPts val="100"/>
              </a:spcBef>
            </a:pPr>
            <a:r>
              <a:rPr sz="1800" b="1" spc="-5" dirty="0">
                <a:latin typeface="Arial"/>
                <a:cs typeface="Arial"/>
              </a:rPr>
              <a:t>CQ24</a:t>
            </a:r>
            <a:endParaRPr sz="1800" dirty="0">
              <a:latin typeface="Arial"/>
              <a:cs typeface="Arial"/>
            </a:endParaRPr>
          </a:p>
        </p:txBody>
      </p:sp>
      <p:sp>
        <p:nvSpPr>
          <p:cNvPr id="6" name="object 6"/>
          <p:cNvSpPr txBox="1"/>
          <p:nvPr/>
        </p:nvSpPr>
        <p:spPr>
          <a:xfrm>
            <a:off x="400913" y="927354"/>
            <a:ext cx="6038542" cy="182101"/>
          </a:xfrm>
          <a:prstGeom prst="rect">
            <a:avLst/>
          </a:prstGeom>
        </p:spPr>
        <p:txBody>
          <a:bodyPr vert="horz" wrap="square" lIns="0" tIns="12700" rIns="0" bIns="0" rtlCol="0">
            <a:spAutoFit/>
          </a:bodyPr>
          <a:lstStyle/>
          <a:p>
            <a:pPr marL="12700">
              <a:lnSpc>
                <a:spcPct val="100000"/>
              </a:lnSpc>
              <a:spcBef>
                <a:spcPts val="100"/>
              </a:spcBef>
            </a:pPr>
            <a:r>
              <a:rPr sz="1100" b="1" spc="-10" dirty="0">
                <a:latin typeface="Arial"/>
                <a:cs typeface="Arial"/>
              </a:rPr>
              <a:t>FRAME</a:t>
            </a:r>
            <a:r>
              <a:rPr sz="1100" b="1" spc="10" dirty="0">
                <a:latin typeface="Arial"/>
                <a:cs typeface="Arial"/>
              </a:rPr>
              <a:t> </a:t>
            </a:r>
            <a:r>
              <a:rPr sz="1100" b="1" spc="-10" dirty="0">
                <a:latin typeface="Arial"/>
                <a:cs typeface="Arial"/>
              </a:rPr>
              <a:t>HEADER</a:t>
            </a:r>
            <a:r>
              <a:rPr sz="1100" b="1" spc="20" dirty="0">
                <a:latin typeface="Arial"/>
                <a:cs typeface="Arial"/>
              </a:rPr>
              <a:t> </a:t>
            </a:r>
            <a:r>
              <a:rPr sz="1100" b="1" dirty="0">
                <a:latin typeface="Arial"/>
                <a:cs typeface="Arial"/>
              </a:rPr>
              <a:t>FIX</a:t>
            </a:r>
            <a:endParaRPr sz="1100" dirty="0">
              <a:latin typeface="Arial"/>
              <a:cs typeface="Arial"/>
            </a:endParaRPr>
          </a:p>
        </p:txBody>
      </p:sp>
      <p:sp>
        <p:nvSpPr>
          <p:cNvPr id="7" name="object 7"/>
          <p:cNvSpPr txBox="1"/>
          <p:nvPr/>
        </p:nvSpPr>
        <p:spPr>
          <a:xfrm>
            <a:off x="400913" y="4282515"/>
            <a:ext cx="6038542" cy="182742"/>
          </a:xfrm>
          <a:prstGeom prst="rect">
            <a:avLst/>
          </a:prstGeom>
        </p:spPr>
        <p:txBody>
          <a:bodyPr vert="horz" wrap="square" lIns="0" tIns="13335" rIns="0" bIns="0" rtlCol="0">
            <a:spAutoFit/>
          </a:bodyPr>
          <a:lstStyle/>
          <a:p>
            <a:pPr marL="12700">
              <a:lnSpc>
                <a:spcPct val="100000"/>
              </a:lnSpc>
              <a:spcBef>
                <a:spcPts val="105"/>
              </a:spcBef>
            </a:pPr>
            <a:r>
              <a:rPr sz="1100" b="1" spc="-10" dirty="0">
                <a:latin typeface="Arial"/>
                <a:cs typeface="Arial"/>
              </a:rPr>
              <a:t>DUTY</a:t>
            </a:r>
            <a:r>
              <a:rPr sz="1100" b="1" spc="-40" dirty="0">
                <a:latin typeface="Arial"/>
                <a:cs typeface="Arial"/>
              </a:rPr>
              <a:t> </a:t>
            </a:r>
            <a:r>
              <a:rPr sz="1100" b="1" dirty="0">
                <a:latin typeface="Arial"/>
                <a:cs typeface="Arial"/>
              </a:rPr>
              <a:t>FIX</a:t>
            </a:r>
            <a:endParaRPr sz="1100" dirty="0">
              <a:latin typeface="Arial"/>
              <a:cs typeface="Arial"/>
            </a:endParaRPr>
          </a:p>
        </p:txBody>
      </p:sp>
      <p:graphicFrame>
        <p:nvGraphicFramePr>
          <p:cNvPr id="8" name="object 8"/>
          <p:cNvGraphicFramePr>
            <a:graphicFrameLocks noGrp="1"/>
          </p:cNvGraphicFramePr>
          <p:nvPr>
            <p:extLst>
              <p:ext uri="{D42A27DB-BD31-4B8C-83A1-F6EECF244321}">
                <p14:modId xmlns:p14="http://schemas.microsoft.com/office/powerpoint/2010/main" val="4019009122"/>
              </p:ext>
            </p:extLst>
          </p:nvPr>
        </p:nvGraphicFramePr>
        <p:xfrm>
          <a:off x="400913" y="1230566"/>
          <a:ext cx="6038533" cy="387350"/>
        </p:xfrm>
        <a:graphic>
          <a:graphicData uri="http://schemas.openxmlformats.org/drawingml/2006/table">
            <a:tbl>
              <a:tblPr firstRow="1" bandRow="1">
                <a:tableStyleId>{2D5ABB26-0587-4C30-8999-92F81FD0307C}</a:tableStyleId>
              </a:tblPr>
              <a:tblGrid>
                <a:gridCol w="406933">
                  <a:extLst>
                    <a:ext uri="{9D8B030D-6E8A-4147-A177-3AD203B41FA5}">
                      <a16:colId xmlns:a16="http://schemas.microsoft.com/office/drawing/2014/main" val="20000"/>
                    </a:ext>
                  </a:extLst>
                </a:gridCol>
                <a:gridCol w="468003">
                  <a:extLst>
                    <a:ext uri="{9D8B030D-6E8A-4147-A177-3AD203B41FA5}">
                      <a16:colId xmlns:a16="http://schemas.microsoft.com/office/drawing/2014/main" val="20001"/>
                    </a:ext>
                  </a:extLst>
                </a:gridCol>
                <a:gridCol w="317195">
                  <a:extLst>
                    <a:ext uri="{9D8B030D-6E8A-4147-A177-3AD203B41FA5}">
                      <a16:colId xmlns:a16="http://schemas.microsoft.com/office/drawing/2014/main" val="20002"/>
                    </a:ext>
                  </a:extLst>
                </a:gridCol>
                <a:gridCol w="317195">
                  <a:extLst>
                    <a:ext uri="{9D8B030D-6E8A-4147-A177-3AD203B41FA5}">
                      <a16:colId xmlns:a16="http://schemas.microsoft.com/office/drawing/2014/main" val="20003"/>
                    </a:ext>
                  </a:extLst>
                </a:gridCol>
                <a:gridCol w="317194">
                  <a:extLst>
                    <a:ext uri="{9D8B030D-6E8A-4147-A177-3AD203B41FA5}">
                      <a16:colId xmlns:a16="http://schemas.microsoft.com/office/drawing/2014/main" val="20004"/>
                    </a:ext>
                  </a:extLst>
                </a:gridCol>
                <a:gridCol w="405685">
                  <a:extLst>
                    <a:ext uri="{9D8B030D-6E8A-4147-A177-3AD203B41FA5}">
                      <a16:colId xmlns:a16="http://schemas.microsoft.com/office/drawing/2014/main" val="20005"/>
                    </a:ext>
                  </a:extLst>
                </a:gridCol>
                <a:gridCol w="317194">
                  <a:extLst>
                    <a:ext uri="{9D8B030D-6E8A-4147-A177-3AD203B41FA5}">
                      <a16:colId xmlns:a16="http://schemas.microsoft.com/office/drawing/2014/main" val="20006"/>
                    </a:ext>
                  </a:extLst>
                </a:gridCol>
                <a:gridCol w="317194">
                  <a:extLst>
                    <a:ext uri="{9D8B030D-6E8A-4147-A177-3AD203B41FA5}">
                      <a16:colId xmlns:a16="http://schemas.microsoft.com/office/drawing/2014/main" val="20007"/>
                    </a:ext>
                  </a:extLst>
                </a:gridCol>
                <a:gridCol w="317194">
                  <a:extLst>
                    <a:ext uri="{9D8B030D-6E8A-4147-A177-3AD203B41FA5}">
                      <a16:colId xmlns:a16="http://schemas.microsoft.com/office/drawing/2014/main" val="20008"/>
                    </a:ext>
                  </a:extLst>
                </a:gridCol>
                <a:gridCol w="317194">
                  <a:extLst>
                    <a:ext uri="{9D8B030D-6E8A-4147-A177-3AD203B41FA5}">
                      <a16:colId xmlns:a16="http://schemas.microsoft.com/office/drawing/2014/main" val="20009"/>
                    </a:ext>
                  </a:extLst>
                </a:gridCol>
                <a:gridCol w="317194">
                  <a:extLst>
                    <a:ext uri="{9D8B030D-6E8A-4147-A177-3AD203B41FA5}">
                      <a16:colId xmlns:a16="http://schemas.microsoft.com/office/drawing/2014/main" val="20010"/>
                    </a:ext>
                  </a:extLst>
                </a:gridCol>
                <a:gridCol w="317194">
                  <a:extLst>
                    <a:ext uri="{9D8B030D-6E8A-4147-A177-3AD203B41FA5}">
                      <a16:colId xmlns:a16="http://schemas.microsoft.com/office/drawing/2014/main" val="20011"/>
                    </a:ext>
                  </a:extLst>
                </a:gridCol>
                <a:gridCol w="317194">
                  <a:extLst>
                    <a:ext uri="{9D8B030D-6E8A-4147-A177-3AD203B41FA5}">
                      <a16:colId xmlns:a16="http://schemas.microsoft.com/office/drawing/2014/main" val="20012"/>
                    </a:ext>
                  </a:extLst>
                </a:gridCol>
                <a:gridCol w="317194">
                  <a:extLst>
                    <a:ext uri="{9D8B030D-6E8A-4147-A177-3AD203B41FA5}">
                      <a16:colId xmlns:a16="http://schemas.microsoft.com/office/drawing/2014/main" val="20013"/>
                    </a:ext>
                  </a:extLst>
                </a:gridCol>
                <a:gridCol w="317194">
                  <a:extLst>
                    <a:ext uri="{9D8B030D-6E8A-4147-A177-3AD203B41FA5}">
                      <a16:colId xmlns:a16="http://schemas.microsoft.com/office/drawing/2014/main" val="20014"/>
                    </a:ext>
                  </a:extLst>
                </a:gridCol>
                <a:gridCol w="317194">
                  <a:extLst>
                    <a:ext uri="{9D8B030D-6E8A-4147-A177-3AD203B41FA5}">
                      <a16:colId xmlns:a16="http://schemas.microsoft.com/office/drawing/2014/main" val="20015"/>
                    </a:ext>
                  </a:extLst>
                </a:gridCol>
                <a:gridCol w="317194">
                  <a:extLst>
                    <a:ext uri="{9D8B030D-6E8A-4147-A177-3AD203B41FA5}">
                      <a16:colId xmlns:a16="http://schemas.microsoft.com/office/drawing/2014/main" val="20016"/>
                    </a:ext>
                  </a:extLst>
                </a:gridCol>
                <a:gridCol w="317194">
                  <a:extLst>
                    <a:ext uri="{9D8B030D-6E8A-4147-A177-3AD203B41FA5}">
                      <a16:colId xmlns:a16="http://schemas.microsoft.com/office/drawing/2014/main" val="20017"/>
                    </a:ext>
                  </a:extLst>
                </a:gridCol>
              </a:tblGrid>
              <a:tr h="193675">
                <a:tc>
                  <a:txBody>
                    <a:bodyPr/>
                    <a:lstStyle/>
                    <a:p>
                      <a:pPr algn="ctr">
                        <a:lnSpc>
                          <a:spcPct val="100000"/>
                        </a:lnSpc>
                        <a:spcBef>
                          <a:spcPts val="260"/>
                        </a:spcBef>
                      </a:pPr>
                      <a:r>
                        <a:rPr sz="800" dirty="0">
                          <a:latin typeface="Arial"/>
                          <a:cs typeface="Arial"/>
                        </a:rPr>
                        <a:t>A[6:0]</a:t>
                      </a:r>
                    </a:p>
                  </a:txBody>
                  <a:tcPr marL="0" marR="0" marT="3302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algn="ctr">
                        <a:lnSpc>
                          <a:spcPct val="100000"/>
                        </a:lnSpc>
                        <a:spcBef>
                          <a:spcPts val="260"/>
                        </a:spcBef>
                      </a:pPr>
                      <a:r>
                        <a:rPr sz="800" spc="-5" dirty="0">
                          <a:latin typeface="Arial"/>
                          <a:cs typeface="Arial"/>
                        </a:rPr>
                        <a:t>Default</a:t>
                      </a:r>
                      <a:endParaRPr sz="800" dirty="0">
                        <a:latin typeface="Arial"/>
                        <a:cs typeface="Arial"/>
                      </a:endParaRPr>
                    </a:p>
                  </a:txBody>
                  <a:tcPr marL="0" marR="0" marT="3302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algn="ctr">
                        <a:lnSpc>
                          <a:spcPct val="100000"/>
                        </a:lnSpc>
                        <a:spcBef>
                          <a:spcPts val="260"/>
                        </a:spcBef>
                      </a:pPr>
                      <a:r>
                        <a:rPr sz="800" spc="-5" dirty="0">
                          <a:latin typeface="Arial"/>
                          <a:cs typeface="Arial"/>
                        </a:rPr>
                        <a:t>D15</a:t>
                      </a:r>
                      <a:endParaRPr sz="800" dirty="0">
                        <a:latin typeface="Arial"/>
                        <a:cs typeface="Arial"/>
                      </a:endParaRPr>
                    </a:p>
                  </a:txBody>
                  <a:tcPr marL="0" marR="0" marT="3302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algn="ctr">
                        <a:lnSpc>
                          <a:spcPct val="100000"/>
                        </a:lnSpc>
                        <a:spcBef>
                          <a:spcPts val="260"/>
                        </a:spcBef>
                      </a:pPr>
                      <a:r>
                        <a:rPr sz="800" spc="-5" dirty="0">
                          <a:latin typeface="Arial"/>
                          <a:cs typeface="Arial"/>
                        </a:rPr>
                        <a:t>D14</a:t>
                      </a:r>
                      <a:endParaRPr sz="800" dirty="0">
                        <a:latin typeface="Arial"/>
                        <a:cs typeface="Arial"/>
                      </a:endParaRPr>
                    </a:p>
                  </a:txBody>
                  <a:tcPr marL="0" marR="0" marT="3302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68580">
                        <a:lnSpc>
                          <a:spcPct val="100000"/>
                        </a:lnSpc>
                        <a:spcBef>
                          <a:spcPts val="260"/>
                        </a:spcBef>
                      </a:pPr>
                      <a:r>
                        <a:rPr sz="800" spc="-5" dirty="0">
                          <a:latin typeface="Arial"/>
                          <a:cs typeface="Arial"/>
                        </a:rPr>
                        <a:t>D13</a:t>
                      </a:r>
                      <a:endParaRPr sz="800" dirty="0">
                        <a:latin typeface="Arial"/>
                        <a:cs typeface="Arial"/>
                      </a:endParaRPr>
                    </a:p>
                  </a:txBody>
                  <a:tcPr marL="0" marR="0" marT="3302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114300">
                        <a:lnSpc>
                          <a:spcPct val="100000"/>
                        </a:lnSpc>
                        <a:spcBef>
                          <a:spcPts val="260"/>
                        </a:spcBef>
                      </a:pPr>
                      <a:r>
                        <a:rPr sz="800" spc="-5" dirty="0">
                          <a:latin typeface="Arial"/>
                          <a:cs typeface="Arial"/>
                        </a:rPr>
                        <a:t>D12</a:t>
                      </a:r>
                      <a:endParaRPr sz="800" dirty="0">
                        <a:latin typeface="Arial"/>
                        <a:cs typeface="Arial"/>
                      </a:endParaRPr>
                    </a:p>
                  </a:txBody>
                  <a:tcPr marL="0" marR="0" marT="3302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68580">
                        <a:lnSpc>
                          <a:spcPct val="100000"/>
                        </a:lnSpc>
                        <a:spcBef>
                          <a:spcPts val="260"/>
                        </a:spcBef>
                      </a:pPr>
                      <a:r>
                        <a:rPr sz="800" spc="-5" dirty="0">
                          <a:latin typeface="Arial"/>
                          <a:cs typeface="Arial"/>
                        </a:rPr>
                        <a:t>D11</a:t>
                      </a:r>
                      <a:endParaRPr sz="800" dirty="0">
                        <a:latin typeface="Arial"/>
                        <a:cs typeface="Arial"/>
                      </a:endParaRPr>
                    </a:p>
                  </a:txBody>
                  <a:tcPr marL="0" marR="0" marT="3302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68580">
                        <a:lnSpc>
                          <a:spcPct val="100000"/>
                        </a:lnSpc>
                        <a:spcBef>
                          <a:spcPts val="260"/>
                        </a:spcBef>
                      </a:pPr>
                      <a:r>
                        <a:rPr sz="800" spc="-5" dirty="0">
                          <a:latin typeface="Arial"/>
                          <a:cs typeface="Arial"/>
                        </a:rPr>
                        <a:t>D10</a:t>
                      </a:r>
                      <a:endParaRPr sz="800" dirty="0">
                        <a:latin typeface="Arial"/>
                        <a:cs typeface="Arial"/>
                      </a:endParaRPr>
                    </a:p>
                  </a:txBody>
                  <a:tcPr marL="0" marR="0" marT="3302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97790">
                        <a:lnSpc>
                          <a:spcPct val="100000"/>
                        </a:lnSpc>
                        <a:spcBef>
                          <a:spcPts val="260"/>
                        </a:spcBef>
                      </a:pPr>
                      <a:r>
                        <a:rPr sz="800" spc="-5" dirty="0">
                          <a:latin typeface="Arial"/>
                          <a:cs typeface="Arial"/>
                        </a:rPr>
                        <a:t>D9</a:t>
                      </a:r>
                      <a:endParaRPr sz="800" dirty="0">
                        <a:latin typeface="Arial"/>
                        <a:cs typeface="Arial"/>
                      </a:endParaRPr>
                    </a:p>
                  </a:txBody>
                  <a:tcPr marL="0" marR="0" marT="3302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98425">
                        <a:lnSpc>
                          <a:spcPct val="100000"/>
                        </a:lnSpc>
                        <a:spcBef>
                          <a:spcPts val="260"/>
                        </a:spcBef>
                      </a:pPr>
                      <a:r>
                        <a:rPr sz="800" spc="-5" dirty="0">
                          <a:latin typeface="Arial"/>
                          <a:cs typeface="Arial"/>
                        </a:rPr>
                        <a:t>D8</a:t>
                      </a:r>
                      <a:endParaRPr sz="800" dirty="0">
                        <a:latin typeface="Arial"/>
                        <a:cs typeface="Arial"/>
                      </a:endParaRPr>
                    </a:p>
                  </a:txBody>
                  <a:tcPr marL="0" marR="0" marT="3302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98425">
                        <a:lnSpc>
                          <a:spcPct val="100000"/>
                        </a:lnSpc>
                        <a:spcBef>
                          <a:spcPts val="260"/>
                        </a:spcBef>
                      </a:pPr>
                      <a:r>
                        <a:rPr sz="800" spc="-5" dirty="0">
                          <a:latin typeface="Arial"/>
                          <a:cs typeface="Arial"/>
                        </a:rPr>
                        <a:t>D7</a:t>
                      </a:r>
                      <a:endParaRPr sz="800" dirty="0">
                        <a:latin typeface="Arial"/>
                        <a:cs typeface="Arial"/>
                      </a:endParaRPr>
                    </a:p>
                  </a:txBody>
                  <a:tcPr marL="0" marR="0" marT="3302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98425">
                        <a:lnSpc>
                          <a:spcPct val="100000"/>
                        </a:lnSpc>
                        <a:spcBef>
                          <a:spcPts val="260"/>
                        </a:spcBef>
                      </a:pPr>
                      <a:r>
                        <a:rPr sz="800" spc="-5" dirty="0">
                          <a:latin typeface="Arial"/>
                          <a:cs typeface="Arial"/>
                        </a:rPr>
                        <a:t>D6</a:t>
                      </a:r>
                      <a:endParaRPr sz="800" dirty="0">
                        <a:latin typeface="Arial"/>
                        <a:cs typeface="Arial"/>
                      </a:endParaRPr>
                    </a:p>
                  </a:txBody>
                  <a:tcPr marL="0" marR="0" marT="3302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98425">
                        <a:lnSpc>
                          <a:spcPct val="100000"/>
                        </a:lnSpc>
                        <a:spcBef>
                          <a:spcPts val="260"/>
                        </a:spcBef>
                      </a:pPr>
                      <a:r>
                        <a:rPr sz="800" spc="-5" dirty="0">
                          <a:latin typeface="Arial"/>
                          <a:cs typeface="Arial"/>
                        </a:rPr>
                        <a:t>D5</a:t>
                      </a:r>
                      <a:endParaRPr sz="800" dirty="0">
                        <a:latin typeface="Arial"/>
                        <a:cs typeface="Arial"/>
                      </a:endParaRPr>
                    </a:p>
                  </a:txBody>
                  <a:tcPr marL="0" marR="0" marT="3302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98425">
                        <a:lnSpc>
                          <a:spcPct val="100000"/>
                        </a:lnSpc>
                        <a:spcBef>
                          <a:spcPts val="260"/>
                        </a:spcBef>
                      </a:pPr>
                      <a:r>
                        <a:rPr sz="800" spc="-5" dirty="0">
                          <a:latin typeface="Arial"/>
                          <a:cs typeface="Arial"/>
                        </a:rPr>
                        <a:t>D4</a:t>
                      </a:r>
                      <a:endParaRPr sz="800" dirty="0">
                        <a:latin typeface="Arial"/>
                        <a:cs typeface="Arial"/>
                      </a:endParaRPr>
                    </a:p>
                  </a:txBody>
                  <a:tcPr marL="0" marR="0" marT="3302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98425">
                        <a:lnSpc>
                          <a:spcPct val="100000"/>
                        </a:lnSpc>
                        <a:spcBef>
                          <a:spcPts val="260"/>
                        </a:spcBef>
                      </a:pPr>
                      <a:r>
                        <a:rPr sz="800" spc="-5" dirty="0">
                          <a:latin typeface="Arial"/>
                          <a:cs typeface="Arial"/>
                        </a:rPr>
                        <a:t>D3</a:t>
                      </a:r>
                      <a:endParaRPr sz="800" dirty="0">
                        <a:latin typeface="Arial"/>
                        <a:cs typeface="Arial"/>
                      </a:endParaRPr>
                    </a:p>
                  </a:txBody>
                  <a:tcPr marL="0" marR="0" marT="3302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98425">
                        <a:lnSpc>
                          <a:spcPct val="100000"/>
                        </a:lnSpc>
                        <a:spcBef>
                          <a:spcPts val="260"/>
                        </a:spcBef>
                      </a:pPr>
                      <a:r>
                        <a:rPr sz="800" spc="-5" dirty="0">
                          <a:latin typeface="Arial"/>
                          <a:cs typeface="Arial"/>
                        </a:rPr>
                        <a:t>D2</a:t>
                      </a:r>
                      <a:endParaRPr sz="800" dirty="0">
                        <a:latin typeface="Arial"/>
                        <a:cs typeface="Arial"/>
                      </a:endParaRPr>
                    </a:p>
                  </a:txBody>
                  <a:tcPr marL="0" marR="0" marT="3302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98425">
                        <a:lnSpc>
                          <a:spcPct val="100000"/>
                        </a:lnSpc>
                        <a:spcBef>
                          <a:spcPts val="260"/>
                        </a:spcBef>
                      </a:pPr>
                      <a:r>
                        <a:rPr sz="800" spc="-5" dirty="0">
                          <a:latin typeface="Arial"/>
                          <a:cs typeface="Arial"/>
                        </a:rPr>
                        <a:t>D1</a:t>
                      </a:r>
                      <a:endParaRPr sz="800" dirty="0">
                        <a:latin typeface="Arial"/>
                        <a:cs typeface="Arial"/>
                      </a:endParaRPr>
                    </a:p>
                  </a:txBody>
                  <a:tcPr marL="0" marR="0" marT="3302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98425">
                        <a:lnSpc>
                          <a:spcPct val="100000"/>
                        </a:lnSpc>
                        <a:spcBef>
                          <a:spcPts val="260"/>
                        </a:spcBef>
                      </a:pPr>
                      <a:r>
                        <a:rPr sz="800" spc="-5" dirty="0">
                          <a:latin typeface="Arial"/>
                          <a:cs typeface="Arial"/>
                        </a:rPr>
                        <a:t>D0</a:t>
                      </a:r>
                      <a:endParaRPr sz="800" dirty="0">
                        <a:latin typeface="Arial"/>
                        <a:cs typeface="Arial"/>
                      </a:endParaRPr>
                    </a:p>
                  </a:txBody>
                  <a:tcPr marL="0" marR="0" marT="3302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extLst>
                  <a:ext uri="{0D108BD9-81ED-4DB2-BD59-A6C34878D82A}">
                    <a16:rowId xmlns:a16="http://schemas.microsoft.com/office/drawing/2014/main" val="10000"/>
                  </a:ext>
                </a:extLst>
              </a:tr>
              <a:tr h="193675">
                <a:tc>
                  <a:txBody>
                    <a:bodyPr/>
                    <a:lstStyle/>
                    <a:p>
                      <a:pPr algn="ctr">
                        <a:lnSpc>
                          <a:spcPct val="100000"/>
                        </a:lnSpc>
                        <a:spcBef>
                          <a:spcPts val="265"/>
                        </a:spcBef>
                      </a:pPr>
                      <a:r>
                        <a:rPr sz="800" spc="-5" dirty="0">
                          <a:latin typeface="Arial"/>
                          <a:cs typeface="Arial"/>
                        </a:rPr>
                        <a:t>‘h10</a:t>
                      </a:r>
                      <a:endParaRPr sz="8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1270" algn="ctr">
                        <a:lnSpc>
                          <a:spcPct val="100000"/>
                        </a:lnSpc>
                        <a:spcBef>
                          <a:spcPts val="330"/>
                        </a:spcBef>
                      </a:pPr>
                      <a:r>
                        <a:rPr sz="700" dirty="0">
                          <a:latin typeface="Arial"/>
                          <a:cs typeface="Arial"/>
                        </a:rPr>
                        <a:t>0</a:t>
                      </a:r>
                    </a:p>
                  </a:txBody>
                  <a:tcPr marL="0" marR="0" marT="4191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635" algn="ctr">
                        <a:lnSpc>
                          <a:spcPct val="100000"/>
                        </a:lnSpc>
                        <a:spcBef>
                          <a:spcPts val="305"/>
                        </a:spcBef>
                      </a:pPr>
                      <a:r>
                        <a:rPr sz="700" dirty="0">
                          <a:latin typeface="Arial"/>
                          <a:cs typeface="Arial"/>
                        </a:rPr>
                        <a:t>x</a:t>
                      </a:r>
                    </a:p>
                  </a:txBody>
                  <a:tcPr marL="0" marR="0" marT="3873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1270" algn="ctr">
                        <a:lnSpc>
                          <a:spcPct val="100000"/>
                        </a:lnSpc>
                        <a:spcBef>
                          <a:spcPts val="330"/>
                        </a:spcBef>
                      </a:pPr>
                      <a:r>
                        <a:rPr sz="700" dirty="0">
                          <a:latin typeface="Arial"/>
                          <a:cs typeface="Arial"/>
                        </a:rPr>
                        <a:t>x</a:t>
                      </a:r>
                    </a:p>
                  </a:txBody>
                  <a:tcPr marL="0" marR="0" marT="4191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gridSpan="2">
                  <a:txBody>
                    <a:bodyPr/>
                    <a:lstStyle/>
                    <a:p>
                      <a:pPr marL="45720">
                        <a:lnSpc>
                          <a:spcPct val="100000"/>
                        </a:lnSpc>
                        <a:spcBef>
                          <a:spcPts val="305"/>
                        </a:spcBef>
                      </a:pPr>
                      <a:r>
                        <a:rPr sz="700" spc="-10" dirty="0">
                          <a:latin typeface="Arial"/>
                          <a:cs typeface="Arial"/>
                        </a:rPr>
                        <a:t>FRAME_CZ[1:0]</a:t>
                      </a:r>
                      <a:endParaRPr sz="700" dirty="0">
                        <a:latin typeface="Arial"/>
                        <a:cs typeface="Arial"/>
                      </a:endParaRPr>
                    </a:p>
                  </a:txBody>
                  <a:tcPr marL="0" marR="0" marT="3873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hMerge="1">
                  <a:txBody>
                    <a:bodyPr/>
                    <a:lstStyle/>
                    <a:p>
                      <a:endParaRPr/>
                    </a:p>
                  </a:txBody>
                  <a:tcPr marL="0" marR="0" marT="0" marB="0"/>
                </a:tc>
                <a:tc gridSpan="12">
                  <a:txBody>
                    <a:bodyPr/>
                    <a:lstStyle/>
                    <a:p>
                      <a:pPr marL="1270" algn="ctr">
                        <a:lnSpc>
                          <a:spcPct val="100000"/>
                        </a:lnSpc>
                        <a:spcBef>
                          <a:spcPts val="305"/>
                        </a:spcBef>
                      </a:pPr>
                      <a:r>
                        <a:rPr sz="700" spc="-10" dirty="0">
                          <a:latin typeface="Arial"/>
                          <a:cs typeface="Arial"/>
                        </a:rPr>
                        <a:t>FRAME_VREF</a:t>
                      </a:r>
                      <a:r>
                        <a:rPr sz="700" spc="-30" dirty="0">
                          <a:latin typeface="Arial"/>
                          <a:cs typeface="Arial"/>
                        </a:rPr>
                        <a:t> </a:t>
                      </a:r>
                      <a:r>
                        <a:rPr sz="700" spc="-5" dirty="0">
                          <a:latin typeface="Arial"/>
                          <a:cs typeface="Arial"/>
                        </a:rPr>
                        <a:t>[11:0]</a:t>
                      </a:r>
                      <a:endParaRPr sz="700" dirty="0">
                        <a:latin typeface="Arial"/>
                        <a:cs typeface="Arial"/>
                      </a:endParaRPr>
                    </a:p>
                  </a:txBody>
                  <a:tcPr marL="0" marR="0" marT="3873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1"/>
                  </a:ext>
                </a:extLst>
              </a:tr>
            </a:tbl>
          </a:graphicData>
        </a:graphic>
      </p:graphicFrame>
      <p:graphicFrame>
        <p:nvGraphicFramePr>
          <p:cNvPr id="10" name="object 10"/>
          <p:cNvGraphicFramePr>
            <a:graphicFrameLocks noGrp="1"/>
          </p:cNvGraphicFramePr>
          <p:nvPr>
            <p:extLst>
              <p:ext uri="{D42A27DB-BD31-4B8C-83A1-F6EECF244321}">
                <p14:modId xmlns:p14="http://schemas.microsoft.com/office/powerpoint/2010/main" val="2512149356"/>
              </p:ext>
            </p:extLst>
          </p:nvPr>
        </p:nvGraphicFramePr>
        <p:xfrm>
          <a:off x="405685" y="4557331"/>
          <a:ext cx="6033770" cy="387350"/>
        </p:xfrm>
        <a:graphic>
          <a:graphicData uri="http://schemas.openxmlformats.org/drawingml/2006/table">
            <a:tbl>
              <a:tblPr firstRow="1" bandRow="1">
                <a:tableStyleId>{2D5ABB26-0587-4C30-8999-92F81FD0307C}</a:tableStyleId>
              </a:tblPr>
              <a:tblGrid>
                <a:gridCol w="411817">
                  <a:extLst>
                    <a:ext uri="{9D8B030D-6E8A-4147-A177-3AD203B41FA5}">
                      <a16:colId xmlns:a16="http://schemas.microsoft.com/office/drawing/2014/main" val="20000"/>
                    </a:ext>
                  </a:extLst>
                </a:gridCol>
                <a:gridCol w="473931">
                  <a:extLst>
                    <a:ext uri="{9D8B030D-6E8A-4147-A177-3AD203B41FA5}">
                      <a16:colId xmlns:a16="http://schemas.microsoft.com/office/drawing/2014/main" val="20001"/>
                    </a:ext>
                  </a:extLst>
                </a:gridCol>
                <a:gridCol w="321751">
                  <a:extLst>
                    <a:ext uri="{9D8B030D-6E8A-4147-A177-3AD203B41FA5}">
                      <a16:colId xmlns:a16="http://schemas.microsoft.com/office/drawing/2014/main" val="20002"/>
                    </a:ext>
                  </a:extLst>
                </a:gridCol>
                <a:gridCol w="321752">
                  <a:extLst>
                    <a:ext uri="{9D8B030D-6E8A-4147-A177-3AD203B41FA5}">
                      <a16:colId xmlns:a16="http://schemas.microsoft.com/office/drawing/2014/main" val="20003"/>
                    </a:ext>
                  </a:extLst>
                </a:gridCol>
                <a:gridCol w="321752">
                  <a:extLst>
                    <a:ext uri="{9D8B030D-6E8A-4147-A177-3AD203B41FA5}">
                      <a16:colId xmlns:a16="http://schemas.microsoft.com/office/drawing/2014/main" val="20004"/>
                    </a:ext>
                  </a:extLst>
                </a:gridCol>
                <a:gridCol w="321752">
                  <a:extLst>
                    <a:ext uri="{9D8B030D-6E8A-4147-A177-3AD203B41FA5}">
                      <a16:colId xmlns:a16="http://schemas.microsoft.com/office/drawing/2014/main" val="20005"/>
                    </a:ext>
                  </a:extLst>
                </a:gridCol>
                <a:gridCol w="321752">
                  <a:extLst>
                    <a:ext uri="{9D8B030D-6E8A-4147-A177-3AD203B41FA5}">
                      <a16:colId xmlns:a16="http://schemas.microsoft.com/office/drawing/2014/main" val="20006"/>
                    </a:ext>
                  </a:extLst>
                </a:gridCol>
                <a:gridCol w="321752">
                  <a:extLst>
                    <a:ext uri="{9D8B030D-6E8A-4147-A177-3AD203B41FA5}">
                      <a16:colId xmlns:a16="http://schemas.microsoft.com/office/drawing/2014/main" val="20007"/>
                    </a:ext>
                  </a:extLst>
                </a:gridCol>
                <a:gridCol w="321752">
                  <a:extLst>
                    <a:ext uri="{9D8B030D-6E8A-4147-A177-3AD203B41FA5}">
                      <a16:colId xmlns:a16="http://schemas.microsoft.com/office/drawing/2014/main" val="20008"/>
                    </a:ext>
                  </a:extLst>
                </a:gridCol>
                <a:gridCol w="321751">
                  <a:extLst>
                    <a:ext uri="{9D8B030D-6E8A-4147-A177-3AD203B41FA5}">
                      <a16:colId xmlns:a16="http://schemas.microsoft.com/office/drawing/2014/main" val="20009"/>
                    </a:ext>
                  </a:extLst>
                </a:gridCol>
                <a:gridCol w="321751">
                  <a:extLst>
                    <a:ext uri="{9D8B030D-6E8A-4147-A177-3AD203B41FA5}">
                      <a16:colId xmlns:a16="http://schemas.microsoft.com/office/drawing/2014/main" val="20010"/>
                    </a:ext>
                  </a:extLst>
                </a:gridCol>
                <a:gridCol w="321751">
                  <a:extLst>
                    <a:ext uri="{9D8B030D-6E8A-4147-A177-3AD203B41FA5}">
                      <a16:colId xmlns:a16="http://schemas.microsoft.com/office/drawing/2014/main" val="20011"/>
                    </a:ext>
                  </a:extLst>
                </a:gridCol>
                <a:gridCol w="321751">
                  <a:extLst>
                    <a:ext uri="{9D8B030D-6E8A-4147-A177-3AD203B41FA5}">
                      <a16:colId xmlns:a16="http://schemas.microsoft.com/office/drawing/2014/main" val="20012"/>
                    </a:ext>
                  </a:extLst>
                </a:gridCol>
                <a:gridCol w="321751">
                  <a:extLst>
                    <a:ext uri="{9D8B030D-6E8A-4147-A177-3AD203B41FA5}">
                      <a16:colId xmlns:a16="http://schemas.microsoft.com/office/drawing/2014/main" val="20013"/>
                    </a:ext>
                  </a:extLst>
                </a:gridCol>
                <a:gridCol w="321751">
                  <a:extLst>
                    <a:ext uri="{9D8B030D-6E8A-4147-A177-3AD203B41FA5}">
                      <a16:colId xmlns:a16="http://schemas.microsoft.com/office/drawing/2014/main" val="20014"/>
                    </a:ext>
                  </a:extLst>
                </a:gridCol>
                <a:gridCol w="321751">
                  <a:extLst>
                    <a:ext uri="{9D8B030D-6E8A-4147-A177-3AD203B41FA5}">
                      <a16:colId xmlns:a16="http://schemas.microsoft.com/office/drawing/2014/main" val="20015"/>
                    </a:ext>
                  </a:extLst>
                </a:gridCol>
                <a:gridCol w="321751">
                  <a:extLst>
                    <a:ext uri="{9D8B030D-6E8A-4147-A177-3AD203B41FA5}">
                      <a16:colId xmlns:a16="http://schemas.microsoft.com/office/drawing/2014/main" val="20016"/>
                    </a:ext>
                  </a:extLst>
                </a:gridCol>
                <a:gridCol w="321751">
                  <a:extLst>
                    <a:ext uri="{9D8B030D-6E8A-4147-A177-3AD203B41FA5}">
                      <a16:colId xmlns:a16="http://schemas.microsoft.com/office/drawing/2014/main" val="20017"/>
                    </a:ext>
                  </a:extLst>
                </a:gridCol>
              </a:tblGrid>
              <a:tr h="193675">
                <a:tc>
                  <a:txBody>
                    <a:bodyPr/>
                    <a:lstStyle/>
                    <a:p>
                      <a:pPr marL="76200">
                        <a:lnSpc>
                          <a:spcPct val="100000"/>
                        </a:lnSpc>
                        <a:spcBef>
                          <a:spcPts val="265"/>
                        </a:spcBef>
                      </a:pPr>
                      <a:r>
                        <a:rPr sz="800" dirty="0">
                          <a:latin typeface="Arial"/>
                          <a:cs typeface="Arial"/>
                        </a:rPr>
                        <a:t>A[6:0]</a:t>
                      </a: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algn="ctr">
                        <a:lnSpc>
                          <a:spcPct val="100000"/>
                        </a:lnSpc>
                        <a:spcBef>
                          <a:spcPts val="265"/>
                        </a:spcBef>
                      </a:pPr>
                      <a:r>
                        <a:rPr sz="800" spc="-5" dirty="0">
                          <a:latin typeface="Arial"/>
                          <a:cs typeface="Arial"/>
                        </a:rPr>
                        <a:t>Default</a:t>
                      </a:r>
                      <a:endParaRPr sz="8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1270" algn="ctr">
                        <a:lnSpc>
                          <a:spcPct val="100000"/>
                        </a:lnSpc>
                        <a:spcBef>
                          <a:spcPts val="265"/>
                        </a:spcBef>
                      </a:pPr>
                      <a:r>
                        <a:rPr sz="800" spc="-5" dirty="0">
                          <a:latin typeface="Arial"/>
                          <a:cs typeface="Arial"/>
                        </a:rPr>
                        <a:t>D15</a:t>
                      </a:r>
                      <a:endParaRPr sz="8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1270" algn="ctr">
                        <a:lnSpc>
                          <a:spcPct val="100000"/>
                        </a:lnSpc>
                        <a:spcBef>
                          <a:spcPts val="265"/>
                        </a:spcBef>
                      </a:pPr>
                      <a:r>
                        <a:rPr sz="800" spc="-5" dirty="0">
                          <a:latin typeface="Arial"/>
                          <a:cs typeface="Arial"/>
                        </a:rPr>
                        <a:t>D14</a:t>
                      </a:r>
                      <a:endParaRPr sz="8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1905" algn="ctr">
                        <a:lnSpc>
                          <a:spcPct val="100000"/>
                        </a:lnSpc>
                        <a:spcBef>
                          <a:spcPts val="265"/>
                        </a:spcBef>
                      </a:pPr>
                      <a:r>
                        <a:rPr sz="800" spc="-5" dirty="0">
                          <a:latin typeface="Arial"/>
                          <a:cs typeface="Arial"/>
                        </a:rPr>
                        <a:t>D13</a:t>
                      </a:r>
                      <a:endParaRPr sz="8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1905" algn="ctr">
                        <a:lnSpc>
                          <a:spcPct val="100000"/>
                        </a:lnSpc>
                        <a:spcBef>
                          <a:spcPts val="265"/>
                        </a:spcBef>
                      </a:pPr>
                      <a:r>
                        <a:rPr sz="800" spc="-5" dirty="0">
                          <a:latin typeface="Arial"/>
                          <a:cs typeface="Arial"/>
                        </a:rPr>
                        <a:t>D12</a:t>
                      </a:r>
                      <a:endParaRPr sz="8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1905" algn="ctr">
                        <a:lnSpc>
                          <a:spcPct val="100000"/>
                        </a:lnSpc>
                        <a:spcBef>
                          <a:spcPts val="265"/>
                        </a:spcBef>
                      </a:pPr>
                      <a:r>
                        <a:rPr sz="800" spc="-5" dirty="0">
                          <a:latin typeface="Arial"/>
                          <a:cs typeface="Arial"/>
                        </a:rPr>
                        <a:t>D11</a:t>
                      </a:r>
                      <a:endParaRPr sz="8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2540" algn="ctr">
                        <a:lnSpc>
                          <a:spcPct val="100000"/>
                        </a:lnSpc>
                        <a:spcBef>
                          <a:spcPts val="265"/>
                        </a:spcBef>
                      </a:pPr>
                      <a:r>
                        <a:rPr sz="800" spc="-5" dirty="0">
                          <a:latin typeface="Arial"/>
                          <a:cs typeface="Arial"/>
                        </a:rPr>
                        <a:t>D10</a:t>
                      </a:r>
                      <a:endParaRPr sz="8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algn="ctr">
                        <a:lnSpc>
                          <a:spcPct val="100000"/>
                        </a:lnSpc>
                        <a:spcBef>
                          <a:spcPts val="265"/>
                        </a:spcBef>
                      </a:pPr>
                      <a:r>
                        <a:rPr sz="800" spc="-5" dirty="0">
                          <a:latin typeface="Arial"/>
                          <a:cs typeface="Arial"/>
                        </a:rPr>
                        <a:t>D9</a:t>
                      </a:r>
                      <a:endParaRPr sz="8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635" algn="ctr">
                        <a:lnSpc>
                          <a:spcPct val="100000"/>
                        </a:lnSpc>
                        <a:spcBef>
                          <a:spcPts val="265"/>
                        </a:spcBef>
                      </a:pPr>
                      <a:r>
                        <a:rPr sz="800" spc="-5" dirty="0">
                          <a:latin typeface="Arial"/>
                          <a:cs typeface="Arial"/>
                        </a:rPr>
                        <a:t>D8</a:t>
                      </a:r>
                      <a:endParaRPr sz="8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99695">
                        <a:lnSpc>
                          <a:spcPct val="100000"/>
                        </a:lnSpc>
                        <a:spcBef>
                          <a:spcPts val="265"/>
                        </a:spcBef>
                      </a:pPr>
                      <a:r>
                        <a:rPr sz="800" spc="-5" dirty="0">
                          <a:latin typeface="Arial"/>
                          <a:cs typeface="Arial"/>
                        </a:rPr>
                        <a:t>D7</a:t>
                      </a:r>
                      <a:endParaRPr sz="8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99695">
                        <a:lnSpc>
                          <a:spcPct val="100000"/>
                        </a:lnSpc>
                        <a:spcBef>
                          <a:spcPts val="265"/>
                        </a:spcBef>
                      </a:pPr>
                      <a:r>
                        <a:rPr sz="800" spc="-5" dirty="0">
                          <a:latin typeface="Arial"/>
                          <a:cs typeface="Arial"/>
                        </a:rPr>
                        <a:t>D6</a:t>
                      </a:r>
                      <a:endParaRPr sz="8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99695">
                        <a:lnSpc>
                          <a:spcPct val="100000"/>
                        </a:lnSpc>
                        <a:spcBef>
                          <a:spcPts val="265"/>
                        </a:spcBef>
                      </a:pPr>
                      <a:r>
                        <a:rPr sz="800" spc="-5" dirty="0">
                          <a:latin typeface="Arial"/>
                          <a:cs typeface="Arial"/>
                        </a:rPr>
                        <a:t>D5</a:t>
                      </a:r>
                      <a:endParaRPr sz="8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99695">
                        <a:lnSpc>
                          <a:spcPct val="100000"/>
                        </a:lnSpc>
                        <a:spcBef>
                          <a:spcPts val="265"/>
                        </a:spcBef>
                      </a:pPr>
                      <a:r>
                        <a:rPr sz="800" spc="-5" dirty="0">
                          <a:latin typeface="Arial"/>
                          <a:cs typeface="Arial"/>
                        </a:rPr>
                        <a:t>D4</a:t>
                      </a:r>
                      <a:endParaRPr sz="8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99695">
                        <a:lnSpc>
                          <a:spcPct val="100000"/>
                        </a:lnSpc>
                        <a:spcBef>
                          <a:spcPts val="265"/>
                        </a:spcBef>
                      </a:pPr>
                      <a:r>
                        <a:rPr sz="800" spc="-5" dirty="0">
                          <a:latin typeface="Arial"/>
                          <a:cs typeface="Arial"/>
                        </a:rPr>
                        <a:t>D3</a:t>
                      </a:r>
                      <a:endParaRPr sz="8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100330">
                        <a:lnSpc>
                          <a:spcPct val="100000"/>
                        </a:lnSpc>
                        <a:spcBef>
                          <a:spcPts val="265"/>
                        </a:spcBef>
                      </a:pPr>
                      <a:r>
                        <a:rPr sz="800" spc="-5" dirty="0">
                          <a:latin typeface="Arial"/>
                          <a:cs typeface="Arial"/>
                        </a:rPr>
                        <a:t>D2</a:t>
                      </a:r>
                      <a:endParaRPr sz="8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99695">
                        <a:lnSpc>
                          <a:spcPct val="100000"/>
                        </a:lnSpc>
                        <a:spcBef>
                          <a:spcPts val="265"/>
                        </a:spcBef>
                      </a:pPr>
                      <a:r>
                        <a:rPr sz="800" spc="-5" dirty="0">
                          <a:latin typeface="Arial"/>
                          <a:cs typeface="Arial"/>
                        </a:rPr>
                        <a:t>D1</a:t>
                      </a:r>
                      <a:endParaRPr sz="8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100330">
                        <a:lnSpc>
                          <a:spcPct val="100000"/>
                        </a:lnSpc>
                        <a:spcBef>
                          <a:spcPts val="265"/>
                        </a:spcBef>
                      </a:pPr>
                      <a:r>
                        <a:rPr sz="800" spc="-5" dirty="0">
                          <a:latin typeface="Arial"/>
                          <a:cs typeface="Arial"/>
                        </a:rPr>
                        <a:t>D0</a:t>
                      </a:r>
                      <a:endParaRPr sz="8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extLst>
                  <a:ext uri="{0D108BD9-81ED-4DB2-BD59-A6C34878D82A}">
                    <a16:rowId xmlns:a16="http://schemas.microsoft.com/office/drawing/2014/main" val="10000"/>
                  </a:ext>
                </a:extLst>
              </a:tr>
              <a:tr h="193675">
                <a:tc>
                  <a:txBody>
                    <a:bodyPr/>
                    <a:lstStyle/>
                    <a:p>
                      <a:pPr marL="114300">
                        <a:lnSpc>
                          <a:spcPct val="100000"/>
                        </a:lnSpc>
                        <a:spcBef>
                          <a:spcPts val="270"/>
                        </a:spcBef>
                      </a:pPr>
                      <a:r>
                        <a:rPr sz="800" spc="-5" dirty="0">
                          <a:latin typeface="Arial"/>
                          <a:cs typeface="Arial"/>
                        </a:rPr>
                        <a:t>‘h11</a:t>
                      </a:r>
                      <a:endParaRPr sz="8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algn="ctr">
                        <a:lnSpc>
                          <a:spcPct val="100000"/>
                        </a:lnSpc>
                        <a:spcBef>
                          <a:spcPts val="270"/>
                        </a:spcBef>
                      </a:pPr>
                      <a:r>
                        <a:rPr sz="800" dirty="0">
                          <a:latin typeface="Arial"/>
                          <a:cs typeface="Arial"/>
                        </a:rPr>
                        <a:t>0</a:t>
                      </a: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2540" algn="ctr">
                        <a:lnSpc>
                          <a:spcPct val="100000"/>
                        </a:lnSpc>
                        <a:spcBef>
                          <a:spcPts val="309"/>
                        </a:spcBef>
                      </a:pPr>
                      <a:r>
                        <a:rPr sz="700" dirty="0">
                          <a:latin typeface="Arial"/>
                          <a:cs typeface="Arial"/>
                        </a:rPr>
                        <a:t>x</a:t>
                      </a:r>
                    </a:p>
                  </a:txBody>
                  <a:tcPr marL="0" marR="0" marT="39369"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2540" algn="ctr">
                        <a:lnSpc>
                          <a:spcPct val="100000"/>
                        </a:lnSpc>
                        <a:spcBef>
                          <a:spcPts val="330"/>
                        </a:spcBef>
                      </a:pPr>
                      <a:r>
                        <a:rPr sz="700" dirty="0">
                          <a:latin typeface="Arial"/>
                          <a:cs typeface="Arial"/>
                        </a:rPr>
                        <a:t>x</a:t>
                      </a:r>
                    </a:p>
                  </a:txBody>
                  <a:tcPr marL="0" marR="0" marT="4191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3175" algn="ctr">
                        <a:lnSpc>
                          <a:spcPct val="100000"/>
                        </a:lnSpc>
                        <a:spcBef>
                          <a:spcPts val="309"/>
                        </a:spcBef>
                      </a:pPr>
                      <a:r>
                        <a:rPr sz="700" dirty="0">
                          <a:latin typeface="Arial"/>
                          <a:cs typeface="Arial"/>
                        </a:rPr>
                        <a:t>x</a:t>
                      </a:r>
                    </a:p>
                  </a:txBody>
                  <a:tcPr marL="0" marR="0" marT="39369"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3175" algn="ctr">
                        <a:lnSpc>
                          <a:spcPct val="100000"/>
                        </a:lnSpc>
                        <a:spcBef>
                          <a:spcPts val="330"/>
                        </a:spcBef>
                      </a:pPr>
                      <a:r>
                        <a:rPr sz="700" dirty="0">
                          <a:latin typeface="Arial"/>
                          <a:cs typeface="Arial"/>
                        </a:rPr>
                        <a:t>x</a:t>
                      </a:r>
                    </a:p>
                  </a:txBody>
                  <a:tcPr marL="0" marR="0" marT="4191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3175" algn="ctr">
                        <a:lnSpc>
                          <a:spcPct val="100000"/>
                        </a:lnSpc>
                        <a:spcBef>
                          <a:spcPts val="309"/>
                        </a:spcBef>
                      </a:pPr>
                      <a:r>
                        <a:rPr sz="700" dirty="0">
                          <a:latin typeface="Arial"/>
                          <a:cs typeface="Arial"/>
                        </a:rPr>
                        <a:t>x</a:t>
                      </a:r>
                    </a:p>
                  </a:txBody>
                  <a:tcPr marL="0" marR="0" marT="39369"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3810" algn="ctr">
                        <a:lnSpc>
                          <a:spcPct val="100000"/>
                        </a:lnSpc>
                        <a:spcBef>
                          <a:spcPts val="330"/>
                        </a:spcBef>
                      </a:pPr>
                      <a:r>
                        <a:rPr sz="700" dirty="0">
                          <a:latin typeface="Arial"/>
                          <a:cs typeface="Arial"/>
                        </a:rPr>
                        <a:t>x</a:t>
                      </a:r>
                    </a:p>
                  </a:txBody>
                  <a:tcPr marL="0" marR="0" marT="4191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3175" algn="ctr">
                        <a:lnSpc>
                          <a:spcPct val="100000"/>
                        </a:lnSpc>
                        <a:spcBef>
                          <a:spcPts val="309"/>
                        </a:spcBef>
                      </a:pPr>
                      <a:r>
                        <a:rPr sz="700" dirty="0">
                          <a:latin typeface="Arial"/>
                          <a:cs typeface="Arial"/>
                        </a:rPr>
                        <a:t>x</a:t>
                      </a:r>
                    </a:p>
                  </a:txBody>
                  <a:tcPr marL="0" marR="0" marT="39369"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3810" algn="ctr">
                        <a:lnSpc>
                          <a:spcPct val="100000"/>
                        </a:lnSpc>
                        <a:spcBef>
                          <a:spcPts val="330"/>
                        </a:spcBef>
                      </a:pPr>
                      <a:r>
                        <a:rPr sz="700" dirty="0">
                          <a:latin typeface="Arial"/>
                          <a:cs typeface="Arial"/>
                        </a:rPr>
                        <a:t>x</a:t>
                      </a:r>
                    </a:p>
                  </a:txBody>
                  <a:tcPr marL="0" marR="0" marT="4191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gridSpan="8">
                  <a:txBody>
                    <a:bodyPr/>
                    <a:lstStyle/>
                    <a:p>
                      <a:pPr marL="3175" algn="ctr">
                        <a:lnSpc>
                          <a:spcPct val="100000"/>
                        </a:lnSpc>
                        <a:spcBef>
                          <a:spcPts val="309"/>
                        </a:spcBef>
                      </a:pPr>
                      <a:r>
                        <a:rPr sz="700" spc="-10" dirty="0">
                          <a:latin typeface="Arial"/>
                          <a:cs typeface="Arial"/>
                        </a:rPr>
                        <a:t>DUTY_FIX</a:t>
                      </a:r>
                      <a:r>
                        <a:rPr sz="700" spc="-5" dirty="0">
                          <a:latin typeface="Arial"/>
                          <a:cs typeface="Arial"/>
                        </a:rPr>
                        <a:t> [7:0]</a:t>
                      </a:r>
                      <a:endParaRPr sz="700" dirty="0">
                        <a:latin typeface="Arial"/>
                        <a:cs typeface="Arial"/>
                      </a:endParaRPr>
                    </a:p>
                  </a:txBody>
                  <a:tcPr marL="0" marR="0" marT="39369"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1"/>
                  </a:ext>
                </a:extLst>
              </a:tr>
            </a:tbl>
          </a:graphicData>
        </a:graphic>
      </p:graphicFrame>
      <p:sp>
        <p:nvSpPr>
          <p:cNvPr id="11" name="object 11"/>
          <p:cNvSpPr txBox="1"/>
          <p:nvPr/>
        </p:nvSpPr>
        <p:spPr>
          <a:xfrm>
            <a:off x="400913" y="6718807"/>
            <a:ext cx="6038542" cy="182101"/>
          </a:xfrm>
          <a:prstGeom prst="rect">
            <a:avLst/>
          </a:prstGeom>
        </p:spPr>
        <p:txBody>
          <a:bodyPr vert="horz" wrap="square" lIns="0" tIns="12700" rIns="0" bIns="0" rtlCol="0">
            <a:spAutoFit/>
          </a:bodyPr>
          <a:lstStyle/>
          <a:p>
            <a:pPr marL="12700">
              <a:lnSpc>
                <a:spcPct val="100000"/>
              </a:lnSpc>
              <a:spcBef>
                <a:spcPts val="100"/>
              </a:spcBef>
            </a:pPr>
            <a:r>
              <a:rPr sz="1100" b="1" spc="-5" dirty="0">
                <a:latin typeface="Arial"/>
                <a:cs typeface="Arial"/>
              </a:rPr>
              <a:t>LD_I</a:t>
            </a:r>
            <a:r>
              <a:rPr sz="1100" b="1" spc="-60" dirty="0">
                <a:latin typeface="Arial"/>
                <a:cs typeface="Arial"/>
              </a:rPr>
              <a:t> </a:t>
            </a:r>
            <a:r>
              <a:rPr sz="1100" b="1" dirty="0">
                <a:latin typeface="Arial"/>
                <a:cs typeface="Arial"/>
              </a:rPr>
              <a:t>FIX</a:t>
            </a:r>
            <a:endParaRPr sz="1100" dirty="0">
              <a:latin typeface="Arial"/>
              <a:cs typeface="Arial"/>
            </a:endParaRPr>
          </a:p>
        </p:txBody>
      </p:sp>
      <p:graphicFrame>
        <p:nvGraphicFramePr>
          <p:cNvPr id="13" name="object 13"/>
          <p:cNvGraphicFramePr>
            <a:graphicFrameLocks noGrp="1"/>
          </p:cNvGraphicFramePr>
          <p:nvPr>
            <p:extLst>
              <p:ext uri="{D42A27DB-BD31-4B8C-83A1-F6EECF244321}">
                <p14:modId xmlns:p14="http://schemas.microsoft.com/office/powerpoint/2010/main" val="3315431501"/>
              </p:ext>
            </p:extLst>
          </p:nvPr>
        </p:nvGraphicFramePr>
        <p:xfrm>
          <a:off x="400914" y="6992937"/>
          <a:ext cx="6038536" cy="387350"/>
        </p:xfrm>
        <a:graphic>
          <a:graphicData uri="http://schemas.openxmlformats.org/drawingml/2006/table">
            <a:tbl>
              <a:tblPr firstRow="1" bandRow="1">
                <a:tableStyleId>{2D5ABB26-0587-4C30-8999-92F81FD0307C}</a:tableStyleId>
              </a:tblPr>
              <a:tblGrid>
                <a:gridCol w="412143">
                  <a:extLst>
                    <a:ext uri="{9D8B030D-6E8A-4147-A177-3AD203B41FA5}">
                      <a16:colId xmlns:a16="http://schemas.microsoft.com/office/drawing/2014/main" val="20000"/>
                    </a:ext>
                  </a:extLst>
                </a:gridCol>
                <a:gridCol w="474307">
                  <a:extLst>
                    <a:ext uri="{9D8B030D-6E8A-4147-A177-3AD203B41FA5}">
                      <a16:colId xmlns:a16="http://schemas.microsoft.com/office/drawing/2014/main" val="20001"/>
                    </a:ext>
                  </a:extLst>
                </a:gridCol>
                <a:gridCol w="322005">
                  <a:extLst>
                    <a:ext uri="{9D8B030D-6E8A-4147-A177-3AD203B41FA5}">
                      <a16:colId xmlns:a16="http://schemas.microsoft.com/office/drawing/2014/main" val="20002"/>
                    </a:ext>
                  </a:extLst>
                </a:gridCol>
                <a:gridCol w="322006">
                  <a:extLst>
                    <a:ext uri="{9D8B030D-6E8A-4147-A177-3AD203B41FA5}">
                      <a16:colId xmlns:a16="http://schemas.microsoft.com/office/drawing/2014/main" val="20003"/>
                    </a:ext>
                  </a:extLst>
                </a:gridCol>
                <a:gridCol w="322006">
                  <a:extLst>
                    <a:ext uri="{9D8B030D-6E8A-4147-A177-3AD203B41FA5}">
                      <a16:colId xmlns:a16="http://schemas.microsoft.com/office/drawing/2014/main" val="20004"/>
                    </a:ext>
                  </a:extLst>
                </a:gridCol>
                <a:gridCol w="322006">
                  <a:extLst>
                    <a:ext uri="{9D8B030D-6E8A-4147-A177-3AD203B41FA5}">
                      <a16:colId xmlns:a16="http://schemas.microsoft.com/office/drawing/2014/main" val="20005"/>
                    </a:ext>
                  </a:extLst>
                </a:gridCol>
                <a:gridCol w="322006">
                  <a:extLst>
                    <a:ext uri="{9D8B030D-6E8A-4147-A177-3AD203B41FA5}">
                      <a16:colId xmlns:a16="http://schemas.microsoft.com/office/drawing/2014/main" val="20006"/>
                    </a:ext>
                  </a:extLst>
                </a:gridCol>
                <a:gridCol w="322006">
                  <a:extLst>
                    <a:ext uri="{9D8B030D-6E8A-4147-A177-3AD203B41FA5}">
                      <a16:colId xmlns:a16="http://schemas.microsoft.com/office/drawing/2014/main" val="20007"/>
                    </a:ext>
                  </a:extLst>
                </a:gridCol>
                <a:gridCol w="322006">
                  <a:extLst>
                    <a:ext uri="{9D8B030D-6E8A-4147-A177-3AD203B41FA5}">
                      <a16:colId xmlns:a16="http://schemas.microsoft.com/office/drawing/2014/main" val="20008"/>
                    </a:ext>
                  </a:extLst>
                </a:gridCol>
                <a:gridCol w="322005">
                  <a:extLst>
                    <a:ext uri="{9D8B030D-6E8A-4147-A177-3AD203B41FA5}">
                      <a16:colId xmlns:a16="http://schemas.microsoft.com/office/drawing/2014/main" val="20009"/>
                    </a:ext>
                  </a:extLst>
                </a:gridCol>
                <a:gridCol w="322005">
                  <a:extLst>
                    <a:ext uri="{9D8B030D-6E8A-4147-A177-3AD203B41FA5}">
                      <a16:colId xmlns:a16="http://schemas.microsoft.com/office/drawing/2014/main" val="20010"/>
                    </a:ext>
                  </a:extLst>
                </a:gridCol>
                <a:gridCol w="322005">
                  <a:extLst>
                    <a:ext uri="{9D8B030D-6E8A-4147-A177-3AD203B41FA5}">
                      <a16:colId xmlns:a16="http://schemas.microsoft.com/office/drawing/2014/main" val="20011"/>
                    </a:ext>
                  </a:extLst>
                </a:gridCol>
                <a:gridCol w="322005">
                  <a:extLst>
                    <a:ext uri="{9D8B030D-6E8A-4147-A177-3AD203B41FA5}">
                      <a16:colId xmlns:a16="http://schemas.microsoft.com/office/drawing/2014/main" val="20012"/>
                    </a:ext>
                  </a:extLst>
                </a:gridCol>
                <a:gridCol w="322005">
                  <a:extLst>
                    <a:ext uri="{9D8B030D-6E8A-4147-A177-3AD203B41FA5}">
                      <a16:colId xmlns:a16="http://schemas.microsoft.com/office/drawing/2014/main" val="20013"/>
                    </a:ext>
                  </a:extLst>
                </a:gridCol>
                <a:gridCol w="322005">
                  <a:extLst>
                    <a:ext uri="{9D8B030D-6E8A-4147-A177-3AD203B41FA5}">
                      <a16:colId xmlns:a16="http://schemas.microsoft.com/office/drawing/2014/main" val="20014"/>
                    </a:ext>
                  </a:extLst>
                </a:gridCol>
                <a:gridCol w="322005">
                  <a:extLst>
                    <a:ext uri="{9D8B030D-6E8A-4147-A177-3AD203B41FA5}">
                      <a16:colId xmlns:a16="http://schemas.microsoft.com/office/drawing/2014/main" val="20015"/>
                    </a:ext>
                  </a:extLst>
                </a:gridCol>
                <a:gridCol w="322005">
                  <a:extLst>
                    <a:ext uri="{9D8B030D-6E8A-4147-A177-3AD203B41FA5}">
                      <a16:colId xmlns:a16="http://schemas.microsoft.com/office/drawing/2014/main" val="20016"/>
                    </a:ext>
                  </a:extLst>
                </a:gridCol>
                <a:gridCol w="322005">
                  <a:extLst>
                    <a:ext uri="{9D8B030D-6E8A-4147-A177-3AD203B41FA5}">
                      <a16:colId xmlns:a16="http://schemas.microsoft.com/office/drawing/2014/main" val="20017"/>
                    </a:ext>
                  </a:extLst>
                </a:gridCol>
              </a:tblGrid>
              <a:tr h="193675">
                <a:tc>
                  <a:txBody>
                    <a:bodyPr/>
                    <a:lstStyle/>
                    <a:p>
                      <a:pPr marL="76200">
                        <a:lnSpc>
                          <a:spcPct val="100000"/>
                        </a:lnSpc>
                        <a:spcBef>
                          <a:spcPts val="270"/>
                        </a:spcBef>
                      </a:pPr>
                      <a:r>
                        <a:rPr sz="800" dirty="0">
                          <a:latin typeface="Arial"/>
                          <a:cs typeface="Arial"/>
                        </a:rPr>
                        <a:t>A[6:0]</a:t>
                      </a: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algn="ctr">
                        <a:lnSpc>
                          <a:spcPct val="100000"/>
                        </a:lnSpc>
                        <a:spcBef>
                          <a:spcPts val="270"/>
                        </a:spcBef>
                      </a:pPr>
                      <a:r>
                        <a:rPr sz="800" spc="-5" dirty="0">
                          <a:latin typeface="Arial"/>
                          <a:cs typeface="Arial"/>
                        </a:rPr>
                        <a:t>Default</a:t>
                      </a:r>
                      <a:endParaRPr sz="8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1270" algn="ctr">
                        <a:lnSpc>
                          <a:spcPct val="100000"/>
                        </a:lnSpc>
                        <a:spcBef>
                          <a:spcPts val="270"/>
                        </a:spcBef>
                      </a:pPr>
                      <a:r>
                        <a:rPr sz="800" spc="-5" dirty="0">
                          <a:latin typeface="Arial"/>
                          <a:cs typeface="Arial"/>
                        </a:rPr>
                        <a:t>D15</a:t>
                      </a:r>
                      <a:endParaRPr sz="8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1270" algn="ctr">
                        <a:lnSpc>
                          <a:spcPct val="100000"/>
                        </a:lnSpc>
                        <a:spcBef>
                          <a:spcPts val="270"/>
                        </a:spcBef>
                      </a:pPr>
                      <a:r>
                        <a:rPr sz="800" spc="-5" dirty="0">
                          <a:latin typeface="Arial"/>
                          <a:cs typeface="Arial"/>
                        </a:rPr>
                        <a:t>D14</a:t>
                      </a:r>
                      <a:endParaRPr sz="8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1270" algn="ctr">
                        <a:lnSpc>
                          <a:spcPct val="100000"/>
                        </a:lnSpc>
                        <a:spcBef>
                          <a:spcPts val="270"/>
                        </a:spcBef>
                      </a:pPr>
                      <a:r>
                        <a:rPr sz="800" spc="-5" dirty="0">
                          <a:latin typeface="Arial"/>
                          <a:cs typeface="Arial"/>
                        </a:rPr>
                        <a:t>D13</a:t>
                      </a:r>
                      <a:endParaRPr sz="8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1270" algn="ctr">
                        <a:lnSpc>
                          <a:spcPct val="100000"/>
                        </a:lnSpc>
                        <a:spcBef>
                          <a:spcPts val="270"/>
                        </a:spcBef>
                      </a:pPr>
                      <a:r>
                        <a:rPr sz="800" spc="-5" dirty="0">
                          <a:latin typeface="Arial"/>
                          <a:cs typeface="Arial"/>
                        </a:rPr>
                        <a:t>D12</a:t>
                      </a:r>
                      <a:endParaRPr sz="8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71755">
                        <a:lnSpc>
                          <a:spcPct val="100000"/>
                        </a:lnSpc>
                        <a:spcBef>
                          <a:spcPts val="270"/>
                        </a:spcBef>
                      </a:pPr>
                      <a:r>
                        <a:rPr sz="800" spc="-5" dirty="0">
                          <a:latin typeface="Arial"/>
                          <a:cs typeface="Arial"/>
                        </a:rPr>
                        <a:t>D11</a:t>
                      </a:r>
                      <a:endParaRPr sz="8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71755">
                        <a:lnSpc>
                          <a:spcPct val="100000"/>
                        </a:lnSpc>
                        <a:spcBef>
                          <a:spcPts val="270"/>
                        </a:spcBef>
                      </a:pPr>
                      <a:r>
                        <a:rPr sz="800" dirty="0">
                          <a:latin typeface="Arial"/>
                          <a:cs typeface="Arial"/>
                        </a:rPr>
                        <a:t>D10</a:t>
                      </a: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99060">
                        <a:lnSpc>
                          <a:spcPct val="100000"/>
                        </a:lnSpc>
                        <a:spcBef>
                          <a:spcPts val="270"/>
                        </a:spcBef>
                      </a:pPr>
                      <a:r>
                        <a:rPr sz="800" spc="-5" dirty="0">
                          <a:latin typeface="Arial"/>
                          <a:cs typeface="Arial"/>
                        </a:rPr>
                        <a:t>D9</a:t>
                      </a:r>
                      <a:endParaRPr sz="8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99695">
                        <a:lnSpc>
                          <a:spcPct val="100000"/>
                        </a:lnSpc>
                        <a:spcBef>
                          <a:spcPts val="270"/>
                        </a:spcBef>
                      </a:pPr>
                      <a:r>
                        <a:rPr sz="800" spc="-5" dirty="0">
                          <a:latin typeface="Arial"/>
                          <a:cs typeface="Arial"/>
                        </a:rPr>
                        <a:t>D8</a:t>
                      </a:r>
                      <a:endParaRPr sz="8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99695">
                        <a:lnSpc>
                          <a:spcPct val="100000"/>
                        </a:lnSpc>
                        <a:spcBef>
                          <a:spcPts val="270"/>
                        </a:spcBef>
                      </a:pPr>
                      <a:r>
                        <a:rPr sz="800" spc="-5" dirty="0">
                          <a:latin typeface="Arial"/>
                          <a:cs typeface="Arial"/>
                        </a:rPr>
                        <a:t>D7</a:t>
                      </a:r>
                      <a:endParaRPr sz="8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99695">
                        <a:lnSpc>
                          <a:spcPct val="100000"/>
                        </a:lnSpc>
                        <a:spcBef>
                          <a:spcPts val="270"/>
                        </a:spcBef>
                      </a:pPr>
                      <a:r>
                        <a:rPr sz="800" spc="-5" dirty="0">
                          <a:latin typeface="Arial"/>
                          <a:cs typeface="Arial"/>
                        </a:rPr>
                        <a:t>D6</a:t>
                      </a:r>
                      <a:endParaRPr sz="8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99695">
                        <a:lnSpc>
                          <a:spcPct val="100000"/>
                        </a:lnSpc>
                        <a:spcBef>
                          <a:spcPts val="270"/>
                        </a:spcBef>
                      </a:pPr>
                      <a:r>
                        <a:rPr sz="800" spc="-5" dirty="0">
                          <a:latin typeface="Arial"/>
                          <a:cs typeface="Arial"/>
                        </a:rPr>
                        <a:t>D5</a:t>
                      </a:r>
                      <a:endParaRPr sz="8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99695">
                        <a:lnSpc>
                          <a:spcPct val="100000"/>
                        </a:lnSpc>
                        <a:spcBef>
                          <a:spcPts val="270"/>
                        </a:spcBef>
                      </a:pPr>
                      <a:r>
                        <a:rPr sz="800" spc="-5" dirty="0">
                          <a:latin typeface="Arial"/>
                          <a:cs typeface="Arial"/>
                        </a:rPr>
                        <a:t>D4</a:t>
                      </a:r>
                      <a:endParaRPr sz="8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99695">
                        <a:lnSpc>
                          <a:spcPct val="100000"/>
                        </a:lnSpc>
                        <a:spcBef>
                          <a:spcPts val="270"/>
                        </a:spcBef>
                      </a:pPr>
                      <a:r>
                        <a:rPr sz="800" spc="-5" dirty="0">
                          <a:latin typeface="Arial"/>
                          <a:cs typeface="Arial"/>
                        </a:rPr>
                        <a:t>D3</a:t>
                      </a:r>
                      <a:endParaRPr sz="8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100330">
                        <a:lnSpc>
                          <a:spcPct val="100000"/>
                        </a:lnSpc>
                        <a:spcBef>
                          <a:spcPts val="270"/>
                        </a:spcBef>
                      </a:pPr>
                      <a:r>
                        <a:rPr sz="800" spc="-5" dirty="0">
                          <a:latin typeface="Arial"/>
                          <a:cs typeface="Arial"/>
                        </a:rPr>
                        <a:t>D2</a:t>
                      </a:r>
                      <a:endParaRPr sz="8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99695">
                        <a:lnSpc>
                          <a:spcPct val="100000"/>
                        </a:lnSpc>
                        <a:spcBef>
                          <a:spcPts val="270"/>
                        </a:spcBef>
                      </a:pPr>
                      <a:r>
                        <a:rPr sz="800" spc="-5" dirty="0">
                          <a:latin typeface="Arial"/>
                          <a:cs typeface="Arial"/>
                        </a:rPr>
                        <a:t>D1</a:t>
                      </a:r>
                      <a:endParaRPr sz="8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100330">
                        <a:lnSpc>
                          <a:spcPct val="100000"/>
                        </a:lnSpc>
                        <a:spcBef>
                          <a:spcPts val="270"/>
                        </a:spcBef>
                      </a:pPr>
                      <a:r>
                        <a:rPr sz="800" spc="-5" dirty="0">
                          <a:latin typeface="Arial"/>
                          <a:cs typeface="Arial"/>
                        </a:rPr>
                        <a:t>D0</a:t>
                      </a:r>
                      <a:endParaRPr sz="8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extLst>
                  <a:ext uri="{0D108BD9-81ED-4DB2-BD59-A6C34878D82A}">
                    <a16:rowId xmlns:a16="http://schemas.microsoft.com/office/drawing/2014/main" val="10000"/>
                  </a:ext>
                </a:extLst>
              </a:tr>
              <a:tr h="193675">
                <a:tc>
                  <a:txBody>
                    <a:bodyPr/>
                    <a:lstStyle/>
                    <a:p>
                      <a:pPr marL="114300">
                        <a:lnSpc>
                          <a:spcPct val="100000"/>
                        </a:lnSpc>
                        <a:spcBef>
                          <a:spcPts val="270"/>
                        </a:spcBef>
                      </a:pPr>
                      <a:r>
                        <a:rPr sz="800" spc="-5" dirty="0">
                          <a:latin typeface="Arial"/>
                          <a:cs typeface="Arial"/>
                        </a:rPr>
                        <a:t>‘h12</a:t>
                      </a:r>
                      <a:endParaRPr sz="8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algn="ctr">
                        <a:lnSpc>
                          <a:spcPct val="100000"/>
                        </a:lnSpc>
                        <a:spcBef>
                          <a:spcPts val="270"/>
                        </a:spcBef>
                      </a:pPr>
                      <a:r>
                        <a:rPr sz="800" dirty="0">
                          <a:latin typeface="Arial"/>
                          <a:cs typeface="Arial"/>
                        </a:rPr>
                        <a:t>0</a:t>
                      </a: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2540" algn="ctr">
                        <a:lnSpc>
                          <a:spcPct val="100000"/>
                        </a:lnSpc>
                        <a:spcBef>
                          <a:spcPts val="310"/>
                        </a:spcBef>
                      </a:pPr>
                      <a:r>
                        <a:rPr sz="700" dirty="0">
                          <a:latin typeface="Arial"/>
                          <a:cs typeface="Arial"/>
                        </a:rPr>
                        <a:t>x</a:t>
                      </a:r>
                    </a:p>
                  </a:txBody>
                  <a:tcPr marL="0" marR="0" marT="3937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2540" algn="ctr">
                        <a:lnSpc>
                          <a:spcPct val="100000"/>
                        </a:lnSpc>
                        <a:spcBef>
                          <a:spcPts val="335"/>
                        </a:spcBef>
                      </a:pPr>
                      <a:r>
                        <a:rPr sz="700" dirty="0">
                          <a:latin typeface="Arial"/>
                          <a:cs typeface="Arial"/>
                        </a:rPr>
                        <a:t>x</a:t>
                      </a:r>
                    </a:p>
                  </a:txBody>
                  <a:tcPr marL="0" marR="0" marT="4254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2540" algn="ctr">
                        <a:lnSpc>
                          <a:spcPct val="100000"/>
                        </a:lnSpc>
                        <a:spcBef>
                          <a:spcPts val="310"/>
                        </a:spcBef>
                      </a:pPr>
                      <a:r>
                        <a:rPr sz="700" dirty="0">
                          <a:latin typeface="Arial"/>
                          <a:cs typeface="Arial"/>
                        </a:rPr>
                        <a:t>x</a:t>
                      </a:r>
                    </a:p>
                  </a:txBody>
                  <a:tcPr marL="0" marR="0" marT="3937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2540" algn="ctr">
                        <a:lnSpc>
                          <a:spcPct val="100000"/>
                        </a:lnSpc>
                        <a:spcBef>
                          <a:spcPts val="335"/>
                        </a:spcBef>
                      </a:pPr>
                      <a:r>
                        <a:rPr sz="700" dirty="0">
                          <a:latin typeface="Arial"/>
                          <a:cs typeface="Arial"/>
                        </a:rPr>
                        <a:t>x</a:t>
                      </a:r>
                    </a:p>
                  </a:txBody>
                  <a:tcPr marL="0" marR="0" marT="4254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gridSpan="12">
                  <a:txBody>
                    <a:bodyPr/>
                    <a:lstStyle/>
                    <a:p>
                      <a:pPr marL="3175" algn="ctr">
                        <a:lnSpc>
                          <a:spcPct val="100000"/>
                        </a:lnSpc>
                        <a:spcBef>
                          <a:spcPts val="310"/>
                        </a:spcBef>
                      </a:pPr>
                      <a:r>
                        <a:rPr sz="700" spc="-10" dirty="0">
                          <a:latin typeface="Arial"/>
                          <a:cs typeface="Arial"/>
                        </a:rPr>
                        <a:t>LD_I_FIX</a:t>
                      </a:r>
                      <a:r>
                        <a:rPr sz="700" spc="-5" dirty="0">
                          <a:latin typeface="Arial"/>
                          <a:cs typeface="Arial"/>
                        </a:rPr>
                        <a:t> [11:0]</a:t>
                      </a:r>
                      <a:endParaRPr sz="700" dirty="0">
                        <a:latin typeface="Arial"/>
                        <a:cs typeface="Arial"/>
                      </a:endParaRPr>
                    </a:p>
                  </a:txBody>
                  <a:tcPr marL="0" marR="0" marT="3937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1"/>
                  </a:ext>
                </a:extLst>
              </a:tr>
            </a:tbl>
          </a:graphicData>
        </a:graphic>
      </p:graphicFrame>
      <p:graphicFrame>
        <p:nvGraphicFramePr>
          <p:cNvPr id="17" name="표 16">
            <a:extLst>
              <a:ext uri="{FF2B5EF4-FFF2-40B4-BE49-F238E27FC236}">
                <a16:creationId xmlns:a16="http://schemas.microsoft.com/office/drawing/2014/main" id="{9245359B-C268-5194-FB3A-F3170440DE1D}"/>
              </a:ext>
            </a:extLst>
          </p:cNvPr>
          <p:cNvGraphicFramePr>
            <a:graphicFrameLocks noGrp="1"/>
          </p:cNvGraphicFramePr>
          <p:nvPr>
            <p:extLst>
              <p:ext uri="{D42A27DB-BD31-4B8C-83A1-F6EECF244321}">
                <p14:modId xmlns:p14="http://schemas.microsoft.com/office/powerpoint/2010/main" val="2127282849"/>
              </p:ext>
            </p:extLst>
          </p:nvPr>
        </p:nvGraphicFramePr>
        <p:xfrm>
          <a:off x="400913" y="1750696"/>
          <a:ext cx="6033770" cy="1983104"/>
        </p:xfrm>
        <a:graphic>
          <a:graphicData uri="http://schemas.openxmlformats.org/drawingml/2006/table">
            <a:tbl>
              <a:tblPr firstRow="1" bandRow="1">
                <a:tableStyleId>{5C22544A-7EE6-4342-B048-85BDC9FD1C3A}</a:tableStyleId>
              </a:tblPr>
              <a:tblGrid>
                <a:gridCol w="384612">
                  <a:extLst>
                    <a:ext uri="{9D8B030D-6E8A-4147-A177-3AD203B41FA5}">
                      <a16:colId xmlns:a16="http://schemas.microsoft.com/office/drawing/2014/main" val="4170535043"/>
                    </a:ext>
                  </a:extLst>
                </a:gridCol>
                <a:gridCol w="1523121">
                  <a:extLst>
                    <a:ext uri="{9D8B030D-6E8A-4147-A177-3AD203B41FA5}">
                      <a16:colId xmlns:a16="http://schemas.microsoft.com/office/drawing/2014/main" val="2079070694"/>
                    </a:ext>
                  </a:extLst>
                </a:gridCol>
                <a:gridCol w="4126037">
                  <a:extLst>
                    <a:ext uri="{9D8B030D-6E8A-4147-A177-3AD203B41FA5}">
                      <a16:colId xmlns:a16="http://schemas.microsoft.com/office/drawing/2014/main" val="32595803"/>
                    </a:ext>
                  </a:extLst>
                </a:gridCol>
              </a:tblGrid>
              <a:tr h="256197">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701826">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13:12</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FRAME_CZ</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spc="-5" dirty="0">
                          <a:latin typeface="Arial"/>
                          <a:cs typeface="Arial"/>
                        </a:rPr>
                        <a:t>This has two </a:t>
                      </a:r>
                      <a:r>
                        <a:rPr lang="en-US" altLang="ko-KR" sz="900" dirty="0">
                          <a:latin typeface="Arial"/>
                          <a:cs typeface="Arial"/>
                        </a:rPr>
                        <a:t>functions, to configure AQ series at </a:t>
                      </a:r>
                      <a:r>
                        <a:rPr lang="en-US" altLang="ko-KR" sz="900" spc="-5" dirty="0">
                          <a:latin typeface="Arial"/>
                          <a:cs typeface="Arial"/>
                        </a:rPr>
                        <a:t>initialization </a:t>
                      </a:r>
                      <a:r>
                        <a:rPr lang="en-US" altLang="ko-KR" sz="900" dirty="0">
                          <a:latin typeface="Arial"/>
                          <a:cs typeface="Arial"/>
                        </a:rPr>
                        <a:t>after </a:t>
                      </a:r>
                      <a:r>
                        <a:rPr lang="en-US" altLang="ko-KR" sz="900" spc="-5" dirty="0">
                          <a:latin typeface="Arial"/>
                          <a:cs typeface="Arial"/>
                        </a:rPr>
                        <a:t>POR and </a:t>
                      </a:r>
                      <a:r>
                        <a:rPr lang="en-US" altLang="ko-KR" sz="900" spc="-235" dirty="0">
                          <a:latin typeface="Arial"/>
                          <a:cs typeface="Arial"/>
                        </a:rPr>
                        <a:t> </a:t>
                      </a:r>
                      <a:r>
                        <a:rPr lang="en-US" altLang="ko-KR" sz="900" dirty="0">
                          <a:latin typeface="Arial"/>
                          <a:cs typeface="Arial"/>
                        </a:rPr>
                        <a:t>to</a:t>
                      </a:r>
                      <a:r>
                        <a:rPr lang="en-US" altLang="ko-KR" sz="900" spc="-10" dirty="0">
                          <a:latin typeface="Arial"/>
                          <a:cs typeface="Arial"/>
                        </a:rPr>
                        <a:t> </a:t>
                      </a:r>
                      <a:r>
                        <a:rPr lang="en-US" altLang="ko-KR" sz="900" dirty="0">
                          <a:latin typeface="Arial"/>
                          <a:cs typeface="Arial"/>
                        </a:rPr>
                        <a:t>inform</a:t>
                      </a:r>
                      <a:r>
                        <a:rPr lang="en-US" altLang="ko-KR" sz="900" spc="-20" dirty="0">
                          <a:latin typeface="Arial"/>
                          <a:cs typeface="Arial"/>
                        </a:rPr>
                        <a:t> </a:t>
                      </a:r>
                      <a:r>
                        <a:rPr lang="en-US" altLang="ko-KR" sz="900" spc="-5" dirty="0">
                          <a:latin typeface="Arial"/>
                          <a:cs typeface="Arial"/>
                        </a:rPr>
                        <a:t>AQ06/08</a:t>
                      </a:r>
                      <a:r>
                        <a:rPr lang="en-US" altLang="ko-KR" sz="900" spc="-10" dirty="0">
                          <a:latin typeface="Arial"/>
                          <a:cs typeface="Arial"/>
                        </a:rPr>
                        <a:t> </a:t>
                      </a:r>
                      <a:r>
                        <a:rPr lang="en-US" altLang="ko-KR" sz="900" dirty="0">
                          <a:latin typeface="Arial"/>
                          <a:cs typeface="Arial"/>
                        </a:rPr>
                        <a:t>of</a:t>
                      </a:r>
                      <a:r>
                        <a:rPr lang="en-US" altLang="ko-KR" sz="900" spc="-10" dirty="0">
                          <a:latin typeface="Arial"/>
                          <a:cs typeface="Arial"/>
                        </a:rPr>
                        <a:t> </a:t>
                      </a:r>
                      <a:r>
                        <a:rPr lang="en-US" altLang="ko-KR" sz="900" dirty="0">
                          <a:latin typeface="Arial"/>
                          <a:cs typeface="Arial"/>
                        </a:rPr>
                        <a:t>the</a:t>
                      </a:r>
                      <a:r>
                        <a:rPr lang="en-US" altLang="ko-KR" sz="900" spc="-10" dirty="0">
                          <a:latin typeface="Arial"/>
                          <a:cs typeface="Arial"/>
                        </a:rPr>
                        <a:t> </a:t>
                      </a:r>
                      <a:r>
                        <a:rPr lang="en-US" altLang="ko-KR" sz="900" dirty="0">
                          <a:latin typeface="Arial"/>
                          <a:cs typeface="Arial"/>
                        </a:rPr>
                        <a:t>current</a:t>
                      </a:r>
                      <a:r>
                        <a:rPr lang="en-US" altLang="ko-KR" sz="900" spc="-10" dirty="0">
                          <a:latin typeface="Arial"/>
                          <a:cs typeface="Arial"/>
                        </a:rPr>
                        <a:t> </a:t>
                      </a:r>
                      <a:r>
                        <a:rPr lang="en-US" altLang="ko-KR" sz="900" spc="-5" dirty="0">
                          <a:latin typeface="Arial"/>
                          <a:cs typeface="Arial"/>
                        </a:rPr>
                        <a:t>zoom value</a:t>
                      </a:r>
                      <a:r>
                        <a:rPr lang="en-US" altLang="ko-KR" sz="900" spc="-10" dirty="0">
                          <a:latin typeface="Arial"/>
                          <a:cs typeface="Arial"/>
                        </a:rPr>
                        <a:t> </a:t>
                      </a:r>
                      <a:r>
                        <a:rPr lang="en-US" altLang="ko-KR" sz="900" spc="-5" dirty="0">
                          <a:latin typeface="Arial"/>
                          <a:cs typeface="Arial"/>
                        </a:rPr>
                        <a:t>during</a:t>
                      </a:r>
                      <a:r>
                        <a:rPr lang="en-US" altLang="ko-KR" sz="900" spc="-20" dirty="0">
                          <a:latin typeface="Arial"/>
                          <a:cs typeface="Arial"/>
                        </a:rPr>
                        <a:t> </a:t>
                      </a:r>
                      <a:r>
                        <a:rPr lang="en-US" altLang="ko-KR" sz="900" dirty="0">
                          <a:latin typeface="Arial"/>
                          <a:cs typeface="Arial"/>
                        </a:rPr>
                        <a:t>the</a:t>
                      </a:r>
                      <a:r>
                        <a:rPr lang="en-US" altLang="ko-KR" sz="900" spc="-10" dirty="0">
                          <a:latin typeface="Arial"/>
                          <a:cs typeface="Arial"/>
                        </a:rPr>
                        <a:t> </a:t>
                      </a:r>
                      <a:r>
                        <a:rPr lang="en-US" altLang="ko-KR" sz="900" dirty="0">
                          <a:latin typeface="Arial"/>
                          <a:cs typeface="Arial"/>
                        </a:rPr>
                        <a:t>local</a:t>
                      </a:r>
                      <a:r>
                        <a:rPr lang="en-US" altLang="ko-KR" sz="900" spc="-20" dirty="0">
                          <a:latin typeface="Arial"/>
                          <a:cs typeface="Arial"/>
                        </a:rPr>
                        <a:t> </a:t>
                      </a:r>
                      <a:r>
                        <a:rPr lang="en-US" altLang="ko-KR" sz="900" dirty="0">
                          <a:latin typeface="Arial"/>
                          <a:cs typeface="Arial"/>
                        </a:rPr>
                        <a:t>dimming.</a:t>
                      </a: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a:ea typeface="+mn-ea"/>
                        <a:cs typeface="Arial"/>
                      </a:endParaRP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dirty="0">
                          <a:latin typeface="Arial"/>
                          <a:cs typeface="Arial"/>
                        </a:rPr>
                        <a:t>2’b00 : </a:t>
                      </a:r>
                      <a:r>
                        <a:rPr lang="en-US" altLang="ko-KR" sz="900" spc="-5" dirty="0">
                          <a:latin typeface="Arial"/>
                          <a:cs typeface="Arial"/>
                        </a:rPr>
                        <a:t>The </a:t>
                      </a:r>
                      <a:r>
                        <a:rPr lang="en-US" altLang="ko-KR" sz="900" spc="-10" dirty="0">
                          <a:latin typeface="Arial"/>
                          <a:cs typeface="Arial"/>
                        </a:rPr>
                        <a:t>MODE </a:t>
                      </a:r>
                      <a:r>
                        <a:rPr lang="en-US" altLang="ko-KR" sz="900" dirty="0">
                          <a:latin typeface="Arial"/>
                          <a:cs typeface="Arial"/>
                        </a:rPr>
                        <a:t>1/2 pins </a:t>
                      </a:r>
                      <a:r>
                        <a:rPr lang="en-US" altLang="ko-KR" sz="900" spc="-5" dirty="0">
                          <a:latin typeface="Arial"/>
                          <a:cs typeface="Arial"/>
                        </a:rPr>
                        <a:t>drive </a:t>
                      </a:r>
                      <a:r>
                        <a:rPr lang="en-US" altLang="ko-KR" sz="900" dirty="0">
                          <a:latin typeface="Arial"/>
                          <a:cs typeface="Arial"/>
                        </a:rPr>
                        <a:t>the </a:t>
                      </a:r>
                      <a:r>
                        <a:rPr lang="en-US" altLang="ko-KR" sz="900" spc="-5" dirty="0">
                          <a:latin typeface="Arial"/>
                          <a:cs typeface="Arial"/>
                        </a:rPr>
                        <a:t>voltage level, </a:t>
                      </a:r>
                      <a:r>
                        <a:rPr lang="en-US" altLang="ko-KR" sz="900" dirty="0">
                          <a:latin typeface="Arial"/>
                          <a:cs typeface="Arial"/>
                        </a:rPr>
                        <a:t>0.5V</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dirty="0">
                          <a:latin typeface="Arial"/>
                          <a:cs typeface="Arial"/>
                        </a:rPr>
                        <a:t>2’b01 : </a:t>
                      </a:r>
                      <a:r>
                        <a:rPr lang="en-US" altLang="ko-KR" sz="900" spc="-5" dirty="0">
                          <a:latin typeface="Arial"/>
                          <a:cs typeface="Arial"/>
                        </a:rPr>
                        <a:t>The </a:t>
                      </a:r>
                      <a:r>
                        <a:rPr lang="en-US" altLang="ko-KR" sz="900" spc="-10" dirty="0">
                          <a:latin typeface="Arial"/>
                          <a:cs typeface="Arial"/>
                        </a:rPr>
                        <a:t>MODE </a:t>
                      </a:r>
                      <a:r>
                        <a:rPr lang="en-US" altLang="ko-KR" sz="900" dirty="0">
                          <a:latin typeface="Arial"/>
                          <a:cs typeface="Arial"/>
                        </a:rPr>
                        <a:t>1/2 pins </a:t>
                      </a:r>
                      <a:r>
                        <a:rPr lang="en-US" altLang="ko-KR" sz="900" spc="-5" dirty="0">
                          <a:latin typeface="Arial"/>
                          <a:cs typeface="Arial"/>
                        </a:rPr>
                        <a:t>drive </a:t>
                      </a:r>
                      <a:r>
                        <a:rPr lang="en-US" altLang="ko-KR" sz="900" dirty="0">
                          <a:latin typeface="Arial"/>
                          <a:cs typeface="Arial"/>
                        </a:rPr>
                        <a:t>the </a:t>
                      </a:r>
                      <a:r>
                        <a:rPr lang="en-US" altLang="ko-KR" sz="900" spc="-5" dirty="0">
                          <a:latin typeface="Arial"/>
                          <a:cs typeface="Arial"/>
                        </a:rPr>
                        <a:t>voltage level, </a:t>
                      </a:r>
                      <a:r>
                        <a:rPr lang="en-US" altLang="ko-KR" sz="900" dirty="0">
                          <a:latin typeface="Arial"/>
                          <a:cs typeface="Arial"/>
                        </a:rPr>
                        <a:t>1.5V</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dirty="0">
                          <a:latin typeface="Arial"/>
                          <a:cs typeface="Arial"/>
                        </a:rPr>
                        <a:t>2’b10 : </a:t>
                      </a:r>
                      <a:r>
                        <a:rPr lang="en-US" altLang="ko-KR" sz="900" spc="-5" dirty="0">
                          <a:latin typeface="Arial"/>
                          <a:cs typeface="Arial"/>
                        </a:rPr>
                        <a:t>The </a:t>
                      </a:r>
                      <a:r>
                        <a:rPr lang="en-US" altLang="ko-KR" sz="900" spc="-10" dirty="0">
                          <a:latin typeface="Arial"/>
                          <a:cs typeface="Arial"/>
                        </a:rPr>
                        <a:t>MODE </a:t>
                      </a:r>
                      <a:r>
                        <a:rPr lang="en-US" altLang="ko-KR" sz="900" spc="-5" dirty="0">
                          <a:latin typeface="Arial"/>
                          <a:cs typeface="Arial"/>
                        </a:rPr>
                        <a:t>1/2 pins drive </a:t>
                      </a:r>
                      <a:r>
                        <a:rPr lang="en-US" altLang="ko-KR" sz="900" dirty="0">
                          <a:latin typeface="Arial"/>
                          <a:cs typeface="Arial"/>
                        </a:rPr>
                        <a:t>the </a:t>
                      </a:r>
                      <a:r>
                        <a:rPr lang="en-US" altLang="ko-KR" sz="900" spc="-5" dirty="0">
                          <a:latin typeface="Arial"/>
                          <a:cs typeface="Arial"/>
                        </a:rPr>
                        <a:t>voltage level, 2.5V</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dirty="0">
                          <a:latin typeface="Arial"/>
                          <a:cs typeface="Arial"/>
                        </a:rPr>
                        <a:t>2’b11</a:t>
                      </a:r>
                      <a:r>
                        <a:rPr lang="en-US" altLang="ko-KR" sz="900" spc="-25" dirty="0">
                          <a:latin typeface="Arial"/>
                          <a:cs typeface="Arial"/>
                        </a:rPr>
                        <a:t> </a:t>
                      </a:r>
                      <a:r>
                        <a:rPr lang="en-US" altLang="ko-KR" sz="900" dirty="0">
                          <a:latin typeface="Arial"/>
                          <a:cs typeface="Arial"/>
                        </a:rPr>
                        <a:t>: </a:t>
                      </a:r>
                      <a:r>
                        <a:rPr lang="en-US" altLang="ko-KR" sz="900" spc="-5" dirty="0">
                          <a:latin typeface="Arial"/>
                          <a:cs typeface="Arial"/>
                        </a:rPr>
                        <a:t>The </a:t>
                      </a:r>
                      <a:r>
                        <a:rPr lang="en-US" altLang="ko-KR" sz="900" spc="-10" dirty="0">
                          <a:latin typeface="Arial"/>
                          <a:cs typeface="Arial"/>
                        </a:rPr>
                        <a:t>MODE</a:t>
                      </a:r>
                      <a:r>
                        <a:rPr lang="en-US" altLang="ko-KR" sz="900" spc="20" dirty="0">
                          <a:latin typeface="Arial"/>
                          <a:cs typeface="Arial"/>
                        </a:rPr>
                        <a:t> </a:t>
                      </a:r>
                      <a:r>
                        <a:rPr lang="en-US" altLang="ko-KR" sz="900" dirty="0">
                          <a:latin typeface="Arial"/>
                          <a:cs typeface="Arial"/>
                        </a:rPr>
                        <a:t>1/2</a:t>
                      </a:r>
                      <a:r>
                        <a:rPr lang="en-US" altLang="ko-KR" sz="900" spc="-15" dirty="0">
                          <a:latin typeface="Arial"/>
                          <a:cs typeface="Arial"/>
                        </a:rPr>
                        <a:t> </a:t>
                      </a:r>
                      <a:r>
                        <a:rPr lang="en-US" altLang="ko-KR" sz="900" dirty="0">
                          <a:latin typeface="Arial"/>
                          <a:cs typeface="Arial"/>
                        </a:rPr>
                        <a:t>pins</a:t>
                      </a:r>
                      <a:r>
                        <a:rPr lang="en-US" altLang="ko-KR" sz="900" spc="-20" dirty="0">
                          <a:latin typeface="Arial"/>
                          <a:cs typeface="Arial"/>
                        </a:rPr>
                        <a:t> </a:t>
                      </a:r>
                      <a:r>
                        <a:rPr lang="en-US" altLang="ko-KR" sz="900" spc="-5" dirty="0">
                          <a:latin typeface="Arial"/>
                          <a:cs typeface="Arial"/>
                        </a:rPr>
                        <a:t>drive</a:t>
                      </a:r>
                      <a:r>
                        <a:rPr lang="en-US" altLang="ko-KR" sz="900" spc="-15" dirty="0">
                          <a:latin typeface="Arial"/>
                          <a:cs typeface="Arial"/>
                        </a:rPr>
                        <a:t> </a:t>
                      </a:r>
                      <a:r>
                        <a:rPr lang="en-US" altLang="ko-KR" sz="900" dirty="0">
                          <a:latin typeface="Arial"/>
                          <a:cs typeface="Arial"/>
                        </a:rPr>
                        <a:t>the</a:t>
                      </a:r>
                      <a:r>
                        <a:rPr lang="en-US" altLang="ko-KR" sz="900" spc="-10" dirty="0">
                          <a:latin typeface="Arial"/>
                          <a:cs typeface="Arial"/>
                        </a:rPr>
                        <a:t> </a:t>
                      </a:r>
                      <a:r>
                        <a:rPr lang="en-US" altLang="ko-KR" sz="900" spc="-5" dirty="0">
                          <a:latin typeface="Arial"/>
                          <a:cs typeface="Arial"/>
                        </a:rPr>
                        <a:t>voltage</a:t>
                      </a:r>
                      <a:r>
                        <a:rPr lang="en-US" altLang="ko-KR" sz="900" spc="-15" dirty="0">
                          <a:latin typeface="Arial"/>
                          <a:cs typeface="Arial"/>
                        </a:rPr>
                        <a:t> </a:t>
                      </a:r>
                      <a:r>
                        <a:rPr lang="en-US" altLang="ko-KR" sz="900" spc="-5" dirty="0">
                          <a:latin typeface="Arial"/>
                          <a:cs typeface="Arial"/>
                        </a:rPr>
                        <a:t>level,</a:t>
                      </a:r>
                      <a:r>
                        <a:rPr lang="en-US" altLang="ko-KR" sz="900" spc="-10" dirty="0">
                          <a:latin typeface="Arial"/>
                          <a:cs typeface="Arial"/>
                        </a:rPr>
                        <a:t> </a:t>
                      </a:r>
                      <a:r>
                        <a:rPr lang="en-US" altLang="ko-KR" sz="900" dirty="0">
                          <a:latin typeface="Arial"/>
                          <a:cs typeface="Arial"/>
                        </a:rPr>
                        <a:t>3.5V</a:t>
                      </a: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a:ea typeface="+mn-ea"/>
                        <a:cs typeface="Arial"/>
                      </a:endParaRP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557627">
                <a:tc>
                  <a:txBody>
                    <a:bodyPr/>
                    <a:lstStyle/>
                    <a:p>
                      <a:pPr marR="82550" algn="ctr">
                        <a:lnSpc>
                          <a:spcPct val="100000"/>
                        </a:lnSpc>
                        <a:spcBef>
                          <a:spcPts val="775"/>
                        </a:spcBef>
                      </a:pPr>
                      <a:r>
                        <a:rPr sz="900" spc="-5" dirty="0">
                          <a:latin typeface="Arial"/>
                          <a:cs typeface="Arial"/>
                        </a:rPr>
                        <a:t>11:0</a:t>
                      </a:r>
                      <a:endParaRPr sz="900" dirty="0">
                        <a:latin typeface="Arial"/>
                        <a:cs typeface="Arial"/>
                      </a:endParaRPr>
                    </a:p>
                  </a:txBody>
                  <a:tcPr marL="0" marR="0" marT="98425" marB="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62230">
                        <a:lnSpc>
                          <a:spcPct val="100000"/>
                        </a:lnSpc>
                        <a:spcBef>
                          <a:spcPts val="775"/>
                        </a:spcBef>
                      </a:pPr>
                      <a:r>
                        <a:rPr sz="900" spc="-5" dirty="0">
                          <a:latin typeface="Arial"/>
                          <a:cs typeface="Arial"/>
                        </a:rPr>
                        <a:t>FRAME_VREF</a:t>
                      </a:r>
                      <a:endParaRPr sz="900" dirty="0">
                        <a:latin typeface="Arial"/>
                        <a:cs typeface="Arial"/>
                      </a:endParaRPr>
                    </a:p>
                  </a:txBody>
                  <a:tcPr marL="0" marR="0" marT="98425"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dirty="0">
                          <a:latin typeface="Arial"/>
                          <a:cs typeface="Arial"/>
                        </a:rPr>
                        <a:t>Limit the </a:t>
                      </a:r>
                      <a:r>
                        <a:rPr lang="en-US" altLang="ko-KR" sz="900" spc="-5" dirty="0">
                          <a:latin typeface="Arial"/>
                          <a:cs typeface="Arial"/>
                        </a:rPr>
                        <a:t>maximum </a:t>
                      </a:r>
                      <a:r>
                        <a:rPr lang="en-US" altLang="ko-KR" sz="900" dirty="0">
                          <a:latin typeface="Arial"/>
                          <a:cs typeface="Arial"/>
                        </a:rPr>
                        <a:t>current </a:t>
                      </a:r>
                      <a:r>
                        <a:rPr lang="en-US" altLang="ko-KR" sz="900" spc="-5" dirty="0">
                          <a:latin typeface="Arial"/>
                          <a:cs typeface="Arial"/>
                        </a:rPr>
                        <a:t>during a </a:t>
                      </a:r>
                      <a:r>
                        <a:rPr lang="en-US" altLang="ko-KR" sz="900" dirty="0">
                          <a:latin typeface="Arial"/>
                          <a:cs typeface="Arial"/>
                        </a:rPr>
                        <a:t>frame </a:t>
                      </a:r>
                      <a:r>
                        <a:rPr lang="en-US" altLang="ko-KR" sz="900" spc="-5" dirty="0">
                          <a:latin typeface="Arial"/>
                          <a:cs typeface="Arial"/>
                        </a:rPr>
                        <a:t>period in </a:t>
                      </a:r>
                      <a:r>
                        <a:rPr lang="en-US" altLang="ko-KR" sz="900" dirty="0">
                          <a:latin typeface="Arial"/>
                          <a:cs typeface="Arial"/>
                        </a:rPr>
                        <a:t>case </a:t>
                      </a:r>
                      <a:r>
                        <a:rPr lang="en-US" altLang="ko-KR" sz="900" spc="-5" dirty="0">
                          <a:latin typeface="Arial"/>
                          <a:cs typeface="Arial"/>
                        </a:rPr>
                        <a:t>FRAME_HEADER_FIX </a:t>
                      </a:r>
                      <a:r>
                        <a:rPr lang="en-US" altLang="ko-KR" sz="900" dirty="0">
                          <a:latin typeface="Arial"/>
                          <a:cs typeface="Arial"/>
                        </a:rPr>
                        <a:t>bit </a:t>
                      </a:r>
                      <a:r>
                        <a:rPr lang="en-US" altLang="ko-KR" sz="900" spc="-5" dirty="0">
                          <a:latin typeface="Arial"/>
                          <a:cs typeface="Arial"/>
                        </a:rPr>
                        <a:t>is </a:t>
                      </a:r>
                      <a:r>
                        <a:rPr lang="en-US" altLang="ko-KR" sz="900" dirty="0">
                          <a:latin typeface="Arial"/>
                          <a:cs typeface="Arial"/>
                        </a:rPr>
                        <a:t>set.</a:t>
                      </a:r>
                      <a:r>
                        <a:rPr lang="en-US" altLang="ko-KR" sz="900" spc="250" dirty="0">
                          <a:latin typeface="Arial"/>
                          <a:cs typeface="Arial"/>
                        </a:rPr>
                        <a:t> </a:t>
                      </a:r>
                      <a:r>
                        <a:rPr lang="en-US" altLang="ko-KR" sz="900" spc="-5" dirty="0">
                          <a:latin typeface="Arial"/>
                          <a:cs typeface="Arial"/>
                        </a:rPr>
                        <a:t>Normally, </a:t>
                      </a:r>
                      <a:r>
                        <a:rPr lang="en-US" altLang="ko-KR" sz="900" dirty="0">
                          <a:latin typeface="Arial"/>
                          <a:cs typeface="Arial"/>
                        </a:rPr>
                        <a:t>the frame </a:t>
                      </a:r>
                      <a:r>
                        <a:rPr lang="en-US" altLang="ko-KR" sz="900" spc="-5" dirty="0">
                          <a:latin typeface="Arial"/>
                          <a:cs typeface="Arial"/>
                        </a:rPr>
                        <a:t>header value </a:t>
                      </a:r>
                      <a:r>
                        <a:rPr lang="en-US" altLang="ko-KR" sz="900" dirty="0">
                          <a:latin typeface="Arial"/>
                          <a:cs typeface="Arial"/>
                        </a:rPr>
                        <a:t>transferred </a:t>
                      </a:r>
                      <a:r>
                        <a:rPr lang="en-US" altLang="ko-KR" sz="900" spc="-5" dirty="0">
                          <a:latin typeface="Arial"/>
                          <a:cs typeface="Arial"/>
                        </a:rPr>
                        <a:t>through </a:t>
                      </a:r>
                      <a:r>
                        <a:rPr lang="en-US" altLang="ko-KR" sz="900" dirty="0">
                          <a:latin typeface="Arial"/>
                          <a:cs typeface="Arial"/>
                        </a:rPr>
                        <a:t>SPI </a:t>
                      </a:r>
                      <a:r>
                        <a:rPr lang="en-US" altLang="ko-KR" sz="900" spc="-5" dirty="0">
                          <a:latin typeface="Arial"/>
                          <a:cs typeface="Arial"/>
                        </a:rPr>
                        <a:t>with </a:t>
                      </a:r>
                      <a:r>
                        <a:rPr lang="en-US" altLang="ko-KR" sz="900" dirty="0">
                          <a:latin typeface="Arial"/>
                          <a:cs typeface="Arial"/>
                        </a:rPr>
                        <a:t>the </a:t>
                      </a:r>
                      <a:r>
                        <a:rPr lang="en-US" altLang="ko-KR" sz="900" spc="-5" dirty="0">
                          <a:latin typeface="Arial"/>
                          <a:cs typeface="Arial"/>
                        </a:rPr>
                        <a:t>DUTY </a:t>
                      </a:r>
                      <a:r>
                        <a:rPr lang="en-US" altLang="ko-KR" sz="900" dirty="0">
                          <a:latin typeface="Arial"/>
                          <a:cs typeface="Arial"/>
                        </a:rPr>
                        <a:t> </a:t>
                      </a:r>
                      <a:r>
                        <a:rPr lang="en-US" altLang="ko-KR" sz="900" spc="-5" dirty="0">
                          <a:latin typeface="Arial"/>
                          <a:cs typeface="Arial"/>
                        </a:rPr>
                        <a:t>data</a:t>
                      </a:r>
                      <a:r>
                        <a:rPr lang="en-US" altLang="ko-KR" sz="900" spc="-15" dirty="0">
                          <a:latin typeface="Arial"/>
                          <a:cs typeface="Arial"/>
                        </a:rPr>
                        <a:t> </a:t>
                      </a:r>
                      <a:r>
                        <a:rPr lang="en-US" altLang="ko-KR" sz="900" dirty="0">
                          <a:latin typeface="Arial"/>
                          <a:cs typeface="Arial"/>
                        </a:rPr>
                        <a:t>together</a:t>
                      </a:r>
                      <a:r>
                        <a:rPr lang="en-US" altLang="ko-KR" sz="900" spc="-35" dirty="0">
                          <a:latin typeface="Arial"/>
                          <a:cs typeface="Arial"/>
                        </a:rPr>
                        <a:t> </a:t>
                      </a:r>
                      <a:r>
                        <a:rPr lang="en-US" altLang="ko-KR" sz="900" spc="-5" dirty="0">
                          <a:latin typeface="Arial"/>
                          <a:cs typeface="Arial"/>
                        </a:rPr>
                        <a:t>is </a:t>
                      </a:r>
                      <a:r>
                        <a:rPr lang="en-US" altLang="ko-KR" sz="900" dirty="0">
                          <a:latin typeface="Arial"/>
                          <a:cs typeface="Arial"/>
                        </a:rPr>
                        <a:t>used</a:t>
                      </a:r>
                      <a:r>
                        <a:rPr lang="en-US" altLang="ko-KR" sz="900" spc="-10" dirty="0">
                          <a:latin typeface="Arial"/>
                          <a:cs typeface="Arial"/>
                        </a:rPr>
                        <a:t> </a:t>
                      </a:r>
                      <a:r>
                        <a:rPr lang="en-US" altLang="ko-KR" sz="900" dirty="0">
                          <a:latin typeface="Arial"/>
                          <a:cs typeface="Arial"/>
                        </a:rPr>
                        <a:t>for</a:t>
                      </a:r>
                      <a:r>
                        <a:rPr lang="en-US" altLang="ko-KR" sz="900" spc="-10" dirty="0">
                          <a:latin typeface="Arial"/>
                          <a:cs typeface="Arial"/>
                        </a:rPr>
                        <a:t> </a:t>
                      </a:r>
                      <a:r>
                        <a:rPr lang="en-US" altLang="ko-KR" sz="900" dirty="0">
                          <a:latin typeface="Arial"/>
                          <a:cs typeface="Arial"/>
                        </a:rPr>
                        <a:t>the</a:t>
                      </a:r>
                      <a:r>
                        <a:rPr lang="en-US" altLang="ko-KR" sz="900" spc="-10" dirty="0">
                          <a:latin typeface="Arial"/>
                          <a:cs typeface="Arial"/>
                        </a:rPr>
                        <a:t> </a:t>
                      </a:r>
                      <a:r>
                        <a:rPr lang="en-US" altLang="ko-KR" sz="900" dirty="0">
                          <a:latin typeface="Arial"/>
                          <a:cs typeface="Arial"/>
                        </a:rPr>
                        <a:t>local</a:t>
                      </a:r>
                      <a:r>
                        <a:rPr lang="en-US" altLang="ko-KR" sz="900" spc="-20" dirty="0">
                          <a:latin typeface="Arial"/>
                          <a:cs typeface="Arial"/>
                        </a:rPr>
                        <a:t> </a:t>
                      </a:r>
                      <a:r>
                        <a:rPr lang="en-US" altLang="ko-KR" sz="900" dirty="0">
                          <a:latin typeface="Arial"/>
                          <a:cs typeface="Arial"/>
                        </a:rPr>
                        <a:t>dimming</a:t>
                      </a:r>
                      <a:endParaRPr lang="en-US" altLang="ko-KR" sz="900" b="0" dirty="0">
                        <a:solidFill>
                          <a:schemeClr val="tx1"/>
                        </a:solidFill>
                        <a:latin typeface="Arial"/>
                        <a:ea typeface="+mn-ea"/>
                        <a:cs typeface="Arial"/>
                      </a:endParaRP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61280097"/>
                  </a:ext>
                </a:extLst>
              </a:tr>
            </a:tbl>
          </a:graphicData>
        </a:graphic>
      </p:graphicFrame>
      <p:graphicFrame>
        <p:nvGraphicFramePr>
          <p:cNvPr id="18" name="표 17">
            <a:extLst>
              <a:ext uri="{FF2B5EF4-FFF2-40B4-BE49-F238E27FC236}">
                <a16:creationId xmlns:a16="http://schemas.microsoft.com/office/drawing/2014/main" id="{7A6AF0D3-4B98-5E3B-095D-338A021D243A}"/>
              </a:ext>
            </a:extLst>
          </p:cNvPr>
          <p:cNvGraphicFramePr>
            <a:graphicFrameLocks noGrp="1"/>
          </p:cNvGraphicFramePr>
          <p:nvPr>
            <p:extLst>
              <p:ext uri="{D42A27DB-BD31-4B8C-83A1-F6EECF244321}">
                <p14:modId xmlns:p14="http://schemas.microsoft.com/office/powerpoint/2010/main" val="4031356529"/>
              </p:ext>
            </p:extLst>
          </p:nvPr>
        </p:nvGraphicFramePr>
        <p:xfrm>
          <a:off x="400913" y="5113803"/>
          <a:ext cx="6033770" cy="876837"/>
        </p:xfrm>
        <a:graphic>
          <a:graphicData uri="http://schemas.openxmlformats.org/drawingml/2006/table">
            <a:tbl>
              <a:tblPr firstRow="1" bandRow="1">
                <a:tableStyleId>{5C22544A-7EE6-4342-B048-85BDC9FD1C3A}</a:tableStyleId>
              </a:tblPr>
              <a:tblGrid>
                <a:gridCol w="384612">
                  <a:extLst>
                    <a:ext uri="{9D8B030D-6E8A-4147-A177-3AD203B41FA5}">
                      <a16:colId xmlns:a16="http://schemas.microsoft.com/office/drawing/2014/main" val="4170535043"/>
                    </a:ext>
                  </a:extLst>
                </a:gridCol>
                <a:gridCol w="1523121">
                  <a:extLst>
                    <a:ext uri="{9D8B030D-6E8A-4147-A177-3AD203B41FA5}">
                      <a16:colId xmlns:a16="http://schemas.microsoft.com/office/drawing/2014/main" val="2079070694"/>
                    </a:ext>
                  </a:extLst>
                </a:gridCol>
                <a:gridCol w="4126037">
                  <a:extLst>
                    <a:ext uri="{9D8B030D-6E8A-4147-A177-3AD203B41FA5}">
                      <a16:colId xmlns:a16="http://schemas.microsoft.com/office/drawing/2014/main" val="32595803"/>
                    </a:ext>
                  </a:extLst>
                </a:gridCol>
              </a:tblGrid>
              <a:tr h="256197">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457558">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dirty="0">
                          <a:latin typeface="Arial"/>
                          <a:cs typeface="Arial"/>
                        </a:rPr>
                        <a:t>7:0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spc="-5" dirty="0">
                          <a:latin typeface="Arial"/>
                          <a:cs typeface="Arial"/>
                        </a:rPr>
                        <a:t>DUTY_FIX</a:t>
                      </a:r>
                      <a:endParaRPr lang="en-US" altLang="ko-KR" sz="900" dirty="0">
                        <a:latin typeface="Arial"/>
                        <a:cs typeface="Arial"/>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spc="-5" dirty="0">
                          <a:latin typeface="Arial"/>
                          <a:cs typeface="Arial"/>
                        </a:rPr>
                        <a:t>If </a:t>
                      </a:r>
                      <a:r>
                        <a:rPr lang="en-US" altLang="ko-KR" sz="900" dirty="0">
                          <a:latin typeface="Arial"/>
                          <a:cs typeface="Arial"/>
                        </a:rPr>
                        <a:t>the </a:t>
                      </a:r>
                      <a:r>
                        <a:rPr lang="en-US" altLang="ko-KR" sz="900" spc="-5" dirty="0">
                          <a:latin typeface="Arial"/>
                          <a:cs typeface="Arial"/>
                        </a:rPr>
                        <a:t>DUTY_FIX </a:t>
                      </a:r>
                      <a:r>
                        <a:rPr lang="en-US" altLang="ko-KR" sz="900" dirty="0">
                          <a:latin typeface="Arial"/>
                          <a:cs typeface="Arial"/>
                        </a:rPr>
                        <a:t>bit of FIX </a:t>
                      </a:r>
                      <a:r>
                        <a:rPr lang="en-US" altLang="ko-KR" sz="900" spc="-10" dirty="0">
                          <a:latin typeface="Arial"/>
                          <a:cs typeface="Arial"/>
                        </a:rPr>
                        <a:t>CONTROL </a:t>
                      </a:r>
                      <a:r>
                        <a:rPr lang="en-US" altLang="ko-KR" sz="900" dirty="0">
                          <a:latin typeface="Arial"/>
                          <a:cs typeface="Arial"/>
                        </a:rPr>
                        <a:t>register is set, then the </a:t>
                      </a:r>
                      <a:r>
                        <a:rPr lang="en-US" altLang="ko-KR" sz="900" spc="-5" dirty="0">
                          <a:latin typeface="Arial"/>
                          <a:cs typeface="Arial"/>
                        </a:rPr>
                        <a:t>DUTY </a:t>
                      </a:r>
                      <a:r>
                        <a:rPr lang="en-US" altLang="ko-KR" sz="900" dirty="0">
                          <a:latin typeface="Arial"/>
                          <a:cs typeface="Arial"/>
                        </a:rPr>
                        <a:t>FIX register’s </a:t>
                      </a:r>
                      <a:r>
                        <a:rPr lang="en-US" altLang="ko-KR" sz="900" spc="-5" dirty="0">
                          <a:latin typeface="Arial"/>
                          <a:cs typeface="Arial"/>
                        </a:rPr>
                        <a:t>value is </a:t>
                      </a:r>
                      <a:r>
                        <a:rPr lang="en-US" altLang="ko-KR" sz="900" dirty="0">
                          <a:latin typeface="Arial"/>
                          <a:cs typeface="Arial"/>
                        </a:rPr>
                        <a:t>used for the local dimming duty </a:t>
                      </a:r>
                      <a:r>
                        <a:rPr lang="en-US" altLang="ko-KR" sz="900" spc="-5" dirty="0">
                          <a:latin typeface="Arial"/>
                          <a:cs typeface="Arial"/>
                        </a:rPr>
                        <a:t>data </a:t>
                      </a:r>
                      <a:r>
                        <a:rPr lang="en-US" altLang="ko-KR" sz="900" dirty="0">
                          <a:latin typeface="Arial"/>
                          <a:cs typeface="Arial"/>
                        </a:rPr>
                        <a:t>regardless of the transferred duty </a:t>
                      </a:r>
                      <a:r>
                        <a:rPr lang="en-US" altLang="ko-KR" sz="900" spc="5" dirty="0">
                          <a:latin typeface="Arial"/>
                          <a:cs typeface="Arial"/>
                        </a:rPr>
                        <a:t> </a:t>
                      </a:r>
                      <a:r>
                        <a:rPr lang="en-US" altLang="ko-KR" sz="900" spc="-5" dirty="0">
                          <a:latin typeface="Arial"/>
                          <a:cs typeface="Arial"/>
                        </a:rPr>
                        <a:t>data</a:t>
                      </a:r>
                      <a:r>
                        <a:rPr lang="en-US" altLang="ko-KR" sz="900" spc="-15" dirty="0">
                          <a:latin typeface="Arial"/>
                          <a:cs typeface="Arial"/>
                        </a:rPr>
                        <a:t> </a:t>
                      </a:r>
                      <a:r>
                        <a:rPr lang="en-US" altLang="ko-KR" sz="900" spc="-5" dirty="0">
                          <a:latin typeface="Arial"/>
                          <a:cs typeface="Arial"/>
                        </a:rPr>
                        <a:t>through</a:t>
                      </a:r>
                      <a:r>
                        <a:rPr lang="en-US" altLang="ko-KR" sz="900" spc="-20" dirty="0">
                          <a:latin typeface="Arial"/>
                          <a:cs typeface="Arial"/>
                        </a:rPr>
                        <a:t> </a:t>
                      </a:r>
                      <a:r>
                        <a:rPr lang="en-US" altLang="ko-KR" sz="900" dirty="0">
                          <a:latin typeface="Arial"/>
                          <a:cs typeface="Arial"/>
                        </a:rPr>
                        <a:t>SPI. </a:t>
                      </a:r>
                      <a:r>
                        <a:rPr lang="en-US" altLang="ko-KR" sz="900" spc="-5" dirty="0">
                          <a:latin typeface="Arial"/>
                          <a:cs typeface="Arial"/>
                        </a:rPr>
                        <a:t>The </a:t>
                      </a:r>
                      <a:r>
                        <a:rPr lang="en-US" altLang="ko-KR" sz="900" dirty="0">
                          <a:latin typeface="Arial"/>
                          <a:cs typeface="Arial"/>
                        </a:rPr>
                        <a:t>dimming duration </a:t>
                      </a:r>
                      <a:r>
                        <a:rPr lang="en-US" altLang="ko-KR" sz="900" spc="-5" dirty="0">
                          <a:latin typeface="Arial"/>
                          <a:cs typeface="Arial"/>
                        </a:rPr>
                        <a:t>is </a:t>
                      </a:r>
                      <a:r>
                        <a:rPr lang="en-US" altLang="ko-KR" sz="900" dirty="0">
                          <a:latin typeface="Arial"/>
                          <a:cs typeface="Arial"/>
                        </a:rPr>
                        <a:t>the source frame </a:t>
                      </a:r>
                      <a:r>
                        <a:rPr lang="en-US" altLang="ko-KR" sz="900" spc="-5" dirty="0">
                          <a:latin typeface="Arial"/>
                          <a:cs typeface="Arial"/>
                        </a:rPr>
                        <a:t>period * (DUTY_FIX </a:t>
                      </a:r>
                      <a:r>
                        <a:rPr lang="en-US" altLang="ko-KR" sz="900" dirty="0">
                          <a:latin typeface="Arial"/>
                          <a:cs typeface="Arial"/>
                        </a:rPr>
                        <a:t>/ </a:t>
                      </a:r>
                      <a:r>
                        <a:rPr lang="en-US" altLang="ko-KR" sz="900" spc="-5" dirty="0">
                          <a:latin typeface="Arial"/>
                          <a:cs typeface="Arial"/>
                        </a:rPr>
                        <a:t>SVSYNC_SIZE). The maximum value</a:t>
                      </a:r>
                      <a:r>
                        <a:rPr lang="en-US" altLang="ko-KR" sz="900" spc="-10" dirty="0">
                          <a:latin typeface="Arial"/>
                          <a:cs typeface="Arial"/>
                        </a:rPr>
                        <a:t> </a:t>
                      </a:r>
                      <a:r>
                        <a:rPr lang="en-US" altLang="ko-KR" sz="900" dirty="0">
                          <a:latin typeface="Arial"/>
                          <a:cs typeface="Arial"/>
                        </a:rPr>
                        <a:t>limits</a:t>
                      </a:r>
                      <a:r>
                        <a:rPr lang="en-US" altLang="ko-KR" sz="900" spc="-30" dirty="0">
                          <a:latin typeface="Arial"/>
                          <a:cs typeface="Arial"/>
                        </a:rPr>
                        <a:t> </a:t>
                      </a:r>
                      <a:r>
                        <a:rPr lang="en-US" altLang="ko-KR" sz="900" dirty="0">
                          <a:latin typeface="Arial"/>
                          <a:cs typeface="Arial"/>
                        </a:rPr>
                        <a:t>to decimal</a:t>
                      </a:r>
                      <a:r>
                        <a:rPr lang="en-US" altLang="ko-KR" sz="900" spc="-35" dirty="0">
                          <a:latin typeface="Arial"/>
                          <a:cs typeface="Arial"/>
                        </a:rPr>
                        <a:t> </a:t>
                      </a:r>
                      <a:r>
                        <a:rPr lang="en-US" altLang="ko-KR" sz="900" spc="-5" dirty="0">
                          <a:latin typeface="Arial"/>
                          <a:cs typeface="Arial"/>
                        </a:rPr>
                        <a:t>128.</a:t>
                      </a:r>
                      <a:endParaRPr lang="en-US" altLang="ko-KR" sz="900" dirty="0">
                        <a:latin typeface="Arial"/>
                        <a:cs typeface="Arial"/>
                      </a:endParaRP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19" name="표 18">
            <a:extLst>
              <a:ext uri="{FF2B5EF4-FFF2-40B4-BE49-F238E27FC236}">
                <a16:creationId xmlns:a16="http://schemas.microsoft.com/office/drawing/2014/main" id="{51EE610B-1DA4-9B40-594A-3A6485AE8E96}"/>
              </a:ext>
            </a:extLst>
          </p:cNvPr>
          <p:cNvGraphicFramePr>
            <a:graphicFrameLocks noGrp="1"/>
          </p:cNvGraphicFramePr>
          <p:nvPr>
            <p:extLst>
              <p:ext uri="{D42A27DB-BD31-4B8C-83A1-F6EECF244321}">
                <p14:modId xmlns:p14="http://schemas.microsoft.com/office/powerpoint/2010/main" val="2267614297"/>
              </p:ext>
            </p:extLst>
          </p:nvPr>
        </p:nvGraphicFramePr>
        <p:xfrm>
          <a:off x="392684" y="7553897"/>
          <a:ext cx="6033770" cy="876837"/>
        </p:xfrm>
        <a:graphic>
          <a:graphicData uri="http://schemas.openxmlformats.org/drawingml/2006/table">
            <a:tbl>
              <a:tblPr firstRow="1" bandRow="1">
                <a:tableStyleId>{5C22544A-7EE6-4342-B048-85BDC9FD1C3A}</a:tableStyleId>
              </a:tblPr>
              <a:tblGrid>
                <a:gridCol w="384612">
                  <a:extLst>
                    <a:ext uri="{9D8B030D-6E8A-4147-A177-3AD203B41FA5}">
                      <a16:colId xmlns:a16="http://schemas.microsoft.com/office/drawing/2014/main" val="4170535043"/>
                    </a:ext>
                  </a:extLst>
                </a:gridCol>
                <a:gridCol w="1523121">
                  <a:extLst>
                    <a:ext uri="{9D8B030D-6E8A-4147-A177-3AD203B41FA5}">
                      <a16:colId xmlns:a16="http://schemas.microsoft.com/office/drawing/2014/main" val="2079070694"/>
                    </a:ext>
                  </a:extLst>
                </a:gridCol>
                <a:gridCol w="4126037">
                  <a:extLst>
                    <a:ext uri="{9D8B030D-6E8A-4147-A177-3AD203B41FA5}">
                      <a16:colId xmlns:a16="http://schemas.microsoft.com/office/drawing/2014/main" val="32595803"/>
                    </a:ext>
                  </a:extLst>
                </a:gridCol>
              </a:tblGrid>
              <a:tr h="256197">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457558">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dirty="0">
                          <a:latin typeface="Arial"/>
                          <a:cs typeface="Arial"/>
                        </a:rPr>
                        <a:t>11:0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dirty="0">
                          <a:latin typeface="Arial"/>
                          <a:cs typeface="Arial"/>
                        </a:rPr>
                        <a:t>LD_I_FIX</a:t>
                      </a: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spc="-5" dirty="0">
                          <a:latin typeface="Arial"/>
                          <a:cs typeface="Arial"/>
                        </a:rPr>
                        <a:t>If </a:t>
                      </a:r>
                      <a:r>
                        <a:rPr lang="en-US" altLang="ko-KR" sz="900" dirty="0">
                          <a:latin typeface="Arial"/>
                          <a:cs typeface="Arial"/>
                        </a:rPr>
                        <a:t>the </a:t>
                      </a:r>
                      <a:r>
                        <a:rPr lang="en-US" altLang="ko-KR" sz="900" spc="-5" dirty="0">
                          <a:latin typeface="Arial"/>
                          <a:cs typeface="Arial"/>
                        </a:rPr>
                        <a:t>LD_I_FIX </a:t>
                      </a:r>
                      <a:r>
                        <a:rPr lang="en-US" altLang="ko-KR" sz="900" dirty="0">
                          <a:latin typeface="Arial"/>
                          <a:cs typeface="Arial"/>
                        </a:rPr>
                        <a:t>bit of FIX </a:t>
                      </a:r>
                      <a:r>
                        <a:rPr lang="en-US" altLang="ko-KR" sz="900" spc="-10" dirty="0">
                          <a:latin typeface="Arial"/>
                          <a:cs typeface="Arial"/>
                        </a:rPr>
                        <a:t>CONTROL </a:t>
                      </a:r>
                      <a:r>
                        <a:rPr lang="en-US" altLang="ko-KR" sz="900" dirty="0">
                          <a:latin typeface="Arial"/>
                          <a:cs typeface="Arial"/>
                        </a:rPr>
                        <a:t>register is set, then the </a:t>
                      </a:r>
                      <a:r>
                        <a:rPr lang="en-US" altLang="ko-KR" sz="900" spc="-5" dirty="0">
                          <a:latin typeface="Arial"/>
                          <a:cs typeface="Arial"/>
                        </a:rPr>
                        <a:t>LD_I </a:t>
                      </a:r>
                      <a:r>
                        <a:rPr lang="en-US" altLang="ko-KR" sz="900" dirty="0">
                          <a:latin typeface="Arial"/>
                          <a:cs typeface="Arial"/>
                        </a:rPr>
                        <a:t>FIX register’s </a:t>
                      </a:r>
                      <a:r>
                        <a:rPr lang="en-US" altLang="ko-KR" sz="900" spc="5" dirty="0">
                          <a:latin typeface="Arial"/>
                          <a:cs typeface="Arial"/>
                        </a:rPr>
                        <a:t> </a:t>
                      </a:r>
                      <a:r>
                        <a:rPr lang="en-US" altLang="ko-KR" sz="900" spc="-5" dirty="0">
                          <a:latin typeface="Arial"/>
                          <a:cs typeface="Arial"/>
                        </a:rPr>
                        <a:t>value</a:t>
                      </a:r>
                      <a:r>
                        <a:rPr lang="en-US" altLang="ko-KR" sz="900" spc="-15" dirty="0">
                          <a:latin typeface="Arial"/>
                          <a:cs typeface="Arial"/>
                        </a:rPr>
                        <a:t> </a:t>
                      </a:r>
                      <a:r>
                        <a:rPr lang="en-US" altLang="ko-KR" sz="900" spc="-5" dirty="0">
                          <a:latin typeface="Arial"/>
                          <a:cs typeface="Arial"/>
                        </a:rPr>
                        <a:t>is </a:t>
                      </a:r>
                      <a:r>
                        <a:rPr lang="en-US" altLang="ko-KR" sz="900" dirty="0">
                          <a:latin typeface="Arial"/>
                          <a:cs typeface="Arial"/>
                        </a:rPr>
                        <a:t>used</a:t>
                      </a:r>
                      <a:r>
                        <a:rPr lang="en-US" altLang="ko-KR" sz="900" spc="-20" dirty="0">
                          <a:latin typeface="Arial"/>
                          <a:cs typeface="Arial"/>
                        </a:rPr>
                        <a:t> </a:t>
                      </a:r>
                      <a:r>
                        <a:rPr lang="en-US" altLang="ko-KR" sz="900" dirty="0">
                          <a:latin typeface="Arial"/>
                          <a:cs typeface="Arial"/>
                        </a:rPr>
                        <a:t>for the</a:t>
                      </a:r>
                      <a:r>
                        <a:rPr lang="en-US" altLang="ko-KR" sz="900" spc="-10" dirty="0">
                          <a:latin typeface="Arial"/>
                          <a:cs typeface="Arial"/>
                        </a:rPr>
                        <a:t> </a:t>
                      </a:r>
                      <a:r>
                        <a:rPr lang="en-US" altLang="ko-KR" sz="900" dirty="0">
                          <a:latin typeface="Arial"/>
                          <a:cs typeface="Arial"/>
                        </a:rPr>
                        <a:t>local</a:t>
                      </a:r>
                      <a:r>
                        <a:rPr lang="en-US" altLang="ko-KR" sz="900" spc="-20" dirty="0">
                          <a:latin typeface="Arial"/>
                          <a:cs typeface="Arial"/>
                        </a:rPr>
                        <a:t> </a:t>
                      </a:r>
                      <a:r>
                        <a:rPr lang="en-US" altLang="ko-KR" sz="900" dirty="0">
                          <a:latin typeface="Arial"/>
                          <a:cs typeface="Arial"/>
                        </a:rPr>
                        <a:t>dimming</a:t>
                      </a:r>
                      <a:r>
                        <a:rPr lang="en-US" altLang="ko-KR" sz="900" spc="-35" dirty="0">
                          <a:latin typeface="Arial"/>
                          <a:cs typeface="Arial"/>
                        </a:rPr>
                        <a:t> </a:t>
                      </a:r>
                      <a:r>
                        <a:rPr lang="en-US" altLang="ko-KR" sz="900" dirty="0">
                          <a:latin typeface="Arial"/>
                          <a:cs typeface="Arial"/>
                        </a:rPr>
                        <a:t>current</a:t>
                      </a:r>
                      <a:r>
                        <a:rPr lang="en-US" altLang="ko-KR" sz="900" spc="-25" dirty="0">
                          <a:latin typeface="Arial"/>
                          <a:cs typeface="Arial"/>
                        </a:rPr>
                        <a:t> </a:t>
                      </a:r>
                      <a:r>
                        <a:rPr lang="en-US" altLang="ko-KR" sz="900" spc="-5" dirty="0">
                          <a:latin typeface="Arial"/>
                          <a:cs typeface="Arial"/>
                        </a:rPr>
                        <a:t>data</a:t>
                      </a:r>
                      <a:r>
                        <a:rPr lang="en-US" altLang="ko-KR" sz="900" spc="-10" dirty="0">
                          <a:latin typeface="Arial"/>
                          <a:cs typeface="Arial"/>
                        </a:rPr>
                        <a:t> </a:t>
                      </a:r>
                      <a:r>
                        <a:rPr lang="en-US" altLang="ko-KR" sz="900" dirty="0">
                          <a:latin typeface="Arial"/>
                          <a:cs typeface="Arial"/>
                        </a:rPr>
                        <a:t>regardless</a:t>
                      </a:r>
                      <a:r>
                        <a:rPr lang="en-US" altLang="ko-KR" sz="900" spc="-30" dirty="0">
                          <a:latin typeface="Arial"/>
                          <a:cs typeface="Arial"/>
                        </a:rPr>
                        <a:t> </a:t>
                      </a:r>
                      <a:r>
                        <a:rPr lang="en-US" altLang="ko-KR" sz="900" dirty="0">
                          <a:latin typeface="Arial"/>
                          <a:cs typeface="Arial"/>
                        </a:rPr>
                        <a:t>of</a:t>
                      </a:r>
                      <a:r>
                        <a:rPr lang="en-US" altLang="ko-KR" sz="900" spc="-10" dirty="0">
                          <a:latin typeface="Arial"/>
                          <a:cs typeface="Arial"/>
                        </a:rPr>
                        <a:t> </a:t>
                      </a:r>
                      <a:r>
                        <a:rPr lang="en-US" altLang="ko-KR" sz="900" dirty="0">
                          <a:latin typeface="Arial"/>
                          <a:cs typeface="Arial"/>
                        </a:rPr>
                        <a:t>the</a:t>
                      </a:r>
                      <a:r>
                        <a:rPr lang="en-US" altLang="ko-KR" sz="900" spc="-10" dirty="0">
                          <a:latin typeface="Arial"/>
                          <a:cs typeface="Arial"/>
                        </a:rPr>
                        <a:t> </a:t>
                      </a:r>
                      <a:r>
                        <a:rPr lang="en-US" altLang="ko-KR" sz="900" dirty="0">
                          <a:latin typeface="Arial"/>
                          <a:cs typeface="Arial"/>
                        </a:rPr>
                        <a:t>transferred</a:t>
                      </a:r>
                      <a:r>
                        <a:rPr lang="en-US" altLang="ko-KR" sz="900" spc="-35" dirty="0">
                          <a:latin typeface="Arial"/>
                          <a:cs typeface="Arial"/>
                        </a:rPr>
                        <a:t> </a:t>
                      </a:r>
                      <a:r>
                        <a:rPr lang="en-US" altLang="ko-KR" sz="900" spc="-5" dirty="0">
                          <a:latin typeface="Arial"/>
                          <a:cs typeface="Arial"/>
                        </a:rPr>
                        <a:t>LD_I </a:t>
                      </a:r>
                      <a:r>
                        <a:rPr lang="en-US" altLang="ko-KR" sz="900" spc="-235" dirty="0">
                          <a:latin typeface="Arial"/>
                          <a:cs typeface="Arial"/>
                        </a:rPr>
                        <a:t> </a:t>
                      </a:r>
                      <a:r>
                        <a:rPr lang="en-US" altLang="ko-KR" sz="900" spc="-5" dirty="0">
                          <a:latin typeface="Arial"/>
                          <a:cs typeface="Arial"/>
                        </a:rPr>
                        <a:t>data</a:t>
                      </a:r>
                      <a:r>
                        <a:rPr lang="en-US" altLang="ko-KR" sz="900" spc="-15" dirty="0">
                          <a:latin typeface="Arial"/>
                          <a:cs typeface="Arial"/>
                        </a:rPr>
                        <a:t> </a:t>
                      </a:r>
                      <a:r>
                        <a:rPr lang="en-US" altLang="ko-KR" sz="900" spc="-5" dirty="0">
                          <a:latin typeface="Arial"/>
                          <a:cs typeface="Arial"/>
                        </a:rPr>
                        <a:t>through</a:t>
                      </a:r>
                      <a:r>
                        <a:rPr lang="en-US" altLang="ko-KR" sz="900" spc="-20" dirty="0">
                          <a:latin typeface="Arial"/>
                          <a:cs typeface="Arial"/>
                        </a:rPr>
                        <a:t> </a:t>
                      </a:r>
                      <a:r>
                        <a:rPr lang="en-US" altLang="ko-KR" sz="900" dirty="0">
                          <a:latin typeface="Arial"/>
                          <a:cs typeface="Arial"/>
                        </a:rPr>
                        <a:t>SPI. </a:t>
                      </a:r>
                      <a:r>
                        <a:rPr lang="en-US" altLang="ko-KR" sz="900" spc="-5" dirty="0">
                          <a:latin typeface="Arial"/>
                          <a:cs typeface="Arial"/>
                        </a:rPr>
                        <a:t>The </a:t>
                      </a:r>
                      <a:r>
                        <a:rPr lang="en-US" altLang="ko-KR" sz="900" dirty="0">
                          <a:latin typeface="Arial"/>
                          <a:cs typeface="Arial"/>
                        </a:rPr>
                        <a:t>dimming current </a:t>
                      </a:r>
                      <a:r>
                        <a:rPr lang="en-US" altLang="ko-KR" sz="900" spc="-5" dirty="0">
                          <a:latin typeface="Arial"/>
                          <a:cs typeface="Arial"/>
                        </a:rPr>
                        <a:t>is</a:t>
                      </a:r>
                      <a:r>
                        <a:rPr lang="en-US" altLang="ko-KR" sz="900" dirty="0">
                          <a:latin typeface="Arial"/>
                          <a:cs typeface="Arial"/>
                        </a:rPr>
                        <a:t> </a:t>
                      </a:r>
                      <a:r>
                        <a:rPr lang="en-US" altLang="ko-KR" sz="900" spc="-5" dirty="0">
                          <a:latin typeface="Arial"/>
                          <a:cs typeface="Arial"/>
                        </a:rPr>
                        <a:t>FRAME_VREF * </a:t>
                      </a:r>
                      <a:r>
                        <a:rPr lang="en-US" altLang="ko-KR" sz="900" dirty="0">
                          <a:latin typeface="Arial"/>
                          <a:cs typeface="Arial"/>
                        </a:rPr>
                        <a:t>(LD_I_FIX / </a:t>
                      </a:r>
                      <a:r>
                        <a:rPr lang="en-US" altLang="ko-KR" sz="900" spc="-5" dirty="0">
                          <a:latin typeface="Arial"/>
                          <a:cs typeface="Arial"/>
                        </a:rPr>
                        <a:t>4095). </a:t>
                      </a:r>
                      <a:r>
                        <a:rPr lang="en-US" altLang="ko-KR" sz="900" spc="-235" dirty="0">
                          <a:latin typeface="Arial"/>
                          <a:cs typeface="Arial"/>
                        </a:rPr>
                        <a:t> </a:t>
                      </a:r>
                      <a:r>
                        <a:rPr lang="en-US" altLang="ko-KR" sz="900" spc="-5" dirty="0">
                          <a:latin typeface="Arial"/>
                          <a:cs typeface="Arial"/>
                        </a:rPr>
                        <a:t>The maximum value</a:t>
                      </a:r>
                      <a:r>
                        <a:rPr lang="en-US" altLang="ko-KR" sz="900" spc="-10" dirty="0">
                          <a:latin typeface="Arial"/>
                          <a:cs typeface="Arial"/>
                        </a:rPr>
                        <a:t> </a:t>
                      </a:r>
                      <a:r>
                        <a:rPr lang="en-US" altLang="ko-KR" sz="900" spc="-5" dirty="0">
                          <a:latin typeface="Arial"/>
                          <a:cs typeface="Arial"/>
                        </a:rPr>
                        <a:t>is </a:t>
                      </a:r>
                      <a:r>
                        <a:rPr lang="en-US" altLang="ko-KR" sz="900" dirty="0">
                          <a:latin typeface="Arial"/>
                          <a:cs typeface="Arial"/>
                        </a:rPr>
                        <a:t>decimal</a:t>
                      </a:r>
                      <a:r>
                        <a:rPr lang="en-US" altLang="ko-KR" sz="900" spc="-35" dirty="0">
                          <a:latin typeface="Arial"/>
                          <a:cs typeface="Arial"/>
                        </a:rPr>
                        <a:t> </a:t>
                      </a:r>
                      <a:r>
                        <a:rPr lang="en-US" altLang="ko-KR" sz="900" spc="-5" dirty="0">
                          <a:latin typeface="Arial"/>
                          <a:cs typeface="Arial"/>
                        </a:rPr>
                        <a:t>4095.</a:t>
                      </a:r>
                      <a:endParaRPr lang="en-US" altLang="ko-KR" sz="900" dirty="0">
                        <a:latin typeface="Arial"/>
                        <a:cs typeface="Arial"/>
                      </a:endParaRP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5" name="object 9">
            <a:extLst>
              <a:ext uri="{FF2B5EF4-FFF2-40B4-BE49-F238E27FC236}">
                <a16:creationId xmlns:a16="http://schemas.microsoft.com/office/drawing/2014/main" id="{429202AE-90DD-3EF3-D3F4-CABEE6CC49C2}"/>
              </a:ext>
            </a:extLst>
          </p:cNvPr>
          <p:cNvSpPr txBox="1"/>
          <p:nvPr/>
        </p:nvSpPr>
        <p:spPr>
          <a:xfrm>
            <a:off x="304800" y="9067800"/>
            <a:ext cx="2078355" cy="289823"/>
          </a:xfrm>
          <a:prstGeom prst="rect">
            <a:avLst/>
          </a:prstGeom>
        </p:spPr>
        <p:txBody>
          <a:bodyPr vert="horz" wrap="square" lIns="0" tIns="12700" rIns="0" bIns="0" rtlCol="0">
            <a:spAutoFit/>
          </a:bodyPr>
          <a:lstStyle/>
          <a:p>
            <a:pPr marL="12700">
              <a:lnSpc>
                <a:spcPct val="100000"/>
              </a:lnSpc>
              <a:spcBef>
                <a:spcPts val="100"/>
              </a:spcBef>
            </a:pPr>
            <a:r>
              <a:rPr b="1" spc="-5" dirty="0">
                <a:solidFill>
                  <a:srgbClr val="FF0000"/>
                </a:solidFill>
                <a:cs typeface="Perpetua Titling MT"/>
              </a:rPr>
              <a:t>CONFIDENTIAL</a:t>
            </a:r>
            <a:endParaRPr dirty="0">
              <a:cs typeface="Perpetua Titling MT"/>
            </a:endParaRPr>
          </a:p>
        </p:txBody>
      </p:sp>
      <p:sp>
        <p:nvSpPr>
          <p:cNvPr id="9" name="object 6">
            <a:extLst>
              <a:ext uri="{FF2B5EF4-FFF2-40B4-BE49-F238E27FC236}">
                <a16:creationId xmlns:a16="http://schemas.microsoft.com/office/drawing/2014/main" id="{BC9B53CC-0422-4494-29B4-000B7D4C4415}"/>
              </a:ext>
            </a:extLst>
          </p:cNvPr>
          <p:cNvSpPr/>
          <p:nvPr/>
        </p:nvSpPr>
        <p:spPr>
          <a:xfrm>
            <a:off x="301676" y="9458756"/>
            <a:ext cx="6246495" cy="0"/>
          </a:xfrm>
          <a:custGeom>
            <a:avLst/>
            <a:gdLst/>
            <a:ahLst/>
            <a:cxnLst/>
            <a:rect l="l" t="t" r="r" b="b"/>
            <a:pathLst>
              <a:path w="6246495">
                <a:moveTo>
                  <a:pt x="0" y="0"/>
                </a:moveTo>
                <a:lnTo>
                  <a:pt x="6245999" y="0"/>
                </a:lnTo>
              </a:path>
            </a:pathLst>
          </a:custGeom>
          <a:ln w="25920">
            <a:solidFill>
              <a:srgbClr val="BFBFBF"/>
            </a:solidFill>
          </a:ln>
        </p:spPr>
        <p:txBody>
          <a:bodyPr wrap="square" lIns="0" tIns="0" rIns="0" bIns="0" rtlCol="0"/>
          <a:lstStyle/>
          <a:p>
            <a:endParaRPr/>
          </a:p>
        </p:txBody>
      </p:sp>
      <p:sp>
        <p:nvSpPr>
          <p:cNvPr id="12" name="슬라이드 번호 개체 틀 3">
            <a:hlinkClick r:id="rId2"/>
            <a:extLst>
              <a:ext uri="{FF2B5EF4-FFF2-40B4-BE49-F238E27FC236}">
                <a16:creationId xmlns:a16="http://schemas.microsoft.com/office/drawing/2014/main" id="{C2831334-C2EB-2E34-0F39-B05F3D613398}"/>
              </a:ext>
            </a:extLst>
          </p:cNvPr>
          <p:cNvSpPr txBox="1">
            <a:spLocks/>
          </p:cNvSpPr>
          <p:nvPr/>
        </p:nvSpPr>
        <p:spPr>
          <a:xfrm>
            <a:off x="5151602" y="9452864"/>
            <a:ext cx="1487550"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dirty="0">
                <a:solidFill>
                  <a:prstClr val="black"/>
                </a:solidFill>
                <a:latin typeface="Arial" panose="020B0604020202020204" pitchFamily="34" charset="0"/>
                <a:cs typeface="Arial" panose="020B0604020202020204" pitchFamily="34" charset="0"/>
              </a:rPr>
              <a:t>http://www.glbltech.com/</a:t>
            </a:r>
            <a:endParaRPr lang="ko-KR" altLang="en-US" dirty="0">
              <a:solidFill>
                <a:prstClr val="black"/>
              </a:solidFill>
              <a:latin typeface="Arial" panose="020B0604020202020204" pitchFamily="34" charset="0"/>
              <a:cs typeface="Arial" panose="020B0604020202020204" pitchFamily="34" charset="0"/>
            </a:endParaRPr>
          </a:p>
        </p:txBody>
      </p:sp>
      <p:sp>
        <p:nvSpPr>
          <p:cNvPr id="20" name="object 38">
            <a:extLst>
              <a:ext uri="{FF2B5EF4-FFF2-40B4-BE49-F238E27FC236}">
                <a16:creationId xmlns:a16="http://schemas.microsoft.com/office/drawing/2014/main" id="{5670BE0F-C6DC-E34A-8B62-1D8D01CA2540}"/>
              </a:ext>
            </a:extLst>
          </p:cNvPr>
          <p:cNvSpPr txBox="1">
            <a:spLocks/>
          </p:cNvSpPr>
          <p:nvPr/>
        </p:nvSpPr>
        <p:spPr>
          <a:xfrm>
            <a:off x="3309066" y="9547988"/>
            <a:ext cx="487045" cy="139141"/>
          </a:xfrm>
          <a:prstGeom prst="rect">
            <a:avLst/>
          </a:prstGeom>
        </p:spPr>
        <p:txBody>
          <a:bodyPr vert="horz" wrap="square" lIns="0" tIns="635" rIns="0" bIns="0" rtlCol="0">
            <a:spAutoFit/>
          </a:bodyPr>
          <a:lstStyle>
            <a:defPPr>
              <a:defRPr lang="ko-KR"/>
            </a:defPPr>
            <a:lvl1pPr marL="0" algn="l" defTabSz="914400" rtl="0" eaLnBrk="1" latinLnBrk="1" hangingPunct="1">
              <a:defRPr sz="1050" b="0" i="0" kern="1200">
                <a:solidFill>
                  <a:schemeClr val="tx1"/>
                </a:solidFill>
                <a:latin typeface="Arial"/>
                <a:ea typeface="+mn-ea"/>
                <a:cs typeface="Arial"/>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marL="12700">
              <a:spcBef>
                <a:spcPts val="5"/>
              </a:spcBef>
              <a:defRPr/>
            </a:pPr>
            <a:r>
              <a:rPr lang="en-US" sz="900" dirty="0">
                <a:solidFill>
                  <a:prstClr val="black"/>
                </a:solidFill>
              </a:rPr>
              <a:t>Page</a:t>
            </a:r>
            <a:r>
              <a:rPr lang="en-US" sz="900" spc="-60" dirty="0">
                <a:solidFill>
                  <a:prstClr val="black"/>
                </a:solidFill>
              </a:rPr>
              <a:t> </a:t>
            </a:r>
            <a:fld id="{81D60167-4931-47E6-BA6A-407CBD079E47}" type="slidenum">
              <a:rPr sz="900">
                <a:solidFill>
                  <a:prstClr val="black"/>
                </a:solidFill>
              </a:rPr>
              <a:pPr marL="12700">
                <a:spcBef>
                  <a:spcPts val="5"/>
                </a:spcBef>
                <a:defRPr/>
              </a:pPr>
              <a:t>38</a:t>
            </a:fld>
            <a:endParaRPr sz="900" dirty="0">
              <a:solidFill>
                <a:prstClr val="black"/>
              </a:solidFill>
            </a:endParaRPr>
          </a:p>
        </p:txBody>
      </p:sp>
      <p:sp>
        <p:nvSpPr>
          <p:cNvPr id="21" name="슬라이드 번호 개체 틀 3">
            <a:extLst>
              <a:ext uri="{FF2B5EF4-FFF2-40B4-BE49-F238E27FC236}">
                <a16:creationId xmlns:a16="http://schemas.microsoft.com/office/drawing/2014/main" id="{5C19D228-0837-B4EB-7DDD-C269E4A2B093}"/>
              </a:ext>
            </a:extLst>
          </p:cNvPr>
          <p:cNvSpPr txBox="1">
            <a:spLocks/>
          </p:cNvSpPr>
          <p:nvPr/>
        </p:nvSpPr>
        <p:spPr>
          <a:xfrm>
            <a:off x="299401" y="9520856"/>
            <a:ext cx="2060991" cy="175259"/>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lang="en-US" altLang="ko-KR" dirty="0">
                <a:solidFill>
                  <a:prstClr val="black"/>
                </a:solidFill>
                <a:latin typeface="Arial" panose="020B0604020202020204" pitchFamily="34" charset="0"/>
                <a:cs typeface="Arial" panose="020B0604020202020204" pitchFamily="34" charset="0"/>
              </a:rPr>
              <a:t>Dated 30-Nov 23  Rev. 01</a:t>
            </a:r>
            <a:endParaRPr lang="ko-KR" altLang="en-US" dirty="0">
              <a:solidFill>
                <a:prstClr val="black"/>
              </a:solidFill>
              <a:latin typeface="Arial" panose="020B0604020202020204" pitchFamily="34" charset="0"/>
              <a:cs typeface="Arial" panose="020B0604020202020204" pitchFamily="34" charset="0"/>
            </a:endParaRPr>
          </a:p>
        </p:txBody>
      </p:sp>
      <p:sp>
        <p:nvSpPr>
          <p:cNvPr id="22" name="Holder 3">
            <a:extLst>
              <a:ext uri="{FF2B5EF4-FFF2-40B4-BE49-F238E27FC236}">
                <a16:creationId xmlns:a16="http://schemas.microsoft.com/office/drawing/2014/main" id="{1A1A9B49-33C1-4469-8F31-7D168ECC9940}"/>
              </a:ext>
            </a:extLst>
          </p:cNvPr>
          <p:cNvSpPr txBox="1">
            <a:spLocks/>
          </p:cNvSpPr>
          <p:nvPr/>
        </p:nvSpPr>
        <p:spPr>
          <a:xfrm>
            <a:off x="5147476" y="203944"/>
            <a:ext cx="1447800" cy="276999"/>
          </a:xfrm>
          <a:prstGeom prst="rect">
            <a:avLst/>
          </a:prstGeom>
        </p:spPr>
        <p:txBody>
          <a:bodyPr wrap="square" lIns="0" tIns="0" rIns="0" bIns="0">
            <a:spAutoFit/>
          </a:bodyPr>
          <a:lstStyle>
            <a:lvl1pPr marL="0">
              <a:defRPr>
                <a:solidFill>
                  <a:srgbClr val="FF99FF"/>
                </a:solidFill>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defTabSz="914400" latinLnBrk="0"/>
            <a:r>
              <a:rPr lang="en-US" sz="1800" kern="0" dirty="0"/>
              <a:t>&lt;Preliminary&gt;</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p:nvPr/>
        </p:nvSpPr>
        <p:spPr>
          <a:xfrm>
            <a:off x="400913" y="301879"/>
            <a:ext cx="622935" cy="299720"/>
          </a:xfrm>
          <a:prstGeom prst="rect">
            <a:avLst/>
          </a:prstGeom>
        </p:spPr>
        <p:txBody>
          <a:bodyPr vert="horz" wrap="square" lIns="0" tIns="12700" rIns="0" bIns="0" rtlCol="0">
            <a:spAutoFit/>
          </a:bodyPr>
          <a:lstStyle/>
          <a:p>
            <a:pPr marL="12700">
              <a:lnSpc>
                <a:spcPct val="100000"/>
              </a:lnSpc>
              <a:spcBef>
                <a:spcPts val="100"/>
              </a:spcBef>
            </a:pPr>
            <a:r>
              <a:rPr sz="1800" b="1" spc="-5" dirty="0">
                <a:latin typeface="Arial"/>
                <a:cs typeface="Arial"/>
              </a:rPr>
              <a:t>CQ24</a:t>
            </a:r>
            <a:endParaRPr sz="1800" dirty="0">
              <a:latin typeface="Arial"/>
              <a:cs typeface="Arial"/>
            </a:endParaRPr>
          </a:p>
        </p:txBody>
      </p:sp>
      <p:sp>
        <p:nvSpPr>
          <p:cNvPr id="6" name="object 6"/>
          <p:cNvSpPr txBox="1"/>
          <p:nvPr/>
        </p:nvSpPr>
        <p:spPr>
          <a:xfrm>
            <a:off x="400911" y="927353"/>
            <a:ext cx="6038543" cy="182101"/>
          </a:xfrm>
          <a:prstGeom prst="rect">
            <a:avLst/>
          </a:prstGeom>
        </p:spPr>
        <p:txBody>
          <a:bodyPr vert="horz" wrap="square" lIns="0" tIns="12700" rIns="0" bIns="0" rtlCol="0">
            <a:spAutoFit/>
          </a:bodyPr>
          <a:lstStyle/>
          <a:p>
            <a:pPr marL="12700">
              <a:lnSpc>
                <a:spcPct val="100000"/>
              </a:lnSpc>
              <a:spcBef>
                <a:spcPts val="100"/>
              </a:spcBef>
            </a:pPr>
            <a:r>
              <a:rPr sz="1100" b="1" spc="-5" dirty="0">
                <a:latin typeface="Arial"/>
                <a:cs typeface="Arial"/>
              </a:rPr>
              <a:t>STROBE</a:t>
            </a:r>
            <a:r>
              <a:rPr sz="1100" b="1" dirty="0">
                <a:latin typeface="Arial"/>
                <a:cs typeface="Arial"/>
              </a:rPr>
              <a:t> </a:t>
            </a:r>
            <a:r>
              <a:rPr sz="1100" b="1" spc="-5" dirty="0">
                <a:latin typeface="Arial"/>
                <a:cs typeface="Arial"/>
              </a:rPr>
              <a:t>DUPLICATED</a:t>
            </a:r>
            <a:r>
              <a:rPr sz="1100" b="1" spc="35" dirty="0">
                <a:latin typeface="Arial"/>
                <a:cs typeface="Arial"/>
              </a:rPr>
              <a:t> </a:t>
            </a:r>
            <a:r>
              <a:rPr sz="1100" b="1" spc="-10" dirty="0">
                <a:latin typeface="Arial"/>
                <a:cs typeface="Arial"/>
              </a:rPr>
              <a:t>CHANNEL</a:t>
            </a:r>
            <a:r>
              <a:rPr sz="1100" b="1" spc="45" dirty="0">
                <a:latin typeface="Arial"/>
                <a:cs typeface="Arial"/>
              </a:rPr>
              <a:t> </a:t>
            </a:r>
            <a:r>
              <a:rPr sz="1100" b="1" spc="-10" dirty="0">
                <a:latin typeface="Arial"/>
                <a:cs typeface="Arial"/>
              </a:rPr>
              <a:t>ENABLE</a:t>
            </a:r>
            <a:endParaRPr sz="1100" dirty="0">
              <a:latin typeface="Arial"/>
              <a:cs typeface="Arial"/>
            </a:endParaRPr>
          </a:p>
        </p:txBody>
      </p:sp>
      <p:sp>
        <p:nvSpPr>
          <p:cNvPr id="7" name="object 7"/>
          <p:cNvSpPr txBox="1"/>
          <p:nvPr/>
        </p:nvSpPr>
        <p:spPr>
          <a:xfrm>
            <a:off x="400912" y="3305302"/>
            <a:ext cx="6038542" cy="182101"/>
          </a:xfrm>
          <a:prstGeom prst="rect">
            <a:avLst/>
          </a:prstGeom>
        </p:spPr>
        <p:txBody>
          <a:bodyPr vert="horz" wrap="square" lIns="0" tIns="12700" rIns="0" bIns="0" rtlCol="0">
            <a:spAutoFit/>
          </a:bodyPr>
          <a:lstStyle/>
          <a:p>
            <a:pPr marL="12700">
              <a:lnSpc>
                <a:spcPct val="100000"/>
              </a:lnSpc>
              <a:spcBef>
                <a:spcPts val="100"/>
              </a:spcBef>
            </a:pPr>
            <a:r>
              <a:rPr sz="1100" b="1" spc="-5" dirty="0">
                <a:latin typeface="Arial"/>
                <a:cs typeface="Arial"/>
              </a:rPr>
              <a:t>STROBE</a:t>
            </a:r>
            <a:r>
              <a:rPr sz="1100" b="1" spc="-10" dirty="0">
                <a:latin typeface="Arial"/>
                <a:cs typeface="Arial"/>
              </a:rPr>
              <a:t> </a:t>
            </a:r>
            <a:r>
              <a:rPr sz="1100" b="1" spc="-5" dirty="0">
                <a:latin typeface="Arial"/>
                <a:cs typeface="Arial"/>
              </a:rPr>
              <a:t>DUPLICATED</a:t>
            </a:r>
            <a:r>
              <a:rPr sz="1100" b="1" spc="20" dirty="0">
                <a:latin typeface="Arial"/>
                <a:cs typeface="Arial"/>
              </a:rPr>
              <a:t> </a:t>
            </a:r>
            <a:r>
              <a:rPr sz="1100" b="1" spc="-10" dirty="0">
                <a:latin typeface="Arial"/>
                <a:cs typeface="Arial"/>
              </a:rPr>
              <a:t>CHANNEL</a:t>
            </a:r>
            <a:endParaRPr sz="1100" dirty="0">
              <a:latin typeface="Arial"/>
              <a:cs typeface="Arial"/>
            </a:endParaRPr>
          </a:p>
        </p:txBody>
      </p:sp>
      <p:graphicFrame>
        <p:nvGraphicFramePr>
          <p:cNvPr id="9" name="object 9"/>
          <p:cNvGraphicFramePr>
            <a:graphicFrameLocks noGrp="1"/>
          </p:cNvGraphicFramePr>
          <p:nvPr>
            <p:extLst>
              <p:ext uri="{D42A27DB-BD31-4B8C-83A1-F6EECF244321}">
                <p14:modId xmlns:p14="http://schemas.microsoft.com/office/powerpoint/2010/main" val="844669925"/>
              </p:ext>
            </p:extLst>
          </p:nvPr>
        </p:nvGraphicFramePr>
        <p:xfrm>
          <a:off x="400911" y="3605339"/>
          <a:ext cx="6038535" cy="387350"/>
        </p:xfrm>
        <a:graphic>
          <a:graphicData uri="http://schemas.openxmlformats.org/drawingml/2006/table">
            <a:tbl>
              <a:tblPr firstRow="1" bandRow="1">
                <a:tableStyleId>{2D5ABB26-0587-4C30-8999-92F81FD0307C}</a:tableStyleId>
              </a:tblPr>
              <a:tblGrid>
                <a:gridCol w="412143">
                  <a:extLst>
                    <a:ext uri="{9D8B030D-6E8A-4147-A177-3AD203B41FA5}">
                      <a16:colId xmlns:a16="http://schemas.microsoft.com/office/drawing/2014/main" val="20000"/>
                    </a:ext>
                  </a:extLst>
                </a:gridCol>
                <a:gridCol w="474306">
                  <a:extLst>
                    <a:ext uri="{9D8B030D-6E8A-4147-A177-3AD203B41FA5}">
                      <a16:colId xmlns:a16="http://schemas.microsoft.com/office/drawing/2014/main" val="20001"/>
                    </a:ext>
                  </a:extLst>
                </a:gridCol>
                <a:gridCol w="322005">
                  <a:extLst>
                    <a:ext uri="{9D8B030D-6E8A-4147-A177-3AD203B41FA5}">
                      <a16:colId xmlns:a16="http://schemas.microsoft.com/office/drawing/2014/main" val="20002"/>
                    </a:ext>
                  </a:extLst>
                </a:gridCol>
                <a:gridCol w="322006">
                  <a:extLst>
                    <a:ext uri="{9D8B030D-6E8A-4147-A177-3AD203B41FA5}">
                      <a16:colId xmlns:a16="http://schemas.microsoft.com/office/drawing/2014/main" val="20003"/>
                    </a:ext>
                  </a:extLst>
                </a:gridCol>
                <a:gridCol w="322006">
                  <a:extLst>
                    <a:ext uri="{9D8B030D-6E8A-4147-A177-3AD203B41FA5}">
                      <a16:colId xmlns:a16="http://schemas.microsoft.com/office/drawing/2014/main" val="20004"/>
                    </a:ext>
                  </a:extLst>
                </a:gridCol>
                <a:gridCol w="322006">
                  <a:extLst>
                    <a:ext uri="{9D8B030D-6E8A-4147-A177-3AD203B41FA5}">
                      <a16:colId xmlns:a16="http://schemas.microsoft.com/office/drawing/2014/main" val="20005"/>
                    </a:ext>
                  </a:extLst>
                </a:gridCol>
                <a:gridCol w="322006">
                  <a:extLst>
                    <a:ext uri="{9D8B030D-6E8A-4147-A177-3AD203B41FA5}">
                      <a16:colId xmlns:a16="http://schemas.microsoft.com/office/drawing/2014/main" val="20006"/>
                    </a:ext>
                  </a:extLst>
                </a:gridCol>
                <a:gridCol w="322006">
                  <a:extLst>
                    <a:ext uri="{9D8B030D-6E8A-4147-A177-3AD203B41FA5}">
                      <a16:colId xmlns:a16="http://schemas.microsoft.com/office/drawing/2014/main" val="20007"/>
                    </a:ext>
                  </a:extLst>
                </a:gridCol>
                <a:gridCol w="322006">
                  <a:extLst>
                    <a:ext uri="{9D8B030D-6E8A-4147-A177-3AD203B41FA5}">
                      <a16:colId xmlns:a16="http://schemas.microsoft.com/office/drawing/2014/main" val="20008"/>
                    </a:ext>
                  </a:extLst>
                </a:gridCol>
                <a:gridCol w="322005">
                  <a:extLst>
                    <a:ext uri="{9D8B030D-6E8A-4147-A177-3AD203B41FA5}">
                      <a16:colId xmlns:a16="http://schemas.microsoft.com/office/drawing/2014/main" val="20009"/>
                    </a:ext>
                  </a:extLst>
                </a:gridCol>
                <a:gridCol w="322005">
                  <a:extLst>
                    <a:ext uri="{9D8B030D-6E8A-4147-A177-3AD203B41FA5}">
                      <a16:colId xmlns:a16="http://schemas.microsoft.com/office/drawing/2014/main" val="20010"/>
                    </a:ext>
                  </a:extLst>
                </a:gridCol>
                <a:gridCol w="322005">
                  <a:extLst>
                    <a:ext uri="{9D8B030D-6E8A-4147-A177-3AD203B41FA5}">
                      <a16:colId xmlns:a16="http://schemas.microsoft.com/office/drawing/2014/main" val="20011"/>
                    </a:ext>
                  </a:extLst>
                </a:gridCol>
                <a:gridCol w="322005">
                  <a:extLst>
                    <a:ext uri="{9D8B030D-6E8A-4147-A177-3AD203B41FA5}">
                      <a16:colId xmlns:a16="http://schemas.microsoft.com/office/drawing/2014/main" val="20012"/>
                    </a:ext>
                  </a:extLst>
                </a:gridCol>
                <a:gridCol w="322005">
                  <a:extLst>
                    <a:ext uri="{9D8B030D-6E8A-4147-A177-3AD203B41FA5}">
                      <a16:colId xmlns:a16="http://schemas.microsoft.com/office/drawing/2014/main" val="20013"/>
                    </a:ext>
                  </a:extLst>
                </a:gridCol>
                <a:gridCol w="322005">
                  <a:extLst>
                    <a:ext uri="{9D8B030D-6E8A-4147-A177-3AD203B41FA5}">
                      <a16:colId xmlns:a16="http://schemas.microsoft.com/office/drawing/2014/main" val="20014"/>
                    </a:ext>
                  </a:extLst>
                </a:gridCol>
                <a:gridCol w="322005">
                  <a:extLst>
                    <a:ext uri="{9D8B030D-6E8A-4147-A177-3AD203B41FA5}">
                      <a16:colId xmlns:a16="http://schemas.microsoft.com/office/drawing/2014/main" val="20015"/>
                    </a:ext>
                  </a:extLst>
                </a:gridCol>
                <a:gridCol w="322005">
                  <a:extLst>
                    <a:ext uri="{9D8B030D-6E8A-4147-A177-3AD203B41FA5}">
                      <a16:colId xmlns:a16="http://schemas.microsoft.com/office/drawing/2014/main" val="20016"/>
                    </a:ext>
                  </a:extLst>
                </a:gridCol>
                <a:gridCol w="322005">
                  <a:extLst>
                    <a:ext uri="{9D8B030D-6E8A-4147-A177-3AD203B41FA5}">
                      <a16:colId xmlns:a16="http://schemas.microsoft.com/office/drawing/2014/main" val="20017"/>
                    </a:ext>
                  </a:extLst>
                </a:gridCol>
              </a:tblGrid>
              <a:tr h="193675">
                <a:tc>
                  <a:txBody>
                    <a:bodyPr/>
                    <a:lstStyle/>
                    <a:p>
                      <a:pPr algn="ctr">
                        <a:lnSpc>
                          <a:spcPct val="100000"/>
                        </a:lnSpc>
                        <a:spcBef>
                          <a:spcPts val="270"/>
                        </a:spcBef>
                      </a:pPr>
                      <a:r>
                        <a:rPr sz="800" dirty="0">
                          <a:latin typeface="Arial"/>
                          <a:cs typeface="Arial"/>
                        </a:rPr>
                        <a:t>A[6:0]</a:t>
                      </a: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algn="ctr">
                        <a:lnSpc>
                          <a:spcPct val="100000"/>
                        </a:lnSpc>
                        <a:spcBef>
                          <a:spcPts val="270"/>
                        </a:spcBef>
                      </a:pPr>
                      <a:r>
                        <a:rPr sz="800" spc="-5" dirty="0">
                          <a:latin typeface="Arial"/>
                          <a:cs typeface="Arial"/>
                        </a:rPr>
                        <a:t>Default</a:t>
                      </a:r>
                      <a:endParaRPr sz="8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71755">
                        <a:lnSpc>
                          <a:spcPct val="100000"/>
                        </a:lnSpc>
                        <a:spcBef>
                          <a:spcPts val="270"/>
                        </a:spcBef>
                      </a:pPr>
                      <a:r>
                        <a:rPr sz="800" spc="-5" dirty="0">
                          <a:latin typeface="Arial"/>
                          <a:cs typeface="Arial"/>
                        </a:rPr>
                        <a:t>D15</a:t>
                      </a:r>
                      <a:endParaRPr sz="8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71755">
                        <a:lnSpc>
                          <a:spcPct val="100000"/>
                        </a:lnSpc>
                        <a:spcBef>
                          <a:spcPts val="270"/>
                        </a:spcBef>
                      </a:pPr>
                      <a:r>
                        <a:rPr sz="800" spc="-5" dirty="0">
                          <a:latin typeface="Arial"/>
                          <a:cs typeface="Arial"/>
                        </a:rPr>
                        <a:t>D14</a:t>
                      </a:r>
                      <a:endParaRPr sz="8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71755">
                        <a:lnSpc>
                          <a:spcPct val="100000"/>
                        </a:lnSpc>
                        <a:spcBef>
                          <a:spcPts val="270"/>
                        </a:spcBef>
                      </a:pPr>
                      <a:r>
                        <a:rPr sz="800" spc="-5" dirty="0">
                          <a:latin typeface="Arial"/>
                          <a:cs typeface="Arial"/>
                        </a:rPr>
                        <a:t>D13</a:t>
                      </a:r>
                      <a:endParaRPr sz="8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71755">
                        <a:lnSpc>
                          <a:spcPct val="100000"/>
                        </a:lnSpc>
                        <a:spcBef>
                          <a:spcPts val="270"/>
                        </a:spcBef>
                      </a:pPr>
                      <a:r>
                        <a:rPr sz="800" spc="-5" dirty="0">
                          <a:latin typeface="Arial"/>
                          <a:cs typeface="Arial"/>
                        </a:rPr>
                        <a:t>D12</a:t>
                      </a:r>
                      <a:endParaRPr sz="8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71755">
                        <a:lnSpc>
                          <a:spcPct val="100000"/>
                        </a:lnSpc>
                        <a:spcBef>
                          <a:spcPts val="270"/>
                        </a:spcBef>
                      </a:pPr>
                      <a:r>
                        <a:rPr sz="800" spc="-5" dirty="0">
                          <a:latin typeface="Arial"/>
                          <a:cs typeface="Arial"/>
                        </a:rPr>
                        <a:t>D11</a:t>
                      </a:r>
                      <a:endParaRPr sz="8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71755">
                        <a:lnSpc>
                          <a:spcPct val="100000"/>
                        </a:lnSpc>
                        <a:spcBef>
                          <a:spcPts val="270"/>
                        </a:spcBef>
                      </a:pPr>
                      <a:r>
                        <a:rPr sz="800" spc="-5" dirty="0">
                          <a:latin typeface="Arial"/>
                          <a:cs typeface="Arial"/>
                        </a:rPr>
                        <a:t>D10</a:t>
                      </a:r>
                      <a:endParaRPr sz="800" dirty="0">
                        <a:latin typeface="Arial"/>
                        <a:cs typeface="Arial"/>
                      </a:endParaRPr>
                    </a:p>
                  </a:txBody>
                  <a:tcPr marL="0" marR="0" marT="34290" marB="0">
                    <a:lnL w="3175">
                      <a:solidFill>
                        <a:srgbClr val="7E7E7E"/>
                      </a:solidFill>
                      <a:prstDash val="solid"/>
                    </a:lnL>
                    <a:lnR w="6350">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99060">
                        <a:lnSpc>
                          <a:spcPct val="100000"/>
                        </a:lnSpc>
                        <a:spcBef>
                          <a:spcPts val="270"/>
                        </a:spcBef>
                      </a:pPr>
                      <a:r>
                        <a:rPr sz="800" spc="-5" dirty="0">
                          <a:latin typeface="Arial"/>
                          <a:cs typeface="Arial"/>
                        </a:rPr>
                        <a:t>D9</a:t>
                      </a:r>
                      <a:endParaRPr sz="800" dirty="0">
                        <a:latin typeface="Arial"/>
                        <a:cs typeface="Arial"/>
                      </a:endParaRPr>
                    </a:p>
                  </a:txBody>
                  <a:tcPr marL="0" marR="0" marT="34290" marB="0">
                    <a:lnL w="6350">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99695">
                        <a:lnSpc>
                          <a:spcPct val="100000"/>
                        </a:lnSpc>
                        <a:spcBef>
                          <a:spcPts val="270"/>
                        </a:spcBef>
                      </a:pPr>
                      <a:r>
                        <a:rPr sz="800" spc="-5" dirty="0">
                          <a:latin typeface="Arial"/>
                          <a:cs typeface="Arial"/>
                        </a:rPr>
                        <a:t>D8</a:t>
                      </a:r>
                      <a:endParaRPr sz="8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99695">
                        <a:lnSpc>
                          <a:spcPct val="100000"/>
                        </a:lnSpc>
                        <a:spcBef>
                          <a:spcPts val="270"/>
                        </a:spcBef>
                      </a:pPr>
                      <a:r>
                        <a:rPr sz="800" spc="-5" dirty="0">
                          <a:latin typeface="Arial"/>
                          <a:cs typeface="Arial"/>
                        </a:rPr>
                        <a:t>D7</a:t>
                      </a:r>
                      <a:endParaRPr sz="8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99695">
                        <a:lnSpc>
                          <a:spcPct val="100000"/>
                        </a:lnSpc>
                        <a:spcBef>
                          <a:spcPts val="270"/>
                        </a:spcBef>
                      </a:pPr>
                      <a:r>
                        <a:rPr sz="800" spc="-5" dirty="0">
                          <a:latin typeface="Arial"/>
                          <a:cs typeface="Arial"/>
                        </a:rPr>
                        <a:t>D6</a:t>
                      </a:r>
                      <a:endParaRPr sz="8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99695">
                        <a:lnSpc>
                          <a:spcPct val="100000"/>
                        </a:lnSpc>
                        <a:spcBef>
                          <a:spcPts val="270"/>
                        </a:spcBef>
                      </a:pPr>
                      <a:r>
                        <a:rPr sz="800" spc="-5" dirty="0">
                          <a:latin typeface="Arial"/>
                          <a:cs typeface="Arial"/>
                        </a:rPr>
                        <a:t>D5</a:t>
                      </a:r>
                      <a:endParaRPr sz="8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99695">
                        <a:lnSpc>
                          <a:spcPct val="100000"/>
                        </a:lnSpc>
                        <a:spcBef>
                          <a:spcPts val="270"/>
                        </a:spcBef>
                      </a:pPr>
                      <a:r>
                        <a:rPr sz="800" spc="-5" dirty="0">
                          <a:latin typeface="Arial"/>
                          <a:cs typeface="Arial"/>
                        </a:rPr>
                        <a:t>D4</a:t>
                      </a:r>
                      <a:endParaRPr sz="8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99695">
                        <a:lnSpc>
                          <a:spcPct val="100000"/>
                        </a:lnSpc>
                        <a:spcBef>
                          <a:spcPts val="270"/>
                        </a:spcBef>
                      </a:pPr>
                      <a:r>
                        <a:rPr sz="800" spc="-5" dirty="0">
                          <a:latin typeface="Arial"/>
                          <a:cs typeface="Arial"/>
                        </a:rPr>
                        <a:t>D3</a:t>
                      </a:r>
                      <a:endParaRPr sz="8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99695">
                        <a:lnSpc>
                          <a:spcPct val="100000"/>
                        </a:lnSpc>
                        <a:spcBef>
                          <a:spcPts val="270"/>
                        </a:spcBef>
                      </a:pPr>
                      <a:r>
                        <a:rPr sz="800" spc="-5" dirty="0">
                          <a:latin typeface="Arial"/>
                          <a:cs typeface="Arial"/>
                        </a:rPr>
                        <a:t>D2</a:t>
                      </a:r>
                      <a:endParaRPr sz="8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100330">
                        <a:lnSpc>
                          <a:spcPct val="100000"/>
                        </a:lnSpc>
                        <a:spcBef>
                          <a:spcPts val="270"/>
                        </a:spcBef>
                      </a:pPr>
                      <a:r>
                        <a:rPr sz="800" spc="-5" dirty="0">
                          <a:latin typeface="Arial"/>
                          <a:cs typeface="Arial"/>
                        </a:rPr>
                        <a:t>D1</a:t>
                      </a:r>
                      <a:endParaRPr sz="8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100330">
                        <a:lnSpc>
                          <a:spcPct val="100000"/>
                        </a:lnSpc>
                        <a:spcBef>
                          <a:spcPts val="270"/>
                        </a:spcBef>
                      </a:pPr>
                      <a:r>
                        <a:rPr sz="800" spc="-5" dirty="0">
                          <a:latin typeface="Arial"/>
                          <a:cs typeface="Arial"/>
                        </a:rPr>
                        <a:t>D0</a:t>
                      </a:r>
                      <a:endParaRPr sz="8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extLst>
                  <a:ext uri="{0D108BD9-81ED-4DB2-BD59-A6C34878D82A}">
                    <a16:rowId xmlns:a16="http://schemas.microsoft.com/office/drawing/2014/main" val="10000"/>
                  </a:ext>
                </a:extLst>
              </a:tr>
              <a:tr h="193675">
                <a:tc>
                  <a:txBody>
                    <a:bodyPr/>
                    <a:lstStyle/>
                    <a:p>
                      <a:pPr algn="ctr">
                        <a:lnSpc>
                          <a:spcPct val="100000"/>
                        </a:lnSpc>
                        <a:spcBef>
                          <a:spcPts val="265"/>
                        </a:spcBef>
                      </a:pPr>
                      <a:r>
                        <a:rPr sz="800" spc="-5" dirty="0">
                          <a:latin typeface="Arial"/>
                          <a:cs typeface="Arial"/>
                        </a:rPr>
                        <a:t>‘h14</a:t>
                      </a:r>
                      <a:endParaRPr sz="8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algn="ctr">
                        <a:lnSpc>
                          <a:spcPct val="100000"/>
                        </a:lnSpc>
                        <a:spcBef>
                          <a:spcPts val="265"/>
                        </a:spcBef>
                      </a:pPr>
                      <a:r>
                        <a:rPr sz="800" dirty="0">
                          <a:latin typeface="Arial"/>
                          <a:cs typeface="Arial"/>
                        </a:rPr>
                        <a:t>0</a:t>
                      </a: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gridSpan="4">
                  <a:txBody>
                    <a:bodyPr/>
                    <a:lstStyle/>
                    <a:p>
                      <a:pPr marL="242570">
                        <a:lnSpc>
                          <a:spcPct val="100000"/>
                        </a:lnSpc>
                        <a:spcBef>
                          <a:spcPts val="305"/>
                        </a:spcBef>
                      </a:pPr>
                      <a:r>
                        <a:rPr sz="700" spc="5" dirty="0">
                          <a:latin typeface="Arial"/>
                          <a:cs typeface="Arial"/>
                        </a:rPr>
                        <a:t>STB</a:t>
                      </a:r>
                      <a:r>
                        <a:rPr sz="700" dirty="0">
                          <a:latin typeface="Arial"/>
                          <a:cs typeface="Arial"/>
                        </a:rPr>
                        <a:t>_DU</a:t>
                      </a:r>
                      <a:r>
                        <a:rPr sz="700" spc="5" dirty="0">
                          <a:latin typeface="Arial"/>
                          <a:cs typeface="Arial"/>
                        </a:rPr>
                        <a:t>P</a:t>
                      </a:r>
                      <a:r>
                        <a:rPr sz="700" dirty="0">
                          <a:latin typeface="Arial"/>
                          <a:cs typeface="Arial"/>
                        </a:rPr>
                        <a:t>_CH4</a:t>
                      </a:r>
                      <a:r>
                        <a:rPr sz="700" spc="-30" dirty="0">
                          <a:latin typeface="Arial"/>
                          <a:cs typeface="Arial"/>
                        </a:rPr>
                        <a:t> </a:t>
                      </a:r>
                      <a:r>
                        <a:rPr sz="700" dirty="0">
                          <a:latin typeface="Arial"/>
                          <a:cs typeface="Arial"/>
                        </a:rPr>
                        <a:t>[3</a:t>
                      </a:r>
                      <a:r>
                        <a:rPr sz="700" spc="-5" dirty="0">
                          <a:latin typeface="Arial"/>
                          <a:cs typeface="Arial"/>
                        </a:rPr>
                        <a:t>:</a:t>
                      </a:r>
                      <a:r>
                        <a:rPr sz="700" dirty="0">
                          <a:latin typeface="Arial"/>
                          <a:cs typeface="Arial"/>
                        </a:rPr>
                        <a:t>0]</a:t>
                      </a:r>
                    </a:p>
                  </a:txBody>
                  <a:tcPr marL="0" marR="0" marT="3873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gridSpan="4">
                  <a:txBody>
                    <a:bodyPr/>
                    <a:lstStyle/>
                    <a:p>
                      <a:pPr marL="243204">
                        <a:lnSpc>
                          <a:spcPct val="100000"/>
                        </a:lnSpc>
                        <a:spcBef>
                          <a:spcPts val="305"/>
                        </a:spcBef>
                      </a:pPr>
                      <a:r>
                        <a:rPr sz="700" dirty="0">
                          <a:latin typeface="Arial"/>
                          <a:cs typeface="Arial"/>
                        </a:rPr>
                        <a:t>S</a:t>
                      </a:r>
                      <a:r>
                        <a:rPr sz="700" spc="5" dirty="0">
                          <a:latin typeface="Arial"/>
                          <a:cs typeface="Arial"/>
                        </a:rPr>
                        <a:t>T</a:t>
                      </a:r>
                      <a:r>
                        <a:rPr sz="700" dirty="0">
                          <a:latin typeface="Arial"/>
                          <a:cs typeface="Arial"/>
                        </a:rPr>
                        <a:t>B</a:t>
                      </a:r>
                      <a:r>
                        <a:rPr sz="700" spc="-5" dirty="0">
                          <a:latin typeface="Arial"/>
                          <a:cs typeface="Arial"/>
                        </a:rPr>
                        <a:t>_</a:t>
                      </a:r>
                      <a:r>
                        <a:rPr sz="700" dirty="0">
                          <a:latin typeface="Arial"/>
                          <a:cs typeface="Arial"/>
                        </a:rPr>
                        <a:t>DUP</a:t>
                      </a:r>
                      <a:r>
                        <a:rPr sz="700" spc="-5" dirty="0">
                          <a:latin typeface="Arial"/>
                          <a:cs typeface="Arial"/>
                        </a:rPr>
                        <a:t>_</a:t>
                      </a:r>
                      <a:r>
                        <a:rPr sz="700" dirty="0">
                          <a:latin typeface="Arial"/>
                          <a:cs typeface="Arial"/>
                        </a:rPr>
                        <a:t>CH3</a:t>
                      </a:r>
                      <a:r>
                        <a:rPr sz="700" spc="-30" dirty="0">
                          <a:latin typeface="Arial"/>
                          <a:cs typeface="Arial"/>
                        </a:rPr>
                        <a:t> </a:t>
                      </a:r>
                      <a:r>
                        <a:rPr sz="700" dirty="0">
                          <a:latin typeface="Arial"/>
                          <a:cs typeface="Arial"/>
                        </a:rPr>
                        <a:t>[</a:t>
                      </a:r>
                      <a:r>
                        <a:rPr sz="700" spc="-5" dirty="0">
                          <a:latin typeface="Arial"/>
                          <a:cs typeface="Arial"/>
                        </a:rPr>
                        <a:t>3</a:t>
                      </a:r>
                      <a:r>
                        <a:rPr sz="700" dirty="0">
                          <a:latin typeface="Arial"/>
                          <a:cs typeface="Arial"/>
                        </a:rPr>
                        <a:t>:</a:t>
                      </a:r>
                      <a:r>
                        <a:rPr sz="700" spc="-5" dirty="0">
                          <a:latin typeface="Arial"/>
                          <a:cs typeface="Arial"/>
                        </a:rPr>
                        <a:t>0</a:t>
                      </a:r>
                      <a:r>
                        <a:rPr sz="700" dirty="0">
                          <a:latin typeface="Arial"/>
                          <a:cs typeface="Arial"/>
                        </a:rPr>
                        <a:t>]</a:t>
                      </a:r>
                    </a:p>
                  </a:txBody>
                  <a:tcPr marL="0" marR="0" marT="3873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gridSpan="4">
                  <a:txBody>
                    <a:bodyPr/>
                    <a:lstStyle/>
                    <a:p>
                      <a:pPr marL="243204">
                        <a:lnSpc>
                          <a:spcPct val="100000"/>
                        </a:lnSpc>
                        <a:spcBef>
                          <a:spcPts val="305"/>
                        </a:spcBef>
                      </a:pPr>
                      <a:r>
                        <a:rPr sz="700" dirty="0">
                          <a:latin typeface="Arial"/>
                          <a:cs typeface="Arial"/>
                        </a:rPr>
                        <a:t>S</a:t>
                      </a:r>
                      <a:r>
                        <a:rPr sz="700" spc="5" dirty="0">
                          <a:latin typeface="Arial"/>
                          <a:cs typeface="Arial"/>
                        </a:rPr>
                        <a:t>T</a:t>
                      </a:r>
                      <a:r>
                        <a:rPr sz="700" dirty="0">
                          <a:latin typeface="Arial"/>
                          <a:cs typeface="Arial"/>
                        </a:rPr>
                        <a:t>B</a:t>
                      </a:r>
                      <a:r>
                        <a:rPr sz="700" spc="-5" dirty="0">
                          <a:latin typeface="Arial"/>
                          <a:cs typeface="Arial"/>
                        </a:rPr>
                        <a:t>_</a:t>
                      </a:r>
                      <a:r>
                        <a:rPr sz="700" dirty="0">
                          <a:latin typeface="Arial"/>
                          <a:cs typeface="Arial"/>
                        </a:rPr>
                        <a:t>DUP</a:t>
                      </a:r>
                      <a:r>
                        <a:rPr sz="700" spc="-5" dirty="0">
                          <a:latin typeface="Arial"/>
                          <a:cs typeface="Arial"/>
                        </a:rPr>
                        <a:t>_</a:t>
                      </a:r>
                      <a:r>
                        <a:rPr sz="700" dirty="0">
                          <a:latin typeface="Arial"/>
                          <a:cs typeface="Arial"/>
                        </a:rPr>
                        <a:t>CH2</a:t>
                      </a:r>
                      <a:r>
                        <a:rPr sz="700" spc="-30" dirty="0">
                          <a:latin typeface="Arial"/>
                          <a:cs typeface="Arial"/>
                        </a:rPr>
                        <a:t> </a:t>
                      </a:r>
                      <a:r>
                        <a:rPr sz="700" dirty="0">
                          <a:latin typeface="Arial"/>
                          <a:cs typeface="Arial"/>
                        </a:rPr>
                        <a:t>[</a:t>
                      </a:r>
                      <a:r>
                        <a:rPr sz="700" spc="-5" dirty="0">
                          <a:latin typeface="Arial"/>
                          <a:cs typeface="Arial"/>
                        </a:rPr>
                        <a:t>3</a:t>
                      </a:r>
                      <a:r>
                        <a:rPr sz="700" dirty="0">
                          <a:latin typeface="Arial"/>
                          <a:cs typeface="Arial"/>
                        </a:rPr>
                        <a:t>:</a:t>
                      </a:r>
                      <a:r>
                        <a:rPr sz="700" spc="-5" dirty="0">
                          <a:latin typeface="Arial"/>
                          <a:cs typeface="Arial"/>
                        </a:rPr>
                        <a:t>0</a:t>
                      </a:r>
                      <a:r>
                        <a:rPr sz="700" dirty="0">
                          <a:latin typeface="Arial"/>
                          <a:cs typeface="Arial"/>
                        </a:rPr>
                        <a:t>]</a:t>
                      </a:r>
                    </a:p>
                  </a:txBody>
                  <a:tcPr marL="0" marR="0" marT="3873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gridSpan="4">
                  <a:txBody>
                    <a:bodyPr/>
                    <a:lstStyle/>
                    <a:p>
                      <a:pPr marL="243840">
                        <a:lnSpc>
                          <a:spcPct val="100000"/>
                        </a:lnSpc>
                        <a:spcBef>
                          <a:spcPts val="305"/>
                        </a:spcBef>
                      </a:pPr>
                      <a:r>
                        <a:rPr sz="700" dirty="0">
                          <a:latin typeface="Arial"/>
                          <a:cs typeface="Arial"/>
                        </a:rPr>
                        <a:t>S</a:t>
                      </a:r>
                      <a:r>
                        <a:rPr sz="700" spc="5" dirty="0">
                          <a:latin typeface="Arial"/>
                          <a:cs typeface="Arial"/>
                        </a:rPr>
                        <a:t>T</a:t>
                      </a:r>
                      <a:r>
                        <a:rPr sz="700" dirty="0">
                          <a:latin typeface="Arial"/>
                          <a:cs typeface="Arial"/>
                        </a:rPr>
                        <a:t>B</a:t>
                      </a:r>
                      <a:r>
                        <a:rPr sz="700" spc="-5" dirty="0">
                          <a:latin typeface="Arial"/>
                          <a:cs typeface="Arial"/>
                        </a:rPr>
                        <a:t>_</a:t>
                      </a:r>
                      <a:r>
                        <a:rPr sz="700" dirty="0">
                          <a:latin typeface="Arial"/>
                          <a:cs typeface="Arial"/>
                        </a:rPr>
                        <a:t>DUP</a:t>
                      </a:r>
                      <a:r>
                        <a:rPr sz="700" spc="-5" dirty="0">
                          <a:latin typeface="Arial"/>
                          <a:cs typeface="Arial"/>
                        </a:rPr>
                        <a:t>_</a:t>
                      </a:r>
                      <a:r>
                        <a:rPr sz="700" dirty="0">
                          <a:latin typeface="Arial"/>
                          <a:cs typeface="Arial"/>
                        </a:rPr>
                        <a:t>CH1</a:t>
                      </a:r>
                      <a:r>
                        <a:rPr sz="700" spc="-30" dirty="0">
                          <a:latin typeface="Arial"/>
                          <a:cs typeface="Arial"/>
                        </a:rPr>
                        <a:t> </a:t>
                      </a:r>
                      <a:r>
                        <a:rPr sz="700" dirty="0">
                          <a:latin typeface="Arial"/>
                          <a:cs typeface="Arial"/>
                        </a:rPr>
                        <a:t>[</a:t>
                      </a:r>
                      <a:r>
                        <a:rPr sz="700" spc="-5" dirty="0">
                          <a:latin typeface="Arial"/>
                          <a:cs typeface="Arial"/>
                        </a:rPr>
                        <a:t>3</a:t>
                      </a:r>
                      <a:r>
                        <a:rPr sz="700" dirty="0">
                          <a:latin typeface="Arial"/>
                          <a:cs typeface="Arial"/>
                        </a:rPr>
                        <a:t>:</a:t>
                      </a:r>
                      <a:r>
                        <a:rPr sz="700" spc="-5" dirty="0">
                          <a:latin typeface="Arial"/>
                          <a:cs typeface="Arial"/>
                        </a:rPr>
                        <a:t>0</a:t>
                      </a:r>
                      <a:r>
                        <a:rPr sz="700" dirty="0">
                          <a:latin typeface="Arial"/>
                          <a:cs typeface="Arial"/>
                        </a:rPr>
                        <a:t>]</a:t>
                      </a:r>
                    </a:p>
                  </a:txBody>
                  <a:tcPr marL="0" marR="0" marT="3873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1"/>
                  </a:ext>
                </a:extLst>
              </a:tr>
            </a:tbl>
          </a:graphicData>
        </a:graphic>
      </p:graphicFrame>
      <p:graphicFrame>
        <p:nvGraphicFramePr>
          <p:cNvPr id="10" name="object 10"/>
          <p:cNvGraphicFramePr>
            <a:graphicFrameLocks noGrp="1"/>
          </p:cNvGraphicFramePr>
          <p:nvPr>
            <p:extLst>
              <p:ext uri="{D42A27DB-BD31-4B8C-83A1-F6EECF244321}">
                <p14:modId xmlns:p14="http://schemas.microsoft.com/office/powerpoint/2010/main" val="2341573127"/>
              </p:ext>
            </p:extLst>
          </p:nvPr>
        </p:nvGraphicFramePr>
        <p:xfrm>
          <a:off x="400911" y="1227518"/>
          <a:ext cx="6038537" cy="387350"/>
        </p:xfrm>
        <a:graphic>
          <a:graphicData uri="http://schemas.openxmlformats.org/drawingml/2006/table">
            <a:tbl>
              <a:tblPr firstRow="1" bandRow="1">
                <a:tableStyleId>{2D5ABB26-0587-4C30-8999-92F81FD0307C}</a:tableStyleId>
              </a:tblPr>
              <a:tblGrid>
                <a:gridCol w="412144">
                  <a:extLst>
                    <a:ext uri="{9D8B030D-6E8A-4147-A177-3AD203B41FA5}">
                      <a16:colId xmlns:a16="http://schemas.microsoft.com/office/drawing/2014/main" val="20000"/>
                    </a:ext>
                  </a:extLst>
                </a:gridCol>
                <a:gridCol w="474307">
                  <a:extLst>
                    <a:ext uri="{9D8B030D-6E8A-4147-A177-3AD203B41FA5}">
                      <a16:colId xmlns:a16="http://schemas.microsoft.com/office/drawing/2014/main" val="20001"/>
                    </a:ext>
                  </a:extLst>
                </a:gridCol>
                <a:gridCol w="322005">
                  <a:extLst>
                    <a:ext uri="{9D8B030D-6E8A-4147-A177-3AD203B41FA5}">
                      <a16:colId xmlns:a16="http://schemas.microsoft.com/office/drawing/2014/main" val="20002"/>
                    </a:ext>
                  </a:extLst>
                </a:gridCol>
                <a:gridCol w="322006">
                  <a:extLst>
                    <a:ext uri="{9D8B030D-6E8A-4147-A177-3AD203B41FA5}">
                      <a16:colId xmlns:a16="http://schemas.microsoft.com/office/drawing/2014/main" val="20003"/>
                    </a:ext>
                  </a:extLst>
                </a:gridCol>
                <a:gridCol w="322006">
                  <a:extLst>
                    <a:ext uri="{9D8B030D-6E8A-4147-A177-3AD203B41FA5}">
                      <a16:colId xmlns:a16="http://schemas.microsoft.com/office/drawing/2014/main" val="20004"/>
                    </a:ext>
                  </a:extLst>
                </a:gridCol>
                <a:gridCol w="322006">
                  <a:extLst>
                    <a:ext uri="{9D8B030D-6E8A-4147-A177-3AD203B41FA5}">
                      <a16:colId xmlns:a16="http://schemas.microsoft.com/office/drawing/2014/main" val="20005"/>
                    </a:ext>
                  </a:extLst>
                </a:gridCol>
                <a:gridCol w="322006">
                  <a:extLst>
                    <a:ext uri="{9D8B030D-6E8A-4147-A177-3AD203B41FA5}">
                      <a16:colId xmlns:a16="http://schemas.microsoft.com/office/drawing/2014/main" val="20006"/>
                    </a:ext>
                  </a:extLst>
                </a:gridCol>
                <a:gridCol w="322006">
                  <a:extLst>
                    <a:ext uri="{9D8B030D-6E8A-4147-A177-3AD203B41FA5}">
                      <a16:colId xmlns:a16="http://schemas.microsoft.com/office/drawing/2014/main" val="20007"/>
                    </a:ext>
                  </a:extLst>
                </a:gridCol>
                <a:gridCol w="322006">
                  <a:extLst>
                    <a:ext uri="{9D8B030D-6E8A-4147-A177-3AD203B41FA5}">
                      <a16:colId xmlns:a16="http://schemas.microsoft.com/office/drawing/2014/main" val="20008"/>
                    </a:ext>
                  </a:extLst>
                </a:gridCol>
                <a:gridCol w="322005">
                  <a:extLst>
                    <a:ext uri="{9D8B030D-6E8A-4147-A177-3AD203B41FA5}">
                      <a16:colId xmlns:a16="http://schemas.microsoft.com/office/drawing/2014/main" val="20009"/>
                    </a:ext>
                  </a:extLst>
                </a:gridCol>
                <a:gridCol w="322005">
                  <a:extLst>
                    <a:ext uri="{9D8B030D-6E8A-4147-A177-3AD203B41FA5}">
                      <a16:colId xmlns:a16="http://schemas.microsoft.com/office/drawing/2014/main" val="20010"/>
                    </a:ext>
                  </a:extLst>
                </a:gridCol>
                <a:gridCol w="322005">
                  <a:extLst>
                    <a:ext uri="{9D8B030D-6E8A-4147-A177-3AD203B41FA5}">
                      <a16:colId xmlns:a16="http://schemas.microsoft.com/office/drawing/2014/main" val="20011"/>
                    </a:ext>
                  </a:extLst>
                </a:gridCol>
                <a:gridCol w="322005">
                  <a:extLst>
                    <a:ext uri="{9D8B030D-6E8A-4147-A177-3AD203B41FA5}">
                      <a16:colId xmlns:a16="http://schemas.microsoft.com/office/drawing/2014/main" val="20012"/>
                    </a:ext>
                  </a:extLst>
                </a:gridCol>
                <a:gridCol w="322005">
                  <a:extLst>
                    <a:ext uri="{9D8B030D-6E8A-4147-A177-3AD203B41FA5}">
                      <a16:colId xmlns:a16="http://schemas.microsoft.com/office/drawing/2014/main" val="20013"/>
                    </a:ext>
                  </a:extLst>
                </a:gridCol>
                <a:gridCol w="322005">
                  <a:extLst>
                    <a:ext uri="{9D8B030D-6E8A-4147-A177-3AD203B41FA5}">
                      <a16:colId xmlns:a16="http://schemas.microsoft.com/office/drawing/2014/main" val="20014"/>
                    </a:ext>
                  </a:extLst>
                </a:gridCol>
                <a:gridCol w="322005">
                  <a:extLst>
                    <a:ext uri="{9D8B030D-6E8A-4147-A177-3AD203B41FA5}">
                      <a16:colId xmlns:a16="http://schemas.microsoft.com/office/drawing/2014/main" val="20015"/>
                    </a:ext>
                  </a:extLst>
                </a:gridCol>
                <a:gridCol w="322005">
                  <a:extLst>
                    <a:ext uri="{9D8B030D-6E8A-4147-A177-3AD203B41FA5}">
                      <a16:colId xmlns:a16="http://schemas.microsoft.com/office/drawing/2014/main" val="20016"/>
                    </a:ext>
                  </a:extLst>
                </a:gridCol>
                <a:gridCol w="322005">
                  <a:extLst>
                    <a:ext uri="{9D8B030D-6E8A-4147-A177-3AD203B41FA5}">
                      <a16:colId xmlns:a16="http://schemas.microsoft.com/office/drawing/2014/main" val="20017"/>
                    </a:ext>
                  </a:extLst>
                </a:gridCol>
              </a:tblGrid>
              <a:tr h="193675">
                <a:tc>
                  <a:txBody>
                    <a:bodyPr/>
                    <a:lstStyle/>
                    <a:p>
                      <a:pPr algn="ctr">
                        <a:lnSpc>
                          <a:spcPct val="100000"/>
                        </a:lnSpc>
                        <a:spcBef>
                          <a:spcPts val="260"/>
                        </a:spcBef>
                      </a:pPr>
                      <a:r>
                        <a:rPr sz="800" dirty="0">
                          <a:latin typeface="Arial"/>
                          <a:cs typeface="Arial"/>
                        </a:rPr>
                        <a:t>A[6:0]</a:t>
                      </a:r>
                    </a:p>
                  </a:txBody>
                  <a:tcPr marL="0" marR="0" marT="3302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algn="ctr">
                        <a:lnSpc>
                          <a:spcPct val="100000"/>
                        </a:lnSpc>
                        <a:spcBef>
                          <a:spcPts val="260"/>
                        </a:spcBef>
                      </a:pPr>
                      <a:r>
                        <a:rPr sz="800" spc="-5" dirty="0">
                          <a:latin typeface="Arial"/>
                          <a:cs typeface="Arial"/>
                        </a:rPr>
                        <a:t>Default</a:t>
                      </a:r>
                      <a:endParaRPr sz="800" dirty="0">
                        <a:latin typeface="Arial"/>
                        <a:cs typeface="Arial"/>
                      </a:endParaRPr>
                    </a:p>
                  </a:txBody>
                  <a:tcPr marL="0" marR="0" marT="3302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1270" algn="ctr">
                        <a:lnSpc>
                          <a:spcPct val="100000"/>
                        </a:lnSpc>
                        <a:spcBef>
                          <a:spcPts val="260"/>
                        </a:spcBef>
                      </a:pPr>
                      <a:r>
                        <a:rPr sz="800" spc="-5" dirty="0">
                          <a:latin typeface="Arial"/>
                          <a:cs typeface="Arial"/>
                        </a:rPr>
                        <a:t>D15</a:t>
                      </a:r>
                      <a:endParaRPr sz="800" dirty="0">
                        <a:latin typeface="Arial"/>
                        <a:cs typeface="Arial"/>
                      </a:endParaRPr>
                    </a:p>
                  </a:txBody>
                  <a:tcPr marL="0" marR="0" marT="3302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1905" algn="ctr">
                        <a:lnSpc>
                          <a:spcPct val="100000"/>
                        </a:lnSpc>
                        <a:spcBef>
                          <a:spcPts val="260"/>
                        </a:spcBef>
                      </a:pPr>
                      <a:r>
                        <a:rPr sz="800" spc="-5" dirty="0">
                          <a:latin typeface="Arial"/>
                          <a:cs typeface="Arial"/>
                        </a:rPr>
                        <a:t>D14</a:t>
                      </a:r>
                      <a:endParaRPr sz="800" dirty="0">
                        <a:latin typeface="Arial"/>
                        <a:cs typeface="Arial"/>
                      </a:endParaRPr>
                    </a:p>
                  </a:txBody>
                  <a:tcPr marL="0" marR="0" marT="3302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1270" algn="ctr">
                        <a:lnSpc>
                          <a:spcPct val="100000"/>
                        </a:lnSpc>
                        <a:spcBef>
                          <a:spcPts val="260"/>
                        </a:spcBef>
                      </a:pPr>
                      <a:r>
                        <a:rPr sz="800" spc="-5" dirty="0">
                          <a:latin typeface="Arial"/>
                          <a:cs typeface="Arial"/>
                        </a:rPr>
                        <a:t>D13</a:t>
                      </a:r>
                      <a:endParaRPr sz="800" dirty="0">
                        <a:latin typeface="Arial"/>
                        <a:cs typeface="Arial"/>
                      </a:endParaRPr>
                    </a:p>
                  </a:txBody>
                  <a:tcPr marL="0" marR="0" marT="3302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1905" algn="ctr">
                        <a:lnSpc>
                          <a:spcPct val="100000"/>
                        </a:lnSpc>
                        <a:spcBef>
                          <a:spcPts val="260"/>
                        </a:spcBef>
                      </a:pPr>
                      <a:r>
                        <a:rPr sz="800" spc="-5" dirty="0">
                          <a:latin typeface="Arial"/>
                          <a:cs typeface="Arial"/>
                        </a:rPr>
                        <a:t>D12</a:t>
                      </a:r>
                      <a:endParaRPr sz="800" dirty="0">
                        <a:latin typeface="Arial"/>
                        <a:cs typeface="Arial"/>
                      </a:endParaRPr>
                    </a:p>
                  </a:txBody>
                  <a:tcPr marL="0" marR="0" marT="3302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1905" algn="ctr">
                        <a:lnSpc>
                          <a:spcPct val="100000"/>
                        </a:lnSpc>
                        <a:spcBef>
                          <a:spcPts val="260"/>
                        </a:spcBef>
                      </a:pPr>
                      <a:r>
                        <a:rPr sz="800" spc="-5" dirty="0">
                          <a:latin typeface="Arial"/>
                          <a:cs typeface="Arial"/>
                        </a:rPr>
                        <a:t>D11</a:t>
                      </a:r>
                      <a:endParaRPr sz="800" dirty="0">
                        <a:latin typeface="Arial"/>
                        <a:cs typeface="Arial"/>
                      </a:endParaRPr>
                    </a:p>
                  </a:txBody>
                  <a:tcPr marL="0" marR="0" marT="3302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2540" algn="ctr">
                        <a:lnSpc>
                          <a:spcPct val="100000"/>
                        </a:lnSpc>
                        <a:spcBef>
                          <a:spcPts val="260"/>
                        </a:spcBef>
                      </a:pPr>
                      <a:r>
                        <a:rPr sz="800" spc="-5" dirty="0">
                          <a:latin typeface="Arial"/>
                          <a:cs typeface="Arial"/>
                        </a:rPr>
                        <a:t>D10</a:t>
                      </a:r>
                      <a:endParaRPr sz="800" dirty="0">
                        <a:latin typeface="Arial"/>
                        <a:cs typeface="Arial"/>
                      </a:endParaRPr>
                    </a:p>
                  </a:txBody>
                  <a:tcPr marL="0" marR="0" marT="3302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algn="ctr">
                        <a:lnSpc>
                          <a:spcPct val="100000"/>
                        </a:lnSpc>
                        <a:spcBef>
                          <a:spcPts val="260"/>
                        </a:spcBef>
                      </a:pPr>
                      <a:r>
                        <a:rPr sz="800" spc="-5" dirty="0">
                          <a:latin typeface="Arial"/>
                          <a:cs typeface="Arial"/>
                        </a:rPr>
                        <a:t>D9</a:t>
                      </a:r>
                      <a:endParaRPr sz="800" dirty="0">
                        <a:latin typeface="Arial"/>
                        <a:cs typeface="Arial"/>
                      </a:endParaRPr>
                    </a:p>
                  </a:txBody>
                  <a:tcPr marL="0" marR="0" marT="3302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635" algn="ctr">
                        <a:lnSpc>
                          <a:spcPct val="100000"/>
                        </a:lnSpc>
                        <a:spcBef>
                          <a:spcPts val="260"/>
                        </a:spcBef>
                      </a:pPr>
                      <a:r>
                        <a:rPr sz="800" spc="-5" dirty="0">
                          <a:latin typeface="Arial"/>
                          <a:cs typeface="Arial"/>
                        </a:rPr>
                        <a:t>D8</a:t>
                      </a:r>
                      <a:endParaRPr sz="800" dirty="0">
                        <a:latin typeface="Arial"/>
                        <a:cs typeface="Arial"/>
                      </a:endParaRPr>
                    </a:p>
                  </a:txBody>
                  <a:tcPr marL="0" marR="0" marT="3302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99060">
                        <a:lnSpc>
                          <a:spcPct val="100000"/>
                        </a:lnSpc>
                        <a:spcBef>
                          <a:spcPts val="260"/>
                        </a:spcBef>
                      </a:pPr>
                      <a:r>
                        <a:rPr sz="800" spc="-5" dirty="0">
                          <a:latin typeface="Arial"/>
                          <a:cs typeface="Arial"/>
                        </a:rPr>
                        <a:t>D7</a:t>
                      </a:r>
                      <a:endParaRPr sz="800" dirty="0">
                        <a:latin typeface="Arial"/>
                        <a:cs typeface="Arial"/>
                      </a:endParaRPr>
                    </a:p>
                  </a:txBody>
                  <a:tcPr marL="0" marR="0" marT="3302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635" algn="ctr">
                        <a:lnSpc>
                          <a:spcPct val="100000"/>
                        </a:lnSpc>
                        <a:spcBef>
                          <a:spcPts val="260"/>
                        </a:spcBef>
                      </a:pPr>
                      <a:r>
                        <a:rPr sz="800" spc="-5" dirty="0">
                          <a:latin typeface="Arial"/>
                          <a:cs typeface="Arial"/>
                        </a:rPr>
                        <a:t>D6</a:t>
                      </a:r>
                      <a:endParaRPr sz="800" dirty="0">
                        <a:latin typeface="Arial"/>
                        <a:cs typeface="Arial"/>
                      </a:endParaRPr>
                    </a:p>
                  </a:txBody>
                  <a:tcPr marL="0" marR="0" marT="3302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99695">
                        <a:lnSpc>
                          <a:spcPct val="100000"/>
                        </a:lnSpc>
                        <a:spcBef>
                          <a:spcPts val="260"/>
                        </a:spcBef>
                      </a:pPr>
                      <a:r>
                        <a:rPr sz="800" spc="-5" dirty="0">
                          <a:latin typeface="Arial"/>
                          <a:cs typeface="Arial"/>
                        </a:rPr>
                        <a:t>D5</a:t>
                      </a:r>
                      <a:endParaRPr sz="800" dirty="0">
                        <a:latin typeface="Arial"/>
                        <a:cs typeface="Arial"/>
                      </a:endParaRPr>
                    </a:p>
                  </a:txBody>
                  <a:tcPr marL="0" marR="0" marT="3302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1270" algn="ctr">
                        <a:lnSpc>
                          <a:spcPct val="100000"/>
                        </a:lnSpc>
                        <a:spcBef>
                          <a:spcPts val="260"/>
                        </a:spcBef>
                      </a:pPr>
                      <a:r>
                        <a:rPr sz="800" spc="-5" dirty="0">
                          <a:latin typeface="Arial"/>
                          <a:cs typeface="Arial"/>
                        </a:rPr>
                        <a:t>D4</a:t>
                      </a:r>
                      <a:endParaRPr sz="800" dirty="0">
                        <a:latin typeface="Arial"/>
                        <a:cs typeface="Arial"/>
                      </a:endParaRPr>
                    </a:p>
                  </a:txBody>
                  <a:tcPr marL="0" marR="0" marT="3302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100330">
                        <a:lnSpc>
                          <a:spcPct val="100000"/>
                        </a:lnSpc>
                        <a:spcBef>
                          <a:spcPts val="260"/>
                        </a:spcBef>
                      </a:pPr>
                      <a:r>
                        <a:rPr sz="800" spc="-5" dirty="0">
                          <a:latin typeface="Arial"/>
                          <a:cs typeface="Arial"/>
                        </a:rPr>
                        <a:t>D3</a:t>
                      </a:r>
                      <a:endParaRPr sz="800" dirty="0">
                        <a:latin typeface="Arial"/>
                        <a:cs typeface="Arial"/>
                      </a:endParaRPr>
                    </a:p>
                  </a:txBody>
                  <a:tcPr marL="0" marR="0" marT="3302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1270" algn="ctr">
                        <a:lnSpc>
                          <a:spcPct val="100000"/>
                        </a:lnSpc>
                        <a:spcBef>
                          <a:spcPts val="260"/>
                        </a:spcBef>
                      </a:pPr>
                      <a:r>
                        <a:rPr sz="800" spc="-5" dirty="0">
                          <a:latin typeface="Arial"/>
                          <a:cs typeface="Arial"/>
                        </a:rPr>
                        <a:t>D2</a:t>
                      </a:r>
                      <a:endParaRPr sz="800" dirty="0">
                        <a:latin typeface="Arial"/>
                        <a:cs typeface="Arial"/>
                      </a:endParaRPr>
                    </a:p>
                  </a:txBody>
                  <a:tcPr marL="0" marR="0" marT="3302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100330">
                        <a:lnSpc>
                          <a:spcPct val="100000"/>
                        </a:lnSpc>
                        <a:spcBef>
                          <a:spcPts val="260"/>
                        </a:spcBef>
                      </a:pPr>
                      <a:r>
                        <a:rPr sz="800" spc="-5" dirty="0">
                          <a:latin typeface="Arial"/>
                          <a:cs typeface="Arial"/>
                        </a:rPr>
                        <a:t>D1</a:t>
                      </a:r>
                      <a:endParaRPr sz="800" dirty="0">
                        <a:latin typeface="Arial"/>
                        <a:cs typeface="Arial"/>
                      </a:endParaRPr>
                    </a:p>
                  </a:txBody>
                  <a:tcPr marL="0" marR="0" marT="3302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1905" algn="ctr">
                        <a:lnSpc>
                          <a:spcPct val="100000"/>
                        </a:lnSpc>
                        <a:spcBef>
                          <a:spcPts val="260"/>
                        </a:spcBef>
                      </a:pPr>
                      <a:r>
                        <a:rPr sz="800" spc="-5" dirty="0">
                          <a:latin typeface="Arial"/>
                          <a:cs typeface="Arial"/>
                        </a:rPr>
                        <a:t>D0</a:t>
                      </a:r>
                      <a:endParaRPr sz="800" dirty="0">
                        <a:latin typeface="Arial"/>
                        <a:cs typeface="Arial"/>
                      </a:endParaRPr>
                    </a:p>
                  </a:txBody>
                  <a:tcPr marL="0" marR="0" marT="3302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extLst>
                  <a:ext uri="{0D108BD9-81ED-4DB2-BD59-A6C34878D82A}">
                    <a16:rowId xmlns:a16="http://schemas.microsoft.com/office/drawing/2014/main" val="10000"/>
                  </a:ext>
                </a:extLst>
              </a:tr>
              <a:tr h="193675">
                <a:tc>
                  <a:txBody>
                    <a:bodyPr/>
                    <a:lstStyle/>
                    <a:p>
                      <a:pPr marL="635" algn="ctr">
                        <a:lnSpc>
                          <a:spcPct val="100000"/>
                        </a:lnSpc>
                        <a:spcBef>
                          <a:spcPts val="265"/>
                        </a:spcBef>
                      </a:pPr>
                      <a:r>
                        <a:rPr sz="800" spc="-5" dirty="0">
                          <a:latin typeface="Arial"/>
                          <a:cs typeface="Arial"/>
                        </a:rPr>
                        <a:t>‘h13</a:t>
                      </a:r>
                      <a:endParaRPr sz="8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algn="ctr">
                        <a:lnSpc>
                          <a:spcPct val="100000"/>
                        </a:lnSpc>
                        <a:spcBef>
                          <a:spcPts val="265"/>
                        </a:spcBef>
                      </a:pPr>
                      <a:r>
                        <a:rPr sz="800" dirty="0">
                          <a:latin typeface="Arial"/>
                          <a:cs typeface="Arial"/>
                        </a:rPr>
                        <a:t>0</a:t>
                      </a: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2540" algn="ctr">
                        <a:lnSpc>
                          <a:spcPct val="100000"/>
                        </a:lnSpc>
                        <a:spcBef>
                          <a:spcPts val="305"/>
                        </a:spcBef>
                      </a:pPr>
                      <a:r>
                        <a:rPr sz="700" dirty="0">
                          <a:latin typeface="Arial"/>
                          <a:cs typeface="Arial"/>
                        </a:rPr>
                        <a:t>x</a:t>
                      </a:r>
                    </a:p>
                  </a:txBody>
                  <a:tcPr marL="0" marR="0" marT="3873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3175" algn="ctr">
                        <a:lnSpc>
                          <a:spcPct val="100000"/>
                        </a:lnSpc>
                        <a:spcBef>
                          <a:spcPts val="325"/>
                        </a:spcBef>
                      </a:pPr>
                      <a:r>
                        <a:rPr sz="700" dirty="0">
                          <a:latin typeface="Arial"/>
                          <a:cs typeface="Arial"/>
                        </a:rPr>
                        <a:t>x</a:t>
                      </a:r>
                    </a:p>
                  </a:txBody>
                  <a:tcPr marL="0" marR="0" marT="4127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2540" algn="ctr">
                        <a:lnSpc>
                          <a:spcPct val="100000"/>
                        </a:lnSpc>
                        <a:spcBef>
                          <a:spcPts val="305"/>
                        </a:spcBef>
                      </a:pPr>
                      <a:r>
                        <a:rPr sz="700" dirty="0">
                          <a:latin typeface="Arial"/>
                          <a:cs typeface="Arial"/>
                        </a:rPr>
                        <a:t>x</a:t>
                      </a:r>
                    </a:p>
                  </a:txBody>
                  <a:tcPr marL="0" marR="0" marT="3873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3175" algn="ctr">
                        <a:lnSpc>
                          <a:spcPct val="100000"/>
                        </a:lnSpc>
                        <a:spcBef>
                          <a:spcPts val="325"/>
                        </a:spcBef>
                      </a:pPr>
                      <a:r>
                        <a:rPr sz="700" dirty="0">
                          <a:latin typeface="Arial"/>
                          <a:cs typeface="Arial"/>
                        </a:rPr>
                        <a:t>x</a:t>
                      </a:r>
                    </a:p>
                  </a:txBody>
                  <a:tcPr marL="0" marR="0" marT="4127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3175" algn="ctr">
                        <a:lnSpc>
                          <a:spcPct val="100000"/>
                        </a:lnSpc>
                        <a:spcBef>
                          <a:spcPts val="305"/>
                        </a:spcBef>
                      </a:pPr>
                      <a:r>
                        <a:rPr sz="700" dirty="0">
                          <a:latin typeface="Arial"/>
                          <a:cs typeface="Arial"/>
                        </a:rPr>
                        <a:t>x</a:t>
                      </a:r>
                    </a:p>
                  </a:txBody>
                  <a:tcPr marL="0" marR="0" marT="3873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3810" algn="ctr">
                        <a:lnSpc>
                          <a:spcPct val="100000"/>
                        </a:lnSpc>
                        <a:spcBef>
                          <a:spcPts val="325"/>
                        </a:spcBef>
                      </a:pPr>
                      <a:r>
                        <a:rPr sz="700" dirty="0">
                          <a:latin typeface="Arial"/>
                          <a:cs typeface="Arial"/>
                        </a:rPr>
                        <a:t>x</a:t>
                      </a:r>
                    </a:p>
                  </a:txBody>
                  <a:tcPr marL="0" marR="0" marT="4127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1905" algn="ctr">
                        <a:lnSpc>
                          <a:spcPct val="100000"/>
                        </a:lnSpc>
                        <a:spcBef>
                          <a:spcPts val="305"/>
                        </a:spcBef>
                      </a:pPr>
                      <a:r>
                        <a:rPr sz="700" spc="-5" dirty="0">
                          <a:latin typeface="Arial"/>
                          <a:cs typeface="Arial"/>
                        </a:rPr>
                        <a:t>CH10</a:t>
                      </a:r>
                      <a:endParaRPr sz="700" dirty="0">
                        <a:latin typeface="Arial"/>
                        <a:cs typeface="Arial"/>
                      </a:endParaRPr>
                    </a:p>
                  </a:txBody>
                  <a:tcPr marL="0" marR="0" marT="3873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2540" algn="ctr">
                        <a:lnSpc>
                          <a:spcPct val="100000"/>
                        </a:lnSpc>
                        <a:spcBef>
                          <a:spcPts val="325"/>
                        </a:spcBef>
                      </a:pPr>
                      <a:r>
                        <a:rPr sz="700" spc="-10" dirty="0">
                          <a:latin typeface="Arial"/>
                          <a:cs typeface="Arial"/>
                        </a:rPr>
                        <a:t>CH9</a:t>
                      </a:r>
                      <a:endParaRPr sz="700" dirty="0">
                        <a:latin typeface="Arial"/>
                        <a:cs typeface="Arial"/>
                      </a:endParaRPr>
                    </a:p>
                  </a:txBody>
                  <a:tcPr marL="0" marR="0" marT="4127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76200">
                        <a:lnSpc>
                          <a:spcPct val="100000"/>
                        </a:lnSpc>
                        <a:spcBef>
                          <a:spcPts val="305"/>
                        </a:spcBef>
                      </a:pPr>
                      <a:r>
                        <a:rPr sz="700" spc="-10" dirty="0">
                          <a:latin typeface="Arial"/>
                          <a:cs typeface="Arial"/>
                        </a:rPr>
                        <a:t>CH8</a:t>
                      </a:r>
                      <a:endParaRPr sz="700" dirty="0">
                        <a:latin typeface="Arial"/>
                        <a:cs typeface="Arial"/>
                      </a:endParaRPr>
                    </a:p>
                  </a:txBody>
                  <a:tcPr marL="0" marR="0" marT="3873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3175" algn="ctr">
                        <a:lnSpc>
                          <a:spcPct val="100000"/>
                        </a:lnSpc>
                        <a:spcBef>
                          <a:spcPts val="325"/>
                        </a:spcBef>
                      </a:pPr>
                      <a:r>
                        <a:rPr sz="700" spc="-10" dirty="0">
                          <a:latin typeface="Arial"/>
                          <a:cs typeface="Arial"/>
                        </a:rPr>
                        <a:t>CH7</a:t>
                      </a:r>
                      <a:endParaRPr sz="700" dirty="0">
                        <a:latin typeface="Arial"/>
                        <a:cs typeface="Arial"/>
                      </a:endParaRPr>
                    </a:p>
                  </a:txBody>
                  <a:tcPr marL="0" marR="0" marT="4127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76835">
                        <a:lnSpc>
                          <a:spcPct val="100000"/>
                        </a:lnSpc>
                        <a:spcBef>
                          <a:spcPts val="305"/>
                        </a:spcBef>
                      </a:pPr>
                      <a:r>
                        <a:rPr sz="700" spc="-10" dirty="0">
                          <a:latin typeface="Arial"/>
                          <a:cs typeface="Arial"/>
                        </a:rPr>
                        <a:t>CH6</a:t>
                      </a:r>
                      <a:endParaRPr sz="700" dirty="0">
                        <a:latin typeface="Arial"/>
                        <a:cs typeface="Arial"/>
                      </a:endParaRPr>
                    </a:p>
                  </a:txBody>
                  <a:tcPr marL="0" marR="0" marT="3873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3175" algn="ctr">
                        <a:lnSpc>
                          <a:spcPct val="100000"/>
                        </a:lnSpc>
                        <a:spcBef>
                          <a:spcPts val="305"/>
                        </a:spcBef>
                      </a:pPr>
                      <a:r>
                        <a:rPr sz="700" spc="-10" dirty="0">
                          <a:latin typeface="Arial"/>
                          <a:cs typeface="Arial"/>
                        </a:rPr>
                        <a:t>CH5</a:t>
                      </a:r>
                      <a:endParaRPr sz="700" dirty="0">
                        <a:latin typeface="Arial"/>
                        <a:cs typeface="Arial"/>
                      </a:endParaRPr>
                    </a:p>
                  </a:txBody>
                  <a:tcPr marL="0" marR="0" marT="3873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76835">
                        <a:lnSpc>
                          <a:spcPct val="100000"/>
                        </a:lnSpc>
                        <a:spcBef>
                          <a:spcPts val="305"/>
                        </a:spcBef>
                      </a:pPr>
                      <a:r>
                        <a:rPr sz="700" spc="-10" dirty="0">
                          <a:latin typeface="Arial"/>
                          <a:cs typeface="Arial"/>
                        </a:rPr>
                        <a:t>CH4</a:t>
                      </a:r>
                      <a:endParaRPr sz="700" dirty="0">
                        <a:latin typeface="Arial"/>
                        <a:cs typeface="Arial"/>
                      </a:endParaRPr>
                    </a:p>
                  </a:txBody>
                  <a:tcPr marL="0" marR="0" marT="3873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3810" algn="ctr">
                        <a:lnSpc>
                          <a:spcPct val="100000"/>
                        </a:lnSpc>
                        <a:spcBef>
                          <a:spcPts val="305"/>
                        </a:spcBef>
                      </a:pPr>
                      <a:r>
                        <a:rPr sz="700" spc="-10" dirty="0">
                          <a:latin typeface="Arial"/>
                          <a:cs typeface="Arial"/>
                        </a:rPr>
                        <a:t>CH3</a:t>
                      </a:r>
                      <a:endParaRPr sz="700" dirty="0">
                        <a:latin typeface="Arial"/>
                        <a:cs typeface="Arial"/>
                      </a:endParaRPr>
                    </a:p>
                  </a:txBody>
                  <a:tcPr marL="0" marR="0" marT="3873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76835">
                        <a:lnSpc>
                          <a:spcPct val="100000"/>
                        </a:lnSpc>
                        <a:spcBef>
                          <a:spcPts val="305"/>
                        </a:spcBef>
                      </a:pPr>
                      <a:r>
                        <a:rPr sz="700" spc="-5" dirty="0">
                          <a:latin typeface="Arial"/>
                          <a:cs typeface="Arial"/>
                        </a:rPr>
                        <a:t>CH2</a:t>
                      </a:r>
                      <a:endParaRPr sz="700" dirty="0">
                        <a:latin typeface="Arial"/>
                        <a:cs typeface="Arial"/>
                      </a:endParaRPr>
                    </a:p>
                  </a:txBody>
                  <a:tcPr marL="0" marR="0" marT="3873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3810" algn="ctr">
                        <a:lnSpc>
                          <a:spcPct val="100000"/>
                        </a:lnSpc>
                        <a:spcBef>
                          <a:spcPts val="305"/>
                        </a:spcBef>
                      </a:pPr>
                      <a:r>
                        <a:rPr sz="700" spc="-10" dirty="0">
                          <a:latin typeface="Arial"/>
                          <a:cs typeface="Arial"/>
                        </a:rPr>
                        <a:t>CH1</a:t>
                      </a:r>
                      <a:endParaRPr sz="700" dirty="0">
                        <a:latin typeface="Arial"/>
                        <a:cs typeface="Arial"/>
                      </a:endParaRPr>
                    </a:p>
                  </a:txBody>
                  <a:tcPr marL="0" marR="0" marT="3873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extLst>
                  <a:ext uri="{0D108BD9-81ED-4DB2-BD59-A6C34878D82A}">
                    <a16:rowId xmlns:a16="http://schemas.microsoft.com/office/drawing/2014/main" val="10001"/>
                  </a:ext>
                </a:extLst>
              </a:tr>
            </a:tbl>
          </a:graphicData>
        </a:graphic>
      </p:graphicFrame>
      <p:graphicFrame>
        <p:nvGraphicFramePr>
          <p:cNvPr id="11" name="object 11"/>
          <p:cNvGraphicFramePr>
            <a:graphicFrameLocks noGrp="1"/>
          </p:cNvGraphicFramePr>
          <p:nvPr>
            <p:extLst>
              <p:ext uri="{D42A27DB-BD31-4B8C-83A1-F6EECF244321}">
                <p14:modId xmlns:p14="http://schemas.microsoft.com/office/powerpoint/2010/main" val="315838430"/>
              </p:ext>
            </p:extLst>
          </p:nvPr>
        </p:nvGraphicFramePr>
        <p:xfrm>
          <a:off x="400911" y="4581080"/>
          <a:ext cx="6038535" cy="387350"/>
        </p:xfrm>
        <a:graphic>
          <a:graphicData uri="http://schemas.openxmlformats.org/drawingml/2006/table">
            <a:tbl>
              <a:tblPr firstRow="1" bandRow="1">
                <a:tableStyleId>{2D5ABB26-0587-4C30-8999-92F81FD0307C}</a:tableStyleId>
              </a:tblPr>
              <a:tblGrid>
                <a:gridCol w="412143">
                  <a:extLst>
                    <a:ext uri="{9D8B030D-6E8A-4147-A177-3AD203B41FA5}">
                      <a16:colId xmlns:a16="http://schemas.microsoft.com/office/drawing/2014/main" val="20000"/>
                    </a:ext>
                  </a:extLst>
                </a:gridCol>
                <a:gridCol w="474306">
                  <a:extLst>
                    <a:ext uri="{9D8B030D-6E8A-4147-A177-3AD203B41FA5}">
                      <a16:colId xmlns:a16="http://schemas.microsoft.com/office/drawing/2014/main" val="20001"/>
                    </a:ext>
                  </a:extLst>
                </a:gridCol>
                <a:gridCol w="322005">
                  <a:extLst>
                    <a:ext uri="{9D8B030D-6E8A-4147-A177-3AD203B41FA5}">
                      <a16:colId xmlns:a16="http://schemas.microsoft.com/office/drawing/2014/main" val="20002"/>
                    </a:ext>
                  </a:extLst>
                </a:gridCol>
                <a:gridCol w="322006">
                  <a:extLst>
                    <a:ext uri="{9D8B030D-6E8A-4147-A177-3AD203B41FA5}">
                      <a16:colId xmlns:a16="http://schemas.microsoft.com/office/drawing/2014/main" val="20003"/>
                    </a:ext>
                  </a:extLst>
                </a:gridCol>
                <a:gridCol w="322006">
                  <a:extLst>
                    <a:ext uri="{9D8B030D-6E8A-4147-A177-3AD203B41FA5}">
                      <a16:colId xmlns:a16="http://schemas.microsoft.com/office/drawing/2014/main" val="20004"/>
                    </a:ext>
                  </a:extLst>
                </a:gridCol>
                <a:gridCol w="322006">
                  <a:extLst>
                    <a:ext uri="{9D8B030D-6E8A-4147-A177-3AD203B41FA5}">
                      <a16:colId xmlns:a16="http://schemas.microsoft.com/office/drawing/2014/main" val="20005"/>
                    </a:ext>
                  </a:extLst>
                </a:gridCol>
                <a:gridCol w="322006">
                  <a:extLst>
                    <a:ext uri="{9D8B030D-6E8A-4147-A177-3AD203B41FA5}">
                      <a16:colId xmlns:a16="http://schemas.microsoft.com/office/drawing/2014/main" val="20006"/>
                    </a:ext>
                  </a:extLst>
                </a:gridCol>
                <a:gridCol w="322006">
                  <a:extLst>
                    <a:ext uri="{9D8B030D-6E8A-4147-A177-3AD203B41FA5}">
                      <a16:colId xmlns:a16="http://schemas.microsoft.com/office/drawing/2014/main" val="20007"/>
                    </a:ext>
                  </a:extLst>
                </a:gridCol>
                <a:gridCol w="322006">
                  <a:extLst>
                    <a:ext uri="{9D8B030D-6E8A-4147-A177-3AD203B41FA5}">
                      <a16:colId xmlns:a16="http://schemas.microsoft.com/office/drawing/2014/main" val="20008"/>
                    </a:ext>
                  </a:extLst>
                </a:gridCol>
                <a:gridCol w="322005">
                  <a:extLst>
                    <a:ext uri="{9D8B030D-6E8A-4147-A177-3AD203B41FA5}">
                      <a16:colId xmlns:a16="http://schemas.microsoft.com/office/drawing/2014/main" val="20009"/>
                    </a:ext>
                  </a:extLst>
                </a:gridCol>
                <a:gridCol w="322005">
                  <a:extLst>
                    <a:ext uri="{9D8B030D-6E8A-4147-A177-3AD203B41FA5}">
                      <a16:colId xmlns:a16="http://schemas.microsoft.com/office/drawing/2014/main" val="20010"/>
                    </a:ext>
                  </a:extLst>
                </a:gridCol>
                <a:gridCol w="322005">
                  <a:extLst>
                    <a:ext uri="{9D8B030D-6E8A-4147-A177-3AD203B41FA5}">
                      <a16:colId xmlns:a16="http://schemas.microsoft.com/office/drawing/2014/main" val="20011"/>
                    </a:ext>
                  </a:extLst>
                </a:gridCol>
                <a:gridCol w="322005">
                  <a:extLst>
                    <a:ext uri="{9D8B030D-6E8A-4147-A177-3AD203B41FA5}">
                      <a16:colId xmlns:a16="http://schemas.microsoft.com/office/drawing/2014/main" val="20012"/>
                    </a:ext>
                  </a:extLst>
                </a:gridCol>
                <a:gridCol w="322005">
                  <a:extLst>
                    <a:ext uri="{9D8B030D-6E8A-4147-A177-3AD203B41FA5}">
                      <a16:colId xmlns:a16="http://schemas.microsoft.com/office/drawing/2014/main" val="20013"/>
                    </a:ext>
                  </a:extLst>
                </a:gridCol>
                <a:gridCol w="322005">
                  <a:extLst>
                    <a:ext uri="{9D8B030D-6E8A-4147-A177-3AD203B41FA5}">
                      <a16:colId xmlns:a16="http://schemas.microsoft.com/office/drawing/2014/main" val="20014"/>
                    </a:ext>
                  </a:extLst>
                </a:gridCol>
                <a:gridCol w="322005">
                  <a:extLst>
                    <a:ext uri="{9D8B030D-6E8A-4147-A177-3AD203B41FA5}">
                      <a16:colId xmlns:a16="http://schemas.microsoft.com/office/drawing/2014/main" val="20015"/>
                    </a:ext>
                  </a:extLst>
                </a:gridCol>
                <a:gridCol w="322005">
                  <a:extLst>
                    <a:ext uri="{9D8B030D-6E8A-4147-A177-3AD203B41FA5}">
                      <a16:colId xmlns:a16="http://schemas.microsoft.com/office/drawing/2014/main" val="20016"/>
                    </a:ext>
                  </a:extLst>
                </a:gridCol>
                <a:gridCol w="322005">
                  <a:extLst>
                    <a:ext uri="{9D8B030D-6E8A-4147-A177-3AD203B41FA5}">
                      <a16:colId xmlns:a16="http://schemas.microsoft.com/office/drawing/2014/main" val="20017"/>
                    </a:ext>
                  </a:extLst>
                </a:gridCol>
              </a:tblGrid>
              <a:tr h="193675">
                <a:tc>
                  <a:txBody>
                    <a:bodyPr/>
                    <a:lstStyle/>
                    <a:p>
                      <a:pPr algn="ctr">
                        <a:lnSpc>
                          <a:spcPct val="100000"/>
                        </a:lnSpc>
                        <a:spcBef>
                          <a:spcPts val="265"/>
                        </a:spcBef>
                      </a:pPr>
                      <a:r>
                        <a:rPr sz="800" dirty="0">
                          <a:latin typeface="Arial"/>
                          <a:cs typeface="Arial"/>
                        </a:rPr>
                        <a:t>A[6:0]</a:t>
                      </a: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algn="ctr">
                        <a:lnSpc>
                          <a:spcPct val="100000"/>
                        </a:lnSpc>
                        <a:spcBef>
                          <a:spcPts val="265"/>
                        </a:spcBef>
                      </a:pPr>
                      <a:r>
                        <a:rPr sz="800" spc="-5" dirty="0">
                          <a:latin typeface="Arial"/>
                          <a:cs typeface="Arial"/>
                        </a:rPr>
                        <a:t>Default</a:t>
                      </a:r>
                      <a:endParaRPr sz="8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1270" algn="ctr">
                        <a:lnSpc>
                          <a:spcPct val="100000"/>
                        </a:lnSpc>
                        <a:spcBef>
                          <a:spcPts val="265"/>
                        </a:spcBef>
                      </a:pPr>
                      <a:r>
                        <a:rPr sz="800" spc="-5" dirty="0">
                          <a:latin typeface="Arial"/>
                          <a:cs typeface="Arial"/>
                        </a:rPr>
                        <a:t>D15</a:t>
                      </a:r>
                      <a:endParaRPr sz="8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1905" algn="ctr">
                        <a:lnSpc>
                          <a:spcPct val="100000"/>
                        </a:lnSpc>
                        <a:spcBef>
                          <a:spcPts val="265"/>
                        </a:spcBef>
                      </a:pPr>
                      <a:r>
                        <a:rPr sz="800" spc="-5" dirty="0">
                          <a:latin typeface="Arial"/>
                          <a:cs typeface="Arial"/>
                        </a:rPr>
                        <a:t>D14</a:t>
                      </a:r>
                      <a:endParaRPr sz="8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1270" algn="ctr">
                        <a:lnSpc>
                          <a:spcPct val="100000"/>
                        </a:lnSpc>
                        <a:spcBef>
                          <a:spcPts val="265"/>
                        </a:spcBef>
                      </a:pPr>
                      <a:r>
                        <a:rPr sz="800" spc="-5" dirty="0">
                          <a:latin typeface="Arial"/>
                          <a:cs typeface="Arial"/>
                        </a:rPr>
                        <a:t>D13</a:t>
                      </a:r>
                      <a:endParaRPr sz="8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1905" algn="ctr">
                        <a:lnSpc>
                          <a:spcPct val="100000"/>
                        </a:lnSpc>
                        <a:spcBef>
                          <a:spcPts val="265"/>
                        </a:spcBef>
                      </a:pPr>
                      <a:r>
                        <a:rPr sz="800" spc="-5" dirty="0">
                          <a:latin typeface="Arial"/>
                          <a:cs typeface="Arial"/>
                        </a:rPr>
                        <a:t>D12</a:t>
                      </a:r>
                      <a:endParaRPr sz="8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1905" algn="ctr">
                        <a:lnSpc>
                          <a:spcPct val="100000"/>
                        </a:lnSpc>
                        <a:spcBef>
                          <a:spcPts val="265"/>
                        </a:spcBef>
                      </a:pPr>
                      <a:r>
                        <a:rPr sz="800" spc="-5" dirty="0">
                          <a:latin typeface="Arial"/>
                          <a:cs typeface="Arial"/>
                        </a:rPr>
                        <a:t>D11</a:t>
                      </a:r>
                      <a:endParaRPr sz="8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2540" algn="ctr">
                        <a:lnSpc>
                          <a:spcPct val="100000"/>
                        </a:lnSpc>
                        <a:spcBef>
                          <a:spcPts val="265"/>
                        </a:spcBef>
                      </a:pPr>
                      <a:r>
                        <a:rPr sz="800" spc="-5" dirty="0">
                          <a:latin typeface="Arial"/>
                          <a:cs typeface="Arial"/>
                        </a:rPr>
                        <a:t>D10</a:t>
                      </a:r>
                      <a:endParaRPr sz="8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algn="ctr">
                        <a:lnSpc>
                          <a:spcPct val="100000"/>
                        </a:lnSpc>
                        <a:spcBef>
                          <a:spcPts val="265"/>
                        </a:spcBef>
                      </a:pPr>
                      <a:r>
                        <a:rPr sz="800" spc="-5" dirty="0">
                          <a:latin typeface="Arial"/>
                          <a:cs typeface="Arial"/>
                        </a:rPr>
                        <a:t>D9</a:t>
                      </a:r>
                      <a:endParaRPr sz="8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R="91440" algn="r">
                        <a:lnSpc>
                          <a:spcPct val="100000"/>
                        </a:lnSpc>
                        <a:spcBef>
                          <a:spcPts val="265"/>
                        </a:spcBef>
                      </a:pPr>
                      <a:r>
                        <a:rPr sz="800" spc="-5" dirty="0">
                          <a:latin typeface="Arial"/>
                          <a:cs typeface="Arial"/>
                        </a:rPr>
                        <a:t>D8</a:t>
                      </a:r>
                      <a:endParaRPr sz="8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99060">
                        <a:lnSpc>
                          <a:spcPct val="100000"/>
                        </a:lnSpc>
                        <a:spcBef>
                          <a:spcPts val="265"/>
                        </a:spcBef>
                      </a:pPr>
                      <a:r>
                        <a:rPr sz="800" spc="-5" dirty="0">
                          <a:latin typeface="Arial"/>
                          <a:cs typeface="Arial"/>
                        </a:rPr>
                        <a:t>D7</a:t>
                      </a:r>
                      <a:endParaRPr sz="8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99695">
                        <a:lnSpc>
                          <a:spcPct val="100000"/>
                        </a:lnSpc>
                        <a:spcBef>
                          <a:spcPts val="265"/>
                        </a:spcBef>
                      </a:pPr>
                      <a:r>
                        <a:rPr sz="800" spc="-5" dirty="0">
                          <a:latin typeface="Arial"/>
                          <a:cs typeface="Arial"/>
                        </a:rPr>
                        <a:t>D6</a:t>
                      </a:r>
                      <a:endParaRPr sz="8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99695">
                        <a:lnSpc>
                          <a:spcPct val="100000"/>
                        </a:lnSpc>
                        <a:spcBef>
                          <a:spcPts val="265"/>
                        </a:spcBef>
                      </a:pPr>
                      <a:r>
                        <a:rPr sz="800" spc="-5" dirty="0">
                          <a:latin typeface="Arial"/>
                          <a:cs typeface="Arial"/>
                        </a:rPr>
                        <a:t>D5</a:t>
                      </a:r>
                      <a:endParaRPr sz="8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99695">
                        <a:lnSpc>
                          <a:spcPct val="100000"/>
                        </a:lnSpc>
                        <a:spcBef>
                          <a:spcPts val="265"/>
                        </a:spcBef>
                      </a:pPr>
                      <a:r>
                        <a:rPr sz="800" spc="-5" dirty="0">
                          <a:latin typeface="Arial"/>
                          <a:cs typeface="Arial"/>
                        </a:rPr>
                        <a:t>D4</a:t>
                      </a:r>
                      <a:endParaRPr sz="8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100330">
                        <a:lnSpc>
                          <a:spcPct val="100000"/>
                        </a:lnSpc>
                        <a:spcBef>
                          <a:spcPts val="265"/>
                        </a:spcBef>
                      </a:pPr>
                      <a:r>
                        <a:rPr sz="800" spc="-5" dirty="0">
                          <a:latin typeface="Arial"/>
                          <a:cs typeface="Arial"/>
                        </a:rPr>
                        <a:t>D3</a:t>
                      </a:r>
                      <a:endParaRPr sz="8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99695">
                        <a:lnSpc>
                          <a:spcPct val="100000"/>
                        </a:lnSpc>
                        <a:spcBef>
                          <a:spcPts val="265"/>
                        </a:spcBef>
                      </a:pPr>
                      <a:r>
                        <a:rPr sz="800" spc="-5" dirty="0">
                          <a:latin typeface="Arial"/>
                          <a:cs typeface="Arial"/>
                        </a:rPr>
                        <a:t>D2</a:t>
                      </a:r>
                      <a:endParaRPr sz="8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100330">
                        <a:lnSpc>
                          <a:spcPct val="100000"/>
                        </a:lnSpc>
                        <a:spcBef>
                          <a:spcPts val="265"/>
                        </a:spcBef>
                      </a:pPr>
                      <a:r>
                        <a:rPr sz="800" spc="-5" dirty="0">
                          <a:latin typeface="Arial"/>
                          <a:cs typeface="Arial"/>
                        </a:rPr>
                        <a:t>D1</a:t>
                      </a:r>
                      <a:endParaRPr sz="8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100330">
                        <a:lnSpc>
                          <a:spcPct val="100000"/>
                        </a:lnSpc>
                        <a:spcBef>
                          <a:spcPts val="265"/>
                        </a:spcBef>
                      </a:pPr>
                      <a:r>
                        <a:rPr sz="800" spc="-5" dirty="0">
                          <a:latin typeface="Arial"/>
                          <a:cs typeface="Arial"/>
                        </a:rPr>
                        <a:t>D0</a:t>
                      </a:r>
                      <a:endParaRPr sz="8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extLst>
                  <a:ext uri="{0D108BD9-81ED-4DB2-BD59-A6C34878D82A}">
                    <a16:rowId xmlns:a16="http://schemas.microsoft.com/office/drawing/2014/main" val="10000"/>
                  </a:ext>
                </a:extLst>
              </a:tr>
              <a:tr h="193675">
                <a:tc>
                  <a:txBody>
                    <a:bodyPr/>
                    <a:lstStyle/>
                    <a:p>
                      <a:pPr marL="635" algn="ctr">
                        <a:lnSpc>
                          <a:spcPct val="100000"/>
                        </a:lnSpc>
                        <a:spcBef>
                          <a:spcPts val="270"/>
                        </a:spcBef>
                      </a:pPr>
                      <a:r>
                        <a:rPr sz="800" spc="-5" dirty="0">
                          <a:latin typeface="Arial"/>
                          <a:cs typeface="Arial"/>
                        </a:rPr>
                        <a:t>‘h16</a:t>
                      </a:r>
                      <a:endParaRPr sz="8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algn="ctr">
                        <a:lnSpc>
                          <a:spcPct val="100000"/>
                        </a:lnSpc>
                        <a:spcBef>
                          <a:spcPts val="270"/>
                        </a:spcBef>
                      </a:pPr>
                      <a:r>
                        <a:rPr sz="800" dirty="0">
                          <a:latin typeface="Arial"/>
                          <a:cs typeface="Arial"/>
                        </a:rPr>
                        <a:t>0</a:t>
                      </a: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2540" algn="ctr">
                        <a:lnSpc>
                          <a:spcPct val="100000"/>
                        </a:lnSpc>
                        <a:spcBef>
                          <a:spcPts val="309"/>
                        </a:spcBef>
                      </a:pPr>
                      <a:r>
                        <a:rPr sz="700" dirty="0">
                          <a:latin typeface="Arial"/>
                          <a:cs typeface="Arial"/>
                        </a:rPr>
                        <a:t>x</a:t>
                      </a:r>
                    </a:p>
                  </a:txBody>
                  <a:tcPr marL="0" marR="0" marT="39369"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3175" algn="ctr">
                        <a:lnSpc>
                          <a:spcPct val="100000"/>
                        </a:lnSpc>
                        <a:spcBef>
                          <a:spcPts val="334"/>
                        </a:spcBef>
                      </a:pPr>
                      <a:r>
                        <a:rPr sz="700" dirty="0">
                          <a:latin typeface="Arial"/>
                          <a:cs typeface="Arial"/>
                        </a:rPr>
                        <a:t>x</a:t>
                      </a:r>
                    </a:p>
                  </a:txBody>
                  <a:tcPr marL="0" marR="0" marT="42544"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2540" algn="ctr">
                        <a:lnSpc>
                          <a:spcPct val="100000"/>
                        </a:lnSpc>
                        <a:spcBef>
                          <a:spcPts val="309"/>
                        </a:spcBef>
                      </a:pPr>
                      <a:r>
                        <a:rPr sz="700" dirty="0">
                          <a:latin typeface="Arial"/>
                          <a:cs typeface="Arial"/>
                        </a:rPr>
                        <a:t>x</a:t>
                      </a:r>
                    </a:p>
                  </a:txBody>
                  <a:tcPr marL="0" marR="0" marT="39369"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3175" algn="ctr">
                        <a:lnSpc>
                          <a:spcPct val="100000"/>
                        </a:lnSpc>
                        <a:spcBef>
                          <a:spcPts val="334"/>
                        </a:spcBef>
                      </a:pPr>
                      <a:r>
                        <a:rPr sz="700" dirty="0">
                          <a:latin typeface="Arial"/>
                          <a:cs typeface="Arial"/>
                        </a:rPr>
                        <a:t>x</a:t>
                      </a:r>
                    </a:p>
                  </a:txBody>
                  <a:tcPr marL="0" marR="0" marT="42544"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3175" algn="ctr">
                        <a:lnSpc>
                          <a:spcPct val="100000"/>
                        </a:lnSpc>
                        <a:spcBef>
                          <a:spcPts val="309"/>
                        </a:spcBef>
                      </a:pPr>
                      <a:r>
                        <a:rPr sz="700" dirty="0">
                          <a:latin typeface="Arial"/>
                          <a:cs typeface="Arial"/>
                        </a:rPr>
                        <a:t>x</a:t>
                      </a:r>
                    </a:p>
                  </a:txBody>
                  <a:tcPr marL="0" marR="0" marT="39369"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3810" algn="ctr">
                        <a:lnSpc>
                          <a:spcPct val="100000"/>
                        </a:lnSpc>
                        <a:spcBef>
                          <a:spcPts val="334"/>
                        </a:spcBef>
                      </a:pPr>
                      <a:r>
                        <a:rPr sz="700" dirty="0">
                          <a:latin typeface="Arial"/>
                          <a:cs typeface="Arial"/>
                        </a:rPr>
                        <a:t>x</a:t>
                      </a:r>
                    </a:p>
                  </a:txBody>
                  <a:tcPr marL="0" marR="0" marT="42544"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3175" algn="ctr">
                        <a:lnSpc>
                          <a:spcPct val="100000"/>
                        </a:lnSpc>
                        <a:spcBef>
                          <a:spcPts val="309"/>
                        </a:spcBef>
                      </a:pPr>
                      <a:r>
                        <a:rPr sz="700" dirty="0">
                          <a:latin typeface="Arial"/>
                          <a:cs typeface="Arial"/>
                        </a:rPr>
                        <a:t>x</a:t>
                      </a:r>
                    </a:p>
                  </a:txBody>
                  <a:tcPr marL="0" marR="0" marT="39369"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R="132080" algn="r">
                        <a:lnSpc>
                          <a:spcPct val="100000"/>
                        </a:lnSpc>
                        <a:spcBef>
                          <a:spcPts val="334"/>
                        </a:spcBef>
                      </a:pPr>
                      <a:r>
                        <a:rPr sz="700" dirty="0">
                          <a:latin typeface="Arial"/>
                          <a:cs typeface="Arial"/>
                        </a:rPr>
                        <a:t>x</a:t>
                      </a:r>
                    </a:p>
                  </a:txBody>
                  <a:tcPr marL="0" marR="0" marT="42544"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gridSpan="4">
                  <a:txBody>
                    <a:bodyPr/>
                    <a:lstStyle/>
                    <a:p>
                      <a:pPr marL="219075">
                        <a:lnSpc>
                          <a:spcPct val="100000"/>
                        </a:lnSpc>
                        <a:spcBef>
                          <a:spcPts val="309"/>
                        </a:spcBef>
                      </a:pPr>
                      <a:r>
                        <a:rPr sz="700" dirty="0">
                          <a:latin typeface="Arial"/>
                          <a:cs typeface="Arial"/>
                        </a:rPr>
                        <a:t>S</a:t>
                      </a:r>
                      <a:r>
                        <a:rPr sz="700" spc="5" dirty="0">
                          <a:latin typeface="Arial"/>
                          <a:cs typeface="Arial"/>
                        </a:rPr>
                        <a:t>T</a:t>
                      </a:r>
                      <a:r>
                        <a:rPr sz="700" dirty="0">
                          <a:latin typeface="Arial"/>
                          <a:cs typeface="Arial"/>
                        </a:rPr>
                        <a:t>B</a:t>
                      </a:r>
                      <a:r>
                        <a:rPr sz="700" spc="-5" dirty="0">
                          <a:latin typeface="Arial"/>
                          <a:cs typeface="Arial"/>
                        </a:rPr>
                        <a:t>_</a:t>
                      </a:r>
                      <a:r>
                        <a:rPr sz="700" dirty="0">
                          <a:latin typeface="Arial"/>
                          <a:cs typeface="Arial"/>
                        </a:rPr>
                        <a:t>DUP</a:t>
                      </a:r>
                      <a:r>
                        <a:rPr sz="700" spc="-5" dirty="0">
                          <a:latin typeface="Arial"/>
                          <a:cs typeface="Arial"/>
                        </a:rPr>
                        <a:t>_</a:t>
                      </a:r>
                      <a:r>
                        <a:rPr sz="700" dirty="0">
                          <a:latin typeface="Arial"/>
                          <a:cs typeface="Arial"/>
                        </a:rPr>
                        <a:t>CH</a:t>
                      </a:r>
                      <a:r>
                        <a:rPr sz="700" spc="-5" dirty="0">
                          <a:latin typeface="Arial"/>
                          <a:cs typeface="Arial"/>
                        </a:rPr>
                        <a:t>1</a:t>
                      </a:r>
                      <a:r>
                        <a:rPr sz="700" dirty="0">
                          <a:latin typeface="Arial"/>
                          <a:cs typeface="Arial"/>
                        </a:rPr>
                        <a:t>0</a:t>
                      </a:r>
                      <a:r>
                        <a:rPr sz="700" spc="-20" dirty="0">
                          <a:latin typeface="Arial"/>
                          <a:cs typeface="Arial"/>
                        </a:rPr>
                        <a:t> </a:t>
                      </a:r>
                      <a:r>
                        <a:rPr sz="700" dirty="0">
                          <a:latin typeface="Arial"/>
                          <a:cs typeface="Arial"/>
                        </a:rPr>
                        <a:t>[</a:t>
                      </a:r>
                      <a:r>
                        <a:rPr sz="700" spc="-5" dirty="0">
                          <a:latin typeface="Arial"/>
                          <a:cs typeface="Arial"/>
                        </a:rPr>
                        <a:t>3</a:t>
                      </a:r>
                      <a:r>
                        <a:rPr sz="700" dirty="0">
                          <a:latin typeface="Arial"/>
                          <a:cs typeface="Arial"/>
                        </a:rPr>
                        <a:t>:</a:t>
                      </a:r>
                      <a:r>
                        <a:rPr sz="700" spc="-5" dirty="0">
                          <a:latin typeface="Arial"/>
                          <a:cs typeface="Arial"/>
                        </a:rPr>
                        <a:t>0</a:t>
                      </a:r>
                      <a:r>
                        <a:rPr sz="700" dirty="0">
                          <a:latin typeface="Arial"/>
                          <a:cs typeface="Arial"/>
                        </a:rPr>
                        <a:t>]</a:t>
                      </a:r>
                    </a:p>
                  </a:txBody>
                  <a:tcPr marL="0" marR="0" marT="39369"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gridSpan="4">
                  <a:txBody>
                    <a:bodyPr/>
                    <a:lstStyle/>
                    <a:p>
                      <a:pPr marL="243840">
                        <a:lnSpc>
                          <a:spcPct val="100000"/>
                        </a:lnSpc>
                        <a:spcBef>
                          <a:spcPts val="309"/>
                        </a:spcBef>
                      </a:pPr>
                      <a:r>
                        <a:rPr sz="700" dirty="0">
                          <a:latin typeface="Arial"/>
                          <a:cs typeface="Arial"/>
                        </a:rPr>
                        <a:t>S</a:t>
                      </a:r>
                      <a:r>
                        <a:rPr sz="700" spc="5" dirty="0">
                          <a:latin typeface="Arial"/>
                          <a:cs typeface="Arial"/>
                        </a:rPr>
                        <a:t>T</a:t>
                      </a:r>
                      <a:r>
                        <a:rPr sz="700" dirty="0">
                          <a:latin typeface="Arial"/>
                          <a:cs typeface="Arial"/>
                        </a:rPr>
                        <a:t>B</a:t>
                      </a:r>
                      <a:r>
                        <a:rPr sz="700" spc="-5" dirty="0">
                          <a:latin typeface="Arial"/>
                          <a:cs typeface="Arial"/>
                        </a:rPr>
                        <a:t>_</a:t>
                      </a:r>
                      <a:r>
                        <a:rPr sz="700" dirty="0">
                          <a:latin typeface="Arial"/>
                          <a:cs typeface="Arial"/>
                        </a:rPr>
                        <a:t>DUP</a:t>
                      </a:r>
                      <a:r>
                        <a:rPr sz="700" spc="-5" dirty="0">
                          <a:latin typeface="Arial"/>
                          <a:cs typeface="Arial"/>
                        </a:rPr>
                        <a:t>_</a:t>
                      </a:r>
                      <a:r>
                        <a:rPr sz="700" dirty="0">
                          <a:latin typeface="Arial"/>
                          <a:cs typeface="Arial"/>
                        </a:rPr>
                        <a:t>CH9</a:t>
                      </a:r>
                      <a:r>
                        <a:rPr sz="700" spc="-30" dirty="0">
                          <a:latin typeface="Arial"/>
                          <a:cs typeface="Arial"/>
                        </a:rPr>
                        <a:t> </a:t>
                      </a:r>
                      <a:r>
                        <a:rPr sz="700" dirty="0">
                          <a:latin typeface="Arial"/>
                          <a:cs typeface="Arial"/>
                        </a:rPr>
                        <a:t>[</a:t>
                      </a:r>
                      <a:r>
                        <a:rPr sz="700" spc="-5" dirty="0">
                          <a:latin typeface="Arial"/>
                          <a:cs typeface="Arial"/>
                        </a:rPr>
                        <a:t>3</a:t>
                      </a:r>
                      <a:r>
                        <a:rPr sz="700" dirty="0">
                          <a:latin typeface="Arial"/>
                          <a:cs typeface="Arial"/>
                        </a:rPr>
                        <a:t>:</a:t>
                      </a:r>
                      <a:r>
                        <a:rPr sz="700" spc="-5" dirty="0">
                          <a:latin typeface="Arial"/>
                          <a:cs typeface="Arial"/>
                        </a:rPr>
                        <a:t>0</a:t>
                      </a:r>
                      <a:r>
                        <a:rPr sz="700" dirty="0">
                          <a:latin typeface="Arial"/>
                          <a:cs typeface="Arial"/>
                        </a:rPr>
                        <a:t>]</a:t>
                      </a:r>
                    </a:p>
                  </a:txBody>
                  <a:tcPr marL="0" marR="0" marT="39369"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1"/>
                  </a:ext>
                </a:extLst>
              </a:tr>
            </a:tbl>
          </a:graphicData>
        </a:graphic>
      </p:graphicFrame>
      <p:graphicFrame>
        <p:nvGraphicFramePr>
          <p:cNvPr id="12" name="object 12"/>
          <p:cNvGraphicFramePr>
            <a:graphicFrameLocks noGrp="1"/>
          </p:cNvGraphicFramePr>
          <p:nvPr>
            <p:extLst>
              <p:ext uri="{D42A27DB-BD31-4B8C-83A1-F6EECF244321}">
                <p14:modId xmlns:p14="http://schemas.microsoft.com/office/powerpoint/2010/main" val="1627770850"/>
              </p:ext>
            </p:extLst>
          </p:nvPr>
        </p:nvGraphicFramePr>
        <p:xfrm>
          <a:off x="400911" y="4077398"/>
          <a:ext cx="6038535" cy="387350"/>
        </p:xfrm>
        <a:graphic>
          <a:graphicData uri="http://schemas.openxmlformats.org/drawingml/2006/table">
            <a:tbl>
              <a:tblPr firstRow="1" bandRow="1">
                <a:tableStyleId>{2D5ABB26-0587-4C30-8999-92F81FD0307C}</a:tableStyleId>
              </a:tblPr>
              <a:tblGrid>
                <a:gridCol w="412143">
                  <a:extLst>
                    <a:ext uri="{9D8B030D-6E8A-4147-A177-3AD203B41FA5}">
                      <a16:colId xmlns:a16="http://schemas.microsoft.com/office/drawing/2014/main" val="20000"/>
                    </a:ext>
                  </a:extLst>
                </a:gridCol>
                <a:gridCol w="474306">
                  <a:extLst>
                    <a:ext uri="{9D8B030D-6E8A-4147-A177-3AD203B41FA5}">
                      <a16:colId xmlns:a16="http://schemas.microsoft.com/office/drawing/2014/main" val="20001"/>
                    </a:ext>
                  </a:extLst>
                </a:gridCol>
                <a:gridCol w="322005">
                  <a:extLst>
                    <a:ext uri="{9D8B030D-6E8A-4147-A177-3AD203B41FA5}">
                      <a16:colId xmlns:a16="http://schemas.microsoft.com/office/drawing/2014/main" val="20002"/>
                    </a:ext>
                  </a:extLst>
                </a:gridCol>
                <a:gridCol w="322006">
                  <a:extLst>
                    <a:ext uri="{9D8B030D-6E8A-4147-A177-3AD203B41FA5}">
                      <a16:colId xmlns:a16="http://schemas.microsoft.com/office/drawing/2014/main" val="20003"/>
                    </a:ext>
                  </a:extLst>
                </a:gridCol>
                <a:gridCol w="322006">
                  <a:extLst>
                    <a:ext uri="{9D8B030D-6E8A-4147-A177-3AD203B41FA5}">
                      <a16:colId xmlns:a16="http://schemas.microsoft.com/office/drawing/2014/main" val="20004"/>
                    </a:ext>
                  </a:extLst>
                </a:gridCol>
                <a:gridCol w="322006">
                  <a:extLst>
                    <a:ext uri="{9D8B030D-6E8A-4147-A177-3AD203B41FA5}">
                      <a16:colId xmlns:a16="http://schemas.microsoft.com/office/drawing/2014/main" val="20005"/>
                    </a:ext>
                  </a:extLst>
                </a:gridCol>
                <a:gridCol w="322006">
                  <a:extLst>
                    <a:ext uri="{9D8B030D-6E8A-4147-A177-3AD203B41FA5}">
                      <a16:colId xmlns:a16="http://schemas.microsoft.com/office/drawing/2014/main" val="20006"/>
                    </a:ext>
                  </a:extLst>
                </a:gridCol>
                <a:gridCol w="322006">
                  <a:extLst>
                    <a:ext uri="{9D8B030D-6E8A-4147-A177-3AD203B41FA5}">
                      <a16:colId xmlns:a16="http://schemas.microsoft.com/office/drawing/2014/main" val="20007"/>
                    </a:ext>
                  </a:extLst>
                </a:gridCol>
                <a:gridCol w="322006">
                  <a:extLst>
                    <a:ext uri="{9D8B030D-6E8A-4147-A177-3AD203B41FA5}">
                      <a16:colId xmlns:a16="http://schemas.microsoft.com/office/drawing/2014/main" val="20008"/>
                    </a:ext>
                  </a:extLst>
                </a:gridCol>
                <a:gridCol w="322005">
                  <a:extLst>
                    <a:ext uri="{9D8B030D-6E8A-4147-A177-3AD203B41FA5}">
                      <a16:colId xmlns:a16="http://schemas.microsoft.com/office/drawing/2014/main" val="20009"/>
                    </a:ext>
                  </a:extLst>
                </a:gridCol>
                <a:gridCol w="322005">
                  <a:extLst>
                    <a:ext uri="{9D8B030D-6E8A-4147-A177-3AD203B41FA5}">
                      <a16:colId xmlns:a16="http://schemas.microsoft.com/office/drawing/2014/main" val="20010"/>
                    </a:ext>
                  </a:extLst>
                </a:gridCol>
                <a:gridCol w="322005">
                  <a:extLst>
                    <a:ext uri="{9D8B030D-6E8A-4147-A177-3AD203B41FA5}">
                      <a16:colId xmlns:a16="http://schemas.microsoft.com/office/drawing/2014/main" val="20011"/>
                    </a:ext>
                  </a:extLst>
                </a:gridCol>
                <a:gridCol w="322005">
                  <a:extLst>
                    <a:ext uri="{9D8B030D-6E8A-4147-A177-3AD203B41FA5}">
                      <a16:colId xmlns:a16="http://schemas.microsoft.com/office/drawing/2014/main" val="20012"/>
                    </a:ext>
                  </a:extLst>
                </a:gridCol>
                <a:gridCol w="322005">
                  <a:extLst>
                    <a:ext uri="{9D8B030D-6E8A-4147-A177-3AD203B41FA5}">
                      <a16:colId xmlns:a16="http://schemas.microsoft.com/office/drawing/2014/main" val="20013"/>
                    </a:ext>
                  </a:extLst>
                </a:gridCol>
                <a:gridCol w="322005">
                  <a:extLst>
                    <a:ext uri="{9D8B030D-6E8A-4147-A177-3AD203B41FA5}">
                      <a16:colId xmlns:a16="http://schemas.microsoft.com/office/drawing/2014/main" val="20014"/>
                    </a:ext>
                  </a:extLst>
                </a:gridCol>
                <a:gridCol w="322005">
                  <a:extLst>
                    <a:ext uri="{9D8B030D-6E8A-4147-A177-3AD203B41FA5}">
                      <a16:colId xmlns:a16="http://schemas.microsoft.com/office/drawing/2014/main" val="20015"/>
                    </a:ext>
                  </a:extLst>
                </a:gridCol>
                <a:gridCol w="322005">
                  <a:extLst>
                    <a:ext uri="{9D8B030D-6E8A-4147-A177-3AD203B41FA5}">
                      <a16:colId xmlns:a16="http://schemas.microsoft.com/office/drawing/2014/main" val="20016"/>
                    </a:ext>
                  </a:extLst>
                </a:gridCol>
                <a:gridCol w="322005">
                  <a:extLst>
                    <a:ext uri="{9D8B030D-6E8A-4147-A177-3AD203B41FA5}">
                      <a16:colId xmlns:a16="http://schemas.microsoft.com/office/drawing/2014/main" val="20017"/>
                    </a:ext>
                  </a:extLst>
                </a:gridCol>
              </a:tblGrid>
              <a:tr h="193675">
                <a:tc>
                  <a:txBody>
                    <a:bodyPr/>
                    <a:lstStyle/>
                    <a:p>
                      <a:pPr algn="ctr">
                        <a:lnSpc>
                          <a:spcPct val="100000"/>
                        </a:lnSpc>
                        <a:spcBef>
                          <a:spcPts val="265"/>
                        </a:spcBef>
                      </a:pPr>
                      <a:r>
                        <a:rPr sz="800" dirty="0">
                          <a:latin typeface="Arial"/>
                          <a:cs typeface="Arial"/>
                        </a:rPr>
                        <a:t>A[6:0]</a:t>
                      </a: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algn="ctr">
                        <a:lnSpc>
                          <a:spcPct val="100000"/>
                        </a:lnSpc>
                        <a:spcBef>
                          <a:spcPts val="265"/>
                        </a:spcBef>
                      </a:pPr>
                      <a:r>
                        <a:rPr sz="800" spc="-5" dirty="0">
                          <a:latin typeface="Arial"/>
                          <a:cs typeface="Arial"/>
                        </a:rPr>
                        <a:t>Default</a:t>
                      </a:r>
                      <a:endParaRPr sz="8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71120">
                        <a:lnSpc>
                          <a:spcPct val="100000"/>
                        </a:lnSpc>
                        <a:spcBef>
                          <a:spcPts val="265"/>
                        </a:spcBef>
                      </a:pPr>
                      <a:r>
                        <a:rPr sz="800" spc="-5" dirty="0">
                          <a:latin typeface="Arial"/>
                          <a:cs typeface="Arial"/>
                        </a:rPr>
                        <a:t>D15</a:t>
                      </a:r>
                      <a:endParaRPr sz="8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71755">
                        <a:lnSpc>
                          <a:spcPct val="100000"/>
                        </a:lnSpc>
                        <a:spcBef>
                          <a:spcPts val="265"/>
                        </a:spcBef>
                      </a:pPr>
                      <a:r>
                        <a:rPr sz="800" spc="-5" dirty="0">
                          <a:latin typeface="Arial"/>
                          <a:cs typeface="Arial"/>
                        </a:rPr>
                        <a:t>D14</a:t>
                      </a:r>
                      <a:endParaRPr sz="8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71755">
                        <a:lnSpc>
                          <a:spcPct val="100000"/>
                        </a:lnSpc>
                        <a:spcBef>
                          <a:spcPts val="265"/>
                        </a:spcBef>
                      </a:pPr>
                      <a:r>
                        <a:rPr sz="800" spc="-5" dirty="0">
                          <a:latin typeface="Arial"/>
                          <a:cs typeface="Arial"/>
                        </a:rPr>
                        <a:t>D13</a:t>
                      </a:r>
                      <a:endParaRPr sz="8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71755">
                        <a:lnSpc>
                          <a:spcPct val="100000"/>
                        </a:lnSpc>
                        <a:spcBef>
                          <a:spcPts val="265"/>
                        </a:spcBef>
                      </a:pPr>
                      <a:r>
                        <a:rPr sz="800" spc="-5" dirty="0">
                          <a:latin typeface="Arial"/>
                          <a:cs typeface="Arial"/>
                        </a:rPr>
                        <a:t>D12</a:t>
                      </a:r>
                      <a:endParaRPr sz="8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71755">
                        <a:lnSpc>
                          <a:spcPct val="100000"/>
                        </a:lnSpc>
                        <a:spcBef>
                          <a:spcPts val="265"/>
                        </a:spcBef>
                      </a:pPr>
                      <a:r>
                        <a:rPr sz="800" spc="-5" dirty="0">
                          <a:latin typeface="Arial"/>
                          <a:cs typeface="Arial"/>
                        </a:rPr>
                        <a:t>D11</a:t>
                      </a:r>
                      <a:endParaRPr sz="8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71755">
                        <a:lnSpc>
                          <a:spcPct val="100000"/>
                        </a:lnSpc>
                        <a:spcBef>
                          <a:spcPts val="265"/>
                        </a:spcBef>
                      </a:pPr>
                      <a:r>
                        <a:rPr sz="800" spc="-5" dirty="0">
                          <a:latin typeface="Arial"/>
                          <a:cs typeface="Arial"/>
                        </a:rPr>
                        <a:t>D10</a:t>
                      </a:r>
                      <a:endParaRPr sz="8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99060">
                        <a:lnSpc>
                          <a:spcPct val="100000"/>
                        </a:lnSpc>
                        <a:spcBef>
                          <a:spcPts val="265"/>
                        </a:spcBef>
                      </a:pPr>
                      <a:r>
                        <a:rPr sz="800" spc="-5" dirty="0">
                          <a:latin typeface="Arial"/>
                          <a:cs typeface="Arial"/>
                        </a:rPr>
                        <a:t>D9</a:t>
                      </a:r>
                      <a:endParaRPr sz="8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99695">
                        <a:lnSpc>
                          <a:spcPct val="100000"/>
                        </a:lnSpc>
                        <a:spcBef>
                          <a:spcPts val="265"/>
                        </a:spcBef>
                      </a:pPr>
                      <a:r>
                        <a:rPr sz="800" spc="-5" dirty="0">
                          <a:latin typeface="Arial"/>
                          <a:cs typeface="Arial"/>
                        </a:rPr>
                        <a:t>D8</a:t>
                      </a:r>
                      <a:endParaRPr sz="8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99060">
                        <a:lnSpc>
                          <a:spcPct val="100000"/>
                        </a:lnSpc>
                        <a:spcBef>
                          <a:spcPts val="265"/>
                        </a:spcBef>
                      </a:pPr>
                      <a:r>
                        <a:rPr sz="800" spc="-5" dirty="0">
                          <a:latin typeface="Arial"/>
                          <a:cs typeface="Arial"/>
                        </a:rPr>
                        <a:t>D7</a:t>
                      </a:r>
                      <a:endParaRPr sz="8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99695">
                        <a:lnSpc>
                          <a:spcPct val="100000"/>
                        </a:lnSpc>
                        <a:spcBef>
                          <a:spcPts val="265"/>
                        </a:spcBef>
                      </a:pPr>
                      <a:r>
                        <a:rPr sz="800" spc="-5" dirty="0">
                          <a:latin typeface="Arial"/>
                          <a:cs typeface="Arial"/>
                        </a:rPr>
                        <a:t>D6</a:t>
                      </a:r>
                      <a:endParaRPr sz="8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99695">
                        <a:lnSpc>
                          <a:spcPct val="100000"/>
                        </a:lnSpc>
                        <a:spcBef>
                          <a:spcPts val="265"/>
                        </a:spcBef>
                      </a:pPr>
                      <a:r>
                        <a:rPr sz="800" spc="-5" dirty="0">
                          <a:latin typeface="Arial"/>
                          <a:cs typeface="Arial"/>
                        </a:rPr>
                        <a:t>D5</a:t>
                      </a:r>
                      <a:endParaRPr sz="8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99695">
                        <a:lnSpc>
                          <a:spcPct val="100000"/>
                        </a:lnSpc>
                        <a:spcBef>
                          <a:spcPts val="265"/>
                        </a:spcBef>
                      </a:pPr>
                      <a:r>
                        <a:rPr sz="800" spc="-5" dirty="0">
                          <a:latin typeface="Arial"/>
                          <a:cs typeface="Arial"/>
                        </a:rPr>
                        <a:t>D4</a:t>
                      </a:r>
                      <a:endParaRPr sz="8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100330">
                        <a:lnSpc>
                          <a:spcPct val="100000"/>
                        </a:lnSpc>
                        <a:spcBef>
                          <a:spcPts val="265"/>
                        </a:spcBef>
                      </a:pPr>
                      <a:r>
                        <a:rPr sz="800" spc="-5" dirty="0">
                          <a:latin typeface="Arial"/>
                          <a:cs typeface="Arial"/>
                        </a:rPr>
                        <a:t>D3</a:t>
                      </a:r>
                      <a:endParaRPr sz="8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99695">
                        <a:lnSpc>
                          <a:spcPct val="100000"/>
                        </a:lnSpc>
                        <a:spcBef>
                          <a:spcPts val="265"/>
                        </a:spcBef>
                      </a:pPr>
                      <a:r>
                        <a:rPr sz="800" spc="-5" dirty="0">
                          <a:latin typeface="Arial"/>
                          <a:cs typeface="Arial"/>
                        </a:rPr>
                        <a:t>D2</a:t>
                      </a:r>
                      <a:endParaRPr sz="8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100330">
                        <a:lnSpc>
                          <a:spcPct val="100000"/>
                        </a:lnSpc>
                        <a:spcBef>
                          <a:spcPts val="265"/>
                        </a:spcBef>
                      </a:pPr>
                      <a:r>
                        <a:rPr sz="800" spc="-5" dirty="0">
                          <a:latin typeface="Arial"/>
                          <a:cs typeface="Arial"/>
                        </a:rPr>
                        <a:t>D1</a:t>
                      </a:r>
                      <a:endParaRPr sz="8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100330">
                        <a:lnSpc>
                          <a:spcPct val="100000"/>
                        </a:lnSpc>
                        <a:spcBef>
                          <a:spcPts val="265"/>
                        </a:spcBef>
                      </a:pPr>
                      <a:r>
                        <a:rPr sz="800" spc="-5" dirty="0">
                          <a:latin typeface="Arial"/>
                          <a:cs typeface="Arial"/>
                        </a:rPr>
                        <a:t>D0</a:t>
                      </a:r>
                      <a:endParaRPr sz="8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extLst>
                  <a:ext uri="{0D108BD9-81ED-4DB2-BD59-A6C34878D82A}">
                    <a16:rowId xmlns:a16="http://schemas.microsoft.com/office/drawing/2014/main" val="10000"/>
                  </a:ext>
                </a:extLst>
              </a:tr>
              <a:tr h="193675">
                <a:tc>
                  <a:txBody>
                    <a:bodyPr/>
                    <a:lstStyle/>
                    <a:p>
                      <a:pPr marL="635" algn="ctr">
                        <a:lnSpc>
                          <a:spcPct val="100000"/>
                        </a:lnSpc>
                        <a:spcBef>
                          <a:spcPts val="270"/>
                        </a:spcBef>
                      </a:pPr>
                      <a:r>
                        <a:rPr sz="800" spc="-5" dirty="0">
                          <a:latin typeface="Arial"/>
                          <a:cs typeface="Arial"/>
                        </a:rPr>
                        <a:t>‘h15</a:t>
                      </a:r>
                      <a:endParaRPr sz="8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algn="ctr">
                        <a:lnSpc>
                          <a:spcPct val="100000"/>
                        </a:lnSpc>
                        <a:spcBef>
                          <a:spcPts val="270"/>
                        </a:spcBef>
                      </a:pPr>
                      <a:r>
                        <a:rPr sz="800" dirty="0">
                          <a:latin typeface="Arial"/>
                          <a:cs typeface="Arial"/>
                        </a:rPr>
                        <a:t>0</a:t>
                      </a: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gridSpan="4">
                  <a:txBody>
                    <a:bodyPr/>
                    <a:lstStyle/>
                    <a:p>
                      <a:pPr marL="242570">
                        <a:lnSpc>
                          <a:spcPct val="100000"/>
                        </a:lnSpc>
                        <a:spcBef>
                          <a:spcPts val="309"/>
                        </a:spcBef>
                      </a:pPr>
                      <a:r>
                        <a:rPr sz="700" dirty="0">
                          <a:latin typeface="Arial"/>
                          <a:cs typeface="Arial"/>
                        </a:rPr>
                        <a:t>S</a:t>
                      </a:r>
                      <a:r>
                        <a:rPr sz="700" spc="5" dirty="0">
                          <a:latin typeface="Arial"/>
                          <a:cs typeface="Arial"/>
                        </a:rPr>
                        <a:t>T</a:t>
                      </a:r>
                      <a:r>
                        <a:rPr sz="700" dirty="0">
                          <a:latin typeface="Arial"/>
                          <a:cs typeface="Arial"/>
                        </a:rPr>
                        <a:t>B</a:t>
                      </a:r>
                      <a:r>
                        <a:rPr sz="700" spc="-5" dirty="0">
                          <a:latin typeface="Arial"/>
                          <a:cs typeface="Arial"/>
                        </a:rPr>
                        <a:t>_</a:t>
                      </a:r>
                      <a:r>
                        <a:rPr sz="700" dirty="0">
                          <a:latin typeface="Arial"/>
                          <a:cs typeface="Arial"/>
                        </a:rPr>
                        <a:t>DUP</a:t>
                      </a:r>
                      <a:r>
                        <a:rPr sz="700" spc="-5" dirty="0">
                          <a:latin typeface="Arial"/>
                          <a:cs typeface="Arial"/>
                        </a:rPr>
                        <a:t>_</a:t>
                      </a:r>
                      <a:r>
                        <a:rPr sz="700" dirty="0">
                          <a:latin typeface="Arial"/>
                          <a:cs typeface="Arial"/>
                        </a:rPr>
                        <a:t>CH8</a:t>
                      </a:r>
                      <a:r>
                        <a:rPr sz="700" spc="-30" dirty="0">
                          <a:latin typeface="Arial"/>
                          <a:cs typeface="Arial"/>
                        </a:rPr>
                        <a:t> </a:t>
                      </a:r>
                      <a:r>
                        <a:rPr sz="700" dirty="0">
                          <a:latin typeface="Arial"/>
                          <a:cs typeface="Arial"/>
                        </a:rPr>
                        <a:t>[</a:t>
                      </a:r>
                      <a:r>
                        <a:rPr sz="700" spc="-5" dirty="0">
                          <a:latin typeface="Arial"/>
                          <a:cs typeface="Arial"/>
                        </a:rPr>
                        <a:t>3</a:t>
                      </a:r>
                      <a:r>
                        <a:rPr sz="700" dirty="0">
                          <a:latin typeface="Arial"/>
                          <a:cs typeface="Arial"/>
                        </a:rPr>
                        <a:t>:</a:t>
                      </a:r>
                      <a:r>
                        <a:rPr sz="700" spc="-5" dirty="0">
                          <a:latin typeface="Arial"/>
                          <a:cs typeface="Arial"/>
                        </a:rPr>
                        <a:t>0</a:t>
                      </a:r>
                      <a:r>
                        <a:rPr sz="700" dirty="0">
                          <a:latin typeface="Arial"/>
                          <a:cs typeface="Arial"/>
                        </a:rPr>
                        <a:t>]</a:t>
                      </a:r>
                    </a:p>
                  </a:txBody>
                  <a:tcPr marL="0" marR="0" marT="39369"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gridSpan="4">
                  <a:txBody>
                    <a:bodyPr/>
                    <a:lstStyle/>
                    <a:p>
                      <a:pPr marL="243204">
                        <a:lnSpc>
                          <a:spcPct val="100000"/>
                        </a:lnSpc>
                        <a:spcBef>
                          <a:spcPts val="309"/>
                        </a:spcBef>
                      </a:pPr>
                      <a:r>
                        <a:rPr sz="700" dirty="0">
                          <a:latin typeface="Arial"/>
                          <a:cs typeface="Arial"/>
                        </a:rPr>
                        <a:t>S</a:t>
                      </a:r>
                      <a:r>
                        <a:rPr sz="700" spc="5" dirty="0">
                          <a:latin typeface="Arial"/>
                          <a:cs typeface="Arial"/>
                        </a:rPr>
                        <a:t>T</a:t>
                      </a:r>
                      <a:r>
                        <a:rPr sz="700" dirty="0">
                          <a:latin typeface="Arial"/>
                          <a:cs typeface="Arial"/>
                        </a:rPr>
                        <a:t>B</a:t>
                      </a:r>
                      <a:r>
                        <a:rPr sz="700" spc="-5" dirty="0">
                          <a:latin typeface="Arial"/>
                          <a:cs typeface="Arial"/>
                        </a:rPr>
                        <a:t>_</a:t>
                      </a:r>
                      <a:r>
                        <a:rPr sz="700" dirty="0">
                          <a:latin typeface="Arial"/>
                          <a:cs typeface="Arial"/>
                        </a:rPr>
                        <a:t>DUP</a:t>
                      </a:r>
                      <a:r>
                        <a:rPr sz="700" spc="-5" dirty="0">
                          <a:latin typeface="Arial"/>
                          <a:cs typeface="Arial"/>
                        </a:rPr>
                        <a:t>_</a:t>
                      </a:r>
                      <a:r>
                        <a:rPr sz="700" dirty="0">
                          <a:latin typeface="Arial"/>
                          <a:cs typeface="Arial"/>
                        </a:rPr>
                        <a:t>CH7</a:t>
                      </a:r>
                      <a:r>
                        <a:rPr sz="700" spc="-30" dirty="0">
                          <a:latin typeface="Arial"/>
                          <a:cs typeface="Arial"/>
                        </a:rPr>
                        <a:t> </a:t>
                      </a:r>
                      <a:r>
                        <a:rPr sz="700" dirty="0">
                          <a:latin typeface="Arial"/>
                          <a:cs typeface="Arial"/>
                        </a:rPr>
                        <a:t>[</a:t>
                      </a:r>
                      <a:r>
                        <a:rPr sz="700" spc="-5" dirty="0">
                          <a:latin typeface="Arial"/>
                          <a:cs typeface="Arial"/>
                        </a:rPr>
                        <a:t>3</a:t>
                      </a:r>
                      <a:r>
                        <a:rPr sz="700" dirty="0">
                          <a:latin typeface="Arial"/>
                          <a:cs typeface="Arial"/>
                        </a:rPr>
                        <a:t>:</a:t>
                      </a:r>
                      <a:r>
                        <a:rPr sz="700" spc="-5" dirty="0">
                          <a:latin typeface="Arial"/>
                          <a:cs typeface="Arial"/>
                        </a:rPr>
                        <a:t>0</a:t>
                      </a:r>
                      <a:r>
                        <a:rPr sz="700" dirty="0">
                          <a:latin typeface="Arial"/>
                          <a:cs typeface="Arial"/>
                        </a:rPr>
                        <a:t>]</a:t>
                      </a:r>
                    </a:p>
                  </a:txBody>
                  <a:tcPr marL="0" marR="0" marT="39369"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gridSpan="4">
                  <a:txBody>
                    <a:bodyPr/>
                    <a:lstStyle/>
                    <a:p>
                      <a:pPr marL="243204">
                        <a:lnSpc>
                          <a:spcPct val="100000"/>
                        </a:lnSpc>
                        <a:spcBef>
                          <a:spcPts val="309"/>
                        </a:spcBef>
                      </a:pPr>
                      <a:r>
                        <a:rPr sz="700" dirty="0">
                          <a:latin typeface="Arial"/>
                          <a:cs typeface="Arial"/>
                        </a:rPr>
                        <a:t>S</a:t>
                      </a:r>
                      <a:r>
                        <a:rPr sz="700" spc="5" dirty="0">
                          <a:latin typeface="Arial"/>
                          <a:cs typeface="Arial"/>
                        </a:rPr>
                        <a:t>T</a:t>
                      </a:r>
                      <a:r>
                        <a:rPr sz="700" dirty="0">
                          <a:latin typeface="Arial"/>
                          <a:cs typeface="Arial"/>
                        </a:rPr>
                        <a:t>B</a:t>
                      </a:r>
                      <a:r>
                        <a:rPr sz="700" spc="-5" dirty="0">
                          <a:latin typeface="Arial"/>
                          <a:cs typeface="Arial"/>
                        </a:rPr>
                        <a:t>_</a:t>
                      </a:r>
                      <a:r>
                        <a:rPr sz="700" dirty="0">
                          <a:latin typeface="Arial"/>
                          <a:cs typeface="Arial"/>
                        </a:rPr>
                        <a:t>DUP</a:t>
                      </a:r>
                      <a:r>
                        <a:rPr sz="700" spc="-5" dirty="0">
                          <a:latin typeface="Arial"/>
                          <a:cs typeface="Arial"/>
                        </a:rPr>
                        <a:t>_</a:t>
                      </a:r>
                      <a:r>
                        <a:rPr sz="700" dirty="0">
                          <a:latin typeface="Arial"/>
                          <a:cs typeface="Arial"/>
                        </a:rPr>
                        <a:t>CH6</a:t>
                      </a:r>
                      <a:r>
                        <a:rPr sz="700" spc="-30" dirty="0">
                          <a:latin typeface="Arial"/>
                          <a:cs typeface="Arial"/>
                        </a:rPr>
                        <a:t> </a:t>
                      </a:r>
                      <a:r>
                        <a:rPr sz="700" dirty="0">
                          <a:latin typeface="Arial"/>
                          <a:cs typeface="Arial"/>
                        </a:rPr>
                        <a:t>[</a:t>
                      </a:r>
                      <a:r>
                        <a:rPr sz="700" spc="-5" dirty="0">
                          <a:latin typeface="Arial"/>
                          <a:cs typeface="Arial"/>
                        </a:rPr>
                        <a:t>3</a:t>
                      </a:r>
                      <a:r>
                        <a:rPr sz="700" dirty="0">
                          <a:latin typeface="Arial"/>
                          <a:cs typeface="Arial"/>
                        </a:rPr>
                        <a:t>:</a:t>
                      </a:r>
                      <a:r>
                        <a:rPr sz="700" spc="-5" dirty="0">
                          <a:latin typeface="Arial"/>
                          <a:cs typeface="Arial"/>
                        </a:rPr>
                        <a:t>0</a:t>
                      </a:r>
                      <a:r>
                        <a:rPr sz="700" dirty="0">
                          <a:latin typeface="Arial"/>
                          <a:cs typeface="Arial"/>
                        </a:rPr>
                        <a:t>]</a:t>
                      </a:r>
                    </a:p>
                  </a:txBody>
                  <a:tcPr marL="0" marR="0" marT="39369"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gridSpan="4">
                  <a:txBody>
                    <a:bodyPr/>
                    <a:lstStyle/>
                    <a:p>
                      <a:pPr marL="243840">
                        <a:lnSpc>
                          <a:spcPct val="100000"/>
                        </a:lnSpc>
                        <a:spcBef>
                          <a:spcPts val="309"/>
                        </a:spcBef>
                      </a:pPr>
                      <a:r>
                        <a:rPr sz="700" dirty="0">
                          <a:latin typeface="Arial"/>
                          <a:cs typeface="Arial"/>
                        </a:rPr>
                        <a:t>S</a:t>
                      </a:r>
                      <a:r>
                        <a:rPr sz="700" spc="5" dirty="0">
                          <a:latin typeface="Arial"/>
                          <a:cs typeface="Arial"/>
                        </a:rPr>
                        <a:t>T</a:t>
                      </a:r>
                      <a:r>
                        <a:rPr sz="700" dirty="0">
                          <a:latin typeface="Arial"/>
                          <a:cs typeface="Arial"/>
                        </a:rPr>
                        <a:t>B</a:t>
                      </a:r>
                      <a:r>
                        <a:rPr sz="700" spc="-5" dirty="0">
                          <a:latin typeface="Arial"/>
                          <a:cs typeface="Arial"/>
                        </a:rPr>
                        <a:t>_</a:t>
                      </a:r>
                      <a:r>
                        <a:rPr sz="700" dirty="0">
                          <a:latin typeface="Arial"/>
                          <a:cs typeface="Arial"/>
                        </a:rPr>
                        <a:t>DUP</a:t>
                      </a:r>
                      <a:r>
                        <a:rPr sz="700" spc="-5" dirty="0">
                          <a:latin typeface="Arial"/>
                          <a:cs typeface="Arial"/>
                        </a:rPr>
                        <a:t>_</a:t>
                      </a:r>
                      <a:r>
                        <a:rPr sz="700" dirty="0">
                          <a:latin typeface="Arial"/>
                          <a:cs typeface="Arial"/>
                        </a:rPr>
                        <a:t>CH5</a:t>
                      </a:r>
                      <a:r>
                        <a:rPr sz="700" spc="-30" dirty="0">
                          <a:latin typeface="Arial"/>
                          <a:cs typeface="Arial"/>
                        </a:rPr>
                        <a:t> </a:t>
                      </a:r>
                      <a:r>
                        <a:rPr sz="700" dirty="0">
                          <a:latin typeface="Arial"/>
                          <a:cs typeface="Arial"/>
                        </a:rPr>
                        <a:t>[</a:t>
                      </a:r>
                      <a:r>
                        <a:rPr sz="700" spc="-5" dirty="0">
                          <a:latin typeface="Arial"/>
                          <a:cs typeface="Arial"/>
                        </a:rPr>
                        <a:t>3</a:t>
                      </a:r>
                      <a:r>
                        <a:rPr sz="700" dirty="0">
                          <a:latin typeface="Arial"/>
                          <a:cs typeface="Arial"/>
                        </a:rPr>
                        <a:t>:</a:t>
                      </a:r>
                      <a:r>
                        <a:rPr sz="700" spc="-5" dirty="0">
                          <a:latin typeface="Arial"/>
                          <a:cs typeface="Arial"/>
                        </a:rPr>
                        <a:t>0</a:t>
                      </a:r>
                      <a:r>
                        <a:rPr sz="700" dirty="0">
                          <a:latin typeface="Arial"/>
                          <a:cs typeface="Arial"/>
                        </a:rPr>
                        <a:t>]</a:t>
                      </a:r>
                    </a:p>
                  </a:txBody>
                  <a:tcPr marL="0" marR="0" marT="39369"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1"/>
                  </a:ext>
                </a:extLst>
              </a:tr>
            </a:tbl>
          </a:graphicData>
        </a:graphic>
      </p:graphicFrame>
      <p:graphicFrame>
        <p:nvGraphicFramePr>
          <p:cNvPr id="16" name="표 15">
            <a:extLst>
              <a:ext uri="{FF2B5EF4-FFF2-40B4-BE49-F238E27FC236}">
                <a16:creationId xmlns:a16="http://schemas.microsoft.com/office/drawing/2014/main" id="{9250BE3E-EEFF-233E-1999-73B19CDE190C}"/>
              </a:ext>
            </a:extLst>
          </p:cNvPr>
          <p:cNvGraphicFramePr>
            <a:graphicFrameLocks noGrp="1"/>
          </p:cNvGraphicFramePr>
          <p:nvPr>
            <p:extLst>
              <p:ext uri="{D42A27DB-BD31-4B8C-83A1-F6EECF244321}">
                <p14:modId xmlns:p14="http://schemas.microsoft.com/office/powerpoint/2010/main" val="4056108174"/>
              </p:ext>
            </p:extLst>
          </p:nvPr>
        </p:nvGraphicFramePr>
        <p:xfrm>
          <a:off x="400911" y="5208163"/>
          <a:ext cx="6038535" cy="1288317"/>
        </p:xfrm>
        <a:graphic>
          <a:graphicData uri="http://schemas.openxmlformats.org/drawingml/2006/table">
            <a:tbl>
              <a:tblPr firstRow="1" bandRow="1">
                <a:tableStyleId>{5C22544A-7EE6-4342-B048-85BDC9FD1C3A}</a:tableStyleId>
              </a:tblPr>
              <a:tblGrid>
                <a:gridCol w="317594">
                  <a:extLst>
                    <a:ext uri="{9D8B030D-6E8A-4147-A177-3AD203B41FA5}">
                      <a16:colId xmlns:a16="http://schemas.microsoft.com/office/drawing/2014/main" val="4170535043"/>
                    </a:ext>
                  </a:extLst>
                </a:gridCol>
                <a:gridCol w="1542475">
                  <a:extLst>
                    <a:ext uri="{9D8B030D-6E8A-4147-A177-3AD203B41FA5}">
                      <a16:colId xmlns:a16="http://schemas.microsoft.com/office/drawing/2014/main" val="2079070694"/>
                    </a:ext>
                  </a:extLst>
                </a:gridCol>
                <a:gridCol w="4178466">
                  <a:extLst>
                    <a:ext uri="{9D8B030D-6E8A-4147-A177-3AD203B41FA5}">
                      <a16:colId xmlns:a16="http://schemas.microsoft.com/office/drawing/2014/main" val="32595803"/>
                    </a:ext>
                  </a:extLst>
                </a:gridCol>
              </a:tblGrid>
              <a:tr h="256197">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701826">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STB_DUP_CHx[y]</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dirty="0">
                          <a:latin typeface="Arial"/>
                          <a:cs typeface="Arial"/>
                        </a:rPr>
                        <a:t>The strobe channel signals, CSy </a:t>
                      </a:r>
                      <a:r>
                        <a:rPr lang="en-US" altLang="ko-KR" sz="900" spc="-5" dirty="0">
                          <a:latin typeface="Arial"/>
                          <a:cs typeface="Arial"/>
                        </a:rPr>
                        <a:t>and HOLDy, </a:t>
                      </a:r>
                      <a:r>
                        <a:rPr lang="en-US" altLang="ko-KR" sz="900" dirty="0">
                          <a:latin typeface="Arial"/>
                          <a:cs typeface="Arial"/>
                        </a:rPr>
                        <a:t>can </a:t>
                      </a:r>
                      <a:r>
                        <a:rPr lang="en-US" altLang="ko-KR" sz="900" spc="-5" dirty="0">
                          <a:latin typeface="Arial"/>
                          <a:cs typeface="Arial"/>
                        </a:rPr>
                        <a:t>be </a:t>
                      </a:r>
                      <a:r>
                        <a:rPr lang="en-US" altLang="ko-KR" sz="900" dirty="0">
                          <a:latin typeface="Arial"/>
                          <a:cs typeface="Arial"/>
                        </a:rPr>
                        <a:t>duplicated to the strobe </a:t>
                      </a:r>
                      <a:r>
                        <a:rPr lang="en-US" altLang="ko-KR" sz="900" spc="5" dirty="0">
                          <a:latin typeface="Arial"/>
                          <a:cs typeface="Arial"/>
                        </a:rPr>
                        <a:t> </a:t>
                      </a:r>
                      <a:r>
                        <a:rPr lang="en-US" altLang="ko-KR" sz="900" dirty="0">
                          <a:latin typeface="Arial"/>
                          <a:cs typeface="Arial"/>
                        </a:rPr>
                        <a:t>channel, CSx </a:t>
                      </a:r>
                      <a:r>
                        <a:rPr lang="en-US" altLang="ko-KR" sz="900" spc="-5" dirty="0">
                          <a:latin typeface="Arial"/>
                          <a:cs typeface="Arial"/>
                        </a:rPr>
                        <a:t>and HOLDx, respectively. This is </a:t>
                      </a:r>
                      <a:r>
                        <a:rPr lang="en-US" altLang="ko-KR" sz="900" dirty="0">
                          <a:latin typeface="Arial"/>
                          <a:cs typeface="Arial"/>
                        </a:rPr>
                        <a:t>useful </a:t>
                      </a:r>
                      <a:r>
                        <a:rPr lang="en-US" altLang="ko-KR" sz="900" spc="-5" dirty="0">
                          <a:latin typeface="Arial"/>
                          <a:cs typeface="Arial"/>
                        </a:rPr>
                        <a:t>in </a:t>
                      </a:r>
                      <a:r>
                        <a:rPr lang="en-US" altLang="ko-KR" sz="900" dirty="0">
                          <a:latin typeface="Arial"/>
                          <a:cs typeface="Arial"/>
                        </a:rPr>
                        <a:t>case of </a:t>
                      </a:r>
                      <a:r>
                        <a:rPr lang="en-US" altLang="ko-KR" sz="900" spc="-5" dirty="0">
                          <a:latin typeface="Arial"/>
                          <a:cs typeface="Arial"/>
                        </a:rPr>
                        <a:t>heavy </a:t>
                      </a:r>
                      <a:r>
                        <a:rPr lang="en-US" altLang="ko-KR" sz="900" spc="5" dirty="0">
                          <a:latin typeface="Arial"/>
                          <a:cs typeface="Arial"/>
                        </a:rPr>
                        <a:t>fan-out </a:t>
                      </a:r>
                      <a:r>
                        <a:rPr lang="en-US" altLang="ko-KR" sz="900" dirty="0">
                          <a:latin typeface="Arial"/>
                          <a:cs typeface="Arial"/>
                        </a:rPr>
                        <a:t>of </a:t>
                      </a:r>
                      <a:r>
                        <a:rPr lang="en-US" altLang="ko-KR" sz="900" spc="-235" dirty="0">
                          <a:latin typeface="Arial"/>
                          <a:cs typeface="Arial"/>
                        </a:rPr>
                        <a:t> </a:t>
                      </a:r>
                      <a:r>
                        <a:rPr lang="en-US" altLang="ko-KR" sz="900" spc="-5" dirty="0">
                          <a:latin typeface="Arial"/>
                          <a:cs typeface="Arial"/>
                        </a:rPr>
                        <a:t>AQ06/08.</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dirty="0">
                          <a:latin typeface="Arial"/>
                          <a:cs typeface="Arial"/>
                        </a:rPr>
                        <a:t>If </a:t>
                      </a:r>
                      <a:r>
                        <a:rPr lang="en-US" altLang="ko-KR" sz="900" spc="-5" dirty="0">
                          <a:latin typeface="Arial"/>
                          <a:cs typeface="Arial"/>
                        </a:rPr>
                        <a:t>CH7 </a:t>
                      </a:r>
                      <a:r>
                        <a:rPr lang="en-US" altLang="ko-KR" sz="900" dirty="0">
                          <a:latin typeface="Arial"/>
                          <a:cs typeface="Arial"/>
                        </a:rPr>
                        <a:t>bit of the </a:t>
                      </a:r>
                      <a:r>
                        <a:rPr lang="en-US" altLang="ko-KR" sz="900" spc="-5" dirty="0">
                          <a:latin typeface="Arial"/>
                          <a:cs typeface="Arial"/>
                        </a:rPr>
                        <a:t>STROBE DUPLICATE CHANNEL </a:t>
                      </a:r>
                      <a:r>
                        <a:rPr lang="en-US" altLang="ko-KR" sz="900" dirty="0">
                          <a:latin typeface="Arial"/>
                          <a:cs typeface="Arial"/>
                        </a:rPr>
                        <a:t>ENABLE </a:t>
                      </a:r>
                      <a:r>
                        <a:rPr lang="en-US" altLang="ko-KR" sz="900" spc="-5" dirty="0">
                          <a:latin typeface="Arial"/>
                          <a:cs typeface="Arial"/>
                        </a:rPr>
                        <a:t>is </a:t>
                      </a:r>
                      <a:r>
                        <a:rPr lang="en-US" altLang="ko-KR" sz="900" dirty="0">
                          <a:latin typeface="Arial"/>
                          <a:cs typeface="Arial"/>
                        </a:rPr>
                        <a:t>set to 1, </a:t>
                      </a:r>
                      <a:r>
                        <a:rPr lang="en-US" altLang="ko-KR" sz="900" spc="-5" dirty="0">
                          <a:latin typeface="Arial"/>
                          <a:cs typeface="Arial"/>
                        </a:rPr>
                        <a:t>then </a:t>
                      </a:r>
                      <a:r>
                        <a:rPr lang="en-US" altLang="ko-KR" sz="900" dirty="0">
                          <a:latin typeface="Arial"/>
                          <a:cs typeface="Arial"/>
                        </a:rPr>
                        <a:t> </a:t>
                      </a:r>
                      <a:r>
                        <a:rPr lang="en-US" altLang="ko-KR" sz="900" spc="-5" dirty="0">
                          <a:latin typeface="Arial"/>
                          <a:cs typeface="Arial"/>
                        </a:rPr>
                        <a:t>STB_DUP_CH7[3:0] is </a:t>
                      </a:r>
                      <a:r>
                        <a:rPr lang="en-US" altLang="ko-KR" sz="900" dirty="0">
                          <a:latin typeface="Arial"/>
                          <a:cs typeface="Arial"/>
                        </a:rPr>
                        <a:t>activated, </a:t>
                      </a:r>
                      <a:r>
                        <a:rPr lang="en-US" altLang="ko-KR" sz="900" spc="-5" dirty="0">
                          <a:latin typeface="Arial"/>
                          <a:cs typeface="Arial"/>
                        </a:rPr>
                        <a:t>and </a:t>
                      </a:r>
                      <a:r>
                        <a:rPr lang="en-US" altLang="ko-KR" sz="900" dirty="0">
                          <a:latin typeface="Arial"/>
                          <a:cs typeface="Arial"/>
                        </a:rPr>
                        <a:t>if the </a:t>
                      </a:r>
                      <a:r>
                        <a:rPr lang="en-US" altLang="ko-KR" sz="900" spc="-5" dirty="0">
                          <a:latin typeface="Arial"/>
                          <a:cs typeface="Arial"/>
                        </a:rPr>
                        <a:t>value is </a:t>
                      </a:r>
                      <a:r>
                        <a:rPr lang="en-US" altLang="ko-KR" sz="900" dirty="0">
                          <a:latin typeface="Arial"/>
                          <a:cs typeface="Arial"/>
                        </a:rPr>
                        <a:t>set to </a:t>
                      </a:r>
                      <a:r>
                        <a:rPr lang="en-US" altLang="ko-KR" sz="900" spc="-5" dirty="0">
                          <a:latin typeface="Arial"/>
                          <a:cs typeface="Arial"/>
                        </a:rPr>
                        <a:t>0x2, then </a:t>
                      </a:r>
                      <a:r>
                        <a:rPr lang="en-US" altLang="ko-KR" sz="900" dirty="0">
                          <a:latin typeface="Arial"/>
                          <a:cs typeface="Arial"/>
                        </a:rPr>
                        <a:t>the strobe </a:t>
                      </a:r>
                      <a:r>
                        <a:rPr lang="en-US" altLang="ko-KR" sz="900" spc="-235" dirty="0">
                          <a:latin typeface="Arial"/>
                          <a:cs typeface="Arial"/>
                        </a:rPr>
                        <a:t> </a:t>
                      </a:r>
                      <a:r>
                        <a:rPr lang="en-US" altLang="ko-KR" sz="900" dirty="0">
                          <a:latin typeface="Arial"/>
                          <a:cs typeface="Arial"/>
                        </a:rPr>
                        <a:t>channel 2 signals (CS2, </a:t>
                      </a:r>
                      <a:r>
                        <a:rPr lang="en-US" altLang="ko-KR" sz="900" spc="-5" dirty="0">
                          <a:latin typeface="Arial"/>
                          <a:cs typeface="Arial"/>
                        </a:rPr>
                        <a:t>HOLD2) </a:t>
                      </a:r>
                      <a:r>
                        <a:rPr lang="en-US" altLang="ko-KR" sz="900" dirty="0">
                          <a:latin typeface="Arial"/>
                          <a:cs typeface="Arial"/>
                        </a:rPr>
                        <a:t>are duplicated to the strobe channel 7 (CS7, </a:t>
                      </a:r>
                      <a:r>
                        <a:rPr lang="en-US" altLang="ko-KR" sz="900" spc="-235" dirty="0">
                          <a:latin typeface="Arial"/>
                          <a:cs typeface="Arial"/>
                        </a:rPr>
                        <a:t> </a:t>
                      </a:r>
                      <a:r>
                        <a:rPr lang="en-US" altLang="ko-KR" sz="900" spc="-5" dirty="0">
                          <a:latin typeface="Arial"/>
                          <a:cs typeface="Arial"/>
                        </a:rPr>
                        <a:t>HOLD7).</a:t>
                      </a:r>
                      <a:endParaRPr lang="en-US" altLang="ko-KR"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18" name="표 17">
            <a:extLst>
              <a:ext uri="{FF2B5EF4-FFF2-40B4-BE49-F238E27FC236}">
                <a16:creationId xmlns:a16="http://schemas.microsoft.com/office/drawing/2014/main" id="{F5F9F877-5A4C-0619-34B9-A1E26E19A431}"/>
              </a:ext>
            </a:extLst>
          </p:cNvPr>
          <p:cNvGraphicFramePr>
            <a:graphicFrameLocks noGrp="1"/>
          </p:cNvGraphicFramePr>
          <p:nvPr>
            <p:extLst>
              <p:ext uri="{D42A27DB-BD31-4B8C-83A1-F6EECF244321}">
                <p14:modId xmlns:p14="http://schemas.microsoft.com/office/powerpoint/2010/main" val="4125486532"/>
              </p:ext>
            </p:extLst>
          </p:nvPr>
        </p:nvGraphicFramePr>
        <p:xfrm>
          <a:off x="392684" y="1757284"/>
          <a:ext cx="6046761" cy="958023"/>
        </p:xfrm>
        <a:graphic>
          <a:graphicData uri="http://schemas.openxmlformats.org/drawingml/2006/table">
            <a:tbl>
              <a:tblPr firstRow="1" bandRow="1">
                <a:tableStyleId>{5C22544A-7EE6-4342-B048-85BDC9FD1C3A}</a:tableStyleId>
              </a:tblPr>
              <a:tblGrid>
                <a:gridCol w="321630">
                  <a:extLst>
                    <a:ext uri="{9D8B030D-6E8A-4147-A177-3AD203B41FA5}">
                      <a16:colId xmlns:a16="http://schemas.microsoft.com/office/drawing/2014/main" val="4170535043"/>
                    </a:ext>
                  </a:extLst>
                </a:gridCol>
                <a:gridCol w="1562079">
                  <a:extLst>
                    <a:ext uri="{9D8B030D-6E8A-4147-A177-3AD203B41FA5}">
                      <a16:colId xmlns:a16="http://schemas.microsoft.com/office/drawing/2014/main" val="2079070694"/>
                    </a:ext>
                  </a:extLst>
                </a:gridCol>
                <a:gridCol w="220821">
                  <a:extLst>
                    <a:ext uri="{9D8B030D-6E8A-4147-A177-3AD203B41FA5}">
                      <a16:colId xmlns:a16="http://schemas.microsoft.com/office/drawing/2014/main" val="32595803"/>
                    </a:ext>
                  </a:extLst>
                </a:gridCol>
                <a:gridCol w="3942231">
                  <a:extLst>
                    <a:ext uri="{9D8B030D-6E8A-4147-A177-3AD203B41FA5}">
                      <a16:colId xmlns:a16="http://schemas.microsoft.com/office/drawing/2014/main" val="184732826"/>
                    </a:ext>
                  </a:extLst>
                </a:gridCol>
              </a:tblGrid>
              <a:tr h="256197">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l" latinLnBrk="1"/>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701826">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9:0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CHx</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No operation</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dirty="0">
                          <a:latin typeface="Arial"/>
                          <a:cs typeface="Arial"/>
                        </a:rPr>
                        <a:t>Activates</a:t>
                      </a:r>
                      <a:r>
                        <a:rPr lang="en-US" altLang="ko-KR" sz="900" spc="-25" dirty="0">
                          <a:latin typeface="Arial"/>
                          <a:cs typeface="Arial"/>
                        </a:rPr>
                        <a:t> </a:t>
                      </a:r>
                      <a:r>
                        <a:rPr lang="en-US" altLang="ko-KR" sz="900" dirty="0">
                          <a:latin typeface="Arial"/>
                          <a:cs typeface="Arial"/>
                        </a:rPr>
                        <a:t>the</a:t>
                      </a:r>
                      <a:r>
                        <a:rPr lang="en-US" altLang="ko-KR" sz="900" spc="-20" dirty="0">
                          <a:latin typeface="Arial"/>
                          <a:cs typeface="Arial"/>
                        </a:rPr>
                        <a:t> </a:t>
                      </a:r>
                      <a:r>
                        <a:rPr lang="en-US" altLang="ko-KR" sz="900" dirty="0">
                          <a:latin typeface="Arial"/>
                          <a:cs typeface="Arial"/>
                        </a:rPr>
                        <a:t>strobe</a:t>
                      </a:r>
                      <a:r>
                        <a:rPr lang="en-US" altLang="ko-KR" sz="900" spc="-30" dirty="0">
                          <a:latin typeface="Arial"/>
                          <a:cs typeface="Arial"/>
                        </a:rPr>
                        <a:t> </a:t>
                      </a:r>
                      <a:r>
                        <a:rPr lang="en-US" altLang="ko-KR" sz="900" dirty="0">
                          <a:latin typeface="Arial"/>
                          <a:cs typeface="Arial"/>
                        </a:rPr>
                        <a:t>duplicated</a:t>
                      </a:r>
                      <a:r>
                        <a:rPr lang="en-US" altLang="ko-KR" sz="900" spc="-40" dirty="0">
                          <a:latin typeface="Arial"/>
                          <a:cs typeface="Arial"/>
                        </a:rPr>
                        <a:t> </a:t>
                      </a:r>
                      <a:r>
                        <a:rPr lang="en-US" altLang="ko-KR" sz="900" dirty="0">
                          <a:latin typeface="Arial"/>
                          <a:cs typeface="Arial"/>
                        </a:rPr>
                        <a:t>channels.</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spc="-5" dirty="0">
                          <a:latin typeface="Arial"/>
                          <a:cs typeface="Arial"/>
                        </a:rPr>
                        <a:t>The CHx </a:t>
                      </a:r>
                      <a:r>
                        <a:rPr lang="en-US" altLang="ko-KR" sz="900" dirty="0">
                          <a:latin typeface="Arial"/>
                          <a:cs typeface="Arial"/>
                        </a:rPr>
                        <a:t>corresponds to </a:t>
                      </a:r>
                      <a:r>
                        <a:rPr lang="en-US" altLang="ko-KR" sz="900" spc="-5" dirty="0">
                          <a:latin typeface="Arial"/>
                          <a:cs typeface="Arial"/>
                        </a:rPr>
                        <a:t>STB_DUP_CHx, where x=1~10. </a:t>
                      </a:r>
                      <a:r>
                        <a:rPr lang="en-US" altLang="ko-KR" sz="900" spc="-235" dirty="0">
                          <a:latin typeface="Arial"/>
                          <a:cs typeface="Arial"/>
                        </a:rPr>
                        <a:t> </a:t>
                      </a:r>
                      <a:r>
                        <a:rPr lang="en-US" altLang="ko-KR" sz="900" dirty="0">
                          <a:latin typeface="Arial"/>
                          <a:cs typeface="Arial"/>
                        </a:rPr>
                        <a:t>If</a:t>
                      </a:r>
                      <a:r>
                        <a:rPr lang="en-US" altLang="ko-KR" sz="900" spc="-15" dirty="0">
                          <a:latin typeface="Arial"/>
                          <a:cs typeface="Arial"/>
                        </a:rPr>
                        <a:t> </a:t>
                      </a:r>
                      <a:r>
                        <a:rPr lang="en-US" altLang="ko-KR" sz="900" spc="-5" dirty="0">
                          <a:latin typeface="Arial"/>
                          <a:cs typeface="Arial"/>
                        </a:rPr>
                        <a:t>CH1</a:t>
                      </a:r>
                      <a:r>
                        <a:rPr lang="en-US" altLang="ko-KR" sz="900" dirty="0">
                          <a:latin typeface="Arial"/>
                          <a:cs typeface="Arial"/>
                        </a:rPr>
                        <a:t> bit</a:t>
                      </a:r>
                      <a:r>
                        <a:rPr lang="en-US" altLang="ko-KR" sz="900" spc="-10" dirty="0">
                          <a:latin typeface="Arial"/>
                          <a:cs typeface="Arial"/>
                        </a:rPr>
                        <a:t> </a:t>
                      </a:r>
                      <a:r>
                        <a:rPr lang="en-US" altLang="ko-KR" sz="900" spc="-5" dirty="0">
                          <a:latin typeface="Arial"/>
                          <a:cs typeface="Arial"/>
                        </a:rPr>
                        <a:t>is </a:t>
                      </a:r>
                      <a:r>
                        <a:rPr lang="en-US" altLang="ko-KR" sz="900" dirty="0">
                          <a:latin typeface="Arial"/>
                          <a:cs typeface="Arial"/>
                        </a:rPr>
                        <a:t>set,</a:t>
                      </a:r>
                      <a:r>
                        <a:rPr lang="en-US" altLang="ko-KR" sz="900" spc="-10" dirty="0">
                          <a:latin typeface="Arial"/>
                          <a:cs typeface="Arial"/>
                        </a:rPr>
                        <a:t> </a:t>
                      </a:r>
                      <a:r>
                        <a:rPr lang="en-US" altLang="ko-KR" sz="900" spc="-5" dirty="0">
                          <a:latin typeface="Arial"/>
                          <a:cs typeface="Arial"/>
                        </a:rPr>
                        <a:t>then</a:t>
                      </a:r>
                      <a:r>
                        <a:rPr lang="en-US" altLang="ko-KR" sz="900" spc="-20" dirty="0">
                          <a:latin typeface="Arial"/>
                          <a:cs typeface="Arial"/>
                        </a:rPr>
                        <a:t> </a:t>
                      </a:r>
                      <a:r>
                        <a:rPr lang="en-US" altLang="ko-KR" sz="900" spc="-5" dirty="0">
                          <a:latin typeface="Arial"/>
                          <a:cs typeface="Arial"/>
                        </a:rPr>
                        <a:t>STB_DUP_CH1</a:t>
                      </a:r>
                      <a:r>
                        <a:rPr lang="en-US" altLang="ko-KR" sz="900" spc="15" dirty="0">
                          <a:latin typeface="Arial"/>
                          <a:cs typeface="Arial"/>
                        </a:rPr>
                        <a:t> </a:t>
                      </a:r>
                      <a:r>
                        <a:rPr lang="en-US" altLang="ko-KR" sz="900" spc="-5" dirty="0">
                          <a:latin typeface="Arial"/>
                          <a:cs typeface="Arial"/>
                        </a:rPr>
                        <a:t>is activated.</a:t>
                      </a:r>
                      <a:endParaRPr lang="en-US" altLang="ko-KR"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5" name="object 9">
            <a:extLst>
              <a:ext uri="{FF2B5EF4-FFF2-40B4-BE49-F238E27FC236}">
                <a16:creationId xmlns:a16="http://schemas.microsoft.com/office/drawing/2014/main" id="{B0AFB360-AFE8-19A3-92DF-B7E2D57D84EA}"/>
              </a:ext>
            </a:extLst>
          </p:cNvPr>
          <p:cNvSpPr txBox="1"/>
          <p:nvPr/>
        </p:nvSpPr>
        <p:spPr>
          <a:xfrm>
            <a:off x="304800" y="9067800"/>
            <a:ext cx="2078355" cy="289823"/>
          </a:xfrm>
          <a:prstGeom prst="rect">
            <a:avLst/>
          </a:prstGeom>
        </p:spPr>
        <p:txBody>
          <a:bodyPr vert="horz" wrap="square" lIns="0" tIns="12700" rIns="0" bIns="0" rtlCol="0">
            <a:spAutoFit/>
          </a:bodyPr>
          <a:lstStyle/>
          <a:p>
            <a:pPr marL="12700">
              <a:lnSpc>
                <a:spcPct val="100000"/>
              </a:lnSpc>
              <a:spcBef>
                <a:spcPts val="100"/>
              </a:spcBef>
            </a:pPr>
            <a:r>
              <a:rPr b="1" spc="-5" dirty="0">
                <a:solidFill>
                  <a:srgbClr val="FF0000"/>
                </a:solidFill>
                <a:cs typeface="Perpetua Titling MT"/>
              </a:rPr>
              <a:t>CONFIDENTIAL</a:t>
            </a:r>
            <a:endParaRPr dirty="0">
              <a:cs typeface="Perpetua Titling MT"/>
            </a:endParaRPr>
          </a:p>
        </p:txBody>
      </p:sp>
      <p:sp>
        <p:nvSpPr>
          <p:cNvPr id="8" name="object 6">
            <a:extLst>
              <a:ext uri="{FF2B5EF4-FFF2-40B4-BE49-F238E27FC236}">
                <a16:creationId xmlns:a16="http://schemas.microsoft.com/office/drawing/2014/main" id="{3C90C625-2B2C-0A3C-9CF3-286DD982FABB}"/>
              </a:ext>
            </a:extLst>
          </p:cNvPr>
          <p:cNvSpPr/>
          <p:nvPr/>
        </p:nvSpPr>
        <p:spPr>
          <a:xfrm>
            <a:off x="301676" y="9458756"/>
            <a:ext cx="6246495" cy="0"/>
          </a:xfrm>
          <a:custGeom>
            <a:avLst/>
            <a:gdLst/>
            <a:ahLst/>
            <a:cxnLst/>
            <a:rect l="l" t="t" r="r" b="b"/>
            <a:pathLst>
              <a:path w="6246495">
                <a:moveTo>
                  <a:pt x="0" y="0"/>
                </a:moveTo>
                <a:lnTo>
                  <a:pt x="6245999" y="0"/>
                </a:lnTo>
              </a:path>
            </a:pathLst>
          </a:custGeom>
          <a:ln w="25920">
            <a:solidFill>
              <a:srgbClr val="BFBFBF"/>
            </a:solidFill>
          </a:ln>
        </p:spPr>
        <p:txBody>
          <a:bodyPr wrap="square" lIns="0" tIns="0" rIns="0" bIns="0" rtlCol="0"/>
          <a:lstStyle/>
          <a:p>
            <a:endParaRPr/>
          </a:p>
        </p:txBody>
      </p:sp>
      <p:sp>
        <p:nvSpPr>
          <p:cNvPr id="17" name="슬라이드 번호 개체 틀 3">
            <a:hlinkClick r:id="rId2"/>
            <a:extLst>
              <a:ext uri="{FF2B5EF4-FFF2-40B4-BE49-F238E27FC236}">
                <a16:creationId xmlns:a16="http://schemas.microsoft.com/office/drawing/2014/main" id="{5B0DFA17-45F5-E076-2AD4-B75908BFB675}"/>
              </a:ext>
            </a:extLst>
          </p:cNvPr>
          <p:cNvSpPr txBox="1">
            <a:spLocks/>
          </p:cNvSpPr>
          <p:nvPr/>
        </p:nvSpPr>
        <p:spPr>
          <a:xfrm>
            <a:off x="5151602" y="9452864"/>
            <a:ext cx="1487550"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dirty="0">
                <a:solidFill>
                  <a:prstClr val="black"/>
                </a:solidFill>
                <a:latin typeface="Arial" panose="020B0604020202020204" pitchFamily="34" charset="0"/>
                <a:cs typeface="Arial" panose="020B0604020202020204" pitchFamily="34" charset="0"/>
              </a:rPr>
              <a:t>http://www.glbltech.com/</a:t>
            </a:r>
            <a:endParaRPr lang="ko-KR" altLang="en-US" dirty="0">
              <a:solidFill>
                <a:prstClr val="black"/>
              </a:solidFill>
              <a:latin typeface="Arial" panose="020B0604020202020204" pitchFamily="34" charset="0"/>
              <a:cs typeface="Arial" panose="020B0604020202020204" pitchFamily="34" charset="0"/>
            </a:endParaRPr>
          </a:p>
        </p:txBody>
      </p:sp>
      <p:sp>
        <p:nvSpPr>
          <p:cNvPr id="19" name="object 38">
            <a:extLst>
              <a:ext uri="{FF2B5EF4-FFF2-40B4-BE49-F238E27FC236}">
                <a16:creationId xmlns:a16="http://schemas.microsoft.com/office/drawing/2014/main" id="{1033D34D-287C-201A-B211-135799FDA161}"/>
              </a:ext>
            </a:extLst>
          </p:cNvPr>
          <p:cNvSpPr txBox="1">
            <a:spLocks/>
          </p:cNvSpPr>
          <p:nvPr/>
        </p:nvSpPr>
        <p:spPr>
          <a:xfrm>
            <a:off x="3309066" y="9547988"/>
            <a:ext cx="487045" cy="139141"/>
          </a:xfrm>
          <a:prstGeom prst="rect">
            <a:avLst/>
          </a:prstGeom>
        </p:spPr>
        <p:txBody>
          <a:bodyPr vert="horz" wrap="square" lIns="0" tIns="635" rIns="0" bIns="0" rtlCol="0">
            <a:spAutoFit/>
          </a:bodyPr>
          <a:lstStyle>
            <a:defPPr>
              <a:defRPr lang="ko-KR"/>
            </a:defPPr>
            <a:lvl1pPr marL="0" algn="l" defTabSz="914400" rtl="0" eaLnBrk="1" latinLnBrk="1" hangingPunct="1">
              <a:defRPr sz="1050" b="0" i="0" kern="1200">
                <a:solidFill>
                  <a:schemeClr val="tx1"/>
                </a:solidFill>
                <a:latin typeface="Arial"/>
                <a:ea typeface="+mn-ea"/>
                <a:cs typeface="Arial"/>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marL="12700">
              <a:spcBef>
                <a:spcPts val="5"/>
              </a:spcBef>
              <a:defRPr/>
            </a:pPr>
            <a:r>
              <a:rPr lang="en-US" sz="900" dirty="0">
                <a:solidFill>
                  <a:prstClr val="black"/>
                </a:solidFill>
              </a:rPr>
              <a:t>Page</a:t>
            </a:r>
            <a:r>
              <a:rPr lang="en-US" sz="900" spc="-60" dirty="0">
                <a:solidFill>
                  <a:prstClr val="black"/>
                </a:solidFill>
              </a:rPr>
              <a:t> </a:t>
            </a:r>
            <a:fld id="{81D60167-4931-47E6-BA6A-407CBD079E47}" type="slidenum">
              <a:rPr sz="900">
                <a:solidFill>
                  <a:prstClr val="black"/>
                </a:solidFill>
              </a:rPr>
              <a:pPr marL="12700">
                <a:spcBef>
                  <a:spcPts val="5"/>
                </a:spcBef>
                <a:defRPr/>
              </a:pPr>
              <a:t>39</a:t>
            </a:fld>
            <a:endParaRPr sz="900" dirty="0">
              <a:solidFill>
                <a:prstClr val="black"/>
              </a:solidFill>
            </a:endParaRPr>
          </a:p>
        </p:txBody>
      </p:sp>
      <p:sp>
        <p:nvSpPr>
          <p:cNvPr id="20" name="슬라이드 번호 개체 틀 3">
            <a:extLst>
              <a:ext uri="{FF2B5EF4-FFF2-40B4-BE49-F238E27FC236}">
                <a16:creationId xmlns:a16="http://schemas.microsoft.com/office/drawing/2014/main" id="{75870A45-4F9F-2291-654D-E7A24C568957}"/>
              </a:ext>
            </a:extLst>
          </p:cNvPr>
          <p:cNvSpPr txBox="1">
            <a:spLocks/>
          </p:cNvSpPr>
          <p:nvPr/>
        </p:nvSpPr>
        <p:spPr>
          <a:xfrm>
            <a:off x="299401" y="9520856"/>
            <a:ext cx="2060991" cy="175259"/>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lang="en-US" altLang="ko-KR" dirty="0">
                <a:solidFill>
                  <a:prstClr val="black"/>
                </a:solidFill>
                <a:latin typeface="Arial" panose="020B0604020202020204" pitchFamily="34" charset="0"/>
                <a:cs typeface="Arial" panose="020B0604020202020204" pitchFamily="34" charset="0"/>
              </a:rPr>
              <a:t>Dated 30-Nov 23  Rev. 01</a:t>
            </a:r>
            <a:endParaRPr lang="ko-KR" altLang="en-US" dirty="0">
              <a:solidFill>
                <a:prstClr val="black"/>
              </a:solidFill>
              <a:latin typeface="Arial" panose="020B0604020202020204" pitchFamily="34" charset="0"/>
              <a:cs typeface="Arial" panose="020B0604020202020204" pitchFamily="34" charset="0"/>
            </a:endParaRPr>
          </a:p>
        </p:txBody>
      </p:sp>
      <p:sp>
        <p:nvSpPr>
          <p:cNvPr id="21" name="Holder 3">
            <a:extLst>
              <a:ext uri="{FF2B5EF4-FFF2-40B4-BE49-F238E27FC236}">
                <a16:creationId xmlns:a16="http://schemas.microsoft.com/office/drawing/2014/main" id="{985E0D71-B51D-7987-DE8A-1F4A1EFB0555}"/>
              </a:ext>
            </a:extLst>
          </p:cNvPr>
          <p:cNvSpPr txBox="1">
            <a:spLocks/>
          </p:cNvSpPr>
          <p:nvPr/>
        </p:nvSpPr>
        <p:spPr>
          <a:xfrm>
            <a:off x="5147476" y="203944"/>
            <a:ext cx="1447800" cy="276999"/>
          </a:xfrm>
          <a:prstGeom prst="rect">
            <a:avLst/>
          </a:prstGeom>
        </p:spPr>
        <p:txBody>
          <a:bodyPr wrap="square" lIns="0" tIns="0" rIns="0" bIns="0">
            <a:spAutoFit/>
          </a:bodyPr>
          <a:lstStyle>
            <a:lvl1pPr marL="0">
              <a:defRPr>
                <a:solidFill>
                  <a:srgbClr val="FF99FF"/>
                </a:solidFill>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defTabSz="914400" latinLnBrk="0"/>
            <a:r>
              <a:rPr lang="en-US" sz="1800" kern="0" dirty="0"/>
              <a:t>&lt;Preliminary&gt;</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p:nvPr/>
        </p:nvSpPr>
        <p:spPr>
          <a:xfrm>
            <a:off x="400913" y="301879"/>
            <a:ext cx="622935" cy="299720"/>
          </a:xfrm>
          <a:prstGeom prst="rect">
            <a:avLst/>
          </a:prstGeom>
        </p:spPr>
        <p:txBody>
          <a:bodyPr vert="horz" wrap="square" lIns="0" tIns="12700" rIns="0" bIns="0" rtlCol="0">
            <a:spAutoFit/>
          </a:bodyPr>
          <a:lstStyle/>
          <a:p>
            <a:pPr marL="12700">
              <a:lnSpc>
                <a:spcPct val="100000"/>
              </a:lnSpc>
              <a:spcBef>
                <a:spcPts val="100"/>
              </a:spcBef>
            </a:pPr>
            <a:r>
              <a:rPr sz="1800" b="1" spc="-5" dirty="0">
                <a:latin typeface="Arial"/>
                <a:cs typeface="Arial"/>
              </a:rPr>
              <a:t>CQ24</a:t>
            </a:r>
            <a:endParaRPr sz="1800" dirty="0">
              <a:latin typeface="Arial"/>
              <a:cs typeface="Arial"/>
            </a:endParaRPr>
          </a:p>
        </p:txBody>
      </p:sp>
      <p:graphicFrame>
        <p:nvGraphicFramePr>
          <p:cNvPr id="5" name="object 5"/>
          <p:cNvGraphicFramePr>
            <a:graphicFrameLocks noGrp="1"/>
          </p:cNvGraphicFramePr>
          <p:nvPr>
            <p:extLst>
              <p:ext uri="{D42A27DB-BD31-4B8C-83A1-F6EECF244321}">
                <p14:modId xmlns:p14="http://schemas.microsoft.com/office/powerpoint/2010/main" val="3056628414"/>
              </p:ext>
            </p:extLst>
          </p:nvPr>
        </p:nvGraphicFramePr>
        <p:xfrm>
          <a:off x="400910" y="1883263"/>
          <a:ext cx="6038532" cy="610235"/>
        </p:xfrm>
        <a:graphic>
          <a:graphicData uri="http://schemas.openxmlformats.org/drawingml/2006/table">
            <a:tbl>
              <a:tblPr firstRow="1" bandRow="1">
                <a:tableStyleId>{2D5ABB26-0587-4C30-8999-92F81FD0307C}</a:tableStyleId>
              </a:tblPr>
              <a:tblGrid>
                <a:gridCol w="343389">
                  <a:extLst>
                    <a:ext uri="{9D8B030D-6E8A-4147-A177-3AD203B41FA5}">
                      <a16:colId xmlns:a16="http://schemas.microsoft.com/office/drawing/2014/main" val="20000"/>
                    </a:ext>
                  </a:extLst>
                </a:gridCol>
                <a:gridCol w="1288950">
                  <a:extLst>
                    <a:ext uri="{9D8B030D-6E8A-4147-A177-3AD203B41FA5}">
                      <a16:colId xmlns:a16="http://schemas.microsoft.com/office/drawing/2014/main" val="20001"/>
                    </a:ext>
                  </a:extLst>
                </a:gridCol>
                <a:gridCol w="4406193">
                  <a:extLst>
                    <a:ext uri="{9D8B030D-6E8A-4147-A177-3AD203B41FA5}">
                      <a16:colId xmlns:a16="http://schemas.microsoft.com/office/drawing/2014/main" val="20002"/>
                    </a:ext>
                  </a:extLst>
                </a:gridCol>
              </a:tblGrid>
              <a:tr h="164465">
                <a:tc>
                  <a:txBody>
                    <a:bodyPr/>
                    <a:lstStyle/>
                    <a:p>
                      <a:pPr marL="36195">
                        <a:lnSpc>
                          <a:spcPts val="994"/>
                        </a:lnSpc>
                      </a:pPr>
                      <a:r>
                        <a:rPr sz="900" b="1" dirty="0">
                          <a:latin typeface="Arial" panose="020B0604020202020204" pitchFamily="34" charset="0"/>
                          <a:cs typeface="Arial" panose="020B0604020202020204" pitchFamily="34" charset="0"/>
                        </a:rPr>
                        <a:t>Bits</a:t>
                      </a:r>
                      <a:endParaRPr sz="900" dirty="0">
                        <a:latin typeface="Arial" panose="020B0604020202020204" pitchFamily="34" charset="0"/>
                        <a:cs typeface="Arial" panose="020B0604020202020204" pitchFamily="34" charset="0"/>
                      </a:endParaRPr>
                    </a:p>
                  </a:txBody>
                  <a:tcPr marL="0" marR="0" marT="0" marB="0">
                    <a:lnB w="6350">
                      <a:solidFill>
                        <a:srgbClr val="7E7E7E"/>
                      </a:solidFill>
                      <a:prstDash val="solid"/>
                    </a:lnB>
                  </a:tcPr>
                </a:tc>
                <a:tc>
                  <a:txBody>
                    <a:bodyPr/>
                    <a:lstStyle/>
                    <a:p>
                      <a:pPr marL="97790">
                        <a:lnSpc>
                          <a:spcPts val="994"/>
                        </a:lnSpc>
                      </a:pPr>
                      <a:r>
                        <a:rPr sz="900" b="1" dirty="0">
                          <a:latin typeface="Arial"/>
                          <a:cs typeface="Arial"/>
                        </a:rPr>
                        <a:t>Fields</a:t>
                      </a:r>
                      <a:endParaRPr sz="900" dirty="0">
                        <a:latin typeface="Arial"/>
                        <a:cs typeface="Arial"/>
                      </a:endParaRPr>
                    </a:p>
                  </a:txBody>
                  <a:tcPr marL="0" marR="0" marT="0" marB="0">
                    <a:lnB w="6350">
                      <a:solidFill>
                        <a:srgbClr val="7E7E7E"/>
                      </a:solidFill>
                      <a:prstDash val="solid"/>
                    </a:lnB>
                  </a:tcPr>
                </a:tc>
                <a:tc>
                  <a:txBody>
                    <a:bodyPr/>
                    <a:lstStyle/>
                    <a:p>
                      <a:pPr marL="257810">
                        <a:lnSpc>
                          <a:spcPts val="994"/>
                        </a:lnSpc>
                      </a:pPr>
                      <a:r>
                        <a:rPr sz="900" b="1" dirty="0">
                          <a:latin typeface="Arial"/>
                          <a:cs typeface="Arial"/>
                        </a:rPr>
                        <a:t>Descriptions</a:t>
                      </a:r>
                      <a:endParaRPr sz="900" dirty="0">
                        <a:latin typeface="Arial"/>
                        <a:cs typeface="Arial"/>
                      </a:endParaRPr>
                    </a:p>
                  </a:txBody>
                  <a:tcPr marL="0" marR="0" marT="0" marB="0">
                    <a:lnB w="6350">
                      <a:solidFill>
                        <a:srgbClr val="7E7E7E"/>
                      </a:solidFill>
                      <a:prstDash val="solid"/>
                    </a:lnB>
                  </a:tcPr>
                </a:tc>
                <a:extLst>
                  <a:ext uri="{0D108BD9-81ED-4DB2-BD59-A6C34878D82A}">
                    <a16:rowId xmlns:a16="http://schemas.microsoft.com/office/drawing/2014/main" val="10000"/>
                  </a:ext>
                </a:extLst>
              </a:tr>
              <a:tr h="445770">
                <a:tc>
                  <a:txBody>
                    <a:bodyPr/>
                    <a:lstStyle/>
                    <a:p>
                      <a:pPr>
                        <a:lnSpc>
                          <a:spcPct val="100000"/>
                        </a:lnSpc>
                      </a:pPr>
                      <a:r>
                        <a:rPr lang="en-US" sz="900" dirty="0">
                          <a:latin typeface="Arial" panose="020B0604020202020204" pitchFamily="34" charset="0"/>
                          <a:cs typeface="Arial" panose="020B0604020202020204" pitchFamily="34" charset="0"/>
                        </a:rPr>
                        <a:t>11:0</a:t>
                      </a:r>
                      <a:endParaRPr sz="900" dirty="0">
                        <a:latin typeface="Arial" panose="020B0604020202020204" pitchFamily="34" charset="0"/>
                        <a:cs typeface="Arial" panose="020B0604020202020204" pitchFamily="34" charset="0"/>
                      </a:endParaRPr>
                    </a:p>
                  </a:txBody>
                  <a:tcPr marL="0" marR="0" marT="36000" marB="0">
                    <a:lnT w="6350">
                      <a:solidFill>
                        <a:srgbClr val="7E7E7E"/>
                      </a:solidFill>
                      <a:prstDash val="solid"/>
                    </a:lnT>
                  </a:tcPr>
                </a:tc>
                <a:tc>
                  <a:txBody>
                    <a:bodyPr/>
                    <a:lstStyle/>
                    <a:p>
                      <a:pPr marL="97790">
                        <a:lnSpc>
                          <a:spcPct val="100000"/>
                        </a:lnSpc>
                        <a:spcBef>
                          <a:spcPts val="260"/>
                        </a:spcBef>
                      </a:pPr>
                      <a:r>
                        <a:rPr sz="900" spc="-5" dirty="0">
                          <a:latin typeface="Arial"/>
                          <a:cs typeface="Arial"/>
                        </a:rPr>
                        <a:t>FULL_STEP_SIZE</a:t>
                      </a:r>
                      <a:endParaRPr sz="900" dirty="0">
                        <a:latin typeface="Arial"/>
                        <a:cs typeface="Arial"/>
                      </a:endParaRPr>
                    </a:p>
                  </a:txBody>
                  <a:tcPr marL="0" marR="0" marT="36000" marB="0">
                    <a:lnT w="6350">
                      <a:solidFill>
                        <a:srgbClr val="7E7E7E"/>
                      </a:solidFill>
                      <a:prstDash val="solid"/>
                    </a:lnT>
                  </a:tcPr>
                </a:tc>
                <a:tc>
                  <a:txBody>
                    <a:bodyPr/>
                    <a:lstStyle/>
                    <a:p>
                      <a:pPr marL="257810" marR="102235">
                        <a:lnSpc>
                          <a:spcPct val="100000"/>
                        </a:lnSpc>
                        <a:spcBef>
                          <a:spcPts val="260"/>
                        </a:spcBef>
                      </a:pPr>
                      <a:r>
                        <a:rPr sz="900" spc="-5" dirty="0">
                          <a:latin typeface="Arial"/>
                          <a:cs typeface="Arial"/>
                        </a:rPr>
                        <a:t>This</a:t>
                      </a:r>
                      <a:r>
                        <a:rPr sz="900" spc="-10" dirty="0">
                          <a:latin typeface="Arial"/>
                          <a:cs typeface="Arial"/>
                        </a:rPr>
                        <a:t> </a:t>
                      </a:r>
                      <a:r>
                        <a:rPr sz="900" spc="-5" dirty="0">
                          <a:latin typeface="Arial"/>
                          <a:cs typeface="Arial"/>
                        </a:rPr>
                        <a:t>is </a:t>
                      </a:r>
                      <a:r>
                        <a:rPr sz="900" dirty="0">
                          <a:latin typeface="Arial"/>
                          <a:cs typeface="Arial"/>
                        </a:rPr>
                        <a:t>used</a:t>
                      </a:r>
                      <a:r>
                        <a:rPr sz="900" spc="-10" dirty="0">
                          <a:latin typeface="Arial"/>
                          <a:cs typeface="Arial"/>
                        </a:rPr>
                        <a:t> </a:t>
                      </a:r>
                      <a:r>
                        <a:rPr sz="900" spc="-5" dirty="0">
                          <a:latin typeface="Arial"/>
                          <a:cs typeface="Arial"/>
                        </a:rPr>
                        <a:t>only</a:t>
                      </a:r>
                      <a:r>
                        <a:rPr sz="900" spc="-20" dirty="0">
                          <a:latin typeface="Arial"/>
                          <a:cs typeface="Arial"/>
                        </a:rPr>
                        <a:t> </a:t>
                      </a:r>
                      <a:r>
                        <a:rPr sz="900" spc="-5" dirty="0">
                          <a:latin typeface="Arial"/>
                          <a:cs typeface="Arial"/>
                        </a:rPr>
                        <a:t>in</a:t>
                      </a:r>
                      <a:r>
                        <a:rPr sz="900" spc="-10" dirty="0">
                          <a:latin typeface="Arial"/>
                          <a:cs typeface="Arial"/>
                        </a:rPr>
                        <a:t> </a:t>
                      </a:r>
                      <a:r>
                        <a:rPr sz="900" dirty="0">
                          <a:latin typeface="Arial"/>
                          <a:cs typeface="Arial"/>
                        </a:rPr>
                        <a:t>the</a:t>
                      </a:r>
                      <a:r>
                        <a:rPr sz="900" spc="-10" dirty="0">
                          <a:latin typeface="Arial"/>
                          <a:cs typeface="Arial"/>
                        </a:rPr>
                        <a:t> </a:t>
                      </a:r>
                      <a:r>
                        <a:rPr sz="900" dirty="0">
                          <a:latin typeface="Arial"/>
                          <a:cs typeface="Arial"/>
                        </a:rPr>
                        <a:t>current</a:t>
                      </a:r>
                      <a:r>
                        <a:rPr sz="900" spc="-10" dirty="0">
                          <a:latin typeface="Arial"/>
                          <a:cs typeface="Arial"/>
                        </a:rPr>
                        <a:t> </a:t>
                      </a:r>
                      <a:r>
                        <a:rPr sz="900" dirty="0">
                          <a:latin typeface="Arial"/>
                          <a:cs typeface="Arial"/>
                        </a:rPr>
                        <a:t>dimming</a:t>
                      </a:r>
                      <a:r>
                        <a:rPr sz="900" spc="-35" dirty="0">
                          <a:latin typeface="Arial"/>
                          <a:cs typeface="Arial"/>
                        </a:rPr>
                        <a:t> </a:t>
                      </a:r>
                      <a:r>
                        <a:rPr sz="900" dirty="0">
                          <a:latin typeface="Arial"/>
                          <a:cs typeface="Arial"/>
                        </a:rPr>
                        <a:t>mode</a:t>
                      </a:r>
                      <a:r>
                        <a:rPr sz="900" spc="-25" dirty="0">
                          <a:latin typeface="Arial"/>
                          <a:cs typeface="Arial"/>
                        </a:rPr>
                        <a:t> </a:t>
                      </a:r>
                      <a:r>
                        <a:rPr sz="900" dirty="0">
                          <a:latin typeface="Arial"/>
                          <a:cs typeface="Arial"/>
                        </a:rPr>
                        <a:t>2,</a:t>
                      </a:r>
                      <a:r>
                        <a:rPr sz="900" spc="-10" dirty="0">
                          <a:latin typeface="Arial"/>
                          <a:cs typeface="Arial"/>
                        </a:rPr>
                        <a:t> </a:t>
                      </a:r>
                      <a:r>
                        <a:rPr sz="900" dirty="0">
                          <a:latin typeface="Arial"/>
                          <a:cs typeface="Arial"/>
                        </a:rPr>
                        <a:t>not</a:t>
                      </a:r>
                      <a:r>
                        <a:rPr sz="900" spc="-10" dirty="0">
                          <a:latin typeface="Arial"/>
                          <a:cs typeface="Arial"/>
                        </a:rPr>
                        <a:t> </a:t>
                      </a:r>
                      <a:r>
                        <a:rPr sz="900" dirty="0">
                          <a:latin typeface="Arial"/>
                          <a:cs typeface="Arial"/>
                        </a:rPr>
                        <a:t>the</a:t>
                      </a:r>
                      <a:r>
                        <a:rPr sz="900" spc="-10" dirty="0">
                          <a:latin typeface="Arial"/>
                          <a:cs typeface="Arial"/>
                        </a:rPr>
                        <a:t> </a:t>
                      </a:r>
                      <a:r>
                        <a:rPr sz="900" dirty="0">
                          <a:latin typeface="Arial"/>
                          <a:cs typeface="Arial"/>
                        </a:rPr>
                        <a:t>current</a:t>
                      </a:r>
                      <a:r>
                        <a:rPr sz="900" spc="-10" dirty="0">
                          <a:latin typeface="Arial"/>
                          <a:cs typeface="Arial"/>
                        </a:rPr>
                        <a:t> </a:t>
                      </a:r>
                      <a:r>
                        <a:rPr sz="900" dirty="0">
                          <a:latin typeface="Arial"/>
                          <a:cs typeface="Arial"/>
                        </a:rPr>
                        <a:t>dimming</a:t>
                      </a:r>
                      <a:r>
                        <a:rPr sz="900" spc="-35" dirty="0">
                          <a:latin typeface="Arial"/>
                          <a:cs typeface="Arial"/>
                        </a:rPr>
                        <a:t> </a:t>
                      </a:r>
                      <a:r>
                        <a:rPr sz="900" dirty="0">
                          <a:latin typeface="Arial"/>
                          <a:cs typeface="Arial"/>
                        </a:rPr>
                        <a:t>1. </a:t>
                      </a:r>
                      <a:r>
                        <a:rPr sz="900" spc="-235" dirty="0">
                          <a:latin typeface="Arial"/>
                          <a:cs typeface="Arial"/>
                        </a:rPr>
                        <a:t> </a:t>
                      </a:r>
                      <a:r>
                        <a:rPr sz="900" spc="-5" dirty="0">
                          <a:latin typeface="Arial"/>
                          <a:cs typeface="Arial"/>
                        </a:rPr>
                        <a:t>Expressed</a:t>
                      </a:r>
                      <a:r>
                        <a:rPr sz="900" spc="-10" dirty="0">
                          <a:latin typeface="Arial"/>
                          <a:cs typeface="Arial"/>
                        </a:rPr>
                        <a:t> </a:t>
                      </a:r>
                      <a:r>
                        <a:rPr sz="900" spc="-5" dirty="0">
                          <a:latin typeface="Arial"/>
                          <a:cs typeface="Arial"/>
                        </a:rPr>
                        <a:t>by</a:t>
                      </a:r>
                      <a:r>
                        <a:rPr sz="900" spc="-10" dirty="0">
                          <a:latin typeface="Arial"/>
                          <a:cs typeface="Arial"/>
                        </a:rPr>
                        <a:t> </a:t>
                      </a:r>
                      <a:r>
                        <a:rPr sz="900" spc="-5" dirty="0">
                          <a:latin typeface="Arial"/>
                          <a:cs typeface="Arial"/>
                        </a:rPr>
                        <a:t>maximum </a:t>
                      </a:r>
                      <a:r>
                        <a:rPr sz="900" spc="10" dirty="0">
                          <a:latin typeface="Arial"/>
                          <a:cs typeface="Arial"/>
                        </a:rPr>
                        <a:t>PWM</a:t>
                      </a:r>
                      <a:r>
                        <a:rPr sz="900" spc="-45" dirty="0">
                          <a:latin typeface="Arial"/>
                          <a:cs typeface="Arial"/>
                        </a:rPr>
                        <a:t> </a:t>
                      </a:r>
                      <a:r>
                        <a:rPr sz="900" spc="-5" dirty="0">
                          <a:latin typeface="Arial"/>
                          <a:cs typeface="Arial"/>
                        </a:rPr>
                        <a:t>value</a:t>
                      </a:r>
                      <a:r>
                        <a:rPr sz="900" spc="-10" dirty="0">
                          <a:latin typeface="Arial"/>
                          <a:cs typeface="Arial"/>
                        </a:rPr>
                        <a:t> </a:t>
                      </a:r>
                      <a:r>
                        <a:rPr sz="900" dirty="0">
                          <a:latin typeface="Arial"/>
                          <a:cs typeface="Arial"/>
                        </a:rPr>
                        <a:t>of</a:t>
                      </a:r>
                      <a:r>
                        <a:rPr sz="900" spc="-10" dirty="0">
                          <a:latin typeface="Arial"/>
                          <a:cs typeface="Arial"/>
                        </a:rPr>
                        <a:t> </a:t>
                      </a:r>
                      <a:r>
                        <a:rPr sz="900" spc="-5" dirty="0">
                          <a:latin typeface="Arial"/>
                          <a:cs typeface="Arial"/>
                        </a:rPr>
                        <a:t>one </a:t>
                      </a:r>
                      <a:r>
                        <a:rPr sz="900" dirty="0">
                          <a:latin typeface="Arial"/>
                          <a:cs typeface="Arial"/>
                        </a:rPr>
                        <a:t>sub-frame.</a:t>
                      </a:r>
                    </a:p>
                    <a:p>
                      <a:pPr marL="257810">
                        <a:lnSpc>
                          <a:spcPts val="990"/>
                        </a:lnSpc>
                      </a:pPr>
                      <a:r>
                        <a:rPr sz="900" spc="-5" dirty="0">
                          <a:latin typeface="Arial"/>
                          <a:cs typeface="Arial"/>
                        </a:rPr>
                        <a:t>Refer</a:t>
                      </a:r>
                      <a:r>
                        <a:rPr sz="900" spc="-20" dirty="0">
                          <a:latin typeface="Arial"/>
                          <a:cs typeface="Arial"/>
                        </a:rPr>
                        <a:t> </a:t>
                      </a:r>
                      <a:r>
                        <a:rPr sz="900" dirty="0">
                          <a:latin typeface="Arial"/>
                          <a:cs typeface="Arial"/>
                        </a:rPr>
                        <a:t>to</a:t>
                      </a:r>
                      <a:r>
                        <a:rPr sz="900" spc="-20" dirty="0">
                          <a:latin typeface="Arial"/>
                          <a:cs typeface="Arial"/>
                        </a:rPr>
                        <a:t> </a:t>
                      </a:r>
                      <a:r>
                        <a:rPr sz="900" spc="-5" dirty="0">
                          <a:latin typeface="Arial"/>
                          <a:cs typeface="Arial"/>
                        </a:rPr>
                        <a:t>the</a:t>
                      </a:r>
                      <a:r>
                        <a:rPr sz="900" spc="-20" dirty="0">
                          <a:latin typeface="Arial"/>
                          <a:cs typeface="Arial"/>
                        </a:rPr>
                        <a:t> </a:t>
                      </a:r>
                      <a:r>
                        <a:rPr sz="900" dirty="0">
                          <a:latin typeface="Arial"/>
                          <a:cs typeface="Arial"/>
                        </a:rPr>
                        <a:t>Figure.14/15,</a:t>
                      </a:r>
                      <a:r>
                        <a:rPr sz="900" spc="-40" dirty="0">
                          <a:latin typeface="Arial"/>
                          <a:cs typeface="Arial"/>
                        </a:rPr>
                        <a:t> </a:t>
                      </a:r>
                      <a:r>
                        <a:rPr sz="900" dirty="0">
                          <a:latin typeface="Arial"/>
                          <a:cs typeface="Arial"/>
                        </a:rPr>
                        <a:t>for</a:t>
                      </a:r>
                      <a:r>
                        <a:rPr sz="900" spc="-20" dirty="0">
                          <a:latin typeface="Arial"/>
                          <a:cs typeface="Arial"/>
                        </a:rPr>
                        <a:t> </a:t>
                      </a:r>
                      <a:r>
                        <a:rPr sz="900" dirty="0">
                          <a:latin typeface="Arial"/>
                          <a:cs typeface="Arial"/>
                        </a:rPr>
                        <a:t>details.</a:t>
                      </a:r>
                    </a:p>
                  </a:txBody>
                  <a:tcPr marL="0" marR="0" marT="36000" marB="0">
                    <a:lnT w="6350">
                      <a:solidFill>
                        <a:srgbClr val="7E7E7E"/>
                      </a:solidFill>
                      <a:prstDash val="solid"/>
                    </a:lnT>
                  </a:tcPr>
                </a:tc>
                <a:extLst>
                  <a:ext uri="{0D108BD9-81ED-4DB2-BD59-A6C34878D82A}">
                    <a16:rowId xmlns:a16="http://schemas.microsoft.com/office/drawing/2014/main" val="10001"/>
                  </a:ext>
                </a:extLst>
              </a:tr>
            </a:tbl>
          </a:graphicData>
        </a:graphic>
      </p:graphicFrame>
      <p:sp>
        <p:nvSpPr>
          <p:cNvPr id="6" name="object 6"/>
          <p:cNvSpPr txBox="1"/>
          <p:nvPr/>
        </p:nvSpPr>
        <p:spPr>
          <a:xfrm>
            <a:off x="400913" y="927353"/>
            <a:ext cx="6038542" cy="182101"/>
          </a:xfrm>
          <a:prstGeom prst="rect">
            <a:avLst/>
          </a:prstGeom>
        </p:spPr>
        <p:txBody>
          <a:bodyPr vert="horz" wrap="square" lIns="0" tIns="12700" rIns="0" bIns="0" rtlCol="0">
            <a:spAutoFit/>
          </a:bodyPr>
          <a:lstStyle/>
          <a:p>
            <a:pPr marL="12700">
              <a:lnSpc>
                <a:spcPct val="100000"/>
              </a:lnSpc>
              <a:spcBef>
                <a:spcPts val="100"/>
              </a:spcBef>
            </a:pPr>
            <a:r>
              <a:rPr sz="1100" b="1" dirty="0">
                <a:latin typeface="Arial"/>
                <a:cs typeface="Arial"/>
              </a:rPr>
              <a:t>FULL</a:t>
            </a:r>
            <a:r>
              <a:rPr sz="1100" b="1" spc="-40" dirty="0">
                <a:latin typeface="Arial"/>
                <a:cs typeface="Arial"/>
              </a:rPr>
              <a:t> </a:t>
            </a:r>
            <a:r>
              <a:rPr sz="1100" b="1" spc="-5" dirty="0">
                <a:latin typeface="Arial"/>
                <a:cs typeface="Arial"/>
              </a:rPr>
              <a:t>STEP</a:t>
            </a:r>
            <a:r>
              <a:rPr sz="1100" b="1" spc="-20" dirty="0">
                <a:latin typeface="Arial"/>
                <a:cs typeface="Arial"/>
              </a:rPr>
              <a:t> </a:t>
            </a:r>
            <a:r>
              <a:rPr sz="1100" b="1" dirty="0">
                <a:latin typeface="Arial"/>
                <a:cs typeface="Arial"/>
              </a:rPr>
              <a:t>SIZE</a:t>
            </a:r>
            <a:endParaRPr sz="1100" dirty="0">
              <a:latin typeface="Arial"/>
              <a:cs typeface="Arial"/>
            </a:endParaRPr>
          </a:p>
        </p:txBody>
      </p:sp>
      <p:sp>
        <p:nvSpPr>
          <p:cNvPr id="7" name="object 7"/>
          <p:cNvSpPr txBox="1"/>
          <p:nvPr/>
        </p:nvSpPr>
        <p:spPr>
          <a:xfrm>
            <a:off x="400913" y="3046857"/>
            <a:ext cx="6038542" cy="182101"/>
          </a:xfrm>
          <a:prstGeom prst="rect">
            <a:avLst/>
          </a:prstGeom>
        </p:spPr>
        <p:txBody>
          <a:bodyPr vert="horz" wrap="square" lIns="0" tIns="12700" rIns="0" bIns="0" rtlCol="0">
            <a:spAutoFit/>
          </a:bodyPr>
          <a:lstStyle/>
          <a:p>
            <a:pPr marL="12700">
              <a:lnSpc>
                <a:spcPct val="100000"/>
              </a:lnSpc>
              <a:spcBef>
                <a:spcPts val="100"/>
              </a:spcBef>
            </a:pPr>
            <a:r>
              <a:rPr sz="1100" b="1" dirty="0">
                <a:latin typeface="Arial"/>
                <a:cs typeface="Arial"/>
              </a:rPr>
              <a:t>FULL</a:t>
            </a:r>
            <a:r>
              <a:rPr sz="1100" b="1" spc="-20" dirty="0">
                <a:latin typeface="Arial"/>
                <a:cs typeface="Arial"/>
              </a:rPr>
              <a:t> </a:t>
            </a:r>
            <a:r>
              <a:rPr sz="1100" b="1" spc="-5" dirty="0">
                <a:latin typeface="Arial"/>
                <a:cs typeface="Arial"/>
              </a:rPr>
              <a:t>STEP</a:t>
            </a:r>
            <a:r>
              <a:rPr sz="1100" b="1" dirty="0">
                <a:latin typeface="Arial"/>
                <a:cs typeface="Arial"/>
              </a:rPr>
              <a:t> </a:t>
            </a:r>
            <a:r>
              <a:rPr sz="1100" b="1" spc="-10" dirty="0">
                <a:latin typeface="Arial"/>
                <a:cs typeface="Arial"/>
              </a:rPr>
              <a:t>DUTY</a:t>
            </a:r>
            <a:r>
              <a:rPr sz="1100" b="1" dirty="0">
                <a:latin typeface="Arial"/>
                <a:cs typeface="Arial"/>
              </a:rPr>
              <a:t> </a:t>
            </a:r>
            <a:r>
              <a:rPr sz="1100" b="1" spc="-5" dirty="0">
                <a:latin typeface="Arial"/>
                <a:cs typeface="Arial"/>
              </a:rPr>
              <a:t>THRESHOLD</a:t>
            </a:r>
            <a:endParaRPr sz="1100" dirty="0">
              <a:latin typeface="Arial"/>
              <a:cs typeface="Arial"/>
            </a:endParaRPr>
          </a:p>
        </p:txBody>
      </p:sp>
      <p:graphicFrame>
        <p:nvGraphicFramePr>
          <p:cNvPr id="8" name="object 8"/>
          <p:cNvGraphicFramePr>
            <a:graphicFrameLocks noGrp="1"/>
          </p:cNvGraphicFramePr>
          <p:nvPr>
            <p:extLst>
              <p:ext uri="{D42A27DB-BD31-4B8C-83A1-F6EECF244321}">
                <p14:modId xmlns:p14="http://schemas.microsoft.com/office/powerpoint/2010/main" val="3760466271"/>
              </p:ext>
            </p:extLst>
          </p:nvPr>
        </p:nvGraphicFramePr>
        <p:xfrm>
          <a:off x="373419" y="4050022"/>
          <a:ext cx="6066024" cy="610235"/>
        </p:xfrm>
        <a:graphic>
          <a:graphicData uri="http://schemas.openxmlformats.org/drawingml/2006/table">
            <a:tbl>
              <a:tblPr firstRow="1" bandRow="1">
                <a:tableStyleId>{2D5ABB26-0587-4C30-8999-92F81FD0307C}</a:tableStyleId>
              </a:tblPr>
              <a:tblGrid>
                <a:gridCol w="344916">
                  <a:extLst>
                    <a:ext uri="{9D8B030D-6E8A-4147-A177-3AD203B41FA5}">
                      <a16:colId xmlns:a16="http://schemas.microsoft.com/office/drawing/2014/main" val="20000"/>
                    </a:ext>
                  </a:extLst>
                </a:gridCol>
                <a:gridCol w="1425278">
                  <a:extLst>
                    <a:ext uri="{9D8B030D-6E8A-4147-A177-3AD203B41FA5}">
                      <a16:colId xmlns:a16="http://schemas.microsoft.com/office/drawing/2014/main" val="20001"/>
                    </a:ext>
                  </a:extLst>
                </a:gridCol>
                <a:gridCol w="4295830">
                  <a:extLst>
                    <a:ext uri="{9D8B030D-6E8A-4147-A177-3AD203B41FA5}">
                      <a16:colId xmlns:a16="http://schemas.microsoft.com/office/drawing/2014/main" val="20002"/>
                    </a:ext>
                  </a:extLst>
                </a:gridCol>
              </a:tblGrid>
              <a:tr h="164465">
                <a:tc>
                  <a:txBody>
                    <a:bodyPr/>
                    <a:lstStyle/>
                    <a:p>
                      <a:pPr marL="36195" algn="ctr">
                        <a:lnSpc>
                          <a:spcPts val="994"/>
                        </a:lnSpc>
                      </a:pPr>
                      <a:r>
                        <a:rPr sz="900" b="1" dirty="0">
                          <a:latin typeface="Arial"/>
                          <a:cs typeface="Arial"/>
                        </a:rPr>
                        <a:t>Bits</a:t>
                      </a:r>
                      <a:endParaRPr sz="900" dirty="0">
                        <a:latin typeface="Arial"/>
                        <a:cs typeface="Arial"/>
                      </a:endParaRPr>
                    </a:p>
                  </a:txBody>
                  <a:tcPr marL="0" marR="0" marT="0" marB="0">
                    <a:lnB w="6350">
                      <a:solidFill>
                        <a:srgbClr val="7E7E7E"/>
                      </a:solidFill>
                      <a:prstDash val="solid"/>
                    </a:lnB>
                  </a:tcPr>
                </a:tc>
                <a:tc>
                  <a:txBody>
                    <a:bodyPr/>
                    <a:lstStyle/>
                    <a:p>
                      <a:pPr marL="97790">
                        <a:lnSpc>
                          <a:spcPts val="994"/>
                        </a:lnSpc>
                      </a:pPr>
                      <a:r>
                        <a:rPr sz="900" b="1" dirty="0">
                          <a:latin typeface="Arial"/>
                          <a:cs typeface="Arial"/>
                        </a:rPr>
                        <a:t>Fields</a:t>
                      </a:r>
                      <a:endParaRPr sz="900" dirty="0">
                        <a:latin typeface="Arial"/>
                        <a:cs typeface="Arial"/>
                      </a:endParaRPr>
                    </a:p>
                  </a:txBody>
                  <a:tcPr marL="0" marR="0" marT="0" marB="0">
                    <a:lnB w="6350">
                      <a:solidFill>
                        <a:srgbClr val="7E7E7E"/>
                      </a:solidFill>
                      <a:prstDash val="solid"/>
                    </a:lnB>
                  </a:tcPr>
                </a:tc>
                <a:tc>
                  <a:txBody>
                    <a:bodyPr/>
                    <a:lstStyle/>
                    <a:p>
                      <a:pPr marL="121285">
                        <a:lnSpc>
                          <a:spcPts val="994"/>
                        </a:lnSpc>
                      </a:pPr>
                      <a:r>
                        <a:rPr sz="900" b="1" dirty="0">
                          <a:latin typeface="Arial"/>
                          <a:cs typeface="Arial"/>
                        </a:rPr>
                        <a:t>Descriptions</a:t>
                      </a:r>
                      <a:endParaRPr sz="900" dirty="0">
                        <a:latin typeface="Arial"/>
                        <a:cs typeface="Arial"/>
                      </a:endParaRPr>
                    </a:p>
                  </a:txBody>
                  <a:tcPr marL="0" marR="0" marT="0" marB="0">
                    <a:lnB w="6350">
                      <a:solidFill>
                        <a:srgbClr val="7E7E7E"/>
                      </a:solidFill>
                      <a:prstDash val="solid"/>
                    </a:lnB>
                  </a:tcPr>
                </a:tc>
                <a:extLst>
                  <a:ext uri="{0D108BD9-81ED-4DB2-BD59-A6C34878D82A}">
                    <a16:rowId xmlns:a16="http://schemas.microsoft.com/office/drawing/2014/main" val="10000"/>
                  </a:ext>
                </a:extLst>
              </a:tr>
              <a:tr h="445770">
                <a:tc>
                  <a:txBody>
                    <a:bodyPr/>
                    <a:lstStyle/>
                    <a:p>
                      <a:pPr algn="ctr">
                        <a:lnSpc>
                          <a:spcPct val="100000"/>
                        </a:lnSpc>
                      </a:pPr>
                      <a:r>
                        <a:rPr lang="en-US" sz="900" dirty="0">
                          <a:latin typeface="Arial" panose="020B0604020202020204" pitchFamily="34" charset="0"/>
                          <a:cs typeface="Arial" panose="020B0604020202020204" pitchFamily="34" charset="0"/>
                        </a:rPr>
                        <a:t>7:0</a:t>
                      </a:r>
                      <a:endParaRPr sz="900" dirty="0">
                        <a:latin typeface="Arial" panose="020B0604020202020204" pitchFamily="34" charset="0"/>
                        <a:cs typeface="Arial" panose="020B0604020202020204" pitchFamily="34" charset="0"/>
                      </a:endParaRPr>
                    </a:p>
                  </a:txBody>
                  <a:tcPr marL="0" marR="0" marT="36000" marB="0">
                    <a:lnT w="6350">
                      <a:solidFill>
                        <a:srgbClr val="7E7E7E"/>
                      </a:solidFill>
                      <a:prstDash val="solid"/>
                    </a:lnT>
                  </a:tcPr>
                </a:tc>
                <a:tc>
                  <a:txBody>
                    <a:bodyPr/>
                    <a:lstStyle/>
                    <a:p>
                      <a:pPr marL="97790">
                        <a:lnSpc>
                          <a:spcPct val="100000"/>
                        </a:lnSpc>
                        <a:spcBef>
                          <a:spcPts val="265"/>
                        </a:spcBef>
                      </a:pPr>
                      <a:r>
                        <a:rPr sz="900" spc="-5" dirty="0">
                          <a:latin typeface="Arial" panose="020B0604020202020204" pitchFamily="34" charset="0"/>
                          <a:cs typeface="Arial" panose="020B0604020202020204" pitchFamily="34" charset="0"/>
                        </a:rPr>
                        <a:t>FULL_STEP_DUTY_TH</a:t>
                      </a:r>
                      <a:endParaRPr sz="900" dirty="0">
                        <a:latin typeface="Arial" panose="020B0604020202020204" pitchFamily="34" charset="0"/>
                        <a:cs typeface="Arial" panose="020B0604020202020204" pitchFamily="34" charset="0"/>
                      </a:endParaRPr>
                    </a:p>
                  </a:txBody>
                  <a:tcPr marL="0" marR="0" marT="36000" marB="0">
                    <a:lnT w="6350">
                      <a:solidFill>
                        <a:srgbClr val="7E7E7E"/>
                      </a:solidFill>
                      <a:prstDash val="solid"/>
                    </a:lnT>
                  </a:tcPr>
                </a:tc>
                <a:tc>
                  <a:txBody>
                    <a:bodyPr/>
                    <a:lstStyle/>
                    <a:p>
                      <a:pPr marL="121285" marR="73025" algn="just">
                        <a:lnSpc>
                          <a:spcPct val="100000"/>
                        </a:lnSpc>
                        <a:spcBef>
                          <a:spcPts val="265"/>
                        </a:spcBef>
                      </a:pPr>
                      <a:r>
                        <a:rPr sz="900" spc="-5" dirty="0">
                          <a:latin typeface="Arial"/>
                          <a:cs typeface="Arial"/>
                        </a:rPr>
                        <a:t>This is </a:t>
                      </a:r>
                      <a:r>
                        <a:rPr sz="900" dirty="0">
                          <a:latin typeface="Arial"/>
                          <a:cs typeface="Arial"/>
                        </a:rPr>
                        <a:t>used</a:t>
                      </a:r>
                      <a:r>
                        <a:rPr sz="900" spc="-10" dirty="0">
                          <a:latin typeface="Arial"/>
                          <a:cs typeface="Arial"/>
                        </a:rPr>
                        <a:t> </a:t>
                      </a:r>
                      <a:r>
                        <a:rPr sz="900" dirty="0">
                          <a:latin typeface="Arial"/>
                          <a:cs typeface="Arial"/>
                        </a:rPr>
                        <a:t>to</a:t>
                      </a:r>
                      <a:r>
                        <a:rPr sz="900" spc="-10" dirty="0">
                          <a:latin typeface="Arial"/>
                          <a:cs typeface="Arial"/>
                        </a:rPr>
                        <a:t> </a:t>
                      </a:r>
                      <a:r>
                        <a:rPr sz="900" dirty="0">
                          <a:latin typeface="Arial"/>
                          <a:cs typeface="Arial"/>
                        </a:rPr>
                        <a:t>decide</a:t>
                      </a:r>
                      <a:r>
                        <a:rPr sz="900" spc="-15" dirty="0">
                          <a:latin typeface="Arial"/>
                          <a:cs typeface="Arial"/>
                        </a:rPr>
                        <a:t> </a:t>
                      </a:r>
                      <a:r>
                        <a:rPr sz="900" spc="-5" dirty="0">
                          <a:latin typeface="Arial"/>
                          <a:cs typeface="Arial"/>
                        </a:rPr>
                        <a:t>which</a:t>
                      </a:r>
                      <a:r>
                        <a:rPr sz="900" spc="-10" dirty="0">
                          <a:latin typeface="Arial"/>
                          <a:cs typeface="Arial"/>
                        </a:rPr>
                        <a:t> </a:t>
                      </a:r>
                      <a:r>
                        <a:rPr sz="900" dirty="0">
                          <a:latin typeface="Arial"/>
                          <a:cs typeface="Arial"/>
                        </a:rPr>
                        <a:t>the</a:t>
                      </a:r>
                      <a:r>
                        <a:rPr sz="900" spc="-10" dirty="0">
                          <a:latin typeface="Arial"/>
                          <a:cs typeface="Arial"/>
                        </a:rPr>
                        <a:t> </a:t>
                      </a:r>
                      <a:r>
                        <a:rPr sz="900" dirty="0">
                          <a:latin typeface="Arial"/>
                          <a:cs typeface="Arial"/>
                        </a:rPr>
                        <a:t>current</a:t>
                      </a:r>
                      <a:r>
                        <a:rPr sz="900" spc="-10" dirty="0">
                          <a:latin typeface="Arial"/>
                          <a:cs typeface="Arial"/>
                        </a:rPr>
                        <a:t> </a:t>
                      </a:r>
                      <a:r>
                        <a:rPr sz="900" dirty="0">
                          <a:latin typeface="Arial"/>
                          <a:cs typeface="Arial"/>
                        </a:rPr>
                        <a:t>dimming</a:t>
                      </a:r>
                      <a:r>
                        <a:rPr sz="900" spc="-35" dirty="0">
                          <a:latin typeface="Arial"/>
                          <a:cs typeface="Arial"/>
                        </a:rPr>
                        <a:t> </a:t>
                      </a:r>
                      <a:r>
                        <a:rPr sz="900" dirty="0">
                          <a:latin typeface="Arial"/>
                          <a:cs typeface="Arial"/>
                        </a:rPr>
                        <a:t>mode</a:t>
                      </a:r>
                      <a:r>
                        <a:rPr sz="900" spc="-20" dirty="0">
                          <a:latin typeface="Arial"/>
                          <a:cs typeface="Arial"/>
                        </a:rPr>
                        <a:t> </a:t>
                      </a:r>
                      <a:r>
                        <a:rPr sz="900" spc="-5" dirty="0">
                          <a:latin typeface="Arial"/>
                          <a:cs typeface="Arial"/>
                        </a:rPr>
                        <a:t>is</a:t>
                      </a:r>
                      <a:r>
                        <a:rPr sz="900" dirty="0">
                          <a:latin typeface="Arial"/>
                          <a:cs typeface="Arial"/>
                        </a:rPr>
                        <a:t> selected</a:t>
                      </a:r>
                      <a:r>
                        <a:rPr sz="900" spc="-35" dirty="0">
                          <a:latin typeface="Arial"/>
                          <a:cs typeface="Arial"/>
                        </a:rPr>
                        <a:t> </a:t>
                      </a:r>
                      <a:r>
                        <a:rPr sz="900" spc="-5" dirty="0">
                          <a:latin typeface="Arial"/>
                          <a:cs typeface="Arial"/>
                        </a:rPr>
                        <a:t>during</a:t>
                      </a:r>
                      <a:r>
                        <a:rPr sz="900" spc="-20" dirty="0">
                          <a:latin typeface="Arial"/>
                          <a:cs typeface="Arial"/>
                        </a:rPr>
                        <a:t> </a:t>
                      </a:r>
                      <a:r>
                        <a:rPr sz="900" dirty="0">
                          <a:latin typeface="Arial"/>
                          <a:cs typeface="Arial"/>
                        </a:rPr>
                        <a:t>the</a:t>
                      </a:r>
                      <a:r>
                        <a:rPr sz="900" spc="-10" dirty="0">
                          <a:latin typeface="Arial"/>
                          <a:cs typeface="Arial"/>
                        </a:rPr>
                        <a:t> </a:t>
                      </a:r>
                      <a:r>
                        <a:rPr sz="900" dirty="0">
                          <a:latin typeface="Arial"/>
                          <a:cs typeface="Arial"/>
                        </a:rPr>
                        <a:t>local </a:t>
                      </a:r>
                      <a:r>
                        <a:rPr sz="900" spc="-235" dirty="0">
                          <a:latin typeface="Arial"/>
                          <a:cs typeface="Arial"/>
                        </a:rPr>
                        <a:t> </a:t>
                      </a:r>
                      <a:r>
                        <a:rPr sz="900" dirty="0">
                          <a:latin typeface="Arial"/>
                          <a:cs typeface="Arial"/>
                        </a:rPr>
                        <a:t>dimming.</a:t>
                      </a:r>
                      <a:r>
                        <a:rPr lang="en-US" sz="900" dirty="0">
                          <a:latin typeface="Arial"/>
                          <a:cs typeface="Arial"/>
                        </a:rPr>
                        <a:t> </a:t>
                      </a:r>
                      <a:r>
                        <a:rPr sz="900" spc="-5" dirty="0">
                          <a:latin typeface="Arial"/>
                          <a:cs typeface="Arial"/>
                        </a:rPr>
                        <a:t>Refer</a:t>
                      </a:r>
                      <a:r>
                        <a:rPr sz="900" spc="-20" dirty="0">
                          <a:latin typeface="Arial"/>
                          <a:cs typeface="Arial"/>
                        </a:rPr>
                        <a:t> </a:t>
                      </a:r>
                      <a:r>
                        <a:rPr sz="900" dirty="0">
                          <a:latin typeface="Arial"/>
                          <a:cs typeface="Arial"/>
                        </a:rPr>
                        <a:t>to</a:t>
                      </a:r>
                      <a:r>
                        <a:rPr sz="900" spc="-20" dirty="0">
                          <a:latin typeface="Arial"/>
                          <a:cs typeface="Arial"/>
                        </a:rPr>
                        <a:t> </a:t>
                      </a:r>
                      <a:r>
                        <a:rPr sz="900" spc="-5" dirty="0">
                          <a:latin typeface="Arial"/>
                          <a:cs typeface="Arial"/>
                        </a:rPr>
                        <a:t>the</a:t>
                      </a:r>
                      <a:r>
                        <a:rPr sz="900" spc="-20" dirty="0">
                          <a:latin typeface="Arial"/>
                          <a:cs typeface="Arial"/>
                        </a:rPr>
                        <a:t> </a:t>
                      </a:r>
                      <a:r>
                        <a:rPr sz="900" dirty="0">
                          <a:latin typeface="Arial"/>
                          <a:cs typeface="Arial"/>
                        </a:rPr>
                        <a:t>Figure</a:t>
                      </a:r>
                      <a:r>
                        <a:rPr lang="en-US" sz="900" dirty="0">
                          <a:latin typeface="Arial"/>
                          <a:cs typeface="Arial"/>
                        </a:rPr>
                        <a:t> </a:t>
                      </a:r>
                      <a:r>
                        <a:rPr sz="900" dirty="0">
                          <a:latin typeface="Arial"/>
                          <a:cs typeface="Arial"/>
                        </a:rPr>
                        <a:t>14/15,</a:t>
                      </a:r>
                      <a:r>
                        <a:rPr sz="900" spc="-40" dirty="0">
                          <a:latin typeface="Arial"/>
                          <a:cs typeface="Arial"/>
                        </a:rPr>
                        <a:t> </a:t>
                      </a:r>
                      <a:r>
                        <a:rPr sz="900" dirty="0">
                          <a:latin typeface="Arial"/>
                          <a:cs typeface="Arial"/>
                        </a:rPr>
                        <a:t>for</a:t>
                      </a:r>
                      <a:r>
                        <a:rPr sz="900" spc="-20" dirty="0">
                          <a:latin typeface="Arial"/>
                          <a:cs typeface="Arial"/>
                        </a:rPr>
                        <a:t> </a:t>
                      </a:r>
                      <a:r>
                        <a:rPr sz="900" dirty="0">
                          <a:latin typeface="Arial"/>
                          <a:cs typeface="Arial"/>
                        </a:rPr>
                        <a:t>details.</a:t>
                      </a:r>
                    </a:p>
                  </a:txBody>
                  <a:tcPr marL="0" marR="0" marT="36000" marB="0">
                    <a:lnT w="6350">
                      <a:solidFill>
                        <a:srgbClr val="7E7E7E"/>
                      </a:solidFill>
                      <a:prstDash val="solid"/>
                    </a:lnT>
                  </a:tcPr>
                </a:tc>
                <a:extLst>
                  <a:ext uri="{0D108BD9-81ED-4DB2-BD59-A6C34878D82A}">
                    <a16:rowId xmlns:a16="http://schemas.microsoft.com/office/drawing/2014/main" val="10001"/>
                  </a:ext>
                </a:extLst>
              </a:tr>
            </a:tbl>
          </a:graphicData>
        </a:graphic>
      </p:graphicFrame>
      <p:graphicFrame>
        <p:nvGraphicFramePr>
          <p:cNvPr id="9" name="object 9"/>
          <p:cNvGraphicFramePr>
            <a:graphicFrameLocks noGrp="1"/>
          </p:cNvGraphicFramePr>
          <p:nvPr>
            <p:extLst>
              <p:ext uri="{D42A27DB-BD31-4B8C-83A1-F6EECF244321}">
                <p14:modId xmlns:p14="http://schemas.microsoft.com/office/powerpoint/2010/main" val="2735656913"/>
              </p:ext>
            </p:extLst>
          </p:nvPr>
        </p:nvGraphicFramePr>
        <p:xfrm>
          <a:off x="400912" y="1227518"/>
          <a:ext cx="6038537" cy="387350"/>
        </p:xfrm>
        <a:graphic>
          <a:graphicData uri="http://schemas.openxmlformats.org/drawingml/2006/table">
            <a:tbl>
              <a:tblPr firstRow="1" bandRow="1">
                <a:tableStyleId>{2D5ABB26-0587-4C30-8999-92F81FD0307C}</a:tableStyleId>
              </a:tblPr>
              <a:tblGrid>
                <a:gridCol w="412144">
                  <a:extLst>
                    <a:ext uri="{9D8B030D-6E8A-4147-A177-3AD203B41FA5}">
                      <a16:colId xmlns:a16="http://schemas.microsoft.com/office/drawing/2014/main" val="20000"/>
                    </a:ext>
                  </a:extLst>
                </a:gridCol>
                <a:gridCol w="474307">
                  <a:extLst>
                    <a:ext uri="{9D8B030D-6E8A-4147-A177-3AD203B41FA5}">
                      <a16:colId xmlns:a16="http://schemas.microsoft.com/office/drawing/2014/main" val="20001"/>
                    </a:ext>
                  </a:extLst>
                </a:gridCol>
                <a:gridCol w="322005">
                  <a:extLst>
                    <a:ext uri="{9D8B030D-6E8A-4147-A177-3AD203B41FA5}">
                      <a16:colId xmlns:a16="http://schemas.microsoft.com/office/drawing/2014/main" val="20002"/>
                    </a:ext>
                  </a:extLst>
                </a:gridCol>
                <a:gridCol w="322006">
                  <a:extLst>
                    <a:ext uri="{9D8B030D-6E8A-4147-A177-3AD203B41FA5}">
                      <a16:colId xmlns:a16="http://schemas.microsoft.com/office/drawing/2014/main" val="20003"/>
                    </a:ext>
                  </a:extLst>
                </a:gridCol>
                <a:gridCol w="322006">
                  <a:extLst>
                    <a:ext uri="{9D8B030D-6E8A-4147-A177-3AD203B41FA5}">
                      <a16:colId xmlns:a16="http://schemas.microsoft.com/office/drawing/2014/main" val="20004"/>
                    </a:ext>
                  </a:extLst>
                </a:gridCol>
                <a:gridCol w="322006">
                  <a:extLst>
                    <a:ext uri="{9D8B030D-6E8A-4147-A177-3AD203B41FA5}">
                      <a16:colId xmlns:a16="http://schemas.microsoft.com/office/drawing/2014/main" val="20005"/>
                    </a:ext>
                  </a:extLst>
                </a:gridCol>
                <a:gridCol w="322006">
                  <a:extLst>
                    <a:ext uri="{9D8B030D-6E8A-4147-A177-3AD203B41FA5}">
                      <a16:colId xmlns:a16="http://schemas.microsoft.com/office/drawing/2014/main" val="20006"/>
                    </a:ext>
                  </a:extLst>
                </a:gridCol>
                <a:gridCol w="322006">
                  <a:extLst>
                    <a:ext uri="{9D8B030D-6E8A-4147-A177-3AD203B41FA5}">
                      <a16:colId xmlns:a16="http://schemas.microsoft.com/office/drawing/2014/main" val="20007"/>
                    </a:ext>
                  </a:extLst>
                </a:gridCol>
                <a:gridCol w="322006">
                  <a:extLst>
                    <a:ext uri="{9D8B030D-6E8A-4147-A177-3AD203B41FA5}">
                      <a16:colId xmlns:a16="http://schemas.microsoft.com/office/drawing/2014/main" val="20008"/>
                    </a:ext>
                  </a:extLst>
                </a:gridCol>
                <a:gridCol w="322005">
                  <a:extLst>
                    <a:ext uri="{9D8B030D-6E8A-4147-A177-3AD203B41FA5}">
                      <a16:colId xmlns:a16="http://schemas.microsoft.com/office/drawing/2014/main" val="20009"/>
                    </a:ext>
                  </a:extLst>
                </a:gridCol>
                <a:gridCol w="322005">
                  <a:extLst>
                    <a:ext uri="{9D8B030D-6E8A-4147-A177-3AD203B41FA5}">
                      <a16:colId xmlns:a16="http://schemas.microsoft.com/office/drawing/2014/main" val="20010"/>
                    </a:ext>
                  </a:extLst>
                </a:gridCol>
                <a:gridCol w="322005">
                  <a:extLst>
                    <a:ext uri="{9D8B030D-6E8A-4147-A177-3AD203B41FA5}">
                      <a16:colId xmlns:a16="http://schemas.microsoft.com/office/drawing/2014/main" val="20011"/>
                    </a:ext>
                  </a:extLst>
                </a:gridCol>
                <a:gridCol w="322005">
                  <a:extLst>
                    <a:ext uri="{9D8B030D-6E8A-4147-A177-3AD203B41FA5}">
                      <a16:colId xmlns:a16="http://schemas.microsoft.com/office/drawing/2014/main" val="20012"/>
                    </a:ext>
                  </a:extLst>
                </a:gridCol>
                <a:gridCol w="322005">
                  <a:extLst>
                    <a:ext uri="{9D8B030D-6E8A-4147-A177-3AD203B41FA5}">
                      <a16:colId xmlns:a16="http://schemas.microsoft.com/office/drawing/2014/main" val="20013"/>
                    </a:ext>
                  </a:extLst>
                </a:gridCol>
                <a:gridCol w="322005">
                  <a:extLst>
                    <a:ext uri="{9D8B030D-6E8A-4147-A177-3AD203B41FA5}">
                      <a16:colId xmlns:a16="http://schemas.microsoft.com/office/drawing/2014/main" val="20014"/>
                    </a:ext>
                  </a:extLst>
                </a:gridCol>
                <a:gridCol w="322005">
                  <a:extLst>
                    <a:ext uri="{9D8B030D-6E8A-4147-A177-3AD203B41FA5}">
                      <a16:colId xmlns:a16="http://schemas.microsoft.com/office/drawing/2014/main" val="20015"/>
                    </a:ext>
                  </a:extLst>
                </a:gridCol>
                <a:gridCol w="322005">
                  <a:extLst>
                    <a:ext uri="{9D8B030D-6E8A-4147-A177-3AD203B41FA5}">
                      <a16:colId xmlns:a16="http://schemas.microsoft.com/office/drawing/2014/main" val="20016"/>
                    </a:ext>
                  </a:extLst>
                </a:gridCol>
                <a:gridCol w="322005">
                  <a:extLst>
                    <a:ext uri="{9D8B030D-6E8A-4147-A177-3AD203B41FA5}">
                      <a16:colId xmlns:a16="http://schemas.microsoft.com/office/drawing/2014/main" val="20017"/>
                    </a:ext>
                  </a:extLst>
                </a:gridCol>
              </a:tblGrid>
              <a:tr h="193675">
                <a:tc>
                  <a:txBody>
                    <a:bodyPr/>
                    <a:lstStyle/>
                    <a:p>
                      <a:pPr algn="ctr">
                        <a:lnSpc>
                          <a:spcPct val="100000"/>
                        </a:lnSpc>
                        <a:spcBef>
                          <a:spcPts val="260"/>
                        </a:spcBef>
                      </a:pPr>
                      <a:r>
                        <a:rPr sz="800" dirty="0">
                          <a:latin typeface="Arial"/>
                          <a:cs typeface="Arial"/>
                        </a:rPr>
                        <a:t>A[6:0]</a:t>
                      </a:r>
                    </a:p>
                  </a:txBody>
                  <a:tcPr marL="0" marR="0" marT="3302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algn="ctr">
                        <a:lnSpc>
                          <a:spcPct val="100000"/>
                        </a:lnSpc>
                        <a:spcBef>
                          <a:spcPts val="260"/>
                        </a:spcBef>
                      </a:pPr>
                      <a:r>
                        <a:rPr sz="800" spc="-5" dirty="0">
                          <a:latin typeface="Arial"/>
                          <a:cs typeface="Arial"/>
                        </a:rPr>
                        <a:t>Default</a:t>
                      </a:r>
                      <a:endParaRPr sz="800" dirty="0">
                        <a:latin typeface="Arial"/>
                        <a:cs typeface="Arial"/>
                      </a:endParaRPr>
                    </a:p>
                  </a:txBody>
                  <a:tcPr marL="0" marR="0" marT="3302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1270" algn="ctr">
                        <a:lnSpc>
                          <a:spcPct val="100000"/>
                        </a:lnSpc>
                        <a:spcBef>
                          <a:spcPts val="260"/>
                        </a:spcBef>
                      </a:pPr>
                      <a:r>
                        <a:rPr sz="800" spc="-5" dirty="0">
                          <a:latin typeface="Arial"/>
                          <a:cs typeface="Arial"/>
                        </a:rPr>
                        <a:t>D15</a:t>
                      </a:r>
                      <a:endParaRPr sz="800" dirty="0">
                        <a:latin typeface="Arial"/>
                        <a:cs typeface="Arial"/>
                      </a:endParaRPr>
                    </a:p>
                  </a:txBody>
                  <a:tcPr marL="0" marR="0" marT="3302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1905" algn="ctr">
                        <a:lnSpc>
                          <a:spcPct val="100000"/>
                        </a:lnSpc>
                        <a:spcBef>
                          <a:spcPts val="260"/>
                        </a:spcBef>
                      </a:pPr>
                      <a:r>
                        <a:rPr sz="800" spc="-5" dirty="0">
                          <a:latin typeface="Arial"/>
                          <a:cs typeface="Arial"/>
                        </a:rPr>
                        <a:t>D14</a:t>
                      </a:r>
                      <a:endParaRPr sz="800" dirty="0">
                        <a:latin typeface="Arial"/>
                        <a:cs typeface="Arial"/>
                      </a:endParaRPr>
                    </a:p>
                  </a:txBody>
                  <a:tcPr marL="0" marR="0" marT="3302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1270" algn="ctr">
                        <a:lnSpc>
                          <a:spcPct val="100000"/>
                        </a:lnSpc>
                        <a:spcBef>
                          <a:spcPts val="260"/>
                        </a:spcBef>
                      </a:pPr>
                      <a:r>
                        <a:rPr sz="800" spc="-5" dirty="0">
                          <a:latin typeface="Arial"/>
                          <a:cs typeface="Arial"/>
                        </a:rPr>
                        <a:t>D13</a:t>
                      </a:r>
                      <a:endParaRPr sz="800" dirty="0">
                        <a:latin typeface="Arial"/>
                        <a:cs typeface="Arial"/>
                      </a:endParaRPr>
                    </a:p>
                  </a:txBody>
                  <a:tcPr marL="0" marR="0" marT="3302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1905" algn="ctr">
                        <a:lnSpc>
                          <a:spcPct val="100000"/>
                        </a:lnSpc>
                        <a:spcBef>
                          <a:spcPts val="260"/>
                        </a:spcBef>
                      </a:pPr>
                      <a:r>
                        <a:rPr sz="800" spc="-5" dirty="0">
                          <a:latin typeface="Arial"/>
                          <a:cs typeface="Arial"/>
                        </a:rPr>
                        <a:t>D12</a:t>
                      </a:r>
                      <a:endParaRPr sz="800" dirty="0">
                        <a:latin typeface="Arial"/>
                        <a:cs typeface="Arial"/>
                      </a:endParaRPr>
                    </a:p>
                  </a:txBody>
                  <a:tcPr marL="0" marR="0" marT="3302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71755">
                        <a:lnSpc>
                          <a:spcPct val="100000"/>
                        </a:lnSpc>
                        <a:spcBef>
                          <a:spcPts val="260"/>
                        </a:spcBef>
                      </a:pPr>
                      <a:r>
                        <a:rPr sz="800" spc="-5" dirty="0">
                          <a:latin typeface="Arial"/>
                          <a:cs typeface="Arial"/>
                        </a:rPr>
                        <a:t>D11</a:t>
                      </a:r>
                      <a:endParaRPr sz="800" dirty="0">
                        <a:latin typeface="Arial"/>
                        <a:cs typeface="Arial"/>
                      </a:endParaRPr>
                    </a:p>
                  </a:txBody>
                  <a:tcPr marL="0" marR="0" marT="3302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71755">
                        <a:lnSpc>
                          <a:spcPct val="100000"/>
                        </a:lnSpc>
                        <a:spcBef>
                          <a:spcPts val="260"/>
                        </a:spcBef>
                      </a:pPr>
                      <a:r>
                        <a:rPr sz="800" spc="-5" dirty="0">
                          <a:latin typeface="Arial"/>
                          <a:cs typeface="Arial"/>
                        </a:rPr>
                        <a:t>D10</a:t>
                      </a:r>
                      <a:endParaRPr sz="800" dirty="0">
                        <a:latin typeface="Arial"/>
                        <a:cs typeface="Arial"/>
                      </a:endParaRPr>
                    </a:p>
                  </a:txBody>
                  <a:tcPr marL="0" marR="0" marT="3302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99060">
                        <a:lnSpc>
                          <a:spcPct val="100000"/>
                        </a:lnSpc>
                        <a:spcBef>
                          <a:spcPts val="260"/>
                        </a:spcBef>
                      </a:pPr>
                      <a:r>
                        <a:rPr sz="800" spc="-5" dirty="0">
                          <a:latin typeface="Arial"/>
                          <a:cs typeface="Arial"/>
                        </a:rPr>
                        <a:t>D9</a:t>
                      </a:r>
                      <a:endParaRPr sz="800" dirty="0">
                        <a:latin typeface="Arial"/>
                        <a:cs typeface="Arial"/>
                      </a:endParaRPr>
                    </a:p>
                  </a:txBody>
                  <a:tcPr marL="0" marR="0" marT="3302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99695">
                        <a:lnSpc>
                          <a:spcPct val="100000"/>
                        </a:lnSpc>
                        <a:spcBef>
                          <a:spcPts val="260"/>
                        </a:spcBef>
                      </a:pPr>
                      <a:r>
                        <a:rPr sz="800" spc="-5" dirty="0">
                          <a:latin typeface="Arial"/>
                          <a:cs typeface="Arial"/>
                        </a:rPr>
                        <a:t>D8</a:t>
                      </a:r>
                      <a:endParaRPr sz="800" dirty="0">
                        <a:latin typeface="Arial"/>
                        <a:cs typeface="Arial"/>
                      </a:endParaRPr>
                    </a:p>
                  </a:txBody>
                  <a:tcPr marL="0" marR="0" marT="3302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99060">
                        <a:lnSpc>
                          <a:spcPct val="100000"/>
                        </a:lnSpc>
                        <a:spcBef>
                          <a:spcPts val="260"/>
                        </a:spcBef>
                      </a:pPr>
                      <a:r>
                        <a:rPr sz="800" spc="-5" dirty="0">
                          <a:latin typeface="Arial"/>
                          <a:cs typeface="Arial"/>
                        </a:rPr>
                        <a:t>D7</a:t>
                      </a:r>
                      <a:endParaRPr sz="800" dirty="0">
                        <a:latin typeface="Arial"/>
                        <a:cs typeface="Arial"/>
                      </a:endParaRPr>
                    </a:p>
                  </a:txBody>
                  <a:tcPr marL="0" marR="0" marT="3302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99695">
                        <a:lnSpc>
                          <a:spcPct val="100000"/>
                        </a:lnSpc>
                        <a:spcBef>
                          <a:spcPts val="260"/>
                        </a:spcBef>
                      </a:pPr>
                      <a:r>
                        <a:rPr sz="800" spc="-5" dirty="0">
                          <a:latin typeface="Arial"/>
                          <a:cs typeface="Arial"/>
                        </a:rPr>
                        <a:t>D6</a:t>
                      </a:r>
                      <a:endParaRPr sz="800" dirty="0">
                        <a:latin typeface="Arial"/>
                        <a:cs typeface="Arial"/>
                      </a:endParaRPr>
                    </a:p>
                  </a:txBody>
                  <a:tcPr marL="0" marR="0" marT="3302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99695">
                        <a:lnSpc>
                          <a:spcPct val="100000"/>
                        </a:lnSpc>
                        <a:spcBef>
                          <a:spcPts val="260"/>
                        </a:spcBef>
                      </a:pPr>
                      <a:r>
                        <a:rPr sz="800" spc="-5" dirty="0">
                          <a:latin typeface="Arial"/>
                          <a:cs typeface="Arial"/>
                        </a:rPr>
                        <a:t>D5</a:t>
                      </a:r>
                      <a:endParaRPr sz="800" dirty="0">
                        <a:latin typeface="Arial"/>
                        <a:cs typeface="Arial"/>
                      </a:endParaRPr>
                    </a:p>
                  </a:txBody>
                  <a:tcPr marL="0" marR="0" marT="3302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99695">
                        <a:lnSpc>
                          <a:spcPct val="100000"/>
                        </a:lnSpc>
                        <a:spcBef>
                          <a:spcPts val="260"/>
                        </a:spcBef>
                      </a:pPr>
                      <a:r>
                        <a:rPr sz="800" spc="-5" dirty="0">
                          <a:latin typeface="Arial"/>
                          <a:cs typeface="Arial"/>
                        </a:rPr>
                        <a:t>D4</a:t>
                      </a:r>
                      <a:endParaRPr sz="800" dirty="0">
                        <a:latin typeface="Arial"/>
                        <a:cs typeface="Arial"/>
                      </a:endParaRPr>
                    </a:p>
                  </a:txBody>
                  <a:tcPr marL="0" marR="0" marT="3302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100330">
                        <a:lnSpc>
                          <a:spcPct val="100000"/>
                        </a:lnSpc>
                        <a:spcBef>
                          <a:spcPts val="260"/>
                        </a:spcBef>
                      </a:pPr>
                      <a:r>
                        <a:rPr sz="800" spc="-5" dirty="0">
                          <a:latin typeface="Arial"/>
                          <a:cs typeface="Arial"/>
                        </a:rPr>
                        <a:t>D3</a:t>
                      </a:r>
                      <a:endParaRPr sz="800" dirty="0">
                        <a:latin typeface="Arial"/>
                        <a:cs typeface="Arial"/>
                      </a:endParaRPr>
                    </a:p>
                  </a:txBody>
                  <a:tcPr marL="0" marR="0" marT="3302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99695">
                        <a:lnSpc>
                          <a:spcPct val="100000"/>
                        </a:lnSpc>
                        <a:spcBef>
                          <a:spcPts val="260"/>
                        </a:spcBef>
                      </a:pPr>
                      <a:r>
                        <a:rPr sz="800" spc="-5" dirty="0">
                          <a:latin typeface="Arial"/>
                          <a:cs typeface="Arial"/>
                        </a:rPr>
                        <a:t>D2</a:t>
                      </a:r>
                      <a:endParaRPr sz="800" dirty="0">
                        <a:latin typeface="Arial"/>
                        <a:cs typeface="Arial"/>
                      </a:endParaRPr>
                    </a:p>
                  </a:txBody>
                  <a:tcPr marL="0" marR="0" marT="3302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100330">
                        <a:lnSpc>
                          <a:spcPct val="100000"/>
                        </a:lnSpc>
                        <a:spcBef>
                          <a:spcPts val="260"/>
                        </a:spcBef>
                      </a:pPr>
                      <a:r>
                        <a:rPr sz="800" spc="-5" dirty="0">
                          <a:latin typeface="Arial"/>
                          <a:cs typeface="Arial"/>
                        </a:rPr>
                        <a:t>D1</a:t>
                      </a:r>
                      <a:endParaRPr sz="800" dirty="0">
                        <a:latin typeface="Arial"/>
                        <a:cs typeface="Arial"/>
                      </a:endParaRPr>
                    </a:p>
                  </a:txBody>
                  <a:tcPr marL="0" marR="0" marT="3302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100330">
                        <a:lnSpc>
                          <a:spcPct val="100000"/>
                        </a:lnSpc>
                        <a:spcBef>
                          <a:spcPts val="260"/>
                        </a:spcBef>
                      </a:pPr>
                      <a:r>
                        <a:rPr sz="800" spc="-5" dirty="0">
                          <a:latin typeface="Arial"/>
                          <a:cs typeface="Arial"/>
                        </a:rPr>
                        <a:t>D0</a:t>
                      </a:r>
                      <a:endParaRPr sz="800" dirty="0">
                        <a:latin typeface="Arial"/>
                        <a:cs typeface="Arial"/>
                      </a:endParaRPr>
                    </a:p>
                  </a:txBody>
                  <a:tcPr marL="0" marR="0" marT="3302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extLst>
                  <a:ext uri="{0D108BD9-81ED-4DB2-BD59-A6C34878D82A}">
                    <a16:rowId xmlns:a16="http://schemas.microsoft.com/office/drawing/2014/main" val="10000"/>
                  </a:ext>
                </a:extLst>
              </a:tr>
              <a:tr h="193675">
                <a:tc>
                  <a:txBody>
                    <a:bodyPr/>
                    <a:lstStyle/>
                    <a:p>
                      <a:pPr marL="635" algn="ctr">
                        <a:lnSpc>
                          <a:spcPct val="100000"/>
                        </a:lnSpc>
                        <a:spcBef>
                          <a:spcPts val="265"/>
                        </a:spcBef>
                      </a:pPr>
                      <a:r>
                        <a:rPr sz="800" spc="-5" dirty="0">
                          <a:latin typeface="Arial"/>
                          <a:cs typeface="Arial"/>
                        </a:rPr>
                        <a:t>‘h17</a:t>
                      </a:r>
                      <a:endParaRPr sz="8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algn="ctr">
                        <a:lnSpc>
                          <a:spcPct val="100000"/>
                        </a:lnSpc>
                        <a:spcBef>
                          <a:spcPts val="265"/>
                        </a:spcBef>
                      </a:pPr>
                      <a:r>
                        <a:rPr sz="800" dirty="0">
                          <a:latin typeface="Arial"/>
                          <a:cs typeface="Arial"/>
                        </a:rPr>
                        <a:t>0</a:t>
                      </a: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2540" algn="ctr">
                        <a:lnSpc>
                          <a:spcPct val="100000"/>
                        </a:lnSpc>
                        <a:spcBef>
                          <a:spcPts val="305"/>
                        </a:spcBef>
                      </a:pPr>
                      <a:r>
                        <a:rPr sz="700" dirty="0">
                          <a:latin typeface="Arial"/>
                          <a:cs typeface="Arial"/>
                        </a:rPr>
                        <a:t>x</a:t>
                      </a:r>
                    </a:p>
                  </a:txBody>
                  <a:tcPr marL="0" marR="0" marT="3873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3175" algn="ctr">
                        <a:lnSpc>
                          <a:spcPct val="100000"/>
                        </a:lnSpc>
                        <a:spcBef>
                          <a:spcPts val="325"/>
                        </a:spcBef>
                      </a:pPr>
                      <a:r>
                        <a:rPr sz="700" dirty="0">
                          <a:latin typeface="Arial"/>
                          <a:cs typeface="Arial"/>
                        </a:rPr>
                        <a:t>x</a:t>
                      </a:r>
                    </a:p>
                  </a:txBody>
                  <a:tcPr marL="0" marR="0" marT="4127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2540" algn="ctr">
                        <a:lnSpc>
                          <a:spcPct val="100000"/>
                        </a:lnSpc>
                        <a:spcBef>
                          <a:spcPts val="305"/>
                        </a:spcBef>
                      </a:pPr>
                      <a:r>
                        <a:rPr sz="700" dirty="0">
                          <a:latin typeface="Arial"/>
                          <a:cs typeface="Arial"/>
                        </a:rPr>
                        <a:t>x</a:t>
                      </a:r>
                    </a:p>
                  </a:txBody>
                  <a:tcPr marL="0" marR="0" marT="3873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3175" algn="ctr">
                        <a:lnSpc>
                          <a:spcPct val="100000"/>
                        </a:lnSpc>
                        <a:spcBef>
                          <a:spcPts val="325"/>
                        </a:spcBef>
                      </a:pPr>
                      <a:r>
                        <a:rPr sz="700" dirty="0">
                          <a:latin typeface="Arial"/>
                          <a:cs typeface="Arial"/>
                        </a:rPr>
                        <a:t>x</a:t>
                      </a:r>
                    </a:p>
                  </a:txBody>
                  <a:tcPr marL="0" marR="0" marT="4127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gridSpan="12">
                  <a:txBody>
                    <a:bodyPr/>
                    <a:lstStyle/>
                    <a:p>
                      <a:pPr marL="635" algn="ctr">
                        <a:lnSpc>
                          <a:spcPct val="100000"/>
                        </a:lnSpc>
                        <a:spcBef>
                          <a:spcPts val="305"/>
                        </a:spcBef>
                      </a:pPr>
                      <a:r>
                        <a:rPr sz="700" spc="-5" dirty="0">
                          <a:latin typeface="Arial"/>
                          <a:cs typeface="Arial"/>
                        </a:rPr>
                        <a:t>FULL_STEP_SIZE</a:t>
                      </a:r>
                      <a:r>
                        <a:rPr sz="700" spc="-40" dirty="0">
                          <a:latin typeface="Arial"/>
                          <a:cs typeface="Arial"/>
                        </a:rPr>
                        <a:t> </a:t>
                      </a:r>
                      <a:r>
                        <a:rPr sz="700" spc="-5" dirty="0">
                          <a:latin typeface="Arial"/>
                          <a:cs typeface="Arial"/>
                        </a:rPr>
                        <a:t>[11:0]</a:t>
                      </a:r>
                      <a:endParaRPr sz="700" dirty="0">
                        <a:latin typeface="Arial"/>
                        <a:cs typeface="Arial"/>
                      </a:endParaRPr>
                    </a:p>
                  </a:txBody>
                  <a:tcPr marL="0" marR="0" marT="3873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1"/>
                  </a:ext>
                </a:extLst>
              </a:tr>
            </a:tbl>
          </a:graphicData>
        </a:graphic>
      </p:graphicFrame>
      <p:graphicFrame>
        <p:nvGraphicFramePr>
          <p:cNvPr id="10" name="object 10"/>
          <p:cNvGraphicFramePr>
            <a:graphicFrameLocks noGrp="1"/>
          </p:cNvGraphicFramePr>
          <p:nvPr>
            <p:extLst>
              <p:ext uri="{D42A27DB-BD31-4B8C-83A1-F6EECF244321}">
                <p14:modId xmlns:p14="http://schemas.microsoft.com/office/powerpoint/2010/main" val="328887783"/>
              </p:ext>
            </p:extLst>
          </p:nvPr>
        </p:nvGraphicFramePr>
        <p:xfrm>
          <a:off x="400906" y="3376739"/>
          <a:ext cx="6038536" cy="387350"/>
        </p:xfrm>
        <a:graphic>
          <a:graphicData uri="http://schemas.openxmlformats.org/drawingml/2006/table">
            <a:tbl>
              <a:tblPr firstRow="1" bandRow="1">
                <a:tableStyleId>{2D5ABB26-0587-4C30-8999-92F81FD0307C}</a:tableStyleId>
              </a:tblPr>
              <a:tblGrid>
                <a:gridCol w="412143">
                  <a:extLst>
                    <a:ext uri="{9D8B030D-6E8A-4147-A177-3AD203B41FA5}">
                      <a16:colId xmlns:a16="http://schemas.microsoft.com/office/drawing/2014/main" val="20000"/>
                    </a:ext>
                  </a:extLst>
                </a:gridCol>
                <a:gridCol w="474307">
                  <a:extLst>
                    <a:ext uri="{9D8B030D-6E8A-4147-A177-3AD203B41FA5}">
                      <a16:colId xmlns:a16="http://schemas.microsoft.com/office/drawing/2014/main" val="20001"/>
                    </a:ext>
                  </a:extLst>
                </a:gridCol>
                <a:gridCol w="322005">
                  <a:extLst>
                    <a:ext uri="{9D8B030D-6E8A-4147-A177-3AD203B41FA5}">
                      <a16:colId xmlns:a16="http://schemas.microsoft.com/office/drawing/2014/main" val="20002"/>
                    </a:ext>
                  </a:extLst>
                </a:gridCol>
                <a:gridCol w="322006">
                  <a:extLst>
                    <a:ext uri="{9D8B030D-6E8A-4147-A177-3AD203B41FA5}">
                      <a16:colId xmlns:a16="http://schemas.microsoft.com/office/drawing/2014/main" val="20003"/>
                    </a:ext>
                  </a:extLst>
                </a:gridCol>
                <a:gridCol w="322006">
                  <a:extLst>
                    <a:ext uri="{9D8B030D-6E8A-4147-A177-3AD203B41FA5}">
                      <a16:colId xmlns:a16="http://schemas.microsoft.com/office/drawing/2014/main" val="20004"/>
                    </a:ext>
                  </a:extLst>
                </a:gridCol>
                <a:gridCol w="322006">
                  <a:extLst>
                    <a:ext uri="{9D8B030D-6E8A-4147-A177-3AD203B41FA5}">
                      <a16:colId xmlns:a16="http://schemas.microsoft.com/office/drawing/2014/main" val="20005"/>
                    </a:ext>
                  </a:extLst>
                </a:gridCol>
                <a:gridCol w="322006">
                  <a:extLst>
                    <a:ext uri="{9D8B030D-6E8A-4147-A177-3AD203B41FA5}">
                      <a16:colId xmlns:a16="http://schemas.microsoft.com/office/drawing/2014/main" val="20006"/>
                    </a:ext>
                  </a:extLst>
                </a:gridCol>
                <a:gridCol w="322006">
                  <a:extLst>
                    <a:ext uri="{9D8B030D-6E8A-4147-A177-3AD203B41FA5}">
                      <a16:colId xmlns:a16="http://schemas.microsoft.com/office/drawing/2014/main" val="20007"/>
                    </a:ext>
                  </a:extLst>
                </a:gridCol>
                <a:gridCol w="322006">
                  <a:extLst>
                    <a:ext uri="{9D8B030D-6E8A-4147-A177-3AD203B41FA5}">
                      <a16:colId xmlns:a16="http://schemas.microsoft.com/office/drawing/2014/main" val="20008"/>
                    </a:ext>
                  </a:extLst>
                </a:gridCol>
                <a:gridCol w="322005">
                  <a:extLst>
                    <a:ext uri="{9D8B030D-6E8A-4147-A177-3AD203B41FA5}">
                      <a16:colId xmlns:a16="http://schemas.microsoft.com/office/drawing/2014/main" val="20009"/>
                    </a:ext>
                  </a:extLst>
                </a:gridCol>
                <a:gridCol w="322005">
                  <a:extLst>
                    <a:ext uri="{9D8B030D-6E8A-4147-A177-3AD203B41FA5}">
                      <a16:colId xmlns:a16="http://schemas.microsoft.com/office/drawing/2014/main" val="20010"/>
                    </a:ext>
                  </a:extLst>
                </a:gridCol>
                <a:gridCol w="322005">
                  <a:extLst>
                    <a:ext uri="{9D8B030D-6E8A-4147-A177-3AD203B41FA5}">
                      <a16:colId xmlns:a16="http://schemas.microsoft.com/office/drawing/2014/main" val="20011"/>
                    </a:ext>
                  </a:extLst>
                </a:gridCol>
                <a:gridCol w="322005">
                  <a:extLst>
                    <a:ext uri="{9D8B030D-6E8A-4147-A177-3AD203B41FA5}">
                      <a16:colId xmlns:a16="http://schemas.microsoft.com/office/drawing/2014/main" val="20012"/>
                    </a:ext>
                  </a:extLst>
                </a:gridCol>
                <a:gridCol w="322005">
                  <a:extLst>
                    <a:ext uri="{9D8B030D-6E8A-4147-A177-3AD203B41FA5}">
                      <a16:colId xmlns:a16="http://schemas.microsoft.com/office/drawing/2014/main" val="20013"/>
                    </a:ext>
                  </a:extLst>
                </a:gridCol>
                <a:gridCol w="322005">
                  <a:extLst>
                    <a:ext uri="{9D8B030D-6E8A-4147-A177-3AD203B41FA5}">
                      <a16:colId xmlns:a16="http://schemas.microsoft.com/office/drawing/2014/main" val="20014"/>
                    </a:ext>
                  </a:extLst>
                </a:gridCol>
                <a:gridCol w="322005">
                  <a:extLst>
                    <a:ext uri="{9D8B030D-6E8A-4147-A177-3AD203B41FA5}">
                      <a16:colId xmlns:a16="http://schemas.microsoft.com/office/drawing/2014/main" val="20015"/>
                    </a:ext>
                  </a:extLst>
                </a:gridCol>
                <a:gridCol w="322005">
                  <a:extLst>
                    <a:ext uri="{9D8B030D-6E8A-4147-A177-3AD203B41FA5}">
                      <a16:colId xmlns:a16="http://schemas.microsoft.com/office/drawing/2014/main" val="20016"/>
                    </a:ext>
                  </a:extLst>
                </a:gridCol>
                <a:gridCol w="322005">
                  <a:extLst>
                    <a:ext uri="{9D8B030D-6E8A-4147-A177-3AD203B41FA5}">
                      <a16:colId xmlns:a16="http://schemas.microsoft.com/office/drawing/2014/main" val="20017"/>
                    </a:ext>
                  </a:extLst>
                </a:gridCol>
              </a:tblGrid>
              <a:tr h="193675">
                <a:tc>
                  <a:txBody>
                    <a:bodyPr/>
                    <a:lstStyle/>
                    <a:p>
                      <a:pPr algn="ctr">
                        <a:lnSpc>
                          <a:spcPct val="100000"/>
                        </a:lnSpc>
                        <a:spcBef>
                          <a:spcPts val="265"/>
                        </a:spcBef>
                      </a:pPr>
                      <a:r>
                        <a:rPr sz="800" dirty="0">
                          <a:latin typeface="Arial"/>
                          <a:cs typeface="Arial"/>
                        </a:rPr>
                        <a:t>A[6:0]</a:t>
                      </a: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algn="ctr">
                        <a:lnSpc>
                          <a:spcPct val="100000"/>
                        </a:lnSpc>
                        <a:spcBef>
                          <a:spcPts val="265"/>
                        </a:spcBef>
                      </a:pPr>
                      <a:r>
                        <a:rPr sz="800" spc="-5" dirty="0">
                          <a:latin typeface="Arial"/>
                          <a:cs typeface="Arial"/>
                        </a:rPr>
                        <a:t>Default</a:t>
                      </a:r>
                      <a:endParaRPr sz="8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1270" algn="ctr">
                        <a:lnSpc>
                          <a:spcPct val="100000"/>
                        </a:lnSpc>
                        <a:spcBef>
                          <a:spcPts val="265"/>
                        </a:spcBef>
                      </a:pPr>
                      <a:r>
                        <a:rPr sz="800" spc="-5" dirty="0">
                          <a:latin typeface="Arial"/>
                          <a:cs typeface="Arial"/>
                        </a:rPr>
                        <a:t>D15</a:t>
                      </a:r>
                      <a:endParaRPr sz="8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1905" algn="ctr">
                        <a:lnSpc>
                          <a:spcPct val="100000"/>
                        </a:lnSpc>
                        <a:spcBef>
                          <a:spcPts val="265"/>
                        </a:spcBef>
                      </a:pPr>
                      <a:r>
                        <a:rPr sz="800" spc="-5" dirty="0">
                          <a:latin typeface="Arial"/>
                          <a:cs typeface="Arial"/>
                        </a:rPr>
                        <a:t>D14</a:t>
                      </a:r>
                      <a:endParaRPr sz="8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1905" algn="ctr">
                        <a:lnSpc>
                          <a:spcPct val="100000"/>
                        </a:lnSpc>
                        <a:spcBef>
                          <a:spcPts val="265"/>
                        </a:spcBef>
                      </a:pPr>
                      <a:r>
                        <a:rPr sz="800" spc="-5" dirty="0">
                          <a:latin typeface="Arial"/>
                          <a:cs typeface="Arial"/>
                        </a:rPr>
                        <a:t>D13</a:t>
                      </a:r>
                      <a:endParaRPr sz="8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1905" algn="ctr">
                        <a:lnSpc>
                          <a:spcPct val="100000"/>
                        </a:lnSpc>
                        <a:spcBef>
                          <a:spcPts val="265"/>
                        </a:spcBef>
                      </a:pPr>
                      <a:r>
                        <a:rPr sz="800" spc="-5" dirty="0">
                          <a:latin typeface="Arial"/>
                          <a:cs typeface="Arial"/>
                        </a:rPr>
                        <a:t>D12</a:t>
                      </a:r>
                      <a:endParaRPr sz="8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1905" algn="ctr">
                        <a:lnSpc>
                          <a:spcPct val="100000"/>
                        </a:lnSpc>
                        <a:spcBef>
                          <a:spcPts val="265"/>
                        </a:spcBef>
                      </a:pPr>
                      <a:r>
                        <a:rPr sz="800" spc="-5" dirty="0">
                          <a:latin typeface="Arial"/>
                          <a:cs typeface="Arial"/>
                        </a:rPr>
                        <a:t>D11</a:t>
                      </a:r>
                      <a:endParaRPr sz="8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2540" algn="ctr">
                        <a:lnSpc>
                          <a:spcPct val="100000"/>
                        </a:lnSpc>
                        <a:spcBef>
                          <a:spcPts val="265"/>
                        </a:spcBef>
                      </a:pPr>
                      <a:r>
                        <a:rPr sz="800" spc="-5" dirty="0">
                          <a:latin typeface="Arial"/>
                          <a:cs typeface="Arial"/>
                        </a:rPr>
                        <a:t>D10</a:t>
                      </a:r>
                      <a:endParaRPr sz="8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algn="ctr">
                        <a:lnSpc>
                          <a:spcPct val="100000"/>
                        </a:lnSpc>
                        <a:spcBef>
                          <a:spcPts val="265"/>
                        </a:spcBef>
                      </a:pPr>
                      <a:r>
                        <a:rPr sz="800" spc="-10" dirty="0">
                          <a:latin typeface="Arial"/>
                          <a:cs typeface="Arial"/>
                        </a:rPr>
                        <a:t>D9</a:t>
                      </a:r>
                      <a:endParaRPr sz="8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R="91440" algn="r">
                        <a:lnSpc>
                          <a:spcPct val="100000"/>
                        </a:lnSpc>
                        <a:spcBef>
                          <a:spcPts val="265"/>
                        </a:spcBef>
                      </a:pPr>
                      <a:r>
                        <a:rPr sz="800" spc="-10" dirty="0">
                          <a:latin typeface="Arial"/>
                          <a:cs typeface="Arial"/>
                        </a:rPr>
                        <a:t>D8</a:t>
                      </a:r>
                      <a:endParaRPr sz="8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99695">
                        <a:lnSpc>
                          <a:spcPct val="100000"/>
                        </a:lnSpc>
                        <a:spcBef>
                          <a:spcPts val="265"/>
                        </a:spcBef>
                      </a:pPr>
                      <a:r>
                        <a:rPr sz="800" spc="-10" dirty="0">
                          <a:latin typeface="Arial"/>
                          <a:cs typeface="Arial"/>
                        </a:rPr>
                        <a:t>D7</a:t>
                      </a:r>
                      <a:endParaRPr sz="8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99695">
                        <a:lnSpc>
                          <a:spcPct val="100000"/>
                        </a:lnSpc>
                        <a:spcBef>
                          <a:spcPts val="265"/>
                        </a:spcBef>
                      </a:pPr>
                      <a:r>
                        <a:rPr sz="800" spc="-10" dirty="0">
                          <a:latin typeface="Arial"/>
                          <a:cs typeface="Arial"/>
                        </a:rPr>
                        <a:t>D6</a:t>
                      </a:r>
                      <a:endParaRPr sz="8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99695">
                        <a:lnSpc>
                          <a:spcPct val="100000"/>
                        </a:lnSpc>
                        <a:spcBef>
                          <a:spcPts val="265"/>
                        </a:spcBef>
                      </a:pPr>
                      <a:r>
                        <a:rPr sz="800" spc="-10" dirty="0">
                          <a:latin typeface="Arial"/>
                          <a:cs typeface="Arial"/>
                        </a:rPr>
                        <a:t>D5</a:t>
                      </a:r>
                      <a:endParaRPr sz="8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99695">
                        <a:lnSpc>
                          <a:spcPct val="100000"/>
                        </a:lnSpc>
                        <a:spcBef>
                          <a:spcPts val="265"/>
                        </a:spcBef>
                      </a:pPr>
                      <a:r>
                        <a:rPr sz="800" spc="-10" dirty="0">
                          <a:latin typeface="Arial"/>
                          <a:cs typeface="Arial"/>
                        </a:rPr>
                        <a:t>D4</a:t>
                      </a:r>
                      <a:endParaRPr sz="8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99695">
                        <a:lnSpc>
                          <a:spcPct val="100000"/>
                        </a:lnSpc>
                        <a:spcBef>
                          <a:spcPts val="265"/>
                        </a:spcBef>
                      </a:pPr>
                      <a:r>
                        <a:rPr sz="800" spc="-5" dirty="0">
                          <a:latin typeface="Arial"/>
                          <a:cs typeface="Arial"/>
                        </a:rPr>
                        <a:t>D3</a:t>
                      </a:r>
                      <a:endParaRPr sz="8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99695">
                        <a:lnSpc>
                          <a:spcPct val="100000"/>
                        </a:lnSpc>
                        <a:spcBef>
                          <a:spcPts val="265"/>
                        </a:spcBef>
                      </a:pPr>
                      <a:r>
                        <a:rPr sz="800" spc="-10" dirty="0">
                          <a:latin typeface="Arial"/>
                          <a:cs typeface="Arial"/>
                        </a:rPr>
                        <a:t>D2</a:t>
                      </a:r>
                      <a:endParaRPr sz="8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100330">
                        <a:lnSpc>
                          <a:spcPct val="100000"/>
                        </a:lnSpc>
                        <a:spcBef>
                          <a:spcPts val="265"/>
                        </a:spcBef>
                      </a:pPr>
                      <a:r>
                        <a:rPr sz="800" spc="-10" dirty="0">
                          <a:latin typeface="Arial"/>
                          <a:cs typeface="Arial"/>
                        </a:rPr>
                        <a:t>D1</a:t>
                      </a:r>
                      <a:endParaRPr sz="8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100330">
                        <a:lnSpc>
                          <a:spcPct val="100000"/>
                        </a:lnSpc>
                        <a:spcBef>
                          <a:spcPts val="265"/>
                        </a:spcBef>
                      </a:pPr>
                      <a:r>
                        <a:rPr sz="800" spc="-10" dirty="0">
                          <a:latin typeface="Arial"/>
                          <a:cs typeface="Arial"/>
                        </a:rPr>
                        <a:t>D0</a:t>
                      </a:r>
                      <a:endParaRPr sz="8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extLst>
                  <a:ext uri="{0D108BD9-81ED-4DB2-BD59-A6C34878D82A}">
                    <a16:rowId xmlns:a16="http://schemas.microsoft.com/office/drawing/2014/main" val="10000"/>
                  </a:ext>
                </a:extLst>
              </a:tr>
              <a:tr h="193675">
                <a:tc>
                  <a:txBody>
                    <a:bodyPr/>
                    <a:lstStyle/>
                    <a:p>
                      <a:pPr algn="ctr">
                        <a:lnSpc>
                          <a:spcPct val="100000"/>
                        </a:lnSpc>
                        <a:spcBef>
                          <a:spcPts val="265"/>
                        </a:spcBef>
                      </a:pPr>
                      <a:r>
                        <a:rPr sz="800" spc="-5" dirty="0">
                          <a:latin typeface="Arial"/>
                          <a:cs typeface="Arial"/>
                        </a:rPr>
                        <a:t>‘h18</a:t>
                      </a:r>
                      <a:endParaRPr sz="8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algn="ctr">
                        <a:lnSpc>
                          <a:spcPct val="100000"/>
                        </a:lnSpc>
                        <a:spcBef>
                          <a:spcPts val="265"/>
                        </a:spcBef>
                      </a:pPr>
                      <a:r>
                        <a:rPr sz="800" dirty="0">
                          <a:latin typeface="Arial"/>
                          <a:cs typeface="Arial"/>
                        </a:rPr>
                        <a:t>0</a:t>
                      </a: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2540" algn="ctr">
                        <a:lnSpc>
                          <a:spcPct val="100000"/>
                        </a:lnSpc>
                        <a:spcBef>
                          <a:spcPts val="305"/>
                        </a:spcBef>
                      </a:pPr>
                      <a:r>
                        <a:rPr sz="700" dirty="0">
                          <a:latin typeface="Arial"/>
                          <a:cs typeface="Arial"/>
                        </a:rPr>
                        <a:t>x</a:t>
                      </a:r>
                    </a:p>
                  </a:txBody>
                  <a:tcPr marL="0" marR="0" marT="3873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3175" algn="ctr">
                        <a:lnSpc>
                          <a:spcPct val="100000"/>
                        </a:lnSpc>
                        <a:spcBef>
                          <a:spcPts val="330"/>
                        </a:spcBef>
                      </a:pPr>
                      <a:r>
                        <a:rPr sz="700" dirty="0">
                          <a:latin typeface="Arial"/>
                          <a:cs typeface="Arial"/>
                        </a:rPr>
                        <a:t>x</a:t>
                      </a:r>
                    </a:p>
                  </a:txBody>
                  <a:tcPr marL="0" marR="0" marT="4191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2540" algn="ctr">
                        <a:lnSpc>
                          <a:spcPct val="100000"/>
                        </a:lnSpc>
                        <a:spcBef>
                          <a:spcPts val="305"/>
                        </a:spcBef>
                      </a:pPr>
                      <a:r>
                        <a:rPr sz="700" dirty="0">
                          <a:latin typeface="Arial"/>
                          <a:cs typeface="Arial"/>
                        </a:rPr>
                        <a:t>x</a:t>
                      </a:r>
                    </a:p>
                  </a:txBody>
                  <a:tcPr marL="0" marR="0" marT="3873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3175" algn="ctr">
                        <a:lnSpc>
                          <a:spcPct val="100000"/>
                        </a:lnSpc>
                        <a:spcBef>
                          <a:spcPts val="330"/>
                        </a:spcBef>
                      </a:pPr>
                      <a:r>
                        <a:rPr sz="700" dirty="0">
                          <a:latin typeface="Arial"/>
                          <a:cs typeface="Arial"/>
                        </a:rPr>
                        <a:t>x</a:t>
                      </a:r>
                    </a:p>
                  </a:txBody>
                  <a:tcPr marL="0" marR="0" marT="4191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3175" algn="ctr">
                        <a:lnSpc>
                          <a:spcPct val="100000"/>
                        </a:lnSpc>
                        <a:spcBef>
                          <a:spcPts val="305"/>
                        </a:spcBef>
                      </a:pPr>
                      <a:r>
                        <a:rPr sz="700" dirty="0">
                          <a:latin typeface="Arial"/>
                          <a:cs typeface="Arial"/>
                        </a:rPr>
                        <a:t>x</a:t>
                      </a:r>
                    </a:p>
                  </a:txBody>
                  <a:tcPr marL="0" marR="0" marT="3873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3175" algn="ctr">
                        <a:lnSpc>
                          <a:spcPct val="100000"/>
                        </a:lnSpc>
                        <a:spcBef>
                          <a:spcPts val="330"/>
                        </a:spcBef>
                      </a:pPr>
                      <a:r>
                        <a:rPr sz="700" dirty="0">
                          <a:latin typeface="Arial"/>
                          <a:cs typeface="Arial"/>
                        </a:rPr>
                        <a:t>x</a:t>
                      </a:r>
                    </a:p>
                  </a:txBody>
                  <a:tcPr marL="0" marR="0" marT="4191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3175" algn="ctr">
                        <a:lnSpc>
                          <a:spcPct val="100000"/>
                        </a:lnSpc>
                        <a:spcBef>
                          <a:spcPts val="305"/>
                        </a:spcBef>
                      </a:pPr>
                      <a:r>
                        <a:rPr sz="700" dirty="0">
                          <a:latin typeface="Arial"/>
                          <a:cs typeface="Arial"/>
                        </a:rPr>
                        <a:t>x</a:t>
                      </a:r>
                    </a:p>
                  </a:txBody>
                  <a:tcPr marL="0" marR="0" marT="3873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R="132080" algn="r">
                        <a:lnSpc>
                          <a:spcPct val="100000"/>
                        </a:lnSpc>
                        <a:spcBef>
                          <a:spcPts val="330"/>
                        </a:spcBef>
                      </a:pPr>
                      <a:r>
                        <a:rPr sz="700" dirty="0">
                          <a:latin typeface="Arial"/>
                          <a:cs typeface="Arial"/>
                        </a:rPr>
                        <a:t>x</a:t>
                      </a:r>
                    </a:p>
                  </a:txBody>
                  <a:tcPr marL="0" marR="0" marT="4191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gridSpan="8">
                  <a:txBody>
                    <a:bodyPr/>
                    <a:lstStyle/>
                    <a:p>
                      <a:pPr marL="739775">
                        <a:lnSpc>
                          <a:spcPct val="100000"/>
                        </a:lnSpc>
                        <a:spcBef>
                          <a:spcPts val="305"/>
                        </a:spcBef>
                      </a:pPr>
                      <a:r>
                        <a:rPr sz="700" spc="-10" dirty="0">
                          <a:latin typeface="Arial"/>
                          <a:cs typeface="Arial"/>
                        </a:rPr>
                        <a:t>F</a:t>
                      </a:r>
                      <a:r>
                        <a:rPr sz="700" dirty="0">
                          <a:latin typeface="Arial"/>
                          <a:cs typeface="Arial"/>
                        </a:rPr>
                        <a:t>UL</a:t>
                      </a:r>
                      <a:r>
                        <a:rPr sz="700" spc="-5" dirty="0">
                          <a:latin typeface="Arial"/>
                          <a:cs typeface="Arial"/>
                        </a:rPr>
                        <a:t>L_</a:t>
                      </a:r>
                      <a:r>
                        <a:rPr sz="700" dirty="0">
                          <a:latin typeface="Arial"/>
                          <a:cs typeface="Arial"/>
                        </a:rPr>
                        <a:t>S</a:t>
                      </a:r>
                      <a:r>
                        <a:rPr sz="700" spc="5" dirty="0">
                          <a:latin typeface="Arial"/>
                          <a:cs typeface="Arial"/>
                        </a:rPr>
                        <a:t>T</a:t>
                      </a:r>
                      <a:r>
                        <a:rPr sz="700" dirty="0">
                          <a:latin typeface="Arial"/>
                          <a:cs typeface="Arial"/>
                        </a:rPr>
                        <a:t>EP</a:t>
                      </a:r>
                      <a:r>
                        <a:rPr sz="700" spc="-5" dirty="0">
                          <a:latin typeface="Arial"/>
                          <a:cs typeface="Arial"/>
                        </a:rPr>
                        <a:t>_</a:t>
                      </a:r>
                      <a:r>
                        <a:rPr sz="700" dirty="0">
                          <a:latin typeface="Arial"/>
                          <a:cs typeface="Arial"/>
                        </a:rPr>
                        <a:t>DU</a:t>
                      </a:r>
                      <a:r>
                        <a:rPr sz="700" spc="5" dirty="0">
                          <a:latin typeface="Arial"/>
                          <a:cs typeface="Arial"/>
                        </a:rPr>
                        <a:t>T</a:t>
                      </a:r>
                      <a:r>
                        <a:rPr sz="700" spc="-10" dirty="0">
                          <a:latin typeface="Arial"/>
                          <a:cs typeface="Arial"/>
                        </a:rPr>
                        <a:t>Y</a:t>
                      </a:r>
                      <a:r>
                        <a:rPr sz="700" spc="-5" dirty="0">
                          <a:latin typeface="Arial"/>
                          <a:cs typeface="Arial"/>
                        </a:rPr>
                        <a:t>_</a:t>
                      </a:r>
                      <a:r>
                        <a:rPr sz="700" spc="5" dirty="0">
                          <a:latin typeface="Arial"/>
                          <a:cs typeface="Arial"/>
                        </a:rPr>
                        <a:t>T</a:t>
                      </a:r>
                      <a:r>
                        <a:rPr sz="700" dirty="0">
                          <a:latin typeface="Arial"/>
                          <a:cs typeface="Arial"/>
                        </a:rPr>
                        <a:t>H</a:t>
                      </a:r>
                      <a:r>
                        <a:rPr sz="700" spc="-15" dirty="0">
                          <a:latin typeface="Arial"/>
                          <a:cs typeface="Arial"/>
                        </a:rPr>
                        <a:t> </a:t>
                      </a:r>
                      <a:r>
                        <a:rPr sz="700" dirty="0">
                          <a:latin typeface="Arial"/>
                          <a:cs typeface="Arial"/>
                        </a:rPr>
                        <a:t>[</a:t>
                      </a:r>
                      <a:r>
                        <a:rPr sz="700" spc="-5" dirty="0">
                          <a:latin typeface="Arial"/>
                          <a:cs typeface="Arial"/>
                        </a:rPr>
                        <a:t>7</a:t>
                      </a:r>
                      <a:r>
                        <a:rPr sz="700" dirty="0">
                          <a:latin typeface="Arial"/>
                          <a:cs typeface="Arial"/>
                        </a:rPr>
                        <a:t>:</a:t>
                      </a:r>
                      <a:r>
                        <a:rPr sz="700" spc="-5" dirty="0">
                          <a:latin typeface="Arial"/>
                          <a:cs typeface="Arial"/>
                        </a:rPr>
                        <a:t>0</a:t>
                      </a:r>
                      <a:r>
                        <a:rPr sz="700" dirty="0">
                          <a:latin typeface="Arial"/>
                          <a:cs typeface="Arial"/>
                        </a:rPr>
                        <a:t>]</a:t>
                      </a:r>
                    </a:p>
                  </a:txBody>
                  <a:tcPr marL="0" marR="0" marT="3873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1"/>
                  </a:ext>
                </a:extLst>
              </a:tr>
            </a:tbl>
          </a:graphicData>
        </a:graphic>
      </p:graphicFrame>
      <p:graphicFrame>
        <p:nvGraphicFramePr>
          <p:cNvPr id="11" name="object 11"/>
          <p:cNvGraphicFramePr>
            <a:graphicFrameLocks noGrp="1"/>
          </p:cNvGraphicFramePr>
          <p:nvPr>
            <p:extLst>
              <p:ext uri="{D42A27DB-BD31-4B8C-83A1-F6EECF244321}">
                <p14:modId xmlns:p14="http://schemas.microsoft.com/office/powerpoint/2010/main" val="1999640539"/>
              </p:ext>
            </p:extLst>
          </p:nvPr>
        </p:nvGraphicFramePr>
        <p:xfrm>
          <a:off x="400911" y="6601523"/>
          <a:ext cx="6038535" cy="387350"/>
        </p:xfrm>
        <a:graphic>
          <a:graphicData uri="http://schemas.openxmlformats.org/drawingml/2006/table">
            <a:tbl>
              <a:tblPr firstRow="1" bandRow="1">
                <a:tableStyleId>{2D5ABB26-0587-4C30-8999-92F81FD0307C}</a:tableStyleId>
              </a:tblPr>
              <a:tblGrid>
                <a:gridCol w="412143">
                  <a:extLst>
                    <a:ext uri="{9D8B030D-6E8A-4147-A177-3AD203B41FA5}">
                      <a16:colId xmlns:a16="http://schemas.microsoft.com/office/drawing/2014/main" val="20000"/>
                    </a:ext>
                  </a:extLst>
                </a:gridCol>
                <a:gridCol w="474306">
                  <a:extLst>
                    <a:ext uri="{9D8B030D-6E8A-4147-A177-3AD203B41FA5}">
                      <a16:colId xmlns:a16="http://schemas.microsoft.com/office/drawing/2014/main" val="20001"/>
                    </a:ext>
                  </a:extLst>
                </a:gridCol>
                <a:gridCol w="322005">
                  <a:extLst>
                    <a:ext uri="{9D8B030D-6E8A-4147-A177-3AD203B41FA5}">
                      <a16:colId xmlns:a16="http://schemas.microsoft.com/office/drawing/2014/main" val="20002"/>
                    </a:ext>
                  </a:extLst>
                </a:gridCol>
                <a:gridCol w="322006">
                  <a:extLst>
                    <a:ext uri="{9D8B030D-6E8A-4147-A177-3AD203B41FA5}">
                      <a16:colId xmlns:a16="http://schemas.microsoft.com/office/drawing/2014/main" val="20003"/>
                    </a:ext>
                  </a:extLst>
                </a:gridCol>
                <a:gridCol w="322006">
                  <a:extLst>
                    <a:ext uri="{9D8B030D-6E8A-4147-A177-3AD203B41FA5}">
                      <a16:colId xmlns:a16="http://schemas.microsoft.com/office/drawing/2014/main" val="20004"/>
                    </a:ext>
                  </a:extLst>
                </a:gridCol>
                <a:gridCol w="322006">
                  <a:extLst>
                    <a:ext uri="{9D8B030D-6E8A-4147-A177-3AD203B41FA5}">
                      <a16:colId xmlns:a16="http://schemas.microsoft.com/office/drawing/2014/main" val="20005"/>
                    </a:ext>
                  </a:extLst>
                </a:gridCol>
                <a:gridCol w="322006">
                  <a:extLst>
                    <a:ext uri="{9D8B030D-6E8A-4147-A177-3AD203B41FA5}">
                      <a16:colId xmlns:a16="http://schemas.microsoft.com/office/drawing/2014/main" val="20006"/>
                    </a:ext>
                  </a:extLst>
                </a:gridCol>
                <a:gridCol w="322006">
                  <a:extLst>
                    <a:ext uri="{9D8B030D-6E8A-4147-A177-3AD203B41FA5}">
                      <a16:colId xmlns:a16="http://schemas.microsoft.com/office/drawing/2014/main" val="20007"/>
                    </a:ext>
                  </a:extLst>
                </a:gridCol>
                <a:gridCol w="322006">
                  <a:extLst>
                    <a:ext uri="{9D8B030D-6E8A-4147-A177-3AD203B41FA5}">
                      <a16:colId xmlns:a16="http://schemas.microsoft.com/office/drawing/2014/main" val="20008"/>
                    </a:ext>
                  </a:extLst>
                </a:gridCol>
                <a:gridCol w="322005">
                  <a:extLst>
                    <a:ext uri="{9D8B030D-6E8A-4147-A177-3AD203B41FA5}">
                      <a16:colId xmlns:a16="http://schemas.microsoft.com/office/drawing/2014/main" val="20009"/>
                    </a:ext>
                  </a:extLst>
                </a:gridCol>
                <a:gridCol w="322005">
                  <a:extLst>
                    <a:ext uri="{9D8B030D-6E8A-4147-A177-3AD203B41FA5}">
                      <a16:colId xmlns:a16="http://schemas.microsoft.com/office/drawing/2014/main" val="20010"/>
                    </a:ext>
                  </a:extLst>
                </a:gridCol>
                <a:gridCol w="322005">
                  <a:extLst>
                    <a:ext uri="{9D8B030D-6E8A-4147-A177-3AD203B41FA5}">
                      <a16:colId xmlns:a16="http://schemas.microsoft.com/office/drawing/2014/main" val="20011"/>
                    </a:ext>
                  </a:extLst>
                </a:gridCol>
                <a:gridCol w="322005">
                  <a:extLst>
                    <a:ext uri="{9D8B030D-6E8A-4147-A177-3AD203B41FA5}">
                      <a16:colId xmlns:a16="http://schemas.microsoft.com/office/drawing/2014/main" val="20012"/>
                    </a:ext>
                  </a:extLst>
                </a:gridCol>
                <a:gridCol w="322005">
                  <a:extLst>
                    <a:ext uri="{9D8B030D-6E8A-4147-A177-3AD203B41FA5}">
                      <a16:colId xmlns:a16="http://schemas.microsoft.com/office/drawing/2014/main" val="20013"/>
                    </a:ext>
                  </a:extLst>
                </a:gridCol>
                <a:gridCol w="322005">
                  <a:extLst>
                    <a:ext uri="{9D8B030D-6E8A-4147-A177-3AD203B41FA5}">
                      <a16:colId xmlns:a16="http://schemas.microsoft.com/office/drawing/2014/main" val="20014"/>
                    </a:ext>
                  </a:extLst>
                </a:gridCol>
                <a:gridCol w="322005">
                  <a:extLst>
                    <a:ext uri="{9D8B030D-6E8A-4147-A177-3AD203B41FA5}">
                      <a16:colId xmlns:a16="http://schemas.microsoft.com/office/drawing/2014/main" val="20015"/>
                    </a:ext>
                  </a:extLst>
                </a:gridCol>
                <a:gridCol w="322005">
                  <a:extLst>
                    <a:ext uri="{9D8B030D-6E8A-4147-A177-3AD203B41FA5}">
                      <a16:colId xmlns:a16="http://schemas.microsoft.com/office/drawing/2014/main" val="20016"/>
                    </a:ext>
                  </a:extLst>
                </a:gridCol>
                <a:gridCol w="322005">
                  <a:extLst>
                    <a:ext uri="{9D8B030D-6E8A-4147-A177-3AD203B41FA5}">
                      <a16:colId xmlns:a16="http://schemas.microsoft.com/office/drawing/2014/main" val="20017"/>
                    </a:ext>
                  </a:extLst>
                </a:gridCol>
              </a:tblGrid>
              <a:tr h="193675">
                <a:tc>
                  <a:txBody>
                    <a:bodyPr/>
                    <a:lstStyle/>
                    <a:p>
                      <a:pPr algn="ctr">
                        <a:lnSpc>
                          <a:spcPct val="100000"/>
                        </a:lnSpc>
                        <a:spcBef>
                          <a:spcPts val="270"/>
                        </a:spcBef>
                      </a:pPr>
                      <a:r>
                        <a:rPr sz="800" dirty="0">
                          <a:latin typeface="Arial"/>
                          <a:cs typeface="Arial"/>
                        </a:rPr>
                        <a:t>A[6:0]</a:t>
                      </a: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algn="ctr">
                        <a:lnSpc>
                          <a:spcPct val="100000"/>
                        </a:lnSpc>
                        <a:spcBef>
                          <a:spcPts val="270"/>
                        </a:spcBef>
                      </a:pPr>
                      <a:r>
                        <a:rPr sz="800" spc="-5" dirty="0">
                          <a:latin typeface="Arial"/>
                          <a:cs typeface="Arial"/>
                        </a:rPr>
                        <a:t>Default</a:t>
                      </a:r>
                      <a:endParaRPr sz="8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71755">
                        <a:lnSpc>
                          <a:spcPct val="100000"/>
                        </a:lnSpc>
                        <a:spcBef>
                          <a:spcPts val="270"/>
                        </a:spcBef>
                      </a:pPr>
                      <a:r>
                        <a:rPr sz="800" spc="-5" dirty="0">
                          <a:latin typeface="Arial"/>
                          <a:cs typeface="Arial"/>
                        </a:rPr>
                        <a:t>D15</a:t>
                      </a:r>
                      <a:endParaRPr sz="8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1905" algn="ctr">
                        <a:lnSpc>
                          <a:spcPct val="100000"/>
                        </a:lnSpc>
                        <a:spcBef>
                          <a:spcPts val="270"/>
                        </a:spcBef>
                      </a:pPr>
                      <a:r>
                        <a:rPr sz="800" spc="-5" dirty="0">
                          <a:latin typeface="Arial"/>
                          <a:cs typeface="Arial"/>
                        </a:rPr>
                        <a:t>D14</a:t>
                      </a:r>
                      <a:endParaRPr sz="8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71755">
                        <a:lnSpc>
                          <a:spcPct val="100000"/>
                        </a:lnSpc>
                        <a:spcBef>
                          <a:spcPts val="270"/>
                        </a:spcBef>
                      </a:pPr>
                      <a:r>
                        <a:rPr sz="800" spc="-5" dirty="0">
                          <a:latin typeface="Arial"/>
                          <a:cs typeface="Arial"/>
                        </a:rPr>
                        <a:t>D13</a:t>
                      </a:r>
                      <a:endParaRPr sz="8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1905" algn="ctr">
                        <a:lnSpc>
                          <a:spcPct val="100000"/>
                        </a:lnSpc>
                        <a:spcBef>
                          <a:spcPts val="270"/>
                        </a:spcBef>
                      </a:pPr>
                      <a:r>
                        <a:rPr sz="800" spc="-5" dirty="0">
                          <a:latin typeface="Arial"/>
                          <a:cs typeface="Arial"/>
                        </a:rPr>
                        <a:t>D12</a:t>
                      </a:r>
                      <a:endParaRPr sz="8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71755">
                        <a:lnSpc>
                          <a:spcPct val="100000"/>
                        </a:lnSpc>
                        <a:spcBef>
                          <a:spcPts val="270"/>
                        </a:spcBef>
                      </a:pPr>
                      <a:r>
                        <a:rPr sz="800" spc="-5" dirty="0">
                          <a:latin typeface="Arial"/>
                          <a:cs typeface="Arial"/>
                        </a:rPr>
                        <a:t>D11</a:t>
                      </a:r>
                      <a:endParaRPr sz="8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1905" algn="ctr">
                        <a:lnSpc>
                          <a:spcPct val="100000"/>
                        </a:lnSpc>
                        <a:spcBef>
                          <a:spcPts val="270"/>
                        </a:spcBef>
                      </a:pPr>
                      <a:r>
                        <a:rPr sz="800" spc="-5" dirty="0">
                          <a:latin typeface="Arial"/>
                          <a:cs typeface="Arial"/>
                        </a:rPr>
                        <a:t>D10</a:t>
                      </a:r>
                      <a:endParaRPr sz="8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algn="ctr">
                        <a:lnSpc>
                          <a:spcPct val="100000"/>
                        </a:lnSpc>
                        <a:spcBef>
                          <a:spcPts val="270"/>
                        </a:spcBef>
                      </a:pPr>
                      <a:r>
                        <a:rPr sz="800" spc="-5" dirty="0">
                          <a:latin typeface="Arial"/>
                          <a:cs typeface="Arial"/>
                        </a:rPr>
                        <a:t>D9</a:t>
                      </a:r>
                      <a:endParaRPr sz="8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99695">
                        <a:lnSpc>
                          <a:spcPct val="100000"/>
                        </a:lnSpc>
                        <a:spcBef>
                          <a:spcPts val="270"/>
                        </a:spcBef>
                      </a:pPr>
                      <a:r>
                        <a:rPr sz="800" spc="-5" dirty="0">
                          <a:latin typeface="Arial"/>
                          <a:cs typeface="Arial"/>
                        </a:rPr>
                        <a:t>D8</a:t>
                      </a:r>
                      <a:endParaRPr sz="8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99695">
                        <a:lnSpc>
                          <a:spcPct val="100000"/>
                        </a:lnSpc>
                        <a:spcBef>
                          <a:spcPts val="270"/>
                        </a:spcBef>
                      </a:pPr>
                      <a:r>
                        <a:rPr sz="800" spc="-5" dirty="0">
                          <a:latin typeface="Arial"/>
                          <a:cs typeface="Arial"/>
                        </a:rPr>
                        <a:t>D7</a:t>
                      </a:r>
                      <a:endParaRPr sz="8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635" algn="ctr">
                        <a:lnSpc>
                          <a:spcPct val="100000"/>
                        </a:lnSpc>
                        <a:spcBef>
                          <a:spcPts val="270"/>
                        </a:spcBef>
                      </a:pPr>
                      <a:r>
                        <a:rPr sz="800" spc="-5" dirty="0">
                          <a:latin typeface="Arial"/>
                          <a:cs typeface="Arial"/>
                        </a:rPr>
                        <a:t>D6</a:t>
                      </a:r>
                      <a:endParaRPr sz="8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99695">
                        <a:lnSpc>
                          <a:spcPct val="100000"/>
                        </a:lnSpc>
                        <a:spcBef>
                          <a:spcPts val="270"/>
                        </a:spcBef>
                      </a:pPr>
                      <a:r>
                        <a:rPr sz="800" spc="-5" dirty="0">
                          <a:latin typeface="Arial"/>
                          <a:cs typeface="Arial"/>
                        </a:rPr>
                        <a:t>D5</a:t>
                      </a:r>
                      <a:endParaRPr sz="8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635" algn="ctr">
                        <a:lnSpc>
                          <a:spcPct val="100000"/>
                        </a:lnSpc>
                        <a:spcBef>
                          <a:spcPts val="270"/>
                        </a:spcBef>
                      </a:pPr>
                      <a:r>
                        <a:rPr sz="800" spc="-5" dirty="0">
                          <a:latin typeface="Arial"/>
                          <a:cs typeface="Arial"/>
                        </a:rPr>
                        <a:t>D4</a:t>
                      </a:r>
                      <a:endParaRPr sz="8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99695">
                        <a:lnSpc>
                          <a:spcPct val="100000"/>
                        </a:lnSpc>
                        <a:spcBef>
                          <a:spcPts val="270"/>
                        </a:spcBef>
                      </a:pPr>
                      <a:r>
                        <a:rPr sz="800" spc="-5" dirty="0">
                          <a:latin typeface="Arial"/>
                          <a:cs typeface="Arial"/>
                        </a:rPr>
                        <a:t>D3</a:t>
                      </a:r>
                      <a:endParaRPr sz="8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1270" algn="ctr">
                        <a:lnSpc>
                          <a:spcPct val="100000"/>
                        </a:lnSpc>
                        <a:spcBef>
                          <a:spcPts val="270"/>
                        </a:spcBef>
                      </a:pPr>
                      <a:r>
                        <a:rPr sz="800" spc="-5" dirty="0">
                          <a:latin typeface="Arial"/>
                          <a:cs typeface="Arial"/>
                        </a:rPr>
                        <a:t>D2</a:t>
                      </a:r>
                      <a:endParaRPr sz="8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99695">
                        <a:lnSpc>
                          <a:spcPct val="100000"/>
                        </a:lnSpc>
                        <a:spcBef>
                          <a:spcPts val="270"/>
                        </a:spcBef>
                      </a:pPr>
                      <a:r>
                        <a:rPr sz="800" spc="-5" dirty="0">
                          <a:latin typeface="Arial"/>
                          <a:cs typeface="Arial"/>
                        </a:rPr>
                        <a:t>D1</a:t>
                      </a:r>
                      <a:endParaRPr sz="8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1270" algn="ctr">
                        <a:lnSpc>
                          <a:spcPct val="100000"/>
                        </a:lnSpc>
                        <a:spcBef>
                          <a:spcPts val="270"/>
                        </a:spcBef>
                      </a:pPr>
                      <a:r>
                        <a:rPr sz="800" spc="-5" dirty="0">
                          <a:latin typeface="Arial"/>
                          <a:cs typeface="Arial"/>
                        </a:rPr>
                        <a:t>D0</a:t>
                      </a:r>
                      <a:endParaRPr sz="8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extLst>
                  <a:ext uri="{0D108BD9-81ED-4DB2-BD59-A6C34878D82A}">
                    <a16:rowId xmlns:a16="http://schemas.microsoft.com/office/drawing/2014/main" val="10000"/>
                  </a:ext>
                </a:extLst>
              </a:tr>
              <a:tr h="193675">
                <a:tc>
                  <a:txBody>
                    <a:bodyPr/>
                    <a:lstStyle/>
                    <a:p>
                      <a:pPr algn="ctr">
                        <a:lnSpc>
                          <a:spcPct val="100000"/>
                        </a:lnSpc>
                        <a:spcBef>
                          <a:spcPts val="270"/>
                        </a:spcBef>
                      </a:pPr>
                      <a:r>
                        <a:rPr sz="800" spc="-5" dirty="0">
                          <a:latin typeface="Arial"/>
                          <a:cs typeface="Arial"/>
                        </a:rPr>
                        <a:t>‘h19</a:t>
                      </a:r>
                      <a:endParaRPr sz="8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algn="ctr">
                        <a:lnSpc>
                          <a:spcPct val="100000"/>
                        </a:lnSpc>
                        <a:spcBef>
                          <a:spcPts val="270"/>
                        </a:spcBef>
                      </a:pPr>
                      <a:r>
                        <a:rPr sz="800" dirty="0">
                          <a:latin typeface="Arial"/>
                          <a:cs typeface="Arial"/>
                        </a:rPr>
                        <a:t>0</a:t>
                      </a: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51435">
                        <a:lnSpc>
                          <a:spcPct val="100000"/>
                        </a:lnSpc>
                        <a:spcBef>
                          <a:spcPts val="310"/>
                        </a:spcBef>
                      </a:pPr>
                      <a:r>
                        <a:rPr sz="700" spc="-5" dirty="0">
                          <a:latin typeface="Arial"/>
                          <a:cs typeface="Arial"/>
                        </a:rPr>
                        <a:t>CH16</a:t>
                      </a:r>
                      <a:endParaRPr sz="700" dirty="0">
                        <a:latin typeface="Arial"/>
                        <a:cs typeface="Arial"/>
                      </a:endParaRPr>
                    </a:p>
                  </a:txBody>
                  <a:tcPr marL="0" marR="0" marT="3937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1905" algn="ctr">
                        <a:lnSpc>
                          <a:spcPct val="100000"/>
                        </a:lnSpc>
                        <a:spcBef>
                          <a:spcPts val="330"/>
                        </a:spcBef>
                      </a:pPr>
                      <a:r>
                        <a:rPr sz="700" spc="-5" dirty="0">
                          <a:latin typeface="Arial"/>
                          <a:cs typeface="Arial"/>
                        </a:rPr>
                        <a:t>CH15</a:t>
                      </a:r>
                      <a:endParaRPr sz="700" dirty="0">
                        <a:latin typeface="Arial"/>
                        <a:cs typeface="Arial"/>
                      </a:endParaRPr>
                    </a:p>
                  </a:txBody>
                  <a:tcPr marL="0" marR="0" marT="4191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52069">
                        <a:lnSpc>
                          <a:spcPct val="100000"/>
                        </a:lnSpc>
                        <a:spcBef>
                          <a:spcPts val="310"/>
                        </a:spcBef>
                      </a:pPr>
                      <a:r>
                        <a:rPr sz="700" spc="-5" dirty="0">
                          <a:latin typeface="Arial"/>
                          <a:cs typeface="Arial"/>
                        </a:rPr>
                        <a:t>CH14</a:t>
                      </a:r>
                      <a:endParaRPr sz="700" dirty="0">
                        <a:latin typeface="Arial"/>
                        <a:cs typeface="Arial"/>
                      </a:endParaRPr>
                    </a:p>
                  </a:txBody>
                  <a:tcPr marL="0" marR="0" marT="3937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1905" algn="ctr">
                        <a:lnSpc>
                          <a:spcPct val="100000"/>
                        </a:lnSpc>
                        <a:spcBef>
                          <a:spcPts val="330"/>
                        </a:spcBef>
                      </a:pPr>
                      <a:r>
                        <a:rPr sz="700" spc="-5" dirty="0">
                          <a:latin typeface="Arial"/>
                          <a:cs typeface="Arial"/>
                        </a:rPr>
                        <a:t>CH13</a:t>
                      </a:r>
                      <a:endParaRPr sz="700" dirty="0">
                        <a:latin typeface="Arial"/>
                        <a:cs typeface="Arial"/>
                      </a:endParaRPr>
                    </a:p>
                  </a:txBody>
                  <a:tcPr marL="0" marR="0" marT="4191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52069">
                        <a:lnSpc>
                          <a:spcPct val="100000"/>
                        </a:lnSpc>
                        <a:spcBef>
                          <a:spcPts val="310"/>
                        </a:spcBef>
                      </a:pPr>
                      <a:r>
                        <a:rPr sz="700" spc="-5" dirty="0">
                          <a:latin typeface="Arial"/>
                          <a:cs typeface="Arial"/>
                        </a:rPr>
                        <a:t>CH12</a:t>
                      </a:r>
                      <a:endParaRPr sz="700" dirty="0">
                        <a:latin typeface="Arial"/>
                        <a:cs typeface="Arial"/>
                      </a:endParaRPr>
                    </a:p>
                  </a:txBody>
                  <a:tcPr marL="0" marR="0" marT="3937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1905" algn="ctr">
                        <a:lnSpc>
                          <a:spcPct val="100000"/>
                        </a:lnSpc>
                        <a:spcBef>
                          <a:spcPts val="330"/>
                        </a:spcBef>
                      </a:pPr>
                      <a:r>
                        <a:rPr sz="700" spc="-5" dirty="0">
                          <a:latin typeface="Arial"/>
                          <a:cs typeface="Arial"/>
                        </a:rPr>
                        <a:t>CH11</a:t>
                      </a:r>
                      <a:endParaRPr sz="700" dirty="0">
                        <a:latin typeface="Arial"/>
                        <a:cs typeface="Arial"/>
                      </a:endParaRPr>
                    </a:p>
                  </a:txBody>
                  <a:tcPr marL="0" marR="0" marT="4191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1905" algn="ctr">
                        <a:lnSpc>
                          <a:spcPct val="100000"/>
                        </a:lnSpc>
                        <a:spcBef>
                          <a:spcPts val="310"/>
                        </a:spcBef>
                      </a:pPr>
                      <a:r>
                        <a:rPr sz="700" spc="-5" dirty="0">
                          <a:latin typeface="Arial"/>
                          <a:cs typeface="Arial"/>
                        </a:rPr>
                        <a:t>CH10</a:t>
                      </a:r>
                      <a:endParaRPr sz="700" dirty="0">
                        <a:latin typeface="Arial"/>
                        <a:cs typeface="Arial"/>
                      </a:endParaRPr>
                    </a:p>
                  </a:txBody>
                  <a:tcPr marL="0" marR="0" marT="3937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76835">
                        <a:lnSpc>
                          <a:spcPct val="100000"/>
                        </a:lnSpc>
                        <a:spcBef>
                          <a:spcPts val="330"/>
                        </a:spcBef>
                      </a:pPr>
                      <a:r>
                        <a:rPr sz="700" spc="-5" dirty="0">
                          <a:latin typeface="Arial"/>
                          <a:cs typeface="Arial"/>
                        </a:rPr>
                        <a:t>CH9</a:t>
                      </a:r>
                      <a:endParaRPr sz="700" dirty="0">
                        <a:latin typeface="Arial"/>
                        <a:cs typeface="Arial"/>
                      </a:endParaRPr>
                    </a:p>
                  </a:txBody>
                  <a:tcPr marL="0" marR="0" marT="4191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76835">
                        <a:lnSpc>
                          <a:spcPct val="100000"/>
                        </a:lnSpc>
                        <a:spcBef>
                          <a:spcPts val="310"/>
                        </a:spcBef>
                      </a:pPr>
                      <a:r>
                        <a:rPr sz="700" spc="-5" dirty="0">
                          <a:latin typeface="Arial"/>
                          <a:cs typeface="Arial"/>
                        </a:rPr>
                        <a:t>CH8</a:t>
                      </a:r>
                      <a:endParaRPr sz="700" dirty="0">
                        <a:latin typeface="Arial"/>
                        <a:cs typeface="Arial"/>
                      </a:endParaRPr>
                    </a:p>
                  </a:txBody>
                  <a:tcPr marL="0" marR="0" marT="3937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3175" algn="ctr">
                        <a:lnSpc>
                          <a:spcPct val="100000"/>
                        </a:lnSpc>
                        <a:spcBef>
                          <a:spcPts val="330"/>
                        </a:spcBef>
                      </a:pPr>
                      <a:r>
                        <a:rPr sz="700" spc="-5" dirty="0">
                          <a:latin typeface="Arial"/>
                          <a:cs typeface="Arial"/>
                        </a:rPr>
                        <a:t>CH7</a:t>
                      </a:r>
                      <a:endParaRPr sz="700" dirty="0">
                        <a:latin typeface="Arial"/>
                        <a:cs typeface="Arial"/>
                      </a:endParaRPr>
                    </a:p>
                  </a:txBody>
                  <a:tcPr marL="0" marR="0" marT="4191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76835">
                        <a:lnSpc>
                          <a:spcPct val="100000"/>
                        </a:lnSpc>
                        <a:spcBef>
                          <a:spcPts val="310"/>
                        </a:spcBef>
                      </a:pPr>
                      <a:r>
                        <a:rPr sz="700" spc="-5" dirty="0">
                          <a:latin typeface="Arial"/>
                          <a:cs typeface="Arial"/>
                        </a:rPr>
                        <a:t>CH6</a:t>
                      </a:r>
                      <a:endParaRPr sz="700" dirty="0">
                        <a:latin typeface="Arial"/>
                        <a:cs typeface="Arial"/>
                      </a:endParaRPr>
                    </a:p>
                  </a:txBody>
                  <a:tcPr marL="0" marR="0" marT="3937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3175" algn="ctr">
                        <a:lnSpc>
                          <a:spcPct val="100000"/>
                        </a:lnSpc>
                        <a:spcBef>
                          <a:spcPts val="310"/>
                        </a:spcBef>
                      </a:pPr>
                      <a:r>
                        <a:rPr sz="700" spc="-5" dirty="0">
                          <a:latin typeface="Arial"/>
                          <a:cs typeface="Arial"/>
                        </a:rPr>
                        <a:t>CH5</a:t>
                      </a:r>
                      <a:endParaRPr sz="700" dirty="0">
                        <a:latin typeface="Arial"/>
                        <a:cs typeface="Arial"/>
                      </a:endParaRPr>
                    </a:p>
                  </a:txBody>
                  <a:tcPr marL="0" marR="0" marT="3937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76835">
                        <a:lnSpc>
                          <a:spcPct val="100000"/>
                        </a:lnSpc>
                        <a:spcBef>
                          <a:spcPts val="310"/>
                        </a:spcBef>
                      </a:pPr>
                      <a:r>
                        <a:rPr sz="700" spc="-5" dirty="0">
                          <a:latin typeface="Arial"/>
                          <a:cs typeface="Arial"/>
                        </a:rPr>
                        <a:t>CH4</a:t>
                      </a:r>
                      <a:endParaRPr sz="700" dirty="0">
                        <a:latin typeface="Arial"/>
                        <a:cs typeface="Arial"/>
                      </a:endParaRPr>
                    </a:p>
                  </a:txBody>
                  <a:tcPr marL="0" marR="0" marT="3937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3810" algn="ctr">
                        <a:lnSpc>
                          <a:spcPct val="100000"/>
                        </a:lnSpc>
                        <a:spcBef>
                          <a:spcPts val="310"/>
                        </a:spcBef>
                      </a:pPr>
                      <a:r>
                        <a:rPr sz="700" spc="-5" dirty="0">
                          <a:latin typeface="Arial"/>
                          <a:cs typeface="Arial"/>
                        </a:rPr>
                        <a:t>CH3</a:t>
                      </a:r>
                      <a:endParaRPr sz="700" dirty="0">
                        <a:latin typeface="Arial"/>
                        <a:cs typeface="Arial"/>
                      </a:endParaRPr>
                    </a:p>
                  </a:txBody>
                  <a:tcPr marL="0" marR="0" marT="3937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76835">
                        <a:lnSpc>
                          <a:spcPct val="100000"/>
                        </a:lnSpc>
                        <a:spcBef>
                          <a:spcPts val="310"/>
                        </a:spcBef>
                      </a:pPr>
                      <a:r>
                        <a:rPr sz="700" spc="-5" dirty="0">
                          <a:latin typeface="Arial"/>
                          <a:cs typeface="Arial"/>
                        </a:rPr>
                        <a:t>CH2</a:t>
                      </a:r>
                      <a:endParaRPr sz="700" dirty="0">
                        <a:latin typeface="Arial"/>
                        <a:cs typeface="Arial"/>
                      </a:endParaRPr>
                    </a:p>
                  </a:txBody>
                  <a:tcPr marL="0" marR="0" marT="3937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3810" algn="ctr">
                        <a:lnSpc>
                          <a:spcPct val="100000"/>
                        </a:lnSpc>
                        <a:spcBef>
                          <a:spcPts val="310"/>
                        </a:spcBef>
                      </a:pPr>
                      <a:r>
                        <a:rPr sz="700" spc="-5" dirty="0">
                          <a:latin typeface="Arial"/>
                          <a:cs typeface="Arial"/>
                        </a:rPr>
                        <a:t>CH1</a:t>
                      </a:r>
                      <a:endParaRPr sz="700" dirty="0">
                        <a:latin typeface="Arial"/>
                        <a:cs typeface="Arial"/>
                      </a:endParaRPr>
                    </a:p>
                  </a:txBody>
                  <a:tcPr marL="0" marR="0" marT="3937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extLst>
                  <a:ext uri="{0D108BD9-81ED-4DB2-BD59-A6C34878D82A}">
                    <a16:rowId xmlns:a16="http://schemas.microsoft.com/office/drawing/2014/main" val="10001"/>
                  </a:ext>
                </a:extLst>
              </a:tr>
            </a:tbl>
          </a:graphicData>
        </a:graphic>
      </p:graphicFrame>
      <p:sp>
        <p:nvSpPr>
          <p:cNvPr id="12" name="object 12"/>
          <p:cNvSpPr txBox="1"/>
          <p:nvPr/>
        </p:nvSpPr>
        <p:spPr>
          <a:xfrm>
            <a:off x="400913" y="6272021"/>
            <a:ext cx="6038542" cy="182742"/>
          </a:xfrm>
          <a:prstGeom prst="rect">
            <a:avLst/>
          </a:prstGeom>
        </p:spPr>
        <p:txBody>
          <a:bodyPr vert="horz" wrap="square" lIns="0" tIns="13335" rIns="0" bIns="0" rtlCol="0">
            <a:spAutoFit/>
          </a:bodyPr>
          <a:lstStyle/>
          <a:p>
            <a:pPr marL="12700">
              <a:lnSpc>
                <a:spcPct val="100000"/>
              </a:lnSpc>
              <a:spcBef>
                <a:spcPts val="105"/>
              </a:spcBef>
            </a:pPr>
            <a:r>
              <a:rPr sz="1100" b="1" spc="-5" dirty="0">
                <a:latin typeface="Arial"/>
                <a:cs typeface="Arial"/>
              </a:rPr>
              <a:t>OUTPUT</a:t>
            </a:r>
            <a:r>
              <a:rPr sz="1100" b="1" spc="-10" dirty="0">
                <a:latin typeface="Arial"/>
                <a:cs typeface="Arial"/>
              </a:rPr>
              <a:t> CHANNEL</a:t>
            </a:r>
            <a:r>
              <a:rPr sz="1100" b="1" spc="30" dirty="0">
                <a:latin typeface="Arial"/>
                <a:cs typeface="Arial"/>
              </a:rPr>
              <a:t> </a:t>
            </a:r>
            <a:r>
              <a:rPr sz="1100" b="1" spc="-10" dirty="0">
                <a:latin typeface="Arial"/>
                <a:cs typeface="Arial"/>
              </a:rPr>
              <a:t>ENABLE</a:t>
            </a:r>
            <a:endParaRPr sz="1100" dirty="0">
              <a:latin typeface="Arial"/>
              <a:cs typeface="Arial"/>
            </a:endParaRPr>
          </a:p>
        </p:txBody>
      </p:sp>
      <p:graphicFrame>
        <p:nvGraphicFramePr>
          <p:cNvPr id="14" name="object 14"/>
          <p:cNvGraphicFramePr>
            <a:graphicFrameLocks noGrp="1"/>
          </p:cNvGraphicFramePr>
          <p:nvPr>
            <p:extLst>
              <p:ext uri="{D42A27DB-BD31-4B8C-83A1-F6EECF244321}">
                <p14:modId xmlns:p14="http://schemas.microsoft.com/office/powerpoint/2010/main" val="1672250020"/>
              </p:ext>
            </p:extLst>
          </p:nvPr>
        </p:nvGraphicFramePr>
        <p:xfrm>
          <a:off x="400910" y="7080313"/>
          <a:ext cx="6038535" cy="387350"/>
        </p:xfrm>
        <a:graphic>
          <a:graphicData uri="http://schemas.openxmlformats.org/drawingml/2006/table">
            <a:tbl>
              <a:tblPr firstRow="1" bandRow="1">
                <a:tableStyleId>{2D5ABB26-0587-4C30-8999-92F81FD0307C}</a:tableStyleId>
              </a:tblPr>
              <a:tblGrid>
                <a:gridCol w="412143">
                  <a:extLst>
                    <a:ext uri="{9D8B030D-6E8A-4147-A177-3AD203B41FA5}">
                      <a16:colId xmlns:a16="http://schemas.microsoft.com/office/drawing/2014/main" val="20000"/>
                    </a:ext>
                  </a:extLst>
                </a:gridCol>
                <a:gridCol w="474306">
                  <a:extLst>
                    <a:ext uri="{9D8B030D-6E8A-4147-A177-3AD203B41FA5}">
                      <a16:colId xmlns:a16="http://schemas.microsoft.com/office/drawing/2014/main" val="20001"/>
                    </a:ext>
                  </a:extLst>
                </a:gridCol>
                <a:gridCol w="322005">
                  <a:extLst>
                    <a:ext uri="{9D8B030D-6E8A-4147-A177-3AD203B41FA5}">
                      <a16:colId xmlns:a16="http://schemas.microsoft.com/office/drawing/2014/main" val="20002"/>
                    </a:ext>
                  </a:extLst>
                </a:gridCol>
                <a:gridCol w="322006">
                  <a:extLst>
                    <a:ext uri="{9D8B030D-6E8A-4147-A177-3AD203B41FA5}">
                      <a16:colId xmlns:a16="http://schemas.microsoft.com/office/drawing/2014/main" val="20003"/>
                    </a:ext>
                  </a:extLst>
                </a:gridCol>
                <a:gridCol w="322006">
                  <a:extLst>
                    <a:ext uri="{9D8B030D-6E8A-4147-A177-3AD203B41FA5}">
                      <a16:colId xmlns:a16="http://schemas.microsoft.com/office/drawing/2014/main" val="20004"/>
                    </a:ext>
                  </a:extLst>
                </a:gridCol>
                <a:gridCol w="322006">
                  <a:extLst>
                    <a:ext uri="{9D8B030D-6E8A-4147-A177-3AD203B41FA5}">
                      <a16:colId xmlns:a16="http://schemas.microsoft.com/office/drawing/2014/main" val="20005"/>
                    </a:ext>
                  </a:extLst>
                </a:gridCol>
                <a:gridCol w="322006">
                  <a:extLst>
                    <a:ext uri="{9D8B030D-6E8A-4147-A177-3AD203B41FA5}">
                      <a16:colId xmlns:a16="http://schemas.microsoft.com/office/drawing/2014/main" val="20006"/>
                    </a:ext>
                  </a:extLst>
                </a:gridCol>
                <a:gridCol w="322006">
                  <a:extLst>
                    <a:ext uri="{9D8B030D-6E8A-4147-A177-3AD203B41FA5}">
                      <a16:colId xmlns:a16="http://schemas.microsoft.com/office/drawing/2014/main" val="20007"/>
                    </a:ext>
                  </a:extLst>
                </a:gridCol>
                <a:gridCol w="322006">
                  <a:extLst>
                    <a:ext uri="{9D8B030D-6E8A-4147-A177-3AD203B41FA5}">
                      <a16:colId xmlns:a16="http://schemas.microsoft.com/office/drawing/2014/main" val="20008"/>
                    </a:ext>
                  </a:extLst>
                </a:gridCol>
                <a:gridCol w="322005">
                  <a:extLst>
                    <a:ext uri="{9D8B030D-6E8A-4147-A177-3AD203B41FA5}">
                      <a16:colId xmlns:a16="http://schemas.microsoft.com/office/drawing/2014/main" val="20009"/>
                    </a:ext>
                  </a:extLst>
                </a:gridCol>
                <a:gridCol w="322005">
                  <a:extLst>
                    <a:ext uri="{9D8B030D-6E8A-4147-A177-3AD203B41FA5}">
                      <a16:colId xmlns:a16="http://schemas.microsoft.com/office/drawing/2014/main" val="20010"/>
                    </a:ext>
                  </a:extLst>
                </a:gridCol>
                <a:gridCol w="322005">
                  <a:extLst>
                    <a:ext uri="{9D8B030D-6E8A-4147-A177-3AD203B41FA5}">
                      <a16:colId xmlns:a16="http://schemas.microsoft.com/office/drawing/2014/main" val="20011"/>
                    </a:ext>
                  </a:extLst>
                </a:gridCol>
                <a:gridCol w="322005">
                  <a:extLst>
                    <a:ext uri="{9D8B030D-6E8A-4147-A177-3AD203B41FA5}">
                      <a16:colId xmlns:a16="http://schemas.microsoft.com/office/drawing/2014/main" val="20012"/>
                    </a:ext>
                  </a:extLst>
                </a:gridCol>
                <a:gridCol w="322005">
                  <a:extLst>
                    <a:ext uri="{9D8B030D-6E8A-4147-A177-3AD203B41FA5}">
                      <a16:colId xmlns:a16="http://schemas.microsoft.com/office/drawing/2014/main" val="20013"/>
                    </a:ext>
                  </a:extLst>
                </a:gridCol>
                <a:gridCol w="322005">
                  <a:extLst>
                    <a:ext uri="{9D8B030D-6E8A-4147-A177-3AD203B41FA5}">
                      <a16:colId xmlns:a16="http://schemas.microsoft.com/office/drawing/2014/main" val="20014"/>
                    </a:ext>
                  </a:extLst>
                </a:gridCol>
                <a:gridCol w="322005">
                  <a:extLst>
                    <a:ext uri="{9D8B030D-6E8A-4147-A177-3AD203B41FA5}">
                      <a16:colId xmlns:a16="http://schemas.microsoft.com/office/drawing/2014/main" val="20015"/>
                    </a:ext>
                  </a:extLst>
                </a:gridCol>
                <a:gridCol w="322005">
                  <a:extLst>
                    <a:ext uri="{9D8B030D-6E8A-4147-A177-3AD203B41FA5}">
                      <a16:colId xmlns:a16="http://schemas.microsoft.com/office/drawing/2014/main" val="20016"/>
                    </a:ext>
                  </a:extLst>
                </a:gridCol>
                <a:gridCol w="322005">
                  <a:extLst>
                    <a:ext uri="{9D8B030D-6E8A-4147-A177-3AD203B41FA5}">
                      <a16:colId xmlns:a16="http://schemas.microsoft.com/office/drawing/2014/main" val="20017"/>
                    </a:ext>
                  </a:extLst>
                </a:gridCol>
              </a:tblGrid>
              <a:tr h="193675">
                <a:tc>
                  <a:txBody>
                    <a:bodyPr/>
                    <a:lstStyle/>
                    <a:p>
                      <a:pPr algn="ctr">
                        <a:lnSpc>
                          <a:spcPct val="100000"/>
                        </a:lnSpc>
                        <a:spcBef>
                          <a:spcPts val="270"/>
                        </a:spcBef>
                      </a:pPr>
                      <a:r>
                        <a:rPr sz="800" dirty="0">
                          <a:latin typeface="Arial"/>
                          <a:cs typeface="Arial"/>
                        </a:rPr>
                        <a:t>A[6:0]</a:t>
                      </a: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algn="ctr">
                        <a:lnSpc>
                          <a:spcPct val="100000"/>
                        </a:lnSpc>
                        <a:spcBef>
                          <a:spcPts val="270"/>
                        </a:spcBef>
                      </a:pPr>
                      <a:r>
                        <a:rPr sz="800" spc="-5" dirty="0">
                          <a:latin typeface="Arial"/>
                          <a:cs typeface="Arial"/>
                        </a:rPr>
                        <a:t>Default</a:t>
                      </a:r>
                      <a:endParaRPr sz="8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1270" algn="ctr">
                        <a:lnSpc>
                          <a:spcPct val="100000"/>
                        </a:lnSpc>
                        <a:spcBef>
                          <a:spcPts val="270"/>
                        </a:spcBef>
                      </a:pPr>
                      <a:r>
                        <a:rPr sz="800" spc="-5" dirty="0">
                          <a:latin typeface="Arial"/>
                          <a:cs typeface="Arial"/>
                        </a:rPr>
                        <a:t>D15</a:t>
                      </a:r>
                      <a:endParaRPr sz="8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1905" algn="ctr">
                        <a:lnSpc>
                          <a:spcPct val="100000"/>
                        </a:lnSpc>
                        <a:spcBef>
                          <a:spcPts val="270"/>
                        </a:spcBef>
                      </a:pPr>
                      <a:r>
                        <a:rPr sz="800" spc="-5" dirty="0">
                          <a:latin typeface="Arial"/>
                          <a:cs typeface="Arial"/>
                        </a:rPr>
                        <a:t>D14</a:t>
                      </a:r>
                      <a:endParaRPr sz="8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1270" algn="ctr">
                        <a:lnSpc>
                          <a:spcPct val="100000"/>
                        </a:lnSpc>
                        <a:spcBef>
                          <a:spcPts val="270"/>
                        </a:spcBef>
                      </a:pPr>
                      <a:r>
                        <a:rPr sz="800" spc="-5" dirty="0">
                          <a:latin typeface="Arial"/>
                          <a:cs typeface="Arial"/>
                        </a:rPr>
                        <a:t>D13</a:t>
                      </a:r>
                      <a:endParaRPr sz="8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1905" algn="ctr">
                        <a:lnSpc>
                          <a:spcPct val="100000"/>
                        </a:lnSpc>
                        <a:spcBef>
                          <a:spcPts val="270"/>
                        </a:spcBef>
                      </a:pPr>
                      <a:r>
                        <a:rPr sz="800" spc="-5" dirty="0">
                          <a:latin typeface="Arial"/>
                          <a:cs typeface="Arial"/>
                        </a:rPr>
                        <a:t>D12</a:t>
                      </a:r>
                      <a:endParaRPr sz="8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1905" algn="ctr">
                        <a:lnSpc>
                          <a:spcPct val="100000"/>
                        </a:lnSpc>
                        <a:spcBef>
                          <a:spcPts val="270"/>
                        </a:spcBef>
                      </a:pPr>
                      <a:r>
                        <a:rPr sz="800" spc="-5" dirty="0">
                          <a:latin typeface="Arial"/>
                          <a:cs typeface="Arial"/>
                        </a:rPr>
                        <a:t>D11</a:t>
                      </a:r>
                      <a:endParaRPr sz="8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2540" algn="ctr">
                        <a:lnSpc>
                          <a:spcPct val="100000"/>
                        </a:lnSpc>
                        <a:spcBef>
                          <a:spcPts val="270"/>
                        </a:spcBef>
                      </a:pPr>
                      <a:r>
                        <a:rPr sz="800" spc="-5" dirty="0">
                          <a:latin typeface="Arial"/>
                          <a:cs typeface="Arial"/>
                        </a:rPr>
                        <a:t>D10</a:t>
                      </a:r>
                      <a:endParaRPr sz="8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algn="ctr">
                        <a:lnSpc>
                          <a:spcPct val="100000"/>
                        </a:lnSpc>
                        <a:spcBef>
                          <a:spcPts val="270"/>
                        </a:spcBef>
                      </a:pPr>
                      <a:r>
                        <a:rPr sz="800" spc="-5" dirty="0">
                          <a:latin typeface="Arial"/>
                          <a:cs typeface="Arial"/>
                        </a:rPr>
                        <a:t>D9</a:t>
                      </a:r>
                      <a:endParaRPr sz="8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R="91440" algn="r">
                        <a:lnSpc>
                          <a:spcPct val="100000"/>
                        </a:lnSpc>
                        <a:spcBef>
                          <a:spcPts val="270"/>
                        </a:spcBef>
                      </a:pPr>
                      <a:r>
                        <a:rPr sz="800" spc="-5" dirty="0">
                          <a:latin typeface="Arial"/>
                          <a:cs typeface="Arial"/>
                        </a:rPr>
                        <a:t>D8</a:t>
                      </a:r>
                      <a:endParaRPr sz="8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algn="ctr">
                        <a:lnSpc>
                          <a:spcPct val="100000"/>
                        </a:lnSpc>
                        <a:spcBef>
                          <a:spcPts val="270"/>
                        </a:spcBef>
                      </a:pPr>
                      <a:r>
                        <a:rPr sz="800" spc="-5" dirty="0">
                          <a:latin typeface="Arial"/>
                          <a:cs typeface="Arial"/>
                        </a:rPr>
                        <a:t>D7</a:t>
                      </a:r>
                      <a:endParaRPr sz="8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635" algn="ctr">
                        <a:lnSpc>
                          <a:spcPct val="100000"/>
                        </a:lnSpc>
                        <a:spcBef>
                          <a:spcPts val="270"/>
                        </a:spcBef>
                      </a:pPr>
                      <a:r>
                        <a:rPr sz="800" spc="-5" dirty="0">
                          <a:latin typeface="Arial"/>
                          <a:cs typeface="Arial"/>
                        </a:rPr>
                        <a:t>D6</a:t>
                      </a:r>
                      <a:endParaRPr sz="8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635" algn="ctr">
                        <a:lnSpc>
                          <a:spcPct val="100000"/>
                        </a:lnSpc>
                        <a:spcBef>
                          <a:spcPts val="270"/>
                        </a:spcBef>
                      </a:pPr>
                      <a:r>
                        <a:rPr sz="800" spc="-5" dirty="0">
                          <a:latin typeface="Arial"/>
                          <a:cs typeface="Arial"/>
                        </a:rPr>
                        <a:t>D5</a:t>
                      </a:r>
                      <a:endParaRPr sz="8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1270" algn="ctr">
                        <a:lnSpc>
                          <a:spcPct val="100000"/>
                        </a:lnSpc>
                        <a:spcBef>
                          <a:spcPts val="270"/>
                        </a:spcBef>
                      </a:pPr>
                      <a:r>
                        <a:rPr sz="800" spc="-5" dirty="0">
                          <a:latin typeface="Arial"/>
                          <a:cs typeface="Arial"/>
                        </a:rPr>
                        <a:t>D4</a:t>
                      </a:r>
                      <a:endParaRPr sz="8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1270" algn="ctr">
                        <a:lnSpc>
                          <a:spcPct val="100000"/>
                        </a:lnSpc>
                        <a:spcBef>
                          <a:spcPts val="270"/>
                        </a:spcBef>
                      </a:pPr>
                      <a:r>
                        <a:rPr sz="800" spc="-5" dirty="0">
                          <a:latin typeface="Arial"/>
                          <a:cs typeface="Arial"/>
                        </a:rPr>
                        <a:t>D3</a:t>
                      </a:r>
                      <a:endParaRPr sz="8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1270" algn="ctr">
                        <a:lnSpc>
                          <a:spcPct val="100000"/>
                        </a:lnSpc>
                        <a:spcBef>
                          <a:spcPts val="270"/>
                        </a:spcBef>
                      </a:pPr>
                      <a:r>
                        <a:rPr sz="800" spc="-5" dirty="0">
                          <a:latin typeface="Arial"/>
                          <a:cs typeface="Arial"/>
                        </a:rPr>
                        <a:t>D2</a:t>
                      </a:r>
                      <a:endParaRPr sz="8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1905" algn="ctr">
                        <a:lnSpc>
                          <a:spcPct val="100000"/>
                        </a:lnSpc>
                        <a:spcBef>
                          <a:spcPts val="270"/>
                        </a:spcBef>
                      </a:pPr>
                      <a:r>
                        <a:rPr sz="800" spc="-5" dirty="0">
                          <a:latin typeface="Arial"/>
                          <a:cs typeface="Arial"/>
                        </a:rPr>
                        <a:t>D1</a:t>
                      </a:r>
                      <a:endParaRPr sz="8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1905" algn="ctr">
                        <a:lnSpc>
                          <a:spcPct val="100000"/>
                        </a:lnSpc>
                        <a:spcBef>
                          <a:spcPts val="270"/>
                        </a:spcBef>
                      </a:pPr>
                      <a:r>
                        <a:rPr sz="800" spc="-5" dirty="0">
                          <a:latin typeface="Arial"/>
                          <a:cs typeface="Arial"/>
                        </a:rPr>
                        <a:t>D0</a:t>
                      </a:r>
                      <a:endParaRPr sz="8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extLst>
                  <a:ext uri="{0D108BD9-81ED-4DB2-BD59-A6C34878D82A}">
                    <a16:rowId xmlns:a16="http://schemas.microsoft.com/office/drawing/2014/main" val="10000"/>
                  </a:ext>
                </a:extLst>
              </a:tr>
              <a:tr h="193675">
                <a:tc>
                  <a:txBody>
                    <a:bodyPr/>
                    <a:lstStyle/>
                    <a:p>
                      <a:pPr algn="ctr">
                        <a:lnSpc>
                          <a:spcPct val="100000"/>
                        </a:lnSpc>
                        <a:spcBef>
                          <a:spcPts val="270"/>
                        </a:spcBef>
                      </a:pPr>
                      <a:r>
                        <a:rPr sz="800" spc="-5" dirty="0">
                          <a:latin typeface="Arial"/>
                          <a:cs typeface="Arial"/>
                        </a:rPr>
                        <a:t>‘h1A</a:t>
                      </a:r>
                      <a:endParaRPr sz="8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algn="ctr">
                        <a:lnSpc>
                          <a:spcPct val="100000"/>
                        </a:lnSpc>
                        <a:spcBef>
                          <a:spcPts val="270"/>
                        </a:spcBef>
                      </a:pPr>
                      <a:r>
                        <a:rPr sz="800" dirty="0">
                          <a:latin typeface="Arial"/>
                          <a:cs typeface="Arial"/>
                        </a:rPr>
                        <a:t>0</a:t>
                      </a: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2540" algn="ctr">
                        <a:lnSpc>
                          <a:spcPct val="100000"/>
                        </a:lnSpc>
                        <a:spcBef>
                          <a:spcPts val="310"/>
                        </a:spcBef>
                      </a:pPr>
                      <a:r>
                        <a:rPr sz="700" dirty="0">
                          <a:latin typeface="Arial"/>
                          <a:cs typeface="Arial"/>
                        </a:rPr>
                        <a:t>x</a:t>
                      </a:r>
                    </a:p>
                  </a:txBody>
                  <a:tcPr marL="0" marR="0" marT="3937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3175" algn="ctr">
                        <a:lnSpc>
                          <a:spcPct val="100000"/>
                        </a:lnSpc>
                        <a:spcBef>
                          <a:spcPts val="334"/>
                        </a:spcBef>
                      </a:pPr>
                      <a:r>
                        <a:rPr sz="700" dirty="0">
                          <a:latin typeface="Arial"/>
                          <a:cs typeface="Arial"/>
                        </a:rPr>
                        <a:t>x</a:t>
                      </a:r>
                    </a:p>
                  </a:txBody>
                  <a:tcPr marL="0" marR="0" marT="42544"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2540" algn="ctr">
                        <a:lnSpc>
                          <a:spcPct val="100000"/>
                        </a:lnSpc>
                        <a:spcBef>
                          <a:spcPts val="310"/>
                        </a:spcBef>
                      </a:pPr>
                      <a:r>
                        <a:rPr sz="700" dirty="0">
                          <a:latin typeface="Arial"/>
                          <a:cs typeface="Arial"/>
                        </a:rPr>
                        <a:t>x</a:t>
                      </a:r>
                    </a:p>
                  </a:txBody>
                  <a:tcPr marL="0" marR="0" marT="3937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3175" algn="ctr">
                        <a:lnSpc>
                          <a:spcPct val="100000"/>
                        </a:lnSpc>
                        <a:spcBef>
                          <a:spcPts val="334"/>
                        </a:spcBef>
                      </a:pPr>
                      <a:r>
                        <a:rPr sz="700" dirty="0">
                          <a:latin typeface="Arial"/>
                          <a:cs typeface="Arial"/>
                        </a:rPr>
                        <a:t>x</a:t>
                      </a:r>
                    </a:p>
                  </a:txBody>
                  <a:tcPr marL="0" marR="0" marT="42544"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3175" algn="ctr">
                        <a:lnSpc>
                          <a:spcPct val="100000"/>
                        </a:lnSpc>
                        <a:spcBef>
                          <a:spcPts val="310"/>
                        </a:spcBef>
                      </a:pPr>
                      <a:r>
                        <a:rPr sz="700" dirty="0">
                          <a:latin typeface="Arial"/>
                          <a:cs typeface="Arial"/>
                        </a:rPr>
                        <a:t>x</a:t>
                      </a:r>
                    </a:p>
                  </a:txBody>
                  <a:tcPr marL="0" marR="0" marT="3937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3810" algn="ctr">
                        <a:lnSpc>
                          <a:spcPct val="100000"/>
                        </a:lnSpc>
                        <a:spcBef>
                          <a:spcPts val="334"/>
                        </a:spcBef>
                      </a:pPr>
                      <a:r>
                        <a:rPr sz="700" dirty="0">
                          <a:latin typeface="Arial"/>
                          <a:cs typeface="Arial"/>
                        </a:rPr>
                        <a:t>x</a:t>
                      </a:r>
                    </a:p>
                  </a:txBody>
                  <a:tcPr marL="0" marR="0" marT="42544"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3175" algn="ctr">
                        <a:lnSpc>
                          <a:spcPct val="100000"/>
                        </a:lnSpc>
                        <a:spcBef>
                          <a:spcPts val="310"/>
                        </a:spcBef>
                      </a:pPr>
                      <a:r>
                        <a:rPr sz="700" dirty="0">
                          <a:latin typeface="Arial"/>
                          <a:cs typeface="Arial"/>
                        </a:rPr>
                        <a:t>x</a:t>
                      </a:r>
                    </a:p>
                  </a:txBody>
                  <a:tcPr marL="0" marR="0" marT="3937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R="132080" algn="r">
                        <a:lnSpc>
                          <a:spcPct val="100000"/>
                        </a:lnSpc>
                        <a:spcBef>
                          <a:spcPts val="334"/>
                        </a:spcBef>
                      </a:pPr>
                      <a:r>
                        <a:rPr sz="700" dirty="0">
                          <a:latin typeface="Arial"/>
                          <a:cs typeface="Arial"/>
                        </a:rPr>
                        <a:t>x</a:t>
                      </a:r>
                    </a:p>
                  </a:txBody>
                  <a:tcPr marL="0" marR="0" marT="42544"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2540" algn="ctr">
                        <a:lnSpc>
                          <a:spcPct val="100000"/>
                        </a:lnSpc>
                        <a:spcBef>
                          <a:spcPts val="310"/>
                        </a:spcBef>
                      </a:pPr>
                      <a:r>
                        <a:rPr sz="700" spc="-5" dirty="0">
                          <a:latin typeface="Arial"/>
                          <a:cs typeface="Arial"/>
                        </a:rPr>
                        <a:t>CH24</a:t>
                      </a:r>
                      <a:endParaRPr sz="700" dirty="0">
                        <a:latin typeface="Arial"/>
                        <a:cs typeface="Arial"/>
                      </a:endParaRPr>
                    </a:p>
                  </a:txBody>
                  <a:tcPr marL="0" marR="0" marT="3937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3175" algn="ctr">
                        <a:lnSpc>
                          <a:spcPct val="100000"/>
                        </a:lnSpc>
                        <a:spcBef>
                          <a:spcPts val="334"/>
                        </a:spcBef>
                      </a:pPr>
                      <a:r>
                        <a:rPr sz="700" spc="-5" dirty="0">
                          <a:latin typeface="Arial"/>
                          <a:cs typeface="Arial"/>
                        </a:rPr>
                        <a:t>CH23</a:t>
                      </a:r>
                      <a:endParaRPr sz="700" dirty="0">
                        <a:latin typeface="Arial"/>
                        <a:cs typeface="Arial"/>
                      </a:endParaRPr>
                    </a:p>
                  </a:txBody>
                  <a:tcPr marL="0" marR="0" marT="42544"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2540" algn="ctr">
                        <a:lnSpc>
                          <a:spcPct val="100000"/>
                        </a:lnSpc>
                        <a:spcBef>
                          <a:spcPts val="310"/>
                        </a:spcBef>
                      </a:pPr>
                      <a:r>
                        <a:rPr sz="700" spc="-5" dirty="0">
                          <a:latin typeface="Arial"/>
                          <a:cs typeface="Arial"/>
                        </a:rPr>
                        <a:t>CH22</a:t>
                      </a:r>
                      <a:endParaRPr sz="700" dirty="0">
                        <a:latin typeface="Arial"/>
                        <a:cs typeface="Arial"/>
                      </a:endParaRPr>
                    </a:p>
                  </a:txBody>
                  <a:tcPr marL="0" marR="0" marT="3937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3175" algn="ctr">
                        <a:lnSpc>
                          <a:spcPct val="100000"/>
                        </a:lnSpc>
                        <a:spcBef>
                          <a:spcPts val="310"/>
                        </a:spcBef>
                      </a:pPr>
                      <a:r>
                        <a:rPr sz="700" spc="-5" dirty="0">
                          <a:latin typeface="Arial"/>
                          <a:cs typeface="Arial"/>
                        </a:rPr>
                        <a:t>CH21</a:t>
                      </a:r>
                      <a:endParaRPr sz="700" dirty="0">
                        <a:latin typeface="Arial"/>
                        <a:cs typeface="Arial"/>
                      </a:endParaRPr>
                    </a:p>
                  </a:txBody>
                  <a:tcPr marL="0" marR="0" marT="3937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3810" algn="ctr">
                        <a:lnSpc>
                          <a:spcPct val="100000"/>
                        </a:lnSpc>
                        <a:spcBef>
                          <a:spcPts val="310"/>
                        </a:spcBef>
                      </a:pPr>
                      <a:r>
                        <a:rPr sz="700" spc="-5" dirty="0">
                          <a:latin typeface="Arial"/>
                          <a:cs typeface="Arial"/>
                        </a:rPr>
                        <a:t>CH20</a:t>
                      </a:r>
                      <a:endParaRPr sz="700" dirty="0">
                        <a:latin typeface="Arial"/>
                        <a:cs typeface="Arial"/>
                      </a:endParaRPr>
                    </a:p>
                  </a:txBody>
                  <a:tcPr marL="0" marR="0" marT="3937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3810" algn="ctr">
                        <a:lnSpc>
                          <a:spcPct val="100000"/>
                        </a:lnSpc>
                        <a:spcBef>
                          <a:spcPts val="310"/>
                        </a:spcBef>
                      </a:pPr>
                      <a:r>
                        <a:rPr sz="700" spc="-5" dirty="0">
                          <a:latin typeface="Arial"/>
                          <a:cs typeface="Arial"/>
                        </a:rPr>
                        <a:t>CH19</a:t>
                      </a:r>
                      <a:endParaRPr sz="700" dirty="0">
                        <a:latin typeface="Arial"/>
                        <a:cs typeface="Arial"/>
                      </a:endParaRPr>
                    </a:p>
                  </a:txBody>
                  <a:tcPr marL="0" marR="0" marT="3937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3810" algn="ctr">
                        <a:lnSpc>
                          <a:spcPct val="100000"/>
                        </a:lnSpc>
                        <a:spcBef>
                          <a:spcPts val="310"/>
                        </a:spcBef>
                      </a:pPr>
                      <a:r>
                        <a:rPr sz="700" spc="-5" dirty="0">
                          <a:latin typeface="Arial"/>
                          <a:cs typeface="Arial"/>
                        </a:rPr>
                        <a:t>CH18</a:t>
                      </a:r>
                      <a:endParaRPr sz="700" dirty="0">
                        <a:latin typeface="Arial"/>
                        <a:cs typeface="Arial"/>
                      </a:endParaRPr>
                    </a:p>
                  </a:txBody>
                  <a:tcPr marL="0" marR="0" marT="3937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3810" algn="ctr">
                        <a:lnSpc>
                          <a:spcPct val="100000"/>
                        </a:lnSpc>
                        <a:spcBef>
                          <a:spcPts val="310"/>
                        </a:spcBef>
                      </a:pPr>
                      <a:r>
                        <a:rPr sz="700" spc="-5" dirty="0">
                          <a:latin typeface="Arial"/>
                          <a:cs typeface="Arial"/>
                        </a:rPr>
                        <a:t>CH17</a:t>
                      </a:r>
                      <a:endParaRPr sz="700" dirty="0">
                        <a:latin typeface="Arial"/>
                        <a:cs typeface="Arial"/>
                      </a:endParaRPr>
                    </a:p>
                  </a:txBody>
                  <a:tcPr marL="0" marR="0" marT="3937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extLst>
                  <a:ext uri="{0D108BD9-81ED-4DB2-BD59-A6C34878D82A}">
                    <a16:rowId xmlns:a16="http://schemas.microsoft.com/office/drawing/2014/main" val="10001"/>
                  </a:ext>
                </a:extLst>
              </a:tr>
            </a:tbl>
          </a:graphicData>
        </a:graphic>
      </p:graphicFrame>
      <p:grpSp>
        <p:nvGrpSpPr>
          <p:cNvPr id="28" name="그룹 27">
            <a:extLst>
              <a:ext uri="{FF2B5EF4-FFF2-40B4-BE49-F238E27FC236}">
                <a16:creationId xmlns:a16="http://schemas.microsoft.com/office/drawing/2014/main" id="{09D25E46-6985-319F-BF4D-CD9B5A10B581}"/>
              </a:ext>
            </a:extLst>
          </p:cNvPr>
          <p:cNvGrpSpPr/>
          <p:nvPr/>
        </p:nvGrpSpPr>
        <p:grpSpPr>
          <a:xfrm>
            <a:off x="2590799" y="4800599"/>
            <a:ext cx="2844000" cy="900000"/>
            <a:chOff x="2292857" y="4959858"/>
            <a:chExt cx="2723643" cy="734949"/>
          </a:xfrm>
        </p:grpSpPr>
        <p:sp>
          <p:nvSpPr>
            <p:cNvPr id="15" name="object 15"/>
            <p:cNvSpPr/>
            <p:nvPr/>
          </p:nvSpPr>
          <p:spPr>
            <a:xfrm>
              <a:off x="2589276" y="5526023"/>
              <a:ext cx="2333625" cy="0"/>
            </a:xfrm>
            <a:custGeom>
              <a:avLst/>
              <a:gdLst/>
              <a:ahLst/>
              <a:cxnLst/>
              <a:rect l="l" t="t" r="r" b="b"/>
              <a:pathLst>
                <a:path w="2333625">
                  <a:moveTo>
                    <a:pt x="0" y="0"/>
                  </a:moveTo>
                  <a:lnTo>
                    <a:pt x="2333116" y="0"/>
                  </a:lnTo>
                </a:path>
              </a:pathLst>
            </a:custGeom>
            <a:ln w="3175">
              <a:solidFill>
                <a:srgbClr val="000000"/>
              </a:solidFill>
            </a:ln>
          </p:spPr>
          <p:txBody>
            <a:bodyPr wrap="square" lIns="0" tIns="0" rIns="0" bIns="0" rtlCol="0"/>
            <a:lstStyle/>
            <a:p>
              <a:endParaRPr dirty="0"/>
            </a:p>
          </p:txBody>
        </p:sp>
        <p:sp>
          <p:nvSpPr>
            <p:cNvPr id="16" name="object 16"/>
            <p:cNvSpPr txBox="1"/>
            <p:nvPr/>
          </p:nvSpPr>
          <p:spPr>
            <a:xfrm>
              <a:off x="2479294" y="5539867"/>
              <a:ext cx="196850" cy="132080"/>
            </a:xfrm>
            <a:prstGeom prst="rect">
              <a:avLst/>
            </a:prstGeom>
          </p:spPr>
          <p:txBody>
            <a:bodyPr vert="horz" wrap="square" lIns="0" tIns="12065" rIns="0" bIns="0" rtlCol="0">
              <a:spAutoFit/>
            </a:bodyPr>
            <a:lstStyle/>
            <a:p>
              <a:pPr marL="12700">
                <a:lnSpc>
                  <a:spcPct val="100000"/>
                </a:lnSpc>
                <a:spcBef>
                  <a:spcPts val="95"/>
                </a:spcBef>
              </a:pPr>
              <a:r>
                <a:rPr sz="700" spc="-10" dirty="0">
                  <a:latin typeface="Calibri"/>
                  <a:cs typeface="Calibri"/>
                </a:rPr>
                <a:t>0x</a:t>
              </a:r>
              <a:r>
                <a:rPr sz="700" spc="-15" dirty="0">
                  <a:latin typeface="Calibri"/>
                  <a:cs typeface="Calibri"/>
                </a:rPr>
                <a:t>0</a:t>
              </a:r>
              <a:r>
                <a:rPr sz="700" spc="-5" dirty="0">
                  <a:latin typeface="Calibri"/>
                  <a:cs typeface="Calibri"/>
                </a:rPr>
                <a:t>0</a:t>
              </a:r>
              <a:endParaRPr sz="700" dirty="0">
                <a:latin typeface="Calibri"/>
                <a:cs typeface="Calibri"/>
              </a:endParaRPr>
            </a:p>
          </p:txBody>
        </p:sp>
        <p:sp>
          <p:nvSpPr>
            <p:cNvPr id="17" name="object 17"/>
            <p:cNvSpPr txBox="1"/>
            <p:nvPr/>
          </p:nvSpPr>
          <p:spPr>
            <a:xfrm>
              <a:off x="4819650" y="5530342"/>
              <a:ext cx="196850" cy="132080"/>
            </a:xfrm>
            <a:prstGeom prst="rect">
              <a:avLst/>
            </a:prstGeom>
          </p:spPr>
          <p:txBody>
            <a:bodyPr vert="horz" wrap="square" lIns="0" tIns="12065" rIns="0" bIns="0" rtlCol="0">
              <a:spAutoFit/>
            </a:bodyPr>
            <a:lstStyle/>
            <a:p>
              <a:pPr marL="12700">
                <a:lnSpc>
                  <a:spcPct val="100000"/>
                </a:lnSpc>
                <a:spcBef>
                  <a:spcPts val="95"/>
                </a:spcBef>
              </a:pPr>
              <a:r>
                <a:rPr sz="700" spc="-10" dirty="0">
                  <a:latin typeface="Calibri"/>
                  <a:cs typeface="Calibri"/>
                </a:rPr>
                <a:t>0x</a:t>
              </a:r>
              <a:r>
                <a:rPr sz="700" spc="-15" dirty="0">
                  <a:latin typeface="Calibri"/>
                  <a:cs typeface="Calibri"/>
                </a:rPr>
                <a:t>8</a:t>
              </a:r>
              <a:r>
                <a:rPr sz="700" spc="-5" dirty="0">
                  <a:latin typeface="Calibri"/>
                  <a:cs typeface="Calibri"/>
                </a:rPr>
                <a:t>0</a:t>
              </a:r>
              <a:endParaRPr sz="700" dirty="0">
                <a:latin typeface="Calibri"/>
                <a:cs typeface="Calibri"/>
              </a:endParaRPr>
            </a:p>
          </p:txBody>
        </p:sp>
        <p:sp>
          <p:nvSpPr>
            <p:cNvPr id="18" name="object 18"/>
            <p:cNvSpPr txBox="1"/>
            <p:nvPr/>
          </p:nvSpPr>
          <p:spPr>
            <a:xfrm>
              <a:off x="3208401" y="4959858"/>
              <a:ext cx="725805" cy="132080"/>
            </a:xfrm>
            <a:prstGeom prst="rect">
              <a:avLst/>
            </a:prstGeom>
          </p:spPr>
          <p:txBody>
            <a:bodyPr vert="horz" wrap="square" lIns="0" tIns="12065" rIns="0" bIns="0" rtlCol="0">
              <a:spAutoFit/>
            </a:bodyPr>
            <a:lstStyle/>
            <a:p>
              <a:pPr marL="12700">
                <a:lnSpc>
                  <a:spcPct val="100000"/>
                </a:lnSpc>
                <a:spcBef>
                  <a:spcPts val="95"/>
                </a:spcBef>
              </a:pPr>
              <a:r>
                <a:rPr sz="700" spc="-5" dirty="0">
                  <a:latin typeface="Calibri"/>
                  <a:cs typeface="Calibri"/>
                </a:rPr>
                <a:t>D</a:t>
              </a:r>
              <a:r>
                <a:rPr sz="700" spc="-10" dirty="0">
                  <a:latin typeface="Calibri"/>
                  <a:cs typeface="Calibri"/>
                </a:rPr>
                <a:t>UTY</a:t>
              </a:r>
              <a:r>
                <a:rPr sz="700" spc="-5" dirty="0">
                  <a:latin typeface="Calibri"/>
                  <a:cs typeface="Calibri"/>
                </a:rPr>
                <a:t>(or</a:t>
              </a:r>
              <a:r>
                <a:rPr sz="700" spc="5" dirty="0">
                  <a:latin typeface="Calibri"/>
                  <a:cs typeface="Calibri"/>
                </a:rPr>
                <a:t> </a:t>
              </a:r>
              <a:r>
                <a:rPr sz="700" spc="-5" dirty="0">
                  <a:latin typeface="Calibri"/>
                  <a:cs typeface="Calibri"/>
                </a:rPr>
                <a:t>D</a:t>
              </a:r>
              <a:r>
                <a:rPr sz="700" spc="-10" dirty="0">
                  <a:latin typeface="Calibri"/>
                  <a:cs typeface="Calibri"/>
                </a:rPr>
                <a:t>UTY</a:t>
              </a:r>
              <a:r>
                <a:rPr sz="700" spc="-5" dirty="0">
                  <a:latin typeface="Calibri"/>
                  <a:cs typeface="Calibri"/>
                </a:rPr>
                <a:t>_</a:t>
              </a:r>
              <a:r>
                <a:rPr sz="700" dirty="0">
                  <a:latin typeface="Calibri"/>
                  <a:cs typeface="Calibri"/>
                </a:rPr>
                <a:t>F</a:t>
              </a:r>
              <a:r>
                <a:rPr sz="700" spc="-5" dirty="0">
                  <a:latin typeface="Calibri"/>
                  <a:cs typeface="Calibri"/>
                </a:rPr>
                <a:t>IX)</a:t>
              </a:r>
              <a:endParaRPr sz="700" dirty="0">
                <a:latin typeface="Calibri"/>
                <a:cs typeface="Calibri"/>
              </a:endParaRPr>
            </a:p>
          </p:txBody>
        </p:sp>
        <p:sp>
          <p:nvSpPr>
            <p:cNvPr id="19" name="object 19"/>
            <p:cNvSpPr txBox="1"/>
            <p:nvPr/>
          </p:nvSpPr>
          <p:spPr>
            <a:xfrm>
              <a:off x="3029839" y="5562727"/>
              <a:ext cx="1065530" cy="132080"/>
            </a:xfrm>
            <a:prstGeom prst="rect">
              <a:avLst/>
            </a:prstGeom>
          </p:spPr>
          <p:txBody>
            <a:bodyPr vert="horz" wrap="square" lIns="0" tIns="12065" rIns="0" bIns="0" rtlCol="0">
              <a:spAutoFit/>
            </a:bodyPr>
            <a:lstStyle/>
            <a:p>
              <a:pPr marL="12700">
                <a:lnSpc>
                  <a:spcPct val="100000"/>
                </a:lnSpc>
                <a:spcBef>
                  <a:spcPts val="95"/>
                </a:spcBef>
              </a:pPr>
              <a:r>
                <a:rPr sz="700" spc="-5" dirty="0">
                  <a:latin typeface="Calibri"/>
                  <a:cs typeface="Calibri"/>
                </a:rPr>
                <a:t>FULL STEP</a:t>
              </a:r>
              <a:r>
                <a:rPr sz="700" spc="-15" dirty="0">
                  <a:latin typeface="Calibri"/>
                  <a:cs typeface="Calibri"/>
                </a:rPr>
                <a:t> </a:t>
              </a:r>
              <a:r>
                <a:rPr sz="700" spc="-5" dirty="0">
                  <a:latin typeface="Calibri"/>
                  <a:cs typeface="Calibri"/>
                </a:rPr>
                <a:t>DUTY</a:t>
              </a:r>
              <a:r>
                <a:rPr sz="700" spc="-15" dirty="0">
                  <a:latin typeface="Calibri"/>
                  <a:cs typeface="Calibri"/>
                </a:rPr>
                <a:t> </a:t>
              </a:r>
              <a:r>
                <a:rPr sz="700" spc="-5" dirty="0">
                  <a:latin typeface="Calibri"/>
                  <a:cs typeface="Calibri"/>
                </a:rPr>
                <a:t>THRESHOLD</a:t>
              </a:r>
              <a:endParaRPr sz="700" dirty="0">
                <a:latin typeface="Calibri"/>
                <a:cs typeface="Calibri"/>
              </a:endParaRPr>
            </a:p>
          </p:txBody>
        </p:sp>
        <p:sp>
          <p:nvSpPr>
            <p:cNvPr id="20" name="object 20"/>
            <p:cNvSpPr/>
            <p:nvPr/>
          </p:nvSpPr>
          <p:spPr>
            <a:xfrm>
              <a:off x="3570732" y="5145023"/>
              <a:ext cx="0" cy="324485"/>
            </a:xfrm>
            <a:custGeom>
              <a:avLst/>
              <a:gdLst/>
              <a:ahLst/>
              <a:cxnLst/>
              <a:rect l="l" t="t" r="r" b="b"/>
              <a:pathLst>
                <a:path h="324485">
                  <a:moveTo>
                    <a:pt x="0" y="0"/>
                  </a:moveTo>
                  <a:lnTo>
                    <a:pt x="0" y="323976"/>
                  </a:lnTo>
                </a:path>
              </a:pathLst>
            </a:custGeom>
            <a:ln w="3175">
              <a:solidFill>
                <a:srgbClr val="000000"/>
              </a:solidFill>
              <a:prstDash val="sysDot"/>
            </a:ln>
          </p:spPr>
          <p:txBody>
            <a:bodyPr wrap="square" lIns="0" tIns="0" rIns="0" bIns="0" rtlCol="0"/>
            <a:lstStyle/>
            <a:p>
              <a:endParaRPr dirty="0"/>
            </a:p>
          </p:txBody>
        </p:sp>
        <p:sp>
          <p:nvSpPr>
            <p:cNvPr id="21" name="object 21"/>
            <p:cNvSpPr txBox="1"/>
            <p:nvPr/>
          </p:nvSpPr>
          <p:spPr>
            <a:xfrm>
              <a:off x="2292857" y="5196967"/>
              <a:ext cx="972185" cy="132080"/>
            </a:xfrm>
            <a:prstGeom prst="rect">
              <a:avLst/>
            </a:prstGeom>
          </p:spPr>
          <p:txBody>
            <a:bodyPr vert="horz" wrap="square" lIns="0" tIns="12065" rIns="0" bIns="0" rtlCol="0">
              <a:spAutoFit/>
            </a:bodyPr>
            <a:lstStyle/>
            <a:p>
              <a:pPr marL="12700">
                <a:lnSpc>
                  <a:spcPct val="100000"/>
                </a:lnSpc>
                <a:spcBef>
                  <a:spcPts val="95"/>
                </a:spcBef>
              </a:pPr>
              <a:r>
                <a:rPr sz="700" spc="-10" dirty="0">
                  <a:latin typeface="Calibri"/>
                  <a:cs typeface="Calibri"/>
                </a:rPr>
                <a:t>Current</a:t>
              </a:r>
              <a:r>
                <a:rPr sz="700" spc="25" dirty="0">
                  <a:latin typeface="Calibri"/>
                  <a:cs typeface="Calibri"/>
                </a:rPr>
                <a:t> </a:t>
              </a:r>
              <a:r>
                <a:rPr sz="700" spc="-10" dirty="0">
                  <a:latin typeface="Calibri"/>
                  <a:cs typeface="Calibri"/>
                </a:rPr>
                <a:t>Dimming</a:t>
              </a:r>
              <a:r>
                <a:rPr sz="700" spc="10" dirty="0">
                  <a:latin typeface="Calibri"/>
                  <a:cs typeface="Calibri"/>
                </a:rPr>
                <a:t> </a:t>
              </a:r>
              <a:r>
                <a:rPr sz="700" spc="-5" dirty="0">
                  <a:latin typeface="Calibri"/>
                  <a:cs typeface="Calibri"/>
                </a:rPr>
                <a:t>Mode=0</a:t>
              </a:r>
              <a:endParaRPr sz="700" dirty="0">
                <a:latin typeface="Calibri"/>
                <a:cs typeface="Calibri"/>
              </a:endParaRPr>
            </a:p>
          </p:txBody>
        </p:sp>
        <p:sp>
          <p:nvSpPr>
            <p:cNvPr id="22" name="object 22"/>
            <p:cNvSpPr txBox="1"/>
            <p:nvPr/>
          </p:nvSpPr>
          <p:spPr>
            <a:xfrm>
              <a:off x="3813809" y="5199634"/>
              <a:ext cx="975994" cy="132080"/>
            </a:xfrm>
            <a:prstGeom prst="rect">
              <a:avLst/>
            </a:prstGeom>
          </p:spPr>
          <p:txBody>
            <a:bodyPr vert="horz" wrap="square" lIns="0" tIns="12065" rIns="0" bIns="0" rtlCol="0">
              <a:spAutoFit/>
            </a:bodyPr>
            <a:lstStyle/>
            <a:p>
              <a:pPr marL="12700">
                <a:lnSpc>
                  <a:spcPct val="100000"/>
                </a:lnSpc>
                <a:spcBef>
                  <a:spcPts val="95"/>
                </a:spcBef>
              </a:pPr>
              <a:r>
                <a:rPr sz="700" spc="-5" dirty="0">
                  <a:latin typeface="Calibri"/>
                  <a:cs typeface="Calibri"/>
                </a:rPr>
                <a:t>Current</a:t>
              </a:r>
              <a:r>
                <a:rPr sz="700" spc="10" dirty="0">
                  <a:latin typeface="Calibri"/>
                  <a:cs typeface="Calibri"/>
                </a:rPr>
                <a:t> </a:t>
              </a:r>
              <a:r>
                <a:rPr sz="700" spc="-5" dirty="0">
                  <a:latin typeface="Calibri"/>
                  <a:cs typeface="Calibri"/>
                </a:rPr>
                <a:t>Dimming</a:t>
              </a:r>
              <a:r>
                <a:rPr sz="700" spc="5" dirty="0">
                  <a:latin typeface="Calibri"/>
                  <a:cs typeface="Calibri"/>
                </a:rPr>
                <a:t> </a:t>
              </a:r>
              <a:r>
                <a:rPr sz="700" spc="-5" dirty="0">
                  <a:latin typeface="Calibri"/>
                  <a:cs typeface="Calibri"/>
                </a:rPr>
                <a:t>Mode=1</a:t>
              </a:r>
              <a:endParaRPr sz="700" dirty="0">
                <a:latin typeface="Calibri"/>
                <a:cs typeface="Calibri"/>
              </a:endParaRPr>
            </a:p>
          </p:txBody>
        </p:sp>
        <p:sp>
          <p:nvSpPr>
            <p:cNvPr id="23" name="object 23"/>
            <p:cNvSpPr/>
            <p:nvPr/>
          </p:nvSpPr>
          <p:spPr>
            <a:xfrm>
              <a:off x="3288791" y="5250688"/>
              <a:ext cx="180340" cy="50800"/>
            </a:xfrm>
            <a:custGeom>
              <a:avLst/>
              <a:gdLst/>
              <a:ahLst/>
              <a:cxnLst/>
              <a:rect l="l" t="t" r="r" b="b"/>
              <a:pathLst>
                <a:path w="180339" h="50800">
                  <a:moveTo>
                    <a:pt x="50800" y="0"/>
                  </a:moveTo>
                  <a:lnTo>
                    <a:pt x="0" y="25400"/>
                  </a:lnTo>
                  <a:lnTo>
                    <a:pt x="50800" y="50800"/>
                  </a:lnTo>
                  <a:lnTo>
                    <a:pt x="50800" y="31750"/>
                  </a:lnTo>
                  <a:lnTo>
                    <a:pt x="38100" y="31750"/>
                  </a:lnTo>
                  <a:lnTo>
                    <a:pt x="38100" y="19050"/>
                  </a:lnTo>
                  <a:lnTo>
                    <a:pt x="50800" y="19050"/>
                  </a:lnTo>
                  <a:lnTo>
                    <a:pt x="50800" y="0"/>
                  </a:lnTo>
                  <a:close/>
                </a:path>
                <a:path w="180339" h="50800">
                  <a:moveTo>
                    <a:pt x="50800" y="19050"/>
                  </a:moveTo>
                  <a:lnTo>
                    <a:pt x="38100" y="19050"/>
                  </a:lnTo>
                  <a:lnTo>
                    <a:pt x="38100" y="31750"/>
                  </a:lnTo>
                  <a:lnTo>
                    <a:pt x="50800" y="31750"/>
                  </a:lnTo>
                  <a:lnTo>
                    <a:pt x="50800" y="19050"/>
                  </a:lnTo>
                  <a:close/>
                </a:path>
                <a:path w="180339" h="50800">
                  <a:moveTo>
                    <a:pt x="179959" y="19050"/>
                  </a:moveTo>
                  <a:lnTo>
                    <a:pt x="50800" y="19050"/>
                  </a:lnTo>
                  <a:lnTo>
                    <a:pt x="50800" y="31750"/>
                  </a:lnTo>
                  <a:lnTo>
                    <a:pt x="179959" y="31750"/>
                  </a:lnTo>
                  <a:lnTo>
                    <a:pt x="179959" y="19050"/>
                  </a:lnTo>
                  <a:close/>
                </a:path>
              </a:pathLst>
            </a:custGeom>
            <a:solidFill>
              <a:srgbClr val="000000"/>
            </a:solidFill>
          </p:spPr>
          <p:txBody>
            <a:bodyPr wrap="square" lIns="0" tIns="0" rIns="0" bIns="0" rtlCol="0"/>
            <a:lstStyle/>
            <a:p>
              <a:endParaRPr dirty="0"/>
            </a:p>
          </p:txBody>
        </p:sp>
        <p:sp>
          <p:nvSpPr>
            <p:cNvPr id="24" name="object 24"/>
            <p:cNvSpPr/>
            <p:nvPr/>
          </p:nvSpPr>
          <p:spPr>
            <a:xfrm>
              <a:off x="2558796" y="5250687"/>
              <a:ext cx="2391410" cy="313690"/>
            </a:xfrm>
            <a:custGeom>
              <a:avLst/>
              <a:gdLst/>
              <a:ahLst/>
              <a:cxnLst/>
              <a:rect l="l" t="t" r="r" b="b"/>
              <a:pathLst>
                <a:path w="2391410" h="313689">
                  <a:moveTo>
                    <a:pt x="53340" y="286766"/>
                  </a:moveTo>
                  <a:lnTo>
                    <a:pt x="51244" y="276390"/>
                  </a:lnTo>
                  <a:lnTo>
                    <a:pt x="45529" y="267906"/>
                  </a:lnTo>
                  <a:lnTo>
                    <a:pt x="37045" y="262204"/>
                  </a:lnTo>
                  <a:lnTo>
                    <a:pt x="26670" y="260096"/>
                  </a:lnTo>
                  <a:lnTo>
                    <a:pt x="16281" y="262191"/>
                  </a:lnTo>
                  <a:lnTo>
                    <a:pt x="7797" y="267906"/>
                  </a:lnTo>
                  <a:lnTo>
                    <a:pt x="2082" y="276390"/>
                  </a:lnTo>
                  <a:lnTo>
                    <a:pt x="0" y="286766"/>
                  </a:lnTo>
                  <a:lnTo>
                    <a:pt x="2082" y="297154"/>
                  </a:lnTo>
                  <a:lnTo>
                    <a:pt x="7797" y="305625"/>
                  </a:lnTo>
                  <a:lnTo>
                    <a:pt x="16281" y="311340"/>
                  </a:lnTo>
                  <a:lnTo>
                    <a:pt x="26670" y="313436"/>
                  </a:lnTo>
                  <a:lnTo>
                    <a:pt x="37045" y="311340"/>
                  </a:lnTo>
                  <a:lnTo>
                    <a:pt x="45529" y="305625"/>
                  </a:lnTo>
                  <a:lnTo>
                    <a:pt x="51244" y="297154"/>
                  </a:lnTo>
                  <a:lnTo>
                    <a:pt x="53340" y="286766"/>
                  </a:lnTo>
                  <a:close/>
                </a:path>
                <a:path w="2391410" h="313689">
                  <a:moveTo>
                    <a:pt x="1040892" y="279908"/>
                  </a:moveTo>
                  <a:lnTo>
                    <a:pt x="1038720" y="269252"/>
                  </a:lnTo>
                  <a:lnTo>
                    <a:pt x="1032840" y="260527"/>
                  </a:lnTo>
                  <a:lnTo>
                    <a:pt x="1024115" y="254647"/>
                  </a:lnTo>
                  <a:lnTo>
                    <a:pt x="1013460" y="252476"/>
                  </a:lnTo>
                  <a:lnTo>
                    <a:pt x="1002792" y="254647"/>
                  </a:lnTo>
                  <a:lnTo>
                    <a:pt x="994067" y="260527"/>
                  </a:lnTo>
                  <a:lnTo>
                    <a:pt x="988187" y="269252"/>
                  </a:lnTo>
                  <a:lnTo>
                    <a:pt x="986028" y="279908"/>
                  </a:lnTo>
                  <a:lnTo>
                    <a:pt x="988187" y="290576"/>
                  </a:lnTo>
                  <a:lnTo>
                    <a:pt x="994067" y="299300"/>
                  </a:lnTo>
                  <a:lnTo>
                    <a:pt x="1002792" y="305181"/>
                  </a:lnTo>
                  <a:lnTo>
                    <a:pt x="1013460" y="307340"/>
                  </a:lnTo>
                  <a:lnTo>
                    <a:pt x="1024115" y="305181"/>
                  </a:lnTo>
                  <a:lnTo>
                    <a:pt x="1032840" y="299300"/>
                  </a:lnTo>
                  <a:lnTo>
                    <a:pt x="1038720" y="290576"/>
                  </a:lnTo>
                  <a:lnTo>
                    <a:pt x="1040892" y="279908"/>
                  </a:lnTo>
                  <a:close/>
                </a:path>
                <a:path w="2391410" h="313689">
                  <a:moveTo>
                    <a:pt x="1234567" y="25400"/>
                  </a:moveTo>
                  <a:lnTo>
                    <a:pt x="1221867" y="19050"/>
                  </a:lnTo>
                  <a:lnTo>
                    <a:pt x="1183767" y="0"/>
                  </a:lnTo>
                  <a:lnTo>
                    <a:pt x="1183767" y="19050"/>
                  </a:lnTo>
                  <a:lnTo>
                    <a:pt x="1036040" y="19050"/>
                  </a:lnTo>
                  <a:lnTo>
                    <a:pt x="1035329" y="15544"/>
                  </a:lnTo>
                  <a:lnTo>
                    <a:pt x="1029868" y="7467"/>
                  </a:lnTo>
                  <a:lnTo>
                    <a:pt x="1021791" y="2006"/>
                  </a:lnTo>
                  <a:lnTo>
                    <a:pt x="1011936" y="0"/>
                  </a:lnTo>
                  <a:lnTo>
                    <a:pt x="1002068" y="2006"/>
                  </a:lnTo>
                  <a:lnTo>
                    <a:pt x="993990" y="7467"/>
                  </a:lnTo>
                  <a:lnTo>
                    <a:pt x="988529" y="15544"/>
                  </a:lnTo>
                  <a:lnTo>
                    <a:pt x="986536" y="25400"/>
                  </a:lnTo>
                  <a:lnTo>
                    <a:pt x="988529" y="35267"/>
                  </a:lnTo>
                  <a:lnTo>
                    <a:pt x="993990" y="43345"/>
                  </a:lnTo>
                  <a:lnTo>
                    <a:pt x="1002068" y="48806"/>
                  </a:lnTo>
                  <a:lnTo>
                    <a:pt x="1011936" y="50800"/>
                  </a:lnTo>
                  <a:lnTo>
                    <a:pt x="1021791" y="48806"/>
                  </a:lnTo>
                  <a:lnTo>
                    <a:pt x="1029868" y="43345"/>
                  </a:lnTo>
                  <a:lnTo>
                    <a:pt x="1035329" y="35267"/>
                  </a:lnTo>
                  <a:lnTo>
                    <a:pt x="1036040" y="31750"/>
                  </a:lnTo>
                  <a:lnTo>
                    <a:pt x="1183767" y="31750"/>
                  </a:lnTo>
                  <a:lnTo>
                    <a:pt x="1183767" y="50800"/>
                  </a:lnTo>
                  <a:lnTo>
                    <a:pt x="1221867" y="31750"/>
                  </a:lnTo>
                  <a:lnTo>
                    <a:pt x="1234567" y="25400"/>
                  </a:lnTo>
                  <a:close/>
                </a:path>
                <a:path w="2391410" h="313689">
                  <a:moveTo>
                    <a:pt x="2391156" y="277622"/>
                  </a:moveTo>
                  <a:lnTo>
                    <a:pt x="2388984" y="267246"/>
                  </a:lnTo>
                  <a:lnTo>
                    <a:pt x="2383104" y="258762"/>
                  </a:lnTo>
                  <a:lnTo>
                    <a:pt x="2374379" y="253047"/>
                  </a:lnTo>
                  <a:lnTo>
                    <a:pt x="2363724" y="250952"/>
                  </a:lnTo>
                  <a:lnTo>
                    <a:pt x="2353056" y="253047"/>
                  </a:lnTo>
                  <a:lnTo>
                    <a:pt x="2344331" y="258762"/>
                  </a:lnTo>
                  <a:lnTo>
                    <a:pt x="2338451" y="267246"/>
                  </a:lnTo>
                  <a:lnTo>
                    <a:pt x="2336292" y="277622"/>
                  </a:lnTo>
                  <a:lnTo>
                    <a:pt x="2338451" y="288010"/>
                  </a:lnTo>
                  <a:lnTo>
                    <a:pt x="2344331" y="296481"/>
                  </a:lnTo>
                  <a:lnTo>
                    <a:pt x="2353056" y="302196"/>
                  </a:lnTo>
                  <a:lnTo>
                    <a:pt x="2363724" y="304292"/>
                  </a:lnTo>
                  <a:lnTo>
                    <a:pt x="2374379" y="302196"/>
                  </a:lnTo>
                  <a:lnTo>
                    <a:pt x="2383104" y="296481"/>
                  </a:lnTo>
                  <a:lnTo>
                    <a:pt x="2388984" y="288010"/>
                  </a:lnTo>
                  <a:lnTo>
                    <a:pt x="2391156" y="277622"/>
                  </a:lnTo>
                  <a:close/>
                </a:path>
              </a:pathLst>
            </a:custGeom>
            <a:solidFill>
              <a:srgbClr val="000000"/>
            </a:solidFill>
          </p:spPr>
          <p:txBody>
            <a:bodyPr wrap="square" lIns="0" tIns="0" rIns="0" bIns="0" rtlCol="0"/>
            <a:lstStyle/>
            <a:p>
              <a:endParaRPr dirty="0"/>
            </a:p>
          </p:txBody>
        </p:sp>
      </p:grpSp>
      <p:graphicFrame>
        <p:nvGraphicFramePr>
          <p:cNvPr id="30" name="표 29">
            <a:extLst>
              <a:ext uri="{FF2B5EF4-FFF2-40B4-BE49-F238E27FC236}">
                <a16:creationId xmlns:a16="http://schemas.microsoft.com/office/drawing/2014/main" id="{96BCF4CD-14C5-0AF1-1F8D-24D448FF20B6}"/>
              </a:ext>
            </a:extLst>
          </p:cNvPr>
          <p:cNvGraphicFramePr>
            <a:graphicFrameLocks noGrp="1"/>
          </p:cNvGraphicFramePr>
          <p:nvPr>
            <p:extLst>
              <p:ext uri="{D42A27DB-BD31-4B8C-83A1-F6EECF244321}">
                <p14:modId xmlns:p14="http://schemas.microsoft.com/office/powerpoint/2010/main" val="1259621481"/>
              </p:ext>
            </p:extLst>
          </p:nvPr>
        </p:nvGraphicFramePr>
        <p:xfrm>
          <a:off x="405619" y="7634852"/>
          <a:ext cx="6046761" cy="958023"/>
        </p:xfrm>
        <a:graphic>
          <a:graphicData uri="http://schemas.openxmlformats.org/drawingml/2006/table">
            <a:tbl>
              <a:tblPr firstRow="1" bandRow="1">
                <a:tableStyleId>{5C22544A-7EE6-4342-B048-85BDC9FD1C3A}</a:tableStyleId>
              </a:tblPr>
              <a:tblGrid>
                <a:gridCol w="321630">
                  <a:extLst>
                    <a:ext uri="{9D8B030D-6E8A-4147-A177-3AD203B41FA5}">
                      <a16:colId xmlns:a16="http://schemas.microsoft.com/office/drawing/2014/main" val="4170535043"/>
                    </a:ext>
                  </a:extLst>
                </a:gridCol>
                <a:gridCol w="1562079">
                  <a:extLst>
                    <a:ext uri="{9D8B030D-6E8A-4147-A177-3AD203B41FA5}">
                      <a16:colId xmlns:a16="http://schemas.microsoft.com/office/drawing/2014/main" val="2079070694"/>
                    </a:ext>
                  </a:extLst>
                </a:gridCol>
                <a:gridCol w="220821">
                  <a:extLst>
                    <a:ext uri="{9D8B030D-6E8A-4147-A177-3AD203B41FA5}">
                      <a16:colId xmlns:a16="http://schemas.microsoft.com/office/drawing/2014/main" val="32595803"/>
                    </a:ext>
                  </a:extLst>
                </a:gridCol>
                <a:gridCol w="3942231">
                  <a:extLst>
                    <a:ext uri="{9D8B030D-6E8A-4147-A177-3AD203B41FA5}">
                      <a16:colId xmlns:a16="http://schemas.microsoft.com/office/drawing/2014/main" val="184732826"/>
                    </a:ext>
                  </a:extLst>
                </a:gridCol>
              </a:tblGrid>
              <a:tr h="256197">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l" latinLnBrk="1"/>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701826">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CHx</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channel’s output (ADOx) goes to 0.</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If </a:t>
                      </a:r>
                      <a:r>
                        <a:rPr lang="en-US" altLang="ko-KR" sz="900" spc="-5" dirty="0">
                          <a:latin typeface="Arial"/>
                          <a:cs typeface="Arial"/>
                        </a:rPr>
                        <a:t>there</a:t>
                      </a:r>
                      <a:r>
                        <a:rPr lang="en-US" altLang="ko-KR" sz="900" spc="-10" dirty="0">
                          <a:latin typeface="Arial"/>
                          <a:cs typeface="Arial"/>
                        </a:rPr>
                        <a:t> </a:t>
                      </a:r>
                      <a:r>
                        <a:rPr lang="en-US" altLang="ko-KR" sz="900" spc="-5" dirty="0">
                          <a:latin typeface="Arial"/>
                          <a:cs typeface="Arial"/>
                        </a:rPr>
                        <a:t>are</a:t>
                      </a:r>
                      <a:r>
                        <a:rPr lang="en-US" altLang="ko-KR" sz="900" spc="-10" dirty="0">
                          <a:latin typeface="Arial"/>
                          <a:cs typeface="Arial"/>
                        </a:rPr>
                        <a:t> </a:t>
                      </a:r>
                      <a:r>
                        <a:rPr lang="en-US" altLang="ko-KR" sz="900" dirty="0">
                          <a:latin typeface="Arial"/>
                          <a:cs typeface="Arial"/>
                        </a:rPr>
                        <a:t>unused</a:t>
                      </a:r>
                      <a:r>
                        <a:rPr lang="en-US" altLang="ko-KR" sz="900" spc="-20" dirty="0">
                          <a:latin typeface="Arial"/>
                          <a:cs typeface="Arial"/>
                        </a:rPr>
                        <a:t> </a:t>
                      </a:r>
                      <a:r>
                        <a:rPr lang="en-US" altLang="ko-KR" sz="900" dirty="0">
                          <a:latin typeface="Arial"/>
                          <a:cs typeface="Arial"/>
                        </a:rPr>
                        <a:t>channels,</a:t>
                      </a:r>
                      <a:r>
                        <a:rPr lang="en-US" altLang="ko-KR" sz="900" spc="-35" dirty="0">
                          <a:latin typeface="Arial"/>
                          <a:cs typeface="Arial"/>
                        </a:rPr>
                        <a:t> </a:t>
                      </a:r>
                      <a:r>
                        <a:rPr lang="en-US" altLang="ko-KR" sz="900" spc="-5" dirty="0">
                          <a:latin typeface="Arial"/>
                          <a:cs typeface="Arial"/>
                        </a:rPr>
                        <a:t>then</a:t>
                      </a:r>
                      <a:r>
                        <a:rPr lang="en-US" altLang="ko-KR" sz="900" spc="-20" dirty="0">
                          <a:latin typeface="Arial"/>
                          <a:cs typeface="Arial"/>
                        </a:rPr>
                        <a:t> </a:t>
                      </a:r>
                      <a:r>
                        <a:rPr lang="en-US" altLang="ko-KR" sz="900" dirty="0">
                          <a:latin typeface="Arial"/>
                          <a:cs typeface="Arial"/>
                        </a:rPr>
                        <a:t>recommended</a:t>
                      </a:r>
                      <a:r>
                        <a:rPr lang="en-US" altLang="ko-KR" sz="900" spc="-45" dirty="0">
                          <a:latin typeface="Arial"/>
                          <a:cs typeface="Arial"/>
                        </a:rPr>
                        <a:t> </a:t>
                      </a:r>
                      <a:r>
                        <a:rPr lang="en-US" altLang="ko-KR" sz="900" dirty="0">
                          <a:latin typeface="Arial"/>
                          <a:cs typeface="Arial"/>
                        </a:rPr>
                        <a:t>to</a:t>
                      </a:r>
                      <a:r>
                        <a:rPr lang="en-US" altLang="ko-KR" sz="900" spc="-5" dirty="0">
                          <a:latin typeface="Arial"/>
                          <a:cs typeface="Arial"/>
                        </a:rPr>
                        <a:t> </a:t>
                      </a:r>
                      <a:r>
                        <a:rPr lang="en-US" altLang="ko-KR" sz="900" dirty="0">
                          <a:latin typeface="Arial"/>
                          <a:cs typeface="Arial"/>
                        </a:rPr>
                        <a:t>set</a:t>
                      </a:r>
                      <a:r>
                        <a:rPr lang="en-US" altLang="ko-KR" sz="900" spc="-25" dirty="0">
                          <a:latin typeface="Arial"/>
                          <a:cs typeface="Arial"/>
                        </a:rPr>
                        <a:t> </a:t>
                      </a:r>
                      <a:r>
                        <a:rPr lang="en-US" altLang="ko-KR" sz="900" dirty="0">
                          <a:latin typeface="Arial"/>
                          <a:cs typeface="Arial"/>
                        </a:rPr>
                        <a:t>to 0.</a:t>
                      </a: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spc="-5" dirty="0">
                          <a:latin typeface="Arial"/>
                          <a:cs typeface="Arial"/>
                        </a:rPr>
                        <a:t>The </a:t>
                      </a:r>
                      <a:r>
                        <a:rPr lang="en-US" altLang="ko-KR" sz="900" dirty="0">
                          <a:latin typeface="Arial"/>
                          <a:cs typeface="Arial"/>
                        </a:rPr>
                        <a:t>channel’s output </a:t>
                      </a:r>
                      <a:r>
                        <a:rPr lang="en-US" altLang="ko-KR" sz="900" spc="-5" dirty="0">
                          <a:latin typeface="Arial"/>
                          <a:cs typeface="Arial"/>
                        </a:rPr>
                        <a:t>(ADOx) </a:t>
                      </a:r>
                      <a:r>
                        <a:rPr lang="en-US" altLang="ko-KR" sz="900" dirty="0">
                          <a:latin typeface="Arial"/>
                          <a:cs typeface="Arial"/>
                        </a:rPr>
                        <a:t>is </a:t>
                      </a:r>
                      <a:r>
                        <a:rPr lang="en-US" altLang="ko-KR" sz="900" spc="-5" dirty="0">
                          <a:latin typeface="Arial"/>
                          <a:cs typeface="Arial"/>
                        </a:rPr>
                        <a:t>driven </a:t>
                      </a:r>
                      <a:r>
                        <a:rPr lang="en-US" altLang="ko-KR" sz="900" dirty="0">
                          <a:latin typeface="Arial"/>
                          <a:cs typeface="Arial"/>
                        </a:rPr>
                        <a:t>to some </a:t>
                      </a:r>
                      <a:r>
                        <a:rPr lang="en-US" altLang="ko-KR" sz="900" spc="-5" dirty="0">
                          <a:latin typeface="Arial"/>
                          <a:cs typeface="Arial"/>
                        </a:rPr>
                        <a:t>level which </a:t>
                      </a:r>
                      <a:r>
                        <a:rPr lang="en-US" altLang="ko-KR" sz="900" dirty="0">
                          <a:latin typeface="Arial"/>
                          <a:cs typeface="Arial"/>
                        </a:rPr>
                        <a:t>depends on the </a:t>
                      </a:r>
                      <a:r>
                        <a:rPr lang="en-US" altLang="ko-KR" sz="900" spc="-235" dirty="0">
                          <a:latin typeface="Arial"/>
                          <a:cs typeface="Arial"/>
                        </a:rPr>
                        <a:t> </a:t>
                      </a:r>
                      <a:r>
                        <a:rPr lang="en-US" altLang="ko-KR" sz="900" dirty="0">
                          <a:latin typeface="Arial"/>
                          <a:cs typeface="Arial"/>
                        </a:rPr>
                        <a:t>local</a:t>
                      </a:r>
                      <a:r>
                        <a:rPr lang="en-US" altLang="ko-KR" sz="900" spc="-25" dirty="0">
                          <a:latin typeface="Arial"/>
                          <a:cs typeface="Arial"/>
                        </a:rPr>
                        <a:t> </a:t>
                      </a:r>
                      <a:r>
                        <a:rPr lang="en-US" altLang="ko-KR" sz="900" dirty="0">
                          <a:latin typeface="Arial"/>
                          <a:cs typeface="Arial"/>
                        </a:rPr>
                        <a:t>dimming</a:t>
                      </a:r>
                      <a:r>
                        <a:rPr lang="en-US" altLang="ko-KR" sz="900" spc="-35" dirty="0">
                          <a:latin typeface="Arial"/>
                          <a:cs typeface="Arial"/>
                        </a:rPr>
                        <a:t> </a:t>
                      </a:r>
                      <a:r>
                        <a:rPr lang="en-US" altLang="ko-KR" sz="900" dirty="0">
                          <a:latin typeface="Arial"/>
                          <a:cs typeface="Arial"/>
                        </a:rPr>
                        <a:t>data.</a:t>
                      </a:r>
                      <a:endParaRPr lang="en-US" altLang="ko-KR"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3" name="object 9">
            <a:extLst>
              <a:ext uri="{FF2B5EF4-FFF2-40B4-BE49-F238E27FC236}">
                <a16:creationId xmlns:a16="http://schemas.microsoft.com/office/drawing/2014/main" id="{6A653C59-97C8-37C0-4091-CFB7830F8050}"/>
              </a:ext>
            </a:extLst>
          </p:cNvPr>
          <p:cNvSpPr txBox="1"/>
          <p:nvPr/>
        </p:nvSpPr>
        <p:spPr>
          <a:xfrm>
            <a:off x="304800" y="9067800"/>
            <a:ext cx="2078355" cy="289823"/>
          </a:xfrm>
          <a:prstGeom prst="rect">
            <a:avLst/>
          </a:prstGeom>
        </p:spPr>
        <p:txBody>
          <a:bodyPr vert="horz" wrap="square" lIns="0" tIns="12700" rIns="0" bIns="0" rtlCol="0">
            <a:spAutoFit/>
          </a:bodyPr>
          <a:lstStyle/>
          <a:p>
            <a:pPr marL="12700">
              <a:lnSpc>
                <a:spcPct val="100000"/>
              </a:lnSpc>
              <a:spcBef>
                <a:spcPts val="100"/>
              </a:spcBef>
            </a:pPr>
            <a:r>
              <a:rPr b="1" spc="-5" dirty="0">
                <a:solidFill>
                  <a:srgbClr val="FF0000"/>
                </a:solidFill>
                <a:cs typeface="Perpetua Titling MT"/>
              </a:rPr>
              <a:t>CONFIDENTIAL</a:t>
            </a:r>
            <a:endParaRPr dirty="0">
              <a:cs typeface="Perpetua Titling MT"/>
            </a:endParaRPr>
          </a:p>
        </p:txBody>
      </p:sp>
      <p:sp>
        <p:nvSpPr>
          <p:cNvPr id="29" name="object 6">
            <a:extLst>
              <a:ext uri="{FF2B5EF4-FFF2-40B4-BE49-F238E27FC236}">
                <a16:creationId xmlns:a16="http://schemas.microsoft.com/office/drawing/2014/main" id="{939C2B0E-6732-20C4-8E58-C8F9E7970C88}"/>
              </a:ext>
            </a:extLst>
          </p:cNvPr>
          <p:cNvSpPr/>
          <p:nvPr/>
        </p:nvSpPr>
        <p:spPr>
          <a:xfrm>
            <a:off x="301676" y="9458756"/>
            <a:ext cx="6246495" cy="0"/>
          </a:xfrm>
          <a:custGeom>
            <a:avLst/>
            <a:gdLst/>
            <a:ahLst/>
            <a:cxnLst/>
            <a:rect l="l" t="t" r="r" b="b"/>
            <a:pathLst>
              <a:path w="6246495">
                <a:moveTo>
                  <a:pt x="0" y="0"/>
                </a:moveTo>
                <a:lnTo>
                  <a:pt x="6245999" y="0"/>
                </a:lnTo>
              </a:path>
            </a:pathLst>
          </a:custGeom>
          <a:ln w="25920">
            <a:solidFill>
              <a:srgbClr val="BFBFBF"/>
            </a:solidFill>
          </a:ln>
        </p:spPr>
        <p:txBody>
          <a:bodyPr wrap="square" lIns="0" tIns="0" rIns="0" bIns="0" rtlCol="0"/>
          <a:lstStyle/>
          <a:p>
            <a:endParaRPr/>
          </a:p>
        </p:txBody>
      </p:sp>
      <p:sp>
        <p:nvSpPr>
          <p:cNvPr id="31" name="슬라이드 번호 개체 틀 3">
            <a:hlinkClick r:id="rId2"/>
            <a:extLst>
              <a:ext uri="{FF2B5EF4-FFF2-40B4-BE49-F238E27FC236}">
                <a16:creationId xmlns:a16="http://schemas.microsoft.com/office/drawing/2014/main" id="{1348947C-B3D7-F626-463F-AA1A8022B52F}"/>
              </a:ext>
            </a:extLst>
          </p:cNvPr>
          <p:cNvSpPr txBox="1">
            <a:spLocks/>
          </p:cNvSpPr>
          <p:nvPr/>
        </p:nvSpPr>
        <p:spPr>
          <a:xfrm>
            <a:off x="5151602" y="9452864"/>
            <a:ext cx="1487550"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dirty="0">
                <a:solidFill>
                  <a:prstClr val="black"/>
                </a:solidFill>
                <a:latin typeface="Arial" panose="020B0604020202020204" pitchFamily="34" charset="0"/>
                <a:cs typeface="Arial" panose="020B0604020202020204" pitchFamily="34" charset="0"/>
              </a:rPr>
              <a:t>http://www.glbltech.com/</a:t>
            </a:r>
            <a:endParaRPr lang="ko-KR" altLang="en-US" dirty="0">
              <a:solidFill>
                <a:prstClr val="black"/>
              </a:solidFill>
              <a:latin typeface="Arial" panose="020B0604020202020204" pitchFamily="34" charset="0"/>
              <a:cs typeface="Arial" panose="020B0604020202020204" pitchFamily="34" charset="0"/>
            </a:endParaRPr>
          </a:p>
        </p:txBody>
      </p:sp>
      <p:sp>
        <p:nvSpPr>
          <p:cNvPr id="32" name="object 38">
            <a:extLst>
              <a:ext uri="{FF2B5EF4-FFF2-40B4-BE49-F238E27FC236}">
                <a16:creationId xmlns:a16="http://schemas.microsoft.com/office/drawing/2014/main" id="{7D0ABA92-D15D-F7A4-D9CE-02980C958986}"/>
              </a:ext>
            </a:extLst>
          </p:cNvPr>
          <p:cNvSpPr txBox="1">
            <a:spLocks/>
          </p:cNvSpPr>
          <p:nvPr/>
        </p:nvSpPr>
        <p:spPr>
          <a:xfrm>
            <a:off x="3309066" y="9547988"/>
            <a:ext cx="487045" cy="139141"/>
          </a:xfrm>
          <a:prstGeom prst="rect">
            <a:avLst/>
          </a:prstGeom>
        </p:spPr>
        <p:txBody>
          <a:bodyPr vert="horz" wrap="square" lIns="0" tIns="635" rIns="0" bIns="0" rtlCol="0">
            <a:spAutoFit/>
          </a:bodyPr>
          <a:lstStyle>
            <a:defPPr>
              <a:defRPr lang="ko-KR"/>
            </a:defPPr>
            <a:lvl1pPr marL="0" algn="l" defTabSz="914400" rtl="0" eaLnBrk="1" latinLnBrk="1" hangingPunct="1">
              <a:defRPr sz="1050" b="0" i="0" kern="1200">
                <a:solidFill>
                  <a:schemeClr val="tx1"/>
                </a:solidFill>
                <a:latin typeface="Arial"/>
                <a:ea typeface="+mn-ea"/>
                <a:cs typeface="Arial"/>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marL="12700">
              <a:spcBef>
                <a:spcPts val="5"/>
              </a:spcBef>
              <a:defRPr/>
            </a:pPr>
            <a:r>
              <a:rPr lang="en-US" sz="900" dirty="0">
                <a:solidFill>
                  <a:prstClr val="black"/>
                </a:solidFill>
              </a:rPr>
              <a:t>Page</a:t>
            </a:r>
            <a:r>
              <a:rPr lang="en-US" sz="900" spc="-60" dirty="0">
                <a:solidFill>
                  <a:prstClr val="black"/>
                </a:solidFill>
              </a:rPr>
              <a:t> </a:t>
            </a:r>
            <a:fld id="{81D60167-4931-47E6-BA6A-407CBD079E47}" type="slidenum">
              <a:rPr sz="900">
                <a:solidFill>
                  <a:prstClr val="black"/>
                </a:solidFill>
              </a:rPr>
              <a:pPr marL="12700">
                <a:spcBef>
                  <a:spcPts val="5"/>
                </a:spcBef>
                <a:defRPr/>
              </a:pPr>
              <a:t>40</a:t>
            </a:fld>
            <a:endParaRPr sz="900" dirty="0">
              <a:solidFill>
                <a:prstClr val="black"/>
              </a:solidFill>
            </a:endParaRPr>
          </a:p>
        </p:txBody>
      </p:sp>
      <p:sp>
        <p:nvSpPr>
          <p:cNvPr id="33" name="슬라이드 번호 개체 틀 3">
            <a:extLst>
              <a:ext uri="{FF2B5EF4-FFF2-40B4-BE49-F238E27FC236}">
                <a16:creationId xmlns:a16="http://schemas.microsoft.com/office/drawing/2014/main" id="{D7039D99-0FCE-0BC6-C100-3425F7178D6D}"/>
              </a:ext>
            </a:extLst>
          </p:cNvPr>
          <p:cNvSpPr txBox="1">
            <a:spLocks/>
          </p:cNvSpPr>
          <p:nvPr/>
        </p:nvSpPr>
        <p:spPr>
          <a:xfrm>
            <a:off x="299401" y="9520856"/>
            <a:ext cx="2060991" cy="175259"/>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lang="en-US" altLang="ko-KR" dirty="0">
                <a:solidFill>
                  <a:prstClr val="black"/>
                </a:solidFill>
                <a:latin typeface="Arial" panose="020B0604020202020204" pitchFamily="34" charset="0"/>
                <a:cs typeface="Arial" panose="020B0604020202020204" pitchFamily="34" charset="0"/>
              </a:rPr>
              <a:t>Dated 30-Nov 23  Rev. 01</a:t>
            </a:r>
            <a:endParaRPr lang="ko-KR" altLang="en-US" dirty="0">
              <a:solidFill>
                <a:prstClr val="black"/>
              </a:solidFill>
              <a:latin typeface="Arial" panose="020B0604020202020204" pitchFamily="34" charset="0"/>
              <a:cs typeface="Arial" panose="020B0604020202020204" pitchFamily="34" charset="0"/>
            </a:endParaRPr>
          </a:p>
        </p:txBody>
      </p:sp>
      <p:sp>
        <p:nvSpPr>
          <p:cNvPr id="34" name="Holder 3">
            <a:extLst>
              <a:ext uri="{FF2B5EF4-FFF2-40B4-BE49-F238E27FC236}">
                <a16:creationId xmlns:a16="http://schemas.microsoft.com/office/drawing/2014/main" id="{752A900A-86AA-FB14-CA80-58724E1FAC85}"/>
              </a:ext>
            </a:extLst>
          </p:cNvPr>
          <p:cNvSpPr txBox="1">
            <a:spLocks/>
          </p:cNvSpPr>
          <p:nvPr/>
        </p:nvSpPr>
        <p:spPr>
          <a:xfrm>
            <a:off x="5147476" y="203944"/>
            <a:ext cx="1447800" cy="276999"/>
          </a:xfrm>
          <a:prstGeom prst="rect">
            <a:avLst/>
          </a:prstGeom>
        </p:spPr>
        <p:txBody>
          <a:bodyPr wrap="square" lIns="0" tIns="0" rIns="0" bIns="0">
            <a:spAutoFit/>
          </a:bodyPr>
          <a:lstStyle>
            <a:lvl1pPr marL="0">
              <a:defRPr>
                <a:solidFill>
                  <a:srgbClr val="FF99FF"/>
                </a:solidFill>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defTabSz="914400" latinLnBrk="0"/>
            <a:r>
              <a:rPr lang="en-US" sz="1800" kern="0" dirty="0"/>
              <a:t>&lt;Preliminary&gt;</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p:nvPr/>
        </p:nvSpPr>
        <p:spPr>
          <a:xfrm>
            <a:off x="400913" y="301879"/>
            <a:ext cx="622935" cy="299720"/>
          </a:xfrm>
          <a:prstGeom prst="rect">
            <a:avLst/>
          </a:prstGeom>
        </p:spPr>
        <p:txBody>
          <a:bodyPr vert="horz" wrap="square" lIns="0" tIns="12700" rIns="0" bIns="0" rtlCol="0">
            <a:spAutoFit/>
          </a:bodyPr>
          <a:lstStyle/>
          <a:p>
            <a:pPr marL="12700">
              <a:lnSpc>
                <a:spcPct val="100000"/>
              </a:lnSpc>
              <a:spcBef>
                <a:spcPts val="100"/>
              </a:spcBef>
            </a:pPr>
            <a:r>
              <a:rPr sz="1800" b="1" spc="-5" dirty="0">
                <a:latin typeface="Arial"/>
                <a:cs typeface="Arial"/>
              </a:rPr>
              <a:t>CQ24</a:t>
            </a:r>
            <a:endParaRPr sz="1800" dirty="0">
              <a:latin typeface="Arial"/>
              <a:cs typeface="Arial"/>
            </a:endParaRPr>
          </a:p>
        </p:txBody>
      </p:sp>
      <p:sp>
        <p:nvSpPr>
          <p:cNvPr id="6" name="object 6"/>
          <p:cNvSpPr txBox="1"/>
          <p:nvPr/>
        </p:nvSpPr>
        <p:spPr>
          <a:xfrm>
            <a:off x="400913" y="927353"/>
            <a:ext cx="6038542" cy="182101"/>
          </a:xfrm>
          <a:prstGeom prst="rect">
            <a:avLst/>
          </a:prstGeom>
        </p:spPr>
        <p:txBody>
          <a:bodyPr vert="horz" wrap="square" lIns="0" tIns="12700" rIns="0" bIns="0" rtlCol="0">
            <a:spAutoFit/>
          </a:bodyPr>
          <a:lstStyle/>
          <a:p>
            <a:pPr marL="12700">
              <a:lnSpc>
                <a:spcPct val="100000"/>
              </a:lnSpc>
              <a:spcBef>
                <a:spcPts val="100"/>
              </a:spcBef>
            </a:pPr>
            <a:r>
              <a:rPr sz="1100" b="1" dirty="0">
                <a:latin typeface="Arial"/>
                <a:cs typeface="Arial"/>
              </a:rPr>
              <a:t>MCLK</a:t>
            </a:r>
            <a:r>
              <a:rPr sz="1100" b="1" spc="-40" dirty="0">
                <a:latin typeface="Arial"/>
                <a:cs typeface="Arial"/>
              </a:rPr>
              <a:t> </a:t>
            </a:r>
            <a:r>
              <a:rPr sz="1100" b="1" dirty="0">
                <a:latin typeface="Arial"/>
                <a:cs typeface="Arial"/>
              </a:rPr>
              <a:t>LOCK</a:t>
            </a:r>
            <a:r>
              <a:rPr sz="1100" b="1" spc="-50" dirty="0">
                <a:latin typeface="Arial"/>
                <a:cs typeface="Arial"/>
              </a:rPr>
              <a:t> </a:t>
            </a:r>
            <a:r>
              <a:rPr sz="1100" b="1" spc="-5" dirty="0">
                <a:latin typeface="Arial"/>
                <a:cs typeface="Arial"/>
              </a:rPr>
              <a:t>COUNTER</a:t>
            </a:r>
            <a:endParaRPr sz="1100" dirty="0">
              <a:latin typeface="Arial"/>
              <a:cs typeface="Arial"/>
            </a:endParaRPr>
          </a:p>
        </p:txBody>
      </p:sp>
      <p:graphicFrame>
        <p:nvGraphicFramePr>
          <p:cNvPr id="7" name="object 7"/>
          <p:cNvGraphicFramePr>
            <a:graphicFrameLocks noGrp="1"/>
          </p:cNvGraphicFramePr>
          <p:nvPr>
            <p:extLst>
              <p:ext uri="{D42A27DB-BD31-4B8C-83A1-F6EECF244321}">
                <p14:modId xmlns:p14="http://schemas.microsoft.com/office/powerpoint/2010/main" val="1536693526"/>
              </p:ext>
            </p:extLst>
          </p:nvPr>
        </p:nvGraphicFramePr>
        <p:xfrm>
          <a:off x="400913" y="1227518"/>
          <a:ext cx="6038537" cy="387350"/>
        </p:xfrm>
        <a:graphic>
          <a:graphicData uri="http://schemas.openxmlformats.org/drawingml/2006/table">
            <a:tbl>
              <a:tblPr firstRow="1" bandRow="1">
                <a:tableStyleId>{2D5ABB26-0587-4C30-8999-92F81FD0307C}</a:tableStyleId>
              </a:tblPr>
              <a:tblGrid>
                <a:gridCol w="412144">
                  <a:extLst>
                    <a:ext uri="{9D8B030D-6E8A-4147-A177-3AD203B41FA5}">
                      <a16:colId xmlns:a16="http://schemas.microsoft.com/office/drawing/2014/main" val="20000"/>
                    </a:ext>
                  </a:extLst>
                </a:gridCol>
                <a:gridCol w="474307">
                  <a:extLst>
                    <a:ext uri="{9D8B030D-6E8A-4147-A177-3AD203B41FA5}">
                      <a16:colId xmlns:a16="http://schemas.microsoft.com/office/drawing/2014/main" val="20001"/>
                    </a:ext>
                  </a:extLst>
                </a:gridCol>
                <a:gridCol w="322005">
                  <a:extLst>
                    <a:ext uri="{9D8B030D-6E8A-4147-A177-3AD203B41FA5}">
                      <a16:colId xmlns:a16="http://schemas.microsoft.com/office/drawing/2014/main" val="20002"/>
                    </a:ext>
                  </a:extLst>
                </a:gridCol>
                <a:gridCol w="322006">
                  <a:extLst>
                    <a:ext uri="{9D8B030D-6E8A-4147-A177-3AD203B41FA5}">
                      <a16:colId xmlns:a16="http://schemas.microsoft.com/office/drawing/2014/main" val="20003"/>
                    </a:ext>
                  </a:extLst>
                </a:gridCol>
                <a:gridCol w="322006">
                  <a:extLst>
                    <a:ext uri="{9D8B030D-6E8A-4147-A177-3AD203B41FA5}">
                      <a16:colId xmlns:a16="http://schemas.microsoft.com/office/drawing/2014/main" val="20004"/>
                    </a:ext>
                  </a:extLst>
                </a:gridCol>
                <a:gridCol w="322006">
                  <a:extLst>
                    <a:ext uri="{9D8B030D-6E8A-4147-A177-3AD203B41FA5}">
                      <a16:colId xmlns:a16="http://schemas.microsoft.com/office/drawing/2014/main" val="20005"/>
                    </a:ext>
                  </a:extLst>
                </a:gridCol>
                <a:gridCol w="322006">
                  <a:extLst>
                    <a:ext uri="{9D8B030D-6E8A-4147-A177-3AD203B41FA5}">
                      <a16:colId xmlns:a16="http://schemas.microsoft.com/office/drawing/2014/main" val="20006"/>
                    </a:ext>
                  </a:extLst>
                </a:gridCol>
                <a:gridCol w="322006">
                  <a:extLst>
                    <a:ext uri="{9D8B030D-6E8A-4147-A177-3AD203B41FA5}">
                      <a16:colId xmlns:a16="http://schemas.microsoft.com/office/drawing/2014/main" val="20007"/>
                    </a:ext>
                  </a:extLst>
                </a:gridCol>
                <a:gridCol w="322006">
                  <a:extLst>
                    <a:ext uri="{9D8B030D-6E8A-4147-A177-3AD203B41FA5}">
                      <a16:colId xmlns:a16="http://schemas.microsoft.com/office/drawing/2014/main" val="20008"/>
                    </a:ext>
                  </a:extLst>
                </a:gridCol>
                <a:gridCol w="322005">
                  <a:extLst>
                    <a:ext uri="{9D8B030D-6E8A-4147-A177-3AD203B41FA5}">
                      <a16:colId xmlns:a16="http://schemas.microsoft.com/office/drawing/2014/main" val="20009"/>
                    </a:ext>
                  </a:extLst>
                </a:gridCol>
                <a:gridCol w="322005">
                  <a:extLst>
                    <a:ext uri="{9D8B030D-6E8A-4147-A177-3AD203B41FA5}">
                      <a16:colId xmlns:a16="http://schemas.microsoft.com/office/drawing/2014/main" val="20010"/>
                    </a:ext>
                  </a:extLst>
                </a:gridCol>
                <a:gridCol w="322005">
                  <a:extLst>
                    <a:ext uri="{9D8B030D-6E8A-4147-A177-3AD203B41FA5}">
                      <a16:colId xmlns:a16="http://schemas.microsoft.com/office/drawing/2014/main" val="20011"/>
                    </a:ext>
                  </a:extLst>
                </a:gridCol>
                <a:gridCol w="322005">
                  <a:extLst>
                    <a:ext uri="{9D8B030D-6E8A-4147-A177-3AD203B41FA5}">
                      <a16:colId xmlns:a16="http://schemas.microsoft.com/office/drawing/2014/main" val="20012"/>
                    </a:ext>
                  </a:extLst>
                </a:gridCol>
                <a:gridCol w="322005">
                  <a:extLst>
                    <a:ext uri="{9D8B030D-6E8A-4147-A177-3AD203B41FA5}">
                      <a16:colId xmlns:a16="http://schemas.microsoft.com/office/drawing/2014/main" val="20013"/>
                    </a:ext>
                  </a:extLst>
                </a:gridCol>
                <a:gridCol w="322005">
                  <a:extLst>
                    <a:ext uri="{9D8B030D-6E8A-4147-A177-3AD203B41FA5}">
                      <a16:colId xmlns:a16="http://schemas.microsoft.com/office/drawing/2014/main" val="20014"/>
                    </a:ext>
                  </a:extLst>
                </a:gridCol>
                <a:gridCol w="322005">
                  <a:extLst>
                    <a:ext uri="{9D8B030D-6E8A-4147-A177-3AD203B41FA5}">
                      <a16:colId xmlns:a16="http://schemas.microsoft.com/office/drawing/2014/main" val="20015"/>
                    </a:ext>
                  </a:extLst>
                </a:gridCol>
                <a:gridCol w="322005">
                  <a:extLst>
                    <a:ext uri="{9D8B030D-6E8A-4147-A177-3AD203B41FA5}">
                      <a16:colId xmlns:a16="http://schemas.microsoft.com/office/drawing/2014/main" val="20016"/>
                    </a:ext>
                  </a:extLst>
                </a:gridCol>
                <a:gridCol w="322005">
                  <a:extLst>
                    <a:ext uri="{9D8B030D-6E8A-4147-A177-3AD203B41FA5}">
                      <a16:colId xmlns:a16="http://schemas.microsoft.com/office/drawing/2014/main" val="20017"/>
                    </a:ext>
                  </a:extLst>
                </a:gridCol>
              </a:tblGrid>
              <a:tr h="193675">
                <a:tc>
                  <a:txBody>
                    <a:bodyPr/>
                    <a:lstStyle/>
                    <a:p>
                      <a:pPr algn="ctr">
                        <a:lnSpc>
                          <a:spcPct val="100000"/>
                        </a:lnSpc>
                        <a:spcBef>
                          <a:spcPts val="260"/>
                        </a:spcBef>
                      </a:pPr>
                      <a:r>
                        <a:rPr sz="800" dirty="0">
                          <a:latin typeface="Arial"/>
                          <a:cs typeface="Arial"/>
                        </a:rPr>
                        <a:t>A[6:0]</a:t>
                      </a:r>
                    </a:p>
                  </a:txBody>
                  <a:tcPr marL="0" marR="0" marT="3302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algn="ctr">
                        <a:lnSpc>
                          <a:spcPct val="100000"/>
                        </a:lnSpc>
                        <a:spcBef>
                          <a:spcPts val="260"/>
                        </a:spcBef>
                      </a:pPr>
                      <a:r>
                        <a:rPr sz="800" spc="-5" dirty="0">
                          <a:latin typeface="Arial"/>
                          <a:cs typeface="Arial"/>
                        </a:rPr>
                        <a:t>Default</a:t>
                      </a:r>
                      <a:endParaRPr sz="800" dirty="0">
                        <a:latin typeface="Arial"/>
                        <a:cs typeface="Arial"/>
                      </a:endParaRPr>
                    </a:p>
                  </a:txBody>
                  <a:tcPr marL="0" marR="0" marT="3302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71120">
                        <a:lnSpc>
                          <a:spcPct val="100000"/>
                        </a:lnSpc>
                        <a:spcBef>
                          <a:spcPts val="260"/>
                        </a:spcBef>
                      </a:pPr>
                      <a:r>
                        <a:rPr sz="800" spc="-5" dirty="0">
                          <a:latin typeface="Arial"/>
                          <a:cs typeface="Arial"/>
                        </a:rPr>
                        <a:t>D15</a:t>
                      </a:r>
                      <a:endParaRPr sz="800" dirty="0">
                        <a:latin typeface="Arial"/>
                        <a:cs typeface="Arial"/>
                      </a:endParaRPr>
                    </a:p>
                  </a:txBody>
                  <a:tcPr marL="0" marR="0" marT="3302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71755">
                        <a:lnSpc>
                          <a:spcPct val="100000"/>
                        </a:lnSpc>
                        <a:spcBef>
                          <a:spcPts val="260"/>
                        </a:spcBef>
                      </a:pPr>
                      <a:r>
                        <a:rPr sz="800" spc="-5" dirty="0">
                          <a:latin typeface="Arial"/>
                          <a:cs typeface="Arial"/>
                        </a:rPr>
                        <a:t>D14</a:t>
                      </a:r>
                      <a:endParaRPr sz="800" dirty="0">
                        <a:latin typeface="Arial"/>
                        <a:cs typeface="Arial"/>
                      </a:endParaRPr>
                    </a:p>
                  </a:txBody>
                  <a:tcPr marL="0" marR="0" marT="3302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71755">
                        <a:lnSpc>
                          <a:spcPct val="100000"/>
                        </a:lnSpc>
                        <a:spcBef>
                          <a:spcPts val="260"/>
                        </a:spcBef>
                      </a:pPr>
                      <a:r>
                        <a:rPr sz="800" spc="-5" dirty="0">
                          <a:latin typeface="Arial"/>
                          <a:cs typeface="Arial"/>
                        </a:rPr>
                        <a:t>D13</a:t>
                      </a:r>
                      <a:endParaRPr sz="800" dirty="0">
                        <a:latin typeface="Arial"/>
                        <a:cs typeface="Arial"/>
                      </a:endParaRPr>
                    </a:p>
                  </a:txBody>
                  <a:tcPr marL="0" marR="0" marT="3302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71755">
                        <a:lnSpc>
                          <a:spcPct val="100000"/>
                        </a:lnSpc>
                        <a:spcBef>
                          <a:spcPts val="260"/>
                        </a:spcBef>
                      </a:pPr>
                      <a:r>
                        <a:rPr sz="800" spc="-5" dirty="0">
                          <a:latin typeface="Arial"/>
                          <a:cs typeface="Arial"/>
                        </a:rPr>
                        <a:t>D12</a:t>
                      </a:r>
                      <a:endParaRPr sz="800" dirty="0">
                        <a:latin typeface="Arial"/>
                        <a:cs typeface="Arial"/>
                      </a:endParaRPr>
                    </a:p>
                  </a:txBody>
                  <a:tcPr marL="0" marR="0" marT="3302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71755">
                        <a:lnSpc>
                          <a:spcPct val="100000"/>
                        </a:lnSpc>
                        <a:spcBef>
                          <a:spcPts val="260"/>
                        </a:spcBef>
                      </a:pPr>
                      <a:r>
                        <a:rPr sz="800" spc="-5" dirty="0">
                          <a:latin typeface="Arial"/>
                          <a:cs typeface="Arial"/>
                        </a:rPr>
                        <a:t>D11</a:t>
                      </a:r>
                      <a:endParaRPr sz="800" dirty="0">
                        <a:latin typeface="Arial"/>
                        <a:cs typeface="Arial"/>
                      </a:endParaRPr>
                    </a:p>
                  </a:txBody>
                  <a:tcPr marL="0" marR="0" marT="3302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71755">
                        <a:lnSpc>
                          <a:spcPct val="100000"/>
                        </a:lnSpc>
                        <a:spcBef>
                          <a:spcPts val="260"/>
                        </a:spcBef>
                      </a:pPr>
                      <a:r>
                        <a:rPr sz="800" spc="-5" dirty="0">
                          <a:latin typeface="Arial"/>
                          <a:cs typeface="Arial"/>
                        </a:rPr>
                        <a:t>D10</a:t>
                      </a:r>
                      <a:endParaRPr sz="800" dirty="0">
                        <a:latin typeface="Arial"/>
                        <a:cs typeface="Arial"/>
                      </a:endParaRPr>
                    </a:p>
                  </a:txBody>
                  <a:tcPr marL="0" marR="0" marT="3302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99060">
                        <a:lnSpc>
                          <a:spcPct val="100000"/>
                        </a:lnSpc>
                        <a:spcBef>
                          <a:spcPts val="260"/>
                        </a:spcBef>
                      </a:pPr>
                      <a:r>
                        <a:rPr sz="800" spc="-5" dirty="0">
                          <a:latin typeface="Arial"/>
                          <a:cs typeface="Arial"/>
                        </a:rPr>
                        <a:t>D9</a:t>
                      </a:r>
                      <a:endParaRPr sz="800" dirty="0">
                        <a:latin typeface="Arial"/>
                        <a:cs typeface="Arial"/>
                      </a:endParaRPr>
                    </a:p>
                  </a:txBody>
                  <a:tcPr marL="0" marR="0" marT="3302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99695">
                        <a:lnSpc>
                          <a:spcPct val="100000"/>
                        </a:lnSpc>
                        <a:spcBef>
                          <a:spcPts val="260"/>
                        </a:spcBef>
                      </a:pPr>
                      <a:r>
                        <a:rPr sz="800" spc="-5" dirty="0">
                          <a:latin typeface="Arial"/>
                          <a:cs typeface="Arial"/>
                        </a:rPr>
                        <a:t>D8</a:t>
                      </a:r>
                      <a:endParaRPr sz="800" dirty="0">
                        <a:latin typeface="Arial"/>
                        <a:cs typeface="Arial"/>
                      </a:endParaRPr>
                    </a:p>
                  </a:txBody>
                  <a:tcPr marL="0" marR="0" marT="3302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99060">
                        <a:lnSpc>
                          <a:spcPct val="100000"/>
                        </a:lnSpc>
                        <a:spcBef>
                          <a:spcPts val="260"/>
                        </a:spcBef>
                      </a:pPr>
                      <a:r>
                        <a:rPr sz="800" spc="-5" dirty="0">
                          <a:latin typeface="Arial"/>
                          <a:cs typeface="Arial"/>
                        </a:rPr>
                        <a:t>D7</a:t>
                      </a:r>
                      <a:endParaRPr sz="800" dirty="0">
                        <a:latin typeface="Arial"/>
                        <a:cs typeface="Arial"/>
                      </a:endParaRPr>
                    </a:p>
                  </a:txBody>
                  <a:tcPr marL="0" marR="0" marT="3302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99695">
                        <a:lnSpc>
                          <a:spcPct val="100000"/>
                        </a:lnSpc>
                        <a:spcBef>
                          <a:spcPts val="260"/>
                        </a:spcBef>
                      </a:pPr>
                      <a:r>
                        <a:rPr sz="800" spc="-5" dirty="0">
                          <a:latin typeface="Arial"/>
                          <a:cs typeface="Arial"/>
                        </a:rPr>
                        <a:t>D6</a:t>
                      </a:r>
                      <a:endParaRPr sz="800" dirty="0">
                        <a:latin typeface="Arial"/>
                        <a:cs typeface="Arial"/>
                      </a:endParaRPr>
                    </a:p>
                  </a:txBody>
                  <a:tcPr marL="0" marR="0" marT="3302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99695">
                        <a:lnSpc>
                          <a:spcPct val="100000"/>
                        </a:lnSpc>
                        <a:spcBef>
                          <a:spcPts val="260"/>
                        </a:spcBef>
                      </a:pPr>
                      <a:r>
                        <a:rPr sz="800" spc="-5" dirty="0">
                          <a:latin typeface="Arial"/>
                          <a:cs typeface="Arial"/>
                        </a:rPr>
                        <a:t>D5</a:t>
                      </a:r>
                      <a:endParaRPr sz="800" dirty="0">
                        <a:latin typeface="Arial"/>
                        <a:cs typeface="Arial"/>
                      </a:endParaRPr>
                    </a:p>
                  </a:txBody>
                  <a:tcPr marL="0" marR="0" marT="3302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99695">
                        <a:lnSpc>
                          <a:spcPct val="100000"/>
                        </a:lnSpc>
                        <a:spcBef>
                          <a:spcPts val="260"/>
                        </a:spcBef>
                      </a:pPr>
                      <a:r>
                        <a:rPr sz="800" spc="-5" dirty="0">
                          <a:latin typeface="Arial"/>
                          <a:cs typeface="Arial"/>
                        </a:rPr>
                        <a:t>D4</a:t>
                      </a:r>
                      <a:endParaRPr sz="800" dirty="0">
                        <a:latin typeface="Arial"/>
                        <a:cs typeface="Arial"/>
                      </a:endParaRPr>
                    </a:p>
                  </a:txBody>
                  <a:tcPr marL="0" marR="0" marT="3302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100330">
                        <a:lnSpc>
                          <a:spcPct val="100000"/>
                        </a:lnSpc>
                        <a:spcBef>
                          <a:spcPts val="260"/>
                        </a:spcBef>
                      </a:pPr>
                      <a:r>
                        <a:rPr sz="800" spc="-5" dirty="0">
                          <a:latin typeface="Arial"/>
                          <a:cs typeface="Arial"/>
                        </a:rPr>
                        <a:t>D3</a:t>
                      </a:r>
                      <a:endParaRPr sz="800" dirty="0">
                        <a:latin typeface="Arial"/>
                        <a:cs typeface="Arial"/>
                      </a:endParaRPr>
                    </a:p>
                  </a:txBody>
                  <a:tcPr marL="0" marR="0" marT="3302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99695">
                        <a:lnSpc>
                          <a:spcPct val="100000"/>
                        </a:lnSpc>
                        <a:spcBef>
                          <a:spcPts val="260"/>
                        </a:spcBef>
                      </a:pPr>
                      <a:r>
                        <a:rPr sz="800" spc="-5" dirty="0">
                          <a:latin typeface="Arial"/>
                          <a:cs typeface="Arial"/>
                        </a:rPr>
                        <a:t>D2</a:t>
                      </a:r>
                      <a:endParaRPr sz="800" dirty="0">
                        <a:latin typeface="Arial"/>
                        <a:cs typeface="Arial"/>
                      </a:endParaRPr>
                    </a:p>
                  </a:txBody>
                  <a:tcPr marL="0" marR="0" marT="3302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100330">
                        <a:lnSpc>
                          <a:spcPct val="100000"/>
                        </a:lnSpc>
                        <a:spcBef>
                          <a:spcPts val="260"/>
                        </a:spcBef>
                      </a:pPr>
                      <a:r>
                        <a:rPr sz="800" spc="-5" dirty="0">
                          <a:latin typeface="Arial"/>
                          <a:cs typeface="Arial"/>
                        </a:rPr>
                        <a:t>D1</a:t>
                      </a:r>
                      <a:endParaRPr sz="800" dirty="0">
                        <a:latin typeface="Arial"/>
                        <a:cs typeface="Arial"/>
                      </a:endParaRPr>
                    </a:p>
                  </a:txBody>
                  <a:tcPr marL="0" marR="0" marT="3302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100330">
                        <a:lnSpc>
                          <a:spcPct val="100000"/>
                        </a:lnSpc>
                        <a:spcBef>
                          <a:spcPts val="260"/>
                        </a:spcBef>
                      </a:pPr>
                      <a:r>
                        <a:rPr sz="800" spc="-5" dirty="0">
                          <a:latin typeface="Arial"/>
                          <a:cs typeface="Arial"/>
                        </a:rPr>
                        <a:t>D0</a:t>
                      </a:r>
                      <a:endParaRPr sz="800" dirty="0">
                        <a:latin typeface="Arial"/>
                        <a:cs typeface="Arial"/>
                      </a:endParaRPr>
                    </a:p>
                  </a:txBody>
                  <a:tcPr marL="0" marR="0" marT="3302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extLst>
                  <a:ext uri="{0D108BD9-81ED-4DB2-BD59-A6C34878D82A}">
                    <a16:rowId xmlns:a16="http://schemas.microsoft.com/office/drawing/2014/main" val="10000"/>
                  </a:ext>
                </a:extLst>
              </a:tr>
              <a:tr h="193675">
                <a:tc>
                  <a:txBody>
                    <a:bodyPr/>
                    <a:lstStyle/>
                    <a:p>
                      <a:pPr algn="ctr">
                        <a:lnSpc>
                          <a:spcPct val="100000"/>
                        </a:lnSpc>
                        <a:spcBef>
                          <a:spcPts val="265"/>
                        </a:spcBef>
                      </a:pPr>
                      <a:r>
                        <a:rPr sz="800" spc="-5" dirty="0">
                          <a:latin typeface="Arial"/>
                          <a:cs typeface="Arial"/>
                        </a:rPr>
                        <a:t>‘h1B</a:t>
                      </a:r>
                      <a:endParaRPr sz="8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algn="ctr">
                        <a:lnSpc>
                          <a:spcPct val="100000"/>
                        </a:lnSpc>
                        <a:spcBef>
                          <a:spcPts val="265"/>
                        </a:spcBef>
                      </a:pPr>
                      <a:r>
                        <a:rPr sz="800" dirty="0">
                          <a:latin typeface="Arial"/>
                          <a:cs typeface="Arial"/>
                        </a:rPr>
                        <a:t>0</a:t>
                      </a: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gridSpan="16">
                  <a:txBody>
                    <a:bodyPr/>
                    <a:lstStyle/>
                    <a:p>
                      <a:pPr marL="1270" algn="ctr">
                        <a:lnSpc>
                          <a:spcPct val="100000"/>
                        </a:lnSpc>
                        <a:spcBef>
                          <a:spcPts val="305"/>
                        </a:spcBef>
                      </a:pPr>
                      <a:r>
                        <a:rPr sz="700" spc="-5" dirty="0" err="1">
                          <a:latin typeface="Arial"/>
                          <a:cs typeface="Arial"/>
                        </a:rPr>
                        <a:t>MCLK_LOCK_CNT</a:t>
                      </a:r>
                      <a:r>
                        <a:rPr sz="700" spc="-25" dirty="0">
                          <a:latin typeface="Arial"/>
                          <a:cs typeface="Arial"/>
                        </a:rPr>
                        <a:t> </a:t>
                      </a:r>
                      <a:r>
                        <a:rPr sz="700" spc="-5" dirty="0">
                          <a:latin typeface="Arial"/>
                          <a:cs typeface="Arial"/>
                        </a:rPr>
                        <a:t>[15:0]</a:t>
                      </a:r>
                      <a:endParaRPr sz="700" dirty="0">
                        <a:latin typeface="Arial"/>
                        <a:cs typeface="Arial"/>
                      </a:endParaRPr>
                    </a:p>
                  </a:txBody>
                  <a:tcPr marL="0" marR="0" marT="3873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1"/>
                  </a:ext>
                </a:extLst>
              </a:tr>
            </a:tbl>
          </a:graphicData>
        </a:graphic>
      </p:graphicFrame>
      <p:graphicFrame>
        <p:nvGraphicFramePr>
          <p:cNvPr id="8" name="object 8"/>
          <p:cNvGraphicFramePr>
            <a:graphicFrameLocks noGrp="1"/>
          </p:cNvGraphicFramePr>
          <p:nvPr>
            <p:extLst>
              <p:ext uri="{D42A27DB-BD31-4B8C-83A1-F6EECF244321}">
                <p14:modId xmlns:p14="http://schemas.microsoft.com/office/powerpoint/2010/main" val="4253167412"/>
              </p:ext>
            </p:extLst>
          </p:nvPr>
        </p:nvGraphicFramePr>
        <p:xfrm>
          <a:off x="400912" y="1701990"/>
          <a:ext cx="6038535" cy="387350"/>
        </p:xfrm>
        <a:graphic>
          <a:graphicData uri="http://schemas.openxmlformats.org/drawingml/2006/table">
            <a:tbl>
              <a:tblPr firstRow="1" bandRow="1">
                <a:tableStyleId>{2D5ABB26-0587-4C30-8999-92F81FD0307C}</a:tableStyleId>
              </a:tblPr>
              <a:tblGrid>
                <a:gridCol w="412143">
                  <a:extLst>
                    <a:ext uri="{9D8B030D-6E8A-4147-A177-3AD203B41FA5}">
                      <a16:colId xmlns:a16="http://schemas.microsoft.com/office/drawing/2014/main" val="20000"/>
                    </a:ext>
                  </a:extLst>
                </a:gridCol>
                <a:gridCol w="474306">
                  <a:extLst>
                    <a:ext uri="{9D8B030D-6E8A-4147-A177-3AD203B41FA5}">
                      <a16:colId xmlns:a16="http://schemas.microsoft.com/office/drawing/2014/main" val="20001"/>
                    </a:ext>
                  </a:extLst>
                </a:gridCol>
                <a:gridCol w="322005">
                  <a:extLst>
                    <a:ext uri="{9D8B030D-6E8A-4147-A177-3AD203B41FA5}">
                      <a16:colId xmlns:a16="http://schemas.microsoft.com/office/drawing/2014/main" val="20002"/>
                    </a:ext>
                  </a:extLst>
                </a:gridCol>
                <a:gridCol w="322006">
                  <a:extLst>
                    <a:ext uri="{9D8B030D-6E8A-4147-A177-3AD203B41FA5}">
                      <a16:colId xmlns:a16="http://schemas.microsoft.com/office/drawing/2014/main" val="20003"/>
                    </a:ext>
                  </a:extLst>
                </a:gridCol>
                <a:gridCol w="322006">
                  <a:extLst>
                    <a:ext uri="{9D8B030D-6E8A-4147-A177-3AD203B41FA5}">
                      <a16:colId xmlns:a16="http://schemas.microsoft.com/office/drawing/2014/main" val="20004"/>
                    </a:ext>
                  </a:extLst>
                </a:gridCol>
                <a:gridCol w="322006">
                  <a:extLst>
                    <a:ext uri="{9D8B030D-6E8A-4147-A177-3AD203B41FA5}">
                      <a16:colId xmlns:a16="http://schemas.microsoft.com/office/drawing/2014/main" val="20005"/>
                    </a:ext>
                  </a:extLst>
                </a:gridCol>
                <a:gridCol w="322006">
                  <a:extLst>
                    <a:ext uri="{9D8B030D-6E8A-4147-A177-3AD203B41FA5}">
                      <a16:colId xmlns:a16="http://schemas.microsoft.com/office/drawing/2014/main" val="20006"/>
                    </a:ext>
                  </a:extLst>
                </a:gridCol>
                <a:gridCol w="322006">
                  <a:extLst>
                    <a:ext uri="{9D8B030D-6E8A-4147-A177-3AD203B41FA5}">
                      <a16:colId xmlns:a16="http://schemas.microsoft.com/office/drawing/2014/main" val="20007"/>
                    </a:ext>
                  </a:extLst>
                </a:gridCol>
                <a:gridCol w="322006">
                  <a:extLst>
                    <a:ext uri="{9D8B030D-6E8A-4147-A177-3AD203B41FA5}">
                      <a16:colId xmlns:a16="http://schemas.microsoft.com/office/drawing/2014/main" val="20008"/>
                    </a:ext>
                  </a:extLst>
                </a:gridCol>
                <a:gridCol w="322005">
                  <a:extLst>
                    <a:ext uri="{9D8B030D-6E8A-4147-A177-3AD203B41FA5}">
                      <a16:colId xmlns:a16="http://schemas.microsoft.com/office/drawing/2014/main" val="20009"/>
                    </a:ext>
                  </a:extLst>
                </a:gridCol>
                <a:gridCol w="322005">
                  <a:extLst>
                    <a:ext uri="{9D8B030D-6E8A-4147-A177-3AD203B41FA5}">
                      <a16:colId xmlns:a16="http://schemas.microsoft.com/office/drawing/2014/main" val="20010"/>
                    </a:ext>
                  </a:extLst>
                </a:gridCol>
                <a:gridCol w="322005">
                  <a:extLst>
                    <a:ext uri="{9D8B030D-6E8A-4147-A177-3AD203B41FA5}">
                      <a16:colId xmlns:a16="http://schemas.microsoft.com/office/drawing/2014/main" val="20011"/>
                    </a:ext>
                  </a:extLst>
                </a:gridCol>
                <a:gridCol w="322005">
                  <a:extLst>
                    <a:ext uri="{9D8B030D-6E8A-4147-A177-3AD203B41FA5}">
                      <a16:colId xmlns:a16="http://schemas.microsoft.com/office/drawing/2014/main" val="20012"/>
                    </a:ext>
                  </a:extLst>
                </a:gridCol>
                <a:gridCol w="322005">
                  <a:extLst>
                    <a:ext uri="{9D8B030D-6E8A-4147-A177-3AD203B41FA5}">
                      <a16:colId xmlns:a16="http://schemas.microsoft.com/office/drawing/2014/main" val="20013"/>
                    </a:ext>
                  </a:extLst>
                </a:gridCol>
                <a:gridCol w="322005">
                  <a:extLst>
                    <a:ext uri="{9D8B030D-6E8A-4147-A177-3AD203B41FA5}">
                      <a16:colId xmlns:a16="http://schemas.microsoft.com/office/drawing/2014/main" val="20014"/>
                    </a:ext>
                  </a:extLst>
                </a:gridCol>
                <a:gridCol w="322005">
                  <a:extLst>
                    <a:ext uri="{9D8B030D-6E8A-4147-A177-3AD203B41FA5}">
                      <a16:colId xmlns:a16="http://schemas.microsoft.com/office/drawing/2014/main" val="20015"/>
                    </a:ext>
                  </a:extLst>
                </a:gridCol>
                <a:gridCol w="322005">
                  <a:extLst>
                    <a:ext uri="{9D8B030D-6E8A-4147-A177-3AD203B41FA5}">
                      <a16:colId xmlns:a16="http://schemas.microsoft.com/office/drawing/2014/main" val="20016"/>
                    </a:ext>
                  </a:extLst>
                </a:gridCol>
                <a:gridCol w="322005">
                  <a:extLst>
                    <a:ext uri="{9D8B030D-6E8A-4147-A177-3AD203B41FA5}">
                      <a16:colId xmlns:a16="http://schemas.microsoft.com/office/drawing/2014/main" val="20017"/>
                    </a:ext>
                  </a:extLst>
                </a:gridCol>
              </a:tblGrid>
              <a:tr h="193675">
                <a:tc>
                  <a:txBody>
                    <a:bodyPr/>
                    <a:lstStyle/>
                    <a:p>
                      <a:pPr algn="ctr">
                        <a:lnSpc>
                          <a:spcPct val="100000"/>
                        </a:lnSpc>
                        <a:spcBef>
                          <a:spcPts val="265"/>
                        </a:spcBef>
                      </a:pPr>
                      <a:r>
                        <a:rPr sz="800" dirty="0">
                          <a:latin typeface="Arial"/>
                          <a:cs typeface="Arial"/>
                        </a:rPr>
                        <a:t>A[6:0]</a:t>
                      </a: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algn="ctr">
                        <a:lnSpc>
                          <a:spcPct val="100000"/>
                        </a:lnSpc>
                        <a:spcBef>
                          <a:spcPts val="265"/>
                        </a:spcBef>
                      </a:pPr>
                      <a:r>
                        <a:rPr sz="800" spc="-5" dirty="0">
                          <a:latin typeface="Arial"/>
                          <a:cs typeface="Arial"/>
                        </a:rPr>
                        <a:t>Default</a:t>
                      </a:r>
                      <a:endParaRPr sz="8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1270" algn="ctr">
                        <a:lnSpc>
                          <a:spcPct val="100000"/>
                        </a:lnSpc>
                        <a:spcBef>
                          <a:spcPts val="265"/>
                        </a:spcBef>
                      </a:pPr>
                      <a:r>
                        <a:rPr sz="800" spc="-5" dirty="0">
                          <a:latin typeface="Arial"/>
                          <a:cs typeface="Arial"/>
                        </a:rPr>
                        <a:t>D15</a:t>
                      </a:r>
                      <a:endParaRPr sz="8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1905" algn="ctr">
                        <a:lnSpc>
                          <a:spcPct val="100000"/>
                        </a:lnSpc>
                        <a:spcBef>
                          <a:spcPts val="265"/>
                        </a:spcBef>
                      </a:pPr>
                      <a:r>
                        <a:rPr sz="800" spc="-5" dirty="0">
                          <a:latin typeface="Arial"/>
                          <a:cs typeface="Arial"/>
                        </a:rPr>
                        <a:t>D14</a:t>
                      </a:r>
                      <a:endParaRPr sz="8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1270" algn="ctr">
                        <a:lnSpc>
                          <a:spcPct val="100000"/>
                        </a:lnSpc>
                        <a:spcBef>
                          <a:spcPts val="265"/>
                        </a:spcBef>
                      </a:pPr>
                      <a:r>
                        <a:rPr sz="800" spc="-5" dirty="0">
                          <a:latin typeface="Arial"/>
                          <a:cs typeface="Arial"/>
                        </a:rPr>
                        <a:t>D13</a:t>
                      </a:r>
                      <a:endParaRPr sz="8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1905" algn="ctr">
                        <a:lnSpc>
                          <a:spcPct val="100000"/>
                        </a:lnSpc>
                        <a:spcBef>
                          <a:spcPts val="265"/>
                        </a:spcBef>
                      </a:pPr>
                      <a:r>
                        <a:rPr sz="800" spc="-5" dirty="0">
                          <a:latin typeface="Arial"/>
                          <a:cs typeface="Arial"/>
                        </a:rPr>
                        <a:t>D12</a:t>
                      </a:r>
                      <a:endParaRPr sz="8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1905" algn="ctr">
                        <a:lnSpc>
                          <a:spcPct val="100000"/>
                        </a:lnSpc>
                        <a:spcBef>
                          <a:spcPts val="265"/>
                        </a:spcBef>
                      </a:pPr>
                      <a:r>
                        <a:rPr sz="800" spc="-5" dirty="0">
                          <a:latin typeface="Arial"/>
                          <a:cs typeface="Arial"/>
                        </a:rPr>
                        <a:t>D11</a:t>
                      </a:r>
                      <a:endParaRPr sz="8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2540" algn="ctr">
                        <a:lnSpc>
                          <a:spcPct val="100000"/>
                        </a:lnSpc>
                        <a:spcBef>
                          <a:spcPts val="265"/>
                        </a:spcBef>
                      </a:pPr>
                      <a:r>
                        <a:rPr sz="800" spc="-5" dirty="0">
                          <a:latin typeface="Arial"/>
                          <a:cs typeface="Arial"/>
                        </a:rPr>
                        <a:t>D10</a:t>
                      </a:r>
                      <a:endParaRPr sz="8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algn="ctr">
                        <a:lnSpc>
                          <a:spcPct val="100000"/>
                        </a:lnSpc>
                        <a:spcBef>
                          <a:spcPts val="265"/>
                        </a:spcBef>
                      </a:pPr>
                      <a:r>
                        <a:rPr sz="800" spc="-5" dirty="0">
                          <a:latin typeface="Arial"/>
                          <a:cs typeface="Arial"/>
                        </a:rPr>
                        <a:t>D9</a:t>
                      </a:r>
                      <a:endParaRPr sz="8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R="91440" algn="r">
                        <a:lnSpc>
                          <a:spcPct val="100000"/>
                        </a:lnSpc>
                        <a:spcBef>
                          <a:spcPts val="265"/>
                        </a:spcBef>
                      </a:pPr>
                      <a:r>
                        <a:rPr sz="800" spc="-5" dirty="0">
                          <a:latin typeface="Arial"/>
                          <a:cs typeface="Arial"/>
                        </a:rPr>
                        <a:t>D8</a:t>
                      </a:r>
                      <a:endParaRPr sz="8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algn="ctr">
                        <a:lnSpc>
                          <a:spcPct val="100000"/>
                        </a:lnSpc>
                        <a:spcBef>
                          <a:spcPts val="265"/>
                        </a:spcBef>
                      </a:pPr>
                      <a:r>
                        <a:rPr sz="800" spc="-5" dirty="0">
                          <a:latin typeface="Arial"/>
                          <a:cs typeface="Arial"/>
                        </a:rPr>
                        <a:t>D7</a:t>
                      </a:r>
                      <a:endParaRPr sz="8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635" algn="ctr">
                        <a:lnSpc>
                          <a:spcPct val="100000"/>
                        </a:lnSpc>
                        <a:spcBef>
                          <a:spcPts val="265"/>
                        </a:spcBef>
                      </a:pPr>
                      <a:r>
                        <a:rPr sz="800" spc="-5" dirty="0">
                          <a:latin typeface="Arial"/>
                          <a:cs typeface="Arial"/>
                        </a:rPr>
                        <a:t>D6</a:t>
                      </a:r>
                      <a:endParaRPr sz="8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635" algn="ctr">
                        <a:lnSpc>
                          <a:spcPct val="100000"/>
                        </a:lnSpc>
                        <a:spcBef>
                          <a:spcPts val="265"/>
                        </a:spcBef>
                      </a:pPr>
                      <a:r>
                        <a:rPr sz="800" spc="-5" dirty="0">
                          <a:latin typeface="Arial"/>
                          <a:cs typeface="Arial"/>
                        </a:rPr>
                        <a:t>D5</a:t>
                      </a:r>
                      <a:endParaRPr sz="8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99695">
                        <a:lnSpc>
                          <a:spcPct val="100000"/>
                        </a:lnSpc>
                        <a:spcBef>
                          <a:spcPts val="265"/>
                        </a:spcBef>
                      </a:pPr>
                      <a:r>
                        <a:rPr sz="800" spc="-5" dirty="0">
                          <a:latin typeface="Arial"/>
                          <a:cs typeface="Arial"/>
                        </a:rPr>
                        <a:t>D4</a:t>
                      </a:r>
                      <a:endParaRPr sz="8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100330">
                        <a:lnSpc>
                          <a:spcPct val="100000"/>
                        </a:lnSpc>
                        <a:spcBef>
                          <a:spcPts val="265"/>
                        </a:spcBef>
                      </a:pPr>
                      <a:r>
                        <a:rPr sz="800" spc="-5" dirty="0">
                          <a:latin typeface="Arial"/>
                          <a:cs typeface="Arial"/>
                        </a:rPr>
                        <a:t>D3</a:t>
                      </a:r>
                      <a:endParaRPr sz="8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99695">
                        <a:lnSpc>
                          <a:spcPct val="100000"/>
                        </a:lnSpc>
                        <a:spcBef>
                          <a:spcPts val="265"/>
                        </a:spcBef>
                      </a:pPr>
                      <a:r>
                        <a:rPr sz="800" spc="-5" dirty="0">
                          <a:latin typeface="Arial"/>
                          <a:cs typeface="Arial"/>
                        </a:rPr>
                        <a:t>D2</a:t>
                      </a:r>
                      <a:endParaRPr sz="8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100330">
                        <a:lnSpc>
                          <a:spcPct val="100000"/>
                        </a:lnSpc>
                        <a:spcBef>
                          <a:spcPts val="265"/>
                        </a:spcBef>
                      </a:pPr>
                      <a:r>
                        <a:rPr sz="800" spc="-5" dirty="0">
                          <a:latin typeface="Arial"/>
                          <a:cs typeface="Arial"/>
                        </a:rPr>
                        <a:t>D1</a:t>
                      </a:r>
                      <a:endParaRPr sz="8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100330">
                        <a:lnSpc>
                          <a:spcPct val="100000"/>
                        </a:lnSpc>
                        <a:spcBef>
                          <a:spcPts val="265"/>
                        </a:spcBef>
                      </a:pPr>
                      <a:r>
                        <a:rPr sz="800" spc="-5" dirty="0">
                          <a:latin typeface="Arial"/>
                          <a:cs typeface="Arial"/>
                        </a:rPr>
                        <a:t>D0</a:t>
                      </a:r>
                      <a:endParaRPr sz="8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extLst>
                  <a:ext uri="{0D108BD9-81ED-4DB2-BD59-A6C34878D82A}">
                    <a16:rowId xmlns:a16="http://schemas.microsoft.com/office/drawing/2014/main" val="10000"/>
                  </a:ext>
                </a:extLst>
              </a:tr>
              <a:tr h="193675">
                <a:tc>
                  <a:txBody>
                    <a:bodyPr/>
                    <a:lstStyle/>
                    <a:p>
                      <a:pPr algn="ctr">
                        <a:lnSpc>
                          <a:spcPct val="100000"/>
                        </a:lnSpc>
                        <a:spcBef>
                          <a:spcPts val="265"/>
                        </a:spcBef>
                      </a:pPr>
                      <a:r>
                        <a:rPr sz="800" spc="-5" dirty="0">
                          <a:latin typeface="Arial"/>
                          <a:cs typeface="Arial"/>
                        </a:rPr>
                        <a:t>‘h1C</a:t>
                      </a:r>
                      <a:endParaRPr sz="8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algn="ctr">
                        <a:lnSpc>
                          <a:spcPct val="100000"/>
                        </a:lnSpc>
                        <a:spcBef>
                          <a:spcPts val="265"/>
                        </a:spcBef>
                      </a:pPr>
                      <a:r>
                        <a:rPr sz="800" dirty="0">
                          <a:latin typeface="Arial"/>
                          <a:cs typeface="Arial"/>
                        </a:rPr>
                        <a:t>0</a:t>
                      </a: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2540" algn="ctr">
                        <a:lnSpc>
                          <a:spcPct val="100000"/>
                        </a:lnSpc>
                        <a:spcBef>
                          <a:spcPts val="305"/>
                        </a:spcBef>
                      </a:pPr>
                      <a:r>
                        <a:rPr sz="700" dirty="0">
                          <a:latin typeface="Arial"/>
                          <a:cs typeface="Arial"/>
                        </a:rPr>
                        <a:t>x</a:t>
                      </a:r>
                    </a:p>
                  </a:txBody>
                  <a:tcPr marL="0" marR="0" marT="3873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3175" algn="ctr">
                        <a:lnSpc>
                          <a:spcPct val="100000"/>
                        </a:lnSpc>
                        <a:spcBef>
                          <a:spcPts val="330"/>
                        </a:spcBef>
                      </a:pPr>
                      <a:r>
                        <a:rPr sz="700" dirty="0">
                          <a:latin typeface="Arial"/>
                          <a:cs typeface="Arial"/>
                        </a:rPr>
                        <a:t>x</a:t>
                      </a:r>
                    </a:p>
                  </a:txBody>
                  <a:tcPr marL="0" marR="0" marT="4191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2540" algn="ctr">
                        <a:lnSpc>
                          <a:spcPct val="100000"/>
                        </a:lnSpc>
                        <a:spcBef>
                          <a:spcPts val="305"/>
                        </a:spcBef>
                      </a:pPr>
                      <a:r>
                        <a:rPr sz="700" dirty="0">
                          <a:latin typeface="Arial"/>
                          <a:cs typeface="Arial"/>
                        </a:rPr>
                        <a:t>x</a:t>
                      </a:r>
                    </a:p>
                  </a:txBody>
                  <a:tcPr marL="0" marR="0" marT="3873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3175" algn="ctr">
                        <a:lnSpc>
                          <a:spcPct val="100000"/>
                        </a:lnSpc>
                        <a:spcBef>
                          <a:spcPts val="330"/>
                        </a:spcBef>
                      </a:pPr>
                      <a:r>
                        <a:rPr sz="700" dirty="0">
                          <a:latin typeface="Arial"/>
                          <a:cs typeface="Arial"/>
                        </a:rPr>
                        <a:t>x</a:t>
                      </a:r>
                    </a:p>
                  </a:txBody>
                  <a:tcPr marL="0" marR="0" marT="4191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3175" algn="ctr">
                        <a:lnSpc>
                          <a:spcPct val="100000"/>
                        </a:lnSpc>
                        <a:spcBef>
                          <a:spcPts val="305"/>
                        </a:spcBef>
                      </a:pPr>
                      <a:r>
                        <a:rPr sz="700" dirty="0">
                          <a:latin typeface="Arial"/>
                          <a:cs typeface="Arial"/>
                        </a:rPr>
                        <a:t>x</a:t>
                      </a:r>
                    </a:p>
                  </a:txBody>
                  <a:tcPr marL="0" marR="0" marT="3873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3810" algn="ctr">
                        <a:lnSpc>
                          <a:spcPct val="100000"/>
                        </a:lnSpc>
                        <a:spcBef>
                          <a:spcPts val="330"/>
                        </a:spcBef>
                      </a:pPr>
                      <a:r>
                        <a:rPr sz="700" dirty="0">
                          <a:latin typeface="Arial"/>
                          <a:cs typeface="Arial"/>
                        </a:rPr>
                        <a:t>x</a:t>
                      </a:r>
                    </a:p>
                  </a:txBody>
                  <a:tcPr marL="0" marR="0" marT="4191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3175" algn="ctr">
                        <a:lnSpc>
                          <a:spcPct val="100000"/>
                        </a:lnSpc>
                        <a:spcBef>
                          <a:spcPts val="330"/>
                        </a:spcBef>
                      </a:pPr>
                      <a:r>
                        <a:rPr sz="700" dirty="0">
                          <a:latin typeface="Arial"/>
                          <a:cs typeface="Arial"/>
                        </a:rPr>
                        <a:t>x</a:t>
                      </a:r>
                    </a:p>
                  </a:txBody>
                  <a:tcPr marL="0" marR="0" marT="4191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R="132080" algn="r">
                        <a:lnSpc>
                          <a:spcPct val="100000"/>
                        </a:lnSpc>
                        <a:spcBef>
                          <a:spcPts val="305"/>
                        </a:spcBef>
                      </a:pPr>
                      <a:r>
                        <a:rPr sz="700" dirty="0">
                          <a:latin typeface="Arial"/>
                          <a:cs typeface="Arial"/>
                        </a:rPr>
                        <a:t>x</a:t>
                      </a:r>
                    </a:p>
                  </a:txBody>
                  <a:tcPr marL="0" marR="0" marT="3873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3175" algn="ctr">
                        <a:lnSpc>
                          <a:spcPct val="100000"/>
                        </a:lnSpc>
                        <a:spcBef>
                          <a:spcPts val="330"/>
                        </a:spcBef>
                      </a:pPr>
                      <a:r>
                        <a:rPr sz="700" dirty="0">
                          <a:latin typeface="Arial"/>
                          <a:cs typeface="Arial"/>
                        </a:rPr>
                        <a:t>x</a:t>
                      </a:r>
                    </a:p>
                  </a:txBody>
                  <a:tcPr marL="0" marR="0" marT="4191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3810" algn="ctr">
                        <a:lnSpc>
                          <a:spcPct val="100000"/>
                        </a:lnSpc>
                        <a:spcBef>
                          <a:spcPts val="305"/>
                        </a:spcBef>
                      </a:pPr>
                      <a:r>
                        <a:rPr sz="700" dirty="0">
                          <a:latin typeface="Arial"/>
                          <a:cs typeface="Arial"/>
                        </a:rPr>
                        <a:t>x</a:t>
                      </a:r>
                    </a:p>
                  </a:txBody>
                  <a:tcPr marL="0" marR="0" marT="3873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3810" algn="ctr">
                        <a:lnSpc>
                          <a:spcPct val="100000"/>
                        </a:lnSpc>
                        <a:spcBef>
                          <a:spcPts val="330"/>
                        </a:spcBef>
                      </a:pPr>
                      <a:r>
                        <a:rPr sz="700" dirty="0">
                          <a:latin typeface="Arial"/>
                          <a:cs typeface="Arial"/>
                        </a:rPr>
                        <a:t>x</a:t>
                      </a:r>
                    </a:p>
                  </a:txBody>
                  <a:tcPr marL="0" marR="0" marT="4191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gridSpan="5">
                  <a:txBody>
                    <a:bodyPr/>
                    <a:lstStyle/>
                    <a:p>
                      <a:pPr marL="290830">
                        <a:lnSpc>
                          <a:spcPct val="100000"/>
                        </a:lnSpc>
                        <a:spcBef>
                          <a:spcPts val="305"/>
                        </a:spcBef>
                      </a:pPr>
                      <a:r>
                        <a:rPr sz="700" spc="-10" dirty="0" err="1">
                          <a:latin typeface="Arial"/>
                          <a:cs typeface="Arial"/>
                        </a:rPr>
                        <a:t>MCLK_LOCK_CNT</a:t>
                      </a:r>
                      <a:r>
                        <a:rPr sz="700" spc="5" dirty="0">
                          <a:latin typeface="Arial"/>
                          <a:cs typeface="Arial"/>
                        </a:rPr>
                        <a:t> </a:t>
                      </a:r>
                      <a:r>
                        <a:rPr sz="700" spc="-5" dirty="0">
                          <a:latin typeface="Arial"/>
                          <a:cs typeface="Arial"/>
                        </a:rPr>
                        <a:t>[20:16]</a:t>
                      </a:r>
                      <a:endParaRPr sz="700" dirty="0">
                        <a:latin typeface="Arial"/>
                        <a:cs typeface="Arial"/>
                      </a:endParaRPr>
                    </a:p>
                  </a:txBody>
                  <a:tcPr marL="0" marR="0" marT="3873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1"/>
                  </a:ext>
                </a:extLst>
              </a:tr>
            </a:tbl>
          </a:graphicData>
        </a:graphic>
      </p:graphicFrame>
      <p:graphicFrame>
        <p:nvGraphicFramePr>
          <p:cNvPr id="12" name="표 11">
            <a:extLst>
              <a:ext uri="{FF2B5EF4-FFF2-40B4-BE49-F238E27FC236}">
                <a16:creationId xmlns:a16="http://schemas.microsoft.com/office/drawing/2014/main" id="{FF8F3CDF-6927-D35A-6F82-D0E6509001E0}"/>
              </a:ext>
            </a:extLst>
          </p:cNvPr>
          <p:cNvGraphicFramePr>
            <a:graphicFrameLocks noGrp="1"/>
          </p:cNvGraphicFramePr>
          <p:nvPr>
            <p:extLst>
              <p:ext uri="{D42A27DB-BD31-4B8C-83A1-F6EECF244321}">
                <p14:modId xmlns:p14="http://schemas.microsoft.com/office/powerpoint/2010/main" val="556394474"/>
              </p:ext>
            </p:extLst>
          </p:nvPr>
        </p:nvGraphicFramePr>
        <p:xfrm>
          <a:off x="392684" y="2286000"/>
          <a:ext cx="6038535" cy="1425477"/>
        </p:xfrm>
        <a:graphic>
          <a:graphicData uri="http://schemas.openxmlformats.org/drawingml/2006/table">
            <a:tbl>
              <a:tblPr firstRow="1" bandRow="1">
                <a:tableStyleId>{5C22544A-7EE6-4342-B048-85BDC9FD1C3A}</a:tableStyleId>
              </a:tblPr>
              <a:tblGrid>
                <a:gridCol w="317594">
                  <a:extLst>
                    <a:ext uri="{9D8B030D-6E8A-4147-A177-3AD203B41FA5}">
                      <a16:colId xmlns:a16="http://schemas.microsoft.com/office/drawing/2014/main" val="4170535043"/>
                    </a:ext>
                  </a:extLst>
                </a:gridCol>
                <a:gridCol w="1542475">
                  <a:extLst>
                    <a:ext uri="{9D8B030D-6E8A-4147-A177-3AD203B41FA5}">
                      <a16:colId xmlns:a16="http://schemas.microsoft.com/office/drawing/2014/main" val="2079070694"/>
                    </a:ext>
                  </a:extLst>
                </a:gridCol>
                <a:gridCol w="4178466">
                  <a:extLst>
                    <a:ext uri="{9D8B030D-6E8A-4147-A177-3AD203B41FA5}">
                      <a16:colId xmlns:a16="http://schemas.microsoft.com/office/drawing/2014/main" val="32595803"/>
                    </a:ext>
                  </a:extLst>
                </a:gridCol>
              </a:tblGrid>
              <a:tr h="256197">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701826">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20:0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MCLK LOCK COUNTER</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dirty="0">
                          <a:latin typeface="Arial"/>
                          <a:cs typeface="Arial"/>
                        </a:rPr>
                        <a:t>PLL lock counter.</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spc="-5" dirty="0">
                          <a:latin typeface="Arial"/>
                          <a:cs typeface="Arial"/>
                        </a:rPr>
                        <a:t>The </a:t>
                      </a:r>
                      <a:r>
                        <a:rPr lang="en-US" altLang="ko-KR" sz="900" dirty="0">
                          <a:latin typeface="Arial"/>
                          <a:cs typeface="Arial"/>
                        </a:rPr>
                        <a:t>reference clock source </a:t>
                      </a:r>
                      <a:r>
                        <a:rPr lang="en-US" altLang="ko-KR" sz="900" spc="-5" dirty="0">
                          <a:latin typeface="Arial"/>
                          <a:cs typeface="Arial"/>
                        </a:rPr>
                        <a:t>is internal OSC, 16.128MHz. This is enabled under the INT_CLK bit is set and synchronized</a:t>
                      </a:r>
                      <a:r>
                        <a:rPr lang="en-US" altLang="ko-KR" sz="900" spc="-10" dirty="0">
                          <a:latin typeface="Arial"/>
                          <a:cs typeface="Arial"/>
                        </a:rPr>
                        <a:t> </a:t>
                      </a:r>
                      <a:r>
                        <a:rPr lang="en-US" altLang="ko-KR" sz="900" spc="-5" dirty="0">
                          <a:latin typeface="Arial"/>
                          <a:cs typeface="Arial"/>
                        </a:rPr>
                        <a:t>by</a:t>
                      </a:r>
                      <a:r>
                        <a:rPr lang="en-US" altLang="ko-KR" sz="900" dirty="0">
                          <a:latin typeface="Arial"/>
                          <a:cs typeface="Arial"/>
                        </a:rPr>
                        <a:t> </a:t>
                      </a:r>
                      <a:r>
                        <a:rPr lang="en-US" altLang="ko-KR" sz="900" spc="-5" dirty="0">
                          <a:latin typeface="Arial"/>
                          <a:cs typeface="Arial"/>
                        </a:rPr>
                        <a:t>VSYNC.</a:t>
                      </a: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spc="-5" dirty="0">
                        <a:latin typeface="Arial"/>
                        <a:cs typeface="Arial"/>
                      </a:endParaRP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spc="-5" dirty="0">
                          <a:latin typeface="Arial"/>
                          <a:cs typeface="Arial"/>
                        </a:rPr>
                        <a:t>        </a:t>
                      </a:r>
                      <a:r>
                        <a:rPr lang="en-US" altLang="ko-KR" sz="900" dirty="0">
                          <a:latin typeface="Arial"/>
                          <a:cs typeface="Arial"/>
                        </a:rPr>
                        <a:t>=</a:t>
                      </a:r>
                      <a:r>
                        <a:rPr lang="en-US" altLang="ko-KR" sz="900" spc="-10" dirty="0">
                          <a:latin typeface="Arial"/>
                          <a:cs typeface="Arial"/>
                        </a:rPr>
                        <a:t> </a:t>
                      </a:r>
                      <a:r>
                        <a:rPr lang="en-US" altLang="ko-KR" sz="900" spc="-5" dirty="0">
                          <a:latin typeface="Arial"/>
                          <a:cs typeface="Arial"/>
                        </a:rPr>
                        <a:t>VSYNC</a:t>
                      </a:r>
                      <a:r>
                        <a:rPr lang="en-US" altLang="ko-KR" sz="900" dirty="0">
                          <a:latin typeface="Arial"/>
                          <a:cs typeface="Arial"/>
                        </a:rPr>
                        <a:t> </a:t>
                      </a:r>
                      <a:r>
                        <a:rPr lang="en-US" altLang="ko-KR" sz="900" spc="-5" dirty="0">
                          <a:latin typeface="Arial"/>
                          <a:cs typeface="Arial"/>
                        </a:rPr>
                        <a:t>period</a:t>
                      </a:r>
                      <a:r>
                        <a:rPr lang="en-US" altLang="ko-KR" sz="900" spc="-30" dirty="0">
                          <a:latin typeface="Arial"/>
                          <a:cs typeface="Arial"/>
                        </a:rPr>
                        <a:t> </a:t>
                      </a:r>
                      <a:r>
                        <a:rPr lang="en-US" altLang="ko-KR" sz="900" dirty="0">
                          <a:latin typeface="Arial"/>
                          <a:cs typeface="Arial"/>
                        </a:rPr>
                        <a:t>/</a:t>
                      </a:r>
                      <a:r>
                        <a:rPr lang="en-US" altLang="ko-KR" sz="900" spc="-5" dirty="0">
                          <a:latin typeface="Arial"/>
                          <a:cs typeface="Arial"/>
                        </a:rPr>
                        <a:t> 16.128MHz</a:t>
                      </a: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spc="-5" dirty="0">
                        <a:latin typeface="Arial"/>
                        <a:cs typeface="Arial"/>
                      </a:endParaRP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dirty="0">
                          <a:latin typeface="Arial"/>
                          <a:cs typeface="Arial"/>
                        </a:rPr>
                        <a:t>Be</a:t>
                      </a:r>
                      <a:r>
                        <a:rPr lang="en-US" altLang="ko-KR" sz="900" spc="-15" dirty="0">
                          <a:latin typeface="Arial"/>
                          <a:cs typeface="Arial"/>
                        </a:rPr>
                        <a:t> </a:t>
                      </a:r>
                      <a:r>
                        <a:rPr lang="en-US" altLang="ko-KR" sz="900" dirty="0">
                          <a:latin typeface="Arial"/>
                          <a:cs typeface="Arial"/>
                        </a:rPr>
                        <a:t>careful</a:t>
                      </a:r>
                      <a:r>
                        <a:rPr lang="en-US" altLang="ko-KR" sz="900" spc="-20" dirty="0">
                          <a:latin typeface="Arial"/>
                          <a:cs typeface="Arial"/>
                        </a:rPr>
                        <a:t> </a:t>
                      </a:r>
                      <a:r>
                        <a:rPr lang="en-US" altLang="ko-KR" sz="900" spc="-5" dirty="0">
                          <a:latin typeface="Arial"/>
                          <a:cs typeface="Arial"/>
                        </a:rPr>
                        <a:t>when</a:t>
                      </a:r>
                      <a:r>
                        <a:rPr lang="en-US" altLang="ko-KR" sz="900" dirty="0">
                          <a:latin typeface="Arial"/>
                          <a:cs typeface="Arial"/>
                        </a:rPr>
                        <a:t> using</a:t>
                      </a:r>
                      <a:r>
                        <a:rPr lang="en-US" altLang="ko-KR" sz="900" spc="-20" dirty="0">
                          <a:latin typeface="Arial"/>
                          <a:cs typeface="Arial"/>
                        </a:rPr>
                        <a:t> </a:t>
                      </a:r>
                      <a:r>
                        <a:rPr lang="en-US" altLang="ko-KR" sz="900" dirty="0">
                          <a:latin typeface="Arial"/>
                          <a:cs typeface="Arial"/>
                        </a:rPr>
                        <a:t>it if</a:t>
                      </a:r>
                      <a:r>
                        <a:rPr lang="en-US" altLang="ko-KR" sz="900" spc="-10" dirty="0">
                          <a:latin typeface="Arial"/>
                          <a:cs typeface="Arial"/>
                        </a:rPr>
                        <a:t> </a:t>
                      </a:r>
                      <a:r>
                        <a:rPr lang="en-US" altLang="ko-KR" sz="900" dirty="0">
                          <a:latin typeface="Arial"/>
                          <a:cs typeface="Arial"/>
                        </a:rPr>
                        <a:t>the</a:t>
                      </a:r>
                      <a:r>
                        <a:rPr lang="en-US" altLang="ko-KR" sz="900" spc="-10" dirty="0">
                          <a:latin typeface="Arial"/>
                          <a:cs typeface="Arial"/>
                        </a:rPr>
                        <a:t> </a:t>
                      </a:r>
                      <a:r>
                        <a:rPr lang="en-US" altLang="ko-KR" sz="900" dirty="0">
                          <a:latin typeface="Arial"/>
                          <a:cs typeface="Arial"/>
                        </a:rPr>
                        <a:t>frame</a:t>
                      </a:r>
                      <a:r>
                        <a:rPr lang="en-US" altLang="ko-KR" sz="900" spc="-10" dirty="0">
                          <a:latin typeface="Arial"/>
                          <a:cs typeface="Arial"/>
                        </a:rPr>
                        <a:t> </a:t>
                      </a:r>
                      <a:r>
                        <a:rPr lang="en-US" altLang="ko-KR" sz="900" dirty="0">
                          <a:latin typeface="Arial"/>
                          <a:cs typeface="Arial"/>
                        </a:rPr>
                        <a:t>period</a:t>
                      </a:r>
                      <a:r>
                        <a:rPr lang="en-US" altLang="ko-KR" sz="900" spc="-20" dirty="0">
                          <a:latin typeface="Arial"/>
                          <a:cs typeface="Arial"/>
                        </a:rPr>
                        <a:t> </a:t>
                      </a:r>
                      <a:r>
                        <a:rPr lang="en-US" altLang="ko-KR" sz="900" dirty="0">
                          <a:latin typeface="Arial" panose="020B0604020202020204" pitchFamily="34" charset="0"/>
                          <a:cs typeface="Arial" panose="020B0604020202020204" pitchFamily="34" charset="0"/>
                        </a:rPr>
                        <a:t>is</a:t>
                      </a:r>
                      <a:r>
                        <a:rPr lang="en-US" altLang="ko-KR" sz="900" spc="-10" dirty="0">
                          <a:latin typeface="Arial" panose="020B0604020202020204" pitchFamily="34" charset="0"/>
                          <a:cs typeface="Arial" panose="020B0604020202020204" pitchFamily="34" charset="0"/>
                        </a:rPr>
                        <a:t> </a:t>
                      </a:r>
                      <a:r>
                        <a:rPr lang="en-US" altLang="ko-KR" sz="900" spc="-5" dirty="0">
                          <a:latin typeface="Arial" panose="020B0604020202020204" pitchFamily="34" charset="0"/>
                          <a:cs typeface="Arial" panose="020B0604020202020204" pitchFamily="34" charset="0"/>
                        </a:rPr>
                        <a:t>switched,</a:t>
                      </a:r>
                      <a:r>
                        <a:rPr lang="en-US" altLang="ko-KR" sz="900" spc="-20" dirty="0">
                          <a:latin typeface="Arial" panose="020B0604020202020204" pitchFamily="34" charset="0"/>
                          <a:cs typeface="Arial" panose="020B0604020202020204" pitchFamily="34" charset="0"/>
                        </a:rPr>
                        <a:t> </a:t>
                      </a:r>
                      <a:r>
                        <a:rPr lang="en-US" altLang="ko-KR" sz="900" spc="10" dirty="0">
                          <a:latin typeface="Arial" panose="020B0604020202020204" pitchFamily="34" charset="0"/>
                          <a:cs typeface="Arial" panose="020B0604020202020204" pitchFamily="34" charset="0"/>
                        </a:rPr>
                        <a:t>50</a:t>
                      </a:r>
                      <a:r>
                        <a:rPr lang="en-US" altLang="ko-KR" sz="900" b="0" spc="10" dirty="0">
                          <a:latin typeface="Arial" panose="020B0604020202020204" pitchFamily="34" charset="0"/>
                          <a:cs typeface="Arial" panose="020B0604020202020204" pitchFamily="34" charset="0"/>
                        </a:rPr>
                        <a:t>↔</a:t>
                      </a:r>
                      <a:r>
                        <a:rPr lang="en-US" altLang="ko-KR" sz="900" b="0" spc="35" dirty="0">
                          <a:latin typeface="Arial" panose="020B0604020202020204" pitchFamily="34" charset="0"/>
                          <a:cs typeface="Arial" panose="020B0604020202020204" pitchFamily="34" charset="0"/>
                        </a:rPr>
                        <a:t> 60hz</a:t>
                      </a:r>
                      <a:endParaRPr lang="en-US" altLang="ko-KR" sz="900" dirty="0">
                        <a:latin typeface="Arial" panose="020B0604020202020204" pitchFamily="34" charset="0"/>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5" name="object 9">
            <a:extLst>
              <a:ext uri="{FF2B5EF4-FFF2-40B4-BE49-F238E27FC236}">
                <a16:creationId xmlns:a16="http://schemas.microsoft.com/office/drawing/2014/main" id="{73C270DF-DA42-C96A-C6F6-034BA5F81247}"/>
              </a:ext>
            </a:extLst>
          </p:cNvPr>
          <p:cNvSpPr txBox="1"/>
          <p:nvPr/>
        </p:nvSpPr>
        <p:spPr>
          <a:xfrm>
            <a:off x="304800" y="9067800"/>
            <a:ext cx="2078355" cy="289823"/>
          </a:xfrm>
          <a:prstGeom prst="rect">
            <a:avLst/>
          </a:prstGeom>
        </p:spPr>
        <p:txBody>
          <a:bodyPr vert="horz" wrap="square" lIns="0" tIns="12700" rIns="0" bIns="0" rtlCol="0">
            <a:spAutoFit/>
          </a:bodyPr>
          <a:lstStyle/>
          <a:p>
            <a:pPr marL="12700">
              <a:lnSpc>
                <a:spcPct val="100000"/>
              </a:lnSpc>
              <a:spcBef>
                <a:spcPts val="100"/>
              </a:spcBef>
            </a:pPr>
            <a:r>
              <a:rPr b="1" spc="-5" dirty="0">
                <a:solidFill>
                  <a:srgbClr val="FF0000"/>
                </a:solidFill>
                <a:cs typeface="Perpetua Titling MT"/>
              </a:rPr>
              <a:t>CONFIDENTIAL</a:t>
            </a:r>
            <a:endParaRPr dirty="0">
              <a:cs typeface="Perpetua Titling MT"/>
            </a:endParaRPr>
          </a:p>
        </p:txBody>
      </p:sp>
      <p:sp>
        <p:nvSpPr>
          <p:cNvPr id="13" name="object 6">
            <a:extLst>
              <a:ext uri="{FF2B5EF4-FFF2-40B4-BE49-F238E27FC236}">
                <a16:creationId xmlns:a16="http://schemas.microsoft.com/office/drawing/2014/main" id="{2F02036E-7055-4902-07F7-172196340B55}"/>
              </a:ext>
            </a:extLst>
          </p:cNvPr>
          <p:cNvSpPr/>
          <p:nvPr/>
        </p:nvSpPr>
        <p:spPr>
          <a:xfrm>
            <a:off x="301676" y="9458756"/>
            <a:ext cx="6246495" cy="0"/>
          </a:xfrm>
          <a:custGeom>
            <a:avLst/>
            <a:gdLst/>
            <a:ahLst/>
            <a:cxnLst/>
            <a:rect l="l" t="t" r="r" b="b"/>
            <a:pathLst>
              <a:path w="6246495">
                <a:moveTo>
                  <a:pt x="0" y="0"/>
                </a:moveTo>
                <a:lnTo>
                  <a:pt x="6245999" y="0"/>
                </a:lnTo>
              </a:path>
            </a:pathLst>
          </a:custGeom>
          <a:ln w="25920">
            <a:solidFill>
              <a:srgbClr val="BFBFBF"/>
            </a:solidFill>
          </a:ln>
        </p:spPr>
        <p:txBody>
          <a:bodyPr wrap="square" lIns="0" tIns="0" rIns="0" bIns="0" rtlCol="0"/>
          <a:lstStyle/>
          <a:p>
            <a:endParaRPr/>
          </a:p>
        </p:txBody>
      </p:sp>
      <p:sp>
        <p:nvSpPr>
          <p:cNvPr id="14" name="슬라이드 번호 개체 틀 3">
            <a:hlinkClick r:id="rId2"/>
            <a:extLst>
              <a:ext uri="{FF2B5EF4-FFF2-40B4-BE49-F238E27FC236}">
                <a16:creationId xmlns:a16="http://schemas.microsoft.com/office/drawing/2014/main" id="{496CE24F-9337-AE11-2F3B-E8EE9475DA19}"/>
              </a:ext>
            </a:extLst>
          </p:cNvPr>
          <p:cNvSpPr txBox="1">
            <a:spLocks/>
          </p:cNvSpPr>
          <p:nvPr/>
        </p:nvSpPr>
        <p:spPr>
          <a:xfrm>
            <a:off x="5151602" y="9452864"/>
            <a:ext cx="1487550"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dirty="0">
                <a:solidFill>
                  <a:prstClr val="black"/>
                </a:solidFill>
                <a:latin typeface="Arial" panose="020B0604020202020204" pitchFamily="34" charset="0"/>
                <a:cs typeface="Arial" panose="020B0604020202020204" pitchFamily="34" charset="0"/>
              </a:rPr>
              <a:t>http://www.glbltech.com/</a:t>
            </a:r>
            <a:endParaRPr lang="ko-KR" altLang="en-US" dirty="0">
              <a:solidFill>
                <a:prstClr val="black"/>
              </a:solidFill>
              <a:latin typeface="Arial" panose="020B0604020202020204" pitchFamily="34" charset="0"/>
              <a:cs typeface="Arial" panose="020B0604020202020204" pitchFamily="34" charset="0"/>
            </a:endParaRPr>
          </a:p>
        </p:txBody>
      </p:sp>
      <p:sp>
        <p:nvSpPr>
          <p:cNvPr id="15" name="object 38">
            <a:extLst>
              <a:ext uri="{FF2B5EF4-FFF2-40B4-BE49-F238E27FC236}">
                <a16:creationId xmlns:a16="http://schemas.microsoft.com/office/drawing/2014/main" id="{93E3E193-C6BF-8DC0-8BC7-14CB22D1E9E8}"/>
              </a:ext>
            </a:extLst>
          </p:cNvPr>
          <p:cNvSpPr txBox="1">
            <a:spLocks/>
          </p:cNvSpPr>
          <p:nvPr/>
        </p:nvSpPr>
        <p:spPr>
          <a:xfrm>
            <a:off x="3309066" y="9547988"/>
            <a:ext cx="487045" cy="139141"/>
          </a:xfrm>
          <a:prstGeom prst="rect">
            <a:avLst/>
          </a:prstGeom>
        </p:spPr>
        <p:txBody>
          <a:bodyPr vert="horz" wrap="square" lIns="0" tIns="635" rIns="0" bIns="0" rtlCol="0">
            <a:spAutoFit/>
          </a:bodyPr>
          <a:lstStyle>
            <a:defPPr>
              <a:defRPr lang="ko-KR"/>
            </a:defPPr>
            <a:lvl1pPr marL="0" algn="l" defTabSz="914400" rtl="0" eaLnBrk="1" latinLnBrk="1" hangingPunct="1">
              <a:defRPr sz="1050" b="0" i="0" kern="1200">
                <a:solidFill>
                  <a:schemeClr val="tx1"/>
                </a:solidFill>
                <a:latin typeface="Arial"/>
                <a:ea typeface="+mn-ea"/>
                <a:cs typeface="Arial"/>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marL="12700">
              <a:spcBef>
                <a:spcPts val="5"/>
              </a:spcBef>
              <a:defRPr/>
            </a:pPr>
            <a:r>
              <a:rPr lang="en-US" sz="900" dirty="0">
                <a:solidFill>
                  <a:prstClr val="black"/>
                </a:solidFill>
              </a:rPr>
              <a:t>Page</a:t>
            </a:r>
            <a:r>
              <a:rPr lang="en-US" sz="900" spc="-60" dirty="0">
                <a:solidFill>
                  <a:prstClr val="black"/>
                </a:solidFill>
              </a:rPr>
              <a:t> </a:t>
            </a:r>
            <a:fld id="{81D60167-4931-47E6-BA6A-407CBD079E47}" type="slidenum">
              <a:rPr sz="900">
                <a:solidFill>
                  <a:prstClr val="black"/>
                </a:solidFill>
              </a:rPr>
              <a:pPr marL="12700">
                <a:spcBef>
                  <a:spcPts val="5"/>
                </a:spcBef>
                <a:defRPr/>
              </a:pPr>
              <a:t>41</a:t>
            </a:fld>
            <a:endParaRPr sz="900" dirty="0">
              <a:solidFill>
                <a:prstClr val="black"/>
              </a:solidFill>
            </a:endParaRPr>
          </a:p>
        </p:txBody>
      </p:sp>
      <p:sp>
        <p:nvSpPr>
          <p:cNvPr id="16" name="슬라이드 번호 개체 틀 3">
            <a:extLst>
              <a:ext uri="{FF2B5EF4-FFF2-40B4-BE49-F238E27FC236}">
                <a16:creationId xmlns:a16="http://schemas.microsoft.com/office/drawing/2014/main" id="{CD8B7823-D44B-5834-6254-6CDEC22DD6E0}"/>
              </a:ext>
            </a:extLst>
          </p:cNvPr>
          <p:cNvSpPr txBox="1">
            <a:spLocks/>
          </p:cNvSpPr>
          <p:nvPr/>
        </p:nvSpPr>
        <p:spPr>
          <a:xfrm>
            <a:off x="299401" y="9520856"/>
            <a:ext cx="2060991" cy="175259"/>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lang="en-US" altLang="ko-KR" dirty="0">
                <a:solidFill>
                  <a:prstClr val="black"/>
                </a:solidFill>
                <a:latin typeface="Arial" panose="020B0604020202020204" pitchFamily="34" charset="0"/>
                <a:cs typeface="Arial" panose="020B0604020202020204" pitchFamily="34" charset="0"/>
              </a:rPr>
              <a:t>Dated 30-Nov 23  Rev. 01</a:t>
            </a:r>
            <a:endParaRPr lang="ko-KR" altLang="en-US" dirty="0">
              <a:solidFill>
                <a:prstClr val="black"/>
              </a:solidFill>
              <a:latin typeface="Arial" panose="020B0604020202020204" pitchFamily="34" charset="0"/>
              <a:cs typeface="Arial" panose="020B0604020202020204" pitchFamily="34" charset="0"/>
            </a:endParaRPr>
          </a:p>
        </p:txBody>
      </p:sp>
      <p:sp>
        <p:nvSpPr>
          <p:cNvPr id="17" name="Holder 3">
            <a:extLst>
              <a:ext uri="{FF2B5EF4-FFF2-40B4-BE49-F238E27FC236}">
                <a16:creationId xmlns:a16="http://schemas.microsoft.com/office/drawing/2014/main" id="{A7C1FC41-F1B4-9943-7BDB-05FDD1D675ED}"/>
              </a:ext>
            </a:extLst>
          </p:cNvPr>
          <p:cNvSpPr txBox="1">
            <a:spLocks/>
          </p:cNvSpPr>
          <p:nvPr/>
        </p:nvSpPr>
        <p:spPr>
          <a:xfrm>
            <a:off x="5147476" y="203944"/>
            <a:ext cx="1447800" cy="276999"/>
          </a:xfrm>
          <a:prstGeom prst="rect">
            <a:avLst/>
          </a:prstGeom>
        </p:spPr>
        <p:txBody>
          <a:bodyPr wrap="square" lIns="0" tIns="0" rIns="0" bIns="0">
            <a:spAutoFit/>
          </a:bodyPr>
          <a:lstStyle>
            <a:lvl1pPr marL="0">
              <a:defRPr>
                <a:solidFill>
                  <a:srgbClr val="FF99FF"/>
                </a:solidFill>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defTabSz="914400" latinLnBrk="0"/>
            <a:r>
              <a:rPr lang="en-US" sz="1800" kern="0" dirty="0"/>
              <a:t>&lt;Preliminary&gt;</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p:nvPr/>
        </p:nvSpPr>
        <p:spPr>
          <a:xfrm>
            <a:off x="400913" y="301879"/>
            <a:ext cx="622935" cy="299720"/>
          </a:xfrm>
          <a:prstGeom prst="rect">
            <a:avLst/>
          </a:prstGeom>
        </p:spPr>
        <p:txBody>
          <a:bodyPr vert="horz" wrap="square" lIns="0" tIns="12700" rIns="0" bIns="0" rtlCol="0">
            <a:spAutoFit/>
          </a:bodyPr>
          <a:lstStyle/>
          <a:p>
            <a:pPr marL="12700">
              <a:lnSpc>
                <a:spcPct val="100000"/>
              </a:lnSpc>
              <a:spcBef>
                <a:spcPts val="100"/>
              </a:spcBef>
            </a:pPr>
            <a:r>
              <a:rPr sz="1800" b="1" spc="-5" dirty="0">
                <a:latin typeface="Arial"/>
                <a:cs typeface="Arial"/>
              </a:rPr>
              <a:t>CQ24</a:t>
            </a:r>
            <a:endParaRPr sz="1800" dirty="0">
              <a:latin typeface="Arial"/>
              <a:cs typeface="Arial"/>
            </a:endParaRPr>
          </a:p>
        </p:txBody>
      </p:sp>
      <p:sp>
        <p:nvSpPr>
          <p:cNvPr id="5" name="object 5"/>
          <p:cNvSpPr txBox="1"/>
          <p:nvPr/>
        </p:nvSpPr>
        <p:spPr>
          <a:xfrm>
            <a:off x="400913" y="906019"/>
            <a:ext cx="6038542" cy="841256"/>
          </a:xfrm>
          <a:prstGeom prst="rect">
            <a:avLst/>
          </a:prstGeom>
        </p:spPr>
        <p:txBody>
          <a:bodyPr vert="horz" wrap="square" lIns="0" tIns="12700" rIns="0" bIns="0" rtlCol="0">
            <a:spAutoFit/>
          </a:bodyPr>
          <a:lstStyle/>
          <a:p>
            <a:pPr marL="12700">
              <a:lnSpc>
                <a:spcPct val="100000"/>
              </a:lnSpc>
              <a:spcBef>
                <a:spcPts val="100"/>
              </a:spcBef>
            </a:pPr>
            <a:r>
              <a:rPr sz="1400" b="1" spc="-5" dirty="0">
                <a:latin typeface="Arial"/>
                <a:cs typeface="Arial"/>
              </a:rPr>
              <a:t>[Appendix]</a:t>
            </a:r>
            <a:endParaRPr sz="1400" dirty="0">
              <a:latin typeface="Arial"/>
              <a:cs typeface="Arial"/>
            </a:endParaRPr>
          </a:p>
          <a:p>
            <a:pPr>
              <a:lnSpc>
                <a:spcPct val="100000"/>
              </a:lnSpc>
            </a:pPr>
            <a:endParaRPr sz="1500" dirty="0">
              <a:latin typeface="Arial"/>
              <a:cs typeface="Arial"/>
            </a:endParaRPr>
          </a:p>
          <a:p>
            <a:pPr marL="12700">
              <a:lnSpc>
                <a:spcPct val="100000"/>
              </a:lnSpc>
              <a:spcBef>
                <a:spcPts val="1255"/>
              </a:spcBef>
            </a:pPr>
            <a:r>
              <a:rPr sz="1400" b="1" spc="-5" dirty="0">
                <a:latin typeface="Arial"/>
                <a:cs typeface="Arial"/>
              </a:rPr>
              <a:t>The</a:t>
            </a:r>
            <a:r>
              <a:rPr sz="1400" b="1" spc="-50" dirty="0">
                <a:latin typeface="Arial"/>
                <a:cs typeface="Arial"/>
              </a:rPr>
              <a:t> </a:t>
            </a:r>
            <a:r>
              <a:rPr sz="1400" b="1" dirty="0">
                <a:latin typeface="Arial"/>
                <a:cs typeface="Arial"/>
              </a:rPr>
              <a:t>trimming</a:t>
            </a:r>
            <a:r>
              <a:rPr sz="1400" b="1" spc="-70" dirty="0">
                <a:latin typeface="Arial"/>
                <a:cs typeface="Arial"/>
              </a:rPr>
              <a:t> </a:t>
            </a:r>
            <a:r>
              <a:rPr sz="1400" b="1" dirty="0">
                <a:latin typeface="Arial"/>
                <a:cs typeface="Arial"/>
              </a:rPr>
              <a:t>registers</a:t>
            </a:r>
            <a:endParaRPr sz="1400" dirty="0">
              <a:latin typeface="Arial"/>
              <a:cs typeface="Arial"/>
            </a:endParaRPr>
          </a:p>
        </p:txBody>
      </p:sp>
      <p:sp>
        <p:nvSpPr>
          <p:cNvPr id="6" name="object 6"/>
          <p:cNvSpPr txBox="1"/>
          <p:nvPr/>
        </p:nvSpPr>
        <p:spPr>
          <a:xfrm>
            <a:off x="400912" y="1881631"/>
            <a:ext cx="6038542" cy="151323"/>
          </a:xfrm>
          <a:prstGeom prst="rect">
            <a:avLst/>
          </a:prstGeom>
        </p:spPr>
        <p:txBody>
          <a:bodyPr vert="horz" wrap="square" lIns="0" tIns="12700" rIns="0" bIns="0" rtlCol="0">
            <a:spAutoFit/>
          </a:bodyPr>
          <a:lstStyle/>
          <a:p>
            <a:pPr marL="12700">
              <a:lnSpc>
                <a:spcPct val="100000"/>
              </a:lnSpc>
              <a:spcBef>
                <a:spcPts val="100"/>
              </a:spcBef>
            </a:pPr>
            <a:r>
              <a:rPr sz="900" i="1" dirty="0">
                <a:solidFill>
                  <a:srgbClr val="FF0000"/>
                </a:solidFill>
                <a:latin typeface="Arial"/>
                <a:cs typeface="Arial"/>
              </a:rPr>
              <a:t>These</a:t>
            </a:r>
            <a:r>
              <a:rPr sz="900" i="1" spc="-25" dirty="0">
                <a:solidFill>
                  <a:srgbClr val="FF0000"/>
                </a:solidFill>
                <a:latin typeface="Arial"/>
                <a:cs typeface="Arial"/>
              </a:rPr>
              <a:t> </a:t>
            </a:r>
            <a:r>
              <a:rPr sz="900" i="1" dirty="0">
                <a:solidFill>
                  <a:srgbClr val="FF0000"/>
                </a:solidFill>
                <a:latin typeface="Arial"/>
                <a:cs typeface="Arial"/>
              </a:rPr>
              <a:t>registers</a:t>
            </a:r>
            <a:r>
              <a:rPr sz="900" i="1" spc="-30" dirty="0">
                <a:solidFill>
                  <a:srgbClr val="FF0000"/>
                </a:solidFill>
                <a:latin typeface="Arial"/>
                <a:cs typeface="Arial"/>
              </a:rPr>
              <a:t> </a:t>
            </a:r>
            <a:r>
              <a:rPr sz="900" i="1" spc="-5" dirty="0">
                <a:solidFill>
                  <a:srgbClr val="FF0000"/>
                </a:solidFill>
                <a:latin typeface="Arial"/>
                <a:cs typeface="Arial"/>
              </a:rPr>
              <a:t>are </a:t>
            </a:r>
            <a:r>
              <a:rPr sz="900" i="1" dirty="0">
                <a:solidFill>
                  <a:srgbClr val="FF0000"/>
                </a:solidFill>
                <a:latin typeface="Arial"/>
                <a:cs typeface="Arial"/>
              </a:rPr>
              <a:t>not</a:t>
            </a:r>
            <a:r>
              <a:rPr sz="900" i="1" spc="-10" dirty="0">
                <a:solidFill>
                  <a:srgbClr val="FF0000"/>
                </a:solidFill>
                <a:latin typeface="Arial"/>
                <a:cs typeface="Arial"/>
              </a:rPr>
              <a:t> </a:t>
            </a:r>
            <a:r>
              <a:rPr sz="900" i="1" dirty="0">
                <a:solidFill>
                  <a:srgbClr val="FF0000"/>
                </a:solidFill>
                <a:latin typeface="Arial"/>
                <a:cs typeface="Arial"/>
              </a:rPr>
              <a:t>available</a:t>
            </a:r>
            <a:r>
              <a:rPr sz="900" i="1" spc="-50" dirty="0">
                <a:solidFill>
                  <a:srgbClr val="FF0000"/>
                </a:solidFill>
                <a:latin typeface="Arial"/>
                <a:cs typeface="Arial"/>
              </a:rPr>
              <a:t> </a:t>
            </a:r>
            <a:r>
              <a:rPr sz="900" i="1" dirty="0">
                <a:solidFill>
                  <a:srgbClr val="FF0000"/>
                </a:solidFill>
                <a:latin typeface="Arial"/>
                <a:cs typeface="Arial"/>
              </a:rPr>
              <a:t>to the</a:t>
            </a:r>
            <a:r>
              <a:rPr sz="900" i="1" spc="-15" dirty="0">
                <a:solidFill>
                  <a:srgbClr val="FF0000"/>
                </a:solidFill>
                <a:latin typeface="Arial"/>
                <a:cs typeface="Arial"/>
              </a:rPr>
              <a:t> </a:t>
            </a:r>
            <a:r>
              <a:rPr sz="900" i="1" dirty="0">
                <a:solidFill>
                  <a:srgbClr val="FF0000"/>
                </a:solidFill>
                <a:latin typeface="Arial"/>
                <a:cs typeface="Arial"/>
              </a:rPr>
              <a:t>users.</a:t>
            </a:r>
            <a:r>
              <a:rPr sz="900" i="1" spc="225" dirty="0">
                <a:solidFill>
                  <a:srgbClr val="FF0000"/>
                </a:solidFill>
                <a:latin typeface="Arial"/>
                <a:cs typeface="Arial"/>
              </a:rPr>
              <a:t> </a:t>
            </a:r>
            <a:r>
              <a:rPr sz="900" i="1" dirty="0">
                <a:solidFill>
                  <a:srgbClr val="FF0000"/>
                </a:solidFill>
                <a:latin typeface="Arial"/>
                <a:cs typeface="Arial"/>
              </a:rPr>
              <a:t>Restricted</a:t>
            </a:r>
            <a:r>
              <a:rPr sz="900" i="1" spc="-40" dirty="0">
                <a:solidFill>
                  <a:srgbClr val="FF0000"/>
                </a:solidFill>
                <a:latin typeface="Arial"/>
                <a:cs typeface="Arial"/>
              </a:rPr>
              <a:t> </a:t>
            </a:r>
            <a:r>
              <a:rPr sz="900" i="1" dirty="0">
                <a:solidFill>
                  <a:srgbClr val="FF0000"/>
                </a:solidFill>
                <a:latin typeface="Arial"/>
                <a:cs typeface="Arial"/>
              </a:rPr>
              <a:t>to</a:t>
            </a:r>
            <a:r>
              <a:rPr sz="900" i="1" spc="-10" dirty="0">
                <a:solidFill>
                  <a:srgbClr val="FF0000"/>
                </a:solidFill>
                <a:latin typeface="Arial"/>
                <a:cs typeface="Arial"/>
              </a:rPr>
              <a:t> </a:t>
            </a:r>
            <a:r>
              <a:rPr sz="900" i="1" dirty="0">
                <a:solidFill>
                  <a:srgbClr val="FF0000"/>
                </a:solidFill>
                <a:latin typeface="Arial"/>
                <a:cs typeface="Arial"/>
              </a:rPr>
              <a:t>send</a:t>
            </a:r>
            <a:r>
              <a:rPr sz="900" i="1" spc="-15" dirty="0">
                <a:solidFill>
                  <a:srgbClr val="FF0000"/>
                </a:solidFill>
                <a:latin typeface="Arial"/>
                <a:cs typeface="Arial"/>
              </a:rPr>
              <a:t> </a:t>
            </a:r>
            <a:r>
              <a:rPr sz="900" i="1" dirty="0">
                <a:solidFill>
                  <a:srgbClr val="FF0000"/>
                </a:solidFill>
                <a:latin typeface="Arial"/>
                <a:cs typeface="Arial"/>
              </a:rPr>
              <a:t>out</a:t>
            </a:r>
            <a:r>
              <a:rPr sz="900" i="1" spc="-10" dirty="0">
                <a:solidFill>
                  <a:srgbClr val="FF0000"/>
                </a:solidFill>
                <a:latin typeface="Arial"/>
                <a:cs typeface="Arial"/>
              </a:rPr>
              <a:t> </a:t>
            </a:r>
            <a:r>
              <a:rPr sz="900" i="1" dirty="0">
                <a:solidFill>
                  <a:srgbClr val="FF0000"/>
                </a:solidFill>
                <a:latin typeface="Arial"/>
                <a:cs typeface="Arial"/>
              </a:rPr>
              <a:t>from</a:t>
            </a:r>
            <a:r>
              <a:rPr sz="900" i="1" spc="-25" dirty="0">
                <a:solidFill>
                  <a:srgbClr val="FF0000"/>
                </a:solidFill>
                <a:latin typeface="Arial"/>
                <a:cs typeface="Arial"/>
              </a:rPr>
              <a:t> </a:t>
            </a:r>
            <a:r>
              <a:rPr sz="900" i="1" spc="-5" dirty="0">
                <a:solidFill>
                  <a:srgbClr val="FF0000"/>
                </a:solidFill>
                <a:latin typeface="Arial"/>
                <a:cs typeface="Arial"/>
              </a:rPr>
              <a:t>GT.</a:t>
            </a:r>
            <a:endParaRPr sz="900" dirty="0">
              <a:latin typeface="Arial"/>
              <a:cs typeface="Arial"/>
            </a:endParaRPr>
          </a:p>
        </p:txBody>
      </p:sp>
      <p:graphicFrame>
        <p:nvGraphicFramePr>
          <p:cNvPr id="7" name="object 7"/>
          <p:cNvGraphicFramePr>
            <a:graphicFrameLocks noGrp="1"/>
          </p:cNvGraphicFramePr>
          <p:nvPr>
            <p:extLst>
              <p:ext uri="{D42A27DB-BD31-4B8C-83A1-F6EECF244321}">
                <p14:modId xmlns:p14="http://schemas.microsoft.com/office/powerpoint/2010/main" val="1066094486"/>
              </p:ext>
            </p:extLst>
          </p:nvPr>
        </p:nvGraphicFramePr>
        <p:xfrm>
          <a:off x="403148" y="2677858"/>
          <a:ext cx="6038536" cy="387350"/>
        </p:xfrm>
        <a:graphic>
          <a:graphicData uri="http://schemas.openxmlformats.org/drawingml/2006/table">
            <a:tbl>
              <a:tblPr firstRow="1" bandRow="1">
                <a:tableStyleId>{2D5ABB26-0587-4C30-8999-92F81FD0307C}</a:tableStyleId>
              </a:tblPr>
              <a:tblGrid>
                <a:gridCol w="412143">
                  <a:extLst>
                    <a:ext uri="{9D8B030D-6E8A-4147-A177-3AD203B41FA5}">
                      <a16:colId xmlns:a16="http://schemas.microsoft.com/office/drawing/2014/main" val="20000"/>
                    </a:ext>
                  </a:extLst>
                </a:gridCol>
                <a:gridCol w="474307">
                  <a:extLst>
                    <a:ext uri="{9D8B030D-6E8A-4147-A177-3AD203B41FA5}">
                      <a16:colId xmlns:a16="http://schemas.microsoft.com/office/drawing/2014/main" val="20001"/>
                    </a:ext>
                  </a:extLst>
                </a:gridCol>
                <a:gridCol w="322005">
                  <a:extLst>
                    <a:ext uri="{9D8B030D-6E8A-4147-A177-3AD203B41FA5}">
                      <a16:colId xmlns:a16="http://schemas.microsoft.com/office/drawing/2014/main" val="20002"/>
                    </a:ext>
                  </a:extLst>
                </a:gridCol>
                <a:gridCol w="322006">
                  <a:extLst>
                    <a:ext uri="{9D8B030D-6E8A-4147-A177-3AD203B41FA5}">
                      <a16:colId xmlns:a16="http://schemas.microsoft.com/office/drawing/2014/main" val="20003"/>
                    </a:ext>
                  </a:extLst>
                </a:gridCol>
                <a:gridCol w="322006">
                  <a:extLst>
                    <a:ext uri="{9D8B030D-6E8A-4147-A177-3AD203B41FA5}">
                      <a16:colId xmlns:a16="http://schemas.microsoft.com/office/drawing/2014/main" val="20004"/>
                    </a:ext>
                  </a:extLst>
                </a:gridCol>
                <a:gridCol w="322006">
                  <a:extLst>
                    <a:ext uri="{9D8B030D-6E8A-4147-A177-3AD203B41FA5}">
                      <a16:colId xmlns:a16="http://schemas.microsoft.com/office/drawing/2014/main" val="20005"/>
                    </a:ext>
                  </a:extLst>
                </a:gridCol>
                <a:gridCol w="322006">
                  <a:extLst>
                    <a:ext uri="{9D8B030D-6E8A-4147-A177-3AD203B41FA5}">
                      <a16:colId xmlns:a16="http://schemas.microsoft.com/office/drawing/2014/main" val="20006"/>
                    </a:ext>
                  </a:extLst>
                </a:gridCol>
                <a:gridCol w="322006">
                  <a:extLst>
                    <a:ext uri="{9D8B030D-6E8A-4147-A177-3AD203B41FA5}">
                      <a16:colId xmlns:a16="http://schemas.microsoft.com/office/drawing/2014/main" val="20007"/>
                    </a:ext>
                  </a:extLst>
                </a:gridCol>
                <a:gridCol w="322006">
                  <a:extLst>
                    <a:ext uri="{9D8B030D-6E8A-4147-A177-3AD203B41FA5}">
                      <a16:colId xmlns:a16="http://schemas.microsoft.com/office/drawing/2014/main" val="20008"/>
                    </a:ext>
                  </a:extLst>
                </a:gridCol>
                <a:gridCol w="322005">
                  <a:extLst>
                    <a:ext uri="{9D8B030D-6E8A-4147-A177-3AD203B41FA5}">
                      <a16:colId xmlns:a16="http://schemas.microsoft.com/office/drawing/2014/main" val="20009"/>
                    </a:ext>
                  </a:extLst>
                </a:gridCol>
                <a:gridCol w="322005">
                  <a:extLst>
                    <a:ext uri="{9D8B030D-6E8A-4147-A177-3AD203B41FA5}">
                      <a16:colId xmlns:a16="http://schemas.microsoft.com/office/drawing/2014/main" val="20010"/>
                    </a:ext>
                  </a:extLst>
                </a:gridCol>
                <a:gridCol w="322005">
                  <a:extLst>
                    <a:ext uri="{9D8B030D-6E8A-4147-A177-3AD203B41FA5}">
                      <a16:colId xmlns:a16="http://schemas.microsoft.com/office/drawing/2014/main" val="20011"/>
                    </a:ext>
                  </a:extLst>
                </a:gridCol>
                <a:gridCol w="322005">
                  <a:extLst>
                    <a:ext uri="{9D8B030D-6E8A-4147-A177-3AD203B41FA5}">
                      <a16:colId xmlns:a16="http://schemas.microsoft.com/office/drawing/2014/main" val="20012"/>
                    </a:ext>
                  </a:extLst>
                </a:gridCol>
                <a:gridCol w="322005">
                  <a:extLst>
                    <a:ext uri="{9D8B030D-6E8A-4147-A177-3AD203B41FA5}">
                      <a16:colId xmlns:a16="http://schemas.microsoft.com/office/drawing/2014/main" val="20013"/>
                    </a:ext>
                  </a:extLst>
                </a:gridCol>
                <a:gridCol w="322005">
                  <a:extLst>
                    <a:ext uri="{9D8B030D-6E8A-4147-A177-3AD203B41FA5}">
                      <a16:colId xmlns:a16="http://schemas.microsoft.com/office/drawing/2014/main" val="20014"/>
                    </a:ext>
                  </a:extLst>
                </a:gridCol>
                <a:gridCol w="322005">
                  <a:extLst>
                    <a:ext uri="{9D8B030D-6E8A-4147-A177-3AD203B41FA5}">
                      <a16:colId xmlns:a16="http://schemas.microsoft.com/office/drawing/2014/main" val="20015"/>
                    </a:ext>
                  </a:extLst>
                </a:gridCol>
                <a:gridCol w="322005">
                  <a:extLst>
                    <a:ext uri="{9D8B030D-6E8A-4147-A177-3AD203B41FA5}">
                      <a16:colId xmlns:a16="http://schemas.microsoft.com/office/drawing/2014/main" val="20016"/>
                    </a:ext>
                  </a:extLst>
                </a:gridCol>
                <a:gridCol w="322005">
                  <a:extLst>
                    <a:ext uri="{9D8B030D-6E8A-4147-A177-3AD203B41FA5}">
                      <a16:colId xmlns:a16="http://schemas.microsoft.com/office/drawing/2014/main" val="20017"/>
                    </a:ext>
                  </a:extLst>
                </a:gridCol>
              </a:tblGrid>
              <a:tr h="193675">
                <a:tc>
                  <a:txBody>
                    <a:bodyPr/>
                    <a:lstStyle/>
                    <a:p>
                      <a:pPr marR="69215" algn="r">
                        <a:lnSpc>
                          <a:spcPct val="100000"/>
                        </a:lnSpc>
                        <a:spcBef>
                          <a:spcPts val="265"/>
                        </a:spcBef>
                      </a:pPr>
                      <a:r>
                        <a:rPr sz="800" dirty="0">
                          <a:latin typeface="Arial"/>
                          <a:cs typeface="Arial"/>
                        </a:rPr>
                        <a:t>A[6:0]</a:t>
                      </a: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algn="ctr">
                        <a:lnSpc>
                          <a:spcPct val="100000"/>
                        </a:lnSpc>
                        <a:spcBef>
                          <a:spcPts val="265"/>
                        </a:spcBef>
                      </a:pPr>
                      <a:r>
                        <a:rPr sz="800" spc="-5" dirty="0">
                          <a:latin typeface="Arial"/>
                          <a:cs typeface="Arial"/>
                        </a:rPr>
                        <a:t>Default</a:t>
                      </a:r>
                      <a:endParaRPr sz="8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71755">
                        <a:lnSpc>
                          <a:spcPct val="100000"/>
                        </a:lnSpc>
                        <a:spcBef>
                          <a:spcPts val="265"/>
                        </a:spcBef>
                      </a:pPr>
                      <a:r>
                        <a:rPr sz="800" spc="-5" dirty="0">
                          <a:latin typeface="Arial"/>
                          <a:cs typeface="Arial"/>
                        </a:rPr>
                        <a:t>D15</a:t>
                      </a:r>
                      <a:endParaRPr sz="8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71755">
                        <a:lnSpc>
                          <a:spcPct val="100000"/>
                        </a:lnSpc>
                        <a:spcBef>
                          <a:spcPts val="265"/>
                        </a:spcBef>
                      </a:pPr>
                      <a:r>
                        <a:rPr sz="800" spc="-5" dirty="0">
                          <a:latin typeface="Arial"/>
                          <a:cs typeface="Arial"/>
                        </a:rPr>
                        <a:t>D14</a:t>
                      </a:r>
                      <a:endParaRPr sz="8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71755">
                        <a:lnSpc>
                          <a:spcPct val="100000"/>
                        </a:lnSpc>
                        <a:spcBef>
                          <a:spcPts val="265"/>
                        </a:spcBef>
                      </a:pPr>
                      <a:r>
                        <a:rPr sz="800" spc="-5" dirty="0">
                          <a:latin typeface="Arial"/>
                          <a:cs typeface="Arial"/>
                        </a:rPr>
                        <a:t>D13</a:t>
                      </a:r>
                      <a:endParaRPr sz="8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71755">
                        <a:lnSpc>
                          <a:spcPct val="100000"/>
                        </a:lnSpc>
                        <a:spcBef>
                          <a:spcPts val="265"/>
                        </a:spcBef>
                      </a:pPr>
                      <a:r>
                        <a:rPr sz="800" spc="-5" dirty="0">
                          <a:latin typeface="Arial"/>
                          <a:cs typeface="Arial"/>
                        </a:rPr>
                        <a:t>D12</a:t>
                      </a:r>
                      <a:endParaRPr sz="8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71755">
                        <a:lnSpc>
                          <a:spcPct val="100000"/>
                        </a:lnSpc>
                        <a:spcBef>
                          <a:spcPts val="265"/>
                        </a:spcBef>
                      </a:pPr>
                      <a:r>
                        <a:rPr sz="800" spc="-5" dirty="0">
                          <a:latin typeface="Arial"/>
                          <a:cs typeface="Arial"/>
                        </a:rPr>
                        <a:t>D11</a:t>
                      </a:r>
                      <a:endParaRPr sz="8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71755">
                        <a:lnSpc>
                          <a:spcPct val="100000"/>
                        </a:lnSpc>
                        <a:spcBef>
                          <a:spcPts val="265"/>
                        </a:spcBef>
                      </a:pPr>
                      <a:r>
                        <a:rPr sz="800" dirty="0">
                          <a:latin typeface="Arial"/>
                          <a:cs typeface="Arial"/>
                        </a:rPr>
                        <a:t>D10</a:t>
                      </a: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99060">
                        <a:lnSpc>
                          <a:spcPct val="100000"/>
                        </a:lnSpc>
                        <a:spcBef>
                          <a:spcPts val="265"/>
                        </a:spcBef>
                      </a:pPr>
                      <a:r>
                        <a:rPr sz="800" spc="-5" dirty="0">
                          <a:latin typeface="Arial"/>
                          <a:cs typeface="Arial"/>
                        </a:rPr>
                        <a:t>D9</a:t>
                      </a:r>
                      <a:endParaRPr sz="8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99695">
                        <a:lnSpc>
                          <a:spcPct val="100000"/>
                        </a:lnSpc>
                        <a:spcBef>
                          <a:spcPts val="265"/>
                        </a:spcBef>
                      </a:pPr>
                      <a:r>
                        <a:rPr sz="800" spc="-5" dirty="0">
                          <a:latin typeface="Arial"/>
                          <a:cs typeface="Arial"/>
                        </a:rPr>
                        <a:t>D8</a:t>
                      </a:r>
                      <a:endParaRPr sz="8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99695">
                        <a:lnSpc>
                          <a:spcPct val="100000"/>
                        </a:lnSpc>
                        <a:spcBef>
                          <a:spcPts val="265"/>
                        </a:spcBef>
                      </a:pPr>
                      <a:r>
                        <a:rPr sz="800" spc="-5" dirty="0">
                          <a:latin typeface="Arial"/>
                          <a:cs typeface="Arial"/>
                        </a:rPr>
                        <a:t>D7</a:t>
                      </a:r>
                      <a:endParaRPr sz="8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99695">
                        <a:lnSpc>
                          <a:spcPct val="100000"/>
                        </a:lnSpc>
                        <a:spcBef>
                          <a:spcPts val="265"/>
                        </a:spcBef>
                      </a:pPr>
                      <a:r>
                        <a:rPr sz="800" spc="-5" dirty="0">
                          <a:latin typeface="Arial"/>
                          <a:cs typeface="Arial"/>
                        </a:rPr>
                        <a:t>D6</a:t>
                      </a:r>
                      <a:endParaRPr sz="8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99695">
                        <a:lnSpc>
                          <a:spcPct val="100000"/>
                        </a:lnSpc>
                        <a:spcBef>
                          <a:spcPts val="265"/>
                        </a:spcBef>
                      </a:pPr>
                      <a:r>
                        <a:rPr sz="800" spc="-5" dirty="0">
                          <a:latin typeface="Arial"/>
                          <a:cs typeface="Arial"/>
                        </a:rPr>
                        <a:t>D5</a:t>
                      </a:r>
                      <a:endParaRPr sz="8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99695">
                        <a:lnSpc>
                          <a:spcPct val="100000"/>
                        </a:lnSpc>
                        <a:spcBef>
                          <a:spcPts val="265"/>
                        </a:spcBef>
                      </a:pPr>
                      <a:r>
                        <a:rPr sz="800" spc="-5" dirty="0">
                          <a:latin typeface="Arial"/>
                          <a:cs typeface="Arial"/>
                        </a:rPr>
                        <a:t>D4</a:t>
                      </a:r>
                      <a:endParaRPr sz="8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99695">
                        <a:lnSpc>
                          <a:spcPct val="100000"/>
                        </a:lnSpc>
                        <a:spcBef>
                          <a:spcPts val="265"/>
                        </a:spcBef>
                      </a:pPr>
                      <a:r>
                        <a:rPr sz="800" spc="-5" dirty="0">
                          <a:latin typeface="Arial"/>
                          <a:cs typeface="Arial"/>
                        </a:rPr>
                        <a:t>D3</a:t>
                      </a:r>
                      <a:endParaRPr sz="8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99695">
                        <a:lnSpc>
                          <a:spcPct val="100000"/>
                        </a:lnSpc>
                        <a:spcBef>
                          <a:spcPts val="265"/>
                        </a:spcBef>
                      </a:pPr>
                      <a:r>
                        <a:rPr sz="800" spc="-5" dirty="0">
                          <a:latin typeface="Arial"/>
                          <a:cs typeface="Arial"/>
                        </a:rPr>
                        <a:t>D2</a:t>
                      </a:r>
                      <a:endParaRPr sz="8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100330">
                        <a:lnSpc>
                          <a:spcPct val="100000"/>
                        </a:lnSpc>
                        <a:spcBef>
                          <a:spcPts val="265"/>
                        </a:spcBef>
                      </a:pPr>
                      <a:r>
                        <a:rPr sz="800" spc="-5" dirty="0">
                          <a:latin typeface="Arial"/>
                          <a:cs typeface="Arial"/>
                        </a:rPr>
                        <a:t>D1</a:t>
                      </a:r>
                      <a:endParaRPr sz="8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100330">
                        <a:lnSpc>
                          <a:spcPct val="100000"/>
                        </a:lnSpc>
                        <a:spcBef>
                          <a:spcPts val="265"/>
                        </a:spcBef>
                      </a:pPr>
                      <a:r>
                        <a:rPr sz="800" spc="-5" dirty="0">
                          <a:latin typeface="Arial"/>
                          <a:cs typeface="Arial"/>
                        </a:rPr>
                        <a:t>D0</a:t>
                      </a:r>
                      <a:endParaRPr sz="8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extLst>
                  <a:ext uri="{0D108BD9-81ED-4DB2-BD59-A6C34878D82A}">
                    <a16:rowId xmlns:a16="http://schemas.microsoft.com/office/drawing/2014/main" val="10000"/>
                  </a:ext>
                </a:extLst>
              </a:tr>
              <a:tr h="193675">
                <a:tc>
                  <a:txBody>
                    <a:bodyPr/>
                    <a:lstStyle/>
                    <a:p>
                      <a:pPr marR="106045" algn="r">
                        <a:lnSpc>
                          <a:spcPct val="100000"/>
                        </a:lnSpc>
                        <a:spcBef>
                          <a:spcPts val="265"/>
                        </a:spcBef>
                      </a:pPr>
                      <a:r>
                        <a:rPr sz="800" spc="-5" dirty="0">
                          <a:latin typeface="Arial"/>
                          <a:cs typeface="Arial"/>
                        </a:rPr>
                        <a:t>‘h30</a:t>
                      </a:r>
                      <a:endParaRPr sz="8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algn="ctr">
                        <a:lnSpc>
                          <a:spcPct val="100000"/>
                        </a:lnSpc>
                        <a:spcBef>
                          <a:spcPts val="265"/>
                        </a:spcBef>
                      </a:pPr>
                      <a:r>
                        <a:rPr sz="800" dirty="0">
                          <a:latin typeface="Arial"/>
                          <a:cs typeface="Arial"/>
                        </a:rPr>
                        <a:t>0</a:t>
                      </a: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gridSpan="12">
                  <a:txBody>
                    <a:bodyPr/>
                    <a:lstStyle/>
                    <a:p>
                      <a:pPr marL="1270" algn="ctr">
                        <a:lnSpc>
                          <a:spcPct val="100000"/>
                        </a:lnSpc>
                        <a:spcBef>
                          <a:spcPts val="305"/>
                        </a:spcBef>
                      </a:pPr>
                      <a:r>
                        <a:rPr sz="700" spc="-5" dirty="0">
                          <a:latin typeface="Arial"/>
                          <a:cs typeface="Arial"/>
                        </a:rPr>
                        <a:t>OTP_PG_ACCESS_CYCLE</a:t>
                      </a:r>
                      <a:r>
                        <a:rPr sz="700" spc="-45" dirty="0">
                          <a:latin typeface="Arial"/>
                          <a:cs typeface="Arial"/>
                        </a:rPr>
                        <a:t> </a:t>
                      </a:r>
                      <a:r>
                        <a:rPr sz="700" spc="-5" dirty="0">
                          <a:latin typeface="Arial"/>
                          <a:cs typeface="Arial"/>
                        </a:rPr>
                        <a:t>[11:0]</a:t>
                      </a:r>
                      <a:endParaRPr sz="700" dirty="0">
                        <a:latin typeface="Arial"/>
                        <a:cs typeface="Arial"/>
                      </a:endParaRPr>
                    </a:p>
                  </a:txBody>
                  <a:tcPr marL="0" marR="0" marT="3873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gridSpan="4">
                  <a:txBody>
                    <a:bodyPr/>
                    <a:lstStyle/>
                    <a:p>
                      <a:pPr marL="123189">
                        <a:lnSpc>
                          <a:spcPct val="100000"/>
                        </a:lnSpc>
                        <a:spcBef>
                          <a:spcPts val="305"/>
                        </a:spcBef>
                      </a:pPr>
                      <a:r>
                        <a:rPr sz="700" spc="-5" dirty="0">
                          <a:latin typeface="Arial"/>
                          <a:cs typeface="Arial"/>
                        </a:rPr>
                        <a:t>OTP_RD_RE_CYCLE</a:t>
                      </a:r>
                      <a:r>
                        <a:rPr sz="700" spc="-40" dirty="0">
                          <a:latin typeface="Arial"/>
                          <a:cs typeface="Arial"/>
                        </a:rPr>
                        <a:t> </a:t>
                      </a:r>
                      <a:r>
                        <a:rPr sz="700" spc="-5" dirty="0">
                          <a:latin typeface="Arial"/>
                          <a:cs typeface="Arial"/>
                        </a:rPr>
                        <a:t>[3:0]</a:t>
                      </a:r>
                      <a:endParaRPr sz="700" dirty="0">
                        <a:latin typeface="Arial"/>
                        <a:cs typeface="Arial"/>
                      </a:endParaRPr>
                    </a:p>
                  </a:txBody>
                  <a:tcPr marL="0" marR="0" marT="3873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1"/>
                  </a:ext>
                </a:extLst>
              </a:tr>
            </a:tbl>
          </a:graphicData>
        </a:graphic>
      </p:graphicFrame>
      <p:sp>
        <p:nvSpPr>
          <p:cNvPr id="8" name="object 8"/>
          <p:cNvSpPr txBox="1"/>
          <p:nvPr/>
        </p:nvSpPr>
        <p:spPr>
          <a:xfrm>
            <a:off x="400912" y="2436113"/>
            <a:ext cx="6038542" cy="182101"/>
          </a:xfrm>
          <a:prstGeom prst="rect">
            <a:avLst/>
          </a:prstGeom>
        </p:spPr>
        <p:txBody>
          <a:bodyPr vert="horz" wrap="square" lIns="0" tIns="12700" rIns="0" bIns="0" rtlCol="0">
            <a:spAutoFit/>
          </a:bodyPr>
          <a:lstStyle/>
          <a:p>
            <a:pPr marL="12700">
              <a:lnSpc>
                <a:spcPct val="100000"/>
              </a:lnSpc>
              <a:spcBef>
                <a:spcPts val="100"/>
              </a:spcBef>
            </a:pPr>
            <a:r>
              <a:rPr sz="1100" b="1" spc="-5" dirty="0">
                <a:latin typeface="Arial"/>
                <a:cs typeface="Arial"/>
              </a:rPr>
              <a:t>TRIM</a:t>
            </a:r>
            <a:r>
              <a:rPr sz="1100" b="1" spc="-65" dirty="0">
                <a:latin typeface="Arial"/>
                <a:cs typeface="Arial"/>
              </a:rPr>
              <a:t> </a:t>
            </a:r>
            <a:r>
              <a:rPr sz="1100" b="1" spc="-5" dirty="0">
                <a:latin typeface="Arial"/>
                <a:cs typeface="Arial"/>
              </a:rPr>
              <a:t>CONTROL</a:t>
            </a:r>
            <a:endParaRPr sz="1100" dirty="0">
              <a:latin typeface="Arial"/>
              <a:cs typeface="Arial"/>
            </a:endParaRPr>
          </a:p>
        </p:txBody>
      </p:sp>
      <p:graphicFrame>
        <p:nvGraphicFramePr>
          <p:cNvPr id="9" name="object 9"/>
          <p:cNvGraphicFramePr>
            <a:graphicFrameLocks noGrp="1"/>
          </p:cNvGraphicFramePr>
          <p:nvPr>
            <p:extLst>
              <p:ext uri="{D42A27DB-BD31-4B8C-83A1-F6EECF244321}">
                <p14:modId xmlns:p14="http://schemas.microsoft.com/office/powerpoint/2010/main" val="3581142439"/>
              </p:ext>
            </p:extLst>
          </p:nvPr>
        </p:nvGraphicFramePr>
        <p:xfrm>
          <a:off x="403148" y="3525456"/>
          <a:ext cx="6036304" cy="387350"/>
        </p:xfrm>
        <a:graphic>
          <a:graphicData uri="http://schemas.openxmlformats.org/drawingml/2006/table">
            <a:tbl>
              <a:tblPr firstRow="1" bandRow="1">
                <a:tableStyleId>{2D5ABB26-0587-4C30-8999-92F81FD0307C}</a:tableStyleId>
              </a:tblPr>
              <a:tblGrid>
                <a:gridCol w="411991">
                  <a:extLst>
                    <a:ext uri="{9D8B030D-6E8A-4147-A177-3AD203B41FA5}">
                      <a16:colId xmlns:a16="http://schemas.microsoft.com/office/drawing/2014/main" val="20000"/>
                    </a:ext>
                  </a:extLst>
                </a:gridCol>
                <a:gridCol w="474131">
                  <a:extLst>
                    <a:ext uri="{9D8B030D-6E8A-4147-A177-3AD203B41FA5}">
                      <a16:colId xmlns:a16="http://schemas.microsoft.com/office/drawing/2014/main" val="20001"/>
                    </a:ext>
                  </a:extLst>
                </a:gridCol>
                <a:gridCol w="321886">
                  <a:extLst>
                    <a:ext uri="{9D8B030D-6E8A-4147-A177-3AD203B41FA5}">
                      <a16:colId xmlns:a16="http://schemas.microsoft.com/office/drawing/2014/main" val="20002"/>
                    </a:ext>
                  </a:extLst>
                </a:gridCol>
                <a:gridCol w="321887">
                  <a:extLst>
                    <a:ext uri="{9D8B030D-6E8A-4147-A177-3AD203B41FA5}">
                      <a16:colId xmlns:a16="http://schemas.microsoft.com/office/drawing/2014/main" val="20003"/>
                    </a:ext>
                  </a:extLst>
                </a:gridCol>
                <a:gridCol w="321887">
                  <a:extLst>
                    <a:ext uri="{9D8B030D-6E8A-4147-A177-3AD203B41FA5}">
                      <a16:colId xmlns:a16="http://schemas.microsoft.com/office/drawing/2014/main" val="20004"/>
                    </a:ext>
                  </a:extLst>
                </a:gridCol>
                <a:gridCol w="321887">
                  <a:extLst>
                    <a:ext uri="{9D8B030D-6E8A-4147-A177-3AD203B41FA5}">
                      <a16:colId xmlns:a16="http://schemas.microsoft.com/office/drawing/2014/main" val="20005"/>
                    </a:ext>
                  </a:extLst>
                </a:gridCol>
                <a:gridCol w="321887">
                  <a:extLst>
                    <a:ext uri="{9D8B030D-6E8A-4147-A177-3AD203B41FA5}">
                      <a16:colId xmlns:a16="http://schemas.microsoft.com/office/drawing/2014/main" val="20006"/>
                    </a:ext>
                  </a:extLst>
                </a:gridCol>
                <a:gridCol w="321887">
                  <a:extLst>
                    <a:ext uri="{9D8B030D-6E8A-4147-A177-3AD203B41FA5}">
                      <a16:colId xmlns:a16="http://schemas.microsoft.com/office/drawing/2014/main" val="20007"/>
                    </a:ext>
                  </a:extLst>
                </a:gridCol>
                <a:gridCol w="321887">
                  <a:extLst>
                    <a:ext uri="{9D8B030D-6E8A-4147-A177-3AD203B41FA5}">
                      <a16:colId xmlns:a16="http://schemas.microsoft.com/office/drawing/2014/main" val="20008"/>
                    </a:ext>
                  </a:extLst>
                </a:gridCol>
                <a:gridCol w="321886">
                  <a:extLst>
                    <a:ext uri="{9D8B030D-6E8A-4147-A177-3AD203B41FA5}">
                      <a16:colId xmlns:a16="http://schemas.microsoft.com/office/drawing/2014/main" val="20009"/>
                    </a:ext>
                  </a:extLst>
                </a:gridCol>
                <a:gridCol w="321886">
                  <a:extLst>
                    <a:ext uri="{9D8B030D-6E8A-4147-A177-3AD203B41FA5}">
                      <a16:colId xmlns:a16="http://schemas.microsoft.com/office/drawing/2014/main" val="20010"/>
                    </a:ext>
                  </a:extLst>
                </a:gridCol>
                <a:gridCol w="321886">
                  <a:extLst>
                    <a:ext uri="{9D8B030D-6E8A-4147-A177-3AD203B41FA5}">
                      <a16:colId xmlns:a16="http://schemas.microsoft.com/office/drawing/2014/main" val="20011"/>
                    </a:ext>
                  </a:extLst>
                </a:gridCol>
                <a:gridCol w="321886">
                  <a:extLst>
                    <a:ext uri="{9D8B030D-6E8A-4147-A177-3AD203B41FA5}">
                      <a16:colId xmlns:a16="http://schemas.microsoft.com/office/drawing/2014/main" val="20012"/>
                    </a:ext>
                  </a:extLst>
                </a:gridCol>
                <a:gridCol w="321886">
                  <a:extLst>
                    <a:ext uri="{9D8B030D-6E8A-4147-A177-3AD203B41FA5}">
                      <a16:colId xmlns:a16="http://schemas.microsoft.com/office/drawing/2014/main" val="20013"/>
                    </a:ext>
                  </a:extLst>
                </a:gridCol>
                <a:gridCol w="321886">
                  <a:extLst>
                    <a:ext uri="{9D8B030D-6E8A-4147-A177-3AD203B41FA5}">
                      <a16:colId xmlns:a16="http://schemas.microsoft.com/office/drawing/2014/main" val="20014"/>
                    </a:ext>
                  </a:extLst>
                </a:gridCol>
                <a:gridCol w="321886">
                  <a:extLst>
                    <a:ext uri="{9D8B030D-6E8A-4147-A177-3AD203B41FA5}">
                      <a16:colId xmlns:a16="http://schemas.microsoft.com/office/drawing/2014/main" val="20015"/>
                    </a:ext>
                  </a:extLst>
                </a:gridCol>
                <a:gridCol w="321886">
                  <a:extLst>
                    <a:ext uri="{9D8B030D-6E8A-4147-A177-3AD203B41FA5}">
                      <a16:colId xmlns:a16="http://schemas.microsoft.com/office/drawing/2014/main" val="20016"/>
                    </a:ext>
                  </a:extLst>
                </a:gridCol>
                <a:gridCol w="321886">
                  <a:extLst>
                    <a:ext uri="{9D8B030D-6E8A-4147-A177-3AD203B41FA5}">
                      <a16:colId xmlns:a16="http://schemas.microsoft.com/office/drawing/2014/main" val="20017"/>
                    </a:ext>
                  </a:extLst>
                </a:gridCol>
              </a:tblGrid>
              <a:tr h="193675">
                <a:tc>
                  <a:txBody>
                    <a:bodyPr/>
                    <a:lstStyle/>
                    <a:p>
                      <a:pPr marR="69215" algn="r">
                        <a:lnSpc>
                          <a:spcPct val="100000"/>
                        </a:lnSpc>
                        <a:spcBef>
                          <a:spcPts val="270"/>
                        </a:spcBef>
                      </a:pPr>
                      <a:r>
                        <a:rPr sz="800" dirty="0">
                          <a:latin typeface="Arial"/>
                          <a:cs typeface="Arial"/>
                        </a:rPr>
                        <a:t>A[6:0]</a:t>
                      </a: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algn="ctr">
                        <a:lnSpc>
                          <a:spcPct val="100000"/>
                        </a:lnSpc>
                        <a:spcBef>
                          <a:spcPts val="270"/>
                        </a:spcBef>
                      </a:pPr>
                      <a:r>
                        <a:rPr sz="800" spc="-5" dirty="0">
                          <a:latin typeface="Arial"/>
                          <a:cs typeface="Arial"/>
                        </a:rPr>
                        <a:t>Default</a:t>
                      </a:r>
                      <a:endParaRPr sz="8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1270" algn="ctr">
                        <a:lnSpc>
                          <a:spcPct val="100000"/>
                        </a:lnSpc>
                        <a:spcBef>
                          <a:spcPts val="270"/>
                        </a:spcBef>
                      </a:pPr>
                      <a:r>
                        <a:rPr sz="800" spc="-5" dirty="0">
                          <a:latin typeface="Arial"/>
                          <a:cs typeface="Arial"/>
                        </a:rPr>
                        <a:t>D15</a:t>
                      </a:r>
                      <a:endParaRPr sz="8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1270" algn="ctr">
                        <a:lnSpc>
                          <a:spcPct val="100000"/>
                        </a:lnSpc>
                        <a:spcBef>
                          <a:spcPts val="270"/>
                        </a:spcBef>
                      </a:pPr>
                      <a:r>
                        <a:rPr sz="800" spc="-5" dirty="0">
                          <a:latin typeface="Arial"/>
                          <a:cs typeface="Arial"/>
                        </a:rPr>
                        <a:t>D14</a:t>
                      </a:r>
                      <a:endParaRPr sz="8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1905" algn="ctr">
                        <a:lnSpc>
                          <a:spcPct val="100000"/>
                        </a:lnSpc>
                        <a:spcBef>
                          <a:spcPts val="270"/>
                        </a:spcBef>
                      </a:pPr>
                      <a:r>
                        <a:rPr sz="800" spc="-5" dirty="0">
                          <a:latin typeface="Arial"/>
                          <a:cs typeface="Arial"/>
                        </a:rPr>
                        <a:t>D13</a:t>
                      </a:r>
                      <a:endParaRPr sz="8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1270" algn="ctr">
                        <a:lnSpc>
                          <a:spcPct val="100000"/>
                        </a:lnSpc>
                        <a:spcBef>
                          <a:spcPts val="270"/>
                        </a:spcBef>
                      </a:pPr>
                      <a:r>
                        <a:rPr sz="800" spc="-5" dirty="0">
                          <a:latin typeface="Arial"/>
                          <a:cs typeface="Arial"/>
                        </a:rPr>
                        <a:t>D12</a:t>
                      </a:r>
                      <a:endParaRPr sz="8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1905" algn="ctr">
                        <a:lnSpc>
                          <a:spcPct val="100000"/>
                        </a:lnSpc>
                        <a:spcBef>
                          <a:spcPts val="270"/>
                        </a:spcBef>
                      </a:pPr>
                      <a:r>
                        <a:rPr sz="800" spc="-5" dirty="0">
                          <a:latin typeface="Arial"/>
                          <a:cs typeface="Arial"/>
                        </a:rPr>
                        <a:t>D11</a:t>
                      </a:r>
                      <a:endParaRPr sz="8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2540" algn="ctr">
                        <a:lnSpc>
                          <a:spcPct val="100000"/>
                        </a:lnSpc>
                        <a:spcBef>
                          <a:spcPts val="270"/>
                        </a:spcBef>
                      </a:pPr>
                      <a:r>
                        <a:rPr sz="800" dirty="0">
                          <a:latin typeface="Arial"/>
                          <a:cs typeface="Arial"/>
                        </a:rPr>
                        <a:t>D10</a:t>
                      </a: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algn="ctr">
                        <a:lnSpc>
                          <a:spcPct val="100000"/>
                        </a:lnSpc>
                        <a:spcBef>
                          <a:spcPts val="270"/>
                        </a:spcBef>
                      </a:pPr>
                      <a:r>
                        <a:rPr sz="800" spc="-5" dirty="0">
                          <a:latin typeface="Arial"/>
                          <a:cs typeface="Arial"/>
                        </a:rPr>
                        <a:t>D9</a:t>
                      </a:r>
                      <a:endParaRPr sz="8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635" algn="ctr">
                        <a:lnSpc>
                          <a:spcPct val="100000"/>
                        </a:lnSpc>
                        <a:spcBef>
                          <a:spcPts val="270"/>
                        </a:spcBef>
                      </a:pPr>
                      <a:r>
                        <a:rPr sz="800" spc="-5" dirty="0">
                          <a:latin typeface="Arial"/>
                          <a:cs typeface="Arial"/>
                        </a:rPr>
                        <a:t>D8</a:t>
                      </a:r>
                      <a:endParaRPr sz="8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R="91440" algn="r">
                        <a:lnSpc>
                          <a:spcPct val="100000"/>
                        </a:lnSpc>
                        <a:spcBef>
                          <a:spcPts val="270"/>
                        </a:spcBef>
                      </a:pPr>
                      <a:r>
                        <a:rPr sz="800" spc="-5" dirty="0">
                          <a:latin typeface="Arial"/>
                          <a:cs typeface="Arial"/>
                        </a:rPr>
                        <a:t>D7</a:t>
                      </a:r>
                      <a:endParaRPr sz="8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635" algn="ctr">
                        <a:lnSpc>
                          <a:spcPct val="100000"/>
                        </a:lnSpc>
                        <a:spcBef>
                          <a:spcPts val="270"/>
                        </a:spcBef>
                      </a:pPr>
                      <a:r>
                        <a:rPr sz="800" spc="-5" dirty="0">
                          <a:latin typeface="Arial"/>
                          <a:cs typeface="Arial"/>
                        </a:rPr>
                        <a:t>D6</a:t>
                      </a:r>
                      <a:endParaRPr sz="8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R="90805" algn="r">
                        <a:lnSpc>
                          <a:spcPct val="100000"/>
                        </a:lnSpc>
                        <a:spcBef>
                          <a:spcPts val="270"/>
                        </a:spcBef>
                      </a:pPr>
                      <a:r>
                        <a:rPr sz="800" spc="-5" dirty="0">
                          <a:latin typeface="Arial"/>
                          <a:cs typeface="Arial"/>
                        </a:rPr>
                        <a:t>D5</a:t>
                      </a:r>
                      <a:endParaRPr sz="8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1270" algn="ctr">
                        <a:lnSpc>
                          <a:spcPct val="100000"/>
                        </a:lnSpc>
                        <a:spcBef>
                          <a:spcPts val="270"/>
                        </a:spcBef>
                      </a:pPr>
                      <a:r>
                        <a:rPr sz="800" spc="-5" dirty="0">
                          <a:latin typeface="Arial"/>
                          <a:cs typeface="Arial"/>
                        </a:rPr>
                        <a:t>D4</a:t>
                      </a:r>
                      <a:endParaRPr sz="8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99695">
                        <a:lnSpc>
                          <a:spcPct val="100000"/>
                        </a:lnSpc>
                        <a:spcBef>
                          <a:spcPts val="270"/>
                        </a:spcBef>
                      </a:pPr>
                      <a:r>
                        <a:rPr sz="800" spc="-5" dirty="0">
                          <a:latin typeface="Arial"/>
                          <a:cs typeface="Arial"/>
                        </a:rPr>
                        <a:t>D3</a:t>
                      </a:r>
                      <a:endParaRPr sz="8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99695">
                        <a:lnSpc>
                          <a:spcPct val="100000"/>
                        </a:lnSpc>
                        <a:spcBef>
                          <a:spcPts val="270"/>
                        </a:spcBef>
                      </a:pPr>
                      <a:r>
                        <a:rPr sz="800" spc="-5" dirty="0">
                          <a:latin typeface="Arial"/>
                          <a:cs typeface="Arial"/>
                        </a:rPr>
                        <a:t>D2</a:t>
                      </a:r>
                      <a:endParaRPr sz="8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100330">
                        <a:lnSpc>
                          <a:spcPct val="100000"/>
                        </a:lnSpc>
                        <a:spcBef>
                          <a:spcPts val="270"/>
                        </a:spcBef>
                      </a:pPr>
                      <a:r>
                        <a:rPr sz="800" spc="-5" dirty="0">
                          <a:latin typeface="Arial"/>
                          <a:cs typeface="Arial"/>
                        </a:rPr>
                        <a:t>D1</a:t>
                      </a:r>
                      <a:endParaRPr sz="8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100330">
                        <a:lnSpc>
                          <a:spcPct val="100000"/>
                        </a:lnSpc>
                        <a:spcBef>
                          <a:spcPts val="270"/>
                        </a:spcBef>
                      </a:pPr>
                      <a:r>
                        <a:rPr sz="800" spc="-5" dirty="0">
                          <a:latin typeface="Arial"/>
                          <a:cs typeface="Arial"/>
                        </a:rPr>
                        <a:t>D0</a:t>
                      </a:r>
                      <a:endParaRPr sz="8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extLst>
                  <a:ext uri="{0D108BD9-81ED-4DB2-BD59-A6C34878D82A}">
                    <a16:rowId xmlns:a16="http://schemas.microsoft.com/office/drawing/2014/main" val="10000"/>
                  </a:ext>
                </a:extLst>
              </a:tr>
              <a:tr h="193675">
                <a:tc>
                  <a:txBody>
                    <a:bodyPr/>
                    <a:lstStyle/>
                    <a:p>
                      <a:pPr marR="106045" algn="r">
                        <a:lnSpc>
                          <a:spcPct val="100000"/>
                        </a:lnSpc>
                        <a:spcBef>
                          <a:spcPts val="265"/>
                        </a:spcBef>
                      </a:pPr>
                      <a:r>
                        <a:rPr sz="800" spc="-5" dirty="0">
                          <a:latin typeface="Arial"/>
                          <a:cs typeface="Arial"/>
                        </a:rPr>
                        <a:t>‘h31</a:t>
                      </a:r>
                      <a:endParaRPr sz="8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algn="ctr">
                        <a:lnSpc>
                          <a:spcPct val="100000"/>
                        </a:lnSpc>
                        <a:spcBef>
                          <a:spcPts val="265"/>
                        </a:spcBef>
                      </a:pPr>
                      <a:r>
                        <a:rPr sz="800" dirty="0">
                          <a:latin typeface="Arial"/>
                          <a:cs typeface="Arial"/>
                        </a:rPr>
                        <a:t>0</a:t>
                      </a: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2540" algn="ctr">
                        <a:lnSpc>
                          <a:spcPct val="100000"/>
                        </a:lnSpc>
                        <a:spcBef>
                          <a:spcPts val="305"/>
                        </a:spcBef>
                      </a:pPr>
                      <a:r>
                        <a:rPr sz="700" dirty="0">
                          <a:latin typeface="Arial"/>
                          <a:cs typeface="Arial"/>
                        </a:rPr>
                        <a:t>x</a:t>
                      </a:r>
                    </a:p>
                  </a:txBody>
                  <a:tcPr marL="0" marR="0" marT="3873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2540" algn="ctr">
                        <a:lnSpc>
                          <a:spcPct val="100000"/>
                        </a:lnSpc>
                        <a:spcBef>
                          <a:spcPts val="330"/>
                        </a:spcBef>
                      </a:pPr>
                      <a:r>
                        <a:rPr sz="700" dirty="0">
                          <a:latin typeface="Arial"/>
                          <a:cs typeface="Arial"/>
                        </a:rPr>
                        <a:t>x</a:t>
                      </a:r>
                    </a:p>
                  </a:txBody>
                  <a:tcPr marL="0" marR="0" marT="4191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3175" algn="ctr">
                        <a:lnSpc>
                          <a:spcPct val="100000"/>
                        </a:lnSpc>
                        <a:spcBef>
                          <a:spcPts val="305"/>
                        </a:spcBef>
                      </a:pPr>
                      <a:r>
                        <a:rPr sz="700" dirty="0">
                          <a:latin typeface="Arial"/>
                          <a:cs typeface="Arial"/>
                        </a:rPr>
                        <a:t>x</a:t>
                      </a:r>
                    </a:p>
                  </a:txBody>
                  <a:tcPr marL="0" marR="0" marT="3873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2540" algn="ctr">
                        <a:lnSpc>
                          <a:spcPct val="100000"/>
                        </a:lnSpc>
                        <a:spcBef>
                          <a:spcPts val="330"/>
                        </a:spcBef>
                      </a:pPr>
                      <a:r>
                        <a:rPr sz="700" dirty="0">
                          <a:latin typeface="Arial"/>
                          <a:cs typeface="Arial"/>
                        </a:rPr>
                        <a:t>x</a:t>
                      </a:r>
                    </a:p>
                  </a:txBody>
                  <a:tcPr marL="0" marR="0" marT="4191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3175" algn="ctr">
                        <a:lnSpc>
                          <a:spcPct val="100000"/>
                        </a:lnSpc>
                        <a:spcBef>
                          <a:spcPts val="305"/>
                        </a:spcBef>
                      </a:pPr>
                      <a:r>
                        <a:rPr sz="700" dirty="0">
                          <a:latin typeface="Arial"/>
                          <a:cs typeface="Arial"/>
                        </a:rPr>
                        <a:t>x</a:t>
                      </a:r>
                    </a:p>
                  </a:txBody>
                  <a:tcPr marL="0" marR="0" marT="3873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3810" algn="ctr">
                        <a:lnSpc>
                          <a:spcPct val="100000"/>
                        </a:lnSpc>
                        <a:spcBef>
                          <a:spcPts val="330"/>
                        </a:spcBef>
                      </a:pPr>
                      <a:r>
                        <a:rPr sz="700" dirty="0">
                          <a:latin typeface="Arial"/>
                          <a:cs typeface="Arial"/>
                        </a:rPr>
                        <a:t>x</a:t>
                      </a:r>
                    </a:p>
                  </a:txBody>
                  <a:tcPr marL="0" marR="0" marT="4191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3175" algn="ctr">
                        <a:lnSpc>
                          <a:spcPct val="100000"/>
                        </a:lnSpc>
                        <a:spcBef>
                          <a:spcPts val="305"/>
                        </a:spcBef>
                      </a:pPr>
                      <a:r>
                        <a:rPr sz="700" dirty="0">
                          <a:latin typeface="Arial"/>
                          <a:cs typeface="Arial"/>
                        </a:rPr>
                        <a:t>x</a:t>
                      </a:r>
                    </a:p>
                  </a:txBody>
                  <a:tcPr marL="0" marR="0" marT="3873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3810" algn="ctr">
                        <a:lnSpc>
                          <a:spcPct val="100000"/>
                        </a:lnSpc>
                        <a:spcBef>
                          <a:spcPts val="330"/>
                        </a:spcBef>
                      </a:pPr>
                      <a:r>
                        <a:rPr sz="700" dirty="0">
                          <a:latin typeface="Arial"/>
                          <a:cs typeface="Arial"/>
                        </a:rPr>
                        <a:t>x</a:t>
                      </a:r>
                    </a:p>
                  </a:txBody>
                  <a:tcPr marL="0" marR="0" marT="4191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R="132080" algn="r">
                        <a:lnSpc>
                          <a:spcPct val="100000"/>
                        </a:lnSpc>
                        <a:spcBef>
                          <a:spcPts val="305"/>
                        </a:spcBef>
                      </a:pPr>
                      <a:r>
                        <a:rPr sz="700" dirty="0">
                          <a:latin typeface="Arial"/>
                          <a:cs typeface="Arial"/>
                        </a:rPr>
                        <a:t>x</a:t>
                      </a:r>
                    </a:p>
                  </a:txBody>
                  <a:tcPr marL="0" marR="0" marT="3873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4445" algn="ctr">
                        <a:lnSpc>
                          <a:spcPct val="100000"/>
                        </a:lnSpc>
                        <a:spcBef>
                          <a:spcPts val="330"/>
                        </a:spcBef>
                      </a:pPr>
                      <a:r>
                        <a:rPr sz="700" dirty="0">
                          <a:latin typeface="Arial"/>
                          <a:cs typeface="Arial"/>
                        </a:rPr>
                        <a:t>x</a:t>
                      </a:r>
                    </a:p>
                  </a:txBody>
                  <a:tcPr marL="0" marR="0" marT="4191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R="132080" algn="r">
                        <a:lnSpc>
                          <a:spcPct val="100000"/>
                        </a:lnSpc>
                        <a:spcBef>
                          <a:spcPts val="305"/>
                        </a:spcBef>
                      </a:pPr>
                      <a:r>
                        <a:rPr sz="700" dirty="0">
                          <a:latin typeface="Arial"/>
                          <a:cs typeface="Arial"/>
                        </a:rPr>
                        <a:t>x</a:t>
                      </a:r>
                    </a:p>
                  </a:txBody>
                  <a:tcPr marL="0" marR="0" marT="3873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4445" algn="ctr">
                        <a:lnSpc>
                          <a:spcPct val="100000"/>
                        </a:lnSpc>
                        <a:spcBef>
                          <a:spcPts val="305"/>
                        </a:spcBef>
                      </a:pPr>
                      <a:r>
                        <a:rPr sz="700" dirty="0">
                          <a:latin typeface="Arial"/>
                          <a:cs typeface="Arial"/>
                        </a:rPr>
                        <a:t>x</a:t>
                      </a:r>
                    </a:p>
                  </a:txBody>
                  <a:tcPr marL="0" marR="0" marT="3873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gridSpan="4">
                  <a:txBody>
                    <a:bodyPr/>
                    <a:lstStyle/>
                    <a:p>
                      <a:pPr marL="318135">
                        <a:lnSpc>
                          <a:spcPct val="100000"/>
                        </a:lnSpc>
                        <a:spcBef>
                          <a:spcPts val="305"/>
                        </a:spcBef>
                      </a:pPr>
                      <a:r>
                        <a:rPr sz="700" dirty="0">
                          <a:latin typeface="Arial"/>
                          <a:cs typeface="Arial"/>
                        </a:rPr>
                        <a:t>OTP</a:t>
                      </a:r>
                      <a:r>
                        <a:rPr sz="700" spc="-5" dirty="0">
                          <a:latin typeface="Arial"/>
                          <a:cs typeface="Arial"/>
                        </a:rPr>
                        <a:t>_</a:t>
                      </a:r>
                      <a:r>
                        <a:rPr sz="700" spc="35" dirty="0">
                          <a:latin typeface="Arial"/>
                          <a:cs typeface="Arial"/>
                        </a:rPr>
                        <a:t>W</a:t>
                      </a:r>
                      <a:r>
                        <a:rPr sz="700" dirty="0">
                          <a:latin typeface="Arial"/>
                          <a:cs typeface="Arial"/>
                        </a:rPr>
                        <a:t>S</a:t>
                      </a:r>
                      <a:r>
                        <a:rPr sz="700" spc="-10" dirty="0">
                          <a:latin typeface="Arial"/>
                          <a:cs typeface="Arial"/>
                        </a:rPr>
                        <a:t>E</a:t>
                      </a:r>
                      <a:r>
                        <a:rPr sz="700" dirty="0">
                          <a:latin typeface="Arial"/>
                          <a:cs typeface="Arial"/>
                        </a:rPr>
                        <a:t>L</a:t>
                      </a:r>
                      <a:r>
                        <a:rPr sz="700" spc="-30" dirty="0">
                          <a:latin typeface="Arial"/>
                          <a:cs typeface="Arial"/>
                        </a:rPr>
                        <a:t> </a:t>
                      </a:r>
                      <a:r>
                        <a:rPr sz="700" dirty="0">
                          <a:latin typeface="Arial"/>
                          <a:cs typeface="Arial"/>
                        </a:rPr>
                        <a:t>[</a:t>
                      </a:r>
                      <a:r>
                        <a:rPr sz="700" spc="-5" dirty="0">
                          <a:latin typeface="Arial"/>
                          <a:cs typeface="Arial"/>
                        </a:rPr>
                        <a:t>3</a:t>
                      </a:r>
                      <a:r>
                        <a:rPr sz="700" dirty="0">
                          <a:latin typeface="Arial"/>
                          <a:cs typeface="Arial"/>
                        </a:rPr>
                        <a:t>:</a:t>
                      </a:r>
                      <a:r>
                        <a:rPr sz="700" spc="-5" dirty="0">
                          <a:latin typeface="Arial"/>
                          <a:cs typeface="Arial"/>
                        </a:rPr>
                        <a:t>0</a:t>
                      </a:r>
                      <a:r>
                        <a:rPr sz="700" dirty="0">
                          <a:latin typeface="Arial"/>
                          <a:cs typeface="Arial"/>
                        </a:rPr>
                        <a:t>]</a:t>
                      </a:r>
                    </a:p>
                  </a:txBody>
                  <a:tcPr marL="0" marR="0" marT="3873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1"/>
                  </a:ext>
                </a:extLst>
              </a:tr>
            </a:tbl>
          </a:graphicData>
        </a:graphic>
      </p:graphicFrame>
      <p:sp>
        <p:nvSpPr>
          <p:cNvPr id="10" name="object 10"/>
          <p:cNvSpPr txBox="1"/>
          <p:nvPr/>
        </p:nvSpPr>
        <p:spPr>
          <a:xfrm>
            <a:off x="404416" y="3283711"/>
            <a:ext cx="6035038" cy="182101"/>
          </a:xfrm>
          <a:prstGeom prst="rect">
            <a:avLst/>
          </a:prstGeom>
        </p:spPr>
        <p:txBody>
          <a:bodyPr vert="horz" wrap="square" lIns="0" tIns="12700" rIns="0" bIns="0" rtlCol="0">
            <a:spAutoFit/>
          </a:bodyPr>
          <a:lstStyle/>
          <a:p>
            <a:pPr marL="12700">
              <a:lnSpc>
                <a:spcPct val="100000"/>
              </a:lnSpc>
              <a:spcBef>
                <a:spcPts val="100"/>
              </a:spcBef>
            </a:pPr>
            <a:r>
              <a:rPr sz="1100" b="1" spc="-5" dirty="0">
                <a:latin typeface="Arial"/>
                <a:cs typeface="Arial"/>
              </a:rPr>
              <a:t>OTP</a:t>
            </a:r>
            <a:r>
              <a:rPr sz="1100" b="1" spc="-25" dirty="0">
                <a:latin typeface="Arial"/>
                <a:cs typeface="Arial"/>
              </a:rPr>
              <a:t> </a:t>
            </a:r>
            <a:r>
              <a:rPr sz="1100" b="1" spc="-5" dirty="0">
                <a:latin typeface="Arial"/>
                <a:cs typeface="Arial"/>
              </a:rPr>
              <a:t>WRITE</a:t>
            </a:r>
            <a:r>
              <a:rPr sz="1100" b="1" spc="-35" dirty="0">
                <a:latin typeface="Arial"/>
                <a:cs typeface="Arial"/>
              </a:rPr>
              <a:t> </a:t>
            </a:r>
            <a:r>
              <a:rPr sz="1100" b="1" spc="-5" dirty="0">
                <a:latin typeface="Arial"/>
                <a:cs typeface="Arial"/>
              </a:rPr>
              <a:t>CONTROL</a:t>
            </a:r>
            <a:endParaRPr sz="1100" dirty="0">
              <a:latin typeface="Arial"/>
              <a:cs typeface="Arial"/>
            </a:endParaRPr>
          </a:p>
        </p:txBody>
      </p:sp>
      <p:graphicFrame>
        <p:nvGraphicFramePr>
          <p:cNvPr id="11" name="object 11"/>
          <p:cNvGraphicFramePr>
            <a:graphicFrameLocks noGrp="1"/>
          </p:cNvGraphicFramePr>
          <p:nvPr>
            <p:extLst>
              <p:ext uri="{D42A27DB-BD31-4B8C-83A1-F6EECF244321}">
                <p14:modId xmlns:p14="http://schemas.microsoft.com/office/powerpoint/2010/main" val="2113900051"/>
              </p:ext>
            </p:extLst>
          </p:nvPr>
        </p:nvGraphicFramePr>
        <p:xfrm>
          <a:off x="403148" y="4465891"/>
          <a:ext cx="6036307" cy="387350"/>
        </p:xfrm>
        <a:graphic>
          <a:graphicData uri="http://schemas.openxmlformats.org/drawingml/2006/table">
            <a:tbl>
              <a:tblPr firstRow="1" bandRow="1">
                <a:tableStyleId>{2D5ABB26-0587-4C30-8999-92F81FD0307C}</a:tableStyleId>
              </a:tblPr>
              <a:tblGrid>
                <a:gridCol w="411920">
                  <a:extLst>
                    <a:ext uri="{9D8B030D-6E8A-4147-A177-3AD203B41FA5}">
                      <a16:colId xmlns:a16="http://schemas.microsoft.com/office/drawing/2014/main" val="20000"/>
                    </a:ext>
                  </a:extLst>
                </a:gridCol>
                <a:gridCol w="477877">
                  <a:extLst>
                    <a:ext uri="{9D8B030D-6E8A-4147-A177-3AD203B41FA5}">
                      <a16:colId xmlns:a16="http://schemas.microsoft.com/office/drawing/2014/main" val="20001"/>
                    </a:ext>
                  </a:extLst>
                </a:gridCol>
                <a:gridCol w="255738">
                  <a:extLst>
                    <a:ext uri="{9D8B030D-6E8A-4147-A177-3AD203B41FA5}">
                      <a16:colId xmlns:a16="http://schemas.microsoft.com/office/drawing/2014/main" val="20002"/>
                    </a:ext>
                  </a:extLst>
                </a:gridCol>
                <a:gridCol w="255738">
                  <a:extLst>
                    <a:ext uri="{9D8B030D-6E8A-4147-A177-3AD203B41FA5}">
                      <a16:colId xmlns:a16="http://schemas.microsoft.com/office/drawing/2014/main" val="20003"/>
                    </a:ext>
                  </a:extLst>
                </a:gridCol>
                <a:gridCol w="255739">
                  <a:extLst>
                    <a:ext uri="{9D8B030D-6E8A-4147-A177-3AD203B41FA5}">
                      <a16:colId xmlns:a16="http://schemas.microsoft.com/office/drawing/2014/main" val="20004"/>
                    </a:ext>
                  </a:extLst>
                </a:gridCol>
                <a:gridCol w="255739">
                  <a:extLst>
                    <a:ext uri="{9D8B030D-6E8A-4147-A177-3AD203B41FA5}">
                      <a16:colId xmlns:a16="http://schemas.microsoft.com/office/drawing/2014/main" val="20005"/>
                    </a:ext>
                  </a:extLst>
                </a:gridCol>
                <a:gridCol w="255739">
                  <a:extLst>
                    <a:ext uri="{9D8B030D-6E8A-4147-A177-3AD203B41FA5}">
                      <a16:colId xmlns:a16="http://schemas.microsoft.com/office/drawing/2014/main" val="20006"/>
                    </a:ext>
                  </a:extLst>
                </a:gridCol>
                <a:gridCol w="255739">
                  <a:extLst>
                    <a:ext uri="{9D8B030D-6E8A-4147-A177-3AD203B41FA5}">
                      <a16:colId xmlns:a16="http://schemas.microsoft.com/office/drawing/2014/main" val="20007"/>
                    </a:ext>
                  </a:extLst>
                </a:gridCol>
                <a:gridCol w="255739">
                  <a:extLst>
                    <a:ext uri="{9D8B030D-6E8A-4147-A177-3AD203B41FA5}">
                      <a16:colId xmlns:a16="http://schemas.microsoft.com/office/drawing/2014/main" val="20008"/>
                    </a:ext>
                  </a:extLst>
                </a:gridCol>
                <a:gridCol w="255739">
                  <a:extLst>
                    <a:ext uri="{9D8B030D-6E8A-4147-A177-3AD203B41FA5}">
                      <a16:colId xmlns:a16="http://schemas.microsoft.com/office/drawing/2014/main" val="20009"/>
                    </a:ext>
                  </a:extLst>
                </a:gridCol>
                <a:gridCol w="255738">
                  <a:extLst>
                    <a:ext uri="{9D8B030D-6E8A-4147-A177-3AD203B41FA5}">
                      <a16:colId xmlns:a16="http://schemas.microsoft.com/office/drawing/2014/main" val="20010"/>
                    </a:ext>
                  </a:extLst>
                </a:gridCol>
                <a:gridCol w="255739">
                  <a:extLst>
                    <a:ext uri="{9D8B030D-6E8A-4147-A177-3AD203B41FA5}">
                      <a16:colId xmlns:a16="http://schemas.microsoft.com/office/drawing/2014/main" val="20011"/>
                    </a:ext>
                  </a:extLst>
                </a:gridCol>
                <a:gridCol w="255739">
                  <a:extLst>
                    <a:ext uri="{9D8B030D-6E8A-4147-A177-3AD203B41FA5}">
                      <a16:colId xmlns:a16="http://schemas.microsoft.com/office/drawing/2014/main" val="20012"/>
                    </a:ext>
                  </a:extLst>
                </a:gridCol>
                <a:gridCol w="255739">
                  <a:extLst>
                    <a:ext uri="{9D8B030D-6E8A-4147-A177-3AD203B41FA5}">
                      <a16:colId xmlns:a16="http://schemas.microsoft.com/office/drawing/2014/main" val="20013"/>
                    </a:ext>
                  </a:extLst>
                </a:gridCol>
                <a:gridCol w="255739">
                  <a:extLst>
                    <a:ext uri="{9D8B030D-6E8A-4147-A177-3AD203B41FA5}">
                      <a16:colId xmlns:a16="http://schemas.microsoft.com/office/drawing/2014/main" val="20014"/>
                    </a:ext>
                  </a:extLst>
                </a:gridCol>
                <a:gridCol w="255739">
                  <a:extLst>
                    <a:ext uri="{9D8B030D-6E8A-4147-A177-3AD203B41FA5}">
                      <a16:colId xmlns:a16="http://schemas.microsoft.com/office/drawing/2014/main" val="20015"/>
                    </a:ext>
                  </a:extLst>
                </a:gridCol>
                <a:gridCol w="782150">
                  <a:extLst>
                    <a:ext uri="{9D8B030D-6E8A-4147-A177-3AD203B41FA5}">
                      <a16:colId xmlns:a16="http://schemas.microsoft.com/office/drawing/2014/main" val="20016"/>
                    </a:ext>
                  </a:extLst>
                </a:gridCol>
                <a:gridCol w="784017">
                  <a:extLst>
                    <a:ext uri="{9D8B030D-6E8A-4147-A177-3AD203B41FA5}">
                      <a16:colId xmlns:a16="http://schemas.microsoft.com/office/drawing/2014/main" val="20017"/>
                    </a:ext>
                  </a:extLst>
                </a:gridCol>
              </a:tblGrid>
              <a:tr h="193675">
                <a:tc>
                  <a:txBody>
                    <a:bodyPr/>
                    <a:lstStyle/>
                    <a:p>
                      <a:pPr marR="68580" algn="r">
                        <a:lnSpc>
                          <a:spcPct val="100000"/>
                        </a:lnSpc>
                        <a:spcBef>
                          <a:spcPts val="265"/>
                        </a:spcBef>
                      </a:pPr>
                      <a:r>
                        <a:rPr sz="800" dirty="0">
                          <a:latin typeface="Arial"/>
                          <a:cs typeface="Arial"/>
                        </a:rPr>
                        <a:t>A[6:0]</a:t>
                      </a: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algn="ctr">
                        <a:lnSpc>
                          <a:spcPct val="100000"/>
                        </a:lnSpc>
                        <a:spcBef>
                          <a:spcPts val="265"/>
                        </a:spcBef>
                      </a:pPr>
                      <a:r>
                        <a:rPr sz="800" spc="-5" dirty="0">
                          <a:latin typeface="Arial"/>
                          <a:cs typeface="Arial"/>
                        </a:rPr>
                        <a:t>Default</a:t>
                      </a:r>
                      <a:endParaRPr sz="8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algn="ctr">
                        <a:lnSpc>
                          <a:spcPct val="100000"/>
                        </a:lnSpc>
                        <a:spcBef>
                          <a:spcPts val="330"/>
                        </a:spcBef>
                      </a:pPr>
                      <a:r>
                        <a:rPr sz="700" spc="-5" dirty="0">
                          <a:latin typeface="Arial"/>
                          <a:cs typeface="Arial"/>
                        </a:rPr>
                        <a:t>D15</a:t>
                      </a:r>
                      <a:endParaRPr sz="700" dirty="0">
                        <a:latin typeface="Arial"/>
                        <a:cs typeface="Arial"/>
                      </a:endParaRPr>
                    </a:p>
                  </a:txBody>
                  <a:tcPr marL="0" marR="0" marT="4191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algn="ctr">
                        <a:lnSpc>
                          <a:spcPct val="100000"/>
                        </a:lnSpc>
                        <a:spcBef>
                          <a:spcPts val="330"/>
                        </a:spcBef>
                      </a:pPr>
                      <a:r>
                        <a:rPr sz="700" spc="-5" dirty="0">
                          <a:latin typeface="Arial"/>
                          <a:cs typeface="Arial"/>
                        </a:rPr>
                        <a:t>D14</a:t>
                      </a:r>
                      <a:endParaRPr sz="700" dirty="0">
                        <a:latin typeface="Arial"/>
                        <a:cs typeface="Arial"/>
                      </a:endParaRPr>
                    </a:p>
                  </a:txBody>
                  <a:tcPr marL="0" marR="0" marT="4191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algn="ctr">
                        <a:lnSpc>
                          <a:spcPct val="100000"/>
                        </a:lnSpc>
                        <a:spcBef>
                          <a:spcPts val="330"/>
                        </a:spcBef>
                      </a:pPr>
                      <a:r>
                        <a:rPr sz="700" spc="-5" dirty="0">
                          <a:latin typeface="Arial"/>
                          <a:cs typeface="Arial"/>
                        </a:rPr>
                        <a:t>D13</a:t>
                      </a:r>
                      <a:endParaRPr sz="700" dirty="0">
                        <a:latin typeface="Arial"/>
                        <a:cs typeface="Arial"/>
                      </a:endParaRPr>
                    </a:p>
                  </a:txBody>
                  <a:tcPr marL="0" marR="0" marT="4191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algn="ctr">
                        <a:lnSpc>
                          <a:spcPct val="100000"/>
                        </a:lnSpc>
                        <a:spcBef>
                          <a:spcPts val="330"/>
                        </a:spcBef>
                      </a:pPr>
                      <a:r>
                        <a:rPr sz="700" spc="-5" dirty="0">
                          <a:latin typeface="Arial"/>
                          <a:cs typeface="Arial"/>
                        </a:rPr>
                        <a:t>D12</a:t>
                      </a:r>
                      <a:endParaRPr sz="700" dirty="0">
                        <a:latin typeface="Arial"/>
                        <a:cs typeface="Arial"/>
                      </a:endParaRPr>
                    </a:p>
                  </a:txBody>
                  <a:tcPr marL="0" marR="0" marT="4191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algn="ctr">
                        <a:lnSpc>
                          <a:spcPct val="100000"/>
                        </a:lnSpc>
                        <a:spcBef>
                          <a:spcPts val="330"/>
                        </a:spcBef>
                      </a:pPr>
                      <a:r>
                        <a:rPr sz="700" spc="-5" dirty="0">
                          <a:latin typeface="Arial"/>
                          <a:cs typeface="Arial"/>
                        </a:rPr>
                        <a:t>D11</a:t>
                      </a:r>
                      <a:endParaRPr sz="700" dirty="0">
                        <a:latin typeface="Arial"/>
                        <a:cs typeface="Arial"/>
                      </a:endParaRPr>
                    </a:p>
                  </a:txBody>
                  <a:tcPr marL="0" marR="0" marT="4191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algn="ctr">
                        <a:lnSpc>
                          <a:spcPct val="100000"/>
                        </a:lnSpc>
                        <a:spcBef>
                          <a:spcPts val="330"/>
                        </a:spcBef>
                      </a:pPr>
                      <a:r>
                        <a:rPr sz="700" spc="-5" dirty="0">
                          <a:latin typeface="Arial"/>
                          <a:cs typeface="Arial"/>
                        </a:rPr>
                        <a:t>D10</a:t>
                      </a:r>
                      <a:endParaRPr sz="700" dirty="0">
                        <a:latin typeface="Arial"/>
                        <a:cs typeface="Arial"/>
                      </a:endParaRPr>
                    </a:p>
                  </a:txBody>
                  <a:tcPr marL="0" marR="0" marT="4191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73660">
                        <a:lnSpc>
                          <a:spcPct val="100000"/>
                        </a:lnSpc>
                        <a:spcBef>
                          <a:spcPts val="330"/>
                        </a:spcBef>
                      </a:pPr>
                      <a:r>
                        <a:rPr sz="700" spc="-5" dirty="0">
                          <a:latin typeface="Arial"/>
                          <a:cs typeface="Arial"/>
                        </a:rPr>
                        <a:t>D9</a:t>
                      </a:r>
                      <a:endParaRPr sz="700" dirty="0">
                        <a:latin typeface="Arial"/>
                        <a:cs typeface="Arial"/>
                      </a:endParaRPr>
                    </a:p>
                  </a:txBody>
                  <a:tcPr marL="0" marR="0" marT="4191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73660">
                        <a:lnSpc>
                          <a:spcPct val="100000"/>
                        </a:lnSpc>
                        <a:spcBef>
                          <a:spcPts val="330"/>
                        </a:spcBef>
                      </a:pPr>
                      <a:r>
                        <a:rPr sz="700" spc="-5" dirty="0">
                          <a:latin typeface="Arial"/>
                          <a:cs typeface="Arial"/>
                        </a:rPr>
                        <a:t>D8</a:t>
                      </a:r>
                      <a:endParaRPr sz="700" dirty="0">
                        <a:latin typeface="Arial"/>
                        <a:cs typeface="Arial"/>
                      </a:endParaRPr>
                    </a:p>
                  </a:txBody>
                  <a:tcPr marL="0" marR="0" marT="4191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635" algn="ctr">
                        <a:lnSpc>
                          <a:spcPct val="100000"/>
                        </a:lnSpc>
                        <a:spcBef>
                          <a:spcPts val="330"/>
                        </a:spcBef>
                      </a:pPr>
                      <a:r>
                        <a:rPr sz="700" spc="-5" dirty="0">
                          <a:latin typeface="Arial"/>
                          <a:cs typeface="Arial"/>
                        </a:rPr>
                        <a:t>D7</a:t>
                      </a:r>
                      <a:endParaRPr sz="700" dirty="0">
                        <a:latin typeface="Arial"/>
                        <a:cs typeface="Arial"/>
                      </a:endParaRPr>
                    </a:p>
                  </a:txBody>
                  <a:tcPr marL="0" marR="0" marT="4191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R="65405" algn="r">
                        <a:lnSpc>
                          <a:spcPct val="100000"/>
                        </a:lnSpc>
                        <a:spcBef>
                          <a:spcPts val="330"/>
                        </a:spcBef>
                      </a:pPr>
                      <a:r>
                        <a:rPr sz="700" spc="-5" dirty="0">
                          <a:latin typeface="Arial"/>
                          <a:cs typeface="Arial"/>
                        </a:rPr>
                        <a:t>D6</a:t>
                      </a:r>
                      <a:endParaRPr sz="700" dirty="0">
                        <a:latin typeface="Arial"/>
                        <a:cs typeface="Arial"/>
                      </a:endParaRPr>
                    </a:p>
                  </a:txBody>
                  <a:tcPr marL="0" marR="0" marT="4191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635" algn="ctr">
                        <a:lnSpc>
                          <a:spcPct val="100000"/>
                        </a:lnSpc>
                        <a:spcBef>
                          <a:spcPts val="330"/>
                        </a:spcBef>
                      </a:pPr>
                      <a:r>
                        <a:rPr sz="700" spc="-5" dirty="0">
                          <a:latin typeface="Arial"/>
                          <a:cs typeface="Arial"/>
                        </a:rPr>
                        <a:t>D5</a:t>
                      </a:r>
                      <a:endParaRPr sz="700" dirty="0">
                        <a:latin typeface="Arial"/>
                        <a:cs typeface="Arial"/>
                      </a:endParaRPr>
                    </a:p>
                  </a:txBody>
                  <a:tcPr marL="0" marR="0" marT="4191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635" algn="ctr">
                        <a:lnSpc>
                          <a:spcPct val="100000"/>
                        </a:lnSpc>
                        <a:spcBef>
                          <a:spcPts val="330"/>
                        </a:spcBef>
                      </a:pPr>
                      <a:r>
                        <a:rPr sz="700" spc="-5" dirty="0">
                          <a:latin typeface="Arial"/>
                          <a:cs typeface="Arial"/>
                        </a:rPr>
                        <a:t>D4</a:t>
                      </a:r>
                      <a:endParaRPr sz="700" dirty="0">
                        <a:latin typeface="Arial"/>
                        <a:cs typeface="Arial"/>
                      </a:endParaRPr>
                    </a:p>
                  </a:txBody>
                  <a:tcPr marL="0" marR="0" marT="4191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1270" algn="ctr">
                        <a:lnSpc>
                          <a:spcPct val="100000"/>
                        </a:lnSpc>
                        <a:spcBef>
                          <a:spcPts val="330"/>
                        </a:spcBef>
                      </a:pPr>
                      <a:r>
                        <a:rPr sz="700" spc="-5" dirty="0">
                          <a:latin typeface="Arial"/>
                          <a:cs typeface="Arial"/>
                        </a:rPr>
                        <a:t>D3</a:t>
                      </a:r>
                      <a:endParaRPr sz="700" dirty="0">
                        <a:latin typeface="Arial"/>
                        <a:cs typeface="Arial"/>
                      </a:endParaRPr>
                    </a:p>
                  </a:txBody>
                  <a:tcPr marL="0" marR="0" marT="4191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R="64769" algn="r">
                        <a:lnSpc>
                          <a:spcPct val="100000"/>
                        </a:lnSpc>
                        <a:spcBef>
                          <a:spcPts val="330"/>
                        </a:spcBef>
                      </a:pPr>
                      <a:r>
                        <a:rPr sz="700" spc="-5" dirty="0">
                          <a:latin typeface="Arial"/>
                          <a:cs typeface="Arial"/>
                        </a:rPr>
                        <a:t>D2</a:t>
                      </a:r>
                      <a:endParaRPr sz="700" dirty="0">
                        <a:latin typeface="Arial"/>
                        <a:cs typeface="Arial"/>
                      </a:endParaRPr>
                    </a:p>
                  </a:txBody>
                  <a:tcPr marL="0" marR="0" marT="4191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3175" algn="ctr">
                        <a:lnSpc>
                          <a:spcPct val="100000"/>
                        </a:lnSpc>
                        <a:spcBef>
                          <a:spcPts val="330"/>
                        </a:spcBef>
                      </a:pPr>
                      <a:r>
                        <a:rPr sz="700" spc="-5" dirty="0">
                          <a:latin typeface="Arial"/>
                          <a:cs typeface="Arial"/>
                        </a:rPr>
                        <a:t>D1</a:t>
                      </a:r>
                      <a:endParaRPr sz="700" dirty="0">
                        <a:latin typeface="Arial"/>
                        <a:cs typeface="Arial"/>
                      </a:endParaRPr>
                    </a:p>
                  </a:txBody>
                  <a:tcPr marL="0" marR="0" marT="4191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1905" algn="ctr">
                        <a:lnSpc>
                          <a:spcPct val="100000"/>
                        </a:lnSpc>
                        <a:spcBef>
                          <a:spcPts val="330"/>
                        </a:spcBef>
                      </a:pPr>
                      <a:r>
                        <a:rPr sz="700" spc="-5" dirty="0">
                          <a:latin typeface="Arial"/>
                          <a:cs typeface="Arial"/>
                        </a:rPr>
                        <a:t>D0</a:t>
                      </a:r>
                      <a:endParaRPr sz="700" dirty="0">
                        <a:latin typeface="Arial"/>
                        <a:cs typeface="Arial"/>
                      </a:endParaRPr>
                    </a:p>
                  </a:txBody>
                  <a:tcPr marL="0" marR="0" marT="4191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extLst>
                  <a:ext uri="{0D108BD9-81ED-4DB2-BD59-A6C34878D82A}">
                    <a16:rowId xmlns:a16="http://schemas.microsoft.com/office/drawing/2014/main" val="10000"/>
                  </a:ext>
                </a:extLst>
              </a:tr>
              <a:tr h="193675">
                <a:tc>
                  <a:txBody>
                    <a:bodyPr/>
                    <a:lstStyle/>
                    <a:p>
                      <a:pPr marR="105410" algn="r">
                        <a:lnSpc>
                          <a:spcPct val="100000"/>
                        </a:lnSpc>
                        <a:spcBef>
                          <a:spcPts val="265"/>
                        </a:spcBef>
                      </a:pPr>
                      <a:r>
                        <a:rPr sz="800" spc="-5" dirty="0">
                          <a:latin typeface="Arial"/>
                          <a:cs typeface="Arial"/>
                        </a:rPr>
                        <a:t>‘h32</a:t>
                      </a:r>
                      <a:endParaRPr sz="8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algn="ctr">
                        <a:lnSpc>
                          <a:spcPct val="100000"/>
                        </a:lnSpc>
                        <a:spcBef>
                          <a:spcPts val="265"/>
                        </a:spcBef>
                      </a:pPr>
                      <a:r>
                        <a:rPr sz="800" dirty="0">
                          <a:latin typeface="Arial"/>
                          <a:cs typeface="Arial"/>
                        </a:rPr>
                        <a:t>0</a:t>
                      </a: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635" algn="ctr">
                        <a:lnSpc>
                          <a:spcPct val="100000"/>
                        </a:lnSpc>
                        <a:spcBef>
                          <a:spcPts val="305"/>
                        </a:spcBef>
                      </a:pPr>
                      <a:r>
                        <a:rPr sz="700" dirty="0">
                          <a:latin typeface="Arial"/>
                          <a:cs typeface="Arial"/>
                        </a:rPr>
                        <a:t>x</a:t>
                      </a:r>
                    </a:p>
                  </a:txBody>
                  <a:tcPr marL="0" marR="0" marT="3873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635" algn="ctr">
                        <a:lnSpc>
                          <a:spcPct val="100000"/>
                        </a:lnSpc>
                        <a:spcBef>
                          <a:spcPts val="330"/>
                        </a:spcBef>
                      </a:pPr>
                      <a:r>
                        <a:rPr sz="700" dirty="0">
                          <a:latin typeface="Arial"/>
                          <a:cs typeface="Arial"/>
                        </a:rPr>
                        <a:t>x</a:t>
                      </a:r>
                    </a:p>
                  </a:txBody>
                  <a:tcPr marL="0" marR="0" marT="4191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635" algn="ctr">
                        <a:lnSpc>
                          <a:spcPct val="100000"/>
                        </a:lnSpc>
                        <a:spcBef>
                          <a:spcPts val="305"/>
                        </a:spcBef>
                      </a:pPr>
                      <a:r>
                        <a:rPr sz="700" dirty="0">
                          <a:latin typeface="Arial"/>
                          <a:cs typeface="Arial"/>
                        </a:rPr>
                        <a:t>x</a:t>
                      </a:r>
                    </a:p>
                  </a:txBody>
                  <a:tcPr marL="0" marR="0" marT="3873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635" algn="ctr">
                        <a:lnSpc>
                          <a:spcPct val="100000"/>
                        </a:lnSpc>
                        <a:spcBef>
                          <a:spcPts val="330"/>
                        </a:spcBef>
                      </a:pPr>
                      <a:r>
                        <a:rPr sz="700" dirty="0">
                          <a:latin typeface="Arial"/>
                          <a:cs typeface="Arial"/>
                        </a:rPr>
                        <a:t>x</a:t>
                      </a:r>
                    </a:p>
                  </a:txBody>
                  <a:tcPr marL="0" marR="0" marT="4191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1270" algn="ctr">
                        <a:lnSpc>
                          <a:spcPct val="100000"/>
                        </a:lnSpc>
                        <a:spcBef>
                          <a:spcPts val="305"/>
                        </a:spcBef>
                      </a:pPr>
                      <a:r>
                        <a:rPr sz="700" dirty="0">
                          <a:latin typeface="Arial"/>
                          <a:cs typeface="Arial"/>
                        </a:rPr>
                        <a:t>x</a:t>
                      </a:r>
                    </a:p>
                  </a:txBody>
                  <a:tcPr marL="0" marR="0" marT="3873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1270" algn="ctr">
                        <a:lnSpc>
                          <a:spcPct val="100000"/>
                        </a:lnSpc>
                        <a:spcBef>
                          <a:spcPts val="330"/>
                        </a:spcBef>
                      </a:pPr>
                      <a:r>
                        <a:rPr sz="700" dirty="0">
                          <a:latin typeface="Arial"/>
                          <a:cs typeface="Arial"/>
                        </a:rPr>
                        <a:t>x</a:t>
                      </a:r>
                    </a:p>
                  </a:txBody>
                  <a:tcPr marL="0" marR="0" marT="4191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108585">
                        <a:lnSpc>
                          <a:spcPct val="100000"/>
                        </a:lnSpc>
                        <a:spcBef>
                          <a:spcPts val="305"/>
                        </a:spcBef>
                      </a:pPr>
                      <a:r>
                        <a:rPr sz="700" dirty="0">
                          <a:latin typeface="Arial"/>
                          <a:cs typeface="Arial"/>
                        </a:rPr>
                        <a:t>x</a:t>
                      </a:r>
                    </a:p>
                  </a:txBody>
                  <a:tcPr marL="0" marR="0" marT="3873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108585">
                        <a:lnSpc>
                          <a:spcPct val="100000"/>
                        </a:lnSpc>
                        <a:spcBef>
                          <a:spcPts val="330"/>
                        </a:spcBef>
                      </a:pPr>
                      <a:r>
                        <a:rPr sz="700" dirty="0">
                          <a:latin typeface="Arial"/>
                          <a:cs typeface="Arial"/>
                        </a:rPr>
                        <a:t>x</a:t>
                      </a:r>
                    </a:p>
                  </a:txBody>
                  <a:tcPr marL="0" marR="0" marT="4191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1905" algn="ctr">
                        <a:lnSpc>
                          <a:spcPct val="100000"/>
                        </a:lnSpc>
                        <a:spcBef>
                          <a:spcPts val="305"/>
                        </a:spcBef>
                      </a:pPr>
                      <a:r>
                        <a:rPr sz="700" dirty="0">
                          <a:latin typeface="Arial"/>
                          <a:cs typeface="Arial"/>
                        </a:rPr>
                        <a:t>x</a:t>
                      </a:r>
                    </a:p>
                  </a:txBody>
                  <a:tcPr marL="0" marR="0" marT="3873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R="99060" algn="r">
                        <a:lnSpc>
                          <a:spcPct val="100000"/>
                        </a:lnSpc>
                        <a:spcBef>
                          <a:spcPts val="330"/>
                        </a:spcBef>
                      </a:pPr>
                      <a:r>
                        <a:rPr sz="700" dirty="0">
                          <a:latin typeface="Arial"/>
                          <a:cs typeface="Arial"/>
                        </a:rPr>
                        <a:t>x</a:t>
                      </a:r>
                    </a:p>
                  </a:txBody>
                  <a:tcPr marL="0" marR="0" marT="4191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1905" algn="ctr">
                        <a:lnSpc>
                          <a:spcPct val="100000"/>
                        </a:lnSpc>
                        <a:spcBef>
                          <a:spcPts val="305"/>
                        </a:spcBef>
                      </a:pPr>
                      <a:r>
                        <a:rPr sz="700" dirty="0">
                          <a:latin typeface="Arial"/>
                          <a:cs typeface="Arial"/>
                        </a:rPr>
                        <a:t>x</a:t>
                      </a:r>
                    </a:p>
                  </a:txBody>
                  <a:tcPr marL="0" marR="0" marT="3873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1905" algn="ctr">
                        <a:lnSpc>
                          <a:spcPct val="100000"/>
                        </a:lnSpc>
                        <a:spcBef>
                          <a:spcPts val="305"/>
                        </a:spcBef>
                      </a:pPr>
                      <a:r>
                        <a:rPr sz="700" dirty="0">
                          <a:latin typeface="Arial"/>
                          <a:cs typeface="Arial"/>
                        </a:rPr>
                        <a:t>x</a:t>
                      </a:r>
                    </a:p>
                  </a:txBody>
                  <a:tcPr marL="0" marR="0" marT="3873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2540" algn="ctr">
                        <a:lnSpc>
                          <a:spcPct val="100000"/>
                        </a:lnSpc>
                        <a:spcBef>
                          <a:spcPts val="305"/>
                        </a:spcBef>
                      </a:pPr>
                      <a:r>
                        <a:rPr sz="700" dirty="0">
                          <a:latin typeface="Arial"/>
                          <a:cs typeface="Arial"/>
                        </a:rPr>
                        <a:t>x</a:t>
                      </a:r>
                    </a:p>
                  </a:txBody>
                  <a:tcPr marL="0" marR="0" marT="3873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R="99060" algn="r">
                        <a:lnSpc>
                          <a:spcPct val="100000"/>
                        </a:lnSpc>
                        <a:spcBef>
                          <a:spcPts val="305"/>
                        </a:spcBef>
                      </a:pPr>
                      <a:r>
                        <a:rPr sz="700" dirty="0">
                          <a:latin typeface="Arial"/>
                          <a:cs typeface="Arial"/>
                        </a:rPr>
                        <a:t>x</a:t>
                      </a:r>
                    </a:p>
                  </a:txBody>
                  <a:tcPr marL="0" marR="0" marT="3873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1270" algn="ctr">
                        <a:lnSpc>
                          <a:spcPct val="100000"/>
                        </a:lnSpc>
                        <a:spcBef>
                          <a:spcPts val="305"/>
                        </a:spcBef>
                      </a:pPr>
                      <a:r>
                        <a:rPr sz="700" spc="-5" dirty="0">
                          <a:latin typeface="Arial"/>
                          <a:cs typeface="Arial"/>
                        </a:rPr>
                        <a:t>OTP_RD_START</a:t>
                      </a:r>
                      <a:endParaRPr sz="700" dirty="0">
                        <a:latin typeface="Arial"/>
                        <a:cs typeface="Arial"/>
                      </a:endParaRPr>
                    </a:p>
                  </a:txBody>
                  <a:tcPr marL="0" marR="0" marT="3873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algn="ctr">
                        <a:lnSpc>
                          <a:spcPct val="100000"/>
                        </a:lnSpc>
                        <a:spcBef>
                          <a:spcPts val="305"/>
                        </a:spcBef>
                      </a:pPr>
                      <a:r>
                        <a:rPr sz="700" spc="-5" dirty="0">
                          <a:latin typeface="Arial"/>
                          <a:cs typeface="Arial"/>
                        </a:rPr>
                        <a:t>OTP_PG_START</a:t>
                      </a:r>
                      <a:endParaRPr sz="700" dirty="0">
                        <a:latin typeface="Arial"/>
                        <a:cs typeface="Arial"/>
                      </a:endParaRPr>
                    </a:p>
                  </a:txBody>
                  <a:tcPr marL="0" marR="0" marT="3873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extLst>
                  <a:ext uri="{0D108BD9-81ED-4DB2-BD59-A6C34878D82A}">
                    <a16:rowId xmlns:a16="http://schemas.microsoft.com/office/drawing/2014/main" val="10001"/>
                  </a:ext>
                </a:extLst>
              </a:tr>
            </a:tbl>
          </a:graphicData>
        </a:graphic>
      </p:graphicFrame>
      <p:sp>
        <p:nvSpPr>
          <p:cNvPr id="12" name="object 12"/>
          <p:cNvSpPr txBox="1"/>
          <p:nvPr/>
        </p:nvSpPr>
        <p:spPr>
          <a:xfrm>
            <a:off x="410190" y="4224272"/>
            <a:ext cx="6029264" cy="182742"/>
          </a:xfrm>
          <a:prstGeom prst="rect">
            <a:avLst/>
          </a:prstGeom>
        </p:spPr>
        <p:txBody>
          <a:bodyPr vert="horz" wrap="square" lIns="0" tIns="13335" rIns="0" bIns="0" rtlCol="0">
            <a:spAutoFit/>
          </a:bodyPr>
          <a:lstStyle/>
          <a:p>
            <a:pPr marL="12700">
              <a:lnSpc>
                <a:spcPct val="100000"/>
              </a:lnSpc>
              <a:spcBef>
                <a:spcPts val="105"/>
              </a:spcBef>
            </a:pPr>
            <a:r>
              <a:rPr sz="1100" b="1" spc="-5" dirty="0">
                <a:latin typeface="Arial"/>
                <a:cs typeface="Arial"/>
              </a:rPr>
              <a:t>OTP</a:t>
            </a:r>
            <a:r>
              <a:rPr sz="1100" b="1" spc="-15" dirty="0">
                <a:latin typeface="Arial"/>
                <a:cs typeface="Arial"/>
              </a:rPr>
              <a:t> </a:t>
            </a:r>
            <a:r>
              <a:rPr sz="1100" b="1" spc="-10" dirty="0">
                <a:latin typeface="Arial"/>
                <a:cs typeface="Arial"/>
              </a:rPr>
              <a:t>READ/PROGRAM</a:t>
            </a:r>
            <a:r>
              <a:rPr sz="1100" b="1" spc="20" dirty="0">
                <a:latin typeface="Arial"/>
                <a:cs typeface="Arial"/>
              </a:rPr>
              <a:t> </a:t>
            </a:r>
            <a:r>
              <a:rPr sz="1100" b="1" spc="-5" dirty="0">
                <a:latin typeface="Arial"/>
                <a:cs typeface="Arial"/>
              </a:rPr>
              <a:t>CONTROL</a:t>
            </a:r>
            <a:endParaRPr sz="1100" dirty="0">
              <a:latin typeface="Arial"/>
              <a:cs typeface="Arial"/>
            </a:endParaRPr>
          </a:p>
        </p:txBody>
      </p:sp>
      <p:graphicFrame>
        <p:nvGraphicFramePr>
          <p:cNvPr id="13" name="object 13"/>
          <p:cNvGraphicFramePr>
            <a:graphicFrameLocks noGrp="1"/>
          </p:cNvGraphicFramePr>
          <p:nvPr>
            <p:extLst>
              <p:ext uri="{D42A27DB-BD31-4B8C-83A1-F6EECF244321}">
                <p14:modId xmlns:p14="http://schemas.microsoft.com/office/powerpoint/2010/main" val="1007524442"/>
              </p:ext>
            </p:extLst>
          </p:nvPr>
        </p:nvGraphicFramePr>
        <p:xfrm>
          <a:off x="403149" y="5431726"/>
          <a:ext cx="6036304" cy="387840"/>
        </p:xfrm>
        <a:graphic>
          <a:graphicData uri="http://schemas.openxmlformats.org/drawingml/2006/table">
            <a:tbl>
              <a:tblPr firstRow="1" bandRow="1">
                <a:tableStyleId>{2D5ABB26-0587-4C30-8999-92F81FD0307C}</a:tableStyleId>
              </a:tblPr>
              <a:tblGrid>
                <a:gridCol w="411991">
                  <a:extLst>
                    <a:ext uri="{9D8B030D-6E8A-4147-A177-3AD203B41FA5}">
                      <a16:colId xmlns:a16="http://schemas.microsoft.com/office/drawing/2014/main" val="20000"/>
                    </a:ext>
                  </a:extLst>
                </a:gridCol>
                <a:gridCol w="474131">
                  <a:extLst>
                    <a:ext uri="{9D8B030D-6E8A-4147-A177-3AD203B41FA5}">
                      <a16:colId xmlns:a16="http://schemas.microsoft.com/office/drawing/2014/main" val="20001"/>
                    </a:ext>
                  </a:extLst>
                </a:gridCol>
                <a:gridCol w="321886">
                  <a:extLst>
                    <a:ext uri="{9D8B030D-6E8A-4147-A177-3AD203B41FA5}">
                      <a16:colId xmlns:a16="http://schemas.microsoft.com/office/drawing/2014/main" val="20002"/>
                    </a:ext>
                  </a:extLst>
                </a:gridCol>
                <a:gridCol w="321887">
                  <a:extLst>
                    <a:ext uri="{9D8B030D-6E8A-4147-A177-3AD203B41FA5}">
                      <a16:colId xmlns:a16="http://schemas.microsoft.com/office/drawing/2014/main" val="20003"/>
                    </a:ext>
                  </a:extLst>
                </a:gridCol>
                <a:gridCol w="321887">
                  <a:extLst>
                    <a:ext uri="{9D8B030D-6E8A-4147-A177-3AD203B41FA5}">
                      <a16:colId xmlns:a16="http://schemas.microsoft.com/office/drawing/2014/main" val="20004"/>
                    </a:ext>
                  </a:extLst>
                </a:gridCol>
                <a:gridCol w="321887">
                  <a:extLst>
                    <a:ext uri="{9D8B030D-6E8A-4147-A177-3AD203B41FA5}">
                      <a16:colId xmlns:a16="http://schemas.microsoft.com/office/drawing/2014/main" val="20005"/>
                    </a:ext>
                  </a:extLst>
                </a:gridCol>
                <a:gridCol w="321887">
                  <a:extLst>
                    <a:ext uri="{9D8B030D-6E8A-4147-A177-3AD203B41FA5}">
                      <a16:colId xmlns:a16="http://schemas.microsoft.com/office/drawing/2014/main" val="20006"/>
                    </a:ext>
                  </a:extLst>
                </a:gridCol>
                <a:gridCol w="321887">
                  <a:extLst>
                    <a:ext uri="{9D8B030D-6E8A-4147-A177-3AD203B41FA5}">
                      <a16:colId xmlns:a16="http://schemas.microsoft.com/office/drawing/2014/main" val="20007"/>
                    </a:ext>
                  </a:extLst>
                </a:gridCol>
                <a:gridCol w="321887">
                  <a:extLst>
                    <a:ext uri="{9D8B030D-6E8A-4147-A177-3AD203B41FA5}">
                      <a16:colId xmlns:a16="http://schemas.microsoft.com/office/drawing/2014/main" val="20008"/>
                    </a:ext>
                  </a:extLst>
                </a:gridCol>
                <a:gridCol w="321886">
                  <a:extLst>
                    <a:ext uri="{9D8B030D-6E8A-4147-A177-3AD203B41FA5}">
                      <a16:colId xmlns:a16="http://schemas.microsoft.com/office/drawing/2014/main" val="20009"/>
                    </a:ext>
                  </a:extLst>
                </a:gridCol>
                <a:gridCol w="321886">
                  <a:extLst>
                    <a:ext uri="{9D8B030D-6E8A-4147-A177-3AD203B41FA5}">
                      <a16:colId xmlns:a16="http://schemas.microsoft.com/office/drawing/2014/main" val="20010"/>
                    </a:ext>
                  </a:extLst>
                </a:gridCol>
                <a:gridCol w="321886">
                  <a:extLst>
                    <a:ext uri="{9D8B030D-6E8A-4147-A177-3AD203B41FA5}">
                      <a16:colId xmlns:a16="http://schemas.microsoft.com/office/drawing/2014/main" val="20011"/>
                    </a:ext>
                  </a:extLst>
                </a:gridCol>
                <a:gridCol w="321886">
                  <a:extLst>
                    <a:ext uri="{9D8B030D-6E8A-4147-A177-3AD203B41FA5}">
                      <a16:colId xmlns:a16="http://schemas.microsoft.com/office/drawing/2014/main" val="20012"/>
                    </a:ext>
                  </a:extLst>
                </a:gridCol>
                <a:gridCol w="321886">
                  <a:extLst>
                    <a:ext uri="{9D8B030D-6E8A-4147-A177-3AD203B41FA5}">
                      <a16:colId xmlns:a16="http://schemas.microsoft.com/office/drawing/2014/main" val="20013"/>
                    </a:ext>
                  </a:extLst>
                </a:gridCol>
                <a:gridCol w="321886">
                  <a:extLst>
                    <a:ext uri="{9D8B030D-6E8A-4147-A177-3AD203B41FA5}">
                      <a16:colId xmlns:a16="http://schemas.microsoft.com/office/drawing/2014/main" val="20014"/>
                    </a:ext>
                  </a:extLst>
                </a:gridCol>
                <a:gridCol w="321886">
                  <a:extLst>
                    <a:ext uri="{9D8B030D-6E8A-4147-A177-3AD203B41FA5}">
                      <a16:colId xmlns:a16="http://schemas.microsoft.com/office/drawing/2014/main" val="20015"/>
                    </a:ext>
                  </a:extLst>
                </a:gridCol>
                <a:gridCol w="321886">
                  <a:extLst>
                    <a:ext uri="{9D8B030D-6E8A-4147-A177-3AD203B41FA5}">
                      <a16:colId xmlns:a16="http://schemas.microsoft.com/office/drawing/2014/main" val="20016"/>
                    </a:ext>
                  </a:extLst>
                </a:gridCol>
                <a:gridCol w="321886">
                  <a:extLst>
                    <a:ext uri="{9D8B030D-6E8A-4147-A177-3AD203B41FA5}">
                      <a16:colId xmlns:a16="http://schemas.microsoft.com/office/drawing/2014/main" val="20017"/>
                    </a:ext>
                  </a:extLst>
                </a:gridCol>
              </a:tblGrid>
              <a:tr h="193675">
                <a:tc>
                  <a:txBody>
                    <a:bodyPr/>
                    <a:lstStyle/>
                    <a:p>
                      <a:pPr marR="69215" algn="r">
                        <a:lnSpc>
                          <a:spcPct val="100000"/>
                        </a:lnSpc>
                        <a:spcBef>
                          <a:spcPts val="265"/>
                        </a:spcBef>
                      </a:pPr>
                      <a:r>
                        <a:rPr sz="800" dirty="0">
                          <a:latin typeface="Arial"/>
                          <a:cs typeface="Arial"/>
                        </a:rPr>
                        <a:t>A[6:0]</a:t>
                      </a:r>
                    </a:p>
                  </a:txBody>
                  <a:tcPr marL="0" marR="0" marT="72000" marB="0" anchor="ctr">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algn="ctr">
                        <a:lnSpc>
                          <a:spcPct val="100000"/>
                        </a:lnSpc>
                        <a:spcBef>
                          <a:spcPts val="265"/>
                        </a:spcBef>
                      </a:pPr>
                      <a:r>
                        <a:rPr sz="800" spc="-5" dirty="0">
                          <a:latin typeface="Arial"/>
                          <a:cs typeface="Arial"/>
                        </a:rPr>
                        <a:t>Default</a:t>
                      </a:r>
                      <a:endParaRPr sz="800" dirty="0">
                        <a:latin typeface="Arial"/>
                        <a:cs typeface="Arial"/>
                      </a:endParaRPr>
                    </a:p>
                  </a:txBody>
                  <a:tcPr marL="0" marR="0" marT="72000" marB="0" anchor="ctr">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71755">
                        <a:lnSpc>
                          <a:spcPct val="100000"/>
                        </a:lnSpc>
                        <a:spcBef>
                          <a:spcPts val="265"/>
                        </a:spcBef>
                      </a:pPr>
                      <a:r>
                        <a:rPr sz="800" spc="-5" dirty="0">
                          <a:latin typeface="Arial"/>
                          <a:cs typeface="Arial"/>
                        </a:rPr>
                        <a:t>D15</a:t>
                      </a:r>
                      <a:endParaRPr sz="800" dirty="0">
                        <a:latin typeface="Arial"/>
                        <a:cs typeface="Arial"/>
                      </a:endParaRPr>
                    </a:p>
                  </a:txBody>
                  <a:tcPr marL="0" marR="0" marT="72000" marB="0" anchor="ctr">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71755">
                        <a:lnSpc>
                          <a:spcPct val="100000"/>
                        </a:lnSpc>
                        <a:spcBef>
                          <a:spcPts val="265"/>
                        </a:spcBef>
                      </a:pPr>
                      <a:r>
                        <a:rPr sz="800" spc="-5" dirty="0">
                          <a:latin typeface="Arial"/>
                          <a:cs typeface="Arial"/>
                        </a:rPr>
                        <a:t>D14</a:t>
                      </a:r>
                      <a:endParaRPr sz="800" dirty="0">
                        <a:latin typeface="Arial"/>
                        <a:cs typeface="Arial"/>
                      </a:endParaRPr>
                    </a:p>
                  </a:txBody>
                  <a:tcPr marL="0" marR="0" marT="72000" marB="0" anchor="ctr">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71755">
                        <a:lnSpc>
                          <a:spcPct val="100000"/>
                        </a:lnSpc>
                        <a:spcBef>
                          <a:spcPts val="265"/>
                        </a:spcBef>
                      </a:pPr>
                      <a:r>
                        <a:rPr sz="800" spc="-5" dirty="0">
                          <a:latin typeface="Arial"/>
                          <a:cs typeface="Arial"/>
                        </a:rPr>
                        <a:t>D13</a:t>
                      </a:r>
                      <a:endParaRPr sz="800" dirty="0">
                        <a:latin typeface="Arial"/>
                        <a:cs typeface="Arial"/>
                      </a:endParaRPr>
                    </a:p>
                  </a:txBody>
                  <a:tcPr marL="0" marR="0" marT="72000" marB="0" anchor="ctr">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71755">
                        <a:lnSpc>
                          <a:spcPct val="100000"/>
                        </a:lnSpc>
                        <a:spcBef>
                          <a:spcPts val="265"/>
                        </a:spcBef>
                      </a:pPr>
                      <a:r>
                        <a:rPr sz="800" spc="-5" dirty="0">
                          <a:latin typeface="Arial"/>
                          <a:cs typeface="Arial"/>
                        </a:rPr>
                        <a:t>D12</a:t>
                      </a:r>
                      <a:endParaRPr sz="800" dirty="0">
                        <a:latin typeface="Arial"/>
                        <a:cs typeface="Arial"/>
                      </a:endParaRPr>
                    </a:p>
                  </a:txBody>
                  <a:tcPr marL="0" marR="0" marT="72000" marB="0" anchor="ctr">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71755">
                        <a:lnSpc>
                          <a:spcPct val="100000"/>
                        </a:lnSpc>
                        <a:spcBef>
                          <a:spcPts val="265"/>
                        </a:spcBef>
                      </a:pPr>
                      <a:r>
                        <a:rPr sz="800" spc="-5" dirty="0">
                          <a:latin typeface="Arial"/>
                          <a:cs typeface="Arial"/>
                        </a:rPr>
                        <a:t>D11</a:t>
                      </a:r>
                      <a:endParaRPr sz="800" dirty="0">
                        <a:latin typeface="Arial"/>
                        <a:cs typeface="Arial"/>
                      </a:endParaRPr>
                    </a:p>
                  </a:txBody>
                  <a:tcPr marL="0" marR="0" marT="72000" marB="0" anchor="ctr">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71755">
                        <a:lnSpc>
                          <a:spcPct val="100000"/>
                        </a:lnSpc>
                        <a:spcBef>
                          <a:spcPts val="265"/>
                        </a:spcBef>
                      </a:pPr>
                      <a:r>
                        <a:rPr sz="800" dirty="0">
                          <a:latin typeface="Arial"/>
                          <a:cs typeface="Arial"/>
                        </a:rPr>
                        <a:t>D10</a:t>
                      </a:r>
                    </a:p>
                  </a:txBody>
                  <a:tcPr marL="0" marR="0" marT="72000" marB="0" anchor="ctr">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99060">
                        <a:lnSpc>
                          <a:spcPct val="100000"/>
                        </a:lnSpc>
                        <a:spcBef>
                          <a:spcPts val="265"/>
                        </a:spcBef>
                      </a:pPr>
                      <a:r>
                        <a:rPr sz="800" spc="-5" dirty="0">
                          <a:latin typeface="Arial"/>
                          <a:cs typeface="Arial"/>
                        </a:rPr>
                        <a:t>D9</a:t>
                      </a:r>
                      <a:endParaRPr sz="800" dirty="0">
                        <a:latin typeface="Arial"/>
                        <a:cs typeface="Arial"/>
                      </a:endParaRPr>
                    </a:p>
                  </a:txBody>
                  <a:tcPr marL="0" marR="0" marT="72000" marB="0" anchor="ctr">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99695">
                        <a:lnSpc>
                          <a:spcPct val="100000"/>
                        </a:lnSpc>
                        <a:spcBef>
                          <a:spcPts val="265"/>
                        </a:spcBef>
                      </a:pPr>
                      <a:r>
                        <a:rPr sz="800" spc="-5" dirty="0">
                          <a:latin typeface="Arial"/>
                          <a:cs typeface="Arial"/>
                        </a:rPr>
                        <a:t>D8</a:t>
                      </a:r>
                      <a:endParaRPr sz="800" dirty="0">
                        <a:latin typeface="Arial"/>
                        <a:cs typeface="Arial"/>
                      </a:endParaRPr>
                    </a:p>
                  </a:txBody>
                  <a:tcPr marL="0" marR="0" marT="72000" marB="0" anchor="ctr">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99695">
                        <a:lnSpc>
                          <a:spcPct val="100000"/>
                        </a:lnSpc>
                        <a:spcBef>
                          <a:spcPts val="265"/>
                        </a:spcBef>
                      </a:pPr>
                      <a:r>
                        <a:rPr sz="800" spc="-5" dirty="0">
                          <a:latin typeface="Arial"/>
                          <a:cs typeface="Arial"/>
                        </a:rPr>
                        <a:t>D7</a:t>
                      </a:r>
                      <a:endParaRPr sz="800" dirty="0">
                        <a:latin typeface="Arial"/>
                        <a:cs typeface="Arial"/>
                      </a:endParaRPr>
                    </a:p>
                  </a:txBody>
                  <a:tcPr marL="0" marR="0" marT="72000" marB="0" anchor="ctr">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99695">
                        <a:lnSpc>
                          <a:spcPct val="100000"/>
                        </a:lnSpc>
                        <a:spcBef>
                          <a:spcPts val="265"/>
                        </a:spcBef>
                      </a:pPr>
                      <a:r>
                        <a:rPr sz="800" spc="-5" dirty="0">
                          <a:latin typeface="Arial"/>
                          <a:cs typeface="Arial"/>
                        </a:rPr>
                        <a:t>D6</a:t>
                      </a:r>
                      <a:endParaRPr sz="800" dirty="0">
                        <a:latin typeface="Arial"/>
                        <a:cs typeface="Arial"/>
                      </a:endParaRPr>
                    </a:p>
                  </a:txBody>
                  <a:tcPr marL="0" marR="0" marT="72000" marB="0" anchor="ctr">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99695">
                        <a:lnSpc>
                          <a:spcPct val="100000"/>
                        </a:lnSpc>
                        <a:spcBef>
                          <a:spcPts val="265"/>
                        </a:spcBef>
                      </a:pPr>
                      <a:r>
                        <a:rPr sz="800" spc="-5" dirty="0">
                          <a:latin typeface="Arial"/>
                          <a:cs typeface="Arial"/>
                        </a:rPr>
                        <a:t>D5</a:t>
                      </a:r>
                      <a:endParaRPr sz="800" dirty="0">
                        <a:latin typeface="Arial"/>
                        <a:cs typeface="Arial"/>
                      </a:endParaRPr>
                    </a:p>
                  </a:txBody>
                  <a:tcPr marL="0" marR="0" marT="72000" marB="0" anchor="ctr">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99695">
                        <a:lnSpc>
                          <a:spcPct val="100000"/>
                        </a:lnSpc>
                        <a:spcBef>
                          <a:spcPts val="265"/>
                        </a:spcBef>
                      </a:pPr>
                      <a:r>
                        <a:rPr sz="800" spc="-5" dirty="0">
                          <a:latin typeface="Arial"/>
                          <a:cs typeface="Arial"/>
                        </a:rPr>
                        <a:t>D4</a:t>
                      </a:r>
                      <a:endParaRPr sz="800" dirty="0">
                        <a:latin typeface="Arial"/>
                        <a:cs typeface="Arial"/>
                      </a:endParaRPr>
                    </a:p>
                  </a:txBody>
                  <a:tcPr marL="0" marR="0" marT="72000" marB="0" anchor="ctr">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99695">
                        <a:lnSpc>
                          <a:spcPct val="100000"/>
                        </a:lnSpc>
                        <a:spcBef>
                          <a:spcPts val="265"/>
                        </a:spcBef>
                      </a:pPr>
                      <a:r>
                        <a:rPr sz="800" spc="-5" dirty="0">
                          <a:latin typeface="Arial"/>
                          <a:cs typeface="Arial"/>
                        </a:rPr>
                        <a:t>D3</a:t>
                      </a:r>
                      <a:endParaRPr sz="800" dirty="0">
                        <a:latin typeface="Arial"/>
                        <a:cs typeface="Arial"/>
                      </a:endParaRPr>
                    </a:p>
                  </a:txBody>
                  <a:tcPr marL="0" marR="0" marT="72000" marB="0" anchor="ctr">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99695">
                        <a:lnSpc>
                          <a:spcPct val="100000"/>
                        </a:lnSpc>
                        <a:spcBef>
                          <a:spcPts val="265"/>
                        </a:spcBef>
                      </a:pPr>
                      <a:r>
                        <a:rPr sz="800" spc="-5" dirty="0">
                          <a:latin typeface="Arial"/>
                          <a:cs typeface="Arial"/>
                        </a:rPr>
                        <a:t>D2</a:t>
                      </a:r>
                      <a:endParaRPr sz="800" dirty="0">
                        <a:latin typeface="Arial"/>
                        <a:cs typeface="Arial"/>
                      </a:endParaRPr>
                    </a:p>
                  </a:txBody>
                  <a:tcPr marL="0" marR="0" marT="72000" marB="0" anchor="ctr">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100330">
                        <a:lnSpc>
                          <a:spcPct val="100000"/>
                        </a:lnSpc>
                        <a:spcBef>
                          <a:spcPts val="265"/>
                        </a:spcBef>
                      </a:pPr>
                      <a:r>
                        <a:rPr sz="800" spc="-5" dirty="0">
                          <a:latin typeface="Arial"/>
                          <a:cs typeface="Arial"/>
                        </a:rPr>
                        <a:t>D1</a:t>
                      </a:r>
                      <a:endParaRPr sz="800" dirty="0">
                        <a:latin typeface="Arial"/>
                        <a:cs typeface="Arial"/>
                      </a:endParaRPr>
                    </a:p>
                  </a:txBody>
                  <a:tcPr marL="0" marR="0" marT="72000" marB="0" anchor="ctr">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100330">
                        <a:lnSpc>
                          <a:spcPct val="100000"/>
                        </a:lnSpc>
                        <a:spcBef>
                          <a:spcPts val="265"/>
                        </a:spcBef>
                      </a:pPr>
                      <a:r>
                        <a:rPr sz="800" spc="-5" dirty="0">
                          <a:latin typeface="Arial"/>
                          <a:cs typeface="Arial"/>
                        </a:rPr>
                        <a:t>D0</a:t>
                      </a:r>
                      <a:endParaRPr sz="800" dirty="0">
                        <a:latin typeface="Arial"/>
                        <a:cs typeface="Arial"/>
                      </a:endParaRPr>
                    </a:p>
                  </a:txBody>
                  <a:tcPr marL="0" marR="0" marT="72000" marB="0" anchor="ctr">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extLst>
                  <a:ext uri="{0D108BD9-81ED-4DB2-BD59-A6C34878D82A}">
                    <a16:rowId xmlns:a16="http://schemas.microsoft.com/office/drawing/2014/main" val="10000"/>
                  </a:ext>
                </a:extLst>
              </a:tr>
              <a:tr h="165554">
                <a:tc>
                  <a:txBody>
                    <a:bodyPr/>
                    <a:lstStyle/>
                    <a:p>
                      <a:pPr marR="106045" algn="r">
                        <a:lnSpc>
                          <a:spcPct val="100000"/>
                        </a:lnSpc>
                        <a:spcBef>
                          <a:spcPts val="630"/>
                        </a:spcBef>
                      </a:pPr>
                      <a:r>
                        <a:rPr sz="800" spc="-5" dirty="0">
                          <a:latin typeface="Arial"/>
                          <a:cs typeface="Arial"/>
                        </a:rPr>
                        <a:t>‘h33</a:t>
                      </a:r>
                      <a:endParaRPr sz="800" dirty="0">
                        <a:latin typeface="Arial"/>
                        <a:cs typeface="Arial"/>
                      </a:endParaRPr>
                    </a:p>
                  </a:txBody>
                  <a:tcPr marL="0" marR="0" marT="72000" marB="0" anchor="ctr">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algn="ctr">
                        <a:lnSpc>
                          <a:spcPct val="100000"/>
                        </a:lnSpc>
                        <a:spcBef>
                          <a:spcPts val="630"/>
                        </a:spcBef>
                      </a:pPr>
                      <a:r>
                        <a:rPr sz="800" spc="-5" dirty="0">
                          <a:latin typeface="Arial"/>
                          <a:cs typeface="Arial"/>
                        </a:rPr>
                        <a:t>0x5A5A</a:t>
                      </a:r>
                      <a:endParaRPr sz="800" dirty="0">
                        <a:latin typeface="Arial"/>
                        <a:cs typeface="Arial"/>
                      </a:endParaRPr>
                    </a:p>
                  </a:txBody>
                  <a:tcPr marL="0" marR="0" marT="72000" marB="0" anchor="ctr">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gridSpan="16">
                  <a:txBody>
                    <a:bodyPr/>
                    <a:lstStyle/>
                    <a:p>
                      <a:pPr marL="72000" marR="2110740" algn="r">
                        <a:lnSpc>
                          <a:spcPct val="100000"/>
                        </a:lnSpc>
                        <a:spcBef>
                          <a:spcPts val="0"/>
                        </a:spcBef>
                      </a:pPr>
                      <a:r>
                        <a:rPr sz="800" spc="0" baseline="0" dirty="0">
                          <a:latin typeface="Arial"/>
                          <a:cs typeface="Arial"/>
                        </a:rPr>
                        <a:t>0xA5A5 = </a:t>
                      </a:r>
                      <a:r>
                        <a:rPr lang="en-US" sz="800" spc="0" baseline="0" dirty="0">
                          <a:latin typeface="Arial"/>
                          <a:cs typeface="Arial"/>
                        </a:rPr>
                        <a:t>Protect Disable,  </a:t>
                      </a:r>
                      <a:r>
                        <a:rPr sz="800" spc="0" baseline="0" dirty="0" err="1">
                          <a:latin typeface="Arial"/>
                          <a:cs typeface="Arial"/>
                        </a:rPr>
                        <a:t>0x5A5A</a:t>
                      </a:r>
                      <a:r>
                        <a:rPr sz="800" spc="0" baseline="0" dirty="0">
                          <a:latin typeface="Arial"/>
                          <a:cs typeface="Arial"/>
                        </a:rPr>
                        <a:t> = Protect</a:t>
                      </a:r>
                      <a:r>
                        <a:rPr lang="en-US" sz="800" spc="0" baseline="0" dirty="0">
                          <a:latin typeface="Arial"/>
                          <a:cs typeface="Arial"/>
                        </a:rPr>
                        <a:t> </a:t>
                      </a:r>
                      <a:r>
                        <a:rPr sz="800" spc="0" baseline="0" dirty="0">
                          <a:latin typeface="Arial"/>
                          <a:cs typeface="Arial"/>
                        </a:rPr>
                        <a:t>Enable</a:t>
                      </a:r>
                    </a:p>
                  </a:txBody>
                  <a:tcPr marL="0" marR="0" marT="72000" marB="0" anchor="ctr">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1"/>
                  </a:ext>
                </a:extLst>
              </a:tr>
            </a:tbl>
          </a:graphicData>
        </a:graphic>
      </p:graphicFrame>
      <p:sp>
        <p:nvSpPr>
          <p:cNvPr id="14" name="object 14"/>
          <p:cNvSpPr txBox="1"/>
          <p:nvPr/>
        </p:nvSpPr>
        <p:spPr>
          <a:xfrm>
            <a:off x="402289" y="5190235"/>
            <a:ext cx="6035037" cy="182742"/>
          </a:xfrm>
          <a:prstGeom prst="rect">
            <a:avLst/>
          </a:prstGeom>
        </p:spPr>
        <p:txBody>
          <a:bodyPr vert="horz" wrap="square" lIns="0" tIns="13335" rIns="0" bIns="0" rtlCol="0">
            <a:spAutoFit/>
          </a:bodyPr>
          <a:lstStyle/>
          <a:p>
            <a:pPr marL="12700">
              <a:lnSpc>
                <a:spcPct val="100000"/>
              </a:lnSpc>
              <a:spcBef>
                <a:spcPts val="105"/>
              </a:spcBef>
            </a:pPr>
            <a:r>
              <a:rPr sz="1100" b="1" spc="-5" dirty="0">
                <a:latin typeface="Arial"/>
                <a:cs typeface="Arial"/>
              </a:rPr>
              <a:t>OTP</a:t>
            </a:r>
            <a:r>
              <a:rPr sz="1100" b="1" spc="-55" dirty="0">
                <a:latin typeface="Arial"/>
                <a:cs typeface="Arial"/>
              </a:rPr>
              <a:t> </a:t>
            </a:r>
            <a:r>
              <a:rPr sz="1100" b="1" spc="-5" dirty="0">
                <a:latin typeface="Arial"/>
                <a:cs typeface="Arial"/>
              </a:rPr>
              <a:t>PROTECTION</a:t>
            </a:r>
            <a:endParaRPr sz="1100" dirty="0">
              <a:latin typeface="Arial"/>
              <a:cs typeface="Arial"/>
            </a:endParaRPr>
          </a:p>
        </p:txBody>
      </p:sp>
      <p:graphicFrame>
        <p:nvGraphicFramePr>
          <p:cNvPr id="15" name="object 15"/>
          <p:cNvGraphicFramePr>
            <a:graphicFrameLocks noGrp="1"/>
          </p:cNvGraphicFramePr>
          <p:nvPr>
            <p:extLst>
              <p:ext uri="{D42A27DB-BD31-4B8C-83A1-F6EECF244321}">
                <p14:modId xmlns:p14="http://schemas.microsoft.com/office/powerpoint/2010/main" val="3747668024"/>
              </p:ext>
            </p:extLst>
          </p:nvPr>
        </p:nvGraphicFramePr>
        <p:xfrm>
          <a:off x="397192" y="6412928"/>
          <a:ext cx="6044497" cy="387350"/>
        </p:xfrm>
        <a:graphic>
          <a:graphicData uri="http://schemas.openxmlformats.org/drawingml/2006/table">
            <a:tbl>
              <a:tblPr firstRow="1" bandRow="1">
                <a:tableStyleId>{2D5ABB26-0587-4C30-8999-92F81FD0307C}</a:tableStyleId>
              </a:tblPr>
              <a:tblGrid>
                <a:gridCol w="412549">
                  <a:extLst>
                    <a:ext uri="{9D8B030D-6E8A-4147-A177-3AD203B41FA5}">
                      <a16:colId xmlns:a16="http://schemas.microsoft.com/office/drawing/2014/main" val="20000"/>
                    </a:ext>
                  </a:extLst>
                </a:gridCol>
                <a:gridCol w="474774">
                  <a:extLst>
                    <a:ext uri="{9D8B030D-6E8A-4147-A177-3AD203B41FA5}">
                      <a16:colId xmlns:a16="http://schemas.microsoft.com/office/drawing/2014/main" val="20001"/>
                    </a:ext>
                  </a:extLst>
                </a:gridCol>
                <a:gridCol w="322323">
                  <a:extLst>
                    <a:ext uri="{9D8B030D-6E8A-4147-A177-3AD203B41FA5}">
                      <a16:colId xmlns:a16="http://schemas.microsoft.com/office/drawing/2014/main" val="20002"/>
                    </a:ext>
                  </a:extLst>
                </a:gridCol>
                <a:gridCol w="322324">
                  <a:extLst>
                    <a:ext uri="{9D8B030D-6E8A-4147-A177-3AD203B41FA5}">
                      <a16:colId xmlns:a16="http://schemas.microsoft.com/office/drawing/2014/main" val="20003"/>
                    </a:ext>
                  </a:extLst>
                </a:gridCol>
                <a:gridCol w="322324">
                  <a:extLst>
                    <a:ext uri="{9D8B030D-6E8A-4147-A177-3AD203B41FA5}">
                      <a16:colId xmlns:a16="http://schemas.microsoft.com/office/drawing/2014/main" val="20004"/>
                    </a:ext>
                  </a:extLst>
                </a:gridCol>
                <a:gridCol w="322324">
                  <a:extLst>
                    <a:ext uri="{9D8B030D-6E8A-4147-A177-3AD203B41FA5}">
                      <a16:colId xmlns:a16="http://schemas.microsoft.com/office/drawing/2014/main" val="20005"/>
                    </a:ext>
                  </a:extLst>
                </a:gridCol>
                <a:gridCol w="322324">
                  <a:extLst>
                    <a:ext uri="{9D8B030D-6E8A-4147-A177-3AD203B41FA5}">
                      <a16:colId xmlns:a16="http://schemas.microsoft.com/office/drawing/2014/main" val="20006"/>
                    </a:ext>
                  </a:extLst>
                </a:gridCol>
                <a:gridCol w="322324">
                  <a:extLst>
                    <a:ext uri="{9D8B030D-6E8A-4147-A177-3AD203B41FA5}">
                      <a16:colId xmlns:a16="http://schemas.microsoft.com/office/drawing/2014/main" val="20007"/>
                    </a:ext>
                  </a:extLst>
                </a:gridCol>
                <a:gridCol w="322324">
                  <a:extLst>
                    <a:ext uri="{9D8B030D-6E8A-4147-A177-3AD203B41FA5}">
                      <a16:colId xmlns:a16="http://schemas.microsoft.com/office/drawing/2014/main" val="20008"/>
                    </a:ext>
                  </a:extLst>
                </a:gridCol>
                <a:gridCol w="322323">
                  <a:extLst>
                    <a:ext uri="{9D8B030D-6E8A-4147-A177-3AD203B41FA5}">
                      <a16:colId xmlns:a16="http://schemas.microsoft.com/office/drawing/2014/main" val="20009"/>
                    </a:ext>
                  </a:extLst>
                </a:gridCol>
                <a:gridCol w="322323">
                  <a:extLst>
                    <a:ext uri="{9D8B030D-6E8A-4147-A177-3AD203B41FA5}">
                      <a16:colId xmlns:a16="http://schemas.microsoft.com/office/drawing/2014/main" val="20010"/>
                    </a:ext>
                  </a:extLst>
                </a:gridCol>
                <a:gridCol w="322323">
                  <a:extLst>
                    <a:ext uri="{9D8B030D-6E8A-4147-A177-3AD203B41FA5}">
                      <a16:colId xmlns:a16="http://schemas.microsoft.com/office/drawing/2014/main" val="20011"/>
                    </a:ext>
                  </a:extLst>
                </a:gridCol>
                <a:gridCol w="322323">
                  <a:extLst>
                    <a:ext uri="{9D8B030D-6E8A-4147-A177-3AD203B41FA5}">
                      <a16:colId xmlns:a16="http://schemas.microsoft.com/office/drawing/2014/main" val="20012"/>
                    </a:ext>
                  </a:extLst>
                </a:gridCol>
                <a:gridCol w="322323">
                  <a:extLst>
                    <a:ext uri="{9D8B030D-6E8A-4147-A177-3AD203B41FA5}">
                      <a16:colId xmlns:a16="http://schemas.microsoft.com/office/drawing/2014/main" val="20013"/>
                    </a:ext>
                  </a:extLst>
                </a:gridCol>
                <a:gridCol w="322323">
                  <a:extLst>
                    <a:ext uri="{9D8B030D-6E8A-4147-A177-3AD203B41FA5}">
                      <a16:colId xmlns:a16="http://schemas.microsoft.com/office/drawing/2014/main" val="20014"/>
                    </a:ext>
                  </a:extLst>
                </a:gridCol>
                <a:gridCol w="322323">
                  <a:extLst>
                    <a:ext uri="{9D8B030D-6E8A-4147-A177-3AD203B41FA5}">
                      <a16:colId xmlns:a16="http://schemas.microsoft.com/office/drawing/2014/main" val="20015"/>
                    </a:ext>
                  </a:extLst>
                </a:gridCol>
                <a:gridCol w="322323">
                  <a:extLst>
                    <a:ext uri="{9D8B030D-6E8A-4147-A177-3AD203B41FA5}">
                      <a16:colId xmlns:a16="http://schemas.microsoft.com/office/drawing/2014/main" val="20016"/>
                    </a:ext>
                  </a:extLst>
                </a:gridCol>
                <a:gridCol w="322323">
                  <a:extLst>
                    <a:ext uri="{9D8B030D-6E8A-4147-A177-3AD203B41FA5}">
                      <a16:colId xmlns:a16="http://schemas.microsoft.com/office/drawing/2014/main" val="20017"/>
                    </a:ext>
                  </a:extLst>
                </a:gridCol>
              </a:tblGrid>
              <a:tr h="193675">
                <a:tc>
                  <a:txBody>
                    <a:bodyPr/>
                    <a:lstStyle/>
                    <a:p>
                      <a:pPr algn="ctr">
                        <a:lnSpc>
                          <a:spcPct val="100000"/>
                        </a:lnSpc>
                        <a:spcBef>
                          <a:spcPts val="270"/>
                        </a:spcBef>
                      </a:pPr>
                      <a:r>
                        <a:rPr sz="800" dirty="0">
                          <a:latin typeface="Arial"/>
                          <a:cs typeface="Arial"/>
                        </a:rPr>
                        <a:t>A[6:0]</a:t>
                      </a: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algn="ctr">
                        <a:lnSpc>
                          <a:spcPct val="100000"/>
                        </a:lnSpc>
                        <a:spcBef>
                          <a:spcPts val="270"/>
                        </a:spcBef>
                      </a:pPr>
                      <a:r>
                        <a:rPr sz="800" spc="-5" dirty="0">
                          <a:latin typeface="Arial"/>
                          <a:cs typeface="Arial"/>
                        </a:rPr>
                        <a:t>Default</a:t>
                      </a:r>
                      <a:endParaRPr sz="8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71755">
                        <a:lnSpc>
                          <a:spcPct val="100000"/>
                        </a:lnSpc>
                        <a:spcBef>
                          <a:spcPts val="270"/>
                        </a:spcBef>
                      </a:pPr>
                      <a:r>
                        <a:rPr sz="800" spc="-5" dirty="0">
                          <a:latin typeface="Arial"/>
                          <a:cs typeface="Arial"/>
                        </a:rPr>
                        <a:t>D15</a:t>
                      </a:r>
                      <a:endParaRPr sz="8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71755">
                        <a:lnSpc>
                          <a:spcPct val="100000"/>
                        </a:lnSpc>
                        <a:spcBef>
                          <a:spcPts val="270"/>
                        </a:spcBef>
                      </a:pPr>
                      <a:r>
                        <a:rPr sz="800" spc="-5" dirty="0">
                          <a:latin typeface="Arial"/>
                          <a:cs typeface="Arial"/>
                        </a:rPr>
                        <a:t>D14</a:t>
                      </a:r>
                      <a:endParaRPr sz="8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71755">
                        <a:lnSpc>
                          <a:spcPct val="100000"/>
                        </a:lnSpc>
                        <a:spcBef>
                          <a:spcPts val="270"/>
                        </a:spcBef>
                      </a:pPr>
                      <a:r>
                        <a:rPr sz="800" spc="-5" dirty="0">
                          <a:latin typeface="Arial"/>
                          <a:cs typeface="Arial"/>
                        </a:rPr>
                        <a:t>D13</a:t>
                      </a:r>
                      <a:endParaRPr sz="8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71755">
                        <a:lnSpc>
                          <a:spcPct val="100000"/>
                        </a:lnSpc>
                        <a:spcBef>
                          <a:spcPts val="270"/>
                        </a:spcBef>
                      </a:pPr>
                      <a:r>
                        <a:rPr sz="800" spc="-5" dirty="0">
                          <a:latin typeface="Arial"/>
                          <a:cs typeface="Arial"/>
                        </a:rPr>
                        <a:t>D12</a:t>
                      </a:r>
                      <a:endParaRPr sz="8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71755">
                        <a:lnSpc>
                          <a:spcPct val="100000"/>
                        </a:lnSpc>
                        <a:spcBef>
                          <a:spcPts val="270"/>
                        </a:spcBef>
                      </a:pPr>
                      <a:r>
                        <a:rPr sz="800" spc="-5" dirty="0">
                          <a:latin typeface="Arial"/>
                          <a:cs typeface="Arial"/>
                        </a:rPr>
                        <a:t>D11</a:t>
                      </a:r>
                      <a:endParaRPr sz="8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71755">
                        <a:lnSpc>
                          <a:spcPct val="100000"/>
                        </a:lnSpc>
                        <a:spcBef>
                          <a:spcPts val="270"/>
                        </a:spcBef>
                      </a:pPr>
                      <a:r>
                        <a:rPr sz="800" spc="-5" dirty="0">
                          <a:latin typeface="Arial"/>
                          <a:cs typeface="Arial"/>
                        </a:rPr>
                        <a:t>D10</a:t>
                      </a:r>
                      <a:endParaRPr sz="8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99695">
                        <a:lnSpc>
                          <a:spcPct val="100000"/>
                        </a:lnSpc>
                        <a:spcBef>
                          <a:spcPts val="270"/>
                        </a:spcBef>
                      </a:pPr>
                      <a:r>
                        <a:rPr sz="800" spc="-5" dirty="0">
                          <a:latin typeface="Arial"/>
                          <a:cs typeface="Arial"/>
                        </a:rPr>
                        <a:t>D9</a:t>
                      </a:r>
                      <a:endParaRPr sz="8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99695">
                        <a:lnSpc>
                          <a:spcPct val="100000"/>
                        </a:lnSpc>
                        <a:spcBef>
                          <a:spcPts val="270"/>
                        </a:spcBef>
                      </a:pPr>
                      <a:r>
                        <a:rPr sz="800" spc="-5" dirty="0">
                          <a:latin typeface="Arial"/>
                          <a:cs typeface="Arial"/>
                        </a:rPr>
                        <a:t>D8</a:t>
                      </a:r>
                      <a:endParaRPr sz="8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99695">
                        <a:lnSpc>
                          <a:spcPct val="100000"/>
                        </a:lnSpc>
                        <a:spcBef>
                          <a:spcPts val="270"/>
                        </a:spcBef>
                      </a:pPr>
                      <a:r>
                        <a:rPr sz="800" spc="-5" dirty="0">
                          <a:latin typeface="Arial"/>
                          <a:cs typeface="Arial"/>
                        </a:rPr>
                        <a:t>D7</a:t>
                      </a:r>
                      <a:endParaRPr sz="8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99695">
                        <a:lnSpc>
                          <a:spcPct val="100000"/>
                        </a:lnSpc>
                        <a:spcBef>
                          <a:spcPts val="270"/>
                        </a:spcBef>
                      </a:pPr>
                      <a:r>
                        <a:rPr sz="800" spc="-5" dirty="0">
                          <a:latin typeface="Arial"/>
                          <a:cs typeface="Arial"/>
                        </a:rPr>
                        <a:t>D6</a:t>
                      </a:r>
                      <a:endParaRPr sz="8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99695">
                        <a:lnSpc>
                          <a:spcPct val="100000"/>
                        </a:lnSpc>
                        <a:spcBef>
                          <a:spcPts val="270"/>
                        </a:spcBef>
                      </a:pPr>
                      <a:r>
                        <a:rPr sz="800" spc="-5" dirty="0">
                          <a:latin typeface="Arial"/>
                          <a:cs typeface="Arial"/>
                        </a:rPr>
                        <a:t>D5</a:t>
                      </a:r>
                      <a:endParaRPr sz="8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99695">
                        <a:lnSpc>
                          <a:spcPct val="100000"/>
                        </a:lnSpc>
                        <a:spcBef>
                          <a:spcPts val="270"/>
                        </a:spcBef>
                      </a:pPr>
                      <a:r>
                        <a:rPr sz="800" spc="-5" dirty="0">
                          <a:latin typeface="Arial"/>
                          <a:cs typeface="Arial"/>
                        </a:rPr>
                        <a:t>D4</a:t>
                      </a:r>
                      <a:endParaRPr sz="8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100330">
                        <a:lnSpc>
                          <a:spcPct val="100000"/>
                        </a:lnSpc>
                        <a:spcBef>
                          <a:spcPts val="270"/>
                        </a:spcBef>
                      </a:pPr>
                      <a:r>
                        <a:rPr sz="800" spc="-5" dirty="0">
                          <a:latin typeface="Arial"/>
                          <a:cs typeface="Arial"/>
                        </a:rPr>
                        <a:t>D3</a:t>
                      </a:r>
                      <a:endParaRPr sz="8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99695">
                        <a:lnSpc>
                          <a:spcPct val="100000"/>
                        </a:lnSpc>
                        <a:spcBef>
                          <a:spcPts val="270"/>
                        </a:spcBef>
                      </a:pPr>
                      <a:r>
                        <a:rPr sz="800" spc="-5" dirty="0">
                          <a:latin typeface="Arial"/>
                          <a:cs typeface="Arial"/>
                        </a:rPr>
                        <a:t>D2</a:t>
                      </a:r>
                      <a:endParaRPr sz="8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100330">
                        <a:lnSpc>
                          <a:spcPct val="100000"/>
                        </a:lnSpc>
                        <a:spcBef>
                          <a:spcPts val="270"/>
                        </a:spcBef>
                      </a:pPr>
                      <a:r>
                        <a:rPr sz="800" spc="-5" dirty="0">
                          <a:latin typeface="Arial"/>
                          <a:cs typeface="Arial"/>
                        </a:rPr>
                        <a:t>D1</a:t>
                      </a:r>
                      <a:endParaRPr sz="8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100330">
                        <a:lnSpc>
                          <a:spcPct val="100000"/>
                        </a:lnSpc>
                        <a:spcBef>
                          <a:spcPts val="270"/>
                        </a:spcBef>
                      </a:pPr>
                      <a:r>
                        <a:rPr sz="800" spc="-5" dirty="0">
                          <a:latin typeface="Arial"/>
                          <a:cs typeface="Arial"/>
                        </a:rPr>
                        <a:t>D0</a:t>
                      </a:r>
                      <a:endParaRPr sz="8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extLst>
                  <a:ext uri="{0D108BD9-81ED-4DB2-BD59-A6C34878D82A}">
                    <a16:rowId xmlns:a16="http://schemas.microsoft.com/office/drawing/2014/main" val="10000"/>
                  </a:ext>
                </a:extLst>
              </a:tr>
              <a:tr h="193675">
                <a:tc>
                  <a:txBody>
                    <a:bodyPr/>
                    <a:lstStyle/>
                    <a:p>
                      <a:pPr marL="635" algn="ctr">
                        <a:lnSpc>
                          <a:spcPct val="100000"/>
                        </a:lnSpc>
                        <a:spcBef>
                          <a:spcPts val="270"/>
                        </a:spcBef>
                      </a:pPr>
                      <a:r>
                        <a:rPr sz="800" spc="-5" dirty="0">
                          <a:latin typeface="Arial"/>
                          <a:cs typeface="Arial"/>
                        </a:rPr>
                        <a:t>‘h39</a:t>
                      </a:r>
                      <a:endParaRPr sz="8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algn="ctr">
                        <a:lnSpc>
                          <a:spcPct val="100000"/>
                        </a:lnSpc>
                        <a:spcBef>
                          <a:spcPts val="270"/>
                        </a:spcBef>
                      </a:pPr>
                      <a:r>
                        <a:rPr sz="800" dirty="0">
                          <a:latin typeface="Arial"/>
                          <a:cs typeface="Arial"/>
                        </a:rPr>
                        <a:t>0</a:t>
                      </a: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gridSpan="16">
                  <a:txBody>
                    <a:bodyPr/>
                    <a:lstStyle/>
                    <a:p>
                      <a:pPr algn="ctr">
                        <a:lnSpc>
                          <a:spcPct val="100000"/>
                        </a:lnSpc>
                        <a:spcBef>
                          <a:spcPts val="310"/>
                        </a:spcBef>
                      </a:pPr>
                      <a:r>
                        <a:rPr sz="700" dirty="0">
                          <a:latin typeface="Arial"/>
                          <a:cs typeface="Arial"/>
                        </a:rPr>
                        <a:t>OTP</a:t>
                      </a:r>
                      <a:r>
                        <a:rPr sz="700" spc="-5" dirty="0">
                          <a:latin typeface="Arial"/>
                          <a:cs typeface="Arial"/>
                        </a:rPr>
                        <a:t>_</a:t>
                      </a:r>
                      <a:r>
                        <a:rPr sz="700" dirty="0">
                          <a:latin typeface="Arial"/>
                          <a:cs typeface="Arial"/>
                        </a:rPr>
                        <a:t>CRC_CHECKSUM</a:t>
                      </a:r>
                      <a:r>
                        <a:rPr sz="700" spc="-30" dirty="0">
                          <a:latin typeface="Arial"/>
                          <a:cs typeface="Arial"/>
                        </a:rPr>
                        <a:t> </a:t>
                      </a:r>
                      <a:r>
                        <a:rPr sz="700" dirty="0">
                          <a:latin typeface="Arial"/>
                          <a:cs typeface="Arial"/>
                        </a:rPr>
                        <a:t>[</a:t>
                      </a:r>
                      <a:r>
                        <a:rPr sz="700" spc="-5" dirty="0">
                          <a:latin typeface="Arial"/>
                          <a:cs typeface="Arial"/>
                        </a:rPr>
                        <a:t>15</a:t>
                      </a:r>
                      <a:r>
                        <a:rPr sz="700" dirty="0">
                          <a:latin typeface="Arial"/>
                          <a:cs typeface="Arial"/>
                        </a:rPr>
                        <a:t>:</a:t>
                      </a:r>
                      <a:r>
                        <a:rPr sz="700" spc="-5" dirty="0">
                          <a:latin typeface="Arial"/>
                          <a:cs typeface="Arial"/>
                        </a:rPr>
                        <a:t>0</a:t>
                      </a:r>
                      <a:r>
                        <a:rPr sz="700" dirty="0">
                          <a:latin typeface="Arial"/>
                          <a:cs typeface="Arial"/>
                        </a:rPr>
                        <a:t>]</a:t>
                      </a:r>
                    </a:p>
                  </a:txBody>
                  <a:tcPr marL="0" marR="0" marT="3937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1"/>
                  </a:ext>
                </a:extLst>
              </a:tr>
            </a:tbl>
          </a:graphicData>
        </a:graphic>
      </p:graphicFrame>
      <p:sp>
        <p:nvSpPr>
          <p:cNvPr id="16" name="object 16"/>
          <p:cNvSpPr txBox="1"/>
          <p:nvPr/>
        </p:nvSpPr>
        <p:spPr>
          <a:xfrm>
            <a:off x="398384" y="6171691"/>
            <a:ext cx="6035037" cy="182742"/>
          </a:xfrm>
          <a:prstGeom prst="rect">
            <a:avLst/>
          </a:prstGeom>
        </p:spPr>
        <p:txBody>
          <a:bodyPr vert="horz" wrap="square" lIns="0" tIns="13335" rIns="0" bIns="0" rtlCol="0">
            <a:spAutoFit/>
          </a:bodyPr>
          <a:lstStyle/>
          <a:p>
            <a:pPr marL="12700">
              <a:lnSpc>
                <a:spcPct val="100000"/>
              </a:lnSpc>
              <a:spcBef>
                <a:spcPts val="105"/>
              </a:spcBef>
            </a:pPr>
            <a:r>
              <a:rPr sz="1100" b="1" spc="-5" dirty="0">
                <a:latin typeface="Arial"/>
                <a:cs typeface="Arial"/>
              </a:rPr>
              <a:t>OTP</a:t>
            </a:r>
            <a:r>
              <a:rPr sz="1100" b="1" spc="-35" dirty="0">
                <a:latin typeface="Arial"/>
                <a:cs typeface="Arial"/>
              </a:rPr>
              <a:t> </a:t>
            </a:r>
            <a:r>
              <a:rPr sz="1100" b="1" spc="-5" dirty="0">
                <a:latin typeface="Arial"/>
                <a:cs typeface="Arial"/>
              </a:rPr>
              <a:t>CRC</a:t>
            </a:r>
            <a:r>
              <a:rPr sz="1100" b="1" spc="-25" dirty="0">
                <a:latin typeface="Arial"/>
                <a:cs typeface="Arial"/>
              </a:rPr>
              <a:t> </a:t>
            </a:r>
            <a:r>
              <a:rPr sz="1100" b="1" spc="-5" dirty="0">
                <a:latin typeface="Arial"/>
                <a:cs typeface="Arial"/>
              </a:rPr>
              <a:t>CHECKSUM</a:t>
            </a:r>
            <a:endParaRPr sz="1100" dirty="0">
              <a:latin typeface="Arial"/>
              <a:cs typeface="Arial"/>
            </a:endParaRPr>
          </a:p>
        </p:txBody>
      </p:sp>
      <p:graphicFrame>
        <p:nvGraphicFramePr>
          <p:cNvPr id="17" name="object 17"/>
          <p:cNvGraphicFramePr>
            <a:graphicFrameLocks noGrp="1"/>
          </p:cNvGraphicFramePr>
          <p:nvPr>
            <p:extLst>
              <p:ext uri="{D42A27DB-BD31-4B8C-83A1-F6EECF244321}">
                <p14:modId xmlns:p14="http://schemas.microsoft.com/office/powerpoint/2010/main" val="1036168106"/>
              </p:ext>
            </p:extLst>
          </p:nvPr>
        </p:nvGraphicFramePr>
        <p:xfrm>
          <a:off x="397192" y="7404417"/>
          <a:ext cx="6043899" cy="387350"/>
        </p:xfrm>
        <a:graphic>
          <a:graphicData uri="http://schemas.openxmlformats.org/drawingml/2006/table">
            <a:tbl>
              <a:tblPr firstRow="1" bandRow="1">
                <a:tableStyleId>{2D5ABB26-0587-4C30-8999-92F81FD0307C}</a:tableStyleId>
              </a:tblPr>
              <a:tblGrid>
                <a:gridCol w="412509">
                  <a:extLst>
                    <a:ext uri="{9D8B030D-6E8A-4147-A177-3AD203B41FA5}">
                      <a16:colId xmlns:a16="http://schemas.microsoft.com/office/drawing/2014/main" val="20000"/>
                    </a:ext>
                  </a:extLst>
                </a:gridCol>
                <a:gridCol w="474728">
                  <a:extLst>
                    <a:ext uri="{9D8B030D-6E8A-4147-A177-3AD203B41FA5}">
                      <a16:colId xmlns:a16="http://schemas.microsoft.com/office/drawing/2014/main" val="20001"/>
                    </a:ext>
                  </a:extLst>
                </a:gridCol>
                <a:gridCol w="322291">
                  <a:extLst>
                    <a:ext uri="{9D8B030D-6E8A-4147-A177-3AD203B41FA5}">
                      <a16:colId xmlns:a16="http://schemas.microsoft.com/office/drawing/2014/main" val="20002"/>
                    </a:ext>
                  </a:extLst>
                </a:gridCol>
                <a:gridCol w="322292">
                  <a:extLst>
                    <a:ext uri="{9D8B030D-6E8A-4147-A177-3AD203B41FA5}">
                      <a16:colId xmlns:a16="http://schemas.microsoft.com/office/drawing/2014/main" val="20003"/>
                    </a:ext>
                  </a:extLst>
                </a:gridCol>
                <a:gridCol w="322292">
                  <a:extLst>
                    <a:ext uri="{9D8B030D-6E8A-4147-A177-3AD203B41FA5}">
                      <a16:colId xmlns:a16="http://schemas.microsoft.com/office/drawing/2014/main" val="20004"/>
                    </a:ext>
                  </a:extLst>
                </a:gridCol>
                <a:gridCol w="322292">
                  <a:extLst>
                    <a:ext uri="{9D8B030D-6E8A-4147-A177-3AD203B41FA5}">
                      <a16:colId xmlns:a16="http://schemas.microsoft.com/office/drawing/2014/main" val="20005"/>
                    </a:ext>
                  </a:extLst>
                </a:gridCol>
                <a:gridCol w="322292">
                  <a:extLst>
                    <a:ext uri="{9D8B030D-6E8A-4147-A177-3AD203B41FA5}">
                      <a16:colId xmlns:a16="http://schemas.microsoft.com/office/drawing/2014/main" val="20006"/>
                    </a:ext>
                  </a:extLst>
                </a:gridCol>
                <a:gridCol w="322292">
                  <a:extLst>
                    <a:ext uri="{9D8B030D-6E8A-4147-A177-3AD203B41FA5}">
                      <a16:colId xmlns:a16="http://schemas.microsoft.com/office/drawing/2014/main" val="20007"/>
                    </a:ext>
                  </a:extLst>
                </a:gridCol>
                <a:gridCol w="322292">
                  <a:extLst>
                    <a:ext uri="{9D8B030D-6E8A-4147-A177-3AD203B41FA5}">
                      <a16:colId xmlns:a16="http://schemas.microsoft.com/office/drawing/2014/main" val="20008"/>
                    </a:ext>
                  </a:extLst>
                </a:gridCol>
                <a:gridCol w="322291">
                  <a:extLst>
                    <a:ext uri="{9D8B030D-6E8A-4147-A177-3AD203B41FA5}">
                      <a16:colId xmlns:a16="http://schemas.microsoft.com/office/drawing/2014/main" val="20009"/>
                    </a:ext>
                  </a:extLst>
                </a:gridCol>
                <a:gridCol w="322291">
                  <a:extLst>
                    <a:ext uri="{9D8B030D-6E8A-4147-A177-3AD203B41FA5}">
                      <a16:colId xmlns:a16="http://schemas.microsoft.com/office/drawing/2014/main" val="20010"/>
                    </a:ext>
                  </a:extLst>
                </a:gridCol>
                <a:gridCol w="322291">
                  <a:extLst>
                    <a:ext uri="{9D8B030D-6E8A-4147-A177-3AD203B41FA5}">
                      <a16:colId xmlns:a16="http://schemas.microsoft.com/office/drawing/2014/main" val="20011"/>
                    </a:ext>
                  </a:extLst>
                </a:gridCol>
                <a:gridCol w="322291">
                  <a:extLst>
                    <a:ext uri="{9D8B030D-6E8A-4147-A177-3AD203B41FA5}">
                      <a16:colId xmlns:a16="http://schemas.microsoft.com/office/drawing/2014/main" val="20012"/>
                    </a:ext>
                  </a:extLst>
                </a:gridCol>
                <a:gridCol w="322291">
                  <a:extLst>
                    <a:ext uri="{9D8B030D-6E8A-4147-A177-3AD203B41FA5}">
                      <a16:colId xmlns:a16="http://schemas.microsoft.com/office/drawing/2014/main" val="20013"/>
                    </a:ext>
                  </a:extLst>
                </a:gridCol>
                <a:gridCol w="322291">
                  <a:extLst>
                    <a:ext uri="{9D8B030D-6E8A-4147-A177-3AD203B41FA5}">
                      <a16:colId xmlns:a16="http://schemas.microsoft.com/office/drawing/2014/main" val="20014"/>
                    </a:ext>
                  </a:extLst>
                </a:gridCol>
                <a:gridCol w="322291">
                  <a:extLst>
                    <a:ext uri="{9D8B030D-6E8A-4147-A177-3AD203B41FA5}">
                      <a16:colId xmlns:a16="http://schemas.microsoft.com/office/drawing/2014/main" val="20015"/>
                    </a:ext>
                  </a:extLst>
                </a:gridCol>
                <a:gridCol w="322291">
                  <a:extLst>
                    <a:ext uri="{9D8B030D-6E8A-4147-A177-3AD203B41FA5}">
                      <a16:colId xmlns:a16="http://schemas.microsoft.com/office/drawing/2014/main" val="20016"/>
                    </a:ext>
                  </a:extLst>
                </a:gridCol>
                <a:gridCol w="322291">
                  <a:extLst>
                    <a:ext uri="{9D8B030D-6E8A-4147-A177-3AD203B41FA5}">
                      <a16:colId xmlns:a16="http://schemas.microsoft.com/office/drawing/2014/main" val="20017"/>
                    </a:ext>
                  </a:extLst>
                </a:gridCol>
              </a:tblGrid>
              <a:tr h="193675">
                <a:tc>
                  <a:txBody>
                    <a:bodyPr/>
                    <a:lstStyle/>
                    <a:p>
                      <a:pPr algn="ctr">
                        <a:lnSpc>
                          <a:spcPct val="100000"/>
                        </a:lnSpc>
                        <a:spcBef>
                          <a:spcPts val="270"/>
                        </a:spcBef>
                      </a:pPr>
                      <a:r>
                        <a:rPr sz="800" dirty="0">
                          <a:latin typeface="Arial"/>
                          <a:cs typeface="Arial"/>
                        </a:rPr>
                        <a:t>A[6:0]</a:t>
                      </a: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algn="ctr">
                        <a:lnSpc>
                          <a:spcPct val="100000"/>
                        </a:lnSpc>
                        <a:spcBef>
                          <a:spcPts val="270"/>
                        </a:spcBef>
                      </a:pPr>
                      <a:r>
                        <a:rPr sz="800" spc="-5" dirty="0">
                          <a:latin typeface="Arial"/>
                          <a:cs typeface="Arial"/>
                        </a:rPr>
                        <a:t>Default</a:t>
                      </a:r>
                      <a:endParaRPr sz="8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1270" algn="ctr">
                        <a:lnSpc>
                          <a:spcPct val="100000"/>
                        </a:lnSpc>
                        <a:spcBef>
                          <a:spcPts val="270"/>
                        </a:spcBef>
                      </a:pPr>
                      <a:r>
                        <a:rPr sz="800" spc="-5" dirty="0">
                          <a:latin typeface="Arial"/>
                          <a:cs typeface="Arial"/>
                        </a:rPr>
                        <a:t>D15</a:t>
                      </a:r>
                      <a:endParaRPr sz="8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1905" algn="ctr">
                        <a:lnSpc>
                          <a:spcPct val="100000"/>
                        </a:lnSpc>
                        <a:spcBef>
                          <a:spcPts val="270"/>
                        </a:spcBef>
                      </a:pPr>
                      <a:r>
                        <a:rPr sz="800" spc="-5" dirty="0">
                          <a:latin typeface="Arial"/>
                          <a:cs typeface="Arial"/>
                        </a:rPr>
                        <a:t>D14</a:t>
                      </a:r>
                      <a:endParaRPr sz="8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1905" algn="ctr">
                        <a:lnSpc>
                          <a:spcPct val="100000"/>
                        </a:lnSpc>
                        <a:spcBef>
                          <a:spcPts val="270"/>
                        </a:spcBef>
                      </a:pPr>
                      <a:r>
                        <a:rPr sz="800" spc="-5" dirty="0">
                          <a:latin typeface="Arial"/>
                          <a:cs typeface="Arial"/>
                        </a:rPr>
                        <a:t>D13</a:t>
                      </a:r>
                      <a:endParaRPr sz="8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1905" algn="ctr">
                        <a:lnSpc>
                          <a:spcPct val="100000"/>
                        </a:lnSpc>
                        <a:spcBef>
                          <a:spcPts val="270"/>
                        </a:spcBef>
                      </a:pPr>
                      <a:r>
                        <a:rPr sz="800" spc="-5" dirty="0">
                          <a:latin typeface="Arial"/>
                          <a:cs typeface="Arial"/>
                        </a:rPr>
                        <a:t>D12</a:t>
                      </a:r>
                      <a:endParaRPr sz="8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1905" algn="ctr">
                        <a:lnSpc>
                          <a:spcPct val="100000"/>
                        </a:lnSpc>
                        <a:spcBef>
                          <a:spcPts val="270"/>
                        </a:spcBef>
                      </a:pPr>
                      <a:r>
                        <a:rPr sz="800" spc="-5" dirty="0">
                          <a:latin typeface="Arial"/>
                          <a:cs typeface="Arial"/>
                        </a:rPr>
                        <a:t>D11</a:t>
                      </a:r>
                      <a:endParaRPr sz="8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2540" algn="ctr">
                        <a:lnSpc>
                          <a:spcPct val="100000"/>
                        </a:lnSpc>
                        <a:spcBef>
                          <a:spcPts val="270"/>
                        </a:spcBef>
                      </a:pPr>
                      <a:r>
                        <a:rPr sz="800" spc="-5" dirty="0">
                          <a:latin typeface="Arial"/>
                          <a:cs typeface="Arial"/>
                        </a:rPr>
                        <a:t>D10</a:t>
                      </a:r>
                      <a:endParaRPr sz="8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R="91440" algn="r">
                        <a:lnSpc>
                          <a:spcPct val="100000"/>
                        </a:lnSpc>
                        <a:spcBef>
                          <a:spcPts val="270"/>
                        </a:spcBef>
                      </a:pPr>
                      <a:r>
                        <a:rPr sz="800" spc="-10" dirty="0">
                          <a:latin typeface="Arial"/>
                          <a:cs typeface="Arial"/>
                        </a:rPr>
                        <a:t>D9</a:t>
                      </a:r>
                      <a:endParaRPr sz="8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algn="ctr">
                        <a:lnSpc>
                          <a:spcPct val="100000"/>
                        </a:lnSpc>
                        <a:spcBef>
                          <a:spcPts val="270"/>
                        </a:spcBef>
                      </a:pPr>
                      <a:r>
                        <a:rPr sz="800" spc="-10" dirty="0">
                          <a:latin typeface="Arial"/>
                          <a:cs typeface="Arial"/>
                        </a:rPr>
                        <a:t>D8</a:t>
                      </a:r>
                      <a:endParaRPr sz="8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R="90805" algn="r">
                        <a:lnSpc>
                          <a:spcPct val="100000"/>
                        </a:lnSpc>
                        <a:spcBef>
                          <a:spcPts val="270"/>
                        </a:spcBef>
                      </a:pPr>
                      <a:r>
                        <a:rPr sz="800" spc="-10" dirty="0">
                          <a:latin typeface="Arial"/>
                          <a:cs typeface="Arial"/>
                        </a:rPr>
                        <a:t>D7</a:t>
                      </a:r>
                      <a:endParaRPr sz="8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635" algn="ctr">
                        <a:lnSpc>
                          <a:spcPct val="100000"/>
                        </a:lnSpc>
                        <a:spcBef>
                          <a:spcPts val="270"/>
                        </a:spcBef>
                      </a:pPr>
                      <a:r>
                        <a:rPr sz="800" spc="-10" dirty="0">
                          <a:latin typeface="Arial"/>
                          <a:cs typeface="Arial"/>
                        </a:rPr>
                        <a:t>D6</a:t>
                      </a:r>
                      <a:endParaRPr sz="8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99695">
                        <a:lnSpc>
                          <a:spcPct val="100000"/>
                        </a:lnSpc>
                        <a:spcBef>
                          <a:spcPts val="270"/>
                        </a:spcBef>
                      </a:pPr>
                      <a:r>
                        <a:rPr sz="800" spc="-10" dirty="0">
                          <a:latin typeface="Arial"/>
                          <a:cs typeface="Arial"/>
                        </a:rPr>
                        <a:t>D5</a:t>
                      </a:r>
                      <a:endParaRPr sz="8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99695">
                        <a:lnSpc>
                          <a:spcPct val="100000"/>
                        </a:lnSpc>
                        <a:spcBef>
                          <a:spcPts val="270"/>
                        </a:spcBef>
                      </a:pPr>
                      <a:r>
                        <a:rPr sz="800" spc="-10" dirty="0">
                          <a:latin typeface="Arial"/>
                          <a:cs typeface="Arial"/>
                        </a:rPr>
                        <a:t>D4</a:t>
                      </a:r>
                      <a:endParaRPr sz="8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100330">
                        <a:lnSpc>
                          <a:spcPct val="100000"/>
                        </a:lnSpc>
                        <a:spcBef>
                          <a:spcPts val="270"/>
                        </a:spcBef>
                      </a:pPr>
                      <a:r>
                        <a:rPr sz="800" spc="-10" dirty="0">
                          <a:latin typeface="Arial"/>
                          <a:cs typeface="Arial"/>
                        </a:rPr>
                        <a:t>D3</a:t>
                      </a:r>
                      <a:endParaRPr sz="8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99695">
                        <a:lnSpc>
                          <a:spcPct val="100000"/>
                        </a:lnSpc>
                        <a:spcBef>
                          <a:spcPts val="270"/>
                        </a:spcBef>
                      </a:pPr>
                      <a:r>
                        <a:rPr sz="800" spc="-10" dirty="0">
                          <a:latin typeface="Arial"/>
                          <a:cs typeface="Arial"/>
                        </a:rPr>
                        <a:t>D2</a:t>
                      </a:r>
                      <a:endParaRPr sz="8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100330">
                        <a:lnSpc>
                          <a:spcPct val="100000"/>
                        </a:lnSpc>
                        <a:spcBef>
                          <a:spcPts val="270"/>
                        </a:spcBef>
                      </a:pPr>
                      <a:r>
                        <a:rPr sz="800" spc="-10" dirty="0">
                          <a:latin typeface="Arial"/>
                          <a:cs typeface="Arial"/>
                        </a:rPr>
                        <a:t>D1</a:t>
                      </a:r>
                      <a:endParaRPr sz="8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100330">
                        <a:lnSpc>
                          <a:spcPct val="100000"/>
                        </a:lnSpc>
                        <a:spcBef>
                          <a:spcPts val="270"/>
                        </a:spcBef>
                      </a:pPr>
                      <a:r>
                        <a:rPr sz="800" spc="-10" dirty="0">
                          <a:latin typeface="Arial"/>
                          <a:cs typeface="Arial"/>
                        </a:rPr>
                        <a:t>D0</a:t>
                      </a:r>
                      <a:endParaRPr sz="8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extLst>
                  <a:ext uri="{0D108BD9-81ED-4DB2-BD59-A6C34878D82A}">
                    <a16:rowId xmlns:a16="http://schemas.microsoft.com/office/drawing/2014/main" val="10000"/>
                  </a:ext>
                </a:extLst>
              </a:tr>
              <a:tr h="193675">
                <a:tc>
                  <a:txBody>
                    <a:bodyPr/>
                    <a:lstStyle/>
                    <a:p>
                      <a:pPr algn="ctr">
                        <a:lnSpc>
                          <a:spcPct val="100000"/>
                        </a:lnSpc>
                        <a:spcBef>
                          <a:spcPts val="270"/>
                        </a:spcBef>
                      </a:pPr>
                      <a:r>
                        <a:rPr sz="800" spc="-5" dirty="0">
                          <a:latin typeface="Arial"/>
                          <a:cs typeface="Arial"/>
                        </a:rPr>
                        <a:t>‘h3A</a:t>
                      </a:r>
                      <a:endParaRPr sz="8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635" algn="ctr">
                        <a:lnSpc>
                          <a:spcPct val="100000"/>
                        </a:lnSpc>
                        <a:spcBef>
                          <a:spcPts val="270"/>
                        </a:spcBef>
                      </a:pPr>
                      <a:r>
                        <a:rPr sz="800" spc="-5" dirty="0">
                          <a:latin typeface="Arial"/>
                          <a:cs typeface="Arial"/>
                        </a:rPr>
                        <a:t>‘d31</a:t>
                      </a:r>
                      <a:endParaRPr sz="8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2540" algn="ctr">
                        <a:lnSpc>
                          <a:spcPct val="100000"/>
                        </a:lnSpc>
                        <a:spcBef>
                          <a:spcPts val="310"/>
                        </a:spcBef>
                      </a:pPr>
                      <a:r>
                        <a:rPr sz="700" dirty="0">
                          <a:latin typeface="Arial"/>
                          <a:cs typeface="Arial"/>
                        </a:rPr>
                        <a:t>x</a:t>
                      </a:r>
                    </a:p>
                  </a:txBody>
                  <a:tcPr marL="0" marR="0" marT="3937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2540" algn="ctr">
                        <a:lnSpc>
                          <a:spcPct val="100000"/>
                        </a:lnSpc>
                        <a:spcBef>
                          <a:spcPts val="335"/>
                        </a:spcBef>
                      </a:pPr>
                      <a:r>
                        <a:rPr sz="700" dirty="0">
                          <a:latin typeface="Arial"/>
                          <a:cs typeface="Arial"/>
                        </a:rPr>
                        <a:t>x</a:t>
                      </a:r>
                    </a:p>
                  </a:txBody>
                  <a:tcPr marL="0" marR="0" marT="4254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2540" algn="ctr">
                        <a:lnSpc>
                          <a:spcPct val="100000"/>
                        </a:lnSpc>
                        <a:spcBef>
                          <a:spcPts val="310"/>
                        </a:spcBef>
                      </a:pPr>
                      <a:r>
                        <a:rPr sz="700" dirty="0">
                          <a:latin typeface="Arial"/>
                          <a:cs typeface="Arial"/>
                        </a:rPr>
                        <a:t>x</a:t>
                      </a:r>
                    </a:p>
                  </a:txBody>
                  <a:tcPr marL="0" marR="0" marT="3937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3175" algn="ctr">
                        <a:lnSpc>
                          <a:spcPct val="100000"/>
                        </a:lnSpc>
                        <a:spcBef>
                          <a:spcPts val="335"/>
                        </a:spcBef>
                      </a:pPr>
                      <a:r>
                        <a:rPr sz="700" dirty="0">
                          <a:latin typeface="Arial"/>
                          <a:cs typeface="Arial"/>
                        </a:rPr>
                        <a:t>x</a:t>
                      </a:r>
                    </a:p>
                  </a:txBody>
                  <a:tcPr marL="0" marR="0" marT="4254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3175" algn="ctr">
                        <a:lnSpc>
                          <a:spcPct val="100000"/>
                        </a:lnSpc>
                        <a:spcBef>
                          <a:spcPts val="310"/>
                        </a:spcBef>
                      </a:pPr>
                      <a:r>
                        <a:rPr sz="700" dirty="0">
                          <a:latin typeface="Arial"/>
                          <a:cs typeface="Arial"/>
                        </a:rPr>
                        <a:t>x</a:t>
                      </a:r>
                    </a:p>
                  </a:txBody>
                  <a:tcPr marL="0" marR="0" marT="3937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3175" algn="ctr">
                        <a:lnSpc>
                          <a:spcPct val="100000"/>
                        </a:lnSpc>
                        <a:spcBef>
                          <a:spcPts val="335"/>
                        </a:spcBef>
                      </a:pPr>
                      <a:r>
                        <a:rPr sz="700" dirty="0">
                          <a:latin typeface="Arial"/>
                          <a:cs typeface="Arial"/>
                        </a:rPr>
                        <a:t>x</a:t>
                      </a:r>
                    </a:p>
                  </a:txBody>
                  <a:tcPr marL="0" marR="0" marT="4254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R="132080" algn="r">
                        <a:lnSpc>
                          <a:spcPct val="100000"/>
                        </a:lnSpc>
                        <a:spcBef>
                          <a:spcPts val="310"/>
                        </a:spcBef>
                      </a:pPr>
                      <a:r>
                        <a:rPr sz="700" dirty="0">
                          <a:latin typeface="Arial"/>
                          <a:cs typeface="Arial"/>
                        </a:rPr>
                        <a:t>x</a:t>
                      </a:r>
                    </a:p>
                  </a:txBody>
                  <a:tcPr marL="0" marR="0" marT="3937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3810" algn="ctr">
                        <a:lnSpc>
                          <a:spcPct val="100000"/>
                        </a:lnSpc>
                        <a:spcBef>
                          <a:spcPts val="335"/>
                        </a:spcBef>
                      </a:pPr>
                      <a:r>
                        <a:rPr sz="700" dirty="0">
                          <a:latin typeface="Arial"/>
                          <a:cs typeface="Arial"/>
                        </a:rPr>
                        <a:t>x</a:t>
                      </a:r>
                    </a:p>
                  </a:txBody>
                  <a:tcPr marL="0" marR="0" marT="4254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R="132080" algn="r">
                        <a:lnSpc>
                          <a:spcPct val="100000"/>
                        </a:lnSpc>
                        <a:spcBef>
                          <a:spcPts val="310"/>
                        </a:spcBef>
                      </a:pPr>
                      <a:r>
                        <a:rPr sz="700" dirty="0">
                          <a:latin typeface="Arial"/>
                          <a:cs typeface="Arial"/>
                        </a:rPr>
                        <a:t>x</a:t>
                      </a:r>
                    </a:p>
                  </a:txBody>
                  <a:tcPr marL="0" marR="0" marT="3937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3810" algn="ctr">
                        <a:lnSpc>
                          <a:spcPct val="100000"/>
                        </a:lnSpc>
                        <a:spcBef>
                          <a:spcPts val="335"/>
                        </a:spcBef>
                      </a:pPr>
                      <a:r>
                        <a:rPr sz="700" dirty="0">
                          <a:latin typeface="Arial"/>
                          <a:cs typeface="Arial"/>
                        </a:rPr>
                        <a:t>x</a:t>
                      </a:r>
                    </a:p>
                  </a:txBody>
                  <a:tcPr marL="0" marR="0" marT="4254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gridSpan="6">
                  <a:txBody>
                    <a:bodyPr/>
                    <a:lstStyle/>
                    <a:p>
                      <a:pPr marL="638175">
                        <a:lnSpc>
                          <a:spcPct val="100000"/>
                        </a:lnSpc>
                        <a:spcBef>
                          <a:spcPts val="310"/>
                        </a:spcBef>
                      </a:pPr>
                      <a:r>
                        <a:rPr sz="700" spc="-10" dirty="0">
                          <a:latin typeface="Arial"/>
                          <a:cs typeface="Arial"/>
                        </a:rPr>
                        <a:t>MODE_OFS</a:t>
                      </a:r>
                      <a:r>
                        <a:rPr sz="700" spc="5" dirty="0">
                          <a:latin typeface="Arial"/>
                          <a:cs typeface="Arial"/>
                        </a:rPr>
                        <a:t> </a:t>
                      </a:r>
                      <a:r>
                        <a:rPr sz="700" spc="-5" dirty="0">
                          <a:latin typeface="Arial"/>
                          <a:cs typeface="Arial"/>
                        </a:rPr>
                        <a:t>[5:0]</a:t>
                      </a:r>
                      <a:endParaRPr sz="700" dirty="0">
                        <a:latin typeface="Arial"/>
                        <a:cs typeface="Arial"/>
                      </a:endParaRPr>
                    </a:p>
                  </a:txBody>
                  <a:tcPr marL="0" marR="0" marT="3937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1"/>
                  </a:ext>
                </a:extLst>
              </a:tr>
            </a:tbl>
          </a:graphicData>
        </a:graphic>
      </p:graphicFrame>
      <p:sp>
        <p:nvSpPr>
          <p:cNvPr id="18" name="object 18"/>
          <p:cNvSpPr txBox="1"/>
          <p:nvPr/>
        </p:nvSpPr>
        <p:spPr>
          <a:xfrm>
            <a:off x="397395" y="7163181"/>
            <a:ext cx="6036025" cy="182101"/>
          </a:xfrm>
          <a:prstGeom prst="rect">
            <a:avLst/>
          </a:prstGeom>
        </p:spPr>
        <p:txBody>
          <a:bodyPr vert="horz" wrap="square" lIns="0" tIns="12700" rIns="0" bIns="0" rtlCol="0">
            <a:spAutoFit/>
          </a:bodyPr>
          <a:lstStyle/>
          <a:p>
            <a:pPr marL="12700">
              <a:lnSpc>
                <a:spcPct val="100000"/>
              </a:lnSpc>
              <a:spcBef>
                <a:spcPts val="100"/>
              </a:spcBef>
            </a:pPr>
            <a:r>
              <a:rPr sz="1100" b="1" dirty="0">
                <a:latin typeface="Arial"/>
                <a:cs typeface="Arial"/>
              </a:rPr>
              <a:t>MODE</a:t>
            </a:r>
            <a:r>
              <a:rPr sz="1100" b="1" spc="-50" dirty="0">
                <a:latin typeface="Arial"/>
                <a:cs typeface="Arial"/>
              </a:rPr>
              <a:t> </a:t>
            </a:r>
            <a:r>
              <a:rPr sz="1100" b="1" spc="-20" dirty="0">
                <a:latin typeface="Arial"/>
                <a:cs typeface="Arial"/>
              </a:rPr>
              <a:t>DAC</a:t>
            </a:r>
            <a:r>
              <a:rPr sz="1100" b="1" spc="20" dirty="0">
                <a:latin typeface="Arial"/>
                <a:cs typeface="Arial"/>
              </a:rPr>
              <a:t> </a:t>
            </a:r>
            <a:r>
              <a:rPr sz="1100" b="1" spc="-5" dirty="0">
                <a:latin typeface="Arial"/>
                <a:cs typeface="Arial"/>
              </a:rPr>
              <a:t>OFFSET</a:t>
            </a:r>
            <a:endParaRPr sz="1100" dirty="0">
              <a:latin typeface="Arial"/>
              <a:cs typeface="Arial"/>
            </a:endParaRPr>
          </a:p>
        </p:txBody>
      </p:sp>
      <p:graphicFrame>
        <p:nvGraphicFramePr>
          <p:cNvPr id="19" name="object 19"/>
          <p:cNvGraphicFramePr>
            <a:graphicFrameLocks noGrp="1"/>
          </p:cNvGraphicFramePr>
          <p:nvPr>
            <p:extLst>
              <p:ext uri="{D42A27DB-BD31-4B8C-83A1-F6EECF244321}">
                <p14:modId xmlns:p14="http://schemas.microsoft.com/office/powerpoint/2010/main" val="3514678039"/>
              </p:ext>
            </p:extLst>
          </p:nvPr>
        </p:nvGraphicFramePr>
        <p:xfrm>
          <a:off x="397192" y="8342566"/>
          <a:ext cx="6043898" cy="387350"/>
        </p:xfrm>
        <a:graphic>
          <a:graphicData uri="http://schemas.openxmlformats.org/drawingml/2006/table">
            <a:tbl>
              <a:tblPr firstRow="1" bandRow="1">
                <a:tableStyleId>{2D5ABB26-0587-4C30-8999-92F81FD0307C}</a:tableStyleId>
              </a:tblPr>
              <a:tblGrid>
                <a:gridCol w="412509">
                  <a:extLst>
                    <a:ext uri="{9D8B030D-6E8A-4147-A177-3AD203B41FA5}">
                      <a16:colId xmlns:a16="http://schemas.microsoft.com/office/drawing/2014/main" val="20000"/>
                    </a:ext>
                  </a:extLst>
                </a:gridCol>
                <a:gridCol w="474727">
                  <a:extLst>
                    <a:ext uri="{9D8B030D-6E8A-4147-A177-3AD203B41FA5}">
                      <a16:colId xmlns:a16="http://schemas.microsoft.com/office/drawing/2014/main" val="20001"/>
                    </a:ext>
                  </a:extLst>
                </a:gridCol>
                <a:gridCol w="322291">
                  <a:extLst>
                    <a:ext uri="{9D8B030D-6E8A-4147-A177-3AD203B41FA5}">
                      <a16:colId xmlns:a16="http://schemas.microsoft.com/office/drawing/2014/main" val="20002"/>
                    </a:ext>
                  </a:extLst>
                </a:gridCol>
                <a:gridCol w="322292">
                  <a:extLst>
                    <a:ext uri="{9D8B030D-6E8A-4147-A177-3AD203B41FA5}">
                      <a16:colId xmlns:a16="http://schemas.microsoft.com/office/drawing/2014/main" val="20003"/>
                    </a:ext>
                  </a:extLst>
                </a:gridCol>
                <a:gridCol w="322292">
                  <a:extLst>
                    <a:ext uri="{9D8B030D-6E8A-4147-A177-3AD203B41FA5}">
                      <a16:colId xmlns:a16="http://schemas.microsoft.com/office/drawing/2014/main" val="20004"/>
                    </a:ext>
                  </a:extLst>
                </a:gridCol>
                <a:gridCol w="322292">
                  <a:extLst>
                    <a:ext uri="{9D8B030D-6E8A-4147-A177-3AD203B41FA5}">
                      <a16:colId xmlns:a16="http://schemas.microsoft.com/office/drawing/2014/main" val="20005"/>
                    </a:ext>
                  </a:extLst>
                </a:gridCol>
                <a:gridCol w="322292">
                  <a:extLst>
                    <a:ext uri="{9D8B030D-6E8A-4147-A177-3AD203B41FA5}">
                      <a16:colId xmlns:a16="http://schemas.microsoft.com/office/drawing/2014/main" val="20006"/>
                    </a:ext>
                  </a:extLst>
                </a:gridCol>
                <a:gridCol w="322292">
                  <a:extLst>
                    <a:ext uri="{9D8B030D-6E8A-4147-A177-3AD203B41FA5}">
                      <a16:colId xmlns:a16="http://schemas.microsoft.com/office/drawing/2014/main" val="20007"/>
                    </a:ext>
                  </a:extLst>
                </a:gridCol>
                <a:gridCol w="322292">
                  <a:extLst>
                    <a:ext uri="{9D8B030D-6E8A-4147-A177-3AD203B41FA5}">
                      <a16:colId xmlns:a16="http://schemas.microsoft.com/office/drawing/2014/main" val="20008"/>
                    </a:ext>
                  </a:extLst>
                </a:gridCol>
                <a:gridCol w="322291">
                  <a:extLst>
                    <a:ext uri="{9D8B030D-6E8A-4147-A177-3AD203B41FA5}">
                      <a16:colId xmlns:a16="http://schemas.microsoft.com/office/drawing/2014/main" val="20009"/>
                    </a:ext>
                  </a:extLst>
                </a:gridCol>
                <a:gridCol w="322291">
                  <a:extLst>
                    <a:ext uri="{9D8B030D-6E8A-4147-A177-3AD203B41FA5}">
                      <a16:colId xmlns:a16="http://schemas.microsoft.com/office/drawing/2014/main" val="20010"/>
                    </a:ext>
                  </a:extLst>
                </a:gridCol>
                <a:gridCol w="322291">
                  <a:extLst>
                    <a:ext uri="{9D8B030D-6E8A-4147-A177-3AD203B41FA5}">
                      <a16:colId xmlns:a16="http://schemas.microsoft.com/office/drawing/2014/main" val="20011"/>
                    </a:ext>
                  </a:extLst>
                </a:gridCol>
                <a:gridCol w="322291">
                  <a:extLst>
                    <a:ext uri="{9D8B030D-6E8A-4147-A177-3AD203B41FA5}">
                      <a16:colId xmlns:a16="http://schemas.microsoft.com/office/drawing/2014/main" val="20012"/>
                    </a:ext>
                  </a:extLst>
                </a:gridCol>
                <a:gridCol w="322291">
                  <a:extLst>
                    <a:ext uri="{9D8B030D-6E8A-4147-A177-3AD203B41FA5}">
                      <a16:colId xmlns:a16="http://schemas.microsoft.com/office/drawing/2014/main" val="20013"/>
                    </a:ext>
                  </a:extLst>
                </a:gridCol>
                <a:gridCol w="322291">
                  <a:extLst>
                    <a:ext uri="{9D8B030D-6E8A-4147-A177-3AD203B41FA5}">
                      <a16:colId xmlns:a16="http://schemas.microsoft.com/office/drawing/2014/main" val="20014"/>
                    </a:ext>
                  </a:extLst>
                </a:gridCol>
                <a:gridCol w="322291">
                  <a:extLst>
                    <a:ext uri="{9D8B030D-6E8A-4147-A177-3AD203B41FA5}">
                      <a16:colId xmlns:a16="http://schemas.microsoft.com/office/drawing/2014/main" val="20015"/>
                    </a:ext>
                  </a:extLst>
                </a:gridCol>
                <a:gridCol w="322291">
                  <a:extLst>
                    <a:ext uri="{9D8B030D-6E8A-4147-A177-3AD203B41FA5}">
                      <a16:colId xmlns:a16="http://schemas.microsoft.com/office/drawing/2014/main" val="20016"/>
                    </a:ext>
                  </a:extLst>
                </a:gridCol>
                <a:gridCol w="322291">
                  <a:extLst>
                    <a:ext uri="{9D8B030D-6E8A-4147-A177-3AD203B41FA5}">
                      <a16:colId xmlns:a16="http://schemas.microsoft.com/office/drawing/2014/main" val="20017"/>
                    </a:ext>
                  </a:extLst>
                </a:gridCol>
              </a:tblGrid>
              <a:tr h="193675">
                <a:tc>
                  <a:txBody>
                    <a:bodyPr/>
                    <a:lstStyle/>
                    <a:p>
                      <a:pPr algn="ctr">
                        <a:lnSpc>
                          <a:spcPct val="100000"/>
                        </a:lnSpc>
                        <a:spcBef>
                          <a:spcPts val="270"/>
                        </a:spcBef>
                      </a:pPr>
                      <a:r>
                        <a:rPr sz="800" dirty="0">
                          <a:latin typeface="Arial"/>
                          <a:cs typeface="Arial"/>
                        </a:rPr>
                        <a:t>A[6:0]</a:t>
                      </a: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algn="ctr">
                        <a:lnSpc>
                          <a:spcPct val="100000"/>
                        </a:lnSpc>
                        <a:spcBef>
                          <a:spcPts val="270"/>
                        </a:spcBef>
                      </a:pPr>
                      <a:r>
                        <a:rPr sz="800" spc="-5" dirty="0">
                          <a:latin typeface="Arial"/>
                          <a:cs typeface="Arial"/>
                        </a:rPr>
                        <a:t>Default</a:t>
                      </a:r>
                      <a:endParaRPr sz="8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1270" algn="ctr">
                        <a:lnSpc>
                          <a:spcPct val="100000"/>
                        </a:lnSpc>
                        <a:spcBef>
                          <a:spcPts val="270"/>
                        </a:spcBef>
                      </a:pPr>
                      <a:r>
                        <a:rPr sz="800" spc="-5" dirty="0">
                          <a:latin typeface="Arial"/>
                          <a:cs typeface="Arial"/>
                        </a:rPr>
                        <a:t>D15</a:t>
                      </a:r>
                      <a:endParaRPr sz="8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1270" algn="ctr">
                        <a:lnSpc>
                          <a:spcPct val="100000"/>
                        </a:lnSpc>
                        <a:spcBef>
                          <a:spcPts val="270"/>
                        </a:spcBef>
                      </a:pPr>
                      <a:r>
                        <a:rPr sz="800" spc="-5" dirty="0">
                          <a:latin typeface="Arial"/>
                          <a:cs typeface="Arial"/>
                        </a:rPr>
                        <a:t>D14</a:t>
                      </a:r>
                      <a:endParaRPr sz="8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1270" algn="ctr">
                        <a:lnSpc>
                          <a:spcPct val="100000"/>
                        </a:lnSpc>
                        <a:spcBef>
                          <a:spcPts val="270"/>
                        </a:spcBef>
                      </a:pPr>
                      <a:r>
                        <a:rPr sz="800" spc="-5" dirty="0">
                          <a:latin typeface="Arial"/>
                          <a:cs typeface="Arial"/>
                        </a:rPr>
                        <a:t>D13</a:t>
                      </a:r>
                      <a:endParaRPr sz="8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1905" algn="ctr">
                        <a:lnSpc>
                          <a:spcPct val="100000"/>
                        </a:lnSpc>
                        <a:spcBef>
                          <a:spcPts val="270"/>
                        </a:spcBef>
                      </a:pPr>
                      <a:r>
                        <a:rPr sz="800" spc="-5" dirty="0">
                          <a:latin typeface="Arial"/>
                          <a:cs typeface="Arial"/>
                        </a:rPr>
                        <a:t>D12</a:t>
                      </a:r>
                      <a:endParaRPr sz="8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1905" algn="ctr">
                        <a:lnSpc>
                          <a:spcPct val="100000"/>
                        </a:lnSpc>
                        <a:spcBef>
                          <a:spcPts val="270"/>
                        </a:spcBef>
                      </a:pPr>
                      <a:r>
                        <a:rPr sz="800" spc="-5" dirty="0">
                          <a:latin typeface="Arial"/>
                          <a:cs typeface="Arial"/>
                        </a:rPr>
                        <a:t>D11</a:t>
                      </a:r>
                      <a:endParaRPr sz="8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1905" algn="ctr">
                        <a:lnSpc>
                          <a:spcPct val="100000"/>
                        </a:lnSpc>
                        <a:spcBef>
                          <a:spcPts val="270"/>
                        </a:spcBef>
                      </a:pPr>
                      <a:r>
                        <a:rPr sz="800" spc="-5" dirty="0">
                          <a:latin typeface="Arial"/>
                          <a:cs typeface="Arial"/>
                        </a:rPr>
                        <a:t>D10</a:t>
                      </a:r>
                      <a:endParaRPr sz="8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99695">
                        <a:lnSpc>
                          <a:spcPct val="100000"/>
                        </a:lnSpc>
                        <a:spcBef>
                          <a:spcPts val="270"/>
                        </a:spcBef>
                      </a:pPr>
                      <a:r>
                        <a:rPr sz="800" spc="-5" dirty="0">
                          <a:latin typeface="Arial"/>
                          <a:cs typeface="Arial"/>
                        </a:rPr>
                        <a:t>D9</a:t>
                      </a:r>
                      <a:endParaRPr sz="8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99695">
                        <a:lnSpc>
                          <a:spcPct val="100000"/>
                        </a:lnSpc>
                        <a:spcBef>
                          <a:spcPts val="270"/>
                        </a:spcBef>
                      </a:pPr>
                      <a:r>
                        <a:rPr sz="800" spc="-5" dirty="0">
                          <a:latin typeface="Arial"/>
                          <a:cs typeface="Arial"/>
                        </a:rPr>
                        <a:t>D8</a:t>
                      </a:r>
                      <a:endParaRPr sz="8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99695">
                        <a:lnSpc>
                          <a:spcPct val="100000"/>
                        </a:lnSpc>
                        <a:spcBef>
                          <a:spcPts val="270"/>
                        </a:spcBef>
                      </a:pPr>
                      <a:r>
                        <a:rPr sz="800" spc="-5" dirty="0">
                          <a:latin typeface="Arial"/>
                          <a:cs typeface="Arial"/>
                        </a:rPr>
                        <a:t>D7</a:t>
                      </a:r>
                      <a:endParaRPr sz="8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99695">
                        <a:lnSpc>
                          <a:spcPct val="100000"/>
                        </a:lnSpc>
                        <a:spcBef>
                          <a:spcPts val="270"/>
                        </a:spcBef>
                      </a:pPr>
                      <a:r>
                        <a:rPr sz="800" spc="-5" dirty="0">
                          <a:latin typeface="Arial"/>
                          <a:cs typeface="Arial"/>
                        </a:rPr>
                        <a:t>D6</a:t>
                      </a:r>
                      <a:endParaRPr sz="8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99695">
                        <a:lnSpc>
                          <a:spcPct val="100000"/>
                        </a:lnSpc>
                        <a:spcBef>
                          <a:spcPts val="270"/>
                        </a:spcBef>
                      </a:pPr>
                      <a:r>
                        <a:rPr sz="800" spc="-5" dirty="0">
                          <a:latin typeface="Arial"/>
                          <a:cs typeface="Arial"/>
                        </a:rPr>
                        <a:t>D5</a:t>
                      </a:r>
                      <a:endParaRPr sz="8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99695">
                        <a:lnSpc>
                          <a:spcPct val="100000"/>
                        </a:lnSpc>
                        <a:spcBef>
                          <a:spcPts val="270"/>
                        </a:spcBef>
                      </a:pPr>
                      <a:r>
                        <a:rPr sz="800" spc="-5" dirty="0">
                          <a:latin typeface="Arial"/>
                          <a:cs typeface="Arial"/>
                        </a:rPr>
                        <a:t>D4</a:t>
                      </a:r>
                      <a:endParaRPr sz="8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100330">
                        <a:lnSpc>
                          <a:spcPct val="100000"/>
                        </a:lnSpc>
                        <a:spcBef>
                          <a:spcPts val="270"/>
                        </a:spcBef>
                      </a:pPr>
                      <a:r>
                        <a:rPr sz="800" spc="-5" dirty="0">
                          <a:latin typeface="Arial"/>
                          <a:cs typeface="Arial"/>
                        </a:rPr>
                        <a:t>D3</a:t>
                      </a:r>
                      <a:endParaRPr sz="8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99695">
                        <a:lnSpc>
                          <a:spcPct val="100000"/>
                        </a:lnSpc>
                        <a:spcBef>
                          <a:spcPts val="270"/>
                        </a:spcBef>
                      </a:pPr>
                      <a:r>
                        <a:rPr sz="800" spc="-5" dirty="0">
                          <a:latin typeface="Arial"/>
                          <a:cs typeface="Arial"/>
                        </a:rPr>
                        <a:t>D2</a:t>
                      </a:r>
                      <a:endParaRPr sz="8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100330">
                        <a:lnSpc>
                          <a:spcPct val="100000"/>
                        </a:lnSpc>
                        <a:spcBef>
                          <a:spcPts val="270"/>
                        </a:spcBef>
                      </a:pPr>
                      <a:r>
                        <a:rPr sz="800" spc="-5" dirty="0">
                          <a:latin typeface="Arial"/>
                          <a:cs typeface="Arial"/>
                        </a:rPr>
                        <a:t>D1</a:t>
                      </a:r>
                      <a:endParaRPr sz="8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100330">
                        <a:lnSpc>
                          <a:spcPct val="100000"/>
                        </a:lnSpc>
                        <a:spcBef>
                          <a:spcPts val="270"/>
                        </a:spcBef>
                      </a:pPr>
                      <a:r>
                        <a:rPr sz="800" spc="-5" dirty="0">
                          <a:latin typeface="Arial"/>
                          <a:cs typeface="Arial"/>
                        </a:rPr>
                        <a:t>D0</a:t>
                      </a:r>
                      <a:endParaRPr sz="8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extLst>
                  <a:ext uri="{0D108BD9-81ED-4DB2-BD59-A6C34878D82A}">
                    <a16:rowId xmlns:a16="http://schemas.microsoft.com/office/drawing/2014/main" val="10000"/>
                  </a:ext>
                </a:extLst>
              </a:tr>
              <a:tr h="193675">
                <a:tc>
                  <a:txBody>
                    <a:bodyPr/>
                    <a:lstStyle/>
                    <a:p>
                      <a:pPr marL="635" algn="ctr">
                        <a:lnSpc>
                          <a:spcPct val="100000"/>
                        </a:lnSpc>
                        <a:spcBef>
                          <a:spcPts val="270"/>
                        </a:spcBef>
                      </a:pPr>
                      <a:r>
                        <a:rPr sz="800" spc="-5" dirty="0">
                          <a:latin typeface="Arial"/>
                          <a:cs typeface="Arial"/>
                        </a:rPr>
                        <a:t>‘h40</a:t>
                      </a:r>
                      <a:endParaRPr sz="8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algn="ctr">
                        <a:lnSpc>
                          <a:spcPct val="100000"/>
                        </a:lnSpc>
                        <a:spcBef>
                          <a:spcPts val="270"/>
                        </a:spcBef>
                      </a:pPr>
                      <a:r>
                        <a:rPr sz="800" spc="-5" dirty="0">
                          <a:latin typeface="Arial"/>
                          <a:cs typeface="Arial"/>
                        </a:rPr>
                        <a:t>‘d511</a:t>
                      </a:r>
                      <a:endParaRPr sz="8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2540" algn="ctr">
                        <a:lnSpc>
                          <a:spcPct val="100000"/>
                        </a:lnSpc>
                        <a:spcBef>
                          <a:spcPts val="310"/>
                        </a:spcBef>
                      </a:pPr>
                      <a:r>
                        <a:rPr sz="700" dirty="0">
                          <a:latin typeface="Arial"/>
                          <a:cs typeface="Arial"/>
                        </a:rPr>
                        <a:t>x</a:t>
                      </a:r>
                    </a:p>
                  </a:txBody>
                  <a:tcPr marL="0" marR="0" marT="3937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2540" algn="ctr">
                        <a:lnSpc>
                          <a:spcPct val="100000"/>
                        </a:lnSpc>
                        <a:spcBef>
                          <a:spcPts val="335"/>
                        </a:spcBef>
                      </a:pPr>
                      <a:r>
                        <a:rPr sz="700" dirty="0">
                          <a:latin typeface="Arial"/>
                          <a:cs typeface="Arial"/>
                        </a:rPr>
                        <a:t>x</a:t>
                      </a:r>
                    </a:p>
                  </a:txBody>
                  <a:tcPr marL="0" marR="0" marT="4254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2540" algn="ctr">
                        <a:lnSpc>
                          <a:spcPct val="100000"/>
                        </a:lnSpc>
                        <a:spcBef>
                          <a:spcPts val="310"/>
                        </a:spcBef>
                      </a:pPr>
                      <a:r>
                        <a:rPr sz="700" dirty="0">
                          <a:latin typeface="Arial"/>
                          <a:cs typeface="Arial"/>
                        </a:rPr>
                        <a:t>x</a:t>
                      </a:r>
                    </a:p>
                  </a:txBody>
                  <a:tcPr marL="0" marR="0" marT="3937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3175" algn="ctr">
                        <a:lnSpc>
                          <a:spcPct val="100000"/>
                        </a:lnSpc>
                        <a:spcBef>
                          <a:spcPts val="335"/>
                        </a:spcBef>
                      </a:pPr>
                      <a:r>
                        <a:rPr sz="700" dirty="0">
                          <a:latin typeface="Arial"/>
                          <a:cs typeface="Arial"/>
                        </a:rPr>
                        <a:t>x</a:t>
                      </a:r>
                    </a:p>
                  </a:txBody>
                  <a:tcPr marL="0" marR="0" marT="4254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3175" algn="ctr">
                        <a:lnSpc>
                          <a:spcPct val="100000"/>
                        </a:lnSpc>
                        <a:spcBef>
                          <a:spcPts val="310"/>
                        </a:spcBef>
                      </a:pPr>
                      <a:r>
                        <a:rPr sz="700" dirty="0">
                          <a:latin typeface="Arial"/>
                          <a:cs typeface="Arial"/>
                        </a:rPr>
                        <a:t>x</a:t>
                      </a:r>
                    </a:p>
                  </a:txBody>
                  <a:tcPr marL="0" marR="0" marT="3937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3175" algn="ctr">
                        <a:lnSpc>
                          <a:spcPct val="100000"/>
                        </a:lnSpc>
                        <a:spcBef>
                          <a:spcPts val="335"/>
                        </a:spcBef>
                      </a:pPr>
                      <a:r>
                        <a:rPr sz="700" dirty="0">
                          <a:latin typeface="Arial"/>
                          <a:cs typeface="Arial"/>
                        </a:rPr>
                        <a:t>x</a:t>
                      </a:r>
                    </a:p>
                  </a:txBody>
                  <a:tcPr marL="0" marR="0" marT="4254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gridSpan="10">
                  <a:txBody>
                    <a:bodyPr/>
                    <a:lstStyle/>
                    <a:p>
                      <a:pPr marL="1270" algn="ctr">
                        <a:lnSpc>
                          <a:spcPct val="100000"/>
                        </a:lnSpc>
                        <a:spcBef>
                          <a:spcPts val="310"/>
                        </a:spcBef>
                      </a:pPr>
                      <a:r>
                        <a:rPr sz="700" spc="-5" dirty="0">
                          <a:latin typeface="Arial"/>
                          <a:cs typeface="Arial"/>
                        </a:rPr>
                        <a:t>V_ANA_GAIN</a:t>
                      </a:r>
                      <a:r>
                        <a:rPr sz="700" spc="-35" dirty="0">
                          <a:latin typeface="Arial"/>
                          <a:cs typeface="Arial"/>
                        </a:rPr>
                        <a:t> </a:t>
                      </a:r>
                      <a:r>
                        <a:rPr sz="700" spc="-5" dirty="0">
                          <a:latin typeface="Arial"/>
                          <a:cs typeface="Arial"/>
                        </a:rPr>
                        <a:t>[9:0]</a:t>
                      </a:r>
                      <a:endParaRPr sz="700" dirty="0">
                        <a:latin typeface="Arial"/>
                        <a:cs typeface="Arial"/>
                      </a:endParaRPr>
                    </a:p>
                  </a:txBody>
                  <a:tcPr marL="0" marR="0" marT="3937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1"/>
                  </a:ext>
                </a:extLst>
              </a:tr>
            </a:tbl>
          </a:graphicData>
        </a:graphic>
      </p:graphicFrame>
      <p:sp>
        <p:nvSpPr>
          <p:cNvPr id="20" name="object 20"/>
          <p:cNvSpPr txBox="1"/>
          <p:nvPr/>
        </p:nvSpPr>
        <p:spPr>
          <a:xfrm>
            <a:off x="393424" y="8101710"/>
            <a:ext cx="6043901" cy="182101"/>
          </a:xfrm>
          <a:prstGeom prst="rect">
            <a:avLst/>
          </a:prstGeom>
        </p:spPr>
        <p:txBody>
          <a:bodyPr vert="horz" wrap="square" lIns="0" tIns="12700" rIns="0" bIns="0" rtlCol="0">
            <a:spAutoFit/>
          </a:bodyPr>
          <a:lstStyle/>
          <a:p>
            <a:pPr marL="12700">
              <a:lnSpc>
                <a:spcPct val="100000"/>
              </a:lnSpc>
              <a:spcBef>
                <a:spcPts val="100"/>
              </a:spcBef>
            </a:pPr>
            <a:r>
              <a:rPr sz="1100" b="1" spc="-10" dirty="0">
                <a:latin typeface="Arial"/>
                <a:cs typeface="Arial"/>
              </a:rPr>
              <a:t>V_ANA</a:t>
            </a:r>
            <a:r>
              <a:rPr sz="1100" b="1" spc="-25" dirty="0">
                <a:latin typeface="Arial"/>
                <a:cs typeface="Arial"/>
              </a:rPr>
              <a:t> </a:t>
            </a:r>
            <a:r>
              <a:rPr sz="1100" b="1" spc="-10" dirty="0">
                <a:latin typeface="Arial"/>
                <a:cs typeface="Arial"/>
              </a:rPr>
              <a:t>GAIN</a:t>
            </a:r>
            <a:endParaRPr sz="1100" dirty="0">
              <a:latin typeface="Arial"/>
              <a:cs typeface="Arial"/>
            </a:endParaRPr>
          </a:p>
        </p:txBody>
      </p:sp>
      <p:sp>
        <p:nvSpPr>
          <p:cNvPr id="24" name="object 9">
            <a:extLst>
              <a:ext uri="{FF2B5EF4-FFF2-40B4-BE49-F238E27FC236}">
                <a16:creationId xmlns:a16="http://schemas.microsoft.com/office/drawing/2014/main" id="{0369E832-3014-F410-B163-AF3AB68099BC}"/>
              </a:ext>
            </a:extLst>
          </p:cNvPr>
          <p:cNvSpPr txBox="1"/>
          <p:nvPr/>
        </p:nvSpPr>
        <p:spPr>
          <a:xfrm>
            <a:off x="304800" y="9067800"/>
            <a:ext cx="2078355" cy="289823"/>
          </a:xfrm>
          <a:prstGeom prst="rect">
            <a:avLst/>
          </a:prstGeom>
        </p:spPr>
        <p:txBody>
          <a:bodyPr vert="horz" wrap="square" lIns="0" tIns="12700" rIns="0" bIns="0" rtlCol="0">
            <a:spAutoFit/>
          </a:bodyPr>
          <a:lstStyle/>
          <a:p>
            <a:pPr marL="12700">
              <a:lnSpc>
                <a:spcPct val="100000"/>
              </a:lnSpc>
              <a:spcBef>
                <a:spcPts val="100"/>
              </a:spcBef>
            </a:pPr>
            <a:r>
              <a:rPr b="1" spc="-5" dirty="0">
                <a:solidFill>
                  <a:srgbClr val="FF0000"/>
                </a:solidFill>
                <a:cs typeface="Perpetua Titling MT"/>
              </a:rPr>
              <a:t>CONFIDENTIAL</a:t>
            </a:r>
            <a:endParaRPr dirty="0">
              <a:cs typeface="Perpetua Titling MT"/>
            </a:endParaRPr>
          </a:p>
        </p:txBody>
      </p:sp>
      <p:sp>
        <p:nvSpPr>
          <p:cNvPr id="25" name="object 6">
            <a:extLst>
              <a:ext uri="{FF2B5EF4-FFF2-40B4-BE49-F238E27FC236}">
                <a16:creationId xmlns:a16="http://schemas.microsoft.com/office/drawing/2014/main" id="{0A691F11-AC31-C61E-0D4E-D1B653C16A6D}"/>
              </a:ext>
            </a:extLst>
          </p:cNvPr>
          <p:cNvSpPr/>
          <p:nvPr/>
        </p:nvSpPr>
        <p:spPr>
          <a:xfrm>
            <a:off x="301676" y="9458756"/>
            <a:ext cx="6246495" cy="0"/>
          </a:xfrm>
          <a:custGeom>
            <a:avLst/>
            <a:gdLst/>
            <a:ahLst/>
            <a:cxnLst/>
            <a:rect l="l" t="t" r="r" b="b"/>
            <a:pathLst>
              <a:path w="6246495">
                <a:moveTo>
                  <a:pt x="0" y="0"/>
                </a:moveTo>
                <a:lnTo>
                  <a:pt x="6245999" y="0"/>
                </a:lnTo>
              </a:path>
            </a:pathLst>
          </a:custGeom>
          <a:ln w="25920">
            <a:solidFill>
              <a:srgbClr val="BFBFBF"/>
            </a:solidFill>
          </a:ln>
        </p:spPr>
        <p:txBody>
          <a:bodyPr wrap="square" lIns="0" tIns="0" rIns="0" bIns="0" rtlCol="0"/>
          <a:lstStyle/>
          <a:p>
            <a:endParaRPr/>
          </a:p>
        </p:txBody>
      </p:sp>
      <p:sp>
        <p:nvSpPr>
          <p:cNvPr id="26" name="슬라이드 번호 개체 틀 3">
            <a:hlinkClick r:id="rId2"/>
            <a:extLst>
              <a:ext uri="{FF2B5EF4-FFF2-40B4-BE49-F238E27FC236}">
                <a16:creationId xmlns:a16="http://schemas.microsoft.com/office/drawing/2014/main" id="{8334383D-16FD-B1E0-FFD6-4E3EC50AA7C2}"/>
              </a:ext>
            </a:extLst>
          </p:cNvPr>
          <p:cNvSpPr txBox="1">
            <a:spLocks/>
          </p:cNvSpPr>
          <p:nvPr/>
        </p:nvSpPr>
        <p:spPr>
          <a:xfrm>
            <a:off x="5151602" y="9452864"/>
            <a:ext cx="1487550"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dirty="0">
                <a:solidFill>
                  <a:prstClr val="black"/>
                </a:solidFill>
                <a:latin typeface="Arial" panose="020B0604020202020204" pitchFamily="34" charset="0"/>
                <a:cs typeface="Arial" panose="020B0604020202020204" pitchFamily="34" charset="0"/>
              </a:rPr>
              <a:t>http://www.glbltech.com/</a:t>
            </a:r>
            <a:endParaRPr lang="ko-KR" altLang="en-US" dirty="0">
              <a:solidFill>
                <a:prstClr val="black"/>
              </a:solidFill>
              <a:latin typeface="Arial" panose="020B0604020202020204" pitchFamily="34" charset="0"/>
              <a:cs typeface="Arial" panose="020B0604020202020204" pitchFamily="34" charset="0"/>
            </a:endParaRPr>
          </a:p>
        </p:txBody>
      </p:sp>
      <p:sp>
        <p:nvSpPr>
          <p:cNvPr id="27" name="object 38">
            <a:extLst>
              <a:ext uri="{FF2B5EF4-FFF2-40B4-BE49-F238E27FC236}">
                <a16:creationId xmlns:a16="http://schemas.microsoft.com/office/drawing/2014/main" id="{0E5259FC-B67C-083F-B462-0B4B1CC97AC4}"/>
              </a:ext>
            </a:extLst>
          </p:cNvPr>
          <p:cNvSpPr txBox="1">
            <a:spLocks/>
          </p:cNvSpPr>
          <p:nvPr/>
        </p:nvSpPr>
        <p:spPr>
          <a:xfrm>
            <a:off x="3309066" y="9547988"/>
            <a:ext cx="487045" cy="139141"/>
          </a:xfrm>
          <a:prstGeom prst="rect">
            <a:avLst/>
          </a:prstGeom>
        </p:spPr>
        <p:txBody>
          <a:bodyPr vert="horz" wrap="square" lIns="0" tIns="635" rIns="0" bIns="0" rtlCol="0">
            <a:spAutoFit/>
          </a:bodyPr>
          <a:lstStyle>
            <a:defPPr>
              <a:defRPr lang="ko-KR"/>
            </a:defPPr>
            <a:lvl1pPr marL="0" algn="l" defTabSz="914400" rtl="0" eaLnBrk="1" latinLnBrk="1" hangingPunct="1">
              <a:defRPr sz="1050" b="0" i="0" kern="1200">
                <a:solidFill>
                  <a:schemeClr val="tx1"/>
                </a:solidFill>
                <a:latin typeface="Arial"/>
                <a:ea typeface="+mn-ea"/>
                <a:cs typeface="Arial"/>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marL="12700">
              <a:spcBef>
                <a:spcPts val="5"/>
              </a:spcBef>
              <a:defRPr/>
            </a:pPr>
            <a:r>
              <a:rPr lang="en-US" sz="900" dirty="0">
                <a:solidFill>
                  <a:prstClr val="black"/>
                </a:solidFill>
              </a:rPr>
              <a:t>Page</a:t>
            </a:r>
            <a:r>
              <a:rPr lang="en-US" sz="900" spc="-60" dirty="0">
                <a:solidFill>
                  <a:prstClr val="black"/>
                </a:solidFill>
              </a:rPr>
              <a:t> </a:t>
            </a:r>
            <a:fld id="{81D60167-4931-47E6-BA6A-407CBD079E47}" type="slidenum">
              <a:rPr sz="900">
                <a:solidFill>
                  <a:prstClr val="black"/>
                </a:solidFill>
              </a:rPr>
              <a:pPr marL="12700">
                <a:spcBef>
                  <a:spcPts val="5"/>
                </a:spcBef>
                <a:defRPr/>
              </a:pPr>
              <a:t>42</a:t>
            </a:fld>
            <a:endParaRPr sz="900" dirty="0">
              <a:solidFill>
                <a:prstClr val="black"/>
              </a:solidFill>
            </a:endParaRPr>
          </a:p>
        </p:txBody>
      </p:sp>
      <p:sp>
        <p:nvSpPr>
          <p:cNvPr id="28" name="슬라이드 번호 개체 틀 3">
            <a:extLst>
              <a:ext uri="{FF2B5EF4-FFF2-40B4-BE49-F238E27FC236}">
                <a16:creationId xmlns:a16="http://schemas.microsoft.com/office/drawing/2014/main" id="{C5BC31D1-DE09-9020-F15A-ACF0318E28CE}"/>
              </a:ext>
            </a:extLst>
          </p:cNvPr>
          <p:cNvSpPr txBox="1">
            <a:spLocks/>
          </p:cNvSpPr>
          <p:nvPr/>
        </p:nvSpPr>
        <p:spPr>
          <a:xfrm>
            <a:off x="299401" y="9520856"/>
            <a:ext cx="2060991" cy="175259"/>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lang="en-US" altLang="ko-KR" dirty="0">
                <a:solidFill>
                  <a:prstClr val="black"/>
                </a:solidFill>
                <a:latin typeface="Arial" panose="020B0604020202020204" pitchFamily="34" charset="0"/>
                <a:cs typeface="Arial" panose="020B0604020202020204" pitchFamily="34" charset="0"/>
              </a:rPr>
              <a:t>Dated 30-Nov 23  Rev. 01</a:t>
            </a:r>
            <a:endParaRPr lang="ko-KR" altLang="en-US" dirty="0">
              <a:solidFill>
                <a:prstClr val="black"/>
              </a:solidFill>
              <a:latin typeface="Arial" panose="020B0604020202020204" pitchFamily="34" charset="0"/>
              <a:cs typeface="Arial" panose="020B0604020202020204" pitchFamily="34" charset="0"/>
            </a:endParaRPr>
          </a:p>
        </p:txBody>
      </p:sp>
      <p:sp>
        <p:nvSpPr>
          <p:cNvPr id="29" name="Holder 3">
            <a:extLst>
              <a:ext uri="{FF2B5EF4-FFF2-40B4-BE49-F238E27FC236}">
                <a16:creationId xmlns:a16="http://schemas.microsoft.com/office/drawing/2014/main" id="{752ECCE7-BA55-A470-E3B6-07686811A26C}"/>
              </a:ext>
            </a:extLst>
          </p:cNvPr>
          <p:cNvSpPr txBox="1">
            <a:spLocks/>
          </p:cNvSpPr>
          <p:nvPr/>
        </p:nvSpPr>
        <p:spPr>
          <a:xfrm>
            <a:off x="5147476" y="203944"/>
            <a:ext cx="1447800" cy="276999"/>
          </a:xfrm>
          <a:prstGeom prst="rect">
            <a:avLst/>
          </a:prstGeom>
        </p:spPr>
        <p:txBody>
          <a:bodyPr wrap="square" lIns="0" tIns="0" rIns="0" bIns="0">
            <a:spAutoFit/>
          </a:bodyPr>
          <a:lstStyle>
            <a:lvl1pPr marL="0">
              <a:defRPr>
                <a:solidFill>
                  <a:srgbClr val="FF99FF"/>
                </a:solidFill>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defTabSz="914400" latinLnBrk="0"/>
            <a:r>
              <a:rPr lang="en-US" sz="1800" kern="0" dirty="0"/>
              <a:t>&lt;Preliminary&gt;</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p:nvPr/>
        </p:nvSpPr>
        <p:spPr>
          <a:xfrm>
            <a:off x="400913" y="301879"/>
            <a:ext cx="622935" cy="299720"/>
          </a:xfrm>
          <a:prstGeom prst="rect">
            <a:avLst/>
          </a:prstGeom>
        </p:spPr>
        <p:txBody>
          <a:bodyPr vert="horz" wrap="square" lIns="0" tIns="12700" rIns="0" bIns="0" rtlCol="0">
            <a:spAutoFit/>
          </a:bodyPr>
          <a:lstStyle/>
          <a:p>
            <a:pPr marL="12700">
              <a:lnSpc>
                <a:spcPct val="100000"/>
              </a:lnSpc>
              <a:spcBef>
                <a:spcPts val="100"/>
              </a:spcBef>
            </a:pPr>
            <a:r>
              <a:rPr sz="1800" b="1" spc="-5" dirty="0">
                <a:latin typeface="Arial"/>
                <a:cs typeface="Arial"/>
              </a:rPr>
              <a:t>CQ24</a:t>
            </a:r>
            <a:endParaRPr sz="1800" dirty="0">
              <a:latin typeface="Arial"/>
              <a:cs typeface="Arial"/>
            </a:endParaRPr>
          </a:p>
        </p:txBody>
      </p:sp>
      <p:graphicFrame>
        <p:nvGraphicFramePr>
          <p:cNvPr id="5" name="object 5"/>
          <p:cNvGraphicFramePr>
            <a:graphicFrameLocks noGrp="1"/>
          </p:cNvGraphicFramePr>
          <p:nvPr>
            <p:extLst>
              <p:ext uri="{D42A27DB-BD31-4B8C-83A1-F6EECF244321}">
                <p14:modId xmlns:p14="http://schemas.microsoft.com/office/powerpoint/2010/main" val="4130214917"/>
              </p:ext>
            </p:extLst>
          </p:nvPr>
        </p:nvGraphicFramePr>
        <p:xfrm>
          <a:off x="406859" y="1258506"/>
          <a:ext cx="6044141" cy="1246505"/>
        </p:xfrm>
        <a:graphic>
          <a:graphicData uri="http://schemas.openxmlformats.org/drawingml/2006/table">
            <a:tbl>
              <a:tblPr firstRow="1" bandRow="1">
                <a:tableStyleId>{2D5ABB26-0587-4C30-8999-92F81FD0307C}</a:tableStyleId>
              </a:tblPr>
              <a:tblGrid>
                <a:gridCol w="412525">
                  <a:extLst>
                    <a:ext uri="{9D8B030D-6E8A-4147-A177-3AD203B41FA5}">
                      <a16:colId xmlns:a16="http://schemas.microsoft.com/office/drawing/2014/main" val="20000"/>
                    </a:ext>
                  </a:extLst>
                </a:gridCol>
                <a:gridCol w="474746">
                  <a:extLst>
                    <a:ext uri="{9D8B030D-6E8A-4147-A177-3AD203B41FA5}">
                      <a16:colId xmlns:a16="http://schemas.microsoft.com/office/drawing/2014/main" val="20001"/>
                    </a:ext>
                  </a:extLst>
                </a:gridCol>
                <a:gridCol w="322304">
                  <a:extLst>
                    <a:ext uri="{9D8B030D-6E8A-4147-A177-3AD203B41FA5}">
                      <a16:colId xmlns:a16="http://schemas.microsoft.com/office/drawing/2014/main" val="20002"/>
                    </a:ext>
                  </a:extLst>
                </a:gridCol>
                <a:gridCol w="322305">
                  <a:extLst>
                    <a:ext uri="{9D8B030D-6E8A-4147-A177-3AD203B41FA5}">
                      <a16:colId xmlns:a16="http://schemas.microsoft.com/office/drawing/2014/main" val="20003"/>
                    </a:ext>
                  </a:extLst>
                </a:gridCol>
                <a:gridCol w="322305">
                  <a:extLst>
                    <a:ext uri="{9D8B030D-6E8A-4147-A177-3AD203B41FA5}">
                      <a16:colId xmlns:a16="http://schemas.microsoft.com/office/drawing/2014/main" val="20004"/>
                    </a:ext>
                  </a:extLst>
                </a:gridCol>
                <a:gridCol w="322305">
                  <a:extLst>
                    <a:ext uri="{9D8B030D-6E8A-4147-A177-3AD203B41FA5}">
                      <a16:colId xmlns:a16="http://schemas.microsoft.com/office/drawing/2014/main" val="20005"/>
                    </a:ext>
                  </a:extLst>
                </a:gridCol>
                <a:gridCol w="322305">
                  <a:extLst>
                    <a:ext uri="{9D8B030D-6E8A-4147-A177-3AD203B41FA5}">
                      <a16:colId xmlns:a16="http://schemas.microsoft.com/office/drawing/2014/main" val="20006"/>
                    </a:ext>
                  </a:extLst>
                </a:gridCol>
                <a:gridCol w="322305">
                  <a:extLst>
                    <a:ext uri="{9D8B030D-6E8A-4147-A177-3AD203B41FA5}">
                      <a16:colId xmlns:a16="http://schemas.microsoft.com/office/drawing/2014/main" val="20007"/>
                    </a:ext>
                  </a:extLst>
                </a:gridCol>
                <a:gridCol w="322305">
                  <a:extLst>
                    <a:ext uri="{9D8B030D-6E8A-4147-A177-3AD203B41FA5}">
                      <a16:colId xmlns:a16="http://schemas.microsoft.com/office/drawing/2014/main" val="20008"/>
                    </a:ext>
                  </a:extLst>
                </a:gridCol>
                <a:gridCol w="322304">
                  <a:extLst>
                    <a:ext uri="{9D8B030D-6E8A-4147-A177-3AD203B41FA5}">
                      <a16:colId xmlns:a16="http://schemas.microsoft.com/office/drawing/2014/main" val="20009"/>
                    </a:ext>
                  </a:extLst>
                </a:gridCol>
                <a:gridCol w="322304">
                  <a:extLst>
                    <a:ext uri="{9D8B030D-6E8A-4147-A177-3AD203B41FA5}">
                      <a16:colId xmlns:a16="http://schemas.microsoft.com/office/drawing/2014/main" val="20010"/>
                    </a:ext>
                  </a:extLst>
                </a:gridCol>
                <a:gridCol w="322304">
                  <a:extLst>
                    <a:ext uri="{9D8B030D-6E8A-4147-A177-3AD203B41FA5}">
                      <a16:colId xmlns:a16="http://schemas.microsoft.com/office/drawing/2014/main" val="20011"/>
                    </a:ext>
                  </a:extLst>
                </a:gridCol>
                <a:gridCol w="322304">
                  <a:extLst>
                    <a:ext uri="{9D8B030D-6E8A-4147-A177-3AD203B41FA5}">
                      <a16:colId xmlns:a16="http://schemas.microsoft.com/office/drawing/2014/main" val="20012"/>
                    </a:ext>
                  </a:extLst>
                </a:gridCol>
                <a:gridCol w="322304">
                  <a:extLst>
                    <a:ext uri="{9D8B030D-6E8A-4147-A177-3AD203B41FA5}">
                      <a16:colId xmlns:a16="http://schemas.microsoft.com/office/drawing/2014/main" val="20013"/>
                    </a:ext>
                  </a:extLst>
                </a:gridCol>
                <a:gridCol w="322304">
                  <a:extLst>
                    <a:ext uri="{9D8B030D-6E8A-4147-A177-3AD203B41FA5}">
                      <a16:colId xmlns:a16="http://schemas.microsoft.com/office/drawing/2014/main" val="20014"/>
                    </a:ext>
                  </a:extLst>
                </a:gridCol>
                <a:gridCol w="322304">
                  <a:extLst>
                    <a:ext uri="{9D8B030D-6E8A-4147-A177-3AD203B41FA5}">
                      <a16:colId xmlns:a16="http://schemas.microsoft.com/office/drawing/2014/main" val="20015"/>
                    </a:ext>
                  </a:extLst>
                </a:gridCol>
                <a:gridCol w="322304">
                  <a:extLst>
                    <a:ext uri="{9D8B030D-6E8A-4147-A177-3AD203B41FA5}">
                      <a16:colId xmlns:a16="http://schemas.microsoft.com/office/drawing/2014/main" val="20016"/>
                    </a:ext>
                  </a:extLst>
                </a:gridCol>
                <a:gridCol w="322304">
                  <a:extLst>
                    <a:ext uri="{9D8B030D-6E8A-4147-A177-3AD203B41FA5}">
                      <a16:colId xmlns:a16="http://schemas.microsoft.com/office/drawing/2014/main" val="20017"/>
                    </a:ext>
                  </a:extLst>
                </a:gridCol>
              </a:tblGrid>
              <a:tr h="178435">
                <a:tc>
                  <a:txBody>
                    <a:bodyPr/>
                    <a:lstStyle/>
                    <a:p>
                      <a:pPr marL="94615">
                        <a:lnSpc>
                          <a:spcPct val="100000"/>
                        </a:lnSpc>
                        <a:spcBef>
                          <a:spcPts val="265"/>
                        </a:spcBef>
                      </a:pPr>
                      <a:r>
                        <a:rPr sz="700" spc="-5" dirty="0">
                          <a:latin typeface="Arial"/>
                          <a:cs typeface="Arial"/>
                        </a:rPr>
                        <a:t>A[6:0]</a:t>
                      </a:r>
                      <a:endParaRPr sz="7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algn="ctr">
                        <a:lnSpc>
                          <a:spcPct val="100000"/>
                        </a:lnSpc>
                        <a:spcBef>
                          <a:spcPts val="265"/>
                        </a:spcBef>
                      </a:pPr>
                      <a:r>
                        <a:rPr sz="700" spc="-5" dirty="0">
                          <a:latin typeface="Arial"/>
                          <a:cs typeface="Arial"/>
                        </a:rPr>
                        <a:t>Default</a:t>
                      </a:r>
                      <a:endParaRPr sz="7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1270" algn="ctr">
                        <a:lnSpc>
                          <a:spcPct val="100000"/>
                        </a:lnSpc>
                        <a:spcBef>
                          <a:spcPts val="265"/>
                        </a:spcBef>
                      </a:pPr>
                      <a:r>
                        <a:rPr sz="700" spc="-5" dirty="0">
                          <a:latin typeface="Arial"/>
                          <a:cs typeface="Arial"/>
                        </a:rPr>
                        <a:t>D15</a:t>
                      </a:r>
                      <a:endParaRPr sz="7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1905" algn="ctr">
                        <a:lnSpc>
                          <a:spcPct val="100000"/>
                        </a:lnSpc>
                        <a:spcBef>
                          <a:spcPts val="265"/>
                        </a:spcBef>
                      </a:pPr>
                      <a:r>
                        <a:rPr sz="700" spc="-5" dirty="0">
                          <a:latin typeface="Arial"/>
                          <a:cs typeface="Arial"/>
                        </a:rPr>
                        <a:t>D14</a:t>
                      </a:r>
                      <a:endParaRPr sz="7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1270" algn="ctr">
                        <a:lnSpc>
                          <a:spcPct val="100000"/>
                        </a:lnSpc>
                        <a:spcBef>
                          <a:spcPts val="265"/>
                        </a:spcBef>
                      </a:pPr>
                      <a:r>
                        <a:rPr sz="700" spc="-5" dirty="0">
                          <a:latin typeface="Arial"/>
                          <a:cs typeface="Arial"/>
                        </a:rPr>
                        <a:t>D13</a:t>
                      </a:r>
                      <a:endParaRPr sz="7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83820">
                        <a:lnSpc>
                          <a:spcPct val="100000"/>
                        </a:lnSpc>
                        <a:spcBef>
                          <a:spcPts val="265"/>
                        </a:spcBef>
                      </a:pPr>
                      <a:r>
                        <a:rPr sz="700" spc="-5" dirty="0">
                          <a:latin typeface="Arial"/>
                          <a:cs typeface="Arial"/>
                        </a:rPr>
                        <a:t>D12</a:t>
                      </a:r>
                      <a:endParaRPr sz="7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83820">
                        <a:lnSpc>
                          <a:spcPct val="100000"/>
                        </a:lnSpc>
                        <a:spcBef>
                          <a:spcPts val="265"/>
                        </a:spcBef>
                      </a:pPr>
                      <a:r>
                        <a:rPr sz="700" spc="-5" dirty="0">
                          <a:latin typeface="Arial"/>
                          <a:cs typeface="Arial"/>
                        </a:rPr>
                        <a:t>D11</a:t>
                      </a:r>
                      <a:endParaRPr sz="7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84455">
                        <a:lnSpc>
                          <a:spcPct val="100000"/>
                        </a:lnSpc>
                        <a:spcBef>
                          <a:spcPts val="265"/>
                        </a:spcBef>
                      </a:pPr>
                      <a:r>
                        <a:rPr sz="700" spc="-5" dirty="0">
                          <a:latin typeface="Arial"/>
                          <a:cs typeface="Arial"/>
                        </a:rPr>
                        <a:t>D10</a:t>
                      </a:r>
                      <a:endParaRPr sz="7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108585">
                        <a:lnSpc>
                          <a:spcPct val="100000"/>
                        </a:lnSpc>
                        <a:spcBef>
                          <a:spcPts val="265"/>
                        </a:spcBef>
                      </a:pPr>
                      <a:r>
                        <a:rPr sz="700" spc="-5" dirty="0">
                          <a:latin typeface="Arial"/>
                          <a:cs typeface="Arial"/>
                        </a:rPr>
                        <a:t>D9</a:t>
                      </a:r>
                      <a:endParaRPr sz="7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2540" algn="ctr">
                        <a:lnSpc>
                          <a:spcPct val="100000"/>
                        </a:lnSpc>
                        <a:spcBef>
                          <a:spcPts val="265"/>
                        </a:spcBef>
                      </a:pPr>
                      <a:r>
                        <a:rPr sz="700" spc="-5" dirty="0">
                          <a:latin typeface="Arial"/>
                          <a:cs typeface="Arial"/>
                        </a:rPr>
                        <a:t>D8</a:t>
                      </a:r>
                      <a:endParaRPr sz="7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108585">
                        <a:lnSpc>
                          <a:spcPct val="100000"/>
                        </a:lnSpc>
                        <a:spcBef>
                          <a:spcPts val="265"/>
                        </a:spcBef>
                      </a:pPr>
                      <a:r>
                        <a:rPr sz="700" spc="-5" dirty="0">
                          <a:latin typeface="Arial"/>
                          <a:cs typeface="Arial"/>
                        </a:rPr>
                        <a:t>D7</a:t>
                      </a:r>
                      <a:endParaRPr sz="7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108585">
                        <a:lnSpc>
                          <a:spcPct val="100000"/>
                        </a:lnSpc>
                        <a:spcBef>
                          <a:spcPts val="265"/>
                        </a:spcBef>
                      </a:pPr>
                      <a:r>
                        <a:rPr sz="700" spc="-5" dirty="0">
                          <a:latin typeface="Arial"/>
                          <a:cs typeface="Arial"/>
                        </a:rPr>
                        <a:t>D6</a:t>
                      </a:r>
                      <a:endParaRPr sz="7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109220">
                        <a:lnSpc>
                          <a:spcPct val="100000"/>
                        </a:lnSpc>
                        <a:spcBef>
                          <a:spcPts val="265"/>
                        </a:spcBef>
                      </a:pPr>
                      <a:r>
                        <a:rPr sz="700" spc="-5" dirty="0">
                          <a:latin typeface="Arial"/>
                          <a:cs typeface="Arial"/>
                        </a:rPr>
                        <a:t>D5</a:t>
                      </a:r>
                      <a:endParaRPr sz="7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108585">
                        <a:lnSpc>
                          <a:spcPct val="100000"/>
                        </a:lnSpc>
                        <a:spcBef>
                          <a:spcPts val="265"/>
                        </a:spcBef>
                      </a:pPr>
                      <a:r>
                        <a:rPr sz="700" spc="-5" dirty="0">
                          <a:latin typeface="Arial"/>
                          <a:cs typeface="Arial"/>
                        </a:rPr>
                        <a:t>D4</a:t>
                      </a:r>
                      <a:endParaRPr sz="7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109220">
                        <a:lnSpc>
                          <a:spcPct val="100000"/>
                        </a:lnSpc>
                        <a:spcBef>
                          <a:spcPts val="265"/>
                        </a:spcBef>
                      </a:pPr>
                      <a:r>
                        <a:rPr sz="700" spc="-5" dirty="0">
                          <a:latin typeface="Arial"/>
                          <a:cs typeface="Arial"/>
                        </a:rPr>
                        <a:t>D3</a:t>
                      </a:r>
                      <a:endParaRPr sz="7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109220">
                        <a:lnSpc>
                          <a:spcPct val="100000"/>
                        </a:lnSpc>
                        <a:spcBef>
                          <a:spcPts val="265"/>
                        </a:spcBef>
                      </a:pPr>
                      <a:r>
                        <a:rPr sz="700" spc="-5" dirty="0">
                          <a:latin typeface="Arial"/>
                          <a:cs typeface="Arial"/>
                        </a:rPr>
                        <a:t>D2</a:t>
                      </a:r>
                      <a:endParaRPr sz="7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109220">
                        <a:lnSpc>
                          <a:spcPct val="100000"/>
                        </a:lnSpc>
                        <a:spcBef>
                          <a:spcPts val="265"/>
                        </a:spcBef>
                      </a:pPr>
                      <a:r>
                        <a:rPr sz="700" spc="-5" dirty="0">
                          <a:latin typeface="Arial"/>
                          <a:cs typeface="Arial"/>
                        </a:rPr>
                        <a:t>D1</a:t>
                      </a:r>
                      <a:endParaRPr sz="7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109220">
                        <a:lnSpc>
                          <a:spcPct val="100000"/>
                        </a:lnSpc>
                        <a:spcBef>
                          <a:spcPts val="265"/>
                        </a:spcBef>
                      </a:pPr>
                      <a:r>
                        <a:rPr sz="700" spc="-5" dirty="0">
                          <a:latin typeface="Arial"/>
                          <a:cs typeface="Arial"/>
                        </a:rPr>
                        <a:t>D0</a:t>
                      </a:r>
                      <a:endParaRPr sz="7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extLst>
                  <a:ext uri="{0D108BD9-81ED-4DB2-BD59-A6C34878D82A}">
                    <a16:rowId xmlns:a16="http://schemas.microsoft.com/office/drawing/2014/main" val="10000"/>
                  </a:ext>
                </a:extLst>
              </a:tr>
              <a:tr h="200660">
                <a:tc>
                  <a:txBody>
                    <a:bodyPr/>
                    <a:lstStyle/>
                    <a:p>
                      <a:pPr marL="126364">
                        <a:lnSpc>
                          <a:spcPct val="100000"/>
                        </a:lnSpc>
                        <a:spcBef>
                          <a:spcPts val="265"/>
                        </a:spcBef>
                      </a:pPr>
                      <a:r>
                        <a:rPr sz="700" spc="-10" dirty="0">
                          <a:latin typeface="Arial"/>
                          <a:cs typeface="Arial"/>
                        </a:rPr>
                        <a:t>‘h41</a:t>
                      </a:r>
                      <a:endParaRPr sz="7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635" algn="ctr">
                        <a:lnSpc>
                          <a:spcPct val="100000"/>
                        </a:lnSpc>
                        <a:spcBef>
                          <a:spcPts val="265"/>
                        </a:spcBef>
                      </a:pPr>
                      <a:r>
                        <a:rPr sz="700" dirty="0">
                          <a:latin typeface="Arial"/>
                          <a:cs typeface="Arial"/>
                        </a:rPr>
                        <a:t>0</a:t>
                      </a: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2540" algn="ctr">
                        <a:lnSpc>
                          <a:spcPct val="100000"/>
                        </a:lnSpc>
                        <a:spcBef>
                          <a:spcPts val="244"/>
                        </a:spcBef>
                      </a:pPr>
                      <a:r>
                        <a:rPr sz="700" dirty="0">
                          <a:latin typeface="Arial"/>
                          <a:cs typeface="Arial"/>
                        </a:rPr>
                        <a:t>x</a:t>
                      </a:r>
                    </a:p>
                  </a:txBody>
                  <a:tcPr marL="0" marR="0" marT="31114"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2540" algn="ctr">
                        <a:lnSpc>
                          <a:spcPct val="100000"/>
                        </a:lnSpc>
                        <a:spcBef>
                          <a:spcPts val="265"/>
                        </a:spcBef>
                      </a:pPr>
                      <a:r>
                        <a:rPr sz="700" dirty="0">
                          <a:latin typeface="Arial"/>
                          <a:cs typeface="Arial"/>
                        </a:rPr>
                        <a:t>x</a:t>
                      </a: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2540" algn="ctr">
                        <a:lnSpc>
                          <a:spcPct val="100000"/>
                        </a:lnSpc>
                        <a:spcBef>
                          <a:spcPts val="244"/>
                        </a:spcBef>
                      </a:pPr>
                      <a:r>
                        <a:rPr sz="700" dirty="0">
                          <a:latin typeface="Arial"/>
                          <a:cs typeface="Arial"/>
                        </a:rPr>
                        <a:t>x</a:t>
                      </a:r>
                    </a:p>
                  </a:txBody>
                  <a:tcPr marL="0" marR="0" marT="31114"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gridSpan="4">
                  <a:txBody>
                    <a:bodyPr/>
                    <a:lstStyle/>
                    <a:p>
                      <a:pPr marL="212090">
                        <a:lnSpc>
                          <a:spcPct val="100000"/>
                        </a:lnSpc>
                        <a:spcBef>
                          <a:spcPts val="265"/>
                        </a:spcBef>
                      </a:pPr>
                      <a:r>
                        <a:rPr sz="700" spc="-5" dirty="0" err="1">
                          <a:latin typeface="Arial"/>
                          <a:cs typeface="Arial"/>
                        </a:rPr>
                        <a:t>DAC_LOFS_CH1</a:t>
                      </a:r>
                      <a:r>
                        <a:rPr sz="700" spc="-35" dirty="0">
                          <a:latin typeface="Arial"/>
                          <a:cs typeface="Arial"/>
                        </a:rPr>
                        <a:t> </a:t>
                      </a:r>
                      <a:r>
                        <a:rPr sz="700" spc="-5" dirty="0">
                          <a:latin typeface="Arial"/>
                          <a:cs typeface="Arial"/>
                        </a:rPr>
                        <a:t>[3:0]</a:t>
                      </a:r>
                      <a:endParaRPr sz="7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a:txBody>
                    <a:bodyPr/>
                    <a:lstStyle/>
                    <a:p>
                      <a:pPr marL="635" algn="ctr">
                        <a:lnSpc>
                          <a:spcPct val="100000"/>
                        </a:lnSpc>
                        <a:spcBef>
                          <a:spcPts val="265"/>
                        </a:spcBef>
                      </a:pPr>
                      <a:r>
                        <a:rPr sz="700" spc="-10" dirty="0">
                          <a:latin typeface="Arial"/>
                          <a:cs typeface="Arial"/>
                        </a:rPr>
                        <a:t>SIGN</a:t>
                      </a:r>
                      <a:endParaRPr sz="7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gridSpan="8">
                  <a:txBody>
                    <a:bodyPr/>
                    <a:lstStyle/>
                    <a:p>
                      <a:pPr marL="635" algn="ctr">
                        <a:lnSpc>
                          <a:spcPct val="100000"/>
                        </a:lnSpc>
                        <a:spcBef>
                          <a:spcPts val="244"/>
                        </a:spcBef>
                      </a:pPr>
                      <a:r>
                        <a:rPr sz="700" spc="-5" dirty="0" err="1">
                          <a:latin typeface="Arial"/>
                          <a:cs typeface="Arial"/>
                        </a:rPr>
                        <a:t>DAC_OFS_CH1</a:t>
                      </a:r>
                      <a:r>
                        <a:rPr sz="700" spc="-40" dirty="0">
                          <a:latin typeface="Arial"/>
                          <a:cs typeface="Arial"/>
                        </a:rPr>
                        <a:t> </a:t>
                      </a:r>
                      <a:r>
                        <a:rPr sz="700" spc="-5" dirty="0">
                          <a:latin typeface="Arial"/>
                          <a:cs typeface="Arial"/>
                        </a:rPr>
                        <a:t>[7:0]</a:t>
                      </a:r>
                      <a:endParaRPr sz="700" dirty="0">
                        <a:latin typeface="Arial"/>
                        <a:cs typeface="Arial"/>
                      </a:endParaRPr>
                    </a:p>
                  </a:txBody>
                  <a:tcPr marL="0" marR="0" marT="31114"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1"/>
                  </a:ext>
                </a:extLst>
              </a:tr>
              <a:tr h="222885">
                <a:tc>
                  <a:txBody>
                    <a:bodyPr/>
                    <a:lstStyle/>
                    <a:p>
                      <a:pPr marL="126364">
                        <a:lnSpc>
                          <a:spcPct val="100000"/>
                        </a:lnSpc>
                        <a:spcBef>
                          <a:spcPts val="445"/>
                        </a:spcBef>
                      </a:pPr>
                      <a:r>
                        <a:rPr sz="700" spc="-10" dirty="0">
                          <a:latin typeface="Arial"/>
                          <a:cs typeface="Arial"/>
                        </a:rPr>
                        <a:t>‘h42</a:t>
                      </a:r>
                      <a:endParaRPr sz="700" dirty="0">
                        <a:latin typeface="Arial"/>
                        <a:cs typeface="Arial"/>
                      </a:endParaRPr>
                    </a:p>
                  </a:txBody>
                  <a:tcPr marL="0" marR="0" marT="5651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635" algn="ctr">
                        <a:lnSpc>
                          <a:spcPct val="100000"/>
                        </a:lnSpc>
                        <a:spcBef>
                          <a:spcPts val="445"/>
                        </a:spcBef>
                      </a:pPr>
                      <a:r>
                        <a:rPr sz="700" dirty="0">
                          <a:latin typeface="Arial"/>
                          <a:cs typeface="Arial"/>
                        </a:rPr>
                        <a:t>0</a:t>
                      </a:r>
                    </a:p>
                  </a:txBody>
                  <a:tcPr marL="0" marR="0" marT="5651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2540" algn="ctr">
                        <a:lnSpc>
                          <a:spcPct val="100000"/>
                        </a:lnSpc>
                        <a:spcBef>
                          <a:spcPts val="420"/>
                        </a:spcBef>
                      </a:pPr>
                      <a:r>
                        <a:rPr sz="700" dirty="0">
                          <a:latin typeface="Arial"/>
                          <a:cs typeface="Arial"/>
                        </a:rPr>
                        <a:t>x</a:t>
                      </a:r>
                    </a:p>
                  </a:txBody>
                  <a:tcPr marL="0" marR="0" marT="5334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2540" algn="ctr">
                        <a:lnSpc>
                          <a:spcPct val="100000"/>
                        </a:lnSpc>
                        <a:spcBef>
                          <a:spcPts val="445"/>
                        </a:spcBef>
                      </a:pPr>
                      <a:r>
                        <a:rPr sz="700" dirty="0">
                          <a:latin typeface="Arial"/>
                          <a:cs typeface="Arial"/>
                        </a:rPr>
                        <a:t>x</a:t>
                      </a:r>
                    </a:p>
                  </a:txBody>
                  <a:tcPr marL="0" marR="0" marT="5651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2540" algn="ctr">
                        <a:lnSpc>
                          <a:spcPct val="100000"/>
                        </a:lnSpc>
                        <a:spcBef>
                          <a:spcPts val="420"/>
                        </a:spcBef>
                      </a:pPr>
                      <a:r>
                        <a:rPr sz="700" dirty="0">
                          <a:latin typeface="Arial"/>
                          <a:cs typeface="Arial"/>
                        </a:rPr>
                        <a:t>x</a:t>
                      </a:r>
                    </a:p>
                  </a:txBody>
                  <a:tcPr marL="0" marR="0" marT="5334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gridSpan="4">
                  <a:txBody>
                    <a:bodyPr/>
                    <a:lstStyle/>
                    <a:p>
                      <a:pPr marL="212090">
                        <a:lnSpc>
                          <a:spcPct val="100000"/>
                        </a:lnSpc>
                        <a:spcBef>
                          <a:spcPts val="445"/>
                        </a:spcBef>
                      </a:pPr>
                      <a:r>
                        <a:rPr sz="700" spc="-5" dirty="0">
                          <a:latin typeface="Arial"/>
                          <a:cs typeface="Arial"/>
                        </a:rPr>
                        <a:t>DAC_LOFS_CH2</a:t>
                      </a:r>
                      <a:r>
                        <a:rPr sz="700" spc="-35" dirty="0">
                          <a:latin typeface="Arial"/>
                          <a:cs typeface="Arial"/>
                        </a:rPr>
                        <a:t> </a:t>
                      </a:r>
                      <a:r>
                        <a:rPr sz="700" spc="-5" dirty="0">
                          <a:latin typeface="Arial"/>
                          <a:cs typeface="Arial"/>
                        </a:rPr>
                        <a:t>[3:0]</a:t>
                      </a:r>
                      <a:endParaRPr sz="700" dirty="0">
                        <a:latin typeface="Arial"/>
                        <a:cs typeface="Arial"/>
                      </a:endParaRPr>
                    </a:p>
                  </a:txBody>
                  <a:tcPr marL="0" marR="0" marT="5651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a:txBody>
                    <a:bodyPr/>
                    <a:lstStyle/>
                    <a:p>
                      <a:pPr marL="635" algn="ctr">
                        <a:lnSpc>
                          <a:spcPct val="100000"/>
                        </a:lnSpc>
                        <a:spcBef>
                          <a:spcPts val="445"/>
                        </a:spcBef>
                      </a:pPr>
                      <a:r>
                        <a:rPr sz="700" spc="-10" dirty="0">
                          <a:latin typeface="Arial"/>
                          <a:cs typeface="Arial"/>
                        </a:rPr>
                        <a:t>SIGN</a:t>
                      </a:r>
                      <a:endParaRPr sz="700" dirty="0">
                        <a:latin typeface="Arial"/>
                        <a:cs typeface="Arial"/>
                      </a:endParaRPr>
                    </a:p>
                  </a:txBody>
                  <a:tcPr marL="0" marR="0" marT="5651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gridSpan="8">
                  <a:txBody>
                    <a:bodyPr/>
                    <a:lstStyle/>
                    <a:p>
                      <a:pPr marL="635" algn="ctr">
                        <a:lnSpc>
                          <a:spcPct val="100000"/>
                        </a:lnSpc>
                        <a:spcBef>
                          <a:spcPts val="420"/>
                        </a:spcBef>
                      </a:pPr>
                      <a:r>
                        <a:rPr sz="700" spc="-5" dirty="0">
                          <a:latin typeface="Arial"/>
                          <a:cs typeface="Arial"/>
                        </a:rPr>
                        <a:t>DAC_OFS_CH2</a:t>
                      </a:r>
                      <a:r>
                        <a:rPr sz="700" spc="-40" dirty="0">
                          <a:latin typeface="Arial"/>
                          <a:cs typeface="Arial"/>
                        </a:rPr>
                        <a:t> </a:t>
                      </a:r>
                      <a:r>
                        <a:rPr sz="700" spc="-5" dirty="0">
                          <a:latin typeface="Arial"/>
                          <a:cs typeface="Arial"/>
                        </a:rPr>
                        <a:t>[7:0]</a:t>
                      </a:r>
                      <a:endParaRPr sz="700" dirty="0">
                        <a:latin typeface="Arial"/>
                        <a:cs typeface="Arial"/>
                      </a:endParaRPr>
                    </a:p>
                  </a:txBody>
                  <a:tcPr marL="0" marR="0" marT="5334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2"/>
                  </a:ext>
                </a:extLst>
              </a:tr>
              <a:tr h="222250">
                <a:tc>
                  <a:txBody>
                    <a:bodyPr/>
                    <a:lstStyle/>
                    <a:p>
                      <a:pPr marL="126364">
                        <a:lnSpc>
                          <a:spcPct val="100000"/>
                        </a:lnSpc>
                        <a:spcBef>
                          <a:spcPts val="440"/>
                        </a:spcBef>
                      </a:pPr>
                      <a:r>
                        <a:rPr sz="700" spc="-5" dirty="0">
                          <a:latin typeface="Arial"/>
                          <a:cs typeface="Arial"/>
                        </a:rPr>
                        <a:t>‘h43</a:t>
                      </a:r>
                      <a:endParaRPr sz="700" dirty="0">
                        <a:latin typeface="Arial"/>
                        <a:cs typeface="Arial"/>
                      </a:endParaRPr>
                    </a:p>
                  </a:txBody>
                  <a:tcPr marL="0" marR="0" marT="5588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1270" algn="ctr">
                        <a:lnSpc>
                          <a:spcPct val="100000"/>
                        </a:lnSpc>
                        <a:spcBef>
                          <a:spcPts val="440"/>
                        </a:spcBef>
                      </a:pPr>
                      <a:r>
                        <a:rPr sz="700" dirty="0">
                          <a:latin typeface="Arial"/>
                          <a:cs typeface="Arial"/>
                        </a:rPr>
                        <a:t>0</a:t>
                      </a:r>
                    </a:p>
                  </a:txBody>
                  <a:tcPr marL="0" marR="0" marT="5588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2540" algn="ctr">
                        <a:lnSpc>
                          <a:spcPct val="100000"/>
                        </a:lnSpc>
                        <a:spcBef>
                          <a:spcPts val="415"/>
                        </a:spcBef>
                      </a:pPr>
                      <a:r>
                        <a:rPr sz="700" dirty="0">
                          <a:latin typeface="Arial"/>
                          <a:cs typeface="Arial"/>
                        </a:rPr>
                        <a:t>x</a:t>
                      </a:r>
                    </a:p>
                  </a:txBody>
                  <a:tcPr marL="0" marR="0" marT="5270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2540" algn="ctr">
                        <a:lnSpc>
                          <a:spcPct val="100000"/>
                        </a:lnSpc>
                        <a:spcBef>
                          <a:spcPts val="440"/>
                        </a:spcBef>
                      </a:pPr>
                      <a:r>
                        <a:rPr sz="700" dirty="0">
                          <a:latin typeface="Arial"/>
                          <a:cs typeface="Arial"/>
                        </a:rPr>
                        <a:t>x</a:t>
                      </a:r>
                    </a:p>
                  </a:txBody>
                  <a:tcPr marL="0" marR="0" marT="5588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2540" algn="ctr">
                        <a:lnSpc>
                          <a:spcPct val="100000"/>
                        </a:lnSpc>
                        <a:spcBef>
                          <a:spcPts val="415"/>
                        </a:spcBef>
                      </a:pPr>
                      <a:r>
                        <a:rPr sz="700" dirty="0">
                          <a:latin typeface="Arial"/>
                          <a:cs typeface="Arial"/>
                        </a:rPr>
                        <a:t>x</a:t>
                      </a:r>
                    </a:p>
                  </a:txBody>
                  <a:tcPr marL="0" marR="0" marT="5270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gridSpan="4">
                  <a:txBody>
                    <a:bodyPr/>
                    <a:lstStyle/>
                    <a:p>
                      <a:pPr marL="212090">
                        <a:lnSpc>
                          <a:spcPct val="100000"/>
                        </a:lnSpc>
                        <a:spcBef>
                          <a:spcPts val="440"/>
                        </a:spcBef>
                      </a:pPr>
                      <a:r>
                        <a:rPr sz="700" spc="-5" dirty="0">
                          <a:latin typeface="Arial"/>
                          <a:cs typeface="Arial"/>
                        </a:rPr>
                        <a:t>DAC_LOFS_CH3</a:t>
                      </a:r>
                      <a:r>
                        <a:rPr sz="700" spc="-40" dirty="0">
                          <a:latin typeface="Arial"/>
                          <a:cs typeface="Arial"/>
                        </a:rPr>
                        <a:t> </a:t>
                      </a:r>
                      <a:r>
                        <a:rPr sz="700" spc="-5" dirty="0">
                          <a:latin typeface="Arial"/>
                          <a:cs typeface="Arial"/>
                        </a:rPr>
                        <a:t>[3:0]</a:t>
                      </a:r>
                      <a:endParaRPr sz="700" dirty="0">
                        <a:latin typeface="Arial"/>
                        <a:cs typeface="Arial"/>
                      </a:endParaRPr>
                    </a:p>
                  </a:txBody>
                  <a:tcPr marL="0" marR="0" marT="5588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a:txBody>
                    <a:bodyPr/>
                    <a:lstStyle/>
                    <a:p>
                      <a:pPr marL="635" algn="ctr">
                        <a:lnSpc>
                          <a:spcPct val="100000"/>
                        </a:lnSpc>
                        <a:spcBef>
                          <a:spcPts val="440"/>
                        </a:spcBef>
                      </a:pPr>
                      <a:r>
                        <a:rPr sz="700" spc="-10" dirty="0">
                          <a:latin typeface="Arial"/>
                          <a:cs typeface="Arial"/>
                        </a:rPr>
                        <a:t>SIGN</a:t>
                      </a:r>
                      <a:endParaRPr sz="700" dirty="0">
                        <a:latin typeface="Arial"/>
                        <a:cs typeface="Arial"/>
                      </a:endParaRPr>
                    </a:p>
                  </a:txBody>
                  <a:tcPr marL="0" marR="0" marT="5588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gridSpan="8">
                  <a:txBody>
                    <a:bodyPr/>
                    <a:lstStyle/>
                    <a:p>
                      <a:pPr marL="635" algn="ctr">
                        <a:lnSpc>
                          <a:spcPct val="100000"/>
                        </a:lnSpc>
                        <a:spcBef>
                          <a:spcPts val="415"/>
                        </a:spcBef>
                      </a:pPr>
                      <a:r>
                        <a:rPr sz="700" spc="-5" dirty="0">
                          <a:latin typeface="Arial"/>
                          <a:cs typeface="Arial"/>
                        </a:rPr>
                        <a:t>DAC_OFS_CH3</a:t>
                      </a:r>
                      <a:r>
                        <a:rPr sz="700" spc="-40" dirty="0">
                          <a:latin typeface="Arial"/>
                          <a:cs typeface="Arial"/>
                        </a:rPr>
                        <a:t> </a:t>
                      </a:r>
                      <a:r>
                        <a:rPr sz="700" spc="-5" dirty="0">
                          <a:latin typeface="Arial"/>
                          <a:cs typeface="Arial"/>
                        </a:rPr>
                        <a:t>[7:0]</a:t>
                      </a:r>
                      <a:endParaRPr sz="700" dirty="0">
                        <a:latin typeface="Arial"/>
                        <a:cs typeface="Arial"/>
                      </a:endParaRPr>
                    </a:p>
                  </a:txBody>
                  <a:tcPr marL="0" marR="0" marT="5270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3"/>
                  </a:ext>
                </a:extLst>
              </a:tr>
              <a:tr h="222250">
                <a:tc>
                  <a:txBody>
                    <a:bodyPr/>
                    <a:lstStyle/>
                    <a:p>
                      <a:pPr marL="126364">
                        <a:lnSpc>
                          <a:spcPct val="100000"/>
                        </a:lnSpc>
                        <a:spcBef>
                          <a:spcPts val="440"/>
                        </a:spcBef>
                      </a:pPr>
                      <a:r>
                        <a:rPr sz="700" spc="-10" dirty="0">
                          <a:latin typeface="Arial"/>
                          <a:cs typeface="Arial"/>
                        </a:rPr>
                        <a:t>‘h44</a:t>
                      </a:r>
                      <a:endParaRPr sz="700" dirty="0">
                        <a:latin typeface="Arial"/>
                        <a:cs typeface="Arial"/>
                      </a:endParaRPr>
                    </a:p>
                  </a:txBody>
                  <a:tcPr marL="0" marR="0" marT="5588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635" algn="ctr">
                        <a:lnSpc>
                          <a:spcPct val="100000"/>
                        </a:lnSpc>
                        <a:spcBef>
                          <a:spcPts val="440"/>
                        </a:spcBef>
                      </a:pPr>
                      <a:r>
                        <a:rPr sz="700" dirty="0">
                          <a:latin typeface="Arial"/>
                          <a:cs typeface="Arial"/>
                        </a:rPr>
                        <a:t>0</a:t>
                      </a:r>
                    </a:p>
                  </a:txBody>
                  <a:tcPr marL="0" marR="0" marT="5588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2540" algn="ctr">
                        <a:lnSpc>
                          <a:spcPct val="100000"/>
                        </a:lnSpc>
                        <a:spcBef>
                          <a:spcPts val="420"/>
                        </a:spcBef>
                      </a:pPr>
                      <a:r>
                        <a:rPr sz="700" dirty="0">
                          <a:latin typeface="Arial"/>
                          <a:cs typeface="Arial"/>
                        </a:rPr>
                        <a:t>x</a:t>
                      </a:r>
                    </a:p>
                  </a:txBody>
                  <a:tcPr marL="0" marR="0" marT="5334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2540" algn="ctr">
                        <a:lnSpc>
                          <a:spcPct val="100000"/>
                        </a:lnSpc>
                        <a:spcBef>
                          <a:spcPts val="440"/>
                        </a:spcBef>
                      </a:pPr>
                      <a:r>
                        <a:rPr sz="700" dirty="0">
                          <a:latin typeface="Arial"/>
                          <a:cs typeface="Arial"/>
                        </a:rPr>
                        <a:t>x</a:t>
                      </a:r>
                    </a:p>
                  </a:txBody>
                  <a:tcPr marL="0" marR="0" marT="5588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2540" algn="ctr">
                        <a:lnSpc>
                          <a:spcPct val="100000"/>
                        </a:lnSpc>
                        <a:spcBef>
                          <a:spcPts val="420"/>
                        </a:spcBef>
                      </a:pPr>
                      <a:r>
                        <a:rPr sz="700" dirty="0">
                          <a:latin typeface="Arial"/>
                          <a:cs typeface="Arial"/>
                        </a:rPr>
                        <a:t>x</a:t>
                      </a:r>
                    </a:p>
                  </a:txBody>
                  <a:tcPr marL="0" marR="0" marT="5334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gridSpan="4">
                  <a:txBody>
                    <a:bodyPr/>
                    <a:lstStyle/>
                    <a:p>
                      <a:pPr marL="212090">
                        <a:lnSpc>
                          <a:spcPct val="100000"/>
                        </a:lnSpc>
                        <a:spcBef>
                          <a:spcPts val="440"/>
                        </a:spcBef>
                      </a:pPr>
                      <a:r>
                        <a:rPr sz="700" spc="-5" dirty="0">
                          <a:latin typeface="Arial"/>
                          <a:cs typeface="Arial"/>
                        </a:rPr>
                        <a:t>DAC_LOFS_CH4</a:t>
                      </a:r>
                      <a:r>
                        <a:rPr sz="700" spc="-35" dirty="0">
                          <a:latin typeface="Arial"/>
                          <a:cs typeface="Arial"/>
                        </a:rPr>
                        <a:t> </a:t>
                      </a:r>
                      <a:r>
                        <a:rPr sz="700" spc="-5" dirty="0">
                          <a:latin typeface="Arial"/>
                          <a:cs typeface="Arial"/>
                        </a:rPr>
                        <a:t>[3:0]</a:t>
                      </a:r>
                      <a:endParaRPr sz="700" dirty="0">
                        <a:latin typeface="Arial"/>
                        <a:cs typeface="Arial"/>
                      </a:endParaRPr>
                    </a:p>
                  </a:txBody>
                  <a:tcPr marL="0" marR="0" marT="5588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a:txBody>
                    <a:bodyPr/>
                    <a:lstStyle/>
                    <a:p>
                      <a:pPr marL="635" algn="ctr">
                        <a:lnSpc>
                          <a:spcPct val="100000"/>
                        </a:lnSpc>
                        <a:spcBef>
                          <a:spcPts val="440"/>
                        </a:spcBef>
                      </a:pPr>
                      <a:r>
                        <a:rPr sz="700" spc="-10" dirty="0">
                          <a:latin typeface="Arial"/>
                          <a:cs typeface="Arial"/>
                        </a:rPr>
                        <a:t>SIGN</a:t>
                      </a:r>
                      <a:endParaRPr sz="700" dirty="0">
                        <a:latin typeface="Arial"/>
                        <a:cs typeface="Arial"/>
                      </a:endParaRPr>
                    </a:p>
                  </a:txBody>
                  <a:tcPr marL="0" marR="0" marT="5588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gridSpan="8">
                  <a:txBody>
                    <a:bodyPr/>
                    <a:lstStyle/>
                    <a:p>
                      <a:pPr marL="635" algn="ctr">
                        <a:lnSpc>
                          <a:spcPct val="100000"/>
                        </a:lnSpc>
                        <a:spcBef>
                          <a:spcPts val="420"/>
                        </a:spcBef>
                      </a:pPr>
                      <a:r>
                        <a:rPr sz="700" spc="-5" dirty="0">
                          <a:latin typeface="Arial"/>
                          <a:cs typeface="Arial"/>
                        </a:rPr>
                        <a:t>DAC_OFS_CH4</a:t>
                      </a:r>
                      <a:r>
                        <a:rPr sz="700" spc="-40" dirty="0">
                          <a:latin typeface="Arial"/>
                          <a:cs typeface="Arial"/>
                        </a:rPr>
                        <a:t> </a:t>
                      </a:r>
                      <a:r>
                        <a:rPr sz="700" spc="-5" dirty="0">
                          <a:latin typeface="Arial"/>
                          <a:cs typeface="Arial"/>
                        </a:rPr>
                        <a:t>[7:0]</a:t>
                      </a:r>
                      <a:endParaRPr sz="700" dirty="0">
                        <a:latin typeface="Arial"/>
                        <a:cs typeface="Arial"/>
                      </a:endParaRPr>
                    </a:p>
                  </a:txBody>
                  <a:tcPr marL="0" marR="0" marT="5334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4"/>
                  </a:ext>
                </a:extLst>
              </a:tr>
              <a:tr h="200025">
                <a:tc>
                  <a:txBody>
                    <a:bodyPr/>
                    <a:lstStyle/>
                    <a:p>
                      <a:pPr marL="120014">
                        <a:lnSpc>
                          <a:spcPct val="100000"/>
                        </a:lnSpc>
                        <a:spcBef>
                          <a:spcPts val="440"/>
                        </a:spcBef>
                      </a:pPr>
                      <a:r>
                        <a:rPr sz="700" spc="-10" dirty="0">
                          <a:latin typeface="Arial"/>
                          <a:cs typeface="Arial"/>
                        </a:rPr>
                        <a:t>‘h45</a:t>
                      </a:r>
                      <a:endParaRPr sz="700" dirty="0">
                        <a:latin typeface="Arial"/>
                        <a:cs typeface="Arial"/>
                      </a:endParaRPr>
                    </a:p>
                  </a:txBody>
                  <a:tcPr marL="0" marR="0" marT="5588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R="3175" algn="ctr">
                        <a:lnSpc>
                          <a:spcPct val="100000"/>
                        </a:lnSpc>
                        <a:spcBef>
                          <a:spcPts val="440"/>
                        </a:spcBef>
                      </a:pPr>
                      <a:r>
                        <a:rPr sz="700" dirty="0">
                          <a:latin typeface="Arial"/>
                          <a:cs typeface="Arial"/>
                        </a:rPr>
                        <a:t>0</a:t>
                      </a:r>
                    </a:p>
                  </a:txBody>
                  <a:tcPr marL="0" marR="0" marT="5588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R="1270" algn="ctr">
                        <a:lnSpc>
                          <a:spcPct val="100000"/>
                        </a:lnSpc>
                        <a:spcBef>
                          <a:spcPts val="415"/>
                        </a:spcBef>
                      </a:pPr>
                      <a:r>
                        <a:rPr sz="700" dirty="0">
                          <a:latin typeface="Arial"/>
                          <a:cs typeface="Arial"/>
                        </a:rPr>
                        <a:t>x</a:t>
                      </a:r>
                    </a:p>
                  </a:txBody>
                  <a:tcPr marL="0" marR="0" marT="5270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R="1270" algn="ctr">
                        <a:lnSpc>
                          <a:spcPct val="100000"/>
                        </a:lnSpc>
                        <a:spcBef>
                          <a:spcPts val="440"/>
                        </a:spcBef>
                      </a:pPr>
                      <a:r>
                        <a:rPr sz="700" dirty="0">
                          <a:latin typeface="Arial"/>
                          <a:cs typeface="Arial"/>
                        </a:rPr>
                        <a:t>x</a:t>
                      </a:r>
                    </a:p>
                  </a:txBody>
                  <a:tcPr marL="0" marR="0" marT="5588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R="1905" algn="ctr">
                        <a:lnSpc>
                          <a:spcPct val="100000"/>
                        </a:lnSpc>
                        <a:spcBef>
                          <a:spcPts val="415"/>
                        </a:spcBef>
                      </a:pPr>
                      <a:r>
                        <a:rPr sz="700" dirty="0">
                          <a:latin typeface="Arial"/>
                          <a:cs typeface="Arial"/>
                        </a:rPr>
                        <a:t>x</a:t>
                      </a:r>
                    </a:p>
                  </a:txBody>
                  <a:tcPr marL="0" marR="0" marT="5270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gridSpan="4">
                  <a:txBody>
                    <a:bodyPr/>
                    <a:lstStyle/>
                    <a:p>
                      <a:pPr marL="206375">
                        <a:lnSpc>
                          <a:spcPct val="100000"/>
                        </a:lnSpc>
                        <a:spcBef>
                          <a:spcPts val="440"/>
                        </a:spcBef>
                      </a:pPr>
                      <a:r>
                        <a:rPr sz="700" spc="-5" dirty="0">
                          <a:latin typeface="Arial"/>
                          <a:cs typeface="Arial"/>
                        </a:rPr>
                        <a:t>DAC_LOFS_CH5</a:t>
                      </a:r>
                      <a:r>
                        <a:rPr sz="700" spc="-35" dirty="0">
                          <a:latin typeface="Arial"/>
                          <a:cs typeface="Arial"/>
                        </a:rPr>
                        <a:t> </a:t>
                      </a:r>
                      <a:r>
                        <a:rPr sz="700" spc="-5" dirty="0">
                          <a:latin typeface="Arial"/>
                          <a:cs typeface="Arial"/>
                        </a:rPr>
                        <a:t>[3:0]</a:t>
                      </a:r>
                      <a:endParaRPr sz="700" dirty="0">
                        <a:latin typeface="Arial"/>
                        <a:cs typeface="Arial"/>
                      </a:endParaRPr>
                    </a:p>
                  </a:txBody>
                  <a:tcPr marL="0" marR="0" marT="5588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a:txBody>
                    <a:bodyPr/>
                    <a:lstStyle/>
                    <a:p>
                      <a:pPr marR="3810" algn="ctr">
                        <a:lnSpc>
                          <a:spcPct val="100000"/>
                        </a:lnSpc>
                        <a:spcBef>
                          <a:spcPts val="440"/>
                        </a:spcBef>
                      </a:pPr>
                      <a:r>
                        <a:rPr sz="700" spc="-10" dirty="0">
                          <a:latin typeface="Arial"/>
                          <a:cs typeface="Arial"/>
                        </a:rPr>
                        <a:t>SIGN</a:t>
                      </a:r>
                      <a:endParaRPr sz="700" dirty="0">
                        <a:latin typeface="Arial"/>
                        <a:cs typeface="Arial"/>
                      </a:endParaRPr>
                    </a:p>
                  </a:txBody>
                  <a:tcPr marL="0" marR="0" marT="5588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gridSpan="8">
                  <a:txBody>
                    <a:bodyPr/>
                    <a:lstStyle/>
                    <a:p>
                      <a:pPr marR="3810" algn="ctr">
                        <a:lnSpc>
                          <a:spcPct val="100000"/>
                        </a:lnSpc>
                        <a:spcBef>
                          <a:spcPts val="415"/>
                        </a:spcBef>
                      </a:pPr>
                      <a:r>
                        <a:rPr sz="700" spc="-5" dirty="0">
                          <a:latin typeface="Arial"/>
                          <a:cs typeface="Arial"/>
                        </a:rPr>
                        <a:t>DAC_OFS_CH5</a:t>
                      </a:r>
                      <a:r>
                        <a:rPr sz="700" spc="-40" dirty="0">
                          <a:latin typeface="Arial"/>
                          <a:cs typeface="Arial"/>
                        </a:rPr>
                        <a:t> </a:t>
                      </a:r>
                      <a:r>
                        <a:rPr sz="700" spc="-5" dirty="0">
                          <a:latin typeface="Arial"/>
                          <a:cs typeface="Arial"/>
                        </a:rPr>
                        <a:t>[7:0]</a:t>
                      </a:r>
                      <a:endParaRPr sz="700" dirty="0">
                        <a:latin typeface="Arial"/>
                        <a:cs typeface="Arial"/>
                      </a:endParaRPr>
                    </a:p>
                  </a:txBody>
                  <a:tcPr marL="0" marR="0" marT="5270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5"/>
                  </a:ext>
                </a:extLst>
              </a:tr>
            </a:tbl>
          </a:graphicData>
        </a:graphic>
      </p:graphicFrame>
      <p:sp>
        <p:nvSpPr>
          <p:cNvPr id="6" name="object 6"/>
          <p:cNvSpPr txBox="1"/>
          <p:nvPr/>
        </p:nvSpPr>
        <p:spPr>
          <a:xfrm>
            <a:off x="400913" y="956310"/>
            <a:ext cx="6038542" cy="182101"/>
          </a:xfrm>
          <a:prstGeom prst="rect">
            <a:avLst/>
          </a:prstGeom>
        </p:spPr>
        <p:txBody>
          <a:bodyPr vert="horz" wrap="square" lIns="0" tIns="12700" rIns="0" bIns="0" rtlCol="0">
            <a:spAutoFit/>
          </a:bodyPr>
          <a:lstStyle/>
          <a:p>
            <a:pPr marL="12700">
              <a:lnSpc>
                <a:spcPct val="100000"/>
              </a:lnSpc>
              <a:spcBef>
                <a:spcPts val="100"/>
              </a:spcBef>
            </a:pPr>
            <a:r>
              <a:rPr sz="1100" b="1" spc="-20" dirty="0">
                <a:latin typeface="Arial"/>
                <a:cs typeface="Arial"/>
              </a:rPr>
              <a:t>DAC</a:t>
            </a:r>
            <a:r>
              <a:rPr sz="1100" b="1" spc="35" dirty="0">
                <a:latin typeface="Arial"/>
                <a:cs typeface="Arial"/>
              </a:rPr>
              <a:t> </a:t>
            </a:r>
            <a:r>
              <a:rPr sz="1100" b="1" spc="-5" dirty="0">
                <a:latin typeface="Arial"/>
                <a:cs typeface="Arial"/>
              </a:rPr>
              <a:t>OFFSET</a:t>
            </a:r>
            <a:r>
              <a:rPr sz="1100" b="1" spc="-20" dirty="0">
                <a:latin typeface="Arial"/>
                <a:cs typeface="Arial"/>
              </a:rPr>
              <a:t> </a:t>
            </a:r>
            <a:r>
              <a:rPr sz="1100" b="1" spc="-5" dirty="0">
                <a:latin typeface="Arial"/>
                <a:cs typeface="Arial"/>
              </a:rPr>
              <a:t>CHANNEL</a:t>
            </a:r>
            <a:r>
              <a:rPr sz="1100" b="1" spc="40" dirty="0">
                <a:latin typeface="Arial"/>
                <a:cs typeface="Arial"/>
              </a:rPr>
              <a:t> </a:t>
            </a:r>
            <a:r>
              <a:rPr sz="1100" b="1" dirty="0">
                <a:latin typeface="Arial"/>
                <a:cs typeface="Arial"/>
              </a:rPr>
              <a:t>1</a:t>
            </a:r>
            <a:r>
              <a:rPr sz="1100" b="1" spc="-20" dirty="0">
                <a:latin typeface="Arial"/>
                <a:cs typeface="Arial"/>
              </a:rPr>
              <a:t> </a:t>
            </a:r>
            <a:r>
              <a:rPr sz="1100" b="1" dirty="0">
                <a:latin typeface="Arial"/>
                <a:cs typeface="Arial"/>
              </a:rPr>
              <a:t>~</a:t>
            </a:r>
            <a:r>
              <a:rPr sz="1100" b="1" spc="-20" dirty="0">
                <a:latin typeface="Arial"/>
                <a:cs typeface="Arial"/>
              </a:rPr>
              <a:t> </a:t>
            </a:r>
            <a:r>
              <a:rPr sz="1100" b="1" dirty="0">
                <a:latin typeface="Arial"/>
                <a:cs typeface="Arial"/>
              </a:rPr>
              <a:t>24</a:t>
            </a:r>
            <a:endParaRPr sz="1100" dirty="0">
              <a:latin typeface="Arial"/>
              <a:cs typeface="Arial"/>
            </a:endParaRPr>
          </a:p>
        </p:txBody>
      </p:sp>
      <p:graphicFrame>
        <p:nvGraphicFramePr>
          <p:cNvPr id="7" name="object 7"/>
          <p:cNvGraphicFramePr>
            <a:graphicFrameLocks noGrp="1"/>
          </p:cNvGraphicFramePr>
          <p:nvPr>
            <p:extLst>
              <p:ext uri="{D42A27DB-BD31-4B8C-83A1-F6EECF244321}">
                <p14:modId xmlns:p14="http://schemas.microsoft.com/office/powerpoint/2010/main" val="732304103"/>
              </p:ext>
            </p:extLst>
          </p:nvPr>
        </p:nvGraphicFramePr>
        <p:xfrm>
          <a:off x="400914" y="2553652"/>
          <a:ext cx="6038543" cy="178435"/>
        </p:xfrm>
        <a:graphic>
          <a:graphicData uri="http://schemas.openxmlformats.org/drawingml/2006/table">
            <a:tbl>
              <a:tblPr firstRow="1" bandRow="1">
                <a:tableStyleId>{2D5ABB26-0587-4C30-8999-92F81FD0307C}</a:tableStyleId>
              </a:tblPr>
              <a:tblGrid>
                <a:gridCol w="412525">
                  <a:extLst>
                    <a:ext uri="{9D8B030D-6E8A-4147-A177-3AD203B41FA5}">
                      <a16:colId xmlns:a16="http://schemas.microsoft.com/office/drawing/2014/main" val="20000"/>
                    </a:ext>
                  </a:extLst>
                </a:gridCol>
                <a:gridCol w="474746">
                  <a:extLst>
                    <a:ext uri="{9D8B030D-6E8A-4147-A177-3AD203B41FA5}">
                      <a16:colId xmlns:a16="http://schemas.microsoft.com/office/drawing/2014/main" val="20001"/>
                    </a:ext>
                  </a:extLst>
                </a:gridCol>
                <a:gridCol w="322304">
                  <a:extLst>
                    <a:ext uri="{9D8B030D-6E8A-4147-A177-3AD203B41FA5}">
                      <a16:colId xmlns:a16="http://schemas.microsoft.com/office/drawing/2014/main" val="20002"/>
                    </a:ext>
                  </a:extLst>
                </a:gridCol>
                <a:gridCol w="322305">
                  <a:extLst>
                    <a:ext uri="{9D8B030D-6E8A-4147-A177-3AD203B41FA5}">
                      <a16:colId xmlns:a16="http://schemas.microsoft.com/office/drawing/2014/main" val="20003"/>
                    </a:ext>
                  </a:extLst>
                </a:gridCol>
                <a:gridCol w="322305">
                  <a:extLst>
                    <a:ext uri="{9D8B030D-6E8A-4147-A177-3AD203B41FA5}">
                      <a16:colId xmlns:a16="http://schemas.microsoft.com/office/drawing/2014/main" val="20004"/>
                    </a:ext>
                  </a:extLst>
                </a:gridCol>
                <a:gridCol w="1287351">
                  <a:extLst>
                    <a:ext uri="{9D8B030D-6E8A-4147-A177-3AD203B41FA5}">
                      <a16:colId xmlns:a16="http://schemas.microsoft.com/office/drawing/2014/main" val="20005"/>
                    </a:ext>
                  </a:extLst>
                </a:gridCol>
                <a:gridCol w="322304">
                  <a:extLst>
                    <a:ext uri="{9D8B030D-6E8A-4147-A177-3AD203B41FA5}">
                      <a16:colId xmlns:a16="http://schemas.microsoft.com/office/drawing/2014/main" val="20006"/>
                    </a:ext>
                  </a:extLst>
                </a:gridCol>
                <a:gridCol w="2574703">
                  <a:extLst>
                    <a:ext uri="{9D8B030D-6E8A-4147-A177-3AD203B41FA5}">
                      <a16:colId xmlns:a16="http://schemas.microsoft.com/office/drawing/2014/main" val="20007"/>
                    </a:ext>
                  </a:extLst>
                </a:gridCol>
              </a:tblGrid>
              <a:tr h="178435">
                <a:tc>
                  <a:txBody>
                    <a:bodyPr/>
                    <a:lstStyle/>
                    <a:p>
                      <a:pPr marL="126364">
                        <a:lnSpc>
                          <a:spcPct val="100000"/>
                        </a:lnSpc>
                        <a:spcBef>
                          <a:spcPts val="270"/>
                        </a:spcBef>
                      </a:pPr>
                      <a:r>
                        <a:rPr sz="700" spc="-10" dirty="0">
                          <a:latin typeface="Arial"/>
                          <a:cs typeface="Arial"/>
                        </a:rPr>
                        <a:t>‘h46</a:t>
                      </a:r>
                      <a:endParaRPr sz="7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635" algn="ctr">
                        <a:lnSpc>
                          <a:spcPct val="100000"/>
                        </a:lnSpc>
                        <a:spcBef>
                          <a:spcPts val="270"/>
                        </a:spcBef>
                      </a:pPr>
                      <a:r>
                        <a:rPr sz="700" dirty="0">
                          <a:latin typeface="Arial"/>
                          <a:cs typeface="Arial"/>
                        </a:rPr>
                        <a:t>0</a:t>
                      </a: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2540" algn="ctr">
                        <a:lnSpc>
                          <a:spcPct val="100000"/>
                        </a:lnSpc>
                        <a:spcBef>
                          <a:spcPts val="245"/>
                        </a:spcBef>
                      </a:pPr>
                      <a:r>
                        <a:rPr sz="700" dirty="0">
                          <a:latin typeface="Arial"/>
                          <a:cs typeface="Arial"/>
                        </a:rPr>
                        <a:t>x</a:t>
                      </a:r>
                    </a:p>
                  </a:txBody>
                  <a:tcPr marL="0" marR="0" marT="3111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2540" algn="ctr">
                        <a:lnSpc>
                          <a:spcPct val="100000"/>
                        </a:lnSpc>
                        <a:spcBef>
                          <a:spcPts val="270"/>
                        </a:spcBef>
                      </a:pPr>
                      <a:r>
                        <a:rPr sz="700" dirty="0">
                          <a:latin typeface="Arial"/>
                          <a:cs typeface="Arial"/>
                        </a:rPr>
                        <a:t>x</a:t>
                      </a: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2540" algn="ctr">
                        <a:lnSpc>
                          <a:spcPct val="100000"/>
                        </a:lnSpc>
                        <a:spcBef>
                          <a:spcPts val="245"/>
                        </a:spcBef>
                      </a:pPr>
                      <a:r>
                        <a:rPr sz="700" dirty="0">
                          <a:latin typeface="Arial"/>
                          <a:cs typeface="Arial"/>
                        </a:rPr>
                        <a:t>x</a:t>
                      </a:r>
                    </a:p>
                  </a:txBody>
                  <a:tcPr marL="0" marR="0" marT="3111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212725">
                        <a:lnSpc>
                          <a:spcPct val="100000"/>
                        </a:lnSpc>
                        <a:spcBef>
                          <a:spcPts val="270"/>
                        </a:spcBef>
                      </a:pPr>
                      <a:r>
                        <a:rPr sz="700" spc="-5" dirty="0">
                          <a:latin typeface="Arial"/>
                          <a:cs typeface="Arial"/>
                        </a:rPr>
                        <a:t>DAC_LOFS_CH6</a:t>
                      </a:r>
                      <a:r>
                        <a:rPr sz="700" spc="-35" dirty="0">
                          <a:latin typeface="Arial"/>
                          <a:cs typeface="Arial"/>
                        </a:rPr>
                        <a:t> </a:t>
                      </a:r>
                      <a:r>
                        <a:rPr sz="700" spc="-5" dirty="0">
                          <a:latin typeface="Arial"/>
                          <a:cs typeface="Arial"/>
                        </a:rPr>
                        <a:t>[3:0]</a:t>
                      </a:r>
                      <a:endParaRPr sz="7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56515">
                        <a:lnSpc>
                          <a:spcPct val="100000"/>
                        </a:lnSpc>
                        <a:spcBef>
                          <a:spcPts val="270"/>
                        </a:spcBef>
                      </a:pPr>
                      <a:r>
                        <a:rPr sz="700" spc="-10" dirty="0">
                          <a:latin typeface="Arial"/>
                          <a:cs typeface="Arial"/>
                        </a:rPr>
                        <a:t>SIGN</a:t>
                      </a:r>
                      <a:endParaRPr sz="7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algn="ctr">
                        <a:lnSpc>
                          <a:spcPct val="100000"/>
                        </a:lnSpc>
                        <a:spcBef>
                          <a:spcPts val="245"/>
                        </a:spcBef>
                      </a:pPr>
                      <a:r>
                        <a:rPr sz="700" spc="-5" dirty="0">
                          <a:latin typeface="Arial"/>
                          <a:cs typeface="Arial"/>
                        </a:rPr>
                        <a:t>DAC_OFS_CH6</a:t>
                      </a:r>
                      <a:r>
                        <a:rPr sz="700" spc="-40" dirty="0">
                          <a:latin typeface="Arial"/>
                          <a:cs typeface="Arial"/>
                        </a:rPr>
                        <a:t> </a:t>
                      </a:r>
                      <a:r>
                        <a:rPr sz="700" spc="-5" dirty="0">
                          <a:latin typeface="Arial"/>
                          <a:cs typeface="Arial"/>
                        </a:rPr>
                        <a:t>[7:0]</a:t>
                      </a:r>
                      <a:endParaRPr sz="700" dirty="0">
                        <a:latin typeface="Arial"/>
                        <a:cs typeface="Arial"/>
                      </a:endParaRPr>
                    </a:p>
                  </a:txBody>
                  <a:tcPr marL="0" marR="0" marT="3111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extLst>
                  <a:ext uri="{0D108BD9-81ED-4DB2-BD59-A6C34878D82A}">
                    <a16:rowId xmlns:a16="http://schemas.microsoft.com/office/drawing/2014/main" val="10000"/>
                  </a:ext>
                </a:extLst>
              </a:tr>
            </a:tbl>
          </a:graphicData>
        </a:graphic>
      </p:graphicFrame>
      <p:graphicFrame>
        <p:nvGraphicFramePr>
          <p:cNvPr id="8" name="object 8"/>
          <p:cNvGraphicFramePr>
            <a:graphicFrameLocks noGrp="1"/>
          </p:cNvGraphicFramePr>
          <p:nvPr>
            <p:extLst>
              <p:ext uri="{D42A27DB-BD31-4B8C-83A1-F6EECF244321}">
                <p14:modId xmlns:p14="http://schemas.microsoft.com/office/powerpoint/2010/main" val="3168768833"/>
              </p:ext>
            </p:extLst>
          </p:nvPr>
        </p:nvGraphicFramePr>
        <p:xfrm>
          <a:off x="400914" y="2781490"/>
          <a:ext cx="6038543" cy="178435"/>
        </p:xfrm>
        <a:graphic>
          <a:graphicData uri="http://schemas.openxmlformats.org/drawingml/2006/table">
            <a:tbl>
              <a:tblPr firstRow="1" bandRow="1">
                <a:tableStyleId>{2D5ABB26-0587-4C30-8999-92F81FD0307C}</a:tableStyleId>
              </a:tblPr>
              <a:tblGrid>
                <a:gridCol w="412525">
                  <a:extLst>
                    <a:ext uri="{9D8B030D-6E8A-4147-A177-3AD203B41FA5}">
                      <a16:colId xmlns:a16="http://schemas.microsoft.com/office/drawing/2014/main" val="20000"/>
                    </a:ext>
                  </a:extLst>
                </a:gridCol>
                <a:gridCol w="474746">
                  <a:extLst>
                    <a:ext uri="{9D8B030D-6E8A-4147-A177-3AD203B41FA5}">
                      <a16:colId xmlns:a16="http://schemas.microsoft.com/office/drawing/2014/main" val="20001"/>
                    </a:ext>
                  </a:extLst>
                </a:gridCol>
                <a:gridCol w="322304">
                  <a:extLst>
                    <a:ext uri="{9D8B030D-6E8A-4147-A177-3AD203B41FA5}">
                      <a16:colId xmlns:a16="http://schemas.microsoft.com/office/drawing/2014/main" val="20002"/>
                    </a:ext>
                  </a:extLst>
                </a:gridCol>
                <a:gridCol w="322305">
                  <a:extLst>
                    <a:ext uri="{9D8B030D-6E8A-4147-A177-3AD203B41FA5}">
                      <a16:colId xmlns:a16="http://schemas.microsoft.com/office/drawing/2014/main" val="20003"/>
                    </a:ext>
                  </a:extLst>
                </a:gridCol>
                <a:gridCol w="322305">
                  <a:extLst>
                    <a:ext uri="{9D8B030D-6E8A-4147-A177-3AD203B41FA5}">
                      <a16:colId xmlns:a16="http://schemas.microsoft.com/office/drawing/2014/main" val="20004"/>
                    </a:ext>
                  </a:extLst>
                </a:gridCol>
                <a:gridCol w="1287351">
                  <a:extLst>
                    <a:ext uri="{9D8B030D-6E8A-4147-A177-3AD203B41FA5}">
                      <a16:colId xmlns:a16="http://schemas.microsoft.com/office/drawing/2014/main" val="20005"/>
                    </a:ext>
                  </a:extLst>
                </a:gridCol>
                <a:gridCol w="322304">
                  <a:extLst>
                    <a:ext uri="{9D8B030D-6E8A-4147-A177-3AD203B41FA5}">
                      <a16:colId xmlns:a16="http://schemas.microsoft.com/office/drawing/2014/main" val="20006"/>
                    </a:ext>
                  </a:extLst>
                </a:gridCol>
                <a:gridCol w="2574703">
                  <a:extLst>
                    <a:ext uri="{9D8B030D-6E8A-4147-A177-3AD203B41FA5}">
                      <a16:colId xmlns:a16="http://schemas.microsoft.com/office/drawing/2014/main" val="20007"/>
                    </a:ext>
                  </a:extLst>
                </a:gridCol>
              </a:tblGrid>
              <a:tr h="178435">
                <a:tc>
                  <a:txBody>
                    <a:bodyPr/>
                    <a:lstStyle/>
                    <a:p>
                      <a:pPr marL="126364">
                        <a:lnSpc>
                          <a:spcPct val="100000"/>
                        </a:lnSpc>
                        <a:spcBef>
                          <a:spcPts val="270"/>
                        </a:spcBef>
                      </a:pPr>
                      <a:r>
                        <a:rPr sz="700" spc="-10" dirty="0">
                          <a:latin typeface="Arial"/>
                          <a:cs typeface="Arial"/>
                        </a:rPr>
                        <a:t>‘h47</a:t>
                      </a:r>
                      <a:endParaRPr sz="7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635" algn="ctr">
                        <a:lnSpc>
                          <a:spcPct val="100000"/>
                        </a:lnSpc>
                        <a:spcBef>
                          <a:spcPts val="270"/>
                        </a:spcBef>
                      </a:pPr>
                      <a:r>
                        <a:rPr sz="700" dirty="0">
                          <a:latin typeface="Arial"/>
                          <a:cs typeface="Arial"/>
                        </a:rPr>
                        <a:t>0</a:t>
                      </a: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2540" algn="ctr">
                        <a:lnSpc>
                          <a:spcPct val="100000"/>
                        </a:lnSpc>
                        <a:spcBef>
                          <a:spcPts val="245"/>
                        </a:spcBef>
                      </a:pPr>
                      <a:r>
                        <a:rPr sz="700" dirty="0">
                          <a:latin typeface="Arial"/>
                          <a:cs typeface="Arial"/>
                        </a:rPr>
                        <a:t>x</a:t>
                      </a:r>
                    </a:p>
                  </a:txBody>
                  <a:tcPr marL="0" marR="0" marT="3111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2540" algn="ctr">
                        <a:lnSpc>
                          <a:spcPct val="100000"/>
                        </a:lnSpc>
                        <a:spcBef>
                          <a:spcPts val="270"/>
                        </a:spcBef>
                      </a:pPr>
                      <a:r>
                        <a:rPr sz="700" dirty="0">
                          <a:latin typeface="Arial"/>
                          <a:cs typeface="Arial"/>
                        </a:rPr>
                        <a:t>x</a:t>
                      </a: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2540" algn="ctr">
                        <a:lnSpc>
                          <a:spcPct val="100000"/>
                        </a:lnSpc>
                        <a:spcBef>
                          <a:spcPts val="245"/>
                        </a:spcBef>
                      </a:pPr>
                      <a:r>
                        <a:rPr sz="700" dirty="0">
                          <a:latin typeface="Arial"/>
                          <a:cs typeface="Arial"/>
                        </a:rPr>
                        <a:t>x</a:t>
                      </a:r>
                    </a:p>
                  </a:txBody>
                  <a:tcPr marL="0" marR="0" marT="3111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212725">
                        <a:lnSpc>
                          <a:spcPct val="100000"/>
                        </a:lnSpc>
                        <a:spcBef>
                          <a:spcPts val="270"/>
                        </a:spcBef>
                      </a:pPr>
                      <a:r>
                        <a:rPr sz="700" spc="-5" dirty="0" err="1">
                          <a:latin typeface="Arial"/>
                          <a:cs typeface="Arial"/>
                        </a:rPr>
                        <a:t>DAC_LOFS_CH7</a:t>
                      </a:r>
                      <a:r>
                        <a:rPr sz="700" spc="-35" dirty="0">
                          <a:latin typeface="Arial"/>
                          <a:cs typeface="Arial"/>
                        </a:rPr>
                        <a:t> </a:t>
                      </a:r>
                      <a:r>
                        <a:rPr sz="700" spc="-5" dirty="0">
                          <a:latin typeface="Arial"/>
                          <a:cs typeface="Arial"/>
                        </a:rPr>
                        <a:t>[3:0]</a:t>
                      </a:r>
                      <a:endParaRPr sz="7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56515">
                        <a:lnSpc>
                          <a:spcPct val="100000"/>
                        </a:lnSpc>
                        <a:spcBef>
                          <a:spcPts val="270"/>
                        </a:spcBef>
                      </a:pPr>
                      <a:r>
                        <a:rPr sz="700" spc="-10" dirty="0">
                          <a:latin typeface="Arial"/>
                          <a:cs typeface="Arial"/>
                        </a:rPr>
                        <a:t>SIGN</a:t>
                      </a:r>
                      <a:endParaRPr sz="7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algn="ctr">
                        <a:lnSpc>
                          <a:spcPct val="100000"/>
                        </a:lnSpc>
                        <a:spcBef>
                          <a:spcPts val="245"/>
                        </a:spcBef>
                      </a:pPr>
                      <a:r>
                        <a:rPr sz="700" spc="-5" dirty="0" err="1">
                          <a:latin typeface="Arial"/>
                          <a:cs typeface="Arial"/>
                        </a:rPr>
                        <a:t>DAC_OFS_CH7</a:t>
                      </a:r>
                      <a:r>
                        <a:rPr sz="700" spc="-40" dirty="0">
                          <a:latin typeface="Arial"/>
                          <a:cs typeface="Arial"/>
                        </a:rPr>
                        <a:t> </a:t>
                      </a:r>
                      <a:r>
                        <a:rPr sz="700" spc="-5" dirty="0">
                          <a:latin typeface="Arial"/>
                          <a:cs typeface="Arial"/>
                        </a:rPr>
                        <a:t>[7:0]</a:t>
                      </a:r>
                      <a:endParaRPr sz="700" dirty="0">
                        <a:latin typeface="Arial"/>
                        <a:cs typeface="Arial"/>
                      </a:endParaRPr>
                    </a:p>
                  </a:txBody>
                  <a:tcPr marL="0" marR="0" marT="3111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extLst>
                  <a:ext uri="{0D108BD9-81ED-4DB2-BD59-A6C34878D82A}">
                    <a16:rowId xmlns:a16="http://schemas.microsoft.com/office/drawing/2014/main" val="10000"/>
                  </a:ext>
                </a:extLst>
              </a:tr>
            </a:tbl>
          </a:graphicData>
        </a:graphic>
      </p:graphicFrame>
      <p:graphicFrame>
        <p:nvGraphicFramePr>
          <p:cNvPr id="9" name="object 9"/>
          <p:cNvGraphicFramePr>
            <a:graphicFrameLocks noGrp="1"/>
          </p:cNvGraphicFramePr>
          <p:nvPr>
            <p:extLst>
              <p:ext uri="{D42A27DB-BD31-4B8C-83A1-F6EECF244321}">
                <p14:modId xmlns:p14="http://schemas.microsoft.com/office/powerpoint/2010/main" val="2097219685"/>
              </p:ext>
            </p:extLst>
          </p:nvPr>
        </p:nvGraphicFramePr>
        <p:xfrm>
          <a:off x="400914" y="3010852"/>
          <a:ext cx="6038543" cy="178435"/>
        </p:xfrm>
        <a:graphic>
          <a:graphicData uri="http://schemas.openxmlformats.org/drawingml/2006/table">
            <a:tbl>
              <a:tblPr firstRow="1" bandRow="1">
                <a:tableStyleId>{2D5ABB26-0587-4C30-8999-92F81FD0307C}</a:tableStyleId>
              </a:tblPr>
              <a:tblGrid>
                <a:gridCol w="412525">
                  <a:extLst>
                    <a:ext uri="{9D8B030D-6E8A-4147-A177-3AD203B41FA5}">
                      <a16:colId xmlns:a16="http://schemas.microsoft.com/office/drawing/2014/main" val="20000"/>
                    </a:ext>
                  </a:extLst>
                </a:gridCol>
                <a:gridCol w="474746">
                  <a:extLst>
                    <a:ext uri="{9D8B030D-6E8A-4147-A177-3AD203B41FA5}">
                      <a16:colId xmlns:a16="http://schemas.microsoft.com/office/drawing/2014/main" val="20001"/>
                    </a:ext>
                  </a:extLst>
                </a:gridCol>
                <a:gridCol w="322304">
                  <a:extLst>
                    <a:ext uri="{9D8B030D-6E8A-4147-A177-3AD203B41FA5}">
                      <a16:colId xmlns:a16="http://schemas.microsoft.com/office/drawing/2014/main" val="20002"/>
                    </a:ext>
                  </a:extLst>
                </a:gridCol>
                <a:gridCol w="322305">
                  <a:extLst>
                    <a:ext uri="{9D8B030D-6E8A-4147-A177-3AD203B41FA5}">
                      <a16:colId xmlns:a16="http://schemas.microsoft.com/office/drawing/2014/main" val="20003"/>
                    </a:ext>
                  </a:extLst>
                </a:gridCol>
                <a:gridCol w="322305">
                  <a:extLst>
                    <a:ext uri="{9D8B030D-6E8A-4147-A177-3AD203B41FA5}">
                      <a16:colId xmlns:a16="http://schemas.microsoft.com/office/drawing/2014/main" val="20004"/>
                    </a:ext>
                  </a:extLst>
                </a:gridCol>
                <a:gridCol w="1287351">
                  <a:extLst>
                    <a:ext uri="{9D8B030D-6E8A-4147-A177-3AD203B41FA5}">
                      <a16:colId xmlns:a16="http://schemas.microsoft.com/office/drawing/2014/main" val="20005"/>
                    </a:ext>
                  </a:extLst>
                </a:gridCol>
                <a:gridCol w="322304">
                  <a:extLst>
                    <a:ext uri="{9D8B030D-6E8A-4147-A177-3AD203B41FA5}">
                      <a16:colId xmlns:a16="http://schemas.microsoft.com/office/drawing/2014/main" val="20006"/>
                    </a:ext>
                  </a:extLst>
                </a:gridCol>
                <a:gridCol w="2574703">
                  <a:extLst>
                    <a:ext uri="{9D8B030D-6E8A-4147-A177-3AD203B41FA5}">
                      <a16:colId xmlns:a16="http://schemas.microsoft.com/office/drawing/2014/main" val="20007"/>
                    </a:ext>
                  </a:extLst>
                </a:gridCol>
              </a:tblGrid>
              <a:tr h="178435">
                <a:tc>
                  <a:txBody>
                    <a:bodyPr/>
                    <a:lstStyle/>
                    <a:p>
                      <a:pPr marL="126364">
                        <a:lnSpc>
                          <a:spcPct val="100000"/>
                        </a:lnSpc>
                        <a:spcBef>
                          <a:spcPts val="270"/>
                        </a:spcBef>
                      </a:pPr>
                      <a:r>
                        <a:rPr sz="700" spc="-10" dirty="0">
                          <a:latin typeface="Arial"/>
                          <a:cs typeface="Arial"/>
                        </a:rPr>
                        <a:t>‘h48</a:t>
                      </a:r>
                      <a:endParaRPr sz="7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635" algn="ctr">
                        <a:lnSpc>
                          <a:spcPct val="100000"/>
                        </a:lnSpc>
                        <a:spcBef>
                          <a:spcPts val="270"/>
                        </a:spcBef>
                      </a:pPr>
                      <a:r>
                        <a:rPr sz="700" dirty="0">
                          <a:latin typeface="Arial"/>
                          <a:cs typeface="Arial"/>
                        </a:rPr>
                        <a:t>0</a:t>
                      </a: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2540" algn="ctr">
                        <a:lnSpc>
                          <a:spcPct val="100000"/>
                        </a:lnSpc>
                        <a:spcBef>
                          <a:spcPts val="245"/>
                        </a:spcBef>
                      </a:pPr>
                      <a:r>
                        <a:rPr sz="700" dirty="0">
                          <a:latin typeface="Arial"/>
                          <a:cs typeface="Arial"/>
                        </a:rPr>
                        <a:t>x</a:t>
                      </a:r>
                    </a:p>
                  </a:txBody>
                  <a:tcPr marL="0" marR="0" marT="3111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2540" algn="ctr">
                        <a:lnSpc>
                          <a:spcPct val="100000"/>
                        </a:lnSpc>
                        <a:spcBef>
                          <a:spcPts val="270"/>
                        </a:spcBef>
                      </a:pPr>
                      <a:r>
                        <a:rPr sz="700" dirty="0">
                          <a:latin typeface="Arial"/>
                          <a:cs typeface="Arial"/>
                        </a:rPr>
                        <a:t>x</a:t>
                      </a: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2540" algn="ctr">
                        <a:lnSpc>
                          <a:spcPct val="100000"/>
                        </a:lnSpc>
                        <a:spcBef>
                          <a:spcPts val="245"/>
                        </a:spcBef>
                      </a:pPr>
                      <a:r>
                        <a:rPr sz="700" dirty="0">
                          <a:latin typeface="Arial"/>
                          <a:cs typeface="Arial"/>
                        </a:rPr>
                        <a:t>x</a:t>
                      </a:r>
                    </a:p>
                  </a:txBody>
                  <a:tcPr marL="0" marR="0" marT="3111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212725">
                        <a:lnSpc>
                          <a:spcPct val="100000"/>
                        </a:lnSpc>
                        <a:spcBef>
                          <a:spcPts val="270"/>
                        </a:spcBef>
                      </a:pPr>
                      <a:r>
                        <a:rPr sz="700" spc="-5" dirty="0">
                          <a:latin typeface="Arial"/>
                          <a:cs typeface="Arial"/>
                        </a:rPr>
                        <a:t>DAC_LOFS_CH8</a:t>
                      </a:r>
                      <a:r>
                        <a:rPr sz="700" spc="-35" dirty="0">
                          <a:latin typeface="Arial"/>
                          <a:cs typeface="Arial"/>
                        </a:rPr>
                        <a:t> </a:t>
                      </a:r>
                      <a:r>
                        <a:rPr sz="700" spc="-5" dirty="0">
                          <a:latin typeface="Arial"/>
                          <a:cs typeface="Arial"/>
                        </a:rPr>
                        <a:t>[3:0]</a:t>
                      </a:r>
                      <a:endParaRPr sz="7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56515">
                        <a:lnSpc>
                          <a:spcPct val="100000"/>
                        </a:lnSpc>
                        <a:spcBef>
                          <a:spcPts val="270"/>
                        </a:spcBef>
                      </a:pPr>
                      <a:r>
                        <a:rPr sz="700" spc="-10" dirty="0">
                          <a:latin typeface="Arial"/>
                          <a:cs typeface="Arial"/>
                        </a:rPr>
                        <a:t>SIGN</a:t>
                      </a:r>
                      <a:endParaRPr sz="7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algn="ctr">
                        <a:lnSpc>
                          <a:spcPct val="100000"/>
                        </a:lnSpc>
                        <a:spcBef>
                          <a:spcPts val="245"/>
                        </a:spcBef>
                      </a:pPr>
                      <a:r>
                        <a:rPr sz="700" spc="-5" dirty="0">
                          <a:latin typeface="Arial"/>
                          <a:cs typeface="Arial"/>
                        </a:rPr>
                        <a:t>DAC_OFS_CH8</a:t>
                      </a:r>
                      <a:r>
                        <a:rPr sz="700" spc="-40" dirty="0">
                          <a:latin typeface="Arial"/>
                          <a:cs typeface="Arial"/>
                        </a:rPr>
                        <a:t> </a:t>
                      </a:r>
                      <a:r>
                        <a:rPr sz="700" spc="-5" dirty="0">
                          <a:latin typeface="Arial"/>
                          <a:cs typeface="Arial"/>
                        </a:rPr>
                        <a:t>[7:0]</a:t>
                      </a:r>
                      <a:endParaRPr sz="700" dirty="0">
                        <a:latin typeface="Arial"/>
                        <a:cs typeface="Arial"/>
                      </a:endParaRPr>
                    </a:p>
                  </a:txBody>
                  <a:tcPr marL="0" marR="0" marT="3111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extLst>
                  <a:ext uri="{0D108BD9-81ED-4DB2-BD59-A6C34878D82A}">
                    <a16:rowId xmlns:a16="http://schemas.microsoft.com/office/drawing/2014/main" val="10000"/>
                  </a:ext>
                </a:extLst>
              </a:tr>
            </a:tbl>
          </a:graphicData>
        </a:graphic>
      </p:graphicFrame>
      <p:graphicFrame>
        <p:nvGraphicFramePr>
          <p:cNvPr id="10" name="object 10"/>
          <p:cNvGraphicFramePr>
            <a:graphicFrameLocks noGrp="1"/>
          </p:cNvGraphicFramePr>
          <p:nvPr>
            <p:extLst>
              <p:ext uri="{D42A27DB-BD31-4B8C-83A1-F6EECF244321}">
                <p14:modId xmlns:p14="http://schemas.microsoft.com/office/powerpoint/2010/main" val="449404642"/>
              </p:ext>
            </p:extLst>
          </p:nvPr>
        </p:nvGraphicFramePr>
        <p:xfrm>
          <a:off x="400914" y="3241738"/>
          <a:ext cx="6038543" cy="178435"/>
        </p:xfrm>
        <a:graphic>
          <a:graphicData uri="http://schemas.openxmlformats.org/drawingml/2006/table">
            <a:tbl>
              <a:tblPr firstRow="1" bandRow="1">
                <a:tableStyleId>{2D5ABB26-0587-4C30-8999-92F81FD0307C}</a:tableStyleId>
              </a:tblPr>
              <a:tblGrid>
                <a:gridCol w="412525">
                  <a:extLst>
                    <a:ext uri="{9D8B030D-6E8A-4147-A177-3AD203B41FA5}">
                      <a16:colId xmlns:a16="http://schemas.microsoft.com/office/drawing/2014/main" val="20000"/>
                    </a:ext>
                  </a:extLst>
                </a:gridCol>
                <a:gridCol w="474746">
                  <a:extLst>
                    <a:ext uri="{9D8B030D-6E8A-4147-A177-3AD203B41FA5}">
                      <a16:colId xmlns:a16="http://schemas.microsoft.com/office/drawing/2014/main" val="20001"/>
                    </a:ext>
                  </a:extLst>
                </a:gridCol>
                <a:gridCol w="322304">
                  <a:extLst>
                    <a:ext uri="{9D8B030D-6E8A-4147-A177-3AD203B41FA5}">
                      <a16:colId xmlns:a16="http://schemas.microsoft.com/office/drawing/2014/main" val="20002"/>
                    </a:ext>
                  </a:extLst>
                </a:gridCol>
                <a:gridCol w="322305">
                  <a:extLst>
                    <a:ext uri="{9D8B030D-6E8A-4147-A177-3AD203B41FA5}">
                      <a16:colId xmlns:a16="http://schemas.microsoft.com/office/drawing/2014/main" val="20003"/>
                    </a:ext>
                  </a:extLst>
                </a:gridCol>
                <a:gridCol w="322305">
                  <a:extLst>
                    <a:ext uri="{9D8B030D-6E8A-4147-A177-3AD203B41FA5}">
                      <a16:colId xmlns:a16="http://schemas.microsoft.com/office/drawing/2014/main" val="20004"/>
                    </a:ext>
                  </a:extLst>
                </a:gridCol>
                <a:gridCol w="1287351">
                  <a:extLst>
                    <a:ext uri="{9D8B030D-6E8A-4147-A177-3AD203B41FA5}">
                      <a16:colId xmlns:a16="http://schemas.microsoft.com/office/drawing/2014/main" val="20005"/>
                    </a:ext>
                  </a:extLst>
                </a:gridCol>
                <a:gridCol w="322304">
                  <a:extLst>
                    <a:ext uri="{9D8B030D-6E8A-4147-A177-3AD203B41FA5}">
                      <a16:colId xmlns:a16="http://schemas.microsoft.com/office/drawing/2014/main" val="20006"/>
                    </a:ext>
                  </a:extLst>
                </a:gridCol>
                <a:gridCol w="2574703">
                  <a:extLst>
                    <a:ext uri="{9D8B030D-6E8A-4147-A177-3AD203B41FA5}">
                      <a16:colId xmlns:a16="http://schemas.microsoft.com/office/drawing/2014/main" val="20007"/>
                    </a:ext>
                  </a:extLst>
                </a:gridCol>
              </a:tblGrid>
              <a:tr h="178435">
                <a:tc>
                  <a:txBody>
                    <a:bodyPr/>
                    <a:lstStyle/>
                    <a:p>
                      <a:pPr marL="126364">
                        <a:lnSpc>
                          <a:spcPct val="100000"/>
                        </a:lnSpc>
                        <a:spcBef>
                          <a:spcPts val="270"/>
                        </a:spcBef>
                      </a:pPr>
                      <a:r>
                        <a:rPr sz="700" spc="-5" dirty="0">
                          <a:latin typeface="Arial"/>
                          <a:cs typeface="Arial"/>
                        </a:rPr>
                        <a:t>‘h49</a:t>
                      </a:r>
                      <a:endParaRPr sz="7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635" algn="ctr">
                        <a:lnSpc>
                          <a:spcPct val="100000"/>
                        </a:lnSpc>
                        <a:spcBef>
                          <a:spcPts val="270"/>
                        </a:spcBef>
                      </a:pPr>
                      <a:r>
                        <a:rPr sz="700" dirty="0">
                          <a:latin typeface="Arial"/>
                          <a:cs typeface="Arial"/>
                        </a:rPr>
                        <a:t>0</a:t>
                      </a: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2540" algn="ctr">
                        <a:lnSpc>
                          <a:spcPct val="100000"/>
                        </a:lnSpc>
                        <a:spcBef>
                          <a:spcPts val="245"/>
                        </a:spcBef>
                      </a:pPr>
                      <a:r>
                        <a:rPr sz="700" dirty="0">
                          <a:latin typeface="Arial"/>
                          <a:cs typeface="Arial"/>
                        </a:rPr>
                        <a:t>x</a:t>
                      </a:r>
                    </a:p>
                  </a:txBody>
                  <a:tcPr marL="0" marR="0" marT="3111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2540" algn="ctr">
                        <a:lnSpc>
                          <a:spcPct val="100000"/>
                        </a:lnSpc>
                        <a:spcBef>
                          <a:spcPts val="270"/>
                        </a:spcBef>
                      </a:pPr>
                      <a:r>
                        <a:rPr sz="700" dirty="0">
                          <a:latin typeface="Arial"/>
                          <a:cs typeface="Arial"/>
                        </a:rPr>
                        <a:t>x</a:t>
                      </a: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3175" algn="ctr">
                        <a:lnSpc>
                          <a:spcPct val="100000"/>
                        </a:lnSpc>
                        <a:spcBef>
                          <a:spcPts val="245"/>
                        </a:spcBef>
                      </a:pPr>
                      <a:r>
                        <a:rPr sz="700" dirty="0">
                          <a:latin typeface="Arial"/>
                          <a:cs typeface="Arial"/>
                        </a:rPr>
                        <a:t>x</a:t>
                      </a:r>
                    </a:p>
                  </a:txBody>
                  <a:tcPr marL="0" marR="0" marT="3111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212725">
                        <a:lnSpc>
                          <a:spcPct val="100000"/>
                        </a:lnSpc>
                        <a:spcBef>
                          <a:spcPts val="270"/>
                        </a:spcBef>
                      </a:pPr>
                      <a:r>
                        <a:rPr sz="700" spc="-5" dirty="0">
                          <a:latin typeface="Arial"/>
                          <a:cs typeface="Arial"/>
                        </a:rPr>
                        <a:t>DAC_LOFS_CH9</a:t>
                      </a:r>
                      <a:r>
                        <a:rPr sz="700" spc="-40" dirty="0">
                          <a:latin typeface="Arial"/>
                          <a:cs typeface="Arial"/>
                        </a:rPr>
                        <a:t> </a:t>
                      </a:r>
                      <a:r>
                        <a:rPr sz="700" spc="-5" dirty="0">
                          <a:latin typeface="Arial"/>
                          <a:cs typeface="Arial"/>
                        </a:rPr>
                        <a:t>[3:0]</a:t>
                      </a:r>
                      <a:endParaRPr sz="7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56515">
                        <a:lnSpc>
                          <a:spcPct val="100000"/>
                        </a:lnSpc>
                        <a:spcBef>
                          <a:spcPts val="270"/>
                        </a:spcBef>
                      </a:pPr>
                      <a:r>
                        <a:rPr sz="700" spc="-10" dirty="0">
                          <a:latin typeface="Arial"/>
                          <a:cs typeface="Arial"/>
                        </a:rPr>
                        <a:t>SIGN</a:t>
                      </a:r>
                      <a:endParaRPr sz="7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algn="ctr">
                        <a:lnSpc>
                          <a:spcPct val="100000"/>
                        </a:lnSpc>
                        <a:spcBef>
                          <a:spcPts val="245"/>
                        </a:spcBef>
                      </a:pPr>
                      <a:r>
                        <a:rPr sz="700" spc="-5" dirty="0">
                          <a:latin typeface="Arial"/>
                          <a:cs typeface="Arial"/>
                        </a:rPr>
                        <a:t>DAC_OFS_CH9</a:t>
                      </a:r>
                      <a:r>
                        <a:rPr sz="700" spc="-40" dirty="0">
                          <a:latin typeface="Arial"/>
                          <a:cs typeface="Arial"/>
                        </a:rPr>
                        <a:t> </a:t>
                      </a:r>
                      <a:r>
                        <a:rPr sz="700" spc="-5" dirty="0">
                          <a:latin typeface="Arial"/>
                          <a:cs typeface="Arial"/>
                        </a:rPr>
                        <a:t>[7:0]</a:t>
                      </a:r>
                      <a:endParaRPr sz="700" dirty="0">
                        <a:latin typeface="Arial"/>
                        <a:cs typeface="Arial"/>
                      </a:endParaRPr>
                    </a:p>
                  </a:txBody>
                  <a:tcPr marL="0" marR="0" marT="3111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extLst>
                  <a:ext uri="{0D108BD9-81ED-4DB2-BD59-A6C34878D82A}">
                    <a16:rowId xmlns:a16="http://schemas.microsoft.com/office/drawing/2014/main" val="10000"/>
                  </a:ext>
                </a:extLst>
              </a:tr>
            </a:tbl>
          </a:graphicData>
        </a:graphic>
      </p:graphicFrame>
      <p:graphicFrame>
        <p:nvGraphicFramePr>
          <p:cNvPr id="11" name="object 11"/>
          <p:cNvGraphicFramePr>
            <a:graphicFrameLocks noGrp="1"/>
          </p:cNvGraphicFramePr>
          <p:nvPr>
            <p:extLst>
              <p:ext uri="{D42A27DB-BD31-4B8C-83A1-F6EECF244321}">
                <p14:modId xmlns:p14="http://schemas.microsoft.com/office/powerpoint/2010/main" val="1030351355"/>
              </p:ext>
            </p:extLst>
          </p:nvPr>
        </p:nvGraphicFramePr>
        <p:xfrm>
          <a:off x="400914" y="3469322"/>
          <a:ext cx="6038543" cy="178435"/>
        </p:xfrm>
        <a:graphic>
          <a:graphicData uri="http://schemas.openxmlformats.org/drawingml/2006/table">
            <a:tbl>
              <a:tblPr firstRow="1" bandRow="1">
                <a:tableStyleId>{2D5ABB26-0587-4C30-8999-92F81FD0307C}</a:tableStyleId>
              </a:tblPr>
              <a:tblGrid>
                <a:gridCol w="412525">
                  <a:extLst>
                    <a:ext uri="{9D8B030D-6E8A-4147-A177-3AD203B41FA5}">
                      <a16:colId xmlns:a16="http://schemas.microsoft.com/office/drawing/2014/main" val="20000"/>
                    </a:ext>
                  </a:extLst>
                </a:gridCol>
                <a:gridCol w="474746">
                  <a:extLst>
                    <a:ext uri="{9D8B030D-6E8A-4147-A177-3AD203B41FA5}">
                      <a16:colId xmlns:a16="http://schemas.microsoft.com/office/drawing/2014/main" val="20001"/>
                    </a:ext>
                  </a:extLst>
                </a:gridCol>
                <a:gridCol w="322304">
                  <a:extLst>
                    <a:ext uri="{9D8B030D-6E8A-4147-A177-3AD203B41FA5}">
                      <a16:colId xmlns:a16="http://schemas.microsoft.com/office/drawing/2014/main" val="20002"/>
                    </a:ext>
                  </a:extLst>
                </a:gridCol>
                <a:gridCol w="322305">
                  <a:extLst>
                    <a:ext uri="{9D8B030D-6E8A-4147-A177-3AD203B41FA5}">
                      <a16:colId xmlns:a16="http://schemas.microsoft.com/office/drawing/2014/main" val="20003"/>
                    </a:ext>
                  </a:extLst>
                </a:gridCol>
                <a:gridCol w="322305">
                  <a:extLst>
                    <a:ext uri="{9D8B030D-6E8A-4147-A177-3AD203B41FA5}">
                      <a16:colId xmlns:a16="http://schemas.microsoft.com/office/drawing/2014/main" val="20004"/>
                    </a:ext>
                  </a:extLst>
                </a:gridCol>
                <a:gridCol w="1287351">
                  <a:extLst>
                    <a:ext uri="{9D8B030D-6E8A-4147-A177-3AD203B41FA5}">
                      <a16:colId xmlns:a16="http://schemas.microsoft.com/office/drawing/2014/main" val="20005"/>
                    </a:ext>
                  </a:extLst>
                </a:gridCol>
                <a:gridCol w="322304">
                  <a:extLst>
                    <a:ext uri="{9D8B030D-6E8A-4147-A177-3AD203B41FA5}">
                      <a16:colId xmlns:a16="http://schemas.microsoft.com/office/drawing/2014/main" val="20006"/>
                    </a:ext>
                  </a:extLst>
                </a:gridCol>
                <a:gridCol w="2574703">
                  <a:extLst>
                    <a:ext uri="{9D8B030D-6E8A-4147-A177-3AD203B41FA5}">
                      <a16:colId xmlns:a16="http://schemas.microsoft.com/office/drawing/2014/main" val="20007"/>
                    </a:ext>
                  </a:extLst>
                </a:gridCol>
              </a:tblGrid>
              <a:tr h="178435">
                <a:tc>
                  <a:txBody>
                    <a:bodyPr/>
                    <a:lstStyle/>
                    <a:p>
                      <a:pPr marL="121920">
                        <a:lnSpc>
                          <a:spcPct val="100000"/>
                        </a:lnSpc>
                        <a:spcBef>
                          <a:spcPts val="270"/>
                        </a:spcBef>
                      </a:pPr>
                      <a:r>
                        <a:rPr sz="700" spc="-10" dirty="0">
                          <a:latin typeface="Arial"/>
                          <a:cs typeface="Arial"/>
                        </a:rPr>
                        <a:t>‘h4A</a:t>
                      </a:r>
                      <a:endParaRPr sz="7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635" algn="ctr">
                        <a:lnSpc>
                          <a:spcPct val="100000"/>
                        </a:lnSpc>
                        <a:spcBef>
                          <a:spcPts val="270"/>
                        </a:spcBef>
                      </a:pPr>
                      <a:r>
                        <a:rPr sz="700" dirty="0">
                          <a:latin typeface="Arial"/>
                          <a:cs typeface="Arial"/>
                        </a:rPr>
                        <a:t>0</a:t>
                      </a: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2540" algn="ctr">
                        <a:lnSpc>
                          <a:spcPct val="100000"/>
                        </a:lnSpc>
                        <a:spcBef>
                          <a:spcPts val="245"/>
                        </a:spcBef>
                      </a:pPr>
                      <a:r>
                        <a:rPr sz="700" dirty="0">
                          <a:latin typeface="Arial"/>
                          <a:cs typeface="Arial"/>
                        </a:rPr>
                        <a:t>x</a:t>
                      </a:r>
                    </a:p>
                  </a:txBody>
                  <a:tcPr marL="0" marR="0" marT="3111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2540" algn="ctr">
                        <a:lnSpc>
                          <a:spcPct val="100000"/>
                        </a:lnSpc>
                        <a:spcBef>
                          <a:spcPts val="270"/>
                        </a:spcBef>
                      </a:pPr>
                      <a:r>
                        <a:rPr sz="700" dirty="0">
                          <a:latin typeface="Arial"/>
                          <a:cs typeface="Arial"/>
                        </a:rPr>
                        <a:t>x</a:t>
                      </a: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2540" algn="ctr">
                        <a:lnSpc>
                          <a:spcPct val="100000"/>
                        </a:lnSpc>
                        <a:spcBef>
                          <a:spcPts val="245"/>
                        </a:spcBef>
                      </a:pPr>
                      <a:r>
                        <a:rPr sz="700" dirty="0">
                          <a:latin typeface="Arial"/>
                          <a:cs typeface="Arial"/>
                        </a:rPr>
                        <a:t>x</a:t>
                      </a:r>
                    </a:p>
                  </a:txBody>
                  <a:tcPr marL="0" marR="0" marT="3111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187960">
                        <a:lnSpc>
                          <a:spcPct val="100000"/>
                        </a:lnSpc>
                        <a:spcBef>
                          <a:spcPts val="270"/>
                        </a:spcBef>
                      </a:pPr>
                      <a:r>
                        <a:rPr sz="700" spc="-5" dirty="0">
                          <a:latin typeface="Arial"/>
                          <a:cs typeface="Arial"/>
                        </a:rPr>
                        <a:t>DAC_LOFS_CH10</a:t>
                      </a:r>
                      <a:r>
                        <a:rPr sz="700" spc="-40" dirty="0">
                          <a:latin typeface="Arial"/>
                          <a:cs typeface="Arial"/>
                        </a:rPr>
                        <a:t> </a:t>
                      </a:r>
                      <a:r>
                        <a:rPr sz="700" spc="-5" dirty="0">
                          <a:latin typeface="Arial"/>
                          <a:cs typeface="Arial"/>
                        </a:rPr>
                        <a:t>[3:0]</a:t>
                      </a:r>
                      <a:endParaRPr sz="7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56515">
                        <a:lnSpc>
                          <a:spcPct val="100000"/>
                        </a:lnSpc>
                        <a:spcBef>
                          <a:spcPts val="270"/>
                        </a:spcBef>
                      </a:pPr>
                      <a:r>
                        <a:rPr sz="700" spc="-10" dirty="0">
                          <a:latin typeface="Arial"/>
                          <a:cs typeface="Arial"/>
                        </a:rPr>
                        <a:t>SIGN</a:t>
                      </a:r>
                      <a:endParaRPr sz="7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869315">
                        <a:lnSpc>
                          <a:spcPct val="100000"/>
                        </a:lnSpc>
                        <a:spcBef>
                          <a:spcPts val="245"/>
                        </a:spcBef>
                      </a:pPr>
                      <a:r>
                        <a:rPr sz="700" spc="-5" dirty="0">
                          <a:latin typeface="Arial"/>
                          <a:cs typeface="Arial"/>
                        </a:rPr>
                        <a:t>DAC_OFS_CH10</a:t>
                      </a:r>
                      <a:r>
                        <a:rPr sz="700" spc="-40" dirty="0">
                          <a:latin typeface="Arial"/>
                          <a:cs typeface="Arial"/>
                        </a:rPr>
                        <a:t> </a:t>
                      </a:r>
                      <a:r>
                        <a:rPr sz="700" spc="-5" dirty="0">
                          <a:latin typeface="Arial"/>
                          <a:cs typeface="Arial"/>
                        </a:rPr>
                        <a:t>[7:0]</a:t>
                      </a:r>
                      <a:endParaRPr sz="700" dirty="0">
                        <a:latin typeface="Arial"/>
                        <a:cs typeface="Arial"/>
                      </a:endParaRPr>
                    </a:p>
                  </a:txBody>
                  <a:tcPr marL="0" marR="0" marT="3111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extLst>
                  <a:ext uri="{0D108BD9-81ED-4DB2-BD59-A6C34878D82A}">
                    <a16:rowId xmlns:a16="http://schemas.microsoft.com/office/drawing/2014/main" val="10000"/>
                  </a:ext>
                </a:extLst>
              </a:tr>
            </a:tbl>
          </a:graphicData>
        </a:graphic>
      </p:graphicFrame>
      <p:graphicFrame>
        <p:nvGraphicFramePr>
          <p:cNvPr id="12" name="object 12"/>
          <p:cNvGraphicFramePr>
            <a:graphicFrameLocks noGrp="1"/>
          </p:cNvGraphicFramePr>
          <p:nvPr>
            <p:extLst>
              <p:ext uri="{D42A27DB-BD31-4B8C-83A1-F6EECF244321}">
                <p14:modId xmlns:p14="http://schemas.microsoft.com/office/powerpoint/2010/main" val="2813955175"/>
              </p:ext>
            </p:extLst>
          </p:nvPr>
        </p:nvGraphicFramePr>
        <p:xfrm>
          <a:off x="400914" y="3696906"/>
          <a:ext cx="6038543" cy="178435"/>
        </p:xfrm>
        <a:graphic>
          <a:graphicData uri="http://schemas.openxmlformats.org/drawingml/2006/table">
            <a:tbl>
              <a:tblPr firstRow="1" bandRow="1">
                <a:tableStyleId>{2D5ABB26-0587-4C30-8999-92F81FD0307C}</a:tableStyleId>
              </a:tblPr>
              <a:tblGrid>
                <a:gridCol w="412525">
                  <a:extLst>
                    <a:ext uri="{9D8B030D-6E8A-4147-A177-3AD203B41FA5}">
                      <a16:colId xmlns:a16="http://schemas.microsoft.com/office/drawing/2014/main" val="20000"/>
                    </a:ext>
                  </a:extLst>
                </a:gridCol>
                <a:gridCol w="474746">
                  <a:extLst>
                    <a:ext uri="{9D8B030D-6E8A-4147-A177-3AD203B41FA5}">
                      <a16:colId xmlns:a16="http://schemas.microsoft.com/office/drawing/2014/main" val="20001"/>
                    </a:ext>
                  </a:extLst>
                </a:gridCol>
                <a:gridCol w="322304">
                  <a:extLst>
                    <a:ext uri="{9D8B030D-6E8A-4147-A177-3AD203B41FA5}">
                      <a16:colId xmlns:a16="http://schemas.microsoft.com/office/drawing/2014/main" val="20002"/>
                    </a:ext>
                  </a:extLst>
                </a:gridCol>
                <a:gridCol w="322305">
                  <a:extLst>
                    <a:ext uri="{9D8B030D-6E8A-4147-A177-3AD203B41FA5}">
                      <a16:colId xmlns:a16="http://schemas.microsoft.com/office/drawing/2014/main" val="20003"/>
                    </a:ext>
                  </a:extLst>
                </a:gridCol>
                <a:gridCol w="322305">
                  <a:extLst>
                    <a:ext uri="{9D8B030D-6E8A-4147-A177-3AD203B41FA5}">
                      <a16:colId xmlns:a16="http://schemas.microsoft.com/office/drawing/2014/main" val="20004"/>
                    </a:ext>
                  </a:extLst>
                </a:gridCol>
                <a:gridCol w="1287351">
                  <a:extLst>
                    <a:ext uri="{9D8B030D-6E8A-4147-A177-3AD203B41FA5}">
                      <a16:colId xmlns:a16="http://schemas.microsoft.com/office/drawing/2014/main" val="20005"/>
                    </a:ext>
                  </a:extLst>
                </a:gridCol>
                <a:gridCol w="322304">
                  <a:extLst>
                    <a:ext uri="{9D8B030D-6E8A-4147-A177-3AD203B41FA5}">
                      <a16:colId xmlns:a16="http://schemas.microsoft.com/office/drawing/2014/main" val="20006"/>
                    </a:ext>
                  </a:extLst>
                </a:gridCol>
                <a:gridCol w="2574703">
                  <a:extLst>
                    <a:ext uri="{9D8B030D-6E8A-4147-A177-3AD203B41FA5}">
                      <a16:colId xmlns:a16="http://schemas.microsoft.com/office/drawing/2014/main" val="20007"/>
                    </a:ext>
                  </a:extLst>
                </a:gridCol>
              </a:tblGrid>
              <a:tr h="178435">
                <a:tc>
                  <a:txBody>
                    <a:bodyPr/>
                    <a:lstStyle/>
                    <a:p>
                      <a:pPr marL="121920">
                        <a:lnSpc>
                          <a:spcPct val="100000"/>
                        </a:lnSpc>
                        <a:spcBef>
                          <a:spcPts val="270"/>
                        </a:spcBef>
                      </a:pPr>
                      <a:r>
                        <a:rPr sz="700" spc="-10" dirty="0">
                          <a:latin typeface="Arial"/>
                          <a:cs typeface="Arial"/>
                        </a:rPr>
                        <a:t>‘h4B</a:t>
                      </a:r>
                      <a:endParaRPr sz="7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635" algn="ctr">
                        <a:lnSpc>
                          <a:spcPct val="100000"/>
                        </a:lnSpc>
                        <a:spcBef>
                          <a:spcPts val="270"/>
                        </a:spcBef>
                      </a:pPr>
                      <a:r>
                        <a:rPr sz="700" dirty="0">
                          <a:latin typeface="Arial"/>
                          <a:cs typeface="Arial"/>
                        </a:rPr>
                        <a:t>0</a:t>
                      </a: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2540" algn="ctr">
                        <a:lnSpc>
                          <a:spcPct val="100000"/>
                        </a:lnSpc>
                        <a:spcBef>
                          <a:spcPts val="245"/>
                        </a:spcBef>
                      </a:pPr>
                      <a:r>
                        <a:rPr sz="700" dirty="0">
                          <a:latin typeface="Arial"/>
                          <a:cs typeface="Arial"/>
                        </a:rPr>
                        <a:t>x</a:t>
                      </a:r>
                    </a:p>
                  </a:txBody>
                  <a:tcPr marL="0" marR="0" marT="3111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2540" algn="ctr">
                        <a:lnSpc>
                          <a:spcPct val="100000"/>
                        </a:lnSpc>
                        <a:spcBef>
                          <a:spcPts val="270"/>
                        </a:spcBef>
                      </a:pPr>
                      <a:r>
                        <a:rPr sz="700" dirty="0">
                          <a:latin typeface="Arial"/>
                          <a:cs typeface="Arial"/>
                        </a:rPr>
                        <a:t>x</a:t>
                      </a: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2540" algn="ctr">
                        <a:lnSpc>
                          <a:spcPct val="100000"/>
                        </a:lnSpc>
                        <a:spcBef>
                          <a:spcPts val="245"/>
                        </a:spcBef>
                      </a:pPr>
                      <a:r>
                        <a:rPr sz="700" dirty="0">
                          <a:latin typeface="Arial"/>
                          <a:cs typeface="Arial"/>
                        </a:rPr>
                        <a:t>x</a:t>
                      </a:r>
                    </a:p>
                  </a:txBody>
                  <a:tcPr marL="0" marR="0" marT="3111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187960">
                        <a:lnSpc>
                          <a:spcPct val="100000"/>
                        </a:lnSpc>
                        <a:spcBef>
                          <a:spcPts val="270"/>
                        </a:spcBef>
                      </a:pPr>
                      <a:r>
                        <a:rPr sz="700" spc="-5" dirty="0">
                          <a:latin typeface="Arial"/>
                          <a:cs typeface="Arial"/>
                        </a:rPr>
                        <a:t>DAC_LOFS_CH11</a:t>
                      </a:r>
                      <a:r>
                        <a:rPr sz="700" spc="-40" dirty="0">
                          <a:latin typeface="Arial"/>
                          <a:cs typeface="Arial"/>
                        </a:rPr>
                        <a:t> </a:t>
                      </a:r>
                      <a:r>
                        <a:rPr sz="700" spc="-5" dirty="0">
                          <a:latin typeface="Arial"/>
                          <a:cs typeface="Arial"/>
                        </a:rPr>
                        <a:t>[3:0]</a:t>
                      </a:r>
                      <a:endParaRPr sz="7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56515">
                        <a:lnSpc>
                          <a:spcPct val="100000"/>
                        </a:lnSpc>
                        <a:spcBef>
                          <a:spcPts val="270"/>
                        </a:spcBef>
                      </a:pPr>
                      <a:r>
                        <a:rPr sz="700" spc="-10" dirty="0">
                          <a:latin typeface="Arial"/>
                          <a:cs typeface="Arial"/>
                        </a:rPr>
                        <a:t>SIGN</a:t>
                      </a:r>
                      <a:endParaRPr sz="7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869315">
                        <a:lnSpc>
                          <a:spcPct val="100000"/>
                        </a:lnSpc>
                        <a:spcBef>
                          <a:spcPts val="245"/>
                        </a:spcBef>
                      </a:pPr>
                      <a:r>
                        <a:rPr sz="700" spc="-5" dirty="0">
                          <a:latin typeface="Arial"/>
                          <a:cs typeface="Arial"/>
                        </a:rPr>
                        <a:t>DAC_OFS_CH11</a:t>
                      </a:r>
                      <a:r>
                        <a:rPr sz="700" spc="-40" dirty="0">
                          <a:latin typeface="Arial"/>
                          <a:cs typeface="Arial"/>
                        </a:rPr>
                        <a:t> </a:t>
                      </a:r>
                      <a:r>
                        <a:rPr sz="700" spc="-5" dirty="0">
                          <a:latin typeface="Arial"/>
                          <a:cs typeface="Arial"/>
                        </a:rPr>
                        <a:t>[7:0]</a:t>
                      </a:r>
                      <a:endParaRPr sz="700" dirty="0">
                        <a:latin typeface="Arial"/>
                        <a:cs typeface="Arial"/>
                      </a:endParaRPr>
                    </a:p>
                  </a:txBody>
                  <a:tcPr marL="0" marR="0" marT="3111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extLst>
                  <a:ext uri="{0D108BD9-81ED-4DB2-BD59-A6C34878D82A}">
                    <a16:rowId xmlns:a16="http://schemas.microsoft.com/office/drawing/2014/main" val="10000"/>
                  </a:ext>
                </a:extLst>
              </a:tr>
            </a:tbl>
          </a:graphicData>
        </a:graphic>
      </p:graphicFrame>
      <p:graphicFrame>
        <p:nvGraphicFramePr>
          <p:cNvPr id="13" name="object 13"/>
          <p:cNvGraphicFramePr>
            <a:graphicFrameLocks noGrp="1"/>
          </p:cNvGraphicFramePr>
          <p:nvPr>
            <p:extLst>
              <p:ext uri="{D42A27DB-BD31-4B8C-83A1-F6EECF244321}">
                <p14:modId xmlns:p14="http://schemas.microsoft.com/office/powerpoint/2010/main" val="2949725316"/>
              </p:ext>
            </p:extLst>
          </p:nvPr>
        </p:nvGraphicFramePr>
        <p:xfrm>
          <a:off x="400914" y="3926268"/>
          <a:ext cx="6038543" cy="178435"/>
        </p:xfrm>
        <a:graphic>
          <a:graphicData uri="http://schemas.openxmlformats.org/drawingml/2006/table">
            <a:tbl>
              <a:tblPr firstRow="1" bandRow="1">
                <a:tableStyleId>{2D5ABB26-0587-4C30-8999-92F81FD0307C}</a:tableStyleId>
              </a:tblPr>
              <a:tblGrid>
                <a:gridCol w="412525">
                  <a:extLst>
                    <a:ext uri="{9D8B030D-6E8A-4147-A177-3AD203B41FA5}">
                      <a16:colId xmlns:a16="http://schemas.microsoft.com/office/drawing/2014/main" val="20000"/>
                    </a:ext>
                  </a:extLst>
                </a:gridCol>
                <a:gridCol w="474746">
                  <a:extLst>
                    <a:ext uri="{9D8B030D-6E8A-4147-A177-3AD203B41FA5}">
                      <a16:colId xmlns:a16="http://schemas.microsoft.com/office/drawing/2014/main" val="20001"/>
                    </a:ext>
                  </a:extLst>
                </a:gridCol>
                <a:gridCol w="322304">
                  <a:extLst>
                    <a:ext uri="{9D8B030D-6E8A-4147-A177-3AD203B41FA5}">
                      <a16:colId xmlns:a16="http://schemas.microsoft.com/office/drawing/2014/main" val="20002"/>
                    </a:ext>
                  </a:extLst>
                </a:gridCol>
                <a:gridCol w="322305">
                  <a:extLst>
                    <a:ext uri="{9D8B030D-6E8A-4147-A177-3AD203B41FA5}">
                      <a16:colId xmlns:a16="http://schemas.microsoft.com/office/drawing/2014/main" val="20003"/>
                    </a:ext>
                  </a:extLst>
                </a:gridCol>
                <a:gridCol w="322305">
                  <a:extLst>
                    <a:ext uri="{9D8B030D-6E8A-4147-A177-3AD203B41FA5}">
                      <a16:colId xmlns:a16="http://schemas.microsoft.com/office/drawing/2014/main" val="20004"/>
                    </a:ext>
                  </a:extLst>
                </a:gridCol>
                <a:gridCol w="1287351">
                  <a:extLst>
                    <a:ext uri="{9D8B030D-6E8A-4147-A177-3AD203B41FA5}">
                      <a16:colId xmlns:a16="http://schemas.microsoft.com/office/drawing/2014/main" val="20005"/>
                    </a:ext>
                  </a:extLst>
                </a:gridCol>
                <a:gridCol w="322304">
                  <a:extLst>
                    <a:ext uri="{9D8B030D-6E8A-4147-A177-3AD203B41FA5}">
                      <a16:colId xmlns:a16="http://schemas.microsoft.com/office/drawing/2014/main" val="20006"/>
                    </a:ext>
                  </a:extLst>
                </a:gridCol>
                <a:gridCol w="2574703">
                  <a:extLst>
                    <a:ext uri="{9D8B030D-6E8A-4147-A177-3AD203B41FA5}">
                      <a16:colId xmlns:a16="http://schemas.microsoft.com/office/drawing/2014/main" val="20007"/>
                    </a:ext>
                  </a:extLst>
                </a:gridCol>
              </a:tblGrid>
              <a:tr h="178435">
                <a:tc>
                  <a:txBody>
                    <a:bodyPr/>
                    <a:lstStyle/>
                    <a:p>
                      <a:pPr marL="118745">
                        <a:lnSpc>
                          <a:spcPct val="100000"/>
                        </a:lnSpc>
                        <a:spcBef>
                          <a:spcPts val="270"/>
                        </a:spcBef>
                      </a:pPr>
                      <a:r>
                        <a:rPr sz="700" spc="-10" dirty="0">
                          <a:latin typeface="Arial"/>
                          <a:cs typeface="Arial"/>
                        </a:rPr>
                        <a:t>‘h4C</a:t>
                      </a:r>
                      <a:endParaRPr sz="7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635" algn="ctr">
                        <a:lnSpc>
                          <a:spcPct val="100000"/>
                        </a:lnSpc>
                        <a:spcBef>
                          <a:spcPts val="270"/>
                        </a:spcBef>
                      </a:pPr>
                      <a:r>
                        <a:rPr sz="700" dirty="0">
                          <a:latin typeface="Arial"/>
                          <a:cs typeface="Arial"/>
                        </a:rPr>
                        <a:t>0</a:t>
                      </a: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2540" algn="ctr">
                        <a:lnSpc>
                          <a:spcPct val="100000"/>
                        </a:lnSpc>
                        <a:spcBef>
                          <a:spcPts val="245"/>
                        </a:spcBef>
                      </a:pPr>
                      <a:r>
                        <a:rPr sz="700" dirty="0">
                          <a:latin typeface="Arial"/>
                          <a:cs typeface="Arial"/>
                        </a:rPr>
                        <a:t>x</a:t>
                      </a:r>
                    </a:p>
                  </a:txBody>
                  <a:tcPr marL="0" marR="0" marT="3111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2540" algn="ctr">
                        <a:lnSpc>
                          <a:spcPct val="100000"/>
                        </a:lnSpc>
                        <a:spcBef>
                          <a:spcPts val="270"/>
                        </a:spcBef>
                      </a:pPr>
                      <a:r>
                        <a:rPr sz="700" dirty="0">
                          <a:latin typeface="Arial"/>
                          <a:cs typeface="Arial"/>
                        </a:rPr>
                        <a:t>x</a:t>
                      </a: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2540" algn="ctr">
                        <a:lnSpc>
                          <a:spcPct val="100000"/>
                        </a:lnSpc>
                        <a:spcBef>
                          <a:spcPts val="245"/>
                        </a:spcBef>
                      </a:pPr>
                      <a:r>
                        <a:rPr sz="700" dirty="0">
                          <a:latin typeface="Arial"/>
                          <a:cs typeface="Arial"/>
                        </a:rPr>
                        <a:t>x</a:t>
                      </a:r>
                    </a:p>
                  </a:txBody>
                  <a:tcPr marL="0" marR="0" marT="3111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187960">
                        <a:lnSpc>
                          <a:spcPct val="100000"/>
                        </a:lnSpc>
                        <a:spcBef>
                          <a:spcPts val="270"/>
                        </a:spcBef>
                      </a:pPr>
                      <a:r>
                        <a:rPr sz="700" spc="-5" dirty="0">
                          <a:latin typeface="Arial"/>
                          <a:cs typeface="Arial"/>
                        </a:rPr>
                        <a:t>DAC_LOFS_CH12</a:t>
                      </a:r>
                      <a:r>
                        <a:rPr sz="700" spc="-40" dirty="0">
                          <a:latin typeface="Arial"/>
                          <a:cs typeface="Arial"/>
                        </a:rPr>
                        <a:t> </a:t>
                      </a:r>
                      <a:r>
                        <a:rPr sz="700" spc="-5" dirty="0">
                          <a:latin typeface="Arial"/>
                          <a:cs typeface="Arial"/>
                        </a:rPr>
                        <a:t>[3:0]</a:t>
                      </a:r>
                      <a:endParaRPr sz="7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56515">
                        <a:lnSpc>
                          <a:spcPct val="100000"/>
                        </a:lnSpc>
                        <a:spcBef>
                          <a:spcPts val="270"/>
                        </a:spcBef>
                      </a:pPr>
                      <a:r>
                        <a:rPr sz="700" spc="-10" dirty="0">
                          <a:latin typeface="Arial"/>
                          <a:cs typeface="Arial"/>
                        </a:rPr>
                        <a:t>SIGN</a:t>
                      </a:r>
                      <a:endParaRPr sz="7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869315">
                        <a:lnSpc>
                          <a:spcPct val="100000"/>
                        </a:lnSpc>
                        <a:spcBef>
                          <a:spcPts val="245"/>
                        </a:spcBef>
                      </a:pPr>
                      <a:r>
                        <a:rPr sz="700" spc="-5" dirty="0">
                          <a:latin typeface="Arial"/>
                          <a:cs typeface="Arial"/>
                        </a:rPr>
                        <a:t>DAC_OFS_CH12</a:t>
                      </a:r>
                      <a:r>
                        <a:rPr sz="700" spc="-40" dirty="0">
                          <a:latin typeface="Arial"/>
                          <a:cs typeface="Arial"/>
                        </a:rPr>
                        <a:t> </a:t>
                      </a:r>
                      <a:r>
                        <a:rPr sz="700" spc="-5" dirty="0">
                          <a:latin typeface="Arial"/>
                          <a:cs typeface="Arial"/>
                        </a:rPr>
                        <a:t>[7:0]</a:t>
                      </a:r>
                      <a:endParaRPr sz="700" dirty="0">
                        <a:latin typeface="Arial"/>
                        <a:cs typeface="Arial"/>
                      </a:endParaRPr>
                    </a:p>
                  </a:txBody>
                  <a:tcPr marL="0" marR="0" marT="3111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extLst>
                  <a:ext uri="{0D108BD9-81ED-4DB2-BD59-A6C34878D82A}">
                    <a16:rowId xmlns:a16="http://schemas.microsoft.com/office/drawing/2014/main" val="10000"/>
                  </a:ext>
                </a:extLst>
              </a:tr>
            </a:tbl>
          </a:graphicData>
        </a:graphic>
      </p:graphicFrame>
      <p:graphicFrame>
        <p:nvGraphicFramePr>
          <p:cNvPr id="14" name="object 14"/>
          <p:cNvGraphicFramePr>
            <a:graphicFrameLocks noGrp="1"/>
          </p:cNvGraphicFramePr>
          <p:nvPr>
            <p:extLst>
              <p:ext uri="{D42A27DB-BD31-4B8C-83A1-F6EECF244321}">
                <p14:modId xmlns:p14="http://schemas.microsoft.com/office/powerpoint/2010/main" val="2574079544"/>
              </p:ext>
            </p:extLst>
          </p:nvPr>
        </p:nvGraphicFramePr>
        <p:xfrm>
          <a:off x="400914" y="4152709"/>
          <a:ext cx="6038543" cy="178435"/>
        </p:xfrm>
        <a:graphic>
          <a:graphicData uri="http://schemas.openxmlformats.org/drawingml/2006/table">
            <a:tbl>
              <a:tblPr firstRow="1" bandRow="1">
                <a:tableStyleId>{2D5ABB26-0587-4C30-8999-92F81FD0307C}</a:tableStyleId>
              </a:tblPr>
              <a:tblGrid>
                <a:gridCol w="412525">
                  <a:extLst>
                    <a:ext uri="{9D8B030D-6E8A-4147-A177-3AD203B41FA5}">
                      <a16:colId xmlns:a16="http://schemas.microsoft.com/office/drawing/2014/main" val="20000"/>
                    </a:ext>
                  </a:extLst>
                </a:gridCol>
                <a:gridCol w="474746">
                  <a:extLst>
                    <a:ext uri="{9D8B030D-6E8A-4147-A177-3AD203B41FA5}">
                      <a16:colId xmlns:a16="http://schemas.microsoft.com/office/drawing/2014/main" val="20001"/>
                    </a:ext>
                  </a:extLst>
                </a:gridCol>
                <a:gridCol w="322304">
                  <a:extLst>
                    <a:ext uri="{9D8B030D-6E8A-4147-A177-3AD203B41FA5}">
                      <a16:colId xmlns:a16="http://schemas.microsoft.com/office/drawing/2014/main" val="20002"/>
                    </a:ext>
                  </a:extLst>
                </a:gridCol>
                <a:gridCol w="322305">
                  <a:extLst>
                    <a:ext uri="{9D8B030D-6E8A-4147-A177-3AD203B41FA5}">
                      <a16:colId xmlns:a16="http://schemas.microsoft.com/office/drawing/2014/main" val="20003"/>
                    </a:ext>
                  </a:extLst>
                </a:gridCol>
                <a:gridCol w="322305">
                  <a:extLst>
                    <a:ext uri="{9D8B030D-6E8A-4147-A177-3AD203B41FA5}">
                      <a16:colId xmlns:a16="http://schemas.microsoft.com/office/drawing/2014/main" val="20004"/>
                    </a:ext>
                  </a:extLst>
                </a:gridCol>
                <a:gridCol w="1287351">
                  <a:extLst>
                    <a:ext uri="{9D8B030D-6E8A-4147-A177-3AD203B41FA5}">
                      <a16:colId xmlns:a16="http://schemas.microsoft.com/office/drawing/2014/main" val="20005"/>
                    </a:ext>
                  </a:extLst>
                </a:gridCol>
                <a:gridCol w="322304">
                  <a:extLst>
                    <a:ext uri="{9D8B030D-6E8A-4147-A177-3AD203B41FA5}">
                      <a16:colId xmlns:a16="http://schemas.microsoft.com/office/drawing/2014/main" val="20006"/>
                    </a:ext>
                  </a:extLst>
                </a:gridCol>
                <a:gridCol w="2574703">
                  <a:extLst>
                    <a:ext uri="{9D8B030D-6E8A-4147-A177-3AD203B41FA5}">
                      <a16:colId xmlns:a16="http://schemas.microsoft.com/office/drawing/2014/main" val="20007"/>
                    </a:ext>
                  </a:extLst>
                </a:gridCol>
              </a:tblGrid>
              <a:tr h="178435">
                <a:tc>
                  <a:txBody>
                    <a:bodyPr/>
                    <a:lstStyle/>
                    <a:p>
                      <a:pPr marL="118745">
                        <a:lnSpc>
                          <a:spcPct val="100000"/>
                        </a:lnSpc>
                        <a:spcBef>
                          <a:spcPts val="270"/>
                        </a:spcBef>
                      </a:pPr>
                      <a:r>
                        <a:rPr sz="700" spc="-5" dirty="0">
                          <a:latin typeface="Arial"/>
                          <a:cs typeface="Arial"/>
                        </a:rPr>
                        <a:t>‘h4D</a:t>
                      </a:r>
                      <a:endParaRPr sz="7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635" algn="ctr">
                        <a:lnSpc>
                          <a:spcPct val="100000"/>
                        </a:lnSpc>
                        <a:spcBef>
                          <a:spcPts val="270"/>
                        </a:spcBef>
                      </a:pPr>
                      <a:r>
                        <a:rPr sz="700" dirty="0">
                          <a:latin typeface="Arial"/>
                          <a:cs typeface="Arial"/>
                        </a:rPr>
                        <a:t>0</a:t>
                      </a: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2540" algn="ctr">
                        <a:lnSpc>
                          <a:spcPct val="100000"/>
                        </a:lnSpc>
                        <a:spcBef>
                          <a:spcPts val="245"/>
                        </a:spcBef>
                      </a:pPr>
                      <a:r>
                        <a:rPr sz="700" dirty="0">
                          <a:latin typeface="Arial"/>
                          <a:cs typeface="Arial"/>
                        </a:rPr>
                        <a:t>x</a:t>
                      </a:r>
                    </a:p>
                  </a:txBody>
                  <a:tcPr marL="0" marR="0" marT="3111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2540" algn="ctr">
                        <a:lnSpc>
                          <a:spcPct val="100000"/>
                        </a:lnSpc>
                        <a:spcBef>
                          <a:spcPts val="270"/>
                        </a:spcBef>
                      </a:pPr>
                      <a:r>
                        <a:rPr sz="700" dirty="0">
                          <a:latin typeface="Arial"/>
                          <a:cs typeface="Arial"/>
                        </a:rPr>
                        <a:t>x</a:t>
                      </a: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3175" algn="ctr">
                        <a:lnSpc>
                          <a:spcPct val="100000"/>
                        </a:lnSpc>
                        <a:spcBef>
                          <a:spcPts val="245"/>
                        </a:spcBef>
                      </a:pPr>
                      <a:r>
                        <a:rPr sz="700" dirty="0">
                          <a:latin typeface="Arial"/>
                          <a:cs typeface="Arial"/>
                        </a:rPr>
                        <a:t>x</a:t>
                      </a:r>
                    </a:p>
                  </a:txBody>
                  <a:tcPr marL="0" marR="0" marT="3111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187960">
                        <a:lnSpc>
                          <a:spcPct val="100000"/>
                        </a:lnSpc>
                        <a:spcBef>
                          <a:spcPts val="270"/>
                        </a:spcBef>
                      </a:pPr>
                      <a:r>
                        <a:rPr sz="700" spc="-5" dirty="0">
                          <a:latin typeface="Arial"/>
                          <a:cs typeface="Arial"/>
                        </a:rPr>
                        <a:t>DAC_LOFS_CH13</a:t>
                      </a:r>
                      <a:r>
                        <a:rPr sz="700" spc="-40" dirty="0">
                          <a:latin typeface="Arial"/>
                          <a:cs typeface="Arial"/>
                        </a:rPr>
                        <a:t> </a:t>
                      </a:r>
                      <a:r>
                        <a:rPr sz="700" spc="-5" dirty="0">
                          <a:latin typeface="Arial"/>
                          <a:cs typeface="Arial"/>
                        </a:rPr>
                        <a:t>[3:0]</a:t>
                      </a:r>
                      <a:endParaRPr sz="7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56515">
                        <a:lnSpc>
                          <a:spcPct val="100000"/>
                        </a:lnSpc>
                        <a:spcBef>
                          <a:spcPts val="270"/>
                        </a:spcBef>
                      </a:pPr>
                      <a:r>
                        <a:rPr sz="700" spc="-10" dirty="0">
                          <a:latin typeface="Arial"/>
                          <a:cs typeface="Arial"/>
                        </a:rPr>
                        <a:t>SIGN</a:t>
                      </a:r>
                      <a:endParaRPr sz="7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869315">
                        <a:lnSpc>
                          <a:spcPct val="100000"/>
                        </a:lnSpc>
                        <a:spcBef>
                          <a:spcPts val="245"/>
                        </a:spcBef>
                      </a:pPr>
                      <a:r>
                        <a:rPr sz="700" spc="-5" dirty="0">
                          <a:latin typeface="Arial"/>
                          <a:cs typeface="Arial"/>
                        </a:rPr>
                        <a:t>DAC_OFS_CH13</a:t>
                      </a:r>
                      <a:r>
                        <a:rPr sz="700" spc="-40" dirty="0">
                          <a:latin typeface="Arial"/>
                          <a:cs typeface="Arial"/>
                        </a:rPr>
                        <a:t> </a:t>
                      </a:r>
                      <a:r>
                        <a:rPr sz="700" spc="-5" dirty="0">
                          <a:latin typeface="Arial"/>
                          <a:cs typeface="Arial"/>
                        </a:rPr>
                        <a:t>[7:0]</a:t>
                      </a:r>
                      <a:endParaRPr sz="700" dirty="0">
                        <a:latin typeface="Arial"/>
                        <a:cs typeface="Arial"/>
                      </a:endParaRPr>
                    </a:p>
                  </a:txBody>
                  <a:tcPr marL="0" marR="0" marT="3111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extLst>
                  <a:ext uri="{0D108BD9-81ED-4DB2-BD59-A6C34878D82A}">
                    <a16:rowId xmlns:a16="http://schemas.microsoft.com/office/drawing/2014/main" val="10000"/>
                  </a:ext>
                </a:extLst>
              </a:tr>
            </a:tbl>
          </a:graphicData>
        </a:graphic>
      </p:graphicFrame>
      <p:graphicFrame>
        <p:nvGraphicFramePr>
          <p:cNvPr id="15" name="object 15"/>
          <p:cNvGraphicFramePr>
            <a:graphicFrameLocks noGrp="1"/>
          </p:cNvGraphicFramePr>
          <p:nvPr>
            <p:extLst>
              <p:ext uri="{D42A27DB-BD31-4B8C-83A1-F6EECF244321}">
                <p14:modId xmlns:p14="http://schemas.microsoft.com/office/powerpoint/2010/main" val="765111636"/>
              </p:ext>
            </p:extLst>
          </p:nvPr>
        </p:nvGraphicFramePr>
        <p:xfrm>
          <a:off x="400914" y="4379912"/>
          <a:ext cx="6038543" cy="178435"/>
        </p:xfrm>
        <a:graphic>
          <a:graphicData uri="http://schemas.openxmlformats.org/drawingml/2006/table">
            <a:tbl>
              <a:tblPr firstRow="1" bandRow="1">
                <a:tableStyleId>{2D5ABB26-0587-4C30-8999-92F81FD0307C}</a:tableStyleId>
              </a:tblPr>
              <a:tblGrid>
                <a:gridCol w="412525">
                  <a:extLst>
                    <a:ext uri="{9D8B030D-6E8A-4147-A177-3AD203B41FA5}">
                      <a16:colId xmlns:a16="http://schemas.microsoft.com/office/drawing/2014/main" val="20000"/>
                    </a:ext>
                  </a:extLst>
                </a:gridCol>
                <a:gridCol w="474746">
                  <a:extLst>
                    <a:ext uri="{9D8B030D-6E8A-4147-A177-3AD203B41FA5}">
                      <a16:colId xmlns:a16="http://schemas.microsoft.com/office/drawing/2014/main" val="20001"/>
                    </a:ext>
                  </a:extLst>
                </a:gridCol>
                <a:gridCol w="322304">
                  <a:extLst>
                    <a:ext uri="{9D8B030D-6E8A-4147-A177-3AD203B41FA5}">
                      <a16:colId xmlns:a16="http://schemas.microsoft.com/office/drawing/2014/main" val="20002"/>
                    </a:ext>
                  </a:extLst>
                </a:gridCol>
                <a:gridCol w="322305">
                  <a:extLst>
                    <a:ext uri="{9D8B030D-6E8A-4147-A177-3AD203B41FA5}">
                      <a16:colId xmlns:a16="http://schemas.microsoft.com/office/drawing/2014/main" val="20003"/>
                    </a:ext>
                  </a:extLst>
                </a:gridCol>
                <a:gridCol w="322305">
                  <a:extLst>
                    <a:ext uri="{9D8B030D-6E8A-4147-A177-3AD203B41FA5}">
                      <a16:colId xmlns:a16="http://schemas.microsoft.com/office/drawing/2014/main" val="20004"/>
                    </a:ext>
                  </a:extLst>
                </a:gridCol>
                <a:gridCol w="1287351">
                  <a:extLst>
                    <a:ext uri="{9D8B030D-6E8A-4147-A177-3AD203B41FA5}">
                      <a16:colId xmlns:a16="http://schemas.microsoft.com/office/drawing/2014/main" val="20005"/>
                    </a:ext>
                  </a:extLst>
                </a:gridCol>
                <a:gridCol w="322304">
                  <a:extLst>
                    <a:ext uri="{9D8B030D-6E8A-4147-A177-3AD203B41FA5}">
                      <a16:colId xmlns:a16="http://schemas.microsoft.com/office/drawing/2014/main" val="20006"/>
                    </a:ext>
                  </a:extLst>
                </a:gridCol>
                <a:gridCol w="2574703">
                  <a:extLst>
                    <a:ext uri="{9D8B030D-6E8A-4147-A177-3AD203B41FA5}">
                      <a16:colId xmlns:a16="http://schemas.microsoft.com/office/drawing/2014/main" val="20007"/>
                    </a:ext>
                  </a:extLst>
                </a:gridCol>
              </a:tblGrid>
              <a:tr h="178435">
                <a:tc>
                  <a:txBody>
                    <a:bodyPr/>
                    <a:lstStyle/>
                    <a:p>
                      <a:pPr marL="121920">
                        <a:lnSpc>
                          <a:spcPct val="100000"/>
                        </a:lnSpc>
                        <a:spcBef>
                          <a:spcPts val="270"/>
                        </a:spcBef>
                      </a:pPr>
                      <a:r>
                        <a:rPr sz="700" spc="-10" dirty="0">
                          <a:latin typeface="Arial"/>
                          <a:cs typeface="Arial"/>
                        </a:rPr>
                        <a:t>‘h4E</a:t>
                      </a:r>
                      <a:endParaRPr sz="7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635" algn="ctr">
                        <a:lnSpc>
                          <a:spcPct val="100000"/>
                        </a:lnSpc>
                        <a:spcBef>
                          <a:spcPts val="270"/>
                        </a:spcBef>
                      </a:pPr>
                      <a:r>
                        <a:rPr sz="700" dirty="0">
                          <a:latin typeface="Arial"/>
                          <a:cs typeface="Arial"/>
                        </a:rPr>
                        <a:t>0</a:t>
                      </a: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2540" algn="ctr">
                        <a:lnSpc>
                          <a:spcPct val="100000"/>
                        </a:lnSpc>
                        <a:spcBef>
                          <a:spcPts val="245"/>
                        </a:spcBef>
                      </a:pPr>
                      <a:r>
                        <a:rPr sz="700" dirty="0">
                          <a:latin typeface="Arial"/>
                          <a:cs typeface="Arial"/>
                        </a:rPr>
                        <a:t>x</a:t>
                      </a:r>
                    </a:p>
                  </a:txBody>
                  <a:tcPr marL="0" marR="0" marT="3111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2540" algn="ctr">
                        <a:lnSpc>
                          <a:spcPct val="100000"/>
                        </a:lnSpc>
                        <a:spcBef>
                          <a:spcPts val="270"/>
                        </a:spcBef>
                      </a:pPr>
                      <a:r>
                        <a:rPr sz="700" dirty="0">
                          <a:latin typeface="Arial"/>
                          <a:cs typeface="Arial"/>
                        </a:rPr>
                        <a:t>x</a:t>
                      </a: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2540" algn="ctr">
                        <a:lnSpc>
                          <a:spcPct val="100000"/>
                        </a:lnSpc>
                        <a:spcBef>
                          <a:spcPts val="245"/>
                        </a:spcBef>
                      </a:pPr>
                      <a:r>
                        <a:rPr sz="700" dirty="0">
                          <a:latin typeface="Arial"/>
                          <a:cs typeface="Arial"/>
                        </a:rPr>
                        <a:t>x</a:t>
                      </a:r>
                    </a:p>
                  </a:txBody>
                  <a:tcPr marL="0" marR="0" marT="3111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187960">
                        <a:lnSpc>
                          <a:spcPct val="100000"/>
                        </a:lnSpc>
                        <a:spcBef>
                          <a:spcPts val="270"/>
                        </a:spcBef>
                      </a:pPr>
                      <a:r>
                        <a:rPr sz="700" spc="-5" dirty="0">
                          <a:latin typeface="Arial"/>
                          <a:cs typeface="Arial"/>
                        </a:rPr>
                        <a:t>DAC_LOFS_CH14</a:t>
                      </a:r>
                      <a:r>
                        <a:rPr sz="700" spc="-40" dirty="0">
                          <a:latin typeface="Arial"/>
                          <a:cs typeface="Arial"/>
                        </a:rPr>
                        <a:t> </a:t>
                      </a:r>
                      <a:r>
                        <a:rPr sz="700" spc="-5" dirty="0">
                          <a:latin typeface="Arial"/>
                          <a:cs typeface="Arial"/>
                        </a:rPr>
                        <a:t>[3:0]</a:t>
                      </a:r>
                      <a:endParaRPr sz="7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56515">
                        <a:lnSpc>
                          <a:spcPct val="100000"/>
                        </a:lnSpc>
                        <a:spcBef>
                          <a:spcPts val="270"/>
                        </a:spcBef>
                      </a:pPr>
                      <a:r>
                        <a:rPr sz="700" spc="-10" dirty="0">
                          <a:latin typeface="Arial"/>
                          <a:cs typeface="Arial"/>
                        </a:rPr>
                        <a:t>SIGN</a:t>
                      </a:r>
                      <a:endParaRPr sz="7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869315">
                        <a:lnSpc>
                          <a:spcPct val="100000"/>
                        </a:lnSpc>
                        <a:spcBef>
                          <a:spcPts val="245"/>
                        </a:spcBef>
                      </a:pPr>
                      <a:r>
                        <a:rPr sz="700" spc="-5" dirty="0">
                          <a:latin typeface="Arial"/>
                          <a:cs typeface="Arial"/>
                        </a:rPr>
                        <a:t>DAC_OFS_CH14</a:t>
                      </a:r>
                      <a:r>
                        <a:rPr sz="700" spc="-40" dirty="0">
                          <a:latin typeface="Arial"/>
                          <a:cs typeface="Arial"/>
                        </a:rPr>
                        <a:t> </a:t>
                      </a:r>
                      <a:r>
                        <a:rPr sz="700" spc="-5" dirty="0">
                          <a:latin typeface="Arial"/>
                          <a:cs typeface="Arial"/>
                        </a:rPr>
                        <a:t>[7:0]</a:t>
                      </a:r>
                      <a:endParaRPr sz="700" dirty="0">
                        <a:latin typeface="Arial"/>
                        <a:cs typeface="Arial"/>
                      </a:endParaRPr>
                    </a:p>
                  </a:txBody>
                  <a:tcPr marL="0" marR="0" marT="3111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extLst>
                  <a:ext uri="{0D108BD9-81ED-4DB2-BD59-A6C34878D82A}">
                    <a16:rowId xmlns:a16="http://schemas.microsoft.com/office/drawing/2014/main" val="10000"/>
                  </a:ext>
                </a:extLst>
              </a:tr>
            </a:tbl>
          </a:graphicData>
        </a:graphic>
      </p:graphicFrame>
      <p:graphicFrame>
        <p:nvGraphicFramePr>
          <p:cNvPr id="16" name="object 16"/>
          <p:cNvGraphicFramePr>
            <a:graphicFrameLocks noGrp="1"/>
          </p:cNvGraphicFramePr>
          <p:nvPr>
            <p:extLst>
              <p:ext uri="{D42A27DB-BD31-4B8C-83A1-F6EECF244321}">
                <p14:modId xmlns:p14="http://schemas.microsoft.com/office/powerpoint/2010/main" val="1308146356"/>
              </p:ext>
            </p:extLst>
          </p:nvPr>
        </p:nvGraphicFramePr>
        <p:xfrm>
          <a:off x="400914" y="4610417"/>
          <a:ext cx="6038543" cy="178435"/>
        </p:xfrm>
        <a:graphic>
          <a:graphicData uri="http://schemas.openxmlformats.org/drawingml/2006/table">
            <a:tbl>
              <a:tblPr firstRow="1" bandRow="1">
                <a:tableStyleId>{2D5ABB26-0587-4C30-8999-92F81FD0307C}</a:tableStyleId>
              </a:tblPr>
              <a:tblGrid>
                <a:gridCol w="412525">
                  <a:extLst>
                    <a:ext uri="{9D8B030D-6E8A-4147-A177-3AD203B41FA5}">
                      <a16:colId xmlns:a16="http://schemas.microsoft.com/office/drawing/2014/main" val="20000"/>
                    </a:ext>
                  </a:extLst>
                </a:gridCol>
                <a:gridCol w="474746">
                  <a:extLst>
                    <a:ext uri="{9D8B030D-6E8A-4147-A177-3AD203B41FA5}">
                      <a16:colId xmlns:a16="http://schemas.microsoft.com/office/drawing/2014/main" val="20001"/>
                    </a:ext>
                  </a:extLst>
                </a:gridCol>
                <a:gridCol w="322304">
                  <a:extLst>
                    <a:ext uri="{9D8B030D-6E8A-4147-A177-3AD203B41FA5}">
                      <a16:colId xmlns:a16="http://schemas.microsoft.com/office/drawing/2014/main" val="20002"/>
                    </a:ext>
                  </a:extLst>
                </a:gridCol>
                <a:gridCol w="322305">
                  <a:extLst>
                    <a:ext uri="{9D8B030D-6E8A-4147-A177-3AD203B41FA5}">
                      <a16:colId xmlns:a16="http://schemas.microsoft.com/office/drawing/2014/main" val="20003"/>
                    </a:ext>
                  </a:extLst>
                </a:gridCol>
                <a:gridCol w="322305">
                  <a:extLst>
                    <a:ext uri="{9D8B030D-6E8A-4147-A177-3AD203B41FA5}">
                      <a16:colId xmlns:a16="http://schemas.microsoft.com/office/drawing/2014/main" val="20004"/>
                    </a:ext>
                  </a:extLst>
                </a:gridCol>
                <a:gridCol w="1287351">
                  <a:extLst>
                    <a:ext uri="{9D8B030D-6E8A-4147-A177-3AD203B41FA5}">
                      <a16:colId xmlns:a16="http://schemas.microsoft.com/office/drawing/2014/main" val="20005"/>
                    </a:ext>
                  </a:extLst>
                </a:gridCol>
                <a:gridCol w="322304">
                  <a:extLst>
                    <a:ext uri="{9D8B030D-6E8A-4147-A177-3AD203B41FA5}">
                      <a16:colId xmlns:a16="http://schemas.microsoft.com/office/drawing/2014/main" val="20006"/>
                    </a:ext>
                  </a:extLst>
                </a:gridCol>
                <a:gridCol w="2574703">
                  <a:extLst>
                    <a:ext uri="{9D8B030D-6E8A-4147-A177-3AD203B41FA5}">
                      <a16:colId xmlns:a16="http://schemas.microsoft.com/office/drawing/2014/main" val="20007"/>
                    </a:ext>
                  </a:extLst>
                </a:gridCol>
              </a:tblGrid>
              <a:tr h="178435">
                <a:tc>
                  <a:txBody>
                    <a:bodyPr/>
                    <a:lstStyle/>
                    <a:p>
                      <a:pPr marL="124460">
                        <a:lnSpc>
                          <a:spcPct val="100000"/>
                        </a:lnSpc>
                        <a:spcBef>
                          <a:spcPts val="270"/>
                        </a:spcBef>
                      </a:pPr>
                      <a:r>
                        <a:rPr sz="700" spc="-10" dirty="0">
                          <a:latin typeface="Arial"/>
                          <a:cs typeface="Arial"/>
                        </a:rPr>
                        <a:t>‘h4F</a:t>
                      </a:r>
                      <a:endParaRPr sz="7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635" algn="ctr">
                        <a:lnSpc>
                          <a:spcPct val="100000"/>
                        </a:lnSpc>
                        <a:spcBef>
                          <a:spcPts val="270"/>
                        </a:spcBef>
                      </a:pPr>
                      <a:r>
                        <a:rPr sz="700" dirty="0">
                          <a:latin typeface="Arial"/>
                          <a:cs typeface="Arial"/>
                        </a:rPr>
                        <a:t>0</a:t>
                      </a: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2540" algn="ctr">
                        <a:lnSpc>
                          <a:spcPct val="100000"/>
                        </a:lnSpc>
                        <a:spcBef>
                          <a:spcPts val="245"/>
                        </a:spcBef>
                      </a:pPr>
                      <a:r>
                        <a:rPr sz="700" dirty="0">
                          <a:latin typeface="Arial"/>
                          <a:cs typeface="Arial"/>
                        </a:rPr>
                        <a:t>x</a:t>
                      </a:r>
                    </a:p>
                  </a:txBody>
                  <a:tcPr marL="0" marR="0" marT="3111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2540" algn="ctr">
                        <a:lnSpc>
                          <a:spcPct val="100000"/>
                        </a:lnSpc>
                        <a:spcBef>
                          <a:spcPts val="270"/>
                        </a:spcBef>
                      </a:pPr>
                      <a:r>
                        <a:rPr sz="700" dirty="0">
                          <a:latin typeface="Arial"/>
                          <a:cs typeface="Arial"/>
                        </a:rPr>
                        <a:t>x</a:t>
                      </a: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2540" algn="ctr">
                        <a:lnSpc>
                          <a:spcPct val="100000"/>
                        </a:lnSpc>
                        <a:spcBef>
                          <a:spcPts val="245"/>
                        </a:spcBef>
                      </a:pPr>
                      <a:r>
                        <a:rPr sz="700" dirty="0">
                          <a:latin typeface="Arial"/>
                          <a:cs typeface="Arial"/>
                        </a:rPr>
                        <a:t>x</a:t>
                      </a:r>
                    </a:p>
                  </a:txBody>
                  <a:tcPr marL="0" marR="0" marT="3111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187960">
                        <a:lnSpc>
                          <a:spcPct val="100000"/>
                        </a:lnSpc>
                        <a:spcBef>
                          <a:spcPts val="270"/>
                        </a:spcBef>
                      </a:pPr>
                      <a:r>
                        <a:rPr sz="700" spc="-5" dirty="0">
                          <a:latin typeface="Arial"/>
                          <a:cs typeface="Arial"/>
                        </a:rPr>
                        <a:t>DAC_LOFS_CH15</a:t>
                      </a:r>
                      <a:r>
                        <a:rPr sz="700" spc="-40" dirty="0">
                          <a:latin typeface="Arial"/>
                          <a:cs typeface="Arial"/>
                        </a:rPr>
                        <a:t> </a:t>
                      </a:r>
                      <a:r>
                        <a:rPr sz="700" spc="-5" dirty="0">
                          <a:latin typeface="Arial"/>
                          <a:cs typeface="Arial"/>
                        </a:rPr>
                        <a:t>[3:0]</a:t>
                      </a:r>
                      <a:endParaRPr sz="7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56515">
                        <a:lnSpc>
                          <a:spcPct val="100000"/>
                        </a:lnSpc>
                        <a:spcBef>
                          <a:spcPts val="270"/>
                        </a:spcBef>
                      </a:pPr>
                      <a:r>
                        <a:rPr sz="700" spc="-10" dirty="0">
                          <a:latin typeface="Arial"/>
                          <a:cs typeface="Arial"/>
                        </a:rPr>
                        <a:t>SIGN</a:t>
                      </a:r>
                      <a:endParaRPr sz="7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869315">
                        <a:lnSpc>
                          <a:spcPct val="100000"/>
                        </a:lnSpc>
                        <a:spcBef>
                          <a:spcPts val="245"/>
                        </a:spcBef>
                      </a:pPr>
                      <a:r>
                        <a:rPr sz="700" spc="-5" dirty="0">
                          <a:latin typeface="Arial"/>
                          <a:cs typeface="Arial"/>
                        </a:rPr>
                        <a:t>DAC_OFS_CH15</a:t>
                      </a:r>
                      <a:r>
                        <a:rPr sz="700" spc="-40" dirty="0">
                          <a:latin typeface="Arial"/>
                          <a:cs typeface="Arial"/>
                        </a:rPr>
                        <a:t> </a:t>
                      </a:r>
                      <a:r>
                        <a:rPr sz="700" spc="-5" dirty="0">
                          <a:latin typeface="Arial"/>
                          <a:cs typeface="Arial"/>
                        </a:rPr>
                        <a:t>[7:0]</a:t>
                      </a:r>
                      <a:endParaRPr sz="700" dirty="0">
                        <a:latin typeface="Arial"/>
                        <a:cs typeface="Arial"/>
                      </a:endParaRPr>
                    </a:p>
                  </a:txBody>
                  <a:tcPr marL="0" marR="0" marT="3111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extLst>
                  <a:ext uri="{0D108BD9-81ED-4DB2-BD59-A6C34878D82A}">
                    <a16:rowId xmlns:a16="http://schemas.microsoft.com/office/drawing/2014/main" val="10000"/>
                  </a:ext>
                </a:extLst>
              </a:tr>
            </a:tbl>
          </a:graphicData>
        </a:graphic>
      </p:graphicFrame>
      <p:graphicFrame>
        <p:nvGraphicFramePr>
          <p:cNvPr id="17" name="object 17"/>
          <p:cNvGraphicFramePr>
            <a:graphicFrameLocks noGrp="1"/>
          </p:cNvGraphicFramePr>
          <p:nvPr>
            <p:extLst>
              <p:ext uri="{D42A27DB-BD31-4B8C-83A1-F6EECF244321}">
                <p14:modId xmlns:p14="http://schemas.microsoft.com/office/powerpoint/2010/main" val="3071725875"/>
              </p:ext>
            </p:extLst>
          </p:nvPr>
        </p:nvGraphicFramePr>
        <p:xfrm>
          <a:off x="400914" y="4840795"/>
          <a:ext cx="6038543" cy="178435"/>
        </p:xfrm>
        <a:graphic>
          <a:graphicData uri="http://schemas.openxmlformats.org/drawingml/2006/table">
            <a:tbl>
              <a:tblPr firstRow="1" bandRow="1">
                <a:tableStyleId>{2D5ABB26-0587-4C30-8999-92F81FD0307C}</a:tableStyleId>
              </a:tblPr>
              <a:tblGrid>
                <a:gridCol w="412525">
                  <a:extLst>
                    <a:ext uri="{9D8B030D-6E8A-4147-A177-3AD203B41FA5}">
                      <a16:colId xmlns:a16="http://schemas.microsoft.com/office/drawing/2014/main" val="20000"/>
                    </a:ext>
                  </a:extLst>
                </a:gridCol>
                <a:gridCol w="474746">
                  <a:extLst>
                    <a:ext uri="{9D8B030D-6E8A-4147-A177-3AD203B41FA5}">
                      <a16:colId xmlns:a16="http://schemas.microsoft.com/office/drawing/2014/main" val="20001"/>
                    </a:ext>
                  </a:extLst>
                </a:gridCol>
                <a:gridCol w="322304">
                  <a:extLst>
                    <a:ext uri="{9D8B030D-6E8A-4147-A177-3AD203B41FA5}">
                      <a16:colId xmlns:a16="http://schemas.microsoft.com/office/drawing/2014/main" val="20002"/>
                    </a:ext>
                  </a:extLst>
                </a:gridCol>
                <a:gridCol w="322305">
                  <a:extLst>
                    <a:ext uri="{9D8B030D-6E8A-4147-A177-3AD203B41FA5}">
                      <a16:colId xmlns:a16="http://schemas.microsoft.com/office/drawing/2014/main" val="20003"/>
                    </a:ext>
                  </a:extLst>
                </a:gridCol>
                <a:gridCol w="322305">
                  <a:extLst>
                    <a:ext uri="{9D8B030D-6E8A-4147-A177-3AD203B41FA5}">
                      <a16:colId xmlns:a16="http://schemas.microsoft.com/office/drawing/2014/main" val="20004"/>
                    </a:ext>
                  </a:extLst>
                </a:gridCol>
                <a:gridCol w="1287351">
                  <a:extLst>
                    <a:ext uri="{9D8B030D-6E8A-4147-A177-3AD203B41FA5}">
                      <a16:colId xmlns:a16="http://schemas.microsoft.com/office/drawing/2014/main" val="20005"/>
                    </a:ext>
                  </a:extLst>
                </a:gridCol>
                <a:gridCol w="322304">
                  <a:extLst>
                    <a:ext uri="{9D8B030D-6E8A-4147-A177-3AD203B41FA5}">
                      <a16:colId xmlns:a16="http://schemas.microsoft.com/office/drawing/2014/main" val="20006"/>
                    </a:ext>
                  </a:extLst>
                </a:gridCol>
                <a:gridCol w="2574703">
                  <a:extLst>
                    <a:ext uri="{9D8B030D-6E8A-4147-A177-3AD203B41FA5}">
                      <a16:colId xmlns:a16="http://schemas.microsoft.com/office/drawing/2014/main" val="20007"/>
                    </a:ext>
                  </a:extLst>
                </a:gridCol>
              </a:tblGrid>
              <a:tr h="178435">
                <a:tc>
                  <a:txBody>
                    <a:bodyPr/>
                    <a:lstStyle/>
                    <a:p>
                      <a:pPr marL="126364">
                        <a:lnSpc>
                          <a:spcPct val="100000"/>
                        </a:lnSpc>
                        <a:spcBef>
                          <a:spcPts val="270"/>
                        </a:spcBef>
                      </a:pPr>
                      <a:r>
                        <a:rPr sz="700" spc="-10" dirty="0">
                          <a:latin typeface="Arial"/>
                          <a:cs typeface="Arial"/>
                        </a:rPr>
                        <a:t>‘h50</a:t>
                      </a:r>
                      <a:endParaRPr sz="7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635" algn="ctr">
                        <a:lnSpc>
                          <a:spcPct val="100000"/>
                        </a:lnSpc>
                        <a:spcBef>
                          <a:spcPts val="270"/>
                        </a:spcBef>
                      </a:pPr>
                      <a:r>
                        <a:rPr sz="700" dirty="0">
                          <a:latin typeface="Arial"/>
                          <a:cs typeface="Arial"/>
                        </a:rPr>
                        <a:t>0</a:t>
                      </a: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2540" algn="ctr">
                        <a:lnSpc>
                          <a:spcPct val="100000"/>
                        </a:lnSpc>
                        <a:spcBef>
                          <a:spcPts val="250"/>
                        </a:spcBef>
                      </a:pPr>
                      <a:r>
                        <a:rPr sz="700" dirty="0">
                          <a:latin typeface="Arial"/>
                          <a:cs typeface="Arial"/>
                        </a:rPr>
                        <a:t>x</a:t>
                      </a:r>
                    </a:p>
                  </a:txBody>
                  <a:tcPr marL="0" marR="0" marT="3175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2540" algn="ctr">
                        <a:lnSpc>
                          <a:spcPct val="100000"/>
                        </a:lnSpc>
                        <a:spcBef>
                          <a:spcPts val="270"/>
                        </a:spcBef>
                      </a:pPr>
                      <a:r>
                        <a:rPr sz="700" dirty="0">
                          <a:latin typeface="Arial"/>
                          <a:cs typeface="Arial"/>
                        </a:rPr>
                        <a:t>x</a:t>
                      </a: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2540" algn="ctr">
                        <a:lnSpc>
                          <a:spcPct val="100000"/>
                        </a:lnSpc>
                        <a:spcBef>
                          <a:spcPts val="250"/>
                        </a:spcBef>
                      </a:pPr>
                      <a:r>
                        <a:rPr sz="700" dirty="0">
                          <a:latin typeface="Arial"/>
                          <a:cs typeface="Arial"/>
                        </a:rPr>
                        <a:t>x</a:t>
                      </a:r>
                    </a:p>
                  </a:txBody>
                  <a:tcPr marL="0" marR="0" marT="3175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187960">
                        <a:lnSpc>
                          <a:spcPct val="100000"/>
                        </a:lnSpc>
                        <a:spcBef>
                          <a:spcPts val="270"/>
                        </a:spcBef>
                      </a:pPr>
                      <a:r>
                        <a:rPr sz="700" spc="-5" dirty="0">
                          <a:latin typeface="Arial"/>
                          <a:cs typeface="Arial"/>
                        </a:rPr>
                        <a:t>DAC_LOFS_CH16</a:t>
                      </a:r>
                      <a:r>
                        <a:rPr sz="700" spc="-40" dirty="0">
                          <a:latin typeface="Arial"/>
                          <a:cs typeface="Arial"/>
                        </a:rPr>
                        <a:t> </a:t>
                      </a:r>
                      <a:r>
                        <a:rPr sz="700" spc="-5" dirty="0">
                          <a:latin typeface="Arial"/>
                          <a:cs typeface="Arial"/>
                        </a:rPr>
                        <a:t>[3:0]</a:t>
                      </a:r>
                      <a:endParaRPr sz="7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56515">
                        <a:lnSpc>
                          <a:spcPct val="100000"/>
                        </a:lnSpc>
                        <a:spcBef>
                          <a:spcPts val="270"/>
                        </a:spcBef>
                      </a:pPr>
                      <a:r>
                        <a:rPr sz="700" spc="-10" dirty="0">
                          <a:latin typeface="Arial"/>
                          <a:cs typeface="Arial"/>
                        </a:rPr>
                        <a:t>SIGN</a:t>
                      </a:r>
                      <a:endParaRPr sz="7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869315">
                        <a:lnSpc>
                          <a:spcPct val="100000"/>
                        </a:lnSpc>
                        <a:spcBef>
                          <a:spcPts val="250"/>
                        </a:spcBef>
                      </a:pPr>
                      <a:r>
                        <a:rPr sz="700" spc="-5" dirty="0">
                          <a:latin typeface="Arial"/>
                          <a:cs typeface="Arial"/>
                        </a:rPr>
                        <a:t>DAC_OFS_CH16</a:t>
                      </a:r>
                      <a:r>
                        <a:rPr sz="700" spc="-40" dirty="0">
                          <a:latin typeface="Arial"/>
                          <a:cs typeface="Arial"/>
                        </a:rPr>
                        <a:t> </a:t>
                      </a:r>
                      <a:r>
                        <a:rPr sz="700" spc="-5" dirty="0">
                          <a:latin typeface="Arial"/>
                          <a:cs typeface="Arial"/>
                        </a:rPr>
                        <a:t>[7:0]</a:t>
                      </a:r>
                      <a:endParaRPr sz="700" dirty="0">
                        <a:latin typeface="Arial"/>
                        <a:cs typeface="Arial"/>
                      </a:endParaRPr>
                    </a:p>
                  </a:txBody>
                  <a:tcPr marL="0" marR="0" marT="3175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extLst>
                  <a:ext uri="{0D108BD9-81ED-4DB2-BD59-A6C34878D82A}">
                    <a16:rowId xmlns:a16="http://schemas.microsoft.com/office/drawing/2014/main" val="10000"/>
                  </a:ext>
                </a:extLst>
              </a:tr>
            </a:tbl>
          </a:graphicData>
        </a:graphic>
      </p:graphicFrame>
      <p:graphicFrame>
        <p:nvGraphicFramePr>
          <p:cNvPr id="18" name="object 18"/>
          <p:cNvGraphicFramePr>
            <a:graphicFrameLocks noGrp="1"/>
          </p:cNvGraphicFramePr>
          <p:nvPr>
            <p:extLst>
              <p:ext uri="{D42A27DB-BD31-4B8C-83A1-F6EECF244321}">
                <p14:modId xmlns:p14="http://schemas.microsoft.com/office/powerpoint/2010/main" val="235256757"/>
              </p:ext>
            </p:extLst>
          </p:nvPr>
        </p:nvGraphicFramePr>
        <p:xfrm>
          <a:off x="400914" y="5071427"/>
          <a:ext cx="6038543" cy="178435"/>
        </p:xfrm>
        <a:graphic>
          <a:graphicData uri="http://schemas.openxmlformats.org/drawingml/2006/table">
            <a:tbl>
              <a:tblPr firstRow="1" bandRow="1">
                <a:tableStyleId>{2D5ABB26-0587-4C30-8999-92F81FD0307C}</a:tableStyleId>
              </a:tblPr>
              <a:tblGrid>
                <a:gridCol w="412525">
                  <a:extLst>
                    <a:ext uri="{9D8B030D-6E8A-4147-A177-3AD203B41FA5}">
                      <a16:colId xmlns:a16="http://schemas.microsoft.com/office/drawing/2014/main" val="20000"/>
                    </a:ext>
                  </a:extLst>
                </a:gridCol>
                <a:gridCol w="474746">
                  <a:extLst>
                    <a:ext uri="{9D8B030D-6E8A-4147-A177-3AD203B41FA5}">
                      <a16:colId xmlns:a16="http://schemas.microsoft.com/office/drawing/2014/main" val="20001"/>
                    </a:ext>
                  </a:extLst>
                </a:gridCol>
                <a:gridCol w="322304">
                  <a:extLst>
                    <a:ext uri="{9D8B030D-6E8A-4147-A177-3AD203B41FA5}">
                      <a16:colId xmlns:a16="http://schemas.microsoft.com/office/drawing/2014/main" val="20002"/>
                    </a:ext>
                  </a:extLst>
                </a:gridCol>
                <a:gridCol w="322305">
                  <a:extLst>
                    <a:ext uri="{9D8B030D-6E8A-4147-A177-3AD203B41FA5}">
                      <a16:colId xmlns:a16="http://schemas.microsoft.com/office/drawing/2014/main" val="20003"/>
                    </a:ext>
                  </a:extLst>
                </a:gridCol>
                <a:gridCol w="322305">
                  <a:extLst>
                    <a:ext uri="{9D8B030D-6E8A-4147-A177-3AD203B41FA5}">
                      <a16:colId xmlns:a16="http://schemas.microsoft.com/office/drawing/2014/main" val="20004"/>
                    </a:ext>
                  </a:extLst>
                </a:gridCol>
                <a:gridCol w="1287351">
                  <a:extLst>
                    <a:ext uri="{9D8B030D-6E8A-4147-A177-3AD203B41FA5}">
                      <a16:colId xmlns:a16="http://schemas.microsoft.com/office/drawing/2014/main" val="20005"/>
                    </a:ext>
                  </a:extLst>
                </a:gridCol>
                <a:gridCol w="322304">
                  <a:extLst>
                    <a:ext uri="{9D8B030D-6E8A-4147-A177-3AD203B41FA5}">
                      <a16:colId xmlns:a16="http://schemas.microsoft.com/office/drawing/2014/main" val="20006"/>
                    </a:ext>
                  </a:extLst>
                </a:gridCol>
                <a:gridCol w="2574703">
                  <a:extLst>
                    <a:ext uri="{9D8B030D-6E8A-4147-A177-3AD203B41FA5}">
                      <a16:colId xmlns:a16="http://schemas.microsoft.com/office/drawing/2014/main" val="20007"/>
                    </a:ext>
                  </a:extLst>
                </a:gridCol>
              </a:tblGrid>
              <a:tr h="178435">
                <a:tc>
                  <a:txBody>
                    <a:bodyPr/>
                    <a:lstStyle/>
                    <a:p>
                      <a:pPr marL="126364">
                        <a:lnSpc>
                          <a:spcPct val="100000"/>
                        </a:lnSpc>
                        <a:spcBef>
                          <a:spcPts val="270"/>
                        </a:spcBef>
                      </a:pPr>
                      <a:r>
                        <a:rPr sz="700" spc="-10" dirty="0">
                          <a:latin typeface="Arial"/>
                          <a:cs typeface="Arial"/>
                        </a:rPr>
                        <a:t>‘h51</a:t>
                      </a:r>
                      <a:endParaRPr sz="7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635" algn="ctr">
                        <a:lnSpc>
                          <a:spcPct val="100000"/>
                        </a:lnSpc>
                        <a:spcBef>
                          <a:spcPts val="270"/>
                        </a:spcBef>
                      </a:pPr>
                      <a:r>
                        <a:rPr sz="700" dirty="0">
                          <a:latin typeface="Arial"/>
                          <a:cs typeface="Arial"/>
                        </a:rPr>
                        <a:t>0</a:t>
                      </a: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2540" algn="ctr">
                        <a:lnSpc>
                          <a:spcPct val="100000"/>
                        </a:lnSpc>
                        <a:spcBef>
                          <a:spcPts val="250"/>
                        </a:spcBef>
                      </a:pPr>
                      <a:r>
                        <a:rPr sz="700" dirty="0">
                          <a:latin typeface="Arial"/>
                          <a:cs typeface="Arial"/>
                        </a:rPr>
                        <a:t>x</a:t>
                      </a:r>
                    </a:p>
                  </a:txBody>
                  <a:tcPr marL="0" marR="0" marT="3175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2540" algn="ctr">
                        <a:lnSpc>
                          <a:spcPct val="100000"/>
                        </a:lnSpc>
                        <a:spcBef>
                          <a:spcPts val="270"/>
                        </a:spcBef>
                      </a:pPr>
                      <a:r>
                        <a:rPr sz="700" dirty="0">
                          <a:latin typeface="Arial"/>
                          <a:cs typeface="Arial"/>
                        </a:rPr>
                        <a:t>x</a:t>
                      </a: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2540" algn="ctr">
                        <a:lnSpc>
                          <a:spcPct val="100000"/>
                        </a:lnSpc>
                        <a:spcBef>
                          <a:spcPts val="250"/>
                        </a:spcBef>
                      </a:pPr>
                      <a:r>
                        <a:rPr sz="700" dirty="0">
                          <a:latin typeface="Arial"/>
                          <a:cs typeface="Arial"/>
                        </a:rPr>
                        <a:t>x</a:t>
                      </a:r>
                    </a:p>
                  </a:txBody>
                  <a:tcPr marL="0" marR="0" marT="3175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187960">
                        <a:lnSpc>
                          <a:spcPct val="100000"/>
                        </a:lnSpc>
                        <a:spcBef>
                          <a:spcPts val="270"/>
                        </a:spcBef>
                      </a:pPr>
                      <a:r>
                        <a:rPr sz="700" spc="-5" dirty="0">
                          <a:latin typeface="Arial"/>
                          <a:cs typeface="Arial"/>
                        </a:rPr>
                        <a:t>DAC_LOFS_CH17</a:t>
                      </a:r>
                      <a:r>
                        <a:rPr sz="700" spc="-40" dirty="0">
                          <a:latin typeface="Arial"/>
                          <a:cs typeface="Arial"/>
                        </a:rPr>
                        <a:t> </a:t>
                      </a:r>
                      <a:r>
                        <a:rPr sz="700" spc="-5" dirty="0">
                          <a:latin typeface="Arial"/>
                          <a:cs typeface="Arial"/>
                        </a:rPr>
                        <a:t>[3:0]</a:t>
                      </a:r>
                      <a:endParaRPr sz="7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56515">
                        <a:lnSpc>
                          <a:spcPct val="100000"/>
                        </a:lnSpc>
                        <a:spcBef>
                          <a:spcPts val="270"/>
                        </a:spcBef>
                      </a:pPr>
                      <a:r>
                        <a:rPr sz="700" spc="-10" dirty="0">
                          <a:latin typeface="Arial"/>
                          <a:cs typeface="Arial"/>
                        </a:rPr>
                        <a:t>SIGN</a:t>
                      </a:r>
                      <a:endParaRPr sz="7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869315">
                        <a:lnSpc>
                          <a:spcPct val="100000"/>
                        </a:lnSpc>
                        <a:spcBef>
                          <a:spcPts val="250"/>
                        </a:spcBef>
                      </a:pPr>
                      <a:r>
                        <a:rPr sz="700" spc="-5" dirty="0">
                          <a:latin typeface="Arial"/>
                          <a:cs typeface="Arial"/>
                        </a:rPr>
                        <a:t>DAC_OFS_CH17</a:t>
                      </a:r>
                      <a:r>
                        <a:rPr sz="700" spc="-40" dirty="0">
                          <a:latin typeface="Arial"/>
                          <a:cs typeface="Arial"/>
                        </a:rPr>
                        <a:t> </a:t>
                      </a:r>
                      <a:r>
                        <a:rPr sz="700" spc="-5" dirty="0">
                          <a:latin typeface="Arial"/>
                          <a:cs typeface="Arial"/>
                        </a:rPr>
                        <a:t>[7:0]</a:t>
                      </a:r>
                      <a:endParaRPr sz="700" dirty="0">
                        <a:latin typeface="Arial"/>
                        <a:cs typeface="Arial"/>
                      </a:endParaRPr>
                    </a:p>
                  </a:txBody>
                  <a:tcPr marL="0" marR="0" marT="3175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extLst>
                  <a:ext uri="{0D108BD9-81ED-4DB2-BD59-A6C34878D82A}">
                    <a16:rowId xmlns:a16="http://schemas.microsoft.com/office/drawing/2014/main" val="10000"/>
                  </a:ext>
                </a:extLst>
              </a:tr>
            </a:tbl>
          </a:graphicData>
        </a:graphic>
      </p:graphicFrame>
      <p:graphicFrame>
        <p:nvGraphicFramePr>
          <p:cNvPr id="19" name="object 19"/>
          <p:cNvGraphicFramePr>
            <a:graphicFrameLocks noGrp="1"/>
          </p:cNvGraphicFramePr>
          <p:nvPr>
            <p:extLst>
              <p:ext uri="{D42A27DB-BD31-4B8C-83A1-F6EECF244321}">
                <p14:modId xmlns:p14="http://schemas.microsoft.com/office/powerpoint/2010/main" val="2269764947"/>
              </p:ext>
            </p:extLst>
          </p:nvPr>
        </p:nvGraphicFramePr>
        <p:xfrm>
          <a:off x="400914" y="5299011"/>
          <a:ext cx="6038543" cy="178435"/>
        </p:xfrm>
        <a:graphic>
          <a:graphicData uri="http://schemas.openxmlformats.org/drawingml/2006/table">
            <a:tbl>
              <a:tblPr firstRow="1" bandRow="1">
                <a:tableStyleId>{2D5ABB26-0587-4C30-8999-92F81FD0307C}</a:tableStyleId>
              </a:tblPr>
              <a:tblGrid>
                <a:gridCol w="412525">
                  <a:extLst>
                    <a:ext uri="{9D8B030D-6E8A-4147-A177-3AD203B41FA5}">
                      <a16:colId xmlns:a16="http://schemas.microsoft.com/office/drawing/2014/main" val="20000"/>
                    </a:ext>
                  </a:extLst>
                </a:gridCol>
                <a:gridCol w="474746">
                  <a:extLst>
                    <a:ext uri="{9D8B030D-6E8A-4147-A177-3AD203B41FA5}">
                      <a16:colId xmlns:a16="http://schemas.microsoft.com/office/drawing/2014/main" val="20001"/>
                    </a:ext>
                  </a:extLst>
                </a:gridCol>
                <a:gridCol w="322304">
                  <a:extLst>
                    <a:ext uri="{9D8B030D-6E8A-4147-A177-3AD203B41FA5}">
                      <a16:colId xmlns:a16="http://schemas.microsoft.com/office/drawing/2014/main" val="20002"/>
                    </a:ext>
                  </a:extLst>
                </a:gridCol>
                <a:gridCol w="322305">
                  <a:extLst>
                    <a:ext uri="{9D8B030D-6E8A-4147-A177-3AD203B41FA5}">
                      <a16:colId xmlns:a16="http://schemas.microsoft.com/office/drawing/2014/main" val="20003"/>
                    </a:ext>
                  </a:extLst>
                </a:gridCol>
                <a:gridCol w="322305">
                  <a:extLst>
                    <a:ext uri="{9D8B030D-6E8A-4147-A177-3AD203B41FA5}">
                      <a16:colId xmlns:a16="http://schemas.microsoft.com/office/drawing/2014/main" val="20004"/>
                    </a:ext>
                  </a:extLst>
                </a:gridCol>
                <a:gridCol w="1287351">
                  <a:extLst>
                    <a:ext uri="{9D8B030D-6E8A-4147-A177-3AD203B41FA5}">
                      <a16:colId xmlns:a16="http://schemas.microsoft.com/office/drawing/2014/main" val="20005"/>
                    </a:ext>
                  </a:extLst>
                </a:gridCol>
                <a:gridCol w="322304">
                  <a:extLst>
                    <a:ext uri="{9D8B030D-6E8A-4147-A177-3AD203B41FA5}">
                      <a16:colId xmlns:a16="http://schemas.microsoft.com/office/drawing/2014/main" val="20006"/>
                    </a:ext>
                  </a:extLst>
                </a:gridCol>
                <a:gridCol w="2574703">
                  <a:extLst>
                    <a:ext uri="{9D8B030D-6E8A-4147-A177-3AD203B41FA5}">
                      <a16:colId xmlns:a16="http://schemas.microsoft.com/office/drawing/2014/main" val="20007"/>
                    </a:ext>
                  </a:extLst>
                </a:gridCol>
              </a:tblGrid>
              <a:tr h="178435">
                <a:tc>
                  <a:txBody>
                    <a:bodyPr/>
                    <a:lstStyle/>
                    <a:p>
                      <a:pPr marL="126364">
                        <a:lnSpc>
                          <a:spcPct val="100000"/>
                        </a:lnSpc>
                        <a:spcBef>
                          <a:spcPts val="270"/>
                        </a:spcBef>
                      </a:pPr>
                      <a:r>
                        <a:rPr sz="700" spc="-10" dirty="0">
                          <a:latin typeface="Arial"/>
                          <a:cs typeface="Arial"/>
                        </a:rPr>
                        <a:t>‘h52</a:t>
                      </a:r>
                      <a:endParaRPr sz="7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635" algn="ctr">
                        <a:lnSpc>
                          <a:spcPct val="100000"/>
                        </a:lnSpc>
                        <a:spcBef>
                          <a:spcPts val="270"/>
                        </a:spcBef>
                      </a:pPr>
                      <a:r>
                        <a:rPr sz="700" dirty="0">
                          <a:latin typeface="Arial"/>
                          <a:cs typeface="Arial"/>
                        </a:rPr>
                        <a:t>0</a:t>
                      </a: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2540" algn="ctr">
                        <a:lnSpc>
                          <a:spcPct val="100000"/>
                        </a:lnSpc>
                        <a:spcBef>
                          <a:spcPts val="245"/>
                        </a:spcBef>
                      </a:pPr>
                      <a:r>
                        <a:rPr sz="700" dirty="0">
                          <a:latin typeface="Arial"/>
                          <a:cs typeface="Arial"/>
                        </a:rPr>
                        <a:t>x</a:t>
                      </a:r>
                    </a:p>
                  </a:txBody>
                  <a:tcPr marL="0" marR="0" marT="3111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2540" algn="ctr">
                        <a:lnSpc>
                          <a:spcPct val="100000"/>
                        </a:lnSpc>
                        <a:spcBef>
                          <a:spcPts val="270"/>
                        </a:spcBef>
                      </a:pPr>
                      <a:r>
                        <a:rPr sz="700" dirty="0">
                          <a:latin typeface="Arial"/>
                          <a:cs typeface="Arial"/>
                        </a:rPr>
                        <a:t>x</a:t>
                      </a: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2540" algn="ctr">
                        <a:lnSpc>
                          <a:spcPct val="100000"/>
                        </a:lnSpc>
                        <a:spcBef>
                          <a:spcPts val="245"/>
                        </a:spcBef>
                      </a:pPr>
                      <a:r>
                        <a:rPr sz="700" dirty="0">
                          <a:latin typeface="Arial"/>
                          <a:cs typeface="Arial"/>
                        </a:rPr>
                        <a:t>x</a:t>
                      </a:r>
                    </a:p>
                  </a:txBody>
                  <a:tcPr marL="0" marR="0" marT="3111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139065">
                        <a:lnSpc>
                          <a:spcPct val="100000"/>
                        </a:lnSpc>
                        <a:spcBef>
                          <a:spcPts val="270"/>
                        </a:spcBef>
                      </a:pPr>
                      <a:r>
                        <a:rPr sz="700" spc="-5" dirty="0">
                          <a:latin typeface="Arial"/>
                          <a:cs typeface="Arial"/>
                        </a:rPr>
                        <a:t>DAC_LOFS_CH1018</a:t>
                      </a:r>
                      <a:r>
                        <a:rPr sz="700" spc="-30" dirty="0">
                          <a:latin typeface="Arial"/>
                          <a:cs typeface="Arial"/>
                        </a:rPr>
                        <a:t> </a:t>
                      </a:r>
                      <a:r>
                        <a:rPr sz="700" spc="-5" dirty="0">
                          <a:latin typeface="Arial"/>
                          <a:cs typeface="Arial"/>
                        </a:rPr>
                        <a:t>[3:0]</a:t>
                      </a:r>
                      <a:endParaRPr sz="7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56515">
                        <a:lnSpc>
                          <a:spcPct val="100000"/>
                        </a:lnSpc>
                        <a:spcBef>
                          <a:spcPts val="270"/>
                        </a:spcBef>
                      </a:pPr>
                      <a:r>
                        <a:rPr sz="700" spc="-10" dirty="0">
                          <a:latin typeface="Arial"/>
                          <a:cs typeface="Arial"/>
                        </a:rPr>
                        <a:t>SIGN</a:t>
                      </a:r>
                      <a:endParaRPr sz="7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869315">
                        <a:lnSpc>
                          <a:spcPct val="100000"/>
                        </a:lnSpc>
                        <a:spcBef>
                          <a:spcPts val="245"/>
                        </a:spcBef>
                      </a:pPr>
                      <a:r>
                        <a:rPr sz="700" spc="-5" dirty="0">
                          <a:latin typeface="Arial"/>
                          <a:cs typeface="Arial"/>
                        </a:rPr>
                        <a:t>DAC_OFS_CH18</a:t>
                      </a:r>
                      <a:r>
                        <a:rPr sz="700" spc="-40" dirty="0">
                          <a:latin typeface="Arial"/>
                          <a:cs typeface="Arial"/>
                        </a:rPr>
                        <a:t> </a:t>
                      </a:r>
                      <a:r>
                        <a:rPr sz="700" spc="-5" dirty="0">
                          <a:latin typeface="Arial"/>
                          <a:cs typeface="Arial"/>
                        </a:rPr>
                        <a:t>[7:0]</a:t>
                      </a:r>
                      <a:endParaRPr sz="700" dirty="0">
                        <a:latin typeface="Arial"/>
                        <a:cs typeface="Arial"/>
                      </a:endParaRPr>
                    </a:p>
                  </a:txBody>
                  <a:tcPr marL="0" marR="0" marT="3111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extLst>
                  <a:ext uri="{0D108BD9-81ED-4DB2-BD59-A6C34878D82A}">
                    <a16:rowId xmlns:a16="http://schemas.microsoft.com/office/drawing/2014/main" val="10000"/>
                  </a:ext>
                </a:extLst>
              </a:tr>
            </a:tbl>
          </a:graphicData>
        </a:graphic>
      </p:graphicFrame>
      <p:graphicFrame>
        <p:nvGraphicFramePr>
          <p:cNvPr id="20" name="object 20"/>
          <p:cNvGraphicFramePr>
            <a:graphicFrameLocks noGrp="1"/>
          </p:cNvGraphicFramePr>
          <p:nvPr>
            <p:extLst>
              <p:ext uri="{D42A27DB-BD31-4B8C-83A1-F6EECF244321}">
                <p14:modId xmlns:p14="http://schemas.microsoft.com/office/powerpoint/2010/main" val="3602243121"/>
              </p:ext>
            </p:extLst>
          </p:nvPr>
        </p:nvGraphicFramePr>
        <p:xfrm>
          <a:off x="400914" y="5526595"/>
          <a:ext cx="6038543" cy="178435"/>
        </p:xfrm>
        <a:graphic>
          <a:graphicData uri="http://schemas.openxmlformats.org/drawingml/2006/table">
            <a:tbl>
              <a:tblPr firstRow="1" bandRow="1">
                <a:tableStyleId>{2D5ABB26-0587-4C30-8999-92F81FD0307C}</a:tableStyleId>
              </a:tblPr>
              <a:tblGrid>
                <a:gridCol w="412525">
                  <a:extLst>
                    <a:ext uri="{9D8B030D-6E8A-4147-A177-3AD203B41FA5}">
                      <a16:colId xmlns:a16="http://schemas.microsoft.com/office/drawing/2014/main" val="20000"/>
                    </a:ext>
                  </a:extLst>
                </a:gridCol>
                <a:gridCol w="474746">
                  <a:extLst>
                    <a:ext uri="{9D8B030D-6E8A-4147-A177-3AD203B41FA5}">
                      <a16:colId xmlns:a16="http://schemas.microsoft.com/office/drawing/2014/main" val="20001"/>
                    </a:ext>
                  </a:extLst>
                </a:gridCol>
                <a:gridCol w="322304">
                  <a:extLst>
                    <a:ext uri="{9D8B030D-6E8A-4147-A177-3AD203B41FA5}">
                      <a16:colId xmlns:a16="http://schemas.microsoft.com/office/drawing/2014/main" val="20002"/>
                    </a:ext>
                  </a:extLst>
                </a:gridCol>
                <a:gridCol w="322305">
                  <a:extLst>
                    <a:ext uri="{9D8B030D-6E8A-4147-A177-3AD203B41FA5}">
                      <a16:colId xmlns:a16="http://schemas.microsoft.com/office/drawing/2014/main" val="20003"/>
                    </a:ext>
                  </a:extLst>
                </a:gridCol>
                <a:gridCol w="322305">
                  <a:extLst>
                    <a:ext uri="{9D8B030D-6E8A-4147-A177-3AD203B41FA5}">
                      <a16:colId xmlns:a16="http://schemas.microsoft.com/office/drawing/2014/main" val="20004"/>
                    </a:ext>
                  </a:extLst>
                </a:gridCol>
                <a:gridCol w="1287351">
                  <a:extLst>
                    <a:ext uri="{9D8B030D-6E8A-4147-A177-3AD203B41FA5}">
                      <a16:colId xmlns:a16="http://schemas.microsoft.com/office/drawing/2014/main" val="20005"/>
                    </a:ext>
                  </a:extLst>
                </a:gridCol>
                <a:gridCol w="322304">
                  <a:extLst>
                    <a:ext uri="{9D8B030D-6E8A-4147-A177-3AD203B41FA5}">
                      <a16:colId xmlns:a16="http://schemas.microsoft.com/office/drawing/2014/main" val="20006"/>
                    </a:ext>
                  </a:extLst>
                </a:gridCol>
                <a:gridCol w="2574703">
                  <a:extLst>
                    <a:ext uri="{9D8B030D-6E8A-4147-A177-3AD203B41FA5}">
                      <a16:colId xmlns:a16="http://schemas.microsoft.com/office/drawing/2014/main" val="20007"/>
                    </a:ext>
                  </a:extLst>
                </a:gridCol>
              </a:tblGrid>
              <a:tr h="178435">
                <a:tc>
                  <a:txBody>
                    <a:bodyPr/>
                    <a:lstStyle/>
                    <a:p>
                      <a:pPr marL="126364">
                        <a:lnSpc>
                          <a:spcPct val="100000"/>
                        </a:lnSpc>
                        <a:spcBef>
                          <a:spcPts val="270"/>
                        </a:spcBef>
                      </a:pPr>
                      <a:r>
                        <a:rPr sz="700" spc="-10" dirty="0">
                          <a:latin typeface="Arial"/>
                          <a:cs typeface="Arial"/>
                        </a:rPr>
                        <a:t>‘h53</a:t>
                      </a:r>
                      <a:endParaRPr sz="7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635" algn="ctr">
                        <a:lnSpc>
                          <a:spcPct val="100000"/>
                        </a:lnSpc>
                        <a:spcBef>
                          <a:spcPts val="270"/>
                        </a:spcBef>
                      </a:pPr>
                      <a:r>
                        <a:rPr sz="700" dirty="0">
                          <a:latin typeface="Arial"/>
                          <a:cs typeface="Arial"/>
                        </a:rPr>
                        <a:t>0</a:t>
                      </a: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2540" algn="ctr">
                        <a:lnSpc>
                          <a:spcPct val="100000"/>
                        </a:lnSpc>
                        <a:spcBef>
                          <a:spcPts val="250"/>
                        </a:spcBef>
                      </a:pPr>
                      <a:r>
                        <a:rPr sz="700" dirty="0">
                          <a:latin typeface="Arial"/>
                          <a:cs typeface="Arial"/>
                        </a:rPr>
                        <a:t>x</a:t>
                      </a:r>
                    </a:p>
                  </a:txBody>
                  <a:tcPr marL="0" marR="0" marT="3175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2540" algn="ctr">
                        <a:lnSpc>
                          <a:spcPct val="100000"/>
                        </a:lnSpc>
                        <a:spcBef>
                          <a:spcPts val="270"/>
                        </a:spcBef>
                      </a:pPr>
                      <a:r>
                        <a:rPr sz="700" dirty="0">
                          <a:latin typeface="Arial"/>
                          <a:cs typeface="Arial"/>
                        </a:rPr>
                        <a:t>x</a:t>
                      </a: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2540" algn="ctr">
                        <a:lnSpc>
                          <a:spcPct val="100000"/>
                        </a:lnSpc>
                        <a:spcBef>
                          <a:spcPts val="250"/>
                        </a:spcBef>
                      </a:pPr>
                      <a:r>
                        <a:rPr sz="700" dirty="0">
                          <a:latin typeface="Arial"/>
                          <a:cs typeface="Arial"/>
                        </a:rPr>
                        <a:t>x</a:t>
                      </a:r>
                    </a:p>
                  </a:txBody>
                  <a:tcPr marL="0" marR="0" marT="3175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187960">
                        <a:lnSpc>
                          <a:spcPct val="100000"/>
                        </a:lnSpc>
                        <a:spcBef>
                          <a:spcPts val="270"/>
                        </a:spcBef>
                      </a:pPr>
                      <a:r>
                        <a:rPr sz="700" spc="-5" dirty="0">
                          <a:latin typeface="Arial"/>
                          <a:cs typeface="Arial"/>
                        </a:rPr>
                        <a:t>DAC_LOFS_CH19</a:t>
                      </a:r>
                      <a:r>
                        <a:rPr sz="700" spc="-40" dirty="0">
                          <a:latin typeface="Arial"/>
                          <a:cs typeface="Arial"/>
                        </a:rPr>
                        <a:t> </a:t>
                      </a:r>
                      <a:r>
                        <a:rPr sz="700" spc="-5" dirty="0">
                          <a:latin typeface="Arial"/>
                          <a:cs typeface="Arial"/>
                        </a:rPr>
                        <a:t>[3:0]</a:t>
                      </a:r>
                      <a:endParaRPr sz="7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56515">
                        <a:lnSpc>
                          <a:spcPct val="100000"/>
                        </a:lnSpc>
                        <a:spcBef>
                          <a:spcPts val="270"/>
                        </a:spcBef>
                      </a:pPr>
                      <a:r>
                        <a:rPr sz="700" spc="-10" dirty="0">
                          <a:latin typeface="Arial"/>
                          <a:cs typeface="Arial"/>
                        </a:rPr>
                        <a:t>SIGN</a:t>
                      </a:r>
                      <a:endParaRPr sz="7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869315">
                        <a:lnSpc>
                          <a:spcPct val="100000"/>
                        </a:lnSpc>
                        <a:spcBef>
                          <a:spcPts val="250"/>
                        </a:spcBef>
                      </a:pPr>
                      <a:r>
                        <a:rPr sz="700" spc="-5" dirty="0">
                          <a:latin typeface="Arial"/>
                          <a:cs typeface="Arial"/>
                        </a:rPr>
                        <a:t>DAC_OFS_CH19</a:t>
                      </a:r>
                      <a:r>
                        <a:rPr sz="700" spc="-40" dirty="0">
                          <a:latin typeface="Arial"/>
                          <a:cs typeface="Arial"/>
                        </a:rPr>
                        <a:t> </a:t>
                      </a:r>
                      <a:r>
                        <a:rPr sz="700" spc="-5" dirty="0">
                          <a:latin typeface="Arial"/>
                          <a:cs typeface="Arial"/>
                        </a:rPr>
                        <a:t>[7:0]</a:t>
                      </a:r>
                      <a:endParaRPr sz="700" dirty="0">
                        <a:latin typeface="Arial"/>
                        <a:cs typeface="Arial"/>
                      </a:endParaRPr>
                    </a:p>
                  </a:txBody>
                  <a:tcPr marL="0" marR="0" marT="3175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extLst>
                  <a:ext uri="{0D108BD9-81ED-4DB2-BD59-A6C34878D82A}">
                    <a16:rowId xmlns:a16="http://schemas.microsoft.com/office/drawing/2014/main" val="10000"/>
                  </a:ext>
                </a:extLst>
              </a:tr>
            </a:tbl>
          </a:graphicData>
        </a:graphic>
      </p:graphicFrame>
      <p:graphicFrame>
        <p:nvGraphicFramePr>
          <p:cNvPr id="21" name="object 21"/>
          <p:cNvGraphicFramePr>
            <a:graphicFrameLocks noGrp="1"/>
          </p:cNvGraphicFramePr>
          <p:nvPr>
            <p:extLst>
              <p:ext uri="{D42A27DB-BD31-4B8C-83A1-F6EECF244321}">
                <p14:modId xmlns:p14="http://schemas.microsoft.com/office/powerpoint/2010/main" val="2585256683"/>
              </p:ext>
            </p:extLst>
          </p:nvPr>
        </p:nvGraphicFramePr>
        <p:xfrm>
          <a:off x="400914" y="5755957"/>
          <a:ext cx="6038543" cy="178435"/>
        </p:xfrm>
        <a:graphic>
          <a:graphicData uri="http://schemas.openxmlformats.org/drawingml/2006/table">
            <a:tbl>
              <a:tblPr firstRow="1" bandRow="1">
                <a:tableStyleId>{2D5ABB26-0587-4C30-8999-92F81FD0307C}</a:tableStyleId>
              </a:tblPr>
              <a:tblGrid>
                <a:gridCol w="412525">
                  <a:extLst>
                    <a:ext uri="{9D8B030D-6E8A-4147-A177-3AD203B41FA5}">
                      <a16:colId xmlns:a16="http://schemas.microsoft.com/office/drawing/2014/main" val="20000"/>
                    </a:ext>
                  </a:extLst>
                </a:gridCol>
                <a:gridCol w="474746">
                  <a:extLst>
                    <a:ext uri="{9D8B030D-6E8A-4147-A177-3AD203B41FA5}">
                      <a16:colId xmlns:a16="http://schemas.microsoft.com/office/drawing/2014/main" val="20001"/>
                    </a:ext>
                  </a:extLst>
                </a:gridCol>
                <a:gridCol w="322304">
                  <a:extLst>
                    <a:ext uri="{9D8B030D-6E8A-4147-A177-3AD203B41FA5}">
                      <a16:colId xmlns:a16="http://schemas.microsoft.com/office/drawing/2014/main" val="20002"/>
                    </a:ext>
                  </a:extLst>
                </a:gridCol>
                <a:gridCol w="322305">
                  <a:extLst>
                    <a:ext uri="{9D8B030D-6E8A-4147-A177-3AD203B41FA5}">
                      <a16:colId xmlns:a16="http://schemas.microsoft.com/office/drawing/2014/main" val="20003"/>
                    </a:ext>
                  </a:extLst>
                </a:gridCol>
                <a:gridCol w="322305">
                  <a:extLst>
                    <a:ext uri="{9D8B030D-6E8A-4147-A177-3AD203B41FA5}">
                      <a16:colId xmlns:a16="http://schemas.microsoft.com/office/drawing/2014/main" val="20004"/>
                    </a:ext>
                  </a:extLst>
                </a:gridCol>
                <a:gridCol w="1287351">
                  <a:extLst>
                    <a:ext uri="{9D8B030D-6E8A-4147-A177-3AD203B41FA5}">
                      <a16:colId xmlns:a16="http://schemas.microsoft.com/office/drawing/2014/main" val="20005"/>
                    </a:ext>
                  </a:extLst>
                </a:gridCol>
                <a:gridCol w="322304">
                  <a:extLst>
                    <a:ext uri="{9D8B030D-6E8A-4147-A177-3AD203B41FA5}">
                      <a16:colId xmlns:a16="http://schemas.microsoft.com/office/drawing/2014/main" val="20006"/>
                    </a:ext>
                  </a:extLst>
                </a:gridCol>
                <a:gridCol w="2574703">
                  <a:extLst>
                    <a:ext uri="{9D8B030D-6E8A-4147-A177-3AD203B41FA5}">
                      <a16:colId xmlns:a16="http://schemas.microsoft.com/office/drawing/2014/main" val="20007"/>
                    </a:ext>
                  </a:extLst>
                </a:gridCol>
              </a:tblGrid>
              <a:tr h="178435">
                <a:tc>
                  <a:txBody>
                    <a:bodyPr/>
                    <a:lstStyle/>
                    <a:p>
                      <a:pPr marL="126364">
                        <a:lnSpc>
                          <a:spcPct val="100000"/>
                        </a:lnSpc>
                        <a:spcBef>
                          <a:spcPts val="270"/>
                        </a:spcBef>
                      </a:pPr>
                      <a:r>
                        <a:rPr sz="700" spc="-10" dirty="0">
                          <a:latin typeface="Arial"/>
                          <a:cs typeface="Arial"/>
                        </a:rPr>
                        <a:t>‘h54</a:t>
                      </a:r>
                      <a:endParaRPr sz="7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635" algn="ctr">
                        <a:lnSpc>
                          <a:spcPct val="100000"/>
                        </a:lnSpc>
                        <a:spcBef>
                          <a:spcPts val="270"/>
                        </a:spcBef>
                      </a:pPr>
                      <a:r>
                        <a:rPr sz="700" dirty="0">
                          <a:latin typeface="Arial"/>
                          <a:cs typeface="Arial"/>
                        </a:rPr>
                        <a:t>0</a:t>
                      </a: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2540" algn="ctr">
                        <a:lnSpc>
                          <a:spcPct val="100000"/>
                        </a:lnSpc>
                        <a:spcBef>
                          <a:spcPts val="245"/>
                        </a:spcBef>
                      </a:pPr>
                      <a:r>
                        <a:rPr sz="700" dirty="0">
                          <a:latin typeface="Arial"/>
                          <a:cs typeface="Arial"/>
                        </a:rPr>
                        <a:t>x</a:t>
                      </a:r>
                    </a:p>
                  </a:txBody>
                  <a:tcPr marL="0" marR="0" marT="3111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2540" algn="ctr">
                        <a:lnSpc>
                          <a:spcPct val="100000"/>
                        </a:lnSpc>
                        <a:spcBef>
                          <a:spcPts val="270"/>
                        </a:spcBef>
                      </a:pPr>
                      <a:r>
                        <a:rPr sz="700" dirty="0">
                          <a:latin typeface="Arial"/>
                          <a:cs typeface="Arial"/>
                        </a:rPr>
                        <a:t>x</a:t>
                      </a: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2540" algn="ctr">
                        <a:lnSpc>
                          <a:spcPct val="100000"/>
                        </a:lnSpc>
                        <a:spcBef>
                          <a:spcPts val="245"/>
                        </a:spcBef>
                      </a:pPr>
                      <a:r>
                        <a:rPr sz="700" dirty="0">
                          <a:latin typeface="Arial"/>
                          <a:cs typeface="Arial"/>
                        </a:rPr>
                        <a:t>x</a:t>
                      </a:r>
                    </a:p>
                  </a:txBody>
                  <a:tcPr marL="0" marR="0" marT="3111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187960">
                        <a:lnSpc>
                          <a:spcPct val="100000"/>
                        </a:lnSpc>
                        <a:spcBef>
                          <a:spcPts val="270"/>
                        </a:spcBef>
                      </a:pPr>
                      <a:r>
                        <a:rPr sz="700" spc="-5" dirty="0">
                          <a:latin typeface="Arial"/>
                          <a:cs typeface="Arial"/>
                        </a:rPr>
                        <a:t>DAC_LOFS_CH20</a:t>
                      </a:r>
                      <a:r>
                        <a:rPr sz="700" spc="-40" dirty="0">
                          <a:latin typeface="Arial"/>
                          <a:cs typeface="Arial"/>
                        </a:rPr>
                        <a:t> </a:t>
                      </a:r>
                      <a:r>
                        <a:rPr sz="700" spc="-5" dirty="0">
                          <a:latin typeface="Arial"/>
                          <a:cs typeface="Arial"/>
                        </a:rPr>
                        <a:t>[3:0]</a:t>
                      </a:r>
                      <a:endParaRPr sz="7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56515">
                        <a:lnSpc>
                          <a:spcPct val="100000"/>
                        </a:lnSpc>
                        <a:spcBef>
                          <a:spcPts val="270"/>
                        </a:spcBef>
                      </a:pPr>
                      <a:r>
                        <a:rPr sz="700" spc="-10" dirty="0">
                          <a:latin typeface="Arial"/>
                          <a:cs typeface="Arial"/>
                        </a:rPr>
                        <a:t>SIGN</a:t>
                      </a:r>
                      <a:endParaRPr sz="7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869315">
                        <a:lnSpc>
                          <a:spcPct val="100000"/>
                        </a:lnSpc>
                        <a:spcBef>
                          <a:spcPts val="245"/>
                        </a:spcBef>
                      </a:pPr>
                      <a:r>
                        <a:rPr sz="700" spc="-5" dirty="0">
                          <a:latin typeface="Arial"/>
                          <a:cs typeface="Arial"/>
                        </a:rPr>
                        <a:t>DAC_OFS_CH20</a:t>
                      </a:r>
                      <a:r>
                        <a:rPr sz="700" spc="-40" dirty="0">
                          <a:latin typeface="Arial"/>
                          <a:cs typeface="Arial"/>
                        </a:rPr>
                        <a:t> </a:t>
                      </a:r>
                      <a:r>
                        <a:rPr sz="700" spc="-5" dirty="0">
                          <a:latin typeface="Arial"/>
                          <a:cs typeface="Arial"/>
                        </a:rPr>
                        <a:t>[7:0]</a:t>
                      </a:r>
                      <a:endParaRPr sz="700" dirty="0">
                        <a:latin typeface="Arial"/>
                        <a:cs typeface="Arial"/>
                      </a:endParaRPr>
                    </a:p>
                  </a:txBody>
                  <a:tcPr marL="0" marR="0" marT="3111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extLst>
                  <a:ext uri="{0D108BD9-81ED-4DB2-BD59-A6C34878D82A}">
                    <a16:rowId xmlns:a16="http://schemas.microsoft.com/office/drawing/2014/main" val="10000"/>
                  </a:ext>
                </a:extLst>
              </a:tr>
            </a:tbl>
          </a:graphicData>
        </a:graphic>
      </p:graphicFrame>
      <p:graphicFrame>
        <p:nvGraphicFramePr>
          <p:cNvPr id="22" name="object 22"/>
          <p:cNvGraphicFramePr>
            <a:graphicFrameLocks noGrp="1"/>
          </p:cNvGraphicFramePr>
          <p:nvPr>
            <p:extLst>
              <p:ext uri="{D42A27DB-BD31-4B8C-83A1-F6EECF244321}">
                <p14:modId xmlns:p14="http://schemas.microsoft.com/office/powerpoint/2010/main" val="3102133055"/>
              </p:ext>
            </p:extLst>
          </p:nvPr>
        </p:nvGraphicFramePr>
        <p:xfrm>
          <a:off x="400914" y="5982398"/>
          <a:ext cx="6038543" cy="178435"/>
        </p:xfrm>
        <a:graphic>
          <a:graphicData uri="http://schemas.openxmlformats.org/drawingml/2006/table">
            <a:tbl>
              <a:tblPr firstRow="1" bandRow="1">
                <a:tableStyleId>{2D5ABB26-0587-4C30-8999-92F81FD0307C}</a:tableStyleId>
              </a:tblPr>
              <a:tblGrid>
                <a:gridCol w="412525">
                  <a:extLst>
                    <a:ext uri="{9D8B030D-6E8A-4147-A177-3AD203B41FA5}">
                      <a16:colId xmlns:a16="http://schemas.microsoft.com/office/drawing/2014/main" val="20000"/>
                    </a:ext>
                  </a:extLst>
                </a:gridCol>
                <a:gridCol w="474746">
                  <a:extLst>
                    <a:ext uri="{9D8B030D-6E8A-4147-A177-3AD203B41FA5}">
                      <a16:colId xmlns:a16="http://schemas.microsoft.com/office/drawing/2014/main" val="20001"/>
                    </a:ext>
                  </a:extLst>
                </a:gridCol>
                <a:gridCol w="322304">
                  <a:extLst>
                    <a:ext uri="{9D8B030D-6E8A-4147-A177-3AD203B41FA5}">
                      <a16:colId xmlns:a16="http://schemas.microsoft.com/office/drawing/2014/main" val="20002"/>
                    </a:ext>
                  </a:extLst>
                </a:gridCol>
                <a:gridCol w="322305">
                  <a:extLst>
                    <a:ext uri="{9D8B030D-6E8A-4147-A177-3AD203B41FA5}">
                      <a16:colId xmlns:a16="http://schemas.microsoft.com/office/drawing/2014/main" val="20003"/>
                    </a:ext>
                  </a:extLst>
                </a:gridCol>
                <a:gridCol w="322305">
                  <a:extLst>
                    <a:ext uri="{9D8B030D-6E8A-4147-A177-3AD203B41FA5}">
                      <a16:colId xmlns:a16="http://schemas.microsoft.com/office/drawing/2014/main" val="20004"/>
                    </a:ext>
                  </a:extLst>
                </a:gridCol>
                <a:gridCol w="1287351">
                  <a:extLst>
                    <a:ext uri="{9D8B030D-6E8A-4147-A177-3AD203B41FA5}">
                      <a16:colId xmlns:a16="http://schemas.microsoft.com/office/drawing/2014/main" val="20005"/>
                    </a:ext>
                  </a:extLst>
                </a:gridCol>
                <a:gridCol w="322304">
                  <a:extLst>
                    <a:ext uri="{9D8B030D-6E8A-4147-A177-3AD203B41FA5}">
                      <a16:colId xmlns:a16="http://schemas.microsoft.com/office/drawing/2014/main" val="20006"/>
                    </a:ext>
                  </a:extLst>
                </a:gridCol>
                <a:gridCol w="2574703">
                  <a:extLst>
                    <a:ext uri="{9D8B030D-6E8A-4147-A177-3AD203B41FA5}">
                      <a16:colId xmlns:a16="http://schemas.microsoft.com/office/drawing/2014/main" val="20007"/>
                    </a:ext>
                  </a:extLst>
                </a:gridCol>
              </a:tblGrid>
              <a:tr h="178435">
                <a:tc>
                  <a:txBody>
                    <a:bodyPr/>
                    <a:lstStyle/>
                    <a:p>
                      <a:pPr marL="126364">
                        <a:lnSpc>
                          <a:spcPct val="100000"/>
                        </a:lnSpc>
                        <a:spcBef>
                          <a:spcPts val="270"/>
                        </a:spcBef>
                      </a:pPr>
                      <a:r>
                        <a:rPr sz="700" spc="-10" dirty="0">
                          <a:latin typeface="Arial"/>
                          <a:cs typeface="Arial"/>
                        </a:rPr>
                        <a:t>‘h55</a:t>
                      </a:r>
                      <a:endParaRPr sz="7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635" algn="ctr">
                        <a:lnSpc>
                          <a:spcPct val="100000"/>
                        </a:lnSpc>
                        <a:spcBef>
                          <a:spcPts val="270"/>
                        </a:spcBef>
                      </a:pPr>
                      <a:r>
                        <a:rPr sz="700" dirty="0">
                          <a:latin typeface="Arial"/>
                          <a:cs typeface="Arial"/>
                        </a:rPr>
                        <a:t>0</a:t>
                      </a: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2540" algn="ctr">
                        <a:lnSpc>
                          <a:spcPct val="100000"/>
                        </a:lnSpc>
                        <a:spcBef>
                          <a:spcPts val="250"/>
                        </a:spcBef>
                      </a:pPr>
                      <a:r>
                        <a:rPr sz="700" dirty="0">
                          <a:latin typeface="Arial"/>
                          <a:cs typeface="Arial"/>
                        </a:rPr>
                        <a:t>x</a:t>
                      </a:r>
                    </a:p>
                  </a:txBody>
                  <a:tcPr marL="0" marR="0" marT="3175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2540" algn="ctr">
                        <a:lnSpc>
                          <a:spcPct val="100000"/>
                        </a:lnSpc>
                        <a:spcBef>
                          <a:spcPts val="270"/>
                        </a:spcBef>
                      </a:pPr>
                      <a:r>
                        <a:rPr sz="700" dirty="0">
                          <a:latin typeface="Arial"/>
                          <a:cs typeface="Arial"/>
                        </a:rPr>
                        <a:t>x</a:t>
                      </a: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2540" algn="ctr">
                        <a:lnSpc>
                          <a:spcPct val="100000"/>
                        </a:lnSpc>
                        <a:spcBef>
                          <a:spcPts val="250"/>
                        </a:spcBef>
                      </a:pPr>
                      <a:r>
                        <a:rPr sz="700" dirty="0">
                          <a:latin typeface="Arial"/>
                          <a:cs typeface="Arial"/>
                        </a:rPr>
                        <a:t>x</a:t>
                      </a:r>
                    </a:p>
                  </a:txBody>
                  <a:tcPr marL="0" marR="0" marT="3175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187960">
                        <a:lnSpc>
                          <a:spcPct val="100000"/>
                        </a:lnSpc>
                        <a:spcBef>
                          <a:spcPts val="270"/>
                        </a:spcBef>
                      </a:pPr>
                      <a:r>
                        <a:rPr sz="700" spc="-5" dirty="0">
                          <a:latin typeface="Arial"/>
                          <a:cs typeface="Arial"/>
                        </a:rPr>
                        <a:t>DAC_LOFS_CH21</a:t>
                      </a:r>
                      <a:r>
                        <a:rPr sz="700" spc="-40" dirty="0">
                          <a:latin typeface="Arial"/>
                          <a:cs typeface="Arial"/>
                        </a:rPr>
                        <a:t> </a:t>
                      </a:r>
                      <a:r>
                        <a:rPr sz="700" spc="-5" dirty="0">
                          <a:latin typeface="Arial"/>
                          <a:cs typeface="Arial"/>
                        </a:rPr>
                        <a:t>[3:0]</a:t>
                      </a:r>
                      <a:endParaRPr sz="7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56515">
                        <a:lnSpc>
                          <a:spcPct val="100000"/>
                        </a:lnSpc>
                        <a:spcBef>
                          <a:spcPts val="270"/>
                        </a:spcBef>
                      </a:pPr>
                      <a:r>
                        <a:rPr sz="700" spc="-10" dirty="0">
                          <a:latin typeface="Arial"/>
                          <a:cs typeface="Arial"/>
                        </a:rPr>
                        <a:t>SIGN</a:t>
                      </a:r>
                      <a:endParaRPr sz="7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869315">
                        <a:lnSpc>
                          <a:spcPct val="100000"/>
                        </a:lnSpc>
                        <a:spcBef>
                          <a:spcPts val="250"/>
                        </a:spcBef>
                      </a:pPr>
                      <a:r>
                        <a:rPr sz="700" spc="-5" dirty="0">
                          <a:latin typeface="Arial"/>
                          <a:cs typeface="Arial"/>
                        </a:rPr>
                        <a:t>DAC_OFS_CH21</a:t>
                      </a:r>
                      <a:r>
                        <a:rPr sz="700" spc="-40" dirty="0">
                          <a:latin typeface="Arial"/>
                          <a:cs typeface="Arial"/>
                        </a:rPr>
                        <a:t> </a:t>
                      </a:r>
                      <a:r>
                        <a:rPr sz="700" spc="-5" dirty="0">
                          <a:latin typeface="Arial"/>
                          <a:cs typeface="Arial"/>
                        </a:rPr>
                        <a:t>[7:0]</a:t>
                      </a:r>
                      <a:endParaRPr sz="700" dirty="0">
                        <a:latin typeface="Arial"/>
                        <a:cs typeface="Arial"/>
                      </a:endParaRPr>
                    </a:p>
                  </a:txBody>
                  <a:tcPr marL="0" marR="0" marT="3175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extLst>
                  <a:ext uri="{0D108BD9-81ED-4DB2-BD59-A6C34878D82A}">
                    <a16:rowId xmlns:a16="http://schemas.microsoft.com/office/drawing/2014/main" val="10000"/>
                  </a:ext>
                </a:extLst>
              </a:tr>
            </a:tbl>
          </a:graphicData>
        </a:graphic>
      </p:graphicFrame>
      <p:graphicFrame>
        <p:nvGraphicFramePr>
          <p:cNvPr id="23" name="object 23"/>
          <p:cNvGraphicFramePr>
            <a:graphicFrameLocks noGrp="1"/>
          </p:cNvGraphicFramePr>
          <p:nvPr>
            <p:extLst>
              <p:ext uri="{D42A27DB-BD31-4B8C-83A1-F6EECF244321}">
                <p14:modId xmlns:p14="http://schemas.microsoft.com/office/powerpoint/2010/main" val="3750831293"/>
              </p:ext>
            </p:extLst>
          </p:nvPr>
        </p:nvGraphicFramePr>
        <p:xfrm>
          <a:off x="400914" y="6209601"/>
          <a:ext cx="6038543" cy="178435"/>
        </p:xfrm>
        <a:graphic>
          <a:graphicData uri="http://schemas.openxmlformats.org/drawingml/2006/table">
            <a:tbl>
              <a:tblPr firstRow="1" bandRow="1">
                <a:tableStyleId>{2D5ABB26-0587-4C30-8999-92F81FD0307C}</a:tableStyleId>
              </a:tblPr>
              <a:tblGrid>
                <a:gridCol w="412525">
                  <a:extLst>
                    <a:ext uri="{9D8B030D-6E8A-4147-A177-3AD203B41FA5}">
                      <a16:colId xmlns:a16="http://schemas.microsoft.com/office/drawing/2014/main" val="20000"/>
                    </a:ext>
                  </a:extLst>
                </a:gridCol>
                <a:gridCol w="474746">
                  <a:extLst>
                    <a:ext uri="{9D8B030D-6E8A-4147-A177-3AD203B41FA5}">
                      <a16:colId xmlns:a16="http://schemas.microsoft.com/office/drawing/2014/main" val="20001"/>
                    </a:ext>
                  </a:extLst>
                </a:gridCol>
                <a:gridCol w="322304">
                  <a:extLst>
                    <a:ext uri="{9D8B030D-6E8A-4147-A177-3AD203B41FA5}">
                      <a16:colId xmlns:a16="http://schemas.microsoft.com/office/drawing/2014/main" val="20002"/>
                    </a:ext>
                  </a:extLst>
                </a:gridCol>
                <a:gridCol w="322305">
                  <a:extLst>
                    <a:ext uri="{9D8B030D-6E8A-4147-A177-3AD203B41FA5}">
                      <a16:colId xmlns:a16="http://schemas.microsoft.com/office/drawing/2014/main" val="20003"/>
                    </a:ext>
                  </a:extLst>
                </a:gridCol>
                <a:gridCol w="322305">
                  <a:extLst>
                    <a:ext uri="{9D8B030D-6E8A-4147-A177-3AD203B41FA5}">
                      <a16:colId xmlns:a16="http://schemas.microsoft.com/office/drawing/2014/main" val="20004"/>
                    </a:ext>
                  </a:extLst>
                </a:gridCol>
                <a:gridCol w="1287351">
                  <a:extLst>
                    <a:ext uri="{9D8B030D-6E8A-4147-A177-3AD203B41FA5}">
                      <a16:colId xmlns:a16="http://schemas.microsoft.com/office/drawing/2014/main" val="20005"/>
                    </a:ext>
                  </a:extLst>
                </a:gridCol>
                <a:gridCol w="322304">
                  <a:extLst>
                    <a:ext uri="{9D8B030D-6E8A-4147-A177-3AD203B41FA5}">
                      <a16:colId xmlns:a16="http://schemas.microsoft.com/office/drawing/2014/main" val="20006"/>
                    </a:ext>
                  </a:extLst>
                </a:gridCol>
                <a:gridCol w="2574703">
                  <a:extLst>
                    <a:ext uri="{9D8B030D-6E8A-4147-A177-3AD203B41FA5}">
                      <a16:colId xmlns:a16="http://schemas.microsoft.com/office/drawing/2014/main" val="20007"/>
                    </a:ext>
                  </a:extLst>
                </a:gridCol>
              </a:tblGrid>
              <a:tr h="178435">
                <a:tc>
                  <a:txBody>
                    <a:bodyPr/>
                    <a:lstStyle/>
                    <a:p>
                      <a:pPr marL="126364">
                        <a:lnSpc>
                          <a:spcPct val="100000"/>
                        </a:lnSpc>
                        <a:spcBef>
                          <a:spcPts val="275"/>
                        </a:spcBef>
                      </a:pPr>
                      <a:r>
                        <a:rPr sz="700" spc="-10" dirty="0">
                          <a:latin typeface="Arial"/>
                          <a:cs typeface="Arial"/>
                        </a:rPr>
                        <a:t>‘h56</a:t>
                      </a:r>
                      <a:endParaRPr sz="700" dirty="0">
                        <a:latin typeface="Arial"/>
                        <a:cs typeface="Arial"/>
                      </a:endParaRPr>
                    </a:p>
                  </a:txBody>
                  <a:tcPr marL="0" marR="0" marT="3492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635" algn="ctr">
                        <a:lnSpc>
                          <a:spcPct val="100000"/>
                        </a:lnSpc>
                        <a:spcBef>
                          <a:spcPts val="275"/>
                        </a:spcBef>
                      </a:pPr>
                      <a:r>
                        <a:rPr sz="700" dirty="0">
                          <a:latin typeface="Arial"/>
                          <a:cs typeface="Arial"/>
                        </a:rPr>
                        <a:t>0</a:t>
                      </a:r>
                    </a:p>
                  </a:txBody>
                  <a:tcPr marL="0" marR="0" marT="3492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2540" algn="ctr">
                        <a:lnSpc>
                          <a:spcPct val="100000"/>
                        </a:lnSpc>
                        <a:spcBef>
                          <a:spcPts val="250"/>
                        </a:spcBef>
                      </a:pPr>
                      <a:r>
                        <a:rPr sz="700" dirty="0">
                          <a:latin typeface="Arial"/>
                          <a:cs typeface="Arial"/>
                        </a:rPr>
                        <a:t>x</a:t>
                      </a:r>
                    </a:p>
                  </a:txBody>
                  <a:tcPr marL="0" marR="0" marT="3175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2540" algn="ctr">
                        <a:lnSpc>
                          <a:spcPct val="100000"/>
                        </a:lnSpc>
                        <a:spcBef>
                          <a:spcPts val="275"/>
                        </a:spcBef>
                      </a:pPr>
                      <a:r>
                        <a:rPr sz="700" dirty="0">
                          <a:latin typeface="Arial"/>
                          <a:cs typeface="Arial"/>
                        </a:rPr>
                        <a:t>x</a:t>
                      </a:r>
                    </a:p>
                  </a:txBody>
                  <a:tcPr marL="0" marR="0" marT="3492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2540" algn="ctr">
                        <a:lnSpc>
                          <a:spcPct val="100000"/>
                        </a:lnSpc>
                        <a:spcBef>
                          <a:spcPts val="250"/>
                        </a:spcBef>
                      </a:pPr>
                      <a:r>
                        <a:rPr sz="700" dirty="0">
                          <a:latin typeface="Arial"/>
                          <a:cs typeface="Arial"/>
                        </a:rPr>
                        <a:t>x</a:t>
                      </a:r>
                    </a:p>
                  </a:txBody>
                  <a:tcPr marL="0" marR="0" marT="3175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187960">
                        <a:lnSpc>
                          <a:spcPct val="100000"/>
                        </a:lnSpc>
                        <a:spcBef>
                          <a:spcPts val="275"/>
                        </a:spcBef>
                      </a:pPr>
                      <a:r>
                        <a:rPr sz="700" spc="-5" dirty="0">
                          <a:latin typeface="Arial"/>
                          <a:cs typeface="Arial"/>
                        </a:rPr>
                        <a:t>DAC_LOFS_CH22</a:t>
                      </a:r>
                      <a:r>
                        <a:rPr sz="700" spc="-40" dirty="0">
                          <a:latin typeface="Arial"/>
                          <a:cs typeface="Arial"/>
                        </a:rPr>
                        <a:t> </a:t>
                      </a:r>
                      <a:r>
                        <a:rPr sz="700" spc="-5" dirty="0">
                          <a:latin typeface="Arial"/>
                          <a:cs typeface="Arial"/>
                        </a:rPr>
                        <a:t>[3:0]</a:t>
                      </a:r>
                      <a:endParaRPr sz="700" dirty="0">
                        <a:latin typeface="Arial"/>
                        <a:cs typeface="Arial"/>
                      </a:endParaRPr>
                    </a:p>
                  </a:txBody>
                  <a:tcPr marL="0" marR="0" marT="3492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56515">
                        <a:lnSpc>
                          <a:spcPct val="100000"/>
                        </a:lnSpc>
                        <a:spcBef>
                          <a:spcPts val="275"/>
                        </a:spcBef>
                      </a:pPr>
                      <a:r>
                        <a:rPr sz="700" spc="-10" dirty="0">
                          <a:latin typeface="Arial"/>
                          <a:cs typeface="Arial"/>
                        </a:rPr>
                        <a:t>SIGN</a:t>
                      </a:r>
                      <a:endParaRPr sz="700" dirty="0">
                        <a:latin typeface="Arial"/>
                        <a:cs typeface="Arial"/>
                      </a:endParaRPr>
                    </a:p>
                  </a:txBody>
                  <a:tcPr marL="0" marR="0" marT="3492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869315">
                        <a:lnSpc>
                          <a:spcPct val="100000"/>
                        </a:lnSpc>
                        <a:spcBef>
                          <a:spcPts val="250"/>
                        </a:spcBef>
                      </a:pPr>
                      <a:r>
                        <a:rPr sz="700" spc="-5" dirty="0">
                          <a:latin typeface="Arial"/>
                          <a:cs typeface="Arial"/>
                        </a:rPr>
                        <a:t>DAC_OFS_CH22</a:t>
                      </a:r>
                      <a:r>
                        <a:rPr sz="700" spc="-40" dirty="0">
                          <a:latin typeface="Arial"/>
                          <a:cs typeface="Arial"/>
                        </a:rPr>
                        <a:t> </a:t>
                      </a:r>
                      <a:r>
                        <a:rPr sz="700" spc="-5" dirty="0">
                          <a:latin typeface="Arial"/>
                          <a:cs typeface="Arial"/>
                        </a:rPr>
                        <a:t>[7:0]</a:t>
                      </a:r>
                      <a:endParaRPr sz="700" dirty="0">
                        <a:latin typeface="Arial"/>
                        <a:cs typeface="Arial"/>
                      </a:endParaRPr>
                    </a:p>
                  </a:txBody>
                  <a:tcPr marL="0" marR="0" marT="3175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extLst>
                  <a:ext uri="{0D108BD9-81ED-4DB2-BD59-A6C34878D82A}">
                    <a16:rowId xmlns:a16="http://schemas.microsoft.com/office/drawing/2014/main" val="10000"/>
                  </a:ext>
                </a:extLst>
              </a:tr>
            </a:tbl>
          </a:graphicData>
        </a:graphic>
      </p:graphicFrame>
      <p:graphicFrame>
        <p:nvGraphicFramePr>
          <p:cNvPr id="24" name="object 24"/>
          <p:cNvGraphicFramePr>
            <a:graphicFrameLocks noGrp="1"/>
          </p:cNvGraphicFramePr>
          <p:nvPr>
            <p:extLst>
              <p:ext uri="{D42A27DB-BD31-4B8C-83A1-F6EECF244321}">
                <p14:modId xmlns:p14="http://schemas.microsoft.com/office/powerpoint/2010/main" val="3997063095"/>
              </p:ext>
            </p:extLst>
          </p:nvPr>
        </p:nvGraphicFramePr>
        <p:xfrm>
          <a:off x="400914" y="6440106"/>
          <a:ext cx="6038543" cy="178435"/>
        </p:xfrm>
        <a:graphic>
          <a:graphicData uri="http://schemas.openxmlformats.org/drawingml/2006/table">
            <a:tbl>
              <a:tblPr firstRow="1" bandRow="1">
                <a:tableStyleId>{2D5ABB26-0587-4C30-8999-92F81FD0307C}</a:tableStyleId>
              </a:tblPr>
              <a:tblGrid>
                <a:gridCol w="412525">
                  <a:extLst>
                    <a:ext uri="{9D8B030D-6E8A-4147-A177-3AD203B41FA5}">
                      <a16:colId xmlns:a16="http://schemas.microsoft.com/office/drawing/2014/main" val="20000"/>
                    </a:ext>
                  </a:extLst>
                </a:gridCol>
                <a:gridCol w="474746">
                  <a:extLst>
                    <a:ext uri="{9D8B030D-6E8A-4147-A177-3AD203B41FA5}">
                      <a16:colId xmlns:a16="http://schemas.microsoft.com/office/drawing/2014/main" val="20001"/>
                    </a:ext>
                  </a:extLst>
                </a:gridCol>
                <a:gridCol w="322304">
                  <a:extLst>
                    <a:ext uri="{9D8B030D-6E8A-4147-A177-3AD203B41FA5}">
                      <a16:colId xmlns:a16="http://schemas.microsoft.com/office/drawing/2014/main" val="20002"/>
                    </a:ext>
                  </a:extLst>
                </a:gridCol>
                <a:gridCol w="322305">
                  <a:extLst>
                    <a:ext uri="{9D8B030D-6E8A-4147-A177-3AD203B41FA5}">
                      <a16:colId xmlns:a16="http://schemas.microsoft.com/office/drawing/2014/main" val="20003"/>
                    </a:ext>
                  </a:extLst>
                </a:gridCol>
                <a:gridCol w="322305">
                  <a:extLst>
                    <a:ext uri="{9D8B030D-6E8A-4147-A177-3AD203B41FA5}">
                      <a16:colId xmlns:a16="http://schemas.microsoft.com/office/drawing/2014/main" val="20004"/>
                    </a:ext>
                  </a:extLst>
                </a:gridCol>
                <a:gridCol w="1287351">
                  <a:extLst>
                    <a:ext uri="{9D8B030D-6E8A-4147-A177-3AD203B41FA5}">
                      <a16:colId xmlns:a16="http://schemas.microsoft.com/office/drawing/2014/main" val="20005"/>
                    </a:ext>
                  </a:extLst>
                </a:gridCol>
                <a:gridCol w="322304">
                  <a:extLst>
                    <a:ext uri="{9D8B030D-6E8A-4147-A177-3AD203B41FA5}">
                      <a16:colId xmlns:a16="http://schemas.microsoft.com/office/drawing/2014/main" val="20006"/>
                    </a:ext>
                  </a:extLst>
                </a:gridCol>
                <a:gridCol w="2574703">
                  <a:extLst>
                    <a:ext uri="{9D8B030D-6E8A-4147-A177-3AD203B41FA5}">
                      <a16:colId xmlns:a16="http://schemas.microsoft.com/office/drawing/2014/main" val="20007"/>
                    </a:ext>
                  </a:extLst>
                </a:gridCol>
              </a:tblGrid>
              <a:tr h="178435">
                <a:tc>
                  <a:txBody>
                    <a:bodyPr/>
                    <a:lstStyle/>
                    <a:p>
                      <a:pPr marL="126364">
                        <a:lnSpc>
                          <a:spcPct val="100000"/>
                        </a:lnSpc>
                        <a:spcBef>
                          <a:spcPts val="270"/>
                        </a:spcBef>
                      </a:pPr>
                      <a:r>
                        <a:rPr sz="700" spc="-10" dirty="0">
                          <a:latin typeface="Arial"/>
                          <a:cs typeface="Arial"/>
                        </a:rPr>
                        <a:t>‘h57</a:t>
                      </a:r>
                      <a:endParaRPr sz="7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635" algn="ctr">
                        <a:lnSpc>
                          <a:spcPct val="100000"/>
                        </a:lnSpc>
                        <a:spcBef>
                          <a:spcPts val="270"/>
                        </a:spcBef>
                      </a:pPr>
                      <a:r>
                        <a:rPr sz="700" dirty="0">
                          <a:latin typeface="Arial"/>
                          <a:cs typeface="Arial"/>
                        </a:rPr>
                        <a:t>0</a:t>
                      </a: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2540" algn="ctr">
                        <a:lnSpc>
                          <a:spcPct val="100000"/>
                        </a:lnSpc>
                        <a:spcBef>
                          <a:spcPts val="250"/>
                        </a:spcBef>
                      </a:pPr>
                      <a:r>
                        <a:rPr sz="700" dirty="0">
                          <a:latin typeface="Arial"/>
                          <a:cs typeface="Arial"/>
                        </a:rPr>
                        <a:t>x</a:t>
                      </a:r>
                    </a:p>
                  </a:txBody>
                  <a:tcPr marL="0" marR="0" marT="3175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2540" algn="ctr">
                        <a:lnSpc>
                          <a:spcPct val="100000"/>
                        </a:lnSpc>
                        <a:spcBef>
                          <a:spcPts val="270"/>
                        </a:spcBef>
                      </a:pPr>
                      <a:r>
                        <a:rPr sz="700" dirty="0">
                          <a:latin typeface="Arial"/>
                          <a:cs typeface="Arial"/>
                        </a:rPr>
                        <a:t>x</a:t>
                      </a: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2540" algn="ctr">
                        <a:lnSpc>
                          <a:spcPct val="100000"/>
                        </a:lnSpc>
                        <a:spcBef>
                          <a:spcPts val="250"/>
                        </a:spcBef>
                      </a:pPr>
                      <a:r>
                        <a:rPr sz="700" dirty="0">
                          <a:latin typeface="Arial"/>
                          <a:cs typeface="Arial"/>
                        </a:rPr>
                        <a:t>x</a:t>
                      </a:r>
                    </a:p>
                  </a:txBody>
                  <a:tcPr marL="0" marR="0" marT="3175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187960">
                        <a:lnSpc>
                          <a:spcPct val="100000"/>
                        </a:lnSpc>
                        <a:spcBef>
                          <a:spcPts val="270"/>
                        </a:spcBef>
                      </a:pPr>
                      <a:r>
                        <a:rPr sz="700" spc="-5" dirty="0">
                          <a:latin typeface="Arial"/>
                          <a:cs typeface="Arial"/>
                        </a:rPr>
                        <a:t>DAC_LOFS_CH23</a:t>
                      </a:r>
                      <a:r>
                        <a:rPr sz="700" spc="-40" dirty="0">
                          <a:latin typeface="Arial"/>
                          <a:cs typeface="Arial"/>
                        </a:rPr>
                        <a:t> </a:t>
                      </a:r>
                      <a:r>
                        <a:rPr sz="700" spc="-5" dirty="0">
                          <a:latin typeface="Arial"/>
                          <a:cs typeface="Arial"/>
                        </a:rPr>
                        <a:t>[3:0]</a:t>
                      </a:r>
                      <a:endParaRPr sz="7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56515">
                        <a:lnSpc>
                          <a:spcPct val="100000"/>
                        </a:lnSpc>
                        <a:spcBef>
                          <a:spcPts val="270"/>
                        </a:spcBef>
                      </a:pPr>
                      <a:r>
                        <a:rPr sz="700" spc="-10" dirty="0">
                          <a:latin typeface="Arial"/>
                          <a:cs typeface="Arial"/>
                        </a:rPr>
                        <a:t>SIGN</a:t>
                      </a:r>
                      <a:endParaRPr sz="7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869315">
                        <a:lnSpc>
                          <a:spcPct val="100000"/>
                        </a:lnSpc>
                        <a:spcBef>
                          <a:spcPts val="250"/>
                        </a:spcBef>
                      </a:pPr>
                      <a:r>
                        <a:rPr sz="700" spc="-5" dirty="0">
                          <a:latin typeface="Arial"/>
                          <a:cs typeface="Arial"/>
                        </a:rPr>
                        <a:t>DAC_OFS_CH23</a:t>
                      </a:r>
                      <a:r>
                        <a:rPr sz="700" spc="-40" dirty="0">
                          <a:latin typeface="Arial"/>
                          <a:cs typeface="Arial"/>
                        </a:rPr>
                        <a:t> </a:t>
                      </a:r>
                      <a:r>
                        <a:rPr sz="700" spc="-5" dirty="0">
                          <a:latin typeface="Arial"/>
                          <a:cs typeface="Arial"/>
                        </a:rPr>
                        <a:t>[7:0]</a:t>
                      </a:r>
                      <a:endParaRPr sz="700" dirty="0">
                        <a:latin typeface="Arial"/>
                        <a:cs typeface="Arial"/>
                      </a:endParaRPr>
                    </a:p>
                  </a:txBody>
                  <a:tcPr marL="0" marR="0" marT="3175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extLst>
                  <a:ext uri="{0D108BD9-81ED-4DB2-BD59-A6C34878D82A}">
                    <a16:rowId xmlns:a16="http://schemas.microsoft.com/office/drawing/2014/main" val="10000"/>
                  </a:ext>
                </a:extLst>
              </a:tr>
            </a:tbl>
          </a:graphicData>
        </a:graphic>
      </p:graphicFrame>
      <p:graphicFrame>
        <p:nvGraphicFramePr>
          <p:cNvPr id="25" name="object 25"/>
          <p:cNvGraphicFramePr>
            <a:graphicFrameLocks noGrp="1"/>
          </p:cNvGraphicFramePr>
          <p:nvPr>
            <p:extLst>
              <p:ext uri="{D42A27DB-BD31-4B8C-83A1-F6EECF244321}">
                <p14:modId xmlns:p14="http://schemas.microsoft.com/office/powerpoint/2010/main" val="790872457"/>
              </p:ext>
            </p:extLst>
          </p:nvPr>
        </p:nvGraphicFramePr>
        <p:xfrm>
          <a:off x="400914" y="6670611"/>
          <a:ext cx="6038543" cy="178435"/>
        </p:xfrm>
        <a:graphic>
          <a:graphicData uri="http://schemas.openxmlformats.org/drawingml/2006/table">
            <a:tbl>
              <a:tblPr firstRow="1" bandRow="1">
                <a:tableStyleId>{2D5ABB26-0587-4C30-8999-92F81FD0307C}</a:tableStyleId>
              </a:tblPr>
              <a:tblGrid>
                <a:gridCol w="412525">
                  <a:extLst>
                    <a:ext uri="{9D8B030D-6E8A-4147-A177-3AD203B41FA5}">
                      <a16:colId xmlns:a16="http://schemas.microsoft.com/office/drawing/2014/main" val="20000"/>
                    </a:ext>
                  </a:extLst>
                </a:gridCol>
                <a:gridCol w="474746">
                  <a:extLst>
                    <a:ext uri="{9D8B030D-6E8A-4147-A177-3AD203B41FA5}">
                      <a16:colId xmlns:a16="http://schemas.microsoft.com/office/drawing/2014/main" val="20001"/>
                    </a:ext>
                  </a:extLst>
                </a:gridCol>
                <a:gridCol w="322304">
                  <a:extLst>
                    <a:ext uri="{9D8B030D-6E8A-4147-A177-3AD203B41FA5}">
                      <a16:colId xmlns:a16="http://schemas.microsoft.com/office/drawing/2014/main" val="20002"/>
                    </a:ext>
                  </a:extLst>
                </a:gridCol>
                <a:gridCol w="322305">
                  <a:extLst>
                    <a:ext uri="{9D8B030D-6E8A-4147-A177-3AD203B41FA5}">
                      <a16:colId xmlns:a16="http://schemas.microsoft.com/office/drawing/2014/main" val="20003"/>
                    </a:ext>
                  </a:extLst>
                </a:gridCol>
                <a:gridCol w="322305">
                  <a:extLst>
                    <a:ext uri="{9D8B030D-6E8A-4147-A177-3AD203B41FA5}">
                      <a16:colId xmlns:a16="http://schemas.microsoft.com/office/drawing/2014/main" val="20004"/>
                    </a:ext>
                  </a:extLst>
                </a:gridCol>
                <a:gridCol w="1287351">
                  <a:extLst>
                    <a:ext uri="{9D8B030D-6E8A-4147-A177-3AD203B41FA5}">
                      <a16:colId xmlns:a16="http://schemas.microsoft.com/office/drawing/2014/main" val="20005"/>
                    </a:ext>
                  </a:extLst>
                </a:gridCol>
                <a:gridCol w="322304">
                  <a:extLst>
                    <a:ext uri="{9D8B030D-6E8A-4147-A177-3AD203B41FA5}">
                      <a16:colId xmlns:a16="http://schemas.microsoft.com/office/drawing/2014/main" val="20006"/>
                    </a:ext>
                  </a:extLst>
                </a:gridCol>
                <a:gridCol w="2574703">
                  <a:extLst>
                    <a:ext uri="{9D8B030D-6E8A-4147-A177-3AD203B41FA5}">
                      <a16:colId xmlns:a16="http://schemas.microsoft.com/office/drawing/2014/main" val="20007"/>
                    </a:ext>
                  </a:extLst>
                </a:gridCol>
              </a:tblGrid>
              <a:tr h="178435">
                <a:tc>
                  <a:txBody>
                    <a:bodyPr/>
                    <a:lstStyle/>
                    <a:p>
                      <a:pPr marL="126364">
                        <a:lnSpc>
                          <a:spcPct val="100000"/>
                        </a:lnSpc>
                        <a:spcBef>
                          <a:spcPts val="275"/>
                        </a:spcBef>
                      </a:pPr>
                      <a:r>
                        <a:rPr sz="700" spc="-10" dirty="0">
                          <a:latin typeface="Arial"/>
                          <a:cs typeface="Arial"/>
                        </a:rPr>
                        <a:t>‘h58</a:t>
                      </a:r>
                      <a:endParaRPr sz="700" dirty="0">
                        <a:latin typeface="Arial"/>
                        <a:cs typeface="Arial"/>
                      </a:endParaRPr>
                    </a:p>
                  </a:txBody>
                  <a:tcPr marL="0" marR="0" marT="3492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635" algn="ctr">
                        <a:lnSpc>
                          <a:spcPct val="100000"/>
                        </a:lnSpc>
                        <a:spcBef>
                          <a:spcPts val="275"/>
                        </a:spcBef>
                      </a:pPr>
                      <a:r>
                        <a:rPr sz="700" dirty="0">
                          <a:latin typeface="Arial"/>
                          <a:cs typeface="Arial"/>
                        </a:rPr>
                        <a:t>0</a:t>
                      </a:r>
                    </a:p>
                  </a:txBody>
                  <a:tcPr marL="0" marR="0" marT="3492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2540" algn="ctr">
                        <a:lnSpc>
                          <a:spcPct val="100000"/>
                        </a:lnSpc>
                        <a:spcBef>
                          <a:spcPts val="250"/>
                        </a:spcBef>
                      </a:pPr>
                      <a:r>
                        <a:rPr sz="700" dirty="0">
                          <a:latin typeface="Arial"/>
                          <a:cs typeface="Arial"/>
                        </a:rPr>
                        <a:t>x</a:t>
                      </a:r>
                    </a:p>
                  </a:txBody>
                  <a:tcPr marL="0" marR="0" marT="3175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2540" algn="ctr">
                        <a:lnSpc>
                          <a:spcPct val="100000"/>
                        </a:lnSpc>
                        <a:spcBef>
                          <a:spcPts val="275"/>
                        </a:spcBef>
                      </a:pPr>
                      <a:r>
                        <a:rPr sz="700" dirty="0">
                          <a:latin typeface="Arial"/>
                          <a:cs typeface="Arial"/>
                        </a:rPr>
                        <a:t>x</a:t>
                      </a:r>
                    </a:p>
                  </a:txBody>
                  <a:tcPr marL="0" marR="0" marT="3492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2540" algn="ctr">
                        <a:lnSpc>
                          <a:spcPct val="100000"/>
                        </a:lnSpc>
                        <a:spcBef>
                          <a:spcPts val="250"/>
                        </a:spcBef>
                      </a:pPr>
                      <a:r>
                        <a:rPr sz="700" dirty="0">
                          <a:latin typeface="Arial"/>
                          <a:cs typeface="Arial"/>
                        </a:rPr>
                        <a:t>x</a:t>
                      </a:r>
                    </a:p>
                  </a:txBody>
                  <a:tcPr marL="0" marR="0" marT="3175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187960">
                        <a:lnSpc>
                          <a:spcPct val="100000"/>
                        </a:lnSpc>
                        <a:spcBef>
                          <a:spcPts val="275"/>
                        </a:spcBef>
                      </a:pPr>
                      <a:r>
                        <a:rPr sz="700" spc="-5" dirty="0">
                          <a:latin typeface="Arial"/>
                          <a:cs typeface="Arial"/>
                        </a:rPr>
                        <a:t>DAC_LOFS_CH24</a:t>
                      </a:r>
                      <a:r>
                        <a:rPr sz="700" spc="-40" dirty="0">
                          <a:latin typeface="Arial"/>
                          <a:cs typeface="Arial"/>
                        </a:rPr>
                        <a:t> </a:t>
                      </a:r>
                      <a:r>
                        <a:rPr sz="700" spc="-5" dirty="0">
                          <a:latin typeface="Arial"/>
                          <a:cs typeface="Arial"/>
                        </a:rPr>
                        <a:t>[3:0]</a:t>
                      </a:r>
                      <a:endParaRPr sz="700" dirty="0">
                        <a:latin typeface="Arial"/>
                        <a:cs typeface="Arial"/>
                      </a:endParaRPr>
                    </a:p>
                  </a:txBody>
                  <a:tcPr marL="0" marR="0" marT="3492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56515">
                        <a:lnSpc>
                          <a:spcPct val="100000"/>
                        </a:lnSpc>
                        <a:spcBef>
                          <a:spcPts val="275"/>
                        </a:spcBef>
                      </a:pPr>
                      <a:r>
                        <a:rPr sz="700" spc="-10" dirty="0">
                          <a:latin typeface="Arial"/>
                          <a:cs typeface="Arial"/>
                        </a:rPr>
                        <a:t>SIGN</a:t>
                      </a:r>
                      <a:endParaRPr sz="700" dirty="0">
                        <a:latin typeface="Arial"/>
                        <a:cs typeface="Arial"/>
                      </a:endParaRPr>
                    </a:p>
                  </a:txBody>
                  <a:tcPr marL="0" marR="0" marT="3492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869315">
                        <a:lnSpc>
                          <a:spcPct val="100000"/>
                        </a:lnSpc>
                        <a:spcBef>
                          <a:spcPts val="250"/>
                        </a:spcBef>
                      </a:pPr>
                      <a:r>
                        <a:rPr sz="700" spc="-5" dirty="0">
                          <a:latin typeface="Arial"/>
                          <a:cs typeface="Arial"/>
                        </a:rPr>
                        <a:t>DAC_OFS_CH24</a:t>
                      </a:r>
                      <a:r>
                        <a:rPr sz="700" spc="-40" dirty="0">
                          <a:latin typeface="Arial"/>
                          <a:cs typeface="Arial"/>
                        </a:rPr>
                        <a:t> </a:t>
                      </a:r>
                      <a:r>
                        <a:rPr sz="700" spc="-5" dirty="0">
                          <a:latin typeface="Arial"/>
                          <a:cs typeface="Arial"/>
                        </a:rPr>
                        <a:t>[7:0]</a:t>
                      </a:r>
                      <a:endParaRPr sz="700" dirty="0">
                        <a:latin typeface="Arial"/>
                        <a:cs typeface="Arial"/>
                      </a:endParaRPr>
                    </a:p>
                  </a:txBody>
                  <a:tcPr marL="0" marR="0" marT="3175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extLst>
                  <a:ext uri="{0D108BD9-81ED-4DB2-BD59-A6C34878D82A}">
                    <a16:rowId xmlns:a16="http://schemas.microsoft.com/office/drawing/2014/main" val="10000"/>
                  </a:ext>
                </a:extLst>
              </a:tr>
            </a:tbl>
          </a:graphicData>
        </a:graphic>
      </p:graphicFrame>
      <p:sp>
        <p:nvSpPr>
          <p:cNvPr id="29" name="object 9">
            <a:extLst>
              <a:ext uri="{FF2B5EF4-FFF2-40B4-BE49-F238E27FC236}">
                <a16:creationId xmlns:a16="http://schemas.microsoft.com/office/drawing/2014/main" id="{FCD4000B-C042-9E51-7DF3-2457421F695C}"/>
              </a:ext>
            </a:extLst>
          </p:cNvPr>
          <p:cNvSpPr txBox="1"/>
          <p:nvPr/>
        </p:nvSpPr>
        <p:spPr>
          <a:xfrm>
            <a:off x="304800" y="9067800"/>
            <a:ext cx="2078355" cy="289823"/>
          </a:xfrm>
          <a:prstGeom prst="rect">
            <a:avLst/>
          </a:prstGeom>
        </p:spPr>
        <p:txBody>
          <a:bodyPr vert="horz" wrap="square" lIns="0" tIns="12700" rIns="0" bIns="0" rtlCol="0">
            <a:spAutoFit/>
          </a:bodyPr>
          <a:lstStyle/>
          <a:p>
            <a:pPr marL="12700">
              <a:lnSpc>
                <a:spcPct val="100000"/>
              </a:lnSpc>
              <a:spcBef>
                <a:spcPts val="100"/>
              </a:spcBef>
            </a:pPr>
            <a:r>
              <a:rPr b="1" spc="-5" dirty="0">
                <a:solidFill>
                  <a:srgbClr val="FF0000"/>
                </a:solidFill>
                <a:cs typeface="Perpetua Titling MT"/>
              </a:rPr>
              <a:t>CONFIDENTIAL</a:t>
            </a:r>
            <a:endParaRPr dirty="0">
              <a:cs typeface="Perpetua Titling MT"/>
            </a:endParaRPr>
          </a:p>
        </p:txBody>
      </p:sp>
      <p:sp>
        <p:nvSpPr>
          <p:cNvPr id="30" name="object 6">
            <a:extLst>
              <a:ext uri="{FF2B5EF4-FFF2-40B4-BE49-F238E27FC236}">
                <a16:creationId xmlns:a16="http://schemas.microsoft.com/office/drawing/2014/main" id="{A68655B1-3AAD-E6FD-60D5-CA5D5EA58AC8}"/>
              </a:ext>
            </a:extLst>
          </p:cNvPr>
          <p:cNvSpPr/>
          <p:nvPr/>
        </p:nvSpPr>
        <p:spPr>
          <a:xfrm>
            <a:off x="301676" y="9458756"/>
            <a:ext cx="6246495" cy="0"/>
          </a:xfrm>
          <a:custGeom>
            <a:avLst/>
            <a:gdLst/>
            <a:ahLst/>
            <a:cxnLst/>
            <a:rect l="l" t="t" r="r" b="b"/>
            <a:pathLst>
              <a:path w="6246495">
                <a:moveTo>
                  <a:pt x="0" y="0"/>
                </a:moveTo>
                <a:lnTo>
                  <a:pt x="6245999" y="0"/>
                </a:lnTo>
              </a:path>
            </a:pathLst>
          </a:custGeom>
          <a:ln w="25920">
            <a:solidFill>
              <a:srgbClr val="BFBFBF"/>
            </a:solidFill>
          </a:ln>
        </p:spPr>
        <p:txBody>
          <a:bodyPr wrap="square" lIns="0" tIns="0" rIns="0" bIns="0" rtlCol="0"/>
          <a:lstStyle/>
          <a:p>
            <a:endParaRPr/>
          </a:p>
        </p:txBody>
      </p:sp>
      <p:sp>
        <p:nvSpPr>
          <p:cNvPr id="31" name="슬라이드 번호 개체 틀 3">
            <a:hlinkClick r:id="rId2"/>
            <a:extLst>
              <a:ext uri="{FF2B5EF4-FFF2-40B4-BE49-F238E27FC236}">
                <a16:creationId xmlns:a16="http://schemas.microsoft.com/office/drawing/2014/main" id="{F551CE65-7858-EC69-43F5-80004EDE2BEE}"/>
              </a:ext>
            </a:extLst>
          </p:cNvPr>
          <p:cNvSpPr txBox="1">
            <a:spLocks/>
          </p:cNvSpPr>
          <p:nvPr/>
        </p:nvSpPr>
        <p:spPr>
          <a:xfrm>
            <a:off x="5151602" y="9452864"/>
            <a:ext cx="1487550"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dirty="0">
                <a:solidFill>
                  <a:prstClr val="black"/>
                </a:solidFill>
                <a:latin typeface="Arial" panose="020B0604020202020204" pitchFamily="34" charset="0"/>
                <a:cs typeface="Arial" panose="020B0604020202020204" pitchFamily="34" charset="0"/>
              </a:rPr>
              <a:t>http://www.glbltech.com/</a:t>
            </a:r>
            <a:endParaRPr lang="ko-KR" altLang="en-US" dirty="0">
              <a:solidFill>
                <a:prstClr val="black"/>
              </a:solidFill>
              <a:latin typeface="Arial" panose="020B0604020202020204" pitchFamily="34" charset="0"/>
              <a:cs typeface="Arial" panose="020B0604020202020204" pitchFamily="34" charset="0"/>
            </a:endParaRPr>
          </a:p>
        </p:txBody>
      </p:sp>
      <p:sp>
        <p:nvSpPr>
          <p:cNvPr id="32" name="object 38">
            <a:extLst>
              <a:ext uri="{FF2B5EF4-FFF2-40B4-BE49-F238E27FC236}">
                <a16:creationId xmlns:a16="http://schemas.microsoft.com/office/drawing/2014/main" id="{4692D8EA-DE46-FB3B-222A-8B1EA445E248}"/>
              </a:ext>
            </a:extLst>
          </p:cNvPr>
          <p:cNvSpPr txBox="1">
            <a:spLocks/>
          </p:cNvSpPr>
          <p:nvPr/>
        </p:nvSpPr>
        <p:spPr>
          <a:xfrm>
            <a:off x="3309066" y="9547988"/>
            <a:ext cx="487045" cy="139141"/>
          </a:xfrm>
          <a:prstGeom prst="rect">
            <a:avLst/>
          </a:prstGeom>
        </p:spPr>
        <p:txBody>
          <a:bodyPr vert="horz" wrap="square" lIns="0" tIns="635" rIns="0" bIns="0" rtlCol="0">
            <a:spAutoFit/>
          </a:bodyPr>
          <a:lstStyle>
            <a:defPPr>
              <a:defRPr lang="ko-KR"/>
            </a:defPPr>
            <a:lvl1pPr marL="0" algn="l" defTabSz="914400" rtl="0" eaLnBrk="1" latinLnBrk="1" hangingPunct="1">
              <a:defRPr sz="1050" b="0" i="0" kern="1200">
                <a:solidFill>
                  <a:schemeClr val="tx1"/>
                </a:solidFill>
                <a:latin typeface="Arial"/>
                <a:ea typeface="+mn-ea"/>
                <a:cs typeface="Arial"/>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marL="12700">
              <a:spcBef>
                <a:spcPts val="5"/>
              </a:spcBef>
              <a:defRPr/>
            </a:pPr>
            <a:r>
              <a:rPr lang="en-US" sz="900" dirty="0">
                <a:solidFill>
                  <a:prstClr val="black"/>
                </a:solidFill>
              </a:rPr>
              <a:t>Page</a:t>
            </a:r>
            <a:r>
              <a:rPr lang="en-US" sz="900" spc="-60" dirty="0">
                <a:solidFill>
                  <a:prstClr val="black"/>
                </a:solidFill>
              </a:rPr>
              <a:t> </a:t>
            </a:r>
            <a:fld id="{81D60167-4931-47E6-BA6A-407CBD079E47}" type="slidenum">
              <a:rPr sz="900">
                <a:solidFill>
                  <a:prstClr val="black"/>
                </a:solidFill>
              </a:rPr>
              <a:pPr marL="12700">
                <a:spcBef>
                  <a:spcPts val="5"/>
                </a:spcBef>
                <a:defRPr/>
              </a:pPr>
              <a:t>43</a:t>
            </a:fld>
            <a:endParaRPr sz="900" dirty="0">
              <a:solidFill>
                <a:prstClr val="black"/>
              </a:solidFill>
            </a:endParaRPr>
          </a:p>
        </p:txBody>
      </p:sp>
      <p:sp>
        <p:nvSpPr>
          <p:cNvPr id="33" name="슬라이드 번호 개체 틀 3">
            <a:extLst>
              <a:ext uri="{FF2B5EF4-FFF2-40B4-BE49-F238E27FC236}">
                <a16:creationId xmlns:a16="http://schemas.microsoft.com/office/drawing/2014/main" id="{AEAEF8E8-8A5A-7E37-2205-974C2143EB84}"/>
              </a:ext>
            </a:extLst>
          </p:cNvPr>
          <p:cNvSpPr txBox="1">
            <a:spLocks/>
          </p:cNvSpPr>
          <p:nvPr/>
        </p:nvSpPr>
        <p:spPr>
          <a:xfrm>
            <a:off x="299401" y="9520856"/>
            <a:ext cx="2060991" cy="175259"/>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lang="en-US" altLang="ko-KR" dirty="0">
                <a:solidFill>
                  <a:prstClr val="black"/>
                </a:solidFill>
                <a:latin typeface="Arial" panose="020B0604020202020204" pitchFamily="34" charset="0"/>
                <a:cs typeface="Arial" panose="020B0604020202020204" pitchFamily="34" charset="0"/>
              </a:rPr>
              <a:t>Dated 30-Nov 23  Rev. 01</a:t>
            </a:r>
            <a:endParaRPr lang="ko-KR" altLang="en-US" dirty="0">
              <a:solidFill>
                <a:prstClr val="black"/>
              </a:solidFill>
              <a:latin typeface="Arial" panose="020B0604020202020204" pitchFamily="34" charset="0"/>
              <a:cs typeface="Arial" panose="020B0604020202020204" pitchFamily="34" charset="0"/>
            </a:endParaRPr>
          </a:p>
        </p:txBody>
      </p:sp>
      <p:sp>
        <p:nvSpPr>
          <p:cNvPr id="34" name="Holder 3">
            <a:extLst>
              <a:ext uri="{FF2B5EF4-FFF2-40B4-BE49-F238E27FC236}">
                <a16:creationId xmlns:a16="http://schemas.microsoft.com/office/drawing/2014/main" id="{185E09B6-242A-5281-4055-072375BDCCC5}"/>
              </a:ext>
            </a:extLst>
          </p:cNvPr>
          <p:cNvSpPr txBox="1">
            <a:spLocks/>
          </p:cNvSpPr>
          <p:nvPr/>
        </p:nvSpPr>
        <p:spPr>
          <a:xfrm>
            <a:off x="5147476" y="203944"/>
            <a:ext cx="1447800" cy="276999"/>
          </a:xfrm>
          <a:prstGeom prst="rect">
            <a:avLst/>
          </a:prstGeom>
        </p:spPr>
        <p:txBody>
          <a:bodyPr wrap="square" lIns="0" tIns="0" rIns="0" bIns="0">
            <a:spAutoFit/>
          </a:bodyPr>
          <a:lstStyle>
            <a:lvl1pPr marL="0">
              <a:defRPr>
                <a:solidFill>
                  <a:srgbClr val="FF99FF"/>
                </a:solidFill>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defTabSz="914400" latinLnBrk="0"/>
            <a:r>
              <a:rPr lang="en-US" sz="1800" kern="0" dirty="0"/>
              <a:t>&lt;Preliminary&gt;</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p:nvPr/>
        </p:nvSpPr>
        <p:spPr>
          <a:xfrm>
            <a:off x="400913" y="301879"/>
            <a:ext cx="622935" cy="299720"/>
          </a:xfrm>
          <a:prstGeom prst="rect">
            <a:avLst/>
          </a:prstGeom>
        </p:spPr>
        <p:txBody>
          <a:bodyPr vert="horz" wrap="square" lIns="0" tIns="12700" rIns="0" bIns="0" rtlCol="0">
            <a:spAutoFit/>
          </a:bodyPr>
          <a:lstStyle/>
          <a:p>
            <a:pPr marL="12700">
              <a:lnSpc>
                <a:spcPct val="100000"/>
              </a:lnSpc>
              <a:spcBef>
                <a:spcPts val="100"/>
              </a:spcBef>
            </a:pPr>
            <a:r>
              <a:rPr sz="1800" b="1" spc="-5" dirty="0">
                <a:latin typeface="Arial"/>
                <a:cs typeface="Arial"/>
              </a:rPr>
              <a:t>CQ24</a:t>
            </a:r>
            <a:endParaRPr sz="1800" dirty="0">
              <a:latin typeface="Arial"/>
              <a:cs typeface="Arial"/>
            </a:endParaRPr>
          </a:p>
        </p:txBody>
      </p:sp>
      <p:graphicFrame>
        <p:nvGraphicFramePr>
          <p:cNvPr id="5" name="object 5"/>
          <p:cNvGraphicFramePr>
            <a:graphicFrameLocks noGrp="1"/>
          </p:cNvGraphicFramePr>
          <p:nvPr>
            <p:extLst>
              <p:ext uri="{D42A27DB-BD31-4B8C-83A1-F6EECF244321}">
                <p14:modId xmlns:p14="http://schemas.microsoft.com/office/powerpoint/2010/main" val="4272549290"/>
              </p:ext>
            </p:extLst>
          </p:nvPr>
        </p:nvGraphicFramePr>
        <p:xfrm>
          <a:off x="406859" y="1258506"/>
          <a:ext cx="6044141" cy="1246505"/>
        </p:xfrm>
        <a:graphic>
          <a:graphicData uri="http://schemas.openxmlformats.org/drawingml/2006/table">
            <a:tbl>
              <a:tblPr firstRow="1" bandRow="1">
                <a:tableStyleId>{2D5ABB26-0587-4C30-8999-92F81FD0307C}</a:tableStyleId>
              </a:tblPr>
              <a:tblGrid>
                <a:gridCol w="412525">
                  <a:extLst>
                    <a:ext uri="{9D8B030D-6E8A-4147-A177-3AD203B41FA5}">
                      <a16:colId xmlns:a16="http://schemas.microsoft.com/office/drawing/2014/main" val="20000"/>
                    </a:ext>
                  </a:extLst>
                </a:gridCol>
                <a:gridCol w="474746">
                  <a:extLst>
                    <a:ext uri="{9D8B030D-6E8A-4147-A177-3AD203B41FA5}">
                      <a16:colId xmlns:a16="http://schemas.microsoft.com/office/drawing/2014/main" val="20001"/>
                    </a:ext>
                  </a:extLst>
                </a:gridCol>
                <a:gridCol w="322304">
                  <a:extLst>
                    <a:ext uri="{9D8B030D-6E8A-4147-A177-3AD203B41FA5}">
                      <a16:colId xmlns:a16="http://schemas.microsoft.com/office/drawing/2014/main" val="20002"/>
                    </a:ext>
                  </a:extLst>
                </a:gridCol>
                <a:gridCol w="322305">
                  <a:extLst>
                    <a:ext uri="{9D8B030D-6E8A-4147-A177-3AD203B41FA5}">
                      <a16:colId xmlns:a16="http://schemas.microsoft.com/office/drawing/2014/main" val="20003"/>
                    </a:ext>
                  </a:extLst>
                </a:gridCol>
                <a:gridCol w="322305">
                  <a:extLst>
                    <a:ext uri="{9D8B030D-6E8A-4147-A177-3AD203B41FA5}">
                      <a16:colId xmlns:a16="http://schemas.microsoft.com/office/drawing/2014/main" val="20004"/>
                    </a:ext>
                  </a:extLst>
                </a:gridCol>
                <a:gridCol w="322305">
                  <a:extLst>
                    <a:ext uri="{9D8B030D-6E8A-4147-A177-3AD203B41FA5}">
                      <a16:colId xmlns:a16="http://schemas.microsoft.com/office/drawing/2014/main" val="20005"/>
                    </a:ext>
                  </a:extLst>
                </a:gridCol>
                <a:gridCol w="322305">
                  <a:extLst>
                    <a:ext uri="{9D8B030D-6E8A-4147-A177-3AD203B41FA5}">
                      <a16:colId xmlns:a16="http://schemas.microsoft.com/office/drawing/2014/main" val="20006"/>
                    </a:ext>
                  </a:extLst>
                </a:gridCol>
                <a:gridCol w="322305">
                  <a:extLst>
                    <a:ext uri="{9D8B030D-6E8A-4147-A177-3AD203B41FA5}">
                      <a16:colId xmlns:a16="http://schemas.microsoft.com/office/drawing/2014/main" val="20007"/>
                    </a:ext>
                  </a:extLst>
                </a:gridCol>
                <a:gridCol w="322305">
                  <a:extLst>
                    <a:ext uri="{9D8B030D-6E8A-4147-A177-3AD203B41FA5}">
                      <a16:colId xmlns:a16="http://schemas.microsoft.com/office/drawing/2014/main" val="20008"/>
                    </a:ext>
                  </a:extLst>
                </a:gridCol>
                <a:gridCol w="322304">
                  <a:extLst>
                    <a:ext uri="{9D8B030D-6E8A-4147-A177-3AD203B41FA5}">
                      <a16:colId xmlns:a16="http://schemas.microsoft.com/office/drawing/2014/main" val="20009"/>
                    </a:ext>
                  </a:extLst>
                </a:gridCol>
                <a:gridCol w="322304">
                  <a:extLst>
                    <a:ext uri="{9D8B030D-6E8A-4147-A177-3AD203B41FA5}">
                      <a16:colId xmlns:a16="http://schemas.microsoft.com/office/drawing/2014/main" val="20010"/>
                    </a:ext>
                  </a:extLst>
                </a:gridCol>
                <a:gridCol w="322304">
                  <a:extLst>
                    <a:ext uri="{9D8B030D-6E8A-4147-A177-3AD203B41FA5}">
                      <a16:colId xmlns:a16="http://schemas.microsoft.com/office/drawing/2014/main" val="20011"/>
                    </a:ext>
                  </a:extLst>
                </a:gridCol>
                <a:gridCol w="322304">
                  <a:extLst>
                    <a:ext uri="{9D8B030D-6E8A-4147-A177-3AD203B41FA5}">
                      <a16:colId xmlns:a16="http://schemas.microsoft.com/office/drawing/2014/main" val="20012"/>
                    </a:ext>
                  </a:extLst>
                </a:gridCol>
                <a:gridCol w="322304">
                  <a:extLst>
                    <a:ext uri="{9D8B030D-6E8A-4147-A177-3AD203B41FA5}">
                      <a16:colId xmlns:a16="http://schemas.microsoft.com/office/drawing/2014/main" val="20013"/>
                    </a:ext>
                  </a:extLst>
                </a:gridCol>
                <a:gridCol w="322304">
                  <a:extLst>
                    <a:ext uri="{9D8B030D-6E8A-4147-A177-3AD203B41FA5}">
                      <a16:colId xmlns:a16="http://schemas.microsoft.com/office/drawing/2014/main" val="20014"/>
                    </a:ext>
                  </a:extLst>
                </a:gridCol>
                <a:gridCol w="322304">
                  <a:extLst>
                    <a:ext uri="{9D8B030D-6E8A-4147-A177-3AD203B41FA5}">
                      <a16:colId xmlns:a16="http://schemas.microsoft.com/office/drawing/2014/main" val="20015"/>
                    </a:ext>
                  </a:extLst>
                </a:gridCol>
                <a:gridCol w="322304">
                  <a:extLst>
                    <a:ext uri="{9D8B030D-6E8A-4147-A177-3AD203B41FA5}">
                      <a16:colId xmlns:a16="http://schemas.microsoft.com/office/drawing/2014/main" val="20016"/>
                    </a:ext>
                  </a:extLst>
                </a:gridCol>
                <a:gridCol w="322304">
                  <a:extLst>
                    <a:ext uri="{9D8B030D-6E8A-4147-A177-3AD203B41FA5}">
                      <a16:colId xmlns:a16="http://schemas.microsoft.com/office/drawing/2014/main" val="20017"/>
                    </a:ext>
                  </a:extLst>
                </a:gridCol>
              </a:tblGrid>
              <a:tr h="178435">
                <a:tc>
                  <a:txBody>
                    <a:bodyPr/>
                    <a:lstStyle/>
                    <a:p>
                      <a:pPr marL="94615">
                        <a:lnSpc>
                          <a:spcPct val="100000"/>
                        </a:lnSpc>
                        <a:spcBef>
                          <a:spcPts val="265"/>
                        </a:spcBef>
                      </a:pPr>
                      <a:r>
                        <a:rPr sz="700" spc="-5" dirty="0">
                          <a:latin typeface="Arial"/>
                          <a:cs typeface="Arial"/>
                        </a:rPr>
                        <a:t>A[6:0]</a:t>
                      </a:r>
                      <a:endParaRPr sz="7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algn="ctr">
                        <a:lnSpc>
                          <a:spcPct val="100000"/>
                        </a:lnSpc>
                        <a:spcBef>
                          <a:spcPts val="265"/>
                        </a:spcBef>
                      </a:pPr>
                      <a:r>
                        <a:rPr sz="700" spc="-5" dirty="0">
                          <a:latin typeface="Arial"/>
                          <a:cs typeface="Arial"/>
                        </a:rPr>
                        <a:t>Default</a:t>
                      </a:r>
                      <a:endParaRPr sz="7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1270" algn="ctr">
                        <a:lnSpc>
                          <a:spcPct val="100000"/>
                        </a:lnSpc>
                        <a:spcBef>
                          <a:spcPts val="265"/>
                        </a:spcBef>
                      </a:pPr>
                      <a:r>
                        <a:rPr sz="700" spc="-5" dirty="0">
                          <a:latin typeface="Arial"/>
                          <a:cs typeface="Arial"/>
                        </a:rPr>
                        <a:t>D15</a:t>
                      </a:r>
                      <a:endParaRPr sz="7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1905" algn="ctr">
                        <a:lnSpc>
                          <a:spcPct val="100000"/>
                        </a:lnSpc>
                        <a:spcBef>
                          <a:spcPts val="265"/>
                        </a:spcBef>
                      </a:pPr>
                      <a:r>
                        <a:rPr sz="700" spc="-5" dirty="0">
                          <a:latin typeface="Arial"/>
                          <a:cs typeface="Arial"/>
                        </a:rPr>
                        <a:t>D14</a:t>
                      </a:r>
                      <a:endParaRPr sz="7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1270" algn="ctr">
                        <a:lnSpc>
                          <a:spcPct val="100000"/>
                        </a:lnSpc>
                        <a:spcBef>
                          <a:spcPts val="265"/>
                        </a:spcBef>
                      </a:pPr>
                      <a:r>
                        <a:rPr sz="700" spc="-5" dirty="0">
                          <a:latin typeface="Arial"/>
                          <a:cs typeface="Arial"/>
                        </a:rPr>
                        <a:t>D13</a:t>
                      </a:r>
                      <a:endParaRPr sz="7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83820">
                        <a:lnSpc>
                          <a:spcPct val="100000"/>
                        </a:lnSpc>
                        <a:spcBef>
                          <a:spcPts val="265"/>
                        </a:spcBef>
                      </a:pPr>
                      <a:r>
                        <a:rPr sz="700" spc="-5" dirty="0">
                          <a:latin typeface="Arial"/>
                          <a:cs typeface="Arial"/>
                        </a:rPr>
                        <a:t>D12</a:t>
                      </a:r>
                      <a:endParaRPr sz="7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83820">
                        <a:lnSpc>
                          <a:spcPct val="100000"/>
                        </a:lnSpc>
                        <a:spcBef>
                          <a:spcPts val="265"/>
                        </a:spcBef>
                      </a:pPr>
                      <a:r>
                        <a:rPr sz="700" spc="-5" dirty="0">
                          <a:latin typeface="Arial"/>
                          <a:cs typeface="Arial"/>
                        </a:rPr>
                        <a:t>D11</a:t>
                      </a:r>
                      <a:endParaRPr sz="7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84455">
                        <a:lnSpc>
                          <a:spcPct val="100000"/>
                        </a:lnSpc>
                        <a:spcBef>
                          <a:spcPts val="265"/>
                        </a:spcBef>
                      </a:pPr>
                      <a:r>
                        <a:rPr sz="700" spc="-5" dirty="0">
                          <a:latin typeface="Arial"/>
                          <a:cs typeface="Arial"/>
                        </a:rPr>
                        <a:t>D10</a:t>
                      </a:r>
                      <a:endParaRPr sz="7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108585">
                        <a:lnSpc>
                          <a:spcPct val="100000"/>
                        </a:lnSpc>
                        <a:spcBef>
                          <a:spcPts val="265"/>
                        </a:spcBef>
                      </a:pPr>
                      <a:r>
                        <a:rPr sz="700" spc="-5" dirty="0">
                          <a:latin typeface="Arial"/>
                          <a:cs typeface="Arial"/>
                        </a:rPr>
                        <a:t>D9</a:t>
                      </a:r>
                      <a:endParaRPr sz="7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2540" algn="ctr">
                        <a:lnSpc>
                          <a:spcPct val="100000"/>
                        </a:lnSpc>
                        <a:spcBef>
                          <a:spcPts val="265"/>
                        </a:spcBef>
                      </a:pPr>
                      <a:r>
                        <a:rPr sz="700" spc="-5" dirty="0">
                          <a:latin typeface="Arial"/>
                          <a:cs typeface="Arial"/>
                        </a:rPr>
                        <a:t>D8</a:t>
                      </a:r>
                      <a:endParaRPr sz="7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108585">
                        <a:lnSpc>
                          <a:spcPct val="100000"/>
                        </a:lnSpc>
                        <a:spcBef>
                          <a:spcPts val="265"/>
                        </a:spcBef>
                      </a:pPr>
                      <a:r>
                        <a:rPr sz="700" spc="-5" dirty="0">
                          <a:latin typeface="Arial"/>
                          <a:cs typeface="Arial"/>
                        </a:rPr>
                        <a:t>D7</a:t>
                      </a:r>
                      <a:endParaRPr sz="7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108585">
                        <a:lnSpc>
                          <a:spcPct val="100000"/>
                        </a:lnSpc>
                        <a:spcBef>
                          <a:spcPts val="265"/>
                        </a:spcBef>
                      </a:pPr>
                      <a:r>
                        <a:rPr sz="700" spc="-5" dirty="0">
                          <a:latin typeface="Arial"/>
                          <a:cs typeface="Arial"/>
                        </a:rPr>
                        <a:t>D6</a:t>
                      </a:r>
                      <a:endParaRPr sz="7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109220">
                        <a:lnSpc>
                          <a:spcPct val="100000"/>
                        </a:lnSpc>
                        <a:spcBef>
                          <a:spcPts val="265"/>
                        </a:spcBef>
                      </a:pPr>
                      <a:r>
                        <a:rPr sz="700" spc="-5" dirty="0">
                          <a:latin typeface="Arial"/>
                          <a:cs typeface="Arial"/>
                        </a:rPr>
                        <a:t>D5</a:t>
                      </a:r>
                      <a:endParaRPr sz="7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108585">
                        <a:lnSpc>
                          <a:spcPct val="100000"/>
                        </a:lnSpc>
                        <a:spcBef>
                          <a:spcPts val="265"/>
                        </a:spcBef>
                      </a:pPr>
                      <a:r>
                        <a:rPr sz="700" spc="-5" dirty="0">
                          <a:latin typeface="Arial"/>
                          <a:cs typeface="Arial"/>
                        </a:rPr>
                        <a:t>D4</a:t>
                      </a:r>
                      <a:endParaRPr sz="7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109220">
                        <a:lnSpc>
                          <a:spcPct val="100000"/>
                        </a:lnSpc>
                        <a:spcBef>
                          <a:spcPts val="265"/>
                        </a:spcBef>
                      </a:pPr>
                      <a:r>
                        <a:rPr sz="700" spc="-5" dirty="0">
                          <a:latin typeface="Arial"/>
                          <a:cs typeface="Arial"/>
                        </a:rPr>
                        <a:t>D3</a:t>
                      </a:r>
                      <a:endParaRPr sz="7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109220">
                        <a:lnSpc>
                          <a:spcPct val="100000"/>
                        </a:lnSpc>
                        <a:spcBef>
                          <a:spcPts val="265"/>
                        </a:spcBef>
                      </a:pPr>
                      <a:r>
                        <a:rPr sz="700" spc="-5" dirty="0">
                          <a:latin typeface="Arial"/>
                          <a:cs typeface="Arial"/>
                        </a:rPr>
                        <a:t>D2</a:t>
                      </a:r>
                      <a:endParaRPr sz="7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109220">
                        <a:lnSpc>
                          <a:spcPct val="100000"/>
                        </a:lnSpc>
                        <a:spcBef>
                          <a:spcPts val="265"/>
                        </a:spcBef>
                      </a:pPr>
                      <a:r>
                        <a:rPr sz="700" spc="-5" dirty="0">
                          <a:latin typeface="Arial"/>
                          <a:cs typeface="Arial"/>
                        </a:rPr>
                        <a:t>D1</a:t>
                      </a:r>
                      <a:endParaRPr sz="7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tc>
                  <a:txBody>
                    <a:bodyPr/>
                    <a:lstStyle/>
                    <a:p>
                      <a:pPr marL="109220">
                        <a:lnSpc>
                          <a:spcPct val="100000"/>
                        </a:lnSpc>
                        <a:spcBef>
                          <a:spcPts val="265"/>
                        </a:spcBef>
                      </a:pPr>
                      <a:r>
                        <a:rPr sz="700" spc="-5" dirty="0">
                          <a:latin typeface="Arial"/>
                          <a:cs typeface="Arial"/>
                        </a:rPr>
                        <a:t>D0</a:t>
                      </a:r>
                      <a:endParaRPr sz="7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solidFill>
                      <a:srgbClr val="F1F1F1"/>
                    </a:solidFill>
                  </a:tcPr>
                </a:tc>
                <a:extLst>
                  <a:ext uri="{0D108BD9-81ED-4DB2-BD59-A6C34878D82A}">
                    <a16:rowId xmlns:a16="http://schemas.microsoft.com/office/drawing/2014/main" val="10000"/>
                  </a:ext>
                </a:extLst>
              </a:tr>
              <a:tr h="200660">
                <a:tc>
                  <a:txBody>
                    <a:bodyPr/>
                    <a:lstStyle/>
                    <a:p>
                      <a:pPr marL="126364">
                        <a:lnSpc>
                          <a:spcPct val="100000"/>
                        </a:lnSpc>
                        <a:spcBef>
                          <a:spcPts val="265"/>
                        </a:spcBef>
                      </a:pPr>
                      <a:r>
                        <a:rPr sz="700" spc="-10" dirty="0">
                          <a:latin typeface="Arial"/>
                          <a:cs typeface="Arial"/>
                        </a:rPr>
                        <a:t>‘h59</a:t>
                      </a:r>
                      <a:endParaRPr sz="7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635" algn="ctr">
                        <a:lnSpc>
                          <a:spcPct val="100000"/>
                        </a:lnSpc>
                        <a:spcBef>
                          <a:spcPts val="265"/>
                        </a:spcBef>
                      </a:pPr>
                      <a:r>
                        <a:rPr sz="700" dirty="0">
                          <a:latin typeface="Arial"/>
                          <a:cs typeface="Arial"/>
                        </a:rPr>
                        <a:t>0</a:t>
                      </a: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2540" algn="ctr">
                        <a:lnSpc>
                          <a:spcPct val="100000"/>
                        </a:lnSpc>
                        <a:spcBef>
                          <a:spcPts val="244"/>
                        </a:spcBef>
                      </a:pPr>
                      <a:r>
                        <a:rPr sz="700" dirty="0">
                          <a:latin typeface="Arial"/>
                          <a:cs typeface="Arial"/>
                        </a:rPr>
                        <a:t>x</a:t>
                      </a:r>
                    </a:p>
                  </a:txBody>
                  <a:tcPr marL="0" marR="0" marT="31114"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2540" algn="ctr">
                        <a:lnSpc>
                          <a:spcPct val="100000"/>
                        </a:lnSpc>
                        <a:spcBef>
                          <a:spcPts val="265"/>
                        </a:spcBef>
                      </a:pPr>
                      <a:r>
                        <a:rPr sz="700" dirty="0">
                          <a:latin typeface="Arial"/>
                          <a:cs typeface="Arial"/>
                        </a:rPr>
                        <a:t>x</a:t>
                      </a: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2540" algn="ctr">
                        <a:lnSpc>
                          <a:spcPct val="100000"/>
                        </a:lnSpc>
                        <a:spcBef>
                          <a:spcPts val="244"/>
                        </a:spcBef>
                      </a:pPr>
                      <a:r>
                        <a:rPr sz="700" dirty="0">
                          <a:latin typeface="Arial"/>
                          <a:cs typeface="Arial"/>
                        </a:rPr>
                        <a:t>x</a:t>
                      </a:r>
                    </a:p>
                  </a:txBody>
                  <a:tcPr marL="0" marR="0" marT="31114"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gridSpan="4">
                  <a:txBody>
                    <a:bodyPr/>
                    <a:lstStyle/>
                    <a:p>
                      <a:pPr marL="187960">
                        <a:lnSpc>
                          <a:spcPct val="100000"/>
                        </a:lnSpc>
                        <a:spcBef>
                          <a:spcPts val="265"/>
                        </a:spcBef>
                      </a:pPr>
                      <a:r>
                        <a:rPr sz="700" spc="-10" dirty="0" err="1">
                          <a:latin typeface="Arial"/>
                          <a:cs typeface="Arial"/>
                        </a:rPr>
                        <a:t>VREF_LOFS_CH1</a:t>
                      </a:r>
                      <a:r>
                        <a:rPr sz="700" spc="-10" dirty="0">
                          <a:latin typeface="Arial"/>
                          <a:cs typeface="Arial"/>
                        </a:rPr>
                        <a:t> </a:t>
                      </a:r>
                      <a:r>
                        <a:rPr sz="700" spc="-5" dirty="0">
                          <a:latin typeface="Arial"/>
                          <a:cs typeface="Arial"/>
                        </a:rPr>
                        <a:t>[3:0]</a:t>
                      </a:r>
                      <a:endParaRPr sz="7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a:txBody>
                    <a:bodyPr/>
                    <a:lstStyle/>
                    <a:p>
                      <a:pPr marL="635" algn="ctr">
                        <a:lnSpc>
                          <a:spcPct val="100000"/>
                        </a:lnSpc>
                        <a:spcBef>
                          <a:spcPts val="265"/>
                        </a:spcBef>
                      </a:pPr>
                      <a:r>
                        <a:rPr sz="700" spc="-10" dirty="0">
                          <a:latin typeface="Arial"/>
                          <a:cs typeface="Arial"/>
                        </a:rPr>
                        <a:t>SIGN</a:t>
                      </a:r>
                      <a:endParaRPr sz="700" dirty="0">
                        <a:latin typeface="Arial"/>
                        <a:cs typeface="Arial"/>
                      </a:endParaRPr>
                    </a:p>
                  </a:txBody>
                  <a:tcPr marL="0" marR="0" marT="3365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gridSpan="8">
                  <a:txBody>
                    <a:bodyPr/>
                    <a:lstStyle/>
                    <a:p>
                      <a:pPr marL="869315">
                        <a:lnSpc>
                          <a:spcPct val="100000"/>
                        </a:lnSpc>
                        <a:spcBef>
                          <a:spcPts val="244"/>
                        </a:spcBef>
                      </a:pPr>
                      <a:r>
                        <a:rPr sz="700" spc="-5" dirty="0" err="1">
                          <a:latin typeface="Arial"/>
                          <a:cs typeface="Arial"/>
                        </a:rPr>
                        <a:t>VREF_OFS_CH1</a:t>
                      </a:r>
                      <a:r>
                        <a:rPr sz="700" spc="-40" dirty="0">
                          <a:latin typeface="Arial"/>
                          <a:cs typeface="Arial"/>
                        </a:rPr>
                        <a:t> </a:t>
                      </a:r>
                      <a:r>
                        <a:rPr sz="700" spc="-5" dirty="0">
                          <a:latin typeface="Arial"/>
                          <a:cs typeface="Arial"/>
                        </a:rPr>
                        <a:t>[7:0]</a:t>
                      </a:r>
                      <a:endParaRPr sz="700" dirty="0">
                        <a:latin typeface="Arial"/>
                        <a:cs typeface="Arial"/>
                      </a:endParaRPr>
                    </a:p>
                  </a:txBody>
                  <a:tcPr marL="0" marR="0" marT="31114"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1"/>
                  </a:ext>
                </a:extLst>
              </a:tr>
              <a:tr h="222885">
                <a:tc>
                  <a:txBody>
                    <a:bodyPr/>
                    <a:lstStyle/>
                    <a:p>
                      <a:pPr marL="121920">
                        <a:lnSpc>
                          <a:spcPct val="100000"/>
                        </a:lnSpc>
                        <a:spcBef>
                          <a:spcPts val="445"/>
                        </a:spcBef>
                      </a:pPr>
                      <a:r>
                        <a:rPr sz="700" spc="-10" dirty="0">
                          <a:latin typeface="Arial"/>
                          <a:cs typeface="Arial"/>
                        </a:rPr>
                        <a:t>‘h5A</a:t>
                      </a:r>
                      <a:endParaRPr sz="700" dirty="0">
                        <a:latin typeface="Arial"/>
                        <a:cs typeface="Arial"/>
                      </a:endParaRPr>
                    </a:p>
                  </a:txBody>
                  <a:tcPr marL="0" marR="0" marT="5651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635" algn="ctr">
                        <a:lnSpc>
                          <a:spcPct val="100000"/>
                        </a:lnSpc>
                        <a:spcBef>
                          <a:spcPts val="445"/>
                        </a:spcBef>
                      </a:pPr>
                      <a:r>
                        <a:rPr sz="700" dirty="0">
                          <a:latin typeface="Arial"/>
                          <a:cs typeface="Arial"/>
                        </a:rPr>
                        <a:t>0</a:t>
                      </a:r>
                    </a:p>
                  </a:txBody>
                  <a:tcPr marL="0" marR="0" marT="5651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2540" algn="ctr">
                        <a:lnSpc>
                          <a:spcPct val="100000"/>
                        </a:lnSpc>
                        <a:spcBef>
                          <a:spcPts val="420"/>
                        </a:spcBef>
                      </a:pPr>
                      <a:r>
                        <a:rPr sz="700" dirty="0">
                          <a:latin typeface="Arial"/>
                          <a:cs typeface="Arial"/>
                        </a:rPr>
                        <a:t>x</a:t>
                      </a:r>
                    </a:p>
                  </a:txBody>
                  <a:tcPr marL="0" marR="0" marT="5334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2540" algn="ctr">
                        <a:lnSpc>
                          <a:spcPct val="100000"/>
                        </a:lnSpc>
                        <a:spcBef>
                          <a:spcPts val="445"/>
                        </a:spcBef>
                      </a:pPr>
                      <a:r>
                        <a:rPr sz="700" dirty="0">
                          <a:latin typeface="Arial"/>
                          <a:cs typeface="Arial"/>
                        </a:rPr>
                        <a:t>x</a:t>
                      </a:r>
                    </a:p>
                  </a:txBody>
                  <a:tcPr marL="0" marR="0" marT="5651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2540" algn="ctr">
                        <a:lnSpc>
                          <a:spcPct val="100000"/>
                        </a:lnSpc>
                        <a:spcBef>
                          <a:spcPts val="420"/>
                        </a:spcBef>
                      </a:pPr>
                      <a:r>
                        <a:rPr sz="700" dirty="0">
                          <a:latin typeface="Arial"/>
                          <a:cs typeface="Arial"/>
                        </a:rPr>
                        <a:t>x</a:t>
                      </a:r>
                    </a:p>
                  </a:txBody>
                  <a:tcPr marL="0" marR="0" marT="5334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gridSpan="4">
                  <a:txBody>
                    <a:bodyPr/>
                    <a:lstStyle/>
                    <a:p>
                      <a:pPr marL="187960">
                        <a:lnSpc>
                          <a:spcPct val="100000"/>
                        </a:lnSpc>
                        <a:spcBef>
                          <a:spcPts val="445"/>
                        </a:spcBef>
                      </a:pPr>
                      <a:r>
                        <a:rPr sz="700" spc="-5" dirty="0">
                          <a:latin typeface="Arial"/>
                          <a:cs typeface="Arial"/>
                        </a:rPr>
                        <a:t>VREF_LOFS_CH2</a:t>
                      </a:r>
                      <a:r>
                        <a:rPr sz="700" spc="-40" dirty="0">
                          <a:latin typeface="Arial"/>
                          <a:cs typeface="Arial"/>
                        </a:rPr>
                        <a:t> </a:t>
                      </a:r>
                      <a:r>
                        <a:rPr sz="700" spc="-5" dirty="0">
                          <a:latin typeface="Arial"/>
                          <a:cs typeface="Arial"/>
                        </a:rPr>
                        <a:t>[3:0]</a:t>
                      </a:r>
                      <a:endParaRPr sz="700" dirty="0">
                        <a:latin typeface="Arial"/>
                        <a:cs typeface="Arial"/>
                      </a:endParaRPr>
                    </a:p>
                  </a:txBody>
                  <a:tcPr marL="0" marR="0" marT="5651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a:txBody>
                    <a:bodyPr/>
                    <a:lstStyle/>
                    <a:p>
                      <a:pPr marL="635" algn="ctr">
                        <a:lnSpc>
                          <a:spcPct val="100000"/>
                        </a:lnSpc>
                        <a:spcBef>
                          <a:spcPts val="445"/>
                        </a:spcBef>
                      </a:pPr>
                      <a:r>
                        <a:rPr sz="700" spc="-10" dirty="0">
                          <a:latin typeface="Arial"/>
                          <a:cs typeface="Arial"/>
                        </a:rPr>
                        <a:t>SIGN</a:t>
                      </a:r>
                      <a:endParaRPr sz="700" dirty="0">
                        <a:latin typeface="Arial"/>
                        <a:cs typeface="Arial"/>
                      </a:endParaRPr>
                    </a:p>
                  </a:txBody>
                  <a:tcPr marL="0" marR="0" marT="5651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gridSpan="8">
                  <a:txBody>
                    <a:bodyPr/>
                    <a:lstStyle/>
                    <a:p>
                      <a:pPr marL="869315">
                        <a:lnSpc>
                          <a:spcPct val="100000"/>
                        </a:lnSpc>
                        <a:spcBef>
                          <a:spcPts val="420"/>
                        </a:spcBef>
                      </a:pPr>
                      <a:r>
                        <a:rPr sz="700" spc="-5" dirty="0">
                          <a:latin typeface="Arial"/>
                          <a:cs typeface="Arial"/>
                        </a:rPr>
                        <a:t>VREF_OFS_CH2</a:t>
                      </a:r>
                      <a:r>
                        <a:rPr sz="700" spc="-40" dirty="0">
                          <a:latin typeface="Arial"/>
                          <a:cs typeface="Arial"/>
                        </a:rPr>
                        <a:t> </a:t>
                      </a:r>
                      <a:r>
                        <a:rPr sz="700" spc="-5" dirty="0">
                          <a:latin typeface="Arial"/>
                          <a:cs typeface="Arial"/>
                        </a:rPr>
                        <a:t>[7:0]</a:t>
                      </a:r>
                      <a:endParaRPr sz="700" dirty="0">
                        <a:latin typeface="Arial"/>
                        <a:cs typeface="Arial"/>
                      </a:endParaRPr>
                    </a:p>
                  </a:txBody>
                  <a:tcPr marL="0" marR="0" marT="5334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2"/>
                  </a:ext>
                </a:extLst>
              </a:tr>
              <a:tr h="222250">
                <a:tc>
                  <a:txBody>
                    <a:bodyPr/>
                    <a:lstStyle/>
                    <a:p>
                      <a:pPr marL="121920">
                        <a:lnSpc>
                          <a:spcPct val="100000"/>
                        </a:lnSpc>
                        <a:spcBef>
                          <a:spcPts val="440"/>
                        </a:spcBef>
                      </a:pPr>
                      <a:r>
                        <a:rPr sz="700" spc="-5" dirty="0">
                          <a:latin typeface="Arial"/>
                          <a:cs typeface="Arial"/>
                        </a:rPr>
                        <a:t>‘h5B</a:t>
                      </a:r>
                      <a:endParaRPr sz="700" dirty="0">
                        <a:latin typeface="Arial"/>
                        <a:cs typeface="Arial"/>
                      </a:endParaRPr>
                    </a:p>
                  </a:txBody>
                  <a:tcPr marL="0" marR="0" marT="5588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1270" algn="ctr">
                        <a:lnSpc>
                          <a:spcPct val="100000"/>
                        </a:lnSpc>
                        <a:spcBef>
                          <a:spcPts val="440"/>
                        </a:spcBef>
                      </a:pPr>
                      <a:r>
                        <a:rPr sz="700" dirty="0">
                          <a:latin typeface="Arial"/>
                          <a:cs typeface="Arial"/>
                        </a:rPr>
                        <a:t>0</a:t>
                      </a:r>
                    </a:p>
                  </a:txBody>
                  <a:tcPr marL="0" marR="0" marT="5588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2540" algn="ctr">
                        <a:lnSpc>
                          <a:spcPct val="100000"/>
                        </a:lnSpc>
                        <a:spcBef>
                          <a:spcPts val="415"/>
                        </a:spcBef>
                      </a:pPr>
                      <a:r>
                        <a:rPr sz="700" dirty="0">
                          <a:latin typeface="Arial"/>
                          <a:cs typeface="Arial"/>
                        </a:rPr>
                        <a:t>x</a:t>
                      </a:r>
                    </a:p>
                  </a:txBody>
                  <a:tcPr marL="0" marR="0" marT="5270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2540" algn="ctr">
                        <a:lnSpc>
                          <a:spcPct val="100000"/>
                        </a:lnSpc>
                        <a:spcBef>
                          <a:spcPts val="440"/>
                        </a:spcBef>
                      </a:pPr>
                      <a:r>
                        <a:rPr sz="700" dirty="0">
                          <a:latin typeface="Arial"/>
                          <a:cs typeface="Arial"/>
                        </a:rPr>
                        <a:t>x</a:t>
                      </a:r>
                    </a:p>
                  </a:txBody>
                  <a:tcPr marL="0" marR="0" marT="5588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2540" algn="ctr">
                        <a:lnSpc>
                          <a:spcPct val="100000"/>
                        </a:lnSpc>
                        <a:spcBef>
                          <a:spcPts val="415"/>
                        </a:spcBef>
                      </a:pPr>
                      <a:r>
                        <a:rPr sz="700" dirty="0">
                          <a:latin typeface="Arial"/>
                          <a:cs typeface="Arial"/>
                        </a:rPr>
                        <a:t>x</a:t>
                      </a:r>
                    </a:p>
                  </a:txBody>
                  <a:tcPr marL="0" marR="0" marT="5270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gridSpan="4">
                  <a:txBody>
                    <a:bodyPr/>
                    <a:lstStyle/>
                    <a:p>
                      <a:pPr marL="187960">
                        <a:lnSpc>
                          <a:spcPct val="100000"/>
                        </a:lnSpc>
                        <a:spcBef>
                          <a:spcPts val="440"/>
                        </a:spcBef>
                      </a:pPr>
                      <a:r>
                        <a:rPr sz="700" spc="-5" dirty="0">
                          <a:latin typeface="Arial"/>
                          <a:cs typeface="Arial"/>
                        </a:rPr>
                        <a:t>VREF_LOFS_CH3</a:t>
                      </a:r>
                      <a:r>
                        <a:rPr sz="700" spc="-40" dirty="0">
                          <a:latin typeface="Arial"/>
                          <a:cs typeface="Arial"/>
                        </a:rPr>
                        <a:t> </a:t>
                      </a:r>
                      <a:r>
                        <a:rPr sz="700" spc="-5" dirty="0">
                          <a:latin typeface="Arial"/>
                          <a:cs typeface="Arial"/>
                        </a:rPr>
                        <a:t>[3:0]</a:t>
                      </a:r>
                      <a:endParaRPr sz="700" dirty="0">
                        <a:latin typeface="Arial"/>
                        <a:cs typeface="Arial"/>
                      </a:endParaRPr>
                    </a:p>
                  </a:txBody>
                  <a:tcPr marL="0" marR="0" marT="5588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a:txBody>
                    <a:bodyPr/>
                    <a:lstStyle/>
                    <a:p>
                      <a:pPr marL="635" algn="ctr">
                        <a:lnSpc>
                          <a:spcPct val="100000"/>
                        </a:lnSpc>
                        <a:spcBef>
                          <a:spcPts val="440"/>
                        </a:spcBef>
                      </a:pPr>
                      <a:r>
                        <a:rPr sz="700" spc="-10" dirty="0">
                          <a:latin typeface="Arial"/>
                          <a:cs typeface="Arial"/>
                        </a:rPr>
                        <a:t>SIGN</a:t>
                      </a:r>
                      <a:endParaRPr sz="700" dirty="0">
                        <a:latin typeface="Arial"/>
                        <a:cs typeface="Arial"/>
                      </a:endParaRPr>
                    </a:p>
                  </a:txBody>
                  <a:tcPr marL="0" marR="0" marT="5588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gridSpan="8">
                  <a:txBody>
                    <a:bodyPr/>
                    <a:lstStyle/>
                    <a:p>
                      <a:pPr marL="869315">
                        <a:lnSpc>
                          <a:spcPct val="100000"/>
                        </a:lnSpc>
                        <a:spcBef>
                          <a:spcPts val="415"/>
                        </a:spcBef>
                      </a:pPr>
                      <a:r>
                        <a:rPr sz="700" spc="-5" dirty="0">
                          <a:latin typeface="Arial"/>
                          <a:cs typeface="Arial"/>
                        </a:rPr>
                        <a:t>VREF_OFS_CH3</a:t>
                      </a:r>
                      <a:r>
                        <a:rPr sz="700" spc="-40" dirty="0">
                          <a:latin typeface="Arial"/>
                          <a:cs typeface="Arial"/>
                        </a:rPr>
                        <a:t> </a:t>
                      </a:r>
                      <a:r>
                        <a:rPr sz="700" spc="-5" dirty="0">
                          <a:latin typeface="Arial"/>
                          <a:cs typeface="Arial"/>
                        </a:rPr>
                        <a:t>[7:0]</a:t>
                      </a:r>
                      <a:endParaRPr sz="700" dirty="0">
                        <a:latin typeface="Arial"/>
                        <a:cs typeface="Arial"/>
                      </a:endParaRPr>
                    </a:p>
                  </a:txBody>
                  <a:tcPr marL="0" marR="0" marT="5270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3"/>
                  </a:ext>
                </a:extLst>
              </a:tr>
              <a:tr h="222250">
                <a:tc>
                  <a:txBody>
                    <a:bodyPr/>
                    <a:lstStyle/>
                    <a:p>
                      <a:pPr marL="118745">
                        <a:lnSpc>
                          <a:spcPct val="100000"/>
                        </a:lnSpc>
                        <a:spcBef>
                          <a:spcPts val="440"/>
                        </a:spcBef>
                      </a:pPr>
                      <a:r>
                        <a:rPr sz="700" spc="-10" dirty="0">
                          <a:latin typeface="Arial"/>
                          <a:cs typeface="Arial"/>
                        </a:rPr>
                        <a:t>‘h5C</a:t>
                      </a:r>
                      <a:endParaRPr sz="700" dirty="0">
                        <a:latin typeface="Arial"/>
                        <a:cs typeface="Arial"/>
                      </a:endParaRPr>
                    </a:p>
                  </a:txBody>
                  <a:tcPr marL="0" marR="0" marT="5588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635" algn="ctr">
                        <a:lnSpc>
                          <a:spcPct val="100000"/>
                        </a:lnSpc>
                        <a:spcBef>
                          <a:spcPts val="440"/>
                        </a:spcBef>
                      </a:pPr>
                      <a:r>
                        <a:rPr sz="700" dirty="0">
                          <a:latin typeface="Arial"/>
                          <a:cs typeface="Arial"/>
                        </a:rPr>
                        <a:t>0</a:t>
                      </a:r>
                    </a:p>
                  </a:txBody>
                  <a:tcPr marL="0" marR="0" marT="5588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2540" algn="ctr">
                        <a:lnSpc>
                          <a:spcPct val="100000"/>
                        </a:lnSpc>
                        <a:spcBef>
                          <a:spcPts val="420"/>
                        </a:spcBef>
                      </a:pPr>
                      <a:r>
                        <a:rPr sz="700" dirty="0">
                          <a:latin typeface="Arial"/>
                          <a:cs typeface="Arial"/>
                        </a:rPr>
                        <a:t>x</a:t>
                      </a:r>
                    </a:p>
                  </a:txBody>
                  <a:tcPr marL="0" marR="0" marT="5334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2540" algn="ctr">
                        <a:lnSpc>
                          <a:spcPct val="100000"/>
                        </a:lnSpc>
                        <a:spcBef>
                          <a:spcPts val="440"/>
                        </a:spcBef>
                      </a:pPr>
                      <a:r>
                        <a:rPr sz="700" dirty="0">
                          <a:latin typeface="Arial"/>
                          <a:cs typeface="Arial"/>
                        </a:rPr>
                        <a:t>x</a:t>
                      </a:r>
                    </a:p>
                  </a:txBody>
                  <a:tcPr marL="0" marR="0" marT="5588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2540" algn="ctr">
                        <a:lnSpc>
                          <a:spcPct val="100000"/>
                        </a:lnSpc>
                        <a:spcBef>
                          <a:spcPts val="420"/>
                        </a:spcBef>
                      </a:pPr>
                      <a:r>
                        <a:rPr sz="700" dirty="0">
                          <a:latin typeface="Arial"/>
                          <a:cs typeface="Arial"/>
                        </a:rPr>
                        <a:t>x</a:t>
                      </a:r>
                    </a:p>
                  </a:txBody>
                  <a:tcPr marL="0" marR="0" marT="5334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gridSpan="4">
                  <a:txBody>
                    <a:bodyPr/>
                    <a:lstStyle/>
                    <a:p>
                      <a:pPr marL="187960">
                        <a:lnSpc>
                          <a:spcPct val="100000"/>
                        </a:lnSpc>
                        <a:spcBef>
                          <a:spcPts val="440"/>
                        </a:spcBef>
                      </a:pPr>
                      <a:r>
                        <a:rPr sz="700" spc="-5" dirty="0">
                          <a:latin typeface="Arial"/>
                          <a:cs typeface="Arial"/>
                        </a:rPr>
                        <a:t>VREF_LOFS_CH4</a:t>
                      </a:r>
                      <a:r>
                        <a:rPr sz="700" spc="-40" dirty="0">
                          <a:latin typeface="Arial"/>
                          <a:cs typeface="Arial"/>
                        </a:rPr>
                        <a:t> </a:t>
                      </a:r>
                      <a:r>
                        <a:rPr sz="700" spc="-5" dirty="0">
                          <a:latin typeface="Arial"/>
                          <a:cs typeface="Arial"/>
                        </a:rPr>
                        <a:t>[3:0]</a:t>
                      </a:r>
                      <a:endParaRPr sz="700" dirty="0">
                        <a:latin typeface="Arial"/>
                        <a:cs typeface="Arial"/>
                      </a:endParaRPr>
                    </a:p>
                  </a:txBody>
                  <a:tcPr marL="0" marR="0" marT="5588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a:txBody>
                    <a:bodyPr/>
                    <a:lstStyle/>
                    <a:p>
                      <a:pPr marL="635" algn="ctr">
                        <a:lnSpc>
                          <a:spcPct val="100000"/>
                        </a:lnSpc>
                        <a:spcBef>
                          <a:spcPts val="440"/>
                        </a:spcBef>
                      </a:pPr>
                      <a:r>
                        <a:rPr sz="700" spc="-10" dirty="0">
                          <a:latin typeface="Arial"/>
                          <a:cs typeface="Arial"/>
                        </a:rPr>
                        <a:t>SIGN</a:t>
                      </a:r>
                      <a:endParaRPr sz="700" dirty="0">
                        <a:latin typeface="Arial"/>
                        <a:cs typeface="Arial"/>
                      </a:endParaRPr>
                    </a:p>
                  </a:txBody>
                  <a:tcPr marL="0" marR="0" marT="5588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gridSpan="8">
                  <a:txBody>
                    <a:bodyPr/>
                    <a:lstStyle/>
                    <a:p>
                      <a:pPr marL="869315">
                        <a:lnSpc>
                          <a:spcPct val="100000"/>
                        </a:lnSpc>
                        <a:spcBef>
                          <a:spcPts val="420"/>
                        </a:spcBef>
                      </a:pPr>
                      <a:r>
                        <a:rPr sz="700" spc="-5" dirty="0">
                          <a:latin typeface="Arial"/>
                          <a:cs typeface="Arial"/>
                        </a:rPr>
                        <a:t>VREF_OFS_CH4</a:t>
                      </a:r>
                      <a:r>
                        <a:rPr sz="700" spc="-40" dirty="0">
                          <a:latin typeface="Arial"/>
                          <a:cs typeface="Arial"/>
                        </a:rPr>
                        <a:t> </a:t>
                      </a:r>
                      <a:r>
                        <a:rPr sz="700" spc="-5" dirty="0">
                          <a:latin typeface="Arial"/>
                          <a:cs typeface="Arial"/>
                        </a:rPr>
                        <a:t>[7:0]</a:t>
                      </a:r>
                      <a:endParaRPr sz="700" dirty="0">
                        <a:latin typeface="Arial"/>
                        <a:cs typeface="Arial"/>
                      </a:endParaRPr>
                    </a:p>
                  </a:txBody>
                  <a:tcPr marL="0" marR="0" marT="5334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4"/>
                  </a:ext>
                </a:extLst>
              </a:tr>
              <a:tr h="200025">
                <a:tc>
                  <a:txBody>
                    <a:bodyPr/>
                    <a:lstStyle/>
                    <a:p>
                      <a:pPr marL="112395">
                        <a:lnSpc>
                          <a:spcPct val="100000"/>
                        </a:lnSpc>
                        <a:spcBef>
                          <a:spcPts val="440"/>
                        </a:spcBef>
                      </a:pPr>
                      <a:r>
                        <a:rPr sz="700" spc="-10" dirty="0">
                          <a:latin typeface="Arial"/>
                          <a:cs typeface="Arial"/>
                        </a:rPr>
                        <a:t>‘h5D</a:t>
                      </a:r>
                      <a:endParaRPr sz="700" dirty="0">
                        <a:latin typeface="Arial"/>
                        <a:cs typeface="Arial"/>
                      </a:endParaRPr>
                    </a:p>
                  </a:txBody>
                  <a:tcPr marL="0" marR="0" marT="5588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R="3175" algn="ctr">
                        <a:lnSpc>
                          <a:spcPct val="100000"/>
                        </a:lnSpc>
                        <a:spcBef>
                          <a:spcPts val="440"/>
                        </a:spcBef>
                      </a:pPr>
                      <a:r>
                        <a:rPr sz="700" dirty="0">
                          <a:latin typeface="Arial"/>
                          <a:cs typeface="Arial"/>
                        </a:rPr>
                        <a:t>0</a:t>
                      </a:r>
                    </a:p>
                  </a:txBody>
                  <a:tcPr marL="0" marR="0" marT="5588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R="1270" algn="ctr">
                        <a:lnSpc>
                          <a:spcPct val="100000"/>
                        </a:lnSpc>
                        <a:spcBef>
                          <a:spcPts val="415"/>
                        </a:spcBef>
                      </a:pPr>
                      <a:r>
                        <a:rPr sz="700" dirty="0">
                          <a:latin typeface="Arial"/>
                          <a:cs typeface="Arial"/>
                        </a:rPr>
                        <a:t>x</a:t>
                      </a:r>
                    </a:p>
                  </a:txBody>
                  <a:tcPr marL="0" marR="0" marT="5270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R="1270" algn="ctr">
                        <a:lnSpc>
                          <a:spcPct val="100000"/>
                        </a:lnSpc>
                        <a:spcBef>
                          <a:spcPts val="440"/>
                        </a:spcBef>
                      </a:pPr>
                      <a:r>
                        <a:rPr sz="700" dirty="0">
                          <a:latin typeface="Arial"/>
                          <a:cs typeface="Arial"/>
                        </a:rPr>
                        <a:t>x</a:t>
                      </a:r>
                    </a:p>
                  </a:txBody>
                  <a:tcPr marL="0" marR="0" marT="5588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R="1905" algn="ctr">
                        <a:lnSpc>
                          <a:spcPct val="100000"/>
                        </a:lnSpc>
                        <a:spcBef>
                          <a:spcPts val="415"/>
                        </a:spcBef>
                      </a:pPr>
                      <a:r>
                        <a:rPr sz="700" dirty="0">
                          <a:latin typeface="Arial"/>
                          <a:cs typeface="Arial"/>
                        </a:rPr>
                        <a:t>x</a:t>
                      </a:r>
                    </a:p>
                  </a:txBody>
                  <a:tcPr marL="0" marR="0" marT="5270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gridSpan="4">
                  <a:txBody>
                    <a:bodyPr/>
                    <a:lstStyle/>
                    <a:p>
                      <a:pPr marL="182245">
                        <a:lnSpc>
                          <a:spcPct val="100000"/>
                        </a:lnSpc>
                        <a:spcBef>
                          <a:spcPts val="440"/>
                        </a:spcBef>
                      </a:pPr>
                      <a:r>
                        <a:rPr sz="700" spc="-5" dirty="0">
                          <a:latin typeface="Arial"/>
                          <a:cs typeface="Arial"/>
                        </a:rPr>
                        <a:t>VREF_LOFS_CH5</a:t>
                      </a:r>
                      <a:r>
                        <a:rPr sz="700" spc="-40" dirty="0">
                          <a:latin typeface="Arial"/>
                          <a:cs typeface="Arial"/>
                        </a:rPr>
                        <a:t> </a:t>
                      </a:r>
                      <a:r>
                        <a:rPr sz="700" spc="-5" dirty="0">
                          <a:latin typeface="Arial"/>
                          <a:cs typeface="Arial"/>
                        </a:rPr>
                        <a:t>[3:0]</a:t>
                      </a:r>
                      <a:endParaRPr sz="700" dirty="0">
                        <a:latin typeface="Arial"/>
                        <a:cs typeface="Arial"/>
                      </a:endParaRPr>
                    </a:p>
                  </a:txBody>
                  <a:tcPr marL="0" marR="0" marT="5588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a:txBody>
                    <a:bodyPr/>
                    <a:lstStyle/>
                    <a:p>
                      <a:pPr marR="3810" algn="ctr">
                        <a:lnSpc>
                          <a:spcPct val="100000"/>
                        </a:lnSpc>
                        <a:spcBef>
                          <a:spcPts val="440"/>
                        </a:spcBef>
                      </a:pPr>
                      <a:r>
                        <a:rPr sz="700" spc="-10" dirty="0">
                          <a:latin typeface="Arial"/>
                          <a:cs typeface="Arial"/>
                        </a:rPr>
                        <a:t>SIGN</a:t>
                      </a:r>
                      <a:endParaRPr sz="700" dirty="0">
                        <a:latin typeface="Arial"/>
                        <a:cs typeface="Arial"/>
                      </a:endParaRPr>
                    </a:p>
                  </a:txBody>
                  <a:tcPr marL="0" marR="0" marT="5588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gridSpan="8">
                  <a:txBody>
                    <a:bodyPr/>
                    <a:lstStyle/>
                    <a:p>
                      <a:pPr marL="862965">
                        <a:lnSpc>
                          <a:spcPct val="100000"/>
                        </a:lnSpc>
                        <a:spcBef>
                          <a:spcPts val="415"/>
                        </a:spcBef>
                      </a:pPr>
                      <a:r>
                        <a:rPr sz="700" spc="-5" dirty="0">
                          <a:latin typeface="Arial"/>
                          <a:cs typeface="Arial"/>
                        </a:rPr>
                        <a:t>VREF_OFS_CH5</a:t>
                      </a:r>
                      <a:r>
                        <a:rPr sz="700" spc="-25" dirty="0">
                          <a:latin typeface="Arial"/>
                          <a:cs typeface="Arial"/>
                        </a:rPr>
                        <a:t> </a:t>
                      </a:r>
                      <a:r>
                        <a:rPr sz="700" spc="-5" dirty="0">
                          <a:latin typeface="Arial"/>
                          <a:cs typeface="Arial"/>
                        </a:rPr>
                        <a:t>[7:0]</a:t>
                      </a:r>
                      <a:endParaRPr sz="700" dirty="0">
                        <a:latin typeface="Arial"/>
                        <a:cs typeface="Arial"/>
                      </a:endParaRPr>
                    </a:p>
                  </a:txBody>
                  <a:tcPr marL="0" marR="0" marT="5270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5"/>
                  </a:ext>
                </a:extLst>
              </a:tr>
            </a:tbl>
          </a:graphicData>
        </a:graphic>
      </p:graphicFrame>
      <p:sp>
        <p:nvSpPr>
          <p:cNvPr id="6" name="object 6"/>
          <p:cNvSpPr txBox="1"/>
          <p:nvPr/>
        </p:nvSpPr>
        <p:spPr>
          <a:xfrm>
            <a:off x="400913" y="956310"/>
            <a:ext cx="6038542" cy="182101"/>
          </a:xfrm>
          <a:prstGeom prst="rect">
            <a:avLst/>
          </a:prstGeom>
        </p:spPr>
        <p:txBody>
          <a:bodyPr vert="horz" wrap="square" lIns="0" tIns="12700" rIns="0" bIns="0" rtlCol="0">
            <a:spAutoFit/>
          </a:bodyPr>
          <a:lstStyle/>
          <a:p>
            <a:pPr marL="12700">
              <a:lnSpc>
                <a:spcPct val="100000"/>
              </a:lnSpc>
              <a:spcBef>
                <a:spcPts val="100"/>
              </a:spcBef>
            </a:pPr>
            <a:r>
              <a:rPr sz="1100" b="1" spc="-5" dirty="0">
                <a:latin typeface="Arial"/>
                <a:cs typeface="Arial"/>
              </a:rPr>
              <a:t>VREF</a:t>
            </a:r>
            <a:r>
              <a:rPr sz="1100" b="1" spc="5" dirty="0">
                <a:latin typeface="Arial"/>
                <a:cs typeface="Arial"/>
              </a:rPr>
              <a:t> </a:t>
            </a:r>
            <a:r>
              <a:rPr sz="1100" b="1" spc="-5" dirty="0">
                <a:latin typeface="Arial"/>
                <a:cs typeface="Arial"/>
              </a:rPr>
              <a:t>OFFSET</a:t>
            </a:r>
            <a:r>
              <a:rPr sz="1100" b="1" spc="-15" dirty="0">
                <a:latin typeface="Arial"/>
                <a:cs typeface="Arial"/>
              </a:rPr>
              <a:t> </a:t>
            </a:r>
            <a:r>
              <a:rPr sz="1100" b="1" spc="-10" dirty="0">
                <a:latin typeface="Arial"/>
                <a:cs typeface="Arial"/>
              </a:rPr>
              <a:t>CHANNEL</a:t>
            </a:r>
            <a:r>
              <a:rPr sz="1100" b="1" spc="45" dirty="0">
                <a:latin typeface="Arial"/>
                <a:cs typeface="Arial"/>
              </a:rPr>
              <a:t> </a:t>
            </a:r>
            <a:r>
              <a:rPr sz="1100" b="1" dirty="0">
                <a:latin typeface="Arial"/>
                <a:cs typeface="Arial"/>
              </a:rPr>
              <a:t>1</a:t>
            </a:r>
            <a:r>
              <a:rPr sz="1100" b="1" spc="-15" dirty="0">
                <a:latin typeface="Arial"/>
                <a:cs typeface="Arial"/>
              </a:rPr>
              <a:t> </a:t>
            </a:r>
            <a:r>
              <a:rPr sz="1100" b="1" dirty="0">
                <a:latin typeface="Arial"/>
                <a:cs typeface="Arial"/>
              </a:rPr>
              <a:t>~</a:t>
            </a:r>
            <a:r>
              <a:rPr sz="1100" b="1" spc="-10" dirty="0">
                <a:latin typeface="Arial"/>
                <a:cs typeface="Arial"/>
              </a:rPr>
              <a:t> </a:t>
            </a:r>
            <a:r>
              <a:rPr sz="1100" b="1" dirty="0">
                <a:latin typeface="Arial"/>
                <a:cs typeface="Arial"/>
              </a:rPr>
              <a:t>24</a:t>
            </a:r>
            <a:endParaRPr sz="1100" dirty="0">
              <a:latin typeface="Arial"/>
              <a:cs typeface="Arial"/>
            </a:endParaRPr>
          </a:p>
        </p:txBody>
      </p:sp>
      <p:graphicFrame>
        <p:nvGraphicFramePr>
          <p:cNvPr id="7" name="object 7"/>
          <p:cNvGraphicFramePr>
            <a:graphicFrameLocks noGrp="1"/>
          </p:cNvGraphicFramePr>
          <p:nvPr>
            <p:extLst>
              <p:ext uri="{D42A27DB-BD31-4B8C-83A1-F6EECF244321}">
                <p14:modId xmlns:p14="http://schemas.microsoft.com/office/powerpoint/2010/main" val="3378812162"/>
              </p:ext>
            </p:extLst>
          </p:nvPr>
        </p:nvGraphicFramePr>
        <p:xfrm>
          <a:off x="400914" y="2553652"/>
          <a:ext cx="6038543" cy="178435"/>
        </p:xfrm>
        <a:graphic>
          <a:graphicData uri="http://schemas.openxmlformats.org/drawingml/2006/table">
            <a:tbl>
              <a:tblPr firstRow="1" bandRow="1">
                <a:tableStyleId>{2D5ABB26-0587-4C30-8999-92F81FD0307C}</a:tableStyleId>
              </a:tblPr>
              <a:tblGrid>
                <a:gridCol w="412525">
                  <a:extLst>
                    <a:ext uri="{9D8B030D-6E8A-4147-A177-3AD203B41FA5}">
                      <a16:colId xmlns:a16="http://schemas.microsoft.com/office/drawing/2014/main" val="20000"/>
                    </a:ext>
                  </a:extLst>
                </a:gridCol>
                <a:gridCol w="474746">
                  <a:extLst>
                    <a:ext uri="{9D8B030D-6E8A-4147-A177-3AD203B41FA5}">
                      <a16:colId xmlns:a16="http://schemas.microsoft.com/office/drawing/2014/main" val="20001"/>
                    </a:ext>
                  </a:extLst>
                </a:gridCol>
                <a:gridCol w="322304">
                  <a:extLst>
                    <a:ext uri="{9D8B030D-6E8A-4147-A177-3AD203B41FA5}">
                      <a16:colId xmlns:a16="http://schemas.microsoft.com/office/drawing/2014/main" val="20002"/>
                    </a:ext>
                  </a:extLst>
                </a:gridCol>
                <a:gridCol w="322305">
                  <a:extLst>
                    <a:ext uri="{9D8B030D-6E8A-4147-A177-3AD203B41FA5}">
                      <a16:colId xmlns:a16="http://schemas.microsoft.com/office/drawing/2014/main" val="20003"/>
                    </a:ext>
                  </a:extLst>
                </a:gridCol>
                <a:gridCol w="322305">
                  <a:extLst>
                    <a:ext uri="{9D8B030D-6E8A-4147-A177-3AD203B41FA5}">
                      <a16:colId xmlns:a16="http://schemas.microsoft.com/office/drawing/2014/main" val="20004"/>
                    </a:ext>
                  </a:extLst>
                </a:gridCol>
                <a:gridCol w="1287351">
                  <a:extLst>
                    <a:ext uri="{9D8B030D-6E8A-4147-A177-3AD203B41FA5}">
                      <a16:colId xmlns:a16="http://schemas.microsoft.com/office/drawing/2014/main" val="20005"/>
                    </a:ext>
                  </a:extLst>
                </a:gridCol>
                <a:gridCol w="322304">
                  <a:extLst>
                    <a:ext uri="{9D8B030D-6E8A-4147-A177-3AD203B41FA5}">
                      <a16:colId xmlns:a16="http://schemas.microsoft.com/office/drawing/2014/main" val="20006"/>
                    </a:ext>
                  </a:extLst>
                </a:gridCol>
                <a:gridCol w="2574703">
                  <a:extLst>
                    <a:ext uri="{9D8B030D-6E8A-4147-A177-3AD203B41FA5}">
                      <a16:colId xmlns:a16="http://schemas.microsoft.com/office/drawing/2014/main" val="20007"/>
                    </a:ext>
                  </a:extLst>
                </a:gridCol>
              </a:tblGrid>
              <a:tr h="178435">
                <a:tc>
                  <a:txBody>
                    <a:bodyPr/>
                    <a:lstStyle/>
                    <a:p>
                      <a:pPr marL="121920">
                        <a:lnSpc>
                          <a:spcPct val="100000"/>
                        </a:lnSpc>
                        <a:spcBef>
                          <a:spcPts val="270"/>
                        </a:spcBef>
                      </a:pPr>
                      <a:r>
                        <a:rPr sz="700" spc="-10" dirty="0">
                          <a:latin typeface="Arial"/>
                          <a:cs typeface="Arial"/>
                        </a:rPr>
                        <a:t>‘h5E</a:t>
                      </a:r>
                      <a:endParaRPr sz="7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635" algn="ctr">
                        <a:lnSpc>
                          <a:spcPct val="100000"/>
                        </a:lnSpc>
                        <a:spcBef>
                          <a:spcPts val="270"/>
                        </a:spcBef>
                      </a:pPr>
                      <a:r>
                        <a:rPr sz="700" dirty="0">
                          <a:latin typeface="Arial"/>
                          <a:cs typeface="Arial"/>
                        </a:rPr>
                        <a:t>0</a:t>
                      </a: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2540" algn="ctr">
                        <a:lnSpc>
                          <a:spcPct val="100000"/>
                        </a:lnSpc>
                        <a:spcBef>
                          <a:spcPts val="245"/>
                        </a:spcBef>
                      </a:pPr>
                      <a:r>
                        <a:rPr sz="700" dirty="0">
                          <a:latin typeface="Arial"/>
                          <a:cs typeface="Arial"/>
                        </a:rPr>
                        <a:t>x</a:t>
                      </a:r>
                    </a:p>
                  </a:txBody>
                  <a:tcPr marL="0" marR="0" marT="3111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2540" algn="ctr">
                        <a:lnSpc>
                          <a:spcPct val="100000"/>
                        </a:lnSpc>
                        <a:spcBef>
                          <a:spcPts val="270"/>
                        </a:spcBef>
                      </a:pPr>
                      <a:r>
                        <a:rPr sz="700" dirty="0">
                          <a:latin typeface="Arial"/>
                          <a:cs typeface="Arial"/>
                        </a:rPr>
                        <a:t>x</a:t>
                      </a: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2540" algn="ctr">
                        <a:lnSpc>
                          <a:spcPct val="100000"/>
                        </a:lnSpc>
                        <a:spcBef>
                          <a:spcPts val="245"/>
                        </a:spcBef>
                      </a:pPr>
                      <a:r>
                        <a:rPr sz="700" dirty="0">
                          <a:latin typeface="Arial"/>
                          <a:cs typeface="Arial"/>
                        </a:rPr>
                        <a:t>x</a:t>
                      </a:r>
                    </a:p>
                  </a:txBody>
                  <a:tcPr marL="0" marR="0" marT="3111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187960">
                        <a:lnSpc>
                          <a:spcPct val="100000"/>
                        </a:lnSpc>
                        <a:spcBef>
                          <a:spcPts val="270"/>
                        </a:spcBef>
                      </a:pPr>
                      <a:r>
                        <a:rPr sz="700" spc="-5" dirty="0">
                          <a:latin typeface="Arial"/>
                          <a:cs typeface="Arial"/>
                        </a:rPr>
                        <a:t>VREF_LOFS_CH6</a:t>
                      </a:r>
                      <a:r>
                        <a:rPr sz="700" spc="-40" dirty="0">
                          <a:latin typeface="Arial"/>
                          <a:cs typeface="Arial"/>
                        </a:rPr>
                        <a:t> </a:t>
                      </a:r>
                      <a:r>
                        <a:rPr sz="700" spc="-5" dirty="0">
                          <a:latin typeface="Arial"/>
                          <a:cs typeface="Arial"/>
                        </a:rPr>
                        <a:t>[3:0]</a:t>
                      </a:r>
                      <a:endParaRPr sz="7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56515">
                        <a:lnSpc>
                          <a:spcPct val="100000"/>
                        </a:lnSpc>
                        <a:spcBef>
                          <a:spcPts val="270"/>
                        </a:spcBef>
                      </a:pPr>
                      <a:r>
                        <a:rPr sz="700" spc="-10" dirty="0">
                          <a:latin typeface="Arial"/>
                          <a:cs typeface="Arial"/>
                        </a:rPr>
                        <a:t>SIGN</a:t>
                      </a:r>
                      <a:endParaRPr sz="7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869315">
                        <a:lnSpc>
                          <a:spcPct val="100000"/>
                        </a:lnSpc>
                        <a:spcBef>
                          <a:spcPts val="245"/>
                        </a:spcBef>
                      </a:pPr>
                      <a:r>
                        <a:rPr sz="700" spc="-5" dirty="0">
                          <a:latin typeface="Arial"/>
                          <a:cs typeface="Arial"/>
                        </a:rPr>
                        <a:t>VREF_OFS_CH6</a:t>
                      </a:r>
                      <a:r>
                        <a:rPr sz="700" spc="-25" dirty="0">
                          <a:latin typeface="Arial"/>
                          <a:cs typeface="Arial"/>
                        </a:rPr>
                        <a:t> </a:t>
                      </a:r>
                      <a:r>
                        <a:rPr sz="700" spc="-5" dirty="0">
                          <a:latin typeface="Arial"/>
                          <a:cs typeface="Arial"/>
                        </a:rPr>
                        <a:t>[7:0]</a:t>
                      </a:r>
                      <a:endParaRPr sz="700" dirty="0">
                        <a:latin typeface="Arial"/>
                        <a:cs typeface="Arial"/>
                      </a:endParaRPr>
                    </a:p>
                  </a:txBody>
                  <a:tcPr marL="0" marR="0" marT="3111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extLst>
                  <a:ext uri="{0D108BD9-81ED-4DB2-BD59-A6C34878D82A}">
                    <a16:rowId xmlns:a16="http://schemas.microsoft.com/office/drawing/2014/main" val="10000"/>
                  </a:ext>
                </a:extLst>
              </a:tr>
            </a:tbl>
          </a:graphicData>
        </a:graphic>
      </p:graphicFrame>
      <p:graphicFrame>
        <p:nvGraphicFramePr>
          <p:cNvPr id="8" name="object 8"/>
          <p:cNvGraphicFramePr>
            <a:graphicFrameLocks noGrp="1"/>
          </p:cNvGraphicFramePr>
          <p:nvPr>
            <p:extLst>
              <p:ext uri="{D42A27DB-BD31-4B8C-83A1-F6EECF244321}">
                <p14:modId xmlns:p14="http://schemas.microsoft.com/office/powerpoint/2010/main" val="3052978158"/>
              </p:ext>
            </p:extLst>
          </p:nvPr>
        </p:nvGraphicFramePr>
        <p:xfrm>
          <a:off x="400914" y="2781490"/>
          <a:ext cx="6038543" cy="178435"/>
        </p:xfrm>
        <a:graphic>
          <a:graphicData uri="http://schemas.openxmlformats.org/drawingml/2006/table">
            <a:tbl>
              <a:tblPr firstRow="1" bandRow="1">
                <a:tableStyleId>{2D5ABB26-0587-4C30-8999-92F81FD0307C}</a:tableStyleId>
              </a:tblPr>
              <a:tblGrid>
                <a:gridCol w="412525">
                  <a:extLst>
                    <a:ext uri="{9D8B030D-6E8A-4147-A177-3AD203B41FA5}">
                      <a16:colId xmlns:a16="http://schemas.microsoft.com/office/drawing/2014/main" val="20000"/>
                    </a:ext>
                  </a:extLst>
                </a:gridCol>
                <a:gridCol w="474746">
                  <a:extLst>
                    <a:ext uri="{9D8B030D-6E8A-4147-A177-3AD203B41FA5}">
                      <a16:colId xmlns:a16="http://schemas.microsoft.com/office/drawing/2014/main" val="20001"/>
                    </a:ext>
                  </a:extLst>
                </a:gridCol>
                <a:gridCol w="322304">
                  <a:extLst>
                    <a:ext uri="{9D8B030D-6E8A-4147-A177-3AD203B41FA5}">
                      <a16:colId xmlns:a16="http://schemas.microsoft.com/office/drawing/2014/main" val="20002"/>
                    </a:ext>
                  </a:extLst>
                </a:gridCol>
                <a:gridCol w="322305">
                  <a:extLst>
                    <a:ext uri="{9D8B030D-6E8A-4147-A177-3AD203B41FA5}">
                      <a16:colId xmlns:a16="http://schemas.microsoft.com/office/drawing/2014/main" val="20003"/>
                    </a:ext>
                  </a:extLst>
                </a:gridCol>
                <a:gridCol w="322305">
                  <a:extLst>
                    <a:ext uri="{9D8B030D-6E8A-4147-A177-3AD203B41FA5}">
                      <a16:colId xmlns:a16="http://schemas.microsoft.com/office/drawing/2014/main" val="20004"/>
                    </a:ext>
                  </a:extLst>
                </a:gridCol>
                <a:gridCol w="1287351">
                  <a:extLst>
                    <a:ext uri="{9D8B030D-6E8A-4147-A177-3AD203B41FA5}">
                      <a16:colId xmlns:a16="http://schemas.microsoft.com/office/drawing/2014/main" val="20005"/>
                    </a:ext>
                  </a:extLst>
                </a:gridCol>
                <a:gridCol w="322304">
                  <a:extLst>
                    <a:ext uri="{9D8B030D-6E8A-4147-A177-3AD203B41FA5}">
                      <a16:colId xmlns:a16="http://schemas.microsoft.com/office/drawing/2014/main" val="20006"/>
                    </a:ext>
                  </a:extLst>
                </a:gridCol>
                <a:gridCol w="2574703">
                  <a:extLst>
                    <a:ext uri="{9D8B030D-6E8A-4147-A177-3AD203B41FA5}">
                      <a16:colId xmlns:a16="http://schemas.microsoft.com/office/drawing/2014/main" val="20007"/>
                    </a:ext>
                  </a:extLst>
                </a:gridCol>
              </a:tblGrid>
              <a:tr h="178435">
                <a:tc>
                  <a:txBody>
                    <a:bodyPr/>
                    <a:lstStyle/>
                    <a:p>
                      <a:pPr marL="124460">
                        <a:lnSpc>
                          <a:spcPct val="100000"/>
                        </a:lnSpc>
                        <a:spcBef>
                          <a:spcPts val="270"/>
                        </a:spcBef>
                      </a:pPr>
                      <a:r>
                        <a:rPr sz="700" spc="-10" dirty="0">
                          <a:latin typeface="Arial"/>
                          <a:cs typeface="Arial"/>
                        </a:rPr>
                        <a:t>‘h5F</a:t>
                      </a:r>
                      <a:endParaRPr sz="7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635" algn="ctr">
                        <a:lnSpc>
                          <a:spcPct val="100000"/>
                        </a:lnSpc>
                        <a:spcBef>
                          <a:spcPts val="270"/>
                        </a:spcBef>
                      </a:pPr>
                      <a:r>
                        <a:rPr sz="700" dirty="0">
                          <a:latin typeface="Arial"/>
                          <a:cs typeface="Arial"/>
                        </a:rPr>
                        <a:t>0</a:t>
                      </a: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2540" algn="ctr">
                        <a:lnSpc>
                          <a:spcPct val="100000"/>
                        </a:lnSpc>
                        <a:spcBef>
                          <a:spcPts val="245"/>
                        </a:spcBef>
                      </a:pPr>
                      <a:r>
                        <a:rPr sz="700" dirty="0">
                          <a:latin typeface="Arial"/>
                          <a:cs typeface="Arial"/>
                        </a:rPr>
                        <a:t>x</a:t>
                      </a:r>
                    </a:p>
                  </a:txBody>
                  <a:tcPr marL="0" marR="0" marT="3111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2540" algn="ctr">
                        <a:lnSpc>
                          <a:spcPct val="100000"/>
                        </a:lnSpc>
                        <a:spcBef>
                          <a:spcPts val="270"/>
                        </a:spcBef>
                      </a:pPr>
                      <a:r>
                        <a:rPr sz="700" dirty="0">
                          <a:latin typeface="Arial"/>
                          <a:cs typeface="Arial"/>
                        </a:rPr>
                        <a:t>x</a:t>
                      </a: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2540" algn="ctr">
                        <a:lnSpc>
                          <a:spcPct val="100000"/>
                        </a:lnSpc>
                        <a:spcBef>
                          <a:spcPts val="245"/>
                        </a:spcBef>
                      </a:pPr>
                      <a:r>
                        <a:rPr sz="700" dirty="0">
                          <a:latin typeface="Arial"/>
                          <a:cs typeface="Arial"/>
                        </a:rPr>
                        <a:t>x</a:t>
                      </a:r>
                    </a:p>
                  </a:txBody>
                  <a:tcPr marL="0" marR="0" marT="3111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187960">
                        <a:lnSpc>
                          <a:spcPct val="100000"/>
                        </a:lnSpc>
                        <a:spcBef>
                          <a:spcPts val="270"/>
                        </a:spcBef>
                      </a:pPr>
                      <a:r>
                        <a:rPr sz="700" spc="-5" dirty="0" err="1">
                          <a:latin typeface="Arial"/>
                          <a:cs typeface="Arial"/>
                        </a:rPr>
                        <a:t>VREF_LOFS_CH7</a:t>
                      </a:r>
                      <a:r>
                        <a:rPr sz="700" spc="-40" dirty="0">
                          <a:latin typeface="Arial"/>
                          <a:cs typeface="Arial"/>
                        </a:rPr>
                        <a:t> </a:t>
                      </a:r>
                      <a:r>
                        <a:rPr sz="700" spc="-5" dirty="0">
                          <a:latin typeface="Arial"/>
                          <a:cs typeface="Arial"/>
                        </a:rPr>
                        <a:t>[3:0]</a:t>
                      </a:r>
                      <a:endParaRPr sz="7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56515">
                        <a:lnSpc>
                          <a:spcPct val="100000"/>
                        </a:lnSpc>
                        <a:spcBef>
                          <a:spcPts val="270"/>
                        </a:spcBef>
                      </a:pPr>
                      <a:r>
                        <a:rPr sz="700" spc="-10" dirty="0">
                          <a:latin typeface="Arial"/>
                          <a:cs typeface="Arial"/>
                        </a:rPr>
                        <a:t>SIGN</a:t>
                      </a:r>
                      <a:endParaRPr sz="7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869315">
                        <a:lnSpc>
                          <a:spcPct val="100000"/>
                        </a:lnSpc>
                        <a:spcBef>
                          <a:spcPts val="245"/>
                        </a:spcBef>
                      </a:pPr>
                      <a:r>
                        <a:rPr sz="700" spc="-5" dirty="0" err="1">
                          <a:latin typeface="Arial"/>
                          <a:cs typeface="Arial"/>
                        </a:rPr>
                        <a:t>VREF_OFS_CH7</a:t>
                      </a:r>
                      <a:r>
                        <a:rPr sz="700" spc="-25" dirty="0">
                          <a:latin typeface="Arial"/>
                          <a:cs typeface="Arial"/>
                        </a:rPr>
                        <a:t> </a:t>
                      </a:r>
                      <a:r>
                        <a:rPr sz="700" spc="-5" dirty="0">
                          <a:latin typeface="Arial"/>
                          <a:cs typeface="Arial"/>
                        </a:rPr>
                        <a:t>[7:0]</a:t>
                      </a:r>
                      <a:endParaRPr sz="700" dirty="0">
                        <a:latin typeface="Arial"/>
                        <a:cs typeface="Arial"/>
                      </a:endParaRPr>
                    </a:p>
                  </a:txBody>
                  <a:tcPr marL="0" marR="0" marT="3111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extLst>
                  <a:ext uri="{0D108BD9-81ED-4DB2-BD59-A6C34878D82A}">
                    <a16:rowId xmlns:a16="http://schemas.microsoft.com/office/drawing/2014/main" val="10000"/>
                  </a:ext>
                </a:extLst>
              </a:tr>
            </a:tbl>
          </a:graphicData>
        </a:graphic>
      </p:graphicFrame>
      <p:graphicFrame>
        <p:nvGraphicFramePr>
          <p:cNvPr id="9" name="object 9"/>
          <p:cNvGraphicFramePr>
            <a:graphicFrameLocks noGrp="1"/>
          </p:cNvGraphicFramePr>
          <p:nvPr>
            <p:extLst>
              <p:ext uri="{D42A27DB-BD31-4B8C-83A1-F6EECF244321}">
                <p14:modId xmlns:p14="http://schemas.microsoft.com/office/powerpoint/2010/main" val="3366697408"/>
              </p:ext>
            </p:extLst>
          </p:nvPr>
        </p:nvGraphicFramePr>
        <p:xfrm>
          <a:off x="400914" y="3010852"/>
          <a:ext cx="6038543" cy="178435"/>
        </p:xfrm>
        <a:graphic>
          <a:graphicData uri="http://schemas.openxmlformats.org/drawingml/2006/table">
            <a:tbl>
              <a:tblPr firstRow="1" bandRow="1">
                <a:tableStyleId>{2D5ABB26-0587-4C30-8999-92F81FD0307C}</a:tableStyleId>
              </a:tblPr>
              <a:tblGrid>
                <a:gridCol w="412525">
                  <a:extLst>
                    <a:ext uri="{9D8B030D-6E8A-4147-A177-3AD203B41FA5}">
                      <a16:colId xmlns:a16="http://schemas.microsoft.com/office/drawing/2014/main" val="20000"/>
                    </a:ext>
                  </a:extLst>
                </a:gridCol>
                <a:gridCol w="474746">
                  <a:extLst>
                    <a:ext uri="{9D8B030D-6E8A-4147-A177-3AD203B41FA5}">
                      <a16:colId xmlns:a16="http://schemas.microsoft.com/office/drawing/2014/main" val="20001"/>
                    </a:ext>
                  </a:extLst>
                </a:gridCol>
                <a:gridCol w="322304">
                  <a:extLst>
                    <a:ext uri="{9D8B030D-6E8A-4147-A177-3AD203B41FA5}">
                      <a16:colId xmlns:a16="http://schemas.microsoft.com/office/drawing/2014/main" val="20002"/>
                    </a:ext>
                  </a:extLst>
                </a:gridCol>
                <a:gridCol w="322305">
                  <a:extLst>
                    <a:ext uri="{9D8B030D-6E8A-4147-A177-3AD203B41FA5}">
                      <a16:colId xmlns:a16="http://schemas.microsoft.com/office/drawing/2014/main" val="20003"/>
                    </a:ext>
                  </a:extLst>
                </a:gridCol>
                <a:gridCol w="322305">
                  <a:extLst>
                    <a:ext uri="{9D8B030D-6E8A-4147-A177-3AD203B41FA5}">
                      <a16:colId xmlns:a16="http://schemas.microsoft.com/office/drawing/2014/main" val="20004"/>
                    </a:ext>
                  </a:extLst>
                </a:gridCol>
                <a:gridCol w="1287351">
                  <a:extLst>
                    <a:ext uri="{9D8B030D-6E8A-4147-A177-3AD203B41FA5}">
                      <a16:colId xmlns:a16="http://schemas.microsoft.com/office/drawing/2014/main" val="20005"/>
                    </a:ext>
                  </a:extLst>
                </a:gridCol>
                <a:gridCol w="322304">
                  <a:extLst>
                    <a:ext uri="{9D8B030D-6E8A-4147-A177-3AD203B41FA5}">
                      <a16:colId xmlns:a16="http://schemas.microsoft.com/office/drawing/2014/main" val="20006"/>
                    </a:ext>
                  </a:extLst>
                </a:gridCol>
                <a:gridCol w="2574703">
                  <a:extLst>
                    <a:ext uri="{9D8B030D-6E8A-4147-A177-3AD203B41FA5}">
                      <a16:colId xmlns:a16="http://schemas.microsoft.com/office/drawing/2014/main" val="20007"/>
                    </a:ext>
                  </a:extLst>
                </a:gridCol>
              </a:tblGrid>
              <a:tr h="178435">
                <a:tc>
                  <a:txBody>
                    <a:bodyPr/>
                    <a:lstStyle/>
                    <a:p>
                      <a:pPr marL="126364">
                        <a:lnSpc>
                          <a:spcPct val="100000"/>
                        </a:lnSpc>
                        <a:spcBef>
                          <a:spcPts val="270"/>
                        </a:spcBef>
                      </a:pPr>
                      <a:r>
                        <a:rPr sz="700" spc="-10" dirty="0">
                          <a:latin typeface="Arial"/>
                          <a:cs typeface="Arial"/>
                        </a:rPr>
                        <a:t>‘h60</a:t>
                      </a:r>
                      <a:endParaRPr sz="7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635" algn="ctr">
                        <a:lnSpc>
                          <a:spcPct val="100000"/>
                        </a:lnSpc>
                        <a:spcBef>
                          <a:spcPts val="270"/>
                        </a:spcBef>
                      </a:pPr>
                      <a:r>
                        <a:rPr sz="700" dirty="0">
                          <a:latin typeface="Arial"/>
                          <a:cs typeface="Arial"/>
                        </a:rPr>
                        <a:t>0</a:t>
                      </a: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2540" algn="ctr">
                        <a:lnSpc>
                          <a:spcPct val="100000"/>
                        </a:lnSpc>
                        <a:spcBef>
                          <a:spcPts val="245"/>
                        </a:spcBef>
                      </a:pPr>
                      <a:r>
                        <a:rPr sz="700" dirty="0">
                          <a:latin typeface="Arial"/>
                          <a:cs typeface="Arial"/>
                        </a:rPr>
                        <a:t>x</a:t>
                      </a:r>
                    </a:p>
                  </a:txBody>
                  <a:tcPr marL="0" marR="0" marT="3111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2540" algn="ctr">
                        <a:lnSpc>
                          <a:spcPct val="100000"/>
                        </a:lnSpc>
                        <a:spcBef>
                          <a:spcPts val="270"/>
                        </a:spcBef>
                      </a:pPr>
                      <a:r>
                        <a:rPr sz="700" dirty="0">
                          <a:latin typeface="Arial"/>
                          <a:cs typeface="Arial"/>
                        </a:rPr>
                        <a:t>x</a:t>
                      </a: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2540" algn="ctr">
                        <a:lnSpc>
                          <a:spcPct val="100000"/>
                        </a:lnSpc>
                        <a:spcBef>
                          <a:spcPts val="245"/>
                        </a:spcBef>
                      </a:pPr>
                      <a:r>
                        <a:rPr sz="700" dirty="0">
                          <a:latin typeface="Arial"/>
                          <a:cs typeface="Arial"/>
                        </a:rPr>
                        <a:t>x</a:t>
                      </a:r>
                    </a:p>
                  </a:txBody>
                  <a:tcPr marL="0" marR="0" marT="3111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187960">
                        <a:lnSpc>
                          <a:spcPct val="100000"/>
                        </a:lnSpc>
                        <a:spcBef>
                          <a:spcPts val="270"/>
                        </a:spcBef>
                      </a:pPr>
                      <a:r>
                        <a:rPr sz="700" spc="-5" dirty="0">
                          <a:latin typeface="Arial"/>
                          <a:cs typeface="Arial"/>
                        </a:rPr>
                        <a:t>VREF_LOFS_CH8</a:t>
                      </a:r>
                      <a:r>
                        <a:rPr sz="700" spc="-40" dirty="0">
                          <a:latin typeface="Arial"/>
                          <a:cs typeface="Arial"/>
                        </a:rPr>
                        <a:t> </a:t>
                      </a:r>
                      <a:r>
                        <a:rPr sz="700" spc="-5" dirty="0">
                          <a:latin typeface="Arial"/>
                          <a:cs typeface="Arial"/>
                        </a:rPr>
                        <a:t>[3:0]</a:t>
                      </a:r>
                      <a:endParaRPr sz="7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56515">
                        <a:lnSpc>
                          <a:spcPct val="100000"/>
                        </a:lnSpc>
                        <a:spcBef>
                          <a:spcPts val="270"/>
                        </a:spcBef>
                      </a:pPr>
                      <a:r>
                        <a:rPr sz="700" spc="-10" dirty="0">
                          <a:latin typeface="Arial"/>
                          <a:cs typeface="Arial"/>
                        </a:rPr>
                        <a:t>SIGN</a:t>
                      </a:r>
                      <a:endParaRPr sz="7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869315">
                        <a:lnSpc>
                          <a:spcPct val="100000"/>
                        </a:lnSpc>
                        <a:spcBef>
                          <a:spcPts val="245"/>
                        </a:spcBef>
                      </a:pPr>
                      <a:r>
                        <a:rPr sz="700" spc="-5" dirty="0">
                          <a:latin typeface="Arial"/>
                          <a:cs typeface="Arial"/>
                        </a:rPr>
                        <a:t>VREF_OFS_CH8</a:t>
                      </a:r>
                      <a:r>
                        <a:rPr sz="700" spc="-25" dirty="0">
                          <a:latin typeface="Arial"/>
                          <a:cs typeface="Arial"/>
                        </a:rPr>
                        <a:t> </a:t>
                      </a:r>
                      <a:r>
                        <a:rPr sz="700" spc="-5" dirty="0">
                          <a:latin typeface="Arial"/>
                          <a:cs typeface="Arial"/>
                        </a:rPr>
                        <a:t>[7:0]</a:t>
                      </a:r>
                      <a:endParaRPr sz="700" dirty="0">
                        <a:latin typeface="Arial"/>
                        <a:cs typeface="Arial"/>
                      </a:endParaRPr>
                    </a:p>
                  </a:txBody>
                  <a:tcPr marL="0" marR="0" marT="3111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extLst>
                  <a:ext uri="{0D108BD9-81ED-4DB2-BD59-A6C34878D82A}">
                    <a16:rowId xmlns:a16="http://schemas.microsoft.com/office/drawing/2014/main" val="10000"/>
                  </a:ext>
                </a:extLst>
              </a:tr>
            </a:tbl>
          </a:graphicData>
        </a:graphic>
      </p:graphicFrame>
      <p:graphicFrame>
        <p:nvGraphicFramePr>
          <p:cNvPr id="10" name="object 10"/>
          <p:cNvGraphicFramePr>
            <a:graphicFrameLocks noGrp="1"/>
          </p:cNvGraphicFramePr>
          <p:nvPr>
            <p:extLst>
              <p:ext uri="{D42A27DB-BD31-4B8C-83A1-F6EECF244321}">
                <p14:modId xmlns:p14="http://schemas.microsoft.com/office/powerpoint/2010/main" val="3515233339"/>
              </p:ext>
            </p:extLst>
          </p:nvPr>
        </p:nvGraphicFramePr>
        <p:xfrm>
          <a:off x="400914" y="3241738"/>
          <a:ext cx="6038543" cy="178435"/>
        </p:xfrm>
        <a:graphic>
          <a:graphicData uri="http://schemas.openxmlformats.org/drawingml/2006/table">
            <a:tbl>
              <a:tblPr firstRow="1" bandRow="1">
                <a:tableStyleId>{2D5ABB26-0587-4C30-8999-92F81FD0307C}</a:tableStyleId>
              </a:tblPr>
              <a:tblGrid>
                <a:gridCol w="412525">
                  <a:extLst>
                    <a:ext uri="{9D8B030D-6E8A-4147-A177-3AD203B41FA5}">
                      <a16:colId xmlns:a16="http://schemas.microsoft.com/office/drawing/2014/main" val="20000"/>
                    </a:ext>
                  </a:extLst>
                </a:gridCol>
                <a:gridCol w="474746">
                  <a:extLst>
                    <a:ext uri="{9D8B030D-6E8A-4147-A177-3AD203B41FA5}">
                      <a16:colId xmlns:a16="http://schemas.microsoft.com/office/drawing/2014/main" val="20001"/>
                    </a:ext>
                  </a:extLst>
                </a:gridCol>
                <a:gridCol w="322304">
                  <a:extLst>
                    <a:ext uri="{9D8B030D-6E8A-4147-A177-3AD203B41FA5}">
                      <a16:colId xmlns:a16="http://schemas.microsoft.com/office/drawing/2014/main" val="20002"/>
                    </a:ext>
                  </a:extLst>
                </a:gridCol>
                <a:gridCol w="322305">
                  <a:extLst>
                    <a:ext uri="{9D8B030D-6E8A-4147-A177-3AD203B41FA5}">
                      <a16:colId xmlns:a16="http://schemas.microsoft.com/office/drawing/2014/main" val="20003"/>
                    </a:ext>
                  </a:extLst>
                </a:gridCol>
                <a:gridCol w="322305">
                  <a:extLst>
                    <a:ext uri="{9D8B030D-6E8A-4147-A177-3AD203B41FA5}">
                      <a16:colId xmlns:a16="http://schemas.microsoft.com/office/drawing/2014/main" val="20004"/>
                    </a:ext>
                  </a:extLst>
                </a:gridCol>
                <a:gridCol w="1287351">
                  <a:extLst>
                    <a:ext uri="{9D8B030D-6E8A-4147-A177-3AD203B41FA5}">
                      <a16:colId xmlns:a16="http://schemas.microsoft.com/office/drawing/2014/main" val="20005"/>
                    </a:ext>
                  </a:extLst>
                </a:gridCol>
                <a:gridCol w="322304">
                  <a:extLst>
                    <a:ext uri="{9D8B030D-6E8A-4147-A177-3AD203B41FA5}">
                      <a16:colId xmlns:a16="http://schemas.microsoft.com/office/drawing/2014/main" val="20006"/>
                    </a:ext>
                  </a:extLst>
                </a:gridCol>
                <a:gridCol w="2574703">
                  <a:extLst>
                    <a:ext uri="{9D8B030D-6E8A-4147-A177-3AD203B41FA5}">
                      <a16:colId xmlns:a16="http://schemas.microsoft.com/office/drawing/2014/main" val="20007"/>
                    </a:ext>
                  </a:extLst>
                </a:gridCol>
              </a:tblGrid>
              <a:tr h="178435">
                <a:tc>
                  <a:txBody>
                    <a:bodyPr/>
                    <a:lstStyle/>
                    <a:p>
                      <a:pPr marL="126364">
                        <a:lnSpc>
                          <a:spcPct val="100000"/>
                        </a:lnSpc>
                        <a:spcBef>
                          <a:spcPts val="270"/>
                        </a:spcBef>
                      </a:pPr>
                      <a:r>
                        <a:rPr sz="700" spc="-5" dirty="0">
                          <a:latin typeface="Arial"/>
                          <a:cs typeface="Arial"/>
                        </a:rPr>
                        <a:t>‘h61</a:t>
                      </a:r>
                      <a:endParaRPr sz="7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635" algn="ctr">
                        <a:lnSpc>
                          <a:spcPct val="100000"/>
                        </a:lnSpc>
                        <a:spcBef>
                          <a:spcPts val="270"/>
                        </a:spcBef>
                      </a:pPr>
                      <a:r>
                        <a:rPr sz="700" dirty="0">
                          <a:latin typeface="Arial"/>
                          <a:cs typeface="Arial"/>
                        </a:rPr>
                        <a:t>0</a:t>
                      </a: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2540" algn="ctr">
                        <a:lnSpc>
                          <a:spcPct val="100000"/>
                        </a:lnSpc>
                        <a:spcBef>
                          <a:spcPts val="245"/>
                        </a:spcBef>
                      </a:pPr>
                      <a:r>
                        <a:rPr sz="700" dirty="0">
                          <a:latin typeface="Arial"/>
                          <a:cs typeface="Arial"/>
                        </a:rPr>
                        <a:t>x</a:t>
                      </a:r>
                    </a:p>
                  </a:txBody>
                  <a:tcPr marL="0" marR="0" marT="3111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2540" algn="ctr">
                        <a:lnSpc>
                          <a:spcPct val="100000"/>
                        </a:lnSpc>
                        <a:spcBef>
                          <a:spcPts val="270"/>
                        </a:spcBef>
                      </a:pPr>
                      <a:r>
                        <a:rPr sz="700" dirty="0">
                          <a:latin typeface="Arial"/>
                          <a:cs typeface="Arial"/>
                        </a:rPr>
                        <a:t>x</a:t>
                      </a: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3175" algn="ctr">
                        <a:lnSpc>
                          <a:spcPct val="100000"/>
                        </a:lnSpc>
                        <a:spcBef>
                          <a:spcPts val="245"/>
                        </a:spcBef>
                      </a:pPr>
                      <a:r>
                        <a:rPr sz="700" dirty="0">
                          <a:latin typeface="Arial"/>
                          <a:cs typeface="Arial"/>
                        </a:rPr>
                        <a:t>x</a:t>
                      </a:r>
                    </a:p>
                  </a:txBody>
                  <a:tcPr marL="0" marR="0" marT="3111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187960">
                        <a:lnSpc>
                          <a:spcPct val="100000"/>
                        </a:lnSpc>
                        <a:spcBef>
                          <a:spcPts val="270"/>
                        </a:spcBef>
                      </a:pPr>
                      <a:r>
                        <a:rPr sz="700" spc="-5" dirty="0">
                          <a:latin typeface="Arial"/>
                          <a:cs typeface="Arial"/>
                        </a:rPr>
                        <a:t>VREF_LOFS_CH9</a:t>
                      </a:r>
                      <a:r>
                        <a:rPr sz="700" spc="-40" dirty="0">
                          <a:latin typeface="Arial"/>
                          <a:cs typeface="Arial"/>
                        </a:rPr>
                        <a:t> </a:t>
                      </a:r>
                      <a:r>
                        <a:rPr sz="700" spc="-5" dirty="0">
                          <a:latin typeface="Arial"/>
                          <a:cs typeface="Arial"/>
                        </a:rPr>
                        <a:t>[3:0]</a:t>
                      </a:r>
                      <a:endParaRPr sz="7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56515">
                        <a:lnSpc>
                          <a:spcPct val="100000"/>
                        </a:lnSpc>
                        <a:spcBef>
                          <a:spcPts val="270"/>
                        </a:spcBef>
                      </a:pPr>
                      <a:r>
                        <a:rPr sz="700" spc="-10" dirty="0">
                          <a:latin typeface="Arial"/>
                          <a:cs typeface="Arial"/>
                        </a:rPr>
                        <a:t>SIGN</a:t>
                      </a:r>
                      <a:endParaRPr sz="7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869315">
                        <a:lnSpc>
                          <a:spcPct val="100000"/>
                        </a:lnSpc>
                        <a:spcBef>
                          <a:spcPts val="245"/>
                        </a:spcBef>
                      </a:pPr>
                      <a:r>
                        <a:rPr sz="700" spc="-5" dirty="0">
                          <a:latin typeface="Arial"/>
                          <a:cs typeface="Arial"/>
                        </a:rPr>
                        <a:t>VREF_OFS_CH9</a:t>
                      </a:r>
                      <a:r>
                        <a:rPr sz="700" spc="-25" dirty="0">
                          <a:latin typeface="Arial"/>
                          <a:cs typeface="Arial"/>
                        </a:rPr>
                        <a:t> </a:t>
                      </a:r>
                      <a:r>
                        <a:rPr sz="700" spc="-5" dirty="0">
                          <a:latin typeface="Arial"/>
                          <a:cs typeface="Arial"/>
                        </a:rPr>
                        <a:t>[7:0]</a:t>
                      </a:r>
                      <a:endParaRPr sz="700" dirty="0">
                        <a:latin typeface="Arial"/>
                        <a:cs typeface="Arial"/>
                      </a:endParaRPr>
                    </a:p>
                  </a:txBody>
                  <a:tcPr marL="0" marR="0" marT="3111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extLst>
                  <a:ext uri="{0D108BD9-81ED-4DB2-BD59-A6C34878D82A}">
                    <a16:rowId xmlns:a16="http://schemas.microsoft.com/office/drawing/2014/main" val="10000"/>
                  </a:ext>
                </a:extLst>
              </a:tr>
            </a:tbl>
          </a:graphicData>
        </a:graphic>
      </p:graphicFrame>
      <p:graphicFrame>
        <p:nvGraphicFramePr>
          <p:cNvPr id="11" name="object 11"/>
          <p:cNvGraphicFramePr>
            <a:graphicFrameLocks noGrp="1"/>
          </p:cNvGraphicFramePr>
          <p:nvPr>
            <p:extLst>
              <p:ext uri="{D42A27DB-BD31-4B8C-83A1-F6EECF244321}">
                <p14:modId xmlns:p14="http://schemas.microsoft.com/office/powerpoint/2010/main" val="922470887"/>
              </p:ext>
            </p:extLst>
          </p:nvPr>
        </p:nvGraphicFramePr>
        <p:xfrm>
          <a:off x="400914" y="3469322"/>
          <a:ext cx="6038543" cy="178435"/>
        </p:xfrm>
        <a:graphic>
          <a:graphicData uri="http://schemas.openxmlformats.org/drawingml/2006/table">
            <a:tbl>
              <a:tblPr firstRow="1" bandRow="1">
                <a:tableStyleId>{2D5ABB26-0587-4C30-8999-92F81FD0307C}</a:tableStyleId>
              </a:tblPr>
              <a:tblGrid>
                <a:gridCol w="412525">
                  <a:extLst>
                    <a:ext uri="{9D8B030D-6E8A-4147-A177-3AD203B41FA5}">
                      <a16:colId xmlns:a16="http://schemas.microsoft.com/office/drawing/2014/main" val="20000"/>
                    </a:ext>
                  </a:extLst>
                </a:gridCol>
                <a:gridCol w="474746">
                  <a:extLst>
                    <a:ext uri="{9D8B030D-6E8A-4147-A177-3AD203B41FA5}">
                      <a16:colId xmlns:a16="http://schemas.microsoft.com/office/drawing/2014/main" val="20001"/>
                    </a:ext>
                  </a:extLst>
                </a:gridCol>
                <a:gridCol w="322304">
                  <a:extLst>
                    <a:ext uri="{9D8B030D-6E8A-4147-A177-3AD203B41FA5}">
                      <a16:colId xmlns:a16="http://schemas.microsoft.com/office/drawing/2014/main" val="20002"/>
                    </a:ext>
                  </a:extLst>
                </a:gridCol>
                <a:gridCol w="322305">
                  <a:extLst>
                    <a:ext uri="{9D8B030D-6E8A-4147-A177-3AD203B41FA5}">
                      <a16:colId xmlns:a16="http://schemas.microsoft.com/office/drawing/2014/main" val="20003"/>
                    </a:ext>
                  </a:extLst>
                </a:gridCol>
                <a:gridCol w="322305">
                  <a:extLst>
                    <a:ext uri="{9D8B030D-6E8A-4147-A177-3AD203B41FA5}">
                      <a16:colId xmlns:a16="http://schemas.microsoft.com/office/drawing/2014/main" val="20004"/>
                    </a:ext>
                  </a:extLst>
                </a:gridCol>
                <a:gridCol w="1287351">
                  <a:extLst>
                    <a:ext uri="{9D8B030D-6E8A-4147-A177-3AD203B41FA5}">
                      <a16:colId xmlns:a16="http://schemas.microsoft.com/office/drawing/2014/main" val="20005"/>
                    </a:ext>
                  </a:extLst>
                </a:gridCol>
                <a:gridCol w="322304">
                  <a:extLst>
                    <a:ext uri="{9D8B030D-6E8A-4147-A177-3AD203B41FA5}">
                      <a16:colId xmlns:a16="http://schemas.microsoft.com/office/drawing/2014/main" val="20006"/>
                    </a:ext>
                  </a:extLst>
                </a:gridCol>
                <a:gridCol w="2574703">
                  <a:extLst>
                    <a:ext uri="{9D8B030D-6E8A-4147-A177-3AD203B41FA5}">
                      <a16:colId xmlns:a16="http://schemas.microsoft.com/office/drawing/2014/main" val="20007"/>
                    </a:ext>
                  </a:extLst>
                </a:gridCol>
              </a:tblGrid>
              <a:tr h="178435">
                <a:tc>
                  <a:txBody>
                    <a:bodyPr/>
                    <a:lstStyle/>
                    <a:p>
                      <a:pPr marL="126364">
                        <a:lnSpc>
                          <a:spcPct val="100000"/>
                        </a:lnSpc>
                        <a:spcBef>
                          <a:spcPts val="270"/>
                        </a:spcBef>
                      </a:pPr>
                      <a:r>
                        <a:rPr sz="700" spc="-10" dirty="0">
                          <a:latin typeface="Arial"/>
                          <a:cs typeface="Arial"/>
                        </a:rPr>
                        <a:t>‘h62</a:t>
                      </a:r>
                      <a:endParaRPr sz="7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635" algn="ctr">
                        <a:lnSpc>
                          <a:spcPct val="100000"/>
                        </a:lnSpc>
                        <a:spcBef>
                          <a:spcPts val="270"/>
                        </a:spcBef>
                      </a:pPr>
                      <a:r>
                        <a:rPr sz="700" dirty="0">
                          <a:latin typeface="Arial"/>
                          <a:cs typeface="Arial"/>
                        </a:rPr>
                        <a:t>0</a:t>
                      </a: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2540" algn="ctr">
                        <a:lnSpc>
                          <a:spcPct val="100000"/>
                        </a:lnSpc>
                        <a:spcBef>
                          <a:spcPts val="245"/>
                        </a:spcBef>
                      </a:pPr>
                      <a:r>
                        <a:rPr sz="700" dirty="0">
                          <a:latin typeface="Arial"/>
                          <a:cs typeface="Arial"/>
                        </a:rPr>
                        <a:t>x</a:t>
                      </a:r>
                    </a:p>
                  </a:txBody>
                  <a:tcPr marL="0" marR="0" marT="3111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2540" algn="ctr">
                        <a:lnSpc>
                          <a:spcPct val="100000"/>
                        </a:lnSpc>
                        <a:spcBef>
                          <a:spcPts val="270"/>
                        </a:spcBef>
                      </a:pPr>
                      <a:r>
                        <a:rPr sz="700" dirty="0">
                          <a:latin typeface="Arial"/>
                          <a:cs typeface="Arial"/>
                        </a:rPr>
                        <a:t>x</a:t>
                      </a: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2540" algn="ctr">
                        <a:lnSpc>
                          <a:spcPct val="100000"/>
                        </a:lnSpc>
                        <a:spcBef>
                          <a:spcPts val="245"/>
                        </a:spcBef>
                      </a:pPr>
                      <a:r>
                        <a:rPr sz="700" dirty="0">
                          <a:latin typeface="Arial"/>
                          <a:cs typeface="Arial"/>
                        </a:rPr>
                        <a:t>x</a:t>
                      </a:r>
                    </a:p>
                  </a:txBody>
                  <a:tcPr marL="0" marR="0" marT="3111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163830">
                        <a:lnSpc>
                          <a:spcPct val="100000"/>
                        </a:lnSpc>
                        <a:spcBef>
                          <a:spcPts val="270"/>
                        </a:spcBef>
                      </a:pPr>
                      <a:r>
                        <a:rPr sz="700" spc="-10" dirty="0">
                          <a:latin typeface="Arial"/>
                          <a:cs typeface="Arial"/>
                        </a:rPr>
                        <a:t>VREF_LOFS_CH10 </a:t>
                      </a:r>
                      <a:r>
                        <a:rPr sz="700" spc="-5" dirty="0">
                          <a:latin typeface="Arial"/>
                          <a:cs typeface="Arial"/>
                        </a:rPr>
                        <a:t>[3:0]</a:t>
                      </a:r>
                      <a:endParaRPr sz="7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56515">
                        <a:lnSpc>
                          <a:spcPct val="100000"/>
                        </a:lnSpc>
                        <a:spcBef>
                          <a:spcPts val="270"/>
                        </a:spcBef>
                      </a:pPr>
                      <a:r>
                        <a:rPr sz="700" spc="-10" dirty="0">
                          <a:latin typeface="Arial"/>
                          <a:cs typeface="Arial"/>
                        </a:rPr>
                        <a:t>SIGN</a:t>
                      </a:r>
                      <a:endParaRPr sz="7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844550">
                        <a:lnSpc>
                          <a:spcPct val="100000"/>
                        </a:lnSpc>
                        <a:spcBef>
                          <a:spcPts val="245"/>
                        </a:spcBef>
                      </a:pPr>
                      <a:r>
                        <a:rPr sz="700" spc="-5" dirty="0">
                          <a:latin typeface="Arial"/>
                          <a:cs typeface="Arial"/>
                        </a:rPr>
                        <a:t>VREF_OFS_CH10</a:t>
                      </a:r>
                      <a:r>
                        <a:rPr sz="700" spc="-40" dirty="0">
                          <a:latin typeface="Arial"/>
                          <a:cs typeface="Arial"/>
                        </a:rPr>
                        <a:t> </a:t>
                      </a:r>
                      <a:r>
                        <a:rPr sz="700" spc="-5" dirty="0">
                          <a:latin typeface="Arial"/>
                          <a:cs typeface="Arial"/>
                        </a:rPr>
                        <a:t>[7:0]</a:t>
                      </a:r>
                      <a:endParaRPr sz="700" dirty="0">
                        <a:latin typeface="Arial"/>
                        <a:cs typeface="Arial"/>
                      </a:endParaRPr>
                    </a:p>
                  </a:txBody>
                  <a:tcPr marL="0" marR="0" marT="3111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extLst>
                  <a:ext uri="{0D108BD9-81ED-4DB2-BD59-A6C34878D82A}">
                    <a16:rowId xmlns:a16="http://schemas.microsoft.com/office/drawing/2014/main" val="10000"/>
                  </a:ext>
                </a:extLst>
              </a:tr>
            </a:tbl>
          </a:graphicData>
        </a:graphic>
      </p:graphicFrame>
      <p:graphicFrame>
        <p:nvGraphicFramePr>
          <p:cNvPr id="12" name="object 12"/>
          <p:cNvGraphicFramePr>
            <a:graphicFrameLocks noGrp="1"/>
          </p:cNvGraphicFramePr>
          <p:nvPr>
            <p:extLst>
              <p:ext uri="{D42A27DB-BD31-4B8C-83A1-F6EECF244321}">
                <p14:modId xmlns:p14="http://schemas.microsoft.com/office/powerpoint/2010/main" val="1734689800"/>
              </p:ext>
            </p:extLst>
          </p:nvPr>
        </p:nvGraphicFramePr>
        <p:xfrm>
          <a:off x="400914" y="3696906"/>
          <a:ext cx="6038543" cy="178435"/>
        </p:xfrm>
        <a:graphic>
          <a:graphicData uri="http://schemas.openxmlformats.org/drawingml/2006/table">
            <a:tbl>
              <a:tblPr firstRow="1" bandRow="1">
                <a:tableStyleId>{2D5ABB26-0587-4C30-8999-92F81FD0307C}</a:tableStyleId>
              </a:tblPr>
              <a:tblGrid>
                <a:gridCol w="412525">
                  <a:extLst>
                    <a:ext uri="{9D8B030D-6E8A-4147-A177-3AD203B41FA5}">
                      <a16:colId xmlns:a16="http://schemas.microsoft.com/office/drawing/2014/main" val="20000"/>
                    </a:ext>
                  </a:extLst>
                </a:gridCol>
                <a:gridCol w="474746">
                  <a:extLst>
                    <a:ext uri="{9D8B030D-6E8A-4147-A177-3AD203B41FA5}">
                      <a16:colId xmlns:a16="http://schemas.microsoft.com/office/drawing/2014/main" val="20001"/>
                    </a:ext>
                  </a:extLst>
                </a:gridCol>
                <a:gridCol w="322304">
                  <a:extLst>
                    <a:ext uri="{9D8B030D-6E8A-4147-A177-3AD203B41FA5}">
                      <a16:colId xmlns:a16="http://schemas.microsoft.com/office/drawing/2014/main" val="20002"/>
                    </a:ext>
                  </a:extLst>
                </a:gridCol>
                <a:gridCol w="322305">
                  <a:extLst>
                    <a:ext uri="{9D8B030D-6E8A-4147-A177-3AD203B41FA5}">
                      <a16:colId xmlns:a16="http://schemas.microsoft.com/office/drawing/2014/main" val="20003"/>
                    </a:ext>
                  </a:extLst>
                </a:gridCol>
                <a:gridCol w="322305">
                  <a:extLst>
                    <a:ext uri="{9D8B030D-6E8A-4147-A177-3AD203B41FA5}">
                      <a16:colId xmlns:a16="http://schemas.microsoft.com/office/drawing/2014/main" val="20004"/>
                    </a:ext>
                  </a:extLst>
                </a:gridCol>
                <a:gridCol w="1287351">
                  <a:extLst>
                    <a:ext uri="{9D8B030D-6E8A-4147-A177-3AD203B41FA5}">
                      <a16:colId xmlns:a16="http://schemas.microsoft.com/office/drawing/2014/main" val="20005"/>
                    </a:ext>
                  </a:extLst>
                </a:gridCol>
                <a:gridCol w="322304">
                  <a:extLst>
                    <a:ext uri="{9D8B030D-6E8A-4147-A177-3AD203B41FA5}">
                      <a16:colId xmlns:a16="http://schemas.microsoft.com/office/drawing/2014/main" val="20006"/>
                    </a:ext>
                  </a:extLst>
                </a:gridCol>
                <a:gridCol w="2574703">
                  <a:extLst>
                    <a:ext uri="{9D8B030D-6E8A-4147-A177-3AD203B41FA5}">
                      <a16:colId xmlns:a16="http://schemas.microsoft.com/office/drawing/2014/main" val="20007"/>
                    </a:ext>
                  </a:extLst>
                </a:gridCol>
              </a:tblGrid>
              <a:tr h="178435">
                <a:tc>
                  <a:txBody>
                    <a:bodyPr/>
                    <a:lstStyle/>
                    <a:p>
                      <a:pPr marL="126364">
                        <a:lnSpc>
                          <a:spcPct val="100000"/>
                        </a:lnSpc>
                        <a:spcBef>
                          <a:spcPts val="270"/>
                        </a:spcBef>
                      </a:pPr>
                      <a:r>
                        <a:rPr sz="700" spc="-10" dirty="0">
                          <a:latin typeface="Arial"/>
                          <a:cs typeface="Arial"/>
                        </a:rPr>
                        <a:t>‘h63</a:t>
                      </a:r>
                      <a:endParaRPr sz="7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635" algn="ctr">
                        <a:lnSpc>
                          <a:spcPct val="100000"/>
                        </a:lnSpc>
                        <a:spcBef>
                          <a:spcPts val="270"/>
                        </a:spcBef>
                      </a:pPr>
                      <a:r>
                        <a:rPr sz="700" dirty="0">
                          <a:latin typeface="Arial"/>
                          <a:cs typeface="Arial"/>
                        </a:rPr>
                        <a:t>0</a:t>
                      </a: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2540" algn="ctr">
                        <a:lnSpc>
                          <a:spcPct val="100000"/>
                        </a:lnSpc>
                        <a:spcBef>
                          <a:spcPts val="245"/>
                        </a:spcBef>
                      </a:pPr>
                      <a:r>
                        <a:rPr sz="700" dirty="0">
                          <a:latin typeface="Arial"/>
                          <a:cs typeface="Arial"/>
                        </a:rPr>
                        <a:t>x</a:t>
                      </a:r>
                    </a:p>
                  </a:txBody>
                  <a:tcPr marL="0" marR="0" marT="3111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2540" algn="ctr">
                        <a:lnSpc>
                          <a:spcPct val="100000"/>
                        </a:lnSpc>
                        <a:spcBef>
                          <a:spcPts val="270"/>
                        </a:spcBef>
                      </a:pPr>
                      <a:r>
                        <a:rPr sz="700" dirty="0">
                          <a:latin typeface="Arial"/>
                          <a:cs typeface="Arial"/>
                        </a:rPr>
                        <a:t>x</a:t>
                      </a: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2540" algn="ctr">
                        <a:lnSpc>
                          <a:spcPct val="100000"/>
                        </a:lnSpc>
                        <a:spcBef>
                          <a:spcPts val="245"/>
                        </a:spcBef>
                      </a:pPr>
                      <a:r>
                        <a:rPr sz="700" dirty="0">
                          <a:latin typeface="Arial"/>
                          <a:cs typeface="Arial"/>
                        </a:rPr>
                        <a:t>x</a:t>
                      </a:r>
                    </a:p>
                  </a:txBody>
                  <a:tcPr marL="0" marR="0" marT="3111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163830">
                        <a:lnSpc>
                          <a:spcPct val="100000"/>
                        </a:lnSpc>
                        <a:spcBef>
                          <a:spcPts val="270"/>
                        </a:spcBef>
                      </a:pPr>
                      <a:r>
                        <a:rPr sz="700" spc="-10" dirty="0">
                          <a:latin typeface="Arial"/>
                          <a:cs typeface="Arial"/>
                        </a:rPr>
                        <a:t>VREF_LOFS_CH11 </a:t>
                      </a:r>
                      <a:r>
                        <a:rPr sz="700" spc="-5" dirty="0">
                          <a:latin typeface="Arial"/>
                          <a:cs typeface="Arial"/>
                        </a:rPr>
                        <a:t>[3:0]</a:t>
                      </a:r>
                      <a:endParaRPr sz="7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56515">
                        <a:lnSpc>
                          <a:spcPct val="100000"/>
                        </a:lnSpc>
                        <a:spcBef>
                          <a:spcPts val="270"/>
                        </a:spcBef>
                      </a:pPr>
                      <a:r>
                        <a:rPr sz="700" spc="-10" dirty="0">
                          <a:latin typeface="Arial"/>
                          <a:cs typeface="Arial"/>
                        </a:rPr>
                        <a:t>SIGN</a:t>
                      </a:r>
                      <a:endParaRPr sz="7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844550">
                        <a:lnSpc>
                          <a:spcPct val="100000"/>
                        </a:lnSpc>
                        <a:spcBef>
                          <a:spcPts val="245"/>
                        </a:spcBef>
                      </a:pPr>
                      <a:r>
                        <a:rPr sz="700" spc="-5" dirty="0">
                          <a:latin typeface="Arial"/>
                          <a:cs typeface="Arial"/>
                        </a:rPr>
                        <a:t>VREF_OFS_CH11</a:t>
                      </a:r>
                      <a:r>
                        <a:rPr sz="700" spc="-40" dirty="0">
                          <a:latin typeface="Arial"/>
                          <a:cs typeface="Arial"/>
                        </a:rPr>
                        <a:t> </a:t>
                      </a:r>
                      <a:r>
                        <a:rPr sz="700" spc="-5" dirty="0">
                          <a:latin typeface="Arial"/>
                          <a:cs typeface="Arial"/>
                        </a:rPr>
                        <a:t>[7:0]</a:t>
                      </a:r>
                      <a:endParaRPr sz="700" dirty="0">
                        <a:latin typeface="Arial"/>
                        <a:cs typeface="Arial"/>
                      </a:endParaRPr>
                    </a:p>
                  </a:txBody>
                  <a:tcPr marL="0" marR="0" marT="3111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extLst>
                  <a:ext uri="{0D108BD9-81ED-4DB2-BD59-A6C34878D82A}">
                    <a16:rowId xmlns:a16="http://schemas.microsoft.com/office/drawing/2014/main" val="10000"/>
                  </a:ext>
                </a:extLst>
              </a:tr>
            </a:tbl>
          </a:graphicData>
        </a:graphic>
      </p:graphicFrame>
      <p:graphicFrame>
        <p:nvGraphicFramePr>
          <p:cNvPr id="13" name="object 13"/>
          <p:cNvGraphicFramePr>
            <a:graphicFrameLocks noGrp="1"/>
          </p:cNvGraphicFramePr>
          <p:nvPr>
            <p:extLst>
              <p:ext uri="{D42A27DB-BD31-4B8C-83A1-F6EECF244321}">
                <p14:modId xmlns:p14="http://schemas.microsoft.com/office/powerpoint/2010/main" val="3678352880"/>
              </p:ext>
            </p:extLst>
          </p:nvPr>
        </p:nvGraphicFramePr>
        <p:xfrm>
          <a:off x="400914" y="3926268"/>
          <a:ext cx="6038543" cy="178435"/>
        </p:xfrm>
        <a:graphic>
          <a:graphicData uri="http://schemas.openxmlformats.org/drawingml/2006/table">
            <a:tbl>
              <a:tblPr firstRow="1" bandRow="1">
                <a:tableStyleId>{2D5ABB26-0587-4C30-8999-92F81FD0307C}</a:tableStyleId>
              </a:tblPr>
              <a:tblGrid>
                <a:gridCol w="412525">
                  <a:extLst>
                    <a:ext uri="{9D8B030D-6E8A-4147-A177-3AD203B41FA5}">
                      <a16:colId xmlns:a16="http://schemas.microsoft.com/office/drawing/2014/main" val="20000"/>
                    </a:ext>
                  </a:extLst>
                </a:gridCol>
                <a:gridCol w="474746">
                  <a:extLst>
                    <a:ext uri="{9D8B030D-6E8A-4147-A177-3AD203B41FA5}">
                      <a16:colId xmlns:a16="http://schemas.microsoft.com/office/drawing/2014/main" val="20001"/>
                    </a:ext>
                  </a:extLst>
                </a:gridCol>
                <a:gridCol w="322304">
                  <a:extLst>
                    <a:ext uri="{9D8B030D-6E8A-4147-A177-3AD203B41FA5}">
                      <a16:colId xmlns:a16="http://schemas.microsoft.com/office/drawing/2014/main" val="20002"/>
                    </a:ext>
                  </a:extLst>
                </a:gridCol>
                <a:gridCol w="322305">
                  <a:extLst>
                    <a:ext uri="{9D8B030D-6E8A-4147-A177-3AD203B41FA5}">
                      <a16:colId xmlns:a16="http://schemas.microsoft.com/office/drawing/2014/main" val="20003"/>
                    </a:ext>
                  </a:extLst>
                </a:gridCol>
                <a:gridCol w="322305">
                  <a:extLst>
                    <a:ext uri="{9D8B030D-6E8A-4147-A177-3AD203B41FA5}">
                      <a16:colId xmlns:a16="http://schemas.microsoft.com/office/drawing/2014/main" val="20004"/>
                    </a:ext>
                  </a:extLst>
                </a:gridCol>
                <a:gridCol w="1287351">
                  <a:extLst>
                    <a:ext uri="{9D8B030D-6E8A-4147-A177-3AD203B41FA5}">
                      <a16:colId xmlns:a16="http://schemas.microsoft.com/office/drawing/2014/main" val="20005"/>
                    </a:ext>
                  </a:extLst>
                </a:gridCol>
                <a:gridCol w="322304">
                  <a:extLst>
                    <a:ext uri="{9D8B030D-6E8A-4147-A177-3AD203B41FA5}">
                      <a16:colId xmlns:a16="http://schemas.microsoft.com/office/drawing/2014/main" val="20006"/>
                    </a:ext>
                  </a:extLst>
                </a:gridCol>
                <a:gridCol w="2574703">
                  <a:extLst>
                    <a:ext uri="{9D8B030D-6E8A-4147-A177-3AD203B41FA5}">
                      <a16:colId xmlns:a16="http://schemas.microsoft.com/office/drawing/2014/main" val="20007"/>
                    </a:ext>
                  </a:extLst>
                </a:gridCol>
              </a:tblGrid>
              <a:tr h="178435">
                <a:tc>
                  <a:txBody>
                    <a:bodyPr/>
                    <a:lstStyle/>
                    <a:p>
                      <a:pPr marL="126364">
                        <a:lnSpc>
                          <a:spcPct val="100000"/>
                        </a:lnSpc>
                        <a:spcBef>
                          <a:spcPts val="270"/>
                        </a:spcBef>
                      </a:pPr>
                      <a:r>
                        <a:rPr sz="700" spc="-10" dirty="0">
                          <a:latin typeface="Arial"/>
                          <a:cs typeface="Arial"/>
                        </a:rPr>
                        <a:t>‘h64</a:t>
                      </a:r>
                      <a:endParaRPr sz="7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635" algn="ctr">
                        <a:lnSpc>
                          <a:spcPct val="100000"/>
                        </a:lnSpc>
                        <a:spcBef>
                          <a:spcPts val="270"/>
                        </a:spcBef>
                      </a:pPr>
                      <a:r>
                        <a:rPr sz="700" dirty="0">
                          <a:latin typeface="Arial"/>
                          <a:cs typeface="Arial"/>
                        </a:rPr>
                        <a:t>0</a:t>
                      </a: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2540" algn="ctr">
                        <a:lnSpc>
                          <a:spcPct val="100000"/>
                        </a:lnSpc>
                        <a:spcBef>
                          <a:spcPts val="245"/>
                        </a:spcBef>
                      </a:pPr>
                      <a:r>
                        <a:rPr sz="700" dirty="0">
                          <a:latin typeface="Arial"/>
                          <a:cs typeface="Arial"/>
                        </a:rPr>
                        <a:t>x</a:t>
                      </a:r>
                    </a:p>
                  </a:txBody>
                  <a:tcPr marL="0" marR="0" marT="3111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2540" algn="ctr">
                        <a:lnSpc>
                          <a:spcPct val="100000"/>
                        </a:lnSpc>
                        <a:spcBef>
                          <a:spcPts val="270"/>
                        </a:spcBef>
                      </a:pPr>
                      <a:r>
                        <a:rPr sz="700" dirty="0">
                          <a:latin typeface="Arial"/>
                          <a:cs typeface="Arial"/>
                        </a:rPr>
                        <a:t>x</a:t>
                      </a: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2540" algn="ctr">
                        <a:lnSpc>
                          <a:spcPct val="100000"/>
                        </a:lnSpc>
                        <a:spcBef>
                          <a:spcPts val="245"/>
                        </a:spcBef>
                      </a:pPr>
                      <a:r>
                        <a:rPr sz="700" dirty="0">
                          <a:latin typeface="Arial"/>
                          <a:cs typeface="Arial"/>
                        </a:rPr>
                        <a:t>x</a:t>
                      </a:r>
                    </a:p>
                  </a:txBody>
                  <a:tcPr marL="0" marR="0" marT="3111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163830">
                        <a:lnSpc>
                          <a:spcPct val="100000"/>
                        </a:lnSpc>
                        <a:spcBef>
                          <a:spcPts val="270"/>
                        </a:spcBef>
                      </a:pPr>
                      <a:r>
                        <a:rPr sz="700" spc="-10" dirty="0">
                          <a:latin typeface="Arial"/>
                          <a:cs typeface="Arial"/>
                        </a:rPr>
                        <a:t>VREF_LOFS_CH12 </a:t>
                      </a:r>
                      <a:r>
                        <a:rPr sz="700" spc="-5" dirty="0">
                          <a:latin typeface="Arial"/>
                          <a:cs typeface="Arial"/>
                        </a:rPr>
                        <a:t>[3:0]</a:t>
                      </a:r>
                      <a:endParaRPr sz="7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56515">
                        <a:lnSpc>
                          <a:spcPct val="100000"/>
                        </a:lnSpc>
                        <a:spcBef>
                          <a:spcPts val="270"/>
                        </a:spcBef>
                      </a:pPr>
                      <a:r>
                        <a:rPr sz="700" spc="-10" dirty="0">
                          <a:latin typeface="Arial"/>
                          <a:cs typeface="Arial"/>
                        </a:rPr>
                        <a:t>SIGN</a:t>
                      </a:r>
                      <a:endParaRPr sz="7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844550">
                        <a:lnSpc>
                          <a:spcPct val="100000"/>
                        </a:lnSpc>
                        <a:spcBef>
                          <a:spcPts val="245"/>
                        </a:spcBef>
                      </a:pPr>
                      <a:r>
                        <a:rPr sz="700" spc="-5" dirty="0">
                          <a:latin typeface="Arial"/>
                          <a:cs typeface="Arial"/>
                        </a:rPr>
                        <a:t>VREF_OFS_CH12</a:t>
                      </a:r>
                      <a:r>
                        <a:rPr sz="700" spc="-40" dirty="0">
                          <a:latin typeface="Arial"/>
                          <a:cs typeface="Arial"/>
                        </a:rPr>
                        <a:t> </a:t>
                      </a:r>
                      <a:r>
                        <a:rPr sz="700" spc="-5" dirty="0">
                          <a:latin typeface="Arial"/>
                          <a:cs typeface="Arial"/>
                        </a:rPr>
                        <a:t>[7:0]</a:t>
                      </a:r>
                      <a:endParaRPr sz="700" dirty="0">
                        <a:latin typeface="Arial"/>
                        <a:cs typeface="Arial"/>
                      </a:endParaRPr>
                    </a:p>
                  </a:txBody>
                  <a:tcPr marL="0" marR="0" marT="3111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extLst>
                  <a:ext uri="{0D108BD9-81ED-4DB2-BD59-A6C34878D82A}">
                    <a16:rowId xmlns:a16="http://schemas.microsoft.com/office/drawing/2014/main" val="10000"/>
                  </a:ext>
                </a:extLst>
              </a:tr>
            </a:tbl>
          </a:graphicData>
        </a:graphic>
      </p:graphicFrame>
      <p:graphicFrame>
        <p:nvGraphicFramePr>
          <p:cNvPr id="14" name="object 14"/>
          <p:cNvGraphicFramePr>
            <a:graphicFrameLocks noGrp="1"/>
          </p:cNvGraphicFramePr>
          <p:nvPr>
            <p:extLst>
              <p:ext uri="{D42A27DB-BD31-4B8C-83A1-F6EECF244321}">
                <p14:modId xmlns:p14="http://schemas.microsoft.com/office/powerpoint/2010/main" val="3060374323"/>
              </p:ext>
            </p:extLst>
          </p:nvPr>
        </p:nvGraphicFramePr>
        <p:xfrm>
          <a:off x="400914" y="4152709"/>
          <a:ext cx="6038543" cy="178435"/>
        </p:xfrm>
        <a:graphic>
          <a:graphicData uri="http://schemas.openxmlformats.org/drawingml/2006/table">
            <a:tbl>
              <a:tblPr firstRow="1" bandRow="1">
                <a:tableStyleId>{2D5ABB26-0587-4C30-8999-92F81FD0307C}</a:tableStyleId>
              </a:tblPr>
              <a:tblGrid>
                <a:gridCol w="412525">
                  <a:extLst>
                    <a:ext uri="{9D8B030D-6E8A-4147-A177-3AD203B41FA5}">
                      <a16:colId xmlns:a16="http://schemas.microsoft.com/office/drawing/2014/main" val="20000"/>
                    </a:ext>
                  </a:extLst>
                </a:gridCol>
                <a:gridCol w="474746">
                  <a:extLst>
                    <a:ext uri="{9D8B030D-6E8A-4147-A177-3AD203B41FA5}">
                      <a16:colId xmlns:a16="http://schemas.microsoft.com/office/drawing/2014/main" val="20001"/>
                    </a:ext>
                  </a:extLst>
                </a:gridCol>
                <a:gridCol w="322304">
                  <a:extLst>
                    <a:ext uri="{9D8B030D-6E8A-4147-A177-3AD203B41FA5}">
                      <a16:colId xmlns:a16="http://schemas.microsoft.com/office/drawing/2014/main" val="20002"/>
                    </a:ext>
                  </a:extLst>
                </a:gridCol>
                <a:gridCol w="322305">
                  <a:extLst>
                    <a:ext uri="{9D8B030D-6E8A-4147-A177-3AD203B41FA5}">
                      <a16:colId xmlns:a16="http://schemas.microsoft.com/office/drawing/2014/main" val="20003"/>
                    </a:ext>
                  </a:extLst>
                </a:gridCol>
                <a:gridCol w="322305">
                  <a:extLst>
                    <a:ext uri="{9D8B030D-6E8A-4147-A177-3AD203B41FA5}">
                      <a16:colId xmlns:a16="http://schemas.microsoft.com/office/drawing/2014/main" val="20004"/>
                    </a:ext>
                  </a:extLst>
                </a:gridCol>
                <a:gridCol w="1287351">
                  <a:extLst>
                    <a:ext uri="{9D8B030D-6E8A-4147-A177-3AD203B41FA5}">
                      <a16:colId xmlns:a16="http://schemas.microsoft.com/office/drawing/2014/main" val="20005"/>
                    </a:ext>
                  </a:extLst>
                </a:gridCol>
                <a:gridCol w="322304">
                  <a:extLst>
                    <a:ext uri="{9D8B030D-6E8A-4147-A177-3AD203B41FA5}">
                      <a16:colId xmlns:a16="http://schemas.microsoft.com/office/drawing/2014/main" val="20006"/>
                    </a:ext>
                  </a:extLst>
                </a:gridCol>
                <a:gridCol w="2574703">
                  <a:extLst>
                    <a:ext uri="{9D8B030D-6E8A-4147-A177-3AD203B41FA5}">
                      <a16:colId xmlns:a16="http://schemas.microsoft.com/office/drawing/2014/main" val="20007"/>
                    </a:ext>
                  </a:extLst>
                </a:gridCol>
              </a:tblGrid>
              <a:tr h="178435">
                <a:tc>
                  <a:txBody>
                    <a:bodyPr/>
                    <a:lstStyle/>
                    <a:p>
                      <a:pPr marL="126364">
                        <a:lnSpc>
                          <a:spcPct val="100000"/>
                        </a:lnSpc>
                        <a:spcBef>
                          <a:spcPts val="270"/>
                        </a:spcBef>
                      </a:pPr>
                      <a:r>
                        <a:rPr sz="700" spc="-5" dirty="0">
                          <a:latin typeface="Arial"/>
                          <a:cs typeface="Arial"/>
                        </a:rPr>
                        <a:t>‘h65</a:t>
                      </a:r>
                      <a:endParaRPr sz="7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635" algn="ctr">
                        <a:lnSpc>
                          <a:spcPct val="100000"/>
                        </a:lnSpc>
                        <a:spcBef>
                          <a:spcPts val="270"/>
                        </a:spcBef>
                      </a:pPr>
                      <a:r>
                        <a:rPr sz="700" dirty="0">
                          <a:latin typeface="Arial"/>
                          <a:cs typeface="Arial"/>
                        </a:rPr>
                        <a:t>0</a:t>
                      </a: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2540" algn="ctr">
                        <a:lnSpc>
                          <a:spcPct val="100000"/>
                        </a:lnSpc>
                        <a:spcBef>
                          <a:spcPts val="245"/>
                        </a:spcBef>
                      </a:pPr>
                      <a:r>
                        <a:rPr sz="700" dirty="0">
                          <a:latin typeface="Arial"/>
                          <a:cs typeface="Arial"/>
                        </a:rPr>
                        <a:t>x</a:t>
                      </a:r>
                    </a:p>
                  </a:txBody>
                  <a:tcPr marL="0" marR="0" marT="3111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2540" algn="ctr">
                        <a:lnSpc>
                          <a:spcPct val="100000"/>
                        </a:lnSpc>
                        <a:spcBef>
                          <a:spcPts val="270"/>
                        </a:spcBef>
                      </a:pPr>
                      <a:r>
                        <a:rPr sz="700" dirty="0">
                          <a:latin typeface="Arial"/>
                          <a:cs typeface="Arial"/>
                        </a:rPr>
                        <a:t>x</a:t>
                      </a: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3175" algn="ctr">
                        <a:lnSpc>
                          <a:spcPct val="100000"/>
                        </a:lnSpc>
                        <a:spcBef>
                          <a:spcPts val="245"/>
                        </a:spcBef>
                      </a:pPr>
                      <a:r>
                        <a:rPr sz="700" dirty="0">
                          <a:latin typeface="Arial"/>
                          <a:cs typeface="Arial"/>
                        </a:rPr>
                        <a:t>x</a:t>
                      </a:r>
                    </a:p>
                  </a:txBody>
                  <a:tcPr marL="0" marR="0" marT="3111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163830">
                        <a:lnSpc>
                          <a:spcPct val="100000"/>
                        </a:lnSpc>
                        <a:spcBef>
                          <a:spcPts val="270"/>
                        </a:spcBef>
                      </a:pPr>
                      <a:r>
                        <a:rPr sz="700" spc="-5" dirty="0">
                          <a:latin typeface="Arial"/>
                          <a:cs typeface="Arial"/>
                        </a:rPr>
                        <a:t>VREF_LOFS_CH13</a:t>
                      </a:r>
                      <a:r>
                        <a:rPr sz="700" spc="-40" dirty="0">
                          <a:latin typeface="Arial"/>
                          <a:cs typeface="Arial"/>
                        </a:rPr>
                        <a:t> </a:t>
                      </a:r>
                      <a:r>
                        <a:rPr sz="700" spc="-5" dirty="0">
                          <a:latin typeface="Arial"/>
                          <a:cs typeface="Arial"/>
                        </a:rPr>
                        <a:t>[3:0]</a:t>
                      </a:r>
                      <a:endParaRPr sz="7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56515">
                        <a:lnSpc>
                          <a:spcPct val="100000"/>
                        </a:lnSpc>
                        <a:spcBef>
                          <a:spcPts val="270"/>
                        </a:spcBef>
                      </a:pPr>
                      <a:r>
                        <a:rPr sz="700" spc="-10" dirty="0">
                          <a:latin typeface="Arial"/>
                          <a:cs typeface="Arial"/>
                        </a:rPr>
                        <a:t>SIGN</a:t>
                      </a:r>
                      <a:endParaRPr sz="7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844550">
                        <a:lnSpc>
                          <a:spcPct val="100000"/>
                        </a:lnSpc>
                        <a:spcBef>
                          <a:spcPts val="245"/>
                        </a:spcBef>
                      </a:pPr>
                      <a:r>
                        <a:rPr sz="700" spc="-5" dirty="0">
                          <a:latin typeface="Arial"/>
                          <a:cs typeface="Arial"/>
                        </a:rPr>
                        <a:t>VREF_OFS_CH13</a:t>
                      </a:r>
                      <a:r>
                        <a:rPr sz="700" spc="-40" dirty="0">
                          <a:latin typeface="Arial"/>
                          <a:cs typeface="Arial"/>
                        </a:rPr>
                        <a:t> </a:t>
                      </a:r>
                      <a:r>
                        <a:rPr sz="700" spc="-5" dirty="0">
                          <a:latin typeface="Arial"/>
                          <a:cs typeface="Arial"/>
                        </a:rPr>
                        <a:t>[7:0]</a:t>
                      </a:r>
                      <a:endParaRPr sz="700" dirty="0">
                        <a:latin typeface="Arial"/>
                        <a:cs typeface="Arial"/>
                      </a:endParaRPr>
                    </a:p>
                  </a:txBody>
                  <a:tcPr marL="0" marR="0" marT="3111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extLst>
                  <a:ext uri="{0D108BD9-81ED-4DB2-BD59-A6C34878D82A}">
                    <a16:rowId xmlns:a16="http://schemas.microsoft.com/office/drawing/2014/main" val="10000"/>
                  </a:ext>
                </a:extLst>
              </a:tr>
            </a:tbl>
          </a:graphicData>
        </a:graphic>
      </p:graphicFrame>
      <p:graphicFrame>
        <p:nvGraphicFramePr>
          <p:cNvPr id="15" name="object 15"/>
          <p:cNvGraphicFramePr>
            <a:graphicFrameLocks noGrp="1"/>
          </p:cNvGraphicFramePr>
          <p:nvPr>
            <p:extLst>
              <p:ext uri="{D42A27DB-BD31-4B8C-83A1-F6EECF244321}">
                <p14:modId xmlns:p14="http://schemas.microsoft.com/office/powerpoint/2010/main" val="2222803389"/>
              </p:ext>
            </p:extLst>
          </p:nvPr>
        </p:nvGraphicFramePr>
        <p:xfrm>
          <a:off x="400914" y="4379912"/>
          <a:ext cx="6038543" cy="178435"/>
        </p:xfrm>
        <a:graphic>
          <a:graphicData uri="http://schemas.openxmlformats.org/drawingml/2006/table">
            <a:tbl>
              <a:tblPr firstRow="1" bandRow="1">
                <a:tableStyleId>{2D5ABB26-0587-4C30-8999-92F81FD0307C}</a:tableStyleId>
              </a:tblPr>
              <a:tblGrid>
                <a:gridCol w="412525">
                  <a:extLst>
                    <a:ext uri="{9D8B030D-6E8A-4147-A177-3AD203B41FA5}">
                      <a16:colId xmlns:a16="http://schemas.microsoft.com/office/drawing/2014/main" val="20000"/>
                    </a:ext>
                  </a:extLst>
                </a:gridCol>
                <a:gridCol w="474746">
                  <a:extLst>
                    <a:ext uri="{9D8B030D-6E8A-4147-A177-3AD203B41FA5}">
                      <a16:colId xmlns:a16="http://schemas.microsoft.com/office/drawing/2014/main" val="20001"/>
                    </a:ext>
                  </a:extLst>
                </a:gridCol>
                <a:gridCol w="322304">
                  <a:extLst>
                    <a:ext uri="{9D8B030D-6E8A-4147-A177-3AD203B41FA5}">
                      <a16:colId xmlns:a16="http://schemas.microsoft.com/office/drawing/2014/main" val="20002"/>
                    </a:ext>
                  </a:extLst>
                </a:gridCol>
                <a:gridCol w="322305">
                  <a:extLst>
                    <a:ext uri="{9D8B030D-6E8A-4147-A177-3AD203B41FA5}">
                      <a16:colId xmlns:a16="http://schemas.microsoft.com/office/drawing/2014/main" val="20003"/>
                    </a:ext>
                  </a:extLst>
                </a:gridCol>
                <a:gridCol w="322305">
                  <a:extLst>
                    <a:ext uri="{9D8B030D-6E8A-4147-A177-3AD203B41FA5}">
                      <a16:colId xmlns:a16="http://schemas.microsoft.com/office/drawing/2014/main" val="20004"/>
                    </a:ext>
                  </a:extLst>
                </a:gridCol>
                <a:gridCol w="1287351">
                  <a:extLst>
                    <a:ext uri="{9D8B030D-6E8A-4147-A177-3AD203B41FA5}">
                      <a16:colId xmlns:a16="http://schemas.microsoft.com/office/drawing/2014/main" val="20005"/>
                    </a:ext>
                  </a:extLst>
                </a:gridCol>
                <a:gridCol w="322304">
                  <a:extLst>
                    <a:ext uri="{9D8B030D-6E8A-4147-A177-3AD203B41FA5}">
                      <a16:colId xmlns:a16="http://schemas.microsoft.com/office/drawing/2014/main" val="20006"/>
                    </a:ext>
                  </a:extLst>
                </a:gridCol>
                <a:gridCol w="2574703">
                  <a:extLst>
                    <a:ext uri="{9D8B030D-6E8A-4147-A177-3AD203B41FA5}">
                      <a16:colId xmlns:a16="http://schemas.microsoft.com/office/drawing/2014/main" val="20007"/>
                    </a:ext>
                  </a:extLst>
                </a:gridCol>
              </a:tblGrid>
              <a:tr h="178435">
                <a:tc>
                  <a:txBody>
                    <a:bodyPr/>
                    <a:lstStyle/>
                    <a:p>
                      <a:pPr marL="126364">
                        <a:lnSpc>
                          <a:spcPct val="100000"/>
                        </a:lnSpc>
                        <a:spcBef>
                          <a:spcPts val="270"/>
                        </a:spcBef>
                      </a:pPr>
                      <a:r>
                        <a:rPr sz="700" spc="-10" dirty="0">
                          <a:latin typeface="Arial"/>
                          <a:cs typeface="Arial"/>
                        </a:rPr>
                        <a:t>‘h66</a:t>
                      </a:r>
                      <a:endParaRPr sz="7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635" algn="ctr">
                        <a:lnSpc>
                          <a:spcPct val="100000"/>
                        </a:lnSpc>
                        <a:spcBef>
                          <a:spcPts val="270"/>
                        </a:spcBef>
                      </a:pPr>
                      <a:r>
                        <a:rPr sz="700" dirty="0">
                          <a:latin typeface="Arial"/>
                          <a:cs typeface="Arial"/>
                        </a:rPr>
                        <a:t>0</a:t>
                      </a: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2540" algn="ctr">
                        <a:lnSpc>
                          <a:spcPct val="100000"/>
                        </a:lnSpc>
                        <a:spcBef>
                          <a:spcPts val="245"/>
                        </a:spcBef>
                      </a:pPr>
                      <a:r>
                        <a:rPr sz="700" dirty="0">
                          <a:latin typeface="Arial"/>
                          <a:cs typeface="Arial"/>
                        </a:rPr>
                        <a:t>x</a:t>
                      </a:r>
                    </a:p>
                  </a:txBody>
                  <a:tcPr marL="0" marR="0" marT="3111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2540" algn="ctr">
                        <a:lnSpc>
                          <a:spcPct val="100000"/>
                        </a:lnSpc>
                        <a:spcBef>
                          <a:spcPts val="270"/>
                        </a:spcBef>
                      </a:pPr>
                      <a:r>
                        <a:rPr sz="700" dirty="0">
                          <a:latin typeface="Arial"/>
                          <a:cs typeface="Arial"/>
                        </a:rPr>
                        <a:t>x</a:t>
                      </a: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2540" algn="ctr">
                        <a:lnSpc>
                          <a:spcPct val="100000"/>
                        </a:lnSpc>
                        <a:spcBef>
                          <a:spcPts val="245"/>
                        </a:spcBef>
                      </a:pPr>
                      <a:r>
                        <a:rPr sz="700" dirty="0">
                          <a:latin typeface="Arial"/>
                          <a:cs typeface="Arial"/>
                        </a:rPr>
                        <a:t>x</a:t>
                      </a:r>
                    </a:p>
                  </a:txBody>
                  <a:tcPr marL="0" marR="0" marT="3111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163830">
                        <a:lnSpc>
                          <a:spcPct val="100000"/>
                        </a:lnSpc>
                        <a:spcBef>
                          <a:spcPts val="270"/>
                        </a:spcBef>
                      </a:pPr>
                      <a:r>
                        <a:rPr sz="700" spc="-10" dirty="0">
                          <a:latin typeface="Arial"/>
                          <a:cs typeface="Arial"/>
                        </a:rPr>
                        <a:t>VREF_LOFS_CH14 </a:t>
                      </a:r>
                      <a:r>
                        <a:rPr sz="700" spc="-5" dirty="0">
                          <a:latin typeface="Arial"/>
                          <a:cs typeface="Arial"/>
                        </a:rPr>
                        <a:t>[3:0]</a:t>
                      </a:r>
                      <a:endParaRPr sz="7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56515">
                        <a:lnSpc>
                          <a:spcPct val="100000"/>
                        </a:lnSpc>
                        <a:spcBef>
                          <a:spcPts val="270"/>
                        </a:spcBef>
                      </a:pPr>
                      <a:r>
                        <a:rPr sz="700" spc="-10" dirty="0">
                          <a:latin typeface="Arial"/>
                          <a:cs typeface="Arial"/>
                        </a:rPr>
                        <a:t>SIGN</a:t>
                      </a:r>
                      <a:endParaRPr sz="7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844550">
                        <a:lnSpc>
                          <a:spcPct val="100000"/>
                        </a:lnSpc>
                        <a:spcBef>
                          <a:spcPts val="245"/>
                        </a:spcBef>
                      </a:pPr>
                      <a:r>
                        <a:rPr sz="700" spc="-5" dirty="0">
                          <a:latin typeface="Arial"/>
                          <a:cs typeface="Arial"/>
                        </a:rPr>
                        <a:t>VREF_OFS_CH14</a:t>
                      </a:r>
                      <a:r>
                        <a:rPr sz="700" spc="-40" dirty="0">
                          <a:latin typeface="Arial"/>
                          <a:cs typeface="Arial"/>
                        </a:rPr>
                        <a:t> </a:t>
                      </a:r>
                      <a:r>
                        <a:rPr sz="700" spc="-5" dirty="0">
                          <a:latin typeface="Arial"/>
                          <a:cs typeface="Arial"/>
                        </a:rPr>
                        <a:t>[7:0]</a:t>
                      </a:r>
                      <a:endParaRPr sz="700" dirty="0">
                        <a:latin typeface="Arial"/>
                        <a:cs typeface="Arial"/>
                      </a:endParaRPr>
                    </a:p>
                  </a:txBody>
                  <a:tcPr marL="0" marR="0" marT="3111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extLst>
                  <a:ext uri="{0D108BD9-81ED-4DB2-BD59-A6C34878D82A}">
                    <a16:rowId xmlns:a16="http://schemas.microsoft.com/office/drawing/2014/main" val="10000"/>
                  </a:ext>
                </a:extLst>
              </a:tr>
            </a:tbl>
          </a:graphicData>
        </a:graphic>
      </p:graphicFrame>
      <p:graphicFrame>
        <p:nvGraphicFramePr>
          <p:cNvPr id="16" name="object 16"/>
          <p:cNvGraphicFramePr>
            <a:graphicFrameLocks noGrp="1"/>
          </p:cNvGraphicFramePr>
          <p:nvPr>
            <p:extLst>
              <p:ext uri="{D42A27DB-BD31-4B8C-83A1-F6EECF244321}">
                <p14:modId xmlns:p14="http://schemas.microsoft.com/office/powerpoint/2010/main" val="2001704888"/>
              </p:ext>
            </p:extLst>
          </p:nvPr>
        </p:nvGraphicFramePr>
        <p:xfrm>
          <a:off x="400914" y="4610417"/>
          <a:ext cx="6038543" cy="178435"/>
        </p:xfrm>
        <a:graphic>
          <a:graphicData uri="http://schemas.openxmlformats.org/drawingml/2006/table">
            <a:tbl>
              <a:tblPr firstRow="1" bandRow="1">
                <a:tableStyleId>{2D5ABB26-0587-4C30-8999-92F81FD0307C}</a:tableStyleId>
              </a:tblPr>
              <a:tblGrid>
                <a:gridCol w="412525">
                  <a:extLst>
                    <a:ext uri="{9D8B030D-6E8A-4147-A177-3AD203B41FA5}">
                      <a16:colId xmlns:a16="http://schemas.microsoft.com/office/drawing/2014/main" val="20000"/>
                    </a:ext>
                  </a:extLst>
                </a:gridCol>
                <a:gridCol w="474746">
                  <a:extLst>
                    <a:ext uri="{9D8B030D-6E8A-4147-A177-3AD203B41FA5}">
                      <a16:colId xmlns:a16="http://schemas.microsoft.com/office/drawing/2014/main" val="20001"/>
                    </a:ext>
                  </a:extLst>
                </a:gridCol>
                <a:gridCol w="322304">
                  <a:extLst>
                    <a:ext uri="{9D8B030D-6E8A-4147-A177-3AD203B41FA5}">
                      <a16:colId xmlns:a16="http://schemas.microsoft.com/office/drawing/2014/main" val="20002"/>
                    </a:ext>
                  </a:extLst>
                </a:gridCol>
                <a:gridCol w="322305">
                  <a:extLst>
                    <a:ext uri="{9D8B030D-6E8A-4147-A177-3AD203B41FA5}">
                      <a16:colId xmlns:a16="http://schemas.microsoft.com/office/drawing/2014/main" val="20003"/>
                    </a:ext>
                  </a:extLst>
                </a:gridCol>
                <a:gridCol w="322305">
                  <a:extLst>
                    <a:ext uri="{9D8B030D-6E8A-4147-A177-3AD203B41FA5}">
                      <a16:colId xmlns:a16="http://schemas.microsoft.com/office/drawing/2014/main" val="20004"/>
                    </a:ext>
                  </a:extLst>
                </a:gridCol>
                <a:gridCol w="1287351">
                  <a:extLst>
                    <a:ext uri="{9D8B030D-6E8A-4147-A177-3AD203B41FA5}">
                      <a16:colId xmlns:a16="http://schemas.microsoft.com/office/drawing/2014/main" val="20005"/>
                    </a:ext>
                  </a:extLst>
                </a:gridCol>
                <a:gridCol w="322304">
                  <a:extLst>
                    <a:ext uri="{9D8B030D-6E8A-4147-A177-3AD203B41FA5}">
                      <a16:colId xmlns:a16="http://schemas.microsoft.com/office/drawing/2014/main" val="20006"/>
                    </a:ext>
                  </a:extLst>
                </a:gridCol>
                <a:gridCol w="2574703">
                  <a:extLst>
                    <a:ext uri="{9D8B030D-6E8A-4147-A177-3AD203B41FA5}">
                      <a16:colId xmlns:a16="http://schemas.microsoft.com/office/drawing/2014/main" val="20007"/>
                    </a:ext>
                  </a:extLst>
                </a:gridCol>
              </a:tblGrid>
              <a:tr h="178435">
                <a:tc>
                  <a:txBody>
                    <a:bodyPr/>
                    <a:lstStyle/>
                    <a:p>
                      <a:pPr marL="126364">
                        <a:lnSpc>
                          <a:spcPct val="100000"/>
                        </a:lnSpc>
                        <a:spcBef>
                          <a:spcPts val="270"/>
                        </a:spcBef>
                      </a:pPr>
                      <a:r>
                        <a:rPr sz="700" spc="-10" dirty="0">
                          <a:latin typeface="Arial"/>
                          <a:cs typeface="Arial"/>
                        </a:rPr>
                        <a:t>‘h67</a:t>
                      </a:r>
                      <a:endParaRPr sz="7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635" algn="ctr">
                        <a:lnSpc>
                          <a:spcPct val="100000"/>
                        </a:lnSpc>
                        <a:spcBef>
                          <a:spcPts val="270"/>
                        </a:spcBef>
                      </a:pPr>
                      <a:r>
                        <a:rPr sz="700" dirty="0">
                          <a:latin typeface="Arial"/>
                          <a:cs typeface="Arial"/>
                        </a:rPr>
                        <a:t>0</a:t>
                      </a: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2540" algn="ctr">
                        <a:lnSpc>
                          <a:spcPct val="100000"/>
                        </a:lnSpc>
                        <a:spcBef>
                          <a:spcPts val="245"/>
                        </a:spcBef>
                      </a:pPr>
                      <a:r>
                        <a:rPr sz="700" dirty="0">
                          <a:latin typeface="Arial"/>
                          <a:cs typeface="Arial"/>
                        </a:rPr>
                        <a:t>x</a:t>
                      </a:r>
                    </a:p>
                  </a:txBody>
                  <a:tcPr marL="0" marR="0" marT="3111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2540" algn="ctr">
                        <a:lnSpc>
                          <a:spcPct val="100000"/>
                        </a:lnSpc>
                        <a:spcBef>
                          <a:spcPts val="270"/>
                        </a:spcBef>
                      </a:pPr>
                      <a:r>
                        <a:rPr sz="700" dirty="0">
                          <a:latin typeface="Arial"/>
                          <a:cs typeface="Arial"/>
                        </a:rPr>
                        <a:t>x</a:t>
                      </a: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2540" algn="ctr">
                        <a:lnSpc>
                          <a:spcPct val="100000"/>
                        </a:lnSpc>
                        <a:spcBef>
                          <a:spcPts val="245"/>
                        </a:spcBef>
                      </a:pPr>
                      <a:r>
                        <a:rPr sz="700" dirty="0">
                          <a:latin typeface="Arial"/>
                          <a:cs typeface="Arial"/>
                        </a:rPr>
                        <a:t>x</a:t>
                      </a:r>
                    </a:p>
                  </a:txBody>
                  <a:tcPr marL="0" marR="0" marT="3111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163830">
                        <a:lnSpc>
                          <a:spcPct val="100000"/>
                        </a:lnSpc>
                        <a:spcBef>
                          <a:spcPts val="270"/>
                        </a:spcBef>
                      </a:pPr>
                      <a:r>
                        <a:rPr sz="700" spc="-10" dirty="0">
                          <a:latin typeface="Arial"/>
                          <a:cs typeface="Arial"/>
                        </a:rPr>
                        <a:t>VREF_LOFS_CH15 </a:t>
                      </a:r>
                      <a:r>
                        <a:rPr sz="700" spc="-5" dirty="0">
                          <a:latin typeface="Arial"/>
                          <a:cs typeface="Arial"/>
                        </a:rPr>
                        <a:t>[3:0]</a:t>
                      </a:r>
                      <a:endParaRPr sz="7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56515">
                        <a:lnSpc>
                          <a:spcPct val="100000"/>
                        </a:lnSpc>
                        <a:spcBef>
                          <a:spcPts val="270"/>
                        </a:spcBef>
                      </a:pPr>
                      <a:r>
                        <a:rPr sz="700" spc="-10" dirty="0">
                          <a:latin typeface="Arial"/>
                          <a:cs typeface="Arial"/>
                        </a:rPr>
                        <a:t>SIGN</a:t>
                      </a:r>
                      <a:endParaRPr sz="7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844550">
                        <a:lnSpc>
                          <a:spcPct val="100000"/>
                        </a:lnSpc>
                        <a:spcBef>
                          <a:spcPts val="245"/>
                        </a:spcBef>
                      </a:pPr>
                      <a:r>
                        <a:rPr sz="700" spc="-5" dirty="0">
                          <a:latin typeface="Arial"/>
                          <a:cs typeface="Arial"/>
                        </a:rPr>
                        <a:t>VREF_OFS_CH15</a:t>
                      </a:r>
                      <a:r>
                        <a:rPr sz="700" spc="-40" dirty="0">
                          <a:latin typeface="Arial"/>
                          <a:cs typeface="Arial"/>
                        </a:rPr>
                        <a:t> </a:t>
                      </a:r>
                      <a:r>
                        <a:rPr sz="700" spc="-5" dirty="0">
                          <a:latin typeface="Arial"/>
                          <a:cs typeface="Arial"/>
                        </a:rPr>
                        <a:t>[7:0]</a:t>
                      </a:r>
                      <a:endParaRPr sz="700" dirty="0">
                        <a:latin typeface="Arial"/>
                        <a:cs typeface="Arial"/>
                      </a:endParaRPr>
                    </a:p>
                  </a:txBody>
                  <a:tcPr marL="0" marR="0" marT="3111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extLst>
                  <a:ext uri="{0D108BD9-81ED-4DB2-BD59-A6C34878D82A}">
                    <a16:rowId xmlns:a16="http://schemas.microsoft.com/office/drawing/2014/main" val="10000"/>
                  </a:ext>
                </a:extLst>
              </a:tr>
            </a:tbl>
          </a:graphicData>
        </a:graphic>
      </p:graphicFrame>
      <p:graphicFrame>
        <p:nvGraphicFramePr>
          <p:cNvPr id="17" name="object 17"/>
          <p:cNvGraphicFramePr>
            <a:graphicFrameLocks noGrp="1"/>
          </p:cNvGraphicFramePr>
          <p:nvPr>
            <p:extLst>
              <p:ext uri="{D42A27DB-BD31-4B8C-83A1-F6EECF244321}">
                <p14:modId xmlns:p14="http://schemas.microsoft.com/office/powerpoint/2010/main" val="1170958771"/>
              </p:ext>
            </p:extLst>
          </p:nvPr>
        </p:nvGraphicFramePr>
        <p:xfrm>
          <a:off x="400914" y="4840795"/>
          <a:ext cx="6038543" cy="178435"/>
        </p:xfrm>
        <a:graphic>
          <a:graphicData uri="http://schemas.openxmlformats.org/drawingml/2006/table">
            <a:tbl>
              <a:tblPr firstRow="1" bandRow="1">
                <a:tableStyleId>{2D5ABB26-0587-4C30-8999-92F81FD0307C}</a:tableStyleId>
              </a:tblPr>
              <a:tblGrid>
                <a:gridCol w="412525">
                  <a:extLst>
                    <a:ext uri="{9D8B030D-6E8A-4147-A177-3AD203B41FA5}">
                      <a16:colId xmlns:a16="http://schemas.microsoft.com/office/drawing/2014/main" val="20000"/>
                    </a:ext>
                  </a:extLst>
                </a:gridCol>
                <a:gridCol w="474746">
                  <a:extLst>
                    <a:ext uri="{9D8B030D-6E8A-4147-A177-3AD203B41FA5}">
                      <a16:colId xmlns:a16="http://schemas.microsoft.com/office/drawing/2014/main" val="20001"/>
                    </a:ext>
                  </a:extLst>
                </a:gridCol>
                <a:gridCol w="322304">
                  <a:extLst>
                    <a:ext uri="{9D8B030D-6E8A-4147-A177-3AD203B41FA5}">
                      <a16:colId xmlns:a16="http://schemas.microsoft.com/office/drawing/2014/main" val="20002"/>
                    </a:ext>
                  </a:extLst>
                </a:gridCol>
                <a:gridCol w="322305">
                  <a:extLst>
                    <a:ext uri="{9D8B030D-6E8A-4147-A177-3AD203B41FA5}">
                      <a16:colId xmlns:a16="http://schemas.microsoft.com/office/drawing/2014/main" val="20003"/>
                    </a:ext>
                  </a:extLst>
                </a:gridCol>
                <a:gridCol w="322305">
                  <a:extLst>
                    <a:ext uri="{9D8B030D-6E8A-4147-A177-3AD203B41FA5}">
                      <a16:colId xmlns:a16="http://schemas.microsoft.com/office/drawing/2014/main" val="20004"/>
                    </a:ext>
                  </a:extLst>
                </a:gridCol>
                <a:gridCol w="1287351">
                  <a:extLst>
                    <a:ext uri="{9D8B030D-6E8A-4147-A177-3AD203B41FA5}">
                      <a16:colId xmlns:a16="http://schemas.microsoft.com/office/drawing/2014/main" val="20005"/>
                    </a:ext>
                  </a:extLst>
                </a:gridCol>
                <a:gridCol w="322304">
                  <a:extLst>
                    <a:ext uri="{9D8B030D-6E8A-4147-A177-3AD203B41FA5}">
                      <a16:colId xmlns:a16="http://schemas.microsoft.com/office/drawing/2014/main" val="20006"/>
                    </a:ext>
                  </a:extLst>
                </a:gridCol>
                <a:gridCol w="2574703">
                  <a:extLst>
                    <a:ext uri="{9D8B030D-6E8A-4147-A177-3AD203B41FA5}">
                      <a16:colId xmlns:a16="http://schemas.microsoft.com/office/drawing/2014/main" val="20007"/>
                    </a:ext>
                  </a:extLst>
                </a:gridCol>
              </a:tblGrid>
              <a:tr h="178435">
                <a:tc>
                  <a:txBody>
                    <a:bodyPr/>
                    <a:lstStyle/>
                    <a:p>
                      <a:pPr marL="126364">
                        <a:lnSpc>
                          <a:spcPct val="100000"/>
                        </a:lnSpc>
                        <a:spcBef>
                          <a:spcPts val="270"/>
                        </a:spcBef>
                      </a:pPr>
                      <a:r>
                        <a:rPr sz="700" spc="-10" dirty="0">
                          <a:latin typeface="Arial"/>
                          <a:cs typeface="Arial"/>
                        </a:rPr>
                        <a:t>‘h68</a:t>
                      </a:r>
                      <a:endParaRPr sz="7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635" algn="ctr">
                        <a:lnSpc>
                          <a:spcPct val="100000"/>
                        </a:lnSpc>
                        <a:spcBef>
                          <a:spcPts val="270"/>
                        </a:spcBef>
                      </a:pPr>
                      <a:r>
                        <a:rPr sz="700" dirty="0">
                          <a:latin typeface="Arial"/>
                          <a:cs typeface="Arial"/>
                        </a:rPr>
                        <a:t>0</a:t>
                      </a: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2540" algn="ctr">
                        <a:lnSpc>
                          <a:spcPct val="100000"/>
                        </a:lnSpc>
                        <a:spcBef>
                          <a:spcPts val="250"/>
                        </a:spcBef>
                      </a:pPr>
                      <a:r>
                        <a:rPr sz="700" dirty="0">
                          <a:latin typeface="Arial"/>
                          <a:cs typeface="Arial"/>
                        </a:rPr>
                        <a:t>x</a:t>
                      </a:r>
                    </a:p>
                  </a:txBody>
                  <a:tcPr marL="0" marR="0" marT="3175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2540" algn="ctr">
                        <a:lnSpc>
                          <a:spcPct val="100000"/>
                        </a:lnSpc>
                        <a:spcBef>
                          <a:spcPts val="270"/>
                        </a:spcBef>
                      </a:pPr>
                      <a:r>
                        <a:rPr sz="700" dirty="0">
                          <a:latin typeface="Arial"/>
                          <a:cs typeface="Arial"/>
                        </a:rPr>
                        <a:t>x</a:t>
                      </a: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2540" algn="ctr">
                        <a:lnSpc>
                          <a:spcPct val="100000"/>
                        </a:lnSpc>
                        <a:spcBef>
                          <a:spcPts val="250"/>
                        </a:spcBef>
                      </a:pPr>
                      <a:r>
                        <a:rPr sz="700" dirty="0">
                          <a:latin typeface="Arial"/>
                          <a:cs typeface="Arial"/>
                        </a:rPr>
                        <a:t>x</a:t>
                      </a:r>
                    </a:p>
                  </a:txBody>
                  <a:tcPr marL="0" marR="0" marT="3175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163830">
                        <a:lnSpc>
                          <a:spcPct val="100000"/>
                        </a:lnSpc>
                        <a:spcBef>
                          <a:spcPts val="270"/>
                        </a:spcBef>
                      </a:pPr>
                      <a:r>
                        <a:rPr sz="700" spc="-10" dirty="0">
                          <a:latin typeface="Arial"/>
                          <a:cs typeface="Arial"/>
                        </a:rPr>
                        <a:t>VREF_LOFS_CH16 </a:t>
                      </a:r>
                      <a:r>
                        <a:rPr sz="700" spc="-5" dirty="0">
                          <a:latin typeface="Arial"/>
                          <a:cs typeface="Arial"/>
                        </a:rPr>
                        <a:t>[3:0]</a:t>
                      </a:r>
                      <a:endParaRPr sz="7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56515">
                        <a:lnSpc>
                          <a:spcPct val="100000"/>
                        </a:lnSpc>
                        <a:spcBef>
                          <a:spcPts val="270"/>
                        </a:spcBef>
                      </a:pPr>
                      <a:r>
                        <a:rPr sz="700" spc="-10" dirty="0">
                          <a:latin typeface="Arial"/>
                          <a:cs typeface="Arial"/>
                        </a:rPr>
                        <a:t>SIGN</a:t>
                      </a:r>
                      <a:endParaRPr sz="7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844550">
                        <a:lnSpc>
                          <a:spcPct val="100000"/>
                        </a:lnSpc>
                        <a:spcBef>
                          <a:spcPts val="250"/>
                        </a:spcBef>
                      </a:pPr>
                      <a:r>
                        <a:rPr sz="700" spc="-5" dirty="0">
                          <a:latin typeface="Arial"/>
                          <a:cs typeface="Arial"/>
                        </a:rPr>
                        <a:t>VREF_OFS_CH16</a:t>
                      </a:r>
                      <a:r>
                        <a:rPr sz="700" spc="-40" dirty="0">
                          <a:latin typeface="Arial"/>
                          <a:cs typeface="Arial"/>
                        </a:rPr>
                        <a:t> </a:t>
                      </a:r>
                      <a:r>
                        <a:rPr sz="700" spc="-5" dirty="0">
                          <a:latin typeface="Arial"/>
                          <a:cs typeface="Arial"/>
                        </a:rPr>
                        <a:t>[7:0]</a:t>
                      </a:r>
                      <a:endParaRPr sz="700" dirty="0">
                        <a:latin typeface="Arial"/>
                        <a:cs typeface="Arial"/>
                      </a:endParaRPr>
                    </a:p>
                  </a:txBody>
                  <a:tcPr marL="0" marR="0" marT="3175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extLst>
                  <a:ext uri="{0D108BD9-81ED-4DB2-BD59-A6C34878D82A}">
                    <a16:rowId xmlns:a16="http://schemas.microsoft.com/office/drawing/2014/main" val="10000"/>
                  </a:ext>
                </a:extLst>
              </a:tr>
            </a:tbl>
          </a:graphicData>
        </a:graphic>
      </p:graphicFrame>
      <p:graphicFrame>
        <p:nvGraphicFramePr>
          <p:cNvPr id="18" name="object 18"/>
          <p:cNvGraphicFramePr>
            <a:graphicFrameLocks noGrp="1"/>
          </p:cNvGraphicFramePr>
          <p:nvPr>
            <p:extLst>
              <p:ext uri="{D42A27DB-BD31-4B8C-83A1-F6EECF244321}">
                <p14:modId xmlns:p14="http://schemas.microsoft.com/office/powerpoint/2010/main" val="2680270770"/>
              </p:ext>
            </p:extLst>
          </p:nvPr>
        </p:nvGraphicFramePr>
        <p:xfrm>
          <a:off x="400914" y="5071427"/>
          <a:ext cx="6038543" cy="178435"/>
        </p:xfrm>
        <a:graphic>
          <a:graphicData uri="http://schemas.openxmlformats.org/drawingml/2006/table">
            <a:tbl>
              <a:tblPr firstRow="1" bandRow="1">
                <a:tableStyleId>{2D5ABB26-0587-4C30-8999-92F81FD0307C}</a:tableStyleId>
              </a:tblPr>
              <a:tblGrid>
                <a:gridCol w="412525">
                  <a:extLst>
                    <a:ext uri="{9D8B030D-6E8A-4147-A177-3AD203B41FA5}">
                      <a16:colId xmlns:a16="http://schemas.microsoft.com/office/drawing/2014/main" val="20000"/>
                    </a:ext>
                  </a:extLst>
                </a:gridCol>
                <a:gridCol w="474746">
                  <a:extLst>
                    <a:ext uri="{9D8B030D-6E8A-4147-A177-3AD203B41FA5}">
                      <a16:colId xmlns:a16="http://schemas.microsoft.com/office/drawing/2014/main" val="20001"/>
                    </a:ext>
                  </a:extLst>
                </a:gridCol>
                <a:gridCol w="322304">
                  <a:extLst>
                    <a:ext uri="{9D8B030D-6E8A-4147-A177-3AD203B41FA5}">
                      <a16:colId xmlns:a16="http://schemas.microsoft.com/office/drawing/2014/main" val="20002"/>
                    </a:ext>
                  </a:extLst>
                </a:gridCol>
                <a:gridCol w="322305">
                  <a:extLst>
                    <a:ext uri="{9D8B030D-6E8A-4147-A177-3AD203B41FA5}">
                      <a16:colId xmlns:a16="http://schemas.microsoft.com/office/drawing/2014/main" val="20003"/>
                    </a:ext>
                  </a:extLst>
                </a:gridCol>
                <a:gridCol w="322305">
                  <a:extLst>
                    <a:ext uri="{9D8B030D-6E8A-4147-A177-3AD203B41FA5}">
                      <a16:colId xmlns:a16="http://schemas.microsoft.com/office/drawing/2014/main" val="20004"/>
                    </a:ext>
                  </a:extLst>
                </a:gridCol>
                <a:gridCol w="1287351">
                  <a:extLst>
                    <a:ext uri="{9D8B030D-6E8A-4147-A177-3AD203B41FA5}">
                      <a16:colId xmlns:a16="http://schemas.microsoft.com/office/drawing/2014/main" val="20005"/>
                    </a:ext>
                  </a:extLst>
                </a:gridCol>
                <a:gridCol w="322304">
                  <a:extLst>
                    <a:ext uri="{9D8B030D-6E8A-4147-A177-3AD203B41FA5}">
                      <a16:colId xmlns:a16="http://schemas.microsoft.com/office/drawing/2014/main" val="20006"/>
                    </a:ext>
                  </a:extLst>
                </a:gridCol>
                <a:gridCol w="2574703">
                  <a:extLst>
                    <a:ext uri="{9D8B030D-6E8A-4147-A177-3AD203B41FA5}">
                      <a16:colId xmlns:a16="http://schemas.microsoft.com/office/drawing/2014/main" val="20007"/>
                    </a:ext>
                  </a:extLst>
                </a:gridCol>
              </a:tblGrid>
              <a:tr h="178435">
                <a:tc>
                  <a:txBody>
                    <a:bodyPr/>
                    <a:lstStyle/>
                    <a:p>
                      <a:pPr marL="126364">
                        <a:lnSpc>
                          <a:spcPct val="100000"/>
                        </a:lnSpc>
                        <a:spcBef>
                          <a:spcPts val="270"/>
                        </a:spcBef>
                      </a:pPr>
                      <a:r>
                        <a:rPr sz="700" spc="-10" dirty="0">
                          <a:latin typeface="Arial"/>
                          <a:cs typeface="Arial"/>
                        </a:rPr>
                        <a:t>‘h69</a:t>
                      </a:r>
                      <a:endParaRPr sz="7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635" algn="ctr">
                        <a:lnSpc>
                          <a:spcPct val="100000"/>
                        </a:lnSpc>
                        <a:spcBef>
                          <a:spcPts val="270"/>
                        </a:spcBef>
                      </a:pPr>
                      <a:r>
                        <a:rPr sz="700" dirty="0">
                          <a:latin typeface="Arial"/>
                          <a:cs typeface="Arial"/>
                        </a:rPr>
                        <a:t>0</a:t>
                      </a: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2540" algn="ctr">
                        <a:lnSpc>
                          <a:spcPct val="100000"/>
                        </a:lnSpc>
                        <a:spcBef>
                          <a:spcPts val="250"/>
                        </a:spcBef>
                      </a:pPr>
                      <a:r>
                        <a:rPr sz="700" dirty="0">
                          <a:latin typeface="Arial"/>
                          <a:cs typeface="Arial"/>
                        </a:rPr>
                        <a:t>x</a:t>
                      </a:r>
                    </a:p>
                  </a:txBody>
                  <a:tcPr marL="0" marR="0" marT="3175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2540" algn="ctr">
                        <a:lnSpc>
                          <a:spcPct val="100000"/>
                        </a:lnSpc>
                        <a:spcBef>
                          <a:spcPts val="270"/>
                        </a:spcBef>
                      </a:pPr>
                      <a:r>
                        <a:rPr sz="700" dirty="0">
                          <a:latin typeface="Arial"/>
                          <a:cs typeface="Arial"/>
                        </a:rPr>
                        <a:t>x</a:t>
                      </a: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2540" algn="ctr">
                        <a:lnSpc>
                          <a:spcPct val="100000"/>
                        </a:lnSpc>
                        <a:spcBef>
                          <a:spcPts val="250"/>
                        </a:spcBef>
                      </a:pPr>
                      <a:r>
                        <a:rPr sz="700" dirty="0">
                          <a:latin typeface="Arial"/>
                          <a:cs typeface="Arial"/>
                        </a:rPr>
                        <a:t>x</a:t>
                      </a:r>
                    </a:p>
                  </a:txBody>
                  <a:tcPr marL="0" marR="0" marT="3175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163830">
                        <a:lnSpc>
                          <a:spcPct val="100000"/>
                        </a:lnSpc>
                        <a:spcBef>
                          <a:spcPts val="270"/>
                        </a:spcBef>
                      </a:pPr>
                      <a:r>
                        <a:rPr sz="700" spc="-10" dirty="0">
                          <a:latin typeface="Arial"/>
                          <a:cs typeface="Arial"/>
                        </a:rPr>
                        <a:t>VREF_LOFS_CH17 </a:t>
                      </a:r>
                      <a:r>
                        <a:rPr sz="700" spc="-5" dirty="0">
                          <a:latin typeface="Arial"/>
                          <a:cs typeface="Arial"/>
                        </a:rPr>
                        <a:t>[3:0]</a:t>
                      </a:r>
                      <a:endParaRPr sz="7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56515">
                        <a:lnSpc>
                          <a:spcPct val="100000"/>
                        </a:lnSpc>
                        <a:spcBef>
                          <a:spcPts val="270"/>
                        </a:spcBef>
                      </a:pPr>
                      <a:r>
                        <a:rPr sz="700" spc="-10" dirty="0">
                          <a:latin typeface="Arial"/>
                          <a:cs typeface="Arial"/>
                        </a:rPr>
                        <a:t>SIGN</a:t>
                      </a:r>
                      <a:endParaRPr sz="7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844550">
                        <a:lnSpc>
                          <a:spcPct val="100000"/>
                        </a:lnSpc>
                        <a:spcBef>
                          <a:spcPts val="250"/>
                        </a:spcBef>
                      </a:pPr>
                      <a:r>
                        <a:rPr sz="700" spc="-5" dirty="0">
                          <a:latin typeface="Arial"/>
                          <a:cs typeface="Arial"/>
                        </a:rPr>
                        <a:t>VREF_OFS_CH17</a:t>
                      </a:r>
                      <a:r>
                        <a:rPr sz="700" spc="-40" dirty="0">
                          <a:latin typeface="Arial"/>
                          <a:cs typeface="Arial"/>
                        </a:rPr>
                        <a:t> </a:t>
                      </a:r>
                      <a:r>
                        <a:rPr sz="700" spc="-5" dirty="0">
                          <a:latin typeface="Arial"/>
                          <a:cs typeface="Arial"/>
                        </a:rPr>
                        <a:t>[7:0]</a:t>
                      </a:r>
                      <a:endParaRPr sz="700" dirty="0">
                        <a:latin typeface="Arial"/>
                        <a:cs typeface="Arial"/>
                      </a:endParaRPr>
                    </a:p>
                  </a:txBody>
                  <a:tcPr marL="0" marR="0" marT="3175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extLst>
                  <a:ext uri="{0D108BD9-81ED-4DB2-BD59-A6C34878D82A}">
                    <a16:rowId xmlns:a16="http://schemas.microsoft.com/office/drawing/2014/main" val="10000"/>
                  </a:ext>
                </a:extLst>
              </a:tr>
            </a:tbl>
          </a:graphicData>
        </a:graphic>
      </p:graphicFrame>
      <p:graphicFrame>
        <p:nvGraphicFramePr>
          <p:cNvPr id="19" name="object 19"/>
          <p:cNvGraphicFramePr>
            <a:graphicFrameLocks noGrp="1"/>
          </p:cNvGraphicFramePr>
          <p:nvPr>
            <p:extLst>
              <p:ext uri="{D42A27DB-BD31-4B8C-83A1-F6EECF244321}">
                <p14:modId xmlns:p14="http://schemas.microsoft.com/office/powerpoint/2010/main" val="1120478324"/>
              </p:ext>
            </p:extLst>
          </p:nvPr>
        </p:nvGraphicFramePr>
        <p:xfrm>
          <a:off x="400914" y="5299011"/>
          <a:ext cx="6038543" cy="178435"/>
        </p:xfrm>
        <a:graphic>
          <a:graphicData uri="http://schemas.openxmlformats.org/drawingml/2006/table">
            <a:tbl>
              <a:tblPr firstRow="1" bandRow="1">
                <a:tableStyleId>{2D5ABB26-0587-4C30-8999-92F81FD0307C}</a:tableStyleId>
              </a:tblPr>
              <a:tblGrid>
                <a:gridCol w="412525">
                  <a:extLst>
                    <a:ext uri="{9D8B030D-6E8A-4147-A177-3AD203B41FA5}">
                      <a16:colId xmlns:a16="http://schemas.microsoft.com/office/drawing/2014/main" val="20000"/>
                    </a:ext>
                  </a:extLst>
                </a:gridCol>
                <a:gridCol w="474746">
                  <a:extLst>
                    <a:ext uri="{9D8B030D-6E8A-4147-A177-3AD203B41FA5}">
                      <a16:colId xmlns:a16="http://schemas.microsoft.com/office/drawing/2014/main" val="20001"/>
                    </a:ext>
                  </a:extLst>
                </a:gridCol>
                <a:gridCol w="322304">
                  <a:extLst>
                    <a:ext uri="{9D8B030D-6E8A-4147-A177-3AD203B41FA5}">
                      <a16:colId xmlns:a16="http://schemas.microsoft.com/office/drawing/2014/main" val="20002"/>
                    </a:ext>
                  </a:extLst>
                </a:gridCol>
                <a:gridCol w="322305">
                  <a:extLst>
                    <a:ext uri="{9D8B030D-6E8A-4147-A177-3AD203B41FA5}">
                      <a16:colId xmlns:a16="http://schemas.microsoft.com/office/drawing/2014/main" val="20003"/>
                    </a:ext>
                  </a:extLst>
                </a:gridCol>
                <a:gridCol w="322305">
                  <a:extLst>
                    <a:ext uri="{9D8B030D-6E8A-4147-A177-3AD203B41FA5}">
                      <a16:colId xmlns:a16="http://schemas.microsoft.com/office/drawing/2014/main" val="20004"/>
                    </a:ext>
                  </a:extLst>
                </a:gridCol>
                <a:gridCol w="1287351">
                  <a:extLst>
                    <a:ext uri="{9D8B030D-6E8A-4147-A177-3AD203B41FA5}">
                      <a16:colId xmlns:a16="http://schemas.microsoft.com/office/drawing/2014/main" val="20005"/>
                    </a:ext>
                  </a:extLst>
                </a:gridCol>
                <a:gridCol w="322304">
                  <a:extLst>
                    <a:ext uri="{9D8B030D-6E8A-4147-A177-3AD203B41FA5}">
                      <a16:colId xmlns:a16="http://schemas.microsoft.com/office/drawing/2014/main" val="20006"/>
                    </a:ext>
                  </a:extLst>
                </a:gridCol>
                <a:gridCol w="2574703">
                  <a:extLst>
                    <a:ext uri="{9D8B030D-6E8A-4147-A177-3AD203B41FA5}">
                      <a16:colId xmlns:a16="http://schemas.microsoft.com/office/drawing/2014/main" val="20007"/>
                    </a:ext>
                  </a:extLst>
                </a:gridCol>
              </a:tblGrid>
              <a:tr h="178435">
                <a:tc>
                  <a:txBody>
                    <a:bodyPr/>
                    <a:lstStyle/>
                    <a:p>
                      <a:pPr marL="121920">
                        <a:lnSpc>
                          <a:spcPct val="100000"/>
                        </a:lnSpc>
                        <a:spcBef>
                          <a:spcPts val="270"/>
                        </a:spcBef>
                      </a:pPr>
                      <a:r>
                        <a:rPr sz="700" spc="-10" dirty="0">
                          <a:latin typeface="Arial"/>
                          <a:cs typeface="Arial"/>
                        </a:rPr>
                        <a:t>‘h6A</a:t>
                      </a:r>
                      <a:endParaRPr sz="7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635" algn="ctr">
                        <a:lnSpc>
                          <a:spcPct val="100000"/>
                        </a:lnSpc>
                        <a:spcBef>
                          <a:spcPts val="270"/>
                        </a:spcBef>
                      </a:pPr>
                      <a:r>
                        <a:rPr sz="700" dirty="0">
                          <a:latin typeface="Arial"/>
                          <a:cs typeface="Arial"/>
                        </a:rPr>
                        <a:t>0</a:t>
                      </a: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2540" algn="ctr">
                        <a:lnSpc>
                          <a:spcPct val="100000"/>
                        </a:lnSpc>
                        <a:spcBef>
                          <a:spcPts val="245"/>
                        </a:spcBef>
                      </a:pPr>
                      <a:r>
                        <a:rPr sz="700" dirty="0">
                          <a:latin typeface="Arial"/>
                          <a:cs typeface="Arial"/>
                        </a:rPr>
                        <a:t>x</a:t>
                      </a:r>
                    </a:p>
                  </a:txBody>
                  <a:tcPr marL="0" marR="0" marT="3111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2540" algn="ctr">
                        <a:lnSpc>
                          <a:spcPct val="100000"/>
                        </a:lnSpc>
                        <a:spcBef>
                          <a:spcPts val="270"/>
                        </a:spcBef>
                      </a:pPr>
                      <a:r>
                        <a:rPr sz="700" dirty="0">
                          <a:latin typeface="Arial"/>
                          <a:cs typeface="Arial"/>
                        </a:rPr>
                        <a:t>x</a:t>
                      </a: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2540" algn="ctr">
                        <a:lnSpc>
                          <a:spcPct val="100000"/>
                        </a:lnSpc>
                        <a:spcBef>
                          <a:spcPts val="245"/>
                        </a:spcBef>
                      </a:pPr>
                      <a:r>
                        <a:rPr sz="700" dirty="0">
                          <a:latin typeface="Arial"/>
                          <a:cs typeface="Arial"/>
                        </a:rPr>
                        <a:t>x</a:t>
                      </a:r>
                    </a:p>
                  </a:txBody>
                  <a:tcPr marL="0" marR="0" marT="3111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163830">
                        <a:lnSpc>
                          <a:spcPct val="100000"/>
                        </a:lnSpc>
                        <a:spcBef>
                          <a:spcPts val="270"/>
                        </a:spcBef>
                      </a:pPr>
                      <a:r>
                        <a:rPr sz="700" spc="-10" dirty="0">
                          <a:latin typeface="Arial"/>
                          <a:cs typeface="Arial"/>
                        </a:rPr>
                        <a:t>VREF_LOFS_CH18 </a:t>
                      </a:r>
                      <a:r>
                        <a:rPr sz="700" spc="-5" dirty="0">
                          <a:latin typeface="Arial"/>
                          <a:cs typeface="Arial"/>
                        </a:rPr>
                        <a:t>[3:0]</a:t>
                      </a:r>
                      <a:endParaRPr sz="7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56515">
                        <a:lnSpc>
                          <a:spcPct val="100000"/>
                        </a:lnSpc>
                        <a:spcBef>
                          <a:spcPts val="270"/>
                        </a:spcBef>
                      </a:pPr>
                      <a:r>
                        <a:rPr sz="700" spc="-10" dirty="0">
                          <a:latin typeface="Arial"/>
                          <a:cs typeface="Arial"/>
                        </a:rPr>
                        <a:t>SIGN</a:t>
                      </a:r>
                      <a:endParaRPr sz="7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844550">
                        <a:lnSpc>
                          <a:spcPct val="100000"/>
                        </a:lnSpc>
                        <a:spcBef>
                          <a:spcPts val="245"/>
                        </a:spcBef>
                      </a:pPr>
                      <a:r>
                        <a:rPr sz="700" spc="-5" dirty="0">
                          <a:latin typeface="Arial"/>
                          <a:cs typeface="Arial"/>
                        </a:rPr>
                        <a:t>VREF_OFS_CH18</a:t>
                      </a:r>
                      <a:r>
                        <a:rPr sz="700" spc="-40" dirty="0">
                          <a:latin typeface="Arial"/>
                          <a:cs typeface="Arial"/>
                        </a:rPr>
                        <a:t> </a:t>
                      </a:r>
                      <a:r>
                        <a:rPr sz="700" spc="-5" dirty="0">
                          <a:latin typeface="Arial"/>
                          <a:cs typeface="Arial"/>
                        </a:rPr>
                        <a:t>[7:0]</a:t>
                      </a:r>
                      <a:endParaRPr sz="700" dirty="0">
                        <a:latin typeface="Arial"/>
                        <a:cs typeface="Arial"/>
                      </a:endParaRPr>
                    </a:p>
                  </a:txBody>
                  <a:tcPr marL="0" marR="0" marT="3111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extLst>
                  <a:ext uri="{0D108BD9-81ED-4DB2-BD59-A6C34878D82A}">
                    <a16:rowId xmlns:a16="http://schemas.microsoft.com/office/drawing/2014/main" val="10000"/>
                  </a:ext>
                </a:extLst>
              </a:tr>
            </a:tbl>
          </a:graphicData>
        </a:graphic>
      </p:graphicFrame>
      <p:graphicFrame>
        <p:nvGraphicFramePr>
          <p:cNvPr id="20" name="object 20"/>
          <p:cNvGraphicFramePr>
            <a:graphicFrameLocks noGrp="1"/>
          </p:cNvGraphicFramePr>
          <p:nvPr>
            <p:extLst>
              <p:ext uri="{D42A27DB-BD31-4B8C-83A1-F6EECF244321}">
                <p14:modId xmlns:p14="http://schemas.microsoft.com/office/powerpoint/2010/main" val="614920549"/>
              </p:ext>
            </p:extLst>
          </p:nvPr>
        </p:nvGraphicFramePr>
        <p:xfrm>
          <a:off x="400914" y="5526595"/>
          <a:ext cx="6038543" cy="178435"/>
        </p:xfrm>
        <a:graphic>
          <a:graphicData uri="http://schemas.openxmlformats.org/drawingml/2006/table">
            <a:tbl>
              <a:tblPr firstRow="1" bandRow="1">
                <a:tableStyleId>{2D5ABB26-0587-4C30-8999-92F81FD0307C}</a:tableStyleId>
              </a:tblPr>
              <a:tblGrid>
                <a:gridCol w="412525">
                  <a:extLst>
                    <a:ext uri="{9D8B030D-6E8A-4147-A177-3AD203B41FA5}">
                      <a16:colId xmlns:a16="http://schemas.microsoft.com/office/drawing/2014/main" val="20000"/>
                    </a:ext>
                  </a:extLst>
                </a:gridCol>
                <a:gridCol w="474746">
                  <a:extLst>
                    <a:ext uri="{9D8B030D-6E8A-4147-A177-3AD203B41FA5}">
                      <a16:colId xmlns:a16="http://schemas.microsoft.com/office/drawing/2014/main" val="20001"/>
                    </a:ext>
                  </a:extLst>
                </a:gridCol>
                <a:gridCol w="322304">
                  <a:extLst>
                    <a:ext uri="{9D8B030D-6E8A-4147-A177-3AD203B41FA5}">
                      <a16:colId xmlns:a16="http://schemas.microsoft.com/office/drawing/2014/main" val="20002"/>
                    </a:ext>
                  </a:extLst>
                </a:gridCol>
                <a:gridCol w="322305">
                  <a:extLst>
                    <a:ext uri="{9D8B030D-6E8A-4147-A177-3AD203B41FA5}">
                      <a16:colId xmlns:a16="http://schemas.microsoft.com/office/drawing/2014/main" val="20003"/>
                    </a:ext>
                  </a:extLst>
                </a:gridCol>
                <a:gridCol w="322305">
                  <a:extLst>
                    <a:ext uri="{9D8B030D-6E8A-4147-A177-3AD203B41FA5}">
                      <a16:colId xmlns:a16="http://schemas.microsoft.com/office/drawing/2014/main" val="20004"/>
                    </a:ext>
                  </a:extLst>
                </a:gridCol>
                <a:gridCol w="1287351">
                  <a:extLst>
                    <a:ext uri="{9D8B030D-6E8A-4147-A177-3AD203B41FA5}">
                      <a16:colId xmlns:a16="http://schemas.microsoft.com/office/drawing/2014/main" val="20005"/>
                    </a:ext>
                  </a:extLst>
                </a:gridCol>
                <a:gridCol w="322304">
                  <a:extLst>
                    <a:ext uri="{9D8B030D-6E8A-4147-A177-3AD203B41FA5}">
                      <a16:colId xmlns:a16="http://schemas.microsoft.com/office/drawing/2014/main" val="20006"/>
                    </a:ext>
                  </a:extLst>
                </a:gridCol>
                <a:gridCol w="2574703">
                  <a:extLst>
                    <a:ext uri="{9D8B030D-6E8A-4147-A177-3AD203B41FA5}">
                      <a16:colId xmlns:a16="http://schemas.microsoft.com/office/drawing/2014/main" val="20007"/>
                    </a:ext>
                  </a:extLst>
                </a:gridCol>
              </a:tblGrid>
              <a:tr h="178435">
                <a:tc>
                  <a:txBody>
                    <a:bodyPr/>
                    <a:lstStyle/>
                    <a:p>
                      <a:pPr marL="121920">
                        <a:lnSpc>
                          <a:spcPct val="100000"/>
                        </a:lnSpc>
                        <a:spcBef>
                          <a:spcPts val="270"/>
                        </a:spcBef>
                      </a:pPr>
                      <a:r>
                        <a:rPr sz="700" spc="-10" dirty="0">
                          <a:latin typeface="Arial"/>
                          <a:cs typeface="Arial"/>
                        </a:rPr>
                        <a:t>‘h6B</a:t>
                      </a:r>
                      <a:endParaRPr sz="7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635" algn="ctr">
                        <a:lnSpc>
                          <a:spcPct val="100000"/>
                        </a:lnSpc>
                        <a:spcBef>
                          <a:spcPts val="270"/>
                        </a:spcBef>
                      </a:pPr>
                      <a:r>
                        <a:rPr sz="700" dirty="0">
                          <a:latin typeface="Arial"/>
                          <a:cs typeface="Arial"/>
                        </a:rPr>
                        <a:t>0</a:t>
                      </a: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2540" algn="ctr">
                        <a:lnSpc>
                          <a:spcPct val="100000"/>
                        </a:lnSpc>
                        <a:spcBef>
                          <a:spcPts val="250"/>
                        </a:spcBef>
                      </a:pPr>
                      <a:r>
                        <a:rPr sz="700" dirty="0">
                          <a:latin typeface="Arial"/>
                          <a:cs typeface="Arial"/>
                        </a:rPr>
                        <a:t>x</a:t>
                      </a:r>
                    </a:p>
                  </a:txBody>
                  <a:tcPr marL="0" marR="0" marT="3175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2540" algn="ctr">
                        <a:lnSpc>
                          <a:spcPct val="100000"/>
                        </a:lnSpc>
                        <a:spcBef>
                          <a:spcPts val="270"/>
                        </a:spcBef>
                      </a:pPr>
                      <a:r>
                        <a:rPr sz="700" dirty="0">
                          <a:latin typeface="Arial"/>
                          <a:cs typeface="Arial"/>
                        </a:rPr>
                        <a:t>x</a:t>
                      </a: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2540" algn="ctr">
                        <a:lnSpc>
                          <a:spcPct val="100000"/>
                        </a:lnSpc>
                        <a:spcBef>
                          <a:spcPts val="250"/>
                        </a:spcBef>
                      </a:pPr>
                      <a:r>
                        <a:rPr sz="700" dirty="0">
                          <a:latin typeface="Arial"/>
                          <a:cs typeface="Arial"/>
                        </a:rPr>
                        <a:t>x</a:t>
                      </a:r>
                    </a:p>
                  </a:txBody>
                  <a:tcPr marL="0" marR="0" marT="3175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163830">
                        <a:lnSpc>
                          <a:spcPct val="100000"/>
                        </a:lnSpc>
                        <a:spcBef>
                          <a:spcPts val="270"/>
                        </a:spcBef>
                      </a:pPr>
                      <a:r>
                        <a:rPr sz="700" spc="-10" dirty="0">
                          <a:latin typeface="Arial"/>
                          <a:cs typeface="Arial"/>
                        </a:rPr>
                        <a:t>VREF_LOFS_CH19 </a:t>
                      </a:r>
                      <a:r>
                        <a:rPr sz="700" spc="-5" dirty="0">
                          <a:latin typeface="Arial"/>
                          <a:cs typeface="Arial"/>
                        </a:rPr>
                        <a:t>[3:0]</a:t>
                      </a:r>
                      <a:endParaRPr sz="7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56515">
                        <a:lnSpc>
                          <a:spcPct val="100000"/>
                        </a:lnSpc>
                        <a:spcBef>
                          <a:spcPts val="270"/>
                        </a:spcBef>
                      </a:pPr>
                      <a:r>
                        <a:rPr sz="700" spc="-10" dirty="0">
                          <a:latin typeface="Arial"/>
                          <a:cs typeface="Arial"/>
                        </a:rPr>
                        <a:t>SIGN</a:t>
                      </a:r>
                      <a:endParaRPr sz="7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844550">
                        <a:lnSpc>
                          <a:spcPct val="100000"/>
                        </a:lnSpc>
                        <a:spcBef>
                          <a:spcPts val="250"/>
                        </a:spcBef>
                      </a:pPr>
                      <a:r>
                        <a:rPr sz="700" spc="-5" dirty="0">
                          <a:latin typeface="Arial"/>
                          <a:cs typeface="Arial"/>
                        </a:rPr>
                        <a:t>VREF_OFS_CH19</a:t>
                      </a:r>
                      <a:r>
                        <a:rPr sz="700" spc="-40" dirty="0">
                          <a:latin typeface="Arial"/>
                          <a:cs typeface="Arial"/>
                        </a:rPr>
                        <a:t> </a:t>
                      </a:r>
                      <a:r>
                        <a:rPr sz="700" spc="-5" dirty="0">
                          <a:latin typeface="Arial"/>
                          <a:cs typeface="Arial"/>
                        </a:rPr>
                        <a:t>[7:0]</a:t>
                      </a:r>
                      <a:endParaRPr sz="700" dirty="0">
                        <a:latin typeface="Arial"/>
                        <a:cs typeface="Arial"/>
                      </a:endParaRPr>
                    </a:p>
                  </a:txBody>
                  <a:tcPr marL="0" marR="0" marT="3175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extLst>
                  <a:ext uri="{0D108BD9-81ED-4DB2-BD59-A6C34878D82A}">
                    <a16:rowId xmlns:a16="http://schemas.microsoft.com/office/drawing/2014/main" val="10000"/>
                  </a:ext>
                </a:extLst>
              </a:tr>
            </a:tbl>
          </a:graphicData>
        </a:graphic>
      </p:graphicFrame>
      <p:graphicFrame>
        <p:nvGraphicFramePr>
          <p:cNvPr id="21" name="object 21"/>
          <p:cNvGraphicFramePr>
            <a:graphicFrameLocks noGrp="1"/>
          </p:cNvGraphicFramePr>
          <p:nvPr>
            <p:extLst>
              <p:ext uri="{D42A27DB-BD31-4B8C-83A1-F6EECF244321}">
                <p14:modId xmlns:p14="http://schemas.microsoft.com/office/powerpoint/2010/main" val="2944598143"/>
              </p:ext>
            </p:extLst>
          </p:nvPr>
        </p:nvGraphicFramePr>
        <p:xfrm>
          <a:off x="400914" y="5755957"/>
          <a:ext cx="6038543" cy="178435"/>
        </p:xfrm>
        <a:graphic>
          <a:graphicData uri="http://schemas.openxmlformats.org/drawingml/2006/table">
            <a:tbl>
              <a:tblPr firstRow="1" bandRow="1">
                <a:tableStyleId>{2D5ABB26-0587-4C30-8999-92F81FD0307C}</a:tableStyleId>
              </a:tblPr>
              <a:tblGrid>
                <a:gridCol w="412525">
                  <a:extLst>
                    <a:ext uri="{9D8B030D-6E8A-4147-A177-3AD203B41FA5}">
                      <a16:colId xmlns:a16="http://schemas.microsoft.com/office/drawing/2014/main" val="20000"/>
                    </a:ext>
                  </a:extLst>
                </a:gridCol>
                <a:gridCol w="474746">
                  <a:extLst>
                    <a:ext uri="{9D8B030D-6E8A-4147-A177-3AD203B41FA5}">
                      <a16:colId xmlns:a16="http://schemas.microsoft.com/office/drawing/2014/main" val="20001"/>
                    </a:ext>
                  </a:extLst>
                </a:gridCol>
                <a:gridCol w="322304">
                  <a:extLst>
                    <a:ext uri="{9D8B030D-6E8A-4147-A177-3AD203B41FA5}">
                      <a16:colId xmlns:a16="http://schemas.microsoft.com/office/drawing/2014/main" val="20002"/>
                    </a:ext>
                  </a:extLst>
                </a:gridCol>
                <a:gridCol w="322305">
                  <a:extLst>
                    <a:ext uri="{9D8B030D-6E8A-4147-A177-3AD203B41FA5}">
                      <a16:colId xmlns:a16="http://schemas.microsoft.com/office/drawing/2014/main" val="20003"/>
                    </a:ext>
                  </a:extLst>
                </a:gridCol>
                <a:gridCol w="322305">
                  <a:extLst>
                    <a:ext uri="{9D8B030D-6E8A-4147-A177-3AD203B41FA5}">
                      <a16:colId xmlns:a16="http://schemas.microsoft.com/office/drawing/2014/main" val="20004"/>
                    </a:ext>
                  </a:extLst>
                </a:gridCol>
                <a:gridCol w="1287351">
                  <a:extLst>
                    <a:ext uri="{9D8B030D-6E8A-4147-A177-3AD203B41FA5}">
                      <a16:colId xmlns:a16="http://schemas.microsoft.com/office/drawing/2014/main" val="20005"/>
                    </a:ext>
                  </a:extLst>
                </a:gridCol>
                <a:gridCol w="322304">
                  <a:extLst>
                    <a:ext uri="{9D8B030D-6E8A-4147-A177-3AD203B41FA5}">
                      <a16:colId xmlns:a16="http://schemas.microsoft.com/office/drawing/2014/main" val="20006"/>
                    </a:ext>
                  </a:extLst>
                </a:gridCol>
                <a:gridCol w="2574703">
                  <a:extLst>
                    <a:ext uri="{9D8B030D-6E8A-4147-A177-3AD203B41FA5}">
                      <a16:colId xmlns:a16="http://schemas.microsoft.com/office/drawing/2014/main" val="20007"/>
                    </a:ext>
                  </a:extLst>
                </a:gridCol>
              </a:tblGrid>
              <a:tr h="178435">
                <a:tc>
                  <a:txBody>
                    <a:bodyPr/>
                    <a:lstStyle/>
                    <a:p>
                      <a:pPr marL="118745">
                        <a:lnSpc>
                          <a:spcPct val="100000"/>
                        </a:lnSpc>
                        <a:spcBef>
                          <a:spcPts val="270"/>
                        </a:spcBef>
                      </a:pPr>
                      <a:r>
                        <a:rPr sz="700" spc="-10" dirty="0">
                          <a:latin typeface="Arial"/>
                          <a:cs typeface="Arial"/>
                        </a:rPr>
                        <a:t>‘h6C</a:t>
                      </a:r>
                      <a:endParaRPr sz="7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635" algn="ctr">
                        <a:lnSpc>
                          <a:spcPct val="100000"/>
                        </a:lnSpc>
                        <a:spcBef>
                          <a:spcPts val="270"/>
                        </a:spcBef>
                      </a:pPr>
                      <a:r>
                        <a:rPr sz="700" dirty="0">
                          <a:latin typeface="Arial"/>
                          <a:cs typeface="Arial"/>
                        </a:rPr>
                        <a:t>0</a:t>
                      </a: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2540" algn="ctr">
                        <a:lnSpc>
                          <a:spcPct val="100000"/>
                        </a:lnSpc>
                        <a:spcBef>
                          <a:spcPts val="245"/>
                        </a:spcBef>
                      </a:pPr>
                      <a:r>
                        <a:rPr sz="700" dirty="0">
                          <a:latin typeface="Arial"/>
                          <a:cs typeface="Arial"/>
                        </a:rPr>
                        <a:t>x</a:t>
                      </a:r>
                    </a:p>
                  </a:txBody>
                  <a:tcPr marL="0" marR="0" marT="3111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2540" algn="ctr">
                        <a:lnSpc>
                          <a:spcPct val="100000"/>
                        </a:lnSpc>
                        <a:spcBef>
                          <a:spcPts val="270"/>
                        </a:spcBef>
                      </a:pPr>
                      <a:r>
                        <a:rPr sz="700" dirty="0">
                          <a:latin typeface="Arial"/>
                          <a:cs typeface="Arial"/>
                        </a:rPr>
                        <a:t>x</a:t>
                      </a: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2540" algn="ctr">
                        <a:lnSpc>
                          <a:spcPct val="100000"/>
                        </a:lnSpc>
                        <a:spcBef>
                          <a:spcPts val="245"/>
                        </a:spcBef>
                      </a:pPr>
                      <a:r>
                        <a:rPr sz="700" dirty="0">
                          <a:latin typeface="Arial"/>
                          <a:cs typeface="Arial"/>
                        </a:rPr>
                        <a:t>x</a:t>
                      </a:r>
                    </a:p>
                  </a:txBody>
                  <a:tcPr marL="0" marR="0" marT="3111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163830">
                        <a:lnSpc>
                          <a:spcPct val="100000"/>
                        </a:lnSpc>
                        <a:spcBef>
                          <a:spcPts val="270"/>
                        </a:spcBef>
                      </a:pPr>
                      <a:r>
                        <a:rPr sz="700" spc="-10" dirty="0">
                          <a:latin typeface="Arial"/>
                          <a:cs typeface="Arial"/>
                        </a:rPr>
                        <a:t>VREF_LOFS_CH20 </a:t>
                      </a:r>
                      <a:r>
                        <a:rPr sz="700" spc="-5" dirty="0">
                          <a:latin typeface="Arial"/>
                          <a:cs typeface="Arial"/>
                        </a:rPr>
                        <a:t>[3:0]</a:t>
                      </a:r>
                      <a:endParaRPr sz="7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56515">
                        <a:lnSpc>
                          <a:spcPct val="100000"/>
                        </a:lnSpc>
                        <a:spcBef>
                          <a:spcPts val="270"/>
                        </a:spcBef>
                      </a:pPr>
                      <a:r>
                        <a:rPr sz="700" spc="-10" dirty="0">
                          <a:latin typeface="Arial"/>
                          <a:cs typeface="Arial"/>
                        </a:rPr>
                        <a:t>SIGN</a:t>
                      </a:r>
                      <a:endParaRPr sz="7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844550">
                        <a:lnSpc>
                          <a:spcPct val="100000"/>
                        </a:lnSpc>
                        <a:spcBef>
                          <a:spcPts val="245"/>
                        </a:spcBef>
                      </a:pPr>
                      <a:r>
                        <a:rPr sz="700" spc="-5" dirty="0">
                          <a:latin typeface="Arial"/>
                          <a:cs typeface="Arial"/>
                        </a:rPr>
                        <a:t>VREF_OFS_CH20</a:t>
                      </a:r>
                      <a:r>
                        <a:rPr sz="700" spc="-40" dirty="0">
                          <a:latin typeface="Arial"/>
                          <a:cs typeface="Arial"/>
                        </a:rPr>
                        <a:t> </a:t>
                      </a:r>
                      <a:r>
                        <a:rPr sz="700" spc="-5" dirty="0">
                          <a:latin typeface="Arial"/>
                          <a:cs typeface="Arial"/>
                        </a:rPr>
                        <a:t>[7:0]</a:t>
                      </a:r>
                      <a:endParaRPr sz="700" dirty="0">
                        <a:latin typeface="Arial"/>
                        <a:cs typeface="Arial"/>
                      </a:endParaRPr>
                    </a:p>
                  </a:txBody>
                  <a:tcPr marL="0" marR="0" marT="3111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extLst>
                  <a:ext uri="{0D108BD9-81ED-4DB2-BD59-A6C34878D82A}">
                    <a16:rowId xmlns:a16="http://schemas.microsoft.com/office/drawing/2014/main" val="10000"/>
                  </a:ext>
                </a:extLst>
              </a:tr>
            </a:tbl>
          </a:graphicData>
        </a:graphic>
      </p:graphicFrame>
      <p:graphicFrame>
        <p:nvGraphicFramePr>
          <p:cNvPr id="22" name="object 22"/>
          <p:cNvGraphicFramePr>
            <a:graphicFrameLocks noGrp="1"/>
          </p:cNvGraphicFramePr>
          <p:nvPr>
            <p:extLst>
              <p:ext uri="{D42A27DB-BD31-4B8C-83A1-F6EECF244321}">
                <p14:modId xmlns:p14="http://schemas.microsoft.com/office/powerpoint/2010/main" val="2720157498"/>
              </p:ext>
            </p:extLst>
          </p:nvPr>
        </p:nvGraphicFramePr>
        <p:xfrm>
          <a:off x="400914" y="5982398"/>
          <a:ext cx="6038543" cy="178435"/>
        </p:xfrm>
        <a:graphic>
          <a:graphicData uri="http://schemas.openxmlformats.org/drawingml/2006/table">
            <a:tbl>
              <a:tblPr firstRow="1" bandRow="1">
                <a:tableStyleId>{2D5ABB26-0587-4C30-8999-92F81FD0307C}</a:tableStyleId>
              </a:tblPr>
              <a:tblGrid>
                <a:gridCol w="412525">
                  <a:extLst>
                    <a:ext uri="{9D8B030D-6E8A-4147-A177-3AD203B41FA5}">
                      <a16:colId xmlns:a16="http://schemas.microsoft.com/office/drawing/2014/main" val="20000"/>
                    </a:ext>
                  </a:extLst>
                </a:gridCol>
                <a:gridCol w="474746">
                  <a:extLst>
                    <a:ext uri="{9D8B030D-6E8A-4147-A177-3AD203B41FA5}">
                      <a16:colId xmlns:a16="http://schemas.microsoft.com/office/drawing/2014/main" val="20001"/>
                    </a:ext>
                  </a:extLst>
                </a:gridCol>
                <a:gridCol w="322304">
                  <a:extLst>
                    <a:ext uri="{9D8B030D-6E8A-4147-A177-3AD203B41FA5}">
                      <a16:colId xmlns:a16="http://schemas.microsoft.com/office/drawing/2014/main" val="20002"/>
                    </a:ext>
                  </a:extLst>
                </a:gridCol>
                <a:gridCol w="322305">
                  <a:extLst>
                    <a:ext uri="{9D8B030D-6E8A-4147-A177-3AD203B41FA5}">
                      <a16:colId xmlns:a16="http://schemas.microsoft.com/office/drawing/2014/main" val="20003"/>
                    </a:ext>
                  </a:extLst>
                </a:gridCol>
                <a:gridCol w="322305">
                  <a:extLst>
                    <a:ext uri="{9D8B030D-6E8A-4147-A177-3AD203B41FA5}">
                      <a16:colId xmlns:a16="http://schemas.microsoft.com/office/drawing/2014/main" val="20004"/>
                    </a:ext>
                  </a:extLst>
                </a:gridCol>
                <a:gridCol w="1287351">
                  <a:extLst>
                    <a:ext uri="{9D8B030D-6E8A-4147-A177-3AD203B41FA5}">
                      <a16:colId xmlns:a16="http://schemas.microsoft.com/office/drawing/2014/main" val="20005"/>
                    </a:ext>
                  </a:extLst>
                </a:gridCol>
                <a:gridCol w="322304">
                  <a:extLst>
                    <a:ext uri="{9D8B030D-6E8A-4147-A177-3AD203B41FA5}">
                      <a16:colId xmlns:a16="http://schemas.microsoft.com/office/drawing/2014/main" val="20006"/>
                    </a:ext>
                  </a:extLst>
                </a:gridCol>
                <a:gridCol w="2574703">
                  <a:extLst>
                    <a:ext uri="{9D8B030D-6E8A-4147-A177-3AD203B41FA5}">
                      <a16:colId xmlns:a16="http://schemas.microsoft.com/office/drawing/2014/main" val="20007"/>
                    </a:ext>
                  </a:extLst>
                </a:gridCol>
              </a:tblGrid>
              <a:tr h="178435">
                <a:tc>
                  <a:txBody>
                    <a:bodyPr/>
                    <a:lstStyle/>
                    <a:p>
                      <a:pPr marL="118745">
                        <a:lnSpc>
                          <a:spcPct val="100000"/>
                        </a:lnSpc>
                        <a:spcBef>
                          <a:spcPts val="270"/>
                        </a:spcBef>
                      </a:pPr>
                      <a:r>
                        <a:rPr sz="700" spc="-10" dirty="0">
                          <a:latin typeface="Arial"/>
                          <a:cs typeface="Arial"/>
                        </a:rPr>
                        <a:t>‘h6D</a:t>
                      </a:r>
                      <a:endParaRPr sz="7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635" algn="ctr">
                        <a:lnSpc>
                          <a:spcPct val="100000"/>
                        </a:lnSpc>
                        <a:spcBef>
                          <a:spcPts val="270"/>
                        </a:spcBef>
                      </a:pPr>
                      <a:r>
                        <a:rPr sz="700" dirty="0">
                          <a:latin typeface="Arial"/>
                          <a:cs typeface="Arial"/>
                        </a:rPr>
                        <a:t>0</a:t>
                      </a: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2540" algn="ctr">
                        <a:lnSpc>
                          <a:spcPct val="100000"/>
                        </a:lnSpc>
                        <a:spcBef>
                          <a:spcPts val="250"/>
                        </a:spcBef>
                      </a:pPr>
                      <a:r>
                        <a:rPr sz="700" dirty="0">
                          <a:latin typeface="Arial"/>
                          <a:cs typeface="Arial"/>
                        </a:rPr>
                        <a:t>x</a:t>
                      </a:r>
                    </a:p>
                  </a:txBody>
                  <a:tcPr marL="0" marR="0" marT="3175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2540" algn="ctr">
                        <a:lnSpc>
                          <a:spcPct val="100000"/>
                        </a:lnSpc>
                        <a:spcBef>
                          <a:spcPts val="270"/>
                        </a:spcBef>
                      </a:pPr>
                      <a:r>
                        <a:rPr sz="700" dirty="0">
                          <a:latin typeface="Arial"/>
                          <a:cs typeface="Arial"/>
                        </a:rPr>
                        <a:t>x</a:t>
                      </a: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2540" algn="ctr">
                        <a:lnSpc>
                          <a:spcPct val="100000"/>
                        </a:lnSpc>
                        <a:spcBef>
                          <a:spcPts val="250"/>
                        </a:spcBef>
                      </a:pPr>
                      <a:r>
                        <a:rPr sz="700" dirty="0">
                          <a:latin typeface="Arial"/>
                          <a:cs typeface="Arial"/>
                        </a:rPr>
                        <a:t>x</a:t>
                      </a:r>
                    </a:p>
                  </a:txBody>
                  <a:tcPr marL="0" marR="0" marT="3175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163830">
                        <a:lnSpc>
                          <a:spcPct val="100000"/>
                        </a:lnSpc>
                        <a:spcBef>
                          <a:spcPts val="270"/>
                        </a:spcBef>
                      </a:pPr>
                      <a:r>
                        <a:rPr sz="700" spc="-10" dirty="0">
                          <a:latin typeface="Arial"/>
                          <a:cs typeface="Arial"/>
                        </a:rPr>
                        <a:t>VREF_LOFS_CH21 </a:t>
                      </a:r>
                      <a:r>
                        <a:rPr sz="700" spc="-5" dirty="0">
                          <a:latin typeface="Arial"/>
                          <a:cs typeface="Arial"/>
                        </a:rPr>
                        <a:t>[3:0]</a:t>
                      </a:r>
                      <a:endParaRPr sz="7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56515">
                        <a:lnSpc>
                          <a:spcPct val="100000"/>
                        </a:lnSpc>
                        <a:spcBef>
                          <a:spcPts val="270"/>
                        </a:spcBef>
                      </a:pPr>
                      <a:r>
                        <a:rPr sz="700" spc="-10" dirty="0">
                          <a:latin typeface="Arial"/>
                          <a:cs typeface="Arial"/>
                        </a:rPr>
                        <a:t>SIGN</a:t>
                      </a:r>
                      <a:endParaRPr sz="7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844550">
                        <a:lnSpc>
                          <a:spcPct val="100000"/>
                        </a:lnSpc>
                        <a:spcBef>
                          <a:spcPts val="250"/>
                        </a:spcBef>
                      </a:pPr>
                      <a:r>
                        <a:rPr sz="700" spc="-5" dirty="0">
                          <a:latin typeface="Arial"/>
                          <a:cs typeface="Arial"/>
                        </a:rPr>
                        <a:t>VREF_OFS_CH21</a:t>
                      </a:r>
                      <a:r>
                        <a:rPr sz="700" spc="-40" dirty="0">
                          <a:latin typeface="Arial"/>
                          <a:cs typeface="Arial"/>
                        </a:rPr>
                        <a:t> </a:t>
                      </a:r>
                      <a:r>
                        <a:rPr sz="700" spc="-5" dirty="0">
                          <a:latin typeface="Arial"/>
                          <a:cs typeface="Arial"/>
                        </a:rPr>
                        <a:t>[7:0]</a:t>
                      </a:r>
                      <a:endParaRPr sz="700" dirty="0">
                        <a:latin typeface="Arial"/>
                        <a:cs typeface="Arial"/>
                      </a:endParaRPr>
                    </a:p>
                  </a:txBody>
                  <a:tcPr marL="0" marR="0" marT="3175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extLst>
                  <a:ext uri="{0D108BD9-81ED-4DB2-BD59-A6C34878D82A}">
                    <a16:rowId xmlns:a16="http://schemas.microsoft.com/office/drawing/2014/main" val="10000"/>
                  </a:ext>
                </a:extLst>
              </a:tr>
            </a:tbl>
          </a:graphicData>
        </a:graphic>
      </p:graphicFrame>
      <p:graphicFrame>
        <p:nvGraphicFramePr>
          <p:cNvPr id="23" name="object 23"/>
          <p:cNvGraphicFramePr>
            <a:graphicFrameLocks noGrp="1"/>
          </p:cNvGraphicFramePr>
          <p:nvPr>
            <p:extLst>
              <p:ext uri="{D42A27DB-BD31-4B8C-83A1-F6EECF244321}">
                <p14:modId xmlns:p14="http://schemas.microsoft.com/office/powerpoint/2010/main" val="2100871512"/>
              </p:ext>
            </p:extLst>
          </p:nvPr>
        </p:nvGraphicFramePr>
        <p:xfrm>
          <a:off x="400914" y="6209601"/>
          <a:ext cx="6038543" cy="178435"/>
        </p:xfrm>
        <a:graphic>
          <a:graphicData uri="http://schemas.openxmlformats.org/drawingml/2006/table">
            <a:tbl>
              <a:tblPr firstRow="1" bandRow="1">
                <a:tableStyleId>{2D5ABB26-0587-4C30-8999-92F81FD0307C}</a:tableStyleId>
              </a:tblPr>
              <a:tblGrid>
                <a:gridCol w="412525">
                  <a:extLst>
                    <a:ext uri="{9D8B030D-6E8A-4147-A177-3AD203B41FA5}">
                      <a16:colId xmlns:a16="http://schemas.microsoft.com/office/drawing/2014/main" val="20000"/>
                    </a:ext>
                  </a:extLst>
                </a:gridCol>
                <a:gridCol w="474746">
                  <a:extLst>
                    <a:ext uri="{9D8B030D-6E8A-4147-A177-3AD203B41FA5}">
                      <a16:colId xmlns:a16="http://schemas.microsoft.com/office/drawing/2014/main" val="20001"/>
                    </a:ext>
                  </a:extLst>
                </a:gridCol>
                <a:gridCol w="322304">
                  <a:extLst>
                    <a:ext uri="{9D8B030D-6E8A-4147-A177-3AD203B41FA5}">
                      <a16:colId xmlns:a16="http://schemas.microsoft.com/office/drawing/2014/main" val="20002"/>
                    </a:ext>
                  </a:extLst>
                </a:gridCol>
                <a:gridCol w="322305">
                  <a:extLst>
                    <a:ext uri="{9D8B030D-6E8A-4147-A177-3AD203B41FA5}">
                      <a16:colId xmlns:a16="http://schemas.microsoft.com/office/drawing/2014/main" val="20003"/>
                    </a:ext>
                  </a:extLst>
                </a:gridCol>
                <a:gridCol w="322305">
                  <a:extLst>
                    <a:ext uri="{9D8B030D-6E8A-4147-A177-3AD203B41FA5}">
                      <a16:colId xmlns:a16="http://schemas.microsoft.com/office/drawing/2014/main" val="20004"/>
                    </a:ext>
                  </a:extLst>
                </a:gridCol>
                <a:gridCol w="1287351">
                  <a:extLst>
                    <a:ext uri="{9D8B030D-6E8A-4147-A177-3AD203B41FA5}">
                      <a16:colId xmlns:a16="http://schemas.microsoft.com/office/drawing/2014/main" val="20005"/>
                    </a:ext>
                  </a:extLst>
                </a:gridCol>
                <a:gridCol w="322304">
                  <a:extLst>
                    <a:ext uri="{9D8B030D-6E8A-4147-A177-3AD203B41FA5}">
                      <a16:colId xmlns:a16="http://schemas.microsoft.com/office/drawing/2014/main" val="20006"/>
                    </a:ext>
                  </a:extLst>
                </a:gridCol>
                <a:gridCol w="2574703">
                  <a:extLst>
                    <a:ext uri="{9D8B030D-6E8A-4147-A177-3AD203B41FA5}">
                      <a16:colId xmlns:a16="http://schemas.microsoft.com/office/drawing/2014/main" val="20007"/>
                    </a:ext>
                  </a:extLst>
                </a:gridCol>
              </a:tblGrid>
              <a:tr h="178435">
                <a:tc>
                  <a:txBody>
                    <a:bodyPr/>
                    <a:lstStyle/>
                    <a:p>
                      <a:pPr marL="121920">
                        <a:lnSpc>
                          <a:spcPct val="100000"/>
                        </a:lnSpc>
                        <a:spcBef>
                          <a:spcPts val="275"/>
                        </a:spcBef>
                      </a:pPr>
                      <a:r>
                        <a:rPr sz="700" spc="-10" dirty="0">
                          <a:latin typeface="Arial"/>
                          <a:cs typeface="Arial"/>
                        </a:rPr>
                        <a:t>‘h6E</a:t>
                      </a:r>
                      <a:endParaRPr sz="700" dirty="0">
                        <a:latin typeface="Arial"/>
                        <a:cs typeface="Arial"/>
                      </a:endParaRPr>
                    </a:p>
                  </a:txBody>
                  <a:tcPr marL="0" marR="0" marT="3492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635" algn="ctr">
                        <a:lnSpc>
                          <a:spcPct val="100000"/>
                        </a:lnSpc>
                        <a:spcBef>
                          <a:spcPts val="275"/>
                        </a:spcBef>
                      </a:pPr>
                      <a:r>
                        <a:rPr sz="700" dirty="0">
                          <a:latin typeface="Arial"/>
                          <a:cs typeface="Arial"/>
                        </a:rPr>
                        <a:t>0</a:t>
                      </a:r>
                    </a:p>
                  </a:txBody>
                  <a:tcPr marL="0" marR="0" marT="3492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2540" algn="ctr">
                        <a:lnSpc>
                          <a:spcPct val="100000"/>
                        </a:lnSpc>
                        <a:spcBef>
                          <a:spcPts val="250"/>
                        </a:spcBef>
                      </a:pPr>
                      <a:r>
                        <a:rPr sz="700" dirty="0">
                          <a:latin typeface="Arial"/>
                          <a:cs typeface="Arial"/>
                        </a:rPr>
                        <a:t>x</a:t>
                      </a:r>
                    </a:p>
                  </a:txBody>
                  <a:tcPr marL="0" marR="0" marT="3175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2540" algn="ctr">
                        <a:lnSpc>
                          <a:spcPct val="100000"/>
                        </a:lnSpc>
                        <a:spcBef>
                          <a:spcPts val="275"/>
                        </a:spcBef>
                      </a:pPr>
                      <a:r>
                        <a:rPr sz="700" dirty="0">
                          <a:latin typeface="Arial"/>
                          <a:cs typeface="Arial"/>
                        </a:rPr>
                        <a:t>x</a:t>
                      </a:r>
                    </a:p>
                  </a:txBody>
                  <a:tcPr marL="0" marR="0" marT="3492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2540" algn="ctr">
                        <a:lnSpc>
                          <a:spcPct val="100000"/>
                        </a:lnSpc>
                        <a:spcBef>
                          <a:spcPts val="250"/>
                        </a:spcBef>
                      </a:pPr>
                      <a:r>
                        <a:rPr sz="700" dirty="0">
                          <a:latin typeface="Arial"/>
                          <a:cs typeface="Arial"/>
                        </a:rPr>
                        <a:t>x</a:t>
                      </a:r>
                    </a:p>
                  </a:txBody>
                  <a:tcPr marL="0" marR="0" marT="3175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163830">
                        <a:lnSpc>
                          <a:spcPct val="100000"/>
                        </a:lnSpc>
                        <a:spcBef>
                          <a:spcPts val="275"/>
                        </a:spcBef>
                      </a:pPr>
                      <a:r>
                        <a:rPr sz="700" spc="-10" dirty="0">
                          <a:latin typeface="Arial"/>
                          <a:cs typeface="Arial"/>
                        </a:rPr>
                        <a:t>VREF_LOFS_CH22 </a:t>
                      </a:r>
                      <a:r>
                        <a:rPr sz="700" spc="-5" dirty="0">
                          <a:latin typeface="Arial"/>
                          <a:cs typeface="Arial"/>
                        </a:rPr>
                        <a:t>[3:0]</a:t>
                      </a:r>
                      <a:endParaRPr sz="700" dirty="0">
                        <a:latin typeface="Arial"/>
                        <a:cs typeface="Arial"/>
                      </a:endParaRPr>
                    </a:p>
                  </a:txBody>
                  <a:tcPr marL="0" marR="0" marT="3492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56515">
                        <a:lnSpc>
                          <a:spcPct val="100000"/>
                        </a:lnSpc>
                        <a:spcBef>
                          <a:spcPts val="275"/>
                        </a:spcBef>
                      </a:pPr>
                      <a:r>
                        <a:rPr sz="700" spc="-10" dirty="0">
                          <a:latin typeface="Arial"/>
                          <a:cs typeface="Arial"/>
                        </a:rPr>
                        <a:t>SIGN</a:t>
                      </a:r>
                      <a:endParaRPr sz="700" dirty="0">
                        <a:latin typeface="Arial"/>
                        <a:cs typeface="Arial"/>
                      </a:endParaRPr>
                    </a:p>
                  </a:txBody>
                  <a:tcPr marL="0" marR="0" marT="3492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844550">
                        <a:lnSpc>
                          <a:spcPct val="100000"/>
                        </a:lnSpc>
                        <a:spcBef>
                          <a:spcPts val="250"/>
                        </a:spcBef>
                      </a:pPr>
                      <a:r>
                        <a:rPr sz="700" spc="-5" dirty="0">
                          <a:latin typeface="Arial"/>
                          <a:cs typeface="Arial"/>
                        </a:rPr>
                        <a:t>VREF_OFS_CH22</a:t>
                      </a:r>
                      <a:r>
                        <a:rPr sz="700" spc="-40" dirty="0">
                          <a:latin typeface="Arial"/>
                          <a:cs typeface="Arial"/>
                        </a:rPr>
                        <a:t> </a:t>
                      </a:r>
                      <a:r>
                        <a:rPr sz="700" spc="-5" dirty="0">
                          <a:latin typeface="Arial"/>
                          <a:cs typeface="Arial"/>
                        </a:rPr>
                        <a:t>[7:0]</a:t>
                      </a:r>
                      <a:endParaRPr sz="700" dirty="0">
                        <a:latin typeface="Arial"/>
                        <a:cs typeface="Arial"/>
                      </a:endParaRPr>
                    </a:p>
                  </a:txBody>
                  <a:tcPr marL="0" marR="0" marT="3175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extLst>
                  <a:ext uri="{0D108BD9-81ED-4DB2-BD59-A6C34878D82A}">
                    <a16:rowId xmlns:a16="http://schemas.microsoft.com/office/drawing/2014/main" val="10000"/>
                  </a:ext>
                </a:extLst>
              </a:tr>
            </a:tbl>
          </a:graphicData>
        </a:graphic>
      </p:graphicFrame>
      <p:graphicFrame>
        <p:nvGraphicFramePr>
          <p:cNvPr id="24" name="object 24"/>
          <p:cNvGraphicFramePr>
            <a:graphicFrameLocks noGrp="1"/>
          </p:cNvGraphicFramePr>
          <p:nvPr>
            <p:extLst>
              <p:ext uri="{D42A27DB-BD31-4B8C-83A1-F6EECF244321}">
                <p14:modId xmlns:p14="http://schemas.microsoft.com/office/powerpoint/2010/main" val="3196784538"/>
              </p:ext>
            </p:extLst>
          </p:nvPr>
        </p:nvGraphicFramePr>
        <p:xfrm>
          <a:off x="400914" y="6440106"/>
          <a:ext cx="6038543" cy="178435"/>
        </p:xfrm>
        <a:graphic>
          <a:graphicData uri="http://schemas.openxmlformats.org/drawingml/2006/table">
            <a:tbl>
              <a:tblPr firstRow="1" bandRow="1">
                <a:tableStyleId>{2D5ABB26-0587-4C30-8999-92F81FD0307C}</a:tableStyleId>
              </a:tblPr>
              <a:tblGrid>
                <a:gridCol w="412525">
                  <a:extLst>
                    <a:ext uri="{9D8B030D-6E8A-4147-A177-3AD203B41FA5}">
                      <a16:colId xmlns:a16="http://schemas.microsoft.com/office/drawing/2014/main" val="20000"/>
                    </a:ext>
                  </a:extLst>
                </a:gridCol>
                <a:gridCol w="474746">
                  <a:extLst>
                    <a:ext uri="{9D8B030D-6E8A-4147-A177-3AD203B41FA5}">
                      <a16:colId xmlns:a16="http://schemas.microsoft.com/office/drawing/2014/main" val="20001"/>
                    </a:ext>
                  </a:extLst>
                </a:gridCol>
                <a:gridCol w="322304">
                  <a:extLst>
                    <a:ext uri="{9D8B030D-6E8A-4147-A177-3AD203B41FA5}">
                      <a16:colId xmlns:a16="http://schemas.microsoft.com/office/drawing/2014/main" val="20002"/>
                    </a:ext>
                  </a:extLst>
                </a:gridCol>
                <a:gridCol w="322305">
                  <a:extLst>
                    <a:ext uri="{9D8B030D-6E8A-4147-A177-3AD203B41FA5}">
                      <a16:colId xmlns:a16="http://schemas.microsoft.com/office/drawing/2014/main" val="20003"/>
                    </a:ext>
                  </a:extLst>
                </a:gridCol>
                <a:gridCol w="322305">
                  <a:extLst>
                    <a:ext uri="{9D8B030D-6E8A-4147-A177-3AD203B41FA5}">
                      <a16:colId xmlns:a16="http://schemas.microsoft.com/office/drawing/2014/main" val="20004"/>
                    </a:ext>
                  </a:extLst>
                </a:gridCol>
                <a:gridCol w="1287351">
                  <a:extLst>
                    <a:ext uri="{9D8B030D-6E8A-4147-A177-3AD203B41FA5}">
                      <a16:colId xmlns:a16="http://schemas.microsoft.com/office/drawing/2014/main" val="20005"/>
                    </a:ext>
                  </a:extLst>
                </a:gridCol>
                <a:gridCol w="322304">
                  <a:extLst>
                    <a:ext uri="{9D8B030D-6E8A-4147-A177-3AD203B41FA5}">
                      <a16:colId xmlns:a16="http://schemas.microsoft.com/office/drawing/2014/main" val="20006"/>
                    </a:ext>
                  </a:extLst>
                </a:gridCol>
                <a:gridCol w="2574703">
                  <a:extLst>
                    <a:ext uri="{9D8B030D-6E8A-4147-A177-3AD203B41FA5}">
                      <a16:colId xmlns:a16="http://schemas.microsoft.com/office/drawing/2014/main" val="20007"/>
                    </a:ext>
                  </a:extLst>
                </a:gridCol>
              </a:tblGrid>
              <a:tr h="178435">
                <a:tc>
                  <a:txBody>
                    <a:bodyPr/>
                    <a:lstStyle/>
                    <a:p>
                      <a:pPr marL="124460">
                        <a:lnSpc>
                          <a:spcPct val="100000"/>
                        </a:lnSpc>
                        <a:spcBef>
                          <a:spcPts val="270"/>
                        </a:spcBef>
                      </a:pPr>
                      <a:r>
                        <a:rPr sz="700" spc="-10" dirty="0">
                          <a:latin typeface="Arial"/>
                          <a:cs typeface="Arial"/>
                        </a:rPr>
                        <a:t>‘h6F</a:t>
                      </a:r>
                      <a:endParaRPr sz="7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635" algn="ctr">
                        <a:lnSpc>
                          <a:spcPct val="100000"/>
                        </a:lnSpc>
                        <a:spcBef>
                          <a:spcPts val="270"/>
                        </a:spcBef>
                      </a:pPr>
                      <a:r>
                        <a:rPr sz="700" dirty="0">
                          <a:latin typeface="Arial"/>
                          <a:cs typeface="Arial"/>
                        </a:rPr>
                        <a:t>0</a:t>
                      </a: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2540" algn="ctr">
                        <a:lnSpc>
                          <a:spcPct val="100000"/>
                        </a:lnSpc>
                        <a:spcBef>
                          <a:spcPts val="250"/>
                        </a:spcBef>
                      </a:pPr>
                      <a:r>
                        <a:rPr sz="700" dirty="0">
                          <a:latin typeface="Arial"/>
                          <a:cs typeface="Arial"/>
                        </a:rPr>
                        <a:t>x</a:t>
                      </a:r>
                    </a:p>
                  </a:txBody>
                  <a:tcPr marL="0" marR="0" marT="3175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2540" algn="ctr">
                        <a:lnSpc>
                          <a:spcPct val="100000"/>
                        </a:lnSpc>
                        <a:spcBef>
                          <a:spcPts val="270"/>
                        </a:spcBef>
                      </a:pPr>
                      <a:r>
                        <a:rPr sz="700" dirty="0">
                          <a:latin typeface="Arial"/>
                          <a:cs typeface="Arial"/>
                        </a:rPr>
                        <a:t>x</a:t>
                      </a: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2540" algn="ctr">
                        <a:lnSpc>
                          <a:spcPct val="100000"/>
                        </a:lnSpc>
                        <a:spcBef>
                          <a:spcPts val="250"/>
                        </a:spcBef>
                      </a:pPr>
                      <a:r>
                        <a:rPr sz="700" dirty="0">
                          <a:latin typeface="Arial"/>
                          <a:cs typeface="Arial"/>
                        </a:rPr>
                        <a:t>x</a:t>
                      </a:r>
                    </a:p>
                  </a:txBody>
                  <a:tcPr marL="0" marR="0" marT="3175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163830">
                        <a:lnSpc>
                          <a:spcPct val="100000"/>
                        </a:lnSpc>
                        <a:spcBef>
                          <a:spcPts val="270"/>
                        </a:spcBef>
                      </a:pPr>
                      <a:r>
                        <a:rPr sz="700" spc="-10" dirty="0">
                          <a:latin typeface="Arial"/>
                          <a:cs typeface="Arial"/>
                        </a:rPr>
                        <a:t>VREF_LOFS_CH23 </a:t>
                      </a:r>
                      <a:r>
                        <a:rPr sz="700" spc="-5" dirty="0">
                          <a:latin typeface="Arial"/>
                          <a:cs typeface="Arial"/>
                        </a:rPr>
                        <a:t>[3:0]</a:t>
                      </a:r>
                      <a:endParaRPr sz="7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56515">
                        <a:lnSpc>
                          <a:spcPct val="100000"/>
                        </a:lnSpc>
                        <a:spcBef>
                          <a:spcPts val="270"/>
                        </a:spcBef>
                      </a:pPr>
                      <a:r>
                        <a:rPr sz="700" spc="-10" dirty="0">
                          <a:latin typeface="Arial"/>
                          <a:cs typeface="Arial"/>
                        </a:rPr>
                        <a:t>SIGN</a:t>
                      </a:r>
                      <a:endParaRPr sz="700" dirty="0">
                        <a:latin typeface="Arial"/>
                        <a:cs typeface="Arial"/>
                      </a:endParaRPr>
                    </a:p>
                  </a:txBody>
                  <a:tcPr marL="0" marR="0" marT="3429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844550">
                        <a:lnSpc>
                          <a:spcPct val="100000"/>
                        </a:lnSpc>
                        <a:spcBef>
                          <a:spcPts val="250"/>
                        </a:spcBef>
                      </a:pPr>
                      <a:r>
                        <a:rPr sz="700" spc="-5" dirty="0">
                          <a:latin typeface="Arial"/>
                          <a:cs typeface="Arial"/>
                        </a:rPr>
                        <a:t>VREF_OFS_CH23</a:t>
                      </a:r>
                      <a:r>
                        <a:rPr sz="700" spc="-40" dirty="0">
                          <a:latin typeface="Arial"/>
                          <a:cs typeface="Arial"/>
                        </a:rPr>
                        <a:t> </a:t>
                      </a:r>
                      <a:r>
                        <a:rPr sz="700" spc="-5" dirty="0">
                          <a:latin typeface="Arial"/>
                          <a:cs typeface="Arial"/>
                        </a:rPr>
                        <a:t>[7:0]</a:t>
                      </a:r>
                      <a:endParaRPr sz="700" dirty="0">
                        <a:latin typeface="Arial"/>
                        <a:cs typeface="Arial"/>
                      </a:endParaRPr>
                    </a:p>
                  </a:txBody>
                  <a:tcPr marL="0" marR="0" marT="3175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extLst>
                  <a:ext uri="{0D108BD9-81ED-4DB2-BD59-A6C34878D82A}">
                    <a16:rowId xmlns:a16="http://schemas.microsoft.com/office/drawing/2014/main" val="10000"/>
                  </a:ext>
                </a:extLst>
              </a:tr>
            </a:tbl>
          </a:graphicData>
        </a:graphic>
      </p:graphicFrame>
      <p:graphicFrame>
        <p:nvGraphicFramePr>
          <p:cNvPr id="25" name="object 25"/>
          <p:cNvGraphicFramePr>
            <a:graphicFrameLocks noGrp="1"/>
          </p:cNvGraphicFramePr>
          <p:nvPr>
            <p:extLst>
              <p:ext uri="{D42A27DB-BD31-4B8C-83A1-F6EECF244321}">
                <p14:modId xmlns:p14="http://schemas.microsoft.com/office/powerpoint/2010/main" val="3803812268"/>
              </p:ext>
            </p:extLst>
          </p:nvPr>
        </p:nvGraphicFramePr>
        <p:xfrm>
          <a:off x="400914" y="6670611"/>
          <a:ext cx="6038543" cy="178435"/>
        </p:xfrm>
        <a:graphic>
          <a:graphicData uri="http://schemas.openxmlformats.org/drawingml/2006/table">
            <a:tbl>
              <a:tblPr firstRow="1" bandRow="1">
                <a:tableStyleId>{2D5ABB26-0587-4C30-8999-92F81FD0307C}</a:tableStyleId>
              </a:tblPr>
              <a:tblGrid>
                <a:gridCol w="412525">
                  <a:extLst>
                    <a:ext uri="{9D8B030D-6E8A-4147-A177-3AD203B41FA5}">
                      <a16:colId xmlns:a16="http://schemas.microsoft.com/office/drawing/2014/main" val="20000"/>
                    </a:ext>
                  </a:extLst>
                </a:gridCol>
                <a:gridCol w="474746">
                  <a:extLst>
                    <a:ext uri="{9D8B030D-6E8A-4147-A177-3AD203B41FA5}">
                      <a16:colId xmlns:a16="http://schemas.microsoft.com/office/drawing/2014/main" val="20001"/>
                    </a:ext>
                  </a:extLst>
                </a:gridCol>
                <a:gridCol w="322304">
                  <a:extLst>
                    <a:ext uri="{9D8B030D-6E8A-4147-A177-3AD203B41FA5}">
                      <a16:colId xmlns:a16="http://schemas.microsoft.com/office/drawing/2014/main" val="20002"/>
                    </a:ext>
                  </a:extLst>
                </a:gridCol>
                <a:gridCol w="322305">
                  <a:extLst>
                    <a:ext uri="{9D8B030D-6E8A-4147-A177-3AD203B41FA5}">
                      <a16:colId xmlns:a16="http://schemas.microsoft.com/office/drawing/2014/main" val="20003"/>
                    </a:ext>
                  </a:extLst>
                </a:gridCol>
                <a:gridCol w="322305">
                  <a:extLst>
                    <a:ext uri="{9D8B030D-6E8A-4147-A177-3AD203B41FA5}">
                      <a16:colId xmlns:a16="http://schemas.microsoft.com/office/drawing/2014/main" val="20004"/>
                    </a:ext>
                  </a:extLst>
                </a:gridCol>
                <a:gridCol w="1287351">
                  <a:extLst>
                    <a:ext uri="{9D8B030D-6E8A-4147-A177-3AD203B41FA5}">
                      <a16:colId xmlns:a16="http://schemas.microsoft.com/office/drawing/2014/main" val="20005"/>
                    </a:ext>
                  </a:extLst>
                </a:gridCol>
                <a:gridCol w="322304">
                  <a:extLst>
                    <a:ext uri="{9D8B030D-6E8A-4147-A177-3AD203B41FA5}">
                      <a16:colId xmlns:a16="http://schemas.microsoft.com/office/drawing/2014/main" val="20006"/>
                    </a:ext>
                  </a:extLst>
                </a:gridCol>
                <a:gridCol w="2574703">
                  <a:extLst>
                    <a:ext uri="{9D8B030D-6E8A-4147-A177-3AD203B41FA5}">
                      <a16:colId xmlns:a16="http://schemas.microsoft.com/office/drawing/2014/main" val="20007"/>
                    </a:ext>
                  </a:extLst>
                </a:gridCol>
              </a:tblGrid>
              <a:tr h="178435">
                <a:tc>
                  <a:txBody>
                    <a:bodyPr/>
                    <a:lstStyle/>
                    <a:p>
                      <a:pPr marL="126364">
                        <a:lnSpc>
                          <a:spcPct val="100000"/>
                        </a:lnSpc>
                        <a:spcBef>
                          <a:spcPts val="275"/>
                        </a:spcBef>
                      </a:pPr>
                      <a:r>
                        <a:rPr sz="700" spc="-10" dirty="0">
                          <a:latin typeface="Arial"/>
                          <a:cs typeface="Arial"/>
                        </a:rPr>
                        <a:t>‘h70</a:t>
                      </a:r>
                      <a:endParaRPr sz="700" dirty="0">
                        <a:latin typeface="Arial"/>
                        <a:cs typeface="Arial"/>
                      </a:endParaRPr>
                    </a:p>
                  </a:txBody>
                  <a:tcPr marL="0" marR="0" marT="3492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635" algn="ctr">
                        <a:lnSpc>
                          <a:spcPct val="100000"/>
                        </a:lnSpc>
                        <a:spcBef>
                          <a:spcPts val="275"/>
                        </a:spcBef>
                      </a:pPr>
                      <a:r>
                        <a:rPr sz="700" dirty="0">
                          <a:latin typeface="Arial"/>
                          <a:cs typeface="Arial"/>
                        </a:rPr>
                        <a:t>0</a:t>
                      </a:r>
                    </a:p>
                  </a:txBody>
                  <a:tcPr marL="0" marR="0" marT="3492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2540" algn="ctr">
                        <a:lnSpc>
                          <a:spcPct val="100000"/>
                        </a:lnSpc>
                        <a:spcBef>
                          <a:spcPts val="250"/>
                        </a:spcBef>
                      </a:pPr>
                      <a:r>
                        <a:rPr sz="700" dirty="0">
                          <a:latin typeface="Arial"/>
                          <a:cs typeface="Arial"/>
                        </a:rPr>
                        <a:t>x</a:t>
                      </a:r>
                    </a:p>
                  </a:txBody>
                  <a:tcPr marL="0" marR="0" marT="3175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2540" algn="ctr">
                        <a:lnSpc>
                          <a:spcPct val="100000"/>
                        </a:lnSpc>
                        <a:spcBef>
                          <a:spcPts val="275"/>
                        </a:spcBef>
                      </a:pPr>
                      <a:r>
                        <a:rPr sz="700" dirty="0">
                          <a:latin typeface="Arial"/>
                          <a:cs typeface="Arial"/>
                        </a:rPr>
                        <a:t>x</a:t>
                      </a:r>
                    </a:p>
                  </a:txBody>
                  <a:tcPr marL="0" marR="0" marT="3492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2540" algn="ctr">
                        <a:lnSpc>
                          <a:spcPct val="100000"/>
                        </a:lnSpc>
                        <a:spcBef>
                          <a:spcPts val="250"/>
                        </a:spcBef>
                      </a:pPr>
                      <a:r>
                        <a:rPr sz="700" dirty="0">
                          <a:latin typeface="Arial"/>
                          <a:cs typeface="Arial"/>
                        </a:rPr>
                        <a:t>x</a:t>
                      </a:r>
                    </a:p>
                  </a:txBody>
                  <a:tcPr marL="0" marR="0" marT="3175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163830">
                        <a:lnSpc>
                          <a:spcPct val="100000"/>
                        </a:lnSpc>
                        <a:spcBef>
                          <a:spcPts val="275"/>
                        </a:spcBef>
                      </a:pPr>
                      <a:r>
                        <a:rPr sz="700" spc="-10" dirty="0">
                          <a:latin typeface="Arial"/>
                          <a:cs typeface="Arial"/>
                        </a:rPr>
                        <a:t>VREF_LOFS_CH24 </a:t>
                      </a:r>
                      <a:r>
                        <a:rPr sz="700" spc="-5" dirty="0">
                          <a:latin typeface="Arial"/>
                          <a:cs typeface="Arial"/>
                        </a:rPr>
                        <a:t>[3:0]</a:t>
                      </a:r>
                      <a:endParaRPr sz="700" dirty="0">
                        <a:latin typeface="Arial"/>
                        <a:cs typeface="Arial"/>
                      </a:endParaRPr>
                    </a:p>
                  </a:txBody>
                  <a:tcPr marL="0" marR="0" marT="3492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56515">
                        <a:lnSpc>
                          <a:spcPct val="100000"/>
                        </a:lnSpc>
                        <a:spcBef>
                          <a:spcPts val="275"/>
                        </a:spcBef>
                      </a:pPr>
                      <a:r>
                        <a:rPr sz="700" spc="-10" dirty="0">
                          <a:latin typeface="Arial"/>
                          <a:cs typeface="Arial"/>
                        </a:rPr>
                        <a:t>SIGN</a:t>
                      </a:r>
                      <a:endParaRPr sz="700" dirty="0">
                        <a:latin typeface="Arial"/>
                        <a:cs typeface="Arial"/>
                      </a:endParaRPr>
                    </a:p>
                  </a:txBody>
                  <a:tcPr marL="0" marR="0" marT="34925"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tc>
                  <a:txBody>
                    <a:bodyPr/>
                    <a:lstStyle/>
                    <a:p>
                      <a:pPr marL="844550">
                        <a:lnSpc>
                          <a:spcPct val="100000"/>
                        </a:lnSpc>
                        <a:spcBef>
                          <a:spcPts val="250"/>
                        </a:spcBef>
                      </a:pPr>
                      <a:r>
                        <a:rPr sz="700" spc="-5" dirty="0">
                          <a:latin typeface="Arial"/>
                          <a:cs typeface="Arial"/>
                        </a:rPr>
                        <a:t>VREF_OFS_CH24</a:t>
                      </a:r>
                      <a:r>
                        <a:rPr sz="700" spc="-40" dirty="0">
                          <a:latin typeface="Arial"/>
                          <a:cs typeface="Arial"/>
                        </a:rPr>
                        <a:t> </a:t>
                      </a:r>
                      <a:r>
                        <a:rPr sz="700" spc="-5" dirty="0">
                          <a:latin typeface="Arial"/>
                          <a:cs typeface="Arial"/>
                        </a:rPr>
                        <a:t>[7:0]</a:t>
                      </a:r>
                      <a:endParaRPr sz="700" dirty="0">
                        <a:latin typeface="Arial"/>
                        <a:cs typeface="Arial"/>
                      </a:endParaRPr>
                    </a:p>
                  </a:txBody>
                  <a:tcPr marL="0" marR="0" marT="31750" marB="0">
                    <a:lnL w="3175">
                      <a:solidFill>
                        <a:srgbClr val="7E7E7E"/>
                      </a:solidFill>
                      <a:prstDash val="solid"/>
                    </a:lnL>
                    <a:lnR w="3175">
                      <a:solidFill>
                        <a:srgbClr val="7E7E7E"/>
                      </a:solidFill>
                      <a:prstDash val="solid"/>
                    </a:lnR>
                    <a:lnT w="3175">
                      <a:solidFill>
                        <a:srgbClr val="7E7E7E"/>
                      </a:solidFill>
                      <a:prstDash val="solid"/>
                    </a:lnT>
                    <a:lnB w="3175">
                      <a:solidFill>
                        <a:srgbClr val="7E7E7E"/>
                      </a:solidFill>
                      <a:prstDash val="solid"/>
                    </a:lnB>
                  </a:tcPr>
                </a:tc>
                <a:extLst>
                  <a:ext uri="{0D108BD9-81ED-4DB2-BD59-A6C34878D82A}">
                    <a16:rowId xmlns:a16="http://schemas.microsoft.com/office/drawing/2014/main" val="10000"/>
                  </a:ext>
                </a:extLst>
              </a:tr>
            </a:tbl>
          </a:graphicData>
        </a:graphic>
      </p:graphicFrame>
      <p:sp>
        <p:nvSpPr>
          <p:cNvPr id="29" name="object 9">
            <a:extLst>
              <a:ext uri="{FF2B5EF4-FFF2-40B4-BE49-F238E27FC236}">
                <a16:creationId xmlns:a16="http://schemas.microsoft.com/office/drawing/2014/main" id="{458AC76C-8459-E42F-FF92-3E33FEADF207}"/>
              </a:ext>
            </a:extLst>
          </p:cNvPr>
          <p:cNvSpPr txBox="1"/>
          <p:nvPr/>
        </p:nvSpPr>
        <p:spPr>
          <a:xfrm>
            <a:off x="304800" y="9067800"/>
            <a:ext cx="2078355" cy="289823"/>
          </a:xfrm>
          <a:prstGeom prst="rect">
            <a:avLst/>
          </a:prstGeom>
        </p:spPr>
        <p:txBody>
          <a:bodyPr vert="horz" wrap="square" lIns="0" tIns="12700" rIns="0" bIns="0" rtlCol="0">
            <a:spAutoFit/>
          </a:bodyPr>
          <a:lstStyle/>
          <a:p>
            <a:pPr marL="12700">
              <a:lnSpc>
                <a:spcPct val="100000"/>
              </a:lnSpc>
              <a:spcBef>
                <a:spcPts val="100"/>
              </a:spcBef>
            </a:pPr>
            <a:r>
              <a:rPr b="1" spc="-5" dirty="0">
                <a:solidFill>
                  <a:srgbClr val="FF0000"/>
                </a:solidFill>
                <a:cs typeface="Perpetua Titling MT"/>
              </a:rPr>
              <a:t>CONFIDENTIAL</a:t>
            </a:r>
            <a:endParaRPr dirty="0">
              <a:cs typeface="Perpetua Titling MT"/>
            </a:endParaRPr>
          </a:p>
        </p:txBody>
      </p:sp>
      <p:sp>
        <p:nvSpPr>
          <p:cNvPr id="30" name="object 6">
            <a:extLst>
              <a:ext uri="{FF2B5EF4-FFF2-40B4-BE49-F238E27FC236}">
                <a16:creationId xmlns:a16="http://schemas.microsoft.com/office/drawing/2014/main" id="{EE739F09-53D5-B22D-1CA8-AEA14C0719EE}"/>
              </a:ext>
            </a:extLst>
          </p:cNvPr>
          <p:cNvSpPr/>
          <p:nvPr/>
        </p:nvSpPr>
        <p:spPr>
          <a:xfrm>
            <a:off x="301676" y="9458756"/>
            <a:ext cx="6246495" cy="0"/>
          </a:xfrm>
          <a:custGeom>
            <a:avLst/>
            <a:gdLst/>
            <a:ahLst/>
            <a:cxnLst/>
            <a:rect l="l" t="t" r="r" b="b"/>
            <a:pathLst>
              <a:path w="6246495">
                <a:moveTo>
                  <a:pt x="0" y="0"/>
                </a:moveTo>
                <a:lnTo>
                  <a:pt x="6245999" y="0"/>
                </a:lnTo>
              </a:path>
            </a:pathLst>
          </a:custGeom>
          <a:ln w="25920">
            <a:solidFill>
              <a:srgbClr val="BFBFBF"/>
            </a:solidFill>
          </a:ln>
        </p:spPr>
        <p:txBody>
          <a:bodyPr wrap="square" lIns="0" tIns="0" rIns="0" bIns="0" rtlCol="0"/>
          <a:lstStyle/>
          <a:p>
            <a:endParaRPr/>
          </a:p>
        </p:txBody>
      </p:sp>
      <p:sp>
        <p:nvSpPr>
          <p:cNvPr id="31" name="슬라이드 번호 개체 틀 3">
            <a:hlinkClick r:id="rId2"/>
            <a:extLst>
              <a:ext uri="{FF2B5EF4-FFF2-40B4-BE49-F238E27FC236}">
                <a16:creationId xmlns:a16="http://schemas.microsoft.com/office/drawing/2014/main" id="{86AD0BCC-A3B8-4AAE-97C8-23A5878A0A56}"/>
              </a:ext>
            </a:extLst>
          </p:cNvPr>
          <p:cNvSpPr txBox="1">
            <a:spLocks/>
          </p:cNvSpPr>
          <p:nvPr/>
        </p:nvSpPr>
        <p:spPr>
          <a:xfrm>
            <a:off x="5151602" y="9452864"/>
            <a:ext cx="1487550"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dirty="0">
                <a:solidFill>
                  <a:prstClr val="black"/>
                </a:solidFill>
                <a:latin typeface="Arial" panose="020B0604020202020204" pitchFamily="34" charset="0"/>
                <a:cs typeface="Arial" panose="020B0604020202020204" pitchFamily="34" charset="0"/>
              </a:rPr>
              <a:t>http://www.glbltech.com/</a:t>
            </a:r>
            <a:endParaRPr lang="ko-KR" altLang="en-US" dirty="0">
              <a:solidFill>
                <a:prstClr val="black"/>
              </a:solidFill>
              <a:latin typeface="Arial" panose="020B0604020202020204" pitchFamily="34" charset="0"/>
              <a:cs typeface="Arial" panose="020B0604020202020204" pitchFamily="34" charset="0"/>
            </a:endParaRPr>
          </a:p>
        </p:txBody>
      </p:sp>
      <p:sp>
        <p:nvSpPr>
          <p:cNvPr id="32" name="object 38">
            <a:extLst>
              <a:ext uri="{FF2B5EF4-FFF2-40B4-BE49-F238E27FC236}">
                <a16:creationId xmlns:a16="http://schemas.microsoft.com/office/drawing/2014/main" id="{3E528387-EED9-0F90-B26F-98F94D00872E}"/>
              </a:ext>
            </a:extLst>
          </p:cNvPr>
          <p:cNvSpPr txBox="1">
            <a:spLocks/>
          </p:cNvSpPr>
          <p:nvPr/>
        </p:nvSpPr>
        <p:spPr>
          <a:xfrm>
            <a:off x="3309066" y="9547988"/>
            <a:ext cx="487045" cy="139141"/>
          </a:xfrm>
          <a:prstGeom prst="rect">
            <a:avLst/>
          </a:prstGeom>
        </p:spPr>
        <p:txBody>
          <a:bodyPr vert="horz" wrap="square" lIns="0" tIns="635" rIns="0" bIns="0" rtlCol="0">
            <a:spAutoFit/>
          </a:bodyPr>
          <a:lstStyle>
            <a:defPPr>
              <a:defRPr lang="ko-KR"/>
            </a:defPPr>
            <a:lvl1pPr marL="0" algn="l" defTabSz="914400" rtl="0" eaLnBrk="1" latinLnBrk="1" hangingPunct="1">
              <a:defRPr sz="1050" b="0" i="0" kern="1200">
                <a:solidFill>
                  <a:schemeClr val="tx1"/>
                </a:solidFill>
                <a:latin typeface="Arial"/>
                <a:ea typeface="+mn-ea"/>
                <a:cs typeface="Arial"/>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marL="12700">
              <a:spcBef>
                <a:spcPts val="5"/>
              </a:spcBef>
              <a:defRPr/>
            </a:pPr>
            <a:r>
              <a:rPr lang="en-US" sz="900" dirty="0">
                <a:solidFill>
                  <a:prstClr val="black"/>
                </a:solidFill>
              </a:rPr>
              <a:t>Page</a:t>
            </a:r>
            <a:r>
              <a:rPr lang="en-US" sz="900" spc="-60" dirty="0">
                <a:solidFill>
                  <a:prstClr val="black"/>
                </a:solidFill>
              </a:rPr>
              <a:t> </a:t>
            </a:r>
            <a:fld id="{81D60167-4931-47E6-BA6A-407CBD079E47}" type="slidenum">
              <a:rPr sz="900">
                <a:solidFill>
                  <a:prstClr val="black"/>
                </a:solidFill>
              </a:rPr>
              <a:pPr marL="12700">
                <a:spcBef>
                  <a:spcPts val="5"/>
                </a:spcBef>
                <a:defRPr/>
              </a:pPr>
              <a:t>44</a:t>
            </a:fld>
            <a:endParaRPr sz="900" dirty="0">
              <a:solidFill>
                <a:prstClr val="black"/>
              </a:solidFill>
            </a:endParaRPr>
          </a:p>
        </p:txBody>
      </p:sp>
      <p:sp>
        <p:nvSpPr>
          <p:cNvPr id="33" name="슬라이드 번호 개체 틀 3">
            <a:extLst>
              <a:ext uri="{FF2B5EF4-FFF2-40B4-BE49-F238E27FC236}">
                <a16:creationId xmlns:a16="http://schemas.microsoft.com/office/drawing/2014/main" id="{DF170BF7-5D61-79FC-C211-EB996A744E72}"/>
              </a:ext>
            </a:extLst>
          </p:cNvPr>
          <p:cNvSpPr txBox="1">
            <a:spLocks/>
          </p:cNvSpPr>
          <p:nvPr/>
        </p:nvSpPr>
        <p:spPr>
          <a:xfrm>
            <a:off x="299401" y="9520856"/>
            <a:ext cx="2060991" cy="175259"/>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lang="en-US" altLang="ko-KR" dirty="0">
                <a:solidFill>
                  <a:prstClr val="black"/>
                </a:solidFill>
                <a:latin typeface="Arial" panose="020B0604020202020204" pitchFamily="34" charset="0"/>
                <a:cs typeface="Arial" panose="020B0604020202020204" pitchFamily="34" charset="0"/>
              </a:rPr>
              <a:t>Dated 30-Nov 23  Rev. 01</a:t>
            </a:r>
            <a:endParaRPr lang="ko-KR" altLang="en-US" dirty="0">
              <a:solidFill>
                <a:prstClr val="black"/>
              </a:solidFill>
              <a:latin typeface="Arial" panose="020B0604020202020204" pitchFamily="34" charset="0"/>
              <a:cs typeface="Arial" panose="020B0604020202020204" pitchFamily="34" charset="0"/>
            </a:endParaRPr>
          </a:p>
        </p:txBody>
      </p:sp>
      <p:sp>
        <p:nvSpPr>
          <p:cNvPr id="34" name="Holder 3">
            <a:extLst>
              <a:ext uri="{FF2B5EF4-FFF2-40B4-BE49-F238E27FC236}">
                <a16:creationId xmlns:a16="http://schemas.microsoft.com/office/drawing/2014/main" id="{E0BB9D1D-116D-A0C5-E2F9-30C1F2C629FE}"/>
              </a:ext>
            </a:extLst>
          </p:cNvPr>
          <p:cNvSpPr txBox="1">
            <a:spLocks/>
          </p:cNvSpPr>
          <p:nvPr/>
        </p:nvSpPr>
        <p:spPr>
          <a:xfrm>
            <a:off x="5147476" y="203944"/>
            <a:ext cx="1447800" cy="276999"/>
          </a:xfrm>
          <a:prstGeom prst="rect">
            <a:avLst/>
          </a:prstGeom>
        </p:spPr>
        <p:txBody>
          <a:bodyPr wrap="square" lIns="0" tIns="0" rIns="0" bIns="0">
            <a:spAutoFit/>
          </a:bodyPr>
          <a:lstStyle>
            <a:lvl1pPr marL="0">
              <a:defRPr>
                <a:solidFill>
                  <a:srgbClr val="FF99FF"/>
                </a:solidFill>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defTabSz="914400" latinLnBrk="0"/>
            <a:r>
              <a:rPr lang="en-US" sz="1800" kern="0" dirty="0"/>
              <a:t>&lt;Preliminary&gt;</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p:nvPr/>
        </p:nvSpPr>
        <p:spPr>
          <a:xfrm>
            <a:off x="405384" y="637031"/>
            <a:ext cx="6049010" cy="0"/>
          </a:xfrm>
          <a:custGeom>
            <a:avLst/>
            <a:gdLst/>
            <a:ahLst/>
            <a:cxnLst/>
            <a:rect l="l" t="t" r="r" b="b"/>
            <a:pathLst>
              <a:path w="6049010">
                <a:moveTo>
                  <a:pt x="0" y="0"/>
                </a:moveTo>
                <a:lnTo>
                  <a:pt x="6048629" y="0"/>
                </a:lnTo>
              </a:path>
            </a:pathLst>
          </a:custGeom>
          <a:ln w="6350">
            <a:solidFill>
              <a:srgbClr val="000000"/>
            </a:solidFill>
          </a:ln>
        </p:spPr>
        <p:txBody>
          <a:bodyPr wrap="square" lIns="0" tIns="0" rIns="0" bIns="0" rtlCol="0"/>
          <a:lstStyle/>
          <a:p>
            <a:endParaRPr dirty="0"/>
          </a:p>
        </p:txBody>
      </p:sp>
      <p:sp>
        <p:nvSpPr>
          <p:cNvPr id="6" name="object 6"/>
          <p:cNvSpPr txBox="1"/>
          <p:nvPr/>
        </p:nvSpPr>
        <p:spPr>
          <a:xfrm>
            <a:off x="400913" y="301879"/>
            <a:ext cx="622935" cy="299720"/>
          </a:xfrm>
          <a:prstGeom prst="rect">
            <a:avLst/>
          </a:prstGeom>
        </p:spPr>
        <p:txBody>
          <a:bodyPr vert="horz" wrap="square" lIns="0" tIns="12700" rIns="0" bIns="0" rtlCol="0">
            <a:spAutoFit/>
          </a:bodyPr>
          <a:lstStyle/>
          <a:p>
            <a:pPr marL="12700">
              <a:lnSpc>
                <a:spcPct val="100000"/>
              </a:lnSpc>
              <a:spcBef>
                <a:spcPts val="100"/>
              </a:spcBef>
            </a:pPr>
            <a:r>
              <a:rPr sz="1800" b="1" spc="-5" dirty="0">
                <a:latin typeface="Arial"/>
                <a:cs typeface="Arial"/>
              </a:rPr>
              <a:t>CQ24</a:t>
            </a:r>
            <a:endParaRPr sz="1800" dirty="0">
              <a:latin typeface="Arial"/>
              <a:cs typeface="Arial"/>
            </a:endParaRPr>
          </a:p>
        </p:txBody>
      </p:sp>
      <p:sp>
        <p:nvSpPr>
          <p:cNvPr id="13" name="object 9">
            <a:extLst>
              <a:ext uri="{FF2B5EF4-FFF2-40B4-BE49-F238E27FC236}">
                <a16:creationId xmlns:a16="http://schemas.microsoft.com/office/drawing/2014/main" id="{A602D892-FE42-F1D0-A6B0-D30AD48DA55F}"/>
              </a:ext>
            </a:extLst>
          </p:cNvPr>
          <p:cNvSpPr txBox="1"/>
          <p:nvPr/>
        </p:nvSpPr>
        <p:spPr>
          <a:xfrm>
            <a:off x="304800" y="9067800"/>
            <a:ext cx="2078355" cy="289823"/>
          </a:xfrm>
          <a:prstGeom prst="rect">
            <a:avLst/>
          </a:prstGeom>
        </p:spPr>
        <p:txBody>
          <a:bodyPr vert="horz" wrap="square" lIns="0" tIns="12700" rIns="0" bIns="0" rtlCol="0">
            <a:spAutoFit/>
          </a:bodyPr>
          <a:lstStyle/>
          <a:p>
            <a:pPr marL="12700">
              <a:lnSpc>
                <a:spcPct val="100000"/>
              </a:lnSpc>
              <a:spcBef>
                <a:spcPts val="100"/>
              </a:spcBef>
            </a:pPr>
            <a:r>
              <a:rPr b="1" spc="-5" dirty="0">
                <a:solidFill>
                  <a:srgbClr val="FF0000"/>
                </a:solidFill>
                <a:cs typeface="Perpetua Titling MT"/>
              </a:rPr>
              <a:t>CONFIDENTIAL</a:t>
            </a:r>
            <a:endParaRPr dirty="0">
              <a:cs typeface="Perpetua Titling MT"/>
            </a:endParaRPr>
          </a:p>
        </p:txBody>
      </p:sp>
      <p:sp>
        <p:nvSpPr>
          <p:cNvPr id="14" name="object 6">
            <a:extLst>
              <a:ext uri="{FF2B5EF4-FFF2-40B4-BE49-F238E27FC236}">
                <a16:creationId xmlns:a16="http://schemas.microsoft.com/office/drawing/2014/main" id="{30F12949-D42F-3CE3-C85A-0CB613FF0EC3}"/>
              </a:ext>
            </a:extLst>
          </p:cNvPr>
          <p:cNvSpPr/>
          <p:nvPr/>
        </p:nvSpPr>
        <p:spPr>
          <a:xfrm>
            <a:off x="301676" y="9458756"/>
            <a:ext cx="6246495" cy="0"/>
          </a:xfrm>
          <a:custGeom>
            <a:avLst/>
            <a:gdLst/>
            <a:ahLst/>
            <a:cxnLst/>
            <a:rect l="l" t="t" r="r" b="b"/>
            <a:pathLst>
              <a:path w="6246495">
                <a:moveTo>
                  <a:pt x="0" y="0"/>
                </a:moveTo>
                <a:lnTo>
                  <a:pt x="6245999" y="0"/>
                </a:lnTo>
              </a:path>
            </a:pathLst>
          </a:custGeom>
          <a:ln w="25920">
            <a:solidFill>
              <a:srgbClr val="BFBFBF"/>
            </a:solidFill>
          </a:ln>
        </p:spPr>
        <p:txBody>
          <a:bodyPr wrap="square" lIns="0" tIns="0" rIns="0" bIns="0" rtlCol="0"/>
          <a:lstStyle/>
          <a:p>
            <a:endParaRPr/>
          </a:p>
        </p:txBody>
      </p:sp>
      <p:sp>
        <p:nvSpPr>
          <p:cNvPr id="15" name="슬라이드 번호 개체 틀 3">
            <a:hlinkClick r:id="rId2"/>
            <a:extLst>
              <a:ext uri="{FF2B5EF4-FFF2-40B4-BE49-F238E27FC236}">
                <a16:creationId xmlns:a16="http://schemas.microsoft.com/office/drawing/2014/main" id="{69C1EAC5-6968-2F4C-2021-05D8FEE9604F}"/>
              </a:ext>
            </a:extLst>
          </p:cNvPr>
          <p:cNvSpPr txBox="1">
            <a:spLocks/>
          </p:cNvSpPr>
          <p:nvPr/>
        </p:nvSpPr>
        <p:spPr>
          <a:xfrm>
            <a:off x="5151602" y="9452864"/>
            <a:ext cx="1487550"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dirty="0">
                <a:solidFill>
                  <a:prstClr val="black"/>
                </a:solidFill>
                <a:latin typeface="Arial" panose="020B0604020202020204" pitchFamily="34" charset="0"/>
                <a:cs typeface="Arial" panose="020B0604020202020204" pitchFamily="34" charset="0"/>
              </a:rPr>
              <a:t>http://www.glbltech.com/</a:t>
            </a:r>
            <a:endParaRPr lang="ko-KR" altLang="en-US" dirty="0">
              <a:solidFill>
                <a:prstClr val="black"/>
              </a:solidFill>
              <a:latin typeface="Arial" panose="020B0604020202020204" pitchFamily="34" charset="0"/>
              <a:cs typeface="Arial" panose="020B0604020202020204" pitchFamily="34" charset="0"/>
            </a:endParaRPr>
          </a:p>
        </p:txBody>
      </p:sp>
      <p:sp>
        <p:nvSpPr>
          <p:cNvPr id="16" name="object 38">
            <a:extLst>
              <a:ext uri="{FF2B5EF4-FFF2-40B4-BE49-F238E27FC236}">
                <a16:creationId xmlns:a16="http://schemas.microsoft.com/office/drawing/2014/main" id="{5174A491-81F5-C8A8-54CC-BC19044BF15D}"/>
              </a:ext>
            </a:extLst>
          </p:cNvPr>
          <p:cNvSpPr txBox="1">
            <a:spLocks/>
          </p:cNvSpPr>
          <p:nvPr/>
        </p:nvSpPr>
        <p:spPr>
          <a:xfrm>
            <a:off x="3309066" y="9547988"/>
            <a:ext cx="487045" cy="139141"/>
          </a:xfrm>
          <a:prstGeom prst="rect">
            <a:avLst/>
          </a:prstGeom>
        </p:spPr>
        <p:txBody>
          <a:bodyPr vert="horz" wrap="square" lIns="0" tIns="635" rIns="0" bIns="0" rtlCol="0">
            <a:spAutoFit/>
          </a:bodyPr>
          <a:lstStyle>
            <a:defPPr>
              <a:defRPr lang="ko-KR"/>
            </a:defPPr>
            <a:lvl1pPr marL="0" algn="l" defTabSz="914400" rtl="0" eaLnBrk="1" latinLnBrk="1" hangingPunct="1">
              <a:defRPr sz="1050" b="0" i="0" kern="1200">
                <a:solidFill>
                  <a:schemeClr val="tx1"/>
                </a:solidFill>
                <a:latin typeface="Arial"/>
                <a:ea typeface="+mn-ea"/>
                <a:cs typeface="Arial"/>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marL="12700">
              <a:spcBef>
                <a:spcPts val="5"/>
              </a:spcBef>
              <a:defRPr/>
            </a:pPr>
            <a:r>
              <a:rPr lang="en-US" sz="900" dirty="0">
                <a:solidFill>
                  <a:prstClr val="black"/>
                </a:solidFill>
              </a:rPr>
              <a:t>Page</a:t>
            </a:r>
            <a:r>
              <a:rPr lang="en-US" sz="900" spc="-60" dirty="0">
                <a:solidFill>
                  <a:prstClr val="black"/>
                </a:solidFill>
              </a:rPr>
              <a:t> </a:t>
            </a:r>
            <a:fld id="{81D60167-4931-47E6-BA6A-407CBD079E47}" type="slidenum">
              <a:rPr sz="900">
                <a:solidFill>
                  <a:prstClr val="black"/>
                </a:solidFill>
              </a:rPr>
              <a:pPr marL="12700">
                <a:spcBef>
                  <a:spcPts val="5"/>
                </a:spcBef>
                <a:defRPr/>
              </a:pPr>
              <a:t>45</a:t>
            </a:fld>
            <a:endParaRPr sz="900" dirty="0">
              <a:solidFill>
                <a:prstClr val="black"/>
              </a:solidFill>
            </a:endParaRPr>
          </a:p>
        </p:txBody>
      </p:sp>
      <p:sp>
        <p:nvSpPr>
          <p:cNvPr id="17" name="슬라이드 번호 개체 틀 3">
            <a:extLst>
              <a:ext uri="{FF2B5EF4-FFF2-40B4-BE49-F238E27FC236}">
                <a16:creationId xmlns:a16="http://schemas.microsoft.com/office/drawing/2014/main" id="{10C86C3F-BDBE-E946-024D-C014BFD53C33}"/>
              </a:ext>
            </a:extLst>
          </p:cNvPr>
          <p:cNvSpPr txBox="1">
            <a:spLocks/>
          </p:cNvSpPr>
          <p:nvPr/>
        </p:nvSpPr>
        <p:spPr>
          <a:xfrm>
            <a:off x="299401" y="9520856"/>
            <a:ext cx="2060991" cy="175259"/>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lang="en-US" altLang="ko-KR" dirty="0">
                <a:solidFill>
                  <a:prstClr val="black"/>
                </a:solidFill>
                <a:latin typeface="Arial" panose="020B0604020202020204" pitchFamily="34" charset="0"/>
                <a:cs typeface="Arial" panose="020B0604020202020204" pitchFamily="34" charset="0"/>
              </a:rPr>
              <a:t>Dated 30-Nov 23  Rev. 01</a:t>
            </a:r>
            <a:endParaRPr lang="ko-KR" altLang="en-US" dirty="0">
              <a:solidFill>
                <a:prstClr val="black"/>
              </a:solidFill>
              <a:latin typeface="Arial" panose="020B0604020202020204" pitchFamily="34" charset="0"/>
              <a:cs typeface="Arial" panose="020B0604020202020204" pitchFamily="34" charset="0"/>
            </a:endParaRPr>
          </a:p>
        </p:txBody>
      </p:sp>
      <p:sp>
        <p:nvSpPr>
          <p:cNvPr id="18" name="Holder 3">
            <a:extLst>
              <a:ext uri="{FF2B5EF4-FFF2-40B4-BE49-F238E27FC236}">
                <a16:creationId xmlns:a16="http://schemas.microsoft.com/office/drawing/2014/main" id="{B21305A7-679D-6376-92D8-33123A6337B7}"/>
              </a:ext>
            </a:extLst>
          </p:cNvPr>
          <p:cNvSpPr txBox="1">
            <a:spLocks/>
          </p:cNvSpPr>
          <p:nvPr/>
        </p:nvSpPr>
        <p:spPr>
          <a:xfrm>
            <a:off x="5147476" y="203944"/>
            <a:ext cx="1447800" cy="276999"/>
          </a:xfrm>
          <a:prstGeom prst="rect">
            <a:avLst/>
          </a:prstGeom>
        </p:spPr>
        <p:txBody>
          <a:bodyPr wrap="square" lIns="0" tIns="0" rIns="0" bIns="0">
            <a:spAutoFit/>
          </a:bodyPr>
          <a:lstStyle>
            <a:lvl1pPr marL="0">
              <a:defRPr>
                <a:solidFill>
                  <a:srgbClr val="FF99FF"/>
                </a:solidFill>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defTabSz="914400" latinLnBrk="0"/>
            <a:r>
              <a:rPr lang="en-US" sz="1800" kern="0" dirty="0"/>
              <a:t>&lt;Preliminary&gt;</a:t>
            </a:r>
          </a:p>
        </p:txBody>
      </p:sp>
      <p:graphicFrame>
        <p:nvGraphicFramePr>
          <p:cNvPr id="19" name="object 9">
            <a:extLst>
              <a:ext uri="{FF2B5EF4-FFF2-40B4-BE49-F238E27FC236}">
                <a16:creationId xmlns:a16="http://schemas.microsoft.com/office/drawing/2014/main" id="{44846294-E9C7-220F-95DE-DFB535EDB8EA}"/>
              </a:ext>
            </a:extLst>
          </p:cNvPr>
          <p:cNvGraphicFramePr>
            <a:graphicFrameLocks noGrp="1"/>
          </p:cNvGraphicFramePr>
          <p:nvPr>
            <p:extLst>
              <p:ext uri="{D42A27DB-BD31-4B8C-83A1-F6EECF244321}">
                <p14:modId xmlns:p14="http://schemas.microsoft.com/office/powerpoint/2010/main" val="370532507"/>
              </p:ext>
            </p:extLst>
          </p:nvPr>
        </p:nvGraphicFramePr>
        <p:xfrm>
          <a:off x="3581400" y="5181599"/>
          <a:ext cx="2895599" cy="3418625"/>
        </p:xfrm>
        <a:graphic>
          <a:graphicData uri="http://schemas.openxmlformats.org/drawingml/2006/table">
            <a:tbl>
              <a:tblPr firstRow="1" bandRow="1">
                <a:tableStyleId>{2D5ABB26-0587-4C30-8999-92F81FD0307C}</a:tableStyleId>
              </a:tblPr>
              <a:tblGrid>
                <a:gridCol w="1006355">
                  <a:extLst>
                    <a:ext uri="{9D8B030D-6E8A-4147-A177-3AD203B41FA5}">
                      <a16:colId xmlns:a16="http://schemas.microsoft.com/office/drawing/2014/main" val="20000"/>
                    </a:ext>
                  </a:extLst>
                </a:gridCol>
                <a:gridCol w="629748">
                  <a:extLst>
                    <a:ext uri="{9D8B030D-6E8A-4147-A177-3AD203B41FA5}">
                      <a16:colId xmlns:a16="http://schemas.microsoft.com/office/drawing/2014/main" val="20001"/>
                    </a:ext>
                  </a:extLst>
                </a:gridCol>
                <a:gridCol w="629748">
                  <a:extLst>
                    <a:ext uri="{9D8B030D-6E8A-4147-A177-3AD203B41FA5}">
                      <a16:colId xmlns:a16="http://schemas.microsoft.com/office/drawing/2014/main" val="20002"/>
                    </a:ext>
                  </a:extLst>
                </a:gridCol>
                <a:gridCol w="629748">
                  <a:extLst>
                    <a:ext uri="{9D8B030D-6E8A-4147-A177-3AD203B41FA5}">
                      <a16:colId xmlns:a16="http://schemas.microsoft.com/office/drawing/2014/main" val="20003"/>
                    </a:ext>
                  </a:extLst>
                </a:gridCol>
              </a:tblGrid>
              <a:tr h="308826">
                <a:tc rowSpan="2">
                  <a:txBody>
                    <a:bodyPr/>
                    <a:lstStyle/>
                    <a:p>
                      <a:pPr marL="0" indent="0" algn="ctr">
                        <a:lnSpc>
                          <a:spcPct val="100000"/>
                        </a:lnSpc>
                        <a:spcBef>
                          <a:spcPts val="819"/>
                        </a:spcBef>
                      </a:pPr>
                      <a:r>
                        <a:rPr sz="900" b="1" spc="-5" dirty="0">
                          <a:latin typeface="Arial" panose="020B0604020202020204" pitchFamily="34" charset="0"/>
                          <a:cs typeface="Arial" panose="020B0604020202020204" pitchFamily="34" charset="0"/>
                        </a:rPr>
                        <a:t>SYMBOL</a:t>
                      </a:r>
                      <a:endParaRPr sz="900" b="1" dirty="0">
                        <a:latin typeface="Arial" panose="020B0604020202020204" pitchFamily="34" charset="0"/>
                        <a:cs typeface="Arial" panose="020B0604020202020204" pitchFamily="34" charset="0"/>
                      </a:endParaRPr>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tx2">
                        <a:lumMod val="20000"/>
                        <a:lumOff val="80000"/>
                      </a:schemeClr>
                    </a:solidFill>
                  </a:tcPr>
                </a:tc>
                <a:tc gridSpan="3">
                  <a:txBody>
                    <a:bodyPr/>
                    <a:lstStyle/>
                    <a:p>
                      <a:pPr marL="270510">
                        <a:lnSpc>
                          <a:spcPct val="100000"/>
                        </a:lnSpc>
                        <a:spcBef>
                          <a:spcPts val="90"/>
                        </a:spcBef>
                      </a:pPr>
                      <a:r>
                        <a:rPr sz="900" b="1" spc="-5" dirty="0">
                          <a:latin typeface="Arial" panose="020B0604020202020204" pitchFamily="34" charset="0"/>
                          <a:cs typeface="Arial" panose="020B0604020202020204" pitchFamily="34" charset="0"/>
                        </a:rPr>
                        <a:t>MILLIMETER</a:t>
                      </a:r>
                      <a:endParaRPr sz="900" b="1" dirty="0">
                        <a:latin typeface="Arial" panose="020B0604020202020204" pitchFamily="34" charset="0"/>
                        <a:cs typeface="Arial" panose="020B0604020202020204" pitchFamily="34" charset="0"/>
                      </a:endParaRPr>
                    </a:p>
                  </a:txBody>
                  <a:tcPr marL="36000" marR="3600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tx2">
                        <a:lumMod val="20000"/>
                        <a:lumOff val="80000"/>
                      </a:schemeClr>
                    </a:solidFill>
                  </a:tcPr>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0"/>
                  </a:ext>
                </a:extLst>
              </a:tr>
              <a:tr h="306724">
                <a:tc vMerge="1">
                  <a:txBody>
                    <a:bodyPr/>
                    <a:lstStyle/>
                    <a:p>
                      <a:endParaRPr/>
                    </a:p>
                  </a:txBody>
                  <a:tcPr marL="0" marR="0" marT="104139"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latinLnBrk="1"/>
                      <a:r>
                        <a:rPr lang="en-US" altLang="ko-KR" sz="900" b="1" dirty="0">
                          <a:latin typeface="Arial" panose="020B0604020202020204" pitchFamily="34" charset="0"/>
                          <a:cs typeface="Arial" panose="020B0604020202020204" pitchFamily="34" charset="0"/>
                        </a:rPr>
                        <a:t>Min.</a:t>
                      </a:r>
                      <a:endParaRPr lang="ko-KR" altLang="en-US" sz="900" b="1" dirty="0">
                        <a:latin typeface="Arial" panose="020B0604020202020204" pitchFamily="34" charset="0"/>
                        <a:cs typeface="Arial" panose="020B0604020202020204" pitchFamily="34" charset="0"/>
                      </a:endParaRPr>
                    </a:p>
                  </a:txBody>
                  <a:tcPr marL="36000" marR="36000" marT="36000" marB="3600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tx2">
                        <a:lumMod val="20000"/>
                        <a:lumOff val="80000"/>
                      </a:schemeClr>
                    </a:solidFill>
                  </a:tcPr>
                </a:tc>
                <a:tc>
                  <a:txBody>
                    <a:bodyPr/>
                    <a:lstStyle/>
                    <a:p>
                      <a:pPr algn="ctr" latinLnBrk="1"/>
                      <a:r>
                        <a:rPr lang="en-US" altLang="ko-KR" sz="900" b="1" dirty="0">
                          <a:latin typeface="Arial" panose="020B0604020202020204" pitchFamily="34" charset="0"/>
                          <a:cs typeface="Arial" panose="020B0604020202020204" pitchFamily="34" charset="0"/>
                        </a:rPr>
                        <a:t>Typ.</a:t>
                      </a:r>
                      <a:endParaRPr lang="ko-KR" altLang="en-US" sz="900" b="1" dirty="0">
                        <a:latin typeface="Arial" panose="020B0604020202020204" pitchFamily="34" charset="0"/>
                        <a:cs typeface="Arial" panose="020B0604020202020204" pitchFamily="34" charset="0"/>
                      </a:endParaRPr>
                    </a:p>
                  </a:txBody>
                  <a:tcPr marL="36000" marR="36000" marT="36000" marB="3600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tx2">
                        <a:lumMod val="20000"/>
                        <a:lumOff val="80000"/>
                      </a:schemeClr>
                    </a:solidFill>
                  </a:tcPr>
                </a:tc>
                <a:tc>
                  <a:txBody>
                    <a:bodyPr/>
                    <a:lstStyle/>
                    <a:p>
                      <a:pPr algn="ctr" latinLnBrk="1"/>
                      <a:r>
                        <a:rPr lang="en-US" altLang="ko-KR" sz="900" b="1" dirty="0">
                          <a:latin typeface="Arial" panose="020B0604020202020204" pitchFamily="34" charset="0"/>
                          <a:cs typeface="Arial" panose="020B0604020202020204" pitchFamily="34" charset="0"/>
                        </a:rPr>
                        <a:t>Max.</a:t>
                      </a:r>
                      <a:endParaRPr lang="ko-KR" altLang="en-US" sz="900" b="1" dirty="0">
                        <a:latin typeface="Arial" panose="020B0604020202020204" pitchFamily="34" charset="0"/>
                        <a:cs typeface="Arial" panose="020B0604020202020204" pitchFamily="34" charset="0"/>
                      </a:endParaRPr>
                    </a:p>
                  </a:txBody>
                  <a:tcPr marL="36000" marR="36000" marT="36000" marB="3600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10001"/>
                  </a:ext>
                </a:extLst>
              </a:tr>
              <a:tr h="234987">
                <a:tc>
                  <a:txBody>
                    <a:bodyPr/>
                    <a:lstStyle/>
                    <a:p>
                      <a:pPr marL="12065" algn="ctr">
                        <a:lnSpc>
                          <a:spcPct val="100000"/>
                        </a:lnSpc>
                        <a:spcBef>
                          <a:spcPts val="90"/>
                        </a:spcBef>
                      </a:pPr>
                      <a:r>
                        <a:rPr sz="900" dirty="0">
                          <a:latin typeface="Arial" panose="020B0604020202020204" pitchFamily="34" charset="0"/>
                          <a:cs typeface="Arial" panose="020B0604020202020204" pitchFamily="34" charset="0"/>
                        </a:rPr>
                        <a:t>A</a:t>
                      </a:r>
                    </a:p>
                  </a:txBody>
                  <a:tcPr marL="0" marR="0" marT="1143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11430" algn="ctr">
                        <a:lnSpc>
                          <a:spcPct val="100000"/>
                        </a:lnSpc>
                        <a:spcBef>
                          <a:spcPts val="90"/>
                        </a:spcBef>
                      </a:pPr>
                      <a:r>
                        <a:rPr lang="en-US" sz="900" dirty="0">
                          <a:latin typeface="Arial" panose="020B0604020202020204" pitchFamily="34" charset="0"/>
                          <a:cs typeface="Arial" panose="020B0604020202020204" pitchFamily="34" charset="0"/>
                        </a:rPr>
                        <a:t>0.70</a:t>
                      </a:r>
                      <a:endParaRPr sz="900" dirty="0">
                        <a:latin typeface="Arial" panose="020B0604020202020204" pitchFamily="34" charset="0"/>
                        <a:cs typeface="Arial" panose="020B0604020202020204" pitchFamily="34" charset="0"/>
                      </a:endParaRPr>
                    </a:p>
                  </a:txBody>
                  <a:tcPr marL="0" marR="0" marT="1143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11430" algn="ctr">
                        <a:lnSpc>
                          <a:spcPct val="100000"/>
                        </a:lnSpc>
                        <a:spcBef>
                          <a:spcPts val="90"/>
                        </a:spcBef>
                      </a:pPr>
                      <a:r>
                        <a:rPr lang="en-US" sz="900" dirty="0">
                          <a:latin typeface="Arial" panose="020B0604020202020204" pitchFamily="34" charset="0"/>
                          <a:cs typeface="Arial" panose="020B0604020202020204" pitchFamily="34" charset="0"/>
                        </a:rPr>
                        <a:t>0.75</a:t>
                      </a:r>
                      <a:endParaRPr sz="900" dirty="0">
                        <a:latin typeface="Arial" panose="020B0604020202020204" pitchFamily="34" charset="0"/>
                        <a:cs typeface="Arial" panose="020B0604020202020204" pitchFamily="34" charset="0"/>
                      </a:endParaRPr>
                    </a:p>
                  </a:txBody>
                  <a:tcPr marL="0" marR="0" marT="1143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indent="0" algn="ctr">
                        <a:lnSpc>
                          <a:spcPct val="100000"/>
                        </a:lnSpc>
                        <a:spcBef>
                          <a:spcPts val="90"/>
                        </a:spcBef>
                      </a:pPr>
                      <a:r>
                        <a:rPr lang="en-US" sz="900" dirty="0">
                          <a:latin typeface="Arial" panose="020B0604020202020204" pitchFamily="34" charset="0"/>
                          <a:cs typeface="Arial" panose="020B0604020202020204" pitchFamily="34" charset="0"/>
                        </a:rPr>
                        <a:t>0.80</a:t>
                      </a:r>
                      <a:endParaRPr sz="900" dirty="0">
                        <a:latin typeface="Arial" panose="020B0604020202020204" pitchFamily="34" charset="0"/>
                        <a:cs typeface="Arial" panose="020B0604020202020204" pitchFamily="34" charset="0"/>
                      </a:endParaRPr>
                    </a:p>
                  </a:txBody>
                  <a:tcPr marL="0" marR="0" marT="1143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002"/>
                  </a:ext>
                </a:extLst>
              </a:tr>
              <a:tr h="233390">
                <a:tc>
                  <a:txBody>
                    <a:bodyPr/>
                    <a:lstStyle/>
                    <a:p>
                      <a:pPr marL="11430" algn="ctr">
                        <a:lnSpc>
                          <a:spcPct val="100000"/>
                        </a:lnSpc>
                        <a:spcBef>
                          <a:spcPts val="85"/>
                        </a:spcBef>
                      </a:pPr>
                      <a:r>
                        <a:rPr sz="900" spc="-5" dirty="0">
                          <a:latin typeface="Arial" panose="020B0604020202020204" pitchFamily="34" charset="0"/>
                          <a:cs typeface="Arial" panose="020B0604020202020204" pitchFamily="34" charset="0"/>
                        </a:rPr>
                        <a:t>A1</a:t>
                      </a:r>
                      <a:endParaRPr sz="900">
                        <a:latin typeface="Arial" panose="020B0604020202020204" pitchFamily="34" charset="0"/>
                        <a:cs typeface="Arial" panose="020B0604020202020204" pitchFamily="34" charset="0"/>
                      </a:endParaRPr>
                    </a:p>
                  </a:txBody>
                  <a:tcPr marL="0" marR="0" marT="10795"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11430" algn="ctr">
                        <a:lnSpc>
                          <a:spcPct val="100000"/>
                        </a:lnSpc>
                        <a:spcBef>
                          <a:spcPts val="85"/>
                        </a:spcBef>
                      </a:pPr>
                      <a:r>
                        <a:rPr lang="en-US" sz="900" dirty="0">
                          <a:latin typeface="Arial" panose="020B0604020202020204" pitchFamily="34" charset="0"/>
                          <a:cs typeface="Arial" panose="020B0604020202020204" pitchFamily="34" charset="0"/>
                        </a:rPr>
                        <a:t>0.00</a:t>
                      </a:r>
                      <a:endParaRPr sz="900" dirty="0">
                        <a:latin typeface="Arial" panose="020B0604020202020204" pitchFamily="34" charset="0"/>
                        <a:cs typeface="Arial" panose="020B0604020202020204" pitchFamily="34" charset="0"/>
                      </a:endParaRPr>
                    </a:p>
                  </a:txBody>
                  <a:tcPr marL="0" marR="0" marT="10795"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11430" algn="ctr">
                        <a:lnSpc>
                          <a:spcPct val="100000"/>
                        </a:lnSpc>
                        <a:spcBef>
                          <a:spcPts val="85"/>
                        </a:spcBef>
                      </a:pPr>
                      <a:r>
                        <a:rPr lang="en-US" sz="900" dirty="0">
                          <a:latin typeface="Arial" panose="020B0604020202020204" pitchFamily="34" charset="0"/>
                          <a:cs typeface="Arial" panose="020B0604020202020204" pitchFamily="34" charset="0"/>
                        </a:rPr>
                        <a:t>0.02</a:t>
                      </a:r>
                      <a:endParaRPr sz="900" dirty="0">
                        <a:latin typeface="Arial" panose="020B0604020202020204" pitchFamily="34" charset="0"/>
                        <a:cs typeface="Arial" panose="020B0604020202020204" pitchFamily="34" charset="0"/>
                      </a:endParaRPr>
                    </a:p>
                  </a:txBody>
                  <a:tcPr marL="0" marR="0" marT="10795"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indent="0" algn="ctr">
                        <a:lnSpc>
                          <a:spcPct val="100000"/>
                        </a:lnSpc>
                        <a:spcBef>
                          <a:spcPts val="85"/>
                        </a:spcBef>
                      </a:pPr>
                      <a:r>
                        <a:rPr lang="en-US" sz="900" dirty="0">
                          <a:latin typeface="Arial" panose="020B0604020202020204" pitchFamily="34" charset="0"/>
                          <a:cs typeface="Arial" panose="020B0604020202020204" pitchFamily="34" charset="0"/>
                        </a:rPr>
                        <a:t>0.05</a:t>
                      </a:r>
                      <a:endParaRPr sz="900" dirty="0">
                        <a:latin typeface="Arial" panose="020B0604020202020204" pitchFamily="34" charset="0"/>
                        <a:cs typeface="Arial" panose="020B0604020202020204" pitchFamily="34" charset="0"/>
                      </a:endParaRPr>
                    </a:p>
                  </a:txBody>
                  <a:tcPr marL="0" marR="0" marT="10795"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003"/>
                  </a:ext>
                </a:extLst>
              </a:tr>
              <a:tr h="233390">
                <a:tc>
                  <a:txBody>
                    <a:bodyPr/>
                    <a:lstStyle/>
                    <a:p>
                      <a:pPr marL="11430" algn="ctr">
                        <a:lnSpc>
                          <a:spcPct val="100000"/>
                        </a:lnSpc>
                        <a:spcBef>
                          <a:spcPts val="90"/>
                        </a:spcBef>
                      </a:pPr>
                      <a:r>
                        <a:rPr sz="900" spc="-5" dirty="0">
                          <a:latin typeface="Arial" panose="020B0604020202020204" pitchFamily="34" charset="0"/>
                          <a:cs typeface="Arial" panose="020B0604020202020204" pitchFamily="34" charset="0"/>
                        </a:rPr>
                        <a:t>A3</a:t>
                      </a:r>
                      <a:endParaRPr sz="900">
                        <a:latin typeface="Arial" panose="020B0604020202020204" pitchFamily="34" charset="0"/>
                        <a:cs typeface="Arial" panose="020B0604020202020204" pitchFamily="34" charset="0"/>
                      </a:endParaRPr>
                    </a:p>
                  </a:txBody>
                  <a:tcPr marL="0" marR="0" marT="1143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gridSpan="3">
                  <a:txBody>
                    <a:bodyPr/>
                    <a:lstStyle/>
                    <a:p>
                      <a:pPr marL="10795" algn="ctr">
                        <a:lnSpc>
                          <a:spcPct val="100000"/>
                        </a:lnSpc>
                        <a:spcBef>
                          <a:spcPts val="90"/>
                        </a:spcBef>
                      </a:pPr>
                      <a:r>
                        <a:rPr lang="en-US" sz="900" dirty="0">
                          <a:latin typeface="Arial" panose="020B0604020202020204" pitchFamily="34" charset="0"/>
                          <a:cs typeface="Arial" panose="020B0604020202020204" pitchFamily="34" charset="0"/>
                        </a:rPr>
                        <a:t>0.203REF</a:t>
                      </a:r>
                      <a:endParaRPr sz="900" dirty="0">
                        <a:latin typeface="Arial" panose="020B0604020202020204" pitchFamily="34" charset="0"/>
                        <a:cs typeface="Arial" panose="020B0604020202020204" pitchFamily="34" charset="0"/>
                      </a:endParaRPr>
                    </a:p>
                  </a:txBody>
                  <a:tcPr marL="0" marR="0" marT="1143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hMerge="1">
                  <a:txBody>
                    <a:bodyPr/>
                    <a:lstStyle/>
                    <a:p>
                      <a:pPr marL="10795" algn="ctr">
                        <a:lnSpc>
                          <a:spcPct val="100000"/>
                        </a:lnSpc>
                        <a:spcBef>
                          <a:spcPts val="90"/>
                        </a:spcBef>
                      </a:pPr>
                      <a:endParaRPr sz="900" dirty="0">
                        <a:latin typeface="Arial" panose="020B0604020202020204" pitchFamily="34" charset="0"/>
                        <a:cs typeface="Arial" panose="020B0604020202020204" pitchFamily="34" charset="0"/>
                      </a:endParaRPr>
                    </a:p>
                  </a:txBody>
                  <a:tcPr marL="0" marR="0" marT="1143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hMerge="1">
                  <a:txBody>
                    <a:bodyPr/>
                    <a:lstStyle/>
                    <a:p>
                      <a:pPr marL="114300">
                        <a:lnSpc>
                          <a:spcPct val="100000"/>
                        </a:lnSpc>
                        <a:spcBef>
                          <a:spcPts val="90"/>
                        </a:spcBef>
                      </a:pPr>
                      <a:endParaRPr sz="900" dirty="0">
                        <a:latin typeface="Arial" panose="020B0604020202020204" pitchFamily="34" charset="0"/>
                        <a:cs typeface="Arial" panose="020B0604020202020204" pitchFamily="34" charset="0"/>
                      </a:endParaRPr>
                    </a:p>
                  </a:txBody>
                  <a:tcPr marL="0" marR="0" marT="1143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005"/>
                  </a:ext>
                </a:extLst>
              </a:tr>
              <a:tr h="233390">
                <a:tc>
                  <a:txBody>
                    <a:bodyPr/>
                    <a:lstStyle/>
                    <a:p>
                      <a:pPr marL="12700" algn="ctr">
                        <a:lnSpc>
                          <a:spcPct val="100000"/>
                        </a:lnSpc>
                        <a:spcBef>
                          <a:spcPts val="90"/>
                        </a:spcBef>
                      </a:pPr>
                      <a:r>
                        <a:rPr sz="900" dirty="0">
                          <a:latin typeface="Arial" panose="020B0604020202020204" pitchFamily="34" charset="0"/>
                          <a:cs typeface="Arial" panose="020B0604020202020204" pitchFamily="34" charset="0"/>
                        </a:rPr>
                        <a:t>b</a:t>
                      </a:r>
                    </a:p>
                  </a:txBody>
                  <a:tcPr marL="0" marR="0" marT="1143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10795" algn="ctr">
                        <a:lnSpc>
                          <a:spcPct val="100000"/>
                        </a:lnSpc>
                        <a:spcBef>
                          <a:spcPts val="90"/>
                        </a:spcBef>
                      </a:pPr>
                      <a:r>
                        <a:rPr lang="en-US" sz="900" dirty="0">
                          <a:latin typeface="Arial" panose="020B0604020202020204" pitchFamily="34" charset="0"/>
                          <a:cs typeface="Arial" panose="020B0604020202020204" pitchFamily="34" charset="0"/>
                        </a:rPr>
                        <a:t>0.15</a:t>
                      </a:r>
                      <a:endParaRPr sz="900" dirty="0">
                        <a:latin typeface="Arial" panose="020B0604020202020204" pitchFamily="34" charset="0"/>
                        <a:cs typeface="Arial" panose="020B0604020202020204" pitchFamily="34" charset="0"/>
                      </a:endParaRPr>
                    </a:p>
                  </a:txBody>
                  <a:tcPr marL="0" marR="0" marT="1143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11430" algn="ctr">
                        <a:lnSpc>
                          <a:spcPct val="100000"/>
                        </a:lnSpc>
                        <a:spcBef>
                          <a:spcPts val="90"/>
                        </a:spcBef>
                      </a:pPr>
                      <a:r>
                        <a:rPr lang="en-US" sz="900" dirty="0">
                          <a:latin typeface="Arial" panose="020B0604020202020204" pitchFamily="34" charset="0"/>
                          <a:cs typeface="Arial" panose="020B0604020202020204" pitchFamily="34" charset="0"/>
                        </a:rPr>
                        <a:t>0.20</a:t>
                      </a:r>
                      <a:endParaRPr sz="900" dirty="0">
                        <a:latin typeface="Arial" panose="020B0604020202020204" pitchFamily="34" charset="0"/>
                        <a:cs typeface="Arial" panose="020B0604020202020204" pitchFamily="34" charset="0"/>
                      </a:endParaRPr>
                    </a:p>
                  </a:txBody>
                  <a:tcPr marL="0" marR="0" marT="1143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indent="0" algn="ctr">
                        <a:lnSpc>
                          <a:spcPct val="100000"/>
                        </a:lnSpc>
                        <a:spcBef>
                          <a:spcPts val="90"/>
                        </a:spcBef>
                      </a:pPr>
                      <a:r>
                        <a:rPr lang="en-US" sz="900" dirty="0">
                          <a:solidFill>
                            <a:schemeClr val="tx1"/>
                          </a:solidFill>
                          <a:latin typeface="Arial" panose="020B0604020202020204" pitchFamily="34" charset="0"/>
                          <a:ea typeface="+mn-ea"/>
                          <a:cs typeface="Arial" panose="020B0604020202020204" pitchFamily="34" charset="0"/>
                        </a:rPr>
                        <a:t>0.25</a:t>
                      </a:r>
                      <a:endParaRPr sz="900" dirty="0">
                        <a:solidFill>
                          <a:schemeClr val="tx1"/>
                        </a:solidFill>
                        <a:latin typeface="Arial" panose="020B0604020202020204" pitchFamily="34" charset="0"/>
                        <a:ea typeface="+mn-ea"/>
                        <a:cs typeface="Arial" panose="020B0604020202020204" pitchFamily="34" charset="0"/>
                      </a:endParaRPr>
                    </a:p>
                  </a:txBody>
                  <a:tcPr marL="0" marR="0" marT="1143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006"/>
                  </a:ext>
                </a:extLst>
              </a:tr>
              <a:tr h="233390">
                <a:tc>
                  <a:txBody>
                    <a:bodyPr/>
                    <a:lstStyle/>
                    <a:p>
                      <a:pPr marL="12065" algn="ctr">
                        <a:lnSpc>
                          <a:spcPct val="100000"/>
                        </a:lnSpc>
                        <a:spcBef>
                          <a:spcPts val="85"/>
                        </a:spcBef>
                      </a:pPr>
                      <a:r>
                        <a:rPr sz="900" dirty="0">
                          <a:latin typeface="Arial" panose="020B0604020202020204" pitchFamily="34" charset="0"/>
                          <a:cs typeface="Arial" panose="020B0604020202020204" pitchFamily="34" charset="0"/>
                        </a:rPr>
                        <a:t>D</a:t>
                      </a:r>
                      <a:endParaRPr sz="900">
                        <a:latin typeface="Arial" panose="020B0604020202020204" pitchFamily="34" charset="0"/>
                        <a:cs typeface="Arial" panose="020B0604020202020204" pitchFamily="34" charset="0"/>
                      </a:endParaRPr>
                    </a:p>
                  </a:txBody>
                  <a:tcPr marL="0" marR="0" marT="10795"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10795" algn="ctr">
                        <a:lnSpc>
                          <a:spcPct val="100000"/>
                        </a:lnSpc>
                        <a:spcBef>
                          <a:spcPts val="85"/>
                        </a:spcBef>
                      </a:pPr>
                      <a:r>
                        <a:rPr lang="en-US" sz="900" dirty="0">
                          <a:latin typeface="Arial" panose="020B0604020202020204" pitchFamily="34" charset="0"/>
                          <a:cs typeface="Arial" panose="020B0604020202020204" pitchFamily="34" charset="0"/>
                        </a:rPr>
                        <a:t>7.90</a:t>
                      </a:r>
                      <a:endParaRPr sz="900" dirty="0">
                        <a:latin typeface="Arial" panose="020B0604020202020204" pitchFamily="34" charset="0"/>
                        <a:cs typeface="Arial" panose="020B0604020202020204" pitchFamily="34" charset="0"/>
                      </a:endParaRPr>
                    </a:p>
                  </a:txBody>
                  <a:tcPr marL="0" marR="0" marT="10795"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10795" algn="ctr">
                        <a:lnSpc>
                          <a:spcPct val="100000"/>
                        </a:lnSpc>
                        <a:spcBef>
                          <a:spcPts val="85"/>
                        </a:spcBef>
                      </a:pPr>
                      <a:r>
                        <a:rPr lang="en-US" sz="900" dirty="0">
                          <a:latin typeface="Arial" panose="020B0604020202020204" pitchFamily="34" charset="0"/>
                          <a:cs typeface="Arial" panose="020B0604020202020204" pitchFamily="34" charset="0"/>
                        </a:rPr>
                        <a:t>8.00</a:t>
                      </a:r>
                      <a:endParaRPr sz="900" dirty="0">
                        <a:latin typeface="Arial" panose="020B0604020202020204" pitchFamily="34" charset="0"/>
                        <a:cs typeface="Arial" panose="020B0604020202020204" pitchFamily="34" charset="0"/>
                      </a:endParaRPr>
                    </a:p>
                  </a:txBody>
                  <a:tcPr marL="0" marR="0" marT="10795"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indent="0" algn="ctr">
                        <a:lnSpc>
                          <a:spcPct val="100000"/>
                        </a:lnSpc>
                        <a:spcBef>
                          <a:spcPts val="90"/>
                        </a:spcBef>
                      </a:pPr>
                      <a:r>
                        <a:rPr lang="en-US" sz="900" dirty="0">
                          <a:solidFill>
                            <a:schemeClr val="tx1"/>
                          </a:solidFill>
                          <a:latin typeface="Arial" panose="020B0604020202020204" pitchFamily="34" charset="0"/>
                          <a:ea typeface="+mn-ea"/>
                          <a:cs typeface="Arial" panose="020B0604020202020204" pitchFamily="34" charset="0"/>
                        </a:rPr>
                        <a:t>8.10</a:t>
                      </a:r>
                      <a:endParaRPr sz="900" dirty="0">
                        <a:solidFill>
                          <a:schemeClr val="tx1"/>
                        </a:solidFill>
                        <a:latin typeface="Arial" panose="020B0604020202020204" pitchFamily="34" charset="0"/>
                        <a:ea typeface="+mn-ea"/>
                        <a:cs typeface="Arial" panose="020B0604020202020204" pitchFamily="34" charset="0"/>
                      </a:endParaRPr>
                    </a:p>
                  </a:txBody>
                  <a:tcPr marL="0" marR="0" marT="10795"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010"/>
                  </a:ext>
                </a:extLst>
              </a:tr>
              <a:tr h="233390">
                <a:tc>
                  <a:txBody>
                    <a:bodyPr/>
                    <a:lstStyle/>
                    <a:p>
                      <a:pPr marL="12700" algn="ctr">
                        <a:lnSpc>
                          <a:spcPct val="100000"/>
                        </a:lnSpc>
                        <a:spcBef>
                          <a:spcPts val="90"/>
                        </a:spcBef>
                      </a:pPr>
                      <a:r>
                        <a:rPr sz="900" dirty="0">
                          <a:latin typeface="Arial" panose="020B0604020202020204" pitchFamily="34" charset="0"/>
                          <a:cs typeface="Arial" panose="020B0604020202020204" pitchFamily="34" charset="0"/>
                        </a:rPr>
                        <a:t>E</a:t>
                      </a:r>
                      <a:endParaRPr sz="900">
                        <a:latin typeface="Arial" panose="020B0604020202020204" pitchFamily="34" charset="0"/>
                        <a:cs typeface="Arial" panose="020B0604020202020204" pitchFamily="34" charset="0"/>
                      </a:endParaRPr>
                    </a:p>
                  </a:txBody>
                  <a:tcPr marL="0" marR="0" marT="1143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10795" algn="ctr">
                        <a:lnSpc>
                          <a:spcPct val="100000"/>
                        </a:lnSpc>
                        <a:spcBef>
                          <a:spcPts val="90"/>
                        </a:spcBef>
                      </a:pPr>
                      <a:r>
                        <a:rPr lang="en-US" sz="900" dirty="0">
                          <a:latin typeface="Arial" panose="020B0604020202020204" pitchFamily="34" charset="0"/>
                          <a:cs typeface="Arial" panose="020B0604020202020204" pitchFamily="34" charset="0"/>
                        </a:rPr>
                        <a:t>7.90</a:t>
                      </a:r>
                      <a:endParaRPr sz="900" dirty="0">
                        <a:latin typeface="Arial" panose="020B0604020202020204" pitchFamily="34" charset="0"/>
                        <a:cs typeface="Arial" panose="020B0604020202020204" pitchFamily="34" charset="0"/>
                      </a:endParaRPr>
                    </a:p>
                  </a:txBody>
                  <a:tcPr marL="0" marR="0" marT="1143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10795" algn="ctr">
                        <a:lnSpc>
                          <a:spcPct val="100000"/>
                        </a:lnSpc>
                        <a:spcBef>
                          <a:spcPts val="90"/>
                        </a:spcBef>
                      </a:pPr>
                      <a:r>
                        <a:rPr lang="en-US" sz="900" dirty="0">
                          <a:latin typeface="Arial" panose="020B0604020202020204" pitchFamily="34" charset="0"/>
                          <a:cs typeface="Arial" panose="020B0604020202020204" pitchFamily="34" charset="0"/>
                        </a:rPr>
                        <a:t>8.00</a:t>
                      </a:r>
                      <a:endParaRPr sz="900" dirty="0">
                        <a:latin typeface="Arial" panose="020B0604020202020204" pitchFamily="34" charset="0"/>
                        <a:cs typeface="Arial" panose="020B0604020202020204" pitchFamily="34" charset="0"/>
                      </a:endParaRPr>
                    </a:p>
                  </a:txBody>
                  <a:tcPr marL="0" marR="0" marT="1143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indent="0" algn="ctr">
                        <a:lnSpc>
                          <a:spcPct val="100000"/>
                        </a:lnSpc>
                        <a:spcBef>
                          <a:spcPts val="90"/>
                        </a:spcBef>
                      </a:pPr>
                      <a:r>
                        <a:rPr lang="en-US" sz="900" dirty="0">
                          <a:solidFill>
                            <a:schemeClr val="tx1"/>
                          </a:solidFill>
                          <a:latin typeface="Arial" panose="020B0604020202020204" pitchFamily="34" charset="0"/>
                          <a:ea typeface="+mn-ea"/>
                          <a:cs typeface="Arial" panose="020B0604020202020204" pitchFamily="34" charset="0"/>
                        </a:rPr>
                        <a:t>8.10</a:t>
                      </a:r>
                      <a:endParaRPr sz="900" dirty="0">
                        <a:solidFill>
                          <a:schemeClr val="tx1"/>
                        </a:solidFill>
                        <a:latin typeface="Arial" panose="020B0604020202020204" pitchFamily="34" charset="0"/>
                        <a:ea typeface="+mn-ea"/>
                        <a:cs typeface="Arial" panose="020B0604020202020204" pitchFamily="34" charset="0"/>
                      </a:endParaRPr>
                    </a:p>
                  </a:txBody>
                  <a:tcPr marL="0" marR="0" marT="1143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011"/>
                  </a:ext>
                </a:extLst>
              </a:tr>
              <a:tr h="233390">
                <a:tc>
                  <a:txBody>
                    <a:bodyPr/>
                    <a:lstStyle/>
                    <a:p>
                      <a:pPr marL="12065" algn="ctr">
                        <a:lnSpc>
                          <a:spcPct val="100000"/>
                        </a:lnSpc>
                        <a:spcBef>
                          <a:spcPts val="90"/>
                        </a:spcBef>
                      </a:pPr>
                      <a:r>
                        <a:rPr lang="en-US" sz="900" dirty="0">
                          <a:latin typeface="Arial" panose="020B0604020202020204" pitchFamily="34" charset="0"/>
                          <a:cs typeface="Arial" panose="020B0604020202020204" pitchFamily="34" charset="0"/>
                        </a:rPr>
                        <a:t>D2</a:t>
                      </a:r>
                      <a:endParaRPr sz="900" dirty="0">
                        <a:latin typeface="Arial" panose="020B0604020202020204" pitchFamily="34" charset="0"/>
                        <a:cs typeface="Arial" panose="020B0604020202020204" pitchFamily="34" charset="0"/>
                      </a:endParaRPr>
                    </a:p>
                  </a:txBody>
                  <a:tcPr marL="0" marR="0" marT="1143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10795" algn="ctr">
                        <a:lnSpc>
                          <a:spcPct val="100000"/>
                        </a:lnSpc>
                        <a:spcBef>
                          <a:spcPts val="90"/>
                        </a:spcBef>
                      </a:pPr>
                      <a:r>
                        <a:rPr lang="en-US" sz="900" dirty="0">
                          <a:latin typeface="Arial" panose="020B0604020202020204" pitchFamily="34" charset="0"/>
                          <a:cs typeface="Arial" panose="020B0604020202020204" pitchFamily="34" charset="0"/>
                        </a:rPr>
                        <a:t>6.10</a:t>
                      </a:r>
                      <a:endParaRPr sz="900" dirty="0">
                        <a:latin typeface="Arial" panose="020B0604020202020204" pitchFamily="34" charset="0"/>
                        <a:cs typeface="Arial" panose="020B0604020202020204" pitchFamily="34" charset="0"/>
                      </a:endParaRPr>
                    </a:p>
                  </a:txBody>
                  <a:tcPr marL="0" marR="0" marT="1143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10795" algn="ctr">
                        <a:lnSpc>
                          <a:spcPct val="100000"/>
                        </a:lnSpc>
                        <a:spcBef>
                          <a:spcPts val="90"/>
                        </a:spcBef>
                      </a:pPr>
                      <a:r>
                        <a:rPr lang="en-US" sz="900" dirty="0">
                          <a:latin typeface="Arial" panose="020B0604020202020204" pitchFamily="34" charset="0"/>
                          <a:cs typeface="Arial" panose="020B0604020202020204" pitchFamily="34" charset="0"/>
                        </a:rPr>
                        <a:t>6.20</a:t>
                      </a:r>
                      <a:endParaRPr sz="900" dirty="0">
                        <a:latin typeface="Arial" panose="020B0604020202020204" pitchFamily="34" charset="0"/>
                        <a:cs typeface="Arial" panose="020B0604020202020204" pitchFamily="34" charset="0"/>
                      </a:endParaRPr>
                    </a:p>
                  </a:txBody>
                  <a:tcPr marL="0" marR="0" marT="1143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indent="0" algn="ctr">
                        <a:lnSpc>
                          <a:spcPct val="100000"/>
                        </a:lnSpc>
                        <a:spcBef>
                          <a:spcPts val="90"/>
                        </a:spcBef>
                      </a:pPr>
                      <a:r>
                        <a:rPr lang="en-US" sz="900" dirty="0">
                          <a:solidFill>
                            <a:schemeClr val="tx1"/>
                          </a:solidFill>
                          <a:latin typeface="Arial" panose="020B0604020202020204" pitchFamily="34" charset="0"/>
                          <a:ea typeface="+mn-ea"/>
                          <a:cs typeface="Arial" panose="020B0604020202020204" pitchFamily="34" charset="0"/>
                        </a:rPr>
                        <a:t>6.30</a:t>
                      </a:r>
                      <a:endParaRPr sz="900" dirty="0">
                        <a:solidFill>
                          <a:schemeClr val="tx1"/>
                        </a:solidFill>
                        <a:latin typeface="Arial" panose="020B0604020202020204" pitchFamily="34" charset="0"/>
                        <a:ea typeface="+mn-ea"/>
                        <a:cs typeface="Arial" panose="020B0604020202020204" pitchFamily="34" charset="0"/>
                      </a:endParaRPr>
                    </a:p>
                  </a:txBody>
                  <a:tcPr marL="0" marR="0" marT="1143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012"/>
                  </a:ext>
                </a:extLst>
              </a:tr>
              <a:tr h="233390">
                <a:tc>
                  <a:txBody>
                    <a:bodyPr/>
                    <a:lstStyle/>
                    <a:p>
                      <a:pPr marL="12065" algn="ctr">
                        <a:lnSpc>
                          <a:spcPct val="100000"/>
                        </a:lnSpc>
                        <a:spcBef>
                          <a:spcPts val="90"/>
                        </a:spcBef>
                      </a:pPr>
                      <a:r>
                        <a:rPr lang="en-US" sz="900" dirty="0">
                          <a:latin typeface="Arial" panose="020B0604020202020204" pitchFamily="34" charset="0"/>
                          <a:cs typeface="Arial" panose="020B0604020202020204" pitchFamily="34" charset="0"/>
                        </a:rPr>
                        <a:t>E2</a:t>
                      </a:r>
                      <a:endParaRPr sz="900" dirty="0">
                        <a:latin typeface="Arial" panose="020B0604020202020204" pitchFamily="34" charset="0"/>
                        <a:cs typeface="Arial" panose="020B0604020202020204" pitchFamily="34" charset="0"/>
                      </a:endParaRPr>
                    </a:p>
                  </a:txBody>
                  <a:tcPr marL="0" marR="0" marT="1143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10795" algn="ctr">
                        <a:lnSpc>
                          <a:spcPct val="100000"/>
                        </a:lnSpc>
                        <a:spcBef>
                          <a:spcPts val="90"/>
                        </a:spcBef>
                      </a:pPr>
                      <a:r>
                        <a:rPr lang="en-US" sz="900" dirty="0">
                          <a:latin typeface="Arial" panose="020B0604020202020204" pitchFamily="34" charset="0"/>
                          <a:cs typeface="Arial" panose="020B0604020202020204" pitchFamily="34" charset="0"/>
                        </a:rPr>
                        <a:t>6.10</a:t>
                      </a:r>
                      <a:endParaRPr sz="900" dirty="0">
                        <a:latin typeface="Arial" panose="020B0604020202020204" pitchFamily="34" charset="0"/>
                        <a:cs typeface="Arial" panose="020B0604020202020204" pitchFamily="34" charset="0"/>
                      </a:endParaRPr>
                    </a:p>
                  </a:txBody>
                  <a:tcPr marL="0" marR="0" marT="1143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10795" algn="ctr">
                        <a:lnSpc>
                          <a:spcPct val="100000"/>
                        </a:lnSpc>
                        <a:spcBef>
                          <a:spcPts val="90"/>
                        </a:spcBef>
                      </a:pPr>
                      <a:r>
                        <a:rPr lang="en-US" sz="900" dirty="0">
                          <a:latin typeface="Arial" panose="020B0604020202020204" pitchFamily="34" charset="0"/>
                          <a:cs typeface="Arial" panose="020B0604020202020204" pitchFamily="34" charset="0"/>
                        </a:rPr>
                        <a:t>6.20</a:t>
                      </a:r>
                      <a:endParaRPr sz="900" dirty="0">
                        <a:latin typeface="Arial" panose="020B0604020202020204" pitchFamily="34" charset="0"/>
                        <a:cs typeface="Arial" panose="020B0604020202020204" pitchFamily="34" charset="0"/>
                      </a:endParaRPr>
                    </a:p>
                  </a:txBody>
                  <a:tcPr marL="0" marR="0" marT="1143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indent="0" algn="ctr">
                        <a:lnSpc>
                          <a:spcPct val="100000"/>
                        </a:lnSpc>
                        <a:spcBef>
                          <a:spcPts val="90"/>
                        </a:spcBef>
                      </a:pPr>
                      <a:r>
                        <a:rPr lang="en-US" sz="900" dirty="0">
                          <a:solidFill>
                            <a:schemeClr val="tx1"/>
                          </a:solidFill>
                          <a:latin typeface="Arial" panose="020B0604020202020204" pitchFamily="34" charset="0"/>
                          <a:ea typeface="+mn-ea"/>
                          <a:cs typeface="Arial" panose="020B0604020202020204" pitchFamily="34" charset="0"/>
                        </a:rPr>
                        <a:t>6.30</a:t>
                      </a:r>
                      <a:endParaRPr sz="900" dirty="0">
                        <a:solidFill>
                          <a:schemeClr val="tx1"/>
                        </a:solidFill>
                        <a:latin typeface="Arial" panose="020B0604020202020204" pitchFamily="34" charset="0"/>
                        <a:ea typeface="+mn-ea"/>
                        <a:cs typeface="Arial" panose="020B0604020202020204" pitchFamily="34" charset="0"/>
                      </a:endParaRPr>
                    </a:p>
                  </a:txBody>
                  <a:tcPr marL="0" marR="0" marT="1143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3539951723"/>
                  </a:ext>
                </a:extLst>
              </a:tr>
              <a:tr h="233390">
                <a:tc>
                  <a:txBody>
                    <a:bodyPr/>
                    <a:lstStyle/>
                    <a:p>
                      <a:pPr marL="12065" algn="ctr">
                        <a:lnSpc>
                          <a:spcPct val="100000"/>
                        </a:lnSpc>
                        <a:spcBef>
                          <a:spcPts val="90"/>
                        </a:spcBef>
                      </a:pPr>
                      <a:r>
                        <a:rPr lang="en-US" sz="900" dirty="0">
                          <a:latin typeface="Arial" panose="020B0604020202020204" pitchFamily="34" charset="0"/>
                          <a:cs typeface="Arial" panose="020B0604020202020204" pitchFamily="34" charset="0"/>
                        </a:rPr>
                        <a:t>e</a:t>
                      </a:r>
                      <a:endParaRPr sz="900" dirty="0">
                        <a:latin typeface="Arial" panose="020B0604020202020204" pitchFamily="34" charset="0"/>
                        <a:cs typeface="Arial" panose="020B0604020202020204" pitchFamily="34" charset="0"/>
                      </a:endParaRPr>
                    </a:p>
                  </a:txBody>
                  <a:tcPr marL="0" marR="0" marT="1143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10795" algn="ctr">
                        <a:lnSpc>
                          <a:spcPct val="100000"/>
                        </a:lnSpc>
                        <a:spcBef>
                          <a:spcPts val="90"/>
                        </a:spcBef>
                      </a:pPr>
                      <a:r>
                        <a:rPr lang="en-US" sz="900" dirty="0">
                          <a:latin typeface="Arial" panose="020B0604020202020204" pitchFamily="34" charset="0"/>
                          <a:cs typeface="Arial" panose="020B0604020202020204" pitchFamily="34" charset="0"/>
                        </a:rPr>
                        <a:t>0.30</a:t>
                      </a:r>
                      <a:endParaRPr sz="900" dirty="0">
                        <a:latin typeface="Arial" panose="020B0604020202020204" pitchFamily="34" charset="0"/>
                        <a:cs typeface="Arial" panose="020B0604020202020204" pitchFamily="34" charset="0"/>
                      </a:endParaRPr>
                    </a:p>
                  </a:txBody>
                  <a:tcPr marL="0" marR="0" marT="1143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10795" algn="ctr">
                        <a:lnSpc>
                          <a:spcPct val="100000"/>
                        </a:lnSpc>
                        <a:spcBef>
                          <a:spcPts val="90"/>
                        </a:spcBef>
                      </a:pPr>
                      <a:r>
                        <a:rPr lang="en-US" sz="900" dirty="0">
                          <a:latin typeface="Arial" panose="020B0604020202020204" pitchFamily="34" charset="0"/>
                          <a:cs typeface="Arial" panose="020B0604020202020204" pitchFamily="34" charset="0"/>
                        </a:rPr>
                        <a:t>0.40</a:t>
                      </a:r>
                      <a:endParaRPr sz="900" dirty="0">
                        <a:latin typeface="Arial" panose="020B0604020202020204" pitchFamily="34" charset="0"/>
                        <a:cs typeface="Arial" panose="020B0604020202020204" pitchFamily="34" charset="0"/>
                      </a:endParaRPr>
                    </a:p>
                  </a:txBody>
                  <a:tcPr marL="0" marR="0" marT="1143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indent="0" algn="ctr">
                        <a:lnSpc>
                          <a:spcPct val="100000"/>
                        </a:lnSpc>
                        <a:spcBef>
                          <a:spcPts val="90"/>
                        </a:spcBef>
                      </a:pPr>
                      <a:r>
                        <a:rPr lang="en-US" sz="900" dirty="0">
                          <a:solidFill>
                            <a:schemeClr val="tx1"/>
                          </a:solidFill>
                          <a:latin typeface="Arial" panose="020B0604020202020204" pitchFamily="34" charset="0"/>
                          <a:ea typeface="+mn-ea"/>
                          <a:cs typeface="Arial" panose="020B0604020202020204" pitchFamily="34" charset="0"/>
                        </a:rPr>
                        <a:t>0.50</a:t>
                      </a:r>
                      <a:endParaRPr sz="900" dirty="0">
                        <a:solidFill>
                          <a:schemeClr val="tx1"/>
                        </a:solidFill>
                        <a:latin typeface="Arial" panose="020B0604020202020204" pitchFamily="34" charset="0"/>
                        <a:ea typeface="+mn-ea"/>
                        <a:cs typeface="Arial" panose="020B0604020202020204" pitchFamily="34" charset="0"/>
                      </a:endParaRPr>
                    </a:p>
                  </a:txBody>
                  <a:tcPr marL="0" marR="0" marT="1143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2983625144"/>
                  </a:ext>
                </a:extLst>
              </a:tr>
              <a:tr h="234188">
                <a:tc>
                  <a:txBody>
                    <a:bodyPr/>
                    <a:lstStyle/>
                    <a:p>
                      <a:pPr marL="12700" algn="ctr">
                        <a:lnSpc>
                          <a:spcPct val="100000"/>
                        </a:lnSpc>
                        <a:spcBef>
                          <a:spcPts val="90"/>
                        </a:spcBef>
                      </a:pPr>
                      <a:r>
                        <a:rPr lang="en-US" sz="900" dirty="0">
                          <a:latin typeface="Arial" panose="020B0604020202020204" pitchFamily="34" charset="0"/>
                          <a:cs typeface="Arial" panose="020B0604020202020204" pitchFamily="34" charset="0"/>
                        </a:rPr>
                        <a:t>k</a:t>
                      </a:r>
                      <a:endParaRPr sz="900" dirty="0">
                        <a:latin typeface="Arial" panose="020B0604020202020204" pitchFamily="34" charset="0"/>
                        <a:cs typeface="Arial" panose="020B0604020202020204" pitchFamily="34" charset="0"/>
                      </a:endParaRPr>
                    </a:p>
                  </a:txBody>
                  <a:tcPr marL="0" marR="0" marT="1143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10795" algn="ctr">
                        <a:lnSpc>
                          <a:spcPct val="100000"/>
                        </a:lnSpc>
                        <a:spcBef>
                          <a:spcPts val="90"/>
                        </a:spcBef>
                      </a:pPr>
                      <a:r>
                        <a:rPr lang="en-US" sz="900" dirty="0">
                          <a:latin typeface="Arial" panose="020B0604020202020204" pitchFamily="34" charset="0"/>
                          <a:cs typeface="Arial" panose="020B0604020202020204" pitchFamily="34" charset="0"/>
                        </a:rPr>
                        <a:t>0.20</a:t>
                      </a:r>
                      <a:endParaRPr sz="900" dirty="0">
                        <a:latin typeface="Arial" panose="020B0604020202020204" pitchFamily="34" charset="0"/>
                        <a:cs typeface="Arial" panose="020B0604020202020204" pitchFamily="34" charset="0"/>
                      </a:endParaRPr>
                    </a:p>
                  </a:txBody>
                  <a:tcPr marL="0" marR="0" marT="1143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11430" algn="ctr">
                        <a:lnSpc>
                          <a:spcPct val="100000"/>
                        </a:lnSpc>
                        <a:spcBef>
                          <a:spcPts val="90"/>
                        </a:spcBef>
                      </a:pPr>
                      <a:r>
                        <a:rPr lang="en-US" sz="900" dirty="0">
                          <a:latin typeface="Arial" panose="020B0604020202020204" pitchFamily="34" charset="0"/>
                          <a:cs typeface="Arial" panose="020B0604020202020204" pitchFamily="34" charset="0"/>
                        </a:rPr>
                        <a:t>-</a:t>
                      </a:r>
                      <a:endParaRPr sz="900" dirty="0">
                        <a:latin typeface="Arial" panose="020B0604020202020204" pitchFamily="34" charset="0"/>
                        <a:cs typeface="Arial" panose="020B0604020202020204" pitchFamily="34" charset="0"/>
                      </a:endParaRPr>
                    </a:p>
                  </a:txBody>
                  <a:tcPr marL="0" marR="0" marT="1143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indent="0" algn="ctr">
                        <a:lnSpc>
                          <a:spcPct val="100000"/>
                        </a:lnSpc>
                        <a:spcBef>
                          <a:spcPts val="90"/>
                        </a:spcBef>
                      </a:pPr>
                      <a:r>
                        <a:rPr lang="en-US" sz="900" dirty="0">
                          <a:solidFill>
                            <a:schemeClr val="tx1"/>
                          </a:solidFill>
                          <a:latin typeface="Arial" panose="020B0604020202020204" pitchFamily="34" charset="0"/>
                          <a:ea typeface="+mn-ea"/>
                          <a:cs typeface="Arial" panose="020B0604020202020204" pitchFamily="34" charset="0"/>
                        </a:rPr>
                        <a:t>-</a:t>
                      </a:r>
                      <a:endParaRPr sz="900" dirty="0">
                        <a:solidFill>
                          <a:schemeClr val="tx1"/>
                        </a:solidFill>
                        <a:latin typeface="Arial" panose="020B0604020202020204" pitchFamily="34" charset="0"/>
                        <a:ea typeface="+mn-ea"/>
                        <a:cs typeface="Arial" panose="020B0604020202020204" pitchFamily="34" charset="0"/>
                      </a:endParaRPr>
                    </a:p>
                  </a:txBody>
                  <a:tcPr marL="0" marR="0" marT="1143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014"/>
                  </a:ext>
                </a:extLst>
              </a:tr>
              <a:tr h="233390">
                <a:tc>
                  <a:txBody>
                    <a:bodyPr/>
                    <a:lstStyle/>
                    <a:p>
                      <a:pPr marL="12700" algn="ctr">
                        <a:lnSpc>
                          <a:spcPct val="100000"/>
                        </a:lnSpc>
                        <a:spcBef>
                          <a:spcPts val="80"/>
                        </a:spcBef>
                      </a:pPr>
                      <a:r>
                        <a:rPr sz="900" dirty="0">
                          <a:latin typeface="Arial" panose="020B0604020202020204" pitchFamily="34" charset="0"/>
                          <a:cs typeface="Arial" panose="020B0604020202020204" pitchFamily="34" charset="0"/>
                        </a:rPr>
                        <a:t>L</a:t>
                      </a:r>
                      <a:endParaRPr sz="900">
                        <a:latin typeface="Arial" panose="020B0604020202020204" pitchFamily="34" charset="0"/>
                        <a:cs typeface="Arial" panose="020B0604020202020204" pitchFamily="34" charset="0"/>
                      </a:endParaRPr>
                    </a:p>
                  </a:txBody>
                  <a:tcPr marL="0" marR="0" marT="1016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10795" algn="ctr">
                        <a:lnSpc>
                          <a:spcPct val="100000"/>
                        </a:lnSpc>
                        <a:spcBef>
                          <a:spcPts val="80"/>
                        </a:spcBef>
                      </a:pPr>
                      <a:r>
                        <a:rPr lang="en-US" sz="900" dirty="0">
                          <a:latin typeface="Arial" panose="020B0604020202020204" pitchFamily="34" charset="0"/>
                          <a:cs typeface="Arial" panose="020B0604020202020204" pitchFamily="34" charset="0"/>
                        </a:rPr>
                        <a:t>0.35</a:t>
                      </a:r>
                      <a:endParaRPr sz="900" dirty="0">
                        <a:latin typeface="Arial" panose="020B0604020202020204" pitchFamily="34" charset="0"/>
                        <a:cs typeface="Arial" panose="020B0604020202020204" pitchFamily="34" charset="0"/>
                      </a:endParaRPr>
                    </a:p>
                  </a:txBody>
                  <a:tcPr marL="0" marR="0" marT="1016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11430" algn="ctr">
                        <a:lnSpc>
                          <a:spcPct val="100000"/>
                        </a:lnSpc>
                        <a:spcBef>
                          <a:spcPts val="80"/>
                        </a:spcBef>
                      </a:pPr>
                      <a:r>
                        <a:rPr lang="en-US" sz="900" dirty="0">
                          <a:latin typeface="Arial" panose="020B0604020202020204" pitchFamily="34" charset="0"/>
                          <a:cs typeface="Arial" panose="020B0604020202020204" pitchFamily="34" charset="0"/>
                        </a:rPr>
                        <a:t>0.40</a:t>
                      </a:r>
                      <a:endParaRPr sz="900" dirty="0">
                        <a:latin typeface="Arial" panose="020B0604020202020204" pitchFamily="34" charset="0"/>
                        <a:cs typeface="Arial" panose="020B0604020202020204" pitchFamily="34" charset="0"/>
                      </a:endParaRPr>
                    </a:p>
                  </a:txBody>
                  <a:tcPr marL="0" marR="0" marT="1016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indent="0" algn="ctr">
                        <a:lnSpc>
                          <a:spcPct val="100000"/>
                        </a:lnSpc>
                        <a:spcBef>
                          <a:spcPts val="90"/>
                        </a:spcBef>
                      </a:pPr>
                      <a:r>
                        <a:rPr lang="en-US" sz="900" dirty="0">
                          <a:solidFill>
                            <a:schemeClr val="tx1"/>
                          </a:solidFill>
                          <a:latin typeface="Arial" panose="020B0604020202020204" pitchFamily="34" charset="0"/>
                          <a:ea typeface="+mn-ea"/>
                          <a:cs typeface="Arial" panose="020B0604020202020204" pitchFamily="34" charset="0"/>
                        </a:rPr>
                        <a:t>0.45</a:t>
                      </a:r>
                      <a:endParaRPr sz="900" dirty="0">
                        <a:solidFill>
                          <a:schemeClr val="tx1"/>
                        </a:solidFill>
                        <a:latin typeface="Arial" panose="020B0604020202020204" pitchFamily="34" charset="0"/>
                        <a:ea typeface="+mn-ea"/>
                        <a:cs typeface="Arial" panose="020B0604020202020204" pitchFamily="34" charset="0"/>
                      </a:endParaRPr>
                    </a:p>
                  </a:txBody>
                  <a:tcPr marL="0" marR="0" marT="1016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015"/>
                  </a:ext>
                </a:extLst>
              </a:tr>
              <a:tr h="233390">
                <a:tc>
                  <a:txBody>
                    <a:bodyPr/>
                    <a:lstStyle/>
                    <a:p>
                      <a:pPr marL="11430" algn="ctr">
                        <a:lnSpc>
                          <a:spcPct val="100000"/>
                        </a:lnSpc>
                        <a:spcBef>
                          <a:spcPts val="90"/>
                        </a:spcBef>
                      </a:pPr>
                      <a:r>
                        <a:rPr lang="en-US" sz="900" dirty="0">
                          <a:latin typeface="Arial" panose="020B0604020202020204" pitchFamily="34" charset="0"/>
                          <a:cs typeface="Arial" panose="020B0604020202020204" pitchFamily="34" charset="0"/>
                        </a:rPr>
                        <a:t>R</a:t>
                      </a:r>
                      <a:endParaRPr sz="900" dirty="0">
                        <a:latin typeface="Arial" panose="020B0604020202020204" pitchFamily="34" charset="0"/>
                        <a:cs typeface="Arial" panose="020B0604020202020204" pitchFamily="34" charset="0"/>
                      </a:endParaRPr>
                    </a:p>
                  </a:txBody>
                  <a:tcPr marL="0" marR="0" marT="1143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2065" algn="ctr">
                        <a:lnSpc>
                          <a:spcPct val="100000"/>
                        </a:lnSpc>
                        <a:spcBef>
                          <a:spcPts val="90"/>
                        </a:spcBef>
                      </a:pPr>
                      <a:r>
                        <a:rPr lang="en-US" sz="900" dirty="0">
                          <a:latin typeface="Arial" panose="020B0604020202020204" pitchFamily="34" charset="0"/>
                          <a:cs typeface="Arial" panose="020B0604020202020204" pitchFamily="34" charset="0"/>
                        </a:rPr>
                        <a:t>0.09</a:t>
                      </a:r>
                      <a:endParaRPr sz="900" dirty="0">
                        <a:latin typeface="Arial" panose="020B0604020202020204" pitchFamily="34" charset="0"/>
                        <a:cs typeface="Arial" panose="020B0604020202020204" pitchFamily="34" charset="0"/>
                      </a:endParaRPr>
                    </a:p>
                  </a:txBody>
                  <a:tcPr marL="0" marR="0" marT="1143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1430" algn="ctr">
                        <a:lnSpc>
                          <a:spcPct val="100000"/>
                        </a:lnSpc>
                        <a:spcBef>
                          <a:spcPts val="90"/>
                        </a:spcBef>
                      </a:pPr>
                      <a:r>
                        <a:rPr lang="en-US" sz="900" dirty="0">
                          <a:latin typeface="Arial" panose="020B0604020202020204" pitchFamily="34" charset="0"/>
                          <a:cs typeface="Arial" panose="020B0604020202020204" pitchFamily="34" charset="0"/>
                        </a:rPr>
                        <a:t>-</a:t>
                      </a:r>
                      <a:endParaRPr sz="900" dirty="0">
                        <a:latin typeface="Arial" panose="020B0604020202020204" pitchFamily="34" charset="0"/>
                        <a:cs typeface="Arial" panose="020B0604020202020204" pitchFamily="34" charset="0"/>
                      </a:endParaRPr>
                    </a:p>
                  </a:txBody>
                  <a:tcPr marL="0" marR="0" marT="1143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lnSpc>
                          <a:spcPct val="100000"/>
                        </a:lnSpc>
                        <a:spcBef>
                          <a:spcPts val="90"/>
                        </a:spcBef>
                      </a:pPr>
                      <a:r>
                        <a:rPr lang="en-US" sz="900" dirty="0">
                          <a:solidFill>
                            <a:schemeClr val="tx1"/>
                          </a:solidFill>
                          <a:latin typeface="Arial" panose="020B0604020202020204" pitchFamily="34" charset="0"/>
                          <a:ea typeface="+mn-ea"/>
                          <a:cs typeface="Arial" panose="020B0604020202020204" pitchFamily="34" charset="0"/>
                        </a:rPr>
                        <a:t>-</a:t>
                      </a:r>
                      <a:endParaRPr sz="900" dirty="0">
                        <a:solidFill>
                          <a:schemeClr val="tx1"/>
                        </a:solidFill>
                        <a:latin typeface="Arial" panose="020B0604020202020204" pitchFamily="34" charset="0"/>
                        <a:ea typeface="+mn-ea"/>
                        <a:cs typeface="Arial" panose="020B0604020202020204" pitchFamily="34" charset="0"/>
                      </a:endParaRPr>
                    </a:p>
                  </a:txBody>
                  <a:tcPr marL="0" marR="0" marT="1143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7"/>
                  </a:ext>
                </a:extLst>
              </a:tr>
            </a:tbl>
          </a:graphicData>
        </a:graphic>
      </p:graphicFrame>
      <p:sp>
        <p:nvSpPr>
          <p:cNvPr id="20" name="object 4">
            <a:extLst>
              <a:ext uri="{FF2B5EF4-FFF2-40B4-BE49-F238E27FC236}">
                <a16:creationId xmlns:a16="http://schemas.microsoft.com/office/drawing/2014/main" id="{E65D69E8-E767-9309-19F5-4CFF0D37A2EB}"/>
              </a:ext>
            </a:extLst>
          </p:cNvPr>
          <p:cNvSpPr txBox="1"/>
          <p:nvPr/>
        </p:nvSpPr>
        <p:spPr>
          <a:xfrm>
            <a:off x="3581400" y="8762999"/>
            <a:ext cx="2561026" cy="446169"/>
          </a:xfrm>
          <a:prstGeom prst="rect">
            <a:avLst/>
          </a:prstGeom>
        </p:spPr>
        <p:txBody>
          <a:bodyPr vert="horz" wrap="square" lIns="0" tIns="14118" rIns="0" bIns="0" rtlCol="0">
            <a:spAutoFit/>
          </a:bodyPr>
          <a:lstStyle/>
          <a:p>
            <a:pPr marL="11765">
              <a:spcBef>
                <a:spcPts val="112"/>
              </a:spcBef>
            </a:pPr>
            <a:r>
              <a:rPr lang="en-US" sz="880" spc="4" dirty="0">
                <a:solidFill>
                  <a:srgbClr val="0C0C0C"/>
                </a:solidFill>
                <a:latin typeface="Arial"/>
                <a:cs typeface="Arial"/>
              </a:rPr>
              <a:t>Note</a:t>
            </a:r>
          </a:p>
          <a:p>
            <a:pPr marL="11765">
              <a:spcBef>
                <a:spcPts val="112"/>
              </a:spcBef>
            </a:pPr>
            <a:r>
              <a:rPr lang="en-US" sz="880" spc="4" dirty="0">
                <a:solidFill>
                  <a:srgbClr val="0C0C0C"/>
                </a:solidFill>
                <a:latin typeface="Arial"/>
                <a:cs typeface="Arial"/>
              </a:rPr>
              <a:t>1.These Dimension do not include mold protrusion</a:t>
            </a:r>
          </a:p>
          <a:p>
            <a:pPr marL="11765">
              <a:spcBef>
                <a:spcPts val="112"/>
              </a:spcBef>
            </a:pPr>
            <a:r>
              <a:rPr lang="en-US" sz="880" spc="4" dirty="0">
                <a:solidFill>
                  <a:srgbClr val="0C0C0C"/>
                </a:solidFill>
                <a:latin typeface="Arial"/>
                <a:cs typeface="Arial"/>
              </a:rPr>
              <a:t>2.</a:t>
            </a:r>
            <a:r>
              <a:rPr sz="880" spc="4" dirty="0">
                <a:solidFill>
                  <a:srgbClr val="0C0C0C"/>
                </a:solidFill>
                <a:latin typeface="Arial"/>
                <a:cs typeface="Arial"/>
              </a:rPr>
              <a:t>Dimensions</a:t>
            </a:r>
            <a:r>
              <a:rPr sz="880" dirty="0">
                <a:solidFill>
                  <a:srgbClr val="0C0C0C"/>
                </a:solidFill>
                <a:latin typeface="Arial"/>
                <a:cs typeface="Arial"/>
              </a:rPr>
              <a:t> </a:t>
            </a:r>
            <a:r>
              <a:rPr sz="880" spc="10" dirty="0">
                <a:solidFill>
                  <a:srgbClr val="0C0C0C"/>
                </a:solidFill>
                <a:latin typeface="Arial"/>
                <a:cs typeface="Arial"/>
              </a:rPr>
              <a:t>in</a:t>
            </a:r>
            <a:r>
              <a:rPr sz="880" spc="-23" dirty="0">
                <a:solidFill>
                  <a:srgbClr val="0C0C0C"/>
                </a:solidFill>
                <a:latin typeface="Arial"/>
                <a:cs typeface="Arial"/>
              </a:rPr>
              <a:t> </a:t>
            </a:r>
            <a:r>
              <a:rPr sz="880" spc="4" dirty="0">
                <a:solidFill>
                  <a:srgbClr val="0C0C0C"/>
                </a:solidFill>
                <a:latin typeface="Arial"/>
                <a:cs typeface="Arial"/>
              </a:rPr>
              <a:t>millimeters</a:t>
            </a:r>
            <a:endParaRPr sz="880" dirty="0">
              <a:latin typeface="Arial"/>
              <a:cs typeface="Arial"/>
            </a:endParaRPr>
          </a:p>
        </p:txBody>
      </p:sp>
      <p:pic>
        <p:nvPicPr>
          <p:cNvPr id="22" name="그림 21">
            <a:extLst>
              <a:ext uri="{FF2B5EF4-FFF2-40B4-BE49-F238E27FC236}">
                <a16:creationId xmlns:a16="http://schemas.microsoft.com/office/drawing/2014/main" id="{5171A924-8C81-5E4D-27B3-2242655695D0}"/>
              </a:ext>
            </a:extLst>
          </p:cNvPr>
          <p:cNvPicPr>
            <a:picLocks noChangeAspect="1"/>
          </p:cNvPicPr>
          <p:nvPr/>
        </p:nvPicPr>
        <p:blipFill>
          <a:blip r:embed="rId3"/>
          <a:stretch>
            <a:fillRect/>
          </a:stretch>
        </p:blipFill>
        <p:spPr>
          <a:xfrm>
            <a:off x="3533145" y="1752599"/>
            <a:ext cx="2748834" cy="2986547"/>
          </a:xfrm>
          <a:prstGeom prst="rect">
            <a:avLst/>
          </a:prstGeom>
        </p:spPr>
      </p:pic>
      <p:pic>
        <p:nvPicPr>
          <p:cNvPr id="24" name="그림 23">
            <a:extLst>
              <a:ext uri="{FF2B5EF4-FFF2-40B4-BE49-F238E27FC236}">
                <a16:creationId xmlns:a16="http://schemas.microsoft.com/office/drawing/2014/main" id="{93327B02-D166-FB1F-B626-AEB0E58B6693}"/>
              </a:ext>
            </a:extLst>
          </p:cNvPr>
          <p:cNvPicPr>
            <a:picLocks noChangeAspect="1"/>
          </p:cNvPicPr>
          <p:nvPr/>
        </p:nvPicPr>
        <p:blipFill>
          <a:blip r:embed="rId4"/>
          <a:stretch>
            <a:fillRect/>
          </a:stretch>
        </p:blipFill>
        <p:spPr>
          <a:xfrm>
            <a:off x="381000" y="1971707"/>
            <a:ext cx="2447792" cy="2752692"/>
          </a:xfrm>
          <a:prstGeom prst="rect">
            <a:avLst/>
          </a:prstGeom>
        </p:spPr>
      </p:pic>
      <p:pic>
        <p:nvPicPr>
          <p:cNvPr id="29" name="그림 28">
            <a:extLst>
              <a:ext uri="{FF2B5EF4-FFF2-40B4-BE49-F238E27FC236}">
                <a16:creationId xmlns:a16="http://schemas.microsoft.com/office/drawing/2014/main" id="{EEE74F18-CACE-7C15-FD83-05341007938A}"/>
              </a:ext>
            </a:extLst>
          </p:cNvPr>
          <p:cNvPicPr>
            <a:picLocks noChangeAspect="1"/>
          </p:cNvPicPr>
          <p:nvPr/>
        </p:nvPicPr>
        <p:blipFill>
          <a:blip r:embed="rId5"/>
          <a:stretch>
            <a:fillRect/>
          </a:stretch>
        </p:blipFill>
        <p:spPr>
          <a:xfrm>
            <a:off x="342901" y="5189220"/>
            <a:ext cx="3032760" cy="1187110"/>
          </a:xfrm>
          <a:prstGeom prst="rect">
            <a:avLst/>
          </a:prstGeom>
        </p:spPr>
      </p:pic>
      <p:grpSp>
        <p:nvGrpSpPr>
          <p:cNvPr id="34" name="그룹 33">
            <a:extLst>
              <a:ext uri="{FF2B5EF4-FFF2-40B4-BE49-F238E27FC236}">
                <a16:creationId xmlns:a16="http://schemas.microsoft.com/office/drawing/2014/main" id="{D994E65B-6723-F73E-EA6A-FAF5713FFA0E}"/>
              </a:ext>
            </a:extLst>
          </p:cNvPr>
          <p:cNvGrpSpPr/>
          <p:nvPr/>
        </p:nvGrpSpPr>
        <p:grpSpPr>
          <a:xfrm>
            <a:off x="415807" y="7044452"/>
            <a:ext cx="2456933" cy="1390887"/>
            <a:chOff x="415807" y="6815853"/>
            <a:chExt cx="2456933" cy="1390887"/>
          </a:xfrm>
        </p:grpSpPr>
        <p:pic>
          <p:nvPicPr>
            <p:cNvPr id="31" name="그림 30">
              <a:extLst>
                <a:ext uri="{FF2B5EF4-FFF2-40B4-BE49-F238E27FC236}">
                  <a16:creationId xmlns:a16="http://schemas.microsoft.com/office/drawing/2014/main" id="{1278A977-8FB0-C4D5-5EAC-C73C1F688447}"/>
                </a:ext>
              </a:extLst>
            </p:cNvPr>
            <p:cNvPicPr>
              <a:picLocks noChangeAspect="1"/>
            </p:cNvPicPr>
            <p:nvPr/>
          </p:nvPicPr>
          <p:blipFill>
            <a:blip r:embed="rId6"/>
            <a:stretch>
              <a:fillRect/>
            </a:stretch>
          </p:blipFill>
          <p:spPr>
            <a:xfrm>
              <a:off x="415807" y="6815853"/>
              <a:ext cx="2411213" cy="1310521"/>
            </a:xfrm>
            <a:prstGeom prst="rect">
              <a:avLst/>
            </a:prstGeom>
          </p:spPr>
        </p:pic>
        <p:pic>
          <p:nvPicPr>
            <p:cNvPr id="33" name="그림 32">
              <a:extLst>
                <a:ext uri="{FF2B5EF4-FFF2-40B4-BE49-F238E27FC236}">
                  <a16:creationId xmlns:a16="http://schemas.microsoft.com/office/drawing/2014/main" id="{46E29847-3F38-7D64-C2C0-012FFA10F588}"/>
                </a:ext>
              </a:extLst>
            </p:cNvPr>
            <p:cNvPicPr>
              <a:picLocks noChangeAspect="1"/>
            </p:cNvPicPr>
            <p:nvPr/>
          </p:nvPicPr>
          <p:blipFill>
            <a:blip r:embed="rId7"/>
            <a:stretch>
              <a:fillRect/>
            </a:stretch>
          </p:blipFill>
          <p:spPr>
            <a:xfrm>
              <a:off x="2445005" y="7940039"/>
              <a:ext cx="427735" cy="266701"/>
            </a:xfrm>
            <a:prstGeom prst="rect">
              <a:avLst/>
            </a:prstGeom>
          </p:spPr>
        </p:pic>
      </p:grpSp>
      <p:sp>
        <p:nvSpPr>
          <p:cNvPr id="36" name="object 3">
            <a:extLst>
              <a:ext uri="{FF2B5EF4-FFF2-40B4-BE49-F238E27FC236}">
                <a16:creationId xmlns:a16="http://schemas.microsoft.com/office/drawing/2014/main" id="{617C55D2-1BC4-D535-A124-37230C7A8DEC}"/>
              </a:ext>
            </a:extLst>
          </p:cNvPr>
          <p:cNvSpPr txBox="1"/>
          <p:nvPr/>
        </p:nvSpPr>
        <p:spPr>
          <a:xfrm>
            <a:off x="1474015" y="1318373"/>
            <a:ext cx="3862260" cy="277639"/>
          </a:xfrm>
          <a:prstGeom prst="rect">
            <a:avLst/>
          </a:prstGeom>
        </p:spPr>
        <p:txBody>
          <a:bodyPr vert="horz" wrap="square" lIns="0" tIns="61594" rIns="0" bIns="0" rtlCol="0">
            <a:spAutoFit/>
          </a:bodyPr>
          <a:lstStyle/>
          <a:p>
            <a:pPr algn="ctr">
              <a:spcBef>
                <a:spcPts val="484"/>
              </a:spcBef>
            </a:pPr>
            <a:r>
              <a:rPr lang="en-US" altLang="ko-KR" sz="1400" b="1" spc="-20" dirty="0">
                <a:latin typeface="Arial"/>
                <a:cs typeface="Arial"/>
              </a:rPr>
              <a:t>QFN 8080-68H </a:t>
            </a:r>
            <a:r>
              <a:rPr lang="en-US" altLang="ko-KR" sz="1400" b="1" spc="-5" dirty="0">
                <a:latin typeface="Arial"/>
                <a:cs typeface="Arial"/>
              </a:rPr>
              <a:t> Package</a:t>
            </a:r>
            <a:r>
              <a:rPr lang="en-US" altLang="ko-KR" sz="1400" b="1" spc="-75" dirty="0">
                <a:latin typeface="Arial"/>
                <a:cs typeface="Arial"/>
              </a:rPr>
              <a:t> </a:t>
            </a:r>
            <a:r>
              <a:rPr lang="en-US" altLang="ko-KR" sz="1400" b="1" spc="-5" dirty="0">
                <a:latin typeface="Arial"/>
                <a:cs typeface="Arial"/>
              </a:rPr>
              <a:t>Outline</a:t>
            </a:r>
            <a:endParaRPr lang="en-US" altLang="ko-KR" sz="1400" b="1" dirty="0">
              <a:latin typeface="Arial"/>
              <a:cs typeface="Arial"/>
            </a:endParaRPr>
          </a:p>
        </p:txBody>
      </p:sp>
      <p:sp>
        <p:nvSpPr>
          <p:cNvPr id="5" name="object 5">
            <a:extLst>
              <a:ext uri="{FF2B5EF4-FFF2-40B4-BE49-F238E27FC236}">
                <a16:creationId xmlns:a16="http://schemas.microsoft.com/office/drawing/2014/main" id="{F99D8D19-9E95-26FE-7630-9200FF3B3038}"/>
              </a:ext>
            </a:extLst>
          </p:cNvPr>
          <p:cNvSpPr txBox="1"/>
          <p:nvPr/>
        </p:nvSpPr>
        <p:spPr>
          <a:xfrm>
            <a:off x="731905" y="907816"/>
            <a:ext cx="1639003" cy="207205"/>
          </a:xfrm>
          <a:prstGeom prst="rect">
            <a:avLst/>
          </a:prstGeom>
        </p:spPr>
        <p:txBody>
          <a:bodyPr vert="horz" wrap="square" lIns="0" tIns="11526" rIns="0" bIns="0" rtlCol="0">
            <a:spAutoFit/>
          </a:bodyPr>
          <a:lstStyle/>
          <a:p>
            <a:pPr marL="11527">
              <a:spcBef>
                <a:spcPts val="91"/>
              </a:spcBef>
            </a:pPr>
            <a:r>
              <a:rPr sz="1271" b="1" spc="-5" dirty="0">
                <a:latin typeface="Arial"/>
                <a:cs typeface="Arial"/>
              </a:rPr>
              <a:t>Physical</a:t>
            </a:r>
            <a:r>
              <a:rPr sz="1271" b="1" spc="-32" dirty="0">
                <a:latin typeface="Arial"/>
                <a:cs typeface="Arial"/>
              </a:rPr>
              <a:t> </a:t>
            </a:r>
            <a:r>
              <a:rPr sz="1271" b="1" spc="-5" dirty="0">
                <a:latin typeface="Arial"/>
                <a:cs typeface="Arial"/>
              </a:rPr>
              <a:t>Dimensions</a:t>
            </a:r>
            <a:endParaRPr sz="1271" dirty="0">
              <a:latin typeface="Arial"/>
              <a:cs typeface="Arial"/>
            </a:endParaRPr>
          </a:p>
        </p:txBody>
      </p:sp>
      <p:sp>
        <p:nvSpPr>
          <p:cNvPr id="7" name="object 84">
            <a:extLst>
              <a:ext uri="{FF2B5EF4-FFF2-40B4-BE49-F238E27FC236}">
                <a16:creationId xmlns:a16="http://schemas.microsoft.com/office/drawing/2014/main" id="{AAF7AAD6-0D97-C9CD-02F3-265F6CB2C8F9}"/>
              </a:ext>
            </a:extLst>
          </p:cNvPr>
          <p:cNvSpPr txBox="1"/>
          <p:nvPr/>
        </p:nvSpPr>
        <p:spPr>
          <a:xfrm>
            <a:off x="1370987" y="8649708"/>
            <a:ext cx="1793398" cy="153888"/>
          </a:xfrm>
          <a:prstGeom prst="rect">
            <a:avLst/>
          </a:prstGeom>
        </p:spPr>
        <p:txBody>
          <a:bodyPr vert="horz" wrap="square" lIns="0" tIns="15240" rIns="0" bIns="0" rtlCol="0">
            <a:spAutoFit/>
          </a:bodyPr>
          <a:lstStyle/>
          <a:p>
            <a:pPr marL="12700">
              <a:lnSpc>
                <a:spcPct val="100000"/>
              </a:lnSpc>
              <a:spcBef>
                <a:spcPts val="120"/>
              </a:spcBef>
            </a:pPr>
            <a:r>
              <a:rPr lang="en-US" sz="900" b="1" spc="15" dirty="0">
                <a:latin typeface="Arial" panose="020B0604020202020204" pitchFamily="34" charset="0"/>
                <a:cs typeface="Arial" panose="020B0604020202020204" pitchFamily="34" charset="0"/>
              </a:rPr>
              <a:t>Fig 24.  Package Outline</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txBox="1"/>
          <p:nvPr/>
        </p:nvSpPr>
        <p:spPr>
          <a:xfrm>
            <a:off x="407314" y="976817"/>
            <a:ext cx="4742910" cy="233419"/>
          </a:xfrm>
          <a:prstGeom prst="rect">
            <a:avLst/>
          </a:prstGeom>
        </p:spPr>
        <p:txBody>
          <a:bodyPr vert="horz" wrap="square" lIns="0" tIns="12700" rIns="0" bIns="0" rtlCol="0">
            <a:spAutoFit/>
          </a:bodyPr>
          <a:lstStyle/>
          <a:p>
            <a:pPr marL="12700">
              <a:lnSpc>
                <a:spcPct val="100000"/>
              </a:lnSpc>
              <a:spcBef>
                <a:spcPts val="100"/>
              </a:spcBef>
            </a:pPr>
            <a:r>
              <a:rPr lang="en-US" sz="1400" b="1" dirty="0">
                <a:latin typeface="Arial"/>
                <a:cs typeface="Arial"/>
              </a:rPr>
              <a:t>Soldering Temperature Reflow Profile</a:t>
            </a:r>
          </a:p>
        </p:txBody>
      </p:sp>
      <p:sp>
        <p:nvSpPr>
          <p:cNvPr id="4" name="object 4"/>
          <p:cNvSpPr/>
          <p:nvPr/>
        </p:nvSpPr>
        <p:spPr>
          <a:xfrm>
            <a:off x="405384" y="637031"/>
            <a:ext cx="6049010" cy="0"/>
          </a:xfrm>
          <a:custGeom>
            <a:avLst/>
            <a:gdLst/>
            <a:ahLst/>
            <a:cxnLst/>
            <a:rect l="l" t="t" r="r" b="b"/>
            <a:pathLst>
              <a:path w="6049010">
                <a:moveTo>
                  <a:pt x="0" y="0"/>
                </a:moveTo>
                <a:lnTo>
                  <a:pt x="6048629" y="0"/>
                </a:lnTo>
              </a:path>
            </a:pathLst>
          </a:custGeom>
          <a:ln w="6350">
            <a:solidFill>
              <a:srgbClr val="000000"/>
            </a:solidFill>
          </a:ln>
        </p:spPr>
        <p:txBody>
          <a:bodyPr wrap="square" lIns="0" tIns="0" rIns="0" bIns="0" rtlCol="0"/>
          <a:lstStyle/>
          <a:p>
            <a:endParaRPr dirty="0"/>
          </a:p>
        </p:txBody>
      </p:sp>
      <p:sp>
        <p:nvSpPr>
          <p:cNvPr id="7" name="object 7"/>
          <p:cNvSpPr txBox="1"/>
          <p:nvPr/>
        </p:nvSpPr>
        <p:spPr>
          <a:xfrm>
            <a:off x="400913" y="301879"/>
            <a:ext cx="622935" cy="299720"/>
          </a:xfrm>
          <a:prstGeom prst="rect">
            <a:avLst/>
          </a:prstGeom>
        </p:spPr>
        <p:txBody>
          <a:bodyPr vert="horz" wrap="square" lIns="0" tIns="12700" rIns="0" bIns="0" rtlCol="0">
            <a:spAutoFit/>
          </a:bodyPr>
          <a:lstStyle/>
          <a:p>
            <a:pPr marL="12700">
              <a:lnSpc>
                <a:spcPct val="100000"/>
              </a:lnSpc>
              <a:spcBef>
                <a:spcPts val="100"/>
              </a:spcBef>
            </a:pPr>
            <a:r>
              <a:rPr sz="1800" b="1" spc="-5" dirty="0">
                <a:latin typeface="Arial"/>
                <a:cs typeface="Arial"/>
              </a:rPr>
              <a:t>CQ24</a:t>
            </a:r>
            <a:endParaRPr sz="1800" dirty="0">
              <a:latin typeface="Arial"/>
              <a:cs typeface="Arial"/>
            </a:endParaRPr>
          </a:p>
        </p:txBody>
      </p:sp>
      <p:sp>
        <p:nvSpPr>
          <p:cNvPr id="12" name="object 9">
            <a:extLst>
              <a:ext uri="{FF2B5EF4-FFF2-40B4-BE49-F238E27FC236}">
                <a16:creationId xmlns:a16="http://schemas.microsoft.com/office/drawing/2014/main" id="{B9DFF5ED-0883-DC47-1834-3006670D9779}"/>
              </a:ext>
            </a:extLst>
          </p:cNvPr>
          <p:cNvSpPr txBox="1"/>
          <p:nvPr/>
        </p:nvSpPr>
        <p:spPr>
          <a:xfrm>
            <a:off x="304800" y="9067800"/>
            <a:ext cx="2078355" cy="289823"/>
          </a:xfrm>
          <a:prstGeom prst="rect">
            <a:avLst/>
          </a:prstGeom>
        </p:spPr>
        <p:txBody>
          <a:bodyPr vert="horz" wrap="square" lIns="0" tIns="12700" rIns="0" bIns="0" rtlCol="0">
            <a:spAutoFit/>
          </a:bodyPr>
          <a:lstStyle/>
          <a:p>
            <a:pPr marL="12700">
              <a:lnSpc>
                <a:spcPct val="100000"/>
              </a:lnSpc>
              <a:spcBef>
                <a:spcPts val="100"/>
              </a:spcBef>
            </a:pPr>
            <a:r>
              <a:rPr b="1" spc="-5" dirty="0">
                <a:solidFill>
                  <a:srgbClr val="FF0000"/>
                </a:solidFill>
                <a:cs typeface="Perpetua Titling MT"/>
              </a:rPr>
              <a:t>CONFIDENTIAL</a:t>
            </a:r>
            <a:endParaRPr dirty="0">
              <a:cs typeface="Perpetua Titling MT"/>
            </a:endParaRPr>
          </a:p>
        </p:txBody>
      </p:sp>
      <p:sp>
        <p:nvSpPr>
          <p:cNvPr id="13" name="object 6">
            <a:extLst>
              <a:ext uri="{FF2B5EF4-FFF2-40B4-BE49-F238E27FC236}">
                <a16:creationId xmlns:a16="http://schemas.microsoft.com/office/drawing/2014/main" id="{9B7E214F-E7A6-ACE5-327E-7362BC124B94}"/>
              </a:ext>
            </a:extLst>
          </p:cNvPr>
          <p:cNvSpPr/>
          <p:nvPr/>
        </p:nvSpPr>
        <p:spPr>
          <a:xfrm>
            <a:off x="301676" y="9458756"/>
            <a:ext cx="6246495" cy="0"/>
          </a:xfrm>
          <a:custGeom>
            <a:avLst/>
            <a:gdLst/>
            <a:ahLst/>
            <a:cxnLst/>
            <a:rect l="l" t="t" r="r" b="b"/>
            <a:pathLst>
              <a:path w="6246495">
                <a:moveTo>
                  <a:pt x="0" y="0"/>
                </a:moveTo>
                <a:lnTo>
                  <a:pt x="6245999" y="0"/>
                </a:lnTo>
              </a:path>
            </a:pathLst>
          </a:custGeom>
          <a:ln w="25920">
            <a:solidFill>
              <a:srgbClr val="BFBFBF"/>
            </a:solidFill>
          </a:ln>
        </p:spPr>
        <p:txBody>
          <a:bodyPr wrap="square" lIns="0" tIns="0" rIns="0" bIns="0" rtlCol="0"/>
          <a:lstStyle/>
          <a:p>
            <a:endParaRPr/>
          </a:p>
        </p:txBody>
      </p:sp>
      <p:sp>
        <p:nvSpPr>
          <p:cNvPr id="14" name="슬라이드 번호 개체 틀 3">
            <a:hlinkClick r:id="rId2"/>
            <a:extLst>
              <a:ext uri="{FF2B5EF4-FFF2-40B4-BE49-F238E27FC236}">
                <a16:creationId xmlns:a16="http://schemas.microsoft.com/office/drawing/2014/main" id="{0B67FAFD-E4C6-1B18-375C-4438AA579AB0}"/>
              </a:ext>
            </a:extLst>
          </p:cNvPr>
          <p:cNvSpPr txBox="1">
            <a:spLocks/>
          </p:cNvSpPr>
          <p:nvPr/>
        </p:nvSpPr>
        <p:spPr>
          <a:xfrm>
            <a:off x="5151602" y="9452864"/>
            <a:ext cx="1487550"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dirty="0">
                <a:solidFill>
                  <a:prstClr val="black"/>
                </a:solidFill>
                <a:latin typeface="Arial" panose="020B0604020202020204" pitchFamily="34" charset="0"/>
                <a:cs typeface="Arial" panose="020B0604020202020204" pitchFamily="34" charset="0"/>
              </a:rPr>
              <a:t>http://www.glbltech.com/</a:t>
            </a:r>
            <a:endParaRPr lang="ko-KR" altLang="en-US" dirty="0">
              <a:solidFill>
                <a:prstClr val="black"/>
              </a:solidFill>
              <a:latin typeface="Arial" panose="020B0604020202020204" pitchFamily="34" charset="0"/>
              <a:cs typeface="Arial" panose="020B0604020202020204" pitchFamily="34" charset="0"/>
            </a:endParaRPr>
          </a:p>
        </p:txBody>
      </p:sp>
      <p:sp>
        <p:nvSpPr>
          <p:cNvPr id="15" name="object 38">
            <a:extLst>
              <a:ext uri="{FF2B5EF4-FFF2-40B4-BE49-F238E27FC236}">
                <a16:creationId xmlns:a16="http://schemas.microsoft.com/office/drawing/2014/main" id="{E7B288BB-884F-ECFB-01CA-E026D50C6412}"/>
              </a:ext>
            </a:extLst>
          </p:cNvPr>
          <p:cNvSpPr txBox="1">
            <a:spLocks/>
          </p:cNvSpPr>
          <p:nvPr/>
        </p:nvSpPr>
        <p:spPr>
          <a:xfrm>
            <a:off x="3309066" y="9547988"/>
            <a:ext cx="487045" cy="139141"/>
          </a:xfrm>
          <a:prstGeom prst="rect">
            <a:avLst/>
          </a:prstGeom>
        </p:spPr>
        <p:txBody>
          <a:bodyPr vert="horz" wrap="square" lIns="0" tIns="635" rIns="0" bIns="0" rtlCol="0">
            <a:spAutoFit/>
          </a:bodyPr>
          <a:lstStyle>
            <a:defPPr>
              <a:defRPr lang="ko-KR"/>
            </a:defPPr>
            <a:lvl1pPr marL="0" algn="l" defTabSz="914400" rtl="0" eaLnBrk="1" latinLnBrk="1" hangingPunct="1">
              <a:defRPr sz="1050" b="0" i="0" kern="1200">
                <a:solidFill>
                  <a:schemeClr val="tx1"/>
                </a:solidFill>
                <a:latin typeface="Arial"/>
                <a:ea typeface="+mn-ea"/>
                <a:cs typeface="Arial"/>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marL="12700">
              <a:spcBef>
                <a:spcPts val="5"/>
              </a:spcBef>
              <a:defRPr/>
            </a:pPr>
            <a:r>
              <a:rPr lang="en-US" sz="900" dirty="0">
                <a:solidFill>
                  <a:prstClr val="black"/>
                </a:solidFill>
              </a:rPr>
              <a:t>Page</a:t>
            </a:r>
            <a:r>
              <a:rPr lang="en-US" sz="900" spc="-60" dirty="0">
                <a:solidFill>
                  <a:prstClr val="black"/>
                </a:solidFill>
              </a:rPr>
              <a:t> </a:t>
            </a:r>
            <a:fld id="{81D60167-4931-47E6-BA6A-407CBD079E47}" type="slidenum">
              <a:rPr sz="900">
                <a:solidFill>
                  <a:prstClr val="black"/>
                </a:solidFill>
              </a:rPr>
              <a:pPr marL="12700">
                <a:spcBef>
                  <a:spcPts val="5"/>
                </a:spcBef>
                <a:defRPr/>
              </a:pPr>
              <a:t>46</a:t>
            </a:fld>
            <a:endParaRPr sz="900" dirty="0">
              <a:solidFill>
                <a:prstClr val="black"/>
              </a:solidFill>
            </a:endParaRPr>
          </a:p>
        </p:txBody>
      </p:sp>
      <p:sp>
        <p:nvSpPr>
          <p:cNvPr id="16" name="슬라이드 번호 개체 틀 3">
            <a:extLst>
              <a:ext uri="{FF2B5EF4-FFF2-40B4-BE49-F238E27FC236}">
                <a16:creationId xmlns:a16="http://schemas.microsoft.com/office/drawing/2014/main" id="{5D1A4376-EC81-99F8-351F-E9902C41D220}"/>
              </a:ext>
            </a:extLst>
          </p:cNvPr>
          <p:cNvSpPr txBox="1">
            <a:spLocks/>
          </p:cNvSpPr>
          <p:nvPr/>
        </p:nvSpPr>
        <p:spPr>
          <a:xfrm>
            <a:off x="299401" y="9520856"/>
            <a:ext cx="2060991" cy="175259"/>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lang="en-US" altLang="ko-KR" dirty="0">
                <a:solidFill>
                  <a:prstClr val="black"/>
                </a:solidFill>
                <a:latin typeface="Arial" panose="020B0604020202020204" pitchFamily="34" charset="0"/>
                <a:cs typeface="Arial" panose="020B0604020202020204" pitchFamily="34" charset="0"/>
              </a:rPr>
              <a:t>Dated 30-Nov 23  Rev. 01</a:t>
            </a:r>
            <a:endParaRPr lang="ko-KR" altLang="en-US" dirty="0">
              <a:solidFill>
                <a:prstClr val="black"/>
              </a:solidFill>
              <a:latin typeface="Arial" panose="020B0604020202020204" pitchFamily="34" charset="0"/>
              <a:cs typeface="Arial" panose="020B0604020202020204" pitchFamily="34" charset="0"/>
            </a:endParaRPr>
          </a:p>
        </p:txBody>
      </p:sp>
      <p:sp>
        <p:nvSpPr>
          <p:cNvPr id="17" name="Holder 3">
            <a:extLst>
              <a:ext uri="{FF2B5EF4-FFF2-40B4-BE49-F238E27FC236}">
                <a16:creationId xmlns:a16="http://schemas.microsoft.com/office/drawing/2014/main" id="{13051F30-868A-2719-AAB3-ECF3B18F84BE}"/>
              </a:ext>
            </a:extLst>
          </p:cNvPr>
          <p:cNvSpPr txBox="1">
            <a:spLocks/>
          </p:cNvSpPr>
          <p:nvPr/>
        </p:nvSpPr>
        <p:spPr>
          <a:xfrm>
            <a:off x="5147476" y="203944"/>
            <a:ext cx="1447800" cy="276999"/>
          </a:xfrm>
          <a:prstGeom prst="rect">
            <a:avLst/>
          </a:prstGeom>
        </p:spPr>
        <p:txBody>
          <a:bodyPr wrap="square" lIns="0" tIns="0" rIns="0" bIns="0">
            <a:spAutoFit/>
          </a:bodyPr>
          <a:lstStyle>
            <a:lvl1pPr marL="0">
              <a:defRPr>
                <a:solidFill>
                  <a:srgbClr val="FF99FF"/>
                </a:solidFill>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defTabSz="914400" latinLnBrk="0"/>
            <a:r>
              <a:rPr lang="en-US" sz="1800" kern="0" dirty="0"/>
              <a:t>&lt;Preliminary&gt;</a:t>
            </a:r>
          </a:p>
        </p:txBody>
      </p:sp>
      <p:sp>
        <p:nvSpPr>
          <p:cNvPr id="5" name="object 9">
            <a:extLst>
              <a:ext uri="{FF2B5EF4-FFF2-40B4-BE49-F238E27FC236}">
                <a16:creationId xmlns:a16="http://schemas.microsoft.com/office/drawing/2014/main" id="{65CF473A-1634-B503-2B8B-848C845921F9}"/>
              </a:ext>
            </a:extLst>
          </p:cNvPr>
          <p:cNvSpPr txBox="1"/>
          <p:nvPr/>
        </p:nvSpPr>
        <p:spPr>
          <a:xfrm>
            <a:off x="704523" y="8307325"/>
            <a:ext cx="4668520" cy="335989"/>
          </a:xfrm>
          <a:prstGeom prst="rect">
            <a:avLst/>
          </a:prstGeom>
        </p:spPr>
        <p:txBody>
          <a:bodyPr vert="horz" wrap="square" lIns="0" tIns="50800" rIns="0" bIns="0" rtlCol="0">
            <a:spAutoFit/>
          </a:bodyPr>
          <a:lstStyle/>
          <a:p>
            <a:pPr marL="12700">
              <a:lnSpc>
                <a:spcPct val="100000"/>
              </a:lnSpc>
              <a:spcBef>
                <a:spcPts val="400"/>
              </a:spcBef>
            </a:pPr>
            <a:r>
              <a:rPr sz="800" b="1" spc="-5" dirty="0">
                <a:latin typeface="Arial" panose="020B0604020202020204" pitchFamily="34" charset="0"/>
                <a:cs typeface="Arial" panose="020B0604020202020204" pitchFamily="34" charset="0"/>
              </a:rPr>
              <a:t>Important</a:t>
            </a:r>
            <a:r>
              <a:rPr sz="800" b="1" spc="-15" dirty="0">
                <a:latin typeface="Arial" panose="020B0604020202020204" pitchFamily="34" charset="0"/>
                <a:cs typeface="Arial" panose="020B0604020202020204" pitchFamily="34" charset="0"/>
              </a:rPr>
              <a:t> </a:t>
            </a:r>
            <a:r>
              <a:rPr sz="800" b="1" spc="-5" dirty="0">
                <a:latin typeface="Arial" panose="020B0604020202020204" pitchFamily="34" charset="0"/>
                <a:cs typeface="Arial" panose="020B0604020202020204" pitchFamily="34" charset="0"/>
              </a:rPr>
              <a:t>statement</a:t>
            </a:r>
            <a:endParaRPr sz="800" dirty="0">
              <a:latin typeface="Arial" panose="020B0604020202020204" pitchFamily="34" charset="0"/>
              <a:cs typeface="Arial" panose="020B0604020202020204" pitchFamily="34" charset="0"/>
            </a:endParaRPr>
          </a:p>
          <a:p>
            <a:pPr marL="12700">
              <a:lnSpc>
                <a:spcPct val="100000"/>
              </a:lnSpc>
              <a:spcBef>
                <a:spcPts val="305"/>
              </a:spcBef>
            </a:pPr>
            <a:r>
              <a:rPr lang="en-US" sz="800" spc="-5" dirty="0">
                <a:latin typeface="Arial" panose="020B0604020202020204" pitchFamily="34" charset="0"/>
                <a:cs typeface="Arial" panose="020B0604020202020204" pitchFamily="34" charset="0"/>
              </a:rPr>
              <a:t>Global Technologies </a:t>
            </a:r>
            <a:r>
              <a:rPr sz="800" spc="-15" dirty="0">
                <a:latin typeface="Arial" panose="020B0604020202020204" pitchFamily="34" charset="0"/>
                <a:cs typeface="Arial" panose="020B0604020202020204" pitchFamily="34" charset="0"/>
              </a:rPr>
              <a:t> </a:t>
            </a:r>
            <a:r>
              <a:rPr sz="800" dirty="0">
                <a:latin typeface="Arial" panose="020B0604020202020204" pitchFamily="34" charset="0"/>
                <a:cs typeface="Arial" panose="020B0604020202020204" pitchFamily="34" charset="0"/>
              </a:rPr>
              <a:t>reserves</a:t>
            </a:r>
            <a:r>
              <a:rPr sz="800" spc="5"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the</a:t>
            </a:r>
            <a:r>
              <a:rPr sz="800" spc="10"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right</a:t>
            </a:r>
            <a:r>
              <a:rPr sz="800" spc="10"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to</a:t>
            </a:r>
            <a:r>
              <a:rPr sz="800" spc="10"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change</a:t>
            </a:r>
            <a:r>
              <a:rPr sz="800" spc="10"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the</a:t>
            </a:r>
            <a:r>
              <a:rPr sz="800" spc="15"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above-mentioned</a:t>
            </a:r>
            <a:r>
              <a:rPr sz="800" spc="10"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information</a:t>
            </a:r>
            <a:r>
              <a:rPr sz="800" spc="10"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without</a:t>
            </a:r>
            <a:r>
              <a:rPr sz="800" spc="10"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prior</a:t>
            </a:r>
            <a:r>
              <a:rPr sz="800" spc="5"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notice.</a:t>
            </a:r>
            <a:endParaRPr sz="800" dirty="0">
              <a:latin typeface="Arial" panose="020B0604020202020204" pitchFamily="34" charset="0"/>
              <a:cs typeface="Arial" panose="020B0604020202020204" pitchFamily="34" charset="0"/>
            </a:endParaRPr>
          </a:p>
        </p:txBody>
      </p:sp>
      <p:sp>
        <p:nvSpPr>
          <p:cNvPr id="9" name="object 84">
            <a:extLst>
              <a:ext uri="{FF2B5EF4-FFF2-40B4-BE49-F238E27FC236}">
                <a16:creationId xmlns:a16="http://schemas.microsoft.com/office/drawing/2014/main" id="{824AD069-B9F7-3E9A-9DEA-E0FC881BAE70}"/>
              </a:ext>
            </a:extLst>
          </p:cNvPr>
          <p:cNvSpPr txBox="1"/>
          <p:nvPr/>
        </p:nvSpPr>
        <p:spPr>
          <a:xfrm>
            <a:off x="2167413" y="4941001"/>
            <a:ext cx="2909587" cy="153888"/>
          </a:xfrm>
          <a:prstGeom prst="rect">
            <a:avLst/>
          </a:prstGeom>
        </p:spPr>
        <p:txBody>
          <a:bodyPr vert="horz" wrap="square" lIns="0" tIns="15240" rIns="0" bIns="0" rtlCol="0">
            <a:spAutoFit/>
          </a:bodyPr>
          <a:lstStyle/>
          <a:p>
            <a:pPr marL="12700">
              <a:lnSpc>
                <a:spcPct val="100000"/>
              </a:lnSpc>
              <a:spcBef>
                <a:spcPts val="120"/>
              </a:spcBef>
            </a:pPr>
            <a:r>
              <a:rPr lang="en-US" sz="900" b="1" spc="15" dirty="0">
                <a:latin typeface="Arial" panose="020B0604020202020204" pitchFamily="34" charset="0"/>
                <a:cs typeface="Arial" panose="020B0604020202020204" pitchFamily="34" charset="0"/>
              </a:rPr>
              <a:t>Fig 25.  Reflow Soldering information</a:t>
            </a:r>
          </a:p>
        </p:txBody>
      </p:sp>
      <p:graphicFrame>
        <p:nvGraphicFramePr>
          <p:cNvPr id="10" name="object 8">
            <a:extLst>
              <a:ext uri="{FF2B5EF4-FFF2-40B4-BE49-F238E27FC236}">
                <a16:creationId xmlns:a16="http://schemas.microsoft.com/office/drawing/2014/main" id="{9D1E116A-E0AE-62A2-0DC7-74C7EE774815}"/>
              </a:ext>
            </a:extLst>
          </p:cNvPr>
          <p:cNvGraphicFramePr>
            <a:graphicFrameLocks noGrp="1"/>
          </p:cNvGraphicFramePr>
          <p:nvPr>
            <p:extLst>
              <p:ext uri="{D42A27DB-BD31-4B8C-83A1-F6EECF244321}">
                <p14:modId xmlns:p14="http://schemas.microsoft.com/office/powerpoint/2010/main" val="1252193984"/>
              </p:ext>
            </p:extLst>
          </p:nvPr>
        </p:nvGraphicFramePr>
        <p:xfrm>
          <a:off x="704523" y="6189980"/>
          <a:ext cx="5130165" cy="1987233"/>
        </p:xfrm>
        <a:graphic>
          <a:graphicData uri="http://schemas.openxmlformats.org/drawingml/2006/table">
            <a:tbl>
              <a:tblPr firstRow="1" bandRow="1">
                <a:tableStyleId>{2D5ABB26-0587-4C30-8999-92F81FD0307C}</a:tableStyleId>
              </a:tblPr>
              <a:tblGrid>
                <a:gridCol w="2693035">
                  <a:extLst>
                    <a:ext uri="{9D8B030D-6E8A-4147-A177-3AD203B41FA5}">
                      <a16:colId xmlns:a16="http://schemas.microsoft.com/office/drawing/2014/main" val="20000"/>
                    </a:ext>
                  </a:extLst>
                </a:gridCol>
                <a:gridCol w="2437130">
                  <a:extLst>
                    <a:ext uri="{9D8B030D-6E8A-4147-A177-3AD203B41FA5}">
                      <a16:colId xmlns:a16="http://schemas.microsoft.com/office/drawing/2014/main" val="20001"/>
                    </a:ext>
                  </a:extLst>
                </a:gridCol>
              </a:tblGrid>
              <a:tr h="249554">
                <a:tc>
                  <a:txBody>
                    <a:bodyPr/>
                    <a:lstStyle/>
                    <a:p>
                      <a:pPr marL="241935" algn="ctr">
                        <a:lnSpc>
                          <a:spcPct val="100000"/>
                        </a:lnSpc>
                        <a:spcBef>
                          <a:spcPts val="310"/>
                        </a:spcBef>
                      </a:pPr>
                      <a:r>
                        <a:rPr sz="900" b="1" dirty="0">
                          <a:solidFill>
                            <a:schemeClr val="tx1"/>
                          </a:solidFill>
                          <a:latin typeface="Arial"/>
                          <a:ea typeface="+mn-ea"/>
                          <a:cs typeface="Arial"/>
                        </a:rPr>
                        <a:t>Parameter</a:t>
                      </a: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solidFill>
                      <a:schemeClr val="tx2">
                        <a:lumMod val="20000"/>
                        <a:lumOff val="80000"/>
                      </a:schemeClr>
                    </a:solidFill>
                  </a:tcPr>
                </a:tc>
                <a:tc>
                  <a:txBody>
                    <a:bodyPr/>
                    <a:lstStyle/>
                    <a:p>
                      <a:pPr marL="241935" algn="ctr">
                        <a:lnSpc>
                          <a:spcPct val="100000"/>
                        </a:lnSpc>
                        <a:spcBef>
                          <a:spcPts val="310"/>
                        </a:spcBef>
                      </a:pPr>
                      <a:r>
                        <a:rPr lang="en-US" sz="900" b="1" dirty="0">
                          <a:solidFill>
                            <a:schemeClr val="tx1"/>
                          </a:solidFill>
                          <a:latin typeface="Arial"/>
                          <a:ea typeface="+mn-ea"/>
                          <a:cs typeface="Arial"/>
                        </a:rPr>
                        <a:t>Pb</a:t>
                      </a:r>
                      <a:r>
                        <a:rPr sz="900" b="1" dirty="0">
                          <a:solidFill>
                            <a:schemeClr val="tx1"/>
                          </a:solidFill>
                          <a:latin typeface="Arial"/>
                          <a:ea typeface="+mn-ea"/>
                          <a:cs typeface="Arial"/>
                        </a:rPr>
                        <a:t>-free soldering conditions</a:t>
                      </a: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10000"/>
                  </a:ext>
                </a:extLst>
              </a:tr>
              <a:tr h="249554">
                <a:tc>
                  <a:txBody>
                    <a:bodyPr/>
                    <a:lstStyle/>
                    <a:p>
                      <a:pPr marL="68580" algn="l">
                        <a:lnSpc>
                          <a:spcPct val="100000"/>
                        </a:lnSpc>
                        <a:spcBef>
                          <a:spcPts val="35"/>
                        </a:spcBef>
                      </a:pPr>
                      <a:r>
                        <a:rPr sz="800" spc="-15" dirty="0">
                          <a:latin typeface="Arial" panose="020B0604020202020204" pitchFamily="34" charset="0"/>
                          <a:cs typeface="Arial" panose="020B0604020202020204" pitchFamily="34" charset="0"/>
                        </a:rPr>
                        <a:t>Average</a:t>
                      </a:r>
                      <a:r>
                        <a:rPr sz="800" spc="-5"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ramp-up</a:t>
                      </a:r>
                      <a:r>
                        <a:rPr sz="800"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rate</a:t>
                      </a:r>
                      <a:r>
                        <a:rPr lang="en-US" sz="800" spc="-10"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(217</a:t>
                      </a:r>
                      <a:r>
                        <a:rPr sz="800" spc="5"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a:t>
                      </a:r>
                      <a:r>
                        <a:rPr lang="en-US" sz="800" spc="-5" dirty="0">
                          <a:latin typeface="Arial" panose="020B0604020202020204" pitchFamily="34" charset="0"/>
                          <a:cs typeface="Arial" panose="020B0604020202020204" pitchFamily="34" charset="0"/>
                        </a:rPr>
                        <a:t> </a:t>
                      </a:r>
                      <a:r>
                        <a:rPr sz="800" spc="-260"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to</a:t>
                      </a:r>
                      <a:r>
                        <a:rPr sz="800"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Peak)</a:t>
                      </a:r>
                      <a:endParaRPr sz="800" dirty="0">
                        <a:latin typeface="Arial" panose="020B0604020202020204" pitchFamily="34" charset="0"/>
                        <a:cs typeface="Arial" panose="020B0604020202020204" pitchFamily="34" charset="0"/>
                      </a:endParaRPr>
                    </a:p>
                  </a:txBody>
                  <a:tcPr marL="0" marR="0" marT="4445"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tcPr>
                </a:tc>
                <a:tc>
                  <a:txBody>
                    <a:bodyPr/>
                    <a:lstStyle/>
                    <a:p>
                      <a:pPr marL="68580" algn="l">
                        <a:lnSpc>
                          <a:spcPct val="100000"/>
                        </a:lnSpc>
                        <a:spcBef>
                          <a:spcPts val="35"/>
                        </a:spcBef>
                      </a:pPr>
                      <a:r>
                        <a:rPr sz="800" spc="-10" dirty="0">
                          <a:latin typeface="Arial" panose="020B0604020202020204" pitchFamily="34" charset="0"/>
                          <a:cs typeface="Arial" panose="020B0604020202020204" pitchFamily="34" charset="0"/>
                        </a:rPr>
                        <a:t>3℃/second</a:t>
                      </a:r>
                      <a:r>
                        <a:rPr sz="800" spc="-25"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max</a:t>
                      </a:r>
                      <a:r>
                        <a:rPr lang="en-US" sz="800" spc="-10" dirty="0">
                          <a:latin typeface="Arial" panose="020B0604020202020204" pitchFamily="34" charset="0"/>
                          <a:cs typeface="Arial" panose="020B0604020202020204" pitchFamily="34" charset="0"/>
                        </a:rPr>
                        <a:t>.</a:t>
                      </a:r>
                      <a:endParaRPr sz="800" dirty="0">
                        <a:latin typeface="Arial" panose="020B0604020202020204" pitchFamily="34" charset="0"/>
                        <a:cs typeface="Arial" panose="020B0604020202020204" pitchFamily="34" charset="0"/>
                      </a:endParaRPr>
                    </a:p>
                  </a:txBody>
                  <a:tcPr marL="72000" marR="0" marT="4445"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1"/>
                  </a:ext>
                </a:extLst>
              </a:tr>
              <a:tr h="250190">
                <a:tc>
                  <a:txBody>
                    <a:bodyPr/>
                    <a:lstStyle/>
                    <a:p>
                      <a:pPr marL="68580" algn="l">
                        <a:lnSpc>
                          <a:spcPct val="100000"/>
                        </a:lnSpc>
                        <a:spcBef>
                          <a:spcPts val="30"/>
                        </a:spcBef>
                      </a:pPr>
                      <a:r>
                        <a:rPr sz="800" spc="-10" dirty="0">
                          <a:latin typeface="Arial" panose="020B0604020202020204" pitchFamily="34" charset="0"/>
                          <a:cs typeface="Arial" panose="020B0604020202020204" pitchFamily="34" charset="0"/>
                        </a:rPr>
                        <a:t>T</a:t>
                      </a:r>
                      <a:r>
                        <a:rPr sz="800" dirty="0">
                          <a:latin typeface="Arial" panose="020B0604020202020204" pitchFamily="34" charset="0"/>
                          <a:cs typeface="Arial" panose="020B0604020202020204" pitchFamily="34" charset="0"/>
                        </a:rPr>
                        <a:t>i</a:t>
                      </a:r>
                      <a:r>
                        <a:rPr sz="800" spc="5" dirty="0">
                          <a:latin typeface="Arial" panose="020B0604020202020204" pitchFamily="34" charset="0"/>
                          <a:cs typeface="Arial" panose="020B0604020202020204" pitchFamily="34" charset="0"/>
                        </a:rPr>
                        <a:t>m</a:t>
                      </a:r>
                      <a:r>
                        <a:rPr sz="800" dirty="0">
                          <a:latin typeface="Arial" panose="020B0604020202020204" pitchFamily="34" charset="0"/>
                          <a:cs typeface="Arial" panose="020B0604020202020204" pitchFamily="34" charset="0"/>
                        </a:rPr>
                        <a:t>e</a:t>
                      </a:r>
                      <a:r>
                        <a:rPr sz="800" spc="-5" dirty="0">
                          <a:latin typeface="Arial" panose="020B0604020202020204" pitchFamily="34" charset="0"/>
                          <a:cs typeface="Arial" panose="020B0604020202020204" pitchFamily="34" charset="0"/>
                        </a:rPr>
                        <a:t> </a:t>
                      </a:r>
                      <a:r>
                        <a:rPr sz="800" dirty="0">
                          <a:latin typeface="Arial" panose="020B0604020202020204" pitchFamily="34" charset="0"/>
                          <a:cs typeface="Arial" panose="020B0604020202020204" pitchFamily="34" charset="0"/>
                        </a:rPr>
                        <a:t>of</a:t>
                      </a:r>
                      <a:r>
                        <a:rPr sz="800" spc="-10" dirty="0">
                          <a:latin typeface="Arial" panose="020B0604020202020204" pitchFamily="34" charset="0"/>
                          <a:cs typeface="Arial" panose="020B0604020202020204" pitchFamily="34" charset="0"/>
                        </a:rPr>
                        <a:t> </a:t>
                      </a:r>
                      <a:r>
                        <a:rPr sz="800" dirty="0">
                          <a:latin typeface="Arial" panose="020B0604020202020204" pitchFamily="34" charset="0"/>
                          <a:cs typeface="Arial" panose="020B0604020202020204" pitchFamily="34" charset="0"/>
                        </a:rPr>
                        <a:t>P</a:t>
                      </a:r>
                      <a:r>
                        <a:rPr sz="800" spc="-15" dirty="0">
                          <a:latin typeface="Arial" panose="020B0604020202020204" pitchFamily="34" charset="0"/>
                          <a:cs typeface="Arial" panose="020B0604020202020204" pitchFamily="34" charset="0"/>
                        </a:rPr>
                        <a:t>r</a:t>
                      </a:r>
                      <a:r>
                        <a:rPr sz="800" spc="-5" dirty="0">
                          <a:latin typeface="Arial" panose="020B0604020202020204" pitchFamily="34" charset="0"/>
                          <a:cs typeface="Arial" panose="020B0604020202020204" pitchFamily="34" charset="0"/>
                        </a:rPr>
                        <a:t>e</a:t>
                      </a:r>
                      <a:r>
                        <a:rPr sz="800" spc="15" dirty="0">
                          <a:latin typeface="Arial" panose="020B0604020202020204" pitchFamily="34" charset="0"/>
                          <a:cs typeface="Arial" panose="020B0604020202020204" pitchFamily="34" charset="0"/>
                        </a:rPr>
                        <a:t>h</a:t>
                      </a:r>
                      <a:r>
                        <a:rPr sz="800" spc="-5" dirty="0">
                          <a:latin typeface="Arial" panose="020B0604020202020204" pitchFamily="34" charset="0"/>
                          <a:cs typeface="Arial" panose="020B0604020202020204" pitchFamily="34" charset="0"/>
                        </a:rPr>
                        <a:t>e</a:t>
                      </a:r>
                      <a:r>
                        <a:rPr sz="800" spc="-10" dirty="0">
                          <a:latin typeface="Arial" panose="020B0604020202020204" pitchFamily="34" charset="0"/>
                          <a:cs typeface="Arial" panose="020B0604020202020204" pitchFamily="34" charset="0"/>
                        </a:rPr>
                        <a:t>a</a:t>
                      </a:r>
                      <a:r>
                        <a:rPr sz="800" dirty="0">
                          <a:latin typeface="Arial" panose="020B0604020202020204" pitchFamily="34" charset="0"/>
                          <a:cs typeface="Arial" panose="020B0604020202020204" pitchFamily="34" charset="0"/>
                        </a:rPr>
                        <a:t>t </a:t>
                      </a:r>
                      <a:r>
                        <a:rPr sz="800" spc="-10" dirty="0">
                          <a:latin typeface="Arial" panose="020B0604020202020204" pitchFamily="34" charset="0"/>
                          <a:cs typeface="Arial" panose="020B0604020202020204" pitchFamily="34" charset="0"/>
                        </a:rPr>
                        <a:t>t</a:t>
                      </a:r>
                      <a:r>
                        <a:rPr sz="800" spc="5" dirty="0">
                          <a:latin typeface="Arial" panose="020B0604020202020204" pitchFamily="34" charset="0"/>
                          <a:cs typeface="Arial" panose="020B0604020202020204" pitchFamily="34" charset="0"/>
                        </a:rPr>
                        <a:t>e</a:t>
                      </a:r>
                      <a:r>
                        <a:rPr sz="800" spc="-5" dirty="0">
                          <a:latin typeface="Arial" panose="020B0604020202020204" pitchFamily="34" charset="0"/>
                          <a:cs typeface="Arial" panose="020B0604020202020204" pitchFamily="34" charset="0"/>
                        </a:rPr>
                        <a:t>m</a:t>
                      </a:r>
                      <a:r>
                        <a:rPr sz="800" dirty="0">
                          <a:latin typeface="Arial" panose="020B0604020202020204" pitchFamily="34" charset="0"/>
                          <a:cs typeface="Arial" panose="020B0604020202020204" pitchFamily="34" charset="0"/>
                        </a:rPr>
                        <a:t>p</a:t>
                      </a:r>
                      <a:r>
                        <a:rPr lang="en-US" sz="800"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a:t>
                      </a:r>
                      <a:r>
                        <a:rPr sz="800" spc="-10" dirty="0">
                          <a:latin typeface="Arial" panose="020B0604020202020204" pitchFamily="34" charset="0"/>
                          <a:cs typeface="Arial" panose="020B0604020202020204" pitchFamily="34" charset="0"/>
                        </a:rPr>
                        <a:t>f</a:t>
                      </a:r>
                      <a:r>
                        <a:rPr sz="800" spc="-15" dirty="0">
                          <a:latin typeface="Arial" panose="020B0604020202020204" pitchFamily="34" charset="0"/>
                          <a:cs typeface="Arial" panose="020B0604020202020204" pitchFamily="34" charset="0"/>
                        </a:rPr>
                        <a:t>r</a:t>
                      </a:r>
                      <a:r>
                        <a:rPr sz="800" dirty="0">
                          <a:latin typeface="Arial" panose="020B0604020202020204" pitchFamily="34" charset="0"/>
                          <a:cs typeface="Arial" panose="020B0604020202020204" pitchFamily="34" charset="0"/>
                        </a:rPr>
                        <a:t>om</a:t>
                      </a:r>
                      <a:r>
                        <a:rPr sz="800" spc="-5"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1</a:t>
                      </a:r>
                      <a:r>
                        <a:rPr sz="800" dirty="0">
                          <a:latin typeface="Arial" panose="020B0604020202020204" pitchFamily="34" charset="0"/>
                          <a:cs typeface="Arial" panose="020B0604020202020204" pitchFamily="34" charset="0"/>
                        </a:rPr>
                        <a:t>50</a:t>
                      </a:r>
                      <a:r>
                        <a:rPr sz="800" spc="10" dirty="0">
                          <a:latin typeface="Arial" panose="020B0604020202020204" pitchFamily="34" charset="0"/>
                          <a:cs typeface="Arial" panose="020B0604020202020204" pitchFamily="34" charset="0"/>
                        </a:rPr>
                        <a:t> </a:t>
                      </a:r>
                      <a:r>
                        <a:rPr sz="800" dirty="0">
                          <a:latin typeface="Arial" panose="020B0604020202020204" pitchFamily="34" charset="0"/>
                          <a:cs typeface="Arial" panose="020B0604020202020204" pitchFamily="34" charset="0"/>
                        </a:rPr>
                        <a:t>℃</a:t>
                      </a:r>
                      <a:r>
                        <a:rPr lang="en-US" sz="800" dirty="0">
                          <a:latin typeface="Arial" panose="020B0604020202020204" pitchFamily="34" charset="0"/>
                          <a:cs typeface="Arial" panose="020B0604020202020204" pitchFamily="34" charset="0"/>
                        </a:rPr>
                        <a:t> </a:t>
                      </a:r>
                      <a:r>
                        <a:rPr sz="800" spc="-275" dirty="0">
                          <a:latin typeface="Arial" panose="020B0604020202020204" pitchFamily="34" charset="0"/>
                          <a:cs typeface="Arial" panose="020B0604020202020204" pitchFamily="34" charset="0"/>
                        </a:rPr>
                        <a:t> </a:t>
                      </a:r>
                      <a:r>
                        <a:rPr lang="en-US" sz="800" spc="-275"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t</a:t>
                      </a:r>
                      <a:r>
                        <a:rPr sz="800" dirty="0">
                          <a:latin typeface="Arial" panose="020B0604020202020204" pitchFamily="34" charset="0"/>
                          <a:cs typeface="Arial" panose="020B0604020202020204" pitchFamily="34" charset="0"/>
                        </a:rPr>
                        <a:t>o 200</a:t>
                      </a:r>
                      <a:r>
                        <a:rPr sz="800" spc="5" dirty="0">
                          <a:latin typeface="Arial" panose="020B0604020202020204" pitchFamily="34" charset="0"/>
                          <a:cs typeface="Arial" panose="020B0604020202020204" pitchFamily="34" charset="0"/>
                        </a:rPr>
                        <a:t> </a:t>
                      </a:r>
                      <a:r>
                        <a:rPr sz="800" dirty="0">
                          <a:latin typeface="Arial" panose="020B0604020202020204" pitchFamily="34" charset="0"/>
                          <a:cs typeface="Arial" panose="020B0604020202020204" pitchFamily="34" charset="0"/>
                        </a:rPr>
                        <a:t>℃</a:t>
                      </a:r>
                      <a:r>
                        <a:rPr lang="en-US" sz="800" dirty="0">
                          <a:latin typeface="Arial" panose="020B0604020202020204" pitchFamily="34" charset="0"/>
                          <a:cs typeface="Arial" panose="020B0604020202020204" pitchFamily="34" charset="0"/>
                        </a:rPr>
                        <a:t>)</a:t>
                      </a:r>
                      <a:endParaRPr sz="800" dirty="0">
                        <a:latin typeface="Arial" panose="020B0604020202020204" pitchFamily="34" charset="0"/>
                        <a:cs typeface="Arial" panose="020B0604020202020204" pitchFamily="34" charset="0"/>
                      </a:endParaRPr>
                    </a:p>
                  </a:txBody>
                  <a:tcPr marL="0" marR="0" marT="381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tcPr>
                </a:tc>
                <a:tc>
                  <a:txBody>
                    <a:bodyPr/>
                    <a:lstStyle/>
                    <a:p>
                      <a:pPr marL="68580" algn="l">
                        <a:lnSpc>
                          <a:spcPts val="1170"/>
                        </a:lnSpc>
                      </a:pPr>
                      <a:r>
                        <a:rPr sz="800" spc="-5" dirty="0">
                          <a:latin typeface="Arial" panose="020B0604020202020204" pitchFamily="34" charset="0"/>
                          <a:cs typeface="Arial" panose="020B0604020202020204" pitchFamily="34" charset="0"/>
                        </a:rPr>
                        <a:t>60</a:t>
                      </a:r>
                      <a:r>
                        <a:rPr lang="en-US" sz="800" spc="-5" dirty="0">
                          <a:latin typeface="Arial" panose="020B0604020202020204" pitchFamily="34" charset="0"/>
                          <a:cs typeface="Arial" panose="020B0604020202020204" pitchFamily="34" charset="0"/>
                        </a:rPr>
                        <a:t> ~ </a:t>
                      </a:r>
                      <a:r>
                        <a:rPr sz="800" spc="-5" dirty="0">
                          <a:latin typeface="Arial" panose="020B0604020202020204" pitchFamily="34" charset="0"/>
                          <a:cs typeface="Arial" panose="020B0604020202020204" pitchFamily="34" charset="0"/>
                        </a:rPr>
                        <a:t>120</a:t>
                      </a:r>
                      <a:r>
                        <a:rPr sz="800" spc="-45"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second</a:t>
                      </a:r>
                      <a:endParaRPr sz="800" dirty="0">
                        <a:latin typeface="Arial" panose="020B0604020202020204" pitchFamily="34" charset="0"/>
                        <a:cs typeface="Arial" panose="020B0604020202020204" pitchFamily="34" charset="0"/>
                      </a:endParaRPr>
                    </a:p>
                  </a:txBody>
                  <a:tcPr marL="7200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2"/>
                  </a:ext>
                </a:extLst>
              </a:tr>
              <a:tr h="251460">
                <a:tc>
                  <a:txBody>
                    <a:bodyPr/>
                    <a:lstStyle/>
                    <a:p>
                      <a:pPr marL="68580" algn="l">
                        <a:lnSpc>
                          <a:spcPct val="100000"/>
                        </a:lnSpc>
                        <a:spcBef>
                          <a:spcPts val="30"/>
                        </a:spcBef>
                      </a:pPr>
                      <a:r>
                        <a:rPr sz="800" spc="-5" dirty="0">
                          <a:latin typeface="Arial" panose="020B0604020202020204" pitchFamily="34" charset="0"/>
                          <a:cs typeface="Arial" panose="020B0604020202020204" pitchFamily="34" charset="0"/>
                        </a:rPr>
                        <a:t>Time</a:t>
                      </a:r>
                      <a:r>
                        <a:rPr sz="800" spc="-15"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to</a:t>
                      </a:r>
                      <a:r>
                        <a:rPr sz="800" spc="-5" dirty="0">
                          <a:latin typeface="Arial" panose="020B0604020202020204" pitchFamily="34" charset="0"/>
                          <a:cs typeface="Arial" panose="020B0604020202020204" pitchFamily="34" charset="0"/>
                        </a:rPr>
                        <a:t> </a:t>
                      </a:r>
                      <a:r>
                        <a:rPr sz="800" dirty="0">
                          <a:latin typeface="Arial" panose="020B0604020202020204" pitchFamily="34" charset="0"/>
                          <a:cs typeface="Arial" panose="020B0604020202020204" pitchFamily="34" charset="0"/>
                        </a:rPr>
                        <a:t>be</a:t>
                      </a:r>
                      <a:r>
                        <a:rPr sz="800" spc="-10"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maintained</a:t>
                      </a:r>
                      <a:r>
                        <a:rPr sz="800" spc="-10"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above</a:t>
                      </a:r>
                      <a:r>
                        <a:rPr lang="en-US" sz="800" spc="-5"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217</a:t>
                      </a:r>
                      <a:r>
                        <a:rPr sz="800" spc="5"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a:t>
                      </a:r>
                      <a:endParaRPr sz="800" dirty="0">
                        <a:latin typeface="Arial" panose="020B0604020202020204" pitchFamily="34" charset="0"/>
                        <a:cs typeface="Arial" panose="020B0604020202020204" pitchFamily="34" charset="0"/>
                      </a:endParaRPr>
                    </a:p>
                  </a:txBody>
                  <a:tcPr marL="0" marR="0" marT="381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tcPr>
                </a:tc>
                <a:tc>
                  <a:txBody>
                    <a:bodyPr/>
                    <a:lstStyle/>
                    <a:p>
                      <a:pPr marL="68580" algn="l">
                        <a:lnSpc>
                          <a:spcPts val="1185"/>
                        </a:lnSpc>
                      </a:pPr>
                      <a:r>
                        <a:rPr sz="800" spc="-5" dirty="0">
                          <a:latin typeface="Arial" panose="020B0604020202020204" pitchFamily="34" charset="0"/>
                          <a:cs typeface="Arial" panose="020B0604020202020204" pitchFamily="34" charset="0"/>
                        </a:rPr>
                        <a:t>60</a:t>
                      </a:r>
                      <a:r>
                        <a:rPr lang="en-US" sz="800" spc="-5" dirty="0">
                          <a:latin typeface="Arial" panose="020B0604020202020204" pitchFamily="34" charset="0"/>
                          <a:cs typeface="Arial" panose="020B0604020202020204" pitchFamily="34" charset="0"/>
                        </a:rPr>
                        <a:t> ~ </a:t>
                      </a:r>
                      <a:r>
                        <a:rPr sz="800" spc="-5" dirty="0">
                          <a:latin typeface="Arial" panose="020B0604020202020204" pitchFamily="34" charset="0"/>
                          <a:cs typeface="Arial" panose="020B0604020202020204" pitchFamily="34" charset="0"/>
                        </a:rPr>
                        <a:t>150</a:t>
                      </a:r>
                      <a:r>
                        <a:rPr sz="800" spc="-45"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second</a:t>
                      </a:r>
                      <a:endParaRPr sz="800" dirty="0">
                        <a:latin typeface="Arial" panose="020B0604020202020204" pitchFamily="34" charset="0"/>
                        <a:cs typeface="Arial" panose="020B0604020202020204" pitchFamily="34" charset="0"/>
                      </a:endParaRPr>
                    </a:p>
                  </a:txBody>
                  <a:tcPr marL="7200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3"/>
                  </a:ext>
                </a:extLst>
              </a:tr>
              <a:tr h="249554">
                <a:tc>
                  <a:txBody>
                    <a:bodyPr/>
                    <a:lstStyle/>
                    <a:p>
                      <a:pPr marL="68580" algn="l">
                        <a:lnSpc>
                          <a:spcPts val="1185"/>
                        </a:lnSpc>
                      </a:pPr>
                      <a:r>
                        <a:rPr sz="800" spc="-10" dirty="0">
                          <a:latin typeface="Arial" panose="020B0604020202020204" pitchFamily="34" charset="0"/>
                          <a:cs typeface="Arial" panose="020B0604020202020204" pitchFamily="34" charset="0"/>
                        </a:rPr>
                        <a:t>Peak</a:t>
                      </a:r>
                      <a:r>
                        <a:rPr sz="800" spc="-30"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temperature</a:t>
                      </a:r>
                      <a:endParaRPr sz="800" dirty="0">
                        <a:latin typeface="Arial" panose="020B0604020202020204" pitchFamily="34" charset="0"/>
                        <a:cs typeface="Arial" panose="020B0604020202020204" pitchFamily="34" charset="0"/>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tcPr>
                </a:tc>
                <a:tc>
                  <a:txBody>
                    <a:bodyPr/>
                    <a:lstStyle/>
                    <a:p>
                      <a:pPr marL="68580" algn="l">
                        <a:lnSpc>
                          <a:spcPct val="100000"/>
                        </a:lnSpc>
                        <a:spcBef>
                          <a:spcPts val="30"/>
                        </a:spcBef>
                      </a:pPr>
                      <a:r>
                        <a:rPr sz="800" spc="-5" dirty="0">
                          <a:latin typeface="Arial" panose="020B0604020202020204" pitchFamily="34" charset="0"/>
                          <a:cs typeface="Arial" panose="020B0604020202020204" pitchFamily="34" charset="0"/>
                        </a:rPr>
                        <a:t>260</a:t>
                      </a:r>
                      <a:r>
                        <a:rPr sz="800" spc="-25"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+5/-0</a:t>
                      </a:r>
                      <a:r>
                        <a:rPr sz="800" spc="195"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a:t>
                      </a:r>
                      <a:endParaRPr sz="800" dirty="0">
                        <a:latin typeface="Arial" panose="020B0604020202020204" pitchFamily="34" charset="0"/>
                        <a:cs typeface="Arial" panose="020B0604020202020204" pitchFamily="34" charset="0"/>
                      </a:endParaRPr>
                    </a:p>
                  </a:txBody>
                  <a:tcPr marL="72000" marR="0" marT="381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4"/>
                  </a:ext>
                </a:extLst>
              </a:tr>
              <a:tr h="249554">
                <a:tc>
                  <a:txBody>
                    <a:bodyPr/>
                    <a:lstStyle/>
                    <a:p>
                      <a:pPr marL="68580" algn="l">
                        <a:lnSpc>
                          <a:spcPct val="100000"/>
                        </a:lnSpc>
                        <a:spcBef>
                          <a:spcPts val="30"/>
                        </a:spcBef>
                      </a:pPr>
                      <a:r>
                        <a:rPr sz="800" spc="-5" dirty="0">
                          <a:latin typeface="Arial" panose="020B0604020202020204" pitchFamily="34" charset="0"/>
                          <a:cs typeface="Arial" panose="020B0604020202020204" pitchFamily="34" charset="0"/>
                        </a:rPr>
                        <a:t>Time</a:t>
                      </a:r>
                      <a:r>
                        <a:rPr sz="800" spc="-15"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within 5</a:t>
                      </a:r>
                      <a:r>
                        <a:rPr sz="800"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a:t>
                      </a:r>
                      <a:r>
                        <a:rPr lang="en-US" sz="800" spc="-5"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of</a:t>
                      </a:r>
                      <a:r>
                        <a:rPr sz="800" spc="-15" dirty="0">
                          <a:latin typeface="Arial" panose="020B0604020202020204" pitchFamily="34" charset="0"/>
                          <a:cs typeface="Arial" panose="020B0604020202020204" pitchFamily="34" charset="0"/>
                        </a:rPr>
                        <a:t> </a:t>
                      </a:r>
                      <a:r>
                        <a:rPr sz="800" dirty="0">
                          <a:latin typeface="Arial" panose="020B0604020202020204" pitchFamily="34" charset="0"/>
                          <a:cs typeface="Arial" panose="020B0604020202020204" pitchFamily="34" charset="0"/>
                        </a:rPr>
                        <a:t>actual</a:t>
                      </a:r>
                      <a:r>
                        <a:rPr sz="800" spc="-5" dirty="0">
                          <a:latin typeface="Arial" panose="020B0604020202020204" pitchFamily="34" charset="0"/>
                          <a:cs typeface="Arial" panose="020B0604020202020204" pitchFamily="34" charset="0"/>
                        </a:rPr>
                        <a:t> peak </a:t>
                      </a:r>
                      <a:r>
                        <a:rPr sz="800" spc="-10" dirty="0">
                          <a:latin typeface="Arial" panose="020B0604020202020204" pitchFamily="34" charset="0"/>
                          <a:cs typeface="Arial" panose="020B0604020202020204" pitchFamily="34" charset="0"/>
                        </a:rPr>
                        <a:t>temp</a:t>
                      </a:r>
                      <a:endParaRPr sz="800" dirty="0">
                        <a:latin typeface="Arial" panose="020B0604020202020204" pitchFamily="34" charset="0"/>
                        <a:cs typeface="Arial" panose="020B0604020202020204" pitchFamily="34" charset="0"/>
                      </a:endParaRPr>
                    </a:p>
                  </a:txBody>
                  <a:tcPr marL="0" marR="0" marT="381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tcPr>
                </a:tc>
                <a:tc>
                  <a:txBody>
                    <a:bodyPr/>
                    <a:lstStyle/>
                    <a:p>
                      <a:pPr marL="68580" algn="l">
                        <a:lnSpc>
                          <a:spcPts val="1185"/>
                        </a:lnSpc>
                      </a:pPr>
                      <a:r>
                        <a:rPr sz="800" spc="-5" dirty="0">
                          <a:latin typeface="Arial" panose="020B0604020202020204" pitchFamily="34" charset="0"/>
                          <a:cs typeface="Arial" panose="020B0604020202020204" pitchFamily="34" charset="0"/>
                        </a:rPr>
                        <a:t>30</a:t>
                      </a:r>
                      <a:r>
                        <a:rPr sz="800" spc="-45"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second</a:t>
                      </a:r>
                      <a:endParaRPr sz="800" dirty="0">
                        <a:latin typeface="Arial" panose="020B0604020202020204" pitchFamily="34" charset="0"/>
                        <a:cs typeface="Arial" panose="020B0604020202020204" pitchFamily="34" charset="0"/>
                      </a:endParaRPr>
                    </a:p>
                  </a:txBody>
                  <a:tcPr marL="7200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5"/>
                  </a:ext>
                </a:extLst>
              </a:tr>
              <a:tr h="249554">
                <a:tc>
                  <a:txBody>
                    <a:bodyPr/>
                    <a:lstStyle/>
                    <a:p>
                      <a:pPr marL="68580" algn="l">
                        <a:lnSpc>
                          <a:spcPts val="1170"/>
                        </a:lnSpc>
                      </a:pPr>
                      <a:r>
                        <a:rPr sz="800" spc="-5" dirty="0">
                          <a:latin typeface="Arial" panose="020B0604020202020204" pitchFamily="34" charset="0"/>
                          <a:cs typeface="Arial" panose="020B0604020202020204" pitchFamily="34" charset="0"/>
                        </a:rPr>
                        <a:t>Ramp-down</a:t>
                      </a:r>
                      <a:r>
                        <a:rPr sz="800" spc="-25" dirty="0">
                          <a:latin typeface="Arial" panose="020B0604020202020204" pitchFamily="34" charset="0"/>
                          <a:cs typeface="Arial" panose="020B0604020202020204" pitchFamily="34" charset="0"/>
                        </a:rPr>
                        <a:t> </a:t>
                      </a:r>
                      <a:r>
                        <a:rPr sz="800" spc="-15" dirty="0">
                          <a:latin typeface="Arial" panose="020B0604020202020204" pitchFamily="34" charset="0"/>
                          <a:cs typeface="Arial" panose="020B0604020202020204" pitchFamily="34" charset="0"/>
                        </a:rPr>
                        <a:t>rate</a:t>
                      </a:r>
                      <a:endParaRPr sz="800" dirty="0">
                        <a:latin typeface="Arial" panose="020B0604020202020204" pitchFamily="34" charset="0"/>
                        <a:cs typeface="Arial" panose="020B0604020202020204" pitchFamily="34" charset="0"/>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tcPr>
                </a:tc>
                <a:tc>
                  <a:txBody>
                    <a:bodyPr/>
                    <a:lstStyle/>
                    <a:p>
                      <a:pPr marL="68580" algn="l">
                        <a:lnSpc>
                          <a:spcPct val="100000"/>
                        </a:lnSpc>
                        <a:spcBef>
                          <a:spcPts val="30"/>
                        </a:spcBef>
                      </a:pPr>
                      <a:r>
                        <a:rPr sz="800" spc="-5" dirty="0">
                          <a:latin typeface="Arial" panose="020B0604020202020204" pitchFamily="34" charset="0"/>
                          <a:cs typeface="Arial" panose="020B0604020202020204" pitchFamily="34" charset="0"/>
                        </a:rPr>
                        <a:t>6</a:t>
                      </a:r>
                      <a:r>
                        <a:rPr sz="800" spc="190"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℃/second</a:t>
                      </a:r>
                      <a:r>
                        <a:rPr sz="800" spc="-20"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max.</a:t>
                      </a:r>
                      <a:endParaRPr sz="800" dirty="0">
                        <a:latin typeface="Arial" panose="020B0604020202020204" pitchFamily="34" charset="0"/>
                        <a:cs typeface="Arial" panose="020B0604020202020204" pitchFamily="34" charset="0"/>
                      </a:endParaRPr>
                    </a:p>
                  </a:txBody>
                  <a:tcPr marL="72000" marR="0" marT="381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6"/>
                  </a:ext>
                </a:extLst>
              </a:tr>
              <a:tr h="237813">
                <a:tc>
                  <a:txBody>
                    <a:bodyPr/>
                    <a:lstStyle/>
                    <a:p>
                      <a:pPr marL="68580" algn="l">
                        <a:lnSpc>
                          <a:spcPct val="100000"/>
                        </a:lnSpc>
                        <a:spcBef>
                          <a:spcPts val="30"/>
                        </a:spcBef>
                      </a:pPr>
                      <a:r>
                        <a:rPr sz="800" spc="-10" dirty="0">
                          <a:latin typeface="Arial" panose="020B0604020202020204" pitchFamily="34" charset="0"/>
                          <a:cs typeface="Arial" panose="020B0604020202020204" pitchFamily="34" charset="0"/>
                        </a:rPr>
                        <a:t>T</a:t>
                      </a:r>
                      <a:r>
                        <a:rPr sz="800" dirty="0">
                          <a:latin typeface="Arial" panose="020B0604020202020204" pitchFamily="34" charset="0"/>
                          <a:cs typeface="Arial" panose="020B0604020202020204" pitchFamily="34" charset="0"/>
                        </a:rPr>
                        <a:t>i</a:t>
                      </a:r>
                      <a:r>
                        <a:rPr sz="800" spc="5" dirty="0">
                          <a:latin typeface="Arial" panose="020B0604020202020204" pitchFamily="34" charset="0"/>
                          <a:cs typeface="Arial" panose="020B0604020202020204" pitchFamily="34" charset="0"/>
                        </a:rPr>
                        <a:t>m</a:t>
                      </a:r>
                      <a:r>
                        <a:rPr sz="800" dirty="0">
                          <a:latin typeface="Arial" panose="020B0604020202020204" pitchFamily="34" charset="0"/>
                          <a:cs typeface="Arial" panose="020B0604020202020204" pitchFamily="34" charset="0"/>
                        </a:rPr>
                        <a:t>e</a:t>
                      </a:r>
                      <a:r>
                        <a:rPr sz="800" spc="-5" dirty="0">
                          <a:latin typeface="Arial" panose="020B0604020202020204" pitchFamily="34" charset="0"/>
                          <a:cs typeface="Arial" panose="020B0604020202020204" pitchFamily="34" charset="0"/>
                        </a:rPr>
                        <a:t> f</a:t>
                      </a:r>
                      <a:r>
                        <a:rPr sz="800" spc="-15" dirty="0">
                          <a:latin typeface="Arial" panose="020B0604020202020204" pitchFamily="34" charset="0"/>
                          <a:cs typeface="Arial" panose="020B0604020202020204" pitchFamily="34" charset="0"/>
                        </a:rPr>
                        <a:t>r</a:t>
                      </a:r>
                      <a:r>
                        <a:rPr sz="800" dirty="0">
                          <a:latin typeface="Arial" panose="020B0604020202020204" pitchFamily="34" charset="0"/>
                          <a:cs typeface="Arial" panose="020B0604020202020204" pitchFamily="34" charset="0"/>
                        </a:rPr>
                        <a:t>om </a:t>
                      </a:r>
                      <a:r>
                        <a:rPr sz="800" spc="-5" dirty="0">
                          <a:latin typeface="Arial" panose="020B0604020202020204" pitchFamily="34" charset="0"/>
                          <a:cs typeface="Arial" panose="020B0604020202020204" pitchFamily="34" charset="0"/>
                        </a:rPr>
                        <a:t> </a:t>
                      </a:r>
                      <a:r>
                        <a:rPr sz="800" dirty="0">
                          <a:latin typeface="Arial" panose="020B0604020202020204" pitchFamily="34" charset="0"/>
                          <a:cs typeface="Arial" panose="020B0604020202020204" pitchFamily="34" charset="0"/>
                        </a:rPr>
                        <a:t>2</a:t>
                      </a:r>
                      <a:r>
                        <a:rPr sz="800" spc="15" dirty="0">
                          <a:latin typeface="Arial" panose="020B0604020202020204" pitchFamily="34" charset="0"/>
                          <a:cs typeface="Arial" panose="020B0604020202020204" pitchFamily="34" charset="0"/>
                        </a:rPr>
                        <a:t>5</a:t>
                      </a:r>
                      <a:r>
                        <a:rPr sz="800" dirty="0">
                          <a:latin typeface="Arial" panose="020B0604020202020204" pitchFamily="34" charset="0"/>
                          <a:cs typeface="Arial" panose="020B0604020202020204" pitchFamily="34" charset="0"/>
                        </a:rPr>
                        <a:t>℃</a:t>
                      </a:r>
                      <a:r>
                        <a:rPr lang="en-US" sz="800" dirty="0">
                          <a:latin typeface="Arial" panose="020B0604020202020204" pitchFamily="34" charset="0"/>
                          <a:cs typeface="Arial" panose="020B0604020202020204" pitchFamily="34" charset="0"/>
                        </a:rPr>
                        <a:t> </a:t>
                      </a:r>
                      <a:r>
                        <a:rPr sz="800" spc="-275"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t</a:t>
                      </a:r>
                      <a:r>
                        <a:rPr sz="800" dirty="0">
                          <a:latin typeface="Arial" panose="020B0604020202020204" pitchFamily="34" charset="0"/>
                          <a:cs typeface="Arial" panose="020B0604020202020204" pitchFamily="34" charset="0"/>
                        </a:rPr>
                        <a:t>o </a:t>
                      </a:r>
                      <a:r>
                        <a:rPr sz="800" spc="5" dirty="0">
                          <a:latin typeface="Arial" panose="020B0604020202020204" pitchFamily="34" charset="0"/>
                          <a:cs typeface="Arial" panose="020B0604020202020204" pitchFamily="34" charset="0"/>
                        </a:rPr>
                        <a:t>p</a:t>
                      </a:r>
                      <a:r>
                        <a:rPr sz="800" spc="-5" dirty="0">
                          <a:latin typeface="Arial" panose="020B0604020202020204" pitchFamily="34" charset="0"/>
                          <a:cs typeface="Arial" panose="020B0604020202020204" pitchFamily="34" charset="0"/>
                        </a:rPr>
                        <a:t>e</a:t>
                      </a:r>
                      <a:r>
                        <a:rPr sz="800" dirty="0">
                          <a:latin typeface="Arial" panose="020B0604020202020204" pitchFamily="34" charset="0"/>
                          <a:cs typeface="Arial" panose="020B0604020202020204" pitchFamily="34" charset="0"/>
                        </a:rPr>
                        <a:t>ak </a:t>
                      </a:r>
                      <a:r>
                        <a:rPr sz="800" spc="-10" dirty="0">
                          <a:latin typeface="Arial" panose="020B0604020202020204" pitchFamily="34" charset="0"/>
                          <a:cs typeface="Arial" panose="020B0604020202020204" pitchFamily="34" charset="0"/>
                        </a:rPr>
                        <a:t>t</a:t>
                      </a:r>
                      <a:r>
                        <a:rPr sz="800" spc="-5" dirty="0">
                          <a:latin typeface="Arial" panose="020B0604020202020204" pitchFamily="34" charset="0"/>
                          <a:cs typeface="Arial" panose="020B0604020202020204" pitchFamily="34" charset="0"/>
                        </a:rPr>
                        <a:t>e</a:t>
                      </a:r>
                      <a:r>
                        <a:rPr sz="800" spc="5" dirty="0">
                          <a:latin typeface="Arial" panose="020B0604020202020204" pitchFamily="34" charset="0"/>
                          <a:cs typeface="Arial" panose="020B0604020202020204" pitchFamily="34" charset="0"/>
                        </a:rPr>
                        <a:t>m</a:t>
                      </a:r>
                      <a:r>
                        <a:rPr sz="800" dirty="0">
                          <a:latin typeface="Arial" panose="020B0604020202020204" pitchFamily="34" charset="0"/>
                          <a:cs typeface="Arial" panose="020B0604020202020204" pitchFamily="34" charset="0"/>
                        </a:rPr>
                        <a:t>p</a:t>
                      </a:r>
                    </a:p>
                  </a:txBody>
                  <a:tcPr marL="0" marR="0" marT="381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68580" algn="l">
                        <a:lnSpc>
                          <a:spcPts val="1185"/>
                        </a:lnSpc>
                      </a:pPr>
                      <a:r>
                        <a:rPr sz="800" spc="-5" dirty="0">
                          <a:latin typeface="Arial" panose="020B0604020202020204" pitchFamily="34" charset="0"/>
                          <a:cs typeface="Arial" panose="020B0604020202020204" pitchFamily="34" charset="0"/>
                        </a:rPr>
                        <a:t>8</a:t>
                      </a:r>
                      <a:r>
                        <a:rPr sz="800" spc="-30"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minutes</a:t>
                      </a:r>
                      <a:r>
                        <a:rPr sz="800" spc="-15"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max</a:t>
                      </a:r>
                      <a:r>
                        <a:rPr lang="en-US" sz="800" spc="-10" dirty="0">
                          <a:latin typeface="Arial" panose="020B0604020202020204" pitchFamily="34" charset="0"/>
                          <a:cs typeface="Arial" panose="020B0604020202020204" pitchFamily="34" charset="0"/>
                        </a:rPr>
                        <a:t>.</a:t>
                      </a:r>
                      <a:endParaRPr sz="800" dirty="0">
                        <a:latin typeface="Arial" panose="020B0604020202020204" pitchFamily="34" charset="0"/>
                        <a:cs typeface="Arial" panose="020B0604020202020204" pitchFamily="34" charset="0"/>
                      </a:endParaRPr>
                    </a:p>
                  </a:txBody>
                  <a:tcPr marL="7200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11" name="object 11">
            <a:extLst>
              <a:ext uri="{FF2B5EF4-FFF2-40B4-BE49-F238E27FC236}">
                <a16:creationId xmlns:a16="http://schemas.microsoft.com/office/drawing/2014/main" id="{EAC6024B-7C28-CBCA-2ACB-BEFF4BCE5FF0}"/>
              </a:ext>
            </a:extLst>
          </p:cNvPr>
          <p:cNvSpPr txBox="1"/>
          <p:nvPr/>
        </p:nvSpPr>
        <p:spPr>
          <a:xfrm>
            <a:off x="648677" y="5983033"/>
            <a:ext cx="3037472" cy="144848"/>
          </a:xfrm>
          <a:prstGeom prst="rect">
            <a:avLst/>
          </a:prstGeom>
        </p:spPr>
        <p:txBody>
          <a:bodyPr vert="horz" wrap="square" lIns="0" tIns="12700" rIns="0" bIns="0" rtlCol="0">
            <a:spAutoFit/>
          </a:bodyPr>
          <a:lstStyle/>
          <a:p>
            <a:pPr marL="63500">
              <a:lnSpc>
                <a:spcPts val="1065"/>
              </a:lnSpc>
              <a:spcBef>
                <a:spcPts val="100"/>
              </a:spcBef>
              <a:tabLst>
                <a:tab pos="673100" algn="l"/>
              </a:tabLst>
            </a:pPr>
            <a:r>
              <a:rPr sz="900" b="1" spc="-65" dirty="0">
                <a:latin typeface="Arial" panose="020B0604020202020204" pitchFamily="34" charset="0"/>
                <a:cs typeface="Arial" panose="020B0604020202020204" pitchFamily="34" charset="0"/>
              </a:rPr>
              <a:t>T</a:t>
            </a:r>
            <a:r>
              <a:rPr sz="900" b="1" spc="-10" dirty="0">
                <a:latin typeface="Arial" panose="020B0604020202020204" pitchFamily="34" charset="0"/>
                <a:cs typeface="Arial" panose="020B0604020202020204" pitchFamily="34" charset="0"/>
              </a:rPr>
              <a:t>a</a:t>
            </a:r>
            <a:r>
              <a:rPr sz="900" b="1" spc="-5" dirty="0">
                <a:latin typeface="Arial" panose="020B0604020202020204" pitchFamily="34" charset="0"/>
                <a:cs typeface="Arial" panose="020B0604020202020204" pitchFamily="34" charset="0"/>
              </a:rPr>
              <a:t>bl</a:t>
            </a:r>
            <a:r>
              <a:rPr sz="900" b="1" dirty="0">
                <a:latin typeface="Arial" panose="020B0604020202020204" pitchFamily="34" charset="0"/>
                <a:cs typeface="Arial" panose="020B0604020202020204" pitchFamily="34" charset="0"/>
              </a:rPr>
              <a:t>e </a:t>
            </a:r>
            <a:r>
              <a:rPr lang="en-US" sz="900" b="1" dirty="0">
                <a:latin typeface="Arial" panose="020B0604020202020204" pitchFamily="34" charset="0"/>
                <a:cs typeface="Arial" panose="020B0604020202020204" pitchFamily="34" charset="0"/>
              </a:rPr>
              <a:t>7</a:t>
            </a:r>
            <a:r>
              <a:rPr sz="900" b="1" dirty="0">
                <a:latin typeface="Arial" panose="020B0604020202020204" pitchFamily="34" charset="0"/>
                <a:cs typeface="Arial" panose="020B0604020202020204" pitchFamily="34" charset="0"/>
              </a:rPr>
              <a:t>.</a:t>
            </a:r>
            <a:r>
              <a:rPr lang="en-US" sz="900" b="1" dirty="0">
                <a:latin typeface="Arial" panose="020B0604020202020204" pitchFamily="34" charset="0"/>
                <a:cs typeface="Arial" panose="020B0604020202020204" pitchFamily="34" charset="0"/>
              </a:rPr>
              <a:t>   Reflow Soldering Parameter </a:t>
            </a:r>
            <a:endParaRPr sz="900" dirty="0">
              <a:latin typeface="Arial" panose="020B0604020202020204" pitchFamily="34" charset="0"/>
              <a:cs typeface="Arial" panose="020B0604020202020204" pitchFamily="34" charset="0"/>
            </a:endParaRPr>
          </a:p>
        </p:txBody>
      </p:sp>
      <p:pic>
        <p:nvPicPr>
          <p:cNvPr id="18" name="그림 17">
            <a:extLst>
              <a:ext uri="{FF2B5EF4-FFF2-40B4-BE49-F238E27FC236}">
                <a16:creationId xmlns:a16="http://schemas.microsoft.com/office/drawing/2014/main" id="{89878B96-49DE-9627-AF08-D486AB3536DF}"/>
              </a:ext>
            </a:extLst>
          </p:cNvPr>
          <p:cNvPicPr>
            <a:picLocks noChangeAspect="1"/>
          </p:cNvPicPr>
          <p:nvPr/>
        </p:nvPicPr>
        <p:blipFill>
          <a:blip r:embed="rId3"/>
          <a:stretch>
            <a:fillRect/>
          </a:stretch>
        </p:blipFill>
        <p:spPr>
          <a:xfrm>
            <a:off x="1073902" y="1864999"/>
            <a:ext cx="4470327" cy="2660256"/>
          </a:xfrm>
          <a:prstGeom prst="rect">
            <a:avLst/>
          </a:prstGeom>
        </p:spPr>
      </p:pic>
    </p:spTree>
    <p:extLst>
      <p:ext uri="{BB962C8B-B14F-4D97-AF65-F5344CB8AC3E}">
        <p14:creationId xmlns:p14="http://schemas.microsoft.com/office/powerpoint/2010/main" val="220827333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object 10"/>
          <p:cNvSpPr txBox="1"/>
          <p:nvPr/>
        </p:nvSpPr>
        <p:spPr>
          <a:xfrm>
            <a:off x="400913" y="301879"/>
            <a:ext cx="622935" cy="299720"/>
          </a:xfrm>
          <a:prstGeom prst="rect">
            <a:avLst/>
          </a:prstGeom>
        </p:spPr>
        <p:txBody>
          <a:bodyPr vert="horz" wrap="square" lIns="0" tIns="12700" rIns="0" bIns="0" rtlCol="0">
            <a:spAutoFit/>
          </a:bodyPr>
          <a:lstStyle/>
          <a:p>
            <a:pPr marL="12700">
              <a:lnSpc>
                <a:spcPct val="100000"/>
              </a:lnSpc>
              <a:spcBef>
                <a:spcPts val="100"/>
              </a:spcBef>
            </a:pPr>
            <a:r>
              <a:rPr sz="1800" b="1" spc="-5" dirty="0">
                <a:latin typeface="Arial"/>
                <a:cs typeface="Arial"/>
              </a:rPr>
              <a:t>CQ24</a:t>
            </a:r>
            <a:endParaRPr sz="1800" dirty="0">
              <a:latin typeface="Arial"/>
              <a:cs typeface="Arial"/>
            </a:endParaRPr>
          </a:p>
        </p:txBody>
      </p:sp>
      <p:grpSp>
        <p:nvGrpSpPr>
          <p:cNvPr id="14" name="그룹 13">
            <a:extLst>
              <a:ext uri="{FF2B5EF4-FFF2-40B4-BE49-F238E27FC236}">
                <a16:creationId xmlns:a16="http://schemas.microsoft.com/office/drawing/2014/main" id="{8912877F-A817-E5F5-130A-918F438FD334}"/>
              </a:ext>
            </a:extLst>
          </p:cNvPr>
          <p:cNvGrpSpPr/>
          <p:nvPr/>
        </p:nvGrpSpPr>
        <p:grpSpPr>
          <a:xfrm>
            <a:off x="385348" y="7010400"/>
            <a:ext cx="6048622" cy="1910892"/>
            <a:chOff x="291219" y="7387206"/>
            <a:chExt cx="6048622" cy="1910892"/>
          </a:xfrm>
        </p:grpSpPr>
        <p:sp>
          <p:nvSpPr>
            <p:cNvPr id="15" name="Rectangle 12">
              <a:extLst>
                <a:ext uri="{FF2B5EF4-FFF2-40B4-BE49-F238E27FC236}">
                  <a16:creationId xmlns:a16="http://schemas.microsoft.com/office/drawing/2014/main" id="{E3803EF4-A334-EBF3-5C7F-3183419CCE45}"/>
                </a:ext>
              </a:extLst>
            </p:cNvPr>
            <p:cNvSpPr>
              <a:spLocks noChangeArrowheads="1"/>
            </p:cNvSpPr>
            <p:nvPr/>
          </p:nvSpPr>
          <p:spPr bwMode="auto">
            <a:xfrm>
              <a:off x="291219" y="7387206"/>
              <a:ext cx="6048622" cy="46166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defTabSz="914400" eaLnBrk="0" fontAlgn="base" hangingPunct="0">
                <a:spcBef>
                  <a:spcPct val="0"/>
                </a:spcBef>
                <a:spcAft>
                  <a:spcPct val="0"/>
                </a:spcAft>
              </a:pPr>
              <a:r>
                <a:rPr lang="en-US" altLang="ko-KR" sz="600" dirty="0">
                  <a:latin typeface="+mj-lt"/>
                  <a:ea typeface="맑은 고딕" panose="020B0503020000020004" pitchFamily="50" charset="-127"/>
                  <a:cs typeface="Times New Roman" panose="02020603050405020304" pitchFamily="18" charset="0"/>
                </a:rPr>
                <a:t>    is the trademark of Global Technologies Co., Ltd. or its subsidiaries in the Republic of Korea and/or other countries. The products of Global Technologies reserve the right to make changes without further notice to any products herein. Global Technologies makes no warranty, representation or guarantee regarding the suitability of its products for any particular purpose, nor does Global Technologies assume any liability arising out of the application or use of any product or circuit, and specifically disclaims any and all liability, including without limitation special, consequential or incidental damages. Global Technologies does not convey any license under its patent rights nor the rights of others.</a:t>
              </a:r>
              <a:endParaRPr lang="en-US" altLang="ko-KR" sz="600" dirty="0">
                <a:latin typeface="+mj-lt"/>
              </a:endParaRPr>
            </a:p>
          </p:txBody>
        </p:sp>
        <p:sp>
          <p:nvSpPr>
            <p:cNvPr id="16" name="Rectangle 15">
              <a:extLst>
                <a:ext uri="{FF2B5EF4-FFF2-40B4-BE49-F238E27FC236}">
                  <a16:creationId xmlns:a16="http://schemas.microsoft.com/office/drawing/2014/main" id="{90B9FD64-5EAA-C2A0-3048-C593250389B8}"/>
                </a:ext>
              </a:extLst>
            </p:cNvPr>
            <p:cNvSpPr>
              <a:spLocks noChangeArrowheads="1"/>
            </p:cNvSpPr>
            <p:nvPr/>
          </p:nvSpPr>
          <p:spPr bwMode="auto">
            <a:xfrm>
              <a:off x="291219" y="7913103"/>
              <a:ext cx="6048622" cy="138499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defTabSz="914400" eaLnBrk="0" fontAlgn="base" hangingPunct="0">
                <a:spcBef>
                  <a:spcPct val="0"/>
                </a:spcBef>
                <a:spcAft>
                  <a:spcPct val="0"/>
                </a:spcAft>
              </a:pPr>
              <a:r>
                <a:rPr lang="en-US" altLang="ko-KR" sz="600" dirty="0">
                  <a:latin typeface="+mj-lt"/>
                  <a:ea typeface="맑은 고딕" panose="020B0503020000020004" pitchFamily="50" charset="-127"/>
                  <a:cs typeface="Times New Roman" panose="02020603050405020304" pitchFamily="18" charset="0"/>
                </a:rPr>
                <a:t>    is the trademark of Global Technologies Co., Ltd. or its subsidiaries in the Republic of Korea and/or other countries. Global Technologies owns the rights to a number of patents, trademarks, copyrights, trade secrets, and other intellectual property.  Global Technologies reserves the right to make changes without further notice to any products herein. Global Technologies makes no warranty, representation or guarantee regarding the suitability of its products for any particular purpose, nor does Global Technologies assume any liability arising out of the application or use of any product or circuit, and specifically disclaims any and all liability, including without limitation special, consequential or incidental damages. Buyer is responsible for its products and applications using Global Technologies products, including compliance with all laws, regulations and safety requirements or standards, regardless of any support or applications information provided by Global Technologies. “Typical” parameters which may be provided in Global Technologies data sheets and/or specifications can and do vary in different applications and actual performance may vary over time. All operating parameters, including “Typical” must be validated for each customer application by customer’s technical experts. Global Technologies does not convey any license under its patent rights nor the rights of others. Global Technologies products are not designed, intended, or authorized for use as a critical component in life support systems or any FDA Class 3 medical devices or medical devices with a same or similar classification in a foreign jurisdiction or any devices intended for implantation in the human body. Should Buyer purchase or use Global Technologies products for any such unintended or unauthorized application, Buyer shall indemnify and hold Global Technologies and its officers, employees, subsidiaries, affiliates, and distributors harmless against all claims, costs, damages, and expenses, and reasonable attorney fees arising out of, directly or indirectly, any claim of personal injury or death associated with such unintended or unauthorized use, even if such claim alleges that Global Technologies was negligent regarding the design or manufacture of the part. Global Technologies is an Equal Opportunity/Affirmative Action Employer. This literature is subject to all applicable copyright laws and is not for resale in any manner.</a:t>
              </a:r>
              <a:endParaRPr lang="en-US" altLang="ko-KR" sz="600" dirty="0">
                <a:latin typeface="+mj-lt"/>
              </a:endParaRPr>
            </a:p>
          </p:txBody>
        </p:sp>
        <p:pic>
          <p:nvPicPr>
            <p:cNvPr id="17" name="그림 1">
              <a:extLst>
                <a:ext uri="{FF2B5EF4-FFF2-40B4-BE49-F238E27FC236}">
                  <a16:creationId xmlns:a16="http://schemas.microsoft.com/office/drawing/2014/main" id="{DE52A911-0CD4-6685-0BE1-36F413B74189}"/>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43798" y="7405679"/>
              <a:ext cx="100553" cy="146962"/>
            </a:xfrm>
            <a:prstGeom prst="rect">
              <a:avLst/>
            </a:prstGeom>
            <a:noFill/>
            <a:extLst>
              <a:ext uri="{909E8E84-426E-40DD-AFC4-6F175D3DCCD1}">
                <a14:hiddenFill xmlns:a14="http://schemas.microsoft.com/office/drawing/2010/main">
                  <a:solidFill>
                    <a:srgbClr val="FFFFFF"/>
                  </a:solidFill>
                </a14:hiddenFill>
              </a:ext>
            </a:extLst>
          </p:spPr>
        </p:pic>
        <p:pic>
          <p:nvPicPr>
            <p:cNvPr id="18" name="그림 1">
              <a:extLst>
                <a:ext uri="{FF2B5EF4-FFF2-40B4-BE49-F238E27FC236}">
                  <a16:creationId xmlns:a16="http://schemas.microsoft.com/office/drawing/2014/main" id="{0C3655CE-813E-03BD-178E-670EC230014B}"/>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55670" y="7941651"/>
              <a:ext cx="91652" cy="133953"/>
            </a:xfrm>
            <a:prstGeom prst="rect">
              <a:avLst/>
            </a:prstGeom>
            <a:noFill/>
            <a:extLst>
              <a:ext uri="{909E8E84-426E-40DD-AFC4-6F175D3DCCD1}">
                <a14:hiddenFill xmlns:a14="http://schemas.microsoft.com/office/drawing/2010/main">
                  <a:solidFill>
                    <a:srgbClr val="FFFFFF"/>
                  </a:solidFill>
                </a14:hiddenFill>
              </a:ext>
            </a:extLst>
          </p:spPr>
        </p:pic>
      </p:grpSp>
      <p:sp>
        <p:nvSpPr>
          <p:cNvPr id="19" name="object 9">
            <a:extLst>
              <a:ext uri="{FF2B5EF4-FFF2-40B4-BE49-F238E27FC236}">
                <a16:creationId xmlns:a16="http://schemas.microsoft.com/office/drawing/2014/main" id="{1FB7BB7F-0012-86E8-0915-8677CEF4194F}"/>
              </a:ext>
            </a:extLst>
          </p:cNvPr>
          <p:cNvSpPr txBox="1"/>
          <p:nvPr/>
        </p:nvSpPr>
        <p:spPr>
          <a:xfrm>
            <a:off x="304800" y="9067800"/>
            <a:ext cx="2078355" cy="289823"/>
          </a:xfrm>
          <a:prstGeom prst="rect">
            <a:avLst/>
          </a:prstGeom>
        </p:spPr>
        <p:txBody>
          <a:bodyPr vert="horz" wrap="square" lIns="0" tIns="12700" rIns="0" bIns="0" rtlCol="0">
            <a:spAutoFit/>
          </a:bodyPr>
          <a:lstStyle/>
          <a:p>
            <a:pPr marL="12700">
              <a:lnSpc>
                <a:spcPct val="100000"/>
              </a:lnSpc>
              <a:spcBef>
                <a:spcPts val="100"/>
              </a:spcBef>
            </a:pPr>
            <a:r>
              <a:rPr b="1" spc="-5" dirty="0">
                <a:solidFill>
                  <a:srgbClr val="FF0000"/>
                </a:solidFill>
                <a:cs typeface="Perpetua Titling MT"/>
              </a:rPr>
              <a:t>CONFIDENTIAL</a:t>
            </a:r>
            <a:endParaRPr dirty="0">
              <a:cs typeface="Perpetua Titling MT"/>
            </a:endParaRPr>
          </a:p>
        </p:txBody>
      </p:sp>
      <p:sp>
        <p:nvSpPr>
          <p:cNvPr id="20" name="object 6">
            <a:extLst>
              <a:ext uri="{FF2B5EF4-FFF2-40B4-BE49-F238E27FC236}">
                <a16:creationId xmlns:a16="http://schemas.microsoft.com/office/drawing/2014/main" id="{7D52AFD0-7037-9DA2-2C41-757FDCF91CAE}"/>
              </a:ext>
            </a:extLst>
          </p:cNvPr>
          <p:cNvSpPr/>
          <p:nvPr/>
        </p:nvSpPr>
        <p:spPr>
          <a:xfrm>
            <a:off x="301676" y="9458756"/>
            <a:ext cx="6246495" cy="0"/>
          </a:xfrm>
          <a:custGeom>
            <a:avLst/>
            <a:gdLst/>
            <a:ahLst/>
            <a:cxnLst/>
            <a:rect l="l" t="t" r="r" b="b"/>
            <a:pathLst>
              <a:path w="6246495">
                <a:moveTo>
                  <a:pt x="0" y="0"/>
                </a:moveTo>
                <a:lnTo>
                  <a:pt x="6245999" y="0"/>
                </a:lnTo>
              </a:path>
            </a:pathLst>
          </a:custGeom>
          <a:ln w="25920">
            <a:solidFill>
              <a:srgbClr val="BFBFBF"/>
            </a:solidFill>
          </a:ln>
        </p:spPr>
        <p:txBody>
          <a:bodyPr wrap="square" lIns="0" tIns="0" rIns="0" bIns="0" rtlCol="0"/>
          <a:lstStyle/>
          <a:p>
            <a:endParaRPr/>
          </a:p>
        </p:txBody>
      </p:sp>
      <p:sp>
        <p:nvSpPr>
          <p:cNvPr id="21" name="슬라이드 번호 개체 틀 3">
            <a:hlinkClick r:id="rId3"/>
            <a:extLst>
              <a:ext uri="{FF2B5EF4-FFF2-40B4-BE49-F238E27FC236}">
                <a16:creationId xmlns:a16="http://schemas.microsoft.com/office/drawing/2014/main" id="{FB7FBE7F-A3B7-B634-6838-AD9B2913E539}"/>
              </a:ext>
            </a:extLst>
          </p:cNvPr>
          <p:cNvSpPr txBox="1">
            <a:spLocks/>
          </p:cNvSpPr>
          <p:nvPr/>
        </p:nvSpPr>
        <p:spPr>
          <a:xfrm>
            <a:off x="5151602" y="9452864"/>
            <a:ext cx="1487550"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dirty="0">
                <a:solidFill>
                  <a:prstClr val="black"/>
                </a:solidFill>
                <a:latin typeface="Arial" panose="020B0604020202020204" pitchFamily="34" charset="0"/>
                <a:cs typeface="Arial" panose="020B0604020202020204" pitchFamily="34" charset="0"/>
              </a:rPr>
              <a:t>http://www.glbltech.com/</a:t>
            </a:r>
            <a:endParaRPr lang="ko-KR" altLang="en-US" dirty="0">
              <a:solidFill>
                <a:prstClr val="black"/>
              </a:solidFill>
              <a:latin typeface="Arial" panose="020B0604020202020204" pitchFamily="34" charset="0"/>
              <a:cs typeface="Arial" panose="020B0604020202020204" pitchFamily="34" charset="0"/>
            </a:endParaRPr>
          </a:p>
        </p:txBody>
      </p:sp>
      <p:sp>
        <p:nvSpPr>
          <p:cNvPr id="22" name="object 38">
            <a:extLst>
              <a:ext uri="{FF2B5EF4-FFF2-40B4-BE49-F238E27FC236}">
                <a16:creationId xmlns:a16="http://schemas.microsoft.com/office/drawing/2014/main" id="{5C86712D-282E-FCD2-51BE-65B4EA6DAB6D}"/>
              </a:ext>
            </a:extLst>
          </p:cNvPr>
          <p:cNvSpPr txBox="1">
            <a:spLocks/>
          </p:cNvSpPr>
          <p:nvPr/>
        </p:nvSpPr>
        <p:spPr>
          <a:xfrm>
            <a:off x="3309066" y="9547988"/>
            <a:ext cx="487045" cy="139141"/>
          </a:xfrm>
          <a:prstGeom prst="rect">
            <a:avLst/>
          </a:prstGeom>
        </p:spPr>
        <p:txBody>
          <a:bodyPr vert="horz" wrap="square" lIns="0" tIns="635" rIns="0" bIns="0" rtlCol="0">
            <a:spAutoFit/>
          </a:bodyPr>
          <a:lstStyle>
            <a:defPPr>
              <a:defRPr lang="ko-KR"/>
            </a:defPPr>
            <a:lvl1pPr marL="0" algn="l" defTabSz="914400" rtl="0" eaLnBrk="1" latinLnBrk="1" hangingPunct="1">
              <a:defRPr sz="1050" b="0" i="0" kern="1200">
                <a:solidFill>
                  <a:schemeClr val="tx1"/>
                </a:solidFill>
                <a:latin typeface="Arial"/>
                <a:ea typeface="+mn-ea"/>
                <a:cs typeface="Arial"/>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marL="12700">
              <a:spcBef>
                <a:spcPts val="5"/>
              </a:spcBef>
              <a:defRPr/>
            </a:pPr>
            <a:r>
              <a:rPr lang="en-US" sz="900" dirty="0">
                <a:solidFill>
                  <a:prstClr val="black"/>
                </a:solidFill>
              </a:rPr>
              <a:t>Page</a:t>
            </a:r>
            <a:r>
              <a:rPr lang="en-US" sz="900" spc="-60" dirty="0">
                <a:solidFill>
                  <a:prstClr val="black"/>
                </a:solidFill>
              </a:rPr>
              <a:t> </a:t>
            </a:r>
            <a:fld id="{81D60167-4931-47E6-BA6A-407CBD079E47}" type="slidenum">
              <a:rPr sz="900">
                <a:solidFill>
                  <a:prstClr val="black"/>
                </a:solidFill>
              </a:rPr>
              <a:pPr marL="12700">
                <a:spcBef>
                  <a:spcPts val="5"/>
                </a:spcBef>
                <a:defRPr/>
              </a:pPr>
              <a:t>47</a:t>
            </a:fld>
            <a:endParaRPr sz="900" dirty="0">
              <a:solidFill>
                <a:prstClr val="black"/>
              </a:solidFill>
            </a:endParaRPr>
          </a:p>
        </p:txBody>
      </p:sp>
      <p:sp>
        <p:nvSpPr>
          <p:cNvPr id="23" name="슬라이드 번호 개체 틀 3">
            <a:extLst>
              <a:ext uri="{FF2B5EF4-FFF2-40B4-BE49-F238E27FC236}">
                <a16:creationId xmlns:a16="http://schemas.microsoft.com/office/drawing/2014/main" id="{3FF20C24-33DE-EAD8-76B8-53AC24C5DB73}"/>
              </a:ext>
            </a:extLst>
          </p:cNvPr>
          <p:cNvSpPr txBox="1">
            <a:spLocks/>
          </p:cNvSpPr>
          <p:nvPr/>
        </p:nvSpPr>
        <p:spPr>
          <a:xfrm>
            <a:off x="299401" y="9520856"/>
            <a:ext cx="2060991" cy="175259"/>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lang="en-US" altLang="ko-KR" dirty="0">
                <a:solidFill>
                  <a:prstClr val="black"/>
                </a:solidFill>
                <a:latin typeface="Arial" panose="020B0604020202020204" pitchFamily="34" charset="0"/>
                <a:cs typeface="Arial" panose="020B0604020202020204" pitchFamily="34" charset="0"/>
              </a:rPr>
              <a:t>Dated 30-Nov 23  Rev. 01</a:t>
            </a:r>
            <a:endParaRPr lang="ko-KR" altLang="en-US" dirty="0">
              <a:solidFill>
                <a:prstClr val="black"/>
              </a:solidFill>
              <a:latin typeface="Arial" panose="020B0604020202020204" pitchFamily="34" charset="0"/>
              <a:cs typeface="Arial" panose="020B0604020202020204" pitchFamily="34" charset="0"/>
            </a:endParaRPr>
          </a:p>
        </p:txBody>
      </p:sp>
      <p:sp>
        <p:nvSpPr>
          <p:cNvPr id="24" name="Holder 3">
            <a:extLst>
              <a:ext uri="{FF2B5EF4-FFF2-40B4-BE49-F238E27FC236}">
                <a16:creationId xmlns:a16="http://schemas.microsoft.com/office/drawing/2014/main" id="{7B6571CA-6FDD-E807-F8C8-BF8AC2F9ED0B}"/>
              </a:ext>
            </a:extLst>
          </p:cNvPr>
          <p:cNvSpPr txBox="1">
            <a:spLocks/>
          </p:cNvSpPr>
          <p:nvPr/>
        </p:nvSpPr>
        <p:spPr>
          <a:xfrm>
            <a:off x="5147476" y="203944"/>
            <a:ext cx="1447800" cy="276999"/>
          </a:xfrm>
          <a:prstGeom prst="rect">
            <a:avLst/>
          </a:prstGeom>
        </p:spPr>
        <p:txBody>
          <a:bodyPr wrap="square" lIns="0" tIns="0" rIns="0" bIns="0">
            <a:spAutoFit/>
          </a:bodyPr>
          <a:lstStyle>
            <a:lvl1pPr marL="0">
              <a:defRPr>
                <a:solidFill>
                  <a:srgbClr val="FF99FF"/>
                </a:solidFill>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defTabSz="914400" latinLnBrk="0"/>
            <a:r>
              <a:rPr lang="en-US" sz="1800" kern="0" dirty="0"/>
              <a:t>&lt;Preliminary&gt;</a:t>
            </a:r>
          </a:p>
        </p:txBody>
      </p:sp>
      <p:graphicFrame>
        <p:nvGraphicFramePr>
          <p:cNvPr id="2" name="object 2">
            <a:extLst>
              <a:ext uri="{FF2B5EF4-FFF2-40B4-BE49-F238E27FC236}">
                <a16:creationId xmlns:a16="http://schemas.microsoft.com/office/drawing/2014/main" id="{9548D37E-7E41-2977-E4C1-2506D6198B94}"/>
              </a:ext>
            </a:extLst>
          </p:cNvPr>
          <p:cNvGraphicFramePr>
            <a:graphicFrameLocks noGrp="1"/>
          </p:cNvGraphicFramePr>
          <p:nvPr>
            <p:extLst>
              <p:ext uri="{D42A27DB-BD31-4B8C-83A1-F6EECF244321}">
                <p14:modId xmlns:p14="http://schemas.microsoft.com/office/powerpoint/2010/main" val="940632262"/>
              </p:ext>
            </p:extLst>
          </p:nvPr>
        </p:nvGraphicFramePr>
        <p:xfrm>
          <a:off x="4602302" y="1636103"/>
          <a:ext cx="1966087" cy="3659433"/>
        </p:xfrm>
        <a:graphic>
          <a:graphicData uri="http://schemas.openxmlformats.org/drawingml/2006/table">
            <a:tbl>
              <a:tblPr firstRow="1" bandRow="1">
                <a:tableStyleId>{2D5ABB26-0587-4C30-8999-92F81FD0307C}</a:tableStyleId>
              </a:tblPr>
              <a:tblGrid>
                <a:gridCol w="433491">
                  <a:extLst>
                    <a:ext uri="{9D8B030D-6E8A-4147-A177-3AD203B41FA5}">
                      <a16:colId xmlns:a16="http://schemas.microsoft.com/office/drawing/2014/main" val="20000"/>
                    </a:ext>
                  </a:extLst>
                </a:gridCol>
                <a:gridCol w="681921">
                  <a:extLst>
                    <a:ext uri="{9D8B030D-6E8A-4147-A177-3AD203B41FA5}">
                      <a16:colId xmlns:a16="http://schemas.microsoft.com/office/drawing/2014/main" val="20001"/>
                    </a:ext>
                  </a:extLst>
                </a:gridCol>
                <a:gridCol w="850675">
                  <a:extLst>
                    <a:ext uri="{9D8B030D-6E8A-4147-A177-3AD203B41FA5}">
                      <a16:colId xmlns:a16="http://schemas.microsoft.com/office/drawing/2014/main" val="20002"/>
                    </a:ext>
                  </a:extLst>
                </a:gridCol>
              </a:tblGrid>
              <a:tr h="182741">
                <a:tc>
                  <a:txBody>
                    <a:bodyPr/>
                    <a:lstStyle/>
                    <a:p>
                      <a:pPr marL="63500">
                        <a:lnSpc>
                          <a:spcPct val="100000"/>
                        </a:lnSpc>
                        <a:spcBef>
                          <a:spcPts val="185"/>
                        </a:spcBef>
                      </a:pPr>
                      <a:r>
                        <a:rPr sz="1000" spc="-10" dirty="0">
                          <a:latin typeface="Calibri"/>
                          <a:cs typeface="Calibri"/>
                        </a:rPr>
                        <a:t>Dim</a:t>
                      </a:r>
                      <a:endParaRPr sz="1000" dirty="0">
                        <a:latin typeface="Calibri"/>
                        <a:cs typeface="Calibri"/>
                      </a:endParaRPr>
                    </a:p>
                  </a:txBody>
                  <a:tcPr marL="0" marR="0" marT="2349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00">
                        <a:lnSpc>
                          <a:spcPct val="100000"/>
                        </a:lnSpc>
                        <a:spcBef>
                          <a:spcPts val="185"/>
                        </a:spcBef>
                      </a:pPr>
                      <a:r>
                        <a:rPr sz="1000" spc="-5" dirty="0">
                          <a:latin typeface="Calibri"/>
                          <a:cs typeface="Calibri"/>
                        </a:rPr>
                        <a:t>Value(mm)</a:t>
                      </a:r>
                      <a:endParaRPr sz="1000" dirty="0">
                        <a:latin typeface="Calibri"/>
                        <a:cs typeface="Calibri"/>
                      </a:endParaRPr>
                    </a:p>
                  </a:txBody>
                  <a:tcPr marL="0" marR="0" marT="2349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4135">
                        <a:lnSpc>
                          <a:spcPct val="100000"/>
                        </a:lnSpc>
                        <a:spcBef>
                          <a:spcPts val="185"/>
                        </a:spcBef>
                      </a:pPr>
                      <a:r>
                        <a:rPr sz="1000" spc="-5" dirty="0">
                          <a:latin typeface="Calibri"/>
                          <a:cs typeface="Calibri"/>
                        </a:rPr>
                        <a:t>Margin(Typ+)</a:t>
                      </a:r>
                      <a:endParaRPr sz="1000" dirty="0">
                        <a:latin typeface="Calibri"/>
                        <a:cs typeface="Calibri"/>
                      </a:endParaRPr>
                    </a:p>
                  </a:txBody>
                  <a:tcPr marL="0" marR="0" marT="2349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r h="182741">
                <a:tc>
                  <a:txBody>
                    <a:bodyPr/>
                    <a:lstStyle/>
                    <a:p>
                      <a:pPr marL="63500">
                        <a:lnSpc>
                          <a:spcPct val="100000"/>
                        </a:lnSpc>
                        <a:spcBef>
                          <a:spcPts val="185"/>
                        </a:spcBef>
                      </a:pPr>
                      <a:r>
                        <a:rPr sz="1000" dirty="0">
                          <a:latin typeface="Calibri"/>
                          <a:cs typeface="Calibri"/>
                        </a:rPr>
                        <a:t>X</a:t>
                      </a:r>
                    </a:p>
                  </a:txBody>
                  <a:tcPr marL="0" marR="0" marT="2349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00">
                        <a:lnSpc>
                          <a:spcPct val="100000"/>
                        </a:lnSpc>
                        <a:spcBef>
                          <a:spcPts val="185"/>
                        </a:spcBef>
                      </a:pPr>
                      <a:r>
                        <a:rPr sz="1000" spc="-5" dirty="0">
                          <a:latin typeface="Calibri"/>
                          <a:cs typeface="Calibri"/>
                        </a:rPr>
                        <a:t>0.6</a:t>
                      </a:r>
                      <a:endParaRPr sz="1000" dirty="0">
                        <a:latin typeface="Calibri"/>
                        <a:cs typeface="Calibri"/>
                      </a:endParaRPr>
                    </a:p>
                  </a:txBody>
                  <a:tcPr marL="0" marR="0" marT="2349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4135">
                        <a:lnSpc>
                          <a:spcPct val="100000"/>
                        </a:lnSpc>
                        <a:spcBef>
                          <a:spcPts val="185"/>
                        </a:spcBef>
                      </a:pPr>
                      <a:r>
                        <a:rPr sz="1000" spc="-5" dirty="0">
                          <a:latin typeface="Calibri"/>
                          <a:cs typeface="Calibri"/>
                        </a:rPr>
                        <a:t>+0.2</a:t>
                      </a:r>
                      <a:endParaRPr sz="1000" dirty="0">
                        <a:latin typeface="Calibri"/>
                        <a:cs typeface="Calibri"/>
                      </a:endParaRPr>
                    </a:p>
                  </a:txBody>
                  <a:tcPr marL="0" marR="0" marT="2349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182741">
                <a:tc>
                  <a:txBody>
                    <a:bodyPr/>
                    <a:lstStyle/>
                    <a:p>
                      <a:pPr marL="63500">
                        <a:lnSpc>
                          <a:spcPct val="100000"/>
                        </a:lnSpc>
                        <a:spcBef>
                          <a:spcPts val="185"/>
                        </a:spcBef>
                      </a:pPr>
                      <a:r>
                        <a:rPr sz="1000" dirty="0">
                          <a:latin typeface="Calibri"/>
                          <a:cs typeface="Calibri"/>
                        </a:rPr>
                        <a:t>Y</a:t>
                      </a:r>
                    </a:p>
                  </a:txBody>
                  <a:tcPr marL="0" marR="0" marT="2349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00">
                        <a:lnSpc>
                          <a:spcPct val="100000"/>
                        </a:lnSpc>
                        <a:spcBef>
                          <a:spcPts val="185"/>
                        </a:spcBef>
                      </a:pPr>
                      <a:r>
                        <a:rPr sz="1000" spc="-5" dirty="0">
                          <a:latin typeface="Calibri"/>
                          <a:cs typeface="Calibri"/>
                        </a:rPr>
                        <a:t>0.2</a:t>
                      </a:r>
                      <a:endParaRPr sz="1000" dirty="0">
                        <a:latin typeface="Calibri"/>
                        <a:cs typeface="Calibri"/>
                      </a:endParaRPr>
                    </a:p>
                  </a:txBody>
                  <a:tcPr marL="0" marR="0" marT="2349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4135">
                        <a:lnSpc>
                          <a:spcPct val="100000"/>
                        </a:lnSpc>
                        <a:spcBef>
                          <a:spcPts val="185"/>
                        </a:spcBef>
                      </a:pPr>
                      <a:r>
                        <a:rPr sz="1000" dirty="0">
                          <a:latin typeface="Calibri"/>
                          <a:cs typeface="Calibri"/>
                        </a:rPr>
                        <a:t>0</a:t>
                      </a:r>
                    </a:p>
                  </a:txBody>
                  <a:tcPr marL="0" marR="0" marT="2349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r h="182741">
                <a:tc>
                  <a:txBody>
                    <a:bodyPr/>
                    <a:lstStyle/>
                    <a:p>
                      <a:pPr marL="63500">
                        <a:lnSpc>
                          <a:spcPct val="100000"/>
                        </a:lnSpc>
                        <a:spcBef>
                          <a:spcPts val="185"/>
                        </a:spcBef>
                      </a:pPr>
                      <a:r>
                        <a:rPr sz="1000" dirty="0">
                          <a:latin typeface="Calibri"/>
                          <a:cs typeface="Calibri"/>
                        </a:rPr>
                        <a:t>C</a:t>
                      </a:r>
                    </a:p>
                  </a:txBody>
                  <a:tcPr marL="0" marR="0" marT="2349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00">
                        <a:lnSpc>
                          <a:spcPct val="100000"/>
                        </a:lnSpc>
                        <a:spcBef>
                          <a:spcPts val="185"/>
                        </a:spcBef>
                      </a:pPr>
                      <a:r>
                        <a:rPr sz="1000" spc="-5" dirty="0">
                          <a:latin typeface="Calibri"/>
                          <a:cs typeface="Calibri"/>
                        </a:rPr>
                        <a:t>0.4</a:t>
                      </a:r>
                      <a:endParaRPr sz="1000" dirty="0">
                        <a:latin typeface="Calibri"/>
                        <a:cs typeface="Calibri"/>
                      </a:endParaRPr>
                    </a:p>
                  </a:txBody>
                  <a:tcPr marL="0" marR="0" marT="2349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4135">
                        <a:lnSpc>
                          <a:spcPct val="100000"/>
                        </a:lnSpc>
                        <a:spcBef>
                          <a:spcPts val="185"/>
                        </a:spcBef>
                      </a:pPr>
                      <a:r>
                        <a:rPr sz="1000" dirty="0">
                          <a:latin typeface="Calibri"/>
                          <a:cs typeface="Calibri"/>
                        </a:rPr>
                        <a:t>0</a:t>
                      </a:r>
                    </a:p>
                  </a:txBody>
                  <a:tcPr marL="0" marR="0" marT="2349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3"/>
                  </a:ext>
                </a:extLst>
              </a:tr>
              <a:tr h="182741">
                <a:tc>
                  <a:txBody>
                    <a:bodyPr/>
                    <a:lstStyle/>
                    <a:p>
                      <a:pPr marL="63500">
                        <a:lnSpc>
                          <a:spcPct val="100000"/>
                        </a:lnSpc>
                        <a:spcBef>
                          <a:spcPts val="185"/>
                        </a:spcBef>
                      </a:pPr>
                      <a:r>
                        <a:rPr sz="1000" spc="-10" dirty="0">
                          <a:latin typeface="Calibri"/>
                          <a:cs typeface="Calibri"/>
                        </a:rPr>
                        <a:t>X1</a:t>
                      </a:r>
                      <a:endParaRPr sz="1000" dirty="0">
                        <a:latin typeface="Calibri"/>
                        <a:cs typeface="Calibri"/>
                      </a:endParaRPr>
                    </a:p>
                  </a:txBody>
                  <a:tcPr marL="0" marR="0" marT="2349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00">
                        <a:lnSpc>
                          <a:spcPct val="100000"/>
                        </a:lnSpc>
                        <a:spcBef>
                          <a:spcPts val="185"/>
                        </a:spcBef>
                      </a:pPr>
                      <a:r>
                        <a:rPr sz="1000" spc="-5" dirty="0">
                          <a:latin typeface="Calibri"/>
                          <a:cs typeface="Calibri"/>
                        </a:rPr>
                        <a:t>0.5</a:t>
                      </a:r>
                      <a:endParaRPr sz="1000" dirty="0">
                        <a:latin typeface="Calibri"/>
                        <a:cs typeface="Calibri"/>
                      </a:endParaRPr>
                    </a:p>
                  </a:txBody>
                  <a:tcPr marL="0" marR="0" marT="2349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4135">
                        <a:lnSpc>
                          <a:spcPct val="100000"/>
                        </a:lnSpc>
                        <a:spcBef>
                          <a:spcPts val="185"/>
                        </a:spcBef>
                      </a:pPr>
                      <a:r>
                        <a:rPr sz="1000" spc="-5" dirty="0">
                          <a:latin typeface="Calibri"/>
                          <a:cs typeface="Calibri"/>
                        </a:rPr>
                        <a:t>+0.1</a:t>
                      </a:r>
                      <a:endParaRPr sz="1000" dirty="0">
                        <a:latin typeface="Calibri"/>
                        <a:cs typeface="Calibri"/>
                      </a:endParaRPr>
                    </a:p>
                  </a:txBody>
                  <a:tcPr marL="0" marR="0" marT="2349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4"/>
                  </a:ext>
                </a:extLst>
              </a:tr>
              <a:tr h="182741">
                <a:tc>
                  <a:txBody>
                    <a:bodyPr/>
                    <a:lstStyle/>
                    <a:p>
                      <a:pPr marL="63500">
                        <a:lnSpc>
                          <a:spcPct val="100000"/>
                        </a:lnSpc>
                        <a:spcBef>
                          <a:spcPts val="185"/>
                        </a:spcBef>
                      </a:pPr>
                      <a:r>
                        <a:rPr sz="1000" spc="-15" dirty="0">
                          <a:latin typeface="Calibri"/>
                          <a:cs typeface="Calibri"/>
                        </a:rPr>
                        <a:t>Y1</a:t>
                      </a:r>
                      <a:endParaRPr sz="1000" dirty="0">
                        <a:latin typeface="Calibri"/>
                        <a:cs typeface="Calibri"/>
                      </a:endParaRPr>
                    </a:p>
                  </a:txBody>
                  <a:tcPr marL="0" marR="0" marT="2349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00">
                        <a:lnSpc>
                          <a:spcPct val="100000"/>
                        </a:lnSpc>
                        <a:spcBef>
                          <a:spcPts val="185"/>
                        </a:spcBef>
                      </a:pPr>
                      <a:r>
                        <a:rPr sz="1000" spc="-5" dirty="0">
                          <a:latin typeface="Calibri"/>
                          <a:cs typeface="Calibri"/>
                        </a:rPr>
                        <a:t>0.5</a:t>
                      </a:r>
                      <a:endParaRPr sz="1000" dirty="0">
                        <a:latin typeface="Calibri"/>
                        <a:cs typeface="Calibri"/>
                      </a:endParaRPr>
                    </a:p>
                  </a:txBody>
                  <a:tcPr marL="0" marR="0" marT="2349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4135">
                        <a:lnSpc>
                          <a:spcPct val="100000"/>
                        </a:lnSpc>
                        <a:spcBef>
                          <a:spcPts val="185"/>
                        </a:spcBef>
                      </a:pPr>
                      <a:r>
                        <a:rPr sz="1000" spc="-5" dirty="0">
                          <a:latin typeface="Calibri"/>
                          <a:cs typeface="Calibri"/>
                        </a:rPr>
                        <a:t>+0.1</a:t>
                      </a:r>
                      <a:endParaRPr sz="1000" dirty="0">
                        <a:latin typeface="Calibri"/>
                        <a:cs typeface="Calibri"/>
                      </a:endParaRPr>
                    </a:p>
                  </a:txBody>
                  <a:tcPr marL="0" marR="0" marT="2349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5"/>
                  </a:ext>
                </a:extLst>
              </a:tr>
              <a:tr h="182741">
                <a:tc>
                  <a:txBody>
                    <a:bodyPr/>
                    <a:lstStyle/>
                    <a:p>
                      <a:pPr marL="63500">
                        <a:lnSpc>
                          <a:spcPct val="100000"/>
                        </a:lnSpc>
                        <a:spcBef>
                          <a:spcPts val="185"/>
                        </a:spcBef>
                      </a:pPr>
                      <a:r>
                        <a:rPr sz="1000" spc="-10" dirty="0">
                          <a:latin typeface="Calibri"/>
                          <a:cs typeface="Calibri"/>
                        </a:rPr>
                        <a:t>X2</a:t>
                      </a:r>
                      <a:endParaRPr sz="1000" dirty="0">
                        <a:latin typeface="Calibri"/>
                        <a:cs typeface="Calibri"/>
                      </a:endParaRPr>
                    </a:p>
                  </a:txBody>
                  <a:tcPr marL="0" marR="0" marT="2349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00">
                        <a:lnSpc>
                          <a:spcPct val="100000"/>
                        </a:lnSpc>
                        <a:spcBef>
                          <a:spcPts val="185"/>
                        </a:spcBef>
                      </a:pPr>
                      <a:r>
                        <a:rPr sz="1000" spc="-5" dirty="0">
                          <a:latin typeface="Calibri"/>
                          <a:cs typeface="Calibri"/>
                        </a:rPr>
                        <a:t>6.4</a:t>
                      </a:r>
                      <a:endParaRPr sz="1000" dirty="0">
                        <a:latin typeface="Calibri"/>
                        <a:cs typeface="Calibri"/>
                      </a:endParaRPr>
                    </a:p>
                  </a:txBody>
                  <a:tcPr marL="0" marR="0" marT="2349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4135">
                        <a:lnSpc>
                          <a:spcPct val="100000"/>
                        </a:lnSpc>
                        <a:spcBef>
                          <a:spcPts val="185"/>
                        </a:spcBef>
                      </a:pPr>
                      <a:r>
                        <a:rPr sz="1000" spc="-5" dirty="0">
                          <a:latin typeface="Calibri"/>
                          <a:cs typeface="Calibri"/>
                        </a:rPr>
                        <a:t>+0.2</a:t>
                      </a:r>
                      <a:endParaRPr sz="1000" dirty="0">
                        <a:latin typeface="Calibri"/>
                        <a:cs typeface="Calibri"/>
                      </a:endParaRPr>
                    </a:p>
                  </a:txBody>
                  <a:tcPr marL="0" marR="0" marT="2349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6"/>
                  </a:ext>
                </a:extLst>
              </a:tr>
              <a:tr h="182741">
                <a:tc>
                  <a:txBody>
                    <a:bodyPr/>
                    <a:lstStyle/>
                    <a:p>
                      <a:pPr marL="63500">
                        <a:lnSpc>
                          <a:spcPct val="100000"/>
                        </a:lnSpc>
                        <a:spcBef>
                          <a:spcPts val="185"/>
                        </a:spcBef>
                      </a:pPr>
                      <a:r>
                        <a:rPr sz="1000" spc="-15" dirty="0">
                          <a:latin typeface="Calibri"/>
                          <a:cs typeface="Calibri"/>
                        </a:rPr>
                        <a:t>Y2</a:t>
                      </a:r>
                      <a:endParaRPr sz="1000" dirty="0">
                        <a:latin typeface="Calibri"/>
                        <a:cs typeface="Calibri"/>
                      </a:endParaRPr>
                    </a:p>
                  </a:txBody>
                  <a:tcPr marL="0" marR="0" marT="2349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00">
                        <a:lnSpc>
                          <a:spcPct val="100000"/>
                        </a:lnSpc>
                        <a:spcBef>
                          <a:spcPts val="185"/>
                        </a:spcBef>
                      </a:pPr>
                      <a:r>
                        <a:rPr sz="1000" spc="-5" dirty="0">
                          <a:latin typeface="Calibri"/>
                          <a:cs typeface="Calibri"/>
                        </a:rPr>
                        <a:t>6.4</a:t>
                      </a:r>
                      <a:endParaRPr sz="1000" dirty="0">
                        <a:latin typeface="Calibri"/>
                        <a:cs typeface="Calibri"/>
                      </a:endParaRPr>
                    </a:p>
                  </a:txBody>
                  <a:tcPr marL="0" marR="0" marT="2349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4135">
                        <a:lnSpc>
                          <a:spcPct val="100000"/>
                        </a:lnSpc>
                        <a:spcBef>
                          <a:spcPts val="185"/>
                        </a:spcBef>
                      </a:pPr>
                      <a:r>
                        <a:rPr sz="1000" spc="-5" dirty="0">
                          <a:latin typeface="Calibri"/>
                          <a:cs typeface="Calibri"/>
                        </a:rPr>
                        <a:t>+0.2</a:t>
                      </a:r>
                      <a:endParaRPr sz="1000" dirty="0">
                        <a:latin typeface="Calibri"/>
                        <a:cs typeface="Calibri"/>
                      </a:endParaRPr>
                    </a:p>
                  </a:txBody>
                  <a:tcPr marL="0" marR="0" marT="2349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7"/>
                  </a:ext>
                </a:extLst>
              </a:tr>
              <a:tr h="182741">
                <a:tc>
                  <a:txBody>
                    <a:bodyPr/>
                    <a:lstStyle/>
                    <a:p>
                      <a:pPr marL="63500">
                        <a:lnSpc>
                          <a:spcPct val="100000"/>
                        </a:lnSpc>
                        <a:spcBef>
                          <a:spcPts val="185"/>
                        </a:spcBef>
                      </a:pPr>
                      <a:r>
                        <a:rPr sz="1000" spc="-10" dirty="0">
                          <a:latin typeface="Calibri"/>
                          <a:cs typeface="Calibri"/>
                        </a:rPr>
                        <a:t>X3</a:t>
                      </a:r>
                      <a:endParaRPr sz="1000" dirty="0">
                        <a:latin typeface="Calibri"/>
                        <a:cs typeface="Calibri"/>
                      </a:endParaRPr>
                    </a:p>
                  </a:txBody>
                  <a:tcPr marL="0" marR="0" marT="2349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00">
                        <a:lnSpc>
                          <a:spcPct val="100000"/>
                        </a:lnSpc>
                        <a:spcBef>
                          <a:spcPts val="185"/>
                        </a:spcBef>
                      </a:pPr>
                      <a:r>
                        <a:rPr sz="1000" spc="-5" dirty="0">
                          <a:latin typeface="Calibri"/>
                          <a:cs typeface="Calibri"/>
                        </a:rPr>
                        <a:t>6.0</a:t>
                      </a:r>
                      <a:endParaRPr sz="1000" dirty="0">
                        <a:latin typeface="Calibri"/>
                        <a:cs typeface="Calibri"/>
                      </a:endParaRPr>
                    </a:p>
                  </a:txBody>
                  <a:tcPr marL="0" marR="0" marT="2349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4135">
                        <a:lnSpc>
                          <a:spcPct val="100000"/>
                        </a:lnSpc>
                        <a:spcBef>
                          <a:spcPts val="185"/>
                        </a:spcBef>
                      </a:pPr>
                      <a:r>
                        <a:rPr sz="1000" spc="-5" dirty="0">
                          <a:latin typeface="Calibri"/>
                          <a:cs typeface="Calibri"/>
                        </a:rPr>
                        <a:t>+0.2</a:t>
                      </a:r>
                      <a:endParaRPr sz="1000" dirty="0">
                        <a:latin typeface="Calibri"/>
                        <a:cs typeface="Calibri"/>
                      </a:endParaRPr>
                    </a:p>
                  </a:txBody>
                  <a:tcPr marL="0" marR="0" marT="2349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8"/>
                  </a:ext>
                </a:extLst>
              </a:tr>
              <a:tr h="182741">
                <a:tc>
                  <a:txBody>
                    <a:bodyPr/>
                    <a:lstStyle/>
                    <a:p>
                      <a:pPr marL="63500">
                        <a:lnSpc>
                          <a:spcPct val="100000"/>
                        </a:lnSpc>
                        <a:spcBef>
                          <a:spcPts val="185"/>
                        </a:spcBef>
                      </a:pPr>
                      <a:r>
                        <a:rPr sz="1000" spc="-15" dirty="0">
                          <a:latin typeface="Calibri"/>
                          <a:cs typeface="Calibri"/>
                        </a:rPr>
                        <a:t>Y3</a:t>
                      </a:r>
                      <a:endParaRPr sz="1000" dirty="0">
                        <a:latin typeface="Calibri"/>
                        <a:cs typeface="Calibri"/>
                      </a:endParaRPr>
                    </a:p>
                  </a:txBody>
                  <a:tcPr marL="0" marR="0" marT="2349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00">
                        <a:lnSpc>
                          <a:spcPct val="100000"/>
                        </a:lnSpc>
                        <a:spcBef>
                          <a:spcPts val="185"/>
                        </a:spcBef>
                      </a:pPr>
                      <a:r>
                        <a:rPr sz="1000" spc="-5" dirty="0">
                          <a:latin typeface="Calibri"/>
                          <a:cs typeface="Calibri"/>
                        </a:rPr>
                        <a:t>6.0</a:t>
                      </a:r>
                      <a:endParaRPr sz="1000" dirty="0">
                        <a:latin typeface="Calibri"/>
                        <a:cs typeface="Calibri"/>
                      </a:endParaRPr>
                    </a:p>
                  </a:txBody>
                  <a:tcPr marL="0" marR="0" marT="2349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4135">
                        <a:lnSpc>
                          <a:spcPct val="100000"/>
                        </a:lnSpc>
                        <a:spcBef>
                          <a:spcPts val="185"/>
                        </a:spcBef>
                      </a:pPr>
                      <a:r>
                        <a:rPr sz="1000" spc="-5" dirty="0">
                          <a:latin typeface="Calibri"/>
                          <a:cs typeface="Calibri"/>
                        </a:rPr>
                        <a:t>+0.2</a:t>
                      </a:r>
                      <a:endParaRPr sz="1000" dirty="0">
                        <a:latin typeface="Calibri"/>
                        <a:cs typeface="Calibri"/>
                      </a:endParaRPr>
                    </a:p>
                  </a:txBody>
                  <a:tcPr marL="0" marR="0" marT="2349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9"/>
                  </a:ext>
                </a:extLst>
              </a:tr>
              <a:tr h="182741">
                <a:tc>
                  <a:txBody>
                    <a:bodyPr/>
                    <a:lstStyle/>
                    <a:p>
                      <a:pPr marL="63500">
                        <a:lnSpc>
                          <a:spcPct val="100000"/>
                        </a:lnSpc>
                        <a:spcBef>
                          <a:spcPts val="185"/>
                        </a:spcBef>
                      </a:pPr>
                      <a:r>
                        <a:rPr sz="1000" spc="-10" dirty="0">
                          <a:latin typeface="Calibri"/>
                          <a:cs typeface="Calibri"/>
                        </a:rPr>
                        <a:t>X4</a:t>
                      </a:r>
                      <a:endParaRPr sz="1000" dirty="0">
                        <a:latin typeface="Calibri"/>
                        <a:cs typeface="Calibri"/>
                      </a:endParaRPr>
                    </a:p>
                  </a:txBody>
                  <a:tcPr marL="0" marR="0" marT="2349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00">
                        <a:lnSpc>
                          <a:spcPct val="100000"/>
                        </a:lnSpc>
                        <a:spcBef>
                          <a:spcPts val="185"/>
                        </a:spcBef>
                      </a:pPr>
                      <a:r>
                        <a:rPr sz="1000" spc="-5" dirty="0">
                          <a:latin typeface="Calibri"/>
                          <a:cs typeface="Calibri"/>
                        </a:rPr>
                        <a:t>8.2</a:t>
                      </a:r>
                      <a:endParaRPr sz="1000" dirty="0">
                        <a:latin typeface="Calibri"/>
                        <a:cs typeface="Calibri"/>
                      </a:endParaRPr>
                    </a:p>
                  </a:txBody>
                  <a:tcPr marL="0" marR="0" marT="2349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4135">
                        <a:lnSpc>
                          <a:spcPct val="100000"/>
                        </a:lnSpc>
                        <a:spcBef>
                          <a:spcPts val="185"/>
                        </a:spcBef>
                      </a:pPr>
                      <a:r>
                        <a:rPr sz="1000" spc="-5" dirty="0">
                          <a:latin typeface="Calibri"/>
                          <a:cs typeface="Calibri"/>
                        </a:rPr>
                        <a:t>+0.2</a:t>
                      </a:r>
                      <a:endParaRPr sz="1000" dirty="0">
                        <a:latin typeface="Calibri"/>
                        <a:cs typeface="Calibri"/>
                      </a:endParaRPr>
                    </a:p>
                  </a:txBody>
                  <a:tcPr marL="0" marR="0" marT="2349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10"/>
                  </a:ext>
                </a:extLst>
              </a:tr>
              <a:tr h="182741">
                <a:tc>
                  <a:txBody>
                    <a:bodyPr/>
                    <a:lstStyle/>
                    <a:p>
                      <a:pPr marL="63500">
                        <a:lnSpc>
                          <a:spcPct val="100000"/>
                        </a:lnSpc>
                        <a:spcBef>
                          <a:spcPts val="185"/>
                        </a:spcBef>
                      </a:pPr>
                      <a:r>
                        <a:rPr sz="1000" spc="-15" dirty="0">
                          <a:latin typeface="Calibri"/>
                          <a:cs typeface="Calibri"/>
                        </a:rPr>
                        <a:t>Y4</a:t>
                      </a:r>
                      <a:endParaRPr sz="1000" dirty="0">
                        <a:latin typeface="Calibri"/>
                        <a:cs typeface="Calibri"/>
                      </a:endParaRPr>
                    </a:p>
                  </a:txBody>
                  <a:tcPr marL="0" marR="0" marT="2349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00">
                        <a:lnSpc>
                          <a:spcPct val="100000"/>
                        </a:lnSpc>
                        <a:spcBef>
                          <a:spcPts val="185"/>
                        </a:spcBef>
                      </a:pPr>
                      <a:r>
                        <a:rPr sz="1000" spc="-5" dirty="0">
                          <a:latin typeface="Calibri"/>
                          <a:cs typeface="Calibri"/>
                        </a:rPr>
                        <a:t>8.2</a:t>
                      </a:r>
                      <a:endParaRPr sz="1000" dirty="0">
                        <a:latin typeface="Calibri"/>
                        <a:cs typeface="Calibri"/>
                      </a:endParaRPr>
                    </a:p>
                  </a:txBody>
                  <a:tcPr marL="0" marR="0" marT="2349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4135">
                        <a:lnSpc>
                          <a:spcPct val="100000"/>
                        </a:lnSpc>
                        <a:spcBef>
                          <a:spcPts val="185"/>
                        </a:spcBef>
                      </a:pPr>
                      <a:r>
                        <a:rPr sz="1000" spc="-5" dirty="0">
                          <a:latin typeface="Calibri"/>
                          <a:cs typeface="Calibri"/>
                        </a:rPr>
                        <a:t>+0.2</a:t>
                      </a:r>
                      <a:endParaRPr sz="1000" dirty="0">
                        <a:latin typeface="Calibri"/>
                        <a:cs typeface="Calibri"/>
                      </a:endParaRPr>
                    </a:p>
                  </a:txBody>
                  <a:tcPr marL="0" marR="0" marT="2349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11"/>
                  </a:ext>
                </a:extLst>
              </a:tr>
              <a:tr h="183400">
                <a:tc>
                  <a:txBody>
                    <a:bodyPr/>
                    <a:lstStyle/>
                    <a:p>
                      <a:pPr marL="63500">
                        <a:lnSpc>
                          <a:spcPct val="100000"/>
                        </a:lnSpc>
                        <a:spcBef>
                          <a:spcPts val="190"/>
                        </a:spcBef>
                      </a:pPr>
                      <a:r>
                        <a:rPr sz="1000" spc="-15" dirty="0">
                          <a:latin typeface="Calibri"/>
                          <a:cs typeface="Calibri"/>
                        </a:rPr>
                        <a:t>Y5</a:t>
                      </a:r>
                      <a:endParaRPr sz="1000" dirty="0">
                        <a:latin typeface="Calibri"/>
                        <a:cs typeface="Calibri"/>
                      </a:endParaRPr>
                    </a:p>
                  </a:txBody>
                  <a:tcPr marL="0" marR="0" marT="2413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00">
                        <a:lnSpc>
                          <a:spcPct val="100000"/>
                        </a:lnSpc>
                        <a:spcBef>
                          <a:spcPts val="190"/>
                        </a:spcBef>
                      </a:pPr>
                      <a:r>
                        <a:rPr sz="1000" spc="-5" dirty="0">
                          <a:latin typeface="Calibri"/>
                          <a:cs typeface="Calibri"/>
                        </a:rPr>
                        <a:t>3.1</a:t>
                      </a:r>
                      <a:endParaRPr sz="1000" dirty="0">
                        <a:latin typeface="Calibri"/>
                        <a:cs typeface="Calibri"/>
                      </a:endParaRPr>
                    </a:p>
                  </a:txBody>
                  <a:tcPr marL="0" marR="0" marT="2413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4135">
                        <a:lnSpc>
                          <a:spcPct val="100000"/>
                        </a:lnSpc>
                        <a:spcBef>
                          <a:spcPts val="190"/>
                        </a:spcBef>
                      </a:pPr>
                      <a:r>
                        <a:rPr sz="1000" spc="-5" dirty="0">
                          <a:latin typeface="Calibri"/>
                          <a:cs typeface="Calibri"/>
                        </a:rPr>
                        <a:t>+0.1</a:t>
                      </a:r>
                      <a:endParaRPr sz="1000" dirty="0">
                        <a:latin typeface="Calibri"/>
                        <a:cs typeface="Calibri"/>
                      </a:endParaRPr>
                    </a:p>
                  </a:txBody>
                  <a:tcPr marL="0" marR="0" marT="2413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12"/>
                  </a:ext>
                </a:extLst>
              </a:tr>
              <a:tr h="183400">
                <a:tc>
                  <a:txBody>
                    <a:bodyPr/>
                    <a:lstStyle/>
                    <a:p>
                      <a:pPr marL="63500">
                        <a:lnSpc>
                          <a:spcPct val="100000"/>
                        </a:lnSpc>
                        <a:spcBef>
                          <a:spcPts val="190"/>
                        </a:spcBef>
                      </a:pPr>
                      <a:r>
                        <a:rPr sz="1000" spc="-15" dirty="0">
                          <a:latin typeface="Calibri"/>
                          <a:cs typeface="Calibri"/>
                        </a:rPr>
                        <a:t>Y5</a:t>
                      </a:r>
                      <a:endParaRPr sz="1000" dirty="0">
                        <a:latin typeface="Calibri"/>
                        <a:cs typeface="Calibri"/>
                      </a:endParaRPr>
                    </a:p>
                  </a:txBody>
                  <a:tcPr marL="0" marR="0" marT="2413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00">
                        <a:lnSpc>
                          <a:spcPct val="100000"/>
                        </a:lnSpc>
                        <a:spcBef>
                          <a:spcPts val="190"/>
                        </a:spcBef>
                      </a:pPr>
                      <a:r>
                        <a:rPr sz="1000" spc="-5" dirty="0">
                          <a:latin typeface="Calibri"/>
                          <a:cs typeface="Calibri"/>
                        </a:rPr>
                        <a:t>3.1</a:t>
                      </a:r>
                      <a:endParaRPr sz="1000" dirty="0">
                        <a:latin typeface="Calibri"/>
                        <a:cs typeface="Calibri"/>
                      </a:endParaRPr>
                    </a:p>
                  </a:txBody>
                  <a:tcPr marL="0" marR="0" marT="2413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4135">
                        <a:lnSpc>
                          <a:spcPct val="100000"/>
                        </a:lnSpc>
                        <a:spcBef>
                          <a:spcPts val="190"/>
                        </a:spcBef>
                      </a:pPr>
                      <a:r>
                        <a:rPr sz="1000" spc="-5" dirty="0">
                          <a:latin typeface="Calibri"/>
                          <a:cs typeface="Calibri"/>
                        </a:rPr>
                        <a:t>+0.1</a:t>
                      </a:r>
                      <a:endParaRPr sz="1000" dirty="0">
                        <a:latin typeface="Calibri"/>
                        <a:cs typeface="Calibri"/>
                      </a:endParaRPr>
                    </a:p>
                  </a:txBody>
                  <a:tcPr marL="0" marR="0" marT="2413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13"/>
                  </a:ext>
                </a:extLst>
              </a:tr>
              <a:tr h="182741">
                <a:tc>
                  <a:txBody>
                    <a:bodyPr/>
                    <a:lstStyle/>
                    <a:p>
                      <a:pPr marL="63500">
                        <a:lnSpc>
                          <a:spcPct val="100000"/>
                        </a:lnSpc>
                        <a:spcBef>
                          <a:spcPts val="185"/>
                        </a:spcBef>
                      </a:pPr>
                      <a:r>
                        <a:rPr sz="1000" dirty="0">
                          <a:latin typeface="Calibri"/>
                          <a:cs typeface="Calibri"/>
                        </a:rPr>
                        <a:t>G</a:t>
                      </a:r>
                    </a:p>
                  </a:txBody>
                  <a:tcPr marL="0" marR="0" marT="2349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00">
                        <a:lnSpc>
                          <a:spcPct val="100000"/>
                        </a:lnSpc>
                        <a:spcBef>
                          <a:spcPts val="185"/>
                        </a:spcBef>
                      </a:pPr>
                      <a:r>
                        <a:rPr sz="1000" spc="-5" dirty="0">
                          <a:latin typeface="Calibri"/>
                          <a:cs typeface="Calibri"/>
                        </a:rPr>
                        <a:t>0.2</a:t>
                      </a:r>
                      <a:endParaRPr sz="1000" dirty="0">
                        <a:latin typeface="Calibri"/>
                        <a:cs typeface="Calibri"/>
                      </a:endParaRPr>
                    </a:p>
                  </a:txBody>
                  <a:tcPr marL="0" marR="0" marT="2349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4135">
                        <a:lnSpc>
                          <a:spcPct val="100000"/>
                        </a:lnSpc>
                        <a:spcBef>
                          <a:spcPts val="185"/>
                        </a:spcBef>
                      </a:pPr>
                      <a:r>
                        <a:rPr sz="1000" dirty="0">
                          <a:latin typeface="Calibri"/>
                          <a:cs typeface="Calibri"/>
                        </a:rPr>
                        <a:t>0</a:t>
                      </a:r>
                    </a:p>
                  </a:txBody>
                  <a:tcPr marL="0" marR="0" marT="2349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14"/>
                  </a:ext>
                </a:extLst>
              </a:tr>
              <a:tr h="183400">
                <a:tc>
                  <a:txBody>
                    <a:bodyPr/>
                    <a:lstStyle/>
                    <a:p>
                      <a:pPr marL="63500">
                        <a:lnSpc>
                          <a:spcPct val="100000"/>
                        </a:lnSpc>
                        <a:spcBef>
                          <a:spcPts val="190"/>
                        </a:spcBef>
                      </a:pPr>
                      <a:r>
                        <a:rPr sz="1000" spc="-10" dirty="0">
                          <a:latin typeface="Calibri"/>
                          <a:cs typeface="Calibri"/>
                        </a:rPr>
                        <a:t>G1</a:t>
                      </a:r>
                      <a:endParaRPr sz="1000" dirty="0">
                        <a:latin typeface="Calibri"/>
                        <a:cs typeface="Calibri"/>
                      </a:endParaRPr>
                    </a:p>
                  </a:txBody>
                  <a:tcPr marL="0" marR="0" marT="2413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00">
                        <a:lnSpc>
                          <a:spcPct val="100000"/>
                        </a:lnSpc>
                        <a:spcBef>
                          <a:spcPts val="190"/>
                        </a:spcBef>
                      </a:pPr>
                      <a:r>
                        <a:rPr sz="1000" spc="-5" dirty="0">
                          <a:latin typeface="Calibri"/>
                          <a:cs typeface="Calibri"/>
                        </a:rPr>
                        <a:t>0.5</a:t>
                      </a:r>
                      <a:endParaRPr sz="1000" dirty="0">
                        <a:latin typeface="Calibri"/>
                        <a:cs typeface="Calibri"/>
                      </a:endParaRPr>
                    </a:p>
                  </a:txBody>
                  <a:tcPr marL="0" marR="0" marT="2413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4135">
                        <a:lnSpc>
                          <a:spcPct val="100000"/>
                        </a:lnSpc>
                        <a:spcBef>
                          <a:spcPts val="190"/>
                        </a:spcBef>
                      </a:pPr>
                      <a:r>
                        <a:rPr sz="1000" dirty="0">
                          <a:latin typeface="Calibri"/>
                          <a:cs typeface="Calibri"/>
                        </a:rPr>
                        <a:t>0</a:t>
                      </a:r>
                    </a:p>
                  </a:txBody>
                  <a:tcPr marL="0" marR="0" marT="2413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15"/>
                  </a:ext>
                </a:extLst>
              </a:tr>
              <a:tr h="183400">
                <a:tc>
                  <a:txBody>
                    <a:bodyPr/>
                    <a:lstStyle/>
                    <a:p>
                      <a:pPr marL="63500">
                        <a:lnSpc>
                          <a:spcPct val="100000"/>
                        </a:lnSpc>
                        <a:spcBef>
                          <a:spcPts val="190"/>
                        </a:spcBef>
                      </a:pPr>
                      <a:r>
                        <a:rPr sz="1000" spc="-10" dirty="0">
                          <a:latin typeface="Calibri"/>
                          <a:cs typeface="Calibri"/>
                        </a:rPr>
                        <a:t>G2</a:t>
                      </a:r>
                      <a:endParaRPr sz="1000" dirty="0">
                        <a:latin typeface="Calibri"/>
                        <a:cs typeface="Calibri"/>
                      </a:endParaRPr>
                    </a:p>
                  </a:txBody>
                  <a:tcPr marL="0" marR="0" marT="2413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00">
                        <a:lnSpc>
                          <a:spcPct val="100000"/>
                        </a:lnSpc>
                        <a:spcBef>
                          <a:spcPts val="190"/>
                        </a:spcBef>
                      </a:pPr>
                      <a:r>
                        <a:rPr sz="1000" spc="-5" dirty="0">
                          <a:latin typeface="Calibri"/>
                          <a:cs typeface="Calibri"/>
                        </a:rPr>
                        <a:t>0.3</a:t>
                      </a:r>
                      <a:endParaRPr sz="1000" dirty="0">
                        <a:latin typeface="Calibri"/>
                        <a:cs typeface="Calibri"/>
                      </a:endParaRPr>
                    </a:p>
                  </a:txBody>
                  <a:tcPr marL="0" marR="0" marT="2413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4135">
                        <a:lnSpc>
                          <a:spcPct val="100000"/>
                        </a:lnSpc>
                        <a:spcBef>
                          <a:spcPts val="190"/>
                        </a:spcBef>
                      </a:pPr>
                      <a:r>
                        <a:rPr sz="1000" dirty="0">
                          <a:latin typeface="Calibri"/>
                          <a:cs typeface="Calibri"/>
                        </a:rPr>
                        <a:t>0</a:t>
                      </a:r>
                    </a:p>
                  </a:txBody>
                  <a:tcPr marL="0" marR="0" marT="2413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16"/>
                  </a:ext>
                </a:extLst>
              </a:tr>
              <a:tr h="183400">
                <a:tc>
                  <a:txBody>
                    <a:bodyPr/>
                    <a:lstStyle/>
                    <a:p>
                      <a:pPr marL="63500">
                        <a:lnSpc>
                          <a:spcPct val="100000"/>
                        </a:lnSpc>
                        <a:spcBef>
                          <a:spcPts val="190"/>
                        </a:spcBef>
                      </a:pPr>
                      <a:r>
                        <a:rPr sz="1000" spc="-10" dirty="0">
                          <a:latin typeface="Calibri"/>
                          <a:cs typeface="Calibri"/>
                        </a:rPr>
                        <a:t>G3</a:t>
                      </a:r>
                      <a:endParaRPr sz="1000" dirty="0">
                        <a:latin typeface="Calibri"/>
                        <a:cs typeface="Calibri"/>
                      </a:endParaRPr>
                    </a:p>
                  </a:txBody>
                  <a:tcPr marL="0" marR="0" marT="2413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00">
                        <a:lnSpc>
                          <a:spcPct val="100000"/>
                        </a:lnSpc>
                        <a:spcBef>
                          <a:spcPts val="190"/>
                        </a:spcBef>
                      </a:pPr>
                      <a:r>
                        <a:rPr sz="1000" spc="-5" dirty="0">
                          <a:latin typeface="Calibri"/>
                          <a:cs typeface="Calibri"/>
                        </a:rPr>
                        <a:t>0.3</a:t>
                      </a:r>
                      <a:endParaRPr sz="1000" dirty="0">
                        <a:latin typeface="Calibri"/>
                        <a:cs typeface="Calibri"/>
                      </a:endParaRPr>
                    </a:p>
                  </a:txBody>
                  <a:tcPr marL="0" marR="0" marT="2413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4135">
                        <a:lnSpc>
                          <a:spcPct val="100000"/>
                        </a:lnSpc>
                        <a:spcBef>
                          <a:spcPts val="190"/>
                        </a:spcBef>
                      </a:pPr>
                      <a:r>
                        <a:rPr sz="1000" dirty="0">
                          <a:latin typeface="Calibri"/>
                          <a:cs typeface="Calibri"/>
                        </a:rPr>
                        <a:t>0</a:t>
                      </a:r>
                    </a:p>
                  </a:txBody>
                  <a:tcPr marL="0" marR="0" marT="2413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17"/>
                  </a:ext>
                </a:extLst>
              </a:tr>
              <a:tr h="183400">
                <a:tc>
                  <a:txBody>
                    <a:bodyPr/>
                    <a:lstStyle/>
                    <a:p>
                      <a:pPr marL="63500">
                        <a:lnSpc>
                          <a:spcPct val="100000"/>
                        </a:lnSpc>
                        <a:spcBef>
                          <a:spcPts val="190"/>
                        </a:spcBef>
                      </a:pPr>
                      <a:r>
                        <a:rPr sz="1000" spc="-15" dirty="0">
                          <a:latin typeface="Calibri"/>
                          <a:cs typeface="Calibri"/>
                        </a:rPr>
                        <a:t>G4</a:t>
                      </a:r>
                      <a:endParaRPr sz="1000" dirty="0">
                        <a:latin typeface="Calibri"/>
                        <a:cs typeface="Calibri"/>
                      </a:endParaRPr>
                    </a:p>
                  </a:txBody>
                  <a:tcPr marL="0" marR="0" marT="2413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00">
                        <a:lnSpc>
                          <a:spcPct val="100000"/>
                        </a:lnSpc>
                        <a:spcBef>
                          <a:spcPts val="190"/>
                        </a:spcBef>
                      </a:pPr>
                      <a:r>
                        <a:rPr sz="1000" spc="-5" dirty="0">
                          <a:latin typeface="Calibri"/>
                          <a:cs typeface="Calibri"/>
                        </a:rPr>
                        <a:t>0.3</a:t>
                      </a:r>
                      <a:endParaRPr sz="1000" dirty="0">
                        <a:latin typeface="Calibri"/>
                        <a:cs typeface="Calibri"/>
                      </a:endParaRPr>
                    </a:p>
                  </a:txBody>
                  <a:tcPr marL="0" marR="0" marT="2413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4135">
                        <a:lnSpc>
                          <a:spcPct val="100000"/>
                        </a:lnSpc>
                        <a:spcBef>
                          <a:spcPts val="190"/>
                        </a:spcBef>
                      </a:pPr>
                      <a:r>
                        <a:rPr sz="1000" dirty="0">
                          <a:latin typeface="Calibri"/>
                          <a:cs typeface="Calibri"/>
                        </a:rPr>
                        <a:t>0</a:t>
                      </a:r>
                    </a:p>
                  </a:txBody>
                  <a:tcPr marL="0" marR="0" marT="2413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18"/>
                  </a:ext>
                </a:extLst>
              </a:tr>
              <a:tr h="183400">
                <a:tc>
                  <a:txBody>
                    <a:bodyPr/>
                    <a:lstStyle/>
                    <a:p>
                      <a:pPr marL="63500">
                        <a:lnSpc>
                          <a:spcPct val="100000"/>
                        </a:lnSpc>
                        <a:spcBef>
                          <a:spcPts val="190"/>
                        </a:spcBef>
                      </a:pPr>
                      <a:r>
                        <a:rPr sz="1000" spc="-10" dirty="0">
                          <a:latin typeface="Calibri"/>
                          <a:cs typeface="Calibri"/>
                        </a:rPr>
                        <a:t>G5</a:t>
                      </a:r>
                      <a:endParaRPr sz="1000" dirty="0">
                        <a:latin typeface="Calibri"/>
                        <a:cs typeface="Calibri"/>
                      </a:endParaRPr>
                    </a:p>
                  </a:txBody>
                  <a:tcPr marL="0" marR="0" marT="2413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00">
                        <a:lnSpc>
                          <a:spcPct val="100000"/>
                        </a:lnSpc>
                        <a:spcBef>
                          <a:spcPts val="190"/>
                        </a:spcBef>
                      </a:pPr>
                      <a:r>
                        <a:rPr sz="1000" spc="-5" dirty="0">
                          <a:latin typeface="Calibri"/>
                          <a:cs typeface="Calibri"/>
                        </a:rPr>
                        <a:t>0.2</a:t>
                      </a:r>
                      <a:endParaRPr sz="1000" dirty="0">
                        <a:latin typeface="Calibri"/>
                        <a:cs typeface="Calibri"/>
                      </a:endParaRPr>
                    </a:p>
                  </a:txBody>
                  <a:tcPr marL="0" marR="0" marT="2413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4135">
                        <a:lnSpc>
                          <a:spcPct val="100000"/>
                        </a:lnSpc>
                        <a:spcBef>
                          <a:spcPts val="190"/>
                        </a:spcBef>
                      </a:pPr>
                      <a:r>
                        <a:rPr sz="1000" dirty="0">
                          <a:latin typeface="Calibri"/>
                          <a:cs typeface="Calibri"/>
                        </a:rPr>
                        <a:t>0</a:t>
                      </a:r>
                    </a:p>
                  </a:txBody>
                  <a:tcPr marL="0" marR="0" marT="2413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19"/>
                  </a:ext>
                </a:extLst>
              </a:tr>
            </a:tbl>
          </a:graphicData>
        </a:graphic>
      </p:graphicFrame>
      <p:pic>
        <p:nvPicPr>
          <p:cNvPr id="3" name="object 8">
            <a:extLst>
              <a:ext uri="{FF2B5EF4-FFF2-40B4-BE49-F238E27FC236}">
                <a16:creationId xmlns:a16="http://schemas.microsoft.com/office/drawing/2014/main" id="{2B3FEC4E-BDE0-7992-52FE-9BC85DBD0526}"/>
              </a:ext>
            </a:extLst>
          </p:cNvPr>
          <p:cNvPicPr/>
          <p:nvPr/>
        </p:nvPicPr>
        <p:blipFill>
          <a:blip r:embed="rId4" cstate="print"/>
          <a:stretch>
            <a:fillRect/>
          </a:stretch>
        </p:blipFill>
        <p:spPr>
          <a:xfrm>
            <a:off x="164039" y="1505459"/>
            <a:ext cx="4237066" cy="3761435"/>
          </a:xfrm>
          <a:prstGeom prst="rect">
            <a:avLst/>
          </a:prstGeom>
        </p:spPr>
      </p:pic>
      <p:sp>
        <p:nvSpPr>
          <p:cNvPr id="4" name="object 3">
            <a:extLst>
              <a:ext uri="{FF2B5EF4-FFF2-40B4-BE49-F238E27FC236}">
                <a16:creationId xmlns:a16="http://schemas.microsoft.com/office/drawing/2014/main" id="{63ECB037-0EC8-E54E-7DEF-719F72EB7462}"/>
              </a:ext>
            </a:extLst>
          </p:cNvPr>
          <p:cNvSpPr txBox="1"/>
          <p:nvPr/>
        </p:nvSpPr>
        <p:spPr>
          <a:xfrm>
            <a:off x="407314" y="976817"/>
            <a:ext cx="4742910" cy="233419"/>
          </a:xfrm>
          <a:prstGeom prst="rect">
            <a:avLst/>
          </a:prstGeom>
        </p:spPr>
        <p:txBody>
          <a:bodyPr vert="horz" wrap="square" lIns="0" tIns="12700" rIns="0" bIns="0" rtlCol="0">
            <a:spAutoFit/>
          </a:bodyPr>
          <a:lstStyle/>
          <a:p>
            <a:pPr marL="12700">
              <a:lnSpc>
                <a:spcPct val="100000"/>
              </a:lnSpc>
              <a:spcBef>
                <a:spcPts val="100"/>
              </a:spcBef>
            </a:pPr>
            <a:r>
              <a:rPr lang="en-US" sz="1400" b="1" dirty="0">
                <a:latin typeface="Arial"/>
                <a:cs typeface="Arial"/>
              </a:rPr>
              <a:t>Recommended Footprint</a:t>
            </a:r>
          </a:p>
        </p:txBody>
      </p:sp>
      <p:sp>
        <p:nvSpPr>
          <p:cNvPr id="5" name="object 84">
            <a:extLst>
              <a:ext uri="{FF2B5EF4-FFF2-40B4-BE49-F238E27FC236}">
                <a16:creationId xmlns:a16="http://schemas.microsoft.com/office/drawing/2014/main" id="{1BEBF801-2903-C1F7-E506-CA589D430C38}"/>
              </a:ext>
            </a:extLst>
          </p:cNvPr>
          <p:cNvSpPr txBox="1"/>
          <p:nvPr/>
        </p:nvSpPr>
        <p:spPr>
          <a:xfrm>
            <a:off x="1608542" y="5479092"/>
            <a:ext cx="2909587" cy="153888"/>
          </a:xfrm>
          <a:prstGeom prst="rect">
            <a:avLst/>
          </a:prstGeom>
        </p:spPr>
        <p:txBody>
          <a:bodyPr vert="horz" wrap="square" lIns="0" tIns="15240" rIns="0" bIns="0" rtlCol="0">
            <a:spAutoFit/>
          </a:bodyPr>
          <a:lstStyle/>
          <a:p>
            <a:pPr marL="12700">
              <a:lnSpc>
                <a:spcPct val="100000"/>
              </a:lnSpc>
              <a:spcBef>
                <a:spcPts val="120"/>
              </a:spcBef>
            </a:pPr>
            <a:r>
              <a:rPr lang="en-US" sz="900" b="1" spc="15" dirty="0">
                <a:latin typeface="Arial" panose="020B0604020202020204" pitchFamily="34" charset="0"/>
                <a:cs typeface="Arial" panose="020B0604020202020204" pitchFamily="34" charset="0"/>
              </a:rPr>
              <a:t>Fig 26. </a:t>
            </a:r>
            <a:r>
              <a:rPr lang="en-US" altLang="ko-KR" sz="900" b="1" spc="-5" dirty="0">
                <a:latin typeface="Arial"/>
                <a:cs typeface="Arial"/>
              </a:rPr>
              <a:t>Suggested</a:t>
            </a:r>
            <a:r>
              <a:rPr lang="en-US" altLang="ko-KR" sz="900" b="1" spc="-14" dirty="0">
                <a:latin typeface="Arial"/>
                <a:cs typeface="Arial"/>
              </a:rPr>
              <a:t> </a:t>
            </a:r>
            <a:r>
              <a:rPr lang="en-US" altLang="ko-KR" sz="900" b="1" spc="-5" dirty="0">
                <a:latin typeface="Arial"/>
                <a:cs typeface="Arial"/>
              </a:rPr>
              <a:t>Footprint</a:t>
            </a:r>
            <a:r>
              <a:rPr lang="en-US" altLang="ko-KR" sz="900" b="1" spc="-9" dirty="0">
                <a:latin typeface="Arial"/>
                <a:cs typeface="Arial"/>
              </a:rPr>
              <a:t> </a:t>
            </a:r>
            <a:endParaRPr lang="en-US" sz="900" b="1" spc="15" dirty="0">
              <a:latin typeface="Arial" panose="020B0604020202020204" pitchFamily="34" charset="0"/>
              <a:cs typeface="Arial" panose="020B0604020202020204" pitchFamily="34" charset="0"/>
            </a:endParaRPr>
          </a:p>
        </p:txBody>
      </p:sp>
      <p:sp>
        <p:nvSpPr>
          <p:cNvPr id="6" name="object 7">
            <a:extLst>
              <a:ext uri="{FF2B5EF4-FFF2-40B4-BE49-F238E27FC236}">
                <a16:creationId xmlns:a16="http://schemas.microsoft.com/office/drawing/2014/main" id="{E0E35408-242C-353B-F4BB-07ADA35CC071}"/>
              </a:ext>
            </a:extLst>
          </p:cNvPr>
          <p:cNvSpPr txBox="1"/>
          <p:nvPr/>
        </p:nvSpPr>
        <p:spPr>
          <a:xfrm>
            <a:off x="726903" y="5850846"/>
            <a:ext cx="5506571" cy="413681"/>
          </a:xfrm>
          <a:prstGeom prst="rect">
            <a:avLst/>
          </a:prstGeom>
        </p:spPr>
        <p:txBody>
          <a:bodyPr vert="horz" wrap="square" lIns="0" tIns="20171" rIns="0" bIns="0" rtlCol="0">
            <a:spAutoFit/>
          </a:bodyPr>
          <a:lstStyle/>
          <a:p>
            <a:pPr marL="11527" marR="4611">
              <a:lnSpc>
                <a:spcPct val="150000"/>
              </a:lnSpc>
              <a:spcBef>
                <a:spcPts val="159"/>
              </a:spcBef>
            </a:pPr>
            <a:r>
              <a:rPr sz="908" spc="-5" dirty="0">
                <a:latin typeface="Arial"/>
                <a:cs typeface="Arial"/>
              </a:rPr>
              <a:t>Note: The</a:t>
            </a:r>
            <a:r>
              <a:rPr sz="908" spc="14" dirty="0">
                <a:latin typeface="Arial"/>
                <a:cs typeface="Arial"/>
              </a:rPr>
              <a:t> </a:t>
            </a:r>
            <a:r>
              <a:rPr sz="908" spc="-5" dirty="0">
                <a:latin typeface="Arial"/>
                <a:cs typeface="Arial"/>
              </a:rPr>
              <a:t>reflow</a:t>
            </a:r>
            <a:r>
              <a:rPr sz="908" spc="5" dirty="0">
                <a:latin typeface="Arial"/>
                <a:cs typeface="Arial"/>
              </a:rPr>
              <a:t> </a:t>
            </a:r>
            <a:r>
              <a:rPr sz="908" spc="-5" dirty="0">
                <a:latin typeface="Arial"/>
                <a:cs typeface="Arial"/>
              </a:rPr>
              <a:t>peak</a:t>
            </a:r>
            <a:r>
              <a:rPr sz="908" spc="9" dirty="0">
                <a:latin typeface="Arial"/>
                <a:cs typeface="Arial"/>
              </a:rPr>
              <a:t> </a:t>
            </a:r>
            <a:r>
              <a:rPr sz="908" spc="-5" dirty="0">
                <a:latin typeface="Arial"/>
                <a:cs typeface="Arial"/>
              </a:rPr>
              <a:t>soldering</a:t>
            </a:r>
            <a:r>
              <a:rPr sz="908" spc="14" dirty="0">
                <a:latin typeface="Arial"/>
                <a:cs typeface="Arial"/>
              </a:rPr>
              <a:t> </a:t>
            </a:r>
            <a:r>
              <a:rPr sz="908" spc="-5" dirty="0">
                <a:latin typeface="Arial"/>
                <a:cs typeface="Arial"/>
              </a:rPr>
              <a:t>temperature</a:t>
            </a:r>
            <a:r>
              <a:rPr sz="908" spc="14" dirty="0">
                <a:latin typeface="Arial"/>
                <a:cs typeface="Arial"/>
              </a:rPr>
              <a:t> </a:t>
            </a:r>
            <a:r>
              <a:rPr sz="908" spc="-9" dirty="0">
                <a:latin typeface="Arial"/>
                <a:cs typeface="Arial"/>
              </a:rPr>
              <a:t>is</a:t>
            </a:r>
            <a:r>
              <a:rPr sz="908" spc="23" dirty="0">
                <a:latin typeface="Arial"/>
                <a:cs typeface="Arial"/>
              </a:rPr>
              <a:t> </a:t>
            </a:r>
            <a:r>
              <a:rPr sz="908" spc="-9" dirty="0">
                <a:latin typeface="Arial"/>
                <a:cs typeface="Arial"/>
              </a:rPr>
              <a:t>peak</a:t>
            </a:r>
            <a:r>
              <a:rPr sz="908" spc="27" dirty="0">
                <a:latin typeface="Arial"/>
                <a:cs typeface="Arial"/>
              </a:rPr>
              <a:t> </a:t>
            </a:r>
            <a:r>
              <a:rPr sz="908" spc="-5" dirty="0">
                <a:latin typeface="Arial"/>
                <a:cs typeface="Arial"/>
              </a:rPr>
              <a:t>260°C</a:t>
            </a:r>
            <a:r>
              <a:rPr sz="908" spc="18" dirty="0">
                <a:latin typeface="Arial"/>
                <a:cs typeface="Arial"/>
              </a:rPr>
              <a:t> </a:t>
            </a:r>
            <a:r>
              <a:rPr sz="908" spc="-5" dirty="0">
                <a:latin typeface="Arial"/>
                <a:cs typeface="Arial"/>
              </a:rPr>
              <a:t>and</a:t>
            </a:r>
            <a:r>
              <a:rPr sz="908" spc="14" dirty="0">
                <a:latin typeface="Arial"/>
                <a:cs typeface="Arial"/>
              </a:rPr>
              <a:t> </a:t>
            </a:r>
            <a:r>
              <a:rPr sz="908" spc="-9" dirty="0">
                <a:latin typeface="Arial"/>
                <a:cs typeface="Arial"/>
              </a:rPr>
              <a:t>it</a:t>
            </a:r>
            <a:r>
              <a:rPr sz="908" spc="18" dirty="0">
                <a:latin typeface="Arial"/>
                <a:cs typeface="Arial"/>
              </a:rPr>
              <a:t> </a:t>
            </a:r>
            <a:r>
              <a:rPr sz="908" spc="-9" dirty="0">
                <a:latin typeface="Arial"/>
                <a:cs typeface="Arial"/>
              </a:rPr>
              <a:t>is</a:t>
            </a:r>
            <a:r>
              <a:rPr sz="908" spc="9" dirty="0">
                <a:latin typeface="Arial"/>
                <a:cs typeface="Arial"/>
              </a:rPr>
              <a:t> </a:t>
            </a:r>
            <a:r>
              <a:rPr sz="908" spc="-5" dirty="0">
                <a:latin typeface="Arial"/>
                <a:cs typeface="Arial"/>
              </a:rPr>
              <a:t>specified</a:t>
            </a:r>
            <a:r>
              <a:rPr sz="908" spc="5" dirty="0">
                <a:latin typeface="Arial"/>
                <a:cs typeface="Arial"/>
              </a:rPr>
              <a:t> </a:t>
            </a:r>
            <a:r>
              <a:rPr sz="908" spc="-5" dirty="0">
                <a:latin typeface="Arial"/>
                <a:cs typeface="Arial"/>
              </a:rPr>
              <a:t>based</a:t>
            </a:r>
            <a:r>
              <a:rPr sz="908" spc="5" dirty="0">
                <a:latin typeface="Arial"/>
                <a:cs typeface="Arial"/>
              </a:rPr>
              <a:t> </a:t>
            </a:r>
            <a:r>
              <a:rPr sz="908" dirty="0">
                <a:latin typeface="Arial"/>
                <a:cs typeface="Arial"/>
              </a:rPr>
              <a:t>on</a:t>
            </a:r>
            <a:r>
              <a:rPr sz="908" spc="5" dirty="0">
                <a:latin typeface="Arial"/>
                <a:cs typeface="Arial"/>
              </a:rPr>
              <a:t> </a:t>
            </a:r>
            <a:r>
              <a:rPr sz="908" spc="-5" dirty="0">
                <a:latin typeface="Arial"/>
                <a:cs typeface="Arial"/>
              </a:rPr>
              <a:t>IPC/JEDEC</a:t>
            </a:r>
            <a:r>
              <a:rPr sz="908" spc="5" dirty="0">
                <a:latin typeface="Arial"/>
                <a:cs typeface="Arial"/>
              </a:rPr>
              <a:t> </a:t>
            </a:r>
            <a:r>
              <a:rPr sz="908" spc="-5" dirty="0">
                <a:latin typeface="Arial"/>
                <a:cs typeface="Arial"/>
              </a:rPr>
              <a:t>J-STD- </a:t>
            </a:r>
            <a:r>
              <a:rPr sz="908" spc="-236" dirty="0">
                <a:latin typeface="Arial"/>
                <a:cs typeface="Arial"/>
              </a:rPr>
              <a:t> </a:t>
            </a:r>
            <a:r>
              <a:rPr sz="908" spc="-9" dirty="0">
                <a:latin typeface="Arial"/>
                <a:cs typeface="Arial"/>
              </a:rPr>
              <a:t>020</a:t>
            </a:r>
            <a:r>
              <a:rPr sz="908" dirty="0">
                <a:latin typeface="Arial"/>
                <a:cs typeface="Arial"/>
              </a:rPr>
              <a:t> </a:t>
            </a:r>
            <a:r>
              <a:rPr sz="908" spc="-5" dirty="0">
                <a:latin typeface="Arial"/>
                <a:cs typeface="Arial"/>
              </a:rPr>
              <a:t>“Moisture/Reflow</a:t>
            </a:r>
            <a:r>
              <a:rPr sz="908" spc="14" dirty="0">
                <a:latin typeface="Arial"/>
                <a:cs typeface="Arial"/>
              </a:rPr>
              <a:t> </a:t>
            </a:r>
            <a:r>
              <a:rPr sz="908" spc="-5" dirty="0">
                <a:latin typeface="Arial"/>
                <a:cs typeface="Arial"/>
              </a:rPr>
              <a:t>Sensitivity</a:t>
            </a:r>
            <a:r>
              <a:rPr sz="908" spc="5" dirty="0">
                <a:latin typeface="Arial"/>
                <a:cs typeface="Arial"/>
              </a:rPr>
              <a:t> </a:t>
            </a:r>
            <a:r>
              <a:rPr sz="908" spc="-5" dirty="0">
                <a:latin typeface="Arial"/>
                <a:cs typeface="Arial"/>
              </a:rPr>
              <a:t>Classification</a:t>
            </a:r>
            <a:r>
              <a:rPr sz="908" spc="5" dirty="0">
                <a:latin typeface="Arial"/>
                <a:cs typeface="Arial"/>
              </a:rPr>
              <a:t> </a:t>
            </a:r>
            <a:r>
              <a:rPr sz="908" spc="-5" dirty="0">
                <a:latin typeface="Arial"/>
                <a:cs typeface="Arial"/>
              </a:rPr>
              <a:t>for</a:t>
            </a:r>
            <a:r>
              <a:rPr sz="908" spc="14" dirty="0">
                <a:latin typeface="Arial"/>
                <a:cs typeface="Arial"/>
              </a:rPr>
              <a:t> </a:t>
            </a:r>
            <a:r>
              <a:rPr sz="908" spc="-5" dirty="0">
                <a:latin typeface="Arial"/>
                <a:cs typeface="Arial"/>
              </a:rPr>
              <a:t>Non-Hermetic</a:t>
            </a:r>
            <a:r>
              <a:rPr sz="908" spc="9" dirty="0">
                <a:latin typeface="Arial"/>
                <a:cs typeface="Arial"/>
              </a:rPr>
              <a:t> </a:t>
            </a:r>
            <a:r>
              <a:rPr sz="908" spc="-5" dirty="0">
                <a:latin typeface="Arial"/>
                <a:cs typeface="Arial"/>
              </a:rPr>
              <a:t>Solid</a:t>
            </a:r>
            <a:r>
              <a:rPr sz="908" spc="9" dirty="0">
                <a:latin typeface="Arial"/>
                <a:cs typeface="Arial"/>
              </a:rPr>
              <a:t> </a:t>
            </a:r>
            <a:r>
              <a:rPr sz="908" spc="-5" dirty="0">
                <a:latin typeface="Arial"/>
                <a:cs typeface="Arial"/>
              </a:rPr>
              <a:t>State</a:t>
            </a:r>
            <a:r>
              <a:rPr sz="908" spc="5" dirty="0">
                <a:latin typeface="Arial"/>
                <a:cs typeface="Arial"/>
              </a:rPr>
              <a:t> </a:t>
            </a:r>
            <a:r>
              <a:rPr sz="908" dirty="0">
                <a:latin typeface="Arial"/>
                <a:cs typeface="Arial"/>
              </a:rPr>
              <a:t>Surface </a:t>
            </a:r>
            <a:r>
              <a:rPr sz="908" spc="-5" dirty="0">
                <a:latin typeface="Arial"/>
                <a:cs typeface="Arial"/>
              </a:rPr>
              <a:t>Mount</a:t>
            </a:r>
            <a:r>
              <a:rPr sz="908" spc="5" dirty="0">
                <a:latin typeface="Arial"/>
                <a:cs typeface="Arial"/>
              </a:rPr>
              <a:t> </a:t>
            </a:r>
            <a:r>
              <a:rPr sz="908" dirty="0">
                <a:latin typeface="Arial"/>
                <a:cs typeface="Arial"/>
              </a:rPr>
              <a:t>Devices”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00"/>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8640</TotalTime>
  <Words>12482</Words>
  <Application>Microsoft Office PowerPoint</Application>
  <PresentationFormat>A4 용지(210x297mm)</PresentationFormat>
  <Paragraphs>3648</Paragraphs>
  <Slides>47</Slides>
  <Notes>0</Notes>
  <HiddenSlides>0</HiddenSlides>
  <MMClips>0</MMClips>
  <ScaleCrop>false</ScaleCrop>
  <HeadingPairs>
    <vt:vector size="6" baseType="variant">
      <vt:variant>
        <vt:lpstr>사용한 글꼴</vt:lpstr>
      </vt:variant>
      <vt:variant>
        <vt:i4>8</vt:i4>
      </vt:variant>
      <vt:variant>
        <vt:lpstr>테마</vt:lpstr>
      </vt:variant>
      <vt:variant>
        <vt:i4>1</vt:i4>
      </vt:variant>
      <vt:variant>
        <vt:lpstr>슬라이드 제목</vt:lpstr>
      </vt:variant>
      <vt:variant>
        <vt:i4>47</vt:i4>
      </vt:variant>
    </vt:vector>
  </HeadingPairs>
  <TitlesOfParts>
    <vt:vector size="56" baseType="lpstr">
      <vt:lpstr>굴림</vt:lpstr>
      <vt:lpstr>맑은 고딕</vt:lpstr>
      <vt:lpstr>Arial</vt:lpstr>
      <vt:lpstr>Calibri</vt:lpstr>
      <vt:lpstr>Lucida Sans Unicode</vt:lpstr>
      <vt:lpstr>Perpetua Titling MT</vt:lpstr>
      <vt:lpstr>Times New Roman</vt:lpstr>
      <vt:lpstr>Wingdings</vt:lpstr>
      <vt:lpstr>Office Theme</vt:lpstr>
      <vt:lpstr>CQ24</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CQ24</dc:title>
  <dc:creator>yunyeongso</dc:creator>
  <cp:lastModifiedBy>엄 윤섭</cp:lastModifiedBy>
  <cp:revision>77</cp:revision>
  <dcterms:created xsi:type="dcterms:W3CDTF">2023-06-29T23:38:05Z</dcterms:created>
  <dcterms:modified xsi:type="dcterms:W3CDTF">2024-01-23T00:35:49Z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2023-06-29T00:00:00Z</vt:filetime>
  </property>
  <property fmtid="{D5CDD505-2E9C-101B-9397-08002B2CF9AE}" pid="3" name="Creator">
    <vt:lpwstr>Microsoft® PowerPoint® Microsoft 365용</vt:lpwstr>
  </property>
  <property fmtid="{D5CDD505-2E9C-101B-9397-08002B2CF9AE}" pid="4" name="LastSaved">
    <vt:filetime>2023-06-29T00:00:00Z</vt:filetime>
  </property>
</Properties>
</file>