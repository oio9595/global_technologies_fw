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0A_6C222D68.xml" ContentType="application/vnd.ms-powerpoint.comments+xml"/>
  <Override PartName="/ppt/comments/modernComment_181_FC17E64D.xml" ContentType="application/vnd.ms-powerpoint.comments+xml"/>
  <Override PartName="/ppt/comments/modernComment_115_47193C8.xml" ContentType="application/vnd.ms-powerpoint.comments+xml"/>
  <Override PartName="/ppt/comments/modernComment_114_6AE9E170.xml" ContentType="application/vnd.ms-powerpoint.comments+xml"/>
  <Override PartName="/ppt/comments/modernComment_2FB_34D1C1E1.xml" ContentType="application/vnd.ms-powerpoint.comments+xml"/>
  <Override PartName="/ppt/comments/modernComment_1A1_D3E455D2.xml" ContentType="application/vnd.ms-powerpoint.comments+xml"/>
  <Override PartName="/ppt/comments/modernComment_1A2_D9762BB4.xml" ContentType="application/vnd.ms-powerpoint.comments+xml"/>
  <Override PartName="/ppt/comments/modernComment_11F_6EF7015F.xml" ContentType="application/vnd.ms-powerpoint.comments+xml"/>
  <Override PartName="/ppt/comments/modernComment_1A3_7DF4D588.xml" ContentType="application/vnd.ms-powerpoint.comments+xml"/>
  <Override PartName="/ppt/comments/modernComment_2CF_7B8F01B.xml" ContentType="application/vnd.ms-powerpoint.comments+xml"/>
  <Override PartName="/ppt/comments/modernComment_2CD_251DA070.xml" ContentType="application/vnd.ms-powerpoint.comments+xml"/>
  <Override PartName="/ppt/comments/modernComment_2D5_190CCD15.xml" ContentType="application/vnd.ms-powerpoint.comments+xml"/>
  <Override PartName="/ppt/comments/modernComment_1AB_5DA4829F.xml" ContentType="application/vnd.ms-powerpoint.comments+xml"/>
  <Override PartName="/ppt/comments/modernComment_14A_A173F217.xml" ContentType="application/vnd.ms-powerpoint.comments+xml"/>
  <Override PartName="/ppt/comments/modernComment_19E_78698B3C.xml" ContentType="application/vnd.ms-powerpoint.comments+xml"/>
  <Override PartName="/ppt/comments/modernComment_19C_FFF69E12.xml" ContentType="application/vnd.ms-powerpoint.comments+xml"/>
  <Override PartName="/ppt/comments/modernComment_2D6_84C806FA.xml" ContentType="application/vnd.ms-powerpoint.comments+xml"/>
  <Override PartName="/ppt/comments/modernComment_2D7_271FC246.xml" ContentType="application/vnd.ms-powerpoint.comments+xml"/>
  <Override PartName="/ppt/comments/modernComment_2D9_3CD0EC71.xml" ContentType="application/vnd.ms-powerpoint.comments+xml"/>
  <Override PartName="/ppt/comments/modernComment_2DA_5C90F904.xml" ContentType="application/vnd.ms-powerpoint.comments+xml"/>
  <Override PartName="/ppt/comments/modernComment_2D3_C78F73D2.xml" ContentType="application/vnd.ms-powerpoint.comments+xml"/>
  <Override PartName="/ppt/comments/modernComment_199_684568CD.xml" ContentType="application/vnd.ms-powerpoint.comments+xml"/>
  <Override PartName="/ppt/comments/modernComment_2D1_5829515B.xml" ContentType="application/vnd.ms-powerpoint.comments+xml"/>
  <Override PartName="/ppt/comments/modernComment_2DB_A8CBE19.xml" ContentType="application/vnd.ms-powerpoint.comments+xml"/>
  <Override PartName="/ppt/comments/modernComment_19A_86B16A0F.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52"/>
  </p:notesMasterIdLst>
  <p:handoutMasterIdLst>
    <p:handoutMasterId r:id="rId53"/>
  </p:handoutMasterIdLst>
  <p:sldIdLst>
    <p:sldId id="266" r:id="rId5"/>
    <p:sldId id="385" r:id="rId6"/>
    <p:sldId id="277" r:id="rId7"/>
    <p:sldId id="278" r:id="rId8"/>
    <p:sldId id="279" r:id="rId9"/>
    <p:sldId id="420" r:id="rId10"/>
    <p:sldId id="276" r:id="rId11"/>
    <p:sldId id="763" r:id="rId12"/>
    <p:sldId id="417" r:id="rId13"/>
    <p:sldId id="418" r:id="rId14"/>
    <p:sldId id="287" r:id="rId15"/>
    <p:sldId id="419" r:id="rId16"/>
    <p:sldId id="433" r:id="rId17"/>
    <p:sldId id="719" r:id="rId18"/>
    <p:sldId id="722" r:id="rId19"/>
    <p:sldId id="724" r:id="rId20"/>
    <p:sldId id="717" r:id="rId21"/>
    <p:sldId id="733" r:id="rId22"/>
    <p:sldId id="725" r:id="rId23"/>
    <p:sldId id="432" r:id="rId24"/>
    <p:sldId id="762" r:id="rId25"/>
    <p:sldId id="293" r:id="rId26"/>
    <p:sldId id="427" r:id="rId27"/>
    <p:sldId id="330" r:id="rId28"/>
    <p:sldId id="414" r:id="rId29"/>
    <p:sldId id="412" r:id="rId30"/>
    <p:sldId id="726" r:id="rId31"/>
    <p:sldId id="727" r:id="rId32"/>
    <p:sldId id="728" r:id="rId33"/>
    <p:sldId id="729" r:id="rId34"/>
    <p:sldId id="730" r:id="rId35"/>
    <p:sldId id="723" r:id="rId36"/>
    <p:sldId id="409" r:id="rId37"/>
    <p:sldId id="422" r:id="rId38"/>
    <p:sldId id="720" r:id="rId39"/>
    <p:sldId id="721" r:id="rId40"/>
    <p:sldId id="731" r:id="rId41"/>
    <p:sldId id="415" r:id="rId42"/>
    <p:sldId id="410" r:id="rId43"/>
    <p:sldId id="425" r:id="rId44"/>
    <p:sldId id="426" r:id="rId45"/>
    <p:sldId id="413" r:id="rId46"/>
    <p:sldId id="714" r:id="rId47"/>
    <p:sldId id="715" r:id="rId48"/>
    <p:sldId id="716" r:id="rId49"/>
    <p:sldId id="421" r:id="rId50"/>
    <p:sldId id="348" r:id="rId51"/>
  </p:sldIdLst>
  <p:sldSz cx="6858000" cy="9906000" type="A4"/>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C882F5C2-EDC0-4733-B165-9B7ABF4A2715}">
          <p14:sldIdLst>
            <p14:sldId id="266"/>
            <p14:sldId id="385"/>
            <p14:sldId id="277"/>
            <p14:sldId id="278"/>
            <p14:sldId id="279"/>
            <p14:sldId id="420"/>
            <p14:sldId id="276"/>
            <p14:sldId id="763"/>
            <p14:sldId id="417"/>
            <p14:sldId id="418"/>
            <p14:sldId id="287"/>
            <p14:sldId id="419"/>
            <p14:sldId id="433"/>
            <p14:sldId id="719"/>
            <p14:sldId id="722"/>
            <p14:sldId id="724"/>
            <p14:sldId id="717"/>
            <p14:sldId id="733"/>
            <p14:sldId id="725"/>
            <p14:sldId id="432"/>
            <p14:sldId id="762"/>
            <p14:sldId id="293"/>
            <p14:sldId id="427"/>
            <p14:sldId id="330"/>
            <p14:sldId id="414"/>
            <p14:sldId id="412"/>
            <p14:sldId id="726"/>
            <p14:sldId id="727"/>
            <p14:sldId id="728"/>
            <p14:sldId id="729"/>
            <p14:sldId id="730"/>
            <p14:sldId id="723"/>
            <p14:sldId id="409"/>
            <p14:sldId id="422"/>
            <p14:sldId id="720"/>
            <p14:sldId id="721"/>
            <p14:sldId id="731"/>
            <p14:sldId id="415"/>
            <p14:sldId id="410"/>
            <p14:sldId id="425"/>
            <p14:sldId id="426"/>
            <p14:sldId id="413"/>
            <p14:sldId id="714"/>
            <p14:sldId id="715"/>
            <p14:sldId id="716"/>
            <p14:sldId id="421"/>
            <p14:sldId id="348"/>
          </p14:sldIdLst>
        </p14:section>
      </p14:sectionLst>
    </p:ext>
    <p:ext uri="{EFAFB233-063F-42B5-8137-9DF3F51BA10A}">
      <p15:sldGuideLst xmlns:p15="http://schemas.microsoft.com/office/powerpoint/2012/main">
        <p15:guide id="20" orient="horz" pos="5229" userDrawn="1">
          <p15:clr>
            <a:srgbClr val="A4A3A4"/>
          </p15:clr>
        </p15:guide>
        <p15:guide id="22" orient="horz" pos="3211" userDrawn="1">
          <p15:clr>
            <a:srgbClr val="A4A3A4"/>
          </p15:clr>
        </p15:guide>
        <p15:guide id="26" orient="horz" pos="4662" userDrawn="1">
          <p15:clr>
            <a:srgbClr val="A4A3A4"/>
          </p15:clr>
        </p15:guide>
        <p15:guide id="27" pos="23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D0DF02-0D58-BE59-62DF-8E6F9A447111}" name="이태헌( LEE Taeheon ) 전원구동반도체팀" initials="태이" userId="S::1634503@mobis.com::95f9c098-e390-4595-be57-0b556655b551" providerId="AD"/>
  <p188:author id="{3F72D633-7196-E7CB-FCA9-21E6783F094A}" name="현정재( HYUN Jeongjae ) 전원구동반도체팀" initials="정현" userId="S::1628630@mobis.com::c55bacd3-eb9c-480f-ab5f-34ccdc613353" providerId="AD"/>
  <p188:author id="{B606345A-1B02-C35A-D0E5-DF8A67A6C758}" name="오 해찬" initials="해오" userId="S::ohhaech@solutionkorea.onmicrosoft.com::398a30bc-41aa-4aec-9589-2644447f841d" providerId="AD"/>
  <p188:author id="{DD5FA65B-5604-BE03-608B-F6122C8A8655}" name="dongil kim" initials="dk" userId="1a02b3e6538b5a48" providerId="Windows Live"/>
  <p188:author id="{7BAEFA84-A256-5534-DDFC-3A52BB84F1ED}" name="김송현( KIM Songhyeon ) 전원구동반도체팀" initials="송김" userId="S::1631951@mobis.com::55dc1938-0fc2-4734-98dd-c3ec7f35dbea" providerId="AD"/>
  <p188:author id="{C8DF6CCE-C23F-CF43-834D-8616D3F5DBC8}" name="Jaeeun Nam" initials="JE" userId="Jaeeun Nam" providerId="None"/>
  <p188:author id="{5E03ACD7-6916-F275-5442-2DA38665A9F9}" name="엄 윤섭" initials="윤엄" userId="S::yseom@solutionkorea.onmicrosoft.com::6f549fa0-d0b0-4839-be30-c990f199deaa" providerId="AD"/>
  <p188:author id="{902814E1-A956-B789-2793-196B31628021}" name="정 동윤" initials="동정" userId="S::dy.jeong@solutionkorea.onmicrosoft.com::52f93931-e8b5-4cfe-a67d-0bcd3ed7fa79" providerId="AD"/>
  <p188:author id="{ECB522F3-14BE-4028-5621-07DB41C6B9B8}" name="이승문( LEE Seungmoon ) 전원구동반도체팀" initials="승이" userId="S::1634506@mobis.com::14ae0227-06c0-40e5-aff1-1ad4a95243c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FFFFEB"/>
    <a:srgbClr val="FFD1D1"/>
    <a:srgbClr val="BDD8FF"/>
    <a:srgbClr val="B3FFB3"/>
    <a:srgbClr val="FFC5FF"/>
    <a:srgbClr val="0066FF"/>
    <a:srgbClr val="CCFF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0EE3C4-20B4-441E-A742-9C97276B910E}" v="53" dt="2026-09-29T07:09:04.958"/>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76" autoAdjust="0"/>
    <p:restoredTop sz="94660"/>
  </p:normalViewPr>
  <p:slideViewPr>
    <p:cSldViewPr snapToGrid="0">
      <p:cViewPr varScale="1">
        <p:scale>
          <a:sx n="102" d="100"/>
          <a:sy n="102" d="100"/>
        </p:scale>
        <p:origin x="1086" y="126"/>
      </p:cViewPr>
      <p:guideLst>
        <p:guide orient="horz" pos="5229"/>
        <p:guide orient="horz" pos="3211"/>
        <p:guide orient="horz" pos="4662"/>
        <p:guide pos="23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오 해찬" userId="398a30bc-41aa-4aec-9589-2644447f841d" providerId="ADAL" clId="{40A53A70-5976-42A4-AD5E-E44140CA36DF}"/>
    <pc:docChg chg="undo custSel addSld modSld">
      <pc:chgData name="오 해찬" userId="398a30bc-41aa-4aec-9589-2644447f841d" providerId="ADAL" clId="{40A53A70-5976-42A4-AD5E-E44140CA36DF}" dt="2026-09-29T07:11:42.163" v="854" actId="1076"/>
      <pc:docMkLst>
        <pc:docMk/>
      </pc:docMkLst>
      <pc:sldChg chg="modSp mod">
        <pc:chgData name="오 해찬" userId="398a30bc-41aa-4aec-9589-2644447f841d" providerId="ADAL" clId="{40A53A70-5976-42A4-AD5E-E44140CA36DF}" dt="2026-09-29T06:17:33.045" v="14" actId="20577"/>
        <pc:sldMkLst>
          <pc:docMk/>
          <pc:sldMk cId="1814179176" sldId="266"/>
        </pc:sldMkLst>
        <pc:spChg chg="mod">
          <ac:chgData name="오 해찬" userId="398a30bc-41aa-4aec-9589-2644447f841d" providerId="ADAL" clId="{40A53A70-5976-42A4-AD5E-E44140CA36DF}" dt="2026-09-29T06:17:33.045" v="14" actId="20577"/>
          <ac:spMkLst>
            <pc:docMk/>
            <pc:sldMk cId="1814179176" sldId="266"/>
            <ac:spMk id="6" creationId="{1971467C-5C94-82DF-4D1A-E650B0347888}"/>
          </ac:spMkLst>
        </pc:spChg>
        <pc:graphicFrameChg chg="mod modGraphic">
          <ac:chgData name="오 해찬" userId="398a30bc-41aa-4aec-9589-2644447f841d" providerId="ADAL" clId="{40A53A70-5976-42A4-AD5E-E44140CA36DF}" dt="2026-09-29T06:16:44.900" v="8" actId="20577"/>
          <ac:graphicFrameMkLst>
            <pc:docMk/>
            <pc:sldMk cId="1814179176" sldId="266"/>
            <ac:graphicFrameMk id="11" creationId="{1BF050F8-2710-C25A-BCCB-66DA9D331251}"/>
          </ac:graphicFrameMkLst>
        </pc:graphicFrameChg>
      </pc:sldChg>
      <pc:sldChg chg="addSp delSp modSp mod modCm">
        <pc:chgData name="오 해찬" userId="398a30bc-41aa-4aec-9589-2644447f841d" providerId="ADAL" clId="{40A53A70-5976-42A4-AD5E-E44140CA36DF}" dt="2026-09-29T06:56:49.154" v="449" actId="1036"/>
        <pc:sldMkLst>
          <pc:docMk/>
          <pc:sldMk cId="1793712496" sldId="276"/>
        </pc:sldMkLst>
        <pc:spChg chg="del">
          <ac:chgData name="오 해찬" userId="398a30bc-41aa-4aec-9589-2644447f841d" providerId="ADAL" clId="{40A53A70-5976-42A4-AD5E-E44140CA36DF}" dt="2026-09-29T06:53:55.922" v="376" actId="478"/>
          <ac:spMkLst>
            <pc:docMk/>
            <pc:sldMk cId="1793712496" sldId="276"/>
            <ac:spMk id="2" creationId="{35171D58-FBAA-278F-0693-FF3701305F6C}"/>
          </ac:spMkLst>
        </pc:spChg>
        <pc:spChg chg="del">
          <ac:chgData name="오 해찬" userId="398a30bc-41aa-4aec-9589-2644447f841d" providerId="ADAL" clId="{40A53A70-5976-42A4-AD5E-E44140CA36DF}" dt="2026-09-29T06:53:55.922" v="376" actId="478"/>
          <ac:spMkLst>
            <pc:docMk/>
            <pc:sldMk cId="1793712496" sldId="276"/>
            <ac:spMk id="3" creationId="{9B5D89F5-7946-7903-C62B-8FA5DCC8E742}"/>
          </ac:spMkLst>
        </pc:spChg>
        <pc:spChg chg="del">
          <ac:chgData name="오 해찬" userId="398a30bc-41aa-4aec-9589-2644447f841d" providerId="ADAL" clId="{40A53A70-5976-42A4-AD5E-E44140CA36DF}" dt="2026-09-29T06:53:55.922" v="376" actId="478"/>
          <ac:spMkLst>
            <pc:docMk/>
            <pc:sldMk cId="1793712496" sldId="276"/>
            <ac:spMk id="6" creationId="{8D0E866E-8EFE-F4EE-2C3C-B4E8D0E5AC8F}"/>
          </ac:spMkLst>
        </pc:spChg>
        <pc:spChg chg="del">
          <ac:chgData name="오 해찬" userId="398a30bc-41aa-4aec-9589-2644447f841d" providerId="ADAL" clId="{40A53A70-5976-42A4-AD5E-E44140CA36DF}" dt="2026-09-29T06:53:38.475" v="375" actId="478"/>
          <ac:spMkLst>
            <pc:docMk/>
            <pc:sldMk cId="1793712496" sldId="276"/>
            <ac:spMk id="8" creationId="{43E2CD28-93DE-03DD-CB17-DC087DC8E39F}"/>
          </ac:spMkLst>
        </pc:spChg>
        <pc:spChg chg="mod">
          <ac:chgData name="오 해찬" userId="398a30bc-41aa-4aec-9589-2644447f841d" providerId="ADAL" clId="{40A53A70-5976-42A4-AD5E-E44140CA36DF}" dt="2026-09-29T06:56:24.676" v="433" actId="1035"/>
          <ac:spMkLst>
            <pc:docMk/>
            <pc:sldMk cId="1793712496" sldId="276"/>
            <ac:spMk id="11" creationId="{55B9BB63-ABDA-30DF-1ADD-245600E5B925}"/>
          </ac:spMkLst>
        </pc:spChg>
        <pc:spChg chg="add mod">
          <ac:chgData name="오 해찬" userId="398a30bc-41aa-4aec-9589-2644447f841d" providerId="ADAL" clId="{40A53A70-5976-42A4-AD5E-E44140CA36DF}" dt="2026-09-29T06:56:49.154" v="449" actId="1036"/>
          <ac:spMkLst>
            <pc:docMk/>
            <pc:sldMk cId="1793712496" sldId="276"/>
            <ac:spMk id="13" creationId="{0D1B8932-D090-16EC-293A-24E23ADAEEF3}"/>
          </ac:spMkLst>
        </pc:spChg>
        <pc:spChg chg="add mod">
          <ac:chgData name="오 해찬" userId="398a30bc-41aa-4aec-9589-2644447f841d" providerId="ADAL" clId="{40A53A70-5976-42A4-AD5E-E44140CA36DF}" dt="2026-09-29T06:56:49.154" v="449" actId="1036"/>
          <ac:spMkLst>
            <pc:docMk/>
            <pc:sldMk cId="1793712496" sldId="276"/>
            <ac:spMk id="15" creationId="{B3ABE2F2-A0B9-EB9A-011C-5BE5F274E29B}"/>
          </ac:spMkLst>
        </pc:spChg>
        <pc:spChg chg="add mod">
          <ac:chgData name="오 해찬" userId="398a30bc-41aa-4aec-9589-2644447f841d" providerId="ADAL" clId="{40A53A70-5976-42A4-AD5E-E44140CA36DF}" dt="2026-09-29T06:56:49.154" v="449" actId="1036"/>
          <ac:spMkLst>
            <pc:docMk/>
            <pc:sldMk cId="1793712496" sldId="276"/>
            <ac:spMk id="21" creationId="{E664580D-2CCC-923B-580D-E9914B34E52F}"/>
          </ac:spMkLst>
        </pc:spChg>
        <pc:spChg chg="add mod">
          <ac:chgData name="오 해찬" userId="398a30bc-41aa-4aec-9589-2644447f841d" providerId="ADAL" clId="{40A53A70-5976-42A4-AD5E-E44140CA36DF}" dt="2026-09-29T06:56:49.154" v="449" actId="1036"/>
          <ac:spMkLst>
            <pc:docMk/>
            <pc:sldMk cId="1793712496" sldId="276"/>
            <ac:spMk id="23" creationId="{E24B7CAE-B4D1-6344-67EB-29970938FD18}"/>
          </ac:spMkLst>
        </pc:spChg>
        <pc:graphicFrameChg chg="mod modGraphic">
          <ac:chgData name="오 해찬" userId="398a30bc-41aa-4aec-9589-2644447f841d" providerId="ADAL" clId="{40A53A70-5976-42A4-AD5E-E44140CA36DF}" dt="2026-09-29T06:56:17.255" v="408"/>
          <ac:graphicFrameMkLst>
            <pc:docMk/>
            <pc:sldMk cId="1793712496" sldId="276"/>
            <ac:graphicFrameMk id="7" creationId="{57099848-8D5D-8367-A689-701F7F20826F}"/>
          </ac:graphicFrameMkLst>
        </pc:graphicFrameChg>
        <pc:graphicFrameChg chg="add">
          <ac:chgData name="오 해찬" userId="398a30bc-41aa-4aec-9589-2644447f841d" providerId="ADAL" clId="{40A53A70-5976-42A4-AD5E-E44140CA36DF}" dt="2026-09-29T06:50:55.449" v="361"/>
          <ac:graphicFrameMkLst>
            <pc:docMk/>
            <pc:sldMk cId="1793712496" sldId="276"/>
            <ac:graphicFrameMk id="9" creationId="{1A0F6AF9-AC67-0B45-118E-4BAF0D873169}"/>
          </ac:graphicFrameMkLst>
        </pc:graphicFrameChg>
        <pc:graphicFrameChg chg="del">
          <ac:chgData name="오 해찬" userId="398a30bc-41aa-4aec-9589-2644447f841d" providerId="ADAL" clId="{40A53A70-5976-42A4-AD5E-E44140CA36DF}" dt="2026-09-29T06:53:55.922" v="376" actId="478"/>
          <ac:graphicFrameMkLst>
            <pc:docMk/>
            <pc:sldMk cId="1793712496" sldId="276"/>
            <ac:graphicFrameMk id="12" creationId="{FB8DEE20-B587-D217-4F4F-5CA097B677A9}"/>
          </ac:graphicFrameMkLst>
        </pc:graphicFrameChg>
        <pc:graphicFrameChg chg="add mod">
          <ac:chgData name="오 해찬" userId="398a30bc-41aa-4aec-9589-2644447f841d" providerId="ADAL" clId="{40A53A70-5976-42A4-AD5E-E44140CA36DF}" dt="2026-09-29T06:56:49.154" v="449" actId="1036"/>
          <ac:graphicFrameMkLst>
            <pc:docMk/>
            <pc:sldMk cId="1793712496" sldId="276"/>
            <ac:graphicFrameMk id="17" creationId="{5C13DC7A-78C4-1F3F-5097-9AF97F6686C9}"/>
          </ac:graphicFrameMkLst>
        </pc:graphicFrameChg>
        <pc:graphicFrameChg chg="add mod modGraphic">
          <ac:chgData name="오 해찬" userId="398a30bc-41aa-4aec-9589-2644447f841d" providerId="ADAL" clId="{40A53A70-5976-42A4-AD5E-E44140CA36DF}" dt="2026-09-29T06:56:49.154" v="449" actId="1036"/>
          <ac:graphicFrameMkLst>
            <pc:docMk/>
            <pc:sldMk cId="1793712496" sldId="276"/>
            <ac:graphicFrameMk id="19" creationId="{72DCDFC1-6EDA-6F73-1E07-EC6C627C6D92}"/>
          </ac:graphicFrameMkLst>
        </pc:graphicFrameChg>
        <pc:extLst>
          <p:ext xmlns:p="http://schemas.openxmlformats.org/presentationml/2006/main" uri="{D6D511B9-2390-475A-947B-AFAB55BFBCF1}">
            <pc226:cmChg xmlns:pc226="http://schemas.microsoft.com/office/powerpoint/2022/06/main/command" chg="mod">
              <pc226:chgData name="오 해찬" userId="398a30bc-41aa-4aec-9589-2644447f841d" providerId="ADAL" clId="{40A53A70-5976-42A4-AD5E-E44140CA36DF}" dt="2026-09-29T06:50:37.745" v="360" actId="20577"/>
              <pc2:cmMkLst xmlns:pc2="http://schemas.microsoft.com/office/powerpoint/2019/9/main/command">
                <pc:docMk/>
                <pc:sldMk cId="1793712496" sldId="276"/>
                <pc2:cmMk id="{79BA0123-8B2A-4661-8F5F-C11C9ABAFC8C}"/>
              </pc2:cmMkLst>
            </pc226:cmChg>
            <pc226:cmChg xmlns:pc226="http://schemas.microsoft.com/office/powerpoint/2022/06/main/command" chg="mod">
              <pc226:chgData name="오 해찬" userId="398a30bc-41aa-4aec-9589-2644447f841d" providerId="ADAL" clId="{40A53A70-5976-42A4-AD5E-E44140CA36DF}" dt="2026-09-29T06:50:32.514" v="353" actId="20577"/>
              <pc2:cmMkLst xmlns:pc2="http://schemas.microsoft.com/office/powerpoint/2019/9/main/command">
                <pc:docMk/>
                <pc:sldMk cId="1793712496" sldId="276"/>
                <pc2:cmMk id="{764282AD-7594-4EFC-9844-321D5647DE8E}"/>
              </pc2:cmMkLst>
            </pc226:cmChg>
          </p:ext>
        </pc:extLst>
      </pc:sldChg>
      <pc:sldChg chg="addSp delSp modSp mod">
        <pc:chgData name="오 해찬" userId="398a30bc-41aa-4aec-9589-2644447f841d" providerId="ADAL" clId="{40A53A70-5976-42A4-AD5E-E44140CA36DF}" dt="2026-09-29T06:35:06.818" v="212" actId="22"/>
        <pc:sldMkLst>
          <pc:docMk/>
          <pc:sldMk cId="74552264" sldId="277"/>
        </pc:sldMkLst>
        <pc:spChg chg="add mod">
          <ac:chgData name="오 해찬" userId="398a30bc-41aa-4aec-9589-2644447f841d" providerId="ADAL" clId="{40A53A70-5976-42A4-AD5E-E44140CA36DF}" dt="2026-09-29T06:35:00.138" v="210" actId="1076"/>
          <ac:spMkLst>
            <pc:docMk/>
            <pc:sldMk cId="74552264" sldId="277"/>
            <ac:spMk id="2" creationId="{0FFEC2A8-834E-ED5A-91F0-A2F7C89B8053}"/>
          </ac:spMkLst>
        </pc:spChg>
        <pc:spChg chg="mod">
          <ac:chgData name="오 해찬" userId="398a30bc-41aa-4aec-9589-2644447f841d" providerId="ADAL" clId="{40A53A70-5976-42A4-AD5E-E44140CA36DF}" dt="2026-09-29T06:33:01.194" v="205" actId="1076"/>
          <ac:spMkLst>
            <pc:docMk/>
            <pc:sldMk cId="74552264" sldId="277"/>
            <ac:spMk id="7" creationId="{92C24942-18BA-F0B3-A66D-927A605E8108}"/>
          </ac:spMkLst>
        </pc:spChg>
        <pc:picChg chg="add del">
          <ac:chgData name="오 해찬" userId="398a30bc-41aa-4aec-9589-2644447f841d" providerId="ADAL" clId="{40A53A70-5976-42A4-AD5E-E44140CA36DF}" dt="2026-09-29T06:35:06.818" v="212" actId="22"/>
          <ac:picMkLst>
            <pc:docMk/>
            <pc:sldMk cId="74552264" sldId="277"/>
            <ac:picMk id="6" creationId="{301FF135-2A8C-F231-C0EB-31FBDF172A7F}"/>
          </ac:picMkLst>
        </pc:picChg>
      </pc:sldChg>
      <pc:sldChg chg="addSp delSp modSp mod">
        <pc:chgData name="오 해찬" userId="398a30bc-41aa-4aec-9589-2644447f841d" providerId="ADAL" clId="{40A53A70-5976-42A4-AD5E-E44140CA36DF}" dt="2026-09-29T06:45:04.910" v="312" actId="2165"/>
        <pc:sldMkLst>
          <pc:docMk/>
          <pc:sldMk cId="1040848762" sldId="278"/>
        </pc:sldMkLst>
        <pc:spChg chg="mod">
          <ac:chgData name="오 해찬" userId="398a30bc-41aa-4aec-9589-2644447f841d" providerId="ADAL" clId="{40A53A70-5976-42A4-AD5E-E44140CA36DF}" dt="2026-09-29T06:38:09.130" v="306" actId="1036"/>
          <ac:spMkLst>
            <pc:docMk/>
            <pc:sldMk cId="1040848762" sldId="278"/>
            <ac:spMk id="38" creationId="{1B28BD88-1397-96C9-35B0-FC3B392A4E14}"/>
          </ac:spMkLst>
        </pc:spChg>
        <pc:spChg chg="mod">
          <ac:chgData name="오 해찬" userId="398a30bc-41aa-4aec-9589-2644447f841d" providerId="ADAL" clId="{40A53A70-5976-42A4-AD5E-E44140CA36DF}" dt="2026-09-29T06:37:01.482" v="280" actId="1076"/>
          <ac:spMkLst>
            <pc:docMk/>
            <pc:sldMk cId="1040848762" sldId="278"/>
            <ac:spMk id="43" creationId="{55FC59E9-581C-6B10-4C96-6D7D2A412603}"/>
          </ac:spMkLst>
        </pc:spChg>
        <pc:spChg chg="del">
          <ac:chgData name="오 해찬" userId="398a30bc-41aa-4aec-9589-2644447f841d" providerId="ADAL" clId="{40A53A70-5976-42A4-AD5E-E44140CA36DF}" dt="2026-09-29T06:35:59.796" v="213" actId="478"/>
          <ac:spMkLst>
            <pc:docMk/>
            <pc:sldMk cId="1040848762" sldId="278"/>
            <ac:spMk id="183" creationId="{2AE30216-1718-F874-BEFD-AE230D28ADAB}"/>
          </ac:spMkLst>
        </pc:spChg>
        <pc:grpChg chg="del">
          <ac:chgData name="오 해찬" userId="398a30bc-41aa-4aec-9589-2644447f841d" providerId="ADAL" clId="{40A53A70-5976-42A4-AD5E-E44140CA36DF}" dt="2026-09-29T06:36:01.688" v="214" actId="478"/>
          <ac:grpSpMkLst>
            <pc:docMk/>
            <pc:sldMk cId="1040848762" sldId="278"/>
            <ac:grpSpMk id="231" creationId="{6DDFAF50-A3CF-4ED3-21EA-83634E9E310F}"/>
          </ac:grpSpMkLst>
        </pc:grpChg>
        <pc:graphicFrameChg chg="mod modGraphic">
          <ac:chgData name="오 해찬" userId="398a30bc-41aa-4aec-9589-2644447f841d" providerId="ADAL" clId="{40A53A70-5976-42A4-AD5E-E44140CA36DF}" dt="2026-09-29T06:45:04.910" v="312" actId="2165"/>
          <ac:graphicFrameMkLst>
            <pc:docMk/>
            <pc:sldMk cId="1040848762" sldId="278"/>
            <ac:graphicFrameMk id="8" creationId="{54E9A73C-1D68-3CB9-EFBF-CB18AB346B97}"/>
          </ac:graphicFrameMkLst>
        </pc:graphicFrameChg>
        <pc:picChg chg="add mod">
          <ac:chgData name="오 해찬" userId="398a30bc-41aa-4aec-9589-2644447f841d" providerId="ADAL" clId="{40A53A70-5976-42A4-AD5E-E44140CA36DF}" dt="2026-09-29T06:36:10.481" v="270" actId="1035"/>
          <ac:picMkLst>
            <pc:docMk/>
            <pc:sldMk cId="1040848762" sldId="278"/>
            <ac:picMk id="2" creationId="{B9047F0E-B0E2-F7A5-0B71-EECBD891C882}"/>
          </ac:picMkLst>
        </pc:picChg>
      </pc:sldChg>
      <pc:sldChg chg="modSp mod">
        <pc:chgData name="오 해찬" userId="398a30bc-41aa-4aec-9589-2644447f841d" providerId="ADAL" clId="{40A53A70-5976-42A4-AD5E-E44140CA36DF}" dt="2026-09-29T06:45:30.821" v="331" actId="1036"/>
        <pc:sldMkLst>
          <pc:docMk/>
          <pc:sldMk cId="1664098404" sldId="279"/>
        </pc:sldMkLst>
        <pc:spChg chg="mod">
          <ac:chgData name="오 해찬" userId="398a30bc-41aa-4aec-9589-2644447f841d" providerId="ADAL" clId="{40A53A70-5976-42A4-AD5E-E44140CA36DF}" dt="2026-09-29T06:45:30.821" v="331" actId="1036"/>
          <ac:spMkLst>
            <pc:docMk/>
            <pc:sldMk cId="1664098404" sldId="279"/>
            <ac:spMk id="15" creationId="{77924AB2-D427-3E11-9D10-6C2E350D7DF3}"/>
          </ac:spMkLst>
        </pc:spChg>
        <pc:graphicFrameChg chg="mod modGraphic">
          <ac:chgData name="오 해찬" userId="398a30bc-41aa-4aec-9589-2644447f841d" providerId="ADAL" clId="{40A53A70-5976-42A4-AD5E-E44140CA36DF}" dt="2026-09-29T06:44:51.925" v="311"/>
          <ac:graphicFrameMkLst>
            <pc:docMk/>
            <pc:sldMk cId="1664098404" sldId="279"/>
            <ac:graphicFrameMk id="4" creationId="{C119A6D6-E395-9689-063D-C1F4E2CA384C}"/>
          </ac:graphicFrameMkLst>
        </pc:graphicFrameChg>
      </pc:sldChg>
      <pc:sldChg chg="addSp delSp modSp mod">
        <pc:chgData name="오 해찬" userId="398a30bc-41aa-4aec-9589-2644447f841d" providerId="ADAL" clId="{40A53A70-5976-42A4-AD5E-E44140CA36DF}" dt="2026-09-29T07:11:42.163" v="854" actId="1076"/>
        <pc:sldMkLst>
          <pc:docMk/>
          <pc:sldMk cId="1861681503" sldId="287"/>
        </pc:sldMkLst>
        <pc:spChg chg="mod">
          <ac:chgData name="오 해찬" userId="398a30bc-41aa-4aec-9589-2644447f841d" providerId="ADAL" clId="{40A53A70-5976-42A4-AD5E-E44140CA36DF}" dt="2026-09-29T07:11:23.722" v="853" actId="1035"/>
          <ac:spMkLst>
            <pc:docMk/>
            <pc:sldMk cId="1861681503" sldId="287"/>
            <ac:spMk id="2" creationId="{17686023-33A1-566F-9593-E0B3E1A831BB}"/>
          </ac:spMkLst>
        </pc:spChg>
        <pc:spChg chg="mod">
          <ac:chgData name="오 해찬" userId="398a30bc-41aa-4aec-9589-2644447f841d" providerId="ADAL" clId="{40A53A70-5976-42A4-AD5E-E44140CA36DF}" dt="2026-09-29T07:11:16.639" v="807" actId="20577"/>
          <ac:spMkLst>
            <pc:docMk/>
            <pc:sldMk cId="1861681503" sldId="287"/>
            <ac:spMk id="4" creationId="{09C8C6CA-A315-EABA-B5A5-AA4D06AB695F}"/>
          </ac:spMkLst>
        </pc:spChg>
        <pc:spChg chg="mod">
          <ac:chgData name="오 해찬" userId="398a30bc-41aa-4aec-9589-2644447f841d" providerId="ADAL" clId="{40A53A70-5976-42A4-AD5E-E44140CA36DF}" dt="2026-09-29T07:07:32.465" v="713" actId="1036"/>
          <ac:spMkLst>
            <pc:docMk/>
            <pc:sldMk cId="1861681503" sldId="287"/>
            <ac:spMk id="5" creationId="{C3916792-B67B-C24F-7514-0BB2E0D95B83}"/>
          </ac:spMkLst>
        </pc:spChg>
        <pc:spChg chg="mod">
          <ac:chgData name="오 해찬" userId="398a30bc-41aa-4aec-9589-2644447f841d" providerId="ADAL" clId="{40A53A70-5976-42A4-AD5E-E44140CA36DF}" dt="2026-09-29T07:11:42.163" v="854" actId="1076"/>
          <ac:spMkLst>
            <pc:docMk/>
            <pc:sldMk cId="1861681503" sldId="287"/>
            <ac:spMk id="7" creationId="{EF1B4940-31CF-BB96-8F02-0667EAA66371}"/>
          </ac:spMkLst>
        </pc:spChg>
        <pc:spChg chg="add mod">
          <ac:chgData name="오 해찬" userId="398a30bc-41aa-4aec-9589-2644447f841d" providerId="ADAL" clId="{40A53A70-5976-42A4-AD5E-E44140CA36DF}" dt="2026-09-29T07:07:37.865" v="715" actId="1076"/>
          <ac:spMkLst>
            <pc:docMk/>
            <pc:sldMk cId="1861681503" sldId="287"/>
            <ac:spMk id="9" creationId="{D7804A1C-FDC6-3338-072D-8BF4E9D5C722}"/>
          </ac:spMkLst>
        </pc:spChg>
        <pc:spChg chg="del mod">
          <ac:chgData name="오 해찬" userId="398a30bc-41aa-4aec-9589-2644447f841d" providerId="ADAL" clId="{40A53A70-5976-42A4-AD5E-E44140CA36DF}" dt="2026-09-29T07:11:03.978" v="773" actId="478"/>
          <ac:spMkLst>
            <pc:docMk/>
            <pc:sldMk cId="1861681503" sldId="287"/>
            <ac:spMk id="11" creationId="{8E81A0E5-C9FD-B1F0-011E-9F623516D97A}"/>
          </ac:spMkLst>
        </pc:spChg>
        <pc:spChg chg="mod">
          <ac:chgData name="오 해찬" userId="398a30bc-41aa-4aec-9589-2644447f841d" providerId="ADAL" clId="{40A53A70-5976-42A4-AD5E-E44140CA36DF}" dt="2026-09-29T07:11:42.163" v="854" actId="1076"/>
          <ac:spMkLst>
            <pc:docMk/>
            <pc:sldMk cId="1861681503" sldId="287"/>
            <ac:spMk id="58" creationId="{EFC8002C-164B-D20F-12B2-2D4FEA5ACB5E}"/>
          </ac:spMkLst>
        </pc:spChg>
        <pc:grpChg chg="mod">
          <ac:chgData name="오 해찬" userId="398a30bc-41aa-4aec-9589-2644447f841d" providerId="ADAL" clId="{40A53A70-5976-42A4-AD5E-E44140CA36DF}" dt="2026-09-29T07:11:42.163" v="854" actId="1076"/>
          <ac:grpSpMkLst>
            <pc:docMk/>
            <pc:sldMk cId="1861681503" sldId="287"/>
            <ac:grpSpMk id="12" creationId="{017DC189-0ED6-198E-1EF4-76528ECFE7B1}"/>
          </ac:grpSpMkLst>
        </pc:grpChg>
        <pc:graphicFrameChg chg="mod modGraphic">
          <ac:chgData name="오 해찬" userId="398a30bc-41aa-4aec-9589-2644447f841d" providerId="ADAL" clId="{40A53A70-5976-42A4-AD5E-E44140CA36DF}" dt="2026-09-29T07:10:46.516" v="759" actId="2165"/>
          <ac:graphicFrameMkLst>
            <pc:docMk/>
            <pc:sldMk cId="1861681503" sldId="287"/>
            <ac:graphicFrameMk id="6" creationId="{85F45CBA-C544-3782-6F74-8205667D9603}"/>
          </ac:graphicFrameMkLst>
        </pc:graphicFrameChg>
      </pc:sldChg>
      <pc:sldChg chg="modSp mod modCm">
        <pc:chgData name="오 해찬" userId="398a30bc-41aa-4aec-9589-2644447f841d" providerId="ADAL" clId="{40A53A70-5976-42A4-AD5E-E44140CA36DF}" dt="2026-09-29T06:32:32.186" v="191" actId="20577"/>
        <pc:sldMkLst>
          <pc:docMk/>
          <pc:sldMk cId="4229424717" sldId="385"/>
        </pc:sldMkLst>
        <pc:spChg chg="mod">
          <ac:chgData name="오 해찬" userId="398a30bc-41aa-4aec-9589-2644447f841d" providerId="ADAL" clId="{40A53A70-5976-42A4-AD5E-E44140CA36DF}" dt="2026-09-29T06:32:32.186" v="191" actId="20577"/>
          <ac:spMkLst>
            <pc:docMk/>
            <pc:sldMk cId="4229424717" sldId="385"/>
            <ac:spMk id="2" creationId="{9EE0DD9E-9FC9-075A-1D58-E68C916D7964}"/>
          </ac:spMkLst>
        </pc:spChg>
        <pc:extLst>
          <p:ext xmlns:p="http://schemas.openxmlformats.org/presentationml/2006/main" uri="{D6D511B9-2390-475A-947B-AFAB55BFBCF1}">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9CE72749-F980-4429-879D-89B3CCE251A3}"/>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2C4F5E54-ACCE-4B45-A8D2-596918EE9C31}"/>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C025AD5A-D6E5-4E8A-87D8-5EB8DB192F12}"/>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6912B25E-C82C-426B-9F2C-BFA2D9155793}"/>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224CBD73-C932-4498-B05B-2103FE62E2F4}"/>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7D6D7F82-B772-43D9-A7FB-3179383BCC8D}"/>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38842498-045E-45C1-A035-B942E7FD61C4}"/>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F37C4BB3-B226-4F03-8635-CD9CD20BAD1F}"/>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ECBEAABC-612B-4A42-8AC5-E1FFDB7BD117}"/>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FACE17D2-667D-4A5B-BF68-A631DA6314D7}"/>
              </pc2:cmMkLst>
            </pc226:cmChg>
            <pc226:cmChg xmlns:pc226="http://schemas.microsoft.com/office/powerpoint/2022/06/main/command" chg="mod">
              <pc226:chgData name="오 해찬" userId="398a30bc-41aa-4aec-9589-2644447f841d" providerId="ADAL" clId="{40A53A70-5976-42A4-AD5E-E44140CA36DF}" dt="2026-09-29T06:32:32.186" v="191" actId="20577"/>
              <pc2:cmMkLst xmlns:pc2="http://schemas.microsoft.com/office/powerpoint/2019/9/main/command">
                <pc:docMk/>
                <pc:sldMk cId="4229424717" sldId="385"/>
                <pc2:cmMk id="{1B3D9BD9-65E2-4E36-870C-803125434156}"/>
              </pc2:cmMkLst>
            </pc226:cmChg>
          </p:ext>
        </pc:extLst>
      </pc:sldChg>
      <pc:sldChg chg="modSp mod modCm">
        <pc:chgData name="오 해찬" userId="398a30bc-41aa-4aec-9589-2644447f841d" providerId="ADAL" clId="{40A53A70-5976-42A4-AD5E-E44140CA36DF}" dt="2026-09-29T07:03:22.398" v="561" actId="20577"/>
        <pc:sldMkLst>
          <pc:docMk/>
          <pc:sldMk cId="3554956754" sldId="417"/>
        </pc:sldMkLst>
        <pc:spChg chg="mod">
          <ac:chgData name="오 해찬" userId="398a30bc-41aa-4aec-9589-2644447f841d" providerId="ADAL" clId="{40A53A70-5976-42A4-AD5E-E44140CA36DF}" dt="2026-09-29T07:02:22.920" v="543" actId="20577"/>
          <ac:spMkLst>
            <pc:docMk/>
            <pc:sldMk cId="3554956754" sldId="417"/>
            <ac:spMk id="7" creationId="{27E8CB22-5C14-6BD9-34DA-1ECD33A81E0B}"/>
          </ac:spMkLst>
        </pc:spChg>
        <pc:grpChg chg="mod">
          <ac:chgData name="오 해찬" userId="398a30bc-41aa-4aec-9589-2644447f841d" providerId="ADAL" clId="{40A53A70-5976-42A4-AD5E-E44140CA36DF}" dt="2026-09-29T07:01:36.878" v="511" actId="1076"/>
          <ac:grpSpMkLst>
            <pc:docMk/>
            <pc:sldMk cId="3554956754" sldId="417"/>
            <ac:grpSpMk id="4" creationId="{BF73DC6A-7D1A-A91C-01A2-51DCA1E58AAF}"/>
          </ac:grpSpMkLst>
        </pc:grpChg>
        <pc:graphicFrameChg chg="mod modGraphic">
          <ac:chgData name="오 해찬" userId="398a30bc-41aa-4aec-9589-2644447f841d" providerId="ADAL" clId="{40A53A70-5976-42A4-AD5E-E44140CA36DF}" dt="2026-09-29T07:03:22.398" v="561" actId="20577"/>
          <ac:graphicFrameMkLst>
            <pc:docMk/>
            <pc:sldMk cId="3554956754" sldId="417"/>
            <ac:graphicFrameMk id="2" creationId="{941C9A0C-097D-EE08-29D9-040B16173601}"/>
          </ac:graphicFrameMkLst>
        </pc:graphicFrameChg>
        <pc:extLst>
          <p:ext xmlns:p="http://schemas.openxmlformats.org/presentationml/2006/main" uri="{D6D511B9-2390-475A-947B-AFAB55BFBCF1}">
            <pc226:cmChg xmlns:pc226="http://schemas.microsoft.com/office/powerpoint/2022/06/main/command" chg="mod">
              <pc226:chgData name="오 해찬" userId="398a30bc-41aa-4aec-9589-2644447f841d" providerId="ADAL" clId="{40A53A70-5976-42A4-AD5E-E44140CA36DF}" dt="2026-09-29T07:02:22.920" v="543" actId="20577"/>
              <pc2:cmMkLst xmlns:pc2="http://schemas.microsoft.com/office/powerpoint/2019/9/main/command">
                <pc:docMk/>
                <pc:sldMk cId="3554956754" sldId="417"/>
                <pc2:cmMk id="{4E4E9F17-AAE1-4EE6-A9A3-3B52B1D7C951}"/>
              </pc2:cmMkLst>
            </pc226:cmChg>
          </p:ext>
        </pc:extLst>
      </pc:sldChg>
      <pc:sldChg chg="delSp modSp mod modCm">
        <pc:chgData name="오 해찬" userId="398a30bc-41aa-4aec-9589-2644447f841d" providerId="ADAL" clId="{40A53A70-5976-42A4-AD5E-E44140CA36DF}" dt="2026-09-29T07:10:02.050" v="756" actId="20577"/>
        <pc:sldMkLst>
          <pc:docMk/>
          <pc:sldMk cId="3648400308" sldId="418"/>
        </pc:sldMkLst>
        <pc:spChg chg="del mod">
          <ac:chgData name="오 해찬" userId="398a30bc-41aa-4aec-9589-2644447f841d" providerId="ADAL" clId="{40A53A70-5976-42A4-AD5E-E44140CA36DF}" dt="2026-09-29T07:07:40.920" v="716" actId="478"/>
          <ac:spMkLst>
            <pc:docMk/>
            <pc:sldMk cId="3648400308" sldId="418"/>
            <ac:spMk id="27" creationId="{452D1314-BC31-7B60-4CC5-E2C29C04329B}"/>
          </ac:spMkLst>
        </pc:spChg>
        <pc:graphicFrameChg chg="mod modGraphic">
          <ac:chgData name="오 해찬" userId="398a30bc-41aa-4aec-9589-2644447f841d" providerId="ADAL" clId="{40A53A70-5976-42A4-AD5E-E44140CA36DF}" dt="2026-09-29T07:10:02.050" v="756" actId="20577"/>
          <ac:graphicFrameMkLst>
            <pc:docMk/>
            <pc:sldMk cId="3648400308" sldId="418"/>
            <ac:graphicFrameMk id="23" creationId="{95AE7A5D-C563-E454-C9F4-1BA985CEA979}"/>
          </ac:graphicFrameMkLst>
        </pc:graphicFrameChg>
        <pc:extLst>
          <p:ext xmlns:p="http://schemas.openxmlformats.org/presentationml/2006/main" uri="{D6D511B9-2390-475A-947B-AFAB55BFBCF1}">
            <pc226:cmChg xmlns:pc226="http://schemas.microsoft.com/office/powerpoint/2022/06/main/command" chg="mod">
              <pc226:chgData name="오 해찬" userId="398a30bc-41aa-4aec-9589-2644447f841d" providerId="ADAL" clId="{40A53A70-5976-42A4-AD5E-E44140CA36DF}" dt="2026-09-29T07:10:02.050" v="756" actId="20577"/>
              <pc2:cmMkLst xmlns:pc2="http://schemas.microsoft.com/office/powerpoint/2019/9/main/command">
                <pc:docMk/>
                <pc:sldMk cId="3648400308" sldId="418"/>
                <pc2:cmMk id="{827F76A4-1E68-47B6-8840-7A1CE3546E0C}"/>
              </pc2:cmMkLst>
            </pc226:cmChg>
          </p:ext>
        </pc:extLst>
      </pc:sldChg>
      <pc:sldChg chg="modSp mod">
        <pc:chgData name="오 해찬" userId="398a30bc-41aa-4aec-9589-2644447f841d" providerId="ADAL" clId="{40A53A70-5976-42A4-AD5E-E44140CA36DF}" dt="2026-09-29T06:46:22.078" v="333" actId="20577"/>
        <pc:sldMkLst>
          <pc:docMk/>
          <pc:sldMk cId="1723755585" sldId="420"/>
        </pc:sldMkLst>
        <pc:spChg chg="mod">
          <ac:chgData name="오 해찬" userId="398a30bc-41aa-4aec-9589-2644447f841d" providerId="ADAL" clId="{40A53A70-5976-42A4-AD5E-E44140CA36DF}" dt="2026-09-29T06:46:22.078" v="333" actId="20577"/>
          <ac:spMkLst>
            <pc:docMk/>
            <pc:sldMk cId="1723755585" sldId="420"/>
            <ac:spMk id="56" creationId="{8B42C531-7D53-9F18-723B-DD406542ACCB}"/>
          </ac:spMkLst>
        </pc:spChg>
      </pc:sldChg>
      <pc:sldChg chg="addSp delSp modSp add mod">
        <pc:chgData name="오 해찬" userId="398a30bc-41aa-4aec-9589-2644447f841d" providerId="ADAL" clId="{40A53A70-5976-42A4-AD5E-E44140CA36DF}" dt="2026-09-29T06:58:18.438" v="486" actId="113"/>
        <pc:sldMkLst>
          <pc:docMk/>
          <pc:sldMk cId="886161889" sldId="763"/>
        </pc:sldMkLst>
        <pc:spChg chg="del">
          <ac:chgData name="오 해찬" userId="398a30bc-41aa-4aec-9589-2644447f841d" providerId="ADAL" clId="{40A53A70-5976-42A4-AD5E-E44140CA36DF}" dt="2026-09-29T06:51:12.049" v="366" actId="478"/>
          <ac:spMkLst>
            <pc:docMk/>
            <pc:sldMk cId="886161889" sldId="763"/>
            <ac:spMk id="2" creationId="{282797D6-C091-BF4D-0E34-FDE89FAD193D}"/>
          </ac:spMkLst>
        </pc:spChg>
        <pc:spChg chg="del">
          <ac:chgData name="오 해찬" userId="398a30bc-41aa-4aec-9589-2644447f841d" providerId="ADAL" clId="{40A53A70-5976-42A4-AD5E-E44140CA36DF}" dt="2026-09-29T06:51:01.487" v="363" actId="478"/>
          <ac:spMkLst>
            <pc:docMk/>
            <pc:sldMk cId="886161889" sldId="763"/>
            <ac:spMk id="3" creationId="{D4C25DAA-1704-9112-5AF5-3A78C050B503}"/>
          </ac:spMkLst>
        </pc:spChg>
        <pc:spChg chg="del">
          <ac:chgData name="오 해찬" userId="398a30bc-41aa-4aec-9589-2644447f841d" providerId="ADAL" clId="{40A53A70-5976-42A4-AD5E-E44140CA36DF}" dt="2026-09-29T06:51:18.008" v="370" actId="478"/>
          <ac:spMkLst>
            <pc:docMk/>
            <pc:sldMk cId="886161889" sldId="763"/>
            <ac:spMk id="4" creationId="{6C73992A-4E02-BED8-42E5-FEA7EF26868E}"/>
          </ac:spMkLst>
        </pc:spChg>
        <pc:spChg chg="del">
          <ac:chgData name="오 해찬" userId="398a30bc-41aa-4aec-9589-2644447f841d" providerId="ADAL" clId="{40A53A70-5976-42A4-AD5E-E44140CA36DF}" dt="2026-09-29T06:51:11.057" v="365" actId="478"/>
          <ac:spMkLst>
            <pc:docMk/>
            <pc:sldMk cId="886161889" sldId="763"/>
            <ac:spMk id="6" creationId="{AEE362C0-346A-2B0A-EA8C-0B75136812B1}"/>
          </ac:spMkLst>
        </pc:spChg>
        <pc:spChg chg="del">
          <ac:chgData name="오 해찬" userId="398a30bc-41aa-4aec-9589-2644447f841d" providerId="ADAL" clId="{40A53A70-5976-42A4-AD5E-E44140CA36DF}" dt="2026-09-29T06:51:12.598" v="367" actId="478"/>
          <ac:spMkLst>
            <pc:docMk/>
            <pc:sldMk cId="886161889" sldId="763"/>
            <ac:spMk id="8" creationId="{82419B1F-B35B-20A2-5129-3A3E51895C74}"/>
          </ac:spMkLst>
        </pc:spChg>
        <pc:spChg chg="del">
          <ac:chgData name="오 해찬" userId="398a30bc-41aa-4aec-9589-2644447f841d" providerId="ADAL" clId="{40A53A70-5976-42A4-AD5E-E44140CA36DF}" dt="2026-09-29T06:51:16.668" v="369" actId="478"/>
          <ac:spMkLst>
            <pc:docMk/>
            <pc:sldMk cId="886161889" sldId="763"/>
            <ac:spMk id="11" creationId="{DD0FA3D3-C03C-4866-EE12-D1D7921E1E64}"/>
          </ac:spMkLst>
        </pc:spChg>
        <pc:spChg chg="add">
          <ac:chgData name="오 해찬" userId="398a30bc-41aa-4aec-9589-2644447f841d" providerId="ADAL" clId="{40A53A70-5976-42A4-AD5E-E44140CA36DF}" dt="2026-09-29T06:51:22.255" v="371" actId="22"/>
          <ac:spMkLst>
            <pc:docMk/>
            <pc:sldMk cId="886161889" sldId="763"/>
            <ac:spMk id="14" creationId="{FC155548-019B-F6B1-7690-E9FBBBA2019A}"/>
          </ac:spMkLst>
        </pc:spChg>
        <pc:spChg chg="add">
          <ac:chgData name="오 해찬" userId="398a30bc-41aa-4aec-9589-2644447f841d" providerId="ADAL" clId="{40A53A70-5976-42A4-AD5E-E44140CA36DF}" dt="2026-09-29T06:51:22.255" v="371" actId="22"/>
          <ac:spMkLst>
            <pc:docMk/>
            <pc:sldMk cId="886161889" sldId="763"/>
            <ac:spMk id="16" creationId="{FB2ECADE-78C7-C00E-6AC6-C76F0B8EBCDC}"/>
          </ac:spMkLst>
        </pc:spChg>
        <pc:spChg chg="add mod">
          <ac:chgData name="오 해찬" userId="398a30bc-41aa-4aec-9589-2644447f841d" providerId="ADAL" clId="{40A53A70-5976-42A4-AD5E-E44140CA36DF}" dt="2026-09-29T06:58:18.438" v="486" actId="113"/>
          <ac:spMkLst>
            <pc:docMk/>
            <pc:sldMk cId="886161889" sldId="763"/>
            <ac:spMk id="18" creationId="{EE2158D8-327F-7AE8-02E9-D9411C217C8A}"/>
          </ac:spMkLst>
        </pc:spChg>
        <pc:graphicFrameChg chg="del">
          <ac:chgData name="오 해찬" userId="398a30bc-41aa-4aec-9589-2644447f841d" providerId="ADAL" clId="{40A53A70-5976-42A4-AD5E-E44140CA36DF}" dt="2026-09-29T06:51:13.967" v="368" actId="478"/>
          <ac:graphicFrameMkLst>
            <pc:docMk/>
            <pc:sldMk cId="886161889" sldId="763"/>
            <ac:graphicFrameMk id="7" creationId="{33B1360C-9112-82F3-3DEA-A93A7410D963}"/>
          </ac:graphicFrameMkLst>
        </pc:graphicFrameChg>
        <pc:graphicFrameChg chg="add modGraphic">
          <ac:chgData name="오 해찬" userId="398a30bc-41aa-4aec-9589-2644447f841d" providerId="ADAL" clId="{40A53A70-5976-42A4-AD5E-E44140CA36DF}" dt="2026-09-29T06:57:07.724" v="454" actId="20577"/>
          <ac:graphicFrameMkLst>
            <pc:docMk/>
            <pc:sldMk cId="886161889" sldId="763"/>
            <ac:graphicFrameMk id="10" creationId="{739C7635-3942-77D0-AE98-A546B6F33684}"/>
          </ac:graphicFrameMkLst>
        </pc:graphicFrameChg>
        <pc:graphicFrameChg chg="del">
          <ac:chgData name="오 해찬" userId="398a30bc-41aa-4aec-9589-2644447f841d" providerId="ADAL" clId="{40A53A70-5976-42A4-AD5E-E44140CA36DF}" dt="2026-09-29T06:51:04.264" v="364" actId="478"/>
          <ac:graphicFrameMkLst>
            <pc:docMk/>
            <pc:sldMk cId="886161889" sldId="763"/>
            <ac:graphicFrameMk id="12" creationId="{4D51B9C8-9058-A468-A5D6-C3CCC11546AA}"/>
          </ac:graphicFrameMkLst>
        </pc:graphicFrameChg>
      </pc:sldChg>
    </pc:docChg>
  </pc:docChgLst>
</pc:chgInfo>
</file>

<file path=ppt/comments/modernComment_1A1_D3E455D2.xml><?xml version="1.0" encoding="utf-8"?>
<p188:cmLst xmlns:a="http://schemas.openxmlformats.org/drawingml/2006/main" xmlns:r="http://schemas.openxmlformats.org/officeDocument/2006/relationships" xmlns:p188="http://schemas.microsoft.com/office/powerpoint/2018/8/main">
  <p188:cm id="{6FC2FBE5-124E-4A53-AD3E-66778DBDDDB6}" authorId="{5E03ACD7-6916-F275-5442-2DA38665A9F9}" created="2026-04-23T22:51:21.254">
    <pc:sldMkLst xmlns:pc="http://schemas.microsoft.com/office/powerpoint/2013/main/command">
      <pc:docMk/>
      <pc:sldMk cId="3554956754" sldId="417"/>
    </pc:sldMkLst>
    <p188:txBody>
      <a:bodyPr/>
      <a:lstStyle/>
      <a:p>
        <a:r>
          <a:rPr lang="ko-KR" altLang="en-US"/>
          <a:t>[4/23] 조문기수석 RPD 20 kohm</a:t>
        </a:r>
      </a:p>
    </p188:txBody>
  </p188:cm>
  <p188:cm id="{4F78B917-801A-4D73-B65B-442AE0335D2D}" authorId="{7BAEFA84-A256-5534-DDFC-3A52BB84F1ED}" created="2026-05-07T03:48:03.812">
    <ac:txMkLst xmlns:ac="http://schemas.microsoft.com/office/drawing/2013/main/command">
      <pc:docMk xmlns:pc="http://schemas.microsoft.com/office/powerpoint/2013/main/command"/>
      <pc:sldMk xmlns:pc="http://schemas.microsoft.com/office/powerpoint/2013/main/command" cId="3554956754" sldId="417"/>
      <ac:graphicFrameMk id="2" creationId="{941C9A0C-097D-EE08-29D9-040B16173601}"/>
      <ac:tblMk/>
      <ac:tcMk rowId="1187949854" colId="1448189180"/>
      <ac:txMk cp="3">
        <ac:context len="4" hash="1956517"/>
      </ac:txMk>
    </ac:txMkLst>
    <p188:pos x="5357811" y="901732"/>
    <p188:txBody>
      <a:bodyPr/>
      <a:lstStyle/>
      <a:p>
        <a:r>
          <a:rPr lang="ko-KR" altLang="en-US"/>
          <a:t>[26/5/7] 5.5 변경</a:t>
        </a:r>
      </a:p>
    </p188:txBody>
  </p188:cm>
  <p188:cm id="{4C6ADD92-C755-42A1-8C8D-468D60268D72}" authorId="{ECB522F3-14BE-4028-5621-07DB41C6B9B8}" created="2026-05-08T04:25:25.498">
    <ac:txMkLst xmlns:ac="http://schemas.microsoft.com/office/drawing/2013/main/command">
      <pc:docMk xmlns:pc="http://schemas.microsoft.com/office/powerpoint/2013/main/command"/>
      <pc:sldMk xmlns:pc="http://schemas.microsoft.com/office/powerpoint/2013/main/command" cId="3554956754" sldId="417"/>
      <ac:graphicFrameMk id="2" creationId="{941C9A0C-097D-EE08-29D9-040B16173601}"/>
      <ac:tblMk/>
      <ac:tcMk rowId="803860487" colId="3900317923"/>
      <ac:txMk cp="0" len="3">
        <ac:context len="4" hash="2849596"/>
      </ac:txMk>
    </ac:txMkLst>
    <p188:pos x="5922961" y="1882807"/>
    <p188:txBody>
      <a:bodyPr/>
      <a:lstStyle/>
      <a:p>
        <a:r>
          <a:rPr lang="ko-KR" altLang="en-US"/>
          <a:t>MCLK Typ 기입 요청, FLL range의 경우 별도 기입 요청</a:t>
        </a:r>
      </a:p>
    </p188:txBody>
  </p188:cm>
  <p188:cm id="{4E4E9F17-AAE1-4EE6-A9A3-3B52B1D7C951}" authorId="{ECB522F3-14BE-4028-5621-07DB41C6B9B8}" created="2026-05-08T04:26:53.536">
    <ac:txMkLst xmlns:ac="http://schemas.microsoft.com/office/drawing/2013/main/command">
      <pc:docMk xmlns:pc="http://schemas.microsoft.com/office/powerpoint/2013/main/command"/>
      <pc:sldMk xmlns:pc="http://schemas.microsoft.com/office/powerpoint/2013/main/command" cId="3554956754" sldId="417"/>
      <ac:spMk id="7" creationId="{27E8CB22-5C14-6BD9-34DA-1ECD33A81E0B}"/>
      <ac:txMk cp="308">
        <ac:context len="672" hash="1889309669"/>
      </ac:txMk>
    </ac:txMkLst>
    <p188:pos x="3417887" y="375826"/>
    <p188:replyLst>
      <p188:reply id="{5F2E2EA4-B9A1-436C-BAF8-59939A461A0A}" authorId="{902814E1-A956-B789-2793-196B31628021}" created="2026-05-11T00:12:47.224">
        <p188:txBody>
          <a:bodyPr/>
          <a:lstStyle/>
          <a:p>
            <a:r>
              <a:rPr lang="ko-KR" altLang="en-US"/>
              <a:t>XC-&gt; IC603으로 변경함</a:t>
            </a:r>
          </a:p>
        </p188:txBody>
      </p188:reply>
    </p188:replyLst>
    <p188:txBody>
      <a:bodyPr/>
      <a:lstStyle/>
      <a:p>
        <a:r>
          <a:rPr lang="ko-KR" altLang="en-US"/>
          <a:t>IC603 변경 요 </a:t>
        </a:r>
      </a:p>
    </p188:txBody>
  </p188:cm>
  <p188:cm id="{6EBFF366-E7D4-4F6F-AFE7-7A863C28ADA8}" authorId="{ECB522F3-14BE-4028-5621-07DB41C6B9B8}" created="2026-05-08T04:38:43.769">
    <ac:txMkLst xmlns:ac="http://schemas.microsoft.com/office/drawing/2013/main/command">
      <pc:docMk xmlns:pc="http://schemas.microsoft.com/office/powerpoint/2013/main/command"/>
      <pc:sldMk xmlns:pc="http://schemas.microsoft.com/office/powerpoint/2013/main/command" cId="3554956754" sldId="417"/>
      <ac:graphicFrameMk id="2" creationId="{941C9A0C-097D-EE08-29D9-040B16173601}"/>
      <ac:tblMk/>
      <ac:tcMk rowId="3957985016" colId="112759525"/>
      <ac:txMk cp="0" len="13">
        <ac:context len="14" hash="274066487"/>
      </ac:txMk>
    </ac:txMkLst>
    <p188:pos x="3362324" y="3402045"/>
    <p188:txBody>
      <a:bodyPr/>
      <a:lstStyle/>
      <a:p>
        <a:r>
          <a:rPr lang="ko-KR" altLang="en-US"/>
          <a:t>1. 해당 값은 전송 시에만 사용하고, 수신 시에는 해당 값과 관계없이 High time count 값과 Low time count값 사이 크기 관계로만 진행되는 것으로 파악하였는데, as a receiver라는 표기의 의미가 혼동됩니다.
2. Worst case에 대해서 min/max 설정 값이 통신이 정상적으로 가능한 값인지 검증이 필요합니다. </a:t>
        </a:r>
      </a:p>
    </p188:txBody>
  </p188:cm>
</p188:cmLst>
</file>

<file path=ppt/comments/modernComment_1A2_D9762BB4.xml><?xml version="1.0" encoding="utf-8"?>
<p188:cmLst xmlns:a="http://schemas.openxmlformats.org/drawingml/2006/main" xmlns:r="http://schemas.openxmlformats.org/officeDocument/2006/relationships" xmlns:p188="http://schemas.microsoft.com/office/powerpoint/2018/8/main">
  <p188:cm id="{F66F89DF-2B3D-45BD-819D-90B4C9655739}" authorId="{5E03ACD7-6916-F275-5442-2DA38665A9F9}" created="2026-04-23T23:02:56.455">
    <pc:sldMkLst xmlns:pc="http://schemas.microsoft.com/office/powerpoint/2013/main/command">
      <pc:docMk/>
      <pc:sldMk cId="3648400308" sldId="418"/>
    </pc:sldMkLst>
    <p188:txBody>
      <a:bodyPr/>
      <a:lstStyle/>
      <a:p>
        <a:r>
          <a:rPr lang="ko-KR" altLang="en-US"/>
          <a:t>[4/23] 조문기수석 Test condition 수정
 Sink Current Max 64 mA</a:t>
        </a:r>
      </a:p>
    </p188:txBody>
  </p188:cm>
  <p188:cm id="{A7677A38-184C-4F00-95C2-07AEB6A37436}" authorId="{7BAEFA84-A256-5534-DDFC-3A52BB84F1ED}" created="2026-05-07T03:48:41.039">
    <ac:txMkLst xmlns:ac="http://schemas.microsoft.com/office/drawing/2013/main/command">
      <pc:docMk xmlns:pc="http://schemas.microsoft.com/office/powerpoint/2013/main/command"/>
      <pc:sldMk xmlns:pc="http://schemas.microsoft.com/office/powerpoint/2013/main/command" cId="3648400308" sldId="418"/>
      <ac:graphicFrameMk id="23" creationId="{95AE7A5D-C563-E454-C9F4-1BA985CEA979}"/>
      <ac:tblMk/>
      <ac:tcMk rowId="1762614104" colId="2915946677"/>
      <ac:txMk cp="2">
        <ac:context len="3" hash="56179"/>
      </ac:txMk>
    </ac:txMkLst>
    <p188:pos x="5448131" y="1463675"/>
    <p188:replyLst>
      <p188:reply id="{F8AA0556-A238-421B-86B7-2D538A5FA338}" authorId="{902814E1-A956-B789-2793-196B31628021}" created="2026-05-11T00:14:16.243">
        <p188:txBody>
          <a:bodyPr/>
          <a:lstStyle/>
          <a:p>
            <a:r>
              <a:rPr lang="ko-KR" altLang="en-US"/>
              <a:t>40 -&gt; 24 로 변겨함</a:t>
            </a:r>
          </a:p>
        </p188:txBody>
      </p188:reply>
    </p188:replyLst>
    <p188:txBody>
      <a:bodyPr/>
      <a:lstStyle/>
      <a:p>
        <a:r>
          <a:rPr lang="ko-KR" altLang="en-US"/>
          <a:t>[26/5/7] 24로 변경</a:t>
        </a:r>
      </a:p>
    </p188:txBody>
  </p188:cm>
  <p188:cm id="{827F76A4-1E68-47B6-8840-7A1CE3546E0C}" authorId="{7BAEFA84-A256-5534-DDFC-3A52BB84F1ED}" created="2026-05-07T03:49:56.775">
    <ac:txMkLst xmlns:ac="http://schemas.microsoft.com/office/drawing/2013/main/command">
      <pc:docMk xmlns:pc="http://schemas.microsoft.com/office/powerpoint/2013/main/command"/>
      <pc:sldMk xmlns:pc="http://schemas.microsoft.com/office/powerpoint/2013/main/command" cId="3648400308" sldId="418"/>
      <ac:graphicFrameMk id="23" creationId="{95AE7A5D-C563-E454-C9F4-1BA985CEA979}"/>
      <ac:tblMk/>
      <ac:tcMk rowId="1833179033" colId="1629708029"/>
      <ac:txMk cp="0">
        <ac:context len="1" hash="13"/>
      </ac:txMk>
    </ac:txMkLst>
    <p188:pos x="3905081" y="6673850"/>
    <p188:txBody>
      <a:bodyPr/>
      <a:lstStyle/>
      <a:p>
        <a:r>
          <a:rPr lang="ko-KR" altLang="en-US"/>
          <a:t>[26/5/7] offset 내용 삭제</a:t>
        </a:r>
      </a:p>
    </p188:txBody>
  </p188:cm>
  <p188:cm id="{00B0123B-B0AF-4EF7-82FA-D778ED73BE2B}" authorId="{ECB522F3-14BE-4028-5621-07DB41C6B9B8}" created="2026-05-08T04:54:43.126">
    <ac:txMkLst xmlns:ac="http://schemas.microsoft.com/office/drawing/2013/main/command">
      <pc:docMk xmlns:pc="http://schemas.microsoft.com/office/powerpoint/2013/main/command"/>
      <pc:sldMk xmlns:pc="http://schemas.microsoft.com/office/powerpoint/2013/main/command" cId="3648400308" sldId="418"/>
      <ac:graphicFrameMk id="23" creationId="{95AE7A5D-C563-E454-C9F4-1BA985CEA979}"/>
      <ac:tblMk/>
      <ac:tcMk rowId="3865414234" colId="1629708029"/>
      <ac:txMk cp="0" len="8">
        <ac:context len="9" hash="3259690443"/>
      </ac:txMk>
    </ac:txMkLst>
    <p188:pos x="3328819" y="4683125"/>
    <p188:replyLst>
      <p188:reply id="{701F5E18-BAF6-4C12-863C-632AA9AF6D5C}" authorId="{902814E1-A956-B789-2793-196B31628021}" created="2026-05-11T00:15:38.414">
        <p188:txBody>
          <a:bodyPr/>
          <a:lstStyle/>
          <a:p>
            <a:r>
              <a:rPr lang="ko-KR" altLang="en-US"/>
              <a:t>Vo = 40V -&gt; Vo = 24V로 변경함</a:t>
            </a:r>
          </a:p>
        </p188:txBody>
      </p188:reply>
    </p188:replyLst>
    <p188:txBody>
      <a:bodyPr/>
      <a:lstStyle/>
      <a:p>
        <a:r>
          <a:rPr lang="ko-KR" altLang="en-US"/>
          <a:t>24V로 변경 + 300nA spec 변경 필요</a:t>
        </a:r>
      </a:p>
    </p188:txBody>
  </p188:cm>
  <p188:cm id="{849A6CEF-E3C6-437B-8E29-E1B7A90CE0E3}" authorId="{ECB522F3-14BE-4028-5621-07DB41C6B9B8}" created="2026-05-08T04:59:28.753">
    <ac:txMkLst xmlns:ac="http://schemas.microsoft.com/office/drawing/2013/main/command">
      <pc:docMk xmlns:pc="http://schemas.microsoft.com/office/powerpoint/2013/main/command"/>
      <pc:sldMk xmlns:pc="http://schemas.microsoft.com/office/powerpoint/2013/main/command" cId="3648400308" sldId="418"/>
      <ac:graphicFrameMk id="23" creationId="{95AE7A5D-C563-E454-C9F4-1BA985CEA979}"/>
      <ac:tblMk/>
      <ac:tcMk rowId="4103532953" colId="2256908222"/>
      <ac:txMk cp="0" len="2">
        <ac:context len="3" hash="56047"/>
      </ac:txMk>
    </ac:txMkLst>
    <p188:pos x="4881394" y="6859588"/>
    <p188:replyLst>
      <p188:reply id="{2F46FC96-EA3F-424E-94BD-B778719AF350}" authorId="{902814E1-A956-B789-2793-196B31628021}" created="2026-05-11T00:16:17.611">
        <p188:txBody>
          <a:bodyPr/>
          <a:lstStyle/>
          <a:p>
            <a:r>
              <a:rPr lang="ko-KR" altLang="en-US"/>
              <a:t>min=10, max=30 값 삭제함.</a:t>
            </a:r>
          </a:p>
        </p188:txBody>
      </p188:reply>
    </p188:replyLst>
    <p188:txBody>
      <a:bodyPr/>
      <a:lstStyle/>
      <a:p>
        <a:r>
          <a:rPr lang="ko-KR" altLang="en-US"/>
          <a:t>Min/Max 값 삭제, Typ 값만 유지 필요</a:t>
        </a:r>
      </a:p>
    </p188:txBody>
  </p188:cm>
  <p188:cm id="{D0115DE6-9424-4D1F-9E9C-496B5E32D3C7}" authorId="{ECB522F3-14BE-4028-5621-07DB41C6B9B8}" created="2026-05-08T05:01:02.815">
    <ac:txMkLst xmlns:ac="http://schemas.microsoft.com/office/drawing/2013/main/command">
      <pc:docMk xmlns:pc="http://schemas.microsoft.com/office/powerpoint/2013/main/command"/>
      <pc:sldMk xmlns:pc="http://schemas.microsoft.com/office/powerpoint/2013/main/command" cId="3648400308" sldId="418"/>
      <ac:graphicFrameMk id="23" creationId="{95AE7A5D-C563-E454-C9F4-1BA985CEA979}"/>
      <ac:tblMk/>
      <ac:tcMk rowId="705651753" colId="2256908222"/>
      <ac:txMk cp="0" len="2">
        <ac:context len="3" hash="60403"/>
      </ac:txMk>
    </ac:txMkLst>
    <p188:pos x="4848056" y="6026150"/>
    <p188:replyLst>
      <p188:reply id="{525438BE-B829-474E-B977-C1DEA275083F}" authorId="{902814E1-A956-B789-2793-196B31628021}" created="2026-05-11T00:17:50.690">
        <p188:txBody>
          <a:bodyPr/>
          <a:lstStyle/>
          <a:p>
            <a:r>
              <a:rPr lang="ko-KR" altLang="en-US"/>
              <a:t>min=40, max=110 값 삭제함.</a:t>
            </a:r>
          </a:p>
        </p188:txBody>
      </p188:reply>
    </p188:replyLst>
    <p188:txBody>
      <a:bodyPr/>
      <a:lstStyle/>
      <a:p>
        <a:r>
          <a:rPr lang="ko-KR" altLang="en-US"/>
          <a:t>Min/Max 값 삭제, Typ 값만 유지 필요</a:t>
        </a:r>
      </a:p>
    </p188:txBody>
  </p188:cm>
  <p188:cm id="{E07A153A-E61F-4BEA-9589-7119DC40875F}" authorId="{ECB522F3-14BE-4028-5621-07DB41C6B9B8}" created="2026-05-08T05:14:12.217">
    <pc:sldMkLst xmlns:pc="http://schemas.microsoft.com/office/powerpoint/2013/main/command">
      <pc:docMk/>
      <pc:sldMk cId="3648400308" sldId="418"/>
    </pc:sldMkLst>
    <p188:txBody>
      <a:bodyPr/>
      <a:lstStyle/>
      <a:p>
        <a:r>
          <a:rPr lang="ko-KR" altLang="en-US"/>
          <a:t>Open/Short HYS 추가 필요</a:t>
        </a:r>
      </a:p>
    </p188:txBody>
  </p188:cm>
</p188:cmLst>
</file>

<file path=ppt/comments/modernComment_1A3_7DF4D588.xml><?xml version="1.0" encoding="utf-8"?>
<p188:cmLst xmlns:a="http://schemas.openxmlformats.org/drawingml/2006/main" xmlns:r="http://schemas.openxmlformats.org/officeDocument/2006/relationships" xmlns:p188="http://schemas.microsoft.com/office/powerpoint/2018/8/main">
  <p188:cm id="{67DFB096-BCBF-438A-8A37-A68B03D6B449}" authorId="{5E03ACD7-6916-F275-5442-2DA38665A9F9}" created="2026-02-10T06:59:31.782">
    <pc:sldMkLst xmlns:pc="http://schemas.microsoft.com/office/powerpoint/2013/main/command">
      <pc:docMk/>
      <pc:sldMk cId="2113197448" sldId="419"/>
    </pc:sldMkLst>
    <p188:txBody>
      <a:bodyPr/>
      <a:lstStyle/>
      <a:p>
        <a:r>
          <a:rPr lang="ko-KR" altLang="en-US"/>
          <a:t>[2/10] 이준영 2’b10 channel 수정
    even ch. = (LED1)  → odd ch.
     odd ch. = (LED2/3) → even ch.</a:t>
        </a:r>
      </a:p>
    </p188:txBody>
  </p188:cm>
  <p188:cm id="{F819D5D6-B03F-44C5-BF8E-44B926C363B6}" authorId="{5E03ACD7-6916-F275-5442-2DA38665A9F9}" created="2026-02-23T08:02:02.212">
    <pc:sldMkLst xmlns:pc="http://schemas.microsoft.com/office/powerpoint/2013/main/command">
      <pc:docMk/>
      <pc:sldMk cId="2113197448" sldId="419"/>
    </pc:sldMkLst>
    <p188:txBody>
      <a:bodyPr/>
      <a:lstStyle/>
      <a:p>
        <a:r>
          <a:rPr lang="ko-KR" altLang="en-US"/>
          <a:t>[2/23] 2b11 확인필요 28bit로 되어있는데 24 bit이 아닌지 확인 필요</a:t>
        </a:r>
      </a:p>
    </p188:txBody>
  </p188:cm>
  <p188:cm id="{E4E67E2D-42A2-491C-ADA3-60DF5212B827}" authorId="{3F72D633-7196-E7CB-FCA9-21E6783F094A}" created="2026-05-07T08:58:36.288">
    <ac:deMkLst xmlns:ac="http://schemas.microsoft.com/office/drawing/2013/main/command">
      <pc:docMk xmlns:pc="http://schemas.microsoft.com/office/powerpoint/2013/main/command"/>
      <pc:sldMk xmlns:pc="http://schemas.microsoft.com/office/powerpoint/2013/main/command" cId="2113197448" sldId="419"/>
      <ac:picMk id="12" creationId="{09C00FD8-D3BE-0DAA-521D-0561EF4CAAFE}"/>
    </ac:deMkLst>
    <p188:replyLst>
      <p188:reply id="{32F7765E-9B29-49AB-A131-5D910EC72A2F}" authorId="{902814E1-A956-B789-2793-196B31628021}" created="2026-05-11T00:48:31.901">
        <p188:txBody>
          <a:bodyPr/>
          <a:lstStyle/>
          <a:p>
            <a:r>
              <a:rPr lang="ko-KR" altLang="en-US"/>
              <a:t>20260424_ID601_SM_Design_Specification_v0.4_송부용pptx 자료 참고 업데이트함</a:t>
            </a:r>
          </a:p>
        </p188:txBody>
      </p188:reply>
    </p188:replyLst>
    <p188:txBody>
      <a:bodyPr/>
      <a:lstStyle/>
      <a:p>
        <a:r>
          <a:rPr lang="ko-KR" altLang="en-US"/>
          <a:t>Err information 업데이트 필요</a:t>
        </a:r>
      </a:p>
    </p188:txBody>
  </p188:cm>
  <p188:cm id="{CA042D53-49E6-4EBE-8D33-184E4E345224}" authorId="{ECB522F3-14BE-4028-5621-07DB41C6B9B8}" created="2026-05-08T05:26:17.371">
    <ac:deMkLst xmlns:ac="http://schemas.microsoft.com/office/drawing/2013/main/command">
      <pc:docMk xmlns:pc="http://schemas.microsoft.com/office/powerpoint/2013/main/command"/>
      <pc:sldMk xmlns:pc="http://schemas.microsoft.com/office/powerpoint/2013/main/command" cId="2113197448" sldId="419"/>
      <ac:grpSpMk id="36" creationId="{E0904E6D-4CF6-A0AD-47E9-FC75A62F07DE}"/>
    </ac:deMkLst>
    <p188:txBody>
      <a:bodyPr/>
      <a:lstStyle/>
      <a:p>
        <a:r>
          <a:rPr lang="ko-KR" altLang="en-US"/>
          <a:t>XD/XC → ID601/IC603 변경 요</a:t>
        </a:r>
      </a:p>
    </p188:txBody>
  </p188:cm>
</p188:cmLst>
</file>

<file path=ppt/comments/modernComment_1AB_5DA4829F.xml><?xml version="1.0" encoding="utf-8"?>
<p188:cmLst xmlns:a="http://schemas.openxmlformats.org/drawingml/2006/main" xmlns:r="http://schemas.openxmlformats.org/officeDocument/2006/relationships" xmlns:p188="http://schemas.microsoft.com/office/powerpoint/2018/8/main">
  <p188:cm id="{1C7F2B57-7D59-43D7-906D-20AA9D8886F8}" authorId="{7BAEFA84-A256-5534-DDFC-3A52BB84F1ED}" created="2026-05-07T04:11:39.466">
    <ac:txMkLst xmlns:ac="http://schemas.microsoft.com/office/drawing/2013/main/command">
      <pc:docMk xmlns:pc="http://schemas.microsoft.com/office/powerpoint/2013/main/command"/>
      <pc:sldMk xmlns:pc="http://schemas.microsoft.com/office/powerpoint/2013/main/command" cId="1571062431" sldId="427"/>
      <ac:graphicFrameMk id="6" creationId="{029D54CF-82BA-535C-68BC-B2EBBCF3C384}"/>
      <ac:tblMk/>
      <ac:tcMk rowId="4196047234" colId="4170535043"/>
      <ac:txMk cp="5">
        <ac:context len="6" hash="1977887980"/>
      </ac:txMk>
    </ac:txMkLst>
    <p188:pos x="419092" y="1286488"/>
    <p188:replyLst>
      <p188:reply id="{B4B8FD4A-A707-4AB5-A175-B3086EBB9049}" authorId="{902814E1-A956-B789-2793-196B31628021}" created="2026-05-11T01:02:14.414">
        <p188:txBody>
          <a:bodyPr/>
          <a:lstStyle/>
          <a:p>
            <a:r>
              <a:rPr lang="ko-KR" altLang="en-US"/>
              <a:t>(0x02) -&gt; 삭제함</a:t>
            </a:r>
          </a:p>
        </p188:txBody>
      </p188:reply>
    </p188:replyLst>
    <p188:txBody>
      <a:bodyPr/>
      <a:lstStyle/>
      <a:p>
        <a:r>
          <a:rPr lang="ko-KR" altLang="en-US"/>
          <a:t>[26/5/7] 삭제??</a:t>
        </a:r>
      </a:p>
    </p188:txBody>
  </p188:cm>
</p188:cmLst>
</file>

<file path=ppt/comments/modernComment_2CD_251DA070.xml><?xml version="1.0" encoding="utf-8"?>
<p188:cmLst xmlns:a="http://schemas.openxmlformats.org/drawingml/2006/main" xmlns:r="http://schemas.openxmlformats.org/officeDocument/2006/relationships" xmlns:p188="http://schemas.microsoft.com/office/powerpoint/2018/8/main">
  <p188:cm id="{0828FBBA-82D7-4616-A221-6B4FB5B7C41D}" authorId="{ECB522F3-14BE-4028-5621-07DB41C6B9B8}" created="2026-05-07T07:05:24.229">
    <ac:deMkLst xmlns:ac="http://schemas.microsoft.com/office/drawing/2013/main/command">
      <pc:docMk xmlns:pc="http://schemas.microsoft.com/office/powerpoint/2013/main/command"/>
      <pc:sldMk xmlns:pc="http://schemas.microsoft.com/office/powerpoint/2013/main/command" cId="622698608" sldId="717"/>
      <ac:spMk id="9" creationId="{59B1A5AA-4237-1902-CED4-9318F488EBF9}"/>
    </ac:deMkLst>
    <p188:txBody>
      <a:bodyPr/>
      <a:lstStyle/>
      <a:p>
        <a:r>
          <a:rPr lang="ko-KR" altLang="en-US"/>
          <a:t>TYPE-3 의 경우, TYPE-2에서 전 채널을 시분할 채널로 설정하는 구성으로 생각되는데요, 별도의 TYPE로 분류하여 사양을 기술하여야 할지 검토 요청드립니다.
(만약 사양을 분류하여 기술하여야 한다면, TYPE-2에서 전 채널을 시분할하지 않는 채널로 설정하는 경우는 별도의 TYPE으로 분류하지 않아도 될까요?)</a:t>
        </a:r>
      </a:p>
    </p188:txBody>
  </p188:cm>
</p188:cmLst>
</file>

<file path=ppt/comments/modernComment_2CF_7B8F01B.xml><?xml version="1.0" encoding="utf-8"?>
<p188:cmLst xmlns:a="http://schemas.openxmlformats.org/drawingml/2006/main" xmlns:r="http://schemas.openxmlformats.org/officeDocument/2006/relationships" xmlns:p188="http://schemas.microsoft.com/office/powerpoint/2018/8/main">
  <p188:cm id="{C2C5D058-B457-4A86-A30D-5B5B2DD1A0D8}" authorId="{ECB522F3-14BE-4028-5621-07DB41C6B9B8}" created="2026-05-07T07:31:55.127">
    <ac:deMkLst xmlns:ac="http://schemas.microsoft.com/office/drawing/2013/main/command">
      <pc:docMk xmlns:pc="http://schemas.microsoft.com/office/powerpoint/2013/main/command"/>
      <pc:sldMk xmlns:pc="http://schemas.microsoft.com/office/powerpoint/2013/main/command" cId="129560603" sldId="719"/>
      <ac:spMk id="222" creationId="{8CAD28A4-17F2-6C85-2F83-09AA438EBA4A}"/>
    </ac:deMkLst>
    <p188:txBody>
      <a:bodyPr/>
      <a:lstStyle/>
      <a:p>
        <a:r>
          <a:rPr lang="ko-KR" altLang="en-US"/>
          <a:t>LD_DIR = 1 (Tail) 기준 파형임을 언급해 주시면 감사하겠습니다.</a:t>
        </a:r>
      </a:p>
    </p188:txBody>
  </p188:cm>
  <p188:cm id="{CB2B72A4-BE2E-4755-90E0-2273F5522E00}" authorId="{3F72D633-7196-E7CB-FCA9-21E6783F094A}" created="2026-05-07T09:06:16.694">
    <ac:txMkLst xmlns:ac="http://schemas.microsoft.com/office/drawing/2013/main/command">
      <pc:docMk xmlns:pc="http://schemas.microsoft.com/office/powerpoint/2013/main/command"/>
      <pc:sldMk xmlns:pc="http://schemas.microsoft.com/office/powerpoint/2013/main/command" cId="129560603" sldId="719"/>
      <ac:graphicFrameMk id="81" creationId="{96929D06-B311-E7D7-2866-4B464DF8747D}"/>
      <ac:tblMk/>
      <ac:tcMk rowId="200820793" colId="2073487403"/>
      <ac:txMk cp="0" len="9">
        <ac:context len="10" hash="590146348"/>
      </ac:txMk>
    </ac:txMkLst>
    <p188:pos x="5542188" y="905543"/>
    <p188:txBody>
      <a:bodyPr/>
      <a:lstStyle/>
      <a:p>
        <a:r>
          <a:rPr lang="ko-KR" altLang="en-US"/>
          <a:t>현 LD_TYPE 사양에 따라 Table 업데이트 필요</a:t>
        </a:r>
      </a:p>
    </p188:txBody>
  </p188:cm>
</p188:cmLst>
</file>

<file path=ppt/comments/modernComment_2D1_5829515B.xml><?xml version="1.0" encoding="utf-8"?>
<p188:cmLst xmlns:a="http://schemas.openxmlformats.org/drawingml/2006/main" xmlns:r="http://schemas.openxmlformats.org/officeDocument/2006/relationships" xmlns:p188="http://schemas.microsoft.com/office/powerpoint/2018/8/main">
  <p188:cm id="{2CFC5855-7FA5-4235-8B9E-3B601D22498C}" authorId="{5E03ACD7-6916-F275-5442-2DA38665A9F9}" created="2026-02-10T07:06:50.650">
    <pc:sldMkLst xmlns:pc="http://schemas.microsoft.com/office/powerpoint/2013/main/command">
      <pc:docMk/>
      <pc:sldMk cId="1479102811" sldId="721"/>
    </pc:sldMkLst>
    <p188:txBody>
      <a:bodyPr/>
      <a:lstStyle/>
      <a:p>
        <a:r>
          <a:rPr lang="ko-KR" altLang="en-US"/>
          <a:t>[1/14] 이준영 SPRD_GAIN 수정
        SPRD_GAIN[3:0] → SPRD_GAIN[2:0]</a:t>
        </a:r>
      </a:p>
    </p188:txBody>
  </p188:cm>
  <p188:cm id="{53C6DFA9-EA85-4547-BD00-7044DBD4489C}" authorId="{7BAEFA84-A256-5534-DDFC-3A52BB84F1ED}" created="2026-05-07T08:00:53.861">
    <ac:txMkLst xmlns:ac="http://schemas.microsoft.com/office/drawing/2013/main/command">
      <pc:docMk xmlns:pc="http://schemas.microsoft.com/office/powerpoint/2013/main/command"/>
      <pc:sldMk xmlns:pc="http://schemas.microsoft.com/office/powerpoint/2013/main/command" cId="1479102811" sldId="721"/>
      <ac:graphicFrameMk id="15" creationId="{2E2D76C7-6056-18D7-2156-FEFD22AD04AD}"/>
      <ac:tblMk/>
      <ac:tcMk rowId="3261738556" colId="32595803"/>
      <ac:txMk cp="0" len="326">
        <ac:context len="327" hash="3064172844"/>
      </ac:txMk>
    </ac:txMkLst>
    <p188:pos x="6075074" y="467829"/>
    <p188:txBody>
      <a:bodyPr/>
      <a:lstStyle/>
      <a:p>
        <a:r>
          <a:rPr lang="ko-KR" altLang="en-US"/>
          <a:t>[26/5/7] OFS 대신에 trim 값으로 변경</a:t>
        </a:r>
      </a:p>
    </p188:txBody>
  </p188:cm>
  <p188:cm id="{8E6BFC01-D50D-4F62-B1A6-75B2E7248BE5}" authorId="{7BAEFA84-A256-5534-DDFC-3A52BB84F1ED}" created="2026-05-07T08:08:16.828">
    <ac:txMkLst xmlns:ac="http://schemas.microsoft.com/office/drawing/2013/main/command">
      <pc:docMk xmlns:pc="http://schemas.microsoft.com/office/powerpoint/2013/main/command"/>
      <pc:sldMk xmlns:pc="http://schemas.microsoft.com/office/powerpoint/2013/main/command" cId="1479102811" sldId="721"/>
      <ac:graphicFrameMk id="10" creationId="{E930E701-0F95-4A77-2A04-FAEA137B9F27}"/>
      <ac:tblMk/>
      <ac:tcMk rowId="3261738556" colId="32595803"/>
      <ac:txMk cp="0">
        <ac:context len="67" hash="2987642673"/>
      </ac:txMk>
    </ac:txMkLst>
    <p188:pos x="6073428" y="466659"/>
    <p188:replyLst>
      <p188:reply id="{62204CDC-EE22-4125-AA2E-902F27B33CB5}" authorId="{902814E1-A956-B789-2793-196B31628021}" created="2026-05-11T01:45:14.078">
        <p188:txBody>
          <a:bodyPr/>
          <a:lstStyle/>
          <a:p>
            <a:r>
              <a:rPr lang="ko-KR" altLang="en-US"/>
              <a:t>순서변경처리함</a:t>
            </a:r>
          </a:p>
        </p188:txBody>
      </p188:reply>
    </p188:replyLst>
    <p188:txBody>
      <a:bodyPr/>
      <a:lstStyle/>
      <a:p>
        <a:r>
          <a:rPr lang="ko-KR" altLang="en-US"/>
          <a:t>[26/5/7] 순서 밑으로 변경</a:t>
        </a:r>
      </a:p>
    </p188:txBody>
  </p188:cm>
  <p188:cm id="{677615F2-6B08-4FB9-8920-215204E2E314}" authorId="{7BAEFA84-A256-5534-DDFC-3A52BB84F1ED}" created="2026-05-07T08:10:53.923">
    <ac:txMkLst xmlns:ac="http://schemas.microsoft.com/office/drawing/2013/main/command">
      <pc:docMk xmlns:pc="http://schemas.microsoft.com/office/powerpoint/2013/main/command"/>
      <pc:sldMk xmlns:pc="http://schemas.microsoft.com/office/powerpoint/2013/main/command" cId="1479102811" sldId="721"/>
      <ac:spMk id="8" creationId="{2FCD335A-0277-A41A-A7F2-5CBC9C44750A}"/>
      <ac:txMk cp="4" len="4">
        <ac:context len="13" hash="1831657477"/>
      </ac:txMk>
    </ac:txMkLst>
    <p188:pos x="421033" y="224944"/>
    <p188:replyLst>
      <p188:reply id="{3367D68D-EC27-43E3-B01E-6A0471F5B1AD}" authorId="{902814E1-A956-B789-2793-196B31628021}" created="2026-05-11T02:53:01.492">
        <p188:txBody>
          <a:bodyPr/>
          <a:lstStyle/>
          <a:p>
            <a:r>
              <a:rPr lang="ko-KR" altLang="en-US"/>
              <a:t>TEMP-&gt; OFS_TEMP_ETC 로 변경</a:t>
            </a:r>
          </a:p>
        </p188:txBody>
      </p188:reply>
    </p188:replyLst>
    <p188:txBody>
      <a:bodyPr/>
      <a:lstStyle/>
      <a:p>
        <a:r>
          <a:rPr lang="ko-KR" altLang="en-US"/>
          <a:t>[26/5/7] 이름 변경 고려</a:t>
        </a:r>
      </a:p>
    </p188:txBody>
  </p188:cm>
  <p188:cm id="{CFD3CCDA-86EE-450C-BD3D-07D052AD0B10}" authorId="{7BAEFA84-A256-5534-DDFC-3A52BB84F1ED}" created="2026-05-07T09:30:20.785">
    <ac:txMkLst xmlns:ac="http://schemas.microsoft.com/office/drawing/2013/main/command">
      <pc:docMk xmlns:pc="http://schemas.microsoft.com/office/powerpoint/2013/main/command"/>
      <pc:sldMk xmlns:pc="http://schemas.microsoft.com/office/powerpoint/2013/main/command" cId="1479102811" sldId="721"/>
      <ac:graphicFrameMk id="15" creationId="{2E2D76C7-6056-18D7-2156-FEFD22AD04AD}"/>
      <ac:tblMk/>
      <ac:tcMk rowId="3603434939" colId="32595803"/>
      <ac:txMk cp="0" len="31">
        <ac:context len="32" hash="2082430442"/>
      </ac:txMk>
    </ac:txMkLst>
    <p188:pos x="3149890" y="1225795"/>
    <p188:txBody>
      <a:bodyPr/>
      <a:lstStyle/>
      <a:p>
        <a:r>
          <a:rPr lang="ko-KR" altLang="en-US"/>
          <a:t>[26/5/7] 기능 설명 필요</a:t>
        </a:r>
      </a:p>
    </p188:txBody>
  </p188:cm>
</p188:cmLst>
</file>

<file path=ppt/comments/modernComment_2D3_C78F73D2.xml><?xml version="1.0" encoding="utf-8"?>
<p188:cmLst xmlns:a="http://schemas.openxmlformats.org/drawingml/2006/main" xmlns:r="http://schemas.openxmlformats.org/officeDocument/2006/relationships" xmlns:p188="http://schemas.microsoft.com/office/powerpoint/2018/8/main">
  <p188:cm id="{E5EFAC96-263B-4EC4-9B17-3957879E00B5}" authorId="{5E03ACD7-6916-F275-5442-2DA38665A9F9}" created="2026-02-10T05:45:05.369">
    <pc:sldMkLst xmlns:pc="http://schemas.microsoft.com/office/powerpoint/2013/main/command">
      <pc:docMk/>
      <pc:sldMk cId="3348067282" sldId="723"/>
    </pc:sldMkLst>
    <p188:txBody>
      <a:bodyPr/>
      <a:lstStyle/>
      <a:p>
        <a:r>
          <a:rPr lang="ko-KR" altLang="en-US"/>
          <a:t>1/23 이준영 Serial Latency (0x15번지),
          default = 0x080 </a:t>
        </a:r>
      </a:p>
    </p188:txBody>
  </p188:cm>
</p188:cmLst>
</file>

<file path=ppt/comments/modernComment_2D5_190CCD15.xml><?xml version="1.0" encoding="utf-8"?>
<p188:cmLst xmlns:a="http://schemas.openxmlformats.org/drawingml/2006/main" xmlns:r="http://schemas.openxmlformats.org/officeDocument/2006/relationships" xmlns:p188="http://schemas.microsoft.com/office/powerpoint/2018/8/main">
  <p188:cm id="{F2DA9E2C-2228-46A5-855F-1481EED7D70D}" authorId="{7BAEFA84-A256-5534-DDFC-3A52BB84F1ED}" created="2026-05-07T04:04:58.530">
    <ac:txMkLst xmlns:ac="http://schemas.microsoft.com/office/drawing/2013/main/command">
      <pc:docMk xmlns:pc="http://schemas.microsoft.com/office/powerpoint/2013/main/command"/>
      <pc:sldMk xmlns:pc="http://schemas.microsoft.com/office/powerpoint/2013/main/command" cId="420269333" sldId="725"/>
      <ac:graphicFrameMk id="2" creationId="{CF908212-E007-C64B-2BDA-7DB5C5F89576}"/>
      <ac:tblMk/>
      <ac:tcMk rowId="4137988734" colId="1843634400"/>
      <ac:txMk cp="75" len="19">
        <ac:context len="95" hash="2432903742"/>
      </ac:txMk>
    </ac:txMkLst>
    <p188:txBody>
      <a:bodyPr/>
      <a:lstStyle/>
      <a:p>
        <a:r>
          <a:rPr lang="ko-KR" altLang="en-US"/>
          <a:t>[26/5/7] setting 삭제</a:t>
        </a:r>
      </a:p>
    </p188:txBody>
  </p188:cm>
  <p188:cm id="{77F82226-EE2E-4FEE-AE6F-CCE917525095}" authorId="{7BAEFA84-A256-5534-DDFC-3A52BB84F1ED}" created="2026-05-07T04:06:19.195">
    <pc:sldMkLst xmlns:pc="http://schemas.microsoft.com/office/powerpoint/2013/main/command">
      <pc:docMk/>
      <pc:sldMk cId="420269333" sldId="725"/>
    </pc:sldMkLst>
    <p188:txBody>
      <a:bodyPr/>
      <a:lstStyle/>
      <a:p>
        <a:r>
          <a:rPr lang="ko-KR" altLang="en-US"/>
          <a:t>[26/5/7] register protection 내용 추가 필요 검토 
/ CRC 추가 / com BIST 추가</a:t>
        </a:r>
      </a:p>
    </p188:txBody>
  </p188:cm>
  <p188:cm id="{0137B4ED-3E2E-4F3A-9046-ED06CC3CC5AA}" authorId="{3F72D633-7196-E7CB-FCA9-21E6783F094A}" created="2026-05-07T09:08:58.938">
    <ac:txMkLst xmlns:ac="http://schemas.microsoft.com/office/drawing/2013/main/command">
      <pc:docMk xmlns:pc="http://schemas.microsoft.com/office/powerpoint/2013/main/command"/>
      <pc:sldMk xmlns:pc="http://schemas.microsoft.com/office/powerpoint/2013/main/command" cId="420269333" sldId="725"/>
      <ac:graphicFrameMk id="2" creationId="{CF908212-E007-C64B-2BDA-7DB5C5F89576}"/>
      <ac:tblMk/>
      <ac:tcMk rowId="820433711" colId="1843634400"/>
      <ac:txMk cp="0" len="150">
        <ac:context len="151" hash="2226626229"/>
      </ac:txMk>
    </ac:txMkLst>
    <p188:txBody>
      <a:bodyPr/>
      <a:lstStyle/>
      <a:p>
        <a:r>
          <a:rPr lang="ko-KR" altLang="en-US"/>
          <a:t>BGR OV/UV 삭제 필요
OSC_LDO OV/UV 추가 필요</a:t>
        </a:r>
      </a:p>
    </p188:txBody>
  </p188:cm>
  <p188:cm id="{3E824F10-6CE0-41D1-ADE1-B12EB29EFD6D}" authorId="{3F72D633-7196-E7CB-FCA9-21E6783F094A}" created="2026-05-07T09:12:42.727">
    <ac:txMkLst xmlns:ac="http://schemas.microsoft.com/office/drawing/2013/main/command">
      <pc:docMk xmlns:pc="http://schemas.microsoft.com/office/powerpoint/2013/main/command"/>
      <pc:sldMk xmlns:pc="http://schemas.microsoft.com/office/powerpoint/2013/main/command" cId="420269333" sldId="725"/>
      <ac:graphicFrameMk id="2" creationId="{CF908212-E007-C64B-2BDA-7DB5C5F89576}"/>
      <ac:tblMk/>
      <ac:tcMk rowId="438365650" colId="1843634400"/>
      <ac:txMk cp="0" len="79">
        <ac:context len="80" hash="2346225810"/>
      </ac:txMk>
    </ac:txMkLst>
    <p188:txBody>
      <a:bodyPr/>
      <a:lstStyle/>
      <a:p>
        <a:r>
          <a:rPr lang="ko-KR" altLang="en-US"/>
          <a:t>Fault detection 정보는 table로 간략한 내용을 표시한 뒤, 이후 description에서 fault별 세부 내용을 작성하려 합니다. 표 내부 Fault별 대응 flag 정보 column, PWM channel reaction column 추가 요청드립니다.
예. OPEN
- flag 정보: OPEN/CHx_OPEN
- PWM channel reaction: PWM OFF</a:t>
        </a:r>
      </a:p>
    </p188:txBody>
  </p188:cm>
</p188:cmLst>
</file>

<file path=ppt/comments/modernComment_2D6_84C806FA.xml><?xml version="1.0" encoding="utf-8"?>
<p188:cmLst xmlns:a="http://schemas.openxmlformats.org/drawingml/2006/main" xmlns:r="http://schemas.openxmlformats.org/officeDocument/2006/relationships" xmlns:p188="http://schemas.microsoft.com/office/powerpoint/2018/8/main">
  <p188:cm id="{998E6049-D4D5-4C3E-B996-23C17E693899}" authorId="{5E03ACD7-6916-F275-5442-2DA38665A9F9}" created="2026-02-10T06:18:44.480">
    <pc:sldMkLst xmlns:pc="http://schemas.microsoft.com/office/powerpoint/2013/main/command">
      <pc:docMk/>
      <pc:sldMk cId="4294352402" sldId="412"/>
    </pc:sldMkLst>
    <p188:txBody>
      <a:bodyPr/>
      <a:lstStyle/>
      <a:p>
        <a:r>
          <a:rPr lang="ko-KR" altLang="en-US"/>
          <a:t>[2/10] 이준영 FAULT STATUS 수정 요청
  Data sheet와 Read out format 상이함
  -&gt; 칩설계팀 확인 후 수정요</a:t>
        </a:r>
      </a:p>
    </p188:txBody>
  </p188:cm>
  <p188:cm id="{2312CB40-2D59-42E3-AC78-3D09122C7186}" authorId="{ECB522F3-14BE-4028-5621-07DB41C6B9B8}" created="2026-05-07T07:36:31.544">
    <ac:deMkLst xmlns:ac="http://schemas.microsoft.com/office/drawing/2013/main/command">
      <pc:docMk xmlns:pc="http://schemas.microsoft.com/office/powerpoint/2013/main/command"/>
      <pc:sldMk xmlns:pc="http://schemas.microsoft.com/office/powerpoint/2013/main/command" cId="2227701498" sldId="726"/>
      <ac:graphicFrameMk id="14" creationId="{2E6D314B-F8D3-7483-EFE0-67235AB7DE03}"/>
    </ac:deMkLst>
    <p188:replyLst>
      <p188:reply id="{EB3C3FC5-F915-46DB-ABAD-64EEB0A0B7D6}" authorId="{902814E1-A956-B789-2793-196B31628021}" created="2026-05-11T01:30:36.920">
        <p188:txBody>
          <a:bodyPr/>
          <a:lstStyle/>
          <a:p>
            <a:r>
              <a:rPr lang="ko-KR" altLang="en-US"/>
              <a:t>202604_ID601_SM_Design_Specification_v0.4_송부용.pptx 문서 참조 업데이트함.</a:t>
            </a:r>
          </a:p>
        </p188:txBody>
      </p188:reply>
    </p188:replyLst>
    <p188:txBody>
      <a:bodyPr/>
      <a:lstStyle/>
      <a:p>
        <a:r>
          <a:rPr lang="ko-KR" altLang="en-US"/>
          <a:t>4/30 Release된 ID601 디자인 내용 반영 필요</a:t>
        </a:r>
      </a:p>
    </p188:txBody>
  </p188:cm>
</p188:cmLst>
</file>

<file path=ppt/comments/modernComment_2D7_271FC246.xml><?xml version="1.0" encoding="utf-8"?>
<p188:cmLst xmlns:a="http://schemas.openxmlformats.org/drawingml/2006/main" xmlns:r="http://schemas.openxmlformats.org/officeDocument/2006/relationships" xmlns:p188="http://schemas.microsoft.com/office/powerpoint/2018/8/main">
  <p188:cm id="{7D3FDF5E-D439-44D9-A0D6-89EBE8E96142}" authorId="{5E03ACD7-6916-F275-5442-2DA38665A9F9}" created="2026-02-10T06:18:44.480">
    <pc:sldMkLst xmlns:pc="http://schemas.microsoft.com/office/powerpoint/2013/main/command">
      <pc:docMk/>
      <pc:sldMk cId="4294352402" sldId="412"/>
    </pc:sldMkLst>
    <p188:txBody>
      <a:bodyPr/>
      <a:lstStyle/>
      <a:p>
        <a:r>
          <a:rPr lang="ko-KR" altLang="en-US"/>
          <a:t>[2/10] 이준영 FAULT STATUS 수정 요청
  Data sheet와 Read out format 상이함
  -&gt; 칩설계팀 확인 후 수정요</a:t>
        </a:r>
      </a:p>
    </p188:txBody>
  </p188:cm>
  <p188:cm id="{1A348881-6D0F-4446-A10B-37102E90EDFA}" authorId="{5E03ACD7-6916-F275-5442-2DA38665A9F9}" created="2026-06-09T07:18:27.514">
    <pc:sldMkLst xmlns:pc="http://schemas.microsoft.com/office/powerpoint/2013/main/command">
      <pc:docMk/>
      <pc:sldMk cId="656392774" sldId="727"/>
    </pc:sldMkLst>
    <p188:txBody>
      <a:bodyPr/>
      <a:lstStyle/>
      <a:p>
        <a:r>
          <a:rPr lang="ko-KR" altLang="en-US"/>
          <a:t>[6/9] Max current level Table update</a:t>
        </a:r>
      </a:p>
    </p188:txBody>
  </p188:cm>
</p188:cmLst>
</file>

<file path=ppt/comments/modernComment_2D9_3CD0EC71.xml><?xml version="1.0" encoding="utf-8"?>
<p188:cmLst xmlns:a="http://schemas.openxmlformats.org/drawingml/2006/main" xmlns:r="http://schemas.openxmlformats.org/officeDocument/2006/relationships" xmlns:p188="http://schemas.microsoft.com/office/powerpoint/2018/8/main">
  <p188:cm id="{258B7FD1-4615-4099-BE57-84CA2774C4A1}" authorId="{ECB522F3-14BE-4028-5621-07DB41C6B9B8}" created="2026-05-07T07:37:06.823">
    <ac:deMkLst xmlns:ac="http://schemas.microsoft.com/office/drawing/2013/main/command">
      <pc:docMk xmlns:pc="http://schemas.microsoft.com/office/powerpoint/2013/main/command"/>
      <pc:sldMk xmlns:pc="http://schemas.microsoft.com/office/powerpoint/2013/main/command" cId="1020324977" sldId="729"/>
      <ac:graphicFrameMk id="15" creationId="{A71627DA-9966-2142-21CF-BD42ABD923E8}"/>
    </ac:deMkLst>
    <p188:replyLst>
      <p188:reply id="{F104BD02-98DC-4FBF-BAAC-4A95831E0604}" authorId="{902814E1-A956-B789-2793-196B31628021}" created="2026-05-11T01:39:59.562">
        <p188:txBody>
          <a:bodyPr/>
          <a:lstStyle/>
          <a:p>
            <a:r>
              <a:rPr lang="ko-KR" altLang="en-US"/>
              <a:t>20260424_ID601_SM_Design_Specification_v0.4_송부용.pptx 참고 업데이트</a:t>
            </a:r>
          </a:p>
        </p188:txBody>
      </p188:reply>
    </p188:replyLst>
    <p188:txBody>
      <a:bodyPr/>
      <a:lstStyle/>
      <a:p>
        <a:r>
          <a:rPr lang="ko-KR" altLang="en-US"/>
          <a:t>4/30 Release된 ID601 디자인 내용 반영 필요</a:t>
        </a:r>
      </a:p>
    </p188:txBody>
  </p188:cm>
</p188:cmLst>
</file>

<file path=ppt/comments/modernComment_2DA_5C90F904.xml><?xml version="1.0" encoding="utf-8"?>
<p188:cmLst xmlns:a="http://schemas.openxmlformats.org/drawingml/2006/main" xmlns:r="http://schemas.openxmlformats.org/officeDocument/2006/relationships" xmlns:p188="http://schemas.microsoft.com/office/powerpoint/2018/8/main">
  <p188:cm id="{226558F0-7B7E-400A-81BA-988855CC77AC}" authorId="{ECB522F3-14BE-4028-5621-07DB41C6B9B8}" created="2026-05-07T07:37:56.338">
    <ac:txMkLst xmlns:ac="http://schemas.microsoft.com/office/drawing/2013/main/command">
      <pc:docMk xmlns:pc="http://schemas.microsoft.com/office/powerpoint/2013/main/command"/>
      <pc:sldMk xmlns:pc="http://schemas.microsoft.com/office/powerpoint/2013/main/command" cId="1553004804" sldId="730"/>
      <ac:graphicFrameMk id="2" creationId="{858A6FBD-6C70-980B-7489-EB55784A4E0E}"/>
      <ac:tblMk/>
      <ac:tcMk rowId="2992534415" colId="32595803"/>
      <ac:txMk cp="0" len="46">
        <ac:context len="48" hash="3755916703"/>
      </ac:txMk>
    </ac:txMkLst>
    <p188:pos x="3961415" y="1167378"/>
    <p188:replyLst>
      <p188:reply id="{A181DA59-020E-4D70-86BA-C543C936A8E8}" authorId="{902814E1-A956-B789-2793-196B31628021}" created="2026-05-11T01:41:54.836">
        <p188:txBody>
          <a:bodyPr/>
          <a:lstStyle/>
          <a:p>
            <a:r>
              <a:rPr lang="ko-KR" altLang="en-US"/>
              <a:t>B3(BIST_START) -&gt; 4/30일자 RTL 참고 삭제함</a:t>
            </a:r>
          </a:p>
        </p188:txBody>
      </p188:reply>
    </p188:replyLst>
    <p188:txBody>
      <a:bodyPr/>
      <a:lstStyle/>
      <a:p>
        <a:r>
          <a:rPr lang="ko-KR" altLang="en-US"/>
          <a:t>삭제 필요</a:t>
        </a:r>
      </a:p>
    </p188:txBody>
  </p188:cm>
</p188:cmLst>
</file>

<file path=ppt/comments/modernComment_2DB_A8CBE19.xml><?xml version="1.0" encoding="utf-8"?>
<p188:cmLst xmlns:a="http://schemas.openxmlformats.org/drawingml/2006/main" xmlns:r="http://schemas.openxmlformats.org/officeDocument/2006/relationships" xmlns:p188="http://schemas.microsoft.com/office/powerpoint/2018/8/main">
  <p188:cm id="{07B45BB9-E2CE-44ED-8A9F-A319EB6FE385}" authorId="{7BAEFA84-A256-5534-DDFC-3A52BB84F1ED}" created="2026-05-07T07:42:18.613">
    <ac:txMkLst xmlns:ac="http://schemas.microsoft.com/office/drawing/2013/main/command">
      <pc:docMk xmlns:pc="http://schemas.microsoft.com/office/powerpoint/2013/main/command"/>
      <pc:sldMk xmlns:pc="http://schemas.microsoft.com/office/powerpoint/2013/main/command" cId="176995865" sldId="731"/>
      <ac:spMk id="8" creationId="{2A2E6050-62A8-9BA4-3638-30DE36F61857}"/>
      <ac:txMk cp="0" len="10">
        <ac:context len="11" hash="2077747778"/>
      </ac:txMk>
    </ac:txMkLst>
    <p188:pos x="957511" y="265583"/>
    <p188:txBody>
      <a:bodyPr/>
      <a:lstStyle/>
      <a:p>
        <a:r>
          <a:rPr lang="ko-KR" altLang="en-US"/>
          <a:t>Testmode Register 위치 일반 레지스터 뒤로 이동 부탁드립니다.</a:t>
        </a:r>
      </a:p>
    </p188:txBody>
  </p188:cm>
</p188:cmLst>
</file>

<file path=ppt/comments/modernComment_2FB_34D1C1E1.xml><?xml version="1.0" encoding="utf-8"?>
<p188:cmLst xmlns:a="http://schemas.openxmlformats.org/drawingml/2006/main" xmlns:r="http://schemas.openxmlformats.org/officeDocument/2006/relationships" xmlns:p188="http://schemas.microsoft.com/office/powerpoint/2018/8/main">
  <p188:cm id="{F890B245-5E04-4594-8193-4B39D7C92133}" authorId="{7BAEFA84-A256-5534-DDFC-3A52BB84F1ED}" created="2026-05-07T03:43:49.023">
    <ac:txMkLst xmlns:ac="http://schemas.microsoft.com/office/drawing/2013/main/command">
      <pc:docMk xmlns:pc="http://schemas.microsoft.com/office/powerpoint/2013/main/command"/>
      <pc:sldMk xmlns:pc="http://schemas.microsoft.com/office/powerpoint/2013/main/command" cId="886161889" sldId="763"/>
      <ac:graphicFrameMk id="7" creationId="{33B1360C-9112-82F3-3DEA-A93A7410D963}"/>
      <ac:tblMk/>
      <ac:tcMk rowId="1196008213" colId="112759525"/>
      <ac:txMk cp="0" len="7">
        <ac:context len="11" hash="4199798653"/>
      </ac:txMk>
    </ac:txMkLst>
    <p188:replyLst>
      <p188:reply id="{C40A7D7D-6B6B-484B-AF4B-AF3B61D65165}" authorId="{902814E1-A956-B789-2793-196B31628021}" created="2026-05-11T00:07:28.151">
        <p188:txBody>
          <a:bodyPr/>
          <a:lstStyle/>
          <a:p>
            <a:r>
              <a:rPr lang="ko-KR" altLang="en-US"/>
              <a:t>-0.3 ~ 3.5 -&gt; -0.3 ~ 5.5 로 변경함</a:t>
            </a:r>
          </a:p>
        </p188:txBody>
      </p188:reply>
    </p188:replyLst>
    <p188:txBody>
      <a:bodyPr/>
      <a:lstStyle/>
      <a:p>
        <a:r>
          <a:rPr lang="ko-KR" altLang="en-US"/>
          <a:t>[26/5/7] 5.5V로 변경</a:t>
        </a:r>
      </a:p>
    </p188:txBody>
  </p188:cm>
  <p188:cm id="{1DBB5884-8604-4CC4-ACE1-AC34247450D1}" authorId="{7BAEFA84-A256-5534-DDFC-3A52BB84F1ED}" created="2026-05-07T03:43:57.833">
    <ac:txMkLst xmlns:ac="http://schemas.microsoft.com/office/drawing/2013/main/command">
      <pc:docMk xmlns:pc="http://schemas.microsoft.com/office/powerpoint/2013/main/command"/>
      <pc:sldMk xmlns:pc="http://schemas.microsoft.com/office/powerpoint/2013/main/command" cId="886161889" sldId="763"/>
      <ac:graphicFrameMk id="7" creationId="{33B1360C-9112-82F3-3DEA-A93A7410D963}"/>
      <ac:tblMk/>
      <ac:tcMk rowId="1187949854" colId="112759525"/>
      <ac:txMk cp="2">
        <ac:context len="10" hash="2860423439"/>
      </ac:txMk>
    </ac:txMkLst>
    <p188:replyLst>
      <p188:reply id="{D64A5A9D-472B-4FB2-ABAB-4A4DCA7072A3}" authorId="{902814E1-A956-B789-2793-196B31628021}" created="2026-05-11T00:07:46.190">
        <p188:txBody>
          <a:bodyPr/>
          <a:lstStyle/>
          <a:p>
            <a:r>
              <a:rPr lang="ko-KR" altLang="en-US"/>
              <a:t>40 -&gt; 24 로 변경함</a:t>
            </a:r>
          </a:p>
        </p188:txBody>
      </p188:reply>
    </p188:replyLst>
    <p188:txBody>
      <a:bodyPr/>
      <a:lstStyle/>
      <a:p>
        <a:r>
          <a:rPr lang="ko-KR" altLang="en-US"/>
          <a:t>[26/5/7] 24로 변경</a:t>
        </a:r>
      </a:p>
    </p188:txBody>
  </p188:cm>
  <p188:cm id="{E879A150-A602-4977-83AA-8511A3FE4619}" authorId="{7BAEFA84-A256-5534-DDFC-3A52BB84F1ED}" created="2026-05-07T03:44:59.440">
    <ac:txMkLst xmlns:ac="http://schemas.microsoft.com/office/drawing/2013/main/command">
      <pc:docMk xmlns:pc="http://schemas.microsoft.com/office/powerpoint/2013/main/command"/>
      <pc:sldMk xmlns:pc="http://schemas.microsoft.com/office/powerpoint/2013/main/command" cId="886161889" sldId="763"/>
      <ac:graphicFrameMk id="7" creationId="{33B1360C-9112-82F3-3DEA-A93A7410D963}"/>
      <ac:tblMk/>
      <ac:tcMk rowId="4153588514" colId="112759525"/>
      <ac:txMk cp="9">
        <ac:context len="10" hash="2316427474"/>
      </ac:txMk>
    </ac:txMkLst>
    <p188:replyLst>
      <p188:reply id="{B512F3DD-3759-4EC8-9330-4C129D00CFD6}" authorId="{902814E1-A956-B789-2793-196B31628021}" created="2026-05-11T00:08:15.113">
        <p188:txBody>
          <a:bodyPr/>
          <a:lstStyle/>
          <a:p>
            <a:r>
              <a:rPr lang="ko-KR" altLang="en-US"/>
              <a:t>-20 ~ 85 -&gt; -20 ~ 125로 변경함</a:t>
            </a:r>
          </a:p>
        </p188:txBody>
      </p188:reply>
    </p188:replyLst>
    <p188:txBody>
      <a:bodyPr/>
      <a:lstStyle/>
      <a:p>
        <a:r>
          <a:rPr lang="ko-KR" altLang="en-US"/>
          <a:t>[26/5/7] 125로 변경</a:t>
        </a:r>
      </a:p>
    </p188:txBody>
  </p188:cm>
  <p188:cm id="{A05181F7-7240-462B-A9B0-BAC97274985E}" authorId="{7BAEFA84-A256-5534-DDFC-3A52BB84F1ED}" created="2026-05-07T03:47:11.672">
    <ac:txMkLst xmlns:ac="http://schemas.microsoft.com/office/drawing/2013/main/command">
      <pc:docMk xmlns:pc="http://schemas.microsoft.com/office/powerpoint/2013/main/command"/>
      <pc:sldMk xmlns:pc="http://schemas.microsoft.com/office/powerpoint/2013/main/command" cId="886161889" sldId="763"/>
      <ac:graphicFrameMk id="12" creationId="{4D51B9C8-9058-A468-A5D6-C3CCC11546AA}"/>
      <ac:tblMk/>
      <ac:tcMk rowId="91251016" colId="3840390301"/>
      <ac:txMk cp="14">
        <ac:context len="19" hash="1840423834"/>
      </ac:txMk>
    </ac:txMkLst>
    <p188:replyLst>
      <p188:reply id="{C4C281C9-EB8B-4247-8AF7-48445EB6BEFC}" authorId="{902814E1-A956-B789-2793-196B31628021}" created="2026-05-11T00:09:21.114">
        <p188:txBody>
          <a:bodyPr/>
          <a:lstStyle/>
          <a:p>
            <a:r>
              <a:rPr lang="ko-KR" altLang="en-US"/>
              <a:t>JEDEC JS-001-2017 -&gt; AEC Q100 으로 변경함</a:t>
            </a:r>
          </a:p>
        </p188:txBody>
      </p188:reply>
    </p188:replyLst>
    <p188:txBody>
      <a:bodyPr/>
      <a:lstStyle/>
      <a:p>
        <a:r>
          <a:rPr lang="ko-KR" altLang="en-US"/>
          <a:t>[26/5/7] AEC Q100 기준으로 변경 필요 + spec 검토</a:t>
        </a:r>
      </a:p>
    </p188:txBody>
  </p188:cm>
  <p188:cm id="{257FEC34-C152-40B4-B5FD-ED242860955E}" authorId="{7BAEFA84-A256-5534-DDFC-3A52BB84F1ED}" created="2026-05-07T03:47:36.965">
    <ac:txMkLst xmlns:ac="http://schemas.microsoft.com/office/drawing/2013/main/command">
      <pc:docMk xmlns:pc="http://schemas.microsoft.com/office/powerpoint/2013/main/command"/>
      <pc:sldMk xmlns:pc="http://schemas.microsoft.com/office/powerpoint/2013/main/command" cId="886161889" sldId="763"/>
      <ac:graphicFrameMk id="12" creationId="{4D51B9C8-9058-A468-A5D6-C3CCC11546AA}"/>
      <ac:tblMk/>
      <ac:tcMk rowId="2162623322" colId="3840390301"/>
      <ac:txMk cp="7" len="1">
        <ac:context len="20" hash="2640995386"/>
      </ac:txMk>
    </ac:txMkLst>
    <p188:replyLst>
      <p188:reply id="{71F846EF-E436-430C-A131-59BA8B69143F}" authorId="{902814E1-A956-B789-2793-196B31628021}" created="2026-05-11T00:09:59.878">
        <p188:txBody>
          <a:bodyPr/>
          <a:lstStyle/>
          <a:p>
            <a:r>
              <a:rPr lang="ko-KR" altLang="en-US"/>
              <a:t>JEDEC JESD22-C101F Oct 2013 -&gt; AEC Q100 으로 변경함</a:t>
            </a:r>
          </a:p>
        </p188:txBody>
      </p188:reply>
    </p188:replyLst>
    <p188:txBody>
      <a:bodyPr/>
      <a:lstStyle/>
      <a:p>
        <a:r>
          <a:rPr lang="ko-KR" altLang="en-US"/>
          <a:t>[26/5/7] AEC Q100기준으로 변경 필요 + spec 검토</a:t>
        </a:r>
      </a:p>
    </p188:txBody>
  </p188:cm>
</p188:cmLst>
</file>

<file path=ppt/comments/modernComment_10A_6C222D68.xml><?xml version="1.0" encoding="utf-8"?>
<p188:cmLst xmlns:a="http://schemas.openxmlformats.org/drawingml/2006/main" xmlns:r="http://schemas.openxmlformats.org/officeDocument/2006/relationships" xmlns:p188="http://schemas.microsoft.com/office/powerpoint/2018/8/main">
  <p188:cm id="{B3678BD3-C0E5-4371-9B53-DF3A46FD0F22}" authorId="{7BAEFA84-A256-5534-DDFC-3A52BB84F1ED}" created="2026-05-07T01:48:54.097">
    <ac:txMkLst xmlns:ac="http://schemas.microsoft.com/office/drawing/2013/main/command">
      <pc:docMk xmlns:pc="http://schemas.microsoft.com/office/powerpoint/2013/main/command"/>
      <pc:sldMk xmlns:pc="http://schemas.microsoft.com/office/powerpoint/2013/main/command" cId="1814179176" sldId="266"/>
      <ac:spMk id="25" creationId="{6675BEFE-2745-40D7-8726-3D0F5317B01B}"/>
      <ac:txMk cp="481" len="1">
        <ac:context len="1404" hash="2934054211"/>
      </ac:txMk>
    </ac:txMkLst>
    <p188:pos x="2035950" y="1688649"/>
    <p188:replyLst>
      <p188:reply id="{7750D508-6AEA-4969-BC7F-76D474CE8659}" authorId="{902814E1-A956-B789-2793-196B31628021}" created="2026-05-10T23:56:45.495">
        <p188:txBody>
          <a:bodyPr/>
          <a:lstStyle/>
          <a:p>
            <a:r>
              <a:rPr lang="ko-KR" altLang="en-US"/>
              <a:t>40V-&gt;24V로 변경함</a:t>
            </a:r>
          </a:p>
        </p188:txBody>
      </p188:reply>
    </p188:replyLst>
    <p188:txBody>
      <a:bodyPr/>
      <a:lstStyle/>
      <a:p>
        <a:r>
          <a:rPr lang="ko-KR" altLang="en-US"/>
          <a:t>[26/5/7] 40V -&gt; 24V</a:t>
        </a:r>
      </a:p>
    </p188:txBody>
  </p188:cm>
  <p188:cm id="{8810A4EA-2769-4DE2-98F7-19795CA482D1}" authorId="{7BAEFA84-A256-5534-DDFC-3A52BB84F1ED}" created="2026-05-07T01:59:14.435">
    <ac:txMkLst xmlns:ac="http://schemas.microsoft.com/office/drawing/2013/main/command">
      <pc:docMk xmlns:pc="http://schemas.microsoft.com/office/powerpoint/2013/main/command"/>
      <pc:sldMk xmlns:pc="http://schemas.microsoft.com/office/powerpoint/2013/main/command" cId="1814179176" sldId="266"/>
      <ac:spMk id="25" creationId="{6675BEFE-2745-40D7-8726-3D0F5317B01B}"/>
      <ac:txMk cp="993" len="3">
        <ac:context len="1404" hash="2934054211"/>
      </ac:txMk>
    </ac:txMkLst>
    <p188:pos x="619975" y="3080420"/>
    <p188:replyLst>
      <p188:reply id="{EC771D37-76A9-451A-8C37-8D83FF1404E7}" authorId="{902814E1-A956-B789-2793-196B31628021}" created="2026-05-10T23:57:11.573">
        <p188:txBody>
          <a:bodyPr/>
          <a:lstStyle/>
          <a:p>
            <a:r>
              <a:rPr lang="ko-KR" altLang="en-US"/>
              <a:t>typo VLED로 변경함.</a:t>
            </a:r>
          </a:p>
        </p188:txBody>
      </p188:reply>
    </p188:replyLst>
    <p188:txBody>
      <a:bodyPr/>
      <a:lstStyle/>
      <a:p>
        <a:r>
          <a:rPr lang="ko-KR" altLang="en-US"/>
          <a:t>[26/5/7] typo VLED</a:t>
        </a:r>
      </a:p>
    </p188:txBody>
  </p188:cm>
  <p188:cm id="{FD89A13F-F211-49B8-8889-83AD66F0D286}" authorId="{7BAEFA84-A256-5534-DDFC-3A52BB84F1ED}" created="2026-05-07T02:00:05.080">
    <ac:txMkLst xmlns:ac="http://schemas.microsoft.com/office/drawing/2013/main/command">
      <pc:docMk xmlns:pc="http://schemas.microsoft.com/office/powerpoint/2013/main/command"/>
      <pc:sldMk xmlns:pc="http://schemas.microsoft.com/office/powerpoint/2013/main/command" cId="1814179176" sldId="266"/>
      <ac:spMk id="25" creationId="{6675BEFE-2745-40D7-8726-3D0F5317B01B}"/>
      <ac:txMk cp="1031" len="1">
        <ac:context len="1404" hash="2934054211"/>
      </ac:txMk>
    </ac:txMkLst>
    <p188:pos x="3012655" y="3080420"/>
    <p188:replyLst>
      <p188:reply id="{F523944D-5671-4107-A3B9-799E58A53698}" authorId="{902814E1-A956-B789-2793-196B31628021}" created="2026-05-10T23:57:31.134">
        <p188:txBody>
          <a:bodyPr/>
          <a:lstStyle/>
          <a:p>
            <a:r>
              <a:rPr lang="ko-KR" altLang="en-US"/>
              <a:t>삭제함</a:t>
            </a:r>
          </a:p>
        </p188:txBody>
      </p188:reply>
    </p188:replyLst>
    <p188:txBody>
      <a:bodyPr/>
      <a:lstStyle/>
      <a:p>
        <a:r>
          <a:rPr lang="ko-KR" altLang="en-US"/>
          <a:t>[26/5/7] 삭제 or 변경 필요</a:t>
        </a:r>
      </a:p>
    </p188:txBody>
  </p188:cm>
  <p188:cm id="{F52EFBA0-52ED-43A3-9D86-AB44214DC6A4}" authorId="{ECB522F3-14BE-4028-5621-07DB41C6B9B8}" created="2026-05-08T03:51:28.363">
    <ac:deMkLst xmlns:ac="http://schemas.microsoft.com/office/drawing/2013/main/command">
      <pc:docMk xmlns:pc="http://schemas.microsoft.com/office/powerpoint/2013/main/command"/>
      <pc:sldMk xmlns:pc="http://schemas.microsoft.com/office/powerpoint/2013/main/command" cId="1814179176" sldId="266"/>
      <ac:spMk id="5" creationId="{105BB2A0-CA1A-4992-AAF9-F7F876D0920C}"/>
    </ac:deMkLst>
    <p188:replyLst>
      <p188:reply id="{918C43C3-E91C-44B0-B1B8-820560308511}" authorId="{902814E1-A956-B789-2793-196B31628021}" created="2026-05-10T23:57:55.620">
        <p188:txBody>
          <a:bodyPr/>
          <a:lstStyle/>
          <a:p>
            <a:r>
              <a:rPr lang="ko-KR" altLang="en-US"/>
              <a:t>문구삽입함.</a:t>
            </a:r>
          </a:p>
        </p188:txBody>
      </p188:reply>
    </p188:replyLst>
    <p188:txBody>
      <a:bodyPr/>
      <a:lstStyle/>
      <a:p>
        <a:r>
          <a:rPr lang="ko-KR" altLang="en-US"/>
          <a:t>기능안전 대응 언급 필요
(ASIL-B Compliant)</a:t>
        </a:r>
      </a:p>
    </p188:txBody>
  </p188:cm>
</p188:cmLst>
</file>

<file path=ppt/comments/modernComment_11F_6EF7015F.xml><?xml version="1.0" encoding="utf-8"?>
<p188:cmLst xmlns:a="http://schemas.openxmlformats.org/drawingml/2006/main" xmlns:r="http://schemas.openxmlformats.org/officeDocument/2006/relationships" xmlns:p188="http://schemas.microsoft.com/office/powerpoint/2018/8/main">
  <p188:cm id="{5C260DF8-E288-48A7-9DEC-8FF6893AB58B}" authorId="{5E03ACD7-6916-F275-5442-2DA38665A9F9}" created="2026-02-10T07:43:33.152">
    <pc:sldMkLst xmlns:pc="http://schemas.microsoft.com/office/powerpoint/2013/main/command">
      <pc:docMk/>
      <pc:sldMk cId="1861681503" sldId="287"/>
    </pc:sldMkLst>
    <p188:txBody>
      <a:bodyPr/>
      <a:lstStyle/>
      <a:p>
        <a:r>
          <a:rPr lang="ko-KR" altLang="en-US"/>
          <a:t>[2/10] 엄윤섭 Initialization after VDD
   5V stable → 3.3V stable</a:t>
        </a:r>
      </a:p>
    </p188:txBody>
  </p188:cm>
  <p188:cm id="{0205B2AE-E331-49F2-9781-2768ED9965ED}" authorId="{ECB522F3-14BE-4028-5621-07DB41C6B9B8}" created="2026-05-08T04:57:45.236">
    <ac:txMkLst xmlns:ac="http://schemas.microsoft.com/office/drawing/2013/main/command">
      <pc:docMk xmlns:pc="http://schemas.microsoft.com/office/powerpoint/2013/main/command"/>
      <pc:sldMk xmlns:pc="http://schemas.microsoft.com/office/powerpoint/2013/main/command" cId="1861681503" sldId="287"/>
      <ac:graphicFrameMk id="6" creationId="{85F45CBA-C544-3782-6F74-8205667D9603}"/>
      <ac:tblMk/>
      <ac:tcMk rowId="2646363831" colId="1629708029"/>
      <ac:txMk cp="0" len="26">
        <ac:context len="27" hash="2990578605"/>
      </ac:txMk>
    </ac:txMkLst>
    <p188:pos x="3719514" y="1210587"/>
    <p188:txBody>
      <a:bodyPr/>
      <a:lstStyle/>
      <a:p>
        <a:r>
          <a:rPr lang="ko-KR" altLang="en-US"/>
          <a:t>해당 스펙 삭제 및 comment 수준으로의 변경 검토 필요</a:t>
        </a:r>
      </a:p>
    </p188:txBody>
  </p188:cm>
  <p188:cm id="{F36DE2FF-52B3-4FDB-80B9-BDC0504E7321}" authorId="{ECB522F3-14BE-4028-5621-07DB41C6B9B8}" created="2026-05-08T05:03:58.519">
    <ac:txMkLst xmlns:ac="http://schemas.microsoft.com/office/drawing/2013/main/command">
      <pc:docMk xmlns:pc="http://schemas.microsoft.com/office/powerpoint/2013/main/command"/>
      <pc:sldMk xmlns:pc="http://schemas.microsoft.com/office/powerpoint/2013/main/command" cId="1861681503" sldId="287"/>
      <ac:graphicFrameMk id="6" creationId="{85F45CBA-C544-3782-6F74-8205667D9603}"/>
      <ac:tblMk/>
      <ac:tcMk rowId="3354697295" colId="1783343538"/>
      <ac:txMk cp="28" len="4">
        <ac:context len="33" hash="4200514658"/>
      </ac:txMk>
    </ac:txMkLst>
    <p188:pos x="1914527" y="2853649"/>
    <p188:replyLst>
      <p188:reply id="{109E0FC0-0086-43C9-A980-C3A7D4017766}" authorId="{902814E1-A956-B789-2793-196B31628021}" created="2026-05-11T00:44:32.715">
        <p188:txBody>
          <a:bodyPr/>
          <a:lstStyle/>
          <a:p>
            <a:r>
              <a:rPr lang="ko-KR" altLang="en-US"/>
              <a:t>EXT_VS_E=1 -&gt; SYNCMODE = 1 로 변경</a:t>
            </a:r>
          </a:p>
        </p188:txBody>
      </p188:reply>
    </p188:replyLst>
    <p188:txBody>
      <a:bodyPr/>
      <a:lstStyle/>
      <a:p>
        <a:r>
          <a:rPr lang="ko-KR" altLang="en-US"/>
          <a:t>SYNCMODE로 옵션명 변경 필요</a:t>
        </a:r>
      </a:p>
    </p188:txBody>
  </p188:cm>
</p188:cmLst>
</file>

<file path=ppt/comments/modernComment_14A_A173F217.xml><?xml version="1.0" encoding="utf-8"?>
<p188:cmLst xmlns:a="http://schemas.openxmlformats.org/drawingml/2006/main" xmlns:r="http://schemas.openxmlformats.org/officeDocument/2006/relationships" xmlns:p188="http://schemas.microsoft.com/office/powerpoint/2018/8/main">
  <p188:cm id="{3192EF13-4C0D-4BF6-B571-0D86EED87B72}" authorId="{ECB522F3-14BE-4028-5621-07DB41C6B9B8}" created="2026-05-07T07:21:49.473">
    <ac:deMkLst xmlns:ac="http://schemas.microsoft.com/office/drawing/2013/main/command">
      <pc:docMk xmlns:pc="http://schemas.microsoft.com/office/powerpoint/2013/main/command"/>
      <pc:sldMk xmlns:pc="http://schemas.microsoft.com/office/powerpoint/2013/main/command" cId="2708730391" sldId="330"/>
      <ac:graphicFrameMk id="11" creationId="{14285246-E127-43FC-3DA8-40FA6321DBDC}"/>
    </ac:deMkLst>
    <p188:txBody>
      <a:bodyPr/>
      <a:lstStyle/>
      <a:p>
        <a:r>
          <a:rPr lang="ko-KR" altLang="en-US"/>
          <a:t>FPWM_DIV값을 어떻게 설정하면 될지에 대한 예제 또는 가이드라인이 있으면 좋을 것 같습니다.
Ex] 16 subcount 사용, PWM_RES =1인 경우,
Gate1 on time = 328.5us
Gate2/3 on time = 88.4us 수준 설정 시
16 subcount를 사용하므로 각 subcount의 세부 step = 10bit = 1024개
50.4MHz MCLK 사용 시
328.5us를 1024 step으로 나누기 위해서는
MCLK 15 count를 1 PWM step으로,
88.4us를 1024 step으로 나누기 위해서는
MCLK 3 count를 1 PWM step으로 사용
→ fpwm_div1 = 15, 2/3 = 3 설정</a:t>
        </a:r>
      </a:p>
    </p188:txBody>
  </p188:cm>
</p188:cmLst>
</file>

<file path=ppt/comments/modernComment_19A_86B16A0F.xml><?xml version="1.0" encoding="utf-8"?>
<p188:cmLst xmlns:a="http://schemas.openxmlformats.org/drawingml/2006/main" xmlns:r="http://schemas.openxmlformats.org/officeDocument/2006/relationships" xmlns:p188="http://schemas.microsoft.com/office/powerpoint/2018/8/main">
  <p188:cm id="{14F3A4B8-C098-404B-9DDD-F44517D6316D}" authorId="{5E03ACD7-6916-F275-5442-2DA38665A9F9}" created="2026-02-10T07:11:29.625">
    <pc:sldMkLst xmlns:pc="http://schemas.microsoft.com/office/powerpoint/2013/main/command">
      <pc:docMk/>
      <pc:sldMk cId="2259773967" sldId="410"/>
    </pc:sldMkLst>
    <p188:txBody>
      <a:bodyPr/>
      <a:lstStyle/>
      <a:p>
        <a:r>
          <a:rPr lang="ko-KR" altLang="en-US"/>
          <a:t>[1/14] 조문기수석 0x01 DACB_OFS 수정
          DACB_OFS[4:0] → DACB_OFS[6:5]</a:t>
        </a:r>
      </a:p>
    </p188:txBody>
  </p188:cm>
</p188:cmLst>
</file>

<file path=ppt/comments/modernComment_19C_FFF69E12.xml><?xml version="1.0" encoding="utf-8"?>
<p188:cmLst xmlns:a="http://schemas.openxmlformats.org/drawingml/2006/main" xmlns:r="http://schemas.openxmlformats.org/officeDocument/2006/relationships" xmlns:p188="http://schemas.microsoft.com/office/powerpoint/2018/8/main">
  <p188:cm id="{D5120FA4-F18A-4401-BFF5-3AF9868563F8}" authorId="{5E03ACD7-6916-F275-5442-2DA38665A9F9}" created="2026-02-10T06:18:44.480">
    <pc:sldMkLst xmlns:pc="http://schemas.microsoft.com/office/powerpoint/2013/main/command">
      <pc:docMk/>
      <pc:sldMk cId="4294352402" sldId="412"/>
    </pc:sldMkLst>
    <p188:txBody>
      <a:bodyPr/>
      <a:lstStyle/>
      <a:p>
        <a:r>
          <a:rPr lang="ko-KR" altLang="en-US"/>
          <a:t>[2/10] 이준영 FAULT STATUS 수정 요청
  Data sheet와 Read out format 상이함
  -&gt; 칩설계팀 확인 후 수정요</a:t>
        </a:r>
      </a:p>
    </p188:txBody>
  </p188:cm>
</p188:cmLst>
</file>

<file path=ppt/comments/modernComment_19E_78698B3C.xml><?xml version="1.0" encoding="utf-8"?>
<p188:cmLst xmlns:a="http://schemas.openxmlformats.org/drawingml/2006/main" xmlns:r="http://schemas.openxmlformats.org/officeDocument/2006/relationships" xmlns:p188="http://schemas.microsoft.com/office/powerpoint/2018/8/main">
  <p188:cm id="{0A477B8D-4E4F-48F7-941C-A615354B244A}" authorId="{5E03ACD7-6916-F275-5442-2DA38665A9F9}" created="2026-02-10T05:55:09.836">
    <pc:sldMkLst xmlns:pc="http://schemas.microsoft.com/office/powerpoint/2013/main/command">
      <pc:docMk/>
      <pc:sldMk cId="2020182844" sldId="414"/>
    </pc:sldMkLst>
    <p188:txBody>
      <a:bodyPr/>
      <a:lstStyle/>
      <a:p>
        <a:r>
          <a:rPr lang="ko-KR" altLang="en-US"/>
          <a:t>[2/03] 이준영 O_DET_E 설명 수정
 PWM = 0일 때에만 OPEN 시그널이 발생할 수 있다고 되어있지만
실제는 PWM On -&gt; Off 시점에서 Open을 감지하는 구조이므로 해당 내용의 변경이 필요함</a:t>
        </a:r>
      </a:p>
    </p188:txBody>
  </p188:cm>
  <p188:cm id="{2DDD7E61-35AE-43A7-8721-4ABE2C6B4DC0}" authorId="{7BAEFA84-A256-5534-DDFC-3A52BB84F1ED}" created="2026-05-07T04:18:19.159">
    <ac:txMkLst xmlns:ac="http://schemas.microsoft.com/office/drawing/2013/main/command">
      <pc:docMk xmlns:pc="http://schemas.microsoft.com/office/powerpoint/2013/main/command"/>
      <pc:sldMk xmlns:pc="http://schemas.microsoft.com/office/powerpoint/2013/main/command" cId="2020182844" sldId="414"/>
      <ac:graphicFrameMk id="2" creationId="{84F39684-074B-5DEA-EE16-EDB1308D9CD6}"/>
      <ac:tblMk/>
      <ac:tcMk rowId="745460863" colId="32595803"/>
      <ac:txMk cp="88" len="41">
        <ac:context len="218" hash="935134064"/>
      </ac:txMk>
    </ac:txMkLst>
    <p188:pos x="3791782" y="3529357"/>
    <p188:txBody>
      <a:bodyPr/>
      <a:lstStyle/>
      <a:p>
        <a:r>
          <a:rPr lang="ko-KR" altLang="en-US"/>
          <a:t>[26/5/7] 내용 검토 필요</a:t>
        </a:r>
      </a:p>
    </p188:txBody>
  </p188:cm>
  <p188:cm id="{0B97213B-3EF3-4AA4-B829-3B81F11246A6}" authorId="{7BAEFA84-A256-5534-DDFC-3A52BB84F1ED}" created="2026-05-07T04:20:34.448">
    <ac:txMkLst xmlns:ac="http://schemas.microsoft.com/office/drawing/2013/main/command">
      <pc:docMk xmlns:pc="http://schemas.microsoft.com/office/powerpoint/2013/main/command"/>
      <pc:sldMk xmlns:pc="http://schemas.microsoft.com/office/powerpoint/2013/main/command" cId="2020182844" sldId="414"/>
      <ac:graphicFrameMk id="14" creationId="{7475652E-49D4-5321-BD7A-5EA905AD066A}"/>
      <ac:tblMk/>
      <ac:tcMk rowId="3261738556" colId="4270661649"/>
      <ac:txMk cp="7">
        <ac:context len="8" hash="3123017697"/>
      </ac:txMk>
    </ac:txMkLst>
    <p188:pos x="4263987" y="467205"/>
    <p188:replyLst>
      <p188:reply id="{C772BDDA-2590-4DEA-9F79-78FF0EA48A10}" authorId="{902814E1-A956-B789-2793-196B31628021}" created="2026-05-11T01:17:42.927">
        <p188:txBody>
          <a:bodyPr/>
          <a:lstStyle/>
          <a:p>
            <a:r>
              <a:rPr lang="ko-KR" altLang="en-US"/>
              <a:t>O_FB_E register 추가, 내용확인 필요</a:t>
            </a:r>
          </a:p>
        </p188:txBody>
      </p188:reply>
    </p188:replyLst>
    <p188:txBody>
      <a:bodyPr/>
      <a:lstStyle/>
      <a:p>
        <a:r>
          <a:rPr lang="ko-KR" altLang="en-US"/>
          <a:t>[26/5/7] O_FB_E로 변경</a:t>
        </a:r>
      </a:p>
    </p188:txBody>
  </p188:cm>
  <p188:cm id="{27AC1EC5-3416-4352-B2A4-65F99ADA7DF1}" authorId="{7BAEFA84-A256-5534-DDFC-3A52BB84F1ED}" created="2026-05-07T04:21:01.604">
    <ac:txMkLst xmlns:ac="http://schemas.microsoft.com/office/drawing/2013/main/command">
      <pc:docMk xmlns:pc="http://schemas.microsoft.com/office/powerpoint/2013/main/command"/>
      <pc:sldMk xmlns:pc="http://schemas.microsoft.com/office/powerpoint/2013/main/command" cId="2020182844" sldId="414"/>
      <ac:graphicFrameMk id="2" creationId="{84F39684-074B-5DEA-EE16-EDB1308D9CD6}"/>
      <ac:tblMk/>
      <ac:tcMk rowId="1577971460" colId="2079070694"/>
      <ac:txMk cp="0" len="7">
        <ac:context len="8" hash="1438371321"/>
      </ac:txMk>
    </ac:txMkLst>
    <p188:pos x="949522" y="2439697"/>
    <p188:txBody>
      <a:bodyPr/>
      <a:lstStyle/>
      <a:p>
        <a:r>
          <a:rPr lang="ko-KR" altLang="en-US"/>
          <a:t>[26/5/7] FB_MODE 설명 및 O_FB_E 설명 추가 필요</a:t>
        </a:r>
      </a:p>
    </p188:txBody>
  </p188:cm>
</p188:cmLst>
</file>

<file path=ppt/comments/modernComment_114_6AE9E170.xml><?xml version="1.0" encoding="utf-8"?>
<p188:cmLst xmlns:a="http://schemas.openxmlformats.org/drawingml/2006/main" xmlns:r="http://schemas.openxmlformats.org/officeDocument/2006/relationships" xmlns:p188="http://schemas.microsoft.com/office/powerpoint/2018/8/main">
  <p188:cm id="{764282AD-7594-4EFC-9844-321D5647DE8E}" authorId="{7BAEFA84-A256-5534-DDFC-3A52BB84F1ED}" created="2026-05-07T03:43:49.023">
    <ac:txMkLst xmlns:ac="http://schemas.microsoft.com/office/drawing/2013/main/command">
      <pc:docMk xmlns:pc="http://schemas.microsoft.com/office/powerpoint/2013/main/command"/>
      <pc:sldMk xmlns:pc="http://schemas.microsoft.com/office/powerpoint/2013/main/command" cId="1793712496" sldId="276"/>
      <ac:graphicFrameMk id="7" creationId="{57099848-8D5D-8367-A689-701F7F20826F}"/>
      <ac:tblMk/>
      <ac:tcMk rowId="1196008213" colId="112759525"/>
      <ac:txMk cp="0" len="7">
        <ac:context len="11" hash="4199798653"/>
      </ac:txMk>
    </ac:txMkLst>
    <p188:pos x="4733121" y="619895"/>
    <p188:replyLst>
      <p188:reply id="{C40A7D7D-6B6B-484B-AF4B-AF3B61D65165}" authorId="{902814E1-A956-B789-2793-196B31628021}" created="2026-05-11T00:07:28.151">
        <p188:txBody>
          <a:bodyPr/>
          <a:lstStyle/>
          <a:p>
            <a:r>
              <a:rPr lang="ko-KR" altLang="en-US"/>
              <a:t>-0.3 ~ 3.5 -&gt; -0.3 ~ 5.5 로 변경함</a:t>
            </a:r>
          </a:p>
        </p188:txBody>
      </p188:reply>
    </p188:replyLst>
    <p188:txBody>
      <a:bodyPr/>
      <a:lstStyle/>
      <a:p>
        <a:r>
          <a:rPr lang="ko-KR" altLang="en-US"/>
          <a:t>[26/5/7] 5.5V로 변경</a:t>
        </a:r>
      </a:p>
    </p188:txBody>
  </p188:cm>
  <p188:cm id="{79BA0123-8B2A-4661-8F5F-C11C9ABAFC8C}" authorId="{7BAEFA84-A256-5534-DDFC-3A52BB84F1ED}" created="2026-05-07T03:43:57.833">
    <ac:txMkLst xmlns:ac="http://schemas.microsoft.com/office/drawing/2013/main/command">
      <pc:docMk xmlns:pc="http://schemas.microsoft.com/office/powerpoint/2013/main/command"/>
      <pc:sldMk xmlns:pc="http://schemas.microsoft.com/office/powerpoint/2013/main/command" cId="1793712496" sldId="276"/>
      <ac:graphicFrameMk id="7" creationId="{57099848-8D5D-8367-A689-701F7F20826F}"/>
      <ac:tblMk/>
      <ac:tcMk rowId="1187949854" colId="112759525"/>
      <ac:txMk cp="2">
        <ac:context len="10" hash="2860423439"/>
      </ac:txMk>
    </ac:txMkLst>
    <p188:pos x="4552146" y="905645"/>
    <p188:replyLst>
      <p188:reply id="{D64A5A9D-472B-4FB2-ABAB-4A4DCA7072A3}" authorId="{902814E1-A956-B789-2793-196B31628021}" created="2026-05-11T00:07:46.190">
        <p188:txBody>
          <a:bodyPr/>
          <a:lstStyle/>
          <a:p>
            <a:r>
              <a:rPr lang="ko-KR" altLang="en-US"/>
              <a:t>40 -&gt; 24 로 변경함</a:t>
            </a:r>
          </a:p>
        </p188:txBody>
      </p188:reply>
    </p188:replyLst>
    <p188:txBody>
      <a:bodyPr/>
      <a:lstStyle/>
      <a:p>
        <a:r>
          <a:rPr lang="ko-KR" altLang="en-US"/>
          <a:t>[26/5/7] 24로 변경</a:t>
        </a:r>
      </a:p>
    </p188:txBody>
  </p188:cm>
  <p188:cm id="{98664C00-C9C5-4DBD-A023-413769FE6ED1}" authorId="{7BAEFA84-A256-5534-DDFC-3A52BB84F1ED}" created="2026-05-07T03:44:59.440">
    <ac:txMkLst xmlns:ac="http://schemas.microsoft.com/office/drawing/2013/main/command">
      <pc:docMk xmlns:pc="http://schemas.microsoft.com/office/powerpoint/2013/main/command"/>
      <pc:sldMk xmlns:pc="http://schemas.microsoft.com/office/powerpoint/2013/main/command" cId="1793712496" sldId="276"/>
      <ac:graphicFrameMk id="7" creationId="{57099848-8D5D-8367-A689-701F7F20826F}"/>
      <ac:tblMk/>
      <ac:tcMk rowId="4153588514" colId="112759525"/>
      <ac:txMk cp="9">
        <ac:context len="10" hash="2316427474"/>
      </ac:txMk>
    </ac:txMkLst>
    <p188:pos x="4666446" y="3172595"/>
    <p188:replyLst>
      <p188:reply id="{B512F3DD-3759-4EC8-9330-4C129D00CFD6}" authorId="{902814E1-A956-B789-2793-196B31628021}" created="2026-05-11T00:08:15.113">
        <p188:txBody>
          <a:bodyPr/>
          <a:lstStyle/>
          <a:p>
            <a:r>
              <a:rPr lang="ko-KR" altLang="en-US"/>
              <a:t>-20 ~ 85 -&gt; -20 ~ 125로 변경함</a:t>
            </a:r>
          </a:p>
        </p188:txBody>
      </p188:reply>
    </p188:replyLst>
    <p188:txBody>
      <a:bodyPr/>
      <a:lstStyle/>
      <a:p>
        <a:r>
          <a:rPr lang="ko-KR" altLang="en-US"/>
          <a:t>[26/5/7] 125로 변경</a:t>
        </a:r>
      </a:p>
    </p188:txBody>
  </p188:cm>
  <p188:cm id="{5F019E0F-29D8-4A05-BEE9-E4C0696C2BA0}" authorId="{7BAEFA84-A256-5534-DDFC-3A52BB84F1ED}" created="2026-05-07T03:47:11.672">
    <ac:txMkLst xmlns:ac="http://schemas.microsoft.com/office/drawing/2013/main/command">
      <pc:docMk xmlns:pc="http://schemas.microsoft.com/office/powerpoint/2013/main/command"/>
      <pc:sldMk xmlns:pc="http://schemas.microsoft.com/office/powerpoint/2013/main/command" cId="1793712496" sldId="276"/>
      <ac:graphicFrameMk id="12" creationId="{FB8DEE20-B587-D217-4F4F-5CA097B677A9}"/>
      <ac:tblMk/>
      <ac:tcMk rowId="91251016" colId="3840390301"/>
      <ac:txMk cp="14">
        <ac:context len="19" hash="1840423834"/>
      </ac:txMk>
    </ac:txMkLst>
    <p188:replyLst>
      <p188:reply id="{C4C281C9-EB8B-4247-8AF7-48445EB6BEFC}" authorId="{902814E1-A956-B789-2793-196B31628021}" created="2026-05-11T00:09:21.114">
        <p188:txBody>
          <a:bodyPr/>
          <a:lstStyle/>
          <a:p>
            <a:r>
              <a:rPr lang="ko-KR" altLang="en-US"/>
              <a:t>JEDEC JS-001-2017 -&gt; AEC Q100 으로 변경함</a:t>
            </a:r>
          </a:p>
        </p188:txBody>
      </p188:reply>
    </p188:replyLst>
    <p188:txBody>
      <a:bodyPr/>
      <a:lstStyle/>
      <a:p>
        <a:r>
          <a:rPr lang="ko-KR" altLang="en-US"/>
          <a:t>[26/5/7] AEC Q100 기준으로 변경 필요 + spec 검토</a:t>
        </a:r>
      </a:p>
    </p188:txBody>
  </p188:cm>
  <p188:cm id="{EF799B0E-80BF-4720-94EE-F492A42FF13F}" authorId="{7BAEFA84-A256-5534-DDFC-3A52BB84F1ED}" created="2026-05-07T03:47:36.965">
    <ac:txMkLst xmlns:ac="http://schemas.microsoft.com/office/drawing/2013/main/command">
      <pc:docMk xmlns:pc="http://schemas.microsoft.com/office/powerpoint/2013/main/command"/>
      <pc:sldMk xmlns:pc="http://schemas.microsoft.com/office/powerpoint/2013/main/command" cId="1793712496" sldId="276"/>
      <ac:graphicFrameMk id="12" creationId="{FB8DEE20-B587-D217-4F4F-5CA097B677A9}"/>
      <ac:tblMk/>
      <ac:tcMk rowId="2162623322" colId="3840390301"/>
      <ac:txMk cp="7" len="1">
        <ac:context len="20" hash="2640995386"/>
      </ac:txMk>
    </ac:txMkLst>
    <p188:replyLst>
      <p188:reply id="{71F846EF-E436-430C-A131-59BA8B69143F}" authorId="{902814E1-A956-B789-2793-196B31628021}" created="2026-05-11T00:09:59.878">
        <p188:txBody>
          <a:bodyPr/>
          <a:lstStyle/>
          <a:p>
            <a:r>
              <a:rPr lang="ko-KR" altLang="en-US"/>
              <a:t>JEDEC JESD22-C101F Oct 2013 -&gt; AEC Q100 으로 변경함</a:t>
            </a:r>
          </a:p>
        </p188:txBody>
      </p188:reply>
    </p188:replyLst>
    <p188:txBody>
      <a:bodyPr/>
      <a:lstStyle/>
      <a:p>
        <a:r>
          <a:rPr lang="ko-KR" altLang="en-US"/>
          <a:t>[26/5/7] AEC Q100기준으로 변경 필요 + spec 검토</a:t>
        </a:r>
      </a:p>
    </p188:txBody>
  </p188:cm>
</p188:cmLst>
</file>

<file path=ppt/comments/modernComment_115_47193C8.xml><?xml version="1.0" encoding="utf-8"?>
<p188:cmLst xmlns:a="http://schemas.openxmlformats.org/drawingml/2006/main" xmlns:r="http://schemas.openxmlformats.org/officeDocument/2006/relationships" xmlns:p188="http://schemas.microsoft.com/office/powerpoint/2018/8/main">
  <p188:cm id="{86B49194-BF50-4F8D-9807-36E75A5E6582}" authorId="{5E03ACD7-6916-F275-5442-2DA38665A9F9}" created="2026-02-23T01:13:44.010">
    <pc:sldMkLst xmlns:pc="http://schemas.microsoft.com/office/powerpoint/2013/main/command">
      <pc:docMk/>
      <pc:sldMk cId="74552264" sldId="277"/>
    </pc:sldMkLst>
    <p188:txBody>
      <a:bodyPr/>
      <a:lstStyle/>
      <a:p>
        <a:r>
          <a:rPr lang="ko-KR" altLang="en-US"/>
          <a:t>[2/23] Application Circuit Block update</a:t>
        </a:r>
      </a:p>
    </p188:txBody>
  </p188:cm>
  <p188:cm id="{86C65D86-B22B-4163-87C3-BBDB1E029EA2}" authorId="{ECB522F3-14BE-4028-5621-07DB41C6B9B8}" created="2026-05-08T04:10:45.779">
    <ac:deMkLst xmlns:ac="http://schemas.microsoft.com/office/drawing/2013/main/command">
      <pc:docMk xmlns:pc="http://schemas.microsoft.com/office/powerpoint/2013/main/command"/>
      <pc:sldMk xmlns:pc="http://schemas.microsoft.com/office/powerpoint/2013/main/command" cId="74552264" sldId="277"/>
      <ac:picMk id="392" creationId="{A3FF72A2-D2CA-84B7-D886-959B6F771B9F}"/>
    </ac:deMkLst>
    <p188:txBody>
      <a:bodyPr/>
      <a:lstStyle/>
      <a:p>
        <a:r>
          <a:rPr lang="ko-KR" altLang="en-US"/>
          <a:t>기능안전 블록 추가 반영 필요 @모비스</a:t>
        </a:r>
      </a:p>
    </p188:txBody>
  </p188:cm>
  <p188:cm id="{A40ECA7F-2D83-4031-8A4F-5211E8750BB8}" authorId="{B606345A-1B02-C35A-D0E5-DF8A67A6C758}" created="2026-09-29T06:34:51.001">
    <ac:deMkLst xmlns:ac="http://schemas.microsoft.com/office/drawing/2013/main/command">
      <pc:docMk xmlns:pc="http://schemas.microsoft.com/office/powerpoint/2013/main/command"/>
      <pc:sldMk xmlns:pc="http://schemas.microsoft.com/office/powerpoint/2013/main/command" cId="74552264" sldId="277"/>
      <ac:spMk id="2" creationId="{0FFEC2A8-834E-ED5A-91F0-A2F7C89B8053}"/>
    </ac:deMkLst>
    <p188:txBody>
      <a:bodyPr/>
      <a:lstStyle/>
      <a:p>
        <a:r>
          <a:rPr lang="ko-KR" altLang="en-US"/>
          <a:t>D16으로</a:t>
        </a:r>
      </a:p>
    </p188:txBody>
  </p188:cm>
</p188:cmLst>
</file>

<file path=ppt/comments/modernComment_181_FC17E64D.xml><?xml version="1.0" encoding="utf-8"?>
<p188:cmLst xmlns:a="http://schemas.openxmlformats.org/drawingml/2006/main" xmlns:r="http://schemas.openxmlformats.org/officeDocument/2006/relationships" xmlns:p188="http://schemas.microsoft.com/office/powerpoint/2018/8/main">
  <p188:cm id="{C025AD5A-D6E5-4E8A-87D8-5EB8DB192F12}" authorId="{7BAEFA84-A256-5534-DDFC-3A52BB84F1ED}" created="2026-05-07T02:22:09.289">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224">
        <ac:context len="1163" hash="572022858"/>
      </ac:txMk>
    </ac:txMkLst>
    <p188:pos x="2125027" y="1295062"/>
    <p188:txBody>
      <a:bodyPr/>
      <a:lstStyle/>
      <a:p>
        <a:r>
          <a:rPr lang="ko-KR" altLang="en-US"/>
          <a:t>[26/5/7] 삭제 검토</a:t>
        </a:r>
      </a:p>
    </p188:txBody>
  </p188:cm>
  <p188:cm id="{38842498-045E-45C1-A035-B942E7FD61C4}" authorId="{7BAEFA84-A256-5534-DDFC-3A52BB84F1ED}" created="2026-05-07T02:23:20.765">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821" len="10">
        <ac:context len="1163" hash="572022858"/>
      </ac:txMk>
    </ac:txMkLst>
    <p188:pos x="1782127" y="4350682"/>
    <p188:replyLst>
      <p188:reply id="{03C8339C-2618-49AE-88E5-18511F498D85}" authorId="{902814E1-A956-B789-2793-196B31628021}" created="2026-05-10T23:59:29.245">
        <p188:txBody>
          <a:bodyPr/>
          <a:lstStyle/>
          <a:p>
            <a:r>
              <a:rPr lang="ko-KR" altLang="en-US"/>
              <a:t>3.0~3.6V -&gt; 3.0~5.5V로 변경함</a:t>
            </a:r>
          </a:p>
        </p188:txBody>
      </p188:reply>
    </p188:replyLst>
    <p188:txBody>
      <a:bodyPr/>
      <a:lstStyle/>
      <a:p>
        <a:r>
          <a:rPr lang="ko-KR" altLang="en-US"/>
          <a:t>[26/5/7] 3~5.5V로 변경</a:t>
        </a:r>
      </a:p>
    </p188:txBody>
  </p188:cm>
  <p188:cm id="{ECBEAABC-612B-4A42-8AC5-E1FFDB7BD117}" authorId="{7BAEFA84-A256-5534-DDFC-3A52BB84F1ED}" created="2026-05-07T02:23:32.352">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785">
        <ac:context len="1163" hash="572022858"/>
      </ac:txMk>
    </ac:txMkLst>
    <p188:pos x="1149667" y="4632622"/>
    <p188:replyLst>
      <p188:reply id="{CE7EFAB3-D562-4191-972E-F95155BB6F65}" authorId="{902814E1-A956-B789-2793-196B31628021}" created="2026-05-10T23:59:48.775">
        <p188:txBody>
          <a:bodyPr/>
          <a:lstStyle/>
          <a:p>
            <a:r>
              <a:rPr lang="ko-KR" altLang="en-US"/>
              <a:t>40V-&gt;24V로 변경함</a:t>
            </a:r>
          </a:p>
        </p188:txBody>
      </p188:reply>
    </p188:replyLst>
    <p188:txBody>
      <a:bodyPr/>
      <a:lstStyle/>
      <a:p>
        <a:r>
          <a:rPr lang="ko-KR" altLang="en-US"/>
          <a:t>[26/5/7] 24V로 변경</a:t>
        </a:r>
      </a:p>
    </p188:txBody>
  </p188:cm>
  <p188:cm id="{1B3D9BD9-65E2-4E36-870C-803125434156}" authorId="{7BAEFA84-A256-5534-DDFC-3A52BB84F1ED}" created="2026-05-07T02:23:55.111">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1132">
        <ac:context len="1163" hash="572022858"/>
      </ac:txMk>
    </ac:txMkLst>
    <p188:pos x="2612707" y="5646082"/>
    <p188:replyLst>
      <p188:reply id="{83A69592-C678-4447-A6CB-050E0BC82060}" authorId="{ECB522F3-14BE-4028-5621-07DB41C6B9B8}" created="2026-05-08T04:12:17.827">
        <p188:txBody>
          <a:bodyPr/>
          <a:lstStyle/>
          <a:p>
            <a:r>
              <a:rPr lang="ko-KR" altLang="en-US"/>
              <a:t>-&gt; 별도 카테고리로 분류/서술 필요</a:t>
            </a:r>
          </a:p>
        </p188:txBody>
      </p188:reply>
    </p188:replyLst>
    <p188:txBody>
      <a:bodyPr/>
      <a:lstStyle/>
      <a:p>
        <a:r>
          <a:rPr lang="ko-KR" altLang="en-US"/>
          <a:t>[26/5/7] Fault에서 제외 검토</a:t>
        </a:r>
      </a:p>
    </p188:txBody>
  </p188:cm>
  <p188:cm id="{224CBD73-C932-4498-B05B-2103FE62E2F4}" authorId="{7BAEFA84-A256-5534-DDFC-3A52BB84F1ED}" created="2026-05-07T02:24:12.929">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957">
        <ac:context len="1163" hash="572022858"/>
      </ac:txMk>
    </ac:txMkLst>
    <p188:pos x="837247" y="5798482"/>
    <p188:replyLst>
      <p188:reply id="{F40BECBE-3D0C-4E9F-BBEF-C25A7EC218C7}" authorId="{902814E1-A956-B789-2793-196B31628021}" created="2026-05-11T00:03:35.137">
        <p188:txBody>
          <a:bodyPr/>
          <a:lstStyle/>
          <a:p>
            <a:r>
              <a:rPr lang="ko-KR" altLang="en-US"/>
              <a:t>VDD1 삭제함</a:t>
            </a:r>
          </a:p>
        </p188:txBody>
      </p188:reply>
    </p188:replyLst>
    <p188:txBody>
      <a:bodyPr/>
      <a:lstStyle/>
      <a:p>
        <a:r>
          <a:rPr lang="ko-KR" altLang="en-US"/>
          <a:t>[26/5/7] VDD 삭제</a:t>
        </a:r>
      </a:p>
    </p188:txBody>
  </p188:cm>
  <p188:cm id="{B51973DF-AD48-4165-B559-6490B3D39F89}" authorId="{ECB522F3-14BE-4028-5621-07DB41C6B9B8}" created="2026-05-08T03:52:40.765">
    <pc:sldMkLst xmlns:pc="http://schemas.microsoft.com/office/powerpoint/2013/main/command">
      <pc:docMk/>
      <pc:sldMk cId="4229424717" sldId="385"/>
    </pc:sldMkLst>
    <p188:replyLst>
      <p188:reply id="{EBBC77F9-1737-4194-BCC1-CCCB6ADB3FB6}" authorId="{902814E1-A956-B789-2793-196B31628021}" created="2026-05-11T00:01:10.464">
        <p188:txBody>
          <a:bodyPr/>
          <a:lstStyle/>
          <a:p>
            <a:r>
              <a:rPr lang="ko-KR" altLang="en-US"/>
              <a:t>ISO 26262 Compliant ( up to ASIL-B) 문구 삽입함</a:t>
            </a:r>
          </a:p>
        </p188:txBody>
      </p188:reply>
    </p188:replyLst>
    <p188:txBody>
      <a:bodyPr/>
      <a:lstStyle/>
      <a:p>
        <a:r>
          <a:rPr lang="ko-KR" altLang="en-US"/>
          <a:t>기능안전 대응 언급 필요
(ASIL-B Compliant)</a:t>
        </a:r>
      </a:p>
    </p188:txBody>
  </p188:cm>
  <p188:cm id="{FACE17D2-667D-4A5B-BF68-A631DA6314D7}" authorId="{ECB522F3-14BE-4028-5621-07DB41C6B9B8}" created="2026-05-08T03:59:28.808">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1132">
        <ac:context len="1163" hash="572022858"/>
      </ac:txMk>
    </ac:txMkLst>
    <p188:pos x="1507807" y="6320452"/>
    <p188:replyLst>
      <p188:reply id="{F4C8111A-A1D1-4F32-B77F-E9DCB4B624C1}" authorId="{902814E1-A956-B789-2793-196B31628021}" created="2026-05-11T00:01:57.133">
        <p188:txBody>
          <a:bodyPr/>
          <a:lstStyle/>
          <a:p>
            <a:r>
              <a:rPr lang="ko-KR" altLang="en-US"/>
              <a:t>CH_DAC OV/UV-&gt; VREF_OV/UV로 변경함</a:t>
            </a:r>
          </a:p>
        </p188:txBody>
      </p188:reply>
    </p188:replyLst>
    <p188:txBody>
      <a:bodyPr/>
      <a:lstStyle/>
      <a:p>
        <a:r>
          <a:rPr lang="ko-KR" altLang="en-US"/>
          <a:t>VREF_OV/UV로 명칭 변경 필요</a:t>
        </a:r>
      </a:p>
    </p188:txBody>
  </p188:cm>
  <p188:cm id="{2C4F5E54-ACCE-4B45-A8D2-596918EE9C31}" authorId="{ECB522F3-14BE-4028-5621-07DB41C6B9B8}" created="2026-05-08T04:00:17.289">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1132">
        <ac:context len="1163" hash="572022858"/>
      </ac:txMk>
    </ac:txMkLst>
    <p188:pos x="1267777" y="6168052"/>
    <p188:replyLst>
      <p188:reply id="{97BBF7AA-CB40-4F96-A474-A0007DEDB255}" authorId="{902814E1-A956-B789-2793-196B31628021}" created="2026-05-11T00:02:34.825">
        <p188:txBody>
          <a:bodyPr/>
          <a:lstStyle/>
          <a:p>
            <a:r>
              <a:rPr lang="ko-KR" altLang="en-US"/>
              <a:t>BGR OV/UV -&gt; LDO_OSC_OV/UV로 변경함</a:t>
            </a:r>
          </a:p>
        </p188:txBody>
      </p188:reply>
    </p188:replyLst>
    <p188:txBody>
      <a:bodyPr/>
      <a:lstStyle/>
      <a:p>
        <a:r>
          <a:rPr lang="ko-KR" altLang="en-US"/>
          <a:t>삭제 필요, LDO_OSC_OV/UV 추가 필요</a:t>
        </a:r>
      </a:p>
    </p188:txBody>
  </p188:cm>
  <p188:cm id="{9CE72749-F980-4429-879D-89B3CCE251A3}" authorId="{ECB522F3-14BE-4028-5621-07DB41C6B9B8}" created="2026-05-08T04:13:15.500">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1151">
        <ac:context len="1163" hash="572022858"/>
      </ac:txMk>
    </ac:txMkLst>
    <p188:pos x="4052887" y="6802417"/>
    <p188:txBody>
      <a:bodyPr/>
      <a:lstStyle/>
      <a:p>
        <a:r>
          <a:rPr lang="ko-KR" altLang="en-US"/>
          <a:t>AEC Q100 기준으로 변경 필요 + spec 검토</a:t>
        </a:r>
      </a:p>
    </p188:txBody>
  </p188:cm>
  <p188:cm id="{6912B25E-C82C-426B-9F2C-BFA2D9155793}" authorId="{ECB522F3-14BE-4028-5621-07DB41C6B9B8}" created="2026-05-08T04:13:44.702">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917" len="8">
        <ac:context len="1163" hash="572022858"/>
      </ac:txMk>
    </ac:txMkLst>
    <p188:pos x="3671887" y="4823122"/>
    <p188:replyLst>
      <p188:reply id="{947EDF29-98CD-4D41-A499-6F9C0EF2E58C}" authorId="{902814E1-A956-B789-2793-196B31628021}" created="2026-05-11T00:05:15.034">
        <p188:txBody>
          <a:bodyPr/>
          <a:lstStyle/>
          <a:p>
            <a:r>
              <a:rPr lang="ko-KR" altLang="en-US"/>
              <a:t>Fault events support of drivers through the interrupt function -&gt; Fault events support of the driver function 으로 변경함</a:t>
            </a:r>
          </a:p>
        </p188:txBody>
      </p188:reply>
    </p188:replyLst>
    <p188:txBody>
      <a:bodyPr/>
      <a:lstStyle/>
      <a:p>
        <a:r>
          <a:rPr lang="ko-KR" altLang="en-US"/>
          <a:t>Interrupt 언급 삭제</a:t>
        </a:r>
      </a:p>
    </p188:txBody>
  </p188:cm>
  <p188:cm id="{F37C4BB3-B226-4F03-8635-CD9CD20BAD1F}" authorId="{ECB522F3-14BE-4028-5621-07DB41C6B9B8}" created="2026-05-08T04:15:18.109">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234" len="14">
        <ac:context len="1163" hash="572022858"/>
      </ac:txMk>
    </ac:txMkLst>
    <p188:pos x="2627312" y="909617"/>
    <p188:txBody>
      <a:bodyPr/>
      <a:lstStyle/>
      <a:p>
        <a:r>
          <a:rPr lang="ko-KR" altLang="en-US"/>
          <a:t>Max 언급 필요</a:t>
        </a:r>
      </a:p>
    </p188:txBody>
  </p188:cm>
  <p188:cm id="{7D6D7F82-B772-43D9-A7FB-3179383BCC8D}" authorId="{ECB522F3-14BE-4028-5621-07DB41C6B9B8}" created="2026-05-08T04:20:02.471">
    <ac:txMkLst xmlns:ac="http://schemas.microsoft.com/office/drawing/2013/main/command">
      <pc:docMk xmlns:pc="http://schemas.microsoft.com/office/powerpoint/2013/main/command"/>
      <pc:sldMk xmlns:pc="http://schemas.microsoft.com/office/powerpoint/2013/main/command" cId="4229424717" sldId="385"/>
      <ac:spMk id="2" creationId="{9EE0DD9E-9FC9-075A-1D58-E68C916D7964}"/>
      <ac:txMk cp="530" len="37">
        <ac:context len="1163" hash="572022858"/>
      </ac:txMk>
    </ac:txMkLst>
    <p188:pos x="2620962" y="3132117"/>
    <p188:txBody>
      <a:bodyPr/>
      <a:lstStyle/>
      <a:p>
        <a:r>
          <a:rPr lang="ko-KR" altLang="en-US"/>
          <a:t>VLED 언급 필요 &amp; 
FB 내용과 연계하여 수정 요</a:t>
        </a:r>
      </a:p>
    </p188:txBody>
  </p188:cm>
</p188:cmLst>
</file>

<file path=ppt/comments/modernComment_199_684568CD.xml><?xml version="1.0" encoding="utf-8"?>
<p188:cmLst xmlns:a="http://schemas.openxmlformats.org/drawingml/2006/main" xmlns:r="http://schemas.openxmlformats.org/officeDocument/2006/relationships" xmlns:p188="http://schemas.microsoft.com/office/powerpoint/2018/8/main">
  <p188:cm id="{779866BF-1395-4DAF-8F3F-10423EF37DD0}" authorId="{5E03ACD7-6916-F275-5442-2DA38665A9F9}" created="2026-02-10T05:44:03.710">
    <pc:sldMkLst xmlns:pc="http://schemas.microsoft.com/office/powerpoint/2013/main/command">
      <pc:docMk/>
      <pc:sldMk cId="1749379277" sldId="409"/>
    </pc:sldMkLst>
    <p188:txBody>
      <a:bodyPr/>
      <a:lstStyle/>
      <a:p>
        <a:r>
          <a:rPr lang="ko-KR" altLang="en-US"/>
          <a:t>1/23 이준영 TIMEOUT(0x19)
          default = 0x3FF </a:t>
        </a:r>
      </a:p>
    </p188:txBody>
  </p188:cm>
  <p188:cm id="{B1D059FD-C2C3-4558-8129-13F2C9452BFE}" authorId="{ECB522F3-14BE-4028-5621-07DB41C6B9B8}" created="2026-05-07T07:27:09.617">
    <ac:deMkLst xmlns:ac="http://schemas.microsoft.com/office/drawing/2013/main/command">
      <pc:docMk xmlns:pc="http://schemas.microsoft.com/office/powerpoint/2013/main/command"/>
      <pc:sldMk xmlns:pc="http://schemas.microsoft.com/office/powerpoint/2013/main/command" cId="1749379277" sldId="409"/>
      <ac:graphicFrameMk id="46" creationId="{0C03E747-81D2-2572-07FD-D1E4D54CC79B}"/>
    </ac:deMkLst>
    <p188:txBody>
      <a:bodyPr/>
      <a:lstStyle/>
      <a:p>
        <a:r>
          <a:rPr lang="ko-KR" altLang="en-US"/>
          <a:t>기능에 대한 자세한 Description이 필요합니다.
(EX] Svsync rising / falling 신호 사이 길이가 레지스터 설정값보다 짧은 경우 무시하는 기능 등)</a:t>
        </a:r>
      </a:p>
    </p188:txBody>
  </p188:cm>
  <p188:cm id="{FBF637D7-C1E2-4A4E-B487-BA096589B9DA}" authorId="{ECB522F3-14BE-4028-5621-07DB41C6B9B8}" created="2026-05-07T07:28:02.199">
    <ac:deMkLst xmlns:ac="http://schemas.microsoft.com/office/drawing/2013/main/command">
      <pc:docMk xmlns:pc="http://schemas.microsoft.com/office/powerpoint/2013/main/command"/>
      <pc:sldMk xmlns:pc="http://schemas.microsoft.com/office/powerpoint/2013/main/command" cId="1749379277" sldId="409"/>
      <ac:graphicFrameMk id="46" creationId="{0C03E747-81D2-2572-07FD-D1E4D54CC79B}"/>
    </ac:deMkLst>
    <p188:txBody>
      <a:bodyPr/>
      <a:lstStyle/>
      <a:p>
        <a:r>
          <a:rPr lang="ko-KR" altLang="en-US"/>
          <a:t>특정 Syncmode에서는 SV_MASK_EN 옵션 설정값과 상관없이 Enable 되는 것으로 확인했는데요 (질의응답 내용), 관련 내용 추가 부탁드립니다.</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3079202" cy="512304"/>
          </a:xfrm>
          <a:prstGeom prst="rect">
            <a:avLst/>
          </a:prstGeom>
        </p:spPr>
        <p:txBody>
          <a:bodyPr vert="horz" lIns="94787" tIns="47393" rIns="94787" bIns="47393"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4023203" y="0"/>
            <a:ext cx="3079202" cy="512304"/>
          </a:xfrm>
          <a:prstGeom prst="rect">
            <a:avLst/>
          </a:prstGeom>
        </p:spPr>
        <p:txBody>
          <a:bodyPr vert="horz" lIns="94787" tIns="47393" rIns="94787" bIns="47393" rtlCol="0"/>
          <a:lstStyle>
            <a:lvl1pPr algn="r">
              <a:defRPr sz="1200"/>
            </a:lvl1pPr>
          </a:lstStyle>
          <a:p>
            <a:fld id="{2281637F-B6E0-4E7F-AD60-C289DCB0986F}" type="datetimeFigureOut">
              <a:rPr lang="ko-KR" altLang="en-US" smtClean="0"/>
              <a:t>2026-09-29</a:t>
            </a:fld>
            <a:endParaRPr lang="ko-KR" altLang="en-US"/>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722309"/>
            <a:ext cx="3079202" cy="512304"/>
          </a:xfrm>
          <a:prstGeom prst="rect">
            <a:avLst/>
          </a:prstGeom>
        </p:spPr>
        <p:txBody>
          <a:bodyPr vert="horz" lIns="94787" tIns="47393" rIns="94787" bIns="47393"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4023203" y="9722309"/>
            <a:ext cx="3079202" cy="512304"/>
          </a:xfrm>
          <a:prstGeom prst="rect">
            <a:avLst/>
          </a:prstGeom>
        </p:spPr>
        <p:txBody>
          <a:bodyPr vert="horz" lIns="94787" tIns="47393" rIns="94787" bIns="47393" rtlCol="0" anchor="b"/>
          <a:lstStyle>
            <a:lvl1pPr algn="r">
              <a:defRPr sz="1200"/>
            </a:lvl1pPr>
          </a:lstStyle>
          <a:p>
            <a:fld id="{BB9A4DEB-4C72-49D7-9C33-58C15789186D}" type="slidenum">
              <a:rPr lang="ko-KR" altLang="en-US" smtClean="0"/>
              <a:t>‹#›</a:t>
            </a:fld>
            <a:endParaRPr lang="ko-KR" altLang="en-US"/>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2" y="0"/>
            <a:ext cx="3078427" cy="513508"/>
          </a:xfrm>
          <a:prstGeom prst="rect">
            <a:avLst/>
          </a:prstGeom>
        </p:spPr>
        <p:txBody>
          <a:bodyPr vert="horz" lIns="94787" tIns="47393" rIns="94787" bIns="47393" rtlCol="0"/>
          <a:lstStyle>
            <a:lvl1pPr algn="l">
              <a:defRPr sz="1200"/>
            </a:lvl1pPr>
          </a:lstStyle>
          <a:p>
            <a:endParaRPr lang="ko-KR" altLang="en-US"/>
          </a:p>
        </p:txBody>
      </p:sp>
      <p:sp>
        <p:nvSpPr>
          <p:cNvPr id="3" name="날짜 개체 틀 2"/>
          <p:cNvSpPr>
            <a:spLocks noGrp="1"/>
          </p:cNvSpPr>
          <p:nvPr>
            <p:ph type="dt" idx="1"/>
          </p:nvPr>
        </p:nvSpPr>
        <p:spPr>
          <a:xfrm>
            <a:off x="4023994" y="0"/>
            <a:ext cx="3078427" cy="513508"/>
          </a:xfrm>
          <a:prstGeom prst="rect">
            <a:avLst/>
          </a:prstGeom>
        </p:spPr>
        <p:txBody>
          <a:bodyPr vert="horz" lIns="94787" tIns="47393" rIns="94787" bIns="47393" rtlCol="0"/>
          <a:lstStyle>
            <a:lvl1pPr algn="r">
              <a:defRPr sz="1200"/>
            </a:lvl1pPr>
          </a:lstStyle>
          <a:p>
            <a:fld id="{1905B5A4-DDD3-42F4-9B43-01BA73DC80EA}" type="datetimeFigureOut">
              <a:rPr lang="ko-KR" altLang="en-US" smtClean="0"/>
              <a:t>2026-09-29</a:t>
            </a:fld>
            <a:endParaRPr lang="ko-KR" altLang="en-US"/>
          </a:p>
        </p:txBody>
      </p:sp>
      <p:sp>
        <p:nvSpPr>
          <p:cNvPr id="4" name="슬라이드 이미지 개체 틀 3"/>
          <p:cNvSpPr>
            <a:spLocks noGrp="1" noRot="1" noChangeAspect="1"/>
          </p:cNvSpPr>
          <p:nvPr>
            <p:ph type="sldImg" idx="2"/>
          </p:nvPr>
        </p:nvSpPr>
        <p:spPr>
          <a:xfrm>
            <a:off x="2355850" y="1279525"/>
            <a:ext cx="2392363" cy="3454400"/>
          </a:xfrm>
          <a:prstGeom prst="rect">
            <a:avLst/>
          </a:prstGeom>
          <a:noFill/>
          <a:ln w="12700">
            <a:solidFill>
              <a:prstClr val="black"/>
            </a:solidFill>
          </a:ln>
        </p:spPr>
        <p:txBody>
          <a:bodyPr vert="horz" lIns="94787" tIns="47393" rIns="94787" bIns="47393" rtlCol="0" anchor="ctr"/>
          <a:lstStyle/>
          <a:p>
            <a:endParaRPr lang="ko-KR" altLang="en-US"/>
          </a:p>
        </p:txBody>
      </p:sp>
      <p:sp>
        <p:nvSpPr>
          <p:cNvPr id="5" name="슬라이드 노트 개체 틀 4"/>
          <p:cNvSpPr>
            <a:spLocks noGrp="1"/>
          </p:cNvSpPr>
          <p:nvPr>
            <p:ph type="body" sz="quarter" idx="3"/>
          </p:nvPr>
        </p:nvSpPr>
        <p:spPr>
          <a:xfrm>
            <a:off x="710407" y="4925408"/>
            <a:ext cx="5683250" cy="4029879"/>
          </a:xfrm>
          <a:prstGeom prst="rect">
            <a:avLst/>
          </a:prstGeom>
        </p:spPr>
        <p:txBody>
          <a:bodyPr vert="horz" lIns="94787" tIns="47393" rIns="94787" bIns="47393"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2" y="9721107"/>
            <a:ext cx="3078427" cy="513507"/>
          </a:xfrm>
          <a:prstGeom prst="rect">
            <a:avLst/>
          </a:prstGeom>
        </p:spPr>
        <p:txBody>
          <a:bodyPr vert="horz" lIns="94787" tIns="47393" rIns="94787" bIns="47393"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4023994" y="9721107"/>
            <a:ext cx="3078427" cy="513507"/>
          </a:xfrm>
          <a:prstGeom prst="rect">
            <a:avLst/>
          </a:prstGeom>
        </p:spPr>
        <p:txBody>
          <a:bodyPr vert="horz" lIns="94787" tIns="47393" rIns="94787" bIns="47393" rtlCol="0" anchor="b"/>
          <a:lstStyle>
            <a:lvl1pPr algn="r">
              <a:defRPr sz="1200"/>
            </a:lvl1pPr>
          </a:lstStyle>
          <a:p>
            <a:fld id="{E0166A3B-8ACD-4EFC-80A7-344EDF6621A2}" type="slidenum">
              <a:rPr lang="ko-KR" altLang="en-US" smtClean="0"/>
              <a:t>‹#›</a:t>
            </a:fld>
            <a:endParaRPr lang="ko-KR" altLang="en-US"/>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44</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45</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a:solidFill>
                    <a:prstClr val="black"/>
                  </a:solidFill>
                  <a:latin typeface="Calibri"/>
                  <a:ea typeface="맑은 고딕" panose="020B0503020000020004" pitchFamily="50" charset="-127"/>
                </a:rPr>
                <a:t>Global Technologies</a:t>
              </a:r>
              <a:endParaRPr kumimoji="0" lang="ko-KR" altLang="en-US" sz="1371" kern="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a:solidFill>
                  <a:srgbClr val="7E7E7E"/>
                </a:solidFill>
                <a:latin typeface="Arial"/>
                <a:ea typeface="+mj-ea"/>
                <a:cs typeface="Arial"/>
              </a:rPr>
              <a:t>ID601</a:t>
            </a:r>
            <a:endParaRPr sz="1760" b="1">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2026-09-29</a:t>
            </a:fld>
            <a:endParaRPr lang="ko-KR" alt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a:solidFill>
                  <a:srgbClr val="FF0000"/>
                </a:solidFill>
                <a:latin typeface="Calibri"/>
                <a:ea typeface="+mn-ea"/>
                <a:cs typeface="Perpetua Titling MT"/>
              </a:rPr>
              <a:t>CONFIDENTIAL</a:t>
            </a:r>
            <a:endParaRPr kumimoji="0" sz="1763">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슬라이드 번호 개체 틀 3">
            <a:extLst>
              <a:ext uri="{FF2B5EF4-FFF2-40B4-BE49-F238E27FC236}">
                <a16:creationId xmlns:a16="http://schemas.microsoft.com/office/drawing/2014/main" id="{0E357E4A-EC35-1D3A-6A20-9D0E1809BBCE}"/>
              </a:ext>
            </a:extLst>
          </p:cNvPr>
          <p:cNvSpPr txBox="1">
            <a:spLocks/>
          </p:cNvSpPr>
          <p:nvPr userDrawn="1"/>
        </p:nvSpPr>
        <p:spPr>
          <a:xfrm>
            <a:off x="404813" y="9425597"/>
            <a:ext cx="1977867" cy="162903"/>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1. June 2026  Rev 0.1</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3" name="TextBox 2">
            <a:extLst>
              <a:ext uri="{FF2B5EF4-FFF2-40B4-BE49-F238E27FC236}">
                <a16:creationId xmlns:a16="http://schemas.microsoft.com/office/drawing/2014/main" id="{90AA3500-F56B-EDF3-E797-E03D45DC7D5E}"/>
              </a:ext>
            </a:extLst>
          </p:cNvPr>
          <p:cNvSpPr txBox="1"/>
          <p:nvPr userDrawn="1"/>
        </p:nvSpPr>
        <p:spPr>
          <a:xfrm rot="18900000">
            <a:off x="1426435" y="4291279"/>
            <a:ext cx="3770263" cy="1323439"/>
          </a:xfrm>
          <a:prstGeom prst="rect">
            <a:avLst/>
          </a:prstGeom>
          <a:noFill/>
        </p:spPr>
        <p:txBody>
          <a:bodyPr wrap="none" lIns="0" tIns="0" rIns="0" bIns="0" rtlCol="0" anchor="ctr" anchorCtr="0">
            <a:spAutoFit/>
          </a:bodyPr>
          <a:lstStyle/>
          <a:p>
            <a:pPr algn="ctr"/>
            <a:r>
              <a:rPr lang="en-US" altLang="ko-KR" sz="5400" b="1">
                <a:solidFill>
                  <a:srgbClr val="EFEFEF"/>
                </a:solidFill>
                <a:latin typeface="Arial" panose="020B0604020202020204" pitchFamily="34" charset="0"/>
                <a:ea typeface="+mn-ea"/>
                <a:cs typeface="Arial" panose="020B0604020202020204" pitchFamily="34" charset="0"/>
              </a:rPr>
              <a:t>Preliminary</a:t>
            </a:r>
          </a:p>
          <a:p>
            <a:pPr algn="ctr"/>
            <a:r>
              <a:rPr lang="ko-KR" altLang="en-US" sz="3200" b="1">
                <a:solidFill>
                  <a:srgbClr val="EFEFEF"/>
                </a:solidFill>
                <a:latin typeface="Arial" panose="020B0604020202020204" pitchFamily="34" charset="0"/>
                <a:ea typeface="+mn-ea"/>
                <a:cs typeface="Arial" panose="020B0604020202020204" pitchFamily="34" charset="0"/>
              </a:rPr>
              <a:t>현대 모비스 제출용</a:t>
            </a:r>
          </a:p>
        </p:txBody>
      </p:sp>
      <p:sp>
        <p:nvSpPr>
          <p:cNvPr id="8" name="TextBox 7">
            <a:extLst>
              <a:ext uri="{FF2B5EF4-FFF2-40B4-BE49-F238E27FC236}">
                <a16:creationId xmlns:a16="http://schemas.microsoft.com/office/drawing/2014/main" id="{1927F780-6450-A44A-EBB8-B3E5C48BDA86}"/>
              </a:ext>
            </a:extLst>
          </p:cNvPr>
          <p:cNvSpPr txBox="1"/>
          <p:nvPr>
            <p:extLst>
              <p:ext uri="{1162E1C5-73C7-4A58-AE30-91384D911F3F}">
                <p184:classification xmlns:p184="http://schemas.microsoft.com/office/powerpoint/2018/4/main" val="watermark"/>
              </p:ext>
            </p:extLst>
          </p:nvPr>
        </p:nvSpPr>
        <p:spPr>
          <a:xfrm>
            <a:off x="2978912" y="4907280"/>
            <a:ext cx="927100" cy="91440"/>
          </a:xfrm>
          <a:prstGeom prst="rect">
            <a:avLst/>
          </a:prstGeom>
        </p:spPr>
        <p:txBody>
          <a:bodyPr horzOverflow="overflow" lIns="0" tIns="0" rIns="0" bIns="0">
            <a:spAutoFit/>
          </a:bodyPr>
          <a:lstStyle/>
          <a:p>
            <a:pPr algn="l"/>
            <a:r>
              <a:rPr lang="ko-KR" altLang="en-US" sz="600">
                <a:solidFill>
                  <a:srgbClr val="737373">
                    <a:alpha val="50000"/>
                  </a:srgbClr>
                </a:solidFill>
                <a:latin typeface="맑은 고딕" panose="020B0503020000020004" pitchFamily="50" charset="-127"/>
                <a:ea typeface="맑은 고딕" panose="020B0503020000020004" pitchFamily="50" charset="-127"/>
              </a:rPr>
              <a:t>Hyundai Mobis Restricted</a:t>
            </a:r>
          </a:p>
        </p:txBody>
      </p:sp>
      <p:sp>
        <p:nvSpPr>
          <p:cNvPr id="5" name="TextBox 4">
            <a:extLst>
              <a:ext uri="{FF2B5EF4-FFF2-40B4-BE49-F238E27FC236}">
                <a16:creationId xmlns:a16="http://schemas.microsoft.com/office/drawing/2014/main" id="{7225C227-B126-F15B-5776-EF09412E66E7}"/>
              </a:ext>
            </a:extLst>
          </p:cNvPr>
          <p:cNvSpPr txBox="1"/>
          <p:nvPr userDrawn="1">
            <p:extLst>
              <p:ext uri="{1162E1C5-73C7-4A58-AE30-91384D911F3F}">
                <p184:classification xmlns:p184="http://schemas.microsoft.com/office/powerpoint/2018/4/main" val="ftr"/>
              </p:ext>
            </p:extLst>
          </p:nvPr>
        </p:nvSpPr>
        <p:spPr>
          <a:xfrm>
            <a:off x="166688" y="9659620"/>
            <a:ext cx="6551612" cy="182880"/>
          </a:xfrm>
          <a:prstGeom prst="rect">
            <a:avLst/>
          </a:prstGeom>
        </p:spPr>
        <p:txBody>
          <a:bodyPr horzOverflow="overflow" lIns="0" tIns="0" rIns="0" bIns="0">
            <a:spAutoFit/>
          </a:bodyPr>
          <a:lstStyle/>
          <a:p>
            <a:pPr algn="l"/>
            <a:r>
              <a:rPr lang="ko-KR" altLang="en-US" sz="600" dirty="0" err="1">
                <a:solidFill>
                  <a:srgbClr val="737373">
                    <a:alpha val="50000"/>
                  </a:srgbClr>
                </a:solidFill>
                <a:latin typeface="맑은 고딕" panose="020B0503020000020004" pitchFamily="50" charset="-127"/>
                <a:ea typeface="맑은 고딕" panose="020B0503020000020004" pitchFamily="50" charset="-127"/>
              </a:rPr>
              <a:t>이승문</a:t>
            </a:r>
            <a:r>
              <a:rPr lang="ko-KR" altLang="en-US" sz="600" dirty="0">
                <a:solidFill>
                  <a:srgbClr val="737373">
                    <a:alpha val="50000"/>
                  </a:srgbClr>
                </a:solidFill>
                <a:latin typeface="맑은 고딕" panose="020B0503020000020004" pitchFamily="50" charset="-127"/>
                <a:ea typeface="맑은 고딕" panose="020B0503020000020004" pitchFamily="50" charset="-127"/>
              </a:rPr>
              <a:t>( LEE </a:t>
            </a:r>
            <a:r>
              <a:rPr lang="ko-KR" altLang="en-US" sz="600" dirty="0" err="1">
                <a:solidFill>
                  <a:srgbClr val="737373">
                    <a:alpha val="50000"/>
                  </a:srgbClr>
                </a:solidFill>
                <a:latin typeface="맑은 고딕" panose="020B0503020000020004" pitchFamily="50" charset="-127"/>
                <a:ea typeface="맑은 고딕" panose="020B0503020000020004" pitchFamily="50" charset="-127"/>
              </a:rPr>
              <a:t>Seungmoon</a:t>
            </a:r>
            <a:r>
              <a:rPr lang="ko-KR" altLang="en-US" sz="600" dirty="0">
                <a:solidFill>
                  <a:srgbClr val="737373">
                    <a:alpha val="50000"/>
                  </a:srgbClr>
                </a:solidFill>
                <a:latin typeface="맑은 고딕" panose="020B0503020000020004" pitchFamily="50" charset="-127"/>
                <a:ea typeface="맑은 고딕" panose="020B0503020000020004" pitchFamily="50" charset="-127"/>
              </a:rPr>
              <a:t> ) 전원구동반도체팀 / 1634506@mobis.com / 본 문서는 현대모비스의 대외비 </a:t>
            </a:r>
            <a:r>
              <a:rPr lang="ko-KR" altLang="en-US" sz="600" dirty="0" err="1">
                <a:solidFill>
                  <a:srgbClr val="737373">
                    <a:alpha val="50000"/>
                  </a:srgbClr>
                </a:solidFill>
                <a:latin typeface="맑은 고딕" panose="020B0503020000020004" pitchFamily="50" charset="-127"/>
                <a:ea typeface="맑은 고딕" panose="020B0503020000020004" pitchFamily="50" charset="-127"/>
              </a:rPr>
              <a:t>정보자산이므로</a:t>
            </a:r>
            <a:r>
              <a:rPr lang="ko-KR" altLang="en-US" sz="600" dirty="0">
                <a:solidFill>
                  <a:srgbClr val="737373">
                    <a:alpha val="50000"/>
                  </a:srgbClr>
                </a:solidFill>
                <a:latin typeface="맑은 고딕" panose="020B0503020000020004" pitchFamily="50" charset="-127"/>
                <a:ea typeface="맑은 고딕" panose="020B0503020000020004" pitchFamily="50" charset="-127"/>
              </a:rPr>
              <a:t> 무단 전재 및 복제할 수 없으며, 위반 시 당사 사규 및 관련 법규에 의해 제재될 수 있습니다. </a:t>
            </a: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A_6C222D68.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81_FC17E64D.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5_47193C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2" Type="http://schemas.microsoft.com/office/2018/10/relationships/comments" Target="../comments/modernComment_114_6AE9E170.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microsoft.com/office/2018/10/relationships/comments" Target="../comments/modernComment_2FB_34D1C1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A1_D3E455D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A2_D9762BB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1F_6EF7015F.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microsoft.com/office/2018/10/relationships/comments" Target="../comments/modernComment_1A3_7DF4D588.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microsoft.com/office/2018/10/relationships/comments" Target="../comments/modernComment_2CF_7B8F01B.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2" Type="http://schemas.microsoft.com/office/2018/10/relationships/comments" Target="../comments/modernComment_2CD_251DA07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2D5_190CCD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1AB_5DA4829F.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4A_A173F2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9E_78698B3C.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19C_FFF69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microsoft.com/office/2018/10/relationships/comments" Target="../comments/modernComment_2D6_84C806FA.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microsoft.com/office/2018/10/relationships/comments" Target="../comments/modernComment_2D7_271FC24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microsoft.com/office/2018/10/relationships/comments" Target="../comments/modernComment_2D9_3CD0EC7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2DA_5C90F90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microsoft.com/office/2018/10/relationships/comments" Target="../comments/modernComment_2D3_C78F73D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emf"/><Relationship Id="rId2" Type="http://schemas.microsoft.com/office/2018/10/relationships/comments" Target="../comments/modernComment_199_684568CD.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microsoft.com/office/2018/10/relationships/comments" Target="../comments/modernComment_2D1_5829515B.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microsoft.com/office/2018/10/relationships/comments" Target="../comments/modernComment_2DB_A8CBE1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microsoft.com/office/2018/10/relationships/comments" Target="../comments/modernComment_19A_86B16A0F.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9324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ID601</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093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20436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ID601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ID601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64mA of output current and a maximum output voltage of 24V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is also included to optimize the VLED voltage feedback control function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ID601 can be controlled with several commands through a IC603 controller or directly by a MCU. Multiple ID601 devices can be daisy-chained and controlled via a serial interface from a single IC603, enabling scalable, high-channel-count RGB LED backlight systems for large-area displays. The ID601 is ASIL-B compliant.</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a:solidFill>
                  <a:schemeClr val="bg1">
                    <a:lumMod val="50000"/>
                  </a:schemeClr>
                </a:solidFill>
                <a:latin typeface="Arial" panose="020B0604020202020204" pitchFamily="34" charset="0"/>
                <a:cs typeface="Arial" panose="020B0604020202020204" pitchFamily="34" charset="0"/>
              </a:rPr>
              <a:t>12 Channels </a:t>
            </a:r>
            <a:endParaRPr lang="ko-KR" altLang="en-US" sz="1100" b="1">
              <a:solidFill>
                <a:schemeClr val="bg1">
                  <a:lumMod val="50000"/>
                </a:schemeClr>
              </a:solidFill>
              <a:latin typeface="Arial" panose="020B0604020202020204" pitchFamily="34" charset="0"/>
              <a:cs typeface="Arial" panose="020B0604020202020204" pitchFamily="34" charset="0"/>
            </a:endParaRP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a:solidFill>
                    <a:prstClr val="black"/>
                  </a:solidFill>
                  <a:latin typeface="Calibri"/>
                  <a:ea typeface="맑은 고딕" panose="020B0503020000020004" pitchFamily="50" charset="-127"/>
                </a:rPr>
                <a:t>Global Technologies</a:t>
              </a:r>
              <a:endParaRPr kumimoji="0" lang="ko-KR" altLang="en-US" sz="1371" kern="0">
                <a:solidFill>
                  <a:prstClr val="black"/>
                </a:solidFill>
                <a:latin typeface="Calibri"/>
                <a:ea typeface="맑은 고딕" panose="020B0503020000020004" pitchFamily="50" charset="-127"/>
              </a:endParaRPr>
            </a:p>
          </p:txBody>
        </p:sp>
      </p:grpSp>
      <p:sp>
        <p:nvSpPr>
          <p:cNvPr id="4" name="TextBox 3">
            <a:extLst>
              <a:ext uri="{FF2B5EF4-FFF2-40B4-BE49-F238E27FC236}">
                <a16:creationId xmlns:a16="http://schemas.microsoft.com/office/drawing/2014/main" id="{559AD6A3-2E5F-08A6-3704-C1688BF77DB0}"/>
              </a:ext>
            </a:extLst>
          </p:cNvPr>
          <p:cNvSpPr txBox="1"/>
          <p:nvPr/>
        </p:nvSpPr>
        <p:spPr>
          <a:xfrm>
            <a:off x="421856" y="7359449"/>
            <a:ext cx="1470444" cy="215444"/>
          </a:xfrm>
          <a:prstGeom prst="rect">
            <a:avLst/>
          </a:prstGeom>
          <a:noFill/>
        </p:spPr>
        <p:txBody>
          <a:bodyPr wrap="square" lIns="0" tIns="0" rIns="0" bIns="0" rtlCol="0">
            <a:spAutoFit/>
          </a:bodyPr>
          <a:lstStyle/>
          <a:p>
            <a:r>
              <a:rPr lang="en-US" altLang="ko-KR" sz="1400" b="1">
                <a:latin typeface="Arial" panose="020B0604020202020204" pitchFamily="34" charset="0"/>
                <a:cs typeface="Arial" panose="020B0604020202020204" pitchFamily="34" charset="0"/>
              </a:rPr>
              <a:t>Application</a:t>
            </a:r>
            <a:endParaRPr lang="ko-KR" altLang="en-US" sz="1400" b="1">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971467C-5C94-82DF-4D1A-E650B0347888}"/>
              </a:ext>
            </a:extLst>
          </p:cNvPr>
          <p:cNvSpPr txBox="1"/>
          <p:nvPr/>
        </p:nvSpPr>
        <p:spPr>
          <a:xfrm>
            <a:off x="2586066" y="7333077"/>
            <a:ext cx="3946113" cy="587020"/>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LED Backlight for TV and Monitor.</a:t>
            </a:r>
          </a:p>
        </p:txBody>
      </p:sp>
      <p:sp>
        <p:nvSpPr>
          <p:cNvPr id="8" name="object 10">
            <a:extLst>
              <a:ext uri="{FF2B5EF4-FFF2-40B4-BE49-F238E27FC236}">
                <a16:creationId xmlns:a16="http://schemas.microsoft.com/office/drawing/2014/main" id="{DB08D6AF-A824-FBB0-875B-BE7503A2EAF3}"/>
              </a:ext>
            </a:extLst>
          </p:cNvPr>
          <p:cNvSpPr txBox="1"/>
          <p:nvPr/>
        </p:nvSpPr>
        <p:spPr>
          <a:xfrm>
            <a:off x="403376" y="8238000"/>
            <a:ext cx="1962150" cy="223512"/>
          </a:xfrm>
          <a:prstGeom prst="rect">
            <a:avLst/>
          </a:prstGeom>
        </p:spPr>
        <p:txBody>
          <a:bodyPr vert="horz" wrap="square" lIns="0" tIns="12435" rIns="0" bIns="0" rtlCol="0">
            <a:spAutoFit/>
          </a:bodyPr>
          <a:lstStyle/>
          <a:p>
            <a:pPr marL="12435" defTabSz="895327" fontAlgn="auto">
              <a:spcBef>
                <a:spcPts val="98"/>
              </a:spcBef>
              <a:spcAft>
                <a:spcPts val="0"/>
              </a:spcAft>
            </a:pPr>
            <a:r>
              <a:rPr kumimoji="0" lang="en-US" sz="1371" b="1" spc="-44">
                <a:solidFill>
                  <a:prstClr val="black"/>
                </a:solidFill>
                <a:latin typeface="Arial"/>
                <a:ea typeface="+mn-ea"/>
                <a:cs typeface="Arial"/>
              </a:rPr>
              <a:t>Ordering Information </a:t>
            </a:r>
            <a:endParaRPr kumimoji="0" sz="1371">
              <a:solidFill>
                <a:prstClr val="black"/>
              </a:solidFill>
              <a:latin typeface="Arial"/>
              <a:ea typeface="+mn-ea"/>
              <a:cs typeface="Arial"/>
            </a:endParaRPr>
          </a:p>
        </p:txBody>
      </p:sp>
      <p:graphicFrame>
        <p:nvGraphicFramePr>
          <p:cNvPr id="11" name="표 10">
            <a:extLst>
              <a:ext uri="{FF2B5EF4-FFF2-40B4-BE49-F238E27FC236}">
                <a16:creationId xmlns:a16="http://schemas.microsoft.com/office/drawing/2014/main" id="{1BF050F8-2710-C25A-BCCB-66DA9D331251}"/>
              </a:ext>
            </a:extLst>
          </p:cNvPr>
          <p:cNvGraphicFramePr>
            <a:graphicFrameLocks noGrp="1"/>
          </p:cNvGraphicFramePr>
          <p:nvPr>
            <p:extLst>
              <p:ext uri="{D42A27DB-BD31-4B8C-83A1-F6EECF244321}">
                <p14:modId xmlns:p14="http://schemas.microsoft.com/office/powerpoint/2010/main" val="3766853362"/>
              </p:ext>
            </p:extLst>
          </p:nvPr>
        </p:nvGraphicFramePr>
        <p:xfrm>
          <a:off x="2627430" y="8307750"/>
          <a:ext cx="3870273" cy="457200"/>
        </p:xfrm>
        <a:graphic>
          <a:graphicData uri="http://schemas.openxmlformats.org/drawingml/2006/table">
            <a:tbl>
              <a:tblPr firstRow="1" bandRow="1">
                <a:tableStyleId>{2D5ABB26-0587-4C30-8999-92F81FD0307C}</a:tableStyleId>
              </a:tblPr>
              <a:tblGrid>
                <a:gridCol w="1349507">
                  <a:extLst>
                    <a:ext uri="{9D8B030D-6E8A-4147-A177-3AD203B41FA5}">
                      <a16:colId xmlns:a16="http://schemas.microsoft.com/office/drawing/2014/main" val="705658201"/>
                    </a:ext>
                  </a:extLst>
                </a:gridCol>
                <a:gridCol w="1171259">
                  <a:extLst>
                    <a:ext uri="{9D8B030D-6E8A-4147-A177-3AD203B41FA5}">
                      <a16:colId xmlns:a16="http://schemas.microsoft.com/office/drawing/2014/main" val="3023038831"/>
                    </a:ext>
                  </a:extLst>
                </a:gridCol>
                <a:gridCol w="1349507">
                  <a:extLst>
                    <a:ext uri="{9D8B030D-6E8A-4147-A177-3AD203B41FA5}">
                      <a16:colId xmlns:a16="http://schemas.microsoft.com/office/drawing/2014/main" val="1126704253"/>
                    </a:ext>
                  </a:extLst>
                </a:gridCol>
              </a:tblGrid>
              <a:tr h="155595">
                <a:tc>
                  <a:txBody>
                    <a:bodyPr/>
                    <a:lstStyle/>
                    <a:p>
                      <a:pPr algn="ctr" latinLnBrk="1"/>
                      <a:r>
                        <a:rPr lang="en-US" altLang="ko-KR" sz="900" b="1">
                          <a:latin typeface="Arial" panose="020B0604020202020204" pitchFamily="34" charset="0"/>
                          <a:cs typeface="Arial" panose="020B0604020202020204" pitchFamily="34" charset="0"/>
                        </a:rPr>
                        <a:t>Product ID </a:t>
                      </a:r>
                      <a:endParaRPr lang="ko-KR" altLang="en-US" sz="900" b="1">
                        <a:latin typeface="Arial" panose="020B0604020202020204" pitchFamily="34" charset="0"/>
                        <a:cs typeface="Arial" panose="020B0604020202020204" pitchFamily="34" charset="0"/>
                      </a:endParaRP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CCECFF"/>
                    </a:solidFill>
                  </a:tcPr>
                </a:tc>
                <a:tc>
                  <a:txBody>
                    <a:bodyPr/>
                    <a:lstStyle/>
                    <a:p>
                      <a:pPr algn="ctr" latinLnBrk="1"/>
                      <a:r>
                        <a:rPr lang="en-US" altLang="ko-KR" sz="900" b="1">
                          <a:latin typeface="Arial" panose="020B0604020202020204" pitchFamily="34" charset="0"/>
                          <a:cs typeface="Arial" panose="020B0604020202020204" pitchFamily="34" charset="0"/>
                        </a:rPr>
                        <a:t>Package </a:t>
                      </a:r>
                      <a:endParaRPr lang="ko-KR" altLang="en-US" sz="900" b="1">
                        <a:latin typeface="Arial" panose="020B0604020202020204" pitchFamily="34" charset="0"/>
                        <a:cs typeface="Arial" panose="020B06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CCECFF"/>
                    </a:solidFill>
                  </a:tcPr>
                </a:tc>
                <a:tc>
                  <a:txBody>
                    <a:bodyPr/>
                    <a:lstStyle/>
                    <a:p>
                      <a:pPr algn="ctr" latinLnBrk="1"/>
                      <a:r>
                        <a:rPr lang="en-US" altLang="ko-KR" sz="900" b="1">
                          <a:latin typeface="Arial" panose="020B0604020202020204" pitchFamily="34" charset="0"/>
                          <a:cs typeface="Arial" panose="020B0604020202020204" pitchFamily="34" charset="0"/>
                        </a:rPr>
                        <a:t>Body Size </a:t>
                      </a:r>
                      <a:endParaRPr lang="ko-KR" altLang="en-US" sz="900" b="1">
                        <a:latin typeface="Arial" panose="020B0604020202020204" pitchFamily="34" charset="0"/>
                        <a:cs typeface="Arial" panose="020B0604020202020204" pitchFamily="34" charset="0"/>
                      </a:endParaRPr>
                    </a:p>
                  </a:txBody>
                  <a:tcPr anchor="ctr">
                    <a:lnL w="12700" cap="flat" cmpd="sng" algn="ctr">
                      <a:solidFill>
                        <a:schemeClr val="bg1">
                          <a:lumMod val="75000"/>
                        </a:schemeClr>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CCECFF"/>
                    </a:solidFill>
                  </a:tcPr>
                </a:tc>
                <a:extLst>
                  <a:ext uri="{0D108BD9-81ED-4DB2-BD59-A6C34878D82A}">
                    <a16:rowId xmlns:a16="http://schemas.microsoft.com/office/drawing/2014/main" val="2367448896"/>
                  </a:ext>
                </a:extLst>
              </a:tr>
              <a:tr h="155595">
                <a:tc>
                  <a:txBody>
                    <a:bodyPr/>
                    <a:lstStyle/>
                    <a:p>
                      <a:pPr algn="ctr" latinLnBrk="1"/>
                      <a:r>
                        <a:rPr lang="en-US" altLang="ko-KR" sz="900" b="0">
                          <a:latin typeface="Arial" panose="020B0604020202020204" pitchFamily="34" charset="0"/>
                          <a:cs typeface="Arial" panose="020B0604020202020204" pitchFamily="34" charset="0"/>
                        </a:rPr>
                        <a:t>ID601 </a:t>
                      </a:r>
                      <a:endParaRPr lang="ko-KR" altLang="en-US" sz="900" b="0">
                        <a:latin typeface="Arial" panose="020B0604020202020204" pitchFamily="34" charset="0"/>
                        <a:cs typeface="Arial" panose="020B0604020202020204" pitchFamily="34" charset="0"/>
                      </a:endParaRPr>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900" b="0" dirty="0">
                          <a:latin typeface="Arial" panose="020B0604020202020204" pitchFamily="34" charset="0"/>
                          <a:cs typeface="Arial" panose="020B0604020202020204" pitchFamily="34" charset="0"/>
                        </a:rPr>
                        <a:t>QFN3030-24L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900" b="0" dirty="0">
                          <a:latin typeface="Arial" panose="020B0604020202020204" pitchFamily="34" charset="0"/>
                          <a:cs typeface="Arial" panose="020B0604020202020204" pitchFamily="34" charset="0"/>
                        </a:rPr>
                        <a:t>3.0x3.0x0.55mm</a:t>
                      </a:r>
                      <a:endParaRPr lang="ko-KR" altLang="en-US" sz="900" b="0" dirty="0">
                        <a:latin typeface="Arial" panose="020B0604020202020204" pitchFamily="34" charset="0"/>
                        <a:cs typeface="Arial" panose="020B0604020202020204" pitchFamily="34" charset="0"/>
                      </a:endParaRPr>
                    </a:p>
                  </a:txBody>
                  <a:tcPr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654840"/>
                  </a:ext>
                </a:extLst>
              </a:tr>
            </a:tbl>
          </a:graphicData>
        </a:graphic>
      </p:graphicFrame>
    </p:spTree>
    <p:extLst>
      <p:ext uri="{BB962C8B-B14F-4D97-AF65-F5344CB8AC3E}">
        <p14:creationId xmlns:p14="http://schemas.microsoft.com/office/powerpoint/2010/main" val="1814179176"/>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5975675"/>
          </a:xfrm>
          <a:prstGeom prst="rect">
            <a:avLst/>
          </a:prstGeom>
          <a:noFill/>
        </p:spPr>
        <p:txBody>
          <a:bodyPr wrap="square" lIns="0">
            <a:spAutoFit/>
          </a:bodyPr>
          <a:lstStyle/>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cs typeface="Arial" panose="020B0604020202020204" pitchFamily="34" charset="0"/>
              </a:rPr>
              <a:t>ISO 26262 compliant ( Up to ASIL-B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Arial" panose="020B0604020202020204" pitchFamily="34" charset="0"/>
              </a:rPr>
              <a:t>AEC-Q100 Qualified for Automoti</a:t>
            </a:r>
            <a:r>
              <a:rPr lang="en-US" altLang="ko-KR" sz="1000" dirty="0">
                <a:latin typeface="Arial" panose="020B0604020202020204" pitchFamily="34" charset="0"/>
                <a:ea typeface="Arial" panose="020B0604020202020204" pitchFamily="34" charset="0"/>
                <a:cs typeface="Arial" panose="020B0604020202020204" pitchFamily="34" charset="0"/>
              </a:rPr>
              <a:t>ve Applications</a:t>
            </a:r>
          </a:p>
          <a:p>
            <a:pPr marL="358775" marR="137795">
              <a:lnSpc>
                <a:spcPct val="150000"/>
              </a:lnSpc>
              <a:spcBef>
                <a:spcPts val="385"/>
              </a:spcBef>
              <a:buFont typeface="Wingdings" panose="05000000000000000000" pitchFamily="2" charset="2"/>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 Grade 1: 125°C Ambient Operating Temperature</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Support Flexible R/GB pad mapping for various LED pixel configuration</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(max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Support Interface CRC check function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64mA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detection for VLED voltage optimization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via command or wire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5.5V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24V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Fault events </a:t>
            </a:r>
            <a:r>
              <a:rPr lang="en-US" altLang="ko-KR" sz="1000" dirty="0">
                <a:latin typeface="Arial" panose="020B0604020202020204" pitchFamily="34" charset="0"/>
                <a:cs typeface="Arial" panose="020B0604020202020204" pitchFamily="34" charset="0"/>
              </a:rPr>
              <a:t>support of driver function</a:t>
            </a:r>
            <a:endParaRPr lang="en-US" altLang="ko-KR" sz="1000" dirty="0">
              <a:latin typeface="Arial" panose="020B0604020202020204" pitchFamily="34" charset="0"/>
            </a:endParaRPr>
          </a:p>
          <a:p>
            <a:pPr marL="531813" lvl="1" indent="-1714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Shorted or Open LEDs</a:t>
            </a:r>
          </a:p>
          <a:p>
            <a:pPr marL="531813" lvl="1" indent="-1714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Thermal Warning / Shutdown</a:t>
            </a:r>
          </a:p>
          <a:p>
            <a:pPr marL="531813" lvl="1" indent="-1714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Overvoltage/Undervoltage Detection on All Supplies</a:t>
            </a:r>
          </a:p>
          <a:p>
            <a:pPr marL="531813" lvl="1" indent="-1714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Digital Input/Output Control Signal Monitoring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Built-in-Self-Test for Internal Fault Detection Comparators</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Application Circuit</a:t>
            </a:r>
            <a:endParaRPr lang="ko-KR" altLang="en-US" sz="120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Block Diagram</a:t>
            </a:r>
            <a:endParaRPr lang="ko-KR" altLang="en-US" sz="12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404681" y="4955940"/>
            <a:ext cx="2048638"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Functional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a:solidFill>
                  <a:prstClr val="black"/>
                </a:solidFill>
                <a:latin typeface="Arial" panose="020B0604020202020204" pitchFamily="34" charset="0"/>
                <a:ea typeface="+mn-ea"/>
                <a:cs typeface="Arial" panose="020B0604020202020204" pitchFamily="34" charset="0"/>
              </a:rPr>
              <a:t>Figure 2.  Application scheme</a:t>
            </a:r>
          </a:p>
        </p:txBody>
      </p:sp>
      <p:pic>
        <p:nvPicPr>
          <p:cNvPr id="10" name="그림 9">
            <a:extLst>
              <a:ext uri="{FF2B5EF4-FFF2-40B4-BE49-F238E27FC236}">
                <a16:creationId xmlns:a16="http://schemas.microsoft.com/office/drawing/2014/main" id="{FE73DBE0-4E1D-22E7-2CFF-87A2EDDAF1C7}"/>
              </a:ext>
            </a:extLst>
          </p:cNvPr>
          <p:cNvPicPr>
            <a:picLocks noChangeAspect="1"/>
          </p:cNvPicPr>
          <p:nvPr/>
        </p:nvPicPr>
        <p:blipFill>
          <a:blip r:embed="rId3"/>
          <a:stretch>
            <a:fillRect/>
          </a:stretch>
        </p:blipFill>
        <p:spPr>
          <a:xfrm>
            <a:off x="402672" y="5945099"/>
            <a:ext cx="6188704" cy="2360250"/>
          </a:xfrm>
          <a:prstGeom prst="rect">
            <a:avLst/>
          </a:prstGeom>
        </p:spPr>
      </p:pic>
      <p:pic>
        <p:nvPicPr>
          <p:cNvPr id="5" name="그림 4">
            <a:extLst>
              <a:ext uri="{FF2B5EF4-FFF2-40B4-BE49-F238E27FC236}">
                <a16:creationId xmlns:a16="http://schemas.microsoft.com/office/drawing/2014/main" id="{9883A9C6-0D6A-189B-A8AF-F1F9CA20B74A}"/>
              </a:ext>
            </a:extLst>
          </p:cNvPr>
          <p:cNvPicPr>
            <a:picLocks noChangeAspect="1"/>
          </p:cNvPicPr>
          <p:nvPr/>
        </p:nvPicPr>
        <p:blipFill>
          <a:blip r:embed="rId4"/>
          <a:stretch>
            <a:fillRect/>
          </a:stretch>
        </p:blipFill>
        <p:spPr>
          <a:xfrm>
            <a:off x="1263646" y="1085345"/>
            <a:ext cx="4207514" cy="3853803"/>
          </a:xfrm>
          <a:prstGeom prst="rect">
            <a:avLst/>
          </a:prstGeom>
        </p:spPr>
      </p:pic>
      <p:sp>
        <p:nvSpPr>
          <p:cNvPr id="2" name="직사각형 1">
            <a:extLst>
              <a:ext uri="{FF2B5EF4-FFF2-40B4-BE49-F238E27FC236}">
                <a16:creationId xmlns:a16="http://schemas.microsoft.com/office/drawing/2014/main" id="{0FFEC2A8-834E-ED5A-91F0-A2F7C89B8053}"/>
              </a:ext>
            </a:extLst>
          </p:cNvPr>
          <p:cNvSpPr/>
          <p:nvPr/>
        </p:nvSpPr>
        <p:spPr>
          <a:xfrm>
            <a:off x="2938463" y="7572375"/>
            <a:ext cx="226218" cy="13096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455226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10817" y="848197"/>
            <a:ext cx="6042618"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graphicFrame>
        <p:nvGraphicFramePr>
          <p:cNvPr id="8" name="표 7">
            <a:extLst>
              <a:ext uri="{FF2B5EF4-FFF2-40B4-BE49-F238E27FC236}">
                <a16:creationId xmlns:a16="http://schemas.microsoft.com/office/drawing/2014/main" id="{54E9A73C-1D68-3CB9-EFBF-CB18AB346B97}"/>
              </a:ext>
            </a:extLst>
          </p:cNvPr>
          <p:cNvGraphicFramePr>
            <a:graphicFrameLocks noGrp="1"/>
          </p:cNvGraphicFramePr>
          <p:nvPr>
            <p:extLst>
              <p:ext uri="{D42A27DB-BD31-4B8C-83A1-F6EECF244321}">
                <p14:modId xmlns:p14="http://schemas.microsoft.com/office/powerpoint/2010/main" val="3337027281"/>
              </p:ext>
            </p:extLst>
          </p:nvPr>
        </p:nvGraphicFramePr>
        <p:xfrm>
          <a:off x="422353" y="4845962"/>
          <a:ext cx="6042618" cy="3996167"/>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675956">
                  <a:extLst>
                    <a:ext uri="{9D8B030D-6E8A-4147-A177-3AD203B41FA5}">
                      <a16:colId xmlns:a16="http://schemas.microsoft.com/office/drawing/2014/main" val="3382103366"/>
                    </a:ext>
                  </a:extLst>
                </a:gridCol>
                <a:gridCol w="1562164">
                  <a:extLst>
                    <a:ext uri="{9D8B030D-6E8A-4147-A177-3AD203B41FA5}">
                      <a16:colId xmlns:a16="http://schemas.microsoft.com/office/drawing/2014/main" val="915546717"/>
                    </a:ext>
                  </a:extLst>
                </a:gridCol>
              </a:tblGrid>
              <a:tr h="260447">
                <a:tc>
                  <a:txBody>
                    <a:bodyPr/>
                    <a:lstStyle/>
                    <a:p>
                      <a:pPr algn="ctr" fontAlgn="ctr"/>
                      <a:r>
                        <a:rPr lang="en-US" sz="900" b="1" u="none" strike="noStrike">
                          <a:effectLst/>
                          <a:latin typeface="Arial" panose="020B0604020202020204" pitchFamily="34" charset="0"/>
                          <a:cs typeface="Arial" panose="020B0604020202020204" pitchFamily="34" charset="0"/>
                        </a:rPr>
                        <a:t>Pin Name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Pin No.</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I/O</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Type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Description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mn-ea"/>
                          <a:cs typeface="Arial" panose="020B0604020202020204" pitchFamily="34" charset="0"/>
                        </a:rPr>
                        <a:t>DD</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GND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mn-ea"/>
                          <a:cs typeface="Arial" panose="020B0604020202020204" pitchFamily="34" charset="0"/>
                        </a:rPr>
                        <a:t>SS</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GND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mn-ea"/>
                          <a:cs typeface="Arial" panose="020B0604020202020204" pitchFamily="34" charset="0"/>
                        </a:rPr>
                        <a:t>SS</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GND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23K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250328">
                <a:tc>
                  <a:txBody>
                    <a:bodyPr/>
                    <a:lstStyle/>
                    <a:p>
                      <a:pPr algn="ctr" fontAlgn="ctr"/>
                      <a:r>
                        <a:rPr lang="en-US" altLang="ko-KR" sz="900" b="0" i="0" u="none" strike="noStrike" baseline="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Digital</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svsync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23K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a:solidFill>
                            <a:schemeClr val="tx1"/>
                          </a:solidFill>
                          <a:effectLst/>
                          <a:latin typeface="Arial" panose="020B0604020202020204" pitchFamily="34" charset="0"/>
                          <a:ea typeface="+mn-ea"/>
                          <a:cs typeface="Arial" panose="020B0604020202020204" pitchFamily="34" charset="0"/>
                        </a:rPr>
                        <a:t>O12</a:t>
                      </a:r>
                      <a:endParaRPr lang="en-US" sz="9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a:solidFill>
                            <a:schemeClr val="tx1"/>
                          </a:solidFill>
                          <a:effectLst/>
                          <a:latin typeface="Arial" panose="020B0604020202020204" pitchFamily="34" charset="0"/>
                          <a:ea typeface="+mn-ea"/>
                          <a:cs typeface="Arial" panose="020B0604020202020204" pitchFamily="34" charset="0"/>
                        </a:rPr>
                        <a:t>O11</a:t>
                      </a:r>
                      <a:endParaRPr lang="en-US" sz="9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a:solidFill>
                            <a:schemeClr val="tx1"/>
                          </a:solidFill>
                          <a:effectLst/>
                          <a:latin typeface="Arial" panose="020B0604020202020204" pitchFamily="34" charset="0"/>
                          <a:ea typeface="+mn-ea"/>
                          <a:cs typeface="Arial" panose="020B0604020202020204" pitchFamily="34" charset="0"/>
                        </a:rPr>
                        <a:t>O10</a:t>
                      </a:r>
                      <a:endParaRPr lang="en-US" sz="9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a:solidFill>
                            <a:schemeClr val="tx1"/>
                          </a:solidFill>
                          <a:effectLst/>
                          <a:latin typeface="Arial" panose="020B0604020202020204" pitchFamily="34" charset="0"/>
                          <a:ea typeface="+mn-ea"/>
                          <a:cs typeface="Arial" panose="020B0604020202020204" pitchFamily="34" charset="0"/>
                        </a:rPr>
                        <a:t>O9</a:t>
                      </a:r>
                      <a:endParaRPr lang="en-US" sz="9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39063">
                <a:tc>
                  <a:txBody>
                    <a:bodyPr/>
                    <a:lstStyle/>
                    <a:p>
                      <a:pPr algn="ctr" fontAlgn="ctr"/>
                      <a:r>
                        <a:rPr lang="en-US" sz="900" b="0" i="0" u="none" strike="noStrike">
                          <a:solidFill>
                            <a:schemeClr val="tx1"/>
                          </a:solidFill>
                          <a:effectLst/>
                          <a:latin typeface="Arial" panose="020B0604020202020204" pitchFamily="34" charset="0"/>
                          <a:ea typeface="+mn-ea"/>
                          <a:cs typeface="Arial" panose="020B0604020202020204" pitchFamily="34" charset="0"/>
                        </a:rPr>
                        <a:t>O8</a:t>
                      </a:r>
                      <a:endParaRPr lang="en-US" sz="9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a:solidFill>
                            <a:schemeClr val="tx1"/>
                          </a:solidFill>
                          <a:effectLst/>
                          <a:latin typeface="Arial" panose="020B0604020202020204" pitchFamily="34" charset="0"/>
                          <a:ea typeface="+mn-ea"/>
                          <a:cs typeface="Arial" panose="020B0604020202020204" pitchFamily="34" charset="0"/>
                        </a:rPr>
                        <a:t>O7</a:t>
                      </a:r>
                      <a:endParaRPr lang="en-US" sz="9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76560">
                <a:tc>
                  <a:txBody>
                    <a:bodyPr/>
                    <a:lstStyle/>
                    <a:p>
                      <a:pPr algn="ctr" fontAlgn="ctr"/>
                      <a:r>
                        <a:rPr lang="en-US" altLang="ko-KR" sz="900" b="0" i="0" u="none" strike="noStrike" kern="1200" baseline="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Digital</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svsync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23K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bl>
          </a:graphicData>
        </a:graphic>
      </p:graphicFrame>
      <p:sp>
        <p:nvSpPr>
          <p:cNvPr id="38" name="TextBox 37">
            <a:extLst>
              <a:ext uri="{FF2B5EF4-FFF2-40B4-BE49-F238E27FC236}">
                <a16:creationId xmlns:a16="http://schemas.microsoft.com/office/drawing/2014/main" id="{1B28BD88-1397-96C9-35B0-FC3B392A4E14}"/>
              </a:ext>
            </a:extLst>
          </p:cNvPr>
          <p:cNvSpPr txBox="1"/>
          <p:nvPr/>
        </p:nvSpPr>
        <p:spPr>
          <a:xfrm>
            <a:off x="422353" y="4485537"/>
            <a:ext cx="6042618"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Pin description</a:t>
            </a:r>
          </a:p>
        </p:txBody>
      </p:sp>
      <p:sp>
        <p:nvSpPr>
          <p:cNvPr id="43" name="object 84">
            <a:extLst>
              <a:ext uri="{FF2B5EF4-FFF2-40B4-BE49-F238E27FC236}">
                <a16:creationId xmlns:a16="http://schemas.microsoft.com/office/drawing/2014/main" id="{55FC59E9-581C-6B10-4C96-6D7D2A412603}"/>
              </a:ext>
            </a:extLst>
          </p:cNvPr>
          <p:cNvSpPr txBox="1"/>
          <p:nvPr/>
        </p:nvSpPr>
        <p:spPr>
          <a:xfrm>
            <a:off x="2894559" y="4029231"/>
            <a:ext cx="1068882"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a:t>
            </a:r>
            <a:r>
              <a:rPr lang="en-US" sz="900" b="1" spc="15" dirty="0">
                <a:solidFill>
                  <a:prstClr val="black"/>
                </a:solidFill>
                <a:latin typeface="Arial" panose="020B0604020202020204" pitchFamily="34" charset="0"/>
                <a:cs typeface="Arial" panose="020B0604020202020204" pitchFamily="34" charset="0"/>
              </a:rPr>
              <a:t>Map</a:t>
            </a:r>
            <a:r>
              <a:rPr kumimoji="0" lang="en-US" sz="900" b="1" spc="15" dirty="0">
                <a:solidFill>
                  <a:prstClr val="black"/>
                </a:solidFill>
                <a:latin typeface="Arial" panose="020B0604020202020204" pitchFamily="34" charset="0"/>
                <a:ea typeface="+mn-ea"/>
                <a:cs typeface="Arial" panose="020B0604020202020204" pitchFamily="34" charset="0"/>
              </a:rPr>
              <a:t> </a:t>
            </a:r>
          </a:p>
        </p:txBody>
      </p:sp>
      <p:pic>
        <p:nvPicPr>
          <p:cNvPr id="2" name="그림 1">
            <a:extLst>
              <a:ext uri="{FF2B5EF4-FFF2-40B4-BE49-F238E27FC236}">
                <a16:creationId xmlns:a16="http://schemas.microsoft.com/office/drawing/2014/main" id="{B9047F0E-B0E2-F7A5-0B71-EECBD891C8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18995" y="1266190"/>
            <a:ext cx="2620010" cy="2694940"/>
          </a:xfrm>
          <a:prstGeom prst="rect">
            <a:avLst/>
          </a:prstGeom>
          <a:noFill/>
          <a:ln>
            <a:noFill/>
          </a:ln>
        </p:spPr>
      </p:pic>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58353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a:solidFill>
                  <a:prstClr val="black"/>
                </a:solidFill>
                <a:latin typeface="Arial" panose="020B0604020202020204" pitchFamily="34" charset="0"/>
                <a:ea typeface="+mn-ea"/>
                <a:cs typeface="Arial" panose="020B0604020202020204" pitchFamily="34" charset="0"/>
              </a:rPr>
              <a:t>T</a:t>
            </a:r>
            <a:r>
              <a:rPr kumimoji="0" sz="900" b="1" spc="-10">
                <a:solidFill>
                  <a:prstClr val="black"/>
                </a:solidFill>
                <a:latin typeface="Arial" panose="020B0604020202020204" pitchFamily="34" charset="0"/>
                <a:ea typeface="+mn-ea"/>
                <a:cs typeface="Arial" panose="020B0604020202020204" pitchFamily="34" charset="0"/>
              </a:rPr>
              <a:t>a</a:t>
            </a:r>
            <a:r>
              <a:rPr kumimoji="0" sz="900" b="1" spc="-5">
                <a:solidFill>
                  <a:prstClr val="black"/>
                </a:solidFill>
                <a:latin typeface="Arial" panose="020B0604020202020204" pitchFamily="34" charset="0"/>
                <a:ea typeface="+mn-ea"/>
                <a:cs typeface="Arial" panose="020B0604020202020204" pitchFamily="34" charset="0"/>
              </a:rPr>
              <a:t>bl</a:t>
            </a:r>
            <a:r>
              <a:rPr kumimoji="0" sz="900" b="1">
                <a:solidFill>
                  <a:prstClr val="black"/>
                </a:solidFill>
                <a:latin typeface="Arial" panose="020B0604020202020204" pitchFamily="34" charset="0"/>
                <a:ea typeface="+mn-ea"/>
                <a:cs typeface="Arial" panose="020B0604020202020204" pitchFamily="34" charset="0"/>
              </a:rPr>
              <a:t>e </a:t>
            </a:r>
            <a:r>
              <a:rPr kumimoji="0" lang="en-US" sz="900" b="1">
                <a:solidFill>
                  <a:prstClr val="black"/>
                </a:solidFill>
                <a:latin typeface="Arial" panose="020B0604020202020204" pitchFamily="34" charset="0"/>
                <a:ea typeface="+mn-ea"/>
                <a:cs typeface="Arial" panose="020B0604020202020204" pitchFamily="34" charset="0"/>
              </a:rPr>
              <a:t>1</a:t>
            </a:r>
            <a:r>
              <a:rPr kumimoji="0" sz="900" b="1">
                <a:solidFill>
                  <a:prstClr val="black"/>
                </a:solidFill>
                <a:latin typeface="Arial" panose="020B0604020202020204" pitchFamily="34" charset="0"/>
                <a:ea typeface="+mn-ea"/>
                <a:cs typeface="Arial" panose="020B0604020202020204" pitchFamily="34" charset="0"/>
              </a:rPr>
              <a:t>.</a:t>
            </a:r>
            <a:r>
              <a:rPr kumimoji="0" lang="en-US" sz="900" b="1">
                <a:solidFill>
                  <a:prstClr val="black"/>
                </a:solidFill>
                <a:latin typeface="Arial" panose="020B0604020202020204" pitchFamily="34" charset="0"/>
                <a:ea typeface="+mn-ea"/>
                <a:cs typeface="Arial" panose="020B0604020202020204" pitchFamily="34" charset="0"/>
              </a:rPr>
              <a:t> Pin Description </a:t>
            </a:r>
            <a:endParaRPr kumimoji="0" sz="90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a:effectLst/>
                          <a:latin typeface="Arial" panose="020B0604020202020204" pitchFamily="34" charset="0"/>
                          <a:cs typeface="Arial" panose="020B0604020202020204" pitchFamily="34" charset="0"/>
                        </a:rPr>
                        <a:t>Pad Name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I/O</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Description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aphicFrame>
        <p:nvGraphicFramePr>
          <p:cNvPr id="4" name="표 3">
            <a:extLst>
              <a:ext uri="{FF2B5EF4-FFF2-40B4-BE49-F238E27FC236}">
                <a16:creationId xmlns:a16="http://schemas.microsoft.com/office/drawing/2014/main" id="{C119A6D6-E395-9689-063D-C1F4E2CA384C}"/>
              </a:ext>
            </a:extLst>
          </p:cNvPr>
          <p:cNvGraphicFramePr>
            <a:graphicFrameLocks noGrp="1"/>
          </p:cNvGraphicFramePr>
          <p:nvPr>
            <p:extLst>
              <p:ext uri="{D42A27DB-BD31-4B8C-83A1-F6EECF244321}">
                <p14:modId xmlns:p14="http://schemas.microsoft.com/office/powerpoint/2010/main" val="569669685"/>
              </p:ext>
            </p:extLst>
          </p:nvPr>
        </p:nvGraphicFramePr>
        <p:xfrm>
          <a:off x="404814" y="1276542"/>
          <a:ext cx="6048623" cy="3236030"/>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a:effectLst/>
                          <a:latin typeface="Arial" panose="020B0604020202020204" pitchFamily="34" charset="0"/>
                          <a:cs typeface="Arial" panose="020B0604020202020204" pitchFamily="34" charset="0"/>
                        </a:rPr>
                        <a:t>Pin Name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Pin No.</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I/O</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Type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Description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23K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4302048"/>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GND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mn-ea"/>
                          <a:cs typeface="Arial" panose="020B0604020202020204" pitchFamily="34" charset="0"/>
                        </a:rPr>
                        <a:t>SS</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GND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mn-ea"/>
                          <a:cs typeface="Arial" panose="020B0604020202020204" pitchFamily="34" charset="0"/>
                        </a:rPr>
                        <a:t>SS</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a:effectLst/>
                          <a:latin typeface="Arial" panose="020B0604020202020204" pitchFamily="34" charset="0"/>
                          <a:cs typeface="Arial" panose="020B0604020202020204" pitchFamily="34" charset="0"/>
                        </a:rPr>
                        <a:t>GND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Test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mn-ea"/>
                          <a:cs typeface="Arial" panose="020B0604020202020204" pitchFamily="34" charset="0"/>
                        </a:rPr>
                        <a:t>DD</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a:solidFill>
                            <a:srgbClr val="000000"/>
                          </a:solidFill>
                          <a:effectLst/>
                          <a:latin typeface="Arial" panose="020B0604020202020204" pitchFamily="34" charset="0"/>
                          <a:ea typeface="+mn-ea"/>
                          <a:cs typeface="Arial" panose="020B0604020202020204" pitchFamily="34" charset="0"/>
                        </a:rPr>
                        <a:t>O6</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a:solidFill>
                            <a:srgbClr val="000000"/>
                          </a:solidFill>
                          <a:effectLst/>
                          <a:latin typeface="Arial" panose="020B0604020202020204" pitchFamily="34" charset="0"/>
                          <a:ea typeface="+mn-ea"/>
                          <a:cs typeface="Arial" panose="020B0604020202020204" pitchFamily="34" charset="0"/>
                        </a:rPr>
                        <a:t>O5</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a:solidFill>
                            <a:srgbClr val="000000"/>
                          </a:solidFill>
                          <a:effectLst/>
                          <a:latin typeface="Arial" panose="020B0604020202020204" pitchFamily="34" charset="0"/>
                          <a:ea typeface="+mn-ea"/>
                          <a:cs typeface="Arial" panose="020B0604020202020204" pitchFamily="34" charset="0"/>
                        </a:rPr>
                        <a:t>O4</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a:solidFill>
                            <a:srgbClr val="000000"/>
                          </a:solidFill>
                          <a:effectLst/>
                          <a:latin typeface="Arial" panose="020B0604020202020204" pitchFamily="34" charset="0"/>
                          <a:ea typeface="+mn-ea"/>
                          <a:cs typeface="Arial" panose="020B0604020202020204" pitchFamily="34" charset="0"/>
                        </a:rPr>
                        <a:t>O3</a:t>
                      </a:r>
                      <a:endPar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grpSp>
        <p:nvGrpSpPr>
          <p:cNvPr id="10" name="그룹 9">
            <a:extLst>
              <a:ext uri="{FF2B5EF4-FFF2-40B4-BE49-F238E27FC236}">
                <a16:creationId xmlns:a16="http://schemas.microsoft.com/office/drawing/2014/main" id="{D548F051-6BBA-8E41-DC8B-34847F9AE0DE}"/>
              </a:ext>
            </a:extLst>
          </p:cNvPr>
          <p:cNvGrpSpPr/>
          <p:nvPr/>
        </p:nvGrpSpPr>
        <p:grpSpPr>
          <a:xfrm>
            <a:off x="2794443" y="6553702"/>
            <a:ext cx="1026319" cy="836432"/>
            <a:chOff x="2794443" y="6553702"/>
            <a:chExt cx="1026319" cy="836432"/>
          </a:xfrm>
        </p:grpSpPr>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6" name="타원 5">
              <a:extLst>
                <a:ext uri="{FF2B5EF4-FFF2-40B4-BE49-F238E27FC236}">
                  <a16:creationId xmlns:a16="http://schemas.microsoft.com/office/drawing/2014/main" id="{775EA252-6650-D050-C589-68BDDEAC2801}"/>
                </a:ext>
              </a:extLst>
            </p:cNvPr>
            <p:cNvSpPr/>
            <p:nvPr/>
          </p:nvSpPr>
          <p:spPr>
            <a:xfrm>
              <a:off x="3508375" y="6870700"/>
              <a:ext cx="50800" cy="50800"/>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5EB94D68-BAB0-A9CC-2BCB-52C3CF2DC190}"/>
                </a:ext>
              </a:extLst>
            </p:cNvPr>
            <p:cNvSpPr/>
            <p:nvPr/>
          </p:nvSpPr>
          <p:spPr>
            <a:xfrm>
              <a:off x="3327400" y="6870700"/>
              <a:ext cx="50800" cy="50800"/>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1" name="그룹 10">
            <a:extLst>
              <a:ext uri="{FF2B5EF4-FFF2-40B4-BE49-F238E27FC236}">
                <a16:creationId xmlns:a16="http://schemas.microsoft.com/office/drawing/2014/main" id="{C137FD69-E0A4-40E4-7721-687F71ECC66E}"/>
              </a:ext>
            </a:extLst>
          </p:cNvPr>
          <p:cNvGrpSpPr/>
          <p:nvPr/>
        </p:nvGrpSpPr>
        <p:grpSpPr>
          <a:xfrm>
            <a:off x="2846114" y="7609619"/>
            <a:ext cx="1026319" cy="836432"/>
            <a:chOff x="2846114" y="7609619"/>
            <a:chExt cx="1026319" cy="836432"/>
          </a:xfrm>
        </p:grpSpPr>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8" name="타원 7">
              <a:extLst>
                <a:ext uri="{FF2B5EF4-FFF2-40B4-BE49-F238E27FC236}">
                  <a16:creationId xmlns:a16="http://schemas.microsoft.com/office/drawing/2014/main" id="{AF22C627-DAE4-6EFF-8F3E-834D537E86A4}"/>
                </a:ext>
              </a:extLst>
            </p:cNvPr>
            <p:cNvSpPr/>
            <p:nvPr/>
          </p:nvSpPr>
          <p:spPr>
            <a:xfrm>
              <a:off x="3562350" y="7921625"/>
              <a:ext cx="50800" cy="50800"/>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713F9A29-5403-29FA-E468-E2095639DD97}"/>
                </a:ext>
              </a:extLst>
            </p:cNvPr>
            <p:cNvSpPr/>
            <p:nvPr/>
          </p:nvSpPr>
          <p:spPr>
            <a:xfrm>
              <a:off x="3378200" y="7924800"/>
              <a:ext cx="50800" cy="50800"/>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122292061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a:effectLst/>
                          <a:latin typeface="Arial" panose="020B0604020202020204" pitchFamily="34" charset="0"/>
                          <a:cs typeface="Arial" panose="020B0604020202020204" pitchFamily="34" charset="0"/>
                        </a:rPr>
                        <a:t>Pad Name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I/O</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effectLst/>
                          <a:latin typeface="Arial" panose="020B0604020202020204" pitchFamily="34" charset="0"/>
                          <a:cs typeface="Arial" panose="020B0604020202020204" pitchFamily="34" charset="0"/>
                        </a:rPr>
                        <a:t>Description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2"/>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a:latin typeface="+mn-ea"/>
                </a:rPr>
                <a:t>V</a:t>
              </a:r>
              <a:r>
                <a:rPr lang="en-US" altLang="ko-KR" sz="700" baseline="-25000">
                  <a:latin typeface="+mn-ea"/>
                </a:rPr>
                <a:t>DD</a:t>
              </a:r>
              <a:endParaRPr lang="ko-KR" altLang="en-US" sz="700" baseline="-25000">
                <a:latin typeface="+mn-ea"/>
              </a:endParaRPr>
            </a:p>
          </p:txBody>
        </p:sp>
      </p:grpSp>
      <p:pic>
        <p:nvPicPr>
          <p:cNvPr id="8" name="그림 7">
            <a:extLst>
              <a:ext uri="{FF2B5EF4-FFF2-40B4-BE49-F238E27FC236}">
                <a16:creationId xmlns:a16="http://schemas.microsoft.com/office/drawing/2014/main" id="{FF1E76EE-6C56-5BB8-ED2D-2E485C9E7E4A}"/>
              </a:ext>
            </a:extLst>
          </p:cNvPr>
          <p:cNvPicPr>
            <a:picLocks noChangeAspect="1"/>
          </p:cNvPicPr>
          <p:nvPr/>
        </p:nvPicPr>
        <p:blipFill>
          <a:blip r:embed="rId3"/>
          <a:stretch>
            <a:fillRect/>
          </a:stretch>
        </p:blipFill>
        <p:spPr>
          <a:xfrm>
            <a:off x="2657024" y="6836059"/>
            <a:ext cx="1433930" cy="495840"/>
          </a:xfrm>
          <a:prstGeom prst="rect">
            <a:avLst/>
          </a:prstGeom>
        </p:spPr>
      </p:pic>
      <p:grpSp>
        <p:nvGrpSpPr>
          <p:cNvPr id="7" name="그룹 6">
            <a:extLst>
              <a:ext uri="{FF2B5EF4-FFF2-40B4-BE49-F238E27FC236}">
                <a16:creationId xmlns:a16="http://schemas.microsoft.com/office/drawing/2014/main" id="{52CB100B-0350-41C4-1015-175C5067C448}"/>
              </a:ext>
            </a:extLst>
          </p:cNvPr>
          <p:cNvGrpSpPr/>
          <p:nvPr/>
        </p:nvGrpSpPr>
        <p:grpSpPr>
          <a:xfrm>
            <a:off x="2667800" y="5579533"/>
            <a:ext cx="1423153" cy="542326"/>
            <a:chOff x="2667800" y="5579533"/>
            <a:chExt cx="1423153" cy="542326"/>
          </a:xfrm>
        </p:grpSpPr>
        <p:pic>
          <p:nvPicPr>
            <p:cNvPr id="4" name="그림 3">
              <a:extLst>
                <a:ext uri="{FF2B5EF4-FFF2-40B4-BE49-F238E27FC236}">
                  <a16:creationId xmlns:a16="http://schemas.microsoft.com/office/drawing/2014/main" id="{88E2C4E5-61F2-EC1A-2500-91514E7F5A03}"/>
                </a:ext>
              </a:extLst>
            </p:cNvPr>
            <p:cNvPicPr>
              <a:picLocks noChangeAspect="1"/>
            </p:cNvPicPr>
            <p:nvPr/>
          </p:nvPicPr>
          <p:blipFill>
            <a:blip r:embed="rId4"/>
            <a:stretch>
              <a:fillRect/>
            </a:stretch>
          </p:blipFill>
          <p:spPr>
            <a:xfrm>
              <a:off x="2667800" y="5579533"/>
              <a:ext cx="1423153" cy="542326"/>
            </a:xfrm>
            <a:prstGeom prst="rect">
              <a:avLst/>
            </a:prstGeom>
          </p:spPr>
        </p:pic>
        <p:sp>
          <p:nvSpPr>
            <p:cNvPr id="2" name="타원 1">
              <a:extLst>
                <a:ext uri="{FF2B5EF4-FFF2-40B4-BE49-F238E27FC236}">
                  <a16:creationId xmlns:a16="http://schemas.microsoft.com/office/drawing/2014/main" id="{7903601B-FA17-4800-510D-C6460D043A48}"/>
                </a:ext>
              </a:extLst>
            </p:cNvPr>
            <p:cNvSpPr/>
            <p:nvPr/>
          </p:nvSpPr>
          <p:spPr>
            <a:xfrm>
              <a:off x="3689350" y="5788025"/>
              <a:ext cx="50800" cy="50800"/>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1FAEFE4F-93C7-EC68-96A3-B9105AEB137C}"/>
              </a:ext>
            </a:extLst>
          </p:cNvPr>
          <p:cNvGrpSpPr/>
          <p:nvPr/>
        </p:nvGrpSpPr>
        <p:grpSpPr>
          <a:xfrm>
            <a:off x="2691104" y="2996114"/>
            <a:ext cx="1185328" cy="772701"/>
            <a:chOff x="2691104" y="2996114"/>
            <a:chExt cx="1185328" cy="772701"/>
          </a:xfrm>
        </p:grpSpPr>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5"/>
            <a:stretch>
              <a:fillRect/>
            </a:stretch>
          </p:blipFill>
          <p:spPr>
            <a:xfrm>
              <a:off x="2691104" y="2996114"/>
              <a:ext cx="1185328" cy="772701"/>
            </a:xfrm>
            <a:prstGeom prst="rect">
              <a:avLst/>
            </a:prstGeom>
          </p:spPr>
        </p:pic>
        <p:sp>
          <p:nvSpPr>
            <p:cNvPr id="6" name="타원 5">
              <a:extLst>
                <a:ext uri="{FF2B5EF4-FFF2-40B4-BE49-F238E27FC236}">
                  <a16:creationId xmlns:a16="http://schemas.microsoft.com/office/drawing/2014/main" id="{034B774F-7F6B-08CB-82B2-98A54E090058}"/>
                </a:ext>
              </a:extLst>
            </p:cNvPr>
            <p:cNvSpPr/>
            <p:nvPr/>
          </p:nvSpPr>
          <p:spPr>
            <a:xfrm>
              <a:off x="3200400" y="3155950"/>
              <a:ext cx="50800" cy="50800"/>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2" name="그룹 11">
            <a:extLst>
              <a:ext uri="{FF2B5EF4-FFF2-40B4-BE49-F238E27FC236}">
                <a16:creationId xmlns:a16="http://schemas.microsoft.com/office/drawing/2014/main" id="{68B1B8F9-6EBC-29D4-DA53-EAFE489C3B22}"/>
              </a:ext>
            </a:extLst>
          </p:cNvPr>
          <p:cNvGrpSpPr/>
          <p:nvPr/>
        </p:nvGrpSpPr>
        <p:grpSpPr>
          <a:xfrm>
            <a:off x="2721895" y="1846437"/>
            <a:ext cx="1123747" cy="765191"/>
            <a:chOff x="2721895" y="1846437"/>
            <a:chExt cx="1123747" cy="765191"/>
          </a:xfrm>
        </p:grpSpPr>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5"/>
            <a:stretch>
              <a:fillRect/>
            </a:stretch>
          </p:blipFill>
          <p:spPr>
            <a:xfrm>
              <a:off x="2721895" y="1846437"/>
              <a:ext cx="1123747" cy="765191"/>
            </a:xfrm>
            <a:prstGeom prst="rect">
              <a:avLst/>
            </a:prstGeom>
          </p:spPr>
        </p:pic>
        <p:sp>
          <p:nvSpPr>
            <p:cNvPr id="9" name="타원 8">
              <a:extLst>
                <a:ext uri="{FF2B5EF4-FFF2-40B4-BE49-F238E27FC236}">
                  <a16:creationId xmlns:a16="http://schemas.microsoft.com/office/drawing/2014/main" id="{C99F93F1-30DE-5BAE-5DAC-7EE77092B0A8}"/>
                </a:ext>
              </a:extLst>
            </p:cNvPr>
            <p:cNvSpPr/>
            <p:nvPr/>
          </p:nvSpPr>
          <p:spPr>
            <a:xfrm>
              <a:off x="3200400" y="2006600"/>
              <a:ext cx="50800" cy="50800"/>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079360511"/>
              </p:ext>
            </p:extLst>
          </p:nvPr>
        </p:nvGraphicFramePr>
        <p:xfrm>
          <a:off x="400854" y="1151755"/>
          <a:ext cx="6048620" cy="2864169"/>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Parameter</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Symbol</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Value</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24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algn="ctr">
                        <a:lnSpc>
                          <a:spcPct val="115000"/>
                        </a:lnSpc>
                        <a:buNone/>
                      </a:pPr>
                      <a:r>
                        <a:rPr lang="en-US" sz="900" kern="1200" dirty="0">
                          <a:solidFill>
                            <a:srgbClr val="000000"/>
                          </a:solidFill>
                          <a:effectLst/>
                          <a:latin typeface="Arial" panose="020B0604020202020204" pitchFamily="34" charset="0"/>
                          <a:ea typeface="맑은 고딕" panose="020B0503020000020004" pitchFamily="50" charset="-127"/>
                          <a:cs typeface="Times New Roman" panose="02020603050405020304" pitchFamily="18" charset="0"/>
                        </a:rPr>
                        <a:t>SVI to GND</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buNone/>
                      </a:pPr>
                      <a:r>
                        <a:rPr lang="en-US" sz="900" kern="1200" dirty="0">
                          <a:solidFill>
                            <a:srgbClr val="000000"/>
                          </a:solidFill>
                          <a:effectLst/>
                          <a:latin typeface="Arial" panose="020B0604020202020204" pitchFamily="34" charset="0"/>
                          <a:ea typeface="맑은 고딕" panose="020B0503020000020004" pitchFamily="50" charset="-127"/>
                          <a:cs typeface="Times New Roman" panose="02020603050405020304" pitchFamily="18" charset="0"/>
                        </a:rPr>
                        <a:t>V</a:t>
                      </a:r>
                      <a:r>
                        <a:rPr lang="en-US" sz="900" kern="1200" baseline="-25000" dirty="0">
                          <a:solidFill>
                            <a:srgbClr val="000000"/>
                          </a:solidFill>
                          <a:effectLst/>
                          <a:latin typeface="Arial" panose="020B0604020202020204" pitchFamily="34" charset="0"/>
                          <a:ea typeface="맑은 고딕" panose="020B0503020000020004" pitchFamily="50" charset="-127"/>
                          <a:cs typeface="Times New Roman" panose="02020603050405020304" pitchFamily="18" charset="0"/>
                        </a:rPr>
                        <a:t>SVI</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982685"/>
                  </a:ext>
                </a:extLst>
              </a:tr>
              <a:tr h="283173">
                <a:tc>
                  <a:txBody>
                    <a:bodyPr/>
                    <a:lstStyle/>
                    <a:p>
                      <a:pPr algn="ctr">
                        <a:lnSpc>
                          <a:spcPct val="115000"/>
                        </a:lnSpc>
                        <a:buNone/>
                      </a:pPr>
                      <a:r>
                        <a:rPr lang="en-US" sz="900" kern="1200" dirty="0">
                          <a:solidFill>
                            <a:srgbClr val="000000"/>
                          </a:solidFill>
                          <a:effectLst/>
                          <a:latin typeface="Arial" panose="020B0604020202020204" pitchFamily="34" charset="0"/>
                          <a:ea typeface="맑은 고딕" panose="020B0503020000020004" pitchFamily="50" charset="-127"/>
                          <a:cs typeface="Times New Roman" panose="02020603050405020304" pitchFamily="18" charset="0"/>
                        </a:rPr>
                        <a:t>SVO to GND</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buNone/>
                      </a:pPr>
                      <a:r>
                        <a:rPr lang="en-US" sz="900" kern="1200" dirty="0">
                          <a:solidFill>
                            <a:srgbClr val="000000"/>
                          </a:solidFill>
                          <a:effectLst/>
                          <a:latin typeface="Arial" panose="020B0604020202020204" pitchFamily="34" charset="0"/>
                          <a:ea typeface="맑은 고딕" panose="020B0503020000020004" pitchFamily="50" charset="-127"/>
                          <a:cs typeface="Times New Roman" panose="02020603050405020304" pitchFamily="18" charset="0"/>
                        </a:rPr>
                        <a:t>V</a:t>
                      </a:r>
                      <a:r>
                        <a:rPr lang="en-US" sz="900" kern="1200" baseline="-25000" dirty="0">
                          <a:solidFill>
                            <a:srgbClr val="000000"/>
                          </a:solidFill>
                          <a:effectLst/>
                          <a:latin typeface="Arial" panose="020B0604020202020204" pitchFamily="34" charset="0"/>
                          <a:ea typeface="맑은 고딕" panose="020B0503020000020004" pitchFamily="50" charset="-127"/>
                          <a:cs typeface="Times New Roman" panose="02020603050405020304" pitchFamily="18" charset="0"/>
                        </a:rPr>
                        <a:t>SVO</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6690406"/>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 165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8528288"/>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Reflow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 260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1884277"/>
                  </a:ext>
                </a:extLst>
              </a:tr>
            </a:tbl>
          </a:graphicData>
        </a:graphic>
      </p:graphicFrame>
      <p:sp>
        <p:nvSpPr>
          <p:cNvPr id="11" name="object 11">
            <a:extLst>
              <a:ext uri="{FF2B5EF4-FFF2-40B4-BE49-F238E27FC236}">
                <a16:creationId xmlns:a16="http://schemas.microsoft.com/office/drawing/2014/main" id="{55B9BB63-ABDA-30DF-1ADD-245600E5B925}"/>
              </a:ext>
            </a:extLst>
          </p:cNvPr>
          <p:cNvSpPr txBox="1"/>
          <p:nvPr/>
        </p:nvSpPr>
        <p:spPr>
          <a:xfrm>
            <a:off x="2355198" y="4105990"/>
            <a:ext cx="2135969"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a:solidFill>
                  <a:prstClr val="black"/>
                </a:solidFill>
                <a:latin typeface="Arial" panose="020B0604020202020204" pitchFamily="34" charset="0"/>
                <a:ea typeface="+mn-ea"/>
                <a:cs typeface="Arial" panose="020B0604020202020204" pitchFamily="34" charset="0"/>
              </a:rPr>
              <a:t>T</a:t>
            </a:r>
            <a:r>
              <a:rPr kumimoji="0" sz="900" b="1" spc="-10">
                <a:solidFill>
                  <a:prstClr val="black"/>
                </a:solidFill>
                <a:latin typeface="Arial" panose="020B0604020202020204" pitchFamily="34" charset="0"/>
                <a:ea typeface="+mn-ea"/>
                <a:cs typeface="Arial" panose="020B0604020202020204" pitchFamily="34" charset="0"/>
              </a:rPr>
              <a:t>a</a:t>
            </a:r>
            <a:r>
              <a:rPr kumimoji="0" sz="900" b="1" spc="-5">
                <a:solidFill>
                  <a:prstClr val="black"/>
                </a:solidFill>
                <a:latin typeface="Arial" panose="020B0604020202020204" pitchFamily="34" charset="0"/>
                <a:ea typeface="+mn-ea"/>
                <a:cs typeface="Arial" panose="020B0604020202020204" pitchFamily="34" charset="0"/>
              </a:rPr>
              <a:t>bl</a:t>
            </a:r>
            <a:r>
              <a:rPr kumimoji="0" sz="900" b="1">
                <a:solidFill>
                  <a:prstClr val="black"/>
                </a:solidFill>
                <a:latin typeface="Arial" panose="020B0604020202020204" pitchFamily="34" charset="0"/>
                <a:ea typeface="+mn-ea"/>
                <a:cs typeface="Arial" panose="020B0604020202020204" pitchFamily="34" charset="0"/>
              </a:rPr>
              <a:t>e </a:t>
            </a:r>
            <a:r>
              <a:rPr lang="en-US" sz="900" b="1">
                <a:solidFill>
                  <a:prstClr val="black"/>
                </a:solidFill>
                <a:latin typeface="Arial" panose="020B0604020202020204" pitchFamily="34" charset="0"/>
                <a:cs typeface="Arial" panose="020B0604020202020204" pitchFamily="34" charset="0"/>
              </a:rPr>
              <a:t>2</a:t>
            </a:r>
            <a:r>
              <a:rPr kumimoji="0" sz="900" b="1">
                <a:solidFill>
                  <a:prstClr val="black"/>
                </a:solidFill>
                <a:latin typeface="Arial" panose="020B0604020202020204" pitchFamily="34" charset="0"/>
                <a:ea typeface="+mn-ea"/>
                <a:cs typeface="Arial" panose="020B0604020202020204" pitchFamily="34" charset="0"/>
              </a:rPr>
              <a:t>.</a:t>
            </a:r>
            <a:r>
              <a:rPr kumimoji="0" lang="en-US" sz="900" b="1">
                <a:solidFill>
                  <a:prstClr val="black"/>
                </a:solidFill>
                <a:latin typeface="Arial" panose="020B0604020202020204" pitchFamily="34" charset="0"/>
                <a:ea typeface="+mn-ea"/>
                <a:cs typeface="Arial" panose="020B0604020202020204" pitchFamily="34" charset="0"/>
              </a:rPr>
              <a:t> </a:t>
            </a:r>
            <a:r>
              <a:rPr lang="en-US" altLang="ko-KR" sz="900" b="1">
                <a:solidFill>
                  <a:prstClr val="black"/>
                </a:solidFill>
                <a:latin typeface="Arial" panose="020B0604020202020204" pitchFamily="34" charset="0"/>
                <a:cs typeface="Arial" panose="020B0604020202020204" pitchFamily="34" charset="0"/>
              </a:rPr>
              <a:t>Absolute  </a:t>
            </a:r>
            <a:r>
              <a:rPr kumimoji="0" lang="en-US" sz="900" b="1">
                <a:solidFill>
                  <a:prstClr val="black"/>
                </a:solidFill>
                <a:latin typeface="Arial" panose="020B0604020202020204" pitchFamily="34" charset="0"/>
                <a:ea typeface="+mn-ea"/>
                <a:cs typeface="Arial" panose="020B0604020202020204" pitchFamily="34" charset="0"/>
              </a:rPr>
              <a:t>Maximum Ratings </a:t>
            </a:r>
            <a:endParaRPr kumimoji="0" sz="900">
              <a:solidFill>
                <a:prstClr val="black"/>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D73EFE2-4BA3-5B73-3A11-36011728D521}"/>
              </a:ext>
            </a:extLst>
          </p:cNvPr>
          <p:cNvSpPr txBox="1"/>
          <p:nvPr/>
        </p:nvSpPr>
        <p:spPr>
          <a:xfrm>
            <a:off x="400853" y="774866"/>
            <a:ext cx="604862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Absolute Maximum Ratings </a:t>
            </a:r>
            <a:r>
              <a:rPr lang="en-US" altLang="ko-KR" sz="900">
                <a:latin typeface="Arial" panose="020B0604020202020204" pitchFamily="34" charset="0"/>
                <a:cs typeface="Arial" panose="020B0604020202020204" pitchFamily="34" charset="0"/>
              </a:rPr>
              <a:t>(Ta = 25℃ unless otherwise noted)</a:t>
            </a:r>
            <a:endParaRPr lang="ko-KR" altLang="en-US" sz="120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0D1B8932-D090-16EC-293A-24E23ADAEEF3}"/>
              </a:ext>
            </a:extLst>
          </p:cNvPr>
          <p:cNvSpPr txBox="1"/>
          <p:nvPr/>
        </p:nvSpPr>
        <p:spPr>
          <a:xfrm>
            <a:off x="396893" y="4491573"/>
            <a:ext cx="605258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ESD  Ratings</a:t>
            </a:r>
          </a:p>
        </p:txBody>
      </p:sp>
      <p:sp>
        <p:nvSpPr>
          <p:cNvPr id="15" name="object 11">
            <a:extLst>
              <a:ext uri="{FF2B5EF4-FFF2-40B4-BE49-F238E27FC236}">
                <a16:creationId xmlns:a16="http://schemas.microsoft.com/office/drawing/2014/main" id="{B3ABE2F2-A0B9-EB9A-011C-5BE5F274E29B}"/>
              </a:ext>
            </a:extLst>
          </p:cNvPr>
          <p:cNvSpPr txBox="1"/>
          <p:nvPr/>
        </p:nvSpPr>
        <p:spPr>
          <a:xfrm>
            <a:off x="2845122" y="6502171"/>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7" name="표 16">
            <a:extLst>
              <a:ext uri="{FF2B5EF4-FFF2-40B4-BE49-F238E27FC236}">
                <a16:creationId xmlns:a16="http://schemas.microsoft.com/office/drawing/2014/main" id="{5C13DC7A-78C4-1F3F-5097-9AF97F6686C9}"/>
              </a:ext>
            </a:extLst>
          </p:cNvPr>
          <p:cNvGraphicFramePr>
            <a:graphicFrameLocks noGrp="1"/>
          </p:cNvGraphicFramePr>
          <p:nvPr>
            <p:extLst>
              <p:ext uri="{D42A27DB-BD31-4B8C-83A1-F6EECF244321}">
                <p14:modId xmlns:p14="http://schemas.microsoft.com/office/powerpoint/2010/main" val="1059364670"/>
              </p:ext>
            </p:extLst>
          </p:nvPr>
        </p:nvGraphicFramePr>
        <p:xfrm>
          <a:off x="396893" y="4805647"/>
          <a:ext cx="6048621" cy="158067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Parameter</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Symbol</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Value</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a:solidFill>
                            <a:schemeClr val="tx1"/>
                          </a:solidFill>
                          <a:effectLst/>
                          <a:latin typeface="Arial" panose="020B0604020202020204" pitchFamily="34" charset="0"/>
                          <a:ea typeface="MyriadPro-Regular"/>
                          <a:cs typeface="Arial" panose="020B0604020202020204" pitchFamily="34" charset="0"/>
                        </a:rPr>
                        <a:t>±</a:t>
                      </a:r>
                      <a:r>
                        <a:rPr lang="en-US" sz="900" kern="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alt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AEC Q100-002</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AEC Q100-011</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r h="458110">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mn-ea"/>
                          <a:cs typeface="Arial" panose="020B0604020202020204" pitchFamily="34" charset="0"/>
                        </a:rPr>
                        <a:t>Electrostatic Discharge CDM</a:t>
                      </a:r>
                      <a:endParaRPr lang="en-US" alt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p>
                      <a:pPr marL="0" marR="0" lvl="0" indent="0" algn="ctr" defTabSz="685800" rtl="0" eaLnBrk="1" fontAlgn="auto" latinLnBrk="0" hangingPunct="1">
                        <a:lnSpc>
                          <a:spcPts val="1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(corner pins)</a:t>
                      </a:r>
                      <a:endParaRPr lang="ko-KR" altLang="ko-KR" sz="9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mn-ea"/>
                          <a:cs typeface="Arial" panose="020B0604020202020204" pitchFamily="34" charset="0"/>
                        </a:rPr>
                        <a:t>ESD</a:t>
                      </a:r>
                      <a:r>
                        <a:rPr lang="en-US" altLang="ko-KR" sz="900" kern="0" baseline="-25000" dirty="0">
                          <a:solidFill>
                            <a:schemeClr val="tx1"/>
                          </a:solidFill>
                          <a:effectLst/>
                          <a:latin typeface="Arial" panose="020B0604020202020204" pitchFamily="34" charset="0"/>
                          <a:ea typeface="+mn-ea"/>
                          <a:cs typeface="Arial" panose="020B0604020202020204" pitchFamily="34" charset="0"/>
                        </a:rPr>
                        <a:t>CDM</a:t>
                      </a:r>
                      <a:endParaRPr lang="ko-KR" altLang="ko-KR" sz="900" kern="100" baseline="-250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lang="zh-CN" altLang="ko-KR" sz="900" kern="0" dirty="0">
                          <a:solidFill>
                            <a:schemeClr val="tx1"/>
                          </a:solidFill>
                          <a:effectLst/>
                          <a:latin typeface="Arial" panose="020B0604020202020204" pitchFamily="34" charset="0"/>
                          <a:ea typeface="MyriadPro-Regular"/>
                          <a:cs typeface="Arial" panose="020B0604020202020204" pitchFamily="34" charset="0"/>
                        </a:rPr>
                        <a:t>±</a:t>
                      </a:r>
                      <a:r>
                        <a:rPr lang="en-US" altLang="zh-CN" sz="900" kern="0" dirty="0">
                          <a:solidFill>
                            <a:schemeClr val="tx1"/>
                          </a:solidFill>
                          <a:effectLst/>
                          <a:latin typeface="Arial" panose="020B0604020202020204" pitchFamily="34" charset="0"/>
                          <a:ea typeface="+mn-ea"/>
                          <a:cs typeface="Arial" panose="020B0604020202020204" pitchFamily="34" charset="0"/>
                        </a:rPr>
                        <a:t>75</a:t>
                      </a:r>
                      <a:r>
                        <a:rPr lang="en-US" altLang="ko-KR" sz="900" kern="0" dirty="0">
                          <a:solidFill>
                            <a:schemeClr val="tx1"/>
                          </a:solidFill>
                          <a:effectLst/>
                          <a:latin typeface="Arial" panose="020B0604020202020204" pitchFamily="34" charset="0"/>
                          <a:ea typeface="+mn-ea"/>
                          <a:cs typeface="Arial" panose="020B0604020202020204" pitchFamily="34" charset="0"/>
                        </a:rPr>
                        <a:t>0</a:t>
                      </a:r>
                      <a:endParaRPr lang="ko-KR" altLang="ko-KR" sz="9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AEC Q100-011</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5273102"/>
                  </a:ext>
                </a:extLst>
              </a:tr>
            </a:tbl>
          </a:graphicData>
        </a:graphic>
      </p:graphicFrame>
      <p:graphicFrame>
        <p:nvGraphicFramePr>
          <p:cNvPr id="19" name="표 18">
            <a:extLst>
              <a:ext uri="{FF2B5EF4-FFF2-40B4-BE49-F238E27FC236}">
                <a16:creationId xmlns:a16="http://schemas.microsoft.com/office/drawing/2014/main" id="{72DCDFC1-6EDA-6F73-1E07-EC6C627C6D92}"/>
              </a:ext>
            </a:extLst>
          </p:cNvPr>
          <p:cNvGraphicFramePr>
            <a:graphicFrameLocks noGrp="1"/>
          </p:cNvGraphicFramePr>
          <p:nvPr>
            <p:extLst>
              <p:ext uri="{D42A27DB-BD31-4B8C-83A1-F6EECF244321}">
                <p14:modId xmlns:p14="http://schemas.microsoft.com/office/powerpoint/2010/main" val="1117572119"/>
              </p:ext>
            </p:extLst>
          </p:nvPr>
        </p:nvGraphicFramePr>
        <p:xfrm>
          <a:off x="417504" y="7318699"/>
          <a:ext cx="6048375" cy="1382624"/>
        </p:xfrm>
        <a:graphic>
          <a:graphicData uri="http://schemas.openxmlformats.org/drawingml/2006/table">
            <a:tbl>
              <a:tblPr>
                <a:tableStyleId>{5C22544A-7EE6-4342-B048-85BDC9FD1C3A}</a:tableStyleId>
              </a:tblPr>
              <a:tblGrid>
                <a:gridCol w="2430229">
                  <a:extLst>
                    <a:ext uri="{9D8B030D-6E8A-4147-A177-3AD203B41FA5}">
                      <a16:colId xmlns:a16="http://schemas.microsoft.com/office/drawing/2014/main" val="1199541810"/>
                    </a:ext>
                  </a:extLst>
                </a:gridCol>
                <a:gridCol w="935806">
                  <a:extLst>
                    <a:ext uri="{9D8B030D-6E8A-4147-A177-3AD203B41FA5}">
                      <a16:colId xmlns:a16="http://schemas.microsoft.com/office/drawing/2014/main" val="2771136683"/>
                    </a:ext>
                  </a:extLst>
                </a:gridCol>
                <a:gridCol w="2119886">
                  <a:extLst>
                    <a:ext uri="{9D8B030D-6E8A-4147-A177-3AD203B41FA5}">
                      <a16:colId xmlns:a16="http://schemas.microsoft.com/office/drawing/2014/main" val="112759525"/>
                    </a:ext>
                  </a:extLst>
                </a:gridCol>
                <a:gridCol w="562454">
                  <a:extLst>
                    <a:ext uri="{9D8B030D-6E8A-4147-A177-3AD203B41FA5}">
                      <a16:colId xmlns:a16="http://schemas.microsoft.com/office/drawing/2014/main" val="3900317923"/>
                    </a:ext>
                  </a:extLst>
                </a:gridCol>
              </a:tblGrid>
              <a:tr h="321319">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Parameter</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Symbol</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Value</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2261">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voltage range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5.5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2261">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2261">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546568"/>
                  </a:ext>
                </a:extLst>
              </a:tr>
              <a:tr h="212261">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 ~ 125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2261">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bl>
          </a:graphicData>
        </a:graphic>
      </p:graphicFrame>
      <p:sp>
        <p:nvSpPr>
          <p:cNvPr id="21" name="object 11">
            <a:extLst>
              <a:ext uri="{FF2B5EF4-FFF2-40B4-BE49-F238E27FC236}">
                <a16:creationId xmlns:a16="http://schemas.microsoft.com/office/drawing/2014/main" id="{E664580D-2CCC-923B-580D-E9914B34E52F}"/>
              </a:ext>
            </a:extLst>
          </p:cNvPr>
          <p:cNvSpPr txBox="1"/>
          <p:nvPr/>
        </p:nvSpPr>
        <p:spPr>
          <a:xfrm>
            <a:off x="2190545" y="8821728"/>
            <a:ext cx="2494621" cy="140797"/>
          </a:xfrm>
          <a:prstGeom prst="rect">
            <a:avLst/>
          </a:prstGeom>
        </p:spPr>
        <p:txBody>
          <a:bodyPr vert="horz" wrap="square" lIns="0" tIns="12435" rIns="0" bIns="0" rtlCol="0">
            <a:spAutoFit/>
          </a:bodyPr>
          <a:lstStyle/>
          <a:p>
            <a:pPr marL="62176" algn="ctr"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a:t>
            </a:r>
            <a:r>
              <a:rPr lang="en-US" sz="881" b="1" dirty="0">
                <a:solidFill>
                  <a:prstClr val="black"/>
                </a:solidFill>
                <a:latin typeface="Arial" panose="020B0604020202020204" pitchFamily="34" charset="0"/>
                <a:cs typeface="Arial" panose="020B0604020202020204" pitchFamily="34" charset="0"/>
              </a:rPr>
              <a:t>Recommended Operating Condition</a:t>
            </a:r>
            <a:endParaRPr kumimoji="0" sz="881" dirty="0">
              <a:solidFill>
                <a:prstClr val="black"/>
              </a:solidFill>
              <a:latin typeface="Arial" panose="020B0604020202020204"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E24B7CAE-B4D1-6344-67EB-29970938FD18}"/>
              </a:ext>
            </a:extLst>
          </p:cNvPr>
          <p:cNvSpPr txBox="1"/>
          <p:nvPr/>
        </p:nvSpPr>
        <p:spPr>
          <a:xfrm>
            <a:off x="413545" y="6982351"/>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Operating Condition</a:t>
            </a:r>
            <a:endParaRPr lang="ko-KR"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F3DE-B82D-0C5B-0BB1-C2F2C6CF429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10677FB5-C486-A1B7-3F6B-94AF8828DE01}"/>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4A76805-53F6-8E8E-1431-B80ED532FD02}"/>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graphicFrame>
        <p:nvGraphicFramePr>
          <p:cNvPr id="10" name="표 9">
            <a:extLst>
              <a:ext uri="{FF2B5EF4-FFF2-40B4-BE49-F238E27FC236}">
                <a16:creationId xmlns:a16="http://schemas.microsoft.com/office/drawing/2014/main" id="{739C7635-3942-77D0-AE98-A546B6F33684}"/>
              </a:ext>
            </a:extLst>
          </p:cNvPr>
          <p:cNvGraphicFramePr>
            <a:graphicFrameLocks noGrp="1"/>
          </p:cNvGraphicFramePr>
          <p:nvPr>
            <p:extLst>
              <p:ext uri="{D42A27DB-BD31-4B8C-83A1-F6EECF244321}">
                <p14:modId xmlns:p14="http://schemas.microsoft.com/office/powerpoint/2010/main" val="3886531879"/>
              </p:ext>
            </p:extLst>
          </p:nvPr>
        </p:nvGraphicFramePr>
        <p:xfrm>
          <a:off x="404812" y="1111214"/>
          <a:ext cx="6048375" cy="2019407"/>
        </p:xfrm>
        <a:graphic>
          <a:graphicData uri="http://schemas.openxmlformats.org/drawingml/2006/table">
            <a:tbl>
              <a:tblPr>
                <a:tableStyleId>{5C22544A-7EE6-4342-B048-85BDC9FD1C3A}</a:tableStyleId>
              </a:tblPr>
              <a:tblGrid>
                <a:gridCol w="2430229">
                  <a:extLst>
                    <a:ext uri="{9D8B030D-6E8A-4147-A177-3AD203B41FA5}">
                      <a16:colId xmlns:a16="http://schemas.microsoft.com/office/drawing/2014/main" val="1199541810"/>
                    </a:ext>
                  </a:extLst>
                </a:gridCol>
                <a:gridCol w="935806">
                  <a:extLst>
                    <a:ext uri="{9D8B030D-6E8A-4147-A177-3AD203B41FA5}">
                      <a16:colId xmlns:a16="http://schemas.microsoft.com/office/drawing/2014/main" val="2771136683"/>
                    </a:ext>
                  </a:extLst>
                </a:gridCol>
                <a:gridCol w="2119886">
                  <a:extLst>
                    <a:ext uri="{9D8B030D-6E8A-4147-A177-3AD203B41FA5}">
                      <a16:colId xmlns:a16="http://schemas.microsoft.com/office/drawing/2014/main" val="112759525"/>
                    </a:ext>
                  </a:extLst>
                </a:gridCol>
                <a:gridCol w="562454">
                  <a:extLst>
                    <a:ext uri="{9D8B030D-6E8A-4147-A177-3AD203B41FA5}">
                      <a16:colId xmlns:a16="http://schemas.microsoft.com/office/drawing/2014/main" val="3900317923"/>
                    </a:ext>
                  </a:extLst>
                </a:gridCol>
              </a:tblGrid>
              <a:tr h="321319">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Parameter</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Symbol</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a:solidFill>
                            <a:schemeClr val="tx1"/>
                          </a:solidFill>
                          <a:effectLst/>
                          <a:latin typeface="Arial" panose="020B0604020202020204" pitchFamily="34" charset="0"/>
                          <a:cs typeface="Arial" panose="020B0604020202020204" pitchFamily="34" charset="0"/>
                        </a:rPr>
                        <a:t>Value</a:t>
                      </a:r>
                      <a:endParaRPr lang="ko-KR" sz="900" b="1"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2261">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2261">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3357820"/>
                  </a:ext>
                </a:extLst>
              </a:tr>
              <a:tr h="212261">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78991"/>
                  </a:ext>
                </a:extLst>
              </a:tr>
              <a:tr h="212261">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 ~ 125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6542527"/>
                  </a:ext>
                </a:extLst>
              </a:tr>
              <a:tr h="212261">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220895"/>
                  </a:ext>
                </a:extLst>
              </a:tr>
              <a:tr h="212261">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2261">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2261">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a:t>
                      </a: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Level</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 </a:t>
                      </a:r>
                      <a:r>
                        <a:rPr kumimoji="0" lang="en-US" altLang="ko-KR" sz="900" b="0" i="0" u="none" strike="noStrike" kern="1200" cap="none" spc="0" normalizeH="0" baseline="30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level</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bl>
          </a:graphicData>
        </a:graphic>
      </p:graphicFrame>
      <p:sp>
        <p:nvSpPr>
          <p:cNvPr id="14" name="object 11">
            <a:extLst>
              <a:ext uri="{FF2B5EF4-FFF2-40B4-BE49-F238E27FC236}">
                <a16:creationId xmlns:a16="http://schemas.microsoft.com/office/drawing/2014/main" id="{FC155548-019B-F6B1-7690-E9FBBBA2019A}"/>
              </a:ext>
            </a:extLst>
          </p:cNvPr>
          <p:cNvSpPr txBox="1"/>
          <p:nvPr/>
        </p:nvSpPr>
        <p:spPr>
          <a:xfrm>
            <a:off x="2175872" y="3244668"/>
            <a:ext cx="2494621" cy="140797"/>
          </a:xfrm>
          <a:prstGeom prst="rect">
            <a:avLst/>
          </a:prstGeom>
        </p:spPr>
        <p:txBody>
          <a:bodyPr vert="horz" wrap="square" lIns="0" tIns="12435" rIns="0" bIns="0" rtlCol="0">
            <a:spAutoFit/>
          </a:bodyPr>
          <a:lstStyle/>
          <a:p>
            <a:pPr marL="62176" algn="ctr"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5</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Thermal Information</a:t>
            </a:r>
            <a:endParaRPr kumimoji="0" sz="881" dirty="0">
              <a:solidFill>
                <a:prstClr val="black"/>
              </a:solidFill>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FB2ECADE-78C7-C00E-6AC6-C76F0B8EBCDC}"/>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Thermal Information</a:t>
            </a:r>
            <a:endParaRPr lang="ko-KR" altLang="en-US" sz="1200" dirty="0">
              <a:latin typeface="Arial" panose="020B0604020202020204" pitchFamily="34" charset="0"/>
              <a:cs typeface="Arial" panose="020B0604020202020204" pitchFamily="34" charset="0"/>
            </a:endParaRPr>
          </a:p>
        </p:txBody>
      </p:sp>
      <p:sp>
        <p:nvSpPr>
          <p:cNvPr id="18" name="object 16">
            <a:extLst>
              <a:ext uri="{FF2B5EF4-FFF2-40B4-BE49-F238E27FC236}">
                <a16:creationId xmlns:a16="http://schemas.microsoft.com/office/drawing/2014/main" id="{EE2158D8-327F-7AE8-02E9-D9411C217C8A}"/>
              </a:ext>
            </a:extLst>
          </p:cNvPr>
          <p:cNvSpPr txBox="1"/>
          <p:nvPr/>
        </p:nvSpPr>
        <p:spPr>
          <a:xfrm>
            <a:off x="400851" y="3746683"/>
            <a:ext cx="6044661" cy="453970"/>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=64mA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spcBef>
                <a:spcPts val="100"/>
              </a:spcBef>
            </a:pPr>
            <a:r>
              <a:rPr lang="en-US" sz="900" dirty="0">
                <a:latin typeface="Arial" panose="020B0604020202020204" pitchFamily="34" charset="0"/>
                <a:cs typeface="Arial" panose="020B0604020202020204" pitchFamily="34" charset="0"/>
              </a:rPr>
              <a:t>  2) </a:t>
            </a:r>
            <a:r>
              <a:rPr lang="en-US" altLang="ko-KR" sz="900" dirty="0">
                <a:latin typeface="Arial" panose="020B0604020202020204" pitchFamily="34" charset="0"/>
                <a:ea typeface="굴림" panose="020B0600000101010101" pitchFamily="50" charset="-127"/>
                <a:cs typeface="Arial" panose="020B0604020202020204" pitchFamily="34" charset="0"/>
              </a:rPr>
              <a:t>Maximum Floor Life-time of 168 </a:t>
            </a:r>
            <a:r>
              <a:rPr lang="en-US" altLang="ko-KR" sz="900" dirty="0" err="1">
                <a:latin typeface="Arial" panose="020B0604020202020204" pitchFamily="34" charset="0"/>
                <a:ea typeface="굴림" panose="020B0600000101010101" pitchFamily="50" charset="-127"/>
                <a:cs typeface="Arial" panose="020B0604020202020204" pitchFamily="34" charset="0"/>
              </a:rPr>
              <a:t>hr</a:t>
            </a:r>
            <a:endParaRPr lang="en-US" altLang="ko-KR" sz="900" dirty="0">
              <a:latin typeface="Arial" panose="020B0604020202020204" pitchFamily="34" charset="0"/>
              <a:ea typeface="굴림" panose="020B0600000101010101" pitchFamily="50" charset="-127"/>
              <a:cs typeface="Arial" panose="020B0604020202020204" pitchFamily="34" charset="0"/>
            </a:endParaRPr>
          </a:p>
        </p:txBody>
      </p:sp>
    </p:spTree>
    <p:extLst>
      <p:ext uri="{BB962C8B-B14F-4D97-AF65-F5344CB8AC3E}">
        <p14:creationId xmlns:p14="http://schemas.microsoft.com/office/powerpoint/2010/main" val="886161889"/>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307875112"/>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Electrical Characteristic </a:t>
            </a:r>
            <a:r>
              <a:rPr lang="en-US" altLang="ko-KR" sz="900">
                <a:latin typeface="Arial" panose="020B0604020202020204" pitchFamily="34" charset="0"/>
                <a:cs typeface="Arial" panose="020B0604020202020204" pitchFamily="34" charset="0"/>
              </a:rPr>
              <a:t>(V</a:t>
            </a:r>
            <a:r>
              <a:rPr lang="en-US" altLang="ko-KR" sz="900" baseline="-25000">
                <a:latin typeface="Arial" panose="020B0604020202020204" pitchFamily="34" charset="0"/>
                <a:cs typeface="Arial" panose="020B0604020202020204" pitchFamily="34" charset="0"/>
              </a:rPr>
              <a:t>DD </a:t>
            </a:r>
            <a:r>
              <a:rPr lang="en-US" altLang="ko-KR" sz="900">
                <a:latin typeface="Arial" panose="020B0604020202020204" pitchFamily="34" charset="0"/>
                <a:cs typeface="Arial" panose="020B0604020202020204" pitchFamily="34" charset="0"/>
              </a:rPr>
              <a:t>=3.3V, Ta=25.0</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unless</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otherwise</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noted)</a:t>
            </a:r>
            <a:endParaRPr lang="ko-KR" altLang="en-US" sz="120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1542360" y="6113348"/>
            <a:ext cx="3773277" cy="777436"/>
            <a:chOff x="1920695" y="7478240"/>
            <a:chExt cx="3333652" cy="718717"/>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a:latin typeface="Arial" panose="020B0604020202020204" pitchFamily="34" charset="0"/>
                  <a:cs typeface="Arial" panose="020B0604020202020204" pitchFamily="34" charset="0"/>
                </a:rPr>
                <a:t>Logic ‘1’</a:t>
              </a:r>
              <a:endParaRPr lang="ko-KR" altLang="en-US" sz="90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1H</a:t>
              </a:r>
              <a:endParaRPr lang="ko-KR" altLang="en-US" sz="900" baseline="-2500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1L</a:t>
              </a:r>
              <a:endParaRPr lang="ko-KR" altLang="en-US" sz="900" baseline="-2500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0H</a:t>
              </a:r>
              <a:endParaRPr lang="ko-KR" altLang="en-US" sz="900" baseline="-2500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0L</a:t>
              </a:r>
              <a:endParaRPr lang="ko-KR" altLang="en-US" sz="900" baseline="-2500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a:latin typeface="Arial" panose="020B0604020202020204" pitchFamily="34" charset="0"/>
                  <a:cs typeface="Arial" panose="020B0604020202020204" pitchFamily="34" charset="0"/>
                </a:rPr>
                <a:t>Logic ‘0’</a:t>
              </a:r>
              <a:endParaRPr lang="ko-KR" altLang="en-US" sz="900">
                <a:latin typeface="Arial" panose="020B0604020202020204" pitchFamily="34" charset="0"/>
                <a:cs typeface="Arial" panose="020B0604020202020204" pitchFamily="34" charset="0"/>
              </a:endParaRPr>
            </a:p>
          </p:txBody>
        </p:sp>
      </p:grpSp>
      <p:sp>
        <p:nvSpPr>
          <p:cNvPr id="7" name="TextBox 6">
            <a:extLst>
              <a:ext uri="{FF2B5EF4-FFF2-40B4-BE49-F238E27FC236}">
                <a16:creationId xmlns:a16="http://schemas.microsoft.com/office/drawing/2014/main" id="{27E8CB22-5C14-6BD9-34DA-1ECD33A81E0B}"/>
              </a:ext>
            </a:extLst>
          </p:cNvPr>
          <p:cNvSpPr txBox="1"/>
          <p:nvPr/>
        </p:nvSpPr>
        <p:spPr>
          <a:xfrm>
            <a:off x="404813" y="7159368"/>
            <a:ext cx="5888038" cy="104644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r>
              <a:rPr lang="en-US" altLang="ko-KR" dirty="0"/>
              <a:t>            2) Oscillator frequency tolerance can be controlled by FLL within 2%.</a:t>
            </a:r>
          </a:p>
          <a:p>
            <a:pPr algn="just"/>
            <a:r>
              <a:rPr lang="en-US" altLang="ko-KR" dirty="0"/>
              <a:t>            3)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IC603.</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4)  On </a:t>
            </a:r>
            <a:r>
              <a:rPr lang="en-US" altLang="ko-KR" dirty="0" err="1">
                <a:solidFill>
                  <a:srgbClr val="000000"/>
                </a:solidFill>
                <a:ea typeface="굴림" panose="020B0600000101010101" pitchFamily="50" charset="-127"/>
              </a:rPr>
              <a:t>downstreaming</a:t>
            </a:r>
            <a:r>
              <a:rPr lang="en-US" altLang="ko-KR" dirty="0">
                <a:solidFill>
                  <a:srgbClr val="000000"/>
                </a:solidFill>
                <a:ea typeface="굴림" panose="020B0600000101010101" pitchFamily="50" charset="-127"/>
              </a:rPr>
              <a:t>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Electrical Characteristic </a:t>
            </a:r>
            <a:r>
              <a:rPr lang="en-US" altLang="ko-KR" sz="900">
                <a:latin typeface="Arial" panose="020B0604020202020204" pitchFamily="34" charset="0"/>
                <a:cs typeface="Arial" panose="020B0604020202020204" pitchFamily="34" charset="0"/>
              </a:rPr>
              <a:t>(V</a:t>
            </a:r>
            <a:r>
              <a:rPr lang="en-US" altLang="ko-KR" sz="900" baseline="-25000">
                <a:latin typeface="Arial" panose="020B0604020202020204" pitchFamily="34" charset="0"/>
                <a:cs typeface="Arial" panose="020B0604020202020204" pitchFamily="34" charset="0"/>
              </a:rPr>
              <a:t>DD </a:t>
            </a:r>
            <a:r>
              <a:rPr lang="en-US" altLang="ko-KR" sz="900">
                <a:latin typeface="Arial" panose="020B0604020202020204" pitchFamily="34" charset="0"/>
                <a:cs typeface="Arial" panose="020B0604020202020204" pitchFamily="34" charset="0"/>
              </a:rPr>
              <a:t>=3.3V, Ta=25.0</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unless</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otherwise</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noted)</a:t>
            </a:r>
            <a:endParaRPr lang="ko-KR" altLang="en-US" sz="120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528492605"/>
              </p:ext>
            </p:extLst>
          </p:nvPr>
        </p:nvGraphicFramePr>
        <p:xfrm>
          <a:off x="333544" y="1136650"/>
          <a:ext cx="6169522" cy="7784912"/>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0.35V@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0.40V@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0.44V@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0.49V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0.54V@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0.59V@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0.64V@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0.74V@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0.79V@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br>
                        <a:rPr lang="it-IT" altLang="ko-KR" sz="820" b="0" dirty="0">
                          <a:solidFill>
                            <a:schemeClr val="tx1"/>
                          </a:solidFill>
                          <a:latin typeface="Arial"/>
                          <a:cs typeface="Arial"/>
                        </a:rPr>
                      </a:br>
                      <a:r>
                        <a:rPr lang="it-IT" altLang="ko-KR" sz="820" b="0" spc="-5" dirty="0">
                          <a:solidFill>
                            <a:schemeClr val="tx1"/>
                          </a:solidFill>
                          <a:latin typeface="Arial"/>
                          <a:cs typeface="Arial"/>
                        </a:rPr>
                        <a:t>0.85V@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44mA,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0.89V@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48mA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0.96V@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52mA,</a:t>
                      </a:r>
                      <a:r>
                        <a:rPr lang="it-IT" altLang="ko-KR" sz="820" b="0" spc="-40" dirty="0">
                          <a:solidFill>
                            <a:schemeClr val="tx1"/>
                          </a:solidFill>
                          <a:latin typeface="Arial"/>
                          <a:cs typeface="Arial"/>
                        </a:rPr>
                        <a:t>   1.00</a:t>
                      </a:r>
                      <a:r>
                        <a:rPr lang="it-IT" altLang="ko-KR" sz="820" b="0" dirty="0">
                          <a:solidFill>
                            <a:schemeClr val="tx1"/>
                          </a:solidFill>
                          <a:latin typeface="Arial"/>
                          <a:cs typeface="Arial"/>
                        </a:rPr>
                        <a:t>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56mA</a:t>
                      </a:r>
                      <a:br>
                        <a:rPr lang="it-IT" altLang="ko-KR" sz="820" b="0" dirty="0">
                          <a:solidFill>
                            <a:schemeClr val="tx1"/>
                          </a:solidFill>
                          <a:latin typeface="Arial"/>
                          <a:cs typeface="Arial"/>
                        </a:rPr>
                      </a:br>
                      <a:r>
                        <a:rPr lang="it-IT" altLang="ko-KR" sz="820" b="0" dirty="0">
                          <a:solidFill>
                            <a:schemeClr val="tx1"/>
                          </a:solidFill>
                          <a:latin typeface="Arial"/>
                          <a:cs typeface="Arial"/>
                        </a:rPr>
                        <a:t>1.10V@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60mA,</a:t>
                      </a:r>
                      <a:r>
                        <a:rPr lang="it-IT" altLang="ko-KR" sz="820" b="0" spc="-40" dirty="0">
                          <a:solidFill>
                            <a:schemeClr val="tx1"/>
                          </a:solidFill>
                          <a:latin typeface="Arial"/>
                          <a:cs typeface="Arial"/>
                        </a:rPr>
                        <a:t>   1.15</a:t>
                      </a:r>
                      <a:r>
                        <a:rPr lang="it-IT" altLang="ko-KR" sz="820" b="0" dirty="0">
                          <a:solidFill>
                            <a:schemeClr val="tx1"/>
                          </a:solidFill>
                          <a:latin typeface="Arial"/>
                          <a:cs typeface="Arial"/>
                        </a:rPr>
                        <a:t>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64mA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lang="en-US" sz="900" spc="-15">
                          <a:solidFill>
                            <a:schemeClr val="tx1"/>
                          </a:solidFill>
                          <a:latin typeface="Arial"/>
                          <a:cs typeface="Arial"/>
                        </a:rPr>
                        <a:t>S</a:t>
                      </a:r>
                      <a:r>
                        <a:rPr lang="en-US" sz="900" spc="-10">
                          <a:solidFill>
                            <a:schemeClr val="tx1"/>
                          </a:solidFill>
                          <a:latin typeface="Arial"/>
                          <a:cs typeface="Arial"/>
                        </a:rPr>
                        <a:t>ho</a:t>
                      </a:r>
                      <a:r>
                        <a:rPr lang="en-US" sz="900" spc="-15">
                          <a:solidFill>
                            <a:schemeClr val="tx1"/>
                          </a:solidFill>
                          <a:latin typeface="Arial"/>
                          <a:cs typeface="Arial"/>
                        </a:rPr>
                        <a:t>r</a:t>
                      </a:r>
                      <a:r>
                        <a:rPr lang="en-US" sz="900">
                          <a:solidFill>
                            <a:schemeClr val="tx1"/>
                          </a:solidFill>
                          <a:latin typeface="Arial"/>
                          <a:cs typeface="Arial"/>
                        </a:rPr>
                        <a:t>t</a:t>
                      </a:r>
                      <a:r>
                        <a:rPr lang="en-US" sz="900" spc="-60">
                          <a:solidFill>
                            <a:schemeClr val="tx1"/>
                          </a:solidFill>
                          <a:latin typeface="Arial"/>
                          <a:cs typeface="Arial"/>
                        </a:rPr>
                        <a:t> </a:t>
                      </a:r>
                      <a:r>
                        <a:rPr lang="en-US" sz="900" spc="-10">
                          <a:solidFill>
                            <a:schemeClr val="tx1"/>
                          </a:solidFill>
                          <a:latin typeface="Arial"/>
                          <a:cs typeface="Arial"/>
                        </a:rPr>
                        <a:t>detecti</a:t>
                      </a:r>
                      <a:r>
                        <a:rPr lang="en-US" sz="900" spc="-25">
                          <a:solidFill>
                            <a:schemeClr val="tx1"/>
                          </a:solidFill>
                          <a:latin typeface="Arial"/>
                          <a:cs typeface="Arial"/>
                        </a:rPr>
                        <a:t>o</a:t>
                      </a:r>
                      <a:r>
                        <a:rPr lang="en-US" sz="900">
                          <a:solidFill>
                            <a:schemeClr val="tx1"/>
                          </a:solidFill>
                          <a:latin typeface="Arial"/>
                          <a:cs typeface="Arial"/>
                        </a:rPr>
                        <a:t>n</a:t>
                      </a:r>
                      <a:r>
                        <a:rPr lang="en-US" sz="900" spc="-70">
                          <a:solidFill>
                            <a:schemeClr val="tx1"/>
                          </a:solidFill>
                          <a:latin typeface="Arial"/>
                          <a:cs typeface="Arial"/>
                        </a:rPr>
                        <a:t> </a:t>
                      </a:r>
                      <a:r>
                        <a:rPr lang="en-US" sz="900" spc="-10">
                          <a:solidFill>
                            <a:schemeClr val="tx1"/>
                          </a:solidFill>
                          <a:latin typeface="Arial"/>
                          <a:cs typeface="Arial"/>
                        </a:rPr>
                        <a:t>le</a:t>
                      </a:r>
                      <a:r>
                        <a:rPr lang="en-US" sz="900" spc="-20">
                          <a:solidFill>
                            <a:schemeClr val="tx1"/>
                          </a:solidFill>
                          <a:latin typeface="Arial"/>
                          <a:cs typeface="Arial"/>
                        </a:rPr>
                        <a:t>v</a:t>
                      </a:r>
                      <a:r>
                        <a:rPr lang="en-US" sz="900" spc="-10">
                          <a:solidFill>
                            <a:schemeClr val="tx1"/>
                          </a:solidFill>
                          <a:latin typeface="Arial"/>
                          <a:cs typeface="Arial"/>
                        </a:rPr>
                        <a:t>e</a:t>
                      </a:r>
                      <a:r>
                        <a:rPr lang="en-US" sz="900">
                          <a:solidFill>
                            <a:schemeClr val="tx1"/>
                          </a:solidFill>
                          <a:latin typeface="Arial"/>
                          <a:cs typeface="Arial"/>
                        </a:rPr>
                        <a:t>l</a:t>
                      </a:r>
                      <a:r>
                        <a:rPr lang="en-US" sz="900" spc="-30">
                          <a:solidFill>
                            <a:schemeClr val="tx1"/>
                          </a:solidFill>
                          <a:latin typeface="Arial"/>
                          <a:cs typeface="Arial"/>
                        </a:rPr>
                        <a:t> </a:t>
                      </a:r>
                      <a:r>
                        <a:rPr lang="en-US" sz="900" spc="-5">
                          <a:solidFill>
                            <a:schemeClr val="tx1"/>
                          </a:solidFill>
                          <a:latin typeface="Arial"/>
                          <a:cs typeface="Arial"/>
                        </a:rPr>
                        <a:t>V</a:t>
                      </a:r>
                      <a:r>
                        <a:rPr lang="en-US" sz="900" spc="-7" baseline="-18518">
                          <a:solidFill>
                            <a:schemeClr val="tx1"/>
                          </a:solidFill>
                          <a:latin typeface="Arial"/>
                          <a:cs typeface="Arial"/>
                        </a:rPr>
                        <a:t>S</a:t>
                      </a:r>
                      <a:r>
                        <a:rPr lang="en-US" sz="900" baseline="-18518">
                          <a:solidFill>
                            <a:schemeClr val="tx1"/>
                          </a:solidFill>
                          <a:latin typeface="Arial"/>
                          <a:cs typeface="Arial"/>
                        </a:rPr>
                        <a:t>D</a:t>
                      </a:r>
                      <a:r>
                        <a:rPr lang="en-US" altLang="ko-KR" sz="900" baseline="-18518">
                          <a:solidFill>
                            <a:schemeClr val="tx1"/>
                          </a:solidFill>
                          <a:latin typeface="Arial"/>
                          <a:cs typeface="Arial"/>
                        </a:rPr>
                        <a:t> </a:t>
                      </a:r>
                      <a:r>
                        <a:rPr lang="en-US" altLang="ko-KR" sz="900">
                          <a:solidFill>
                            <a:schemeClr val="tx1"/>
                          </a:solidFill>
                          <a:latin typeface="Arial"/>
                          <a:cs typeface="Arial"/>
                        </a:rPr>
                        <a:t>:  </a:t>
                      </a:r>
                      <a:endParaRPr lang="en-US" sz="900">
                        <a:solidFill>
                          <a:schemeClr val="tx1"/>
                        </a:solidFill>
                        <a:latin typeface="Arial"/>
                        <a:cs typeface="Arial"/>
                      </a:endParaRPr>
                    </a:p>
                    <a:p>
                      <a:pPr marL="275590" marR="241300" indent="33020" algn="l">
                        <a:lnSpc>
                          <a:spcPct val="100000"/>
                        </a:lnSpc>
                        <a:spcBef>
                          <a:spcPts val="160"/>
                        </a:spcBef>
                      </a:pPr>
                      <a:r>
                        <a:rPr lang="en-US" sz="820">
                          <a:solidFill>
                            <a:schemeClr val="tx1"/>
                          </a:solidFill>
                          <a:latin typeface="Arial"/>
                          <a:cs typeface="Arial"/>
                        </a:rPr>
                        <a:t>3b’000=3.5V,</a:t>
                      </a:r>
                      <a:r>
                        <a:rPr lang="en-US" sz="820" spc="160">
                          <a:solidFill>
                            <a:schemeClr val="tx1"/>
                          </a:solidFill>
                          <a:latin typeface="Arial"/>
                          <a:cs typeface="Arial"/>
                        </a:rPr>
                        <a:t> </a:t>
                      </a:r>
                      <a:r>
                        <a:rPr lang="en-US" sz="820">
                          <a:solidFill>
                            <a:schemeClr val="tx1"/>
                          </a:solidFill>
                          <a:latin typeface="Arial"/>
                          <a:cs typeface="Arial"/>
                        </a:rPr>
                        <a:t>3b’001=</a:t>
                      </a:r>
                      <a:r>
                        <a:rPr lang="en-US" sz="820" b="0">
                          <a:solidFill>
                            <a:schemeClr val="tx1"/>
                          </a:solidFill>
                          <a:latin typeface="Arial"/>
                          <a:cs typeface="Arial"/>
                        </a:rPr>
                        <a:t>6.5</a:t>
                      </a:r>
                      <a:r>
                        <a:rPr lang="en-US" sz="820">
                          <a:solidFill>
                            <a:schemeClr val="tx1"/>
                          </a:solidFill>
                          <a:latin typeface="Arial"/>
                          <a:cs typeface="Arial"/>
                        </a:rPr>
                        <a:t>V</a:t>
                      </a:r>
                    </a:p>
                    <a:p>
                      <a:pPr marL="275590" algn="l">
                        <a:lnSpc>
                          <a:spcPct val="100000"/>
                        </a:lnSpc>
                      </a:pPr>
                      <a:r>
                        <a:rPr lang="en-US" sz="820">
                          <a:solidFill>
                            <a:schemeClr val="tx1"/>
                          </a:solidFill>
                          <a:latin typeface="Arial"/>
                          <a:cs typeface="Arial"/>
                        </a:rPr>
                        <a:t> 3b’010=9.5V,</a:t>
                      </a:r>
                      <a:r>
                        <a:rPr lang="en-US" sz="820" spc="125">
                          <a:solidFill>
                            <a:schemeClr val="tx1"/>
                          </a:solidFill>
                          <a:latin typeface="Arial"/>
                          <a:cs typeface="Arial"/>
                        </a:rPr>
                        <a:t> </a:t>
                      </a:r>
                      <a:r>
                        <a:rPr lang="en-US" sz="820">
                          <a:solidFill>
                            <a:schemeClr val="tx1"/>
                          </a:solidFill>
                          <a:latin typeface="Arial"/>
                          <a:cs typeface="Arial"/>
                        </a:rPr>
                        <a:t>3b’011=12.5V</a:t>
                      </a:r>
                    </a:p>
                    <a:p>
                      <a:pPr marL="275590" algn="l">
                        <a:lnSpc>
                          <a:spcPct val="100000"/>
                        </a:lnSpc>
                      </a:pPr>
                      <a:r>
                        <a:rPr lang="en-US" sz="820" spc="-5">
                          <a:solidFill>
                            <a:schemeClr val="tx1"/>
                          </a:solidFill>
                          <a:latin typeface="Arial"/>
                          <a:cs typeface="Arial"/>
                        </a:rPr>
                        <a:t> 3b’100=16.5V, 3b’101=16.5V</a:t>
                      </a:r>
                      <a:endParaRPr lang="en-US" sz="820">
                        <a:solidFill>
                          <a:schemeClr val="tx1"/>
                        </a:solidFill>
                        <a:latin typeface="Arial"/>
                        <a:cs typeface="Arial"/>
                      </a:endParaRPr>
                    </a:p>
                    <a:p>
                      <a:pPr marL="275590" algn="l">
                        <a:lnSpc>
                          <a:spcPct val="100000"/>
                        </a:lnSpc>
                        <a:spcBef>
                          <a:spcPts val="5"/>
                        </a:spcBef>
                      </a:pPr>
                      <a:r>
                        <a:rPr lang="en-US" sz="820">
                          <a:solidFill>
                            <a:schemeClr val="tx1"/>
                          </a:solidFill>
                          <a:latin typeface="Arial"/>
                          <a:cs typeface="Arial"/>
                        </a:rPr>
                        <a:t> 3b’110=16.5V, 3b’111=16.5V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Short detection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a:t>
                      </a:r>
                      <a:endPar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0.65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91331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0.075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5901272"/>
                  </a:ext>
                </a:extLst>
              </a:tr>
              <a:tr h="838160">
                <a:tc>
                  <a:txBody>
                    <a:bodyPr/>
                    <a:lstStyle/>
                    <a:p>
                      <a:pPr algn="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72000" marB="72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ctr">
                        <a:lnSpc>
                          <a:spcPct val="100000"/>
                        </a:lnSpc>
                      </a:pPr>
                      <a:r>
                        <a:rPr lang="en-US" altLang="ko-KR" sz="82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82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ctr">
                        <a:lnSpc>
                          <a:spcPct val="100000"/>
                        </a:lnSpc>
                      </a:pPr>
                      <a:r>
                        <a:rPr lang="en-US" altLang="ko-KR" sz="82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ctr">
                        <a:lnSpc>
                          <a:spcPct val="100000"/>
                        </a:lnSpc>
                      </a:pPr>
                      <a:r>
                        <a:rPr lang="en-US" altLang="ko-KR" sz="82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820" b="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36mA, 4’b1001 = 40mA</a:t>
                      </a:r>
                    </a:p>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820" b="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44mA, 4’b1011 = 48mA</a:t>
                      </a:r>
                    </a:p>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820" b="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52mA, 4’b1101 = 56mA</a:t>
                      </a:r>
                    </a:p>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820" b="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60mA, 4’b1111 = 64mA</a:t>
                      </a:r>
                    </a:p>
                  </a:txBody>
                  <a:tcPr marL="0" marR="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72000" marB="7200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a:solidFill>
                            <a:schemeClr val="tx1"/>
                          </a:solidFill>
                          <a:latin typeface="Arial"/>
                          <a:cs typeface="Arial"/>
                        </a:rPr>
                        <a:t>-1.5</a:t>
                      </a:r>
                      <a:endParaRPr sz="90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a:solidFill>
                            <a:schemeClr val="tx1"/>
                          </a:solidFill>
                          <a:latin typeface="Arial"/>
                          <a:cs typeface="Arial"/>
                        </a:rPr>
                        <a:t>+1.5</a:t>
                      </a:r>
                      <a:endParaRPr sz="90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dynamic range</a:t>
                      </a:r>
                      <a:endPar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endParaRPr lang="en-US" altLang="ko-K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95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1834065"/>
                  </a:ext>
                </a:extLst>
              </a:tr>
              <a:tr h="244676">
                <a:tc>
                  <a:txBody>
                    <a:bodyPr/>
                    <a:lstStyle/>
                    <a:p>
                      <a:pPr algn="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24</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a:solidFill>
                            <a:schemeClr val="tx1"/>
                          </a:solidFill>
                          <a:latin typeface="Arial"/>
                          <a:cs typeface="Arial"/>
                        </a:rPr>
                        <a:t>300</a:t>
                      </a:r>
                      <a:endParaRPr sz="90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0.4V,  3’b001 = 0.5V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0.6V,  3’b011 = 0.7V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altLang="ko-KR"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altLang="ko-KR"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a:latin typeface="Arial"/>
                          <a:cs typeface="Arial"/>
                        </a:rPr>
                        <a:t>T</a:t>
                      </a:r>
                      <a:r>
                        <a:rPr lang="en-US" sz="900">
                          <a:latin typeface="Arial"/>
                          <a:cs typeface="Arial"/>
                        </a:rPr>
                        <a:t>her</a:t>
                      </a:r>
                      <a:r>
                        <a:rPr lang="en-US" sz="900" spc="5">
                          <a:latin typeface="Arial"/>
                          <a:cs typeface="Arial"/>
                        </a:rPr>
                        <a:t>m</a:t>
                      </a:r>
                      <a:r>
                        <a:rPr lang="en-US" sz="900">
                          <a:latin typeface="Arial"/>
                          <a:cs typeface="Arial"/>
                        </a:rPr>
                        <a:t>al cut off </a:t>
                      </a:r>
                      <a:r>
                        <a:rPr lang="en-US" sz="900" spc="-5">
                          <a:latin typeface="Arial"/>
                          <a:cs typeface="Arial"/>
                        </a:rPr>
                        <a:t>@T</a:t>
                      </a:r>
                      <a:r>
                        <a:rPr lang="en-US" sz="900" spc="-7" baseline="-9259">
                          <a:latin typeface="Arial"/>
                          <a:cs typeface="Arial"/>
                        </a:rPr>
                        <a:t>J</a:t>
                      </a:r>
                      <a:endParaRPr lang="en-US" sz="900" baseline="-9259">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a:ln>
                            <a:noFill/>
                          </a:ln>
                          <a:solidFill>
                            <a:prstClr val="black"/>
                          </a:solidFill>
                          <a:effectLst/>
                          <a:uLnTx/>
                          <a:uFillTx/>
                          <a:latin typeface="Arial"/>
                          <a:ea typeface="+mn-ea"/>
                          <a:cs typeface="Arial"/>
                        </a:rPr>
                        <a:t>T</a:t>
                      </a:r>
                      <a:r>
                        <a:rPr kumimoji="0" lang="en-US" altLang="ko-KR" sz="600" b="0" i="0" u="none" strike="noStrike" kern="0" cap="none" spc="-5" normalizeH="0" baseline="0" noProof="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altLang="ko-K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150</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a:latin typeface="Arial"/>
                          <a:cs typeface="Arial"/>
                        </a:rPr>
                        <a:t>Thermal</a:t>
                      </a:r>
                      <a:r>
                        <a:rPr sz="900" spc="-40">
                          <a:latin typeface="Arial"/>
                          <a:cs typeface="Arial"/>
                        </a:rPr>
                        <a:t> </a:t>
                      </a:r>
                      <a:r>
                        <a:rPr lang="en-US" sz="900">
                          <a:latin typeface="Arial"/>
                          <a:cs typeface="Arial"/>
                        </a:rPr>
                        <a:t>cut off </a:t>
                      </a:r>
                      <a:r>
                        <a:rPr sz="900">
                          <a:latin typeface="Arial"/>
                          <a:cs typeface="Arial"/>
                        </a:rPr>
                        <a:t>h</a:t>
                      </a:r>
                      <a:r>
                        <a:rPr sz="900" spc="-10">
                          <a:latin typeface="Arial"/>
                          <a:cs typeface="Arial"/>
                        </a:rPr>
                        <a:t>y</a:t>
                      </a:r>
                      <a:r>
                        <a:rPr sz="900" spc="5">
                          <a:latin typeface="Arial"/>
                          <a:cs typeface="Arial"/>
                        </a:rPr>
                        <a:t>s</a:t>
                      </a:r>
                      <a:r>
                        <a:rPr sz="900">
                          <a:latin typeface="Arial"/>
                          <a:cs typeface="Arial"/>
                        </a:rPr>
                        <a:t>tere</a:t>
                      </a:r>
                      <a:r>
                        <a:rPr sz="900" spc="5">
                          <a:latin typeface="Arial"/>
                          <a:cs typeface="Arial"/>
                        </a:rPr>
                        <a:t>s</a:t>
                      </a:r>
                      <a:r>
                        <a:rPr sz="900">
                          <a:latin typeface="Arial"/>
                          <a:cs typeface="Arial"/>
                        </a:rPr>
                        <a:t>is</a:t>
                      </a:r>
                      <a:r>
                        <a:rPr sz="900" spc="-30">
                          <a:latin typeface="Arial"/>
                          <a:cs typeface="Arial"/>
                        </a:rPr>
                        <a:t> </a:t>
                      </a:r>
                      <a:r>
                        <a:rPr kumimoji="0" lang="en-US" altLang="ko-KR" sz="900" b="0" i="0" u="none" strike="noStrike" kern="1200" cap="none" spc="-5" normalizeH="0" baseline="0" noProof="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a:ln>
                            <a:noFill/>
                          </a:ln>
                          <a:solidFill>
                            <a:prstClr val="black"/>
                          </a:solidFill>
                          <a:effectLst/>
                          <a:uLnTx/>
                          <a:uFillTx/>
                          <a:latin typeface="Arial"/>
                          <a:ea typeface="+mn-ea"/>
                          <a:cs typeface="Arial"/>
                        </a:rPr>
                        <a:t>J</a:t>
                      </a:r>
                      <a:endParaRPr sz="90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a:latin typeface="Arial"/>
                          <a:cs typeface="Arial"/>
                        </a:rPr>
                        <a:t>T</a:t>
                      </a:r>
                      <a:r>
                        <a:rPr sz="600" spc="-5">
                          <a:latin typeface="Arial"/>
                          <a:cs typeface="Arial"/>
                        </a:rPr>
                        <a:t>HYS</a:t>
                      </a:r>
                      <a:endParaRPr sz="60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  -</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  -</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Tree>
    <p:extLst>
      <p:ext uri="{BB962C8B-B14F-4D97-AF65-F5344CB8AC3E}">
        <p14:creationId xmlns:p14="http://schemas.microsoft.com/office/powerpoint/2010/main" val="3648400308"/>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1274488"/>
            <a:ext cx="603964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Electrical Characteristic </a:t>
            </a:r>
            <a:r>
              <a:rPr lang="en-US" altLang="ko-KR" sz="900">
                <a:latin typeface="Arial" panose="020B0604020202020204" pitchFamily="34" charset="0"/>
                <a:cs typeface="Arial" panose="020B0604020202020204" pitchFamily="34" charset="0"/>
              </a:rPr>
              <a:t>(V</a:t>
            </a:r>
            <a:r>
              <a:rPr lang="en-US" altLang="ko-KR" sz="900" baseline="-25000">
                <a:latin typeface="Arial" panose="020B0604020202020204" pitchFamily="34" charset="0"/>
                <a:cs typeface="Arial" panose="020B0604020202020204" pitchFamily="34" charset="0"/>
              </a:rPr>
              <a:t>DD </a:t>
            </a:r>
            <a:r>
              <a:rPr lang="en-US" altLang="ko-KR" sz="900">
                <a:latin typeface="Arial" panose="020B0604020202020204" pitchFamily="34" charset="0"/>
                <a:cs typeface="Arial" panose="020B0604020202020204" pitchFamily="34" charset="0"/>
              </a:rPr>
              <a:t>=3.3V, Ta=25.0</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unless</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otherwise</a:t>
            </a:r>
            <a:r>
              <a:rPr lang="ko-KR" altLang="en-US" sz="90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noted)</a:t>
            </a:r>
            <a:endParaRPr lang="ko-KR" altLang="en-US" sz="120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40048670"/>
              </p:ext>
            </p:extLst>
          </p:nvPr>
        </p:nvGraphicFramePr>
        <p:xfrm>
          <a:off x="404811" y="1646473"/>
          <a:ext cx="6048622" cy="2225894"/>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a:latin typeface="Arial" panose="020B0604020202020204" pitchFamily="34" charset="0"/>
                          <a:cs typeface="Arial" panose="020B0604020202020204" pitchFamily="34" charset="0"/>
                        </a:rPr>
                        <a:t>V</a:t>
                      </a:r>
                      <a:r>
                        <a:rPr lang="en-US" altLang="ko-KR" sz="900" baseline="-25000">
                          <a:latin typeface="Arial" panose="020B0604020202020204" pitchFamily="34" charset="0"/>
                          <a:cs typeface="Arial" panose="020B0604020202020204" pitchFamily="34" charset="0"/>
                        </a:rPr>
                        <a:t>DD </a:t>
                      </a:r>
                      <a:r>
                        <a:rPr lang="en-US" altLang="ko-KR" sz="900" baseline="0">
                          <a:latin typeface="Arial" panose="020B0604020202020204" pitchFamily="34" charset="0"/>
                          <a:cs typeface="Arial" panose="020B0604020202020204" pitchFamily="34" charset="0"/>
                        </a:rPr>
                        <a:t>Ramp up time</a:t>
                      </a:r>
                      <a:endParaRPr lang="en-US"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VDD</a:t>
                      </a:r>
                      <a:endPar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3.3V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INIT</a:t>
                      </a:r>
                      <a:endPar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FCMD</a:t>
                      </a:r>
                      <a:endPar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a:latin typeface="Arial" panose="020B0604020202020204" pitchFamily="34" charset="0"/>
                          <a:cs typeface="Arial" panose="020B0604020202020204" pitchFamily="34" charset="0"/>
                        </a:rPr>
                        <a:t>T</a:t>
                      </a:r>
                      <a:r>
                        <a:rPr lang="en-US" altLang="ko-KR" sz="900" baseline="-2500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SYNCMODE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58" name="object 2">
            <a:extLst>
              <a:ext uri="{FF2B5EF4-FFF2-40B4-BE49-F238E27FC236}">
                <a16:creationId xmlns:a16="http://schemas.microsoft.com/office/drawing/2014/main" id="{EFC8002C-164B-D20F-12B2-2D4FEA5ACB5E}"/>
              </a:ext>
            </a:extLst>
          </p:cNvPr>
          <p:cNvSpPr txBox="1"/>
          <p:nvPr/>
        </p:nvSpPr>
        <p:spPr>
          <a:xfrm>
            <a:off x="404811" y="5590103"/>
            <a:ext cx="6039642" cy="215444"/>
          </a:xfrm>
          <a:prstGeom prst="rect">
            <a:avLst/>
          </a:prstGeom>
        </p:spPr>
        <p:txBody>
          <a:bodyPr vert="horz" wrap="square" lIns="0" tIns="0" rIns="0" bIns="0" rtlCol="0" anchor="ctr">
            <a:spAutoFit/>
          </a:bodyPr>
          <a:lstStyle/>
          <a:p>
            <a:pPr>
              <a:lnSpc>
                <a:spcPct val="100000"/>
              </a:lnSpc>
              <a:spcBef>
                <a:spcPts val="0"/>
              </a:spcBef>
            </a:pPr>
            <a:r>
              <a:rPr sz="1400" b="1" spc="-10">
                <a:latin typeface="Arial" panose="020B0604020202020204" pitchFamily="34" charset="0"/>
                <a:cs typeface="Arial" panose="020B0604020202020204" pitchFamily="34" charset="0"/>
              </a:rPr>
              <a:t>Power</a:t>
            </a:r>
            <a:r>
              <a:rPr sz="1400" b="1" spc="-25">
                <a:latin typeface="Arial" panose="020B0604020202020204" pitchFamily="34" charset="0"/>
                <a:cs typeface="Arial" panose="020B0604020202020204" pitchFamily="34" charset="0"/>
              </a:rPr>
              <a:t> </a:t>
            </a:r>
            <a:r>
              <a:rPr sz="1400" b="1" spc="-5">
                <a:latin typeface="Arial" panose="020B0604020202020204" pitchFamily="34" charset="0"/>
                <a:cs typeface="Arial" panose="020B0604020202020204" pitchFamily="34" charset="0"/>
              </a:rPr>
              <a:t>Sequence</a:t>
            </a:r>
            <a:endParaRPr sz="140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419405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4040191"/>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6</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7550227"/>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a:solidFill>
                  <a:prstClr val="black"/>
                </a:solidFill>
                <a:latin typeface="Arial" panose="020B0604020202020204" pitchFamily="34" charset="0"/>
                <a:ea typeface="+mn-ea"/>
                <a:cs typeface="Arial" panose="020B0604020202020204" pitchFamily="34" charset="0"/>
              </a:rPr>
              <a:t>Figure 5. Power up sequence </a:t>
            </a:r>
            <a:r>
              <a:rPr lang="en-US" sz="900" b="1" spc="15">
                <a:solidFill>
                  <a:prstClr val="black"/>
                </a:solidFill>
                <a:latin typeface="Arial" panose="020B0604020202020204" pitchFamily="34" charset="0"/>
                <a:cs typeface="Arial" panose="020B0604020202020204" pitchFamily="34" charset="0"/>
              </a:rPr>
              <a:t>and Ramp-up time</a:t>
            </a:r>
            <a:endParaRPr kumimoji="0" lang="en-US" sz="900" b="1" spc="15">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024974"/>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a:t>3.3V stable</a:t>
              </a:r>
              <a:endParaRPr lang="ko-KR" altLang="en-US" sz="90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257075" cy="230832"/>
            </a:xfrm>
            <a:prstGeom prst="rect">
              <a:avLst/>
            </a:prstGeom>
            <a:noFill/>
          </p:spPr>
          <p:txBody>
            <a:bodyPr wrap="none" rtlCol="0">
              <a:spAutoFit/>
            </a:bodyPr>
            <a:lstStyle/>
            <a:p>
              <a:r>
                <a:rPr lang="en-US" altLang="ko-KR" sz="900"/>
                <a:t>1</a:t>
              </a:r>
              <a:r>
                <a:rPr lang="en-US" altLang="ko-KR" sz="900" baseline="30000"/>
                <a:t>st</a:t>
              </a:r>
              <a:r>
                <a:rPr lang="en-US" altLang="ko-KR" sz="900"/>
                <a:t> Command to ID601 </a:t>
              </a:r>
              <a:endParaRPr lang="ko-KR" altLang="en-US" sz="900" baseline="-2500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a:t>Set-up for dimming</a:t>
              </a:r>
              <a:endParaRPr lang="ko-KR" altLang="en-US" sz="900" baseline="-2500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a:solidFill>
                    <a:schemeClr val="tx1"/>
                  </a:solidFill>
                  <a:latin typeface="Arial" panose="020B0604020202020204" pitchFamily="34" charset="0"/>
                  <a:cs typeface="Arial" panose="020B0604020202020204" pitchFamily="34" charset="0"/>
                </a:rPr>
                <a:t>ID601  setup for dimming</a:t>
              </a:r>
              <a:endParaRPr lang="ko-KR" altLang="en-US" sz="80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a:p>
          </p:txBody>
        </p:sp>
      </p:grpSp>
      <p:sp>
        <p:nvSpPr>
          <p:cNvPr id="9" name="TextBox 8">
            <a:extLst>
              <a:ext uri="{FF2B5EF4-FFF2-40B4-BE49-F238E27FC236}">
                <a16:creationId xmlns:a16="http://schemas.microsoft.com/office/drawing/2014/main" id="{D7804A1C-FDC6-3338-072D-8BF4E9D5C722}"/>
              </a:ext>
            </a:extLst>
          </p:cNvPr>
          <p:cNvSpPr txBox="1"/>
          <p:nvPr/>
        </p:nvSpPr>
        <p:spPr>
          <a:xfrm>
            <a:off x="404811" y="718006"/>
            <a:ext cx="6048620"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4) If LED open or short event is happened, the corresponding channel will be turned-off under the function</a:t>
            </a:r>
          </a:p>
          <a:p>
            <a:r>
              <a:rPr lang="en-US" altLang="ko-KR" dirty="0"/>
              <a:t>                enabled.  If the thermal is happened, all channels output will be turned-off under the function enabled.</a:t>
            </a:r>
          </a:p>
          <a:p>
            <a:r>
              <a:rPr lang="en-US" altLang="ko-KR" dirty="0"/>
              <a:t>            5) Under satisfying the power dissipation specification.</a:t>
            </a:r>
          </a:p>
        </p:txBody>
      </p:sp>
    </p:spTree>
    <p:extLst>
      <p:ext uri="{BB962C8B-B14F-4D97-AF65-F5344CB8AC3E}">
        <p14:creationId xmlns:p14="http://schemas.microsoft.com/office/powerpoint/2010/main" val="1861681503"/>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a:latin typeface="Arial" panose="020B0604020202020204" pitchFamily="34" charset="0"/>
                <a:cs typeface="Arial" panose="020B0604020202020204" pitchFamily="34" charset="0"/>
              </a:rPr>
              <a:t>The ID601 can be controlled with several commands through a IC603 controller or directly by MCU. </a:t>
            </a:r>
          </a:p>
          <a:p>
            <a:pPr algn="just"/>
            <a:r>
              <a:rPr lang="en-US" altLang="ko-KR" sz="1000">
                <a:latin typeface="Arial" panose="020B0604020202020204" pitchFamily="34" charset="0"/>
                <a:cs typeface="Arial" panose="020B0604020202020204" pitchFamily="34" charset="0"/>
              </a:rPr>
              <a:t>The access protocol and frame format are as follows and if several ID601 is connected in daisy, the commands should be repeated successively as many as the ID601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1995309" y="5370964"/>
            <a:ext cx="2911053" cy="138499"/>
          </a:xfrm>
          <a:prstGeom prst="rect">
            <a:avLst/>
          </a:prstGeom>
          <a:noFill/>
        </p:spPr>
        <p:txBody>
          <a:bodyPr wrap="none" lIns="0" tIns="0" rIns="0" bIns="0" rtlCol="0" anchor="ctr" anchorCtr="0">
            <a:spAutoFit/>
          </a:bodyPr>
          <a:lstStyle/>
          <a:p>
            <a:r>
              <a:rPr lang="en-US" altLang="ko-KR" sz="900" b="1">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620068"/>
            <a:ext cx="6039903" cy="153888"/>
          </a:xfrm>
          <a:prstGeom prst="rect">
            <a:avLst/>
          </a:prstGeom>
          <a:noFill/>
        </p:spPr>
        <p:txBody>
          <a:bodyPr wrap="square" lIns="0" tIns="0" rIns="36000" bIns="0" rtlCol="0">
            <a:spAutoFit/>
          </a:bodyPr>
          <a:lstStyle/>
          <a:p>
            <a:pPr algn="just"/>
            <a:r>
              <a:rPr lang="en-US" altLang="ko-KR" sz="100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24" name="그룹 23">
            <a:extLst>
              <a:ext uri="{FF2B5EF4-FFF2-40B4-BE49-F238E27FC236}">
                <a16:creationId xmlns:a16="http://schemas.microsoft.com/office/drawing/2014/main" id="{F1C1057E-28D6-0077-49D7-C162CB71C20C}"/>
              </a:ext>
            </a:extLst>
          </p:cNvPr>
          <p:cNvGrpSpPr/>
          <p:nvPr/>
        </p:nvGrpSpPr>
        <p:grpSpPr>
          <a:xfrm>
            <a:off x="238088" y="6742956"/>
            <a:ext cx="6245917" cy="2582404"/>
            <a:chOff x="238088" y="6742956"/>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3"/>
            <a:stretch>
              <a:fillRect/>
            </a:stretch>
          </p:blipFill>
          <p:spPr>
            <a:xfrm>
              <a:off x="292005" y="6742956"/>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38088" y="7107003"/>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38088" y="7107003"/>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859031" y="8547382"/>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20" name="그룹 19">
              <a:extLst>
                <a:ext uri="{FF2B5EF4-FFF2-40B4-BE49-F238E27FC236}">
                  <a16:creationId xmlns:a16="http://schemas.microsoft.com/office/drawing/2014/main" id="{CD1E4503-3279-446D-4C91-5D405522E788}"/>
                </a:ext>
              </a:extLst>
            </p:cNvPr>
            <p:cNvGrpSpPr/>
            <p:nvPr/>
          </p:nvGrpSpPr>
          <p:grpSpPr>
            <a:xfrm>
              <a:off x="1139122" y="8509454"/>
              <a:ext cx="260886" cy="169277"/>
              <a:chOff x="1139122" y="8509454"/>
              <a:chExt cx="260886"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1235271" y="8544077"/>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1139122" y="8509454"/>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1" name="그룹 20">
              <a:extLst>
                <a:ext uri="{FF2B5EF4-FFF2-40B4-BE49-F238E27FC236}">
                  <a16:creationId xmlns:a16="http://schemas.microsoft.com/office/drawing/2014/main" id="{089C2112-2182-E90A-CDDD-55E679D266B0}"/>
                </a:ext>
              </a:extLst>
            </p:cNvPr>
            <p:cNvGrpSpPr/>
            <p:nvPr/>
          </p:nvGrpSpPr>
          <p:grpSpPr>
            <a:xfrm>
              <a:off x="2594921" y="8511328"/>
              <a:ext cx="260886" cy="169277"/>
              <a:chOff x="2594921" y="8511328"/>
              <a:chExt cx="260886"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689357" y="8543822"/>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594921" y="8511328"/>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2" name="그룹 21">
              <a:extLst>
                <a:ext uri="{FF2B5EF4-FFF2-40B4-BE49-F238E27FC236}">
                  <a16:creationId xmlns:a16="http://schemas.microsoft.com/office/drawing/2014/main" id="{7B68FEED-CB26-6DE8-4832-8483033CF2D5}"/>
                </a:ext>
              </a:extLst>
            </p:cNvPr>
            <p:cNvGrpSpPr/>
            <p:nvPr/>
          </p:nvGrpSpPr>
          <p:grpSpPr>
            <a:xfrm>
              <a:off x="2969634" y="8509866"/>
              <a:ext cx="260886" cy="169277"/>
              <a:chOff x="2969634" y="8509866"/>
              <a:chExt cx="260886"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3062482" y="8542360"/>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969634" y="8509866"/>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3" name="그룹 22">
              <a:extLst>
                <a:ext uri="{FF2B5EF4-FFF2-40B4-BE49-F238E27FC236}">
                  <a16:creationId xmlns:a16="http://schemas.microsoft.com/office/drawing/2014/main" id="{3B4BF61F-C138-50C3-4B50-223D331E8C35}"/>
                </a:ext>
              </a:extLst>
            </p:cNvPr>
            <p:cNvGrpSpPr/>
            <p:nvPr/>
          </p:nvGrpSpPr>
          <p:grpSpPr>
            <a:xfrm>
              <a:off x="3669481" y="8509866"/>
              <a:ext cx="260886" cy="169277"/>
              <a:chOff x="3669481" y="8509866"/>
              <a:chExt cx="260886"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3762329" y="8542360"/>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3669481" y="8509866"/>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764610" y="8509866"/>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1920759" y="8509737"/>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4"/>
          <a:stretch>
            <a:fillRect/>
          </a:stretch>
        </p:blipFill>
        <p:spPr>
          <a:xfrm>
            <a:off x="495300" y="2245434"/>
            <a:ext cx="5911073" cy="2754488"/>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89634"/>
            <a:ext cx="955711" cy="184666"/>
          </a:xfrm>
          <a:prstGeom prst="rect">
            <a:avLst/>
          </a:prstGeom>
          <a:noFill/>
        </p:spPr>
        <p:txBody>
          <a:bodyPr wrap="none" rtlCol="0">
            <a:spAutoFit/>
          </a:bodyPr>
          <a:lstStyle/>
          <a:p>
            <a:r>
              <a:rPr lang="en-US" altLang="ko-KR" sz="600"/>
              <a:t>LD_TYP=01,PWM_RES=1</a:t>
            </a:r>
            <a:endParaRPr lang="ko-KR" altLang="en-US" sz="600"/>
          </a:p>
        </p:txBody>
      </p:sp>
      <p:sp>
        <p:nvSpPr>
          <p:cNvPr id="9" name="직사각형 8">
            <a:extLst>
              <a:ext uri="{FF2B5EF4-FFF2-40B4-BE49-F238E27FC236}">
                <a16:creationId xmlns:a16="http://schemas.microsoft.com/office/drawing/2014/main" id="{F2BB9B86-FFB5-C1E4-04AB-BAD8EF1BCB01}"/>
              </a:ext>
            </a:extLst>
          </p:cNvPr>
          <p:cNvSpPr/>
          <p:nvPr/>
        </p:nvSpPr>
        <p:spPr>
          <a:xfrm>
            <a:off x="3508375" y="4438650"/>
            <a:ext cx="1895475" cy="4500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5" name="그림 14">
            <a:extLst>
              <a:ext uri="{FF2B5EF4-FFF2-40B4-BE49-F238E27FC236}">
                <a16:creationId xmlns:a16="http://schemas.microsoft.com/office/drawing/2014/main" id="{9D7A0699-EB60-10B3-FAF1-04089F1FD48C}"/>
              </a:ext>
            </a:extLst>
          </p:cNvPr>
          <p:cNvPicPr>
            <a:picLocks noChangeAspect="1"/>
          </p:cNvPicPr>
          <p:nvPr/>
        </p:nvPicPr>
        <p:blipFill>
          <a:blip r:embed="rId5"/>
          <a:stretch>
            <a:fillRect/>
          </a:stretch>
        </p:blipFill>
        <p:spPr>
          <a:xfrm>
            <a:off x="2847149" y="4457927"/>
            <a:ext cx="2190111" cy="716148"/>
          </a:xfrm>
          <a:prstGeom prst="rect">
            <a:avLst/>
          </a:prstGeom>
        </p:spPr>
      </p:pic>
      <p:grpSp>
        <p:nvGrpSpPr>
          <p:cNvPr id="5" name="그룹 4">
            <a:extLst>
              <a:ext uri="{FF2B5EF4-FFF2-40B4-BE49-F238E27FC236}">
                <a16:creationId xmlns:a16="http://schemas.microsoft.com/office/drawing/2014/main" id="{D97C0183-266D-768C-98FD-0704A23B5DDB}"/>
              </a:ext>
            </a:extLst>
          </p:cNvPr>
          <p:cNvGrpSpPr/>
          <p:nvPr/>
        </p:nvGrpSpPr>
        <p:grpSpPr>
          <a:xfrm>
            <a:off x="1368507" y="5874825"/>
            <a:ext cx="3882786" cy="833175"/>
            <a:chOff x="1368507" y="5753697"/>
            <a:chExt cx="3882786" cy="833175"/>
          </a:xfrm>
        </p:grpSpPr>
        <p:pic>
          <p:nvPicPr>
            <p:cNvPr id="6" name="그림 5">
              <a:extLst>
                <a:ext uri="{FF2B5EF4-FFF2-40B4-BE49-F238E27FC236}">
                  <a16:creationId xmlns:a16="http://schemas.microsoft.com/office/drawing/2014/main" id="{19F95F48-929C-99F1-8E7E-6F22D68FE19D}"/>
                </a:ext>
              </a:extLst>
            </p:cNvPr>
            <p:cNvPicPr>
              <a:picLocks noChangeAspect="1"/>
            </p:cNvPicPr>
            <p:nvPr/>
          </p:nvPicPr>
          <p:blipFill>
            <a:blip r:embed="rId6"/>
            <a:stretch>
              <a:fillRect/>
            </a:stretch>
          </p:blipFill>
          <p:spPr>
            <a:xfrm>
              <a:off x="1368507" y="5753697"/>
              <a:ext cx="3882786" cy="833175"/>
            </a:xfrm>
            <a:prstGeom prst="rect">
              <a:avLst/>
            </a:prstGeom>
          </p:spPr>
        </p:pic>
        <p:sp>
          <p:nvSpPr>
            <p:cNvPr id="10" name="TextBox 9">
              <a:extLst>
                <a:ext uri="{FF2B5EF4-FFF2-40B4-BE49-F238E27FC236}">
                  <a16:creationId xmlns:a16="http://schemas.microsoft.com/office/drawing/2014/main" id="{38BC2DC7-6436-9FF2-E3DE-1E419E596563}"/>
                </a:ext>
              </a:extLst>
            </p:cNvPr>
            <p:cNvSpPr txBox="1"/>
            <p:nvPr/>
          </p:nvSpPr>
          <p:spPr>
            <a:xfrm>
              <a:off x="1549400" y="6007099"/>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a:latin typeface="Arial" panose="020B0604020202020204" pitchFamily="34" charset="0"/>
                  <a:cs typeface="Arial" panose="020B0604020202020204" pitchFamily="34" charset="0"/>
                </a:rPr>
                <a:t>IC603</a:t>
              </a:r>
            </a:p>
            <a:p>
              <a:pPr algn="ctr"/>
              <a:r>
                <a:rPr lang="en-US" altLang="ko-KR" sz="700" b="1">
                  <a:latin typeface="Arial" panose="020B0604020202020204" pitchFamily="34" charset="0"/>
                  <a:cs typeface="Arial" panose="020B0604020202020204" pitchFamily="34" charset="0"/>
                </a:rPr>
                <a:t>or</a:t>
              </a:r>
            </a:p>
            <a:p>
              <a:pPr algn="ctr"/>
              <a:r>
                <a:rPr lang="en-US" altLang="ko-KR" sz="700" b="1">
                  <a:latin typeface="Arial" panose="020B0604020202020204" pitchFamily="34" charset="0"/>
                  <a:cs typeface="Arial" panose="020B0604020202020204" pitchFamily="34" charset="0"/>
                </a:rPr>
                <a:t>MCU</a:t>
              </a:r>
              <a:endParaRPr lang="ko-KR" altLang="en-US" sz="700" b="1">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1D551852-B89A-E3B1-BB0B-66A476948320}"/>
                </a:ext>
              </a:extLst>
            </p:cNvPr>
            <p:cNvSpPr txBox="1"/>
            <p:nvPr/>
          </p:nvSpPr>
          <p:spPr>
            <a:xfrm>
              <a:off x="2680976" y="5808138"/>
              <a:ext cx="397933" cy="92333"/>
            </a:xfrm>
            <a:prstGeom prst="rect">
              <a:avLst/>
            </a:prstGeom>
            <a:solidFill>
              <a:schemeClr val="bg1"/>
            </a:solidFill>
          </p:spPr>
          <p:txBody>
            <a:bodyPr wrap="square" lIns="0" tIns="0" rIns="0" bIns="0" rtlCol="0">
              <a:spAutoFit/>
            </a:bodyPr>
            <a:lstStyle/>
            <a:p>
              <a:pPr algn="ctr"/>
              <a:r>
                <a:rPr lang="en-US" altLang="ko-KR" sz="600" b="1">
                  <a:latin typeface="Arial" panose="020B0604020202020204" pitchFamily="34" charset="0"/>
                  <a:cs typeface="Arial" panose="020B0604020202020204" pitchFamily="34" charset="0"/>
                </a:rPr>
                <a:t>ID601 #1</a:t>
              </a:r>
              <a:endParaRPr lang="ko-KR" altLang="en-US" sz="500" b="1">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DF54CED-73B2-10B1-4F0A-7BEC985F7976}"/>
                </a:ext>
              </a:extLst>
            </p:cNvPr>
            <p:cNvSpPr txBox="1"/>
            <p:nvPr/>
          </p:nvSpPr>
          <p:spPr>
            <a:xfrm>
              <a:off x="4775200" y="5803905"/>
              <a:ext cx="391582" cy="92333"/>
            </a:xfrm>
            <a:prstGeom prst="rect">
              <a:avLst/>
            </a:prstGeom>
            <a:solidFill>
              <a:schemeClr val="bg1"/>
            </a:solidFill>
          </p:spPr>
          <p:txBody>
            <a:bodyPr wrap="square" lIns="0" tIns="0" rIns="0" bIns="0" rtlCol="0">
              <a:spAutoFit/>
            </a:bodyPr>
            <a:lstStyle/>
            <a:p>
              <a:pPr algn="ctr"/>
              <a:r>
                <a:rPr lang="en-US" altLang="ko-KR" sz="600" b="1">
                  <a:latin typeface="Arial" panose="020B0604020202020204" pitchFamily="34" charset="0"/>
                  <a:cs typeface="Arial" panose="020B0604020202020204" pitchFamily="34" charset="0"/>
                </a:rPr>
                <a:t>ID601 #n</a:t>
              </a:r>
              <a:endParaRPr lang="ko-KR" altLang="en-US" sz="500" b="1">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486DE47-CF5D-7B85-1D17-DD7B81A9E947}"/>
                </a:ext>
              </a:extLst>
            </p:cNvPr>
            <p:cNvSpPr txBox="1"/>
            <p:nvPr/>
          </p:nvSpPr>
          <p:spPr>
            <a:xfrm>
              <a:off x="3357563" y="5806022"/>
              <a:ext cx="379370" cy="92333"/>
            </a:xfrm>
            <a:prstGeom prst="rect">
              <a:avLst/>
            </a:prstGeom>
            <a:solidFill>
              <a:schemeClr val="bg1"/>
            </a:solidFill>
          </p:spPr>
          <p:txBody>
            <a:bodyPr wrap="square" lIns="0" tIns="0" rIns="0" bIns="0" rtlCol="0">
              <a:spAutoFit/>
            </a:bodyPr>
            <a:lstStyle/>
            <a:p>
              <a:pPr algn="ctr"/>
              <a:r>
                <a:rPr lang="en-US" altLang="ko-KR" sz="600" b="1">
                  <a:latin typeface="Arial" panose="020B0604020202020204" pitchFamily="34" charset="0"/>
                  <a:cs typeface="Arial" panose="020B0604020202020204" pitchFamily="34" charset="0"/>
                </a:rPr>
                <a:t>ID601 #2</a:t>
              </a:r>
              <a:endParaRPr lang="ko-KR" altLang="en-US" sz="500" b="1">
                <a:latin typeface="Arial" panose="020B0604020202020204" pitchFamily="34" charset="0"/>
                <a:cs typeface="Arial" panose="020B0604020202020204" pitchFamily="34" charset="0"/>
              </a:endParaRPr>
            </a:p>
          </p:txBody>
        </p:sp>
      </p:grpSp>
      <p:pic>
        <p:nvPicPr>
          <p:cNvPr id="19" name="그림 18">
            <a:extLst>
              <a:ext uri="{FF2B5EF4-FFF2-40B4-BE49-F238E27FC236}">
                <a16:creationId xmlns:a16="http://schemas.microsoft.com/office/drawing/2014/main" id="{1787A29A-0F3F-02E5-A434-8DB111F98A5C}"/>
              </a:ext>
            </a:extLst>
          </p:cNvPr>
          <p:cNvPicPr>
            <a:picLocks noChangeAspect="1"/>
          </p:cNvPicPr>
          <p:nvPr/>
        </p:nvPicPr>
        <p:blipFill>
          <a:blip r:embed="rId7"/>
          <a:stretch>
            <a:fillRect/>
          </a:stretch>
        </p:blipFill>
        <p:spPr>
          <a:xfrm>
            <a:off x="5094559" y="4429570"/>
            <a:ext cx="1697978" cy="573738"/>
          </a:xfrm>
          <a:prstGeom prst="rect">
            <a:avLst/>
          </a:prstGeom>
        </p:spPr>
      </p:pic>
    </p:spTree>
    <p:extLst>
      <p:ext uri="{BB962C8B-B14F-4D97-AF65-F5344CB8AC3E}">
        <p14:creationId xmlns:p14="http://schemas.microsoft.com/office/powerpoint/2010/main" val="211319744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a:latin typeface="Arial" panose="020B0604020202020204" pitchFamily="34" charset="0"/>
                <a:cs typeface="Arial" panose="020B0604020202020204" pitchFamily="34" charset="0"/>
              </a:rPr>
              <a:t>The PWM behavior</a:t>
            </a:r>
            <a:r>
              <a:rPr lang="ko-KR" altLang="en-US" sz="1000">
                <a:latin typeface="Arial" panose="020B0604020202020204" pitchFamily="34" charset="0"/>
                <a:cs typeface="Arial" panose="020B0604020202020204" pitchFamily="34" charset="0"/>
              </a:rPr>
              <a:t> </a:t>
            </a:r>
            <a:r>
              <a:rPr lang="en-US" altLang="ko-KR" sz="1000">
                <a:latin typeface="Arial" panose="020B0604020202020204" pitchFamily="34" charset="0"/>
                <a:cs typeface="Arial" panose="020B0604020202020204" pitchFamily="34" charset="0"/>
              </a:rPr>
              <a:t>depends on PWM configuration set to the PWM_RES and SUB-FRAME</a:t>
            </a:r>
          </a:p>
          <a:p>
            <a:pPr algn="just"/>
            <a:r>
              <a:rPr lang="en-US" altLang="ko-KR" sz="1000">
                <a:latin typeface="Arial" panose="020B0604020202020204" pitchFamily="34" charset="0"/>
                <a:cs typeface="Arial" panose="020B0604020202020204" pitchFamily="34" charset="0"/>
              </a:rPr>
              <a:t>(ex: LD_TYPE =1, </a:t>
            </a:r>
            <a:r>
              <a:rPr lang="en-US" altLang="ko-KR" sz="1000" err="1">
                <a:latin typeface="Arial" panose="020B0604020202020204" pitchFamily="34" charset="0"/>
                <a:cs typeface="Arial" panose="020B0604020202020204" pitchFamily="34" charset="0"/>
              </a:rPr>
              <a:t>svsync</a:t>
            </a:r>
            <a:r>
              <a:rPr lang="en-US" altLang="ko-KR" sz="1000">
                <a:latin typeface="Arial" panose="020B0604020202020204" pitchFamily="34" charset="0"/>
                <a:cs typeface="Arial" panose="020B0604020202020204" pitchFamily="34" charset="0"/>
              </a:rPr>
              <a:t> / 3) </a:t>
            </a:r>
            <a:r>
              <a:rPr lang="en-US" altLang="ko-KR" sz="1000" b="0" i="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AEE76F0-8BCF-15BA-E942-467AD6BF2881}"/>
              </a:ext>
            </a:extLst>
          </p:cNvPr>
          <p:cNvSpPr txBox="1"/>
          <p:nvPr/>
        </p:nvSpPr>
        <p:spPr>
          <a:xfrm>
            <a:off x="4496811" y="5582114"/>
            <a:ext cx="2040400" cy="200055"/>
          </a:xfrm>
          <a:prstGeom prst="rect">
            <a:avLst/>
          </a:prstGeom>
          <a:noFill/>
        </p:spPr>
        <p:txBody>
          <a:bodyPr wrap="square" rtlCol="0">
            <a:spAutoFit/>
          </a:bodyPr>
          <a:lstStyle/>
          <a:p>
            <a:r>
              <a:rPr lang="en-US" altLang="ko-KR" sz="700" b="0">
                <a:solidFill>
                  <a:schemeClr val="tx1"/>
                </a:solidFill>
                <a:latin typeface="Arial" panose="020B0604020202020204" pitchFamily="34" charset="0"/>
                <a:cs typeface="Arial" panose="020B0604020202020204" pitchFamily="34" charset="0"/>
              </a:rPr>
              <a:t>LD_TYPE = 1,  LD_DIR = 1,</a:t>
            </a:r>
            <a:r>
              <a:rPr lang="ko-KR" altLang="en-US" sz="700">
                <a:latin typeface="Arial" panose="020B0604020202020204" pitchFamily="34" charset="0"/>
                <a:cs typeface="Arial" panose="020B0604020202020204" pitchFamily="34" charset="0"/>
              </a:rPr>
              <a:t> </a:t>
            </a:r>
            <a:r>
              <a:rPr lang="en-US" altLang="ko-KR" sz="700">
                <a:latin typeface="Arial" panose="020B0604020202020204" pitchFamily="34" charset="0"/>
                <a:cs typeface="Arial" panose="020B0604020202020204" pitchFamily="34" charset="0"/>
              </a:rPr>
              <a:t>SUB_FRAME = 4</a:t>
            </a:r>
            <a:endParaRPr lang="ko-KR" altLang="en-US" sz="7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F934550-38CB-C98B-0171-A1DC1F360649}"/>
              </a:ext>
            </a:extLst>
          </p:cNvPr>
          <p:cNvSpPr txBox="1"/>
          <p:nvPr/>
        </p:nvSpPr>
        <p:spPr>
          <a:xfrm>
            <a:off x="4581499" y="6588141"/>
            <a:ext cx="2100254" cy="461665"/>
          </a:xfrm>
          <a:prstGeom prst="rect">
            <a:avLst/>
          </a:prstGeom>
          <a:noFill/>
        </p:spPr>
        <p:txBody>
          <a:bodyPr wrap="none" rtlCol="0">
            <a:spAutoFit/>
          </a:bodyPr>
          <a:lstStyle/>
          <a:p>
            <a:pPr algn="r"/>
            <a:r>
              <a:rPr lang="en-US" altLang="ko-KR" sz="800">
                <a:latin typeface="Arial" panose="020B0604020202020204" pitchFamily="34" charset="0"/>
                <a:cs typeface="Arial" panose="020B0604020202020204" pitchFamily="34" charset="0"/>
              </a:rPr>
              <a:t>RED : sub-frames # with max. duty</a:t>
            </a:r>
            <a:r>
              <a:rPr lang="ko-KR" altLang="en-US" sz="800">
                <a:latin typeface="Arial" panose="020B0604020202020204" pitchFamily="34" charset="0"/>
                <a:cs typeface="Arial" panose="020B0604020202020204" pitchFamily="34" charset="0"/>
              </a:rPr>
              <a:t> </a:t>
            </a:r>
            <a:r>
              <a:rPr lang="en-US" altLang="ko-KR" sz="800">
                <a:latin typeface="Arial" panose="020B0604020202020204" pitchFamily="34" charset="0"/>
                <a:cs typeface="Arial" panose="020B0604020202020204" pitchFamily="34" charset="0"/>
              </a:rPr>
              <a:t>=</a:t>
            </a:r>
            <a:r>
              <a:rPr lang="ko-KR" altLang="en-US" sz="800">
                <a:latin typeface="Arial" panose="020B0604020202020204" pitchFamily="34" charset="0"/>
                <a:cs typeface="Arial" panose="020B0604020202020204" pitchFamily="34" charset="0"/>
              </a:rPr>
              <a:t> </a:t>
            </a:r>
            <a:r>
              <a:rPr lang="en-US" altLang="ko-KR" sz="800">
                <a:latin typeface="Arial" panose="020B0604020202020204" pitchFamily="34" charset="0"/>
                <a:cs typeface="Arial" panose="020B0604020202020204" pitchFamily="34" charset="0"/>
              </a:rPr>
              <a:t>3</a:t>
            </a:r>
          </a:p>
          <a:p>
            <a:pPr algn="r"/>
            <a:r>
              <a:rPr lang="en-US" altLang="ko-KR" sz="800">
                <a:latin typeface="Arial" panose="020B0604020202020204" pitchFamily="34" charset="0"/>
                <a:cs typeface="Arial" panose="020B0604020202020204" pitchFamily="34" charset="0"/>
              </a:rPr>
              <a:t>GREEN : sub-frames # with max. duty</a:t>
            </a:r>
            <a:r>
              <a:rPr lang="ko-KR" altLang="en-US" sz="800">
                <a:latin typeface="Arial" panose="020B0604020202020204" pitchFamily="34" charset="0"/>
                <a:cs typeface="Arial" panose="020B0604020202020204" pitchFamily="34" charset="0"/>
              </a:rPr>
              <a:t> </a:t>
            </a:r>
            <a:r>
              <a:rPr lang="en-US" altLang="ko-KR" sz="800">
                <a:latin typeface="Arial" panose="020B0604020202020204" pitchFamily="34" charset="0"/>
                <a:cs typeface="Arial" panose="020B0604020202020204" pitchFamily="34" charset="0"/>
              </a:rPr>
              <a:t>=</a:t>
            </a:r>
            <a:r>
              <a:rPr lang="ko-KR" altLang="en-US" sz="800">
                <a:latin typeface="Arial" panose="020B0604020202020204" pitchFamily="34" charset="0"/>
                <a:cs typeface="Arial" panose="020B0604020202020204" pitchFamily="34" charset="0"/>
              </a:rPr>
              <a:t> </a:t>
            </a:r>
            <a:r>
              <a:rPr lang="en-US" altLang="ko-KR" sz="800">
                <a:latin typeface="Arial" panose="020B0604020202020204" pitchFamily="34" charset="0"/>
                <a:cs typeface="Arial" panose="020B0604020202020204" pitchFamily="34" charset="0"/>
              </a:rPr>
              <a:t>2</a:t>
            </a:r>
          </a:p>
          <a:p>
            <a:pPr algn="r"/>
            <a:r>
              <a:rPr lang="en-US" altLang="ko-KR" sz="800">
                <a:latin typeface="Arial" panose="020B0604020202020204" pitchFamily="34" charset="0"/>
                <a:cs typeface="Arial" panose="020B0604020202020204" pitchFamily="34" charset="0"/>
              </a:rPr>
              <a:t>BLUE : sub-frames # with max. duty</a:t>
            </a:r>
            <a:r>
              <a:rPr lang="ko-KR" altLang="en-US" sz="800">
                <a:latin typeface="Arial" panose="020B0604020202020204" pitchFamily="34" charset="0"/>
                <a:cs typeface="Arial" panose="020B0604020202020204" pitchFamily="34" charset="0"/>
              </a:rPr>
              <a:t> </a:t>
            </a:r>
            <a:r>
              <a:rPr lang="en-US" altLang="ko-KR" sz="800">
                <a:latin typeface="Arial" panose="020B0604020202020204" pitchFamily="34" charset="0"/>
                <a:cs typeface="Arial" panose="020B0604020202020204" pitchFamily="34" charset="0"/>
              </a:rPr>
              <a:t>=</a:t>
            </a:r>
            <a:r>
              <a:rPr lang="ko-KR" altLang="en-US" sz="800">
                <a:latin typeface="Arial" panose="020B0604020202020204" pitchFamily="34" charset="0"/>
                <a:cs typeface="Arial" panose="020B0604020202020204" pitchFamily="34" charset="0"/>
              </a:rPr>
              <a:t> </a:t>
            </a:r>
            <a:r>
              <a:rPr lang="en-US" altLang="ko-KR" sz="800">
                <a:latin typeface="Arial" panose="020B0604020202020204" pitchFamily="34" charset="0"/>
                <a:cs typeface="Arial" panose="020B0604020202020204" pitchFamily="34" charset="0"/>
              </a:rPr>
              <a:t>1</a:t>
            </a:r>
            <a:endParaRPr lang="ko-KR" altLang="en-US" sz="8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BBC48CA-5BF9-B384-D93A-E84A9BDEF2A3}"/>
              </a:ext>
            </a:extLst>
          </p:cNvPr>
          <p:cNvSpPr txBox="1"/>
          <p:nvPr/>
        </p:nvSpPr>
        <p:spPr>
          <a:xfrm>
            <a:off x="407554" y="5446325"/>
            <a:ext cx="3462866" cy="230832"/>
          </a:xfrm>
          <a:prstGeom prst="rect">
            <a:avLst/>
          </a:prstGeom>
          <a:noFill/>
        </p:spPr>
        <p:txBody>
          <a:bodyPr wrap="square">
            <a:spAutoFit/>
          </a:bodyPr>
          <a:lstStyle/>
          <a:p>
            <a:r>
              <a:rPr lang="en-US" altLang="ko-KR" sz="900">
                <a:latin typeface="Arial" panose="020B0604020202020204" pitchFamily="34" charset="0"/>
                <a:cs typeface="Arial" panose="020B0604020202020204" pitchFamily="34" charset="0"/>
              </a:rPr>
              <a:t>(example)</a:t>
            </a:r>
          </a:p>
        </p:txBody>
      </p:sp>
      <p:pic>
        <p:nvPicPr>
          <p:cNvPr id="9" name="그림 8">
            <a:extLst>
              <a:ext uri="{FF2B5EF4-FFF2-40B4-BE49-F238E27FC236}">
                <a16:creationId xmlns:a16="http://schemas.microsoft.com/office/drawing/2014/main" id="{F3611E02-9B7C-B352-4456-E646ACF46A4F}"/>
              </a:ext>
            </a:extLst>
          </p:cNvPr>
          <p:cNvPicPr>
            <a:picLocks noChangeAspect="1"/>
          </p:cNvPicPr>
          <p:nvPr/>
        </p:nvPicPr>
        <p:blipFill>
          <a:blip r:embed="rId2"/>
          <a:stretch>
            <a:fillRect/>
          </a:stretch>
        </p:blipFill>
        <p:spPr>
          <a:xfrm>
            <a:off x="53069" y="5867925"/>
            <a:ext cx="6740776" cy="582193"/>
          </a:xfrm>
          <a:prstGeom prst="rect">
            <a:avLst/>
          </a:prstGeom>
        </p:spPr>
      </p:pic>
      <p:sp>
        <p:nvSpPr>
          <p:cNvPr id="2" name="TextBox 1">
            <a:extLst>
              <a:ext uri="{FF2B5EF4-FFF2-40B4-BE49-F238E27FC236}">
                <a16:creationId xmlns:a16="http://schemas.microsoft.com/office/drawing/2014/main" id="{40813B5E-1ABF-08AE-4567-5413471AC374}"/>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a:latin typeface="Arial" panose="020B0604020202020204" pitchFamily="34" charset="0"/>
                <a:cs typeface="Arial" panose="020B0604020202020204" pitchFamily="34" charset="0"/>
              </a:rPr>
              <a:t>Table 6. PWM Configuration</a:t>
            </a:r>
          </a:p>
        </p:txBody>
      </p:sp>
      <p:sp>
        <p:nvSpPr>
          <p:cNvPr id="6" name="TextBox 5">
            <a:extLst>
              <a:ext uri="{FF2B5EF4-FFF2-40B4-BE49-F238E27FC236}">
                <a16:creationId xmlns:a16="http://schemas.microsoft.com/office/drawing/2014/main" id="{455D2AA4-C763-35CE-4F38-71A6F40B8E08}"/>
              </a:ext>
            </a:extLst>
          </p:cNvPr>
          <p:cNvSpPr txBox="1"/>
          <p:nvPr/>
        </p:nvSpPr>
        <p:spPr>
          <a:xfrm>
            <a:off x="4232988" y="4314404"/>
            <a:ext cx="660758" cy="230832"/>
          </a:xfrm>
          <a:prstGeom prst="rect">
            <a:avLst/>
          </a:prstGeom>
          <a:noFill/>
        </p:spPr>
        <p:txBody>
          <a:bodyPr wrap="none" rtlCol="0">
            <a:spAutoFit/>
          </a:bodyPr>
          <a:lstStyle/>
          <a:p>
            <a:r>
              <a:rPr lang="en-US" altLang="ko-KR" sz="900"/>
              <a:t>don’t care</a:t>
            </a:r>
            <a:endParaRPr lang="ko-KR" altLang="en-US" sz="900"/>
          </a:p>
        </p:txBody>
      </p:sp>
      <p:sp>
        <p:nvSpPr>
          <p:cNvPr id="8" name="직사각형 7">
            <a:extLst>
              <a:ext uri="{FF2B5EF4-FFF2-40B4-BE49-F238E27FC236}">
                <a16:creationId xmlns:a16="http://schemas.microsoft.com/office/drawing/2014/main" id="{9F288DE1-C8AE-0AC4-FB4B-D120948A04F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a:solidFill>
                  <a:schemeClr val="tx1"/>
                </a:solidFill>
              </a:rPr>
              <a:t>x</a:t>
            </a:r>
            <a:endParaRPr lang="ko-KR" altLang="en-US" sz="900">
              <a:solidFill>
                <a:schemeClr val="tx1"/>
              </a:solidFill>
            </a:endParaRPr>
          </a:p>
        </p:txBody>
      </p:sp>
      <p:sp>
        <p:nvSpPr>
          <p:cNvPr id="10" name="직사각형 9">
            <a:extLst>
              <a:ext uri="{FF2B5EF4-FFF2-40B4-BE49-F238E27FC236}">
                <a16:creationId xmlns:a16="http://schemas.microsoft.com/office/drawing/2014/main" id="{28339E89-9DF1-E78C-2927-63B047DF21ED}"/>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a:solidFill>
                <a:schemeClr val="tx1"/>
              </a:solidFill>
            </a:endParaRPr>
          </a:p>
        </p:txBody>
      </p:sp>
      <p:sp>
        <p:nvSpPr>
          <p:cNvPr id="12" name="TextBox 11">
            <a:extLst>
              <a:ext uri="{FF2B5EF4-FFF2-40B4-BE49-F238E27FC236}">
                <a16:creationId xmlns:a16="http://schemas.microsoft.com/office/drawing/2014/main" id="{10936B1B-C501-FF2F-E85C-A1619D75490C}"/>
              </a:ext>
            </a:extLst>
          </p:cNvPr>
          <p:cNvSpPr txBox="1"/>
          <p:nvPr/>
        </p:nvSpPr>
        <p:spPr>
          <a:xfrm>
            <a:off x="4229813" y="3870872"/>
            <a:ext cx="1519968" cy="230832"/>
          </a:xfrm>
          <a:prstGeom prst="rect">
            <a:avLst/>
          </a:prstGeom>
          <a:noFill/>
        </p:spPr>
        <p:txBody>
          <a:bodyPr wrap="none" rtlCol="0">
            <a:spAutoFit/>
          </a:bodyPr>
          <a:lstStyle/>
          <a:p>
            <a:r>
              <a:rPr lang="en-US" altLang="ko-KR" sz="900"/>
              <a:t>sub-frames # with max. duty</a:t>
            </a:r>
            <a:endParaRPr lang="ko-KR" altLang="en-US" sz="900"/>
          </a:p>
        </p:txBody>
      </p:sp>
      <p:sp>
        <p:nvSpPr>
          <p:cNvPr id="13" name="직사각형 12">
            <a:extLst>
              <a:ext uri="{FF2B5EF4-FFF2-40B4-BE49-F238E27FC236}">
                <a16:creationId xmlns:a16="http://schemas.microsoft.com/office/drawing/2014/main" id="{AF6A32BA-2DE2-1412-AAB0-CF2DF25E910A}"/>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a:solidFill>
                <a:schemeClr val="tx1"/>
              </a:solidFill>
            </a:endParaRPr>
          </a:p>
        </p:txBody>
      </p:sp>
      <p:sp>
        <p:nvSpPr>
          <p:cNvPr id="17" name="TextBox 16">
            <a:extLst>
              <a:ext uri="{FF2B5EF4-FFF2-40B4-BE49-F238E27FC236}">
                <a16:creationId xmlns:a16="http://schemas.microsoft.com/office/drawing/2014/main" id="{9C62585D-ED76-22E4-0954-486C060AAE4D}"/>
              </a:ext>
            </a:extLst>
          </p:cNvPr>
          <p:cNvSpPr txBox="1"/>
          <p:nvPr/>
        </p:nvSpPr>
        <p:spPr>
          <a:xfrm>
            <a:off x="4227728" y="4099829"/>
            <a:ext cx="1985543" cy="230832"/>
          </a:xfrm>
          <a:prstGeom prst="rect">
            <a:avLst/>
          </a:prstGeom>
          <a:noFill/>
        </p:spPr>
        <p:txBody>
          <a:bodyPr wrap="square" rtlCol="0">
            <a:spAutoFit/>
          </a:bodyPr>
          <a:lstStyle/>
          <a:p>
            <a:r>
              <a:rPr lang="en-US" altLang="ko-KR" sz="900"/>
              <a:t>step # in sub-frame without max. duty</a:t>
            </a:r>
            <a:endParaRPr lang="ko-KR" altLang="en-US" sz="900"/>
          </a:p>
        </p:txBody>
      </p:sp>
      <p:graphicFrame>
        <p:nvGraphicFramePr>
          <p:cNvPr id="19" name="표 18">
            <a:extLst>
              <a:ext uri="{FF2B5EF4-FFF2-40B4-BE49-F238E27FC236}">
                <a16:creationId xmlns:a16="http://schemas.microsoft.com/office/drawing/2014/main" id="{9F863215-FB99-F4E9-2880-94439E2CEE38}"/>
              </a:ext>
            </a:extLst>
          </p:cNvPr>
          <p:cNvGraphicFramePr>
            <a:graphicFrameLocks noGrp="1"/>
          </p:cNvGraphicFramePr>
          <p:nvPr>
            <p:extLst>
              <p:ext uri="{D42A27DB-BD31-4B8C-83A1-F6EECF244321}">
                <p14:modId xmlns:p14="http://schemas.microsoft.com/office/powerpoint/2010/main" val="409788518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sub-</a:t>
                      </a:r>
                      <a:br>
                        <a:rPr lang="en-US" sz="700" b="0" i="0" u="none" strike="noStrike">
                          <a:solidFill>
                            <a:srgbClr val="000000"/>
                          </a:solidFill>
                          <a:effectLst/>
                          <a:latin typeface="Arial" panose="020B0604020202020204" pitchFamily="34" charset="0"/>
                          <a:ea typeface="맑은 고딕" panose="020B0503020000020004" pitchFamily="50" charset="-127"/>
                        </a:rPr>
                      </a:br>
                      <a:r>
                        <a:rPr lang="en-US" sz="700" b="0" i="0" u="none" strike="noStrike">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0</a:t>
                      </a:r>
                      <a:br>
                        <a:rPr lang="en-US" sz="700" b="0" i="0" u="none" strike="noStrike">
                          <a:solidFill>
                            <a:srgbClr val="000000"/>
                          </a:solidFill>
                          <a:effectLst/>
                          <a:latin typeface="Arial" panose="020B0604020202020204" pitchFamily="34" charset="0"/>
                          <a:ea typeface="맑은 고딕" panose="020B0503020000020004" pitchFamily="50" charset="-127"/>
                        </a:rPr>
                      </a:br>
                      <a:r>
                        <a:rPr lang="en-US" sz="700" b="0" i="0" u="none" strike="noStrike">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1</a:t>
                      </a:r>
                      <a:br>
                        <a:rPr lang="en-US" sz="700" b="0" i="0" u="none" strike="noStrike">
                          <a:solidFill>
                            <a:srgbClr val="000000"/>
                          </a:solidFill>
                          <a:effectLst/>
                          <a:latin typeface="Arial" panose="020B0604020202020204" pitchFamily="34" charset="0"/>
                          <a:ea typeface="맑은 고딕" panose="020B0503020000020004" pitchFamily="50" charset="-127"/>
                        </a:rPr>
                      </a:br>
                      <a:r>
                        <a:rPr lang="en-US" sz="700" b="0" i="0" u="none" strike="noStrike">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649A77B1-12FC-E25F-E078-A19C3B7CD20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A75925-4668-55E6-EACB-FA7F9BC21085}"/>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BCC06B23-F551-F495-6384-FAFB84AE4DCF}"/>
              </a:ext>
            </a:extLst>
          </p:cNvPr>
          <p:cNvSpPr txBox="1"/>
          <p:nvPr/>
        </p:nvSpPr>
        <p:spPr>
          <a:xfrm>
            <a:off x="399458" y="775809"/>
            <a:ext cx="604799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Functional Description</a:t>
            </a:r>
          </a:p>
        </p:txBody>
      </p:sp>
      <p:sp>
        <p:nvSpPr>
          <p:cNvPr id="147" name="TextBox 146">
            <a:extLst>
              <a:ext uri="{FF2B5EF4-FFF2-40B4-BE49-F238E27FC236}">
                <a16:creationId xmlns:a16="http://schemas.microsoft.com/office/drawing/2014/main" id="{33AC622E-F69F-9E5A-620E-7F66A5BCF37E}"/>
              </a:ext>
            </a:extLst>
          </p:cNvPr>
          <p:cNvSpPr txBox="1"/>
          <p:nvPr/>
        </p:nvSpPr>
        <p:spPr>
          <a:xfrm>
            <a:off x="407554" y="1866772"/>
            <a:ext cx="6047999" cy="1077218"/>
          </a:xfrm>
          <a:prstGeom prst="rect">
            <a:avLst/>
          </a:prstGeom>
          <a:noFill/>
        </p:spPr>
        <p:txBody>
          <a:bodyPr wrap="square" lIns="0" tIns="0" rIns="36000" bIns="0" rtlCol="0">
            <a:spAutoFit/>
          </a:bodyPr>
          <a:lstStyle/>
          <a:p>
            <a:pPr algn="just"/>
            <a:r>
              <a:rPr lang="en-US" altLang="ko-KR" sz="1000">
                <a:latin typeface="Arial" panose="020B0604020202020204" pitchFamily="34" charset="0"/>
                <a:cs typeface="Arial" panose="020B0604020202020204" pitchFamily="34" charset="0"/>
              </a:rPr>
              <a:t>The ID601 supports three LEDs(red, green, blue) dimming. Type-1 allows for time-division drive of three LEDs(red, green, blue) per channel. The three LEDs can be configured for different RGB colors, and the IC603 sets the time-division drive times for each RGB LED within a frame and transmits them to the ID601 as SVI signals.</a:t>
            </a:r>
          </a:p>
          <a:p>
            <a:pPr algn="just"/>
            <a:r>
              <a:rPr lang="en-US" altLang="ko-KR" sz="1000">
                <a:latin typeface="Arial" panose="020B0604020202020204" pitchFamily="34" charset="0"/>
                <a:cs typeface="Arial" panose="020B0604020202020204" pitchFamily="34" charset="0"/>
              </a:rPr>
              <a:t>The ID601 can independently control the current of each RGB LED by driving VREF1/2/3 at separate SVI intervals. Meanwhile, the IC603 provides external VLED selection signals (GATE1/2/3) for time-division drive.</a:t>
            </a:r>
          </a:p>
        </p:txBody>
      </p:sp>
      <p:sp>
        <p:nvSpPr>
          <p:cNvPr id="148" name="TextBox 147">
            <a:extLst>
              <a:ext uri="{FF2B5EF4-FFF2-40B4-BE49-F238E27FC236}">
                <a16:creationId xmlns:a16="http://schemas.microsoft.com/office/drawing/2014/main" id="{382EF4DC-6D0B-90DF-1B20-6B6EF4F841D0}"/>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RGB PWM Dimming </a:t>
            </a:r>
          </a:p>
        </p:txBody>
      </p:sp>
      <p:sp>
        <p:nvSpPr>
          <p:cNvPr id="214" name="TextBox 213">
            <a:extLst>
              <a:ext uri="{FF2B5EF4-FFF2-40B4-BE49-F238E27FC236}">
                <a16:creationId xmlns:a16="http://schemas.microsoft.com/office/drawing/2014/main" id="{CD7E7CA0-8943-0AA4-82A4-7E2C85DF074A}"/>
              </a:ext>
            </a:extLst>
          </p:cNvPr>
          <p:cNvSpPr txBox="1"/>
          <p:nvPr/>
        </p:nvSpPr>
        <p:spPr>
          <a:xfrm>
            <a:off x="403505" y="1624593"/>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TYPE-1 (RGB)</a:t>
            </a:r>
          </a:p>
        </p:txBody>
      </p:sp>
      <p:sp>
        <p:nvSpPr>
          <p:cNvPr id="222" name="TextBox 221">
            <a:extLst>
              <a:ext uri="{FF2B5EF4-FFF2-40B4-BE49-F238E27FC236}">
                <a16:creationId xmlns:a16="http://schemas.microsoft.com/office/drawing/2014/main" id="{8CAD28A4-17F2-6C85-2F83-09AA438EBA4A}"/>
              </a:ext>
            </a:extLst>
          </p:cNvPr>
          <p:cNvSpPr txBox="1"/>
          <p:nvPr/>
        </p:nvSpPr>
        <p:spPr>
          <a:xfrm>
            <a:off x="1225104" y="8751705"/>
            <a:ext cx="430823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a:t>  Figure. 6  PWM Dimming sequence @ LD_DIR = 1, SYNCMODE = 0, TYPE-1</a:t>
            </a:r>
          </a:p>
        </p:txBody>
      </p:sp>
      <p:grpSp>
        <p:nvGrpSpPr>
          <p:cNvPr id="94" name="그룹 93">
            <a:extLst>
              <a:ext uri="{FF2B5EF4-FFF2-40B4-BE49-F238E27FC236}">
                <a16:creationId xmlns:a16="http://schemas.microsoft.com/office/drawing/2014/main" id="{EF6CF31C-9C3D-ACF4-33F9-BE0A8900A306}"/>
              </a:ext>
            </a:extLst>
          </p:cNvPr>
          <p:cNvGrpSpPr/>
          <p:nvPr/>
        </p:nvGrpSpPr>
        <p:grpSpPr>
          <a:xfrm>
            <a:off x="2096062" y="4285915"/>
            <a:ext cx="3005479" cy="2104030"/>
            <a:chOff x="2096062" y="4285915"/>
            <a:chExt cx="3005479" cy="2104030"/>
          </a:xfrm>
        </p:grpSpPr>
        <p:sp>
          <p:nvSpPr>
            <p:cNvPr id="5" name="직사각형 4">
              <a:extLst>
                <a:ext uri="{FF2B5EF4-FFF2-40B4-BE49-F238E27FC236}">
                  <a16:creationId xmlns:a16="http://schemas.microsoft.com/office/drawing/2014/main" id="{094F65D6-D262-E9EB-8061-B6128F1ACB29}"/>
                </a:ext>
              </a:extLst>
            </p:cNvPr>
            <p:cNvSpPr/>
            <p:nvPr/>
          </p:nvSpPr>
          <p:spPr>
            <a:xfrm>
              <a:off x="3509510" y="5685751"/>
              <a:ext cx="1413175" cy="528825"/>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2C2B1A3-AE03-E64C-4020-732A0FDB2328}"/>
                </a:ext>
              </a:extLst>
            </p:cNvPr>
            <p:cNvCxnSpPr>
              <a:cxnSpLocks/>
            </p:cNvCxnSpPr>
            <p:nvPr/>
          </p:nvCxnSpPr>
          <p:spPr>
            <a:xfrm>
              <a:off x="3198901" y="5276210"/>
              <a:ext cx="0" cy="521340"/>
            </a:xfrm>
            <a:prstGeom prst="line">
              <a:avLst/>
            </a:prstGeom>
            <a:noFill/>
            <a:ln w="6350" cap="flat" cmpd="sng" algn="ctr">
              <a:solidFill>
                <a:sysClr val="windowText" lastClr="000000"/>
              </a:solidFill>
              <a:prstDash val="solid"/>
              <a:miter lim="800000"/>
            </a:ln>
            <a:effectLst/>
          </p:spPr>
        </p:cxnSp>
        <p:sp>
          <p:nvSpPr>
            <p:cNvPr id="7" name="이등변 삼각형 6">
              <a:extLst>
                <a:ext uri="{FF2B5EF4-FFF2-40B4-BE49-F238E27FC236}">
                  <a16:creationId xmlns:a16="http://schemas.microsoft.com/office/drawing/2014/main" id="{68D1D64B-28FF-F3FE-4757-ADCBA6331749}"/>
                </a:ext>
              </a:extLst>
            </p:cNvPr>
            <p:cNvSpPr/>
            <p:nvPr/>
          </p:nvSpPr>
          <p:spPr>
            <a:xfrm rot="10800000">
              <a:off x="3573354" y="5253432"/>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DB6159F8-094C-230B-1FB7-CC0D976D9B5B}"/>
                </a:ext>
              </a:extLst>
            </p:cNvPr>
            <p:cNvCxnSpPr/>
            <p:nvPr/>
          </p:nvCxnSpPr>
          <p:spPr>
            <a:xfrm>
              <a:off x="3567238" y="5355732"/>
              <a:ext cx="179253" cy="0"/>
            </a:xfrm>
            <a:prstGeom prst="line">
              <a:avLst/>
            </a:prstGeom>
            <a:noFill/>
            <a:ln w="19050" cap="flat" cmpd="sng" algn="ctr">
              <a:solidFill>
                <a:sysClr val="windowText" lastClr="000000"/>
              </a:solidFill>
              <a:prstDash val="solid"/>
              <a:miter lim="800000"/>
            </a:ln>
            <a:effectLst/>
          </p:spPr>
        </p:cxnSp>
        <p:sp>
          <p:nvSpPr>
            <p:cNvPr id="9" name="이등변 삼각형 8">
              <a:extLst>
                <a:ext uri="{FF2B5EF4-FFF2-40B4-BE49-F238E27FC236}">
                  <a16:creationId xmlns:a16="http://schemas.microsoft.com/office/drawing/2014/main" id="{0B444736-3F51-BC40-9A25-59DE10013566}"/>
                </a:ext>
              </a:extLst>
            </p:cNvPr>
            <p:cNvSpPr/>
            <p:nvPr/>
          </p:nvSpPr>
          <p:spPr>
            <a:xfrm rot="10800000">
              <a:off x="3763443" y="5251513"/>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01FD643B-45E6-3E09-2F6F-390D676E9A35}"/>
                </a:ext>
              </a:extLst>
            </p:cNvPr>
            <p:cNvCxnSpPr/>
            <p:nvPr/>
          </p:nvCxnSpPr>
          <p:spPr>
            <a:xfrm>
              <a:off x="3763798" y="5355731"/>
              <a:ext cx="179253" cy="0"/>
            </a:xfrm>
            <a:prstGeom prst="line">
              <a:avLst/>
            </a:prstGeom>
            <a:noFill/>
            <a:ln w="19050" cap="flat" cmpd="sng" algn="ctr">
              <a:solidFill>
                <a:sysClr val="windowText" lastClr="000000"/>
              </a:solidFill>
              <a:prstDash val="solid"/>
              <a:miter lim="800000"/>
            </a:ln>
            <a:effectLst/>
          </p:spPr>
        </p:cxnSp>
        <p:sp>
          <p:nvSpPr>
            <p:cNvPr id="11" name="이등변 삼각형 10">
              <a:extLst>
                <a:ext uri="{FF2B5EF4-FFF2-40B4-BE49-F238E27FC236}">
                  <a16:creationId xmlns:a16="http://schemas.microsoft.com/office/drawing/2014/main" id="{1A57B49D-5265-10FC-9B1C-ECE85F00D8AF}"/>
                </a:ext>
              </a:extLst>
            </p:cNvPr>
            <p:cNvSpPr/>
            <p:nvPr/>
          </p:nvSpPr>
          <p:spPr>
            <a:xfrm rot="10800000">
              <a:off x="3957698" y="524992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2C3A7CC7-BB14-FD17-D619-BB0B02B33C3E}"/>
                </a:ext>
              </a:extLst>
            </p:cNvPr>
            <p:cNvCxnSpPr/>
            <p:nvPr/>
          </p:nvCxnSpPr>
          <p:spPr>
            <a:xfrm>
              <a:off x="3962222" y="5354468"/>
              <a:ext cx="179253"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D4ADB17A-BE4C-D5EE-9E1C-D3D3E5BBA0C7}"/>
                </a:ext>
              </a:extLst>
            </p:cNvPr>
            <p:cNvCxnSpPr>
              <a:cxnSpLocks/>
            </p:cNvCxnSpPr>
            <p:nvPr/>
          </p:nvCxnSpPr>
          <p:spPr>
            <a:xfrm>
              <a:off x="3244850" y="5132559"/>
              <a:ext cx="1533809" cy="0"/>
            </a:xfrm>
            <a:prstGeom prst="line">
              <a:avLst/>
            </a:prstGeom>
            <a:noFill/>
            <a:ln w="1270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CE93D9AB-AD90-DF8E-3E54-48D485F6A629}"/>
                </a:ext>
              </a:extLst>
            </p:cNvPr>
            <p:cNvCxnSpPr>
              <a:cxnSpLocks/>
            </p:cNvCxnSpPr>
            <p:nvPr/>
          </p:nvCxnSpPr>
          <p:spPr>
            <a:xfrm>
              <a:off x="2247900" y="4554664"/>
              <a:ext cx="421650" cy="0"/>
            </a:xfrm>
            <a:prstGeom prst="line">
              <a:avLst/>
            </a:prstGeom>
            <a:noFill/>
            <a:ln w="1270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32066DAA-09ED-47EA-B09C-9709A80434FA}"/>
                </a:ext>
              </a:extLst>
            </p:cNvPr>
            <p:cNvCxnSpPr/>
            <p:nvPr/>
          </p:nvCxnSpPr>
          <p:spPr>
            <a:xfrm>
              <a:off x="3065983" y="5203810"/>
              <a:ext cx="264693"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D305987A-B9B1-41ED-2D49-F5D4B87264DA}"/>
                </a:ext>
              </a:extLst>
            </p:cNvPr>
            <p:cNvCxnSpPr/>
            <p:nvPr/>
          </p:nvCxnSpPr>
          <p:spPr>
            <a:xfrm>
              <a:off x="3131015" y="5266623"/>
              <a:ext cx="132346"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C7FE31FC-34E6-CCB3-697B-76C43EB683DF}"/>
                </a:ext>
              </a:extLst>
            </p:cNvPr>
            <p:cNvCxnSpPr/>
            <p:nvPr/>
          </p:nvCxnSpPr>
          <p:spPr>
            <a:xfrm rot="5400000" flipH="1" flipV="1">
              <a:off x="3108457" y="5165129"/>
              <a:ext cx="63117"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7F92F8DC-CA6F-F2FF-57AE-58185CE82448}"/>
                </a:ext>
              </a:extLst>
            </p:cNvPr>
            <p:cNvCxnSpPr/>
            <p:nvPr/>
          </p:nvCxnSpPr>
          <p:spPr>
            <a:xfrm rot="5400000">
              <a:off x="3219343" y="5163539"/>
              <a:ext cx="63117"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4B0DBDB4-71F9-5259-AF53-B70FC276CBA9}"/>
                </a:ext>
              </a:extLst>
            </p:cNvPr>
            <p:cNvCxnSpPr/>
            <p:nvPr/>
          </p:nvCxnSpPr>
          <p:spPr>
            <a:xfrm>
              <a:off x="3243561" y="5133071"/>
              <a:ext cx="132346"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D539D821-18D8-C38A-9804-19FC12236D1B}"/>
                </a:ext>
              </a:extLst>
            </p:cNvPr>
            <p:cNvCxnSpPr/>
            <p:nvPr/>
          </p:nvCxnSpPr>
          <p:spPr>
            <a:xfrm>
              <a:off x="3017981" y="5135457"/>
              <a:ext cx="132346"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C96A525-D41A-8445-9CCF-F7149E092D52}"/>
                </a:ext>
              </a:extLst>
            </p:cNvPr>
            <p:cNvCxnSpPr/>
            <p:nvPr/>
          </p:nvCxnSpPr>
          <p:spPr>
            <a:xfrm>
              <a:off x="2861347" y="4926572"/>
              <a:ext cx="264693"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281F958F-BF76-F6B7-0D6F-5A52E4B84663}"/>
                </a:ext>
              </a:extLst>
            </p:cNvPr>
            <p:cNvCxnSpPr/>
            <p:nvPr/>
          </p:nvCxnSpPr>
          <p:spPr>
            <a:xfrm>
              <a:off x="2926378" y="4989384"/>
              <a:ext cx="132346"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F15ABA8E-7535-7BB9-F01F-341043C843ED}"/>
                </a:ext>
              </a:extLst>
            </p:cNvPr>
            <p:cNvCxnSpPr/>
            <p:nvPr/>
          </p:nvCxnSpPr>
          <p:spPr>
            <a:xfrm rot="5400000" flipH="1" flipV="1">
              <a:off x="2903820" y="4887890"/>
              <a:ext cx="63117"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EE5AB1BF-6B0F-E8F1-766F-7F1906B415A7}"/>
                </a:ext>
              </a:extLst>
            </p:cNvPr>
            <p:cNvCxnSpPr/>
            <p:nvPr/>
          </p:nvCxnSpPr>
          <p:spPr>
            <a:xfrm rot="5400000">
              <a:off x="3014706" y="4886300"/>
              <a:ext cx="63117"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397F6068-20D2-115C-D20B-883F03631858}"/>
                </a:ext>
              </a:extLst>
            </p:cNvPr>
            <p:cNvCxnSpPr/>
            <p:nvPr/>
          </p:nvCxnSpPr>
          <p:spPr>
            <a:xfrm>
              <a:off x="3038925" y="4855832"/>
              <a:ext cx="132346" cy="0"/>
            </a:xfrm>
            <a:prstGeom prst="line">
              <a:avLst/>
            </a:prstGeom>
            <a:noFill/>
            <a:ln w="1905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20D697C5-4683-E6CF-E4DF-D984F88E63D5}"/>
                </a:ext>
              </a:extLst>
            </p:cNvPr>
            <p:cNvCxnSpPr/>
            <p:nvPr/>
          </p:nvCxnSpPr>
          <p:spPr>
            <a:xfrm>
              <a:off x="2813345" y="4858218"/>
              <a:ext cx="132346" cy="0"/>
            </a:xfrm>
            <a:prstGeom prst="line">
              <a:avLst/>
            </a:prstGeom>
            <a:noFill/>
            <a:ln w="1905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4F25B94D-32D9-E55A-E648-00C976EAB9BE}"/>
                </a:ext>
              </a:extLst>
            </p:cNvPr>
            <p:cNvCxnSpPr/>
            <p:nvPr/>
          </p:nvCxnSpPr>
          <p:spPr>
            <a:xfrm>
              <a:off x="2591860" y="4629151"/>
              <a:ext cx="264693" cy="0"/>
            </a:xfrm>
            <a:prstGeom prst="line">
              <a:avLst/>
            </a:prstGeom>
            <a:noFill/>
            <a:ln w="1905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164F478D-F732-5BFD-6501-789782BDAADB}"/>
                </a:ext>
              </a:extLst>
            </p:cNvPr>
            <p:cNvCxnSpPr/>
            <p:nvPr/>
          </p:nvCxnSpPr>
          <p:spPr>
            <a:xfrm>
              <a:off x="2656892" y="4689583"/>
              <a:ext cx="132346" cy="0"/>
            </a:xfrm>
            <a:prstGeom prst="line">
              <a:avLst/>
            </a:prstGeom>
            <a:noFill/>
            <a:ln w="1905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4F5A938D-E299-C287-BBD6-3BB329E85626}"/>
                </a:ext>
              </a:extLst>
            </p:cNvPr>
            <p:cNvCxnSpPr/>
            <p:nvPr/>
          </p:nvCxnSpPr>
          <p:spPr>
            <a:xfrm rot="5400000" flipH="1" flipV="1">
              <a:off x="2634334" y="4588089"/>
              <a:ext cx="63117" cy="0"/>
            </a:xfrm>
            <a:prstGeom prst="line">
              <a:avLst/>
            </a:prstGeom>
            <a:noFill/>
            <a:ln w="1905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581EC124-695E-784A-135A-F6F37C3E3394}"/>
                </a:ext>
              </a:extLst>
            </p:cNvPr>
            <p:cNvCxnSpPr/>
            <p:nvPr/>
          </p:nvCxnSpPr>
          <p:spPr>
            <a:xfrm rot="5400000">
              <a:off x="2745220" y="4586499"/>
              <a:ext cx="63117" cy="0"/>
            </a:xfrm>
            <a:prstGeom prst="line">
              <a:avLst/>
            </a:prstGeom>
            <a:noFill/>
            <a:ln w="1905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7E920350-8EDA-C909-2FCE-82EE3401E9B0}"/>
                </a:ext>
              </a:extLst>
            </p:cNvPr>
            <p:cNvCxnSpPr/>
            <p:nvPr/>
          </p:nvCxnSpPr>
          <p:spPr>
            <a:xfrm>
              <a:off x="2767057" y="4556031"/>
              <a:ext cx="132346" cy="0"/>
            </a:xfrm>
            <a:prstGeom prst="line">
              <a:avLst/>
            </a:prstGeom>
            <a:noFill/>
            <a:ln w="1905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D4D16681-0BC2-DBD8-808B-69AB994C023C}"/>
                </a:ext>
              </a:extLst>
            </p:cNvPr>
            <p:cNvCxnSpPr/>
            <p:nvPr/>
          </p:nvCxnSpPr>
          <p:spPr>
            <a:xfrm>
              <a:off x="2543859" y="4558417"/>
              <a:ext cx="132346" cy="0"/>
            </a:xfrm>
            <a:prstGeom prst="line">
              <a:avLst/>
            </a:prstGeom>
            <a:noFill/>
            <a:ln w="1905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F445684F-4B3D-EF9E-42F8-30C29936E0ED}"/>
                </a:ext>
              </a:extLst>
            </p:cNvPr>
            <p:cNvCxnSpPr/>
            <p:nvPr/>
          </p:nvCxnSpPr>
          <p:spPr>
            <a:xfrm flipH="1" flipV="1">
              <a:off x="3658175" y="5361257"/>
              <a:ext cx="0" cy="126234"/>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231612B1-C9B5-457E-9031-D92A174D5A17}"/>
                </a:ext>
              </a:extLst>
            </p:cNvPr>
            <p:cNvCxnSpPr/>
            <p:nvPr/>
          </p:nvCxnSpPr>
          <p:spPr>
            <a:xfrm flipH="1" flipV="1">
              <a:off x="3850507" y="5363641"/>
              <a:ext cx="0" cy="315586"/>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10A9B90C-D469-4836-A6AC-5350414F6793}"/>
                </a:ext>
              </a:extLst>
            </p:cNvPr>
            <p:cNvCxnSpPr/>
            <p:nvPr/>
          </p:nvCxnSpPr>
          <p:spPr>
            <a:xfrm flipH="1" flipV="1">
              <a:off x="4044766" y="5358074"/>
              <a:ext cx="0" cy="126234"/>
            </a:xfrm>
            <a:prstGeom prst="line">
              <a:avLst/>
            </a:prstGeom>
            <a:noFill/>
            <a:ln w="1270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9FED52FC-A752-F33F-DB36-2F825B74C0CA}"/>
                </a:ext>
              </a:extLst>
            </p:cNvPr>
            <p:cNvCxnSpPr/>
            <p:nvPr/>
          </p:nvCxnSpPr>
          <p:spPr>
            <a:xfrm flipH="1" flipV="1">
              <a:off x="3659583" y="4552556"/>
              <a:ext cx="0" cy="698753"/>
            </a:xfrm>
            <a:prstGeom prst="line">
              <a:avLst/>
            </a:prstGeom>
            <a:noFill/>
            <a:ln w="1270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2E64F0B5-4CF4-CA32-B6BF-0FE875504B73}"/>
                </a:ext>
              </a:extLst>
            </p:cNvPr>
            <p:cNvCxnSpPr/>
            <p:nvPr/>
          </p:nvCxnSpPr>
          <p:spPr>
            <a:xfrm flipH="1" flipV="1">
              <a:off x="3853008" y="4841180"/>
              <a:ext cx="0" cy="410261"/>
            </a:xfrm>
            <a:prstGeom prst="line">
              <a:avLst/>
            </a:prstGeom>
            <a:noFill/>
            <a:ln w="12700" cap="flat" cmpd="sng" algn="ctr">
              <a:solidFill>
                <a:sysClr val="windowText" lastClr="000000"/>
              </a:solidFill>
              <a:prstDash val="solid"/>
              <a:miter lim="800000"/>
            </a:ln>
            <a:effectLst/>
          </p:spPr>
        </p:cxnSp>
        <p:cxnSp>
          <p:nvCxnSpPr>
            <p:cNvPr id="38" name="직선 연결선 37">
              <a:extLst>
                <a:ext uri="{FF2B5EF4-FFF2-40B4-BE49-F238E27FC236}">
                  <a16:creationId xmlns:a16="http://schemas.microsoft.com/office/drawing/2014/main" id="{521475F1-EEF9-1A85-076A-0050F2394881}"/>
                </a:ext>
              </a:extLst>
            </p:cNvPr>
            <p:cNvCxnSpPr/>
            <p:nvPr/>
          </p:nvCxnSpPr>
          <p:spPr>
            <a:xfrm flipV="1">
              <a:off x="4038930" y="5121142"/>
              <a:ext cx="0" cy="122470"/>
            </a:xfrm>
            <a:prstGeom prst="line">
              <a:avLst/>
            </a:prstGeom>
            <a:noFill/>
            <a:ln w="12700" cap="flat" cmpd="sng" algn="ctr">
              <a:solidFill>
                <a:sysClr val="windowText" lastClr="000000"/>
              </a:solidFill>
              <a:prstDash val="solid"/>
              <a:miter lim="800000"/>
            </a:ln>
            <a:effectLst/>
          </p:spPr>
        </p:cxnSp>
        <p:cxnSp>
          <p:nvCxnSpPr>
            <p:cNvPr id="39" name="직선 연결선 38">
              <a:extLst>
                <a:ext uri="{FF2B5EF4-FFF2-40B4-BE49-F238E27FC236}">
                  <a16:creationId xmlns:a16="http://schemas.microsoft.com/office/drawing/2014/main" id="{7634D114-8EC5-1AAB-B8FE-53DEDA38FF77}"/>
                </a:ext>
              </a:extLst>
            </p:cNvPr>
            <p:cNvCxnSpPr/>
            <p:nvPr/>
          </p:nvCxnSpPr>
          <p:spPr>
            <a:xfrm>
              <a:off x="3157630" y="4854464"/>
              <a:ext cx="1422726" cy="0"/>
            </a:xfrm>
            <a:prstGeom prst="line">
              <a:avLst/>
            </a:prstGeom>
            <a:noFill/>
            <a:ln w="12700" cap="flat" cmpd="sng" algn="ctr">
              <a:solidFill>
                <a:sysClr val="windowText" lastClr="000000"/>
              </a:solidFill>
              <a:prstDash val="solid"/>
              <a:miter lim="800000"/>
            </a:ln>
            <a:effectLst/>
          </p:spPr>
        </p:cxnSp>
        <p:cxnSp>
          <p:nvCxnSpPr>
            <p:cNvPr id="40" name="직선 연결선 39">
              <a:extLst>
                <a:ext uri="{FF2B5EF4-FFF2-40B4-BE49-F238E27FC236}">
                  <a16:creationId xmlns:a16="http://schemas.microsoft.com/office/drawing/2014/main" id="{715FCE9B-EB35-75F4-BDA4-C3826B31CA6F}"/>
                </a:ext>
              </a:extLst>
            </p:cNvPr>
            <p:cNvCxnSpPr>
              <a:cxnSpLocks/>
            </p:cNvCxnSpPr>
            <p:nvPr/>
          </p:nvCxnSpPr>
          <p:spPr>
            <a:xfrm>
              <a:off x="2897981" y="4554890"/>
              <a:ext cx="1485833" cy="0"/>
            </a:xfrm>
            <a:prstGeom prst="line">
              <a:avLst/>
            </a:prstGeom>
            <a:noFill/>
            <a:ln w="12700" cap="flat" cmpd="sng" algn="ctr">
              <a:solidFill>
                <a:sysClr val="windowText" lastClr="000000"/>
              </a:solidFill>
              <a:prstDash val="solid"/>
              <a:miter lim="800000"/>
            </a:ln>
            <a:effectLst/>
          </p:spPr>
        </p:cxnSp>
        <p:cxnSp>
          <p:nvCxnSpPr>
            <p:cNvPr id="41" name="직선 연결선 40">
              <a:extLst>
                <a:ext uri="{FF2B5EF4-FFF2-40B4-BE49-F238E27FC236}">
                  <a16:creationId xmlns:a16="http://schemas.microsoft.com/office/drawing/2014/main" id="{CF66C762-5FDE-3E35-300E-720C4FEF89D0}"/>
                </a:ext>
              </a:extLst>
            </p:cNvPr>
            <p:cNvCxnSpPr>
              <a:cxnSpLocks/>
            </p:cNvCxnSpPr>
            <p:nvPr/>
          </p:nvCxnSpPr>
          <p:spPr>
            <a:xfrm>
              <a:off x="2255044" y="5135176"/>
              <a:ext cx="762195" cy="0"/>
            </a:xfrm>
            <a:prstGeom prst="line">
              <a:avLst/>
            </a:prstGeom>
            <a:noFill/>
            <a:ln w="12700" cap="flat" cmpd="sng" algn="ctr">
              <a:solidFill>
                <a:sysClr val="windowText" lastClr="000000"/>
              </a:solidFill>
              <a:prstDash val="solid"/>
              <a:miter lim="800000"/>
            </a:ln>
            <a:effectLst/>
          </p:spPr>
        </p:cxnSp>
        <p:cxnSp>
          <p:nvCxnSpPr>
            <p:cNvPr id="42" name="직선 연결선 41">
              <a:extLst>
                <a:ext uri="{FF2B5EF4-FFF2-40B4-BE49-F238E27FC236}">
                  <a16:creationId xmlns:a16="http://schemas.microsoft.com/office/drawing/2014/main" id="{BF1A8409-617E-5AAB-2B18-289FFB13F470}"/>
                </a:ext>
              </a:extLst>
            </p:cNvPr>
            <p:cNvCxnSpPr>
              <a:cxnSpLocks/>
            </p:cNvCxnSpPr>
            <p:nvPr/>
          </p:nvCxnSpPr>
          <p:spPr>
            <a:xfrm>
              <a:off x="2252663" y="4857410"/>
              <a:ext cx="633446" cy="0"/>
            </a:xfrm>
            <a:prstGeom prst="line">
              <a:avLst/>
            </a:prstGeom>
            <a:noFill/>
            <a:ln w="12700" cap="flat" cmpd="sng" algn="ctr">
              <a:solidFill>
                <a:sysClr val="windowText" lastClr="000000"/>
              </a:solidFill>
              <a:prstDash val="solid"/>
              <a:miter lim="800000"/>
            </a:ln>
            <a:effectLst/>
          </p:spPr>
        </p:cxnSp>
        <p:cxnSp>
          <p:nvCxnSpPr>
            <p:cNvPr id="43" name="직선 연결선 42">
              <a:extLst>
                <a:ext uri="{FF2B5EF4-FFF2-40B4-BE49-F238E27FC236}">
                  <a16:creationId xmlns:a16="http://schemas.microsoft.com/office/drawing/2014/main" id="{85DC98F8-E200-E366-45CA-A86D7DAD8701}"/>
                </a:ext>
              </a:extLst>
            </p:cNvPr>
            <p:cNvCxnSpPr/>
            <p:nvPr/>
          </p:nvCxnSpPr>
          <p:spPr>
            <a:xfrm>
              <a:off x="3651466" y="5484516"/>
              <a:ext cx="397040" cy="0"/>
            </a:xfrm>
            <a:prstGeom prst="line">
              <a:avLst/>
            </a:prstGeom>
            <a:noFill/>
            <a:ln w="12700" cap="flat" cmpd="sng" algn="ctr">
              <a:solidFill>
                <a:sysClr val="windowText" lastClr="000000"/>
              </a:solidFill>
              <a:prstDash val="solid"/>
              <a:miter lim="800000"/>
            </a:ln>
            <a:effectLst/>
          </p:spPr>
        </p:cxnSp>
        <p:cxnSp>
          <p:nvCxnSpPr>
            <p:cNvPr id="44" name="직선 연결선 43">
              <a:extLst>
                <a:ext uri="{FF2B5EF4-FFF2-40B4-BE49-F238E27FC236}">
                  <a16:creationId xmlns:a16="http://schemas.microsoft.com/office/drawing/2014/main" id="{187D7C34-9C19-99A9-4BDE-6424C8ED1F0A}"/>
                </a:ext>
              </a:extLst>
            </p:cNvPr>
            <p:cNvCxnSpPr/>
            <p:nvPr/>
          </p:nvCxnSpPr>
          <p:spPr>
            <a:xfrm flipH="1">
              <a:off x="2993109" y="4984360"/>
              <a:ext cx="0" cy="615391"/>
            </a:xfrm>
            <a:prstGeom prst="line">
              <a:avLst/>
            </a:prstGeom>
            <a:noFill/>
            <a:ln w="6350" cap="flat" cmpd="sng" algn="ctr">
              <a:solidFill>
                <a:sysClr val="windowText" lastClr="000000"/>
              </a:solidFill>
              <a:prstDash val="solid"/>
              <a:miter lim="800000"/>
            </a:ln>
            <a:effectLst/>
          </p:spPr>
        </p:cxnSp>
        <p:cxnSp>
          <p:nvCxnSpPr>
            <p:cNvPr id="45" name="직선 연결선 44">
              <a:extLst>
                <a:ext uri="{FF2B5EF4-FFF2-40B4-BE49-F238E27FC236}">
                  <a16:creationId xmlns:a16="http://schemas.microsoft.com/office/drawing/2014/main" id="{058B3919-97EE-6605-3B68-7AEDDD3C5049}"/>
                </a:ext>
              </a:extLst>
            </p:cNvPr>
            <p:cNvCxnSpPr>
              <a:cxnSpLocks/>
            </p:cNvCxnSpPr>
            <p:nvPr/>
          </p:nvCxnSpPr>
          <p:spPr>
            <a:xfrm>
              <a:off x="2725611" y="4696490"/>
              <a:ext cx="0" cy="707360"/>
            </a:xfrm>
            <a:prstGeom prst="line">
              <a:avLst/>
            </a:prstGeom>
            <a:noFill/>
            <a:ln w="6350" cap="flat" cmpd="sng" algn="ctr">
              <a:solidFill>
                <a:sysClr val="windowText" lastClr="000000"/>
              </a:solidFill>
              <a:prstDash val="solid"/>
              <a:miter lim="800000"/>
            </a:ln>
            <a:effectLst/>
          </p:spPr>
        </p:cxnSp>
        <p:cxnSp>
          <p:nvCxnSpPr>
            <p:cNvPr id="46" name="직선 연결선 45">
              <a:extLst>
                <a:ext uri="{FF2B5EF4-FFF2-40B4-BE49-F238E27FC236}">
                  <a16:creationId xmlns:a16="http://schemas.microsoft.com/office/drawing/2014/main" id="{2088DF5D-F478-3A55-0E10-256DB08DFE98}"/>
                </a:ext>
              </a:extLst>
            </p:cNvPr>
            <p:cNvCxnSpPr/>
            <p:nvPr/>
          </p:nvCxnSpPr>
          <p:spPr>
            <a:xfrm>
              <a:off x="2273407" y="5801060"/>
              <a:ext cx="926426" cy="0"/>
            </a:xfrm>
            <a:prstGeom prst="line">
              <a:avLst/>
            </a:prstGeom>
            <a:noFill/>
            <a:ln w="6350" cap="flat" cmpd="sng" algn="ctr">
              <a:solidFill>
                <a:sysClr val="windowText" lastClr="000000"/>
              </a:solidFill>
              <a:prstDash val="solid"/>
              <a:miter lim="800000"/>
            </a:ln>
            <a:effectLst/>
          </p:spPr>
        </p:cxnSp>
        <p:cxnSp>
          <p:nvCxnSpPr>
            <p:cNvPr id="47" name="직선 연결선 46">
              <a:extLst>
                <a:ext uri="{FF2B5EF4-FFF2-40B4-BE49-F238E27FC236}">
                  <a16:creationId xmlns:a16="http://schemas.microsoft.com/office/drawing/2014/main" id="{A7584350-A235-5900-DC9F-8201A6835162}"/>
                </a:ext>
              </a:extLst>
            </p:cNvPr>
            <p:cNvCxnSpPr>
              <a:cxnSpLocks/>
            </p:cNvCxnSpPr>
            <p:nvPr/>
          </p:nvCxnSpPr>
          <p:spPr>
            <a:xfrm>
              <a:off x="2269752" y="5600665"/>
              <a:ext cx="724273" cy="0"/>
            </a:xfrm>
            <a:prstGeom prst="line">
              <a:avLst/>
            </a:prstGeom>
            <a:noFill/>
            <a:ln w="6350" cap="flat" cmpd="sng" algn="ctr">
              <a:solidFill>
                <a:sysClr val="windowText" lastClr="000000"/>
              </a:solidFill>
              <a:prstDash val="solid"/>
              <a:miter lim="800000"/>
            </a:ln>
            <a:effectLst/>
          </p:spPr>
        </p:cxnSp>
        <p:cxnSp>
          <p:nvCxnSpPr>
            <p:cNvPr id="48" name="직선 연결선 47">
              <a:extLst>
                <a:ext uri="{FF2B5EF4-FFF2-40B4-BE49-F238E27FC236}">
                  <a16:creationId xmlns:a16="http://schemas.microsoft.com/office/drawing/2014/main" id="{80DBFD00-A0EF-42A3-3152-C52942E2E74D}"/>
                </a:ext>
              </a:extLst>
            </p:cNvPr>
            <p:cNvCxnSpPr>
              <a:cxnSpLocks/>
            </p:cNvCxnSpPr>
            <p:nvPr/>
          </p:nvCxnSpPr>
          <p:spPr>
            <a:xfrm>
              <a:off x="2251075" y="5404242"/>
              <a:ext cx="469900" cy="0"/>
            </a:xfrm>
            <a:prstGeom prst="line">
              <a:avLst/>
            </a:prstGeom>
            <a:noFill/>
            <a:ln w="6350" cap="flat" cmpd="sng" algn="ctr">
              <a:solidFill>
                <a:sysClr val="windowText" lastClr="000000"/>
              </a:solidFill>
              <a:prstDash val="solid"/>
              <a:miter lim="800000"/>
            </a:ln>
            <a:effectLst/>
          </p:spPr>
        </p:cxnSp>
        <p:sp>
          <p:nvSpPr>
            <p:cNvPr id="49" name="TextBox 28">
              <a:extLst>
                <a:ext uri="{FF2B5EF4-FFF2-40B4-BE49-F238E27FC236}">
                  <a16:creationId xmlns:a16="http://schemas.microsoft.com/office/drawing/2014/main" id="{4A66B44B-838E-D888-153C-7216582F8E71}"/>
                </a:ext>
              </a:extLst>
            </p:cNvPr>
            <p:cNvSpPr txBox="1"/>
            <p:nvPr/>
          </p:nvSpPr>
          <p:spPr>
            <a:xfrm>
              <a:off x="2261701" y="567418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0" name="TextBox 29">
              <a:extLst>
                <a:ext uri="{FF2B5EF4-FFF2-40B4-BE49-F238E27FC236}">
                  <a16:creationId xmlns:a16="http://schemas.microsoft.com/office/drawing/2014/main" id="{AA3DEBA3-98F9-BAC7-5F71-2A2BD531973D}"/>
                </a:ext>
              </a:extLst>
            </p:cNvPr>
            <p:cNvSpPr txBox="1"/>
            <p:nvPr/>
          </p:nvSpPr>
          <p:spPr>
            <a:xfrm>
              <a:off x="2267377" y="547452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1" name="TextBox 30">
              <a:extLst>
                <a:ext uri="{FF2B5EF4-FFF2-40B4-BE49-F238E27FC236}">
                  <a16:creationId xmlns:a16="http://schemas.microsoft.com/office/drawing/2014/main" id="{E1BB1E2E-D6F6-0B7C-6BDF-C95FF5B08455}"/>
                </a:ext>
              </a:extLst>
            </p:cNvPr>
            <p:cNvSpPr txBox="1"/>
            <p:nvPr/>
          </p:nvSpPr>
          <p:spPr>
            <a:xfrm>
              <a:off x="2262340" y="5265336"/>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2" name="TextBox 31">
              <a:extLst>
                <a:ext uri="{FF2B5EF4-FFF2-40B4-BE49-F238E27FC236}">
                  <a16:creationId xmlns:a16="http://schemas.microsoft.com/office/drawing/2014/main" id="{8158743B-BF17-CF63-486A-D59AD874D618}"/>
                </a:ext>
              </a:extLst>
            </p:cNvPr>
            <p:cNvSpPr txBox="1"/>
            <p:nvPr/>
          </p:nvSpPr>
          <p:spPr>
            <a:xfrm>
              <a:off x="2251291" y="4427991"/>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3" name="TextBox 32">
              <a:extLst>
                <a:ext uri="{FF2B5EF4-FFF2-40B4-BE49-F238E27FC236}">
                  <a16:creationId xmlns:a16="http://schemas.microsoft.com/office/drawing/2014/main" id="{ECCF26D0-6B34-9536-346F-84603C6BBBFE}"/>
                </a:ext>
              </a:extLst>
            </p:cNvPr>
            <p:cNvSpPr txBox="1"/>
            <p:nvPr/>
          </p:nvSpPr>
          <p:spPr>
            <a:xfrm>
              <a:off x="2251410" y="4726193"/>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TextBox 33">
              <a:extLst>
                <a:ext uri="{FF2B5EF4-FFF2-40B4-BE49-F238E27FC236}">
                  <a16:creationId xmlns:a16="http://schemas.microsoft.com/office/drawing/2014/main" id="{E158FF9F-A7AF-9438-46B5-83598D6E01EE}"/>
                </a:ext>
              </a:extLst>
            </p:cNvPr>
            <p:cNvSpPr txBox="1"/>
            <p:nvPr/>
          </p:nvSpPr>
          <p:spPr>
            <a:xfrm>
              <a:off x="2255898" y="4994206"/>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5" name="TextBox 34">
              <a:extLst>
                <a:ext uri="{FF2B5EF4-FFF2-40B4-BE49-F238E27FC236}">
                  <a16:creationId xmlns:a16="http://schemas.microsoft.com/office/drawing/2014/main" id="{078C3BA9-7639-205E-7FE7-2F574F72418D}"/>
                </a:ext>
              </a:extLst>
            </p:cNvPr>
            <p:cNvSpPr txBox="1"/>
            <p:nvPr/>
          </p:nvSpPr>
          <p:spPr>
            <a:xfrm>
              <a:off x="3764633" y="5711497"/>
              <a:ext cx="17867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57" name="직선 연결선 56">
              <a:extLst>
                <a:ext uri="{FF2B5EF4-FFF2-40B4-BE49-F238E27FC236}">
                  <a16:creationId xmlns:a16="http://schemas.microsoft.com/office/drawing/2014/main" id="{BB9EFD2D-58D9-A172-7E3E-88E7C4594DBE}"/>
                </a:ext>
              </a:extLst>
            </p:cNvPr>
            <p:cNvCxnSpPr/>
            <p:nvPr/>
          </p:nvCxnSpPr>
          <p:spPr>
            <a:xfrm>
              <a:off x="4299253" y="5350166"/>
              <a:ext cx="179253" cy="0"/>
            </a:xfrm>
            <a:prstGeom prst="line">
              <a:avLst/>
            </a:prstGeom>
            <a:noFill/>
            <a:ln w="19050" cap="flat" cmpd="sng" algn="ctr">
              <a:solidFill>
                <a:sysClr val="windowText" lastClr="000000"/>
              </a:solidFill>
              <a:prstDash val="solid"/>
              <a:miter lim="800000"/>
            </a:ln>
            <a:effectLst/>
          </p:spPr>
        </p:cxnSp>
        <p:cxnSp>
          <p:nvCxnSpPr>
            <p:cNvPr id="59" name="직선 연결선 58">
              <a:extLst>
                <a:ext uri="{FF2B5EF4-FFF2-40B4-BE49-F238E27FC236}">
                  <a16:creationId xmlns:a16="http://schemas.microsoft.com/office/drawing/2014/main" id="{2BBEFEE3-6AB2-1FF9-C856-2B6CB04D4882}"/>
                </a:ext>
              </a:extLst>
            </p:cNvPr>
            <p:cNvCxnSpPr/>
            <p:nvPr/>
          </p:nvCxnSpPr>
          <p:spPr>
            <a:xfrm>
              <a:off x="4495813" y="5350165"/>
              <a:ext cx="179253" cy="0"/>
            </a:xfrm>
            <a:prstGeom prst="line">
              <a:avLst/>
            </a:prstGeom>
            <a:noFill/>
            <a:ln w="19050" cap="flat" cmpd="sng" algn="ctr">
              <a:solidFill>
                <a:sysClr val="windowText" lastClr="000000"/>
              </a:solidFill>
              <a:prstDash val="solid"/>
              <a:miter lim="800000"/>
            </a:ln>
            <a:effectLst/>
          </p:spPr>
        </p:cxnSp>
        <p:cxnSp>
          <p:nvCxnSpPr>
            <p:cNvPr id="61" name="직선 연결선 60">
              <a:extLst>
                <a:ext uri="{FF2B5EF4-FFF2-40B4-BE49-F238E27FC236}">
                  <a16:creationId xmlns:a16="http://schemas.microsoft.com/office/drawing/2014/main" id="{C07CEA54-66C1-D8E7-0512-1B9A94DE5BDF}"/>
                </a:ext>
              </a:extLst>
            </p:cNvPr>
            <p:cNvCxnSpPr/>
            <p:nvPr/>
          </p:nvCxnSpPr>
          <p:spPr>
            <a:xfrm>
              <a:off x="4694238" y="5346750"/>
              <a:ext cx="179253" cy="0"/>
            </a:xfrm>
            <a:prstGeom prst="line">
              <a:avLst/>
            </a:prstGeom>
            <a:noFill/>
            <a:ln w="19050" cap="flat" cmpd="sng" algn="ctr">
              <a:solidFill>
                <a:sysClr val="windowText" lastClr="000000"/>
              </a:solidFill>
              <a:prstDash val="solid"/>
              <a:miter lim="800000"/>
            </a:ln>
            <a:effectLst/>
          </p:spPr>
        </p:cxnSp>
        <p:cxnSp>
          <p:nvCxnSpPr>
            <p:cNvPr id="62" name="직선 연결선 61">
              <a:extLst>
                <a:ext uri="{FF2B5EF4-FFF2-40B4-BE49-F238E27FC236}">
                  <a16:creationId xmlns:a16="http://schemas.microsoft.com/office/drawing/2014/main" id="{89EBFF8E-0EDE-55C6-56B3-5B109B45E0D8}"/>
                </a:ext>
              </a:extLst>
            </p:cNvPr>
            <p:cNvCxnSpPr/>
            <p:nvPr/>
          </p:nvCxnSpPr>
          <p:spPr>
            <a:xfrm flipH="1" flipV="1">
              <a:off x="4390190" y="5355689"/>
              <a:ext cx="0" cy="126234"/>
            </a:xfrm>
            <a:prstGeom prst="line">
              <a:avLst/>
            </a:prstGeom>
            <a:noFill/>
            <a:ln w="12700" cap="flat" cmpd="sng" algn="ctr">
              <a:solidFill>
                <a:sysClr val="windowText" lastClr="000000"/>
              </a:solidFill>
              <a:prstDash val="solid"/>
              <a:miter lim="800000"/>
            </a:ln>
            <a:effectLst/>
          </p:spPr>
        </p:cxnSp>
        <p:cxnSp>
          <p:nvCxnSpPr>
            <p:cNvPr id="63" name="직선 연결선 62">
              <a:extLst>
                <a:ext uri="{FF2B5EF4-FFF2-40B4-BE49-F238E27FC236}">
                  <a16:creationId xmlns:a16="http://schemas.microsoft.com/office/drawing/2014/main" id="{C76E3A60-2181-C2D9-8436-304A609686D2}"/>
                </a:ext>
              </a:extLst>
            </p:cNvPr>
            <p:cNvCxnSpPr/>
            <p:nvPr/>
          </p:nvCxnSpPr>
          <p:spPr>
            <a:xfrm flipH="1" flipV="1">
              <a:off x="4582523" y="5358075"/>
              <a:ext cx="0" cy="315586"/>
            </a:xfrm>
            <a:prstGeom prst="line">
              <a:avLst/>
            </a:prstGeom>
            <a:noFill/>
            <a:ln w="12700" cap="flat" cmpd="sng" algn="ctr">
              <a:solidFill>
                <a:sysClr val="windowText" lastClr="000000"/>
              </a:solidFill>
              <a:prstDash val="solid"/>
              <a:miter lim="800000"/>
            </a:ln>
            <a:effectLst/>
          </p:spPr>
        </p:cxnSp>
        <p:cxnSp>
          <p:nvCxnSpPr>
            <p:cNvPr id="64" name="직선 연결선 63">
              <a:extLst>
                <a:ext uri="{FF2B5EF4-FFF2-40B4-BE49-F238E27FC236}">
                  <a16:creationId xmlns:a16="http://schemas.microsoft.com/office/drawing/2014/main" id="{F2A6AD13-83FA-18A2-93F6-9246F8EFA4AD}"/>
                </a:ext>
              </a:extLst>
            </p:cNvPr>
            <p:cNvCxnSpPr/>
            <p:nvPr/>
          </p:nvCxnSpPr>
          <p:spPr>
            <a:xfrm flipH="1" flipV="1">
              <a:off x="4776781" y="5352508"/>
              <a:ext cx="0" cy="126234"/>
            </a:xfrm>
            <a:prstGeom prst="line">
              <a:avLst/>
            </a:prstGeom>
            <a:noFill/>
            <a:ln w="12700" cap="flat" cmpd="sng" algn="ctr">
              <a:solidFill>
                <a:sysClr val="windowText" lastClr="000000"/>
              </a:solidFill>
              <a:prstDash val="solid"/>
              <a:miter lim="800000"/>
            </a:ln>
            <a:effectLst/>
          </p:spPr>
        </p:cxnSp>
        <p:cxnSp>
          <p:nvCxnSpPr>
            <p:cNvPr id="65" name="직선 연결선 64">
              <a:extLst>
                <a:ext uri="{FF2B5EF4-FFF2-40B4-BE49-F238E27FC236}">
                  <a16:creationId xmlns:a16="http://schemas.microsoft.com/office/drawing/2014/main" id="{00D27F0B-A2AC-13E7-724B-C46F9E1056F5}"/>
                </a:ext>
              </a:extLst>
            </p:cNvPr>
            <p:cNvCxnSpPr/>
            <p:nvPr/>
          </p:nvCxnSpPr>
          <p:spPr>
            <a:xfrm flipH="1" flipV="1">
              <a:off x="4389097" y="4551060"/>
              <a:ext cx="0" cy="701139"/>
            </a:xfrm>
            <a:prstGeom prst="line">
              <a:avLst/>
            </a:prstGeom>
            <a:noFill/>
            <a:ln w="12700" cap="flat" cmpd="sng" algn="ctr">
              <a:solidFill>
                <a:sysClr val="windowText" lastClr="000000"/>
              </a:solidFill>
              <a:prstDash val="solid"/>
              <a:miter lim="800000"/>
            </a:ln>
            <a:effectLst/>
          </p:spPr>
        </p:cxnSp>
        <p:cxnSp>
          <p:nvCxnSpPr>
            <p:cNvPr id="66" name="직선 연결선 65">
              <a:extLst>
                <a:ext uri="{FF2B5EF4-FFF2-40B4-BE49-F238E27FC236}">
                  <a16:creationId xmlns:a16="http://schemas.microsoft.com/office/drawing/2014/main" id="{1F515B87-B52B-C1E4-5139-55839B15E447}"/>
                </a:ext>
              </a:extLst>
            </p:cNvPr>
            <p:cNvCxnSpPr/>
            <p:nvPr/>
          </p:nvCxnSpPr>
          <p:spPr>
            <a:xfrm flipH="1" flipV="1">
              <a:off x="4585025" y="4848198"/>
              <a:ext cx="0" cy="410261"/>
            </a:xfrm>
            <a:prstGeom prst="line">
              <a:avLst/>
            </a:prstGeom>
            <a:noFill/>
            <a:ln w="12700" cap="flat" cmpd="sng" algn="ctr">
              <a:solidFill>
                <a:sysClr val="windowText" lastClr="000000"/>
              </a:solidFill>
              <a:prstDash val="solid"/>
              <a:miter lim="800000"/>
            </a:ln>
            <a:effectLst/>
          </p:spPr>
        </p:cxnSp>
        <p:cxnSp>
          <p:nvCxnSpPr>
            <p:cNvPr id="67" name="직선 연결선 66">
              <a:extLst>
                <a:ext uri="{FF2B5EF4-FFF2-40B4-BE49-F238E27FC236}">
                  <a16:creationId xmlns:a16="http://schemas.microsoft.com/office/drawing/2014/main" id="{ED64E28D-9488-F067-9813-9B9BC6CA3359}"/>
                </a:ext>
              </a:extLst>
            </p:cNvPr>
            <p:cNvCxnSpPr/>
            <p:nvPr/>
          </p:nvCxnSpPr>
          <p:spPr>
            <a:xfrm>
              <a:off x="4383482" y="5478949"/>
              <a:ext cx="397040" cy="0"/>
            </a:xfrm>
            <a:prstGeom prst="line">
              <a:avLst/>
            </a:prstGeom>
            <a:noFill/>
            <a:ln w="12700" cap="flat" cmpd="sng" algn="ctr">
              <a:solidFill>
                <a:sysClr val="windowText" lastClr="000000"/>
              </a:solidFill>
              <a:prstDash val="solid"/>
              <a:miter lim="800000"/>
            </a:ln>
            <a:effectLst/>
          </p:spPr>
        </p:cxnSp>
        <p:sp>
          <p:nvSpPr>
            <p:cNvPr id="68" name="TextBox 42">
              <a:extLst>
                <a:ext uri="{FF2B5EF4-FFF2-40B4-BE49-F238E27FC236}">
                  <a16:creationId xmlns:a16="http://schemas.microsoft.com/office/drawing/2014/main" id="{431DF3E6-4BB1-2BAD-BC48-40F085544EFD}"/>
                </a:ext>
              </a:extLst>
            </p:cNvPr>
            <p:cNvSpPr txBox="1"/>
            <p:nvPr/>
          </p:nvSpPr>
          <p:spPr>
            <a:xfrm>
              <a:off x="4459131" y="5705930"/>
              <a:ext cx="28616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9" name="타원 68">
              <a:extLst>
                <a:ext uri="{FF2B5EF4-FFF2-40B4-BE49-F238E27FC236}">
                  <a16:creationId xmlns:a16="http://schemas.microsoft.com/office/drawing/2014/main" id="{935205AC-85E4-2B14-98B5-39AAB616A8E5}"/>
                </a:ext>
              </a:extLst>
            </p:cNvPr>
            <p:cNvSpPr/>
            <p:nvPr/>
          </p:nvSpPr>
          <p:spPr>
            <a:xfrm>
              <a:off x="4009749" y="510523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타원 69">
              <a:extLst>
                <a:ext uri="{FF2B5EF4-FFF2-40B4-BE49-F238E27FC236}">
                  <a16:creationId xmlns:a16="http://schemas.microsoft.com/office/drawing/2014/main" id="{0D8255C3-355A-D8EC-4DF2-0D9F25ED57B6}"/>
                </a:ext>
              </a:extLst>
            </p:cNvPr>
            <p:cNvSpPr/>
            <p:nvPr/>
          </p:nvSpPr>
          <p:spPr>
            <a:xfrm>
              <a:off x="3820493" y="4829294"/>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1" name="타원 70">
              <a:extLst>
                <a:ext uri="{FF2B5EF4-FFF2-40B4-BE49-F238E27FC236}">
                  <a16:creationId xmlns:a16="http://schemas.microsoft.com/office/drawing/2014/main" id="{BCEB7344-068B-487D-E023-A6E80910CE06}"/>
                </a:ext>
              </a:extLst>
            </p:cNvPr>
            <p:cNvSpPr/>
            <p:nvPr/>
          </p:nvSpPr>
          <p:spPr>
            <a:xfrm>
              <a:off x="3627068" y="451756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2" name="타원 71">
              <a:extLst>
                <a:ext uri="{FF2B5EF4-FFF2-40B4-BE49-F238E27FC236}">
                  <a16:creationId xmlns:a16="http://schemas.microsoft.com/office/drawing/2014/main" id="{24075E9A-6338-226C-117A-C066C52BAC45}"/>
                </a:ext>
              </a:extLst>
            </p:cNvPr>
            <p:cNvSpPr/>
            <p:nvPr/>
          </p:nvSpPr>
          <p:spPr>
            <a:xfrm>
              <a:off x="3816324" y="5457522"/>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3" name="타원 72">
              <a:extLst>
                <a:ext uri="{FF2B5EF4-FFF2-40B4-BE49-F238E27FC236}">
                  <a16:creationId xmlns:a16="http://schemas.microsoft.com/office/drawing/2014/main" id="{0BD02FF9-AFAB-BFAE-BA80-A4F39F12AA3D}"/>
                </a:ext>
              </a:extLst>
            </p:cNvPr>
            <p:cNvSpPr/>
            <p:nvPr/>
          </p:nvSpPr>
          <p:spPr>
            <a:xfrm>
              <a:off x="4552509" y="5459908"/>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4" name="직선 연결선 73">
              <a:extLst>
                <a:ext uri="{FF2B5EF4-FFF2-40B4-BE49-F238E27FC236}">
                  <a16:creationId xmlns:a16="http://schemas.microsoft.com/office/drawing/2014/main" id="{A555CFD1-39FC-D698-23F2-7D086A5FEA92}"/>
                </a:ext>
              </a:extLst>
            </p:cNvPr>
            <p:cNvCxnSpPr/>
            <p:nvPr/>
          </p:nvCxnSpPr>
          <p:spPr>
            <a:xfrm flipV="1">
              <a:off x="4770945" y="5135455"/>
              <a:ext cx="0" cy="122470"/>
            </a:xfrm>
            <a:prstGeom prst="line">
              <a:avLst/>
            </a:prstGeom>
            <a:noFill/>
            <a:ln w="12700" cap="flat" cmpd="sng" algn="ctr">
              <a:solidFill>
                <a:sysClr val="windowText" lastClr="000000"/>
              </a:solidFill>
              <a:prstDash val="solid"/>
              <a:miter lim="800000"/>
            </a:ln>
            <a:effectLst/>
          </p:spPr>
        </p:cxnSp>
        <p:sp>
          <p:nvSpPr>
            <p:cNvPr id="76" name="직사각형 75">
              <a:extLst>
                <a:ext uri="{FF2B5EF4-FFF2-40B4-BE49-F238E27FC236}">
                  <a16:creationId xmlns:a16="http://schemas.microsoft.com/office/drawing/2014/main" id="{3A6DDA93-DE3F-4181-9C65-01221A9BC5EB}"/>
                </a:ext>
              </a:extLst>
            </p:cNvPr>
            <p:cNvSpPr/>
            <p:nvPr/>
          </p:nvSpPr>
          <p:spPr>
            <a:xfrm>
              <a:off x="2096062" y="4285915"/>
              <a:ext cx="3005479" cy="210403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7" name="TextBox 262">
              <a:extLst>
                <a:ext uri="{FF2B5EF4-FFF2-40B4-BE49-F238E27FC236}">
                  <a16:creationId xmlns:a16="http://schemas.microsoft.com/office/drawing/2014/main" id="{8CA05F9B-ABDE-4395-A055-9B6F08FB4F8C}"/>
                </a:ext>
              </a:extLst>
            </p:cNvPr>
            <p:cNvSpPr txBox="1"/>
            <p:nvPr/>
          </p:nvSpPr>
          <p:spPr>
            <a:xfrm>
              <a:off x="3967349" y="5941363"/>
              <a:ext cx="314189" cy="153888"/>
            </a:xfrm>
            <a:prstGeom prst="rect">
              <a:avLst/>
            </a:prstGeom>
            <a:solidFill>
              <a:sysClr val="window" lastClr="FFFFFF"/>
            </a:solidFill>
            <a:ln>
              <a:noFill/>
            </a:ln>
            <a:effectLst/>
          </p:spPr>
          <p:txBody>
            <a:bodyPr wrap="none" lIns="0" tIns="0" rIns="0" bIns="0" rtlCol="0" anchor="ctr" anchorCtr="0">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ID601</a:t>
              </a:r>
              <a:endParaRPr kumimoji="0" lang="ko-KR" altLang="en-US" sz="1000" b="1"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8" name="이등변 삼각형 77">
              <a:extLst>
                <a:ext uri="{FF2B5EF4-FFF2-40B4-BE49-F238E27FC236}">
                  <a16:creationId xmlns:a16="http://schemas.microsoft.com/office/drawing/2014/main" id="{C2E686CE-C8C6-2E83-E944-F5AE0DA123FE}"/>
                </a:ext>
              </a:extLst>
            </p:cNvPr>
            <p:cNvSpPr/>
            <p:nvPr/>
          </p:nvSpPr>
          <p:spPr>
            <a:xfrm rot="10800000">
              <a:off x="4303604" y="5239757"/>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이등변 삼각형 78">
              <a:extLst>
                <a:ext uri="{FF2B5EF4-FFF2-40B4-BE49-F238E27FC236}">
                  <a16:creationId xmlns:a16="http://schemas.microsoft.com/office/drawing/2014/main" id="{C02A0D91-1FDE-C9AA-144E-D2A80D723FD3}"/>
                </a:ext>
              </a:extLst>
            </p:cNvPr>
            <p:cNvSpPr/>
            <p:nvPr/>
          </p:nvSpPr>
          <p:spPr>
            <a:xfrm rot="10800000">
              <a:off x="4502160" y="523975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BE28349B-0EB8-29E4-BFD1-92DF2E0E46A3}"/>
                </a:ext>
              </a:extLst>
            </p:cNvPr>
            <p:cNvSpPr/>
            <p:nvPr/>
          </p:nvSpPr>
          <p:spPr>
            <a:xfrm rot="10800000">
              <a:off x="4681665" y="523975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sp>
        <p:nvSpPr>
          <p:cNvPr id="60" name="TextBox 59">
            <a:extLst>
              <a:ext uri="{FF2B5EF4-FFF2-40B4-BE49-F238E27FC236}">
                <a16:creationId xmlns:a16="http://schemas.microsoft.com/office/drawing/2014/main" id="{9317544B-A0BD-4AE7-048C-6FA173FAF862}"/>
              </a:ext>
            </a:extLst>
          </p:cNvPr>
          <p:cNvSpPr txBox="1"/>
          <p:nvPr/>
        </p:nvSpPr>
        <p:spPr>
          <a:xfrm>
            <a:off x="2183574" y="3995414"/>
            <a:ext cx="2442976" cy="138499"/>
          </a:xfrm>
          <a:prstGeom prst="rect">
            <a:avLst/>
          </a:prstGeom>
          <a:noFill/>
        </p:spPr>
        <p:txBody>
          <a:bodyPr wrap="none" lIns="0" tIns="0" rIns="0" bIns="0" rtlCol="0" anchor="ctr" anchorCtr="0">
            <a:spAutoFit/>
          </a:bodyPr>
          <a:lstStyle/>
          <a:p>
            <a:r>
              <a:rPr lang="en-US" altLang="ko-KR" sz="900" b="1">
                <a:latin typeface="Arial" panose="020B0604020202020204" pitchFamily="34" charset="0"/>
                <a:cs typeface="Arial" panose="020B0604020202020204" pitchFamily="34" charset="0"/>
              </a:rPr>
              <a:t>Table 7. ID601 driving type for LED backlight</a:t>
            </a:r>
          </a:p>
        </p:txBody>
      </p:sp>
      <p:graphicFrame>
        <p:nvGraphicFramePr>
          <p:cNvPr id="81" name="표 80">
            <a:extLst>
              <a:ext uri="{FF2B5EF4-FFF2-40B4-BE49-F238E27FC236}">
                <a16:creationId xmlns:a16="http://schemas.microsoft.com/office/drawing/2014/main" id="{96929D06-B311-E7D7-2866-4B464DF8747D}"/>
              </a:ext>
            </a:extLst>
          </p:cNvPr>
          <p:cNvGraphicFramePr>
            <a:graphicFrameLocks noGrp="1"/>
          </p:cNvGraphicFramePr>
          <p:nvPr>
            <p:extLst>
              <p:ext uri="{D42A27DB-BD31-4B8C-83A1-F6EECF244321}">
                <p14:modId xmlns:p14="http://schemas.microsoft.com/office/powerpoint/2010/main" val="2935913411"/>
              </p:ext>
            </p:extLst>
          </p:nvPr>
        </p:nvGraphicFramePr>
        <p:xfrm>
          <a:off x="469992" y="3033997"/>
          <a:ext cx="5915025" cy="871410"/>
        </p:xfrm>
        <a:graphic>
          <a:graphicData uri="http://schemas.openxmlformats.org/drawingml/2006/table">
            <a:tbl>
              <a:tblPr/>
              <a:tblGrid>
                <a:gridCol w="739378">
                  <a:extLst>
                    <a:ext uri="{9D8B030D-6E8A-4147-A177-3AD203B41FA5}">
                      <a16:colId xmlns:a16="http://schemas.microsoft.com/office/drawing/2014/main" val="3132292547"/>
                    </a:ext>
                  </a:extLst>
                </a:gridCol>
                <a:gridCol w="1077380">
                  <a:extLst>
                    <a:ext uri="{9D8B030D-6E8A-4147-A177-3AD203B41FA5}">
                      <a16:colId xmlns:a16="http://schemas.microsoft.com/office/drawing/2014/main" val="3807878096"/>
                    </a:ext>
                  </a:extLst>
                </a:gridCol>
                <a:gridCol w="876691">
                  <a:extLst>
                    <a:ext uri="{9D8B030D-6E8A-4147-A177-3AD203B41FA5}">
                      <a16:colId xmlns:a16="http://schemas.microsoft.com/office/drawing/2014/main" val="4273884663"/>
                    </a:ext>
                  </a:extLst>
                </a:gridCol>
                <a:gridCol w="897816">
                  <a:extLst>
                    <a:ext uri="{9D8B030D-6E8A-4147-A177-3AD203B41FA5}">
                      <a16:colId xmlns:a16="http://schemas.microsoft.com/office/drawing/2014/main" val="123275701"/>
                    </a:ext>
                  </a:extLst>
                </a:gridCol>
                <a:gridCol w="950629">
                  <a:extLst>
                    <a:ext uri="{9D8B030D-6E8A-4147-A177-3AD203B41FA5}">
                      <a16:colId xmlns:a16="http://schemas.microsoft.com/office/drawing/2014/main" val="677468209"/>
                    </a:ext>
                  </a:extLst>
                </a:gridCol>
                <a:gridCol w="1373131">
                  <a:extLst>
                    <a:ext uri="{9D8B030D-6E8A-4147-A177-3AD203B41FA5}">
                      <a16:colId xmlns:a16="http://schemas.microsoft.com/office/drawing/2014/main" val="2073487403"/>
                    </a:ext>
                  </a:extLst>
                </a:gridCol>
              </a:tblGrid>
              <a:tr h="353845">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LD_TYPE</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LED Type</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a:t>
                      </a:r>
                      <a:r>
                        <a:rPr lang="en-US" sz="800" b="1" i="0" u="none" strike="noStrike" err="1">
                          <a:solidFill>
                            <a:srgbClr val="000000"/>
                          </a:solidFill>
                          <a:effectLst/>
                          <a:latin typeface="맑은 고딕" panose="020B0503020000020004" pitchFamily="50" charset="-127"/>
                          <a:ea typeface="맑은 고딕" panose="020B0503020000020004" pitchFamily="50" charset="-127"/>
                        </a:rPr>
                        <a:t>ch.</a:t>
                      </a:r>
                      <a:r>
                        <a:rPr lang="en-US" sz="800" b="1" i="0" u="none" strike="noStrike">
                          <a:solidFill>
                            <a:srgbClr val="000000"/>
                          </a:solidFill>
                          <a:effectLst/>
                          <a:latin typeface="맑은 고딕" panose="020B0503020000020004" pitchFamily="50" charset="-127"/>
                          <a:ea typeface="맑은 고딕" panose="020B0503020000020004" pitchFamily="50" charset="-127"/>
                        </a:rPr>
                        <a:t> per pixel</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pixel per IC</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Full-time driving</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Time sequential driving</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55256"/>
                  </a:ext>
                </a:extLst>
              </a:tr>
              <a:tr h="174282">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FF0000"/>
                          </a:solidFill>
                          <a:effectLst/>
                          <a:latin typeface="맑은 고딕" panose="020B0503020000020004" pitchFamily="50" charset="-127"/>
                          <a:ea typeface="맑은 고딕" panose="020B0503020000020004" pitchFamily="50" charset="-127"/>
                        </a:rPr>
                        <a:t>R</a:t>
                      </a:r>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  or</a:t>
                      </a:r>
                      <a:r>
                        <a:rPr lang="en-US" sz="800" b="0" i="0" u="none" strike="noStrike">
                          <a:solidFill>
                            <a:srgbClr val="000000"/>
                          </a:solidFill>
                          <a:effectLst/>
                          <a:latin typeface="맑은 고딕" panose="020B0503020000020004" pitchFamily="50" charset="-127"/>
                          <a:ea typeface="맑은 고딕" panose="020B0503020000020004" pitchFamily="50" charset="-127"/>
                        </a:rPr>
                        <a:t>  </a:t>
                      </a:r>
                      <a:r>
                        <a:rPr lang="en-US" sz="800" b="0" i="0" u="none" strike="noStrike">
                          <a:solidFill>
                            <a:srgbClr val="0070C0"/>
                          </a:solidFill>
                          <a:effectLst/>
                          <a:latin typeface="맑은 고딕" panose="020B0503020000020004" pitchFamily="50" charset="-127"/>
                          <a:ea typeface="맑은 고딕" panose="020B0503020000020004" pitchFamily="50" charset="-127"/>
                        </a:rPr>
                        <a:t> B</a:t>
                      </a:r>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523999"/>
                  </a:ext>
                </a:extLst>
              </a:tr>
              <a:tr h="169001">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FF0000"/>
                          </a:solidFill>
                          <a:effectLst/>
                          <a:latin typeface="맑은 고딕" panose="020B0503020000020004" pitchFamily="50" charset="-127"/>
                          <a:ea typeface="맑은 고딕" panose="020B0503020000020004" pitchFamily="50" charset="-127"/>
                        </a:rPr>
                        <a:t>R</a:t>
                      </a:r>
                      <a:r>
                        <a:rPr lang="en-US" sz="800" b="0" i="0" u="none" strike="noStrike">
                          <a:solidFill>
                            <a:srgbClr val="000000"/>
                          </a:solidFill>
                          <a:effectLst/>
                          <a:latin typeface="맑은 고딕" panose="020B0503020000020004" pitchFamily="50" charset="-127"/>
                          <a:ea typeface="맑은 고딕" panose="020B0503020000020004" pitchFamily="50" charset="-127"/>
                        </a:rPr>
                        <a:t>-</a:t>
                      </a:r>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6</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1238169"/>
                  </a:ext>
                </a:extLst>
              </a:tr>
              <a:tr h="174282">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3</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LED3/LED3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820793"/>
                  </a:ext>
                </a:extLst>
              </a:tr>
            </a:tbl>
          </a:graphicData>
        </a:graphic>
      </p:graphicFrame>
      <p:pic>
        <p:nvPicPr>
          <p:cNvPr id="56" name="그림 55">
            <a:extLst>
              <a:ext uri="{FF2B5EF4-FFF2-40B4-BE49-F238E27FC236}">
                <a16:creationId xmlns:a16="http://schemas.microsoft.com/office/drawing/2014/main" id="{861E8DDC-B218-CBD6-543E-8BA85B2605E6}"/>
              </a:ext>
            </a:extLst>
          </p:cNvPr>
          <p:cNvPicPr>
            <a:picLocks noChangeAspect="1"/>
          </p:cNvPicPr>
          <p:nvPr/>
        </p:nvPicPr>
        <p:blipFill>
          <a:blip r:embed="rId3"/>
          <a:stretch>
            <a:fillRect/>
          </a:stretch>
        </p:blipFill>
        <p:spPr>
          <a:xfrm>
            <a:off x="391362" y="6587372"/>
            <a:ext cx="6047999" cy="2074350"/>
          </a:xfrm>
          <a:prstGeom prst="rect">
            <a:avLst/>
          </a:prstGeom>
        </p:spPr>
      </p:pic>
    </p:spTree>
    <p:extLst>
      <p:ext uri="{BB962C8B-B14F-4D97-AF65-F5344CB8AC3E}">
        <p14:creationId xmlns:p14="http://schemas.microsoft.com/office/powerpoint/2010/main" val="129560603"/>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TYPE-2 (R/GB, 6CH) </a:t>
            </a: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923330"/>
          </a:xfrm>
          <a:prstGeom prst="rect">
            <a:avLst/>
          </a:prstGeom>
          <a:noFill/>
        </p:spPr>
        <p:txBody>
          <a:bodyPr wrap="square" lIns="0" tIns="0" rIns="36000" bIns="0" rtlCol="0">
            <a:spAutoFit/>
          </a:bodyPr>
          <a:lstStyle/>
          <a:p>
            <a:pPr algn="just"/>
            <a:r>
              <a:rPr lang="en-US" altLang="ko-KR" sz="1000">
                <a:latin typeface="Arial" panose="020B0604020202020204" pitchFamily="34" charset="0"/>
                <a:cs typeface="Arial" panose="020B0604020202020204" pitchFamily="34" charset="0"/>
              </a:rPr>
              <a:t>The ID601 supports three LEDs(red, green, blue) dimming. In Type-2 mode, odd channels independently drive one LED(red), while even channels support brightness control by time-divisionally driving two LEDs(green, blue).</a:t>
            </a:r>
          </a:p>
          <a:p>
            <a:pPr algn="just"/>
            <a:r>
              <a:rPr lang="en-US" altLang="ko-KR" sz="1000">
                <a:latin typeface="Arial" panose="020B0604020202020204" pitchFamily="34" charset="0"/>
                <a:cs typeface="Arial" panose="020B0604020202020204" pitchFamily="34" charset="0"/>
              </a:rPr>
              <a:t>Brightness control for odd channels is implemented within a single frame, regardless of the SVI value, while brightness control for even channels is implemented within two SVI intervals for two LEDs within a single frame.</a:t>
            </a:r>
          </a:p>
        </p:txBody>
      </p:sp>
      <p:sp>
        <p:nvSpPr>
          <p:cNvPr id="18" name="TextBox 17">
            <a:extLst>
              <a:ext uri="{FF2B5EF4-FFF2-40B4-BE49-F238E27FC236}">
                <a16:creationId xmlns:a16="http://schemas.microsoft.com/office/drawing/2014/main" id="{55CEA467-6652-6C41-7DCC-B5ADB45F165A}"/>
              </a:ext>
            </a:extLst>
          </p:cNvPr>
          <p:cNvSpPr txBox="1"/>
          <p:nvPr/>
        </p:nvSpPr>
        <p:spPr>
          <a:xfrm>
            <a:off x="1278787" y="8269409"/>
            <a:ext cx="4532010"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a:t>  Figure. 7  PWM Dimming sequence @ LD_DIR = 1, SYNC_MODE = 0, TYPE-2</a:t>
            </a:r>
          </a:p>
        </p:txBody>
      </p:sp>
      <p:grpSp>
        <p:nvGrpSpPr>
          <p:cNvPr id="25" name="그룹 24">
            <a:extLst>
              <a:ext uri="{FF2B5EF4-FFF2-40B4-BE49-F238E27FC236}">
                <a16:creationId xmlns:a16="http://schemas.microsoft.com/office/drawing/2014/main" id="{4EE0D293-EC08-FAFB-BBAE-5B66C5A1F9D9}"/>
              </a:ext>
            </a:extLst>
          </p:cNvPr>
          <p:cNvGrpSpPr/>
          <p:nvPr/>
        </p:nvGrpSpPr>
        <p:grpSpPr>
          <a:xfrm>
            <a:off x="1864615" y="3049000"/>
            <a:ext cx="3006000" cy="2106000"/>
            <a:chOff x="1864615" y="3049000"/>
            <a:chExt cx="3006000" cy="2106000"/>
          </a:xfrm>
        </p:grpSpPr>
        <p:sp>
          <p:nvSpPr>
            <p:cNvPr id="79" name="직사각형 78">
              <a:extLst>
                <a:ext uri="{FF2B5EF4-FFF2-40B4-BE49-F238E27FC236}">
                  <a16:creationId xmlns:a16="http://schemas.microsoft.com/office/drawing/2014/main" id="{92C82B35-4C09-1A43-15DD-04F036EE0A5F}"/>
                </a:ext>
              </a:extLst>
            </p:cNvPr>
            <p:cNvSpPr/>
            <p:nvPr/>
          </p:nvSpPr>
          <p:spPr>
            <a:xfrm>
              <a:off x="3280068" y="4451193"/>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a:cxnSpLocks/>
            </p:cNvCxnSpPr>
            <p:nvPr/>
          </p:nvCxnSpPr>
          <p:spPr>
            <a:xfrm>
              <a:off x="3090244" y="4041260"/>
              <a:ext cx="0" cy="32436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337763" y="4120859"/>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534308" y="4120858"/>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732696" y="4117441"/>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a:cxnSpLocks/>
            </p:cNvCxnSpPr>
            <p:nvPr/>
          </p:nvCxnSpPr>
          <p:spPr>
            <a:xfrm>
              <a:off x="3136900" y="3897471"/>
              <a:ext cx="1407584"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86006" y="3318458"/>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957351" y="3968796"/>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3022371" y="4031665"/>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999780" y="3930073"/>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3110646" y="3928482"/>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3137277" y="3897985"/>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909358" y="3900372"/>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632026" y="3693673"/>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97046" y="3754161"/>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674455" y="3652568"/>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85321" y="3650977"/>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809572" y="3620480"/>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84033" y="3622868"/>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430947" y="4126388"/>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621000" y="4128776"/>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815223" y="4123202"/>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430113" y="3316913"/>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623501" y="3605814"/>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809388" y="3886043"/>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923769" y="3619110"/>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a:cxnSpLocks/>
            </p:cNvCxnSpPr>
            <p:nvPr/>
          </p:nvCxnSpPr>
          <p:spPr>
            <a:xfrm>
              <a:off x="2000250" y="3897938"/>
              <a:ext cx="908366"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95176" y="3622059"/>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619813" y="4249766"/>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a:cxnSpLocks/>
            </p:cNvCxnSpPr>
            <p:nvPr/>
          </p:nvCxnSpPr>
          <p:spPr>
            <a:xfrm>
              <a:off x="2757416" y="3749132"/>
              <a:ext cx="0" cy="421231"/>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a:cxnSpLocks/>
            </p:cNvCxnSpPr>
            <p:nvPr/>
          </p:nvCxnSpPr>
          <p:spPr>
            <a:xfrm>
              <a:off x="2001838" y="4366026"/>
              <a:ext cx="1089025"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a:cxnSpLocks/>
            </p:cNvCxnSpPr>
            <p:nvPr/>
          </p:nvCxnSpPr>
          <p:spPr>
            <a:xfrm>
              <a:off x="2008188" y="4169416"/>
              <a:ext cx="752475"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2021376" y="404235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2019114" y="4239761"/>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2019704" y="3185080"/>
              <a:ext cx="717146"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 (: GATE1)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2022204" y="347800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2033040" y="375898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368429" y="4476964"/>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4069642" y="4115288"/>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266186" y="4115287"/>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464574" y="4111868"/>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162825" y="4124796"/>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352878" y="4123203"/>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551597" y="4117631"/>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161738" y="3317570"/>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355380" y="3614994"/>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360029" y="4244193"/>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625169" y="4475373"/>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780213" y="387012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90992" y="3593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97604" y="328189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86853" y="4222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427069" y="422115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545762" y="3891755"/>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463744" y="4252949"/>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724363" y="4251357"/>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4071131" y="447935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327872" y="447776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864615" y="3049000"/>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794526" y="4727562"/>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ID601</a:t>
              </a:r>
              <a:endParaRPr kumimoji="0" lang="ko-KR" altLang="en-US" sz="1000" b="1"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345464" y="4015634"/>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540845" y="4015635"/>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729875" y="4015634"/>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86291" y="4011399"/>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75322" y="401140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467527" y="4011399"/>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74224CB3-F1FF-91B0-6C2F-E876359BAE62}"/>
              </a:ext>
            </a:extLst>
          </p:cNvPr>
          <p:cNvPicPr>
            <a:picLocks noChangeAspect="1"/>
          </p:cNvPicPr>
          <p:nvPr/>
        </p:nvPicPr>
        <p:blipFill>
          <a:blip r:embed="rId2"/>
          <a:stretch>
            <a:fillRect/>
          </a:stretch>
        </p:blipFill>
        <p:spPr>
          <a:xfrm>
            <a:off x="239062" y="5237333"/>
            <a:ext cx="6257105" cy="2834261"/>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41BC27-57FF-B824-2D46-1B1300F82541}"/>
              </a:ext>
            </a:extLst>
          </p:cNvPr>
          <p:cNvSpPr txBox="1"/>
          <p:nvPr/>
        </p:nvSpPr>
        <p:spPr>
          <a:xfrm>
            <a:off x="399458" y="1411714"/>
            <a:ext cx="6039903" cy="553998"/>
          </a:xfrm>
          <a:prstGeom prst="rect">
            <a:avLst/>
          </a:prstGeom>
          <a:noFill/>
        </p:spPr>
        <p:txBody>
          <a:bodyPr wrap="square" lIns="0" rtlCol="0">
            <a:spAutoFit/>
          </a:bodyPr>
          <a:lstStyle/>
          <a:p>
            <a:r>
              <a:rPr lang="en-US" altLang="ko-KR" sz="1000">
                <a:latin typeface="Arial" panose="020B0604020202020204" pitchFamily="34" charset="0"/>
                <a:cs typeface="Arial" panose="020B0604020202020204" pitchFamily="34" charset="0"/>
              </a:rPr>
              <a:t>As shown in Table 8, the ID601 enables flexible channel mapping between time-division channels and non-time-division channels. </a:t>
            </a:r>
          </a:p>
          <a:p>
            <a:r>
              <a:rPr lang="en-US" altLang="ko-KR" sz="1000">
                <a:latin typeface="Arial" panose="020B0604020202020204" pitchFamily="34" charset="0"/>
                <a:cs typeface="Arial" panose="020B0604020202020204" pitchFamily="34" charset="0"/>
              </a:rPr>
              <a:t>In the TYPE-1 case, all channels output time-division PWM regardless of </a:t>
            </a:r>
            <a:r>
              <a:rPr lang="en-US" altLang="ko-KR" sz="1000" err="1">
                <a:latin typeface="Arial" panose="020B0604020202020204" pitchFamily="34" charset="0"/>
                <a:cs typeface="Arial" panose="020B0604020202020204" pitchFamily="34" charset="0"/>
              </a:rPr>
              <a:t>CHx_LD_TYPE</a:t>
            </a:r>
            <a:r>
              <a:rPr lang="en-US" altLang="ko-KR" sz="1000">
                <a:latin typeface="Arial" panose="020B0604020202020204" pitchFamily="34" charset="0"/>
                <a:cs typeface="Arial" panose="020B0604020202020204" pitchFamily="34" charset="0"/>
              </a:rPr>
              <a:t>.</a:t>
            </a:r>
          </a:p>
        </p:txBody>
      </p:sp>
      <p:cxnSp>
        <p:nvCxnSpPr>
          <p:cNvPr id="5" name="직선 연결선 4">
            <a:extLst>
              <a:ext uri="{FF2B5EF4-FFF2-40B4-BE49-F238E27FC236}">
                <a16:creationId xmlns:a16="http://schemas.microsoft.com/office/drawing/2014/main" id="{2D77D96E-D0CD-024E-5660-DAF3510A691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D06BE48-726B-EA75-C179-81A89420C915}"/>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497B60B-5EF1-864A-DCD6-DBEE14D9E511}"/>
              </a:ext>
            </a:extLst>
          </p:cNvPr>
          <p:cNvSpPr txBox="1"/>
          <p:nvPr/>
        </p:nvSpPr>
        <p:spPr>
          <a:xfrm>
            <a:off x="399458" y="775809"/>
            <a:ext cx="604799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Functional Description</a:t>
            </a:r>
          </a:p>
        </p:txBody>
      </p:sp>
      <p:graphicFrame>
        <p:nvGraphicFramePr>
          <p:cNvPr id="2" name="표 1">
            <a:extLst>
              <a:ext uri="{FF2B5EF4-FFF2-40B4-BE49-F238E27FC236}">
                <a16:creationId xmlns:a16="http://schemas.microsoft.com/office/drawing/2014/main" id="{F100664B-AF0E-55DF-5733-A83DE950839D}"/>
              </a:ext>
            </a:extLst>
          </p:cNvPr>
          <p:cNvGraphicFramePr>
            <a:graphicFrameLocks noGrp="1"/>
          </p:cNvGraphicFramePr>
          <p:nvPr>
            <p:extLst>
              <p:ext uri="{D42A27DB-BD31-4B8C-83A1-F6EECF244321}">
                <p14:modId xmlns:p14="http://schemas.microsoft.com/office/powerpoint/2010/main" val="2427937766"/>
              </p:ext>
            </p:extLst>
          </p:nvPr>
        </p:nvGraphicFramePr>
        <p:xfrm>
          <a:off x="413545" y="2717485"/>
          <a:ext cx="6025820" cy="2676398"/>
        </p:xfrm>
        <a:graphic>
          <a:graphicData uri="http://schemas.openxmlformats.org/drawingml/2006/table">
            <a:tbl>
              <a:tblPr/>
              <a:tblGrid>
                <a:gridCol w="391356">
                  <a:extLst>
                    <a:ext uri="{9D8B030D-6E8A-4147-A177-3AD203B41FA5}">
                      <a16:colId xmlns:a16="http://schemas.microsoft.com/office/drawing/2014/main" val="1634891475"/>
                    </a:ext>
                  </a:extLst>
                </a:gridCol>
                <a:gridCol w="487856">
                  <a:extLst>
                    <a:ext uri="{9D8B030D-6E8A-4147-A177-3AD203B41FA5}">
                      <a16:colId xmlns:a16="http://schemas.microsoft.com/office/drawing/2014/main" val="1203598015"/>
                    </a:ext>
                  </a:extLst>
                </a:gridCol>
                <a:gridCol w="428884">
                  <a:extLst>
                    <a:ext uri="{9D8B030D-6E8A-4147-A177-3AD203B41FA5}">
                      <a16:colId xmlns:a16="http://schemas.microsoft.com/office/drawing/2014/main" val="1341611930"/>
                    </a:ext>
                  </a:extLst>
                </a:gridCol>
                <a:gridCol w="428884">
                  <a:extLst>
                    <a:ext uri="{9D8B030D-6E8A-4147-A177-3AD203B41FA5}">
                      <a16:colId xmlns:a16="http://schemas.microsoft.com/office/drawing/2014/main" val="4244480464"/>
                    </a:ext>
                  </a:extLst>
                </a:gridCol>
                <a:gridCol w="428884">
                  <a:extLst>
                    <a:ext uri="{9D8B030D-6E8A-4147-A177-3AD203B41FA5}">
                      <a16:colId xmlns:a16="http://schemas.microsoft.com/office/drawing/2014/main" val="112774941"/>
                    </a:ext>
                  </a:extLst>
                </a:gridCol>
                <a:gridCol w="428884">
                  <a:extLst>
                    <a:ext uri="{9D8B030D-6E8A-4147-A177-3AD203B41FA5}">
                      <a16:colId xmlns:a16="http://schemas.microsoft.com/office/drawing/2014/main" val="877284966"/>
                    </a:ext>
                  </a:extLst>
                </a:gridCol>
                <a:gridCol w="428884">
                  <a:extLst>
                    <a:ext uri="{9D8B030D-6E8A-4147-A177-3AD203B41FA5}">
                      <a16:colId xmlns:a16="http://schemas.microsoft.com/office/drawing/2014/main" val="3571153352"/>
                    </a:ext>
                  </a:extLst>
                </a:gridCol>
                <a:gridCol w="428884">
                  <a:extLst>
                    <a:ext uri="{9D8B030D-6E8A-4147-A177-3AD203B41FA5}">
                      <a16:colId xmlns:a16="http://schemas.microsoft.com/office/drawing/2014/main" val="3524465244"/>
                    </a:ext>
                  </a:extLst>
                </a:gridCol>
                <a:gridCol w="428884">
                  <a:extLst>
                    <a:ext uri="{9D8B030D-6E8A-4147-A177-3AD203B41FA5}">
                      <a16:colId xmlns:a16="http://schemas.microsoft.com/office/drawing/2014/main" val="2616260109"/>
                    </a:ext>
                  </a:extLst>
                </a:gridCol>
                <a:gridCol w="428884">
                  <a:extLst>
                    <a:ext uri="{9D8B030D-6E8A-4147-A177-3AD203B41FA5}">
                      <a16:colId xmlns:a16="http://schemas.microsoft.com/office/drawing/2014/main" val="1685215795"/>
                    </a:ext>
                  </a:extLst>
                </a:gridCol>
                <a:gridCol w="428884">
                  <a:extLst>
                    <a:ext uri="{9D8B030D-6E8A-4147-A177-3AD203B41FA5}">
                      <a16:colId xmlns:a16="http://schemas.microsoft.com/office/drawing/2014/main" val="3113989274"/>
                    </a:ext>
                  </a:extLst>
                </a:gridCol>
                <a:gridCol w="428884">
                  <a:extLst>
                    <a:ext uri="{9D8B030D-6E8A-4147-A177-3AD203B41FA5}">
                      <a16:colId xmlns:a16="http://schemas.microsoft.com/office/drawing/2014/main" val="2876094526"/>
                    </a:ext>
                  </a:extLst>
                </a:gridCol>
                <a:gridCol w="428884">
                  <a:extLst>
                    <a:ext uri="{9D8B030D-6E8A-4147-A177-3AD203B41FA5}">
                      <a16:colId xmlns:a16="http://schemas.microsoft.com/office/drawing/2014/main" val="2527861826"/>
                    </a:ext>
                  </a:extLst>
                </a:gridCol>
                <a:gridCol w="428884">
                  <a:extLst>
                    <a:ext uri="{9D8B030D-6E8A-4147-A177-3AD203B41FA5}">
                      <a16:colId xmlns:a16="http://schemas.microsoft.com/office/drawing/2014/main" val="628964086"/>
                    </a:ext>
                  </a:extLst>
                </a:gridCol>
              </a:tblGrid>
              <a:tr h="66155">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CHx_LD_TYPE</a:t>
                      </a:r>
                    </a:p>
                    <a:p>
                      <a:pPr algn="ct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(register)</a:t>
                      </a: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974932789"/>
                  </a:ext>
                </a:extLst>
              </a:tr>
              <a:tr h="234088">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35780385"/>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LD_SIZE(register) </a:t>
                      </a:r>
                    </a:p>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968559316"/>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411040"/>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mn-ea"/>
                        </a:rPr>
                        <a:t>CHx_LD_TYPE</a:t>
                      </a:r>
                    </a:p>
                    <a:p>
                      <a:pPr algn="ctr" fontAlgn="ctr"/>
                      <a:r>
                        <a:rPr lang="en-US" altLang="ko-KR" sz="700" b="0" i="0" u="none" strike="noStrike">
                          <a:solidFill>
                            <a:srgbClr val="000000"/>
                          </a:solidFill>
                          <a:effectLst/>
                          <a:latin typeface="맑은 고딕" panose="020B0503020000020004" pitchFamily="50" charset="-127"/>
                          <a:ea typeface="+mn-ea"/>
                        </a:rPr>
                        <a:t>(register</a:t>
                      </a:r>
                      <a:endParaRPr 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695181949"/>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61594089"/>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LD_SIZE(register)</a:t>
                      </a:r>
                    </a:p>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 =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1303030"/>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629457"/>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mn-ea"/>
                        </a:rPr>
                        <a:t>CHx_LD_TYPE</a:t>
                      </a:r>
                    </a:p>
                    <a:p>
                      <a:pPr algn="ctr" fontAlgn="ctr"/>
                      <a:r>
                        <a:rPr lang="en-US" altLang="ko-KR" sz="700" b="0" i="0" u="none" strike="noStrike">
                          <a:solidFill>
                            <a:srgbClr val="000000"/>
                          </a:solidFill>
                          <a:effectLst/>
                          <a:latin typeface="맑은 고딕" panose="020B0503020000020004" pitchFamily="50" charset="-127"/>
                          <a:ea typeface="+mn-ea"/>
                        </a:rPr>
                        <a:t>(register</a:t>
                      </a:r>
                      <a:endParaRPr 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74076815"/>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8911524"/>
                  </a:ext>
                </a:extLst>
              </a:tr>
              <a:tr h="24521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LD_SIZE (register) </a:t>
                      </a:r>
                    </a:p>
                    <a:p>
                      <a:pPr algn="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 15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817143"/>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3">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a:solidFill>
                            <a:srgbClr val="000000"/>
                          </a:solidFill>
                          <a:effectLst/>
                          <a:latin typeface="맑은 고딕" panose="020B0503020000020004" pitchFamily="50" charset="-127"/>
                          <a:ea typeface="맑은 고딕" panose="020B0503020000020004" pitchFamily="50" charset="-127"/>
                        </a:rPr>
                        <a:t>x means the </a:t>
                      </a:r>
                      <a:r>
                        <a:rPr lang="en-US" sz="700" b="0" i="0" u="none" strike="noStrike" err="1">
                          <a:solidFill>
                            <a:srgbClr val="000000"/>
                          </a:solidFill>
                          <a:effectLst/>
                          <a:latin typeface="맑은 고딕" panose="020B0503020000020004" pitchFamily="50" charset="-127"/>
                          <a:ea typeface="맑은 고딕" panose="020B0503020000020004" pitchFamily="50" charset="-127"/>
                        </a:rPr>
                        <a:t>CHx_EN</a:t>
                      </a:r>
                      <a:r>
                        <a:rPr lang="en-US" sz="700" b="0" i="0" u="none" strike="noStrike">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50256780"/>
                  </a:ext>
                </a:extLst>
              </a:tr>
            </a:tbl>
          </a:graphicData>
        </a:graphic>
      </p:graphicFrame>
      <p:sp>
        <p:nvSpPr>
          <p:cNvPr id="8" name="TextBox 7">
            <a:extLst>
              <a:ext uri="{FF2B5EF4-FFF2-40B4-BE49-F238E27FC236}">
                <a16:creationId xmlns:a16="http://schemas.microsoft.com/office/drawing/2014/main" id="{DF74FF1B-9AA3-D35E-487A-8A4A306CC850}"/>
              </a:ext>
            </a:extLst>
          </p:cNvPr>
          <p:cNvSpPr txBox="1"/>
          <p:nvPr/>
        </p:nvSpPr>
        <p:spPr>
          <a:xfrm>
            <a:off x="2183574" y="5261180"/>
            <a:ext cx="2244204" cy="138499"/>
          </a:xfrm>
          <a:prstGeom prst="rect">
            <a:avLst/>
          </a:prstGeom>
          <a:noFill/>
        </p:spPr>
        <p:txBody>
          <a:bodyPr wrap="none" lIns="0" tIns="0" rIns="0" bIns="0" rtlCol="0" anchor="ctr" anchorCtr="0">
            <a:spAutoFit/>
          </a:bodyPr>
          <a:lstStyle/>
          <a:p>
            <a:r>
              <a:rPr lang="en-US" altLang="ko-KR" sz="900" b="1">
                <a:latin typeface="Arial" panose="020B0604020202020204" pitchFamily="34" charset="0"/>
                <a:cs typeface="Arial" panose="020B0604020202020204" pitchFamily="34" charset="0"/>
              </a:rPr>
              <a:t>Table 8. ID601 Flexible channel mapping </a:t>
            </a:r>
          </a:p>
        </p:txBody>
      </p:sp>
    </p:spTree>
    <p:extLst>
      <p:ext uri="{BB962C8B-B14F-4D97-AF65-F5344CB8AC3E}">
        <p14:creationId xmlns:p14="http://schemas.microsoft.com/office/powerpoint/2010/main" val="365961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08556"/>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TYPE-3 (GB, 12CH)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ID601 supports two LEDs(green, blue) dimming.</a:t>
            </a:r>
          </a:p>
          <a:p>
            <a:pPr algn="just"/>
            <a:r>
              <a:rPr lang="en-US" altLang="ko-KR" sz="1000" dirty="0">
                <a:latin typeface="Arial" panose="020B0604020202020204" pitchFamily="34" charset="0"/>
                <a:cs typeface="Arial" panose="020B0604020202020204" pitchFamily="34" charset="0"/>
              </a:rPr>
              <a:t>Type-3 mode supports time-division dimming for two LEDs (green/blue) per channel.</a:t>
            </a:r>
          </a:p>
        </p:txBody>
      </p:sp>
      <p:sp>
        <p:nvSpPr>
          <p:cNvPr id="13" name="TextBox 12">
            <a:extLst>
              <a:ext uri="{FF2B5EF4-FFF2-40B4-BE49-F238E27FC236}">
                <a16:creationId xmlns:a16="http://schemas.microsoft.com/office/drawing/2014/main" id="{484A6925-DF40-47E3-FADA-AE51C86971AD}"/>
              </a:ext>
            </a:extLst>
          </p:cNvPr>
          <p:cNvSpPr txBox="1"/>
          <p:nvPr/>
        </p:nvSpPr>
        <p:spPr>
          <a:xfrm>
            <a:off x="1311390" y="7413939"/>
            <a:ext cx="437427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a:t>  Figure. 8  PWM Dimming sequence @ LD_DIR = 0, SYNC_MODE = 0, TYPE-3</a:t>
            </a:r>
          </a:p>
        </p:txBody>
      </p:sp>
      <p:grpSp>
        <p:nvGrpSpPr>
          <p:cNvPr id="24" name="그룹 23">
            <a:extLst>
              <a:ext uri="{FF2B5EF4-FFF2-40B4-BE49-F238E27FC236}">
                <a16:creationId xmlns:a16="http://schemas.microsoft.com/office/drawing/2014/main" id="{9B7CD6EB-ABD6-EE28-C2F4-D9B0AC7C0689}"/>
              </a:ext>
            </a:extLst>
          </p:cNvPr>
          <p:cNvGrpSpPr/>
          <p:nvPr/>
        </p:nvGrpSpPr>
        <p:grpSpPr>
          <a:xfrm>
            <a:off x="1893554" y="2519097"/>
            <a:ext cx="3265487" cy="2387600"/>
            <a:chOff x="1893554" y="2519097"/>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3431841" y="4112947"/>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a:cxnSpLocks/>
            </p:cNvCxnSpPr>
            <p:nvPr/>
          </p:nvCxnSpPr>
          <p:spPr>
            <a:xfrm>
              <a:off x="3157204" y="3647809"/>
              <a:ext cx="0" cy="31221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3592179" y="3738297"/>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3809666" y="3735122"/>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a:cxnSpLocks/>
            </p:cNvCxnSpPr>
            <p:nvPr/>
          </p:nvCxnSpPr>
          <p:spPr>
            <a:xfrm>
              <a:off x="3245644" y="3482709"/>
              <a:ext cx="14577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3012741" y="3566847"/>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3082591" y="3636697"/>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3057191" y="3522397"/>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3177841" y="3520809"/>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3205622" y="3485884"/>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2961941" y="3489059"/>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2726991" y="3252522"/>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2798429" y="3322372"/>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2773029" y="3208072"/>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2893679" y="3206484"/>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2919872" y="3171559"/>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2674604" y="3174734"/>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3689016" y="37478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39001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3692191" y="3154097"/>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a:cxnSpLocks/>
              <a:stCxn id="7" idx="3"/>
            </p:cNvCxnSpPr>
            <p:nvPr/>
          </p:nvCxnSpPr>
          <p:spPr>
            <a:xfrm flipH="1" flipV="1">
              <a:off x="3893804" y="3471597"/>
              <a:ext cx="1752" cy="155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3044491" y="3169972"/>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2088356" y="3485884"/>
              <a:ext cx="9116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a:cxnSpLocks/>
            </p:cNvCxnSpPr>
            <p:nvPr/>
          </p:nvCxnSpPr>
          <p:spPr>
            <a:xfrm>
              <a:off x="2095500" y="3173147"/>
              <a:ext cx="66006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3687429" y="388434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a:cxnSpLocks/>
            </p:cNvCxnSpPr>
            <p:nvPr/>
          </p:nvCxnSpPr>
          <p:spPr>
            <a:xfrm>
              <a:off x="2863516" y="3317609"/>
              <a:ext cx="0" cy="4733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a:cxnSpLocks/>
            </p:cNvCxnSpPr>
            <p:nvPr/>
          </p:nvCxnSpPr>
          <p:spPr>
            <a:xfrm>
              <a:off x="2084054" y="3784335"/>
              <a:ext cx="77979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a:cxnSpLocks/>
            </p:cNvCxnSpPr>
            <p:nvPr/>
          </p:nvCxnSpPr>
          <p:spPr>
            <a:xfrm>
              <a:off x="2084054" y="3960546"/>
              <a:ext cx="107110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2099930" y="3806560"/>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GATE3</a:t>
              </a:r>
              <a:endParaRPr lang="ko-KR" altLang="en-US" sz="900" i="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2103104" y="3639872"/>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2107867" y="3028684"/>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VLED2</a:t>
              </a:r>
              <a:endParaRPr lang="ko-KR" altLang="en-US" sz="900" i="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4387516" y="3731947"/>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4605004" y="3728772"/>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44843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4700254" y="37351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4485941" y="3165209"/>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4490704" y="387799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3716004" y="4141522"/>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3862054" y="3454134"/>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3657266" y="3141397"/>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3760454" y="3854184"/>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4563729" y="3852597"/>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4690729" y="3481122"/>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4605004" y="3887522"/>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3800141" y="3885934"/>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4514516" y="4144697"/>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1893554" y="2519097"/>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4001859" y="4427272"/>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a:solidFill>
                    <a:schemeClr val="tx1"/>
                  </a:solidFill>
                </a:rPr>
                <a:t>ID601</a:t>
              </a:r>
              <a:endParaRPr lang="ko-KR" altLang="en-US" sz="1000" b="1" i="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3582654" y="33445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3816016" y="3339834"/>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4382754" y="3336659"/>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4614529" y="33318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6256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626995"/>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624194"/>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08972" y="3623351"/>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111042" y="3336501"/>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VLED</a:t>
              </a:r>
              <a:r>
                <a:rPr lang="en-US" altLang="ko-KR" sz="900"/>
                <a:t>3</a:t>
              </a:r>
              <a:endParaRPr lang="ko-KR" altLang="en-US" sz="900" i="0">
                <a:solidFill>
                  <a:schemeClr val="tx1"/>
                </a:solidFill>
              </a:endParaRPr>
            </a:p>
          </p:txBody>
        </p:sp>
      </p:grpSp>
      <p:pic>
        <p:nvPicPr>
          <p:cNvPr id="5" name="그림 4">
            <a:extLst>
              <a:ext uri="{FF2B5EF4-FFF2-40B4-BE49-F238E27FC236}">
                <a16:creationId xmlns:a16="http://schemas.microsoft.com/office/drawing/2014/main" id="{C57F3E05-7066-5405-13B8-3D122A0C404D}"/>
              </a:ext>
            </a:extLst>
          </p:cNvPr>
          <p:cNvPicPr>
            <a:picLocks noChangeAspect="1"/>
          </p:cNvPicPr>
          <p:nvPr/>
        </p:nvPicPr>
        <p:blipFill>
          <a:blip r:embed="rId3"/>
          <a:stretch>
            <a:fillRect/>
          </a:stretch>
        </p:blipFill>
        <p:spPr>
          <a:xfrm>
            <a:off x="355541" y="5438509"/>
            <a:ext cx="6040456" cy="1822627"/>
          </a:xfrm>
          <a:prstGeom prst="rect">
            <a:avLst/>
          </a:prstGeom>
        </p:spPr>
      </p:pic>
    </p:spTree>
    <p:extLst>
      <p:ext uri="{BB962C8B-B14F-4D97-AF65-F5344CB8AC3E}">
        <p14:creationId xmlns:p14="http://schemas.microsoft.com/office/powerpoint/2010/main" val="622698608"/>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6E4C5C88-88EE-2342-D647-50E5A0043E5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C5B080C-9E2C-2720-659B-FB102F7FAC98}"/>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02BFDA2-04BA-DCD2-DE2F-079C2BA0E59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1A5A5E52-EA21-8329-B25F-D84FCF60EB6E}"/>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CRC</a:t>
            </a:r>
          </a:p>
        </p:txBody>
      </p:sp>
      <p:sp>
        <p:nvSpPr>
          <p:cNvPr id="9" name="TextBox 8">
            <a:extLst>
              <a:ext uri="{FF2B5EF4-FFF2-40B4-BE49-F238E27FC236}">
                <a16:creationId xmlns:a16="http://schemas.microsoft.com/office/drawing/2014/main" id="{FB63737C-6C21-FEC1-4D2D-87A6EFE870BA}"/>
              </a:ext>
            </a:extLst>
          </p:cNvPr>
          <p:cNvSpPr txBox="1"/>
          <p:nvPr/>
        </p:nvSpPr>
        <p:spPr>
          <a:xfrm>
            <a:off x="629141" y="1711955"/>
            <a:ext cx="5384170" cy="1785104"/>
          </a:xfrm>
          <a:prstGeom prst="rect">
            <a:avLst/>
          </a:prstGeom>
          <a:noFill/>
        </p:spPr>
        <p:txBody>
          <a:bodyPr wrap="square">
            <a:spAutoFit/>
          </a:bodyPr>
          <a:lstStyle/>
          <a:p>
            <a:pPr marL="285750" indent="-285750">
              <a:buFont typeface="Arial" panose="020B0604020202020204" pitchFamily="34" charset="0"/>
              <a:buChar char="•"/>
            </a:pPr>
            <a:r>
              <a:rPr lang="en-US" altLang="ko-KR" sz="1000">
                <a:latin typeface="Arial" panose="020B0604020202020204" pitchFamily="34" charset="0"/>
                <a:cs typeface="Arial" panose="020B0604020202020204" pitchFamily="34" charset="0"/>
              </a:rPr>
              <a:t>Serial communication command/response </a:t>
            </a:r>
          </a:p>
          <a:p>
            <a:pPr marL="285750" indent="-285750">
              <a:buFont typeface="Arial" panose="020B0604020202020204" pitchFamily="34" charset="0"/>
              <a:buChar char="•"/>
            </a:pPr>
            <a:endParaRPr lang="en-US" altLang="ko-KR" sz="10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ko-KR" sz="1000">
                <a:latin typeface="Arial" panose="020B0604020202020204" pitchFamily="34" charset="0"/>
                <a:cs typeface="Arial" panose="020B0604020202020204" pitchFamily="34" charset="0"/>
              </a:rPr>
              <a:t>CRC-8 SAE J1850 (0x1D poly, 0xFF </a:t>
            </a:r>
            <a:r>
              <a:rPr lang="en-US" altLang="ko-KR" sz="1000" err="1">
                <a:latin typeface="Arial" panose="020B0604020202020204" pitchFamily="34" charset="0"/>
                <a:cs typeface="Arial" panose="020B0604020202020204" pitchFamily="34" charset="0"/>
              </a:rPr>
              <a:t>init</a:t>
            </a:r>
            <a:r>
              <a:rPr lang="en-US" altLang="ko-KR" sz="1000">
                <a:latin typeface="Arial" panose="020B0604020202020204" pitchFamily="34" charset="0"/>
                <a:cs typeface="Arial" panose="020B0604020202020204" pitchFamily="34" charset="0"/>
              </a:rPr>
              <a:t>, 0xFF final XOR, non-reflected)</a:t>
            </a:r>
          </a:p>
          <a:p>
            <a:pPr marL="285750" indent="-285750">
              <a:buFont typeface="Arial" panose="020B0604020202020204" pitchFamily="34" charset="0"/>
              <a:buChar char="•"/>
            </a:pPr>
            <a:endParaRPr lang="en-US" altLang="ko-KR" sz="10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ko-KR" sz="1000">
                <a:latin typeface="Arial" panose="020B0604020202020204" pitchFamily="34" charset="0"/>
                <a:cs typeface="Arial" panose="020B0604020202020204" pitchFamily="34" charset="0"/>
              </a:rPr>
              <a:t>The CRC for the command is transmitted for each daily connected ID601 and compared with the CRC calculation result for the {command ~ data} bits.</a:t>
            </a:r>
          </a:p>
          <a:p>
            <a:pPr marL="285750" indent="-285750">
              <a:buFont typeface="Arial" panose="020B0604020202020204" pitchFamily="34" charset="0"/>
              <a:buChar char="•"/>
            </a:pPr>
            <a:endParaRPr lang="en-US" altLang="ko-KR" sz="10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ko-KR" sz="1000">
                <a:latin typeface="Arial" panose="020B0604020202020204" pitchFamily="34" charset="0"/>
                <a:cs typeface="Arial" panose="020B0604020202020204" pitchFamily="34" charset="0"/>
              </a:rPr>
              <a:t>If a CRC error occurs, a flag is printed and all commands except LD commands are ignored.</a:t>
            </a:r>
          </a:p>
          <a:p>
            <a:pPr marL="285750" indent="-285750">
              <a:buFont typeface="Arial" panose="020B0604020202020204" pitchFamily="34" charset="0"/>
              <a:buChar char="•"/>
            </a:pPr>
            <a:endParaRPr lang="en-US" altLang="ko-KR" sz="10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ko-KR" sz="1000">
                <a:latin typeface="Arial" panose="020B0604020202020204" pitchFamily="34" charset="0"/>
                <a:cs typeface="Arial" panose="020B0604020202020204" pitchFamily="34" charset="0"/>
              </a:rPr>
              <a:t>The CRC for the {command ~ data} bits is transmitted during local reads and fault reads.</a:t>
            </a:r>
            <a:endParaRPr lang="ko-KR" altLang="en-US" sz="1000">
              <a:latin typeface="Arial" panose="020B0604020202020204" pitchFamily="34" charset="0"/>
              <a:cs typeface="Arial" panose="020B0604020202020204" pitchFamily="34" charset="0"/>
            </a:endParaRPr>
          </a:p>
        </p:txBody>
      </p:sp>
      <p:pic>
        <p:nvPicPr>
          <p:cNvPr id="10" name="그림 9">
            <a:extLst>
              <a:ext uri="{FF2B5EF4-FFF2-40B4-BE49-F238E27FC236}">
                <a16:creationId xmlns:a16="http://schemas.microsoft.com/office/drawing/2014/main" id="{FE931CF3-56AF-722C-F0E7-31CFDB523311}"/>
              </a:ext>
            </a:extLst>
          </p:cNvPr>
          <p:cNvPicPr>
            <a:picLocks noChangeAspect="1"/>
          </p:cNvPicPr>
          <p:nvPr/>
        </p:nvPicPr>
        <p:blipFill>
          <a:blip r:embed="rId2"/>
          <a:stretch>
            <a:fillRect/>
          </a:stretch>
        </p:blipFill>
        <p:spPr>
          <a:xfrm>
            <a:off x="469783" y="3918733"/>
            <a:ext cx="6021708" cy="2294479"/>
          </a:xfrm>
          <a:prstGeom prst="rect">
            <a:avLst/>
          </a:prstGeom>
        </p:spPr>
      </p:pic>
    </p:spTree>
    <p:extLst>
      <p:ext uri="{BB962C8B-B14F-4D97-AF65-F5344CB8AC3E}">
        <p14:creationId xmlns:p14="http://schemas.microsoft.com/office/powerpoint/2010/main" val="4256071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4AB3A34B-6C34-D5A8-33A5-A762CDAF783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36839C8-BDDD-0D67-9729-1AAA4CB9CB6A}"/>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CE70822-60BA-3003-5AB3-D66E6A32C730}"/>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EA1069E8-C8FF-6614-049A-89E0B5BA2C6F}"/>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Fault detection</a:t>
            </a:r>
          </a:p>
        </p:txBody>
      </p:sp>
      <p:sp>
        <p:nvSpPr>
          <p:cNvPr id="3" name="TextBox 2">
            <a:extLst>
              <a:ext uri="{FF2B5EF4-FFF2-40B4-BE49-F238E27FC236}">
                <a16:creationId xmlns:a16="http://schemas.microsoft.com/office/drawing/2014/main" id="{35547F2B-78EE-264F-35FD-B9D46219AFCF}"/>
              </a:ext>
            </a:extLst>
          </p:cNvPr>
          <p:cNvSpPr txBox="1"/>
          <p:nvPr/>
        </p:nvSpPr>
        <p:spPr>
          <a:xfrm>
            <a:off x="2374074" y="8385607"/>
            <a:ext cx="1893126" cy="138499"/>
          </a:xfrm>
          <a:prstGeom prst="rect">
            <a:avLst/>
          </a:prstGeom>
          <a:noFill/>
        </p:spPr>
        <p:txBody>
          <a:bodyPr wrap="squar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9. Fault detection function</a:t>
            </a:r>
          </a:p>
        </p:txBody>
      </p:sp>
      <p:graphicFrame>
        <p:nvGraphicFramePr>
          <p:cNvPr id="8" name="표 7">
            <a:extLst>
              <a:ext uri="{FF2B5EF4-FFF2-40B4-BE49-F238E27FC236}">
                <a16:creationId xmlns:a16="http://schemas.microsoft.com/office/drawing/2014/main" id="{738EA752-6850-AC9A-FD3B-B43117F6FB16}"/>
              </a:ext>
            </a:extLst>
          </p:cNvPr>
          <p:cNvGraphicFramePr>
            <a:graphicFrameLocks noGrp="1"/>
          </p:cNvGraphicFramePr>
          <p:nvPr>
            <p:extLst>
              <p:ext uri="{D42A27DB-BD31-4B8C-83A1-F6EECF244321}">
                <p14:modId xmlns:p14="http://schemas.microsoft.com/office/powerpoint/2010/main" val="921120184"/>
              </p:ext>
            </p:extLst>
          </p:nvPr>
        </p:nvGraphicFramePr>
        <p:xfrm>
          <a:off x="407554" y="1492535"/>
          <a:ext cx="6174675" cy="6810819"/>
        </p:xfrm>
        <a:graphic>
          <a:graphicData uri="http://schemas.openxmlformats.org/drawingml/2006/table">
            <a:tbl>
              <a:tblPr firstRow="1" bandRow="1"/>
              <a:tblGrid>
                <a:gridCol w="486813">
                  <a:extLst>
                    <a:ext uri="{9D8B030D-6E8A-4147-A177-3AD203B41FA5}">
                      <a16:colId xmlns:a16="http://schemas.microsoft.com/office/drawing/2014/main" val="172466885"/>
                    </a:ext>
                  </a:extLst>
                </a:gridCol>
                <a:gridCol w="1248462">
                  <a:extLst>
                    <a:ext uri="{9D8B030D-6E8A-4147-A177-3AD203B41FA5}">
                      <a16:colId xmlns:a16="http://schemas.microsoft.com/office/drawing/2014/main" val="3662345128"/>
                    </a:ext>
                  </a:extLst>
                </a:gridCol>
                <a:gridCol w="4439400">
                  <a:extLst>
                    <a:ext uri="{9D8B030D-6E8A-4147-A177-3AD203B41FA5}">
                      <a16:colId xmlns:a16="http://schemas.microsoft.com/office/drawing/2014/main" val="1843634400"/>
                    </a:ext>
                  </a:extLst>
                </a:gridCol>
              </a:tblGrid>
              <a:tr h="522719">
                <a:tc>
                  <a:txBody>
                    <a:bodyPr/>
                    <a:lstStyle>
                      <a:lvl1pPr marL="0" algn="l" defTabSz="685800" rtl="0" eaLnBrk="1" latinLnBrk="1" hangingPunct="1">
                        <a:defRPr sz="1350" b="1" kern="1200">
                          <a:solidFill>
                            <a:schemeClr val="lt1"/>
                          </a:solidFill>
                          <a:latin typeface="맑은 고딕" panose="02110004020202020204"/>
                        </a:defRPr>
                      </a:lvl1pPr>
                      <a:lvl2pPr marL="342900" algn="l" defTabSz="685800" rtl="0" eaLnBrk="1" latinLnBrk="1" hangingPunct="1">
                        <a:defRPr sz="1350" b="1" kern="1200">
                          <a:solidFill>
                            <a:schemeClr val="lt1"/>
                          </a:solidFill>
                          <a:latin typeface="맑은 고딕" panose="02110004020202020204"/>
                        </a:defRPr>
                      </a:lvl2pPr>
                      <a:lvl3pPr marL="685800" algn="l" defTabSz="685800" rtl="0" eaLnBrk="1" latinLnBrk="1" hangingPunct="1">
                        <a:defRPr sz="1350" b="1" kern="1200">
                          <a:solidFill>
                            <a:schemeClr val="lt1"/>
                          </a:solidFill>
                          <a:latin typeface="맑은 고딕" panose="02110004020202020204"/>
                        </a:defRPr>
                      </a:lvl3pPr>
                      <a:lvl4pPr marL="1028700" algn="l" defTabSz="685800" rtl="0" eaLnBrk="1" latinLnBrk="1" hangingPunct="1">
                        <a:defRPr sz="1350" b="1" kern="1200">
                          <a:solidFill>
                            <a:schemeClr val="lt1"/>
                          </a:solidFill>
                          <a:latin typeface="맑은 고딕" panose="02110004020202020204"/>
                        </a:defRPr>
                      </a:lvl4pPr>
                      <a:lvl5pPr marL="1371600" algn="l" defTabSz="685800" rtl="0" eaLnBrk="1" latinLnBrk="1" hangingPunct="1">
                        <a:defRPr sz="1350" b="1" kern="1200">
                          <a:solidFill>
                            <a:schemeClr val="lt1"/>
                          </a:solidFill>
                          <a:latin typeface="맑은 고딕" panose="02110004020202020204"/>
                        </a:defRPr>
                      </a:lvl5pPr>
                      <a:lvl6pPr marL="1714500" algn="l" defTabSz="685800" rtl="0" eaLnBrk="1" latinLnBrk="1" hangingPunct="1">
                        <a:defRPr sz="1350" b="1" kern="1200">
                          <a:solidFill>
                            <a:schemeClr val="lt1"/>
                          </a:solidFill>
                          <a:latin typeface="맑은 고딕" panose="02110004020202020204"/>
                        </a:defRPr>
                      </a:lvl6pPr>
                      <a:lvl7pPr marL="2057400" algn="l" defTabSz="685800" rtl="0" eaLnBrk="1" latinLnBrk="1" hangingPunct="1">
                        <a:defRPr sz="1350" b="1" kern="1200">
                          <a:solidFill>
                            <a:schemeClr val="lt1"/>
                          </a:solidFill>
                          <a:latin typeface="맑은 고딕" panose="02110004020202020204"/>
                        </a:defRPr>
                      </a:lvl7pPr>
                      <a:lvl8pPr marL="2400300" algn="l" defTabSz="685800" rtl="0" eaLnBrk="1" latinLnBrk="1" hangingPunct="1">
                        <a:defRPr sz="1350" b="1" kern="1200">
                          <a:solidFill>
                            <a:schemeClr val="lt1"/>
                          </a:solidFill>
                          <a:latin typeface="맑은 고딕" panose="02110004020202020204"/>
                        </a:defRPr>
                      </a:lvl8pPr>
                      <a:lvl9pPr marL="2743200" algn="l" defTabSz="685800" rtl="0" eaLnBrk="1" latinLnBrk="1" hangingPunct="1">
                        <a:defRPr sz="1350" b="1" kern="1200">
                          <a:solidFill>
                            <a:schemeClr val="lt1"/>
                          </a:solidFill>
                          <a:latin typeface="맑은 고딕" panose="02110004020202020204"/>
                        </a:defRPr>
                      </a:lvl9pPr>
                    </a:lstStyle>
                    <a:p>
                      <a:pPr algn="ctr" latinLnBrk="1"/>
                      <a:r>
                        <a:rPr lang="en-US" altLang="ko-KR" sz="900" b="0" baseline="0">
                          <a:solidFill>
                            <a:schemeClr val="tx1"/>
                          </a:solidFill>
                          <a:latin typeface="Arial" panose="020B0604020202020204" pitchFamily="34" charset="0"/>
                          <a:ea typeface="현대하모니 L" panose="02020603020101020101" pitchFamily="18" charset="-127"/>
                          <a:cs typeface="Arial" panose="020B0604020202020204" pitchFamily="34" charset="0"/>
                        </a:rPr>
                        <a:t>#</a:t>
                      </a:r>
                      <a:endParaRPr lang="ko-KR" altLang="en-US" sz="900" b="0" baseline="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685800" rtl="0" eaLnBrk="1" latinLnBrk="1" hangingPunct="1">
                        <a:defRPr sz="1350" b="1" kern="1200">
                          <a:solidFill>
                            <a:schemeClr val="lt1"/>
                          </a:solidFill>
                          <a:latin typeface="맑은 고딕" panose="02110004020202020204"/>
                        </a:defRPr>
                      </a:lvl1pPr>
                      <a:lvl2pPr marL="342900" algn="l" defTabSz="685800" rtl="0" eaLnBrk="1" latinLnBrk="1" hangingPunct="1">
                        <a:defRPr sz="1350" b="1" kern="1200">
                          <a:solidFill>
                            <a:schemeClr val="lt1"/>
                          </a:solidFill>
                          <a:latin typeface="맑은 고딕" panose="02110004020202020204"/>
                        </a:defRPr>
                      </a:lvl2pPr>
                      <a:lvl3pPr marL="685800" algn="l" defTabSz="685800" rtl="0" eaLnBrk="1" latinLnBrk="1" hangingPunct="1">
                        <a:defRPr sz="1350" b="1" kern="1200">
                          <a:solidFill>
                            <a:schemeClr val="lt1"/>
                          </a:solidFill>
                          <a:latin typeface="맑은 고딕" panose="02110004020202020204"/>
                        </a:defRPr>
                      </a:lvl3pPr>
                      <a:lvl4pPr marL="1028700" algn="l" defTabSz="685800" rtl="0" eaLnBrk="1" latinLnBrk="1" hangingPunct="1">
                        <a:defRPr sz="1350" b="1" kern="1200">
                          <a:solidFill>
                            <a:schemeClr val="lt1"/>
                          </a:solidFill>
                          <a:latin typeface="맑은 고딕" panose="02110004020202020204"/>
                        </a:defRPr>
                      </a:lvl4pPr>
                      <a:lvl5pPr marL="1371600" algn="l" defTabSz="685800" rtl="0" eaLnBrk="1" latinLnBrk="1" hangingPunct="1">
                        <a:defRPr sz="1350" b="1" kern="1200">
                          <a:solidFill>
                            <a:schemeClr val="lt1"/>
                          </a:solidFill>
                          <a:latin typeface="맑은 고딕" panose="02110004020202020204"/>
                        </a:defRPr>
                      </a:lvl5pPr>
                      <a:lvl6pPr marL="1714500" algn="l" defTabSz="685800" rtl="0" eaLnBrk="1" latinLnBrk="1" hangingPunct="1">
                        <a:defRPr sz="1350" b="1" kern="1200">
                          <a:solidFill>
                            <a:schemeClr val="lt1"/>
                          </a:solidFill>
                          <a:latin typeface="맑은 고딕" panose="02110004020202020204"/>
                        </a:defRPr>
                      </a:lvl6pPr>
                      <a:lvl7pPr marL="2057400" algn="l" defTabSz="685800" rtl="0" eaLnBrk="1" latinLnBrk="1" hangingPunct="1">
                        <a:defRPr sz="1350" b="1" kern="1200">
                          <a:solidFill>
                            <a:schemeClr val="lt1"/>
                          </a:solidFill>
                          <a:latin typeface="맑은 고딕" panose="02110004020202020204"/>
                        </a:defRPr>
                      </a:lvl7pPr>
                      <a:lvl8pPr marL="2400300" algn="l" defTabSz="685800" rtl="0" eaLnBrk="1" latinLnBrk="1" hangingPunct="1">
                        <a:defRPr sz="1350" b="1" kern="1200">
                          <a:solidFill>
                            <a:schemeClr val="lt1"/>
                          </a:solidFill>
                          <a:latin typeface="맑은 고딕" panose="02110004020202020204"/>
                        </a:defRPr>
                      </a:lvl8pPr>
                      <a:lvl9pPr marL="2743200" algn="l" defTabSz="685800" rtl="0" eaLnBrk="1" latinLnBrk="1" hangingPunct="1">
                        <a:defRPr sz="1350" b="1" kern="1200">
                          <a:solidFill>
                            <a:schemeClr val="lt1"/>
                          </a:solidFill>
                          <a:latin typeface="맑은 고딕" panose="02110004020202020204"/>
                        </a:defRPr>
                      </a:lvl9pPr>
                    </a:lstStyle>
                    <a:p>
                      <a:pPr algn="ctr" latinLnBrk="1"/>
                      <a:r>
                        <a:rPr lang="en-US" altLang="ko-KR" sz="900" b="0" baseline="0">
                          <a:solidFill>
                            <a:schemeClr val="tx1"/>
                          </a:solidFill>
                          <a:latin typeface="Arial" panose="020B0604020202020204" pitchFamily="34" charset="0"/>
                          <a:ea typeface="현대하모니 L" panose="02020603020101020101" pitchFamily="18" charset="-127"/>
                          <a:cs typeface="Arial" panose="020B0604020202020204" pitchFamily="34" charset="0"/>
                        </a:rPr>
                        <a:t>Fault detection function</a:t>
                      </a:r>
                      <a:endParaRPr lang="ko-KR" altLang="en-US" sz="900" b="0" baseline="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685800" rtl="0" eaLnBrk="1" latinLnBrk="1" hangingPunct="1">
                        <a:defRPr sz="1350" b="1" kern="1200">
                          <a:solidFill>
                            <a:schemeClr val="lt1"/>
                          </a:solidFill>
                          <a:latin typeface="맑은 고딕" panose="02110004020202020204"/>
                        </a:defRPr>
                      </a:lvl1pPr>
                      <a:lvl2pPr marL="342900" algn="l" defTabSz="685800" rtl="0" eaLnBrk="1" latinLnBrk="1" hangingPunct="1">
                        <a:defRPr sz="1350" b="1" kern="1200">
                          <a:solidFill>
                            <a:schemeClr val="lt1"/>
                          </a:solidFill>
                          <a:latin typeface="맑은 고딕" panose="02110004020202020204"/>
                        </a:defRPr>
                      </a:lvl2pPr>
                      <a:lvl3pPr marL="685800" algn="l" defTabSz="685800" rtl="0" eaLnBrk="1" latinLnBrk="1" hangingPunct="1">
                        <a:defRPr sz="1350" b="1" kern="1200">
                          <a:solidFill>
                            <a:schemeClr val="lt1"/>
                          </a:solidFill>
                          <a:latin typeface="맑은 고딕" panose="02110004020202020204"/>
                        </a:defRPr>
                      </a:lvl3pPr>
                      <a:lvl4pPr marL="1028700" algn="l" defTabSz="685800" rtl="0" eaLnBrk="1" latinLnBrk="1" hangingPunct="1">
                        <a:defRPr sz="1350" b="1" kern="1200">
                          <a:solidFill>
                            <a:schemeClr val="lt1"/>
                          </a:solidFill>
                          <a:latin typeface="맑은 고딕" panose="02110004020202020204"/>
                        </a:defRPr>
                      </a:lvl4pPr>
                      <a:lvl5pPr marL="1371600" algn="l" defTabSz="685800" rtl="0" eaLnBrk="1" latinLnBrk="1" hangingPunct="1">
                        <a:defRPr sz="1350" b="1" kern="1200">
                          <a:solidFill>
                            <a:schemeClr val="lt1"/>
                          </a:solidFill>
                          <a:latin typeface="맑은 고딕" panose="02110004020202020204"/>
                        </a:defRPr>
                      </a:lvl5pPr>
                      <a:lvl6pPr marL="1714500" algn="l" defTabSz="685800" rtl="0" eaLnBrk="1" latinLnBrk="1" hangingPunct="1">
                        <a:defRPr sz="1350" b="1" kern="1200">
                          <a:solidFill>
                            <a:schemeClr val="lt1"/>
                          </a:solidFill>
                          <a:latin typeface="맑은 고딕" panose="02110004020202020204"/>
                        </a:defRPr>
                      </a:lvl6pPr>
                      <a:lvl7pPr marL="2057400" algn="l" defTabSz="685800" rtl="0" eaLnBrk="1" latinLnBrk="1" hangingPunct="1">
                        <a:defRPr sz="1350" b="1" kern="1200">
                          <a:solidFill>
                            <a:schemeClr val="lt1"/>
                          </a:solidFill>
                          <a:latin typeface="맑은 고딕" panose="02110004020202020204"/>
                        </a:defRPr>
                      </a:lvl7pPr>
                      <a:lvl8pPr marL="2400300" algn="l" defTabSz="685800" rtl="0" eaLnBrk="1" latinLnBrk="1" hangingPunct="1">
                        <a:defRPr sz="1350" b="1" kern="1200">
                          <a:solidFill>
                            <a:schemeClr val="lt1"/>
                          </a:solidFill>
                          <a:latin typeface="맑은 고딕" panose="02110004020202020204"/>
                        </a:defRPr>
                      </a:lvl8pPr>
                      <a:lvl9pPr marL="2743200" algn="l" defTabSz="685800" rtl="0" eaLnBrk="1" latinLnBrk="1" hangingPunct="1">
                        <a:defRPr sz="1350" b="1" kern="1200">
                          <a:solidFill>
                            <a:schemeClr val="lt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description</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0" marR="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44147"/>
                  </a:ext>
                </a:extLst>
              </a:tr>
              <a:tr h="648117">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1</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RESP_ERR</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timeout during read/fault response or CRC check failure during fault response have been occurred when CRC_EN is enabled. This bit is cleared by a read operation and not cleared by fault (auto)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3447569"/>
                  </a:ext>
                </a:extLst>
              </a:tr>
              <a:tr h="427564">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2</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Arial" panose="020B0604020202020204" pitchFamily="34" charset="0"/>
                          <a:ea typeface="현대하모니 L" panose="02020603020101020101" pitchFamily="18" charset="-127"/>
                          <a:cs typeface="Arial" panose="020B0604020202020204" pitchFamily="34" charset="0"/>
                        </a:rPr>
                        <a:t>CMD_ERR</a:t>
                      </a:r>
                      <a:endParaRPr lang="ko-KR" altLang="en-US" sz="900" b="0" kern="120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CRC error or invalid bit error in the command frame event have been occurred when CRC_EN is enabled. This bit is cleared by a read operation and not cleared by fault (auto)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6714125"/>
                  </a:ext>
                </a:extLst>
              </a:tr>
              <a:tr h="470980">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3</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WD_TIMEOUT</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watchdog timeout event has been occurred. This bit is cleared by a read operation and not cleared by fault (auto)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0433711"/>
                  </a:ext>
                </a:extLst>
              </a:tr>
              <a:tr h="390443">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4</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VS_MISS</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The VSYNC missing detection function is whether the </a:t>
                      </a:r>
                      <a:r>
                        <a:rPr lang="en-US" altLang="ko-KR" sz="900" b="0" dirty="0" err="1">
                          <a:solidFill>
                            <a:schemeClr val="tx1"/>
                          </a:solidFill>
                          <a:latin typeface="Arial" panose="020B0604020202020204" pitchFamily="34" charset="0"/>
                          <a:ea typeface="현대하모니 L" panose="02020603020101020101" pitchFamily="18" charset="-127"/>
                          <a:cs typeface="Arial" panose="020B0604020202020204" pitchFamily="34" charset="0"/>
                        </a:rPr>
                        <a:t>vsync</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 missing event happens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6510836"/>
                  </a:ext>
                </a:extLst>
              </a:tr>
              <a:tr h="427564">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5</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CH_CTRL_MISMATCH</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logic mismatch in channel control output event has been occurred. This bit is cleared by a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446277"/>
                  </a:ext>
                </a:extLst>
              </a:tr>
              <a:tr h="427564">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6</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VREF_OV</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VREF OV event has been occurred. This bit is cleared by a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2587516"/>
                  </a:ext>
                </a:extLst>
              </a:tr>
              <a:tr h="427564">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7</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VREF_UV</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VREF UV event has been occurred. This bit is cleared by a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7988734"/>
                  </a:ext>
                </a:extLst>
              </a:tr>
              <a:tr h="427564">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8</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OSC_LDO_OV</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OSC_LDO_OV event has been occurred. This bit is cleared by a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5345458"/>
                  </a:ext>
                </a:extLst>
              </a:tr>
              <a:tr h="427564">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9</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OSC_LDO_UV</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OSC_LDO_UV event has been occurred. This bit is cleared by a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3976026"/>
                  </a:ext>
                </a:extLst>
              </a:tr>
              <a:tr h="427564">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10</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LDO_OV</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The LDO OV indicates whether the internal LDO has over-voltage or not.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7516080"/>
                  </a:ext>
                </a:extLst>
              </a:tr>
              <a:tr h="427564">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11</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LDO_UV</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The LDO UV indicates whether the internal LDO has under-voltage or not.</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9820380"/>
                  </a:ext>
                </a:extLst>
              </a:tr>
              <a:tr h="427564">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12</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THERMAL</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92075" marR="0" lvl="0" indent="-92075"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Thermal detection function is whether the THERMAL event due to overheating happens.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9706107"/>
                  </a:ext>
                </a:extLst>
              </a:tr>
              <a:tr h="427564">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13</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OPEN_CH1 ~ OPEN_CH12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indent="-92075" algn="l"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OPEN event has been occurred in corresponding channel. This bit is cleared by a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1717762"/>
                  </a:ext>
                </a:extLst>
              </a:tr>
              <a:tr h="427564">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14</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algn="ctr"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SHORT_CH1 ~ SHORT_CH12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dk1"/>
                          </a:solidFill>
                          <a:latin typeface="맑은 고딕" panose="02110004020202020204"/>
                        </a:defRPr>
                      </a:lvl1pPr>
                      <a:lvl2pPr marL="342900" algn="l" defTabSz="685800" rtl="0" eaLnBrk="1" latinLnBrk="1" hangingPunct="1">
                        <a:defRPr sz="1350" kern="1200">
                          <a:solidFill>
                            <a:schemeClr val="dk1"/>
                          </a:solidFill>
                          <a:latin typeface="맑은 고딕" panose="02110004020202020204"/>
                        </a:defRPr>
                      </a:lvl2pPr>
                      <a:lvl3pPr marL="685800" algn="l" defTabSz="685800" rtl="0" eaLnBrk="1" latinLnBrk="1" hangingPunct="1">
                        <a:defRPr sz="1350" kern="1200">
                          <a:solidFill>
                            <a:schemeClr val="dk1"/>
                          </a:solidFill>
                          <a:latin typeface="맑은 고딕" panose="02110004020202020204"/>
                        </a:defRPr>
                      </a:lvl3pPr>
                      <a:lvl4pPr marL="1028700" algn="l" defTabSz="685800" rtl="0" eaLnBrk="1" latinLnBrk="1" hangingPunct="1">
                        <a:defRPr sz="1350" kern="1200">
                          <a:solidFill>
                            <a:schemeClr val="dk1"/>
                          </a:solidFill>
                          <a:latin typeface="맑은 고딕" panose="02110004020202020204"/>
                        </a:defRPr>
                      </a:lvl4pPr>
                      <a:lvl5pPr marL="1371600" algn="l" defTabSz="685800" rtl="0" eaLnBrk="1" latinLnBrk="1" hangingPunct="1">
                        <a:defRPr sz="1350" kern="1200">
                          <a:solidFill>
                            <a:schemeClr val="dk1"/>
                          </a:solidFill>
                          <a:latin typeface="맑은 고딕" panose="02110004020202020204"/>
                        </a:defRPr>
                      </a:lvl5pPr>
                      <a:lvl6pPr marL="1714500" algn="l" defTabSz="685800" rtl="0" eaLnBrk="1" latinLnBrk="1" hangingPunct="1">
                        <a:defRPr sz="1350" kern="1200">
                          <a:solidFill>
                            <a:schemeClr val="dk1"/>
                          </a:solidFill>
                          <a:latin typeface="맑은 고딕" panose="02110004020202020204"/>
                        </a:defRPr>
                      </a:lvl6pPr>
                      <a:lvl7pPr marL="2057400" algn="l" defTabSz="685800" rtl="0" eaLnBrk="1" latinLnBrk="1" hangingPunct="1">
                        <a:defRPr sz="1350" kern="1200">
                          <a:solidFill>
                            <a:schemeClr val="dk1"/>
                          </a:solidFill>
                          <a:latin typeface="맑은 고딕" panose="02110004020202020204"/>
                        </a:defRPr>
                      </a:lvl7pPr>
                      <a:lvl8pPr marL="2400300" algn="l" defTabSz="685800" rtl="0" eaLnBrk="1" latinLnBrk="1" hangingPunct="1">
                        <a:defRPr sz="1350" kern="1200">
                          <a:solidFill>
                            <a:schemeClr val="dk1"/>
                          </a:solidFill>
                          <a:latin typeface="맑은 고딕" panose="02110004020202020204"/>
                        </a:defRPr>
                      </a:lvl8pPr>
                      <a:lvl9pPr marL="2743200" algn="l" defTabSz="685800" rtl="0" eaLnBrk="1" latinLnBrk="1" hangingPunct="1">
                        <a:defRPr sz="1350" kern="1200">
                          <a:solidFill>
                            <a:schemeClr val="dk1"/>
                          </a:solidFill>
                          <a:latin typeface="맑은 고딕" panose="02110004020202020204"/>
                        </a:defRPr>
                      </a:lvl9pPr>
                    </a:lstStyle>
                    <a:p>
                      <a:pPr marL="92075" indent="-92075" algn="l" latinLnBrk="1"/>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shows whether a SHORT event has been occurred in corresponding channel. This bit is cleared by a read operation.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8365650"/>
                  </a:ext>
                </a:extLst>
              </a:tr>
            </a:tbl>
          </a:graphicData>
        </a:graphic>
      </p:graphicFrame>
    </p:spTree>
    <p:extLst>
      <p:ext uri="{BB962C8B-B14F-4D97-AF65-F5344CB8AC3E}">
        <p14:creationId xmlns:p14="http://schemas.microsoft.com/office/powerpoint/2010/main" val="420269333"/>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a:t>  Figure 10.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a:t>  Figure 11.  PWM 14-bit</a:t>
            </a:r>
          </a:p>
        </p:txBody>
      </p:sp>
      <p:pic>
        <p:nvPicPr>
          <p:cNvPr id="8" name="그림 7">
            <a:extLst>
              <a:ext uri="{FF2B5EF4-FFF2-40B4-BE49-F238E27FC236}">
                <a16:creationId xmlns:a16="http://schemas.microsoft.com/office/drawing/2014/main" id="{46B0A560-C425-D61E-2DD0-6F0CAF7618C0}"/>
              </a:ext>
            </a:extLst>
          </p:cNvPr>
          <p:cNvPicPr>
            <a:picLocks noChangeAspect="1"/>
          </p:cNvPicPr>
          <p:nvPr/>
        </p:nvPicPr>
        <p:blipFill>
          <a:blip r:embed="rId2"/>
          <a:stretch>
            <a:fillRect/>
          </a:stretch>
        </p:blipFill>
        <p:spPr>
          <a:xfrm rot="5400000">
            <a:off x="1634066" y="4080887"/>
            <a:ext cx="6858000" cy="2061179"/>
          </a:xfrm>
          <a:prstGeom prst="rect">
            <a:avLst/>
          </a:prstGeom>
        </p:spPr>
      </p:pic>
      <p:pic>
        <p:nvPicPr>
          <p:cNvPr id="11" name="그림 10">
            <a:extLst>
              <a:ext uri="{FF2B5EF4-FFF2-40B4-BE49-F238E27FC236}">
                <a16:creationId xmlns:a16="http://schemas.microsoft.com/office/drawing/2014/main" id="{9C79266A-4AC6-7389-2018-727D41ED42D5}"/>
              </a:ext>
            </a:extLst>
          </p:cNvPr>
          <p:cNvPicPr>
            <a:picLocks noChangeAspect="1"/>
          </p:cNvPicPr>
          <p:nvPr/>
        </p:nvPicPr>
        <p:blipFill>
          <a:blip r:embed="rId3"/>
          <a:stretch>
            <a:fillRect/>
          </a:stretch>
        </p:blipFill>
        <p:spPr>
          <a:xfrm rot="5400000">
            <a:off x="-1401234" y="3998535"/>
            <a:ext cx="6858000" cy="2162930"/>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A46AAE-A7DD-AF9F-F40B-39DC5F8F306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3" name="TextBox 2">
            <a:extLst>
              <a:ext uri="{FF2B5EF4-FFF2-40B4-BE49-F238E27FC236}">
                <a16:creationId xmlns:a16="http://schemas.microsoft.com/office/drawing/2014/main" id="{FD9F5CB6-0B19-302A-0D1F-5DF54DF86E3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FLL function</a:t>
            </a:r>
          </a:p>
        </p:txBody>
      </p:sp>
      <p:sp>
        <p:nvSpPr>
          <p:cNvPr id="5" name="TextBox 4">
            <a:extLst>
              <a:ext uri="{FF2B5EF4-FFF2-40B4-BE49-F238E27FC236}">
                <a16:creationId xmlns:a16="http://schemas.microsoft.com/office/drawing/2014/main" id="{AE54B615-4367-6312-6584-BA21BBB2F69B}"/>
              </a:ext>
            </a:extLst>
          </p:cNvPr>
          <p:cNvSpPr txBox="1"/>
          <p:nvPr/>
        </p:nvSpPr>
        <p:spPr>
          <a:xfrm>
            <a:off x="629141" y="1711955"/>
            <a:ext cx="5384170" cy="400110"/>
          </a:xfrm>
          <a:prstGeom prst="rect">
            <a:avLst/>
          </a:prstGeom>
          <a:noFill/>
        </p:spPr>
        <p:txBody>
          <a:bodyPr wrap="square">
            <a:spAutoFit/>
          </a:bodyPr>
          <a:lstStyle/>
          <a:p>
            <a:pPr marL="285750" indent="-2857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The FLL continues to calibrate the MCLK frequency to exactly match the PWM frequency with the time of one frame.</a:t>
            </a:r>
            <a:endParaRPr lang="ko-KR" altLang="en-US" sz="10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D093268-ADA2-C495-98BA-D2E02FD14CA7}"/>
              </a:ext>
            </a:extLst>
          </p:cNvPr>
          <p:cNvSpPr txBox="1"/>
          <p:nvPr/>
        </p:nvSpPr>
        <p:spPr>
          <a:xfrm>
            <a:off x="407554" y="252104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FB function</a:t>
            </a:r>
          </a:p>
        </p:txBody>
      </p:sp>
      <p:sp>
        <p:nvSpPr>
          <p:cNvPr id="8" name="TextBox 7">
            <a:extLst>
              <a:ext uri="{FF2B5EF4-FFF2-40B4-BE49-F238E27FC236}">
                <a16:creationId xmlns:a16="http://schemas.microsoft.com/office/drawing/2014/main" id="{F31FB95B-1E73-F1DA-04FC-395239714E96}"/>
              </a:ext>
            </a:extLst>
          </p:cNvPr>
          <p:cNvSpPr txBox="1"/>
          <p:nvPr/>
        </p:nvSpPr>
        <p:spPr>
          <a:xfrm>
            <a:off x="636401" y="2909379"/>
            <a:ext cx="5384170" cy="246221"/>
          </a:xfrm>
          <a:prstGeom prst="rect">
            <a:avLst/>
          </a:prstGeom>
          <a:noFill/>
        </p:spPr>
        <p:txBody>
          <a:bodyPr wrap="square">
            <a:spAutoFit/>
          </a:bodyPr>
          <a:lstStyle/>
          <a:p>
            <a:pPr marL="285750" indent="-2857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This is a function that allows monitoring of each major fault.</a:t>
            </a:r>
            <a:endParaRPr lang="ko-KR" altLang="en-US" sz="1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4C00504A-68D5-D4BD-04C6-AB613A4B6BA1}"/>
              </a:ext>
            </a:extLst>
          </p:cNvPr>
          <p:cNvSpPr txBox="1"/>
          <p:nvPr/>
        </p:nvSpPr>
        <p:spPr>
          <a:xfrm>
            <a:off x="393040" y="366041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SPREAD function</a:t>
            </a:r>
          </a:p>
        </p:txBody>
      </p:sp>
      <p:sp>
        <p:nvSpPr>
          <p:cNvPr id="10" name="TextBox 9">
            <a:extLst>
              <a:ext uri="{FF2B5EF4-FFF2-40B4-BE49-F238E27FC236}">
                <a16:creationId xmlns:a16="http://schemas.microsoft.com/office/drawing/2014/main" id="{3010C37E-E625-C4F0-9E7F-7EC716975A40}"/>
              </a:ext>
            </a:extLst>
          </p:cNvPr>
          <p:cNvSpPr txBox="1"/>
          <p:nvPr/>
        </p:nvSpPr>
        <p:spPr>
          <a:xfrm>
            <a:off x="621887" y="4048749"/>
            <a:ext cx="5384170" cy="246221"/>
          </a:xfrm>
          <a:prstGeom prst="rect">
            <a:avLst/>
          </a:prstGeom>
          <a:noFill/>
        </p:spPr>
        <p:txBody>
          <a:bodyPr wrap="square">
            <a:spAutoFit/>
          </a:bodyPr>
          <a:lstStyle/>
          <a:p>
            <a:pPr marL="285750" indent="-2857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ID601 support internal OSC frequency spread function for EMI rejection.</a:t>
            </a:r>
            <a:endParaRPr lang="ko-KR" altLang="en-US" sz="1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E1350CB0-31EC-C893-DC2C-CF0CABDABE2C}"/>
              </a:ext>
            </a:extLst>
          </p:cNvPr>
          <p:cNvSpPr txBox="1"/>
          <p:nvPr/>
        </p:nvSpPr>
        <p:spPr>
          <a:xfrm>
            <a:off x="393041" y="4944922"/>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Functional safety related</a:t>
            </a:r>
          </a:p>
        </p:txBody>
      </p:sp>
      <p:sp>
        <p:nvSpPr>
          <p:cNvPr id="12" name="TextBox 11">
            <a:extLst>
              <a:ext uri="{FF2B5EF4-FFF2-40B4-BE49-F238E27FC236}">
                <a16:creationId xmlns:a16="http://schemas.microsoft.com/office/drawing/2014/main" id="{15F5B383-E1EA-3E42-D613-C16C9CA899A8}"/>
              </a:ext>
            </a:extLst>
          </p:cNvPr>
          <p:cNvSpPr txBox="1"/>
          <p:nvPr/>
        </p:nvSpPr>
        <p:spPr>
          <a:xfrm>
            <a:off x="621888" y="5333261"/>
            <a:ext cx="5384170" cy="400110"/>
          </a:xfrm>
          <a:prstGeom prst="rect">
            <a:avLst/>
          </a:prstGeom>
          <a:noFill/>
        </p:spPr>
        <p:txBody>
          <a:bodyPr wrap="square">
            <a:spAutoFit/>
          </a:bodyPr>
          <a:lstStyle/>
          <a:p>
            <a:pPr marL="285750" indent="-2857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ID601</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has</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a</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register Lock function.</a:t>
            </a:r>
          </a:p>
          <a:p>
            <a:pPr marL="285750" indent="-285750">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The purpose of WR_PROTECT is to prevent registers from being unintentionally written.</a:t>
            </a:r>
          </a:p>
        </p:txBody>
      </p:sp>
    </p:spTree>
    <p:extLst>
      <p:ext uri="{BB962C8B-B14F-4D97-AF65-F5344CB8AC3E}">
        <p14:creationId xmlns:p14="http://schemas.microsoft.com/office/powerpoint/2010/main" val="119250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2463614510"/>
              </p:ext>
            </p:extLst>
          </p:nvPr>
        </p:nvGraphicFramePr>
        <p:xfrm>
          <a:off x="404812" y="2194460"/>
          <a:ext cx="6048622" cy="4230802"/>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RST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VS_RST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If this bit is set, then the serializer and de-serializer of ID601  will be initialized to a default state at every vsync. This bit set does not affect all internal registers and buffers. </a:t>
                      </a:r>
                      <a:r>
                        <a:rPr lang="en-US" altLang="ko-KR" sz="900" b="0" i="1">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E_RST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ID601  will be initialized to a default state at the last third </a:t>
                      </a:r>
                      <a:r>
                        <a:rPr lang="en-US" altLang="ko-KR" sz="900" b="0" dirty="0" err="1">
                          <a:solidFill>
                            <a:schemeClr val="tx1"/>
                          </a:solidFill>
                          <a:latin typeface="Arial" panose="020B0604020202020204" pitchFamily="34" charset="0"/>
                          <a:ea typeface="+mn-ea"/>
                          <a:cs typeface="Arial" panose="020B0604020202020204" pitchFamily="34" charset="0"/>
                        </a:rPr>
                        <a:t>pwm</a:t>
                      </a:r>
                      <a:r>
                        <a:rPr lang="en-US" altLang="ko-KR" sz="900" b="0" dirty="0">
                          <a:solidFill>
                            <a:schemeClr val="tx1"/>
                          </a:solidFill>
                          <a:latin typeface="Arial" panose="020B0604020202020204" pitchFamily="34" charset="0"/>
                          <a:ea typeface="+mn-ea"/>
                          <a:cs typeface="Arial" panose="020B0604020202020204" pitchFamily="34" charset="0"/>
                        </a:rPr>
                        <a:t> clock. This function starts from the first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ID601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530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8</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LKG_E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leakage current mode for driver protection to prevent the VLED voltage from being directly applied to the driver output node</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9205630"/>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4:0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ID</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a:solidFill>
                            <a:schemeClr val="tx1"/>
                          </a:solidFill>
                          <a:latin typeface="Arial" panose="020B0604020202020204" pitchFamily="34" charset="0"/>
                          <a:ea typeface="+mn-ea"/>
                          <a:cs typeface="Arial" panose="020B0604020202020204" pitchFamily="34" charset="0"/>
                        </a:rPr>
                        <a:t>These bits are read only. If the ID601 will receive the ID-Gen command from the IC603 controller, then the ID value is automatically generated. The ID value is needed for proper reading, so, the ID-Gen command must be firstly executed by the IC603 controller before executing any commands.  If all ID601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1705172530"/>
              </p:ext>
            </p:extLst>
          </p:nvPr>
        </p:nvGraphicFramePr>
        <p:xfrm>
          <a:off x="386687" y="1816061"/>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RST</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LKG_E</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a:solidFill>
                            <a:schemeClr val="tx1"/>
                          </a:solidFill>
                          <a:latin typeface="Arial" panose="020B0604020202020204" pitchFamily="34" charset="0"/>
                          <a:cs typeface="Arial" panose="020B0604020202020204" pitchFamily="34" charset="0"/>
                        </a:rPr>
                        <a:t>ID [4:0]</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1040024487"/>
              </p:ext>
            </p:extLst>
          </p:nvPr>
        </p:nvGraphicFramePr>
        <p:xfrm>
          <a:off x="396248" y="1578632"/>
          <a:ext cx="6053219" cy="505920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SV_NO</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3028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LD_TYPE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150000"/>
                        </a:lnSpc>
                        <a:buFont typeface="Arial" panose="020B0604020202020204" pitchFamily="34" charset="0"/>
                        <a:buNone/>
                      </a:pPr>
                      <a:r>
                        <a:rPr lang="en-US" altLang="ko-KR" sz="900" b="0">
                          <a:solidFill>
                            <a:schemeClr val="tx1"/>
                          </a:solidFill>
                          <a:latin typeface="Arial" panose="020B0604020202020204" pitchFamily="34" charset="0"/>
                          <a:ea typeface="+mn-ea"/>
                          <a:cs typeface="Arial" panose="020B0604020202020204" pitchFamily="34" charset="0"/>
                        </a:rPr>
                        <a:t>These bits determine the </a:t>
                      </a:r>
                      <a:r>
                        <a:rPr lang="en-US" altLang="ko-KR" sz="900">
                          <a:solidFill>
                            <a:schemeClr val="tx1"/>
                          </a:solidFill>
                          <a:latin typeface="Arial" panose="020B0604020202020204" pitchFamily="34" charset="0"/>
                          <a:cs typeface="Arial" panose="020B0604020202020204" pitchFamily="34" charset="0"/>
                        </a:rPr>
                        <a:t>RGB PWM Dimming (LED1/2/3 PWM Dimming)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TYPE-2/3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a:t>
                      </a:r>
                      <a:r>
                        <a:rPr lang="en-US" altLang="ko-KR" sz="900">
                          <a:solidFill>
                            <a:schemeClr val="tx1"/>
                          </a:solidFill>
                          <a:latin typeface="Arial" panose="020B0604020202020204" pitchFamily="34" charset="0"/>
                          <a:cs typeface="Arial" panose="020B0604020202020204" pitchFamily="34" charset="0"/>
                        </a:rPr>
                        <a:t>TYPE-1</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DELAY_CH_EN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This bit determine the Ch. Delay value for LD_MODE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Ch. delay value in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Ratio of Ch. delay value in normal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(Normal mode SVSYNC = 16, 1/2 of the set Ch. delay value)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PWM_RES</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LD_DIR</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LD_MODE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211856031"/>
              </p:ext>
            </p:extLst>
          </p:nvPr>
        </p:nvGraphicFramePr>
        <p:xfrm>
          <a:off x="401292" y="1108857"/>
          <a:ext cx="6064386"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269813">
                  <a:extLst>
                    <a:ext uri="{9D8B030D-6E8A-4147-A177-3AD203B41FA5}">
                      <a16:colId xmlns:a16="http://schemas.microsoft.com/office/drawing/2014/main" val="2079070694"/>
                    </a:ext>
                  </a:extLst>
                </a:gridCol>
                <a:gridCol w="269813">
                  <a:extLst>
                    <a:ext uri="{9D8B030D-6E8A-4147-A177-3AD203B41FA5}">
                      <a16:colId xmlns:a16="http://schemas.microsoft.com/office/drawing/2014/main" val="4213315911"/>
                    </a:ext>
                  </a:extLst>
                </a:gridCol>
                <a:gridCol w="269813">
                  <a:extLst>
                    <a:ext uri="{9D8B030D-6E8A-4147-A177-3AD203B41FA5}">
                      <a16:colId xmlns:a16="http://schemas.microsoft.com/office/drawing/2014/main" val="2769999950"/>
                    </a:ext>
                  </a:extLst>
                </a:gridCol>
                <a:gridCol w="269813">
                  <a:extLst>
                    <a:ext uri="{9D8B030D-6E8A-4147-A177-3AD203B41FA5}">
                      <a16:colId xmlns:a16="http://schemas.microsoft.com/office/drawing/2014/main" val="135637185"/>
                    </a:ext>
                  </a:extLst>
                </a:gridCol>
                <a:gridCol w="269813">
                  <a:extLst>
                    <a:ext uri="{9D8B030D-6E8A-4147-A177-3AD203B41FA5}">
                      <a16:colId xmlns:a16="http://schemas.microsoft.com/office/drawing/2014/main" val="3038050475"/>
                    </a:ext>
                  </a:extLst>
                </a:gridCol>
                <a:gridCol w="269813">
                  <a:extLst>
                    <a:ext uri="{9D8B030D-6E8A-4147-A177-3AD203B41FA5}">
                      <a16:colId xmlns:a16="http://schemas.microsoft.com/office/drawing/2014/main" val="1979433044"/>
                    </a:ext>
                  </a:extLst>
                </a:gridCol>
                <a:gridCol w="489512">
                  <a:extLst>
                    <a:ext uri="{9D8B030D-6E8A-4147-A177-3AD203B41FA5}">
                      <a16:colId xmlns:a16="http://schemas.microsoft.com/office/drawing/2014/main" val="4270661649"/>
                    </a:ext>
                  </a:extLst>
                </a:gridCol>
                <a:gridCol w="733988">
                  <a:extLst>
                    <a:ext uri="{9D8B030D-6E8A-4147-A177-3AD203B41FA5}">
                      <a16:colId xmlns:a16="http://schemas.microsoft.com/office/drawing/2014/main" val="3027041370"/>
                    </a:ext>
                  </a:extLst>
                </a:gridCol>
                <a:gridCol w="608575">
                  <a:extLst>
                    <a:ext uri="{9D8B030D-6E8A-4147-A177-3AD203B41FA5}">
                      <a16:colId xmlns:a16="http://schemas.microsoft.com/office/drawing/2014/main" val="2852526216"/>
                    </a:ext>
                  </a:extLst>
                </a:gridCol>
                <a:gridCol w="545075">
                  <a:extLst>
                    <a:ext uri="{9D8B030D-6E8A-4147-A177-3AD203B41FA5}">
                      <a16:colId xmlns:a16="http://schemas.microsoft.com/office/drawing/2014/main" val="103420222"/>
                    </a:ext>
                  </a:extLst>
                </a:gridCol>
                <a:gridCol w="411725">
                  <a:extLst>
                    <a:ext uri="{9D8B030D-6E8A-4147-A177-3AD203B41FA5}">
                      <a16:colId xmlns:a16="http://schemas.microsoft.com/office/drawing/2014/main" val="1470405609"/>
                    </a:ext>
                  </a:extLst>
                </a:gridCol>
                <a:gridCol w="555278">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0x01</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SV_NO [5:0]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sz="70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cs typeface="Arial" panose="020B0604020202020204" pitchFamily="34" charset="0"/>
                        </a:rPr>
                        <a:t>LD_TYPE</a:t>
                      </a:r>
                      <a:endPar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DELAY_CH_EN</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cs typeface="Arial" panose="020B0604020202020204" pitchFamily="34" charset="0"/>
                        </a:rPr>
                        <a:t>SYNCMODE</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cs typeface="Arial" panose="020B0604020202020204" pitchFamily="34" charset="0"/>
                        </a:rPr>
                        <a:t>PWM_RES</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LD_DIR</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cs typeface="Arial" panose="020B0604020202020204" pitchFamily="34" charset="0"/>
                        </a:rPr>
                        <a:t>LD_MODE</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LD CONTROL</a:t>
            </a:r>
          </a:p>
        </p:txBody>
      </p:sp>
      <p:graphicFrame>
        <p:nvGraphicFramePr>
          <p:cNvPr id="2" name="표 1">
            <a:extLst>
              <a:ext uri="{FF2B5EF4-FFF2-40B4-BE49-F238E27FC236}">
                <a16:creationId xmlns:a16="http://schemas.microsoft.com/office/drawing/2014/main" id="{A7E92758-7545-2CA4-A461-157CD8AB602D}"/>
              </a:ext>
            </a:extLst>
          </p:cNvPr>
          <p:cNvGraphicFramePr>
            <a:graphicFrameLocks noGrp="1"/>
          </p:cNvGraphicFramePr>
          <p:nvPr>
            <p:extLst>
              <p:ext uri="{D42A27DB-BD31-4B8C-83A1-F6EECF244321}">
                <p14:modId xmlns:p14="http://schemas.microsoft.com/office/powerpoint/2010/main" val="1255808884"/>
              </p:ext>
            </p:extLst>
          </p:nvPr>
        </p:nvGraphicFramePr>
        <p:xfrm>
          <a:off x="419418" y="7080161"/>
          <a:ext cx="6051895"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412545">
                  <a:extLst>
                    <a:ext uri="{9D8B030D-6E8A-4147-A177-3AD203B41FA5}">
                      <a16:colId xmlns:a16="http://schemas.microsoft.com/office/drawing/2014/main" val="2079070694"/>
                    </a:ext>
                  </a:extLst>
                </a:gridCol>
                <a:gridCol w="412545">
                  <a:extLst>
                    <a:ext uri="{9D8B030D-6E8A-4147-A177-3AD203B41FA5}">
                      <a16:colId xmlns:a16="http://schemas.microsoft.com/office/drawing/2014/main" val="4213315911"/>
                    </a:ext>
                  </a:extLst>
                </a:gridCol>
                <a:gridCol w="412545">
                  <a:extLst>
                    <a:ext uri="{9D8B030D-6E8A-4147-A177-3AD203B41FA5}">
                      <a16:colId xmlns:a16="http://schemas.microsoft.com/office/drawing/2014/main" val="2769999950"/>
                    </a:ext>
                  </a:extLst>
                </a:gridCol>
                <a:gridCol w="412545">
                  <a:extLst>
                    <a:ext uri="{9D8B030D-6E8A-4147-A177-3AD203B41FA5}">
                      <a16:colId xmlns:a16="http://schemas.microsoft.com/office/drawing/2014/main" val="135637185"/>
                    </a:ext>
                  </a:extLst>
                </a:gridCol>
                <a:gridCol w="412545">
                  <a:extLst>
                    <a:ext uri="{9D8B030D-6E8A-4147-A177-3AD203B41FA5}">
                      <a16:colId xmlns:a16="http://schemas.microsoft.com/office/drawing/2014/main" val="3038050475"/>
                    </a:ext>
                  </a:extLst>
                </a:gridCol>
                <a:gridCol w="412545">
                  <a:extLst>
                    <a:ext uri="{9D8B030D-6E8A-4147-A177-3AD203B41FA5}">
                      <a16:colId xmlns:a16="http://schemas.microsoft.com/office/drawing/2014/main" val="1979433044"/>
                    </a:ext>
                  </a:extLst>
                </a:gridCol>
                <a:gridCol w="412545">
                  <a:extLst>
                    <a:ext uri="{9D8B030D-6E8A-4147-A177-3AD203B41FA5}">
                      <a16:colId xmlns:a16="http://schemas.microsoft.com/office/drawing/2014/main" val="4270661649"/>
                    </a:ext>
                  </a:extLst>
                </a:gridCol>
                <a:gridCol w="412545">
                  <a:extLst>
                    <a:ext uri="{9D8B030D-6E8A-4147-A177-3AD203B41FA5}">
                      <a16:colId xmlns:a16="http://schemas.microsoft.com/office/drawing/2014/main" val="3027041370"/>
                    </a:ext>
                  </a:extLst>
                </a:gridCol>
                <a:gridCol w="412545">
                  <a:extLst>
                    <a:ext uri="{9D8B030D-6E8A-4147-A177-3AD203B41FA5}">
                      <a16:colId xmlns:a16="http://schemas.microsoft.com/office/drawing/2014/main" val="2852526216"/>
                    </a:ext>
                  </a:extLst>
                </a:gridCol>
                <a:gridCol w="412545">
                  <a:extLst>
                    <a:ext uri="{9D8B030D-6E8A-4147-A177-3AD203B41FA5}">
                      <a16:colId xmlns:a16="http://schemas.microsoft.com/office/drawing/2014/main" val="103420222"/>
                    </a:ext>
                  </a:extLst>
                </a:gridCol>
                <a:gridCol w="412545">
                  <a:extLst>
                    <a:ext uri="{9D8B030D-6E8A-4147-A177-3AD203B41FA5}">
                      <a16:colId xmlns:a16="http://schemas.microsoft.com/office/drawing/2014/main" val="1470405609"/>
                    </a:ext>
                  </a:extLst>
                </a:gridCol>
                <a:gridCol w="412545">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0x02</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rPr>
                        <a:t>x</a:t>
                      </a:r>
                      <a:endParaRPr sz="700">
                        <a:solidFill>
                          <a:schemeClr val="tx1"/>
                        </a:solidFill>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LD_SIZE [5:0]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06563553-0AF3-13DC-A85F-813BFAE4FCDB}"/>
              </a:ext>
            </a:extLst>
          </p:cNvPr>
          <p:cNvSpPr txBox="1"/>
          <p:nvPr/>
        </p:nvSpPr>
        <p:spPr>
          <a:xfrm>
            <a:off x="419417" y="6819490"/>
            <a:ext cx="6052144"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LD SIZE</a:t>
            </a:r>
          </a:p>
        </p:txBody>
      </p:sp>
      <p:graphicFrame>
        <p:nvGraphicFramePr>
          <p:cNvPr id="7" name="표 6">
            <a:extLst>
              <a:ext uri="{FF2B5EF4-FFF2-40B4-BE49-F238E27FC236}">
                <a16:creationId xmlns:a16="http://schemas.microsoft.com/office/drawing/2014/main" id="{D7E20F8D-AE6D-A599-A57B-CF8CC0D197A6}"/>
              </a:ext>
            </a:extLst>
          </p:cNvPr>
          <p:cNvGraphicFramePr>
            <a:graphicFrameLocks noGrp="1"/>
          </p:cNvGraphicFramePr>
          <p:nvPr>
            <p:extLst>
              <p:ext uri="{D42A27DB-BD31-4B8C-83A1-F6EECF244321}">
                <p14:modId xmlns:p14="http://schemas.microsoft.com/office/powerpoint/2010/main" val="3805249449"/>
              </p:ext>
            </p:extLst>
          </p:nvPr>
        </p:nvGraphicFramePr>
        <p:xfrm>
          <a:off x="404813" y="7572383"/>
          <a:ext cx="6053219" cy="89750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LD_SIZE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a:solidFill>
                            <a:schemeClr val="tx1"/>
                          </a:solidFill>
                          <a:latin typeface="Arial" panose="020B0604020202020204" pitchFamily="34" charset="0"/>
                          <a:ea typeface="+mn-ea"/>
                          <a:cs typeface="Arial" panose="020B0604020202020204" pitchFamily="34" charset="0"/>
                        </a:rPr>
                        <a: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bl>
          </a:graphicData>
        </a:graphic>
      </p:graphicFrame>
    </p:spTree>
    <p:extLst>
      <p:ext uri="{BB962C8B-B14F-4D97-AF65-F5344CB8AC3E}">
        <p14:creationId xmlns:p14="http://schemas.microsoft.com/office/powerpoint/2010/main" val="1571062431"/>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953646164"/>
              </p:ext>
            </p:extLst>
          </p:nvPr>
        </p:nvGraphicFramePr>
        <p:xfrm>
          <a:off x="408435" y="2105772"/>
          <a:ext cx="6053732" cy="165276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FPWM_DIV1/2/3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428599149"/>
              </p:ext>
            </p:extLst>
          </p:nvPr>
        </p:nvGraphicFramePr>
        <p:xfrm>
          <a:off x="389761" y="721651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CHx_EN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6496059"/>
            <a:ext cx="6070200"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241881453"/>
              </p:ext>
            </p:extLst>
          </p:nvPr>
        </p:nvGraphicFramePr>
        <p:xfrm>
          <a:off x="394817" y="676157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0x05</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CH12_EN</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36127038"/>
              </p:ext>
            </p:extLst>
          </p:nvPr>
        </p:nvGraphicFramePr>
        <p:xfrm>
          <a:off x="1920179" y="820326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CH1_EN</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CH5_EN</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8215576"/>
            <a:ext cx="854401" cy="215444"/>
          </a:xfrm>
          <a:prstGeom prst="rect">
            <a:avLst/>
          </a:prstGeom>
          <a:noFill/>
        </p:spPr>
        <p:txBody>
          <a:bodyPr wrap="none" lIns="0" tIns="0" rIns="0" bIns="0" rtlCol="0" anchor="ctr" anchorCtr="0">
            <a:spAutoFit/>
          </a:bodyPr>
          <a:lstStyle/>
          <a:p>
            <a:r>
              <a:rPr lang="en-US" altLang="ko-KR" sz="700" i="1">
                <a:latin typeface="Arial" panose="020B0604020202020204" pitchFamily="34" charset="0"/>
                <a:cs typeface="Arial" panose="020B0604020202020204" pitchFamily="34" charset="0"/>
              </a:rPr>
              <a:t>the number of</a:t>
            </a:r>
          </a:p>
          <a:p>
            <a:r>
              <a:rPr lang="en-US" altLang="ko-KR" sz="700" i="1">
                <a:latin typeface="Arial" panose="020B0604020202020204" pitchFamily="34" charset="0"/>
                <a:cs typeface="Arial" panose="020B0604020202020204" pitchFamily="34" charset="0"/>
              </a:rPr>
              <a:t>enabled channels = 5</a:t>
            </a:r>
            <a:endParaRPr lang="ko-KR" altLang="en-US" sz="700" i="1">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867666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8576899"/>
            <a:ext cx="2090317" cy="215444"/>
          </a:xfrm>
          <a:prstGeom prst="rect">
            <a:avLst/>
          </a:prstGeom>
          <a:solidFill>
            <a:schemeClr val="bg1"/>
          </a:solidFill>
        </p:spPr>
        <p:txBody>
          <a:bodyPr wrap="none" lIns="0" tIns="0" rIns="0" bIns="0" rtlCol="0" anchor="ctr" anchorCtr="0">
            <a:spAutoFit/>
          </a:bodyPr>
          <a:lstStyle/>
          <a:p>
            <a:pPr algn="ctr"/>
            <a:r>
              <a:rPr lang="en-US" altLang="ko-KR" sz="700" i="1">
                <a:latin typeface="Arial" panose="020B0604020202020204" pitchFamily="34" charset="0"/>
                <a:cs typeface="Arial" panose="020B0604020202020204" pitchFamily="34" charset="0"/>
              </a:rPr>
              <a:t>the amount of LD data to be transmitted for one time</a:t>
            </a:r>
          </a:p>
          <a:p>
            <a:pPr algn="ctr"/>
            <a:r>
              <a:rPr lang="en-US" altLang="ko-KR" sz="700" i="1">
                <a:latin typeface="Arial" panose="020B0604020202020204" pitchFamily="34" charset="0"/>
                <a:cs typeface="Arial" panose="020B0604020202020204" pitchFamily="34" charset="0"/>
              </a:rPr>
              <a:t>LD_SIZE = 7</a:t>
            </a:r>
            <a:endParaRPr lang="ko-KR" altLang="en-US" sz="700" i="1">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849457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849059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8845995"/>
            <a:ext cx="3157917" cy="107722"/>
          </a:xfrm>
          <a:prstGeom prst="rect">
            <a:avLst/>
          </a:prstGeom>
          <a:solidFill>
            <a:schemeClr val="bg1"/>
          </a:solidFill>
        </p:spPr>
        <p:txBody>
          <a:bodyPr wrap="none" lIns="0" tIns="0" rIns="0" bIns="0" rtlCol="0" anchor="ctr" anchorCtr="0">
            <a:spAutoFit/>
          </a:bodyPr>
          <a:lstStyle/>
          <a:p>
            <a:pPr algn="ctr"/>
            <a:r>
              <a:rPr lang="en-US" altLang="ko-KR" sz="700" i="1">
                <a:latin typeface="Arial" panose="020B0604020202020204" pitchFamily="34" charset="0"/>
                <a:cs typeface="Arial" panose="020B0604020202020204" pitchFamily="34" charset="0"/>
              </a:rPr>
              <a:t>wherein, the LD data of the disabled channels, CH2 and CH5, can be any value</a:t>
            </a:r>
            <a:endParaRPr lang="ko-KR" altLang="en-US" sz="700" i="1">
              <a:latin typeface="Arial" panose="020B0604020202020204" pitchFamily="34" charset="0"/>
              <a:cs typeface="Arial" panose="020B0604020202020204" pitchFamily="34" charset="0"/>
            </a:endParaRPr>
          </a:p>
        </p:txBody>
      </p:sp>
      <p:graphicFrame>
        <p:nvGraphicFramePr>
          <p:cNvPr id="25" name="표 24">
            <a:extLst>
              <a:ext uri="{FF2B5EF4-FFF2-40B4-BE49-F238E27FC236}">
                <a16:creationId xmlns:a16="http://schemas.microsoft.com/office/drawing/2014/main" id="{54C3364E-020E-DF31-1671-C40EF62F47B7}"/>
              </a:ext>
            </a:extLst>
          </p:cNvPr>
          <p:cNvGraphicFramePr>
            <a:graphicFrameLocks noGrp="1"/>
          </p:cNvGraphicFramePr>
          <p:nvPr>
            <p:extLst>
              <p:ext uri="{D42A27DB-BD31-4B8C-83A1-F6EECF244321}">
                <p14:modId xmlns:p14="http://schemas.microsoft.com/office/powerpoint/2010/main" val="2706277213"/>
              </p:ext>
            </p:extLst>
          </p:nvPr>
        </p:nvGraphicFramePr>
        <p:xfrm>
          <a:off x="397025" y="113299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0x03</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6" name="표 25">
            <a:extLst>
              <a:ext uri="{FF2B5EF4-FFF2-40B4-BE49-F238E27FC236}">
                <a16:creationId xmlns:a16="http://schemas.microsoft.com/office/drawing/2014/main" id="{9EFDFB5E-0937-65D7-B57F-EF77CD7C6B44}"/>
              </a:ext>
            </a:extLst>
          </p:cNvPr>
          <p:cNvGraphicFramePr>
            <a:graphicFrameLocks noGrp="1"/>
          </p:cNvGraphicFramePr>
          <p:nvPr>
            <p:extLst>
              <p:ext uri="{D42A27DB-BD31-4B8C-83A1-F6EECF244321}">
                <p14:modId xmlns:p14="http://schemas.microsoft.com/office/powerpoint/2010/main" val="787344943"/>
              </p:ext>
            </p:extLst>
          </p:nvPr>
        </p:nvGraphicFramePr>
        <p:xfrm>
          <a:off x="403798" y="1651808"/>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0x04</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242078653"/>
              </p:ext>
            </p:extLst>
          </p:nvPr>
        </p:nvGraphicFramePr>
        <p:xfrm>
          <a:off x="406838" y="1446503"/>
          <a:ext cx="6046597" cy="6168857"/>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10:9</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FT_MODE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for various faults ( open, short, fb, thermal </a:t>
                      </a:r>
                      <a:r>
                        <a:rPr lang="en-US" altLang="ko-KR" sz="900" b="0" dirty="0" err="1">
                          <a:solidFill>
                            <a:schemeClr val="tx1"/>
                          </a:solidFill>
                          <a:latin typeface="Arial" panose="020B0604020202020204" pitchFamily="34" charset="0"/>
                          <a:ea typeface="+mn-ea"/>
                          <a:cs typeface="Arial" panose="020B0604020202020204" pitchFamily="34" charset="0"/>
                        </a:rPr>
                        <a:t>etc</a:t>
                      </a:r>
                      <a:r>
                        <a:rPr lang="en-US" altLang="ko-KR" sz="900" b="0" dirty="0">
                          <a:solidFill>
                            <a:schemeClr val="tx1"/>
                          </a:solidFill>
                          <a:latin typeface="Arial" panose="020B0604020202020204" pitchFamily="34" charset="0"/>
                          <a:ea typeface="+mn-ea"/>
                          <a:cs typeface="Arial" panose="020B0604020202020204" pitchFamily="34" charset="0"/>
                        </a:rPr>
                        <a:t> )</a:t>
                      </a:r>
                    </a:p>
                    <a:p>
                      <a:r>
                        <a:rPr lang="en-US" altLang="ko-KR" sz="900" dirty="0">
                          <a:latin typeface="현대하모니 L" panose="02020603020101020101" pitchFamily="18" charset="-127"/>
                          <a:ea typeface="현대하모니 L" panose="02020603020101020101" pitchFamily="18" charset="-127"/>
                        </a:rPr>
                        <a:t> 00   FAULT = ERR || short_all || open_all</a:t>
                      </a:r>
                    </a:p>
                    <a:p>
                      <a:r>
                        <a:rPr lang="en-US" altLang="ko-KR" sz="900" dirty="0">
                          <a:latin typeface="현대하모니 L" panose="02020603020101020101" pitchFamily="18" charset="-127"/>
                          <a:ea typeface="현대하모니 L" panose="02020603020101020101" pitchFamily="18" charset="-127"/>
                        </a:rPr>
                        <a:t> 01   FAULT = open_all </a:t>
                      </a:r>
                    </a:p>
                    <a:p>
                      <a:r>
                        <a:rPr lang="en-US" altLang="ko-KR" sz="900" dirty="0">
                          <a:latin typeface="현대하모니 L" panose="02020603020101020101" pitchFamily="18" charset="-127"/>
                          <a:ea typeface="현대하모니 L" panose="02020603020101020101" pitchFamily="18" charset="-127"/>
                        </a:rPr>
                        <a:t> 10   FAULT = short_all </a:t>
                      </a:r>
                    </a:p>
                    <a:p>
                      <a:r>
                        <a:rPr lang="en-US" altLang="ko-KR" sz="900" dirty="0">
                          <a:latin typeface="현대하모니 L" panose="02020603020101020101" pitchFamily="18" charset="-127"/>
                          <a:ea typeface="현대하모니 L" panose="02020603020101020101" pitchFamily="18" charset="-127"/>
                        </a:rPr>
                        <a:t> 11   FAULT = ERR </a:t>
                      </a:r>
                    </a:p>
                    <a:p>
                      <a:r>
                        <a:rPr lang="en-US" altLang="ko-KR" sz="900" dirty="0">
                          <a:latin typeface="현대하모니 L" panose="02020603020101020101" pitchFamily="18" charset="-127"/>
                          <a:ea typeface="현대하모니 L" panose="02020603020101020101" pitchFamily="18" charset="-127"/>
                        </a:rPr>
                        <a:t>*ERR =     THERMAL | </a:t>
                      </a:r>
                    </a:p>
                    <a:p>
                      <a:r>
                        <a:rPr lang="en-US" altLang="ko-KR" sz="900" dirty="0">
                          <a:latin typeface="현대하모니 L" panose="02020603020101020101" pitchFamily="18" charset="-127"/>
                          <a:ea typeface="현대하모니 L" panose="02020603020101020101" pitchFamily="18" charset="-127"/>
                        </a:rPr>
                        <a:t>                LDO_OV | LDO_UV | VREF_OV | VREF_UV | OSC_LDO_OV</a:t>
                      </a:r>
                      <a:r>
                        <a:rPr lang="ko-KR" altLang="en-US" sz="900" dirty="0">
                          <a:latin typeface="현대하모니 L" panose="02020603020101020101" pitchFamily="18" charset="-127"/>
                          <a:ea typeface="현대하모니 L" panose="02020603020101020101" pitchFamily="18" charset="-127"/>
                        </a:rPr>
                        <a:t> </a:t>
                      </a:r>
                      <a:r>
                        <a:rPr lang="en-US" altLang="ko-KR" sz="900" dirty="0">
                          <a:latin typeface="현대하모니 L" panose="02020603020101020101" pitchFamily="18" charset="-127"/>
                          <a:ea typeface="현대하모니 L" panose="02020603020101020101" pitchFamily="18" charset="-127"/>
                        </a:rPr>
                        <a:t>|</a:t>
                      </a:r>
                      <a:r>
                        <a:rPr lang="ko-KR" altLang="en-US" sz="900" dirty="0">
                          <a:latin typeface="현대하모니 L" panose="02020603020101020101" pitchFamily="18" charset="-127"/>
                          <a:ea typeface="현대하모니 L" panose="02020603020101020101" pitchFamily="18" charset="-127"/>
                        </a:rPr>
                        <a:t> </a:t>
                      </a:r>
                      <a:r>
                        <a:rPr lang="en-US" altLang="ko-KR" sz="900" dirty="0">
                          <a:latin typeface="현대하모니 L" panose="02020603020101020101" pitchFamily="18" charset="-127"/>
                          <a:ea typeface="현대하모니 L" panose="02020603020101020101" pitchFamily="18" charset="-127"/>
                        </a:rPr>
                        <a:t>OSC_LDO_UV</a:t>
                      </a:r>
                      <a:r>
                        <a:rPr lang="ko-KR" altLang="en-US" sz="900" dirty="0">
                          <a:latin typeface="현대하모니 L" panose="02020603020101020101" pitchFamily="18" charset="-127"/>
                          <a:ea typeface="현대하모니 L" panose="02020603020101020101" pitchFamily="18" charset="-127"/>
                        </a:rPr>
                        <a:t> </a:t>
                      </a:r>
                      <a:r>
                        <a:rPr lang="en-US" altLang="ko-KR" sz="900" dirty="0">
                          <a:latin typeface="현대하모니 L" panose="02020603020101020101" pitchFamily="18" charset="-127"/>
                          <a:ea typeface="현대하모니 L" panose="02020603020101020101" pitchFamily="18" charset="-127"/>
                        </a:rPr>
                        <a:t>|</a:t>
                      </a:r>
                      <a:r>
                        <a:rPr lang="ko-KR" altLang="en-US" sz="900" dirty="0">
                          <a:latin typeface="현대하모니 L" panose="02020603020101020101" pitchFamily="18" charset="-127"/>
                          <a:ea typeface="현대하모니 L" panose="02020603020101020101" pitchFamily="18" charset="-127"/>
                        </a:rPr>
                        <a:t> </a:t>
                      </a:r>
                      <a:r>
                        <a:rPr lang="en-US" altLang="ko-KR" sz="900" dirty="0">
                          <a:latin typeface="현대하모니 L" panose="02020603020101020101" pitchFamily="18" charset="-127"/>
                          <a:ea typeface="현대하모니 L" panose="02020603020101020101" pitchFamily="18" charset="-127"/>
                        </a:rPr>
                        <a:t> </a:t>
                      </a:r>
                    </a:p>
                    <a:p>
                      <a:r>
                        <a:rPr lang="en-US" altLang="ko-KR" sz="900" dirty="0">
                          <a:latin typeface="현대하모니 L" panose="02020603020101020101" pitchFamily="18" charset="-127"/>
                          <a:ea typeface="현대하모니 L" panose="02020603020101020101" pitchFamily="18" charset="-127"/>
                        </a:rPr>
                        <a:t>               RESP_ERR | CMD_ERR | VS_MISS | WD_TIMEOUT | CH_CTRL_MISMATCH</a:t>
                      </a:r>
                    </a:p>
                    <a:p>
                      <a:endParaRPr lang="ko-KR" altLang="en-US" sz="900" dirty="0">
                        <a:latin typeface="현대하모니 L" panose="02020603020101020101" pitchFamily="18" charset="-127"/>
                        <a:ea typeface="현대하모니 L" panose="02020603020101020101" pitchFamily="18" charset="-127"/>
                      </a:endParaRPr>
                    </a:p>
                    <a:p>
                      <a:pPr marL="0" marR="0" lvl="0" indent="0" algn="l" defTabSz="685800"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900" dirty="0">
                        <a:latin typeface="현대하모니 L" panose="02020603020101020101" pitchFamily="18" charset="-127"/>
                        <a:ea typeface="현대하모니 L" panose="02020603020101020101" pitchFamily="18" charset="-127"/>
                      </a:endParaRPr>
                    </a:p>
                    <a:p>
                      <a:pPr marL="0" indent="0">
                        <a:buFont typeface="Arial" panose="020B0604020202020204" pitchFamily="34" charset="0"/>
                        <a:buNone/>
                      </a:pPr>
                      <a:endParaRPr lang="en-US" altLang="ko-KR" sz="900" dirty="0">
                        <a:latin typeface="현대하모니 L" panose="02020603020101020101" pitchFamily="18" charset="-127"/>
                        <a:ea typeface="현대하모니 L" panose="02020603020101020101" pitchFamily="18" charset="-127"/>
                      </a:endParaRPr>
                    </a:p>
                    <a:p>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rgbClr val="FF0000"/>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the FB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4968432"/>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the THERMAL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09425"/>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O_DET_E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Setting this bit will allow the OPEN event to be detected at the point where the PWM on that channel transitions from On to Off. This event will only be detected when the headroom for that channel is less than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T_OFF_E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S_OFF_E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O_OFF_E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a:t>
                      </a:r>
                      <a:r>
                        <a:rPr lang="en-US" altLang="ko-KR" sz="900" b="0" dirty="0" err="1">
                          <a:solidFill>
                            <a:schemeClr val="tx1"/>
                          </a:solidFill>
                          <a:latin typeface="Arial" panose="020B0604020202020204" pitchFamily="34" charset="0"/>
                          <a:ea typeface="+mn-ea"/>
                          <a:cs typeface="Arial" panose="020B0604020202020204" pitchFamily="34" charset="0"/>
                        </a:rPr>
                        <a:t>OPENed</a:t>
                      </a:r>
                      <a:r>
                        <a:rPr lang="en-US" altLang="ko-KR" sz="900" b="0" dirty="0">
                          <a:solidFill>
                            <a:schemeClr val="tx1"/>
                          </a:solidFill>
                          <a:latin typeface="Arial" panose="020B0604020202020204" pitchFamily="34" charset="0"/>
                          <a:ea typeface="+mn-ea"/>
                          <a:cs typeface="Arial" panose="020B0604020202020204" pitchFamily="34" charset="0"/>
                        </a:rPr>
                        <a:t>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312353365"/>
              </p:ext>
            </p:extLst>
          </p:nvPr>
        </p:nvGraphicFramePr>
        <p:xfrm>
          <a:off x="399453" y="1003455"/>
          <a:ext cx="610740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512763">
                  <a:extLst>
                    <a:ext uri="{9D8B030D-6E8A-4147-A177-3AD203B41FA5}">
                      <a16:colId xmlns:a16="http://schemas.microsoft.com/office/drawing/2014/main" val="2079070694"/>
                    </a:ext>
                  </a:extLst>
                </a:gridCol>
                <a:gridCol w="414086">
                  <a:extLst>
                    <a:ext uri="{9D8B030D-6E8A-4147-A177-3AD203B41FA5}">
                      <a16:colId xmlns:a16="http://schemas.microsoft.com/office/drawing/2014/main" val="4213315911"/>
                    </a:ext>
                  </a:extLst>
                </a:gridCol>
                <a:gridCol w="414086">
                  <a:extLst>
                    <a:ext uri="{9D8B030D-6E8A-4147-A177-3AD203B41FA5}">
                      <a16:colId xmlns:a16="http://schemas.microsoft.com/office/drawing/2014/main" val="2769999950"/>
                    </a:ext>
                  </a:extLst>
                </a:gridCol>
                <a:gridCol w="477520">
                  <a:extLst>
                    <a:ext uri="{9D8B030D-6E8A-4147-A177-3AD203B41FA5}">
                      <a16:colId xmlns:a16="http://schemas.microsoft.com/office/drawing/2014/main" val="135637185"/>
                    </a:ext>
                  </a:extLst>
                </a:gridCol>
                <a:gridCol w="477520">
                  <a:extLst>
                    <a:ext uri="{9D8B030D-6E8A-4147-A177-3AD203B41FA5}">
                      <a16:colId xmlns:a16="http://schemas.microsoft.com/office/drawing/2014/main" val="3038050475"/>
                    </a:ext>
                  </a:extLst>
                </a:gridCol>
                <a:gridCol w="477520">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0x06</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FT_MODE[1:0]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FB_MODE[1:0]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738458"/>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CONTROL</a:t>
            </a:r>
          </a:p>
        </p:txBody>
      </p:sp>
      <p:pic>
        <p:nvPicPr>
          <p:cNvPr id="10" name="그림 9">
            <a:extLst>
              <a:ext uri="{FF2B5EF4-FFF2-40B4-BE49-F238E27FC236}">
                <a16:creationId xmlns:a16="http://schemas.microsoft.com/office/drawing/2014/main" id="{353F9395-66F6-F4E1-D019-B188FC32E711}"/>
              </a:ext>
            </a:extLst>
          </p:cNvPr>
          <p:cNvPicPr>
            <a:picLocks noChangeAspect="1"/>
          </p:cNvPicPr>
          <p:nvPr/>
        </p:nvPicPr>
        <p:blipFill>
          <a:blip r:embed="rId3"/>
          <a:stretch>
            <a:fillRect/>
          </a:stretch>
        </p:blipFill>
        <p:spPr>
          <a:xfrm>
            <a:off x="1973312" y="3036958"/>
            <a:ext cx="2665354" cy="721151"/>
          </a:xfrm>
          <a:prstGeom prst="rect">
            <a:avLst/>
          </a:prstGeom>
        </p:spPr>
      </p:pic>
    </p:spTree>
    <p:extLst>
      <p:ext uri="{BB962C8B-B14F-4D97-AF65-F5344CB8AC3E}">
        <p14:creationId xmlns:p14="http://schemas.microsoft.com/office/powerpoint/2010/main" val="2020182844"/>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435510257"/>
              </p:ext>
            </p:extLst>
          </p:nvPr>
        </p:nvGraphicFramePr>
        <p:xfrm>
          <a:off x="488329" y="5564473"/>
          <a:ext cx="6047025" cy="330552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SHORT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OPEN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FB1/2/3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53249890"/>
              </p:ext>
            </p:extLst>
          </p:nvPr>
        </p:nvGraphicFramePr>
        <p:xfrm>
          <a:off x="489756" y="5005755"/>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RO</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0x09</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x</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89756" y="4744325"/>
            <a:ext cx="605760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STATUS0</a:t>
            </a:r>
          </a:p>
        </p:txBody>
      </p:sp>
      <p:graphicFrame>
        <p:nvGraphicFramePr>
          <p:cNvPr id="3" name="표 2">
            <a:extLst>
              <a:ext uri="{FF2B5EF4-FFF2-40B4-BE49-F238E27FC236}">
                <a16:creationId xmlns:a16="http://schemas.microsoft.com/office/drawing/2014/main" id="{AED46A76-1784-6661-8326-891FAA954167}"/>
              </a:ext>
            </a:extLst>
          </p:cNvPr>
          <p:cNvGraphicFramePr>
            <a:graphicFrameLocks noGrp="1"/>
          </p:cNvGraphicFramePr>
          <p:nvPr>
            <p:extLst>
              <p:ext uri="{D42A27DB-BD31-4B8C-83A1-F6EECF244321}">
                <p14:modId xmlns:p14="http://schemas.microsoft.com/office/powerpoint/2010/main" val="726480143"/>
              </p:ext>
            </p:extLst>
          </p:nvPr>
        </p:nvGraphicFramePr>
        <p:xfrm>
          <a:off x="488329" y="1916599"/>
          <a:ext cx="6046597" cy="239268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197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FB1/2/3_LEVEL</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3’b100 : &lt;  0.90V         3’b101 : &lt;  1.05V        3’b110 : &lt;  1.20V        3b’111 : &lt; 1.35V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FB1_LEVEL : FB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FB2_LEVEL : FB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FB3_LEVEL : FB_LEVEL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8:0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SHORT1/2/3_LEVEL</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3b’000 :  &gt;  3.5V           3b’001 : &gt;  4.5V          3b’010 : &gt;  6.5V          3b’011 : &gt; 9.0V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3b’100 :  &gt; 13.5V          3b’101 : &gt; 17.5V         3b’110 : &gt; 26.0V         3b’111 : &gt; 32.0V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SHORT1_LEVEL : SHORT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SHORT2_LEVEL : SHORT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SHORT3_LEVEL : SHORT_LEVEL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4" name="표 3">
            <a:extLst>
              <a:ext uri="{FF2B5EF4-FFF2-40B4-BE49-F238E27FC236}">
                <a16:creationId xmlns:a16="http://schemas.microsoft.com/office/drawing/2014/main" id="{7BB32593-F52D-1106-2B9C-1A3F6519BBE8}"/>
              </a:ext>
            </a:extLst>
          </p:cNvPr>
          <p:cNvGraphicFramePr>
            <a:graphicFrameLocks noGrp="1"/>
          </p:cNvGraphicFramePr>
          <p:nvPr>
            <p:extLst>
              <p:ext uri="{D42A27DB-BD31-4B8C-83A1-F6EECF244321}">
                <p14:modId xmlns:p14="http://schemas.microsoft.com/office/powerpoint/2010/main" val="4251988368"/>
              </p:ext>
            </p:extLst>
          </p:nvPr>
        </p:nvGraphicFramePr>
        <p:xfrm>
          <a:off x="497170" y="1046831"/>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0x07</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x</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522DE098-A455-E274-42E8-6896BB72C285}"/>
              </a:ext>
            </a:extLst>
          </p:cNvPr>
          <p:cNvSpPr txBox="1"/>
          <p:nvPr/>
        </p:nvSpPr>
        <p:spPr>
          <a:xfrm>
            <a:off x="497059" y="781834"/>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LEVEL</a:t>
            </a:r>
          </a:p>
        </p:txBody>
      </p:sp>
      <p:graphicFrame>
        <p:nvGraphicFramePr>
          <p:cNvPr id="6" name="표 5">
            <a:extLst>
              <a:ext uri="{FF2B5EF4-FFF2-40B4-BE49-F238E27FC236}">
                <a16:creationId xmlns:a16="http://schemas.microsoft.com/office/drawing/2014/main" id="{004463A8-487E-8A2F-D631-B19A2B9B922D}"/>
              </a:ext>
            </a:extLst>
          </p:cNvPr>
          <p:cNvGraphicFramePr>
            <a:graphicFrameLocks noGrp="1"/>
          </p:cNvGraphicFramePr>
          <p:nvPr>
            <p:extLst>
              <p:ext uri="{D42A27DB-BD31-4B8C-83A1-F6EECF244321}">
                <p14:modId xmlns:p14="http://schemas.microsoft.com/office/powerpoint/2010/main" val="3177762585"/>
              </p:ext>
            </p:extLst>
          </p:nvPr>
        </p:nvGraphicFramePr>
        <p:xfrm>
          <a:off x="497170" y="1493871"/>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0x08</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x</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94352402"/>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29C34-AC7F-AC70-6F0C-0227FAAF8143}"/>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03749279-EB4A-2419-675C-9A7AFF45B21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E239F43-51FC-E6CA-CEA2-889B08FA6DE9}"/>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8D3E1A2-81AA-469C-1C15-7C85120C370A}"/>
              </a:ext>
            </a:extLst>
          </p:cNvPr>
          <p:cNvGraphicFramePr>
            <a:graphicFrameLocks noGrp="1"/>
          </p:cNvGraphicFramePr>
          <p:nvPr>
            <p:extLst>
              <p:ext uri="{D42A27DB-BD31-4B8C-83A1-F6EECF244321}">
                <p14:modId xmlns:p14="http://schemas.microsoft.com/office/powerpoint/2010/main" val="138461265"/>
              </p:ext>
            </p:extLst>
          </p:nvPr>
        </p:nvGraphicFramePr>
        <p:xfrm>
          <a:off x="403137" y="1668334"/>
          <a:ext cx="6047025" cy="5389096"/>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RESP_ERR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This bit shows whether a timeout during read/fault response or CRC check failure during fault response have been occurred when CRC_EN is enabled. This bit is cleared by a read operation and not cleared by fault (auto) read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9788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CMD_ERR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This bit shows whether a CRC error or invalid bit error in the command frame event have been occurred when CRC_EN is enabled. This bit is cleared by a read operation and not cleared by fault (auto) read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052665"/>
                  </a:ext>
                </a:extLst>
              </a:tr>
              <a:tr h="29788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WD_TIMEOUT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TIMEOUT. This bit shows whether a watchdog timeout event has been occurred. This bit is cleared by a read operation and not cleared by fault (auto) read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0501148"/>
                  </a:ext>
                </a:extLst>
              </a:tr>
              <a:tr h="2953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8</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VS_MISS</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a:solidFill>
                            <a:schemeClr val="tx1"/>
                          </a:solidFill>
                          <a:effectLst/>
                          <a:latin typeface="Arial" panose="020B0604020202020204" pitchFamily="34" charset="0"/>
                          <a:ea typeface="+mn-ea"/>
                          <a:cs typeface="Arial" panose="020B0604020202020204" pitchFamily="34" charset="0"/>
                        </a:rPr>
                        <a:t>Flag for </a:t>
                      </a:r>
                      <a:r>
                        <a:rPr lang="en-US" altLang="ko-KR" sz="900" b="0" i="0" kern="1200" err="1">
                          <a:solidFill>
                            <a:schemeClr val="tx1"/>
                          </a:solidFill>
                          <a:effectLst/>
                          <a:latin typeface="Arial" panose="020B0604020202020204" pitchFamily="34" charset="0"/>
                          <a:ea typeface="+mn-ea"/>
                          <a:cs typeface="Arial" panose="020B0604020202020204" pitchFamily="34" charset="0"/>
                        </a:rPr>
                        <a:t>Vsync</a:t>
                      </a:r>
                      <a:r>
                        <a:rPr lang="en-US" altLang="ko-KR" sz="900" b="0" i="0" kern="1200">
                          <a:solidFill>
                            <a:schemeClr val="tx1"/>
                          </a:solidFill>
                          <a:effectLst/>
                          <a:latin typeface="Arial" panose="020B0604020202020204" pitchFamily="34" charset="0"/>
                          <a:ea typeface="+mn-ea"/>
                          <a:cs typeface="Arial" panose="020B0604020202020204" pitchFamily="34" charset="0"/>
                        </a:rPr>
                        <a:t> missing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888742"/>
                  </a:ext>
                </a:extLst>
              </a:tr>
              <a:tr h="261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7</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CH_CTRL_MISMATCH</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a:t>
                      </a:r>
                      <a:r>
                        <a:rPr lang="en-US" altLang="ko-KR" sz="900" b="0" dirty="0">
                          <a:solidFill>
                            <a:schemeClr val="tx1"/>
                          </a:solidFill>
                          <a:latin typeface="Arial" panose="020B0604020202020204" pitchFamily="34" charset="0"/>
                          <a:ea typeface="+mn-ea"/>
                          <a:cs typeface="Arial" panose="020B0604020202020204" pitchFamily="34" charset="0"/>
                        </a:rPr>
                        <a:t>CH_CTRL_MISMATCH. This bit shows whether a logic mismatch in channel control output event has been occurred. This bit is cleared by a read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2821589"/>
                  </a:ext>
                </a:extLst>
              </a:tr>
              <a:tr h="33509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6</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VREF Over-Voltage. This bit shows whether a VREF OV event has been occurred. This bit is cleared by a read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6574864"/>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VREF Under-Voltage. This bit shows whether a VREF UV event has been occurred. This bit is cleared by a read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2082363"/>
                  </a:ext>
                </a:extLst>
              </a:tr>
              <a:tr h="3294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OSC_LDO_OV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This bit shows whether a OSC_LDO_OV event has been occurred. This bit is cleared by a read operation.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tx1"/>
                        </a:solidFill>
                        <a:effectLst/>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472874"/>
                  </a:ext>
                </a:extLst>
              </a:tr>
              <a:tr h="340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OSC_LDO_UV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This bit shows whether a OSC_LDO_UV event has been occurred. This bit is cleared by a read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3296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LDO_OV</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a:solidFill>
                            <a:schemeClr val="tx1"/>
                          </a:solidFill>
                          <a:effectLst/>
                          <a:latin typeface="Arial" panose="020B0604020202020204" pitchFamily="34" charset="0"/>
                          <a:ea typeface="+mn-ea"/>
                          <a:cs typeface="Arial" panose="020B0604020202020204" pitchFamily="34" charset="0"/>
                        </a:rPr>
                        <a:t>Flag for LDO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8355280"/>
                  </a:ext>
                </a:extLst>
              </a:tr>
              <a:tr h="3407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LDO_UV</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a:solidFill>
                            <a:schemeClr val="tx1"/>
                          </a:solidFill>
                          <a:effectLst/>
                          <a:latin typeface="Arial" panose="020B0604020202020204" pitchFamily="34" charset="0"/>
                          <a:ea typeface="+mn-ea"/>
                          <a:cs typeface="Arial" panose="020B0604020202020204" pitchFamily="34" charset="0"/>
                        </a:rPr>
                        <a:t>Flag for LDO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THERMAL</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2E6D314B-F8D3-7483-EFE0-67235AB7DE03}"/>
              </a:ext>
            </a:extLst>
          </p:cNvPr>
          <p:cNvGraphicFramePr>
            <a:graphicFrameLocks noGrp="1"/>
          </p:cNvGraphicFramePr>
          <p:nvPr>
            <p:extLst>
              <p:ext uri="{D42A27DB-BD31-4B8C-83A1-F6EECF244321}">
                <p14:modId xmlns:p14="http://schemas.microsoft.com/office/powerpoint/2010/main" val="878072714"/>
              </p:ext>
            </p:extLst>
          </p:nvPr>
        </p:nvGraphicFramePr>
        <p:xfrm>
          <a:off x="404564" y="1109616"/>
          <a:ext cx="5958715" cy="54024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83137">
                  <a:extLst>
                    <a:ext uri="{9D8B030D-6E8A-4147-A177-3AD203B41FA5}">
                      <a16:colId xmlns:a16="http://schemas.microsoft.com/office/drawing/2014/main" val="2079070694"/>
                    </a:ext>
                  </a:extLst>
                </a:gridCol>
                <a:gridCol w="459058">
                  <a:extLst>
                    <a:ext uri="{9D8B030D-6E8A-4147-A177-3AD203B41FA5}">
                      <a16:colId xmlns:a16="http://schemas.microsoft.com/office/drawing/2014/main" val="4213315911"/>
                    </a:ext>
                  </a:extLst>
                </a:gridCol>
                <a:gridCol w="531812">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88950">
                  <a:extLst>
                    <a:ext uri="{9D8B030D-6E8A-4147-A177-3AD203B41FA5}">
                      <a16:colId xmlns:a16="http://schemas.microsoft.com/office/drawing/2014/main" val="1979433044"/>
                    </a:ext>
                  </a:extLst>
                </a:gridCol>
                <a:gridCol w="485775">
                  <a:extLst>
                    <a:ext uri="{9D8B030D-6E8A-4147-A177-3AD203B41FA5}">
                      <a16:colId xmlns:a16="http://schemas.microsoft.com/office/drawing/2014/main" val="4270661649"/>
                    </a:ext>
                  </a:extLst>
                </a:gridCol>
                <a:gridCol w="334962">
                  <a:extLst>
                    <a:ext uri="{9D8B030D-6E8A-4147-A177-3AD203B41FA5}">
                      <a16:colId xmlns:a16="http://schemas.microsoft.com/office/drawing/2014/main" val="3027041370"/>
                    </a:ext>
                  </a:extLst>
                </a:gridCol>
                <a:gridCol w="331788">
                  <a:extLst>
                    <a:ext uri="{9D8B030D-6E8A-4147-A177-3AD203B41FA5}">
                      <a16:colId xmlns:a16="http://schemas.microsoft.com/office/drawing/2014/main" val="2852526216"/>
                    </a:ext>
                  </a:extLst>
                </a:gridCol>
                <a:gridCol w="330200">
                  <a:extLst>
                    <a:ext uri="{9D8B030D-6E8A-4147-A177-3AD203B41FA5}">
                      <a16:colId xmlns:a16="http://schemas.microsoft.com/office/drawing/2014/main" val="103420222"/>
                    </a:ext>
                  </a:extLst>
                </a:gridCol>
                <a:gridCol w="32702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RO</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0x0A</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RESP_ERR</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CMD_ERR</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WD_TIMEOUT</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VS_MISS</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CH_CTRL_MISMATCH</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VREF_OV</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VREF_UV</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OSC_LDO_OV</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OSC_LDO_UV</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LDO_OV</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LDO_UV</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D1AA4E3E-DE5F-D6A8-9837-B355C87B239D}"/>
              </a:ext>
            </a:extLst>
          </p:cNvPr>
          <p:cNvSpPr txBox="1"/>
          <p:nvPr/>
        </p:nvSpPr>
        <p:spPr>
          <a:xfrm>
            <a:off x="404564" y="848186"/>
            <a:ext cx="605760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STATUS1</a:t>
            </a:r>
          </a:p>
        </p:txBody>
      </p:sp>
    </p:spTree>
    <p:extLst>
      <p:ext uri="{BB962C8B-B14F-4D97-AF65-F5344CB8AC3E}">
        <p14:creationId xmlns:p14="http://schemas.microsoft.com/office/powerpoint/2010/main" val="2227701498"/>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D984-6298-844A-6ED8-DF760605AA3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F5C606A-03AA-2C3B-2C61-74D5286DD01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2E65746D-F7DA-3CFB-7DAF-AB0790539CD8}"/>
              </a:ext>
            </a:extLst>
          </p:cNvPr>
          <p:cNvGraphicFramePr>
            <a:graphicFrameLocks noGrp="1"/>
          </p:cNvGraphicFramePr>
          <p:nvPr>
            <p:extLst>
              <p:ext uri="{D42A27DB-BD31-4B8C-83A1-F6EECF244321}">
                <p14:modId xmlns:p14="http://schemas.microsoft.com/office/powerpoint/2010/main" val="2783019126"/>
              </p:ext>
            </p:extLst>
          </p:nvPr>
        </p:nvGraphicFramePr>
        <p:xfrm>
          <a:off x="357642" y="4341831"/>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LEVEL3/2/1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FBE705C-F4DF-7D5B-03EF-1F642C6754A8}"/>
              </a:ext>
            </a:extLst>
          </p:cNvPr>
          <p:cNvSpPr txBox="1"/>
          <p:nvPr/>
        </p:nvSpPr>
        <p:spPr>
          <a:xfrm>
            <a:off x="374093" y="3533703"/>
            <a:ext cx="6053978"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MAX CURRENT LEVEL</a:t>
            </a:r>
          </a:p>
        </p:txBody>
      </p:sp>
      <p:graphicFrame>
        <p:nvGraphicFramePr>
          <p:cNvPr id="8" name="표 7">
            <a:extLst>
              <a:ext uri="{FF2B5EF4-FFF2-40B4-BE49-F238E27FC236}">
                <a16:creationId xmlns:a16="http://schemas.microsoft.com/office/drawing/2014/main" id="{7FBFCE5C-7AD6-6815-24B9-B8769B62E502}"/>
              </a:ext>
            </a:extLst>
          </p:cNvPr>
          <p:cNvGraphicFramePr>
            <a:graphicFrameLocks noGrp="1"/>
          </p:cNvGraphicFramePr>
          <p:nvPr>
            <p:extLst>
              <p:ext uri="{D42A27DB-BD31-4B8C-83A1-F6EECF244321}">
                <p14:modId xmlns:p14="http://schemas.microsoft.com/office/powerpoint/2010/main" val="4086451168"/>
              </p:ext>
            </p:extLst>
          </p:nvPr>
        </p:nvGraphicFramePr>
        <p:xfrm>
          <a:off x="374092" y="3798340"/>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0x0D</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543640E4-66B1-3A42-69DA-722468780C3C}"/>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179FF1E6-09CC-8D18-DEFD-B42F1C65C99F}"/>
              </a:ext>
            </a:extLst>
          </p:cNvPr>
          <p:cNvGraphicFramePr>
            <a:graphicFrameLocks noGrp="1"/>
          </p:cNvGraphicFramePr>
          <p:nvPr>
            <p:extLst>
              <p:ext uri="{D42A27DB-BD31-4B8C-83A1-F6EECF244321}">
                <p14:modId xmlns:p14="http://schemas.microsoft.com/office/powerpoint/2010/main" val="4274203176"/>
              </p:ext>
            </p:extLst>
          </p:nvPr>
        </p:nvGraphicFramePr>
        <p:xfrm>
          <a:off x="403137" y="1668334"/>
          <a:ext cx="6047025" cy="55548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err="1">
                          <a:solidFill>
                            <a:schemeClr val="tx1"/>
                          </a:solidFill>
                          <a:latin typeface="Arial" panose="020B0604020202020204" pitchFamily="34" charset="0"/>
                          <a:ea typeface="+mn-ea"/>
                          <a:cs typeface="Arial" panose="020B0604020202020204" pitchFamily="34" charset="0"/>
                        </a:rPr>
                        <a:t>OPEN_CHx</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a:solidFill>
                            <a:schemeClr val="dk1"/>
                          </a:solidFill>
                          <a:effectLst/>
                          <a:latin typeface="Arial" panose="020B0604020202020204" pitchFamily="34" charset="0"/>
                          <a:ea typeface="+mn-ea"/>
                          <a:cs typeface="Arial" panose="020B0604020202020204" pitchFamily="34" charset="0"/>
                        </a:rPr>
                        <a:t>This bit </a:t>
                      </a:r>
                      <a:r>
                        <a:rPr lang="en-US" altLang="ko-KR" sz="900" b="0">
                          <a:solidFill>
                            <a:schemeClr val="tx1"/>
                          </a:solidFill>
                          <a:latin typeface="Arial" panose="020B0604020202020204" pitchFamily="34" charset="0"/>
                          <a:ea typeface="+mn-ea"/>
                          <a:cs typeface="Arial" panose="020B0604020202020204" pitchFamily="34" charset="0"/>
                        </a:rPr>
                        <a:t>indicates whether the OPEN event each Ch.</a:t>
                      </a:r>
                      <a:endParaRPr lang="en-US" altLang="ko-KR" sz="900" b="0" i="0" kern="120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a:solidFill>
                          <a:schemeClr val="dk1"/>
                        </a:solidFill>
                        <a:effectLst/>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0D6767AE-3D04-0FDF-51A0-7A5A70982FA7}"/>
              </a:ext>
            </a:extLst>
          </p:cNvPr>
          <p:cNvGraphicFramePr>
            <a:graphicFrameLocks noGrp="1"/>
          </p:cNvGraphicFramePr>
          <p:nvPr>
            <p:extLst>
              <p:ext uri="{D42A27DB-BD31-4B8C-83A1-F6EECF244321}">
                <p14:modId xmlns:p14="http://schemas.microsoft.com/office/powerpoint/2010/main" val="36468720"/>
              </p:ext>
            </p:extLst>
          </p:nvPr>
        </p:nvGraphicFramePr>
        <p:xfrm>
          <a:off x="404564" y="1109616"/>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RO</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0x0B</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OPEN_CH12</a:t>
                      </a:r>
                      <a:endParaRPr lang="ko-KR" altLang="en-US" sz="5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OPEN_CH11</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OPEN_CH10</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OPEN_CH9</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OPEN_CH8</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OPEN_CH7</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OPEN_CH6</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OPEN_CH5</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OPEN_CH4</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OPEN_CH3</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OPEN_CH2</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OPEN_CH1</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141281D6-CF39-D176-74B5-C40A45C1A119}"/>
              </a:ext>
            </a:extLst>
          </p:cNvPr>
          <p:cNvSpPr txBox="1"/>
          <p:nvPr/>
        </p:nvSpPr>
        <p:spPr>
          <a:xfrm>
            <a:off x="404564" y="848186"/>
            <a:ext cx="605760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STATUS2</a:t>
            </a:r>
          </a:p>
        </p:txBody>
      </p:sp>
      <p:graphicFrame>
        <p:nvGraphicFramePr>
          <p:cNvPr id="4" name="표 3">
            <a:extLst>
              <a:ext uri="{FF2B5EF4-FFF2-40B4-BE49-F238E27FC236}">
                <a16:creationId xmlns:a16="http://schemas.microsoft.com/office/drawing/2014/main" id="{DFC06445-E6E8-C080-2A1E-3C616E51A38A}"/>
              </a:ext>
            </a:extLst>
          </p:cNvPr>
          <p:cNvGraphicFramePr>
            <a:graphicFrameLocks noGrp="1"/>
          </p:cNvGraphicFramePr>
          <p:nvPr>
            <p:extLst>
              <p:ext uri="{D42A27DB-BD31-4B8C-83A1-F6EECF244321}">
                <p14:modId xmlns:p14="http://schemas.microsoft.com/office/powerpoint/2010/main" val="1809476353"/>
              </p:ext>
            </p:extLst>
          </p:nvPr>
        </p:nvGraphicFramePr>
        <p:xfrm>
          <a:off x="381046" y="2998008"/>
          <a:ext cx="6047025" cy="55548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err="1">
                          <a:solidFill>
                            <a:schemeClr val="tx1"/>
                          </a:solidFill>
                          <a:latin typeface="Arial" panose="020B0604020202020204" pitchFamily="34" charset="0"/>
                          <a:ea typeface="+mn-ea"/>
                          <a:cs typeface="Arial" panose="020B0604020202020204" pitchFamily="34" charset="0"/>
                        </a:rPr>
                        <a:t>SHORT_CHx</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a:solidFill>
                            <a:schemeClr val="dk1"/>
                          </a:solidFill>
                          <a:effectLst/>
                          <a:latin typeface="Arial" panose="020B0604020202020204" pitchFamily="34" charset="0"/>
                          <a:ea typeface="+mn-ea"/>
                          <a:cs typeface="Arial" panose="020B0604020202020204" pitchFamily="34" charset="0"/>
                        </a:rPr>
                        <a:t>This bit </a:t>
                      </a:r>
                      <a:r>
                        <a:rPr lang="en-US" altLang="ko-KR" sz="900" b="0">
                          <a:solidFill>
                            <a:schemeClr val="tx1"/>
                          </a:solidFill>
                          <a:latin typeface="Arial" panose="020B0604020202020204" pitchFamily="34" charset="0"/>
                          <a:ea typeface="+mn-ea"/>
                          <a:cs typeface="Arial" panose="020B0604020202020204" pitchFamily="34" charset="0"/>
                        </a:rPr>
                        <a:t>indicates whether the SHORT event each Ch.</a:t>
                      </a:r>
                      <a:endParaRPr lang="en-US" altLang="ko-KR" sz="900" b="0" i="0" kern="120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a:solidFill>
                          <a:schemeClr val="dk1"/>
                        </a:solidFill>
                        <a:effectLst/>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5307E48C-9483-C39A-EC77-902C1ECA04D0}"/>
              </a:ext>
            </a:extLst>
          </p:cNvPr>
          <p:cNvGraphicFramePr>
            <a:graphicFrameLocks noGrp="1"/>
          </p:cNvGraphicFramePr>
          <p:nvPr>
            <p:extLst>
              <p:ext uri="{D42A27DB-BD31-4B8C-83A1-F6EECF244321}">
                <p14:modId xmlns:p14="http://schemas.microsoft.com/office/powerpoint/2010/main" val="34900513"/>
              </p:ext>
            </p:extLst>
          </p:nvPr>
        </p:nvGraphicFramePr>
        <p:xfrm>
          <a:off x="382473" y="2439290"/>
          <a:ext cx="6048453" cy="41832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RO</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0x0C</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SHORT_</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CH12</a:t>
                      </a:r>
                      <a:endParaRPr lang="ko-KR" altLang="en-US" sz="5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CH11</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CH10</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_CH9</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_CH8</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_CH7</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_CH6</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_CH5</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SHORT_CH4</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_CH3</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_CH2</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500" b="0">
                          <a:solidFill>
                            <a:schemeClr val="tx1"/>
                          </a:solidFill>
                          <a:latin typeface="Arial" panose="020B0604020202020204" pitchFamily="34" charset="0"/>
                          <a:ea typeface="+mn-ea"/>
                          <a:cs typeface="Arial" panose="020B0604020202020204" pitchFamily="34" charset="0"/>
                        </a:rPr>
                        <a:t>SHORT</a:t>
                      </a: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_CH1</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7781125E-B76E-77C7-D37F-B7FE255C6FA3}"/>
              </a:ext>
            </a:extLst>
          </p:cNvPr>
          <p:cNvSpPr txBox="1"/>
          <p:nvPr/>
        </p:nvSpPr>
        <p:spPr>
          <a:xfrm>
            <a:off x="382473" y="2177860"/>
            <a:ext cx="605760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STATUS3</a:t>
            </a:r>
          </a:p>
        </p:txBody>
      </p:sp>
      <p:graphicFrame>
        <p:nvGraphicFramePr>
          <p:cNvPr id="18" name="표 17">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287075942"/>
              </p:ext>
            </p:extLst>
          </p:nvPr>
        </p:nvGraphicFramePr>
        <p:xfrm>
          <a:off x="369794" y="7610101"/>
          <a:ext cx="6052400" cy="173883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MAX_CURR_VREF1/2/3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MAX_CURR_VREF1/2/3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err="1">
                          <a:solidFill>
                            <a:schemeClr val="tx1"/>
                          </a:solidFill>
                          <a:latin typeface="Arial" panose="020B0604020202020204" pitchFamily="34" charset="0"/>
                          <a:ea typeface="+mn-ea"/>
                          <a:cs typeface="Arial" panose="020B0604020202020204" pitchFamily="34" charset="0"/>
                        </a:rPr>
                        <a:t>vsync</a:t>
                      </a:r>
                      <a:r>
                        <a:rPr lang="en-US" altLang="ko-KR" sz="900" b="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MAX_CURR_VREF1 : MAX_CURR_VREF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MAX_CURR_VREF2 : MAX_CURR_VREF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MAX_CURR_VREF3 : MAX_CURR_VREF for LED3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435202962"/>
              </p:ext>
            </p:extLst>
          </p:nvPr>
        </p:nvGraphicFramePr>
        <p:xfrm>
          <a:off x="375495" y="630636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0x0E</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MAX_CURR_VREF1[11:0]</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RST2</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RST1</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0" name="TextBox 19">
            <a:extLst>
              <a:ext uri="{FF2B5EF4-FFF2-40B4-BE49-F238E27FC236}">
                <a16:creationId xmlns:a16="http://schemas.microsoft.com/office/drawing/2014/main" id="{5CBB5A2B-88AD-CB2B-06D4-A847F70DC2AB}"/>
              </a:ext>
            </a:extLst>
          </p:cNvPr>
          <p:cNvSpPr txBox="1"/>
          <p:nvPr/>
        </p:nvSpPr>
        <p:spPr>
          <a:xfrm>
            <a:off x="373323" y="6044751"/>
            <a:ext cx="6037969"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MAX CURRENT VREF</a:t>
            </a:r>
          </a:p>
        </p:txBody>
      </p:sp>
      <p:graphicFrame>
        <p:nvGraphicFramePr>
          <p:cNvPr id="21" name="표 20">
            <a:extLst>
              <a:ext uri="{FF2B5EF4-FFF2-40B4-BE49-F238E27FC236}">
                <a16:creationId xmlns:a16="http://schemas.microsoft.com/office/drawing/2014/main" id="{96ABD091-2D29-51CF-7CDC-CEE8FBA2C7D0}"/>
              </a:ext>
            </a:extLst>
          </p:cNvPr>
          <p:cNvGraphicFramePr>
            <a:graphicFrameLocks noGrp="1"/>
          </p:cNvGraphicFramePr>
          <p:nvPr>
            <p:extLst>
              <p:ext uri="{D42A27DB-BD31-4B8C-83A1-F6EECF244321}">
                <p14:modId xmlns:p14="http://schemas.microsoft.com/office/powerpoint/2010/main" val="2847696198"/>
              </p:ext>
            </p:extLst>
          </p:nvPr>
        </p:nvGraphicFramePr>
        <p:xfrm>
          <a:off x="384226" y="6742080"/>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0x0F</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MAX_CURR_VREF2[11:0]</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RST2</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RST1</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2" name="표 21">
            <a:extLst>
              <a:ext uri="{FF2B5EF4-FFF2-40B4-BE49-F238E27FC236}">
                <a16:creationId xmlns:a16="http://schemas.microsoft.com/office/drawing/2014/main" id="{4C6700ED-C82D-EDC2-43C1-7C68860C512C}"/>
              </a:ext>
            </a:extLst>
          </p:cNvPr>
          <p:cNvGraphicFramePr>
            <a:graphicFrameLocks noGrp="1"/>
          </p:cNvGraphicFramePr>
          <p:nvPr>
            <p:extLst>
              <p:ext uri="{D42A27DB-BD31-4B8C-83A1-F6EECF244321}">
                <p14:modId xmlns:p14="http://schemas.microsoft.com/office/powerpoint/2010/main" val="192490803"/>
              </p:ext>
            </p:extLst>
          </p:nvPr>
        </p:nvGraphicFramePr>
        <p:xfrm>
          <a:off x="384226" y="7195476"/>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MAX_CURR_VREF3[11:0]</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x</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RST2</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a:solidFill>
                            <a:schemeClr val="tx1"/>
                          </a:solidFill>
                          <a:latin typeface="Arial" panose="020B0604020202020204" pitchFamily="34" charset="0"/>
                          <a:cs typeface="Arial" panose="020B0604020202020204" pitchFamily="34" charset="0"/>
                        </a:rPr>
                        <a:t>RST1</a:t>
                      </a:r>
                      <a:endParaRPr lang="ko-KR" altLang="en-US" sz="700" b="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2029AFBF-A96C-8B6D-24D8-6EE2AE8B5BE5}"/>
              </a:ext>
            </a:extLst>
          </p:cNvPr>
          <p:cNvGraphicFramePr>
            <a:graphicFrameLocks noGrp="1"/>
          </p:cNvGraphicFramePr>
          <p:nvPr>
            <p:extLst>
              <p:ext uri="{D42A27DB-BD31-4B8C-83A1-F6EECF244321}">
                <p14:modId xmlns:p14="http://schemas.microsoft.com/office/powerpoint/2010/main" val="1999949471"/>
              </p:ext>
            </p:extLst>
          </p:nvPr>
        </p:nvGraphicFramePr>
        <p:xfrm>
          <a:off x="1325961" y="5073448"/>
          <a:ext cx="4092706" cy="908640"/>
        </p:xfrm>
        <a:graphic>
          <a:graphicData uri="http://schemas.openxmlformats.org/drawingml/2006/table">
            <a:tbl>
              <a:tblPr firstRow="1" bandRow="1">
                <a:tableStyleId>{5C22544A-7EE6-4342-B048-85BDC9FD1C3A}</a:tableStyleId>
              </a:tblPr>
              <a:tblGrid>
                <a:gridCol w="1315639">
                  <a:extLst>
                    <a:ext uri="{9D8B030D-6E8A-4147-A177-3AD203B41FA5}">
                      <a16:colId xmlns:a16="http://schemas.microsoft.com/office/drawing/2014/main" val="2769999950"/>
                    </a:ext>
                  </a:extLst>
                </a:gridCol>
                <a:gridCol w="1049867">
                  <a:extLst>
                    <a:ext uri="{9D8B030D-6E8A-4147-A177-3AD203B41FA5}">
                      <a16:colId xmlns:a16="http://schemas.microsoft.com/office/drawing/2014/main" val="135637185"/>
                    </a:ext>
                  </a:extLst>
                </a:gridCol>
                <a:gridCol w="1727200">
                  <a:extLst>
                    <a:ext uri="{9D8B030D-6E8A-4147-A177-3AD203B41FA5}">
                      <a16:colId xmlns:a16="http://schemas.microsoft.com/office/drawing/2014/main" val="2852526216"/>
                    </a:ext>
                  </a:extLst>
                </a:gridCol>
              </a:tblGrid>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Step current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Bit [3:0]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MAX_CURR_LEVEL#</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row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4 mA / Step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8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4361649"/>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811600"/>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1111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64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607618"/>
                  </a:ext>
                </a:extLst>
              </a:tr>
            </a:tbl>
          </a:graphicData>
        </a:graphic>
      </p:graphicFrame>
    </p:spTree>
    <p:extLst>
      <p:ext uri="{BB962C8B-B14F-4D97-AF65-F5344CB8AC3E}">
        <p14:creationId xmlns:p14="http://schemas.microsoft.com/office/powerpoint/2010/main" val="656392774"/>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33489-8C3B-8988-AFDD-0D55268FBF21}"/>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931081D-663B-C21A-0E6B-25164E7AFE9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8467209-748B-9615-15D6-AD8EB96B0746}"/>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433136D5-6634-FC6A-B88A-64089DE528CF}"/>
              </a:ext>
            </a:extLst>
          </p:cNvPr>
          <p:cNvGraphicFramePr>
            <a:graphicFrameLocks noGrp="1"/>
          </p:cNvGraphicFramePr>
          <p:nvPr>
            <p:extLst>
              <p:ext uri="{D42A27DB-BD31-4B8C-83A1-F6EECF244321}">
                <p14:modId xmlns:p14="http://schemas.microsoft.com/office/powerpoint/2010/main" val="3276563787"/>
              </p:ext>
            </p:extLst>
          </p:nvPr>
        </p:nvGraphicFramePr>
        <p:xfrm>
          <a:off x="401035" y="1656594"/>
          <a:ext cx="6052400" cy="91587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CHx_LD_TYPE    </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determines whether it is time-sharing data or non-sharing data each CH.</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non-sharing data</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time-sharing data</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0DDDDEFA-0FDC-FCC4-12A7-2A291372FFF7}"/>
              </a:ext>
            </a:extLst>
          </p:cNvPr>
          <p:cNvSpPr txBox="1"/>
          <p:nvPr/>
        </p:nvSpPr>
        <p:spPr>
          <a:xfrm>
            <a:off x="404564" y="848842"/>
            <a:ext cx="6037969" cy="261610"/>
          </a:xfrm>
          <a:prstGeom prst="rect">
            <a:avLst/>
          </a:prstGeom>
          <a:noFill/>
        </p:spPr>
        <p:txBody>
          <a:bodyPr wrap="square" lIns="0" rtlCol="0">
            <a:spAutoFit/>
          </a:bodyPr>
          <a:lstStyle/>
          <a:p>
            <a:r>
              <a:rPr lang="en-US" altLang="ko-KR" sz="1100" b="1" err="1">
                <a:latin typeface="Arial" panose="020B0604020202020204" pitchFamily="34" charset="0"/>
                <a:cs typeface="Arial" panose="020B0604020202020204" pitchFamily="34" charset="0"/>
              </a:rPr>
              <a:t>CHx_LD_TYPE</a:t>
            </a:r>
            <a:endParaRPr lang="en-US" altLang="ko-KR" sz="1100" b="1">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FD8C0C3-D46F-3BFF-8175-8D75D323368C}"/>
              </a:ext>
            </a:extLst>
          </p:cNvPr>
          <p:cNvSpPr txBox="1"/>
          <p:nvPr/>
        </p:nvSpPr>
        <p:spPr>
          <a:xfrm>
            <a:off x="386687" y="3124968"/>
            <a:ext cx="6009182"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DELAY CH</a:t>
            </a:r>
          </a:p>
        </p:txBody>
      </p:sp>
      <p:graphicFrame>
        <p:nvGraphicFramePr>
          <p:cNvPr id="33" name="표 32">
            <a:extLst>
              <a:ext uri="{FF2B5EF4-FFF2-40B4-BE49-F238E27FC236}">
                <a16:creationId xmlns:a16="http://schemas.microsoft.com/office/drawing/2014/main" id="{BBDFA91C-B440-359F-86B8-2FA0BDA3D8C2}"/>
              </a:ext>
            </a:extLst>
          </p:cNvPr>
          <p:cNvGraphicFramePr>
            <a:graphicFrameLocks noGrp="1"/>
          </p:cNvGraphicFramePr>
          <p:nvPr>
            <p:extLst>
              <p:ext uri="{D42A27DB-BD31-4B8C-83A1-F6EECF244321}">
                <p14:modId xmlns:p14="http://schemas.microsoft.com/office/powerpoint/2010/main" val="3532461730"/>
              </p:ext>
            </p:extLst>
          </p:nvPr>
        </p:nvGraphicFramePr>
        <p:xfrm>
          <a:off x="386687" y="6436664"/>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err="1">
                          <a:solidFill>
                            <a:schemeClr val="tx1"/>
                          </a:solidFill>
                          <a:latin typeface="Arial" panose="020B0604020202020204" pitchFamily="34" charset="0"/>
                          <a:ea typeface="+mn-ea"/>
                          <a:cs typeface="Arial" panose="020B0604020202020204" pitchFamily="34" charset="0"/>
                        </a:rPr>
                        <a:t>DELAY_CHx</a:t>
                      </a:r>
                      <a:endParaRPr lang="en-US" altLang="ko-KR"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a:solidFill>
                            <a:schemeClr val="tx1"/>
                          </a:solidFill>
                          <a:latin typeface="Arial" panose="020B0604020202020204" pitchFamily="34" charset="0"/>
                          <a:ea typeface="+mn-ea"/>
                          <a:cs typeface="Arial" panose="020B0604020202020204" pitchFamily="34" charset="0"/>
                        </a:rPr>
                        <a:t>th</a:t>
                      </a:r>
                      <a:r>
                        <a:rPr lang="en-US" altLang="ko-KR" sz="900" b="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854AAC8E-D1C3-1A37-F215-F2D0305842F8}"/>
              </a:ext>
            </a:extLst>
          </p:cNvPr>
          <p:cNvGraphicFramePr>
            <a:graphicFrameLocks noGrp="1"/>
          </p:cNvGraphicFramePr>
          <p:nvPr>
            <p:extLst>
              <p:ext uri="{D42A27DB-BD31-4B8C-83A1-F6EECF244321}">
                <p14:modId xmlns:p14="http://schemas.microsoft.com/office/powerpoint/2010/main" val="1604102434"/>
              </p:ext>
            </p:extLst>
          </p:nvPr>
        </p:nvGraphicFramePr>
        <p:xfrm>
          <a:off x="405468" y="3384354"/>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0x12</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5" name="표 4">
            <a:extLst>
              <a:ext uri="{FF2B5EF4-FFF2-40B4-BE49-F238E27FC236}">
                <a16:creationId xmlns:a16="http://schemas.microsoft.com/office/drawing/2014/main" id="{7D5F8CAC-A0C8-1266-3FDF-A941E5643F32}"/>
              </a:ext>
            </a:extLst>
          </p:cNvPr>
          <p:cNvGraphicFramePr>
            <a:graphicFrameLocks noGrp="1"/>
          </p:cNvGraphicFramePr>
          <p:nvPr>
            <p:extLst>
              <p:ext uri="{D42A27DB-BD31-4B8C-83A1-F6EECF244321}">
                <p14:modId xmlns:p14="http://schemas.microsoft.com/office/powerpoint/2010/main" val="96881521"/>
              </p:ext>
            </p:extLst>
          </p:nvPr>
        </p:nvGraphicFramePr>
        <p:xfrm>
          <a:off x="405468" y="388174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0x13</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472342D-B080-F462-900C-0B429F8701A2}"/>
              </a:ext>
            </a:extLst>
          </p:cNvPr>
          <p:cNvGraphicFramePr>
            <a:graphicFrameLocks noGrp="1"/>
          </p:cNvGraphicFramePr>
          <p:nvPr>
            <p:extLst>
              <p:ext uri="{D42A27DB-BD31-4B8C-83A1-F6EECF244321}">
                <p14:modId xmlns:p14="http://schemas.microsoft.com/office/powerpoint/2010/main" val="1415074039"/>
              </p:ext>
            </p:extLst>
          </p:nvPr>
        </p:nvGraphicFramePr>
        <p:xfrm>
          <a:off x="405468" y="4396125"/>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0x14</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9" name="표 8">
            <a:extLst>
              <a:ext uri="{FF2B5EF4-FFF2-40B4-BE49-F238E27FC236}">
                <a16:creationId xmlns:a16="http://schemas.microsoft.com/office/drawing/2014/main" id="{4E96E3E5-097B-B3AB-87BA-183B6F5F1AEE}"/>
              </a:ext>
            </a:extLst>
          </p:cNvPr>
          <p:cNvGraphicFramePr>
            <a:graphicFrameLocks noGrp="1"/>
          </p:cNvGraphicFramePr>
          <p:nvPr>
            <p:extLst>
              <p:ext uri="{D42A27DB-BD31-4B8C-83A1-F6EECF244321}">
                <p14:modId xmlns:p14="http://schemas.microsoft.com/office/powerpoint/2010/main" val="2402697128"/>
              </p:ext>
            </p:extLst>
          </p:nvPr>
        </p:nvGraphicFramePr>
        <p:xfrm>
          <a:off x="405468" y="4910509"/>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0x15</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0" name="표 9">
            <a:extLst>
              <a:ext uri="{FF2B5EF4-FFF2-40B4-BE49-F238E27FC236}">
                <a16:creationId xmlns:a16="http://schemas.microsoft.com/office/drawing/2014/main" id="{17CB2B5C-2C13-7C6E-8391-49D2DD6DE141}"/>
              </a:ext>
            </a:extLst>
          </p:cNvPr>
          <p:cNvGraphicFramePr>
            <a:graphicFrameLocks noGrp="1"/>
          </p:cNvGraphicFramePr>
          <p:nvPr>
            <p:extLst>
              <p:ext uri="{D42A27DB-BD31-4B8C-83A1-F6EECF244321}">
                <p14:modId xmlns:p14="http://schemas.microsoft.com/office/powerpoint/2010/main" val="998016657"/>
              </p:ext>
            </p:extLst>
          </p:nvPr>
        </p:nvGraphicFramePr>
        <p:xfrm>
          <a:off x="405468" y="540789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0x16</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62ABEF2C-67B5-3BF8-BC22-4ED4F0D69413}"/>
              </a:ext>
            </a:extLst>
          </p:cNvPr>
          <p:cNvGraphicFramePr>
            <a:graphicFrameLocks noGrp="1"/>
          </p:cNvGraphicFramePr>
          <p:nvPr>
            <p:extLst>
              <p:ext uri="{D42A27DB-BD31-4B8C-83A1-F6EECF244321}">
                <p14:modId xmlns:p14="http://schemas.microsoft.com/office/powerpoint/2010/main" val="2318716813"/>
              </p:ext>
            </p:extLst>
          </p:nvPr>
        </p:nvGraphicFramePr>
        <p:xfrm>
          <a:off x="405468" y="5922280"/>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0x17</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5" name="표 14">
            <a:extLst>
              <a:ext uri="{FF2B5EF4-FFF2-40B4-BE49-F238E27FC236}">
                <a16:creationId xmlns:a16="http://schemas.microsoft.com/office/drawing/2014/main" id="{75D30D09-77D5-8069-3826-AB7B866193B1}"/>
              </a:ext>
            </a:extLst>
          </p:cNvPr>
          <p:cNvGraphicFramePr>
            <a:graphicFrameLocks noGrp="1"/>
          </p:cNvGraphicFramePr>
          <p:nvPr>
            <p:extLst>
              <p:ext uri="{D42A27DB-BD31-4B8C-83A1-F6EECF244321}">
                <p14:modId xmlns:p14="http://schemas.microsoft.com/office/powerpoint/2010/main" val="3367041211"/>
              </p:ext>
            </p:extLst>
          </p:nvPr>
        </p:nvGraphicFramePr>
        <p:xfrm>
          <a:off x="398468" y="1158384"/>
          <a:ext cx="6048453" cy="4488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0x11</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CH12_LD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CH11_LD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CH10_LD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CH9_LD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CH8_LD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CH7_LD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CH6_LD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CH5_LD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CH4_LD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CH3_LD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CH2_LD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CH1_LD</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_TYPE</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898233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E4B69-C61E-DAEE-6DCD-EBAB0E06EFC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1CD9F018-BE56-18AF-0954-F7E2DCB11FE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2EFC817-6BC6-5088-1DBA-648B9147F04A}"/>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D36F2062-D401-BEEA-C94E-76FA452A7B2C}"/>
              </a:ext>
            </a:extLst>
          </p:cNvPr>
          <p:cNvGraphicFramePr>
            <a:graphicFrameLocks noGrp="1"/>
          </p:cNvGraphicFramePr>
          <p:nvPr>
            <p:extLst>
              <p:ext uri="{D42A27DB-BD31-4B8C-83A1-F6EECF244321}">
                <p14:modId xmlns:p14="http://schemas.microsoft.com/office/powerpoint/2010/main" val="1879917399"/>
              </p:ext>
            </p:extLst>
          </p:nvPr>
        </p:nvGraphicFramePr>
        <p:xfrm>
          <a:off x="401035" y="1766322"/>
          <a:ext cx="6052400" cy="4338626"/>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0679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CRC_EN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enables to detect the THERMAL event.</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180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WD_DIMM_EN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This bit enables the PWM dimming HIGH function in the watchdog timeout event</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120471"/>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9:8</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WD_TIMCFG</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configures the watchdog timeout threshold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2’b00:  8,191 MCLK/64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2’b01: 16,383 MCLK/64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2’b10:  65,635 MCLK/64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2’b11:</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  262,143 MCLK/64 (default)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8487068"/>
                  </a:ext>
                </a:extLst>
              </a:tr>
              <a:tr h="3042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7</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ea typeface="현대하모니 L" panose="02020603020101020101" pitchFamily="18" charset="-127"/>
                          <a:cs typeface="Arial" panose="020B0604020202020204" pitchFamily="34" charset="0"/>
                        </a:rPr>
                        <a:t>This bit enables the watchdog timer function.</a:t>
                      </a:r>
                      <a:endPar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856877"/>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VS_MISS_DIMM_EN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This bit enables the PWM dimming HIGH function in the </a:t>
                      </a:r>
                      <a:r>
                        <a:rPr lang="en-US" altLang="ko-KR" sz="900" b="0" dirty="0" err="1">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vsync</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 missing event.</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580103"/>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VS_MISS_EN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This bit enables the</a:t>
                      </a:r>
                      <a:r>
                        <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detection</a:t>
                      </a:r>
                      <a:r>
                        <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of</a:t>
                      </a:r>
                      <a:r>
                        <a:rPr lang="ko-KR" altLang="en-US"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 </a:t>
                      </a:r>
                      <a:r>
                        <a:rPr lang="en-US" altLang="ko-KR" sz="900" b="0" dirty="0" err="1">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vsync</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 missing event.</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2158672"/>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CH_CTRL_MISMATCH_EN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This bit enables the detection of mismatch between channel control input and output.</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750778"/>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VREF_OVUV_OFF_EN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bit setting makes all channels’ output be off in case the VREF_OV or VREF_UV event happens, and all channels will be activated again after the event is cleared. </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206198"/>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VREF_OVUV_EN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enables the detection of OV and UV of the VREF output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930480"/>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OSC_LDO_OVUV_EN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enables the detection of OV and UV of the OSC LDO output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287954"/>
                  </a:ext>
                </a:extLst>
              </a:tr>
              <a:tr h="3237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LDO_OVUV_EN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This enables the detection of OV and UV of the LDO output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8815620"/>
                  </a:ext>
                </a:extLst>
              </a:tr>
            </a:tbl>
          </a:graphicData>
        </a:graphic>
      </p:graphicFrame>
      <p:sp>
        <p:nvSpPr>
          <p:cNvPr id="8" name="TextBox 7">
            <a:extLst>
              <a:ext uri="{FF2B5EF4-FFF2-40B4-BE49-F238E27FC236}">
                <a16:creationId xmlns:a16="http://schemas.microsoft.com/office/drawing/2014/main" id="{FA28BB92-8180-A016-1708-4D8DBD34A5DD}"/>
              </a:ext>
            </a:extLst>
          </p:cNvPr>
          <p:cNvSpPr txBox="1"/>
          <p:nvPr/>
        </p:nvSpPr>
        <p:spPr>
          <a:xfrm>
            <a:off x="404564" y="848842"/>
            <a:ext cx="6037969"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CONFIGURATION</a:t>
            </a:r>
          </a:p>
        </p:txBody>
      </p:sp>
      <p:graphicFrame>
        <p:nvGraphicFramePr>
          <p:cNvPr id="15" name="표 14">
            <a:extLst>
              <a:ext uri="{FF2B5EF4-FFF2-40B4-BE49-F238E27FC236}">
                <a16:creationId xmlns:a16="http://schemas.microsoft.com/office/drawing/2014/main" id="{A71627DA-9966-2142-21CF-BD42ABD923E8}"/>
              </a:ext>
            </a:extLst>
          </p:cNvPr>
          <p:cNvGraphicFramePr>
            <a:graphicFrameLocks noGrp="1"/>
          </p:cNvGraphicFramePr>
          <p:nvPr>
            <p:extLst>
              <p:ext uri="{D42A27DB-BD31-4B8C-83A1-F6EECF244321}">
                <p14:modId xmlns:p14="http://schemas.microsoft.com/office/powerpoint/2010/main" val="1196928982"/>
              </p:ext>
            </p:extLst>
          </p:nvPr>
        </p:nvGraphicFramePr>
        <p:xfrm>
          <a:off x="398467" y="1158384"/>
          <a:ext cx="6026714" cy="540240"/>
        </p:xfrm>
        <a:graphic>
          <a:graphicData uri="http://schemas.openxmlformats.org/drawingml/2006/table">
            <a:tbl>
              <a:tblPr firstRow="1" bandRow="1">
                <a:tableStyleId>{5C22544A-7EE6-4342-B048-85BDC9FD1C3A}</a:tableStyleId>
              </a:tblPr>
              <a:tblGrid>
                <a:gridCol w="270438">
                  <a:extLst>
                    <a:ext uri="{9D8B030D-6E8A-4147-A177-3AD203B41FA5}">
                      <a16:colId xmlns:a16="http://schemas.microsoft.com/office/drawing/2014/main" val="657570846"/>
                    </a:ext>
                  </a:extLst>
                </a:gridCol>
                <a:gridCol w="316475">
                  <a:extLst>
                    <a:ext uri="{9D8B030D-6E8A-4147-A177-3AD203B41FA5}">
                      <a16:colId xmlns:a16="http://schemas.microsoft.com/office/drawing/2014/main" val="3259894497"/>
                    </a:ext>
                  </a:extLst>
                </a:gridCol>
                <a:gridCol w="424425">
                  <a:extLst>
                    <a:ext uri="{9D8B030D-6E8A-4147-A177-3AD203B41FA5}">
                      <a16:colId xmlns:a16="http://schemas.microsoft.com/office/drawing/2014/main" val="4170535043"/>
                    </a:ext>
                  </a:extLst>
                </a:gridCol>
                <a:gridCol w="355600">
                  <a:extLst>
                    <a:ext uri="{9D8B030D-6E8A-4147-A177-3AD203B41FA5}">
                      <a16:colId xmlns:a16="http://schemas.microsoft.com/office/drawing/2014/main" val="2079070694"/>
                    </a:ext>
                  </a:extLst>
                </a:gridCol>
                <a:gridCol w="296862">
                  <a:extLst>
                    <a:ext uri="{9D8B030D-6E8A-4147-A177-3AD203B41FA5}">
                      <a16:colId xmlns:a16="http://schemas.microsoft.com/office/drawing/2014/main" val="4213315911"/>
                    </a:ext>
                  </a:extLst>
                </a:gridCol>
                <a:gridCol w="339725">
                  <a:extLst>
                    <a:ext uri="{9D8B030D-6E8A-4147-A177-3AD203B41FA5}">
                      <a16:colId xmlns:a16="http://schemas.microsoft.com/office/drawing/2014/main" val="2769999950"/>
                    </a:ext>
                  </a:extLst>
                </a:gridCol>
                <a:gridCol w="339725">
                  <a:extLst>
                    <a:ext uri="{9D8B030D-6E8A-4147-A177-3AD203B41FA5}">
                      <a16:colId xmlns:a16="http://schemas.microsoft.com/office/drawing/2014/main" val="135637185"/>
                    </a:ext>
                  </a:extLst>
                </a:gridCol>
                <a:gridCol w="460433">
                  <a:extLst>
                    <a:ext uri="{9D8B030D-6E8A-4147-A177-3AD203B41FA5}">
                      <a16:colId xmlns:a16="http://schemas.microsoft.com/office/drawing/2014/main" val="3038050475"/>
                    </a:ext>
                  </a:extLst>
                </a:gridCol>
                <a:gridCol w="460433">
                  <a:extLst>
                    <a:ext uri="{9D8B030D-6E8A-4147-A177-3AD203B41FA5}">
                      <a16:colId xmlns:a16="http://schemas.microsoft.com/office/drawing/2014/main" val="1979433044"/>
                    </a:ext>
                  </a:extLst>
                </a:gridCol>
                <a:gridCol w="460433">
                  <a:extLst>
                    <a:ext uri="{9D8B030D-6E8A-4147-A177-3AD203B41FA5}">
                      <a16:colId xmlns:a16="http://schemas.microsoft.com/office/drawing/2014/main" val="4270661649"/>
                    </a:ext>
                  </a:extLst>
                </a:gridCol>
                <a:gridCol w="460433">
                  <a:extLst>
                    <a:ext uri="{9D8B030D-6E8A-4147-A177-3AD203B41FA5}">
                      <a16:colId xmlns:a16="http://schemas.microsoft.com/office/drawing/2014/main" val="3027041370"/>
                    </a:ext>
                  </a:extLst>
                </a:gridCol>
                <a:gridCol w="460433">
                  <a:extLst>
                    <a:ext uri="{9D8B030D-6E8A-4147-A177-3AD203B41FA5}">
                      <a16:colId xmlns:a16="http://schemas.microsoft.com/office/drawing/2014/main" val="2852526216"/>
                    </a:ext>
                  </a:extLst>
                </a:gridCol>
                <a:gridCol w="460433">
                  <a:extLst>
                    <a:ext uri="{9D8B030D-6E8A-4147-A177-3AD203B41FA5}">
                      <a16:colId xmlns:a16="http://schemas.microsoft.com/office/drawing/2014/main" val="103420222"/>
                    </a:ext>
                  </a:extLst>
                </a:gridCol>
                <a:gridCol w="460433">
                  <a:extLst>
                    <a:ext uri="{9D8B030D-6E8A-4147-A177-3AD203B41FA5}">
                      <a16:colId xmlns:a16="http://schemas.microsoft.com/office/drawing/2014/main" val="1470405609"/>
                    </a:ext>
                  </a:extLst>
                </a:gridCol>
                <a:gridCol w="460433">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0x18</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CRC_EN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WD_DIMM_EN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WD_TIMECFG[1:0]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WD_EN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VS_MISS_DIMM_EN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VS_MISS_EN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CH_CTRL_MISMATCH_EN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VREF_OVUV_OFF_EN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VREF_OVUV_EN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OSC_LDO_OVUV_EN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LDO_OVUV_EN</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20324977"/>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3B6C2-22AB-29DC-4EE0-A279A73A4B7A}"/>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8A80B37C-BE1C-36AF-AF1D-84F98545DE7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C2C2EF5-CCD6-B7DD-C6C7-787CBA395567}"/>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58A6FBD-6C70-980B-7489-EB55784A4E0E}"/>
              </a:ext>
            </a:extLst>
          </p:cNvPr>
          <p:cNvGraphicFramePr>
            <a:graphicFrameLocks noGrp="1"/>
          </p:cNvGraphicFramePr>
          <p:nvPr>
            <p:extLst>
              <p:ext uri="{D42A27DB-BD31-4B8C-83A1-F6EECF244321}">
                <p14:modId xmlns:p14="http://schemas.microsoft.com/office/powerpoint/2010/main" val="1853466582"/>
              </p:ext>
            </p:extLst>
          </p:nvPr>
        </p:nvGraphicFramePr>
        <p:xfrm>
          <a:off x="401035" y="1766322"/>
          <a:ext cx="6052400" cy="2742093"/>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BIST_START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When this bit is written to 1, it triggers the Comparator OV/UV Built-In Self test. This bit is automatically cleared after written.</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BIST_BUSY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(R/O)</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This bit shows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whether BIST sequence is ongoing. This bit is automatically cleared after BIST is done.</a:t>
                      </a:r>
                      <a:endPar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8487068"/>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BIST_DONE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(R/O)</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This bit shows </a:t>
                      </a:r>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whether BIST sequence has been completed.</a:t>
                      </a:r>
                      <a:endPar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856877"/>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BIST_ERR</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(R/O)</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rPr>
                        <a:t>This bit shows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whether a failure in BIST test has been occurred.</a:t>
                      </a:r>
                      <a:endPar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sym typeface="Wingdings" panose="05000000000000000000" pitchFamily="2" charset="2"/>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007560"/>
                  </a:ext>
                </a:extLst>
              </a:tr>
            </a:tbl>
          </a:graphicData>
        </a:graphic>
      </p:graphicFrame>
      <p:sp>
        <p:nvSpPr>
          <p:cNvPr id="8" name="TextBox 7">
            <a:extLst>
              <a:ext uri="{FF2B5EF4-FFF2-40B4-BE49-F238E27FC236}">
                <a16:creationId xmlns:a16="http://schemas.microsoft.com/office/drawing/2014/main" id="{C7814AA7-4762-3936-E67A-D6F9BFCA6A2B}"/>
              </a:ext>
            </a:extLst>
          </p:cNvPr>
          <p:cNvSpPr txBox="1"/>
          <p:nvPr/>
        </p:nvSpPr>
        <p:spPr>
          <a:xfrm>
            <a:off x="404564" y="848842"/>
            <a:ext cx="6037969"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BIST</a:t>
            </a:r>
          </a:p>
        </p:txBody>
      </p:sp>
      <p:graphicFrame>
        <p:nvGraphicFramePr>
          <p:cNvPr id="15" name="표 14">
            <a:extLst>
              <a:ext uri="{FF2B5EF4-FFF2-40B4-BE49-F238E27FC236}">
                <a16:creationId xmlns:a16="http://schemas.microsoft.com/office/drawing/2014/main" id="{1FAE7BBB-9A3D-022F-EB41-F7B0599C3FD1}"/>
              </a:ext>
            </a:extLst>
          </p:cNvPr>
          <p:cNvGraphicFramePr>
            <a:graphicFrameLocks noGrp="1"/>
          </p:cNvGraphicFramePr>
          <p:nvPr>
            <p:extLst>
              <p:ext uri="{D42A27DB-BD31-4B8C-83A1-F6EECF244321}">
                <p14:modId xmlns:p14="http://schemas.microsoft.com/office/powerpoint/2010/main" val="3632962108"/>
              </p:ext>
            </p:extLst>
          </p:nvPr>
        </p:nvGraphicFramePr>
        <p:xfrm>
          <a:off x="398467" y="1158384"/>
          <a:ext cx="6037965" cy="479280"/>
        </p:xfrm>
        <a:graphic>
          <a:graphicData uri="http://schemas.openxmlformats.org/drawingml/2006/table">
            <a:tbl>
              <a:tblPr firstRow="1" bandRow="1">
                <a:tableStyleId>{5C22544A-7EE6-4342-B048-85BDC9FD1C3A}</a:tableStyleId>
              </a:tblPr>
              <a:tblGrid>
                <a:gridCol w="265420">
                  <a:extLst>
                    <a:ext uri="{9D8B030D-6E8A-4147-A177-3AD203B41FA5}">
                      <a16:colId xmlns:a16="http://schemas.microsoft.com/office/drawing/2014/main" val="657570846"/>
                    </a:ext>
                  </a:extLst>
                </a:gridCol>
                <a:gridCol w="310603">
                  <a:extLst>
                    <a:ext uri="{9D8B030D-6E8A-4147-A177-3AD203B41FA5}">
                      <a16:colId xmlns:a16="http://schemas.microsoft.com/office/drawing/2014/main" val="3259894497"/>
                    </a:ext>
                  </a:extLst>
                </a:gridCol>
                <a:gridCol w="416549">
                  <a:extLst>
                    <a:ext uri="{9D8B030D-6E8A-4147-A177-3AD203B41FA5}">
                      <a16:colId xmlns:a16="http://schemas.microsoft.com/office/drawing/2014/main" val="4170535043"/>
                    </a:ext>
                  </a:extLst>
                </a:gridCol>
                <a:gridCol w="472086">
                  <a:extLst>
                    <a:ext uri="{9D8B030D-6E8A-4147-A177-3AD203B41FA5}">
                      <a16:colId xmlns:a16="http://schemas.microsoft.com/office/drawing/2014/main" val="2079070694"/>
                    </a:ext>
                  </a:extLst>
                </a:gridCol>
                <a:gridCol w="357373">
                  <a:extLst>
                    <a:ext uri="{9D8B030D-6E8A-4147-A177-3AD203B41FA5}">
                      <a16:colId xmlns:a16="http://schemas.microsoft.com/office/drawing/2014/main" val="4213315911"/>
                    </a:ext>
                  </a:extLst>
                </a:gridCol>
                <a:gridCol w="357373">
                  <a:extLst>
                    <a:ext uri="{9D8B030D-6E8A-4147-A177-3AD203B41FA5}">
                      <a16:colId xmlns:a16="http://schemas.microsoft.com/office/drawing/2014/main" val="2769999950"/>
                    </a:ext>
                  </a:extLst>
                </a:gridCol>
                <a:gridCol w="357373">
                  <a:extLst>
                    <a:ext uri="{9D8B030D-6E8A-4147-A177-3AD203B41FA5}">
                      <a16:colId xmlns:a16="http://schemas.microsoft.com/office/drawing/2014/main" val="135637185"/>
                    </a:ext>
                  </a:extLst>
                </a:gridCol>
                <a:gridCol w="357373">
                  <a:extLst>
                    <a:ext uri="{9D8B030D-6E8A-4147-A177-3AD203B41FA5}">
                      <a16:colId xmlns:a16="http://schemas.microsoft.com/office/drawing/2014/main" val="3038050475"/>
                    </a:ext>
                  </a:extLst>
                </a:gridCol>
                <a:gridCol w="357373">
                  <a:extLst>
                    <a:ext uri="{9D8B030D-6E8A-4147-A177-3AD203B41FA5}">
                      <a16:colId xmlns:a16="http://schemas.microsoft.com/office/drawing/2014/main" val="1979433044"/>
                    </a:ext>
                  </a:extLst>
                </a:gridCol>
                <a:gridCol w="357373">
                  <a:extLst>
                    <a:ext uri="{9D8B030D-6E8A-4147-A177-3AD203B41FA5}">
                      <a16:colId xmlns:a16="http://schemas.microsoft.com/office/drawing/2014/main" val="4270661649"/>
                    </a:ext>
                  </a:extLst>
                </a:gridCol>
                <a:gridCol w="357373">
                  <a:extLst>
                    <a:ext uri="{9D8B030D-6E8A-4147-A177-3AD203B41FA5}">
                      <a16:colId xmlns:a16="http://schemas.microsoft.com/office/drawing/2014/main" val="3027041370"/>
                    </a:ext>
                  </a:extLst>
                </a:gridCol>
                <a:gridCol w="517924">
                  <a:extLst>
                    <a:ext uri="{9D8B030D-6E8A-4147-A177-3AD203B41FA5}">
                      <a16:colId xmlns:a16="http://schemas.microsoft.com/office/drawing/2014/main" val="2852526216"/>
                    </a:ext>
                  </a:extLst>
                </a:gridCol>
                <a:gridCol w="517924">
                  <a:extLst>
                    <a:ext uri="{9D8B030D-6E8A-4147-A177-3AD203B41FA5}">
                      <a16:colId xmlns:a16="http://schemas.microsoft.com/office/drawing/2014/main" val="103420222"/>
                    </a:ext>
                  </a:extLst>
                </a:gridCol>
                <a:gridCol w="517924">
                  <a:extLst>
                    <a:ext uri="{9D8B030D-6E8A-4147-A177-3AD203B41FA5}">
                      <a16:colId xmlns:a16="http://schemas.microsoft.com/office/drawing/2014/main" val="1470405609"/>
                    </a:ext>
                  </a:extLst>
                </a:gridCol>
                <a:gridCol w="517924">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(R/O)</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0x19</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BIST_START</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BIST_BUSY</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(R/O)</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BIST_DONE</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(R/O)</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BIST_ERR</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(R/O)</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553004804"/>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314549249"/>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11:6</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SERIAL_CLK_LOW</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a:solidFill>
                            <a:schemeClr val="tx1"/>
                          </a:solidFill>
                          <a:latin typeface="Arial" panose="020B0604020202020204" pitchFamily="34" charset="0"/>
                          <a:ea typeface="+mn-ea"/>
                          <a:cs typeface="Arial" panose="020B0604020202020204" pitchFamily="34" charset="0"/>
                        </a:rPr>
                        <a:t>DD</a:t>
                      </a:r>
                      <a:r>
                        <a:rPr lang="en-US" altLang="ko-KR" sz="900" b="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ID601 is driving the D</a:t>
                      </a:r>
                      <a:r>
                        <a:rPr lang="en-US" altLang="ko-KR" sz="900" b="0" baseline="-25000">
                          <a:solidFill>
                            <a:schemeClr val="tx1"/>
                          </a:solidFill>
                          <a:latin typeface="Arial" panose="020B0604020202020204" pitchFamily="34" charset="0"/>
                          <a:ea typeface="+mn-ea"/>
                          <a:cs typeface="Arial" panose="020B0604020202020204" pitchFamily="34" charset="0"/>
                        </a:rPr>
                        <a:t>IO</a:t>
                      </a:r>
                      <a:r>
                        <a:rPr lang="en-US" altLang="ko-KR" sz="900" b="0">
                          <a:solidFill>
                            <a:schemeClr val="tx1"/>
                          </a:solidFill>
                          <a:latin typeface="Arial" panose="020B0604020202020204" pitchFamily="34" charset="0"/>
                          <a:ea typeface="+mn-ea"/>
                          <a:cs typeface="Arial" panose="020B0604020202020204" pitchFamily="34" charset="0"/>
                        </a:rPr>
                        <a:t> pin on read-back. For more details, refer to Table. 4, Logic low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SERIAL_CLK_HIGH</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a:solidFill>
                            <a:schemeClr val="tx1"/>
                          </a:solidFill>
                          <a:latin typeface="Arial" panose="020B0604020202020204" pitchFamily="34" charset="0"/>
                          <a:ea typeface="+mn-ea"/>
                          <a:cs typeface="Arial" panose="020B0604020202020204" pitchFamily="34" charset="0"/>
                        </a:rPr>
                        <a:t>DD</a:t>
                      </a:r>
                      <a:r>
                        <a:rPr lang="en-US" altLang="ko-KR" sz="900" b="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ID601 is driving the D</a:t>
                      </a:r>
                      <a:r>
                        <a:rPr lang="en-US" altLang="ko-KR" sz="900" b="0" baseline="-25000">
                          <a:solidFill>
                            <a:schemeClr val="tx1"/>
                          </a:solidFill>
                          <a:latin typeface="Arial" panose="020B0604020202020204" pitchFamily="34" charset="0"/>
                          <a:ea typeface="+mn-ea"/>
                          <a:cs typeface="Arial" panose="020B0604020202020204" pitchFamily="34" charset="0"/>
                        </a:rPr>
                        <a:t>IO</a:t>
                      </a:r>
                      <a:r>
                        <a:rPr lang="en-US" altLang="ko-KR" sz="900" b="0">
                          <a:solidFill>
                            <a:schemeClr val="tx1"/>
                          </a:solidFill>
                          <a:latin typeface="Arial" panose="020B0604020202020204" pitchFamily="34" charset="0"/>
                          <a:ea typeface="+mn-ea"/>
                          <a:cs typeface="Arial" panose="020B0604020202020204" pitchFamily="34" charset="0"/>
                        </a:rPr>
                        <a:t> pin on read-back.  For more details, refer to Table. 4, Logic high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3940645260"/>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0x1C</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0x318</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cs typeface="Arial" panose="020B0604020202020204" pitchFamily="34" charset="0"/>
                        </a:rPr>
                        <a:t>SERIAL_CLK_HIGH [5:0]</a:t>
                      </a:r>
                      <a:endParaRPr lang="ko-KR" altLang="en-US" sz="700" b="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021743269"/>
              </p:ext>
            </p:extLst>
          </p:nvPr>
        </p:nvGraphicFramePr>
        <p:xfrm>
          <a:off x="399387" y="43970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8:0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SERIAL_LAT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IC603. That means the interval time between the last bit of n</a:t>
                      </a:r>
                      <a:r>
                        <a:rPr lang="en-US" altLang="ko-KR" sz="900" b="0" baseline="30000">
                          <a:solidFill>
                            <a:schemeClr val="tx1"/>
                          </a:solidFill>
                          <a:latin typeface="Arial" panose="020B0604020202020204" pitchFamily="34" charset="0"/>
                          <a:ea typeface="+mn-ea"/>
                          <a:cs typeface="Arial" panose="020B0604020202020204" pitchFamily="34" charset="0"/>
                        </a:rPr>
                        <a:t>th</a:t>
                      </a:r>
                      <a:r>
                        <a:rPr lang="en-US" altLang="ko-KR" sz="900" b="0">
                          <a:solidFill>
                            <a:schemeClr val="tx1"/>
                          </a:solidFill>
                          <a:latin typeface="Arial" panose="020B0604020202020204" pitchFamily="34" charset="0"/>
                          <a:ea typeface="+mn-ea"/>
                          <a:cs typeface="Arial" panose="020B0604020202020204" pitchFamily="34" charset="0"/>
                        </a:rPr>
                        <a:t> ID601  device’s data packet and the first bit of (n+1)</a:t>
                      </a:r>
                      <a:r>
                        <a:rPr lang="en-US" altLang="ko-KR" sz="900" b="0" baseline="30000" err="1">
                          <a:solidFill>
                            <a:schemeClr val="tx1"/>
                          </a:solidFill>
                          <a:latin typeface="Arial" panose="020B0604020202020204" pitchFamily="34" charset="0"/>
                          <a:ea typeface="+mn-ea"/>
                          <a:cs typeface="Arial" panose="020B0604020202020204" pitchFamily="34" charset="0"/>
                        </a:rPr>
                        <a:t>th</a:t>
                      </a:r>
                      <a:r>
                        <a:rPr lang="en-US" altLang="ko-KR" sz="900" b="0">
                          <a:solidFill>
                            <a:schemeClr val="tx1"/>
                          </a:solidFill>
                          <a:latin typeface="Arial" panose="020B0604020202020204" pitchFamily="34" charset="0"/>
                          <a:ea typeface="+mn-ea"/>
                          <a:cs typeface="Arial" panose="020B0604020202020204" pitchFamily="34" charset="0"/>
                        </a:rPr>
                        <a:t> ID601  device’s data packet incoming from the XC. The setting value should be larger than the 1-bit serial data length time at which the IC603 is sending to the daisied ID601 s. So, the proper value depends on the serial baudrate of the IC603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IC603 is changed to slow down. </a:t>
                      </a:r>
                      <a:endParaRPr lang="en-US" altLang="ko-KR"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2722247386"/>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0x1D</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0x080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SERIAL_LATENCY [8:0]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428895469"/>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0x1E</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342023976"/>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a:solidFill>
                            <a:schemeClr val="tx1"/>
                          </a:solidFill>
                          <a:latin typeface="Arial" panose="020B0604020202020204" pitchFamily="34" charset="0"/>
                          <a:ea typeface="+mn-ea"/>
                          <a:cs typeface="Arial" panose="020B0604020202020204" pitchFamily="34" charset="0"/>
                        </a:rPr>
                        <a:t> </a:t>
                      </a:r>
                      <a:r>
                        <a:rPr lang="en-US" altLang="ko-KR" sz="900" b="0">
                          <a:solidFill>
                            <a:schemeClr val="tx1"/>
                          </a:solidFill>
                          <a:latin typeface="Arial" panose="020B0604020202020204" pitchFamily="34" charset="0"/>
                          <a:ea typeface="+mn-ea"/>
                          <a:cs typeface="Arial" panose="020B0604020202020204" pitchFamily="34" charset="0"/>
                        </a:rPr>
                        <a:t>only valid</a:t>
                      </a:r>
                      <a:r>
                        <a:rPr lang="ko-KR" altLang="en-US" sz="900" b="0">
                          <a:solidFill>
                            <a:schemeClr val="tx1"/>
                          </a:solidFill>
                          <a:latin typeface="Arial" panose="020B0604020202020204" pitchFamily="34" charset="0"/>
                          <a:ea typeface="+mn-ea"/>
                          <a:cs typeface="Arial" panose="020B0604020202020204" pitchFamily="34" charset="0"/>
                        </a:rPr>
                        <a:t> </a:t>
                      </a:r>
                      <a:r>
                        <a:rPr lang="en-US" altLang="ko-KR" sz="900" b="0">
                          <a:solidFill>
                            <a:schemeClr val="tx1"/>
                          </a:solidFill>
                          <a:latin typeface="Arial" panose="020B0604020202020204" pitchFamily="34" charset="0"/>
                          <a:ea typeface="+mn-ea"/>
                          <a:cs typeface="Arial" panose="020B0604020202020204" pitchFamily="34" charset="0"/>
                        </a:rPr>
                        <a:t>under</a:t>
                      </a:r>
                      <a:r>
                        <a:rPr lang="ko-KR" altLang="en-US" sz="900" b="0">
                          <a:solidFill>
                            <a:schemeClr val="tx1"/>
                          </a:solidFill>
                          <a:latin typeface="Arial" panose="020B0604020202020204" pitchFamily="34" charset="0"/>
                          <a:ea typeface="+mn-ea"/>
                          <a:cs typeface="Arial" panose="020B0604020202020204" pitchFamily="34" charset="0"/>
                        </a:rPr>
                        <a:t> </a:t>
                      </a:r>
                      <a:r>
                        <a:rPr lang="en-US" altLang="ko-KR" sz="900" b="0">
                          <a:solidFill>
                            <a:schemeClr val="tx1"/>
                          </a:solidFill>
                          <a:latin typeface="Arial" panose="020B0604020202020204" pitchFamily="34" charset="0"/>
                          <a:ea typeface="+mn-ea"/>
                          <a:cs typeface="Arial" panose="020B0604020202020204" pitchFamily="34" charset="0"/>
                        </a:rPr>
                        <a:t>(</a:t>
                      </a:r>
                      <a:r>
                        <a:rPr lang="en-US" altLang="ko-KR" sz="900" b="0" err="1">
                          <a:solidFill>
                            <a:schemeClr val="tx1"/>
                          </a:solidFill>
                          <a:latin typeface="Arial" panose="020B0604020202020204" pitchFamily="34" charset="0"/>
                          <a:ea typeface="+mn-ea"/>
                          <a:cs typeface="Arial" panose="020B0604020202020204" pitchFamily="34" charset="0"/>
                        </a:rPr>
                        <a:t>syncmode</a:t>
                      </a:r>
                      <a:r>
                        <a:rPr lang="en-US" altLang="ko-KR" sz="900" b="0">
                          <a:solidFill>
                            <a:schemeClr val="tx1"/>
                          </a:solidFill>
                          <a:latin typeface="Arial" panose="020B0604020202020204" pitchFamily="34" charset="0"/>
                          <a:ea typeface="+mn-ea"/>
                          <a:cs typeface="Arial" panose="020B0604020202020204" pitchFamily="34" charset="0"/>
                        </a:rPr>
                        <a:t> = 1). Refer the picture Figure 12 below. (unit MCLK/2)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655827"/>
            <a:ext cx="6043015"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03846717"/>
              </p:ext>
            </p:extLst>
          </p:nvPr>
        </p:nvGraphicFramePr>
        <p:xfrm>
          <a:off x="404813" y="3911826"/>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0x1F</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3200839891"/>
              </p:ext>
            </p:extLst>
          </p:nvPr>
        </p:nvGraphicFramePr>
        <p:xfrm>
          <a:off x="417695" y="4265426"/>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 1 enable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SV_MASK determines internal SVSYNC rising / falling position. (unit MCLK/2)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563583"/>
            <a:ext cx="6043015"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RSTCNT</a:t>
            </a:r>
          </a:p>
        </p:txBody>
      </p:sp>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637113995"/>
              </p:ext>
            </p:extLst>
          </p:nvPr>
        </p:nvGraphicFramePr>
        <p:xfrm>
          <a:off x="417695" y="6292715"/>
          <a:ext cx="6046695" cy="785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RSTCNT is counted by a MCLK/64 from a last svsync, reset at every </a:t>
                      </a:r>
                      <a:r>
                        <a:rPr lang="en-US" altLang="ko-KR" sz="900" b="0" err="1">
                          <a:solidFill>
                            <a:schemeClr val="tx1"/>
                          </a:solidFill>
                          <a:latin typeface="Arial" panose="020B0604020202020204" pitchFamily="34" charset="0"/>
                          <a:ea typeface="+mn-ea"/>
                          <a:cs typeface="Arial" panose="020B0604020202020204" pitchFamily="34" charset="0"/>
                        </a:rPr>
                        <a:t>vsync</a:t>
                      </a:r>
                      <a:r>
                        <a:rPr lang="en-US" altLang="ko-KR" sz="900" b="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(unit MCLK/64)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408266"/>
            <a:ext cx="6043015"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1764006969"/>
              </p:ext>
            </p:extLst>
          </p:nvPr>
        </p:nvGraphicFramePr>
        <p:xfrm>
          <a:off x="404813" y="7664265"/>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0x21</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0x3FF</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a:r>
                        <a:rPr lang="en-US" sz="700">
                          <a:latin typeface="Arial" panose="020B0604020202020204" pitchFamily="34" charset="0"/>
                          <a:cs typeface="Arial" panose="020B0604020202020204" pitchFamily="34" charset="0"/>
                        </a:rPr>
                        <a:t>TIMEOUT[10:0]</a:t>
                      </a:r>
                      <a:endParaRPr sz="70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4045449944"/>
              </p:ext>
            </p:extLst>
          </p:nvPr>
        </p:nvGraphicFramePr>
        <p:xfrm>
          <a:off x="404813" y="8137398"/>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10:0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 (unit MCLK/64)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BE34BB5B-EE8C-2259-6D65-D71E2CEB9C28}"/>
              </a:ext>
            </a:extLst>
          </p:cNvPr>
          <p:cNvSpPr txBox="1"/>
          <p:nvPr/>
        </p:nvSpPr>
        <p:spPr>
          <a:xfrm>
            <a:off x="1432912" y="3333567"/>
            <a:ext cx="4469172" cy="138499"/>
          </a:xfrm>
          <a:prstGeom prst="rect">
            <a:avLst/>
          </a:prstGeom>
          <a:noFill/>
        </p:spPr>
        <p:txBody>
          <a:bodyPr wrap="none" lIns="0" tIns="0" rIns="0" bIns="0" rtlCol="0" anchor="ctr" anchorCtr="0">
            <a:spAutoFit/>
          </a:bodyPr>
          <a:lstStyle/>
          <a:p>
            <a:r>
              <a:rPr lang="en-US" altLang="ko-KR" sz="900" b="1">
                <a:latin typeface="Arial" panose="020B0604020202020204" pitchFamily="34" charset="0"/>
                <a:cs typeface="Arial" panose="020B0604020202020204" pitchFamily="34" charset="0"/>
              </a:rPr>
              <a:t>Figure 12. Timing Diagram for VSYNC / SVSYNC generation ( @SYNC_MODE = 1)</a:t>
            </a:r>
          </a:p>
        </p:txBody>
      </p:sp>
      <p:pic>
        <p:nvPicPr>
          <p:cNvPr id="8" name="그림 7">
            <a:extLst>
              <a:ext uri="{FF2B5EF4-FFF2-40B4-BE49-F238E27FC236}">
                <a16:creationId xmlns:a16="http://schemas.microsoft.com/office/drawing/2014/main" id="{C47A0656-18E9-A4CB-30F4-E22703891B7E}"/>
              </a:ext>
            </a:extLst>
          </p:cNvPr>
          <p:cNvPicPr>
            <a:picLocks noChangeAspect="1"/>
          </p:cNvPicPr>
          <p:nvPr/>
        </p:nvPicPr>
        <p:blipFill>
          <a:blip r:embed="rId3"/>
          <a:stretch>
            <a:fillRect/>
          </a:stretch>
        </p:blipFill>
        <p:spPr>
          <a:xfrm>
            <a:off x="351365" y="2263734"/>
            <a:ext cx="6011335" cy="883775"/>
          </a:xfrm>
          <a:prstGeom prst="rect">
            <a:avLst/>
          </a:prstGeom>
        </p:spPr>
      </p:pic>
      <p:graphicFrame>
        <p:nvGraphicFramePr>
          <p:cNvPr id="5" name="표 4">
            <a:extLst>
              <a:ext uri="{FF2B5EF4-FFF2-40B4-BE49-F238E27FC236}">
                <a16:creationId xmlns:a16="http://schemas.microsoft.com/office/drawing/2014/main" id="{3E5371A7-32F8-A1AE-6753-8018166ED8E1}"/>
              </a:ext>
            </a:extLst>
          </p:cNvPr>
          <p:cNvGraphicFramePr>
            <a:graphicFrameLocks noGrp="1"/>
          </p:cNvGraphicFramePr>
          <p:nvPr>
            <p:extLst>
              <p:ext uri="{D42A27DB-BD31-4B8C-83A1-F6EECF244321}">
                <p14:modId xmlns:p14="http://schemas.microsoft.com/office/powerpoint/2010/main" val="2700093437"/>
              </p:ext>
            </p:extLst>
          </p:nvPr>
        </p:nvGraphicFramePr>
        <p:xfrm>
          <a:off x="398717" y="5825970"/>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a:solidFill>
                            <a:schemeClr val="tx1"/>
                          </a:solidFill>
                          <a:latin typeface="Arial" panose="020B0604020202020204" pitchFamily="34" charset="0"/>
                          <a:cs typeface="Arial" panose="020B0604020202020204" pitchFamily="34" charset="0"/>
                        </a:rPr>
                        <a:t>x</a:t>
                      </a:r>
                      <a:endParaRPr sz="70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RSTCNT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Tree>
    <p:extLst>
      <p:ext uri="{BB962C8B-B14F-4D97-AF65-F5344CB8AC3E}">
        <p14:creationId xmlns:p14="http://schemas.microsoft.com/office/powerpoint/2010/main" val="1749379277"/>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22174275"/>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7:0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FLLCNT</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FLLCNT is counted by an MCLK/64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FLL_EN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ID601 and set to 1 just before the vsync is not asserted if the vsync will be not supplied any more to the ID601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10:9</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FLL_RANGE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1214116876"/>
              </p:ext>
            </p:extLst>
          </p:nvPr>
        </p:nvGraphicFramePr>
        <p:xfrm>
          <a:off x="404812" y="1096476"/>
          <a:ext cx="6048372"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412250">
                  <a:extLst>
                    <a:ext uri="{9D8B030D-6E8A-4147-A177-3AD203B41FA5}">
                      <a16:colId xmlns:a16="http://schemas.microsoft.com/office/drawing/2014/main" val="2079070694"/>
                    </a:ext>
                  </a:extLst>
                </a:gridCol>
                <a:gridCol w="412250">
                  <a:extLst>
                    <a:ext uri="{9D8B030D-6E8A-4147-A177-3AD203B41FA5}">
                      <a16:colId xmlns:a16="http://schemas.microsoft.com/office/drawing/2014/main" val="4213315911"/>
                    </a:ext>
                  </a:extLst>
                </a:gridCol>
                <a:gridCol w="412250">
                  <a:extLst>
                    <a:ext uri="{9D8B030D-6E8A-4147-A177-3AD203B41FA5}">
                      <a16:colId xmlns:a16="http://schemas.microsoft.com/office/drawing/2014/main" val="2769999950"/>
                    </a:ext>
                  </a:extLst>
                </a:gridCol>
                <a:gridCol w="412250">
                  <a:extLst>
                    <a:ext uri="{9D8B030D-6E8A-4147-A177-3AD203B41FA5}">
                      <a16:colId xmlns:a16="http://schemas.microsoft.com/office/drawing/2014/main" val="135637185"/>
                    </a:ext>
                  </a:extLst>
                </a:gridCol>
                <a:gridCol w="412250">
                  <a:extLst>
                    <a:ext uri="{9D8B030D-6E8A-4147-A177-3AD203B41FA5}">
                      <a16:colId xmlns:a16="http://schemas.microsoft.com/office/drawing/2014/main" val="3038050475"/>
                    </a:ext>
                  </a:extLst>
                </a:gridCol>
                <a:gridCol w="412250">
                  <a:extLst>
                    <a:ext uri="{9D8B030D-6E8A-4147-A177-3AD203B41FA5}">
                      <a16:colId xmlns:a16="http://schemas.microsoft.com/office/drawing/2014/main" val="1979433044"/>
                    </a:ext>
                  </a:extLst>
                </a:gridCol>
                <a:gridCol w="412250">
                  <a:extLst>
                    <a:ext uri="{9D8B030D-6E8A-4147-A177-3AD203B41FA5}">
                      <a16:colId xmlns:a16="http://schemas.microsoft.com/office/drawing/2014/main" val="4270661649"/>
                    </a:ext>
                  </a:extLst>
                </a:gridCol>
                <a:gridCol w="412250">
                  <a:extLst>
                    <a:ext uri="{9D8B030D-6E8A-4147-A177-3AD203B41FA5}">
                      <a16:colId xmlns:a16="http://schemas.microsoft.com/office/drawing/2014/main" val="3027041370"/>
                    </a:ext>
                  </a:extLst>
                </a:gridCol>
                <a:gridCol w="412250">
                  <a:extLst>
                    <a:ext uri="{9D8B030D-6E8A-4147-A177-3AD203B41FA5}">
                      <a16:colId xmlns:a16="http://schemas.microsoft.com/office/drawing/2014/main" val="2852526216"/>
                    </a:ext>
                  </a:extLst>
                </a:gridCol>
                <a:gridCol w="412250">
                  <a:extLst>
                    <a:ext uri="{9D8B030D-6E8A-4147-A177-3AD203B41FA5}">
                      <a16:colId xmlns:a16="http://schemas.microsoft.com/office/drawing/2014/main" val="103420222"/>
                    </a:ext>
                  </a:extLst>
                </a:gridCol>
                <a:gridCol w="412250">
                  <a:extLst>
                    <a:ext uri="{9D8B030D-6E8A-4147-A177-3AD203B41FA5}">
                      <a16:colId xmlns:a16="http://schemas.microsoft.com/office/drawing/2014/main" val="1470405609"/>
                    </a:ext>
                  </a:extLst>
                </a:gridCol>
                <a:gridCol w="412250">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0x22</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FLLCNT [11:0]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03590590"/>
              </p:ext>
            </p:extLst>
          </p:nvPr>
        </p:nvGraphicFramePr>
        <p:xfrm>
          <a:off x="404812" y="5720961"/>
          <a:ext cx="6034799" cy="128650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 Other values</a:t>
                      </a:r>
                      <a:r>
                        <a:rPr lang="ko-KR" altLang="en-US" sz="900" b="0">
                          <a:solidFill>
                            <a:schemeClr val="tx1"/>
                          </a:solidFill>
                          <a:latin typeface="Arial" panose="020B0604020202020204" pitchFamily="34" charset="0"/>
                          <a:ea typeface="+mn-ea"/>
                          <a:cs typeface="Arial" panose="020B0604020202020204" pitchFamily="34" charset="0"/>
                        </a:rPr>
                        <a:t> </a:t>
                      </a:r>
                      <a:r>
                        <a:rPr lang="en-US" altLang="ko-KR" sz="900" b="0">
                          <a:solidFill>
                            <a:schemeClr val="tx1"/>
                          </a:solidFill>
                          <a:latin typeface="Arial" panose="020B0604020202020204" pitchFamily="34" charset="0"/>
                          <a:ea typeface="+mn-ea"/>
                          <a:cs typeface="Arial" panose="020B0604020202020204" pitchFamily="34" charset="0"/>
                        </a:rPr>
                        <a:t>: 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4191240490"/>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0x24</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0x555</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WR_PROTECT[11:0]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 name="표 1">
            <a:extLst>
              <a:ext uri="{FF2B5EF4-FFF2-40B4-BE49-F238E27FC236}">
                <a16:creationId xmlns:a16="http://schemas.microsoft.com/office/drawing/2014/main" id="{24938693-F8C8-418E-F6C4-341F972BE78C}"/>
              </a:ext>
            </a:extLst>
          </p:cNvPr>
          <p:cNvGraphicFramePr>
            <a:graphicFrameLocks noGrp="1"/>
          </p:cNvGraphicFramePr>
          <p:nvPr>
            <p:extLst>
              <p:ext uri="{D42A27DB-BD31-4B8C-83A1-F6EECF244321}">
                <p14:modId xmlns:p14="http://schemas.microsoft.com/office/powerpoint/2010/main" val="249166765"/>
              </p:ext>
            </p:extLst>
          </p:nvPr>
        </p:nvGraphicFramePr>
        <p:xfrm>
          <a:off x="404813" y="1541645"/>
          <a:ext cx="6050851" cy="387840"/>
        </p:xfrm>
        <a:graphic>
          <a:graphicData uri="http://schemas.openxmlformats.org/drawingml/2006/table">
            <a:tbl>
              <a:tblPr firstRow="1" bandRow="1">
                <a:tableStyleId>{5C22544A-7EE6-4342-B048-85BDC9FD1C3A}</a:tableStyleId>
              </a:tblPr>
              <a:tblGrid>
                <a:gridCol w="351892">
                  <a:extLst>
                    <a:ext uri="{9D8B030D-6E8A-4147-A177-3AD203B41FA5}">
                      <a16:colId xmlns:a16="http://schemas.microsoft.com/office/drawing/2014/main" val="657570846"/>
                    </a:ext>
                  </a:extLst>
                </a:gridCol>
                <a:gridCol w="386921">
                  <a:extLst>
                    <a:ext uri="{9D8B030D-6E8A-4147-A177-3AD203B41FA5}">
                      <a16:colId xmlns:a16="http://schemas.microsoft.com/office/drawing/2014/main" val="3259894497"/>
                    </a:ext>
                  </a:extLst>
                </a:gridCol>
                <a:gridCol w="454731">
                  <a:extLst>
                    <a:ext uri="{9D8B030D-6E8A-4147-A177-3AD203B41FA5}">
                      <a16:colId xmlns:a16="http://schemas.microsoft.com/office/drawing/2014/main" val="4170535043"/>
                    </a:ext>
                  </a:extLst>
                </a:gridCol>
                <a:gridCol w="405317">
                  <a:extLst>
                    <a:ext uri="{9D8B030D-6E8A-4147-A177-3AD203B41FA5}">
                      <a16:colId xmlns:a16="http://schemas.microsoft.com/office/drawing/2014/main" val="2079070694"/>
                    </a:ext>
                  </a:extLst>
                </a:gridCol>
                <a:gridCol w="405317">
                  <a:extLst>
                    <a:ext uri="{9D8B030D-6E8A-4147-A177-3AD203B41FA5}">
                      <a16:colId xmlns:a16="http://schemas.microsoft.com/office/drawing/2014/main" val="4213315911"/>
                    </a:ext>
                  </a:extLst>
                </a:gridCol>
                <a:gridCol w="490596">
                  <a:extLst>
                    <a:ext uri="{9D8B030D-6E8A-4147-A177-3AD203B41FA5}">
                      <a16:colId xmlns:a16="http://schemas.microsoft.com/office/drawing/2014/main" val="2769999950"/>
                    </a:ext>
                  </a:extLst>
                </a:gridCol>
                <a:gridCol w="405317">
                  <a:extLst>
                    <a:ext uri="{9D8B030D-6E8A-4147-A177-3AD203B41FA5}">
                      <a16:colId xmlns:a16="http://schemas.microsoft.com/office/drawing/2014/main" val="513055385"/>
                    </a:ext>
                  </a:extLst>
                </a:gridCol>
                <a:gridCol w="393845">
                  <a:extLst>
                    <a:ext uri="{9D8B030D-6E8A-4147-A177-3AD203B41FA5}">
                      <a16:colId xmlns:a16="http://schemas.microsoft.com/office/drawing/2014/main" val="3227922260"/>
                    </a:ext>
                  </a:extLst>
                </a:gridCol>
                <a:gridCol w="393845">
                  <a:extLst>
                    <a:ext uri="{9D8B030D-6E8A-4147-A177-3AD203B41FA5}">
                      <a16:colId xmlns:a16="http://schemas.microsoft.com/office/drawing/2014/main" val="3489919120"/>
                    </a:ext>
                  </a:extLst>
                </a:gridCol>
                <a:gridCol w="393845">
                  <a:extLst>
                    <a:ext uri="{9D8B030D-6E8A-4147-A177-3AD203B41FA5}">
                      <a16:colId xmlns:a16="http://schemas.microsoft.com/office/drawing/2014/main" val="3939820327"/>
                    </a:ext>
                  </a:extLst>
                </a:gridCol>
                <a:gridCol w="393845">
                  <a:extLst>
                    <a:ext uri="{9D8B030D-6E8A-4147-A177-3AD203B41FA5}">
                      <a16:colId xmlns:a16="http://schemas.microsoft.com/office/drawing/2014/main" val="2935709269"/>
                    </a:ext>
                  </a:extLst>
                </a:gridCol>
                <a:gridCol w="393845">
                  <a:extLst>
                    <a:ext uri="{9D8B030D-6E8A-4147-A177-3AD203B41FA5}">
                      <a16:colId xmlns:a16="http://schemas.microsoft.com/office/drawing/2014/main" val="1621887005"/>
                    </a:ext>
                  </a:extLst>
                </a:gridCol>
                <a:gridCol w="393845">
                  <a:extLst>
                    <a:ext uri="{9D8B030D-6E8A-4147-A177-3AD203B41FA5}">
                      <a16:colId xmlns:a16="http://schemas.microsoft.com/office/drawing/2014/main" val="2662128294"/>
                    </a:ext>
                  </a:extLst>
                </a:gridCol>
                <a:gridCol w="393845">
                  <a:extLst>
                    <a:ext uri="{9D8B030D-6E8A-4147-A177-3AD203B41FA5}">
                      <a16:colId xmlns:a16="http://schemas.microsoft.com/office/drawing/2014/main" val="373700147"/>
                    </a:ext>
                  </a:extLst>
                </a:gridCol>
                <a:gridCol w="393845">
                  <a:extLst>
                    <a:ext uri="{9D8B030D-6E8A-4147-A177-3AD203B41FA5}">
                      <a16:colId xmlns:a16="http://schemas.microsoft.com/office/drawing/2014/main" val="3464707909"/>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0x23</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0xC32</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FLL_EN</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FLL_RANGE[1:0]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FLLCNT[19:12]</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1344903724"/>
              </p:ext>
            </p:extLst>
          </p:nvPr>
        </p:nvGraphicFramePr>
        <p:xfrm>
          <a:off x="414077" y="1550702"/>
          <a:ext cx="6057234" cy="39130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11:6</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BBKN_TH</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register is used to improve EMI by spreading the SVSYNC signal in 1-mclk unit.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3456949478"/>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0x25</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BBKN_TH[5:0]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SGRJT_</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EN2</a:t>
                      </a:r>
                      <a:endParaRPr kumimoji="0" lang="ko-KR" altLang="en-US"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SGRJT_</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EN1</a:t>
                      </a:r>
                      <a:endParaRPr kumimoji="0" lang="ko-KR" altLang="en-US"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BBKN_</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EN</a:t>
                      </a:r>
                      <a:endParaRPr kumimoji="0" lang="ko-KR" altLang="en-US"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442958"/>
            <a:ext cx="6048621"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3899206860"/>
              </p:ext>
            </p:extLst>
          </p:nvPr>
        </p:nvGraphicFramePr>
        <p:xfrm>
          <a:off x="392113" y="6090608"/>
          <a:ext cx="6057234" cy="288094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CHOP_EN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Enable for the chopping clock generator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CHOP_DRV_EN is determinant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CHOP_OSCLDO_EN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CHOP_OSCLDO_EN is determinant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CHOP_OSC_EN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CHOP_OSC_EN determinant OSC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CHOP_DAC_EN determinant DAC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The CHOP_BGR_EN determinant BGR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2173166934"/>
              </p:ext>
            </p:extLst>
          </p:nvPr>
        </p:nvGraphicFramePr>
        <p:xfrm>
          <a:off x="404984" y="5704568"/>
          <a:ext cx="5962725"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444500">
                  <a:extLst>
                    <a:ext uri="{9D8B030D-6E8A-4147-A177-3AD203B41FA5}">
                      <a16:colId xmlns:a16="http://schemas.microsoft.com/office/drawing/2014/main" val="3027041370"/>
                    </a:ext>
                  </a:extLst>
                </a:gridCol>
                <a:gridCol w="5651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0x26</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x</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CHOP_EN</a:t>
                      </a:r>
                      <a:endParaRPr kumimoji="0" lang="ko-KR" altLang="en-US" sz="45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CHOP_DRV_EN</a:t>
                      </a:r>
                      <a:endParaRPr kumimoji="0" lang="ko-KR" altLang="en-US" sz="4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CHOP_OSCLDO_EN</a:t>
                      </a:r>
                      <a:endParaRPr kumimoji="0" lang="ko-KR" altLang="en-US" sz="4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CHOP_OSC_EN</a:t>
                      </a:r>
                      <a:endParaRPr kumimoji="0" lang="ko-KR" altLang="en-US" sz="4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697076"/>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OFS_TEMP_ETC</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446094254"/>
              </p:ext>
            </p:extLst>
          </p:nvPr>
        </p:nvGraphicFramePr>
        <p:xfrm>
          <a:off x="386686" y="1490511"/>
          <a:ext cx="6057230" cy="208323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OFS_TEMP</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OV_SWAP_EN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 for comparator self-test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6</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DAC_RNG</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FLT_CTL</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3:2</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O_SLEW</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bit determines slew control for PWM drivers.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endParaRPr lang="en-US" altLang="ko-KR" sz="900" b="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443197"/>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FLT_GAIN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1650046885"/>
              </p:ext>
            </p:extLst>
          </p:nvPr>
        </p:nvGraphicFramePr>
        <p:xfrm>
          <a:off x="404812" y="962790"/>
          <a:ext cx="6048365" cy="47928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342367">
                  <a:extLst>
                    <a:ext uri="{9D8B030D-6E8A-4147-A177-3AD203B41FA5}">
                      <a16:colId xmlns:a16="http://schemas.microsoft.com/office/drawing/2014/main" val="135637185"/>
                    </a:ext>
                  </a:extLst>
                </a:gridCol>
                <a:gridCol w="460189">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0x27</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0x829</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OV_SWAP_EN</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750870"/>
            <a:ext cx="6048621"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2369416246"/>
              </p:ext>
            </p:extLst>
          </p:nvPr>
        </p:nvGraphicFramePr>
        <p:xfrm>
          <a:off x="395952" y="4890201"/>
          <a:ext cx="6057234" cy="129334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OSC_FLL_MAN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 It is careful that this bit must be cleared during the initialization after POR.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7390474"/>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5:4</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OSC_FLL_ERR_RANGE</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1534902"/>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3984219503"/>
              </p:ext>
            </p:extLst>
          </p:nvPr>
        </p:nvGraphicFramePr>
        <p:xfrm>
          <a:off x="395955" y="4016486"/>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0x28</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OSC_FLL_MAN [11:0]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490281957"/>
              </p:ext>
            </p:extLst>
          </p:nvPr>
        </p:nvGraphicFramePr>
        <p:xfrm>
          <a:off x="395955" y="4459443"/>
          <a:ext cx="6057233" cy="47928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0x29</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0x808</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OSC_MAN_EN</a:t>
                      </a:r>
                      <a:endParaRPr kumimoji="0" lang="ko-KR" altLang="en-US"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OSC_FLL_ERR</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_RANGE[1:0]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OSC_FLL_MAN [15:12]</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294263"/>
            <a:ext cx="6057232"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3883897316"/>
              </p:ext>
            </p:extLst>
          </p:nvPr>
        </p:nvGraphicFramePr>
        <p:xfrm>
          <a:off x="395955" y="6988638"/>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SPRD_EN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SPRD_SPD</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2:0</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SPRD_GAIN</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3535810466"/>
              </p:ext>
            </p:extLst>
          </p:nvPr>
        </p:nvGraphicFramePr>
        <p:xfrm>
          <a:off x="395955" y="655997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389723">
                  <a:extLst>
                    <a:ext uri="{9D8B030D-6E8A-4147-A177-3AD203B41FA5}">
                      <a16:colId xmlns:a16="http://schemas.microsoft.com/office/drawing/2014/main" val="4213315911"/>
                    </a:ext>
                  </a:extLst>
                </a:gridCol>
                <a:gridCol w="389211">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0x2A</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SPRD_GAIN[2:0]</a:t>
                      </a: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E848-304D-3538-FA94-9F368F33C7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F3A004B-5F37-2C34-C8D7-FBBCA00A0E2D}"/>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561318C-43E9-4F79-9173-6F0D44F89880}"/>
              </a:ext>
            </a:extLst>
          </p:cNvPr>
          <p:cNvSpPr txBox="1"/>
          <p:nvPr/>
        </p:nvSpPr>
        <p:spPr>
          <a:xfrm>
            <a:off x="386687" y="274753"/>
            <a:ext cx="6075480"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249FA240-7695-A301-2339-579E6E006614}"/>
              </a:ext>
            </a:extLst>
          </p:cNvPr>
          <p:cNvGraphicFramePr>
            <a:graphicFrameLocks noGrp="1"/>
          </p:cNvGraphicFramePr>
          <p:nvPr>
            <p:extLst>
              <p:ext uri="{D42A27DB-BD31-4B8C-83A1-F6EECF244321}">
                <p14:modId xmlns:p14="http://schemas.microsoft.com/office/powerpoint/2010/main" val="2825970617"/>
              </p:ext>
            </p:extLst>
          </p:nvPr>
        </p:nvGraphicFramePr>
        <p:xfrm>
          <a:off x="401035" y="1766322"/>
          <a:ext cx="6052400" cy="1079109"/>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06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AMUX_SEL</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Analog mux </a:t>
                      </a:r>
                      <a:r>
                        <a:rPr lang="en-US" altLang="ko-KR" sz="900" b="0" err="1">
                          <a:solidFill>
                            <a:schemeClr val="tx1"/>
                          </a:solidFill>
                          <a:latin typeface="Arial" panose="020B0604020202020204" pitchFamily="34" charset="0"/>
                          <a:ea typeface="현대하모니 L" panose="02020603020101020101" pitchFamily="18" charset="-127"/>
                          <a:cs typeface="Arial" panose="020B0604020202020204" pitchFamily="34" charset="0"/>
                        </a:rPr>
                        <a:t>en</a:t>
                      </a:r>
                      <a:r>
                        <a:rPr lang="en-US" altLang="ko-KR" sz="900" b="0">
                          <a:solidFill>
                            <a:schemeClr val="tx1"/>
                          </a:solidFill>
                          <a:latin typeface="Arial" panose="020B0604020202020204" pitchFamily="34" charset="0"/>
                          <a:ea typeface="현대하모니 L" panose="02020603020101020101" pitchFamily="18" charset="-127"/>
                          <a:cs typeface="Arial" panose="020B0604020202020204" pitchFamily="34" charset="0"/>
                        </a:rPr>
                        <a:t>/signal selection bits</a:t>
                      </a:r>
                      <a:endParaRPr lang="ko-KR" altLang="en-US" sz="900" b="0">
                        <a:solidFill>
                          <a:schemeClr val="tx1"/>
                        </a:solidFill>
                        <a:latin typeface="Arial" panose="020B0604020202020204" pitchFamily="34" charset="0"/>
                        <a:ea typeface="현대하모니 L" panose="02020603020101020101" pitchFamily="18" charset="-127"/>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32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DMUX_SEL</a:t>
                      </a:r>
                      <a:endParaRPr lang="ko-KR" altLang="en-US" sz="900" b="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Digital mux </a:t>
                      </a:r>
                      <a:r>
                        <a:rPr lang="en-US" altLang="ko-KR" sz="900" b="0" dirty="0" err="1">
                          <a:solidFill>
                            <a:schemeClr val="tx1"/>
                          </a:solidFill>
                          <a:latin typeface="Arial" panose="020B0604020202020204" pitchFamily="34" charset="0"/>
                          <a:ea typeface="현대하모니 L" panose="02020603020101020101" pitchFamily="18" charset="-127"/>
                          <a:cs typeface="Arial" panose="020B0604020202020204" pitchFamily="34" charset="0"/>
                        </a:rPr>
                        <a:t>en</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/signal selection bits</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534415"/>
                  </a:ext>
                </a:extLst>
              </a:tr>
            </a:tbl>
          </a:graphicData>
        </a:graphic>
      </p:graphicFrame>
      <p:sp>
        <p:nvSpPr>
          <p:cNvPr id="8" name="TextBox 7">
            <a:extLst>
              <a:ext uri="{FF2B5EF4-FFF2-40B4-BE49-F238E27FC236}">
                <a16:creationId xmlns:a16="http://schemas.microsoft.com/office/drawing/2014/main" id="{2A2E6050-62A8-9BA4-3638-30DE36F61857}"/>
              </a:ext>
            </a:extLst>
          </p:cNvPr>
          <p:cNvSpPr txBox="1"/>
          <p:nvPr/>
        </p:nvSpPr>
        <p:spPr>
          <a:xfrm>
            <a:off x="404564" y="848842"/>
            <a:ext cx="6037969"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TEST MODE0</a:t>
            </a:r>
          </a:p>
        </p:txBody>
      </p:sp>
      <p:graphicFrame>
        <p:nvGraphicFramePr>
          <p:cNvPr id="15" name="표 14">
            <a:extLst>
              <a:ext uri="{FF2B5EF4-FFF2-40B4-BE49-F238E27FC236}">
                <a16:creationId xmlns:a16="http://schemas.microsoft.com/office/drawing/2014/main" id="{0057DFAA-89A4-7810-0CFF-879ACF849ABD}"/>
              </a:ext>
            </a:extLst>
          </p:cNvPr>
          <p:cNvGraphicFramePr>
            <a:graphicFrameLocks noGrp="1"/>
          </p:cNvGraphicFramePr>
          <p:nvPr>
            <p:extLst>
              <p:ext uri="{D42A27DB-BD31-4B8C-83A1-F6EECF244321}">
                <p14:modId xmlns:p14="http://schemas.microsoft.com/office/powerpoint/2010/main" val="2698246066"/>
              </p:ext>
            </p:extLst>
          </p:nvPr>
        </p:nvGraphicFramePr>
        <p:xfrm>
          <a:off x="398467" y="1158384"/>
          <a:ext cx="6037969" cy="372600"/>
        </p:xfrm>
        <a:graphic>
          <a:graphicData uri="http://schemas.openxmlformats.org/drawingml/2006/table">
            <a:tbl>
              <a:tblPr firstRow="1" bandRow="1">
                <a:tableStyleId>{5C22544A-7EE6-4342-B048-85BDC9FD1C3A}</a:tableStyleId>
              </a:tblPr>
              <a:tblGrid>
                <a:gridCol w="265420">
                  <a:extLst>
                    <a:ext uri="{9D8B030D-6E8A-4147-A177-3AD203B41FA5}">
                      <a16:colId xmlns:a16="http://schemas.microsoft.com/office/drawing/2014/main" val="657570846"/>
                    </a:ext>
                  </a:extLst>
                </a:gridCol>
                <a:gridCol w="310603">
                  <a:extLst>
                    <a:ext uri="{9D8B030D-6E8A-4147-A177-3AD203B41FA5}">
                      <a16:colId xmlns:a16="http://schemas.microsoft.com/office/drawing/2014/main" val="3259894497"/>
                    </a:ext>
                  </a:extLst>
                </a:gridCol>
                <a:gridCol w="416549">
                  <a:extLst>
                    <a:ext uri="{9D8B030D-6E8A-4147-A177-3AD203B41FA5}">
                      <a16:colId xmlns:a16="http://schemas.microsoft.com/office/drawing/2014/main" val="4170535043"/>
                    </a:ext>
                  </a:extLst>
                </a:gridCol>
                <a:gridCol w="472086">
                  <a:extLst>
                    <a:ext uri="{9D8B030D-6E8A-4147-A177-3AD203B41FA5}">
                      <a16:colId xmlns:a16="http://schemas.microsoft.com/office/drawing/2014/main" val="2079070694"/>
                    </a:ext>
                  </a:extLst>
                </a:gridCol>
                <a:gridCol w="357373">
                  <a:extLst>
                    <a:ext uri="{9D8B030D-6E8A-4147-A177-3AD203B41FA5}">
                      <a16:colId xmlns:a16="http://schemas.microsoft.com/office/drawing/2014/main" val="4213315911"/>
                    </a:ext>
                  </a:extLst>
                </a:gridCol>
                <a:gridCol w="357373">
                  <a:extLst>
                    <a:ext uri="{9D8B030D-6E8A-4147-A177-3AD203B41FA5}">
                      <a16:colId xmlns:a16="http://schemas.microsoft.com/office/drawing/2014/main" val="2769999950"/>
                    </a:ext>
                  </a:extLst>
                </a:gridCol>
                <a:gridCol w="357373">
                  <a:extLst>
                    <a:ext uri="{9D8B030D-6E8A-4147-A177-3AD203B41FA5}">
                      <a16:colId xmlns:a16="http://schemas.microsoft.com/office/drawing/2014/main" val="135637185"/>
                    </a:ext>
                  </a:extLst>
                </a:gridCol>
                <a:gridCol w="437649">
                  <a:extLst>
                    <a:ext uri="{9D8B030D-6E8A-4147-A177-3AD203B41FA5}">
                      <a16:colId xmlns:a16="http://schemas.microsoft.com/office/drawing/2014/main" val="3038050475"/>
                    </a:ext>
                  </a:extLst>
                </a:gridCol>
                <a:gridCol w="437649">
                  <a:extLst>
                    <a:ext uri="{9D8B030D-6E8A-4147-A177-3AD203B41FA5}">
                      <a16:colId xmlns:a16="http://schemas.microsoft.com/office/drawing/2014/main" val="1979433044"/>
                    </a:ext>
                  </a:extLst>
                </a:gridCol>
                <a:gridCol w="437649">
                  <a:extLst>
                    <a:ext uri="{9D8B030D-6E8A-4147-A177-3AD203B41FA5}">
                      <a16:colId xmlns:a16="http://schemas.microsoft.com/office/drawing/2014/main" val="4270661649"/>
                    </a:ext>
                  </a:extLst>
                </a:gridCol>
                <a:gridCol w="437649">
                  <a:extLst>
                    <a:ext uri="{9D8B030D-6E8A-4147-A177-3AD203B41FA5}">
                      <a16:colId xmlns:a16="http://schemas.microsoft.com/office/drawing/2014/main" val="3027041370"/>
                    </a:ext>
                  </a:extLst>
                </a:gridCol>
                <a:gridCol w="437649">
                  <a:extLst>
                    <a:ext uri="{9D8B030D-6E8A-4147-A177-3AD203B41FA5}">
                      <a16:colId xmlns:a16="http://schemas.microsoft.com/office/drawing/2014/main" val="2852526216"/>
                    </a:ext>
                  </a:extLst>
                </a:gridCol>
                <a:gridCol w="437649">
                  <a:extLst>
                    <a:ext uri="{9D8B030D-6E8A-4147-A177-3AD203B41FA5}">
                      <a16:colId xmlns:a16="http://schemas.microsoft.com/office/drawing/2014/main" val="103420222"/>
                    </a:ext>
                  </a:extLst>
                </a:gridCol>
                <a:gridCol w="437649">
                  <a:extLst>
                    <a:ext uri="{9D8B030D-6E8A-4147-A177-3AD203B41FA5}">
                      <a16:colId xmlns:a16="http://schemas.microsoft.com/office/drawing/2014/main" val="1470405609"/>
                    </a:ext>
                  </a:extLst>
                </a:gridCol>
                <a:gridCol w="437649">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B11</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0x1A</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AMUX_SEL[3:0]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DMUX_SEL[4:0]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7536AD55-08A4-7887-AF4F-806FE208625E}"/>
              </a:ext>
            </a:extLst>
          </p:cNvPr>
          <p:cNvGraphicFramePr>
            <a:graphicFrameLocks noGrp="1"/>
          </p:cNvGraphicFramePr>
          <p:nvPr>
            <p:extLst>
              <p:ext uri="{D42A27DB-BD31-4B8C-83A1-F6EECF244321}">
                <p14:modId xmlns:p14="http://schemas.microsoft.com/office/powerpoint/2010/main" val="3904196238"/>
              </p:ext>
            </p:extLst>
          </p:nvPr>
        </p:nvGraphicFramePr>
        <p:xfrm>
          <a:off x="401035" y="4149858"/>
          <a:ext cx="6052400" cy="906951"/>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Bits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Fields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a:solidFill>
                            <a:schemeClr val="tx1"/>
                          </a:solidFill>
                          <a:latin typeface="Arial" panose="020B0604020202020204" pitchFamily="34" charset="0"/>
                          <a:ea typeface="+mn-ea"/>
                          <a:cs typeface="Arial" panose="020B0604020202020204" pitchFamily="34" charset="0"/>
                        </a:rPr>
                        <a:t>Descriptions</a:t>
                      </a:r>
                      <a:endParaRPr lang="ko-KR" altLang="en-US" sz="900" b="1">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TM_CH_CTRL_INPUT_FLIP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intended for test mode and inverts the readback signals of both the channel output and the PWM output within the logic.</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F554863A-76CE-AA8B-B5AF-FFE8F28FC4DF}"/>
              </a:ext>
            </a:extLst>
          </p:cNvPr>
          <p:cNvSpPr txBox="1"/>
          <p:nvPr/>
        </p:nvSpPr>
        <p:spPr>
          <a:xfrm>
            <a:off x="404564" y="3232378"/>
            <a:ext cx="6037969"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TEST MODE1</a:t>
            </a:r>
          </a:p>
        </p:txBody>
      </p:sp>
      <p:graphicFrame>
        <p:nvGraphicFramePr>
          <p:cNvPr id="5" name="표 4">
            <a:extLst>
              <a:ext uri="{FF2B5EF4-FFF2-40B4-BE49-F238E27FC236}">
                <a16:creationId xmlns:a16="http://schemas.microsoft.com/office/drawing/2014/main" id="{2F55BF73-2BAA-4519-6B07-FEDF9099E15A}"/>
              </a:ext>
            </a:extLst>
          </p:cNvPr>
          <p:cNvGraphicFramePr>
            <a:graphicFrameLocks noGrp="1"/>
          </p:cNvGraphicFramePr>
          <p:nvPr>
            <p:extLst>
              <p:ext uri="{D42A27DB-BD31-4B8C-83A1-F6EECF244321}">
                <p14:modId xmlns:p14="http://schemas.microsoft.com/office/powerpoint/2010/main" val="855058879"/>
              </p:ext>
            </p:extLst>
          </p:nvPr>
        </p:nvGraphicFramePr>
        <p:xfrm>
          <a:off x="398467" y="3541920"/>
          <a:ext cx="6077772" cy="372600"/>
        </p:xfrm>
        <a:graphic>
          <a:graphicData uri="http://schemas.openxmlformats.org/drawingml/2006/table">
            <a:tbl>
              <a:tblPr firstRow="1" bandRow="1">
                <a:tableStyleId>{5C22544A-7EE6-4342-B048-85BDC9FD1C3A}</a:tableStyleId>
              </a:tblPr>
              <a:tblGrid>
                <a:gridCol w="265420">
                  <a:extLst>
                    <a:ext uri="{9D8B030D-6E8A-4147-A177-3AD203B41FA5}">
                      <a16:colId xmlns:a16="http://schemas.microsoft.com/office/drawing/2014/main" val="657570846"/>
                    </a:ext>
                  </a:extLst>
                </a:gridCol>
                <a:gridCol w="310603">
                  <a:extLst>
                    <a:ext uri="{9D8B030D-6E8A-4147-A177-3AD203B41FA5}">
                      <a16:colId xmlns:a16="http://schemas.microsoft.com/office/drawing/2014/main" val="3259894497"/>
                    </a:ext>
                  </a:extLst>
                </a:gridCol>
                <a:gridCol w="416549">
                  <a:extLst>
                    <a:ext uri="{9D8B030D-6E8A-4147-A177-3AD203B41FA5}">
                      <a16:colId xmlns:a16="http://schemas.microsoft.com/office/drawing/2014/main" val="4170535043"/>
                    </a:ext>
                  </a:extLst>
                </a:gridCol>
                <a:gridCol w="370089">
                  <a:extLst>
                    <a:ext uri="{9D8B030D-6E8A-4147-A177-3AD203B41FA5}">
                      <a16:colId xmlns:a16="http://schemas.microsoft.com/office/drawing/2014/main" val="2079070694"/>
                    </a:ext>
                  </a:extLst>
                </a:gridCol>
                <a:gridCol w="370089">
                  <a:extLst>
                    <a:ext uri="{9D8B030D-6E8A-4147-A177-3AD203B41FA5}">
                      <a16:colId xmlns:a16="http://schemas.microsoft.com/office/drawing/2014/main" val="4213315911"/>
                    </a:ext>
                  </a:extLst>
                </a:gridCol>
                <a:gridCol w="370089">
                  <a:extLst>
                    <a:ext uri="{9D8B030D-6E8A-4147-A177-3AD203B41FA5}">
                      <a16:colId xmlns:a16="http://schemas.microsoft.com/office/drawing/2014/main" val="2769999950"/>
                    </a:ext>
                  </a:extLst>
                </a:gridCol>
                <a:gridCol w="370089">
                  <a:extLst>
                    <a:ext uri="{9D8B030D-6E8A-4147-A177-3AD203B41FA5}">
                      <a16:colId xmlns:a16="http://schemas.microsoft.com/office/drawing/2014/main" val="135637185"/>
                    </a:ext>
                  </a:extLst>
                </a:gridCol>
                <a:gridCol w="370089">
                  <a:extLst>
                    <a:ext uri="{9D8B030D-6E8A-4147-A177-3AD203B41FA5}">
                      <a16:colId xmlns:a16="http://schemas.microsoft.com/office/drawing/2014/main" val="3038050475"/>
                    </a:ext>
                  </a:extLst>
                </a:gridCol>
                <a:gridCol w="370089">
                  <a:extLst>
                    <a:ext uri="{9D8B030D-6E8A-4147-A177-3AD203B41FA5}">
                      <a16:colId xmlns:a16="http://schemas.microsoft.com/office/drawing/2014/main" val="1979433044"/>
                    </a:ext>
                  </a:extLst>
                </a:gridCol>
                <a:gridCol w="370089">
                  <a:extLst>
                    <a:ext uri="{9D8B030D-6E8A-4147-A177-3AD203B41FA5}">
                      <a16:colId xmlns:a16="http://schemas.microsoft.com/office/drawing/2014/main" val="4270661649"/>
                    </a:ext>
                  </a:extLst>
                </a:gridCol>
                <a:gridCol w="370089">
                  <a:extLst>
                    <a:ext uri="{9D8B030D-6E8A-4147-A177-3AD203B41FA5}">
                      <a16:colId xmlns:a16="http://schemas.microsoft.com/office/drawing/2014/main" val="3027041370"/>
                    </a:ext>
                  </a:extLst>
                </a:gridCol>
                <a:gridCol w="370089">
                  <a:extLst>
                    <a:ext uri="{9D8B030D-6E8A-4147-A177-3AD203B41FA5}">
                      <a16:colId xmlns:a16="http://schemas.microsoft.com/office/drawing/2014/main" val="2852526216"/>
                    </a:ext>
                  </a:extLst>
                </a:gridCol>
                <a:gridCol w="370089">
                  <a:extLst>
                    <a:ext uri="{9D8B030D-6E8A-4147-A177-3AD203B41FA5}">
                      <a16:colId xmlns:a16="http://schemas.microsoft.com/office/drawing/2014/main" val="103420222"/>
                    </a:ext>
                  </a:extLst>
                </a:gridCol>
                <a:gridCol w="370089">
                  <a:extLst>
                    <a:ext uri="{9D8B030D-6E8A-4147-A177-3AD203B41FA5}">
                      <a16:colId xmlns:a16="http://schemas.microsoft.com/office/drawing/2014/main" val="1470405609"/>
                    </a:ext>
                  </a:extLst>
                </a:gridCol>
                <a:gridCol w="1014221">
                  <a:extLst>
                    <a:ext uri="{9D8B030D-6E8A-4147-A177-3AD203B41FA5}">
                      <a16:colId xmlns:a16="http://schemas.microsoft.com/office/drawing/2014/main" val="604176390"/>
                    </a:ext>
                  </a:extLst>
                </a:gridCol>
              </a:tblGrid>
              <a:tr h="0">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Acc</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Addr</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a:solidFill>
                            <a:schemeClr val="tx1"/>
                          </a:solidFill>
                          <a:latin typeface="Arial" panose="020B0604020202020204" pitchFamily="34" charset="0"/>
                          <a:ea typeface="+mn-ea"/>
                          <a:cs typeface="Arial" panose="020B0604020202020204" pitchFamily="34" charset="0"/>
                        </a:rPr>
                        <a:t>Default</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B10</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a:solidFill>
                            <a:schemeClr val="tx1"/>
                          </a:solidFill>
                          <a:latin typeface="Arial" panose="020B0604020202020204" pitchFamily="34" charset="0"/>
                          <a:ea typeface="+mn-ea"/>
                          <a:cs typeface="Arial" panose="020B0604020202020204" pitchFamily="34" charset="0"/>
                        </a:rPr>
                        <a:t>B9</a:t>
                      </a:r>
                      <a:endParaRPr lang="ko-KR" altLang="en-US" sz="8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R/W</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0x1B</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0x000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x</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TM_CH_CTRL_INPUT_FLIP</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6995865"/>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nvGraphicFramePr>
        <p:xfrm>
          <a:off x="395875" y="1551138"/>
          <a:ext cx="6063640" cy="4189121"/>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97857">
                  <a:extLst>
                    <a:ext uri="{9D8B030D-6E8A-4147-A177-3AD203B41FA5}">
                      <a16:colId xmlns:a16="http://schemas.microsoft.com/office/drawing/2014/main" val="2393941440"/>
                    </a:ext>
                  </a:extLst>
                </a:gridCol>
                <a:gridCol w="4392590">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SW_SEL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145326"/>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tx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DTEST_MUX_EN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Digital mux signal selection bits for test.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2084503"/>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This bit is used to enable Command Register data.</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ID601</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nvGraphicFramePr>
        <p:xfrm>
          <a:off x="404811" y="1148588"/>
          <a:ext cx="6336494"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315092">
                  <a:extLst>
                    <a:ext uri="{9D8B030D-6E8A-4147-A177-3AD203B41FA5}">
                      <a16:colId xmlns:a16="http://schemas.microsoft.com/office/drawing/2014/main" val="2769999950"/>
                    </a:ext>
                  </a:extLst>
                </a:gridCol>
                <a:gridCol w="225987">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3111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731837">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SW_SEL[1:0]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DTEST_MUX_EN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RD_EN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679568"/>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nvGraphicFramePr>
        <p:xfrm>
          <a:off x="413751" y="7066615"/>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803529"/>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524493"/>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334477"/>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nvGraphicFramePr>
        <p:xfrm>
          <a:off x="408467" y="8601093"/>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nvGraphicFramePr>
        <p:xfrm>
          <a:off x="404815" y="6398002"/>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nvGraphicFramePr>
        <p:xfrm>
          <a:off x="404815" y="5951098"/>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882460"/>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D206093B-CCD6-EAD8-73FC-FE642D4E5C54}"/>
              </a:ext>
            </a:extLst>
          </p:cNvPr>
          <p:cNvGraphicFramePr>
            <a:graphicFrameLocks noGrp="1"/>
          </p:cNvGraphicFramePr>
          <p:nvPr/>
        </p:nvGraphicFramePr>
        <p:xfrm>
          <a:off x="415983" y="7793074"/>
          <a:ext cx="6043532" cy="47928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546937022"/>
                    </a:ext>
                  </a:extLst>
                </a:gridCol>
                <a:gridCol w="341612">
                  <a:extLst>
                    <a:ext uri="{9D8B030D-6E8A-4147-A177-3AD203B41FA5}">
                      <a16:colId xmlns:a16="http://schemas.microsoft.com/office/drawing/2014/main" val="3679049324"/>
                    </a:ext>
                  </a:extLst>
                </a:gridCol>
                <a:gridCol w="468643">
                  <a:extLst>
                    <a:ext uri="{9D8B030D-6E8A-4147-A177-3AD203B41FA5}">
                      <a16:colId xmlns:a16="http://schemas.microsoft.com/office/drawing/2014/main" val="1482617252"/>
                    </a:ext>
                  </a:extLst>
                </a:gridCol>
                <a:gridCol w="380816">
                  <a:extLst>
                    <a:ext uri="{9D8B030D-6E8A-4147-A177-3AD203B41FA5}">
                      <a16:colId xmlns:a16="http://schemas.microsoft.com/office/drawing/2014/main" val="3494853055"/>
                    </a:ext>
                  </a:extLst>
                </a:gridCol>
                <a:gridCol w="294773">
                  <a:extLst>
                    <a:ext uri="{9D8B030D-6E8A-4147-A177-3AD203B41FA5}">
                      <a16:colId xmlns:a16="http://schemas.microsoft.com/office/drawing/2014/main" val="1891275224"/>
                    </a:ext>
                  </a:extLst>
                </a:gridCol>
                <a:gridCol w="224253">
                  <a:extLst>
                    <a:ext uri="{9D8B030D-6E8A-4147-A177-3AD203B41FA5}">
                      <a16:colId xmlns:a16="http://schemas.microsoft.com/office/drawing/2014/main" val="1421756592"/>
                    </a:ext>
                  </a:extLst>
                </a:gridCol>
                <a:gridCol w="278855">
                  <a:extLst>
                    <a:ext uri="{9D8B030D-6E8A-4147-A177-3AD203B41FA5}">
                      <a16:colId xmlns:a16="http://schemas.microsoft.com/office/drawing/2014/main" val="2891059164"/>
                    </a:ext>
                  </a:extLst>
                </a:gridCol>
                <a:gridCol w="278855">
                  <a:extLst>
                    <a:ext uri="{9D8B030D-6E8A-4147-A177-3AD203B41FA5}">
                      <a16:colId xmlns:a16="http://schemas.microsoft.com/office/drawing/2014/main" val="535086100"/>
                    </a:ext>
                  </a:extLst>
                </a:gridCol>
                <a:gridCol w="278855">
                  <a:extLst>
                    <a:ext uri="{9D8B030D-6E8A-4147-A177-3AD203B41FA5}">
                      <a16:colId xmlns:a16="http://schemas.microsoft.com/office/drawing/2014/main" val="1174381936"/>
                    </a:ext>
                  </a:extLst>
                </a:gridCol>
                <a:gridCol w="278855">
                  <a:extLst>
                    <a:ext uri="{9D8B030D-6E8A-4147-A177-3AD203B41FA5}">
                      <a16:colId xmlns:a16="http://schemas.microsoft.com/office/drawing/2014/main" val="1887168502"/>
                    </a:ext>
                  </a:extLst>
                </a:gridCol>
                <a:gridCol w="278855">
                  <a:extLst>
                    <a:ext uri="{9D8B030D-6E8A-4147-A177-3AD203B41FA5}">
                      <a16:colId xmlns:a16="http://schemas.microsoft.com/office/drawing/2014/main" val="1577479977"/>
                    </a:ext>
                  </a:extLst>
                </a:gridCol>
                <a:gridCol w="278855">
                  <a:extLst>
                    <a:ext uri="{9D8B030D-6E8A-4147-A177-3AD203B41FA5}">
                      <a16:colId xmlns:a16="http://schemas.microsoft.com/office/drawing/2014/main" val="1361295346"/>
                    </a:ext>
                  </a:extLst>
                </a:gridCol>
                <a:gridCol w="278855">
                  <a:extLst>
                    <a:ext uri="{9D8B030D-6E8A-4147-A177-3AD203B41FA5}">
                      <a16:colId xmlns:a16="http://schemas.microsoft.com/office/drawing/2014/main" val="2176800636"/>
                    </a:ext>
                  </a:extLst>
                </a:gridCol>
                <a:gridCol w="1014921">
                  <a:extLst>
                    <a:ext uri="{9D8B030D-6E8A-4147-A177-3AD203B41FA5}">
                      <a16:colId xmlns:a16="http://schemas.microsoft.com/office/drawing/2014/main" val="24291207"/>
                    </a:ext>
                  </a:extLst>
                </a:gridCol>
                <a:gridCol w="1016951">
                  <a:extLst>
                    <a:ext uri="{9D8B030D-6E8A-4147-A177-3AD203B41FA5}">
                      <a16:colId xmlns:a16="http://schemas.microsoft.com/office/drawing/2014/main" val="2028804627"/>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2800731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OTP_PG_DONE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6841602"/>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ID601</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IREF_CTL / BGR_CTL</a:t>
            </a:r>
          </a:p>
        </p:txBody>
      </p:sp>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graphicFrame>
        <p:nvGraphicFramePr>
          <p:cNvPr id="5" name="표 4">
            <a:extLst>
              <a:ext uri="{FF2B5EF4-FFF2-40B4-BE49-F238E27FC236}">
                <a16:creationId xmlns:a16="http://schemas.microsoft.com/office/drawing/2014/main" id="{DCDEB022-41A8-B7A5-2F6D-6B7BE8017AE6}"/>
              </a:ext>
            </a:extLst>
          </p:cNvPr>
          <p:cNvGraphicFramePr>
            <a:graphicFrameLocks noGrp="1"/>
          </p:cNvGraphicFramePr>
          <p:nvPr/>
        </p:nvGraphicFramePr>
        <p:xfrm>
          <a:off x="407377" y="2470560"/>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73E5ABBF-4155-3778-E810-97B6B753A10E}"/>
              </a:ext>
            </a:extLst>
          </p:cNvPr>
          <p:cNvSpPr txBox="1"/>
          <p:nvPr/>
        </p:nvSpPr>
        <p:spPr>
          <a:xfrm>
            <a:off x="415503" y="3006825"/>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a:t>
            </a:r>
          </a:p>
        </p:txBody>
      </p:sp>
      <p:graphicFrame>
        <p:nvGraphicFramePr>
          <p:cNvPr id="15" name="표 14">
            <a:extLst>
              <a:ext uri="{FF2B5EF4-FFF2-40B4-BE49-F238E27FC236}">
                <a16:creationId xmlns:a16="http://schemas.microsoft.com/office/drawing/2014/main" id="{FE013822-56CD-1496-85D0-AD3DD49CB42F}"/>
              </a:ext>
            </a:extLst>
          </p:cNvPr>
          <p:cNvGraphicFramePr>
            <a:graphicFrameLocks noGrp="1"/>
          </p:cNvGraphicFramePr>
          <p:nvPr/>
        </p:nvGraphicFramePr>
        <p:xfrm>
          <a:off x="392961" y="3277695"/>
          <a:ext cx="6054130" cy="37260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LDO_DAC_CTL[4:0]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OSC_RCTL[4:0]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FBB2F6D1-4564-BFC7-F025-1E693F2F95E6}"/>
              </a:ext>
            </a:extLst>
          </p:cNvPr>
          <p:cNvGraphicFramePr>
            <a:graphicFrameLocks noGrp="1"/>
          </p:cNvGraphicFramePr>
          <p:nvPr/>
        </p:nvGraphicFramePr>
        <p:xfrm>
          <a:off x="397523" y="4069921"/>
          <a:ext cx="6049566"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409419">
                  <a:extLst>
                    <a:ext uri="{9D8B030D-6E8A-4147-A177-3AD203B41FA5}">
                      <a16:colId xmlns:a16="http://schemas.microsoft.com/office/drawing/2014/main" val="2079070694"/>
                    </a:ext>
                  </a:extLst>
                </a:gridCol>
                <a:gridCol w="409419">
                  <a:extLst>
                    <a:ext uri="{9D8B030D-6E8A-4147-A177-3AD203B41FA5}">
                      <a16:colId xmlns:a16="http://schemas.microsoft.com/office/drawing/2014/main" val="4213315911"/>
                    </a:ext>
                  </a:extLst>
                </a:gridCol>
                <a:gridCol w="409419">
                  <a:extLst>
                    <a:ext uri="{9D8B030D-6E8A-4147-A177-3AD203B41FA5}">
                      <a16:colId xmlns:a16="http://schemas.microsoft.com/office/drawing/2014/main" val="2769999950"/>
                    </a:ext>
                  </a:extLst>
                </a:gridCol>
                <a:gridCol w="409419">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93144013-F322-39E5-6922-BAA755A542E9}"/>
              </a:ext>
            </a:extLst>
          </p:cNvPr>
          <p:cNvSpPr txBox="1"/>
          <p:nvPr/>
        </p:nvSpPr>
        <p:spPr>
          <a:xfrm>
            <a:off x="415503" y="376528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LDO_OSC_CTL / LOD_CTL</a:t>
            </a:r>
          </a:p>
        </p:txBody>
      </p:sp>
    </p:spTree>
    <p:extLst>
      <p:ext uri="{BB962C8B-B14F-4D97-AF65-F5344CB8AC3E}">
        <p14:creationId xmlns:p14="http://schemas.microsoft.com/office/powerpoint/2010/main" val="2259773967"/>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ID601</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ID601</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60666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a:solidFill>
                  <a:prstClr val="black"/>
                </a:solidFill>
                <a:latin typeface="Arial" panose="020B0604020202020204" pitchFamily="34" charset="0"/>
                <a:ea typeface="+mn-ea"/>
                <a:cs typeface="Arial" panose="020B0604020202020204" pitchFamily="34" charset="0"/>
              </a:rPr>
              <a:t>Important</a:t>
            </a:r>
            <a:r>
              <a:rPr kumimoji="0" sz="800" b="1" spc="-15">
                <a:solidFill>
                  <a:prstClr val="black"/>
                </a:solidFill>
                <a:latin typeface="Arial" panose="020B0604020202020204" pitchFamily="34" charset="0"/>
                <a:ea typeface="+mn-ea"/>
                <a:cs typeface="Arial" panose="020B0604020202020204" pitchFamily="34" charset="0"/>
              </a:rPr>
              <a:t> </a:t>
            </a:r>
            <a:r>
              <a:rPr kumimoji="0" sz="800" b="1" spc="-5">
                <a:solidFill>
                  <a:prstClr val="black"/>
                </a:solidFill>
                <a:latin typeface="Arial" panose="020B0604020202020204" pitchFamily="34" charset="0"/>
                <a:ea typeface="+mn-ea"/>
                <a:cs typeface="Arial" panose="020B0604020202020204" pitchFamily="34" charset="0"/>
              </a:rPr>
              <a:t>statement</a:t>
            </a:r>
            <a:endParaRPr kumimoji="0" sz="80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a:solidFill>
                  <a:prstClr val="black"/>
                </a:solidFill>
                <a:latin typeface="Arial" panose="020B0604020202020204" pitchFamily="34" charset="0"/>
                <a:ea typeface="+mn-ea"/>
                <a:cs typeface="Arial" panose="020B0604020202020204" pitchFamily="34" charset="0"/>
              </a:rPr>
              <a:t>Global Technologies </a:t>
            </a:r>
            <a:r>
              <a:rPr kumimoji="0" sz="800" spc="-15">
                <a:solidFill>
                  <a:prstClr val="black"/>
                </a:solidFill>
                <a:latin typeface="Arial" panose="020B0604020202020204" pitchFamily="34" charset="0"/>
                <a:ea typeface="+mn-ea"/>
                <a:cs typeface="Arial" panose="020B0604020202020204" pitchFamily="34" charset="0"/>
              </a:rPr>
              <a:t> </a:t>
            </a:r>
            <a:r>
              <a:rPr kumimoji="0" sz="800">
                <a:solidFill>
                  <a:prstClr val="black"/>
                </a:solidFill>
                <a:latin typeface="Arial" panose="020B0604020202020204" pitchFamily="34" charset="0"/>
                <a:ea typeface="+mn-ea"/>
                <a:cs typeface="Arial" panose="020B0604020202020204" pitchFamily="34" charset="0"/>
              </a:rPr>
              <a:t>reserves</a:t>
            </a:r>
            <a:r>
              <a:rPr kumimoji="0" sz="800" spc="5">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the</a:t>
            </a:r>
            <a:r>
              <a:rPr kumimoji="0" sz="800" spc="10">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right</a:t>
            </a:r>
            <a:r>
              <a:rPr kumimoji="0" sz="800" spc="10">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to</a:t>
            </a:r>
            <a:r>
              <a:rPr kumimoji="0" sz="800" spc="10">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change</a:t>
            </a:r>
            <a:r>
              <a:rPr kumimoji="0" sz="800" spc="10">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the</a:t>
            </a:r>
            <a:r>
              <a:rPr kumimoji="0" sz="800" spc="15">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above-mentioned</a:t>
            </a:r>
            <a:r>
              <a:rPr kumimoji="0" sz="800" spc="10">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information</a:t>
            </a:r>
            <a:r>
              <a:rPr kumimoji="0" sz="800" spc="10">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without</a:t>
            </a:r>
            <a:r>
              <a:rPr kumimoji="0" sz="800" spc="10">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prior</a:t>
            </a:r>
            <a:r>
              <a:rPr kumimoji="0" sz="800" spc="5">
                <a:solidFill>
                  <a:prstClr val="black"/>
                </a:solidFill>
                <a:latin typeface="Arial" panose="020B0604020202020204" pitchFamily="34" charset="0"/>
                <a:ea typeface="+mn-ea"/>
                <a:cs typeface="Arial" panose="020B0604020202020204" pitchFamily="34" charset="0"/>
              </a:rPr>
              <a:t> </a:t>
            </a:r>
            <a:r>
              <a:rPr kumimoji="0" sz="800" spc="-5">
                <a:solidFill>
                  <a:prstClr val="black"/>
                </a:solidFill>
                <a:latin typeface="Arial" panose="020B0604020202020204" pitchFamily="34" charset="0"/>
                <a:ea typeface="+mn-ea"/>
                <a:cs typeface="Arial" panose="020B0604020202020204" pitchFamily="34" charset="0"/>
              </a:rPr>
              <a:t>notice.</a:t>
            </a:r>
            <a:endParaRPr kumimoji="0" sz="80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a:solidFill>
                  <a:prstClr val="black"/>
                </a:solidFill>
                <a:latin typeface="Arial" panose="020B0604020202020204" pitchFamily="34" charset="0"/>
                <a:ea typeface="+mn-ea"/>
                <a:cs typeface="Arial" panose="020B0604020202020204" pitchFamily="34" charset="0"/>
              </a:rPr>
              <a:t>Figure 13.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a:solidFill>
                            <a:schemeClr val="tx1"/>
                          </a:solidFill>
                          <a:latin typeface="Arial"/>
                          <a:ea typeface="+mn-ea"/>
                          <a:cs typeface="Arial"/>
                        </a:rPr>
                        <a:t>Pb</a:t>
                      </a:r>
                      <a:r>
                        <a:rPr sz="900" b="1">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a:latin typeface="Arial" panose="020B0604020202020204" pitchFamily="34" charset="0"/>
                          <a:cs typeface="Arial" panose="020B0604020202020204" pitchFamily="34" charset="0"/>
                        </a:rPr>
                        <a:t>Average</a:t>
                      </a:r>
                      <a:r>
                        <a:rPr sz="800" spc="-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ramp-up</a:t>
                      </a:r>
                      <a:r>
                        <a:rPr sz="800">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rate</a:t>
                      </a:r>
                      <a:r>
                        <a:rPr lang="en-US" sz="800" spc="-10">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(217</a:t>
                      </a:r>
                      <a:r>
                        <a:rPr sz="800" spc="5">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a:t>
                      </a:r>
                      <a:r>
                        <a:rPr lang="en-US" sz="800" spc="-5">
                          <a:latin typeface="Arial" panose="020B0604020202020204" pitchFamily="34" charset="0"/>
                          <a:cs typeface="Arial" panose="020B0604020202020204" pitchFamily="34" charset="0"/>
                        </a:rPr>
                        <a:t> </a:t>
                      </a:r>
                      <a:r>
                        <a:rPr sz="800" spc="-260">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to</a:t>
                      </a:r>
                      <a:r>
                        <a:rPr sz="800">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Peak)</a:t>
                      </a:r>
                      <a:endParaRPr sz="80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a:latin typeface="Arial" panose="020B0604020202020204" pitchFamily="34" charset="0"/>
                          <a:cs typeface="Arial" panose="020B0604020202020204" pitchFamily="34" charset="0"/>
                        </a:rPr>
                        <a:t>3℃/second</a:t>
                      </a:r>
                      <a:r>
                        <a:rPr sz="800" spc="-2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max</a:t>
                      </a:r>
                      <a:r>
                        <a:rPr lang="en-US" sz="800" spc="-10">
                          <a:latin typeface="Arial" panose="020B0604020202020204" pitchFamily="34" charset="0"/>
                          <a:cs typeface="Arial" panose="020B0604020202020204" pitchFamily="34" charset="0"/>
                        </a:rPr>
                        <a:t>.</a:t>
                      </a:r>
                      <a:endParaRPr sz="80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a:latin typeface="Arial" panose="020B0604020202020204" pitchFamily="34" charset="0"/>
                          <a:cs typeface="Arial" panose="020B0604020202020204" pitchFamily="34" charset="0"/>
                        </a:rPr>
                        <a:t>T</a:t>
                      </a:r>
                      <a:r>
                        <a:rPr sz="800">
                          <a:latin typeface="Arial" panose="020B0604020202020204" pitchFamily="34" charset="0"/>
                          <a:cs typeface="Arial" panose="020B0604020202020204" pitchFamily="34" charset="0"/>
                        </a:rPr>
                        <a:t>i</a:t>
                      </a:r>
                      <a:r>
                        <a:rPr sz="800" spc="5">
                          <a:latin typeface="Arial" panose="020B0604020202020204" pitchFamily="34" charset="0"/>
                          <a:cs typeface="Arial" panose="020B0604020202020204" pitchFamily="34" charset="0"/>
                        </a:rPr>
                        <a:t>m</a:t>
                      </a:r>
                      <a:r>
                        <a:rPr sz="800">
                          <a:latin typeface="Arial" panose="020B0604020202020204" pitchFamily="34" charset="0"/>
                          <a:cs typeface="Arial" panose="020B0604020202020204" pitchFamily="34" charset="0"/>
                        </a:rPr>
                        <a:t>e</a:t>
                      </a:r>
                      <a:r>
                        <a:rPr sz="800" spc="-5">
                          <a:latin typeface="Arial" panose="020B0604020202020204" pitchFamily="34" charset="0"/>
                          <a:cs typeface="Arial" panose="020B0604020202020204" pitchFamily="34" charset="0"/>
                        </a:rPr>
                        <a:t> </a:t>
                      </a:r>
                      <a:r>
                        <a:rPr sz="800">
                          <a:latin typeface="Arial" panose="020B0604020202020204" pitchFamily="34" charset="0"/>
                          <a:cs typeface="Arial" panose="020B0604020202020204" pitchFamily="34" charset="0"/>
                        </a:rPr>
                        <a:t>of</a:t>
                      </a:r>
                      <a:r>
                        <a:rPr sz="800" spc="-10">
                          <a:latin typeface="Arial" panose="020B0604020202020204" pitchFamily="34" charset="0"/>
                          <a:cs typeface="Arial" panose="020B0604020202020204" pitchFamily="34" charset="0"/>
                        </a:rPr>
                        <a:t> </a:t>
                      </a:r>
                      <a:r>
                        <a:rPr sz="800">
                          <a:latin typeface="Arial" panose="020B0604020202020204" pitchFamily="34" charset="0"/>
                          <a:cs typeface="Arial" panose="020B0604020202020204" pitchFamily="34" charset="0"/>
                        </a:rPr>
                        <a:t>P</a:t>
                      </a:r>
                      <a:r>
                        <a:rPr sz="800" spc="-15">
                          <a:latin typeface="Arial" panose="020B0604020202020204" pitchFamily="34" charset="0"/>
                          <a:cs typeface="Arial" panose="020B0604020202020204" pitchFamily="34" charset="0"/>
                        </a:rPr>
                        <a:t>r</a:t>
                      </a:r>
                      <a:r>
                        <a:rPr sz="800" spc="-5">
                          <a:latin typeface="Arial" panose="020B0604020202020204" pitchFamily="34" charset="0"/>
                          <a:cs typeface="Arial" panose="020B0604020202020204" pitchFamily="34" charset="0"/>
                        </a:rPr>
                        <a:t>e</a:t>
                      </a:r>
                      <a:r>
                        <a:rPr sz="800" spc="15">
                          <a:latin typeface="Arial" panose="020B0604020202020204" pitchFamily="34" charset="0"/>
                          <a:cs typeface="Arial" panose="020B0604020202020204" pitchFamily="34" charset="0"/>
                        </a:rPr>
                        <a:t>h</a:t>
                      </a:r>
                      <a:r>
                        <a:rPr sz="800" spc="-5">
                          <a:latin typeface="Arial" panose="020B0604020202020204" pitchFamily="34" charset="0"/>
                          <a:cs typeface="Arial" panose="020B0604020202020204" pitchFamily="34" charset="0"/>
                        </a:rPr>
                        <a:t>e</a:t>
                      </a:r>
                      <a:r>
                        <a:rPr sz="800" spc="-10">
                          <a:latin typeface="Arial" panose="020B0604020202020204" pitchFamily="34" charset="0"/>
                          <a:cs typeface="Arial" panose="020B0604020202020204" pitchFamily="34" charset="0"/>
                        </a:rPr>
                        <a:t>a</a:t>
                      </a:r>
                      <a:r>
                        <a:rPr sz="800">
                          <a:latin typeface="Arial" panose="020B0604020202020204" pitchFamily="34" charset="0"/>
                          <a:cs typeface="Arial" panose="020B0604020202020204" pitchFamily="34" charset="0"/>
                        </a:rPr>
                        <a:t>t </a:t>
                      </a:r>
                      <a:r>
                        <a:rPr sz="800" spc="-10">
                          <a:latin typeface="Arial" panose="020B0604020202020204" pitchFamily="34" charset="0"/>
                          <a:cs typeface="Arial" panose="020B0604020202020204" pitchFamily="34" charset="0"/>
                        </a:rPr>
                        <a:t>t</a:t>
                      </a:r>
                      <a:r>
                        <a:rPr sz="800" spc="5">
                          <a:latin typeface="Arial" panose="020B0604020202020204" pitchFamily="34" charset="0"/>
                          <a:cs typeface="Arial" panose="020B0604020202020204" pitchFamily="34" charset="0"/>
                        </a:rPr>
                        <a:t>e</a:t>
                      </a:r>
                      <a:r>
                        <a:rPr sz="800" spc="-5">
                          <a:latin typeface="Arial" panose="020B0604020202020204" pitchFamily="34" charset="0"/>
                          <a:cs typeface="Arial" panose="020B0604020202020204" pitchFamily="34" charset="0"/>
                        </a:rPr>
                        <a:t>m</a:t>
                      </a:r>
                      <a:r>
                        <a:rPr sz="800">
                          <a:latin typeface="Arial" panose="020B0604020202020204" pitchFamily="34" charset="0"/>
                          <a:cs typeface="Arial" panose="020B0604020202020204" pitchFamily="34" charset="0"/>
                        </a:rPr>
                        <a:t>p</a:t>
                      </a:r>
                      <a:r>
                        <a:rPr lang="en-US" sz="800">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a:t>
                      </a:r>
                      <a:r>
                        <a:rPr sz="800" spc="-10">
                          <a:latin typeface="Arial" panose="020B0604020202020204" pitchFamily="34" charset="0"/>
                          <a:cs typeface="Arial" panose="020B0604020202020204" pitchFamily="34" charset="0"/>
                        </a:rPr>
                        <a:t>f</a:t>
                      </a:r>
                      <a:r>
                        <a:rPr sz="800" spc="-15">
                          <a:latin typeface="Arial" panose="020B0604020202020204" pitchFamily="34" charset="0"/>
                          <a:cs typeface="Arial" panose="020B0604020202020204" pitchFamily="34" charset="0"/>
                        </a:rPr>
                        <a:t>r</a:t>
                      </a:r>
                      <a:r>
                        <a:rPr sz="800">
                          <a:latin typeface="Arial" panose="020B0604020202020204" pitchFamily="34" charset="0"/>
                          <a:cs typeface="Arial" panose="020B0604020202020204" pitchFamily="34" charset="0"/>
                        </a:rPr>
                        <a:t>om</a:t>
                      </a:r>
                      <a:r>
                        <a:rPr sz="800" spc="-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1</a:t>
                      </a:r>
                      <a:r>
                        <a:rPr sz="800">
                          <a:latin typeface="Arial" panose="020B0604020202020204" pitchFamily="34" charset="0"/>
                          <a:cs typeface="Arial" panose="020B0604020202020204" pitchFamily="34" charset="0"/>
                        </a:rPr>
                        <a:t>50</a:t>
                      </a:r>
                      <a:r>
                        <a:rPr sz="800" spc="10">
                          <a:latin typeface="Arial" panose="020B0604020202020204" pitchFamily="34" charset="0"/>
                          <a:cs typeface="Arial" panose="020B0604020202020204" pitchFamily="34" charset="0"/>
                        </a:rPr>
                        <a:t> </a:t>
                      </a:r>
                      <a:r>
                        <a:rPr sz="800">
                          <a:latin typeface="Arial" panose="020B0604020202020204" pitchFamily="34" charset="0"/>
                          <a:cs typeface="Arial" panose="020B0604020202020204" pitchFamily="34" charset="0"/>
                        </a:rPr>
                        <a:t>℃</a:t>
                      </a:r>
                      <a:r>
                        <a:rPr lang="en-US" sz="800">
                          <a:latin typeface="Arial" panose="020B0604020202020204" pitchFamily="34" charset="0"/>
                          <a:cs typeface="Arial" panose="020B0604020202020204" pitchFamily="34" charset="0"/>
                        </a:rPr>
                        <a:t> </a:t>
                      </a:r>
                      <a:r>
                        <a:rPr sz="800" spc="-275">
                          <a:latin typeface="Arial" panose="020B0604020202020204" pitchFamily="34" charset="0"/>
                          <a:cs typeface="Arial" panose="020B0604020202020204" pitchFamily="34" charset="0"/>
                        </a:rPr>
                        <a:t> </a:t>
                      </a:r>
                      <a:r>
                        <a:rPr lang="en-US" sz="800" spc="-27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t</a:t>
                      </a:r>
                      <a:r>
                        <a:rPr sz="800">
                          <a:latin typeface="Arial" panose="020B0604020202020204" pitchFamily="34" charset="0"/>
                          <a:cs typeface="Arial" panose="020B0604020202020204" pitchFamily="34" charset="0"/>
                        </a:rPr>
                        <a:t>o 200</a:t>
                      </a:r>
                      <a:r>
                        <a:rPr sz="800" spc="5">
                          <a:latin typeface="Arial" panose="020B0604020202020204" pitchFamily="34" charset="0"/>
                          <a:cs typeface="Arial" panose="020B0604020202020204" pitchFamily="34" charset="0"/>
                        </a:rPr>
                        <a:t> </a:t>
                      </a:r>
                      <a:r>
                        <a:rPr sz="800">
                          <a:latin typeface="Arial" panose="020B0604020202020204" pitchFamily="34" charset="0"/>
                          <a:cs typeface="Arial" panose="020B0604020202020204" pitchFamily="34" charset="0"/>
                        </a:rPr>
                        <a:t>℃</a:t>
                      </a:r>
                      <a:r>
                        <a:rPr lang="en-US" sz="800">
                          <a:latin typeface="Arial" panose="020B0604020202020204" pitchFamily="34" charset="0"/>
                          <a:cs typeface="Arial" panose="020B0604020202020204" pitchFamily="34" charset="0"/>
                        </a:rPr>
                        <a:t>)</a:t>
                      </a:r>
                      <a:endParaRPr sz="80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a:latin typeface="Arial" panose="020B0604020202020204" pitchFamily="34" charset="0"/>
                          <a:cs typeface="Arial" panose="020B0604020202020204" pitchFamily="34" charset="0"/>
                        </a:rPr>
                        <a:t>60</a:t>
                      </a:r>
                      <a:r>
                        <a:rPr lang="en-US" sz="800" spc="-5">
                          <a:latin typeface="Arial" panose="020B0604020202020204" pitchFamily="34" charset="0"/>
                          <a:cs typeface="Arial" panose="020B0604020202020204" pitchFamily="34" charset="0"/>
                        </a:rPr>
                        <a:t> ~ </a:t>
                      </a:r>
                      <a:r>
                        <a:rPr sz="800" spc="-5">
                          <a:latin typeface="Arial" panose="020B0604020202020204" pitchFamily="34" charset="0"/>
                          <a:cs typeface="Arial" panose="020B0604020202020204" pitchFamily="34" charset="0"/>
                        </a:rPr>
                        <a:t>120</a:t>
                      </a:r>
                      <a:r>
                        <a:rPr sz="800" spc="-45">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second</a:t>
                      </a:r>
                      <a:endParaRPr sz="80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a:latin typeface="Arial" panose="020B0604020202020204" pitchFamily="34" charset="0"/>
                          <a:cs typeface="Arial" panose="020B0604020202020204" pitchFamily="34" charset="0"/>
                        </a:rPr>
                        <a:t>Time</a:t>
                      </a:r>
                      <a:r>
                        <a:rPr sz="800" spc="-1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to</a:t>
                      </a:r>
                      <a:r>
                        <a:rPr sz="800" spc="-5">
                          <a:latin typeface="Arial" panose="020B0604020202020204" pitchFamily="34" charset="0"/>
                          <a:cs typeface="Arial" panose="020B0604020202020204" pitchFamily="34" charset="0"/>
                        </a:rPr>
                        <a:t> </a:t>
                      </a:r>
                      <a:r>
                        <a:rPr sz="800">
                          <a:latin typeface="Arial" panose="020B0604020202020204" pitchFamily="34" charset="0"/>
                          <a:cs typeface="Arial" panose="020B0604020202020204" pitchFamily="34" charset="0"/>
                        </a:rPr>
                        <a:t>be</a:t>
                      </a:r>
                      <a:r>
                        <a:rPr sz="800" spc="-10">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maintained</a:t>
                      </a:r>
                      <a:r>
                        <a:rPr sz="800" spc="-10">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above</a:t>
                      </a:r>
                      <a:r>
                        <a:rPr lang="en-US" sz="800" spc="-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217</a:t>
                      </a:r>
                      <a:r>
                        <a:rPr sz="800" spc="5">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a:t>
                      </a:r>
                      <a:endParaRPr sz="80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a:latin typeface="Arial" panose="020B0604020202020204" pitchFamily="34" charset="0"/>
                          <a:cs typeface="Arial" panose="020B0604020202020204" pitchFamily="34" charset="0"/>
                        </a:rPr>
                        <a:t>60</a:t>
                      </a:r>
                      <a:r>
                        <a:rPr lang="en-US" sz="800" spc="-5">
                          <a:latin typeface="Arial" panose="020B0604020202020204" pitchFamily="34" charset="0"/>
                          <a:cs typeface="Arial" panose="020B0604020202020204" pitchFamily="34" charset="0"/>
                        </a:rPr>
                        <a:t> ~ </a:t>
                      </a:r>
                      <a:r>
                        <a:rPr sz="800" spc="-5">
                          <a:latin typeface="Arial" panose="020B0604020202020204" pitchFamily="34" charset="0"/>
                          <a:cs typeface="Arial" panose="020B0604020202020204" pitchFamily="34" charset="0"/>
                        </a:rPr>
                        <a:t>150</a:t>
                      </a:r>
                      <a:r>
                        <a:rPr sz="800" spc="-45">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second</a:t>
                      </a:r>
                      <a:endParaRPr sz="80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a:latin typeface="Arial" panose="020B0604020202020204" pitchFamily="34" charset="0"/>
                          <a:cs typeface="Arial" panose="020B0604020202020204" pitchFamily="34" charset="0"/>
                        </a:rPr>
                        <a:t>Peak</a:t>
                      </a:r>
                      <a:r>
                        <a:rPr sz="800" spc="-30">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temperature</a:t>
                      </a:r>
                      <a:endParaRPr sz="80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a:latin typeface="Arial" panose="020B0604020202020204" pitchFamily="34" charset="0"/>
                          <a:cs typeface="Arial" panose="020B0604020202020204" pitchFamily="34" charset="0"/>
                        </a:rPr>
                        <a:t> </a:t>
                      </a:r>
                      <a:r>
                        <a:rPr lang="en-US" sz="800" kern="1200" spc="-5">
                          <a:solidFill>
                            <a:schemeClr val="tx1"/>
                          </a:solidFill>
                          <a:latin typeface="Arial" panose="020B0604020202020204" pitchFamily="34" charset="0"/>
                          <a:ea typeface="+mn-ea"/>
                          <a:cs typeface="Arial" panose="020B0604020202020204" pitchFamily="34" charset="0"/>
                        </a:rPr>
                        <a:t>260 </a:t>
                      </a:r>
                      <a:r>
                        <a:rPr lang="ko-KR" altLang="en-US" sz="800" kern="1200" spc="-5">
                          <a:solidFill>
                            <a:schemeClr val="tx1"/>
                          </a:solidFill>
                          <a:latin typeface="Arial" panose="020B0604020202020204" pitchFamily="34" charset="0"/>
                          <a:ea typeface="+mn-ea"/>
                          <a:cs typeface="Arial" panose="020B0604020202020204" pitchFamily="34" charset="0"/>
                        </a:rPr>
                        <a:t>℃</a:t>
                      </a:r>
                      <a:endParaRPr sz="800" kern="1200" spc="-5">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a:latin typeface="Arial" panose="020B0604020202020204" pitchFamily="34" charset="0"/>
                          <a:cs typeface="Arial" panose="020B0604020202020204" pitchFamily="34" charset="0"/>
                        </a:rPr>
                        <a:t>Time</a:t>
                      </a:r>
                      <a:r>
                        <a:rPr sz="800" spc="-15">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within 5</a:t>
                      </a:r>
                      <a:r>
                        <a:rPr sz="800">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a:t>
                      </a:r>
                      <a:r>
                        <a:rPr lang="en-US" sz="800" spc="-5">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of</a:t>
                      </a:r>
                      <a:r>
                        <a:rPr sz="800" spc="-15">
                          <a:latin typeface="Arial" panose="020B0604020202020204" pitchFamily="34" charset="0"/>
                          <a:cs typeface="Arial" panose="020B0604020202020204" pitchFamily="34" charset="0"/>
                        </a:rPr>
                        <a:t> </a:t>
                      </a:r>
                      <a:r>
                        <a:rPr sz="800">
                          <a:latin typeface="Arial" panose="020B0604020202020204" pitchFamily="34" charset="0"/>
                          <a:cs typeface="Arial" panose="020B0604020202020204" pitchFamily="34" charset="0"/>
                        </a:rPr>
                        <a:t>actual</a:t>
                      </a:r>
                      <a:r>
                        <a:rPr sz="800" spc="-5">
                          <a:latin typeface="Arial" panose="020B0604020202020204" pitchFamily="34" charset="0"/>
                          <a:cs typeface="Arial" panose="020B0604020202020204" pitchFamily="34" charset="0"/>
                        </a:rPr>
                        <a:t> peak </a:t>
                      </a:r>
                      <a:r>
                        <a:rPr sz="800" spc="-10">
                          <a:latin typeface="Arial" panose="020B0604020202020204" pitchFamily="34" charset="0"/>
                          <a:cs typeface="Arial" panose="020B0604020202020204" pitchFamily="34" charset="0"/>
                        </a:rPr>
                        <a:t>temp</a:t>
                      </a:r>
                      <a:endParaRPr sz="80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a:latin typeface="Arial" panose="020B0604020202020204" pitchFamily="34" charset="0"/>
                          <a:cs typeface="Arial" panose="020B0604020202020204" pitchFamily="34" charset="0"/>
                        </a:rPr>
                        <a:t>30</a:t>
                      </a:r>
                      <a:r>
                        <a:rPr sz="800" spc="-45">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second</a:t>
                      </a:r>
                      <a:endParaRPr sz="80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a:latin typeface="Arial" panose="020B0604020202020204" pitchFamily="34" charset="0"/>
                          <a:cs typeface="Arial" panose="020B0604020202020204" pitchFamily="34" charset="0"/>
                        </a:rPr>
                        <a:t>Ramp-down</a:t>
                      </a:r>
                      <a:r>
                        <a:rPr sz="800" spc="-25">
                          <a:latin typeface="Arial" panose="020B0604020202020204" pitchFamily="34" charset="0"/>
                          <a:cs typeface="Arial" panose="020B0604020202020204" pitchFamily="34" charset="0"/>
                        </a:rPr>
                        <a:t> </a:t>
                      </a:r>
                      <a:r>
                        <a:rPr sz="800" spc="-15">
                          <a:latin typeface="Arial" panose="020B0604020202020204" pitchFamily="34" charset="0"/>
                          <a:cs typeface="Arial" panose="020B0604020202020204" pitchFamily="34" charset="0"/>
                        </a:rPr>
                        <a:t>rate</a:t>
                      </a:r>
                      <a:endParaRPr sz="80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a:latin typeface="Arial" panose="020B0604020202020204" pitchFamily="34" charset="0"/>
                          <a:cs typeface="Arial" panose="020B0604020202020204" pitchFamily="34" charset="0"/>
                        </a:rPr>
                        <a:t>6</a:t>
                      </a:r>
                      <a:r>
                        <a:rPr sz="800" spc="190">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℃/second</a:t>
                      </a:r>
                      <a:r>
                        <a:rPr sz="800" spc="-20">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max.</a:t>
                      </a:r>
                      <a:endParaRPr sz="80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a:latin typeface="Arial" panose="020B0604020202020204" pitchFamily="34" charset="0"/>
                          <a:cs typeface="Arial" panose="020B0604020202020204" pitchFamily="34" charset="0"/>
                        </a:rPr>
                        <a:t>T</a:t>
                      </a:r>
                      <a:r>
                        <a:rPr sz="800">
                          <a:latin typeface="Arial" panose="020B0604020202020204" pitchFamily="34" charset="0"/>
                          <a:cs typeface="Arial" panose="020B0604020202020204" pitchFamily="34" charset="0"/>
                        </a:rPr>
                        <a:t>i</a:t>
                      </a:r>
                      <a:r>
                        <a:rPr sz="800" spc="5">
                          <a:latin typeface="Arial" panose="020B0604020202020204" pitchFamily="34" charset="0"/>
                          <a:cs typeface="Arial" panose="020B0604020202020204" pitchFamily="34" charset="0"/>
                        </a:rPr>
                        <a:t>m</a:t>
                      </a:r>
                      <a:r>
                        <a:rPr sz="800">
                          <a:latin typeface="Arial" panose="020B0604020202020204" pitchFamily="34" charset="0"/>
                          <a:cs typeface="Arial" panose="020B0604020202020204" pitchFamily="34" charset="0"/>
                        </a:rPr>
                        <a:t>e</a:t>
                      </a:r>
                      <a:r>
                        <a:rPr sz="800" spc="-5">
                          <a:latin typeface="Arial" panose="020B0604020202020204" pitchFamily="34" charset="0"/>
                          <a:cs typeface="Arial" panose="020B0604020202020204" pitchFamily="34" charset="0"/>
                        </a:rPr>
                        <a:t> f</a:t>
                      </a:r>
                      <a:r>
                        <a:rPr sz="800" spc="-15">
                          <a:latin typeface="Arial" panose="020B0604020202020204" pitchFamily="34" charset="0"/>
                          <a:cs typeface="Arial" panose="020B0604020202020204" pitchFamily="34" charset="0"/>
                        </a:rPr>
                        <a:t>r</a:t>
                      </a:r>
                      <a:r>
                        <a:rPr sz="800">
                          <a:latin typeface="Arial" panose="020B0604020202020204" pitchFamily="34" charset="0"/>
                          <a:cs typeface="Arial" panose="020B0604020202020204" pitchFamily="34" charset="0"/>
                        </a:rPr>
                        <a:t>om </a:t>
                      </a:r>
                      <a:r>
                        <a:rPr sz="800" spc="-5">
                          <a:latin typeface="Arial" panose="020B0604020202020204" pitchFamily="34" charset="0"/>
                          <a:cs typeface="Arial" panose="020B0604020202020204" pitchFamily="34" charset="0"/>
                        </a:rPr>
                        <a:t> </a:t>
                      </a:r>
                      <a:r>
                        <a:rPr sz="800">
                          <a:latin typeface="Arial" panose="020B0604020202020204" pitchFamily="34" charset="0"/>
                          <a:cs typeface="Arial" panose="020B0604020202020204" pitchFamily="34" charset="0"/>
                        </a:rPr>
                        <a:t>2</a:t>
                      </a:r>
                      <a:r>
                        <a:rPr sz="800" spc="15">
                          <a:latin typeface="Arial" panose="020B0604020202020204" pitchFamily="34" charset="0"/>
                          <a:cs typeface="Arial" panose="020B0604020202020204" pitchFamily="34" charset="0"/>
                        </a:rPr>
                        <a:t>5</a:t>
                      </a:r>
                      <a:r>
                        <a:rPr sz="800">
                          <a:latin typeface="Arial" panose="020B0604020202020204" pitchFamily="34" charset="0"/>
                          <a:cs typeface="Arial" panose="020B0604020202020204" pitchFamily="34" charset="0"/>
                        </a:rPr>
                        <a:t>℃</a:t>
                      </a:r>
                      <a:r>
                        <a:rPr lang="en-US" sz="800">
                          <a:latin typeface="Arial" panose="020B0604020202020204" pitchFamily="34" charset="0"/>
                          <a:cs typeface="Arial" panose="020B0604020202020204" pitchFamily="34" charset="0"/>
                        </a:rPr>
                        <a:t> </a:t>
                      </a:r>
                      <a:r>
                        <a:rPr sz="800" spc="-27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t</a:t>
                      </a:r>
                      <a:r>
                        <a:rPr sz="800">
                          <a:latin typeface="Arial" panose="020B0604020202020204" pitchFamily="34" charset="0"/>
                          <a:cs typeface="Arial" panose="020B0604020202020204" pitchFamily="34" charset="0"/>
                        </a:rPr>
                        <a:t>o </a:t>
                      </a:r>
                      <a:r>
                        <a:rPr sz="800" spc="5">
                          <a:latin typeface="Arial" panose="020B0604020202020204" pitchFamily="34" charset="0"/>
                          <a:cs typeface="Arial" panose="020B0604020202020204" pitchFamily="34" charset="0"/>
                        </a:rPr>
                        <a:t>p</a:t>
                      </a:r>
                      <a:r>
                        <a:rPr sz="800" spc="-5">
                          <a:latin typeface="Arial" panose="020B0604020202020204" pitchFamily="34" charset="0"/>
                          <a:cs typeface="Arial" panose="020B0604020202020204" pitchFamily="34" charset="0"/>
                        </a:rPr>
                        <a:t>e</a:t>
                      </a:r>
                      <a:r>
                        <a:rPr sz="800">
                          <a:latin typeface="Arial" panose="020B0604020202020204" pitchFamily="34" charset="0"/>
                          <a:cs typeface="Arial" panose="020B0604020202020204" pitchFamily="34" charset="0"/>
                        </a:rPr>
                        <a:t>ak </a:t>
                      </a:r>
                      <a:r>
                        <a:rPr sz="800" spc="-10">
                          <a:latin typeface="Arial" panose="020B0604020202020204" pitchFamily="34" charset="0"/>
                          <a:cs typeface="Arial" panose="020B0604020202020204" pitchFamily="34" charset="0"/>
                        </a:rPr>
                        <a:t>t</a:t>
                      </a:r>
                      <a:r>
                        <a:rPr sz="800" spc="-5">
                          <a:latin typeface="Arial" panose="020B0604020202020204" pitchFamily="34" charset="0"/>
                          <a:cs typeface="Arial" panose="020B0604020202020204" pitchFamily="34" charset="0"/>
                        </a:rPr>
                        <a:t>e</a:t>
                      </a:r>
                      <a:r>
                        <a:rPr sz="800" spc="5">
                          <a:latin typeface="Arial" panose="020B0604020202020204" pitchFamily="34" charset="0"/>
                          <a:cs typeface="Arial" panose="020B0604020202020204" pitchFamily="34" charset="0"/>
                        </a:rPr>
                        <a:t>m</a:t>
                      </a:r>
                      <a:r>
                        <a:rPr sz="80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a:latin typeface="Arial" panose="020B0604020202020204" pitchFamily="34" charset="0"/>
                          <a:cs typeface="Arial" panose="020B0604020202020204" pitchFamily="34" charset="0"/>
                        </a:rPr>
                        <a:t>8</a:t>
                      </a:r>
                      <a:r>
                        <a:rPr sz="800" spc="-30">
                          <a:latin typeface="Arial" panose="020B0604020202020204" pitchFamily="34" charset="0"/>
                          <a:cs typeface="Arial" panose="020B0604020202020204" pitchFamily="34" charset="0"/>
                        </a:rPr>
                        <a:t> </a:t>
                      </a:r>
                      <a:r>
                        <a:rPr sz="800" spc="-5">
                          <a:latin typeface="Arial" panose="020B0604020202020204" pitchFamily="34" charset="0"/>
                          <a:cs typeface="Arial" panose="020B0604020202020204" pitchFamily="34" charset="0"/>
                        </a:rPr>
                        <a:t>minutes</a:t>
                      </a:r>
                      <a:r>
                        <a:rPr sz="800" spc="-15">
                          <a:latin typeface="Arial" panose="020B0604020202020204" pitchFamily="34" charset="0"/>
                          <a:cs typeface="Arial" panose="020B0604020202020204" pitchFamily="34" charset="0"/>
                        </a:rPr>
                        <a:t> </a:t>
                      </a:r>
                      <a:r>
                        <a:rPr sz="800" spc="-10">
                          <a:latin typeface="Arial" panose="020B0604020202020204" pitchFamily="34" charset="0"/>
                          <a:cs typeface="Arial" panose="020B0604020202020204" pitchFamily="34" charset="0"/>
                        </a:rPr>
                        <a:t>max</a:t>
                      </a:r>
                      <a:r>
                        <a:rPr lang="en-US" sz="800" spc="-10">
                          <a:latin typeface="Arial" panose="020B0604020202020204" pitchFamily="34" charset="0"/>
                          <a:cs typeface="Arial" panose="020B0604020202020204" pitchFamily="34" charset="0"/>
                        </a:rPr>
                        <a:t>.</a:t>
                      </a:r>
                      <a:endParaRPr sz="80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a:solidFill>
                  <a:prstClr val="black"/>
                </a:solidFill>
                <a:latin typeface="Arial" panose="020B0604020202020204" pitchFamily="34" charset="0"/>
                <a:ea typeface="+mn-ea"/>
                <a:cs typeface="Arial" panose="020B0604020202020204" pitchFamily="34" charset="0"/>
              </a:rPr>
              <a:t>T</a:t>
            </a:r>
            <a:r>
              <a:rPr kumimoji="0" sz="900" b="1" spc="-10">
                <a:solidFill>
                  <a:prstClr val="black"/>
                </a:solidFill>
                <a:latin typeface="Arial" panose="020B0604020202020204" pitchFamily="34" charset="0"/>
                <a:ea typeface="+mn-ea"/>
                <a:cs typeface="Arial" panose="020B0604020202020204" pitchFamily="34" charset="0"/>
              </a:rPr>
              <a:t>a</a:t>
            </a:r>
            <a:r>
              <a:rPr kumimoji="0" sz="900" b="1" spc="-5">
                <a:solidFill>
                  <a:prstClr val="black"/>
                </a:solidFill>
                <a:latin typeface="Arial" panose="020B0604020202020204" pitchFamily="34" charset="0"/>
                <a:ea typeface="+mn-ea"/>
                <a:cs typeface="Arial" panose="020B0604020202020204" pitchFamily="34" charset="0"/>
              </a:rPr>
              <a:t>bl</a:t>
            </a:r>
            <a:r>
              <a:rPr kumimoji="0" sz="900" b="1">
                <a:solidFill>
                  <a:prstClr val="black"/>
                </a:solidFill>
                <a:latin typeface="Arial" panose="020B0604020202020204" pitchFamily="34" charset="0"/>
                <a:ea typeface="+mn-ea"/>
                <a:cs typeface="Arial" panose="020B0604020202020204" pitchFamily="34" charset="0"/>
              </a:rPr>
              <a:t>e </a:t>
            </a:r>
            <a:r>
              <a:rPr kumimoji="0" lang="en-US" sz="900" b="1">
                <a:solidFill>
                  <a:prstClr val="black"/>
                </a:solidFill>
                <a:latin typeface="Arial" panose="020B0604020202020204" pitchFamily="34" charset="0"/>
                <a:ea typeface="+mn-ea"/>
                <a:cs typeface="Arial" panose="020B0604020202020204" pitchFamily="34" charset="0"/>
              </a:rPr>
              <a:t>8</a:t>
            </a:r>
            <a:r>
              <a:rPr kumimoji="0" sz="900" b="1">
                <a:solidFill>
                  <a:prstClr val="black"/>
                </a:solidFill>
                <a:latin typeface="Arial" panose="020B0604020202020204" pitchFamily="34" charset="0"/>
                <a:ea typeface="+mn-ea"/>
                <a:cs typeface="Arial" panose="020B0604020202020204" pitchFamily="34" charset="0"/>
              </a:rPr>
              <a:t>.</a:t>
            </a:r>
            <a:r>
              <a:rPr kumimoji="0" lang="en-US" sz="900" b="1">
                <a:solidFill>
                  <a:prstClr val="black"/>
                </a:solidFill>
                <a:latin typeface="Arial" panose="020B0604020202020204" pitchFamily="34" charset="0"/>
                <a:ea typeface="+mn-ea"/>
                <a:cs typeface="Arial" panose="020B0604020202020204" pitchFamily="34" charset="0"/>
              </a:rPr>
              <a:t>   Reflow Soldering Parameter </a:t>
            </a:r>
            <a:endParaRPr kumimoji="0" sz="90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a:latin typeface="Arial"/>
                <a:cs typeface="Arial"/>
              </a:rPr>
              <a:t>Note: </a:t>
            </a:r>
            <a:endParaRPr lang="en-US" sz="800" spc="-5">
              <a:latin typeface="Arial"/>
              <a:cs typeface="Arial"/>
            </a:endParaRPr>
          </a:p>
          <a:p>
            <a:pPr marL="11527" marR="4611">
              <a:spcBef>
                <a:spcPts val="159"/>
              </a:spcBef>
            </a:pPr>
            <a:r>
              <a:rPr lang="en-US" sz="800" spc="-5">
                <a:latin typeface="Arial"/>
                <a:cs typeface="Arial"/>
              </a:rPr>
              <a:t>1. </a:t>
            </a:r>
            <a:r>
              <a:rPr sz="800" spc="-5">
                <a:latin typeface="Arial"/>
                <a:cs typeface="Arial"/>
              </a:rPr>
              <a:t>The</a:t>
            </a:r>
            <a:r>
              <a:rPr sz="800" spc="14">
                <a:latin typeface="Arial"/>
                <a:cs typeface="Arial"/>
              </a:rPr>
              <a:t> </a:t>
            </a:r>
            <a:r>
              <a:rPr sz="800" spc="-5">
                <a:latin typeface="Arial"/>
                <a:cs typeface="Arial"/>
              </a:rPr>
              <a:t>reflow</a:t>
            </a:r>
            <a:r>
              <a:rPr sz="800" spc="5">
                <a:latin typeface="Arial"/>
                <a:cs typeface="Arial"/>
              </a:rPr>
              <a:t> </a:t>
            </a:r>
            <a:r>
              <a:rPr sz="800" spc="-5">
                <a:latin typeface="Arial"/>
                <a:cs typeface="Arial"/>
              </a:rPr>
              <a:t>peak</a:t>
            </a:r>
            <a:r>
              <a:rPr sz="800" spc="9">
                <a:latin typeface="Arial"/>
                <a:cs typeface="Arial"/>
              </a:rPr>
              <a:t> </a:t>
            </a:r>
            <a:r>
              <a:rPr sz="800" spc="-5">
                <a:latin typeface="Arial"/>
                <a:cs typeface="Arial"/>
              </a:rPr>
              <a:t>soldering</a:t>
            </a:r>
            <a:r>
              <a:rPr sz="800" spc="14">
                <a:latin typeface="Arial"/>
                <a:cs typeface="Arial"/>
              </a:rPr>
              <a:t> </a:t>
            </a:r>
            <a:r>
              <a:rPr sz="800" spc="-5">
                <a:latin typeface="Arial"/>
                <a:cs typeface="Arial"/>
              </a:rPr>
              <a:t>temperature</a:t>
            </a:r>
            <a:r>
              <a:rPr sz="800" spc="14">
                <a:latin typeface="Arial"/>
                <a:cs typeface="Arial"/>
              </a:rPr>
              <a:t> </a:t>
            </a:r>
            <a:r>
              <a:rPr sz="800" spc="-9">
                <a:latin typeface="Arial"/>
                <a:cs typeface="Arial"/>
              </a:rPr>
              <a:t>is</a:t>
            </a:r>
            <a:r>
              <a:rPr sz="800" spc="23">
                <a:latin typeface="Arial"/>
                <a:cs typeface="Arial"/>
              </a:rPr>
              <a:t> </a:t>
            </a:r>
            <a:r>
              <a:rPr sz="800" spc="-9">
                <a:latin typeface="Arial"/>
                <a:cs typeface="Arial"/>
              </a:rPr>
              <a:t>peak</a:t>
            </a:r>
            <a:r>
              <a:rPr sz="800" spc="27">
                <a:latin typeface="Arial"/>
                <a:cs typeface="Arial"/>
              </a:rPr>
              <a:t> </a:t>
            </a:r>
            <a:r>
              <a:rPr sz="800" spc="-5">
                <a:latin typeface="Arial"/>
                <a:cs typeface="Arial"/>
              </a:rPr>
              <a:t>260°C</a:t>
            </a:r>
            <a:r>
              <a:rPr sz="800" spc="18">
                <a:latin typeface="Arial"/>
                <a:cs typeface="Arial"/>
              </a:rPr>
              <a:t> </a:t>
            </a:r>
            <a:r>
              <a:rPr sz="800" spc="-5">
                <a:latin typeface="Arial"/>
                <a:cs typeface="Arial"/>
              </a:rPr>
              <a:t>and</a:t>
            </a:r>
            <a:r>
              <a:rPr sz="800" spc="14">
                <a:latin typeface="Arial"/>
                <a:cs typeface="Arial"/>
              </a:rPr>
              <a:t> </a:t>
            </a:r>
            <a:r>
              <a:rPr sz="800" spc="-9">
                <a:latin typeface="Arial"/>
                <a:cs typeface="Arial"/>
              </a:rPr>
              <a:t>it</a:t>
            </a:r>
            <a:r>
              <a:rPr sz="800" spc="18">
                <a:latin typeface="Arial"/>
                <a:cs typeface="Arial"/>
              </a:rPr>
              <a:t> </a:t>
            </a:r>
            <a:r>
              <a:rPr sz="800" spc="-9">
                <a:latin typeface="Arial"/>
                <a:cs typeface="Arial"/>
              </a:rPr>
              <a:t>is</a:t>
            </a:r>
            <a:r>
              <a:rPr sz="800" spc="9">
                <a:latin typeface="Arial"/>
                <a:cs typeface="Arial"/>
              </a:rPr>
              <a:t> </a:t>
            </a:r>
            <a:r>
              <a:rPr sz="800" spc="-5">
                <a:latin typeface="Arial"/>
                <a:cs typeface="Arial"/>
              </a:rPr>
              <a:t>specified</a:t>
            </a:r>
            <a:r>
              <a:rPr sz="800" spc="5">
                <a:latin typeface="Arial"/>
                <a:cs typeface="Arial"/>
              </a:rPr>
              <a:t> </a:t>
            </a:r>
            <a:r>
              <a:rPr sz="800" spc="-5">
                <a:latin typeface="Arial"/>
                <a:cs typeface="Arial"/>
              </a:rPr>
              <a:t>based</a:t>
            </a:r>
            <a:r>
              <a:rPr sz="800" spc="5">
                <a:latin typeface="Arial"/>
                <a:cs typeface="Arial"/>
              </a:rPr>
              <a:t> </a:t>
            </a:r>
            <a:r>
              <a:rPr sz="800">
                <a:latin typeface="Arial"/>
                <a:cs typeface="Arial"/>
              </a:rPr>
              <a:t>on</a:t>
            </a:r>
            <a:r>
              <a:rPr sz="800" spc="5">
                <a:latin typeface="Arial"/>
                <a:cs typeface="Arial"/>
              </a:rPr>
              <a:t> </a:t>
            </a:r>
            <a:r>
              <a:rPr sz="800" spc="-5">
                <a:latin typeface="Arial"/>
                <a:cs typeface="Arial"/>
              </a:rPr>
              <a:t>IPC/JEDEC</a:t>
            </a:r>
            <a:r>
              <a:rPr sz="800" spc="5">
                <a:latin typeface="Arial"/>
                <a:cs typeface="Arial"/>
              </a:rPr>
              <a:t> </a:t>
            </a:r>
            <a:r>
              <a:rPr sz="800" spc="-5">
                <a:latin typeface="Arial"/>
                <a:cs typeface="Arial"/>
              </a:rPr>
              <a:t>J-STD- </a:t>
            </a:r>
            <a:r>
              <a:rPr sz="800" spc="-236">
                <a:latin typeface="Arial"/>
                <a:cs typeface="Arial"/>
              </a:rPr>
              <a:t> </a:t>
            </a:r>
            <a:r>
              <a:rPr sz="800" spc="-9">
                <a:latin typeface="Arial"/>
                <a:cs typeface="Arial"/>
              </a:rPr>
              <a:t>020</a:t>
            </a:r>
            <a:r>
              <a:rPr sz="800">
                <a:latin typeface="Arial"/>
                <a:cs typeface="Arial"/>
              </a:rPr>
              <a:t> </a:t>
            </a:r>
            <a:r>
              <a:rPr sz="800" spc="-5">
                <a:latin typeface="Arial"/>
                <a:cs typeface="Arial"/>
              </a:rPr>
              <a:t>“</a:t>
            </a:r>
            <a:endParaRPr lang="en-US" sz="800" spc="-5">
              <a:latin typeface="Arial"/>
              <a:cs typeface="Arial"/>
            </a:endParaRPr>
          </a:p>
          <a:p>
            <a:pPr marL="11527" marR="4611">
              <a:spcBef>
                <a:spcPts val="159"/>
              </a:spcBef>
            </a:pPr>
            <a:r>
              <a:rPr lang="en-US" sz="800" spc="-5">
                <a:latin typeface="Arial"/>
                <a:cs typeface="Arial"/>
              </a:rPr>
              <a:t>     </a:t>
            </a:r>
            <a:r>
              <a:rPr sz="800" spc="-5">
                <a:latin typeface="Arial"/>
                <a:cs typeface="Arial"/>
              </a:rPr>
              <a:t>Moisture/Reflow</a:t>
            </a:r>
            <a:r>
              <a:rPr sz="800" spc="14">
                <a:latin typeface="Arial"/>
                <a:cs typeface="Arial"/>
              </a:rPr>
              <a:t> </a:t>
            </a:r>
            <a:r>
              <a:rPr sz="800" spc="-5">
                <a:latin typeface="Arial"/>
                <a:cs typeface="Arial"/>
              </a:rPr>
              <a:t>Sensitivity</a:t>
            </a:r>
            <a:r>
              <a:rPr sz="800" spc="5">
                <a:latin typeface="Arial"/>
                <a:cs typeface="Arial"/>
              </a:rPr>
              <a:t> </a:t>
            </a:r>
            <a:r>
              <a:rPr sz="800" spc="-5">
                <a:latin typeface="Arial"/>
                <a:cs typeface="Arial"/>
              </a:rPr>
              <a:t>Classification</a:t>
            </a:r>
            <a:r>
              <a:rPr sz="800" spc="5">
                <a:latin typeface="Arial"/>
                <a:cs typeface="Arial"/>
              </a:rPr>
              <a:t> </a:t>
            </a:r>
            <a:r>
              <a:rPr sz="800" spc="-5">
                <a:latin typeface="Arial"/>
                <a:cs typeface="Arial"/>
              </a:rPr>
              <a:t>for</a:t>
            </a:r>
            <a:r>
              <a:rPr sz="800" spc="14">
                <a:latin typeface="Arial"/>
                <a:cs typeface="Arial"/>
              </a:rPr>
              <a:t> </a:t>
            </a:r>
            <a:r>
              <a:rPr sz="800" spc="-5">
                <a:latin typeface="Arial"/>
                <a:cs typeface="Arial"/>
              </a:rPr>
              <a:t>Non-Hermetic</a:t>
            </a:r>
            <a:r>
              <a:rPr sz="800" spc="9">
                <a:latin typeface="Arial"/>
                <a:cs typeface="Arial"/>
              </a:rPr>
              <a:t> </a:t>
            </a:r>
            <a:r>
              <a:rPr sz="800" spc="-5">
                <a:latin typeface="Arial"/>
                <a:cs typeface="Arial"/>
              </a:rPr>
              <a:t>Solid</a:t>
            </a:r>
            <a:r>
              <a:rPr sz="800" spc="9">
                <a:latin typeface="Arial"/>
                <a:cs typeface="Arial"/>
              </a:rPr>
              <a:t> </a:t>
            </a:r>
            <a:r>
              <a:rPr sz="800" spc="-5">
                <a:latin typeface="Arial"/>
                <a:cs typeface="Arial"/>
              </a:rPr>
              <a:t>State</a:t>
            </a:r>
            <a:r>
              <a:rPr sz="800" spc="5">
                <a:latin typeface="Arial"/>
                <a:cs typeface="Arial"/>
              </a:rPr>
              <a:t> </a:t>
            </a:r>
            <a:r>
              <a:rPr sz="800">
                <a:latin typeface="Arial"/>
                <a:cs typeface="Arial"/>
              </a:rPr>
              <a:t>Surface </a:t>
            </a:r>
            <a:r>
              <a:rPr sz="800" spc="-5">
                <a:latin typeface="Arial"/>
                <a:cs typeface="Arial"/>
              </a:rPr>
              <a:t>Mount</a:t>
            </a:r>
            <a:r>
              <a:rPr sz="800" spc="5">
                <a:latin typeface="Arial"/>
                <a:cs typeface="Arial"/>
              </a:rPr>
              <a:t> </a:t>
            </a:r>
            <a:r>
              <a:rPr sz="800">
                <a:latin typeface="Arial"/>
                <a:cs typeface="Arial"/>
              </a:rPr>
              <a:t>Devices”</a:t>
            </a:r>
            <a:endParaRPr lang="en-US" sz="800">
              <a:latin typeface="Arial"/>
              <a:cs typeface="Arial"/>
            </a:endParaRPr>
          </a:p>
          <a:p>
            <a:pPr marL="11527" marR="4611">
              <a:spcBef>
                <a:spcPts val="159"/>
              </a:spcBef>
            </a:pPr>
            <a:r>
              <a:rPr lang="en-US" sz="800">
                <a:latin typeface="Arial"/>
                <a:cs typeface="Arial"/>
              </a:rPr>
              <a:t>2. Tolerance for peak proﬁle temperature (Tp) is deﬁned as a supplier minimum and a user maximum.</a:t>
            </a:r>
          </a:p>
          <a:p>
            <a:pPr marL="88900" marR="4611" indent="-77788">
              <a:spcBef>
                <a:spcPts val="159"/>
              </a:spcBef>
            </a:pPr>
            <a:r>
              <a:rPr lang="en-US" sz="800">
                <a:latin typeface="Arial"/>
                <a:cs typeface="Arial"/>
              </a:rPr>
              <a:t>3. This document should serve as recommendation only. Other parameters may also affect soldering, so these profiles</a:t>
            </a:r>
          </a:p>
          <a:p>
            <a:pPr marL="88900" marR="4611" indent="-77788">
              <a:spcBef>
                <a:spcPts val="159"/>
              </a:spcBef>
            </a:pPr>
            <a:r>
              <a:rPr lang="en-US" sz="800">
                <a:latin typeface="Arial"/>
                <a:cs typeface="Arial"/>
              </a:rPr>
              <a:t>   do not guarantee absolute success.</a:t>
            </a:r>
          </a:p>
          <a:p>
            <a:pPr marL="88900" marR="4611" indent="-77788">
              <a:spcBef>
                <a:spcPts val="159"/>
              </a:spcBef>
            </a:pPr>
            <a:r>
              <a:rPr lang="en-US" sz="80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a:latin typeface="Arial"/>
                <a:cs typeface="Arial"/>
              </a:rPr>
              <a:t>Body TOP Marking </a:t>
            </a:r>
            <a:r>
              <a:rPr lang="en-US" altLang="ko-KR" sz="1400" b="1">
                <a:solidFill>
                  <a:schemeClr val="accent5"/>
                </a:solidFill>
                <a:latin typeface="Arial" panose="020B0604020202020204" pitchFamily="34" charset="0"/>
                <a:cs typeface="Arial" panose="020B0604020202020204" pitchFamily="34" charset="0"/>
              </a:rPr>
              <a:t>[TBD]</a:t>
            </a:r>
            <a:r>
              <a:rPr lang="en-US" altLang="ko-KR" sz="1400" b="1" spc="-5">
                <a:latin typeface="Arial"/>
                <a:cs typeface="Arial"/>
              </a:rPr>
              <a:t>  </a:t>
            </a:r>
            <a:endParaRPr lang="en-US" altLang="ko-KR" sz="1400">
              <a:latin typeface="Arial"/>
              <a:cs typeface="Arial"/>
            </a:endParaRPr>
          </a:p>
        </p:txBody>
      </p:sp>
      <p:grpSp>
        <p:nvGrpSpPr>
          <p:cNvPr id="2" name="그룹 1">
            <a:extLst>
              <a:ext uri="{FF2B5EF4-FFF2-40B4-BE49-F238E27FC236}">
                <a16:creationId xmlns:a16="http://schemas.microsoft.com/office/drawing/2014/main" id="{86105E59-30DD-7D92-7597-E41F55CB9A7E}"/>
              </a:ext>
            </a:extLst>
          </p:cNvPr>
          <p:cNvGrpSpPr/>
          <p:nvPr/>
        </p:nvGrpSpPr>
        <p:grpSpPr>
          <a:xfrm>
            <a:off x="2976684" y="2012056"/>
            <a:ext cx="997628" cy="989567"/>
            <a:chOff x="3030961" y="1951322"/>
            <a:chExt cx="997628" cy="989567"/>
          </a:xfrm>
        </p:grpSpPr>
        <p:sp>
          <p:nvSpPr>
            <p:cNvPr id="3" name="직사각형 2">
              <a:extLst>
                <a:ext uri="{FF2B5EF4-FFF2-40B4-BE49-F238E27FC236}">
                  <a16:creationId xmlns:a16="http://schemas.microsoft.com/office/drawing/2014/main" id="{72C2A79E-B934-78C1-AFA6-53EE8AE994E0}"/>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 name="object 19">
              <a:extLst>
                <a:ext uri="{FF2B5EF4-FFF2-40B4-BE49-F238E27FC236}">
                  <a16:creationId xmlns:a16="http://schemas.microsoft.com/office/drawing/2014/main" id="{29D3A240-1068-0A78-65E8-877303EC8E84}"/>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a:solidFill>
                    <a:schemeClr val="bg1"/>
                  </a:solidFill>
                  <a:latin typeface="Arial" panose="020B0604020202020204" pitchFamily="34" charset="0"/>
                  <a:cs typeface="Arial" panose="020B0604020202020204" pitchFamily="34" charset="0"/>
                </a:rPr>
                <a:t>XXXXX</a:t>
              </a:r>
              <a:endParaRPr sz="1600" b="1">
                <a:solidFill>
                  <a:schemeClr val="bg1"/>
                </a:solidFill>
                <a:latin typeface="Arial" panose="020B0604020202020204" pitchFamily="34" charset="0"/>
                <a:cs typeface="Arial" panose="020B0604020202020204" pitchFamily="34" charset="0"/>
              </a:endParaRPr>
            </a:p>
          </p:txBody>
        </p:sp>
        <p:sp>
          <p:nvSpPr>
            <p:cNvPr id="5" name="object 19">
              <a:extLst>
                <a:ext uri="{FF2B5EF4-FFF2-40B4-BE49-F238E27FC236}">
                  <a16:creationId xmlns:a16="http://schemas.microsoft.com/office/drawing/2014/main" id="{B0285DEF-3838-C582-8A0E-48A4728DBC91}"/>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err="1">
                  <a:solidFill>
                    <a:schemeClr val="bg1"/>
                  </a:solidFill>
                  <a:latin typeface="Arial" panose="020B0604020202020204" pitchFamily="34" charset="0"/>
                  <a:cs typeface="Arial" panose="020B0604020202020204" pitchFamily="34" charset="0"/>
                </a:rPr>
                <a:t>abc</a:t>
              </a:r>
              <a:endParaRPr sz="1000" b="1">
                <a:solidFill>
                  <a:schemeClr val="bg1"/>
                </a:solidFill>
                <a:latin typeface="Arial" panose="020B0604020202020204" pitchFamily="34" charset="0"/>
                <a:cs typeface="Arial" panose="020B0604020202020204" pitchFamily="34" charset="0"/>
              </a:endParaRPr>
            </a:p>
          </p:txBody>
        </p:sp>
        <p:sp>
          <p:nvSpPr>
            <p:cNvPr id="8" name="object 19">
              <a:extLst>
                <a:ext uri="{FF2B5EF4-FFF2-40B4-BE49-F238E27FC236}">
                  <a16:creationId xmlns:a16="http://schemas.microsoft.com/office/drawing/2014/main" id="{79AA0B15-100B-99DC-7CFA-2349CFA989C3}"/>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a:solidFill>
                    <a:schemeClr val="bg1"/>
                  </a:solidFill>
                  <a:latin typeface="Arial" panose="020B0604020202020204" pitchFamily="34" charset="0"/>
                  <a:cs typeface="Arial" panose="020B0604020202020204" pitchFamily="34" charset="0"/>
                </a:rPr>
                <a:t>YWCD@</a:t>
              </a:r>
              <a:endParaRPr sz="1000" b="1">
                <a:solidFill>
                  <a:schemeClr val="bg1"/>
                </a:solidFill>
                <a:latin typeface="Arial" panose="020B0604020202020204" pitchFamily="34" charset="0"/>
                <a:cs typeface="Arial" panose="020B0604020202020204" pitchFamily="34" charset="0"/>
              </a:endParaRPr>
            </a:p>
          </p:txBody>
        </p:sp>
      </p:grpSp>
      <p:sp>
        <p:nvSpPr>
          <p:cNvPr id="9" name="object 24">
            <a:extLst>
              <a:ext uri="{FF2B5EF4-FFF2-40B4-BE49-F238E27FC236}">
                <a16:creationId xmlns:a16="http://schemas.microsoft.com/office/drawing/2014/main" id="{A032E7BA-726D-755B-57DF-17E8A3063FAA}"/>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a:latin typeface="Arial" panose="020B0604020202020204" pitchFamily="34" charset="0"/>
                <a:cs typeface="Arial" panose="020B0604020202020204" pitchFamily="34" charset="0"/>
              </a:rPr>
              <a:t>※ </a:t>
            </a:r>
            <a:r>
              <a:rPr lang="en-US" sz="800">
                <a:latin typeface="Arial" panose="020B0604020202020204" pitchFamily="34" charset="0"/>
                <a:cs typeface="Arial" panose="020B0604020202020204" pitchFamily="34" charset="0"/>
              </a:rPr>
              <a:t>Example code :2025. 07. 07</a:t>
            </a:r>
          </a:p>
          <a:p>
            <a:pPr lvl="4">
              <a:spcBef>
                <a:spcPts val="100"/>
              </a:spcBef>
            </a:pPr>
            <a:r>
              <a:rPr lang="en-US" sz="800">
                <a:latin typeface="Arial" panose="020B0604020202020204" pitchFamily="34" charset="0"/>
                <a:ea typeface="맑은 고딕" panose="020B0503020000020004" pitchFamily="50" charset="-127"/>
                <a:cs typeface="Arial" panose="020B0604020202020204" pitchFamily="34" charset="0"/>
              </a:rPr>
              <a:t>                             wafer Lot </a:t>
            </a:r>
            <a:r>
              <a:rPr lang="ko-KR" altLang="en-US" sz="800">
                <a:latin typeface="Arial" panose="020B0604020202020204" pitchFamily="34" charset="0"/>
                <a:ea typeface="맑은 고딕" panose="020B0503020000020004" pitchFamily="50" charset="-127"/>
                <a:cs typeface="Arial" panose="020B0604020202020204" pitchFamily="34" charset="0"/>
              </a:rPr>
              <a:t> </a:t>
            </a:r>
            <a:r>
              <a:rPr lang="en-US" altLang="ko-KR" sz="800">
                <a:latin typeface="Arial" panose="020B0604020202020204" pitchFamily="34" charset="0"/>
                <a:ea typeface="맑은 고딕" panose="020B0503020000020004" pitchFamily="50" charset="-127"/>
                <a:cs typeface="Arial" panose="020B0604020202020204" pitchFamily="34" charset="0"/>
              </a:rPr>
              <a:t>#1-5</a:t>
            </a:r>
            <a:endParaRPr lang="en-US" sz="800">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18">
            <a:extLst>
              <a:ext uri="{FF2B5EF4-FFF2-40B4-BE49-F238E27FC236}">
                <a16:creationId xmlns:a16="http://schemas.microsoft.com/office/drawing/2014/main" id="{B3ADC796-12D0-AACB-1ED9-9F0BE55E6913}"/>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a:uFill>
                  <a:solidFill>
                    <a:srgbClr val="000000"/>
                  </a:solidFill>
                </a:uFill>
                <a:latin typeface="Calibri"/>
                <a:cs typeface="Calibri"/>
              </a:rPr>
              <a:t>TOP</a:t>
            </a:r>
            <a:r>
              <a:rPr sz="1200" spc="-70">
                <a:uFill>
                  <a:solidFill>
                    <a:srgbClr val="000000"/>
                  </a:solidFill>
                </a:uFill>
                <a:latin typeface="Calibri"/>
                <a:cs typeface="Calibri"/>
              </a:rPr>
              <a:t> </a:t>
            </a:r>
            <a:r>
              <a:rPr sz="1200" spc="-20">
                <a:uFill>
                  <a:solidFill>
                    <a:srgbClr val="000000"/>
                  </a:solidFill>
                </a:uFill>
                <a:latin typeface="Calibri"/>
                <a:cs typeface="Calibri"/>
              </a:rPr>
              <a:t>VIEW</a:t>
            </a:r>
            <a:endParaRPr sz="1200">
              <a:latin typeface="Calibri"/>
              <a:cs typeface="Calibri"/>
            </a:endParaRPr>
          </a:p>
        </p:txBody>
      </p:sp>
      <p:pic>
        <p:nvPicPr>
          <p:cNvPr id="11" name="object 22">
            <a:extLst>
              <a:ext uri="{FF2B5EF4-FFF2-40B4-BE49-F238E27FC236}">
                <a16:creationId xmlns:a16="http://schemas.microsoft.com/office/drawing/2014/main" id="{0CE5227B-A571-09B2-4F4B-F375093A19D2}"/>
              </a:ext>
            </a:extLst>
          </p:cNvPr>
          <p:cNvPicPr/>
          <p:nvPr/>
        </p:nvPicPr>
        <p:blipFill>
          <a:blip r:embed="rId2" cstate="print"/>
          <a:stretch>
            <a:fillRect/>
          </a:stretch>
        </p:blipFill>
        <p:spPr>
          <a:xfrm>
            <a:off x="1132848" y="3240016"/>
            <a:ext cx="112794" cy="114265"/>
          </a:xfrm>
          <a:prstGeom prst="rect">
            <a:avLst/>
          </a:prstGeom>
        </p:spPr>
      </p:pic>
      <p:sp>
        <p:nvSpPr>
          <p:cNvPr id="12" name="직사각형 11">
            <a:extLst>
              <a:ext uri="{FF2B5EF4-FFF2-40B4-BE49-F238E27FC236}">
                <a16:creationId xmlns:a16="http://schemas.microsoft.com/office/drawing/2014/main" id="{1556A332-35A8-6F44-50F5-C30E893B21D9}"/>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13" name="TextBox 4533">
            <a:extLst>
              <a:ext uri="{FF2B5EF4-FFF2-40B4-BE49-F238E27FC236}">
                <a16:creationId xmlns:a16="http://schemas.microsoft.com/office/drawing/2014/main" id="{CC001D79-D1A1-442D-5944-6BA290B66D87}"/>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a:latin typeface="Arial" panose="020B0604020202020204" pitchFamily="34" charset="0"/>
                <a:cs typeface="Arial" panose="020B0604020202020204" pitchFamily="34" charset="0"/>
              </a:rPr>
              <a:t>&lt; JSICAT marking &gt;</a:t>
            </a:r>
            <a:endParaRPr lang="ko-KR" altLang="en-US" sz="1200" b="1">
              <a:latin typeface="Arial" panose="020B0604020202020204" pitchFamily="34" charset="0"/>
              <a:cs typeface="Arial" panose="020B0604020202020204" pitchFamily="34" charset="0"/>
            </a:endParaRPr>
          </a:p>
        </p:txBody>
      </p:sp>
      <p:sp>
        <p:nvSpPr>
          <p:cNvPr id="16" name="object 24">
            <a:extLst>
              <a:ext uri="{FF2B5EF4-FFF2-40B4-BE49-F238E27FC236}">
                <a16:creationId xmlns:a16="http://schemas.microsoft.com/office/drawing/2014/main" id="{E996B980-F853-794C-874D-73F1F78364A5}"/>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a:latin typeface="Arial" panose="020B0604020202020204" pitchFamily="34" charset="0"/>
                <a:cs typeface="Arial" panose="020B0604020202020204" pitchFamily="34" charset="0"/>
              </a:rPr>
              <a:t>Fix. Code </a:t>
            </a:r>
            <a:r>
              <a:rPr sz="1200" b="1">
                <a:latin typeface="Arial" panose="020B0604020202020204" pitchFamily="34" charset="0"/>
                <a:cs typeface="Arial" panose="020B0604020202020204" pitchFamily="34" charset="0"/>
              </a:rPr>
              <a:t>IC</a:t>
            </a:r>
            <a:r>
              <a:rPr sz="1200" b="1" spc="-20">
                <a:latin typeface="Arial" panose="020B0604020202020204" pitchFamily="34" charset="0"/>
                <a:cs typeface="Arial" panose="020B0604020202020204" pitchFamily="34" charset="0"/>
              </a:rPr>
              <a:t> </a:t>
            </a:r>
            <a:r>
              <a:rPr sz="1200" b="1">
                <a:latin typeface="Arial" panose="020B0604020202020204" pitchFamily="34" charset="0"/>
                <a:cs typeface="Arial" panose="020B0604020202020204" pitchFamily="34" charset="0"/>
              </a:rPr>
              <a:t>Part</a:t>
            </a:r>
            <a:r>
              <a:rPr sz="1200" b="1" spc="-25">
                <a:latin typeface="Arial" panose="020B0604020202020204" pitchFamily="34" charset="0"/>
                <a:cs typeface="Arial" panose="020B0604020202020204" pitchFamily="34" charset="0"/>
              </a:rPr>
              <a:t> </a:t>
            </a:r>
            <a:r>
              <a:rPr sz="1200" b="1" spc="-20">
                <a:latin typeface="Arial" panose="020B0604020202020204" pitchFamily="34" charset="0"/>
                <a:cs typeface="Arial" panose="020B0604020202020204" pitchFamily="34" charset="0"/>
              </a:rPr>
              <a:t>Name</a:t>
            </a:r>
            <a:r>
              <a:rPr lang="en-US" sz="1200" b="1" spc="-20">
                <a:latin typeface="Arial" panose="020B0604020202020204" pitchFamily="34" charset="0"/>
                <a:cs typeface="Arial" panose="020B0604020202020204" pitchFamily="34" charset="0"/>
              </a:rPr>
              <a:t>: </a:t>
            </a:r>
            <a:r>
              <a:rPr lang="en-US" altLang="ko-KR" sz="1200" b="1">
                <a:latin typeface="Arial" panose="020B0604020202020204" pitchFamily="34" charset="0"/>
                <a:cs typeface="Arial" panose="020B0604020202020204" pitchFamily="34" charset="0"/>
              </a:rPr>
              <a:t>ID601</a:t>
            </a:r>
          </a:p>
          <a:p>
            <a:pPr marL="228600" indent="-228600">
              <a:lnSpc>
                <a:spcPct val="100000"/>
              </a:lnSpc>
              <a:spcBef>
                <a:spcPts val="100"/>
              </a:spcBef>
              <a:buAutoNum type="arabicParenBoth"/>
            </a:pPr>
            <a:endParaRPr lang="en-US" sz="1200" b="1">
              <a:latin typeface="Arial" panose="020B0604020202020204" pitchFamily="34" charset="0"/>
              <a:cs typeface="Arial" panose="020B0604020202020204" pitchFamily="34" charset="0"/>
            </a:endParaRPr>
          </a:p>
        </p:txBody>
      </p:sp>
      <p:sp>
        <p:nvSpPr>
          <p:cNvPr id="17" name="object 18">
            <a:extLst>
              <a:ext uri="{FF2B5EF4-FFF2-40B4-BE49-F238E27FC236}">
                <a16:creationId xmlns:a16="http://schemas.microsoft.com/office/drawing/2014/main" id="{C5C9FC67-1159-5AE6-F234-89CDD8327672}"/>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a:uFill>
                  <a:solidFill>
                    <a:srgbClr val="000000"/>
                  </a:solidFill>
                </a:uFill>
                <a:latin typeface="Calibri"/>
                <a:cs typeface="Calibri"/>
              </a:rPr>
              <a:t>TOP</a:t>
            </a:r>
            <a:r>
              <a:rPr sz="1200" spc="-70">
                <a:uFill>
                  <a:solidFill>
                    <a:srgbClr val="000000"/>
                  </a:solidFill>
                </a:uFill>
                <a:latin typeface="Calibri"/>
                <a:cs typeface="Calibri"/>
              </a:rPr>
              <a:t> </a:t>
            </a:r>
            <a:r>
              <a:rPr sz="1200" spc="-20">
                <a:uFill>
                  <a:solidFill>
                    <a:srgbClr val="000000"/>
                  </a:solidFill>
                </a:uFill>
                <a:latin typeface="Calibri"/>
                <a:cs typeface="Calibri"/>
              </a:rPr>
              <a:t>VIEW</a:t>
            </a:r>
            <a:endParaRPr sz="1200">
              <a:latin typeface="Calibri"/>
              <a:cs typeface="Calibri"/>
            </a:endParaRPr>
          </a:p>
        </p:txBody>
      </p:sp>
      <p:sp>
        <p:nvSpPr>
          <p:cNvPr id="23" name="object 129">
            <a:extLst>
              <a:ext uri="{FF2B5EF4-FFF2-40B4-BE49-F238E27FC236}">
                <a16:creationId xmlns:a16="http://schemas.microsoft.com/office/drawing/2014/main" id="{F65FF5E3-7B17-3B46-F779-1F71D4FF6688}"/>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7B5CD0C-EAD2-6604-C4BC-72A33BA8B541}"/>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a:latin typeface="Arial" panose="020B0604020202020204" pitchFamily="34" charset="0"/>
                <a:cs typeface="Arial" panose="020B0604020202020204" pitchFamily="34" charset="0"/>
              </a:rPr>
              <a:t>&lt; SEMTECH marking &gt;</a:t>
            </a:r>
            <a:endParaRPr lang="ko-KR" altLang="en-US" sz="1200" b="1">
              <a:latin typeface="Arial" panose="020B0604020202020204" pitchFamily="34" charset="0"/>
              <a:cs typeface="Arial" panose="020B0604020202020204" pitchFamily="34" charset="0"/>
            </a:endParaRPr>
          </a:p>
        </p:txBody>
      </p:sp>
      <p:pic>
        <p:nvPicPr>
          <p:cNvPr id="26" name="table">
            <a:extLst>
              <a:ext uri="{FF2B5EF4-FFF2-40B4-BE49-F238E27FC236}">
                <a16:creationId xmlns:a16="http://schemas.microsoft.com/office/drawing/2014/main" id="{66BC9CC0-058C-8BB9-92E0-6D49D605E234}"/>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27" name="object 24">
            <a:extLst>
              <a:ext uri="{FF2B5EF4-FFF2-40B4-BE49-F238E27FC236}">
                <a16:creationId xmlns:a16="http://schemas.microsoft.com/office/drawing/2014/main" id="{B8C4C618-F652-BB4E-73FA-4842206501A7}"/>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a:latin typeface="Arial" panose="020B0604020202020204" pitchFamily="34" charset="0"/>
                <a:cs typeface="Arial" panose="020B0604020202020204" pitchFamily="34" charset="0"/>
              </a:rPr>
              <a:t>Package Drawings </a:t>
            </a:r>
            <a:r>
              <a:rPr sz="1200" b="1">
                <a:latin typeface="Arial" panose="020B0604020202020204" pitchFamily="34" charset="0"/>
                <a:cs typeface="Arial" panose="020B0604020202020204" pitchFamily="34" charset="0"/>
              </a:rPr>
              <a:t>Marking</a:t>
            </a:r>
            <a:r>
              <a:rPr lang="en-US" sz="1200" b="1" spc="-30">
                <a:latin typeface="Arial" panose="020B0604020202020204" pitchFamily="34" charset="0"/>
                <a:cs typeface="Arial" panose="020B0604020202020204" pitchFamily="34" charset="0"/>
              </a:rPr>
              <a:t>s</a:t>
            </a:r>
            <a:endParaRPr sz="1200" b="1">
              <a:latin typeface="Arial" panose="020B0604020202020204" pitchFamily="34" charset="0"/>
              <a:cs typeface="Arial" panose="020B0604020202020204" pitchFamily="34" charset="0"/>
            </a:endParaRPr>
          </a:p>
        </p:txBody>
      </p:sp>
      <p:sp>
        <p:nvSpPr>
          <p:cNvPr id="28" name="object 24">
            <a:extLst>
              <a:ext uri="{FF2B5EF4-FFF2-40B4-BE49-F238E27FC236}">
                <a16:creationId xmlns:a16="http://schemas.microsoft.com/office/drawing/2014/main" id="{AFB7E21E-2AAC-B43C-506E-7C95A8426BCC}"/>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a:latin typeface="Arial" panose="020B0604020202020204" pitchFamily="34" charset="0"/>
                <a:cs typeface="Arial" panose="020B0604020202020204" pitchFamily="34" charset="0"/>
              </a:rPr>
              <a:t>Assembly production Code : </a:t>
            </a:r>
            <a:r>
              <a:rPr lang="en-US" sz="1200" b="1" spc="-20">
                <a:latin typeface="Arial" panose="020B0604020202020204" pitchFamily="34" charset="0"/>
                <a:cs typeface="Arial" panose="020B0604020202020204" pitchFamily="34" charset="0"/>
              </a:rPr>
              <a:t> </a:t>
            </a:r>
            <a:r>
              <a:rPr lang="en-US" altLang="ko-KR" sz="1050" b="1">
                <a:latin typeface="Arial" panose="020B0604020202020204" pitchFamily="34" charset="0"/>
                <a:cs typeface="Arial" panose="020B0604020202020204" pitchFamily="34" charset="0"/>
              </a:rPr>
              <a:t>CBA2J, CBA2S</a:t>
            </a:r>
            <a:endParaRPr sz="1200" b="1">
              <a:latin typeface="Arial" panose="020B0604020202020204" pitchFamily="34" charset="0"/>
              <a:cs typeface="Arial" panose="020B0604020202020204" pitchFamily="34" charset="0"/>
            </a:endParaRPr>
          </a:p>
        </p:txBody>
      </p:sp>
      <p:sp>
        <p:nvSpPr>
          <p:cNvPr id="29" name="object 10">
            <a:extLst>
              <a:ext uri="{FF2B5EF4-FFF2-40B4-BE49-F238E27FC236}">
                <a16:creationId xmlns:a16="http://schemas.microsoft.com/office/drawing/2014/main" id="{55A2B9E1-4682-35E9-EA06-6762BDD373DC}"/>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a:latin typeface="Arial"/>
                <a:cs typeface="Arial"/>
              </a:rPr>
              <a:t>Y</a:t>
            </a:r>
            <a:r>
              <a:rPr sz="900" spc="15">
                <a:latin typeface="Arial"/>
                <a:cs typeface="Arial"/>
              </a:rPr>
              <a:t> </a:t>
            </a:r>
            <a:r>
              <a:rPr sz="900">
                <a:latin typeface="Arial"/>
                <a:cs typeface="Arial"/>
              </a:rPr>
              <a:t>→</a:t>
            </a:r>
            <a:r>
              <a:rPr sz="900" spc="20">
                <a:latin typeface="Arial"/>
                <a:cs typeface="Arial"/>
              </a:rPr>
              <a:t> </a:t>
            </a:r>
            <a:r>
              <a:rPr sz="900">
                <a:latin typeface="Arial"/>
                <a:cs typeface="Arial"/>
              </a:rPr>
              <a:t>Year</a:t>
            </a:r>
            <a:r>
              <a:rPr sz="900" spc="35">
                <a:latin typeface="Arial"/>
                <a:cs typeface="Arial"/>
              </a:rPr>
              <a:t> </a:t>
            </a:r>
            <a:r>
              <a:rPr sz="900" spc="-20">
                <a:latin typeface="Arial"/>
                <a:cs typeface="Arial"/>
              </a:rPr>
              <a:t>code</a:t>
            </a:r>
            <a:endParaRPr sz="900">
              <a:latin typeface="Arial"/>
              <a:cs typeface="Arial"/>
            </a:endParaRPr>
          </a:p>
        </p:txBody>
      </p:sp>
      <p:pic>
        <p:nvPicPr>
          <p:cNvPr id="30" name="table">
            <a:extLst>
              <a:ext uri="{FF2B5EF4-FFF2-40B4-BE49-F238E27FC236}">
                <a16:creationId xmlns:a16="http://schemas.microsoft.com/office/drawing/2014/main" id="{FCC911A6-1F34-EA5F-F15D-53E9E29C4AD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31" name="object 11">
            <a:extLst>
              <a:ext uri="{FF2B5EF4-FFF2-40B4-BE49-F238E27FC236}">
                <a16:creationId xmlns:a16="http://schemas.microsoft.com/office/drawing/2014/main" id="{213F4525-79B8-B631-CEAB-6DC851FA925D}"/>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a:latin typeface="Arial"/>
                <a:cs typeface="Arial"/>
              </a:rPr>
              <a:t>W</a:t>
            </a:r>
            <a:r>
              <a:rPr sz="900" spc="25">
                <a:latin typeface="Arial"/>
                <a:cs typeface="Arial"/>
              </a:rPr>
              <a:t> </a:t>
            </a:r>
            <a:r>
              <a:rPr sz="900">
                <a:latin typeface="Arial"/>
                <a:cs typeface="Arial"/>
              </a:rPr>
              <a:t>→</a:t>
            </a:r>
            <a:r>
              <a:rPr sz="900" spc="20">
                <a:latin typeface="Arial"/>
                <a:cs typeface="Arial"/>
              </a:rPr>
              <a:t> </a:t>
            </a:r>
            <a:r>
              <a:rPr sz="900">
                <a:latin typeface="Arial"/>
                <a:cs typeface="Arial"/>
              </a:rPr>
              <a:t>Week</a:t>
            </a:r>
            <a:r>
              <a:rPr sz="900" spc="5">
                <a:latin typeface="Arial"/>
                <a:cs typeface="Arial"/>
              </a:rPr>
              <a:t> </a:t>
            </a:r>
            <a:r>
              <a:rPr sz="900">
                <a:latin typeface="Arial"/>
                <a:cs typeface="Arial"/>
              </a:rPr>
              <a:t>code</a:t>
            </a:r>
            <a:r>
              <a:rPr sz="900" spc="295">
                <a:latin typeface="Arial"/>
                <a:cs typeface="Arial"/>
              </a:rPr>
              <a:t> </a:t>
            </a:r>
            <a:r>
              <a:rPr sz="900">
                <a:latin typeface="Arial"/>
                <a:cs typeface="Arial"/>
              </a:rPr>
              <a:t>,</a:t>
            </a:r>
            <a:r>
              <a:rPr sz="900" spc="325">
                <a:latin typeface="Arial"/>
                <a:cs typeface="Arial"/>
              </a:rPr>
              <a:t> </a:t>
            </a:r>
            <a:r>
              <a:rPr sz="900">
                <a:latin typeface="Arial"/>
                <a:cs typeface="Arial"/>
              </a:rPr>
              <a:t>A=W1,</a:t>
            </a:r>
            <a:r>
              <a:rPr sz="900" spc="160">
                <a:latin typeface="Arial"/>
                <a:cs typeface="Arial"/>
              </a:rPr>
              <a:t>  </a:t>
            </a:r>
            <a:r>
              <a:rPr sz="900" spc="-10">
                <a:latin typeface="Arial"/>
                <a:cs typeface="Arial"/>
              </a:rPr>
              <a:t>B=W2,….</a:t>
            </a:r>
            <a:endParaRPr sz="900">
              <a:latin typeface="Arial"/>
              <a:cs typeface="Arial"/>
            </a:endParaRPr>
          </a:p>
        </p:txBody>
      </p:sp>
      <p:pic>
        <p:nvPicPr>
          <p:cNvPr id="32" name="table">
            <a:extLst>
              <a:ext uri="{FF2B5EF4-FFF2-40B4-BE49-F238E27FC236}">
                <a16:creationId xmlns:a16="http://schemas.microsoft.com/office/drawing/2014/main" id="{71038246-63FF-415D-D2A4-6D746EC5E80A}"/>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33" name="object 12">
            <a:extLst>
              <a:ext uri="{FF2B5EF4-FFF2-40B4-BE49-F238E27FC236}">
                <a16:creationId xmlns:a16="http://schemas.microsoft.com/office/drawing/2014/main" id="{1399378C-C48A-C920-4FC9-0ED5D99B9424}"/>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a:latin typeface="Arial"/>
                <a:cs typeface="Arial"/>
              </a:rPr>
              <a:t>C</a:t>
            </a:r>
            <a:r>
              <a:rPr sz="900" spc="25">
                <a:latin typeface="Arial"/>
                <a:cs typeface="Arial"/>
              </a:rPr>
              <a:t> </a:t>
            </a:r>
            <a:r>
              <a:rPr sz="900">
                <a:latin typeface="Arial"/>
                <a:cs typeface="Arial"/>
              </a:rPr>
              <a:t>→</a:t>
            </a:r>
            <a:r>
              <a:rPr sz="900" spc="25">
                <a:latin typeface="Arial"/>
                <a:cs typeface="Arial"/>
              </a:rPr>
              <a:t> </a:t>
            </a:r>
            <a:r>
              <a:rPr sz="900">
                <a:latin typeface="Arial"/>
                <a:cs typeface="Arial"/>
              </a:rPr>
              <a:t>Wafer lot,</a:t>
            </a:r>
            <a:r>
              <a:rPr sz="900" spc="180">
                <a:latin typeface="Arial"/>
                <a:cs typeface="Arial"/>
              </a:rPr>
              <a:t>  </a:t>
            </a:r>
            <a:r>
              <a:rPr sz="900">
                <a:latin typeface="Arial"/>
                <a:cs typeface="Arial"/>
              </a:rPr>
              <a:t>Each</a:t>
            </a:r>
            <a:r>
              <a:rPr sz="900" spc="35">
                <a:latin typeface="Arial"/>
                <a:cs typeface="Arial"/>
              </a:rPr>
              <a:t> </a:t>
            </a:r>
            <a:r>
              <a:rPr sz="900">
                <a:latin typeface="Arial"/>
                <a:cs typeface="Arial"/>
              </a:rPr>
              <a:t>wafer</a:t>
            </a:r>
            <a:r>
              <a:rPr sz="900" spc="25">
                <a:latin typeface="Arial"/>
                <a:cs typeface="Arial"/>
              </a:rPr>
              <a:t> </a:t>
            </a:r>
            <a:r>
              <a:rPr sz="900">
                <a:latin typeface="Arial"/>
                <a:cs typeface="Arial"/>
              </a:rPr>
              <a:t>Lot</a:t>
            </a:r>
            <a:r>
              <a:rPr sz="900" spc="30">
                <a:latin typeface="Arial"/>
                <a:cs typeface="Arial"/>
              </a:rPr>
              <a:t> </a:t>
            </a:r>
            <a:r>
              <a:rPr sz="900">
                <a:latin typeface="Arial"/>
                <a:cs typeface="Arial"/>
              </a:rPr>
              <a:t>is</a:t>
            </a:r>
            <a:r>
              <a:rPr sz="900" spc="30">
                <a:latin typeface="Arial"/>
                <a:cs typeface="Arial"/>
              </a:rPr>
              <a:t> </a:t>
            </a:r>
            <a:r>
              <a:rPr sz="900">
                <a:latin typeface="Arial"/>
                <a:cs typeface="Arial"/>
              </a:rPr>
              <a:t>represented</a:t>
            </a:r>
            <a:r>
              <a:rPr sz="900" spc="25">
                <a:latin typeface="Arial"/>
                <a:cs typeface="Arial"/>
              </a:rPr>
              <a:t> </a:t>
            </a:r>
            <a:r>
              <a:rPr sz="900">
                <a:latin typeface="Arial"/>
                <a:cs typeface="Arial"/>
              </a:rPr>
              <a:t>by</a:t>
            </a:r>
            <a:r>
              <a:rPr sz="900" spc="30">
                <a:latin typeface="Arial"/>
                <a:cs typeface="Arial"/>
              </a:rPr>
              <a:t> </a:t>
            </a:r>
            <a:r>
              <a:rPr sz="900">
                <a:latin typeface="Arial"/>
                <a:cs typeface="Arial"/>
              </a:rPr>
              <a:t>a</a:t>
            </a:r>
            <a:r>
              <a:rPr sz="900" spc="35">
                <a:latin typeface="Arial"/>
                <a:cs typeface="Arial"/>
              </a:rPr>
              <a:t> </a:t>
            </a:r>
            <a:r>
              <a:rPr sz="900">
                <a:latin typeface="Arial"/>
                <a:cs typeface="Arial"/>
              </a:rPr>
              <a:t>character</a:t>
            </a:r>
            <a:r>
              <a:rPr sz="900" spc="15">
                <a:latin typeface="Arial"/>
                <a:cs typeface="Arial"/>
              </a:rPr>
              <a:t> </a:t>
            </a:r>
            <a:r>
              <a:rPr sz="900">
                <a:latin typeface="Arial"/>
                <a:cs typeface="Arial"/>
              </a:rPr>
              <a:t>(Ex:</a:t>
            </a:r>
            <a:r>
              <a:rPr sz="900" spc="65">
                <a:latin typeface="Arial"/>
                <a:cs typeface="Arial"/>
              </a:rPr>
              <a:t> </a:t>
            </a:r>
            <a:r>
              <a:rPr sz="900">
                <a:latin typeface="Arial"/>
                <a:cs typeface="Arial"/>
              </a:rPr>
              <a:t>A,</a:t>
            </a:r>
            <a:r>
              <a:rPr sz="900" spc="30">
                <a:latin typeface="Arial"/>
                <a:cs typeface="Arial"/>
              </a:rPr>
              <a:t> </a:t>
            </a:r>
            <a:r>
              <a:rPr sz="900">
                <a:latin typeface="Arial"/>
                <a:cs typeface="Arial"/>
              </a:rPr>
              <a:t>B,</a:t>
            </a:r>
            <a:r>
              <a:rPr sz="900" spc="45">
                <a:latin typeface="Arial"/>
                <a:cs typeface="Arial"/>
              </a:rPr>
              <a:t> </a:t>
            </a:r>
            <a:r>
              <a:rPr sz="900">
                <a:latin typeface="Arial"/>
                <a:cs typeface="Arial"/>
              </a:rPr>
              <a:t>C,</a:t>
            </a:r>
            <a:r>
              <a:rPr sz="900" spc="30">
                <a:latin typeface="Arial"/>
                <a:cs typeface="Arial"/>
              </a:rPr>
              <a:t> </a:t>
            </a:r>
            <a:r>
              <a:rPr sz="900" spc="-25">
                <a:latin typeface="Arial"/>
                <a:cs typeface="Arial"/>
              </a:rPr>
              <a:t>…).</a:t>
            </a:r>
            <a:endParaRPr sz="900">
              <a:latin typeface="Arial"/>
              <a:cs typeface="Arial"/>
            </a:endParaRPr>
          </a:p>
          <a:p>
            <a:pPr marL="266700">
              <a:lnSpc>
                <a:spcPct val="100000"/>
              </a:lnSpc>
              <a:spcBef>
                <a:spcPts val="20"/>
              </a:spcBef>
            </a:pPr>
            <a:r>
              <a:rPr sz="900">
                <a:latin typeface="Arial"/>
                <a:cs typeface="Arial"/>
              </a:rPr>
              <a:t>These</a:t>
            </a:r>
            <a:r>
              <a:rPr sz="900" spc="30">
                <a:latin typeface="Arial"/>
                <a:cs typeface="Arial"/>
              </a:rPr>
              <a:t> </a:t>
            </a:r>
            <a:r>
              <a:rPr sz="900">
                <a:latin typeface="Arial"/>
                <a:cs typeface="Arial"/>
              </a:rPr>
              <a:t>character</a:t>
            </a:r>
            <a:r>
              <a:rPr sz="900" spc="50">
                <a:latin typeface="Arial"/>
                <a:cs typeface="Arial"/>
              </a:rPr>
              <a:t> </a:t>
            </a:r>
            <a:r>
              <a:rPr sz="900">
                <a:latin typeface="Arial"/>
                <a:cs typeface="Arial"/>
              </a:rPr>
              <a:t>cycle</a:t>
            </a:r>
            <a:r>
              <a:rPr sz="900" spc="65">
                <a:latin typeface="Arial"/>
                <a:cs typeface="Arial"/>
              </a:rPr>
              <a:t> </a:t>
            </a:r>
            <a:r>
              <a:rPr sz="900">
                <a:latin typeface="Arial"/>
                <a:cs typeface="Arial"/>
              </a:rPr>
              <a:t>once</a:t>
            </a:r>
            <a:r>
              <a:rPr sz="900" spc="30">
                <a:latin typeface="Arial"/>
                <a:cs typeface="Arial"/>
              </a:rPr>
              <a:t> </a:t>
            </a:r>
            <a:r>
              <a:rPr sz="900">
                <a:latin typeface="Arial"/>
                <a:cs typeface="Arial"/>
              </a:rPr>
              <a:t>a</a:t>
            </a:r>
            <a:r>
              <a:rPr sz="900" spc="65">
                <a:latin typeface="Arial"/>
                <a:cs typeface="Arial"/>
              </a:rPr>
              <a:t> </a:t>
            </a:r>
            <a:r>
              <a:rPr sz="900" spc="-20">
                <a:latin typeface="Arial"/>
                <a:cs typeface="Arial"/>
              </a:rPr>
              <a:t>week.</a:t>
            </a:r>
            <a:endParaRPr sz="900">
              <a:latin typeface="Arial"/>
              <a:cs typeface="Arial"/>
            </a:endParaRPr>
          </a:p>
        </p:txBody>
      </p:sp>
      <p:pic>
        <p:nvPicPr>
          <p:cNvPr id="34" name="table">
            <a:extLst>
              <a:ext uri="{FF2B5EF4-FFF2-40B4-BE49-F238E27FC236}">
                <a16:creationId xmlns:a16="http://schemas.microsoft.com/office/drawing/2014/main" id="{8D624E6D-FB73-C73B-ECCC-EF82C886FD9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35" name="object 13">
            <a:extLst>
              <a:ext uri="{FF2B5EF4-FFF2-40B4-BE49-F238E27FC236}">
                <a16:creationId xmlns:a16="http://schemas.microsoft.com/office/drawing/2014/main" id="{A5E0E8C9-1A2D-ACDE-7F09-03B296118479}"/>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a:latin typeface="Arial"/>
                <a:cs typeface="Arial"/>
              </a:rPr>
              <a:t>D</a:t>
            </a:r>
            <a:r>
              <a:rPr sz="900" spc="30">
                <a:latin typeface="Arial"/>
                <a:cs typeface="Arial"/>
              </a:rPr>
              <a:t> </a:t>
            </a:r>
            <a:r>
              <a:rPr sz="900">
                <a:latin typeface="Arial"/>
                <a:cs typeface="Arial"/>
              </a:rPr>
              <a:t>→</a:t>
            </a:r>
            <a:r>
              <a:rPr sz="900" spc="30">
                <a:latin typeface="Arial"/>
                <a:cs typeface="Arial"/>
              </a:rPr>
              <a:t> </a:t>
            </a:r>
            <a:r>
              <a:rPr lang="en-US" sz="900" spc="30">
                <a:latin typeface="Arial"/>
                <a:cs typeface="Arial"/>
              </a:rPr>
              <a:t>Traceability Code </a:t>
            </a:r>
            <a:r>
              <a:rPr sz="900">
                <a:latin typeface="Arial"/>
                <a:cs typeface="Arial"/>
              </a:rPr>
              <a:t>Wafer</a:t>
            </a:r>
            <a:r>
              <a:rPr sz="900" spc="5">
                <a:latin typeface="Arial"/>
                <a:cs typeface="Arial"/>
              </a:rPr>
              <a:t> </a:t>
            </a:r>
            <a:r>
              <a:rPr sz="900">
                <a:latin typeface="Arial"/>
                <a:cs typeface="Arial"/>
              </a:rPr>
              <a:t>lot</a:t>
            </a:r>
            <a:r>
              <a:rPr sz="900" spc="35">
                <a:latin typeface="Arial"/>
                <a:cs typeface="Arial"/>
              </a:rPr>
              <a:t> </a:t>
            </a:r>
            <a:r>
              <a:rPr sz="900">
                <a:latin typeface="Arial"/>
                <a:cs typeface="Arial"/>
              </a:rPr>
              <a:t>NO.</a:t>
            </a:r>
            <a:r>
              <a:rPr sz="900" spc="315">
                <a:latin typeface="Arial"/>
                <a:cs typeface="Arial"/>
              </a:rPr>
              <a:t> </a:t>
            </a:r>
            <a:r>
              <a:rPr sz="900">
                <a:latin typeface="Arial"/>
                <a:cs typeface="Arial"/>
              </a:rPr>
              <a:t>:</a:t>
            </a:r>
            <a:r>
              <a:rPr sz="900" spc="50">
                <a:latin typeface="Arial"/>
                <a:cs typeface="Arial"/>
              </a:rPr>
              <a:t> </a:t>
            </a:r>
            <a:endParaRPr lang="en-US" sz="900" spc="50">
              <a:latin typeface="Arial"/>
              <a:cs typeface="Arial"/>
            </a:endParaRPr>
          </a:p>
          <a:p>
            <a:pPr marL="182563" indent="84138">
              <a:lnSpc>
                <a:spcPct val="100000"/>
              </a:lnSpc>
              <a:spcBef>
                <a:spcPts val="125"/>
              </a:spcBef>
            </a:pPr>
            <a:r>
              <a:rPr sz="900">
                <a:latin typeface="Arial"/>
                <a:cs typeface="Arial"/>
              </a:rPr>
              <a:t>A</a:t>
            </a:r>
            <a:r>
              <a:rPr sz="900" spc="35">
                <a:latin typeface="Arial"/>
                <a:cs typeface="Arial"/>
              </a:rPr>
              <a:t> </a:t>
            </a:r>
            <a:r>
              <a:rPr sz="900">
                <a:latin typeface="Arial"/>
                <a:cs typeface="Arial"/>
              </a:rPr>
              <a:t>big</a:t>
            </a:r>
            <a:r>
              <a:rPr sz="900" spc="30">
                <a:latin typeface="Arial"/>
                <a:cs typeface="Arial"/>
              </a:rPr>
              <a:t> </a:t>
            </a:r>
            <a:r>
              <a:rPr sz="900">
                <a:latin typeface="Arial"/>
                <a:cs typeface="Arial"/>
              </a:rPr>
              <a:t>assembly</a:t>
            </a:r>
            <a:r>
              <a:rPr sz="900" spc="10">
                <a:latin typeface="Arial"/>
                <a:cs typeface="Arial"/>
              </a:rPr>
              <a:t> </a:t>
            </a:r>
            <a:r>
              <a:rPr sz="900">
                <a:latin typeface="Arial"/>
                <a:cs typeface="Arial"/>
              </a:rPr>
              <a:t>Lot</a:t>
            </a:r>
            <a:r>
              <a:rPr sz="900" spc="35">
                <a:latin typeface="Arial"/>
                <a:cs typeface="Arial"/>
              </a:rPr>
              <a:t> </a:t>
            </a:r>
            <a:r>
              <a:rPr sz="900">
                <a:latin typeface="Arial"/>
                <a:cs typeface="Arial"/>
              </a:rPr>
              <a:t>consists</a:t>
            </a:r>
            <a:r>
              <a:rPr sz="900" spc="15">
                <a:latin typeface="Arial"/>
                <a:cs typeface="Arial"/>
              </a:rPr>
              <a:t> </a:t>
            </a:r>
            <a:r>
              <a:rPr sz="900">
                <a:latin typeface="Arial"/>
                <a:cs typeface="Arial"/>
              </a:rPr>
              <a:t>of</a:t>
            </a:r>
            <a:r>
              <a:rPr sz="900" spc="50">
                <a:latin typeface="Arial"/>
                <a:cs typeface="Arial"/>
              </a:rPr>
              <a:t> </a:t>
            </a:r>
            <a:r>
              <a:rPr sz="900">
                <a:latin typeface="Arial"/>
                <a:cs typeface="Arial"/>
              </a:rPr>
              <a:t>three</a:t>
            </a:r>
            <a:r>
              <a:rPr sz="900" spc="45">
                <a:latin typeface="Arial"/>
                <a:cs typeface="Arial"/>
              </a:rPr>
              <a:t> </a:t>
            </a:r>
            <a:r>
              <a:rPr sz="900">
                <a:latin typeface="Arial"/>
                <a:cs typeface="Arial"/>
              </a:rPr>
              <a:t>wafers.</a:t>
            </a:r>
            <a:r>
              <a:rPr sz="900" spc="315">
                <a:latin typeface="Arial"/>
                <a:cs typeface="Arial"/>
              </a:rPr>
              <a:t> </a:t>
            </a:r>
            <a:r>
              <a:rPr sz="900">
                <a:latin typeface="Arial"/>
                <a:cs typeface="Arial"/>
              </a:rPr>
              <a:t>Each</a:t>
            </a:r>
            <a:r>
              <a:rPr sz="900" spc="35">
                <a:latin typeface="Arial"/>
                <a:cs typeface="Arial"/>
              </a:rPr>
              <a:t> </a:t>
            </a:r>
            <a:r>
              <a:rPr sz="900">
                <a:latin typeface="Arial"/>
                <a:cs typeface="Arial"/>
              </a:rPr>
              <a:t>big</a:t>
            </a:r>
            <a:r>
              <a:rPr sz="900" spc="30">
                <a:latin typeface="Arial"/>
                <a:cs typeface="Arial"/>
              </a:rPr>
              <a:t> </a:t>
            </a:r>
            <a:r>
              <a:rPr sz="900">
                <a:latin typeface="Arial"/>
                <a:cs typeface="Arial"/>
              </a:rPr>
              <a:t>assembly</a:t>
            </a:r>
            <a:r>
              <a:rPr sz="900" spc="10">
                <a:latin typeface="Arial"/>
                <a:cs typeface="Arial"/>
              </a:rPr>
              <a:t> </a:t>
            </a:r>
            <a:r>
              <a:rPr sz="900" spc="-25">
                <a:latin typeface="Arial"/>
                <a:cs typeface="Arial"/>
              </a:rPr>
              <a:t>Lot</a:t>
            </a:r>
            <a:r>
              <a:rPr lang="en-US" sz="900" spc="-25">
                <a:latin typeface="Arial"/>
                <a:cs typeface="Arial"/>
              </a:rPr>
              <a:t>.</a:t>
            </a:r>
          </a:p>
          <a:p>
            <a:pPr marL="182563" indent="84138">
              <a:lnSpc>
                <a:spcPct val="100000"/>
              </a:lnSpc>
              <a:spcBef>
                <a:spcPts val="125"/>
              </a:spcBef>
            </a:pPr>
            <a:r>
              <a:rPr sz="900">
                <a:latin typeface="Arial"/>
                <a:cs typeface="Arial"/>
              </a:rPr>
              <a:t>Lot</a:t>
            </a:r>
            <a:r>
              <a:rPr sz="900" spc="40">
                <a:latin typeface="Arial"/>
                <a:cs typeface="Arial"/>
              </a:rPr>
              <a:t> </a:t>
            </a:r>
            <a:r>
              <a:rPr sz="900">
                <a:latin typeface="Arial"/>
                <a:cs typeface="Arial"/>
              </a:rPr>
              <a:t>is</a:t>
            </a:r>
            <a:r>
              <a:rPr sz="900" spc="45">
                <a:latin typeface="Arial"/>
                <a:cs typeface="Arial"/>
              </a:rPr>
              <a:t> </a:t>
            </a:r>
            <a:r>
              <a:rPr sz="900">
                <a:latin typeface="Arial"/>
                <a:cs typeface="Arial"/>
              </a:rPr>
              <a:t>represented</a:t>
            </a:r>
            <a:r>
              <a:rPr sz="900" spc="25">
                <a:latin typeface="Arial"/>
                <a:cs typeface="Arial"/>
              </a:rPr>
              <a:t> </a:t>
            </a:r>
            <a:r>
              <a:rPr sz="900">
                <a:latin typeface="Arial"/>
                <a:cs typeface="Arial"/>
              </a:rPr>
              <a:t>by</a:t>
            </a:r>
            <a:r>
              <a:rPr sz="900" spc="60">
                <a:latin typeface="Arial"/>
                <a:cs typeface="Arial"/>
              </a:rPr>
              <a:t> </a:t>
            </a:r>
            <a:r>
              <a:rPr sz="900">
                <a:latin typeface="Arial"/>
                <a:cs typeface="Arial"/>
              </a:rPr>
              <a:t>a</a:t>
            </a:r>
            <a:r>
              <a:rPr sz="900" spc="45">
                <a:latin typeface="Arial"/>
                <a:cs typeface="Arial"/>
              </a:rPr>
              <a:t> </a:t>
            </a:r>
            <a:r>
              <a:rPr sz="900">
                <a:latin typeface="Arial"/>
                <a:cs typeface="Arial"/>
              </a:rPr>
              <a:t>character</a:t>
            </a:r>
            <a:r>
              <a:rPr sz="900" spc="40">
                <a:latin typeface="Arial"/>
                <a:cs typeface="Arial"/>
              </a:rPr>
              <a:t> </a:t>
            </a:r>
            <a:r>
              <a:rPr sz="900">
                <a:latin typeface="Arial"/>
                <a:cs typeface="Arial"/>
              </a:rPr>
              <a:t>(Ex:</a:t>
            </a:r>
            <a:r>
              <a:rPr sz="900" spc="75">
                <a:latin typeface="Arial"/>
                <a:cs typeface="Arial"/>
              </a:rPr>
              <a:t> </a:t>
            </a:r>
            <a:r>
              <a:rPr sz="900" spc="-10">
                <a:latin typeface="Arial"/>
                <a:cs typeface="Arial"/>
              </a:rPr>
              <a:t>1,2,3,…)</a:t>
            </a:r>
            <a:endParaRPr sz="900">
              <a:latin typeface="Arial"/>
              <a:cs typeface="Arial"/>
            </a:endParaRPr>
          </a:p>
        </p:txBody>
      </p:sp>
      <p:pic>
        <p:nvPicPr>
          <p:cNvPr id="36" name="table">
            <a:extLst>
              <a:ext uri="{FF2B5EF4-FFF2-40B4-BE49-F238E27FC236}">
                <a16:creationId xmlns:a16="http://schemas.microsoft.com/office/drawing/2014/main" id="{D8DBD3DE-514B-959F-4572-3776B1C71864}"/>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37" name="object 10">
            <a:extLst>
              <a:ext uri="{FF2B5EF4-FFF2-40B4-BE49-F238E27FC236}">
                <a16:creationId xmlns:a16="http://schemas.microsoft.com/office/drawing/2014/main" id="{3E8515C0-B494-DC40-821B-06E2F8B4F85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a:latin typeface="Arial"/>
                <a:cs typeface="Arial"/>
              </a:rPr>
              <a:t>@</a:t>
            </a:r>
            <a:r>
              <a:rPr sz="900" spc="15">
                <a:latin typeface="Arial"/>
                <a:cs typeface="Arial"/>
              </a:rPr>
              <a:t> </a:t>
            </a:r>
            <a:r>
              <a:rPr sz="900">
                <a:latin typeface="Arial"/>
                <a:cs typeface="Arial"/>
              </a:rPr>
              <a:t>→</a:t>
            </a:r>
            <a:r>
              <a:rPr sz="900" spc="20">
                <a:latin typeface="Arial"/>
                <a:cs typeface="Arial"/>
              </a:rPr>
              <a:t> </a:t>
            </a:r>
            <a:r>
              <a:rPr lang="en-US" sz="900" spc="20">
                <a:latin typeface="Arial"/>
                <a:cs typeface="Arial"/>
              </a:rPr>
              <a:t>Assembly plant</a:t>
            </a:r>
            <a:r>
              <a:rPr sz="900" spc="35">
                <a:latin typeface="Arial"/>
                <a:cs typeface="Arial"/>
              </a:rPr>
              <a:t> </a:t>
            </a:r>
            <a:r>
              <a:rPr sz="900" spc="-20">
                <a:latin typeface="Arial"/>
                <a:cs typeface="Arial"/>
              </a:rPr>
              <a:t>code</a:t>
            </a:r>
            <a:endParaRPr sz="900">
              <a:latin typeface="Arial"/>
              <a:cs typeface="Arial"/>
            </a:endParaRPr>
          </a:p>
        </p:txBody>
      </p:sp>
      <p:pic>
        <p:nvPicPr>
          <p:cNvPr id="39" name="table">
            <a:extLst>
              <a:ext uri="{FF2B5EF4-FFF2-40B4-BE49-F238E27FC236}">
                <a16:creationId xmlns:a16="http://schemas.microsoft.com/office/drawing/2014/main" id="{E14D093B-B4FB-61FE-5CBE-31277BAFB467}"/>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40" name="object 19">
            <a:extLst>
              <a:ext uri="{FF2B5EF4-FFF2-40B4-BE49-F238E27FC236}">
                <a16:creationId xmlns:a16="http://schemas.microsoft.com/office/drawing/2014/main" id="{45F36E72-83B6-63D5-F38E-6209703DE392}"/>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a:latin typeface="Arial" panose="020B0604020202020204" pitchFamily="34" charset="0"/>
                <a:cs typeface="Arial" panose="020B0604020202020204" pitchFamily="34" charset="0"/>
              </a:rPr>
              <a:t>CBA2J</a:t>
            </a:r>
            <a:endParaRPr sz="2000" b="1">
              <a:latin typeface="Arial" panose="020B0604020202020204" pitchFamily="34" charset="0"/>
              <a:cs typeface="Arial" panose="020B0604020202020204" pitchFamily="34" charset="0"/>
            </a:endParaRPr>
          </a:p>
        </p:txBody>
      </p:sp>
      <p:sp>
        <p:nvSpPr>
          <p:cNvPr id="4481" name="object 19">
            <a:extLst>
              <a:ext uri="{FF2B5EF4-FFF2-40B4-BE49-F238E27FC236}">
                <a16:creationId xmlns:a16="http://schemas.microsoft.com/office/drawing/2014/main" id="{B17B671E-B175-AC6F-D055-1ABAEEF09A0A}"/>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a:latin typeface="Arial" panose="020B0604020202020204" pitchFamily="34" charset="0"/>
                <a:cs typeface="Arial" panose="020B0604020202020204" pitchFamily="34" charset="0"/>
              </a:rPr>
              <a:t>ID601</a:t>
            </a:r>
            <a:endParaRPr sz="2800" b="1">
              <a:latin typeface="Arial" panose="020B0604020202020204" pitchFamily="34" charset="0"/>
              <a:cs typeface="Arial" panose="020B0604020202020204" pitchFamily="34" charset="0"/>
            </a:endParaRPr>
          </a:p>
        </p:txBody>
      </p:sp>
      <p:sp>
        <p:nvSpPr>
          <p:cNvPr id="4487" name="object 19">
            <a:extLst>
              <a:ext uri="{FF2B5EF4-FFF2-40B4-BE49-F238E27FC236}">
                <a16:creationId xmlns:a16="http://schemas.microsoft.com/office/drawing/2014/main" id="{B18406A3-FE6F-342C-7B7B-A33020A7C4AE}"/>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a:latin typeface="Arial" panose="020B0604020202020204" pitchFamily="34" charset="0"/>
                <a:cs typeface="Arial" panose="020B0604020202020204" pitchFamily="34" charset="0"/>
              </a:rPr>
              <a:t>AAA</a:t>
            </a:r>
            <a:endParaRPr sz="2000" b="1">
              <a:latin typeface="Arial" panose="020B0604020202020204" pitchFamily="34" charset="0"/>
              <a:cs typeface="Arial" panose="020B0604020202020204" pitchFamily="34" charset="0"/>
            </a:endParaRPr>
          </a:p>
        </p:txBody>
      </p:sp>
      <p:sp>
        <p:nvSpPr>
          <p:cNvPr id="4488" name="직사각형 4487">
            <a:extLst>
              <a:ext uri="{FF2B5EF4-FFF2-40B4-BE49-F238E27FC236}">
                <a16:creationId xmlns:a16="http://schemas.microsoft.com/office/drawing/2014/main" id="{7A34DF5D-975F-BED6-4441-A81892CE8C7A}"/>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4489" name="object 19">
            <a:extLst>
              <a:ext uri="{FF2B5EF4-FFF2-40B4-BE49-F238E27FC236}">
                <a16:creationId xmlns:a16="http://schemas.microsoft.com/office/drawing/2014/main" id="{23BDFFEA-F8F2-7F29-C793-05478120E7BE}"/>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a:latin typeface="Arial" panose="020B0604020202020204" pitchFamily="34" charset="0"/>
                <a:cs typeface="Arial" panose="020B0604020202020204" pitchFamily="34" charset="0"/>
              </a:rPr>
              <a:t>CBA2S</a:t>
            </a:r>
            <a:endParaRPr sz="2000" b="1">
              <a:latin typeface="Arial" panose="020B0604020202020204" pitchFamily="34" charset="0"/>
              <a:cs typeface="Arial" panose="020B0604020202020204" pitchFamily="34" charset="0"/>
            </a:endParaRPr>
          </a:p>
        </p:txBody>
      </p:sp>
      <p:sp>
        <p:nvSpPr>
          <p:cNvPr id="4490" name="object 19">
            <a:extLst>
              <a:ext uri="{FF2B5EF4-FFF2-40B4-BE49-F238E27FC236}">
                <a16:creationId xmlns:a16="http://schemas.microsoft.com/office/drawing/2014/main" id="{A190878D-CC7E-F584-9FF2-9B953FD8987C}"/>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a:latin typeface="Arial" panose="020B0604020202020204" pitchFamily="34" charset="0"/>
                <a:cs typeface="Arial" panose="020B0604020202020204" pitchFamily="34" charset="0"/>
              </a:rPr>
              <a:t>ID601</a:t>
            </a:r>
            <a:endParaRPr sz="2800" b="1">
              <a:latin typeface="Arial" panose="020B0604020202020204" pitchFamily="34" charset="0"/>
              <a:cs typeface="Arial" panose="020B0604020202020204" pitchFamily="34" charset="0"/>
            </a:endParaRPr>
          </a:p>
        </p:txBody>
      </p:sp>
      <p:sp>
        <p:nvSpPr>
          <p:cNvPr id="4491" name="object 19">
            <a:extLst>
              <a:ext uri="{FF2B5EF4-FFF2-40B4-BE49-F238E27FC236}">
                <a16:creationId xmlns:a16="http://schemas.microsoft.com/office/drawing/2014/main" id="{D61AC449-7F39-2F3B-B3C4-77832F08293E}"/>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a:latin typeface="Arial" panose="020B0604020202020204" pitchFamily="34" charset="0"/>
                <a:cs typeface="Arial" panose="020B0604020202020204" pitchFamily="34" charset="0"/>
              </a:rPr>
              <a:t>AAA</a:t>
            </a:r>
            <a:endParaRPr sz="2000" b="1">
              <a:latin typeface="Arial" panose="020B0604020202020204" pitchFamily="34" charset="0"/>
              <a:cs typeface="Arial" panose="020B0604020202020204" pitchFamily="34" charset="0"/>
            </a:endParaRPr>
          </a:p>
        </p:txBody>
      </p:sp>
      <p:pic>
        <p:nvPicPr>
          <p:cNvPr id="4492" name="object 22">
            <a:extLst>
              <a:ext uri="{FF2B5EF4-FFF2-40B4-BE49-F238E27FC236}">
                <a16:creationId xmlns:a16="http://schemas.microsoft.com/office/drawing/2014/main" id="{9A29A23D-F68E-71D2-365E-58AEB206DE66}"/>
              </a:ext>
            </a:extLst>
          </p:cNvPr>
          <p:cNvPicPr/>
          <p:nvPr/>
        </p:nvPicPr>
        <p:blipFill>
          <a:blip r:embed="rId2" cstate="print"/>
          <a:stretch>
            <a:fillRect/>
          </a:stretch>
        </p:blipFill>
        <p:spPr>
          <a:xfrm>
            <a:off x="4366399" y="3240016"/>
            <a:ext cx="112794" cy="114265"/>
          </a:xfrm>
          <a:prstGeom prst="rect">
            <a:avLst/>
          </a:prstGeom>
        </p:spPr>
      </p:pic>
      <p:sp>
        <p:nvSpPr>
          <p:cNvPr id="4493" name="타원 4492">
            <a:extLst>
              <a:ext uri="{FF2B5EF4-FFF2-40B4-BE49-F238E27FC236}">
                <a16:creationId xmlns:a16="http://schemas.microsoft.com/office/drawing/2014/main" id="{E9978263-83DC-E553-A23E-C89E3838B88B}"/>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
        <p:nvSpPr>
          <p:cNvPr id="4494" name="TextBox 4493">
            <a:extLst>
              <a:ext uri="{FF2B5EF4-FFF2-40B4-BE49-F238E27FC236}">
                <a16:creationId xmlns:a16="http://schemas.microsoft.com/office/drawing/2014/main" id="{8659CB91-12FC-31AF-7F65-BCDECFBE73C9}"/>
              </a:ext>
            </a:extLst>
          </p:cNvPr>
          <p:cNvSpPr txBox="1"/>
          <p:nvPr/>
        </p:nvSpPr>
        <p:spPr>
          <a:xfrm>
            <a:off x="2199353" y="5349664"/>
            <a:ext cx="454913" cy="211203"/>
          </a:xfrm>
          <a:prstGeom prst="rect">
            <a:avLst/>
          </a:prstGeom>
          <a:solidFill>
            <a:schemeClr val="bg1"/>
          </a:solidFill>
        </p:spPr>
        <p:txBody>
          <a:bodyPr wrap="square" lIns="36000" tIns="36000" rIns="36000" bIns="36000" rtlCol="0">
            <a:spAutoFit/>
          </a:bodyPr>
          <a:lstStyle/>
          <a:p>
            <a:r>
              <a:rPr lang="en-US" altLang="ko-KR" sz="900" b="1">
                <a:latin typeface="Arial" panose="020B0604020202020204" pitchFamily="34" charset="0"/>
                <a:cs typeface="Arial" panose="020B0604020202020204" pitchFamily="34" charset="0"/>
              </a:rPr>
              <a:t>ID601</a:t>
            </a:r>
            <a:endParaRPr lang="ko-KR" altLang="en-US" sz="900" b="1">
              <a:latin typeface="Arial" panose="020B0604020202020204" pitchFamily="34" charset="0"/>
              <a:cs typeface="Arial" panose="020B0604020202020204" pitchFamily="34" charset="0"/>
            </a:endParaRPr>
          </a:p>
        </p:txBody>
      </p:sp>
      <p:sp>
        <p:nvSpPr>
          <p:cNvPr id="4495" name="TextBox 4494">
            <a:extLst>
              <a:ext uri="{FF2B5EF4-FFF2-40B4-BE49-F238E27FC236}">
                <a16:creationId xmlns:a16="http://schemas.microsoft.com/office/drawing/2014/main" id="{8AF25A7E-0344-A0D2-F962-B19C24493D3B}"/>
              </a:ext>
            </a:extLst>
          </p:cNvPr>
          <p:cNvSpPr txBox="1"/>
          <p:nvPr/>
        </p:nvSpPr>
        <p:spPr>
          <a:xfrm>
            <a:off x="1114078" y="6998519"/>
            <a:ext cx="1828717" cy="338554"/>
          </a:xfrm>
          <a:prstGeom prst="rect">
            <a:avLst/>
          </a:prstGeom>
          <a:noFill/>
        </p:spPr>
        <p:txBody>
          <a:bodyPr wrap="square" rtlCol="0">
            <a:spAutoFit/>
          </a:bodyPr>
          <a:lstStyle/>
          <a:p>
            <a:r>
              <a:rPr lang="en-US" altLang="ko-KR" sz="800">
                <a:latin typeface="Arial" panose="020B0604020202020204" pitchFamily="34" charset="0"/>
                <a:cs typeface="Arial" panose="020B0604020202020204" pitchFamily="34" charset="0"/>
              </a:rPr>
              <a:t>** Font Type : Arial</a:t>
            </a:r>
          </a:p>
          <a:p>
            <a:r>
              <a:rPr lang="en-US" altLang="ko-KR" sz="800">
                <a:latin typeface="Arial" panose="020B0604020202020204" pitchFamily="34" charset="0"/>
                <a:cs typeface="Arial" panose="020B0604020202020204" pitchFamily="34" charset="0"/>
              </a:rPr>
              <a:t>Marking text tolerance : ±0.05mm</a:t>
            </a:r>
          </a:p>
        </p:txBody>
      </p:sp>
    </p:spTree>
    <p:extLst>
      <p:ext uri="{BB962C8B-B14F-4D97-AF65-F5344CB8AC3E}">
        <p14:creationId xmlns:p14="http://schemas.microsoft.com/office/powerpoint/2010/main" val="19151303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a:latin typeface="Arial"/>
                <a:cs typeface="Arial"/>
              </a:rPr>
              <a:t>1</a:t>
            </a:r>
            <a:r>
              <a:rPr sz="1050" spc="-5">
                <a:latin typeface="Arial"/>
                <a:cs typeface="Arial"/>
              </a:rPr>
              <a:t>)</a:t>
            </a:r>
            <a:r>
              <a:rPr sz="1050" spc="-45">
                <a:latin typeface="Arial"/>
                <a:cs typeface="Arial"/>
              </a:rPr>
              <a:t> </a:t>
            </a:r>
            <a:r>
              <a:rPr sz="1200" spc="-5">
                <a:latin typeface="Arial"/>
                <a:cs typeface="Arial"/>
              </a:rPr>
              <a:t>JSICAT</a:t>
            </a:r>
            <a:endParaRPr sz="105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spcBef>
                <a:spcPts val="100"/>
              </a:spcBef>
            </a:pPr>
            <a:r>
              <a:rPr lang="en-US" altLang="ko-KR" sz="1400" b="1" spc="-5">
                <a:latin typeface="Arial"/>
                <a:cs typeface="Arial"/>
              </a:rPr>
              <a:t>Embossed</a:t>
            </a:r>
            <a:r>
              <a:rPr lang="en-US" altLang="ko-KR" sz="1400" b="1" spc="-50">
                <a:latin typeface="Arial"/>
                <a:cs typeface="Arial"/>
              </a:rPr>
              <a:t> </a:t>
            </a:r>
            <a:r>
              <a:rPr lang="en-US" altLang="ko-KR" sz="1400" b="1">
                <a:latin typeface="Arial"/>
                <a:cs typeface="Arial"/>
              </a:rPr>
              <a:t>tape</a:t>
            </a:r>
            <a:r>
              <a:rPr lang="en-US" altLang="ko-KR" sz="1400" b="1" spc="-40">
                <a:latin typeface="Arial"/>
                <a:cs typeface="Arial"/>
              </a:rPr>
              <a:t> </a:t>
            </a:r>
            <a:r>
              <a:rPr lang="en-US" altLang="ko-KR" sz="1400" b="1">
                <a:latin typeface="Arial"/>
                <a:cs typeface="Arial"/>
              </a:rPr>
              <a:t>and</a:t>
            </a:r>
            <a:r>
              <a:rPr lang="en-US" altLang="ko-KR" sz="1400" b="1" spc="-30">
                <a:latin typeface="Arial"/>
                <a:cs typeface="Arial"/>
              </a:rPr>
              <a:t> </a:t>
            </a:r>
            <a:r>
              <a:rPr lang="en-US" altLang="ko-KR" sz="1400" b="1" spc="-5">
                <a:latin typeface="Arial"/>
                <a:cs typeface="Arial"/>
              </a:rPr>
              <a:t>reel</a:t>
            </a:r>
            <a:r>
              <a:rPr lang="en-US" altLang="ko-KR" sz="1400" b="1" spc="-45">
                <a:latin typeface="Arial"/>
                <a:cs typeface="Arial"/>
              </a:rPr>
              <a:t> </a:t>
            </a:r>
            <a:r>
              <a:rPr lang="en-US" altLang="ko-KR" sz="1400" b="1">
                <a:latin typeface="Arial"/>
                <a:cs typeface="Arial"/>
              </a:rPr>
              <a:t>data </a:t>
            </a:r>
            <a:r>
              <a:rPr lang="en-US" altLang="ko-KR" sz="1400" b="1">
                <a:solidFill>
                  <a:schemeClr val="accent5"/>
                </a:solidFill>
                <a:latin typeface="Arial" panose="020B0604020202020204" pitchFamily="34" charset="0"/>
                <a:cs typeface="Arial" panose="020B0604020202020204" pitchFamily="34" charset="0"/>
              </a:rPr>
              <a:t>[TBD]</a:t>
            </a: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a:solidFill>
                  <a:prstClr val="black"/>
                </a:solidFill>
                <a:latin typeface="Arial" panose="020B0604020202020204" pitchFamily="34" charset="0"/>
                <a:ea typeface="+mn-ea"/>
                <a:cs typeface="Arial" panose="020B0604020202020204" pitchFamily="34" charset="0"/>
              </a:rPr>
              <a:t>Figure 14. Tape and </a:t>
            </a:r>
            <a:r>
              <a:rPr lang="en-US" sz="900" b="1" spc="15">
                <a:solidFill>
                  <a:prstClr val="black"/>
                </a:solidFill>
                <a:latin typeface="Arial" panose="020B0604020202020204" pitchFamily="34" charset="0"/>
                <a:cs typeface="Arial" panose="020B0604020202020204" pitchFamily="34" charset="0"/>
              </a:rPr>
              <a:t>reel </a:t>
            </a:r>
            <a:r>
              <a:rPr kumimoji="0" lang="en-US" sz="900" b="1" spc="15">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1181811065"/>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W</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12.00±0.10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T</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0.20±0.05</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D1</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1.55±0.10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a:solidFill>
                            <a:schemeClr val="tx1"/>
                          </a:solidFill>
                          <a:latin typeface="Arial" panose="020B0604020202020204" pitchFamily="34" charset="0"/>
                          <a:cs typeface="Arial" panose="020B0604020202020204" pitchFamily="34" charset="0"/>
                        </a:rPr>
                        <a:t>单位</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Mm</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E</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1.75±0.10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F</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5.50±0.10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D0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1.55±0.10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a:solidFill>
                            <a:schemeClr val="tx1"/>
                          </a:solidFill>
                          <a:latin typeface="Arial" panose="020B0604020202020204" pitchFamily="34" charset="0"/>
                          <a:cs typeface="Arial" panose="020B0604020202020204" pitchFamily="34" charset="0"/>
                        </a:rPr>
                        <a:t>材质</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ABS</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P0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4.00±0.10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P1</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8.00±0.10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P2</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2.00±0.10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a:solidFill>
                            <a:schemeClr val="tx1"/>
                          </a:solidFill>
                          <a:latin typeface="Arial" panose="020B0604020202020204" pitchFamily="34" charset="0"/>
                          <a:cs typeface="Arial" panose="020B0604020202020204" pitchFamily="34" charset="0"/>
                        </a:rPr>
                        <a:t>品名</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TSSOP24pin</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A0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3.18±0.10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B0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3.22±0.10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K0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0.75±0.10</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a:solidFill>
                            <a:schemeClr val="tx1"/>
                          </a:solidFill>
                          <a:latin typeface="Arial" panose="020B0604020202020204" pitchFamily="34" charset="0"/>
                          <a:cs typeface="Arial" panose="020B0604020202020204" pitchFamily="34" charset="0"/>
                        </a:rPr>
                        <a:t>制造商</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a:solidFill>
                            <a:schemeClr val="tx1"/>
                          </a:solidFill>
                          <a:latin typeface="Arial" panose="020B0604020202020204" pitchFamily="34" charset="0"/>
                          <a:cs typeface="Arial" panose="020B0604020202020204" pitchFamily="34" charset="0"/>
                        </a:rPr>
                        <a:t>新创源</a:t>
                      </a:r>
                      <a:endParaRPr lang="ko-KR" altLang="en-US" sz="7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a:latin typeface="Arial"/>
                <a:cs typeface="Arial"/>
              </a:rPr>
              <a:t>2</a:t>
            </a:r>
            <a:r>
              <a:rPr sz="1200" spc="-5">
                <a:latin typeface="Arial"/>
                <a:cs typeface="Arial"/>
              </a:rPr>
              <a:t>)</a:t>
            </a:r>
            <a:r>
              <a:rPr sz="1200" spc="-45">
                <a:latin typeface="Arial"/>
                <a:cs typeface="Arial"/>
              </a:rPr>
              <a:t> </a:t>
            </a:r>
            <a:r>
              <a:rPr lang="en-US" sz="1200" spc="-45">
                <a:latin typeface="Arial"/>
                <a:cs typeface="Arial"/>
              </a:rPr>
              <a:t>SEMTECH</a:t>
            </a:r>
            <a:endParaRPr sz="120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a:solidFill>
                  <a:prstClr val="black"/>
                </a:solidFill>
                <a:latin typeface="Arial" panose="020B0604020202020204" pitchFamily="34" charset="0"/>
                <a:ea typeface="+mn-ea"/>
                <a:cs typeface="Arial" panose="020B0604020202020204" pitchFamily="34" charset="0"/>
              </a:rPr>
              <a:t>Figure 15.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a:latin typeface="Arial" panose="020B0604020202020204" pitchFamily="34" charset="0"/>
                <a:cs typeface="Arial" panose="020B0604020202020204" pitchFamily="34" charset="0"/>
              </a:rPr>
              <a:t>Note : </a:t>
            </a:r>
            <a:br>
              <a:rPr lang="en-US" altLang="ko-KR" sz="1000">
                <a:latin typeface="Arial" panose="020B0604020202020204" pitchFamily="34" charset="0"/>
                <a:cs typeface="Arial" panose="020B0604020202020204" pitchFamily="34" charset="0"/>
              </a:rPr>
            </a:br>
            <a:r>
              <a:rPr lang="en-US" altLang="ko-KR" sz="1000">
                <a:latin typeface="Arial" panose="020B0604020202020204" pitchFamily="34" charset="0"/>
                <a:cs typeface="Arial" panose="020B0604020202020204" pitchFamily="34" charset="0"/>
              </a:rPr>
              <a:t>1. Metric dimensions govern-English are in parentheses for reference only.</a:t>
            </a:r>
            <a:br>
              <a:rPr lang="en-US" altLang="ko-KR" sz="1000">
                <a:latin typeface="Arial" panose="020B0604020202020204" pitchFamily="34" charset="0"/>
                <a:cs typeface="Arial" panose="020B0604020202020204" pitchFamily="34" charset="0"/>
              </a:rPr>
            </a:br>
            <a:r>
              <a:rPr lang="en-US" altLang="ko-KR" sz="100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a:latin typeface="Arial" panose="020B0604020202020204" pitchFamily="34" charset="0"/>
                <a:cs typeface="Arial" panose="020B0604020202020204" pitchFamily="34" charset="0"/>
              </a:rPr>
              <a:t>3. The component cannot rotate more than 10</a:t>
            </a:r>
            <a:r>
              <a:rPr lang="en-US" altLang="ko-KR" sz="1000">
                <a:latin typeface="맑은 고딕" panose="020B0503020000020004" pitchFamily="50" charset="-127"/>
                <a:ea typeface="맑은 고딕" panose="020B0503020000020004" pitchFamily="50" charset="-127"/>
                <a:cs typeface="Arial" panose="020B0604020202020204" pitchFamily="34" charset="0"/>
              </a:rPr>
              <a:t>︒</a:t>
            </a:r>
            <a:r>
              <a:rPr lang="en-US" altLang="ko-KR" sz="100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2943820664"/>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Package</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Tape Size</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D</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D1</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E</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a:solidFill>
                            <a:schemeClr val="tx1"/>
                          </a:solidFill>
                          <a:latin typeface="Arial" panose="020B0604020202020204" pitchFamily="34" charset="0"/>
                          <a:ea typeface="+mn-ea"/>
                          <a:cs typeface="Arial" panose="020B0604020202020204" pitchFamily="34" charset="0"/>
                        </a:rPr>
                        <a:t>F</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TSSOP-24L</a:t>
                      </a:r>
                      <a:endParaRPr lang="ko-KR" altLang="en-US" sz="6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12mm</a:t>
                      </a:r>
                      <a:endParaRPr lang="ko-KR" altLang="en-US" sz="6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1.55</a:t>
                      </a:r>
                      <a:r>
                        <a:rPr lang="en-US" altLang="ko-KR" sz="600" b="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1.55±0.1mm (0.061±0.004”)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1.75±0.1mm (0.069±0.004”)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5.5±0.1mm (0.217±0.004”)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8±0.1mm (0.315±0.004”)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4±0.1mm (0.157±0.004”)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2±0.1mm (0.079±0.004”)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725524678"/>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Package</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A0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B0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a:solidFill>
                            <a:schemeClr val="tx1"/>
                          </a:solidFill>
                          <a:latin typeface="Arial" panose="020B0604020202020204" pitchFamily="34" charset="0"/>
                          <a:ea typeface="+mn-ea"/>
                          <a:cs typeface="Arial" panose="020B0604020202020204" pitchFamily="34" charset="0"/>
                        </a:rPr>
                        <a:t>K0</a:t>
                      </a:r>
                      <a:endParaRPr lang="ko-KR" altLang="en-US" sz="7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TSSOP</a:t>
                      </a:r>
                      <a:br>
                        <a:rPr lang="en-US" altLang="ko-KR" sz="600" b="0">
                          <a:solidFill>
                            <a:schemeClr val="tx1"/>
                          </a:solidFill>
                          <a:latin typeface="Arial" panose="020B0604020202020204" pitchFamily="34" charset="0"/>
                          <a:ea typeface="+mn-ea"/>
                          <a:cs typeface="Arial" panose="020B0604020202020204" pitchFamily="34" charset="0"/>
                        </a:rPr>
                      </a:br>
                      <a:r>
                        <a:rPr lang="en-US" altLang="ko-KR" sz="600" b="0">
                          <a:solidFill>
                            <a:schemeClr val="tx1"/>
                          </a:solidFill>
                          <a:latin typeface="Arial" panose="020B0604020202020204" pitchFamily="34" charset="0"/>
                          <a:ea typeface="+mn-ea"/>
                          <a:cs typeface="Arial" panose="020B0604020202020204" pitchFamily="34" charset="0"/>
                        </a:rPr>
                        <a:t>-24L</a:t>
                      </a:r>
                      <a:endParaRPr lang="ko-KR" altLang="en-US" sz="6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0.20±0.05mm (0.008±0.002”)</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12mm±0.1mm (0.472±0.004”)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3.22±0.1 mm (0.127±0.004”)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3.22</a:t>
                      </a:r>
                      <a:r>
                        <a:rPr lang="en-US" altLang="ko-KR" sz="600" b="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a:solidFill>
                            <a:schemeClr val="tx1"/>
                          </a:solidFill>
                          <a:latin typeface="Arial" panose="020B0604020202020204" pitchFamily="34" charset="0"/>
                          <a:ea typeface="+mn-ea"/>
                          <a:cs typeface="Arial" panose="020B0604020202020204" pitchFamily="34" charset="0"/>
                        </a:rPr>
                        <a:t>0.75±0.1mm (0.03±0.004”)</a:t>
                      </a:r>
                      <a:endParaRPr lang="ko-KR" altLang="en-US" sz="600" b="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714C100-CA75-7D6D-3FD1-E7D5C8E8F9DB}"/>
              </a:ext>
            </a:extLst>
          </p:cNvPr>
          <p:cNvSpPr txBox="1"/>
          <p:nvPr/>
        </p:nvSpPr>
        <p:spPr>
          <a:xfrm>
            <a:off x="404813" y="774866"/>
            <a:ext cx="6048621"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Package specification</a:t>
            </a:r>
            <a:endParaRPr lang="en-US" altLang="ko-KR" sz="1400" b="1">
              <a:solidFill>
                <a:schemeClr val="accent5"/>
              </a:solidFill>
              <a:latin typeface="Arial" panose="020B0604020202020204" pitchFamily="34" charset="0"/>
              <a:cs typeface="Arial" panose="020B0604020202020204" pitchFamily="34" charset="0"/>
            </a:endParaRPr>
          </a:p>
        </p:txBody>
      </p:sp>
      <p:sp>
        <p:nvSpPr>
          <p:cNvPr id="6" name="object 3">
            <a:extLst>
              <a:ext uri="{FF2B5EF4-FFF2-40B4-BE49-F238E27FC236}">
                <a16:creationId xmlns:a16="http://schemas.microsoft.com/office/drawing/2014/main" id="{00880CD7-A534-CAB7-D5AF-BB9F79C36ED0}"/>
              </a:ext>
            </a:extLst>
          </p:cNvPr>
          <p:cNvSpPr txBox="1"/>
          <p:nvPr/>
        </p:nvSpPr>
        <p:spPr>
          <a:xfrm>
            <a:off x="2479892" y="1158676"/>
            <a:ext cx="1898213"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kumimoji="0" lang="en-US" altLang="ko-KR" sz="1100" b="1" spc="-20">
                <a:solidFill>
                  <a:prstClr val="black"/>
                </a:solidFill>
                <a:latin typeface="Arial"/>
                <a:ea typeface="맑은 고딕" panose="020B0503020000020004" pitchFamily="50" charset="-127"/>
                <a:cs typeface="Arial"/>
              </a:rPr>
              <a:t>TSSOP-24L </a:t>
            </a:r>
            <a:r>
              <a:rPr kumimoji="0" lang="en-US" altLang="ko-KR" sz="1100" b="1" spc="-5">
                <a:solidFill>
                  <a:prstClr val="black"/>
                </a:solidFill>
                <a:latin typeface="Arial"/>
                <a:ea typeface="맑은 고딕" panose="020B0503020000020004" pitchFamily="50" charset="-127"/>
                <a:cs typeface="Arial"/>
              </a:rPr>
              <a:t> Package</a:t>
            </a:r>
            <a:r>
              <a:rPr kumimoji="0" lang="en-US" altLang="ko-KR" sz="1100" b="1" spc="-73">
                <a:solidFill>
                  <a:prstClr val="black"/>
                </a:solidFill>
                <a:latin typeface="Arial"/>
                <a:ea typeface="맑은 고딕" panose="020B0503020000020004" pitchFamily="50" charset="-127"/>
                <a:cs typeface="Arial"/>
              </a:rPr>
              <a:t> </a:t>
            </a:r>
            <a:r>
              <a:rPr kumimoji="0" lang="en-US" altLang="ko-KR" sz="1100" b="1" spc="-5">
                <a:solidFill>
                  <a:prstClr val="black"/>
                </a:solidFill>
                <a:latin typeface="Arial"/>
                <a:ea typeface="맑은 고딕" panose="020B0503020000020004" pitchFamily="50" charset="-127"/>
                <a:cs typeface="Arial"/>
              </a:rPr>
              <a:t>Outline</a:t>
            </a:r>
            <a:endParaRPr kumimoji="0" lang="en-US" altLang="ko-KR" sz="1100" b="1">
              <a:solidFill>
                <a:prstClr val="black"/>
              </a:solidFill>
              <a:latin typeface="Arial"/>
              <a:ea typeface="맑은 고딕" panose="020B0503020000020004" pitchFamily="50" charset="-127"/>
              <a:cs typeface="Arial"/>
            </a:endParaRPr>
          </a:p>
        </p:txBody>
      </p:sp>
      <p:sp>
        <p:nvSpPr>
          <p:cNvPr id="21" name="TextBox 20">
            <a:extLst>
              <a:ext uri="{FF2B5EF4-FFF2-40B4-BE49-F238E27FC236}">
                <a16:creationId xmlns:a16="http://schemas.microsoft.com/office/drawing/2014/main" id="{CB84AEBF-2E25-6C65-29B1-083A98ACA839}"/>
              </a:ext>
            </a:extLst>
          </p:cNvPr>
          <p:cNvSpPr txBox="1"/>
          <p:nvPr/>
        </p:nvSpPr>
        <p:spPr>
          <a:xfrm>
            <a:off x="1637426" y="1546772"/>
            <a:ext cx="625171" cy="153888"/>
          </a:xfrm>
          <a:prstGeom prst="rect">
            <a:avLst/>
          </a:prstGeom>
          <a:noFill/>
        </p:spPr>
        <p:txBody>
          <a:bodyPr vert="horz" wrap="none" lIns="0" tIns="0" rIns="0" bIns="0" rtlCol="0" anchor="ctr" anchorCtr="0">
            <a:spAutoFit/>
          </a:bodyPr>
          <a:lstStyle/>
          <a:p>
            <a:r>
              <a:rPr lang="en-US" altLang="ko-KR" sz="1000" b="1">
                <a:latin typeface="Arial" panose="020B0604020202020204" pitchFamily="34" charset="0"/>
                <a:cs typeface="Arial" panose="020B0604020202020204" pitchFamily="34" charset="0"/>
              </a:rPr>
              <a:t>TOP VIEW</a:t>
            </a:r>
            <a:endParaRPr lang="ko-KR" altLang="en-US" sz="1000" b="1">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1B64D9B-8D51-F969-ACF9-A736D5F48DC8}"/>
              </a:ext>
            </a:extLst>
          </p:cNvPr>
          <p:cNvSpPr txBox="1"/>
          <p:nvPr/>
        </p:nvSpPr>
        <p:spPr>
          <a:xfrm>
            <a:off x="4292955" y="1546772"/>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a:t>BOTTOM VIEW</a:t>
            </a:r>
            <a:endParaRPr lang="ko-KR" altLang="en-US" sz="1000" b="1"/>
          </a:p>
        </p:txBody>
      </p:sp>
      <p:sp>
        <p:nvSpPr>
          <p:cNvPr id="26" name="TextBox 25">
            <a:extLst>
              <a:ext uri="{FF2B5EF4-FFF2-40B4-BE49-F238E27FC236}">
                <a16:creationId xmlns:a16="http://schemas.microsoft.com/office/drawing/2014/main" id="{0FE4A7D8-38BD-BDCE-CC64-C9F5B83183BE}"/>
              </a:ext>
            </a:extLst>
          </p:cNvPr>
          <p:cNvSpPr txBox="1"/>
          <p:nvPr/>
        </p:nvSpPr>
        <p:spPr>
          <a:xfrm>
            <a:off x="1558118" y="4388099"/>
            <a:ext cx="660437" cy="153888"/>
          </a:xfrm>
          <a:prstGeom prst="rect">
            <a:avLst/>
          </a:prstGeom>
          <a:noFill/>
        </p:spPr>
        <p:txBody>
          <a:bodyPr vert="horz" wrap="none" lIns="0" tIns="0" rIns="0" bIns="0" rtlCol="0" anchor="ctr" anchorCtr="0">
            <a:spAutoFit/>
          </a:bodyPr>
          <a:lstStyle/>
          <a:p>
            <a:r>
              <a:rPr lang="en-US" altLang="ko-KR" sz="1000" b="1">
                <a:latin typeface="Arial" panose="020B0604020202020204" pitchFamily="34" charset="0"/>
                <a:cs typeface="Arial" panose="020B0604020202020204" pitchFamily="34" charset="0"/>
              </a:rPr>
              <a:t>SIDE VIEW</a:t>
            </a:r>
            <a:endParaRPr lang="ko-KR" altLang="en-US" sz="1000" b="1">
              <a:latin typeface="Arial" panose="020B0604020202020204" pitchFamily="34" charset="0"/>
              <a:cs typeface="Arial" panose="020B0604020202020204" pitchFamily="34" charset="0"/>
            </a:endParaRPr>
          </a:p>
        </p:txBody>
      </p:sp>
      <p:sp>
        <p:nvSpPr>
          <p:cNvPr id="27" name="object 84">
            <a:extLst>
              <a:ext uri="{FF2B5EF4-FFF2-40B4-BE49-F238E27FC236}">
                <a16:creationId xmlns:a16="http://schemas.microsoft.com/office/drawing/2014/main" id="{DDD161F0-9A6A-466A-6CDC-EFA15D80ADE8}"/>
              </a:ext>
            </a:extLst>
          </p:cNvPr>
          <p:cNvSpPr txBox="1"/>
          <p:nvPr/>
        </p:nvSpPr>
        <p:spPr>
          <a:xfrm>
            <a:off x="2660199" y="8608825"/>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0" name="object 2">
            <a:extLst>
              <a:ext uri="{FF2B5EF4-FFF2-40B4-BE49-F238E27FC236}">
                <a16:creationId xmlns:a16="http://schemas.microsoft.com/office/drawing/2014/main" id="{DAA7FD1F-432C-67AB-4B9B-2D1672FC5653}"/>
              </a:ext>
            </a:extLst>
          </p:cNvPr>
          <p:cNvGraphicFramePr>
            <a:graphicFrameLocks noGrp="1"/>
          </p:cNvGraphicFramePr>
          <p:nvPr>
            <p:extLst>
              <p:ext uri="{D42A27DB-BD31-4B8C-83A1-F6EECF244321}">
                <p14:modId xmlns:p14="http://schemas.microsoft.com/office/powerpoint/2010/main" val="843778723"/>
              </p:ext>
            </p:extLst>
          </p:nvPr>
        </p:nvGraphicFramePr>
        <p:xfrm>
          <a:off x="4166634" y="4685026"/>
          <a:ext cx="2089684" cy="3196952"/>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a:latin typeface="Arial" panose="020B0604020202020204" pitchFamily="34" charset="0"/>
                          <a:cs typeface="Arial" panose="020B0604020202020204" pitchFamily="34" charset="0"/>
                        </a:rPr>
                        <a:t>Symbol</a:t>
                      </a:r>
                      <a:endParaRPr sz="900" b="1">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a:latin typeface="Arial" panose="020B0604020202020204" pitchFamily="34" charset="0"/>
                          <a:cs typeface="Arial" panose="020B0604020202020204" pitchFamily="34" charset="0"/>
                        </a:rPr>
                        <a:t>Dimensions in mm</a:t>
                      </a:r>
                      <a:endParaRPr sz="900" b="1">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a:solidFill>
                            <a:schemeClr val="tx1"/>
                          </a:solidFill>
                          <a:latin typeface="Arial" panose="020B0604020202020204" pitchFamily="34" charset="0"/>
                          <a:ea typeface="+mn-ea"/>
                          <a:cs typeface="Arial" panose="020B0604020202020204" pitchFamily="34" charset="0"/>
                        </a:rPr>
                        <a:t>Min</a:t>
                      </a:r>
                      <a:endParaRPr sz="900" b="1"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a:solidFill>
                            <a:schemeClr val="tx1"/>
                          </a:solidFill>
                          <a:latin typeface="Arial" panose="020B0604020202020204" pitchFamily="34" charset="0"/>
                          <a:ea typeface="+mn-ea"/>
                          <a:cs typeface="Arial" panose="020B0604020202020204" pitchFamily="34" charset="0"/>
                        </a:rPr>
                        <a:t>Typ</a:t>
                      </a:r>
                      <a:endParaRPr sz="900" b="1"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a:solidFill>
                            <a:schemeClr val="tx1"/>
                          </a:solidFill>
                          <a:latin typeface="Arial" panose="020B0604020202020204" pitchFamily="34" charset="0"/>
                          <a:ea typeface="+mn-ea"/>
                          <a:cs typeface="Arial" panose="020B0604020202020204" pitchFamily="34" charset="0"/>
                        </a:rPr>
                        <a:t>Max</a:t>
                      </a:r>
                      <a:endParaRPr sz="900" b="1"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A</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0.50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0.55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0.60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A1</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0.00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0.05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A2</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0.45 REF</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A3</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0.152 REF</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b</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0.15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0.20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0.25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D</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2.90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3.00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3.10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D1</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1.75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1.80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1.85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E</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2.90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3.00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3.10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E1</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1.75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1.80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1.85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e </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0.40 BSC</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K</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0.25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0.30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0.35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L</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0.25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0.30</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a:solidFill>
                            <a:schemeClr val="tx1"/>
                          </a:solidFill>
                          <a:latin typeface="Arial" panose="020B0604020202020204" pitchFamily="34" charset="0"/>
                          <a:ea typeface="+mn-ea"/>
                          <a:cs typeface="Arial" panose="020B0604020202020204" pitchFamily="34" charset="0"/>
                        </a:rPr>
                        <a:t>0.35</a:t>
                      </a:r>
                      <a:endParaRPr sz="900" kern="1200" spc="-1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2" name="그림 31">
            <a:extLst>
              <a:ext uri="{FF2B5EF4-FFF2-40B4-BE49-F238E27FC236}">
                <a16:creationId xmlns:a16="http://schemas.microsoft.com/office/drawing/2014/main" id="{850ED7EF-09C8-5BFD-3F78-30068E21F9FC}"/>
              </a:ext>
            </a:extLst>
          </p:cNvPr>
          <p:cNvPicPr>
            <a:picLocks noChangeAspect="1"/>
          </p:cNvPicPr>
          <p:nvPr/>
        </p:nvPicPr>
        <p:blipFill>
          <a:blip r:embed="rId2"/>
          <a:stretch>
            <a:fillRect/>
          </a:stretch>
        </p:blipFill>
        <p:spPr>
          <a:xfrm>
            <a:off x="581273" y="4613439"/>
            <a:ext cx="2448000" cy="740842"/>
          </a:xfrm>
          <a:prstGeom prst="rect">
            <a:avLst/>
          </a:prstGeom>
        </p:spPr>
      </p:pic>
      <p:sp>
        <p:nvSpPr>
          <p:cNvPr id="33" name="object 84">
            <a:extLst>
              <a:ext uri="{FF2B5EF4-FFF2-40B4-BE49-F238E27FC236}">
                <a16:creationId xmlns:a16="http://schemas.microsoft.com/office/drawing/2014/main" id="{56A8851A-D181-7E54-3F5D-5972D24D79EF}"/>
              </a:ext>
            </a:extLst>
          </p:cNvPr>
          <p:cNvSpPr txBox="1"/>
          <p:nvPr/>
        </p:nvSpPr>
        <p:spPr>
          <a:xfrm>
            <a:off x="3556004" y="8109033"/>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a:latin typeface="Arial" panose="020B0604020202020204" pitchFamily="34" charset="0"/>
                <a:cs typeface="Arial" panose="020B0604020202020204" pitchFamily="34" charset="0"/>
              </a:rPr>
              <a:t>All Dimensions Do Not Include mold flash or Protrusions.</a:t>
            </a:r>
            <a:endParaRPr kumimoji="0" lang="en-US" sz="900" spc="15">
              <a:latin typeface="Arial" panose="020B0604020202020204" pitchFamily="34" charset="0"/>
              <a:ea typeface="+mn-ea"/>
              <a:cs typeface="Arial" panose="020B0604020202020204" pitchFamily="34" charset="0"/>
            </a:endParaRPr>
          </a:p>
        </p:txBody>
      </p:sp>
      <p:sp>
        <p:nvSpPr>
          <p:cNvPr id="36" name="직사각형 35">
            <a:extLst>
              <a:ext uri="{FF2B5EF4-FFF2-40B4-BE49-F238E27FC236}">
                <a16:creationId xmlns:a16="http://schemas.microsoft.com/office/drawing/2014/main" id="{36DA337C-4792-15D4-6601-2B9125EAEF7A}"/>
              </a:ext>
            </a:extLst>
          </p:cNvPr>
          <p:cNvSpPr/>
          <p:nvPr/>
        </p:nvSpPr>
        <p:spPr>
          <a:xfrm>
            <a:off x="3334956" y="2223223"/>
            <a:ext cx="399644" cy="4476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descr="텍스트, 도표, 기술 도면, 평면도이(가) 표시된 사진&#10;&#10;AI 생성 콘텐츠는 정확하지 않을 수 있습니다.">
            <a:extLst>
              <a:ext uri="{FF2B5EF4-FFF2-40B4-BE49-F238E27FC236}">
                <a16:creationId xmlns:a16="http://schemas.microsoft.com/office/drawing/2014/main" id="{8935278D-51C3-0328-CCF5-43AE83A525AB}"/>
              </a:ext>
            </a:extLst>
          </p:cNvPr>
          <p:cNvPicPr>
            <a:picLocks noChangeAspect="1"/>
          </p:cNvPicPr>
          <p:nvPr/>
        </p:nvPicPr>
        <p:blipFill>
          <a:blip r:embed="rId3">
            <a:alphaModFix/>
          </a:blip>
          <a:srcRect l="9213" t="14379" r="47659" b="39012"/>
          <a:stretch>
            <a:fillRect/>
          </a:stretch>
        </p:blipFill>
        <p:spPr>
          <a:xfrm>
            <a:off x="509217" y="1828433"/>
            <a:ext cx="2876756" cy="2300197"/>
          </a:xfrm>
          <a:prstGeom prst="rect">
            <a:avLst/>
          </a:prstGeom>
        </p:spPr>
      </p:pic>
      <p:pic>
        <p:nvPicPr>
          <p:cNvPr id="12" name="그림 11" descr="텍스트, 도표, 기술 도면, 평면도이(가) 표시된 사진&#10;&#10;AI 생성 콘텐츠는 정확하지 않을 수 있습니다.">
            <a:extLst>
              <a:ext uri="{FF2B5EF4-FFF2-40B4-BE49-F238E27FC236}">
                <a16:creationId xmlns:a16="http://schemas.microsoft.com/office/drawing/2014/main" id="{04C4E216-309E-5C48-E13A-919F85914238}"/>
              </a:ext>
            </a:extLst>
          </p:cNvPr>
          <p:cNvPicPr>
            <a:picLocks noChangeAspect="1"/>
          </p:cNvPicPr>
          <p:nvPr/>
        </p:nvPicPr>
        <p:blipFill>
          <a:blip r:embed="rId3">
            <a:alphaModFix/>
          </a:blip>
          <a:srcRect l="57614" t="13118" b="39011"/>
          <a:stretch>
            <a:fillRect/>
          </a:stretch>
        </p:blipFill>
        <p:spPr>
          <a:xfrm>
            <a:off x="3753653" y="1864465"/>
            <a:ext cx="2799570" cy="2339271"/>
          </a:xfrm>
          <a:prstGeom prst="rect">
            <a:avLst/>
          </a:prstGeom>
        </p:spPr>
      </p:pic>
      <p:pic>
        <p:nvPicPr>
          <p:cNvPr id="14" name="그림 13" descr="텍스트, 도표, 기술 도면, 평면도이(가) 표시된 사진&#10;&#10;AI 생성 콘텐츠는 정확하지 않을 수 있습니다.">
            <a:extLst>
              <a:ext uri="{FF2B5EF4-FFF2-40B4-BE49-F238E27FC236}">
                <a16:creationId xmlns:a16="http://schemas.microsoft.com/office/drawing/2014/main" id="{6A9A2656-7178-46A0-1788-6CBB44F8AD00}"/>
              </a:ext>
            </a:extLst>
          </p:cNvPr>
          <p:cNvPicPr>
            <a:picLocks noChangeAspect="1"/>
          </p:cNvPicPr>
          <p:nvPr/>
        </p:nvPicPr>
        <p:blipFill>
          <a:blip r:embed="rId3">
            <a:alphaModFix/>
          </a:blip>
          <a:srcRect l="1679" t="75161" r="44098" b="2709"/>
          <a:stretch>
            <a:fillRect/>
          </a:stretch>
        </p:blipFill>
        <p:spPr>
          <a:xfrm>
            <a:off x="363314" y="4695617"/>
            <a:ext cx="3234640" cy="976697"/>
          </a:xfrm>
          <a:prstGeom prst="rect">
            <a:avLst/>
          </a:prstGeom>
        </p:spPr>
      </p:pic>
      <p:pic>
        <p:nvPicPr>
          <p:cNvPr id="16" name="그림 15" descr="텍스트, 도표, 기술 도면, 평면도이(가) 표시된 사진&#10;&#10;AI 생성 콘텐츠는 정확하지 않을 수 있습니다.">
            <a:extLst>
              <a:ext uri="{FF2B5EF4-FFF2-40B4-BE49-F238E27FC236}">
                <a16:creationId xmlns:a16="http://schemas.microsoft.com/office/drawing/2014/main" id="{26FAEBE7-54DF-8887-1CAD-9621CE7E53B6}"/>
              </a:ext>
            </a:extLst>
          </p:cNvPr>
          <p:cNvPicPr>
            <a:picLocks noChangeAspect="1"/>
          </p:cNvPicPr>
          <p:nvPr/>
        </p:nvPicPr>
        <p:blipFill>
          <a:blip r:embed="rId3">
            <a:alphaModFix/>
          </a:blip>
          <a:srcRect l="55668" t="76879" r="4734" b="991"/>
          <a:stretch>
            <a:fillRect/>
          </a:stretch>
        </p:blipFill>
        <p:spPr>
          <a:xfrm>
            <a:off x="666122" y="5675524"/>
            <a:ext cx="2362200" cy="976697"/>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a:latin typeface="Arial" panose="020B0604020202020204" pitchFamily="34" charset="0"/>
                <a:cs typeface="Arial" panose="020B0604020202020204" pitchFamily="34" charset="0"/>
              </a:rPr>
              <a:t>ID601</a:t>
            </a:r>
            <a:endParaRPr lang="ko-KR" altLang="en-US" b="1">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a:solidFill>
                  <a:prstClr val="black"/>
                </a:solidFill>
                <a:latin typeface="Arial"/>
                <a:ea typeface="+mn-ea"/>
                <a:cs typeface="Arial"/>
              </a:rPr>
              <a:t>Note: The</a:t>
            </a:r>
            <a:r>
              <a:rPr kumimoji="0" sz="900" spc="14">
                <a:solidFill>
                  <a:prstClr val="black"/>
                </a:solidFill>
                <a:latin typeface="Arial"/>
                <a:ea typeface="+mn-ea"/>
                <a:cs typeface="Arial"/>
              </a:rPr>
              <a:t> </a:t>
            </a:r>
            <a:r>
              <a:rPr kumimoji="0" sz="900" spc="-5">
                <a:solidFill>
                  <a:prstClr val="black"/>
                </a:solidFill>
                <a:latin typeface="Arial"/>
                <a:ea typeface="+mn-ea"/>
                <a:cs typeface="Arial"/>
              </a:rPr>
              <a:t>reflow</a:t>
            </a:r>
            <a:r>
              <a:rPr kumimoji="0" sz="900" spc="5">
                <a:solidFill>
                  <a:prstClr val="black"/>
                </a:solidFill>
                <a:latin typeface="Arial"/>
                <a:ea typeface="+mn-ea"/>
                <a:cs typeface="Arial"/>
              </a:rPr>
              <a:t> </a:t>
            </a:r>
            <a:r>
              <a:rPr kumimoji="0" sz="900" spc="-5">
                <a:solidFill>
                  <a:prstClr val="black"/>
                </a:solidFill>
                <a:latin typeface="Arial"/>
                <a:ea typeface="+mn-ea"/>
                <a:cs typeface="Arial"/>
              </a:rPr>
              <a:t>peak</a:t>
            </a:r>
            <a:r>
              <a:rPr kumimoji="0" sz="900" spc="9">
                <a:solidFill>
                  <a:prstClr val="black"/>
                </a:solidFill>
                <a:latin typeface="Arial"/>
                <a:ea typeface="+mn-ea"/>
                <a:cs typeface="Arial"/>
              </a:rPr>
              <a:t> </a:t>
            </a:r>
            <a:r>
              <a:rPr kumimoji="0" sz="900" spc="-5">
                <a:solidFill>
                  <a:prstClr val="black"/>
                </a:solidFill>
                <a:latin typeface="Arial"/>
                <a:ea typeface="+mn-ea"/>
                <a:cs typeface="Arial"/>
              </a:rPr>
              <a:t>soldering</a:t>
            </a:r>
            <a:r>
              <a:rPr kumimoji="0" sz="900" spc="14">
                <a:solidFill>
                  <a:prstClr val="black"/>
                </a:solidFill>
                <a:latin typeface="Arial"/>
                <a:ea typeface="+mn-ea"/>
                <a:cs typeface="Arial"/>
              </a:rPr>
              <a:t> </a:t>
            </a:r>
            <a:r>
              <a:rPr kumimoji="0" sz="900" spc="-5">
                <a:solidFill>
                  <a:prstClr val="black"/>
                </a:solidFill>
                <a:latin typeface="Arial"/>
                <a:ea typeface="+mn-ea"/>
                <a:cs typeface="Arial"/>
              </a:rPr>
              <a:t>temperature</a:t>
            </a:r>
            <a:r>
              <a:rPr kumimoji="0" sz="900" spc="14">
                <a:solidFill>
                  <a:prstClr val="black"/>
                </a:solidFill>
                <a:latin typeface="Arial"/>
                <a:ea typeface="+mn-ea"/>
                <a:cs typeface="Arial"/>
              </a:rPr>
              <a:t> </a:t>
            </a:r>
            <a:r>
              <a:rPr kumimoji="0" sz="900" spc="-9">
                <a:solidFill>
                  <a:prstClr val="black"/>
                </a:solidFill>
                <a:latin typeface="Arial"/>
                <a:ea typeface="+mn-ea"/>
                <a:cs typeface="Arial"/>
              </a:rPr>
              <a:t>is</a:t>
            </a:r>
            <a:r>
              <a:rPr kumimoji="0" sz="900" spc="23">
                <a:solidFill>
                  <a:prstClr val="black"/>
                </a:solidFill>
                <a:latin typeface="Arial"/>
                <a:ea typeface="+mn-ea"/>
                <a:cs typeface="Arial"/>
              </a:rPr>
              <a:t> </a:t>
            </a:r>
            <a:r>
              <a:rPr kumimoji="0" sz="900" spc="-9">
                <a:solidFill>
                  <a:prstClr val="black"/>
                </a:solidFill>
                <a:latin typeface="Arial"/>
                <a:ea typeface="+mn-ea"/>
                <a:cs typeface="Arial"/>
              </a:rPr>
              <a:t>peak</a:t>
            </a:r>
            <a:r>
              <a:rPr kumimoji="0" sz="900" spc="26">
                <a:solidFill>
                  <a:prstClr val="black"/>
                </a:solidFill>
                <a:latin typeface="Arial"/>
                <a:ea typeface="+mn-ea"/>
                <a:cs typeface="Arial"/>
              </a:rPr>
              <a:t> </a:t>
            </a:r>
            <a:r>
              <a:rPr kumimoji="0" sz="900" spc="-5">
                <a:solidFill>
                  <a:prstClr val="black"/>
                </a:solidFill>
                <a:latin typeface="Arial"/>
                <a:ea typeface="+mn-ea"/>
                <a:cs typeface="Arial"/>
              </a:rPr>
              <a:t>260°C</a:t>
            </a:r>
            <a:r>
              <a:rPr kumimoji="0" sz="900" spc="17">
                <a:solidFill>
                  <a:prstClr val="black"/>
                </a:solidFill>
                <a:latin typeface="Arial"/>
                <a:ea typeface="+mn-ea"/>
                <a:cs typeface="Arial"/>
              </a:rPr>
              <a:t> </a:t>
            </a:r>
            <a:r>
              <a:rPr kumimoji="0" sz="900" spc="-5">
                <a:solidFill>
                  <a:prstClr val="black"/>
                </a:solidFill>
                <a:latin typeface="Arial"/>
                <a:ea typeface="+mn-ea"/>
                <a:cs typeface="Arial"/>
              </a:rPr>
              <a:t>and</a:t>
            </a:r>
            <a:r>
              <a:rPr kumimoji="0" sz="900" spc="14">
                <a:solidFill>
                  <a:prstClr val="black"/>
                </a:solidFill>
                <a:latin typeface="Arial"/>
                <a:ea typeface="+mn-ea"/>
                <a:cs typeface="Arial"/>
              </a:rPr>
              <a:t> </a:t>
            </a:r>
            <a:r>
              <a:rPr kumimoji="0" sz="900" spc="-9">
                <a:solidFill>
                  <a:prstClr val="black"/>
                </a:solidFill>
                <a:latin typeface="Arial"/>
                <a:ea typeface="+mn-ea"/>
                <a:cs typeface="Arial"/>
              </a:rPr>
              <a:t>it</a:t>
            </a:r>
            <a:r>
              <a:rPr kumimoji="0" sz="900" spc="17">
                <a:solidFill>
                  <a:prstClr val="black"/>
                </a:solidFill>
                <a:latin typeface="Arial"/>
                <a:ea typeface="+mn-ea"/>
                <a:cs typeface="Arial"/>
              </a:rPr>
              <a:t> </a:t>
            </a:r>
            <a:r>
              <a:rPr kumimoji="0" sz="900" spc="-9">
                <a:solidFill>
                  <a:prstClr val="black"/>
                </a:solidFill>
                <a:latin typeface="Arial"/>
                <a:ea typeface="+mn-ea"/>
                <a:cs typeface="Arial"/>
              </a:rPr>
              <a:t>is</a:t>
            </a:r>
            <a:r>
              <a:rPr kumimoji="0" sz="900" spc="9">
                <a:solidFill>
                  <a:prstClr val="black"/>
                </a:solidFill>
                <a:latin typeface="Arial"/>
                <a:ea typeface="+mn-ea"/>
                <a:cs typeface="Arial"/>
              </a:rPr>
              <a:t> </a:t>
            </a:r>
            <a:r>
              <a:rPr kumimoji="0" sz="900" spc="-5">
                <a:solidFill>
                  <a:prstClr val="black"/>
                </a:solidFill>
                <a:latin typeface="Arial"/>
                <a:ea typeface="+mn-ea"/>
                <a:cs typeface="Arial"/>
              </a:rPr>
              <a:t>specified</a:t>
            </a:r>
            <a:r>
              <a:rPr kumimoji="0" sz="900" spc="5">
                <a:solidFill>
                  <a:prstClr val="black"/>
                </a:solidFill>
                <a:latin typeface="Arial"/>
                <a:ea typeface="+mn-ea"/>
                <a:cs typeface="Arial"/>
              </a:rPr>
              <a:t> </a:t>
            </a:r>
            <a:r>
              <a:rPr kumimoji="0" sz="900" spc="-5">
                <a:solidFill>
                  <a:prstClr val="black"/>
                </a:solidFill>
                <a:latin typeface="Arial"/>
                <a:ea typeface="+mn-ea"/>
                <a:cs typeface="Arial"/>
              </a:rPr>
              <a:t>based</a:t>
            </a:r>
            <a:r>
              <a:rPr kumimoji="0" sz="900" spc="5">
                <a:solidFill>
                  <a:prstClr val="black"/>
                </a:solidFill>
                <a:latin typeface="Arial"/>
                <a:ea typeface="+mn-ea"/>
                <a:cs typeface="Arial"/>
              </a:rPr>
              <a:t> </a:t>
            </a:r>
            <a:r>
              <a:rPr kumimoji="0" sz="900">
                <a:solidFill>
                  <a:prstClr val="black"/>
                </a:solidFill>
                <a:latin typeface="Arial"/>
                <a:ea typeface="+mn-ea"/>
                <a:cs typeface="Arial"/>
              </a:rPr>
              <a:t>on</a:t>
            </a:r>
            <a:r>
              <a:rPr kumimoji="0" sz="900" spc="5">
                <a:solidFill>
                  <a:prstClr val="black"/>
                </a:solidFill>
                <a:latin typeface="Arial"/>
                <a:ea typeface="+mn-ea"/>
                <a:cs typeface="Arial"/>
              </a:rPr>
              <a:t> </a:t>
            </a:r>
            <a:r>
              <a:rPr kumimoji="0" sz="900" spc="-5">
                <a:solidFill>
                  <a:prstClr val="black"/>
                </a:solidFill>
                <a:latin typeface="Arial"/>
                <a:ea typeface="+mn-ea"/>
                <a:cs typeface="Arial"/>
              </a:rPr>
              <a:t>IPC/JEDEC</a:t>
            </a:r>
            <a:r>
              <a:rPr kumimoji="0" sz="900" spc="5">
                <a:solidFill>
                  <a:prstClr val="black"/>
                </a:solidFill>
                <a:latin typeface="Arial"/>
                <a:ea typeface="+mn-ea"/>
                <a:cs typeface="Arial"/>
              </a:rPr>
              <a:t> </a:t>
            </a:r>
            <a:r>
              <a:rPr kumimoji="0" sz="900" spc="-5">
                <a:solidFill>
                  <a:prstClr val="black"/>
                </a:solidFill>
                <a:latin typeface="Arial"/>
                <a:ea typeface="+mn-ea"/>
                <a:cs typeface="Arial"/>
              </a:rPr>
              <a:t>J-STD- </a:t>
            </a:r>
            <a:r>
              <a:rPr kumimoji="0" sz="900" spc="-231">
                <a:solidFill>
                  <a:prstClr val="black"/>
                </a:solidFill>
                <a:latin typeface="Arial"/>
                <a:ea typeface="+mn-ea"/>
                <a:cs typeface="Arial"/>
              </a:rPr>
              <a:t> </a:t>
            </a:r>
            <a:r>
              <a:rPr kumimoji="0" sz="900" spc="-9">
                <a:solidFill>
                  <a:prstClr val="black"/>
                </a:solidFill>
                <a:latin typeface="Arial"/>
                <a:ea typeface="+mn-ea"/>
                <a:cs typeface="Arial"/>
              </a:rPr>
              <a:t>020</a:t>
            </a:r>
            <a:endParaRPr lang="en-US" sz="900" spc="-9">
              <a:solidFill>
                <a:prstClr val="black"/>
              </a:solidFill>
              <a:latin typeface="Arial"/>
              <a:cs typeface="Arial"/>
            </a:endParaRPr>
          </a:p>
          <a:p>
            <a:pPr marL="11286" marR="4515" defTabSz="895327" fontAlgn="auto">
              <a:spcBef>
                <a:spcPts val="156"/>
              </a:spcBef>
              <a:spcAft>
                <a:spcPts val="0"/>
              </a:spcAft>
            </a:pPr>
            <a:r>
              <a:rPr kumimoji="0" lang="en-US" sz="900" spc="-9">
                <a:solidFill>
                  <a:prstClr val="black"/>
                </a:solidFill>
                <a:latin typeface="Arial"/>
                <a:ea typeface="+mn-ea"/>
                <a:cs typeface="Arial"/>
              </a:rPr>
              <a:t>          </a:t>
            </a:r>
            <a:r>
              <a:rPr kumimoji="0" sz="900" spc="-5">
                <a:solidFill>
                  <a:prstClr val="black"/>
                </a:solidFill>
                <a:latin typeface="Arial"/>
                <a:ea typeface="+mn-ea"/>
                <a:cs typeface="Arial"/>
              </a:rPr>
              <a:t>“Moisture/Reflow</a:t>
            </a:r>
            <a:r>
              <a:rPr kumimoji="0" sz="900" spc="14">
                <a:solidFill>
                  <a:prstClr val="black"/>
                </a:solidFill>
                <a:latin typeface="Arial"/>
                <a:ea typeface="+mn-ea"/>
                <a:cs typeface="Arial"/>
              </a:rPr>
              <a:t> </a:t>
            </a:r>
            <a:r>
              <a:rPr kumimoji="0" sz="900" spc="-5">
                <a:solidFill>
                  <a:prstClr val="black"/>
                </a:solidFill>
                <a:latin typeface="Arial"/>
                <a:ea typeface="+mn-ea"/>
                <a:cs typeface="Arial"/>
              </a:rPr>
              <a:t>Sensitivity</a:t>
            </a:r>
            <a:r>
              <a:rPr kumimoji="0" sz="900" spc="5">
                <a:solidFill>
                  <a:prstClr val="black"/>
                </a:solidFill>
                <a:latin typeface="Arial"/>
                <a:ea typeface="+mn-ea"/>
                <a:cs typeface="Arial"/>
              </a:rPr>
              <a:t> </a:t>
            </a:r>
            <a:r>
              <a:rPr kumimoji="0" sz="900" spc="-5">
                <a:solidFill>
                  <a:prstClr val="black"/>
                </a:solidFill>
                <a:latin typeface="Arial"/>
                <a:ea typeface="+mn-ea"/>
                <a:cs typeface="Arial"/>
              </a:rPr>
              <a:t>Classification</a:t>
            </a:r>
            <a:r>
              <a:rPr kumimoji="0" sz="900" spc="5">
                <a:solidFill>
                  <a:prstClr val="black"/>
                </a:solidFill>
                <a:latin typeface="Arial"/>
                <a:ea typeface="+mn-ea"/>
                <a:cs typeface="Arial"/>
              </a:rPr>
              <a:t> </a:t>
            </a:r>
            <a:r>
              <a:rPr kumimoji="0" sz="900" spc="-5">
                <a:solidFill>
                  <a:prstClr val="black"/>
                </a:solidFill>
                <a:latin typeface="Arial"/>
                <a:ea typeface="+mn-ea"/>
                <a:cs typeface="Arial"/>
              </a:rPr>
              <a:t>for</a:t>
            </a:r>
            <a:r>
              <a:rPr kumimoji="0" sz="900" spc="14">
                <a:solidFill>
                  <a:prstClr val="black"/>
                </a:solidFill>
                <a:latin typeface="Arial"/>
                <a:ea typeface="+mn-ea"/>
                <a:cs typeface="Arial"/>
              </a:rPr>
              <a:t> </a:t>
            </a:r>
            <a:r>
              <a:rPr kumimoji="0" sz="900" spc="-5">
                <a:solidFill>
                  <a:prstClr val="black"/>
                </a:solidFill>
                <a:latin typeface="Arial"/>
                <a:ea typeface="+mn-ea"/>
                <a:cs typeface="Arial"/>
              </a:rPr>
              <a:t>Non-Hermetic</a:t>
            </a:r>
            <a:r>
              <a:rPr kumimoji="0" sz="900" spc="9">
                <a:solidFill>
                  <a:prstClr val="black"/>
                </a:solidFill>
                <a:latin typeface="Arial"/>
                <a:ea typeface="+mn-ea"/>
                <a:cs typeface="Arial"/>
              </a:rPr>
              <a:t> </a:t>
            </a:r>
            <a:r>
              <a:rPr kumimoji="0" sz="900" spc="-5">
                <a:solidFill>
                  <a:prstClr val="black"/>
                </a:solidFill>
                <a:latin typeface="Arial"/>
                <a:ea typeface="+mn-ea"/>
                <a:cs typeface="Arial"/>
              </a:rPr>
              <a:t>Solid</a:t>
            </a:r>
            <a:r>
              <a:rPr kumimoji="0" sz="900" spc="9">
                <a:solidFill>
                  <a:prstClr val="black"/>
                </a:solidFill>
                <a:latin typeface="Arial"/>
                <a:ea typeface="+mn-ea"/>
                <a:cs typeface="Arial"/>
              </a:rPr>
              <a:t> </a:t>
            </a:r>
            <a:r>
              <a:rPr kumimoji="0" sz="900" spc="-5">
                <a:solidFill>
                  <a:prstClr val="black"/>
                </a:solidFill>
                <a:latin typeface="Arial"/>
                <a:ea typeface="+mn-ea"/>
                <a:cs typeface="Arial"/>
              </a:rPr>
              <a:t>State</a:t>
            </a:r>
            <a:r>
              <a:rPr kumimoji="0" sz="900" spc="5">
                <a:solidFill>
                  <a:prstClr val="black"/>
                </a:solidFill>
                <a:latin typeface="Arial"/>
                <a:ea typeface="+mn-ea"/>
                <a:cs typeface="Arial"/>
              </a:rPr>
              <a:t> </a:t>
            </a:r>
            <a:r>
              <a:rPr kumimoji="0" sz="900">
                <a:solidFill>
                  <a:prstClr val="black"/>
                </a:solidFill>
                <a:latin typeface="Arial"/>
                <a:ea typeface="+mn-ea"/>
                <a:cs typeface="Arial"/>
              </a:rPr>
              <a:t>Surface </a:t>
            </a:r>
            <a:r>
              <a:rPr kumimoji="0" sz="900" spc="-5">
                <a:solidFill>
                  <a:prstClr val="black"/>
                </a:solidFill>
                <a:latin typeface="Arial"/>
                <a:ea typeface="+mn-ea"/>
                <a:cs typeface="Arial"/>
              </a:rPr>
              <a:t>Mount</a:t>
            </a:r>
            <a:r>
              <a:rPr kumimoji="0" sz="900" spc="5">
                <a:solidFill>
                  <a:prstClr val="black"/>
                </a:solidFill>
                <a:latin typeface="Arial"/>
                <a:ea typeface="+mn-ea"/>
                <a:cs typeface="Arial"/>
              </a:rPr>
              <a:t> </a:t>
            </a:r>
            <a:r>
              <a:rPr kumimoji="0" sz="900">
                <a:solidFill>
                  <a:prstClr val="black"/>
                </a:solidFill>
                <a:latin typeface="Arial"/>
                <a:ea typeface="+mn-ea"/>
                <a:cs typeface="Arial"/>
              </a:rPr>
              <a:t>Devices”</a:t>
            </a:r>
          </a:p>
        </p:txBody>
      </p:sp>
      <p:sp>
        <p:nvSpPr>
          <p:cNvPr id="4" name="TextBox 3">
            <a:extLst>
              <a:ext uri="{FF2B5EF4-FFF2-40B4-BE49-F238E27FC236}">
                <a16:creationId xmlns:a16="http://schemas.microsoft.com/office/drawing/2014/main" id="{5B31EC9C-8C82-1FDA-35F0-8B1D2612B49A}"/>
              </a:ext>
            </a:extLst>
          </p:cNvPr>
          <p:cNvSpPr txBox="1"/>
          <p:nvPr/>
        </p:nvSpPr>
        <p:spPr>
          <a:xfrm>
            <a:off x="413545" y="774866"/>
            <a:ext cx="6039890" cy="307777"/>
          </a:xfrm>
          <a:prstGeom prst="rect">
            <a:avLst/>
          </a:prstGeom>
          <a:noFill/>
        </p:spPr>
        <p:txBody>
          <a:bodyPr wrap="square" lIns="0" rtlCol="0">
            <a:spAutoFit/>
          </a:bodyPr>
          <a:lstStyle/>
          <a:p>
            <a:r>
              <a:rPr lang="en-US" altLang="ko-KR" sz="1400" b="1">
                <a:latin typeface="Arial" panose="020B0604020202020204" pitchFamily="34" charset="0"/>
                <a:cs typeface="Arial" panose="020B0604020202020204" pitchFamily="34" charset="0"/>
              </a:rPr>
              <a:t>Recommended Footprint</a:t>
            </a:r>
          </a:p>
        </p:txBody>
      </p:sp>
      <p:sp>
        <p:nvSpPr>
          <p:cNvPr id="5" name="object 84">
            <a:extLst>
              <a:ext uri="{FF2B5EF4-FFF2-40B4-BE49-F238E27FC236}">
                <a16:creationId xmlns:a16="http://schemas.microsoft.com/office/drawing/2014/main" id="{CCF11DA2-E926-9AC6-C5FF-5CDDFB33D73A}"/>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9" name="object 2">
            <a:extLst>
              <a:ext uri="{FF2B5EF4-FFF2-40B4-BE49-F238E27FC236}">
                <a16:creationId xmlns:a16="http://schemas.microsoft.com/office/drawing/2014/main" id="{702E9065-1935-7D52-A841-D6F654F267CF}"/>
              </a:ext>
            </a:extLst>
          </p:cNvPr>
          <p:cNvGraphicFramePr>
            <a:graphicFrameLocks noGrp="1"/>
          </p:cNvGraphicFramePr>
          <p:nvPr>
            <p:extLst>
              <p:ext uri="{D42A27DB-BD31-4B8C-83A1-F6EECF244321}">
                <p14:modId xmlns:p14="http://schemas.microsoft.com/office/powerpoint/2010/main" val="3689734003"/>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a:latin typeface="Arial" panose="020B0604020202020204" pitchFamily="34" charset="0"/>
                          <a:cs typeface="Arial" panose="020B0604020202020204" pitchFamily="34" charset="0"/>
                        </a:rPr>
                        <a:t>Symbol</a:t>
                      </a:r>
                      <a:endParaRPr sz="900" b="1">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a:latin typeface="Arial" panose="020B0604020202020204" pitchFamily="34" charset="0"/>
                          <a:cs typeface="Arial" panose="020B0604020202020204" pitchFamily="34" charset="0"/>
                        </a:rPr>
                        <a:t>Dimensions in mm</a:t>
                      </a:r>
                      <a:endParaRPr sz="900" b="1">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a:latin typeface="Arial" panose="020B0604020202020204" pitchFamily="34" charset="0"/>
                          <a:cs typeface="Arial" panose="020B0604020202020204" pitchFamily="34" charset="0"/>
                        </a:rPr>
                        <a:t>Value</a:t>
                      </a:r>
                      <a:endParaRPr sz="900" b="1">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a:latin typeface="Arial" panose="020B0604020202020204" pitchFamily="34" charset="0"/>
                          <a:cs typeface="Arial" panose="020B0604020202020204" pitchFamily="34" charset="0"/>
                        </a:rPr>
                        <a:t>(Typ+)</a:t>
                      </a:r>
                      <a:endParaRPr sz="900" b="1">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0.5</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a:latin typeface="Arial" panose="020B0604020202020204" pitchFamily="34" charset="0"/>
                          <a:cs typeface="Arial" panose="020B0604020202020204" pitchFamily="34" charset="0"/>
                        </a:rPr>
                        <a:t>+0.2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0.2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0.4</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a:latin typeface="Arial" panose="020B0604020202020204" pitchFamily="34" charset="0"/>
                          <a:cs typeface="Arial" panose="020B0604020202020204" pitchFamily="34" charset="0"/>
                        </a:rPr>
                        <a:t>X1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0.5</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a:latin typeface="Arial" panose="020B0604020202020204" pitchFamily="34" charset="0"/>
                          <a:cs typeface="Arial" panose="020B0604020202020204" pitchFamily="34" charset="0"/>
                        </a:rPr>
                        <a:t>Y1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0.5</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a:latin typeface="Arial" panose="020B0604020202020204" pitchFamily="34" charset="0"/>
                          <a:cs typeface="Arial" panose="020B0604020202020204" pitchFamily="34" charset="0"/>
                        </a:rPr>
                        <a:t>X2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1.8</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a:latin typeface="Arial" panose="020B0604020202020204" pitchFamily="34" charset="0"/>
                          <a:cs typeface="Arial" panose="020B0604020202020204" pitchFamily="34" charset="0"/>
                        </a:rPr>
                        <a:t>Y2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1.8</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a:latin typeface="Arial" panose="020B0604020202020204" pitchFamily="34" charset="0"/>
                          <a:cs typeface="Arial" panose="020B0604020202020204" pitchFamily="34" charset="0"/>
                        </a:rPr>
                        <a:t>X3</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1.1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a:latin typeface="Arial" panose="020B0604020202020204" pitchFamily="34" charset="0"/>
                          <a:cs typeface="Arial" panose="020B0604020202020204" pitchFamily="34" charset="0"/>
                        </a:rPr>
                        <a:t>Y3</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1.6</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a:latin typeface="Arial" panose="020B0604020202020204" pitchFamily="34" charset="0"/>
                          <a:cs typeface="Arial" panose="020B0604020202020204" pitchFamily="34" charset="0"/>
                        </a:rPr>
                        <a:t>X4</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3.4</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a:latin typeface="Arial" panose="020B0604020202020204" pitchFamily="34" charset="0"/>
                          <a:cs typeface="Arial" panose="020B0604020202020204" pitchFamily="34" charset="0"/>
                        </a:rPr>
                        <a:t>Y4</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3.4</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a:latin typeface="Arial" panose="020B0604020202020204" pitchFamily="34" charset="0"/>
                          <a:cs typeface="Arial" panose="020B0604020202020204" pitchFamily="34" charset="0"/>
                        </a:rPr>
                        <a:t>0.2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a:latin typeface="Arial" panose="020B0604020202020204" pitchFamily="34" charset="0"/>
                          <a:cs typeface="Arial" panose="020B0604020202020204" pitchFamily="34" charset="0"/>
                        </a:rPr>
                        <a:t>G1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a:latin typeface="Arial" panose="020B0604020202020204" pitchFamily="34" charset="0"/>
                          <a:cs typeface="Arial" panose="020B0604020202020204" pitchFamily="34" charset="0"/>
                        </a:rPr>
                        <a:t>0.3</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a:latin typeface="Arial" panose="020B0604020202020204" pitchFamily="34" charset="0"/>
                          <a:cs typeface="Arial" panose="020B0604020202020204" pitchFamily="34" charset="0"/>
                        </a:rPr>
                        <a:t>G2</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a:latin typeface="Arial" panose="020B0604020202020204" pitchFamily="34" charset="0"/>
                          <a:cs typeface="Arial" panose="020B0604020202020204" pitchFamily="34" charset="0"/>
                        </a:rPr>
                        <a:t>0.1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a:latin typeface="Arial" panose="020B0604020202020204" pitchFamily="34" charset="0"/>
                          <a:cs typeface="Arial" panose="020B0604020202020204" pitchFamily="34" charset="0"/>
                        </a:rPr>
                        <a:t>G3</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a:latin typeface="Arial" panose="020B0604020202020204" pitchFamily="34" charset="0"/>
                          <a:cs typeface="Arial" panose="020B0604020202020204" pitchFamily="34" charset="0"/>
                        </a:rPr>
                        <a:t>0.1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a:latin typeface="Arial" panose="020B0604020202020204" pitchFamily="34" charset="0"/>
                          <a:cs typeface="Arial" panose="020B0604020202020204" pitchFamily="34" charset="0"/>
                        </a:rPr>
                        <a:t>G4</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a:latin typeface="Arial" panose="020B0604020202020204" pitchFamily="34" charset="0"/>
                          <a:cs typeface="Arial" panose="020B0604020202020204" pitchFamily="34" charset="0"/>
                        </a:rPr>
                        <a:t>0.1</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a:latin typeface="Arial" panose="020B0604020202020204" pitchFamily="34" charset="0"/>
                          <a:cs typeface="Arial" panose="020B0604020202020204" pitchFamily="34" charset="0"/>
                        </a:rPr>
                        <a:t>0</a:t>
                      </a:r>
                      <a:endParaRPr sz="90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pic>
        <p:nvPicPr>
          <p:cNvPr id="13" name="그림 12" descr="텍스트, 폰트, 도표, 스크린샷이(가) 표시된 사진&#10;&#10;AI 생성 콘텐츠는 정확하지 않을 수 있습니다.">
            <a:extLst>
              <a:ext uri="{FF2B5EF4-FFF2-40B4-BE49-F238E27FC236}">
                <a16:creationId xmlns:a16="http://schemas.microsoft.com/office/drawing/2014/main" id="{EB354BE9-C4DE-44EA-62DB-82B94EA01148}"/>
              </a:ext>
            </a:extLst>
          </p:cNvPr>
          <p:cNvPicPr>
            <a:picLocks noChangeAspect="1"/>
          </p:cNvPicPr>
          <p:nvPr/>
        </p:nvPicPr>
        <p:blipFill>
          <a:blip r:embed="rId3"/>
          <a:stretch>
            <a:fillRect/>
          </a:stretch>
        </p:blipFill>
        <p:spPr>
          <a:xfrm>
            <a:off x="273829" y="1278506"/>
            <a:ext cx="4163780" cy="3221037"/>
          </a:xfrm>
          <a:prstGeom prst="rect">
            <a:avLst/>
          </a:prstGeom>
        </p:spPr>
      </p:pic>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FDBF66C731B6F34ABEFE5E14910FE0A4" ma:contentTypeVersion="11" ma:contentTypeDescription="새 문서를 만듭니다." ma:contentTypeScope="" ma:versionID="814ccbb4168541b44c3e07025c0fce35">
  <xsd:schema xmlns:xsd="http://www.w3.org/2001/XMLSchema" xmlns:xs="http://www.w3.org/2001/XMLSchema" xmlns:p="http://schemas.microsoft.com/office/2006/metadata/properties" xmlns:ns2="43b0edd0-9f28-4056-b7a7-128691df75fa" xmlns:ns3="3fdc42ba-1aa3-4966-a9b1-c4c8f01b5ffd" targetNamespace="http://schemas.microsoft.com/office/2006/metadata/properties" ma:root="true" ma:fieldsID="67620d9df9833cb4a6a86fb646ff4edb" ns2:_="" ns3:_="">
    <xsd:import namespace="43b0edd0-9f28-4056-b7a7-128691df75fa"/>
    <xsd:import namespace="3fdc42ba-1aa3-4966-a9b1-c4c8f01b5f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b0edd0-9f28-4056-b7a7-128691df75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이미지 태그" ma:readOnly="false" ma:fieldId="{5cf76f15-5ced-4ddc-b409-7134ff3c332f}" ma:taxonomyMulti="true" ma:sspId="98b4ddb5-9792-4103-acad-6387fb66c96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fdc42ba-1aa3-4966-a9b1-c4c8f01b5ff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4498261-f2b2-4ff5-8936-55be04d01e9f}" ma:internalName="TaxCatchAll" ma:showField="CatchAllData" ma:web="3fdc42ba-1aa3-4966-a9b1-c4c8f01b5f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3b0edd0-9f28-4056-b7a7-128691df75fa">
      <Terms xmlns="http://schemas.microsoft.com/office/infopath/2007/PartnerControls"/>
    </lcf76f155ced4ddcb4097134ff3c332f>
    <TaxCatchAll xmlns="3fdc42ba-1aa3-4966-a9b1-c4c8f01b5ffd" xsi:nil="true"/>
  </documentManagement>
</p:properties>
</file>

<file path=customXml/itemProps1.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2.xml><?xml version="1.0" encoding="utf-8"?>
<ds:datastoreItem xmlns:ds="http://schemas.openxmlformats.org/officeDocument/2006/customXml" ds:itemID="{0615ABC1-594A-4497-BEDA-00F6B090FD42}">
  <ds:schemaRefs>
    <ds:schemaRef ds:uri="3fdc42ba-1aa3-4966-a9b1-c4c8f01b5ffd"/>
    <ds:schemaRef ds:uri="43b0edd0-9f28-4056-b7a7-128691df75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F6F863B-59A5-4DCE-B63F-FE618623F17F}">
  <ds:schemaRefs>
    <ds:schemaRef ds:uri="3fdc42ba-1aa3-4966-a9b1-c4c8f01b5ffd"/>
    <ds:schemaRef ds:uri="43b0edd0-9f28-4056-b7a7-128691df75f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6d9a7a2-a2c9-479c-a560-d79de4b6971b}" enabled="1" method="Privileged" siteId="{7cf932c0-bced-4490-b11f-48d23b1fe0d9}" removed="0"/>
</clbl:labelList>
</file>

<file path=docProps/app.xml><?xml version="1.0" encoding="utf-8"?>
<Properties xmlns="http://schemas.openxmlformats.org/officeDocument/2006/extended-properties" xmlns:vt="http://schemas.openxmlformats.org/officeDocument/2006/docPropsVTypes">
  <Template>Office Theme</Template>
  <TotalTime>499</TotalTime>
  <Words>12862</Words>
  <Application>Microsoft Office PowerPoint</Application>
  <PresentationFormat>A4 용지(210x297mm)</PresentationFormat>
  <Paragraphs>3942</Paragraphs>
  <Slides>47</Slides>
  <Notes>2</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47</vt:i4>
      </vt:variant>
    </vt:vector>
  </HeadingPairs>
  <TitlesOfParts>
    <vt:vector size="56" baseType="lpstr">
      <vt:lpstr>Microsoft GothicNeo</vt:lpstr>
      <vt:lpstr>굴림</vt:lpstr>
      <vt:lpstr>맑은 고딕</vt:lpstr>
      <vt:lpstr>현대하모니 L</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오 해찬</cp:lastModifiedBy>
  <cp:revision>91</cp:revision>
  <cp:lastPrinted>2026-01-12T04:57:16Z</cp:lastPrinted>
  <dcterms:created xsi:type="dcterms:W3CDTF">2020-06-17T04:27:48Z</dcterms:created>
  <dcterms:modified xsi:type="dcterms:W3CDTF">2026-09-29T07:11:42Z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0x010100FDBF66C731B6F34ABEFE5E14910FE0A4</vt:lpwstr>
  </property>
  <property fmtid="{D5CDD505-2E9C-101B-9397-08002B2CF9AE}" pid="3" name="MediaServiceImageTags">
    <vt:lpwstr/>
  </property>
  <property fmtid="{D5CDD505-2E9C-101B-9397-08002B2CF9AE}" pid="4" name="ClassificationContentMarkingFooterLocations">
    <vt:lpwstr>Office 테마:7</vt:lpwstr>
  </property>
  <property fmtid="{D5CDD505-2E9C-101B-9397-08002B2CF9AE}" pid="5" name="ClassificationContentMarkingFooterText">
    <vt:lpwstr>이승문( LEE Seungmoon ) 전원구동반도체팀 / 1634506@mobis.com / 본 문서는 현대모비스의 대외비 정보자산이므로 무단 전재 및 복제할 수 없으며, 위반 시 당사 사규 및 관련 법규에 의해 제재될 수 있습니다. </vt:lpwstr>
  </property>
  <property fmtid="{D5CDD505-2E9C-101B-9397-08002B2CF9AE}" pid="6" name="ClassificationWatermarkLocations">
    <vt:lpwstr>Office 테마:8</vt:lpwstr>
  </property>
  <property fmtid="{D5CDD505-2E9C-101B-9397-08002B2CF9AE}" pid="7" name="ClassificationWatermarkText">
    <vt:lpwstr>Hyundai Mobis Restricted</vt:lpwstr>
  </property>
</Properties>
</file>