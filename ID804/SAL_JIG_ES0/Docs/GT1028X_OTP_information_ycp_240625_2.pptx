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405" r:id="rId5"/>
    <p:sldId id="423" r:id="rId6"/>
    <p:sldId id="406" r:id="rId7"/>
    <p:sldId id="401" r:id="rId8"/>
    <p:sldId id="412" r:id="rId9"/>
    <p:sldId id="407" r:id="rId10"/>
    <p:sldId id="410" r:id="rId11"/>
    <p:sldId id="411" r:id="rId12"/>
    <p:sldId id="413" r:id="rId13"/>
    <p:sldId id="415" r:id="rId14"/>
    <p:sldId id="414" r:id="rId15"/>
    <p:sldId id="427" r:id="rId16"/>
    <p:sldId id="428" r:id="rId17"/>
    <p:sldId id="416" r:id="rId18"/>
    <p:sldId id="431" r:id="rId19"/>
    <p:sldId id="432" r:id="rId20"/>
    <p:sldId id="420" r:id="rId21"/>
    <p:sldId id="421" r:id="rId22"/>
    <p:sldId id="422" r:id="rId23"/>
    <p:sldId id="425" r:id="rId24"/>
    <p:sldId id="426" r:id="rId25"/>
    <p:sldId id="429" r:id="rId26"/>
    <p:sldId id="430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3BD"/>
    <a:srgbClr val="FFFF00"/>
    <a:srgbClr val="0000CC"/>
    <a:srgbClr val="FFFFFF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8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04" y="21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A18B1-D700-4FD8-882B-846230F37807}" type="datetimeFigureOut">
              <a:rPr lang="ko-KR" altLang="en-US" smtClean="0"/>
              <a:t>2024-06-25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E32DD-48AA-4C5B-AB44-7D467E0A2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132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F84CF-7769-7704-DDDE-ABDDE7CCC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1A1DBD-C09D-CBE5-0EBB-53937CCD7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E34D8F-24F3-7992-F7D2-D949D766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0AE6B9-5718-D904-A14D-F7CD9EC3B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4217B-E276-E48E-D7BE-05793F3C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923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606AB-6FFA-7E1B-736C-62FF1B33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BCC245-00DF-0792-4AFD-67D18F71E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CE7DCF-8EA4-D943-A142-13D1393C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62D3CB-B719-44BF-D3B6-DCC54336E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87BAE-5F5A-F83C-EC32-8E19B7D7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18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C8E7B-56FE-105A-CDB7-EDCA5CAE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67CBDF-6DF8-8337-D24A-5D4B0633A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44B7E-5446-BB31-4D34-B4A45FFB24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00CC5E-3A5F-2AF7-4116-74B233E95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E6C8F5-5228-ABA0-F57F-123AB2DE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9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42F11-E800-E989-9782-EB7FD3402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1D0BF4-99CE-C6D5-38A4-3B6D3EC90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0A629C-D72C-8D22-6646-CB68B9D97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40F920-4BE1-568C-F4EC-222F7EF07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EBFAC2-A851-C1C4-FD9F-A5E08556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94F87B-72AA-1410-EE25-4D46F368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371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E667D-6173-55B5-B796-AA657DC45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036617-79C0-0F5F-093B-1A7F5B4FE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32AE9B-CE4E-4E5D-9747-8DA6EECEB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3729DB-8087-D6F2-1AF8-D99072DB1D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2804FC-E7D5-421B-EB2C-E8E46119B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551850-EC74-019F-A5D5-D9F068D3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C26A52-9AD1-74CA-20B6-2E08D91C5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0CC7A8-40DF-8B89-B1BA-37389FDE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7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306A3-F9BC-5668-CA37-F78E088CD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46D88-A1B7-A466-4CD0-77590156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A4BE38-9D40-4214-9685-F87BA8D8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1434A9-FD98-9D24-2BF5-EC6C9A31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날짜 개체 틀 1">
            <a:extLst>
              <a:ext uri="{FF2B5EF4-FFF2-40B4-BE49-F238E27FC236}">
                <a16:creationId xmlns:a16="http://schemas.microsoft.com/office/drawing/2014/main" id="{7FAEA347-D5E5-86B2-BEA0-E1331A85CF7F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Confidential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BA5876-0A21-BB68-B323-607FB5E437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6AE0A23-5059-1744-AEBF-4AB248E1733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ABDAFE8-AC6F-290D-56B8-E0B0E27B138A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1">
            <a:extLst>
              <a:ext uri="{FF2B5EF4-FFF2-40B4-BE49-F238E27FC236}">
                <a16:creationId xmlns:a16="http://schemas.microsoft.com/office/drawing/2014/main" id="{477DD8BA-73D6-DCA5-089C-88A3862CA143}"/>
              </a:ext>
            </a:extLst>
          </p:cNvPr>
          <p:cNvSpPr txBox="1">
            <a:spLocks/>
          </p:cNvSpPr>
          <p:nvPr userDrawn="1"/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261F1448-8138-3507-E540-A2471C37103D}"/>
              </a:ext>
            </a:extLst>
          </p:cNvPr>
          <p:cNvSpPr txBox="1">
            <a:spLocks/>
          </p:cNvSpPr>
          <p:nvPr userDrawn="1"/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18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1">
            <a:extLst>
              <a:ext uri="{FF2B5EF4-FFF2-40B4-BE49-F238E27FC236}">
                <a16:creationId xmlns:a16="http://schemas.microsoft.com/office/drawing/2014/main" id="{71DDF53B-3747-C48A-F3C9-F6CA3EE61AE0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Confidential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90DECF-4F63-3F7A-D4C0-E3A649AD9E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9540B01-C7C8-0CDB-609A-DEBC4B054585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D9CE6BD-5E13-D04C-84A8-43900A3EAC3F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FEA90F93-F057-2EEF-2458-C95FC5DAA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0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9FEEF-9842-4CCC-DA50-BD9D99656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BA04B-0EEC-899B-0274-F350AC522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CF4103-102C-7F37-98B4-ED69BC04E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4E8C20-A7CE-0392-E577-D184B3FFA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1F3A2A-2614-E4F5-7A4E-7ABF5818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A77475-1181-61CA-0189-7C7E3083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468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C6AF4-416C-37B6-C9D3-7CA4CBEB0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5E1B89-CD07-078F-D461-1ADD35A12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9B2442-6804-E5DD-974E-3447DC0AB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8CFCCA-04B1-42F2-EF1E-93E863E6BC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55996F-C5CA-5119-FB2E-4813658C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ABED0E-202D-DB05-EF87-F411946C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08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AE11A-0B68-054C-AF08-A40B1B36C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A42309-712D-D63D-12F0-DD642970C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68BAC9-49D7-0362-D231-26B5734D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F8428A-7846-BB16-6CFE-7F9EF7252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64C8CE-986F-7448-9C93-DA445027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972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1E47CC-F00C-15D2-948D-77DEB465F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8C6054-EAFB-AE4E-D825-1B93E57B7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146682-BCCB-496F-17A7-B6147C11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DFA790-D52B-9168-6BA0-9D5D7C324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B56DFD-9F84-E926-8AE8-4883E3F2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6ED325-1159-4903-B065-3EC415C0E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41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날짜 개체 틀 1">
            <a:extLst>
              <a:ext uri="{FF2B5EF4-FFF2-40B4-BE49-F238E27FC236}">
                <a16:creationId xmlns:a16="http://schemas.microsoft.com/office/drawing/2014/main" id="{1398387D-F614-2CA7-49CA-762411B1BEC9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Confidential</a:t>
            </a:r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2641803-0446-4016-214C-428CB6016E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287D6AB-3951-7045-9F3D-FA8D4DFA63C2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E8E3A00-FA98-33F0-0140-04A45605754A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EC796FE4-C427-DDBF-3E9E-1B7D526FD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88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DA3212-9B19-E64B-C2B4-E962662D630F}"/>
              </a:ext>
            </a:extLst>
          </p:cNvPr>
          <p:cNvSpPr txBox="1"/>
          <p:nvPr/>
        </p:nvSpPr>
        <p:spPr>
          <a:xfrm>
            <a:off x="5412386" y="2797708"/>
            <a:ext cx="14927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endParaRPr lang="ko-KR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13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DA3212-9B19-E64B-C2B4-E962662D630F}"/>
              </a:ext>
            </a:extLst>
          </p:cNvPr>
          <p:cNvSpPr txBox="1"/>
          <p:nvPr/>
        </p:nvSpPr>
        <p:spPr>
          <a:xfrm>
            <a:off x="5039687" y="575208"/>
            <a:ext cx="22381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ko-KR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00A43-7FA0-D2BB-5B8A-300488F1AFA7}"/>
              </a:ext>
            </a:extLst>
          </p:cNvPr>
          <p:cNvSpPr txBox="1"/>
          <p:nvPr/>
        </p:nvSpPr>
        <p:spPr>
          <a:xfrm>
            <a:off x="5322431" y="2298521"/>
            <a:ext cx="16900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0. Information</a:t>
            </a:r>
          </a:p>
          <a:p>
            <a:pPr marL="342900" indent="-342900">
              <a:buAutoNum type="arabicPeriod"/>
            </a:pPr>
            <a:r>
              <a:rPr lang="en-US" altLang="ko-KR"/>
              <a:t>OTP </a:t>
            </a:r>
          </a:p>
          <a:p>
            <a:pPr marL="342900" indent="-342900">
              <a:buAutoNum type="arabicPeriod"/>
            </a:pPr>
            <a:r>
              <a:rPr lang="en-US" altLang="ko-KR"/>
              <a:t>Test </a:t>
            </a:r>
            <a:r>
              <a:rPr lang="ko-KR" altLang="en-US"/>
              <a:t>항목 </a:t>
            </a:r>
            <a:r>
              <a:rPr lang="en-US" altLang="ko-KR"/>
              <a:t> </a:t>
            </a:r>
          </a:p>
          <a:p>
            <a:pPr marL="342900" indent="-342900"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14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8F5D91-D574-45DF-E185-1FE84D2C57FD}"/>
              </a:ext>
            </a:extLst>
          </p:cNvPr>
          <p:cNvSpPr txBox="1"/>
          <p:nvPr/>
        </p:nvSpPr>
        <p:spPr>
          <a:xfrm>
            <a:off x="233680" y="101600"/>
            <a:ext cx="2708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0. Test Procedure (T.B.D)</a:t>
            </a:r>
            <a:endParaRPr lang="ko-KR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173CE5-6D61-422F-9E22-2E3BC7F3F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931" y="1104900"/>
            <a:ext cx="563880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9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4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180379F-55F8-9EFB-8672-208BE9B86A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264513"/>
              </p:ext>
            </p:extLst>
          </p:nvPr>
        </p:nvGraphicFramePr>
        <p:xfrm>
          <a:off x="679827" y="4324538"/>
          <a:ext cx="2502768" cy="1866900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198424018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721665185"/>
                    </a:ext>
                  </a:extLst>
                </a:gridCol>
                <a:gridCol w="1206624">
                  <a:extLst>
                    <a:ext uri="{9D8B030D-6E8A-4147-A177-3AD203B41FA5}">
                      <a16:colId xmlns:a16="http://schemas.microsoft.com/office/drawing/2014/main" val="174575832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SIOxP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95361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SIOxN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65844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SIOxP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SIOxN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33895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LVDS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00525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EOL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7414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16319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02572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05E25D9-F6AC-2D3D-8DD3-B83DE9330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170743"/>
              </p:ext>
            </p:extLst>
          </p:nvPr>
        </p:nvGraphicFramePr>
        <p:xfrm>
          <a:off x="7716705" y="2616503"/>
          <a:ext cx="3517902" cy="2261642"/>
        </p:xfrm>
        <a:graphic>
          <a:graphicData uri="http://schemas.openxmlformats.org/drawingml/2006/table">
            <a:tbl>
              <a:tblPr/>
              <a:tblGrid>
                <a:gridCol w="538032">
                  <a:extLst>
                    <a:ext uri="{9D8B030D-6E8A-4147-A177-3AD203B41FA5}">
                      <a16:colId xmlns:a16="http://schemas.microsoft.com/office/drawing/2014/main" val="3787499199"/>
                    </a:ext>
                  </a:extLst>
                </a:gridCol>
                <a:gridCol w="538032">
                  <a:extLst>
                    <a:ext uri="{9D8B030D-6E8A-4147-A177-3AD203B41FA5}">
                      <a16:colId xmlns:a16="http://schemas.microsoft.com/office/drawing/2014/main" val="1456717910"/>
                    </a:ext>
                  </a:extLst>
                </a:gridCol>
                <a:gridCol w="538032">
                  <a:extLst>
                    <a:ext uri="{9D8B030D-6E8A-4147-A177-3AD203B41FA5}">
                      <a16:colId xmlns:a16="http://schemas.microsoft.com/office/drawing/2014/main" val="1116043285"/>
                    </a:ext>
                  </a:extLst>
                </a:gridCol>
                <a:gridCol w="713927">
                  <a:extLst>
                    <a:ext uri="{9D8B030D-6E8A-4147-A177-3AD203B41FA5}">
                      <a16:colId xmlns:a16="http://schemas.microsoft.com/office/drawing/2014/main" val="1475989567"/>
                    </a:ext>
                  </a:extLst>
                </a:gridCol>
                <a:gridCol w="1189879">
                  <a:extLst>
                    <a:ext uri="{9D8B030D-6E8A-4147-A177-3AD203B41FA5}">
                      <a16:colId xmlns:a16="http://schemas.microsoft.com/office/drawing/2014/main" val="573473797"/>
                    </a:ext>
                  </a:extLst>
                </a:gridCol>
              </a:tblGrid>
              <a:tr h="225501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T_ANA_SEL&lt;2:0&gt;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93191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&lt;2&gt;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&lt;1&gt;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&lt;0&gt;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PAD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029293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Temperature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98846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External V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542854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VREF_TEST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002869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1.2V TEST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737277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VLDO_1.5V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001354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IBN_1U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885564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N/A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Reserved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678261"/>
                  </a:ext>
                </a:extLst>
              </a:tr>
              <a:tr h="2321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RESETB for DFT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2613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641946-A818-B250-9BDA-387B35D1DCD1}"/>
              </a:ext>
            </a:extLst>
          </p:cNvPr>
          <p:cNvSpPr txBox="1"/>
          <p:nvPr/>
        </p:nvSpPr>
        <p:spPr>
          <a:xfrm>
            <a:off x="7700593" y="4963844"/>
            <a:ext cx="4297651" cy="1015663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>
                <a:solidFill>
                  <a:srgbClr val="FF0000"/>
                </a:solidFill>
                <a:latin typeface="+mn-ea"/>
              </a:rPr>
              <a:t>ADC </a:t>
            </a:r>
            <a:r>
              <a:rPr lang="ko-KR" altLang="en-US" sz="1100">
                <a:solidFill>
                  <a:srgbClr val="FF0000"/>
                </a:solidFill>
                <a:latin typeface="+mn-ea"/>
              </a:rPr>
              <a:t>외부 전압 받을때 </a:t>
            </a:r>
            <a:r>
              <a:rPr lang="en-US" altLang="ko-KR" sz="1100">
                <a:latin typeface="+mn-ea"/>
              </a:rPr>
              <a:t>T_ANA_SEL&lt;2:0&gt;</a:t>
            </a:r>
            <a:r>
              <a:rPr lang="ko-KR" altLang="en-US" sz="1100">
                <a:latin typeface="+mn-ea"/>
              </a:rPr>
              <a:t>은 반드시 </a:t>
            </a:r>
            <a:r>
              <a:rPr lang="en-US" altLang="ko-KR" sz="1100">
                <a:latin typeface="+mn-ea"/>
              </a:rPr>
              <a:t>001 </a:t>
            </a:r>
            <a:r>
              <a:rPr lang="ko-KR" altLang="en-US" sz="1100">
                <a:latin typeface="+mn-ea"/>
              </a:rPr>
              <a:t>이여야함</a:t>
            </a:r>
            <a:endParaRPr lang="en-US" altLang="ko-KR" sz="1100">
              <a:latin typeface="+mn-ea"/>
            </a:endParaRPr>
          </a:p>
          <a:p>
            <a:pPr marL="228600" indent="-228600">
              <a:buAutoNum type="arabicPeriod"/>
            </a:pPr>
            <a:r>
              <a:rPr lang="en-US" altLang="ko-KR" sz="1100">
                <a:solidFill>
                  <a:srgbClr val="FF0000"/>
                </a:solidFill>
                <a:latin typeface="+mn-ea"/>
              </a:rPr>
              <a:t>SCAN(DFT) </a:t>
            </a:r>
            <a:r>
              <a:rPr lang="ko-KR" altLang="en-US" sz="1100">
                <a:solidFill>
                  <a:srgbClr val="FF0000"/>
                </a:solidFill>
                <a:latin typeface="+mn-ea"/>
              </a:rPr>
              <a:t>일 때는  </a:t>
            </a:r>
            <a:r>
              <a:rPr lang="en-US" altLang="ko-KR" sz="1100">
                <a:latin typeface="+mn-ea"/>
              </a:rPr>
              <a:t>ANA_SEL&lt;2:0&gt;</a:t>
            </a:r>
            <a:r>
              <a:rPr lang="ko-KR" altLang="en-US" sz="1100">
                <a:latin typeface="+mn-ea"/>
              </a:rPr>
              <a:t>은 반드시 </a:t>
            </a:r>
            <a:r>
              <a:rPr lang="en-US" altLang="ko-KR" sz="1100">
                <a:latin typeface="+mn-ea"/>
              </a:rPr>
              <a:t>111 </a:t>
            </a:r>
            <a:r>
              <a:rPr lang="ko-KR" altLang="en-US" sz="1100">
                <a:latin typeface="+mn-ea"/>
              </a:rPr>
              <a:t>이여야함</a:t>
            </a:r>
            <a:endParaRPr lang="en-US" altLang="ko-KR" sz="1100">
              <a:latin typeface="+mn-ea"/>
            </a:endParaRPr>
          </a:p>
          <a:p>
            <a:r>
              <a:rPr lang="en-US" altLang="ko-KR" sz="1100">
                <a:latin typeface="+mn-ea"/>
              </a:rPr>
              <a:t>    (</a:t>
            </a:r>
            <a:r>
              <a:rPr lang="ko-KR" altLang="en-US" sz="1100">
                <a:latin typeface="+mn-ea"/>
              </a:rPr>
              <a:t>같이 사용할 수도 있으나 혼선을 방지하고자 분리함</a:t>
            </a:r>
            <a:r>
              <a:rPr lang="en-US" altLang="ko-KR" sz="1100">
                <a:latin typeface="+mn-ea"/>
              </a:rPr>
              <a:t>)</a:t>
            </a:r>
            <a:r>
              <a:rPr lang="ko-KR" altLang="en-US" sz="1100">
                <a:latin typeface="+mn-ea"/>
              </a:rPr>
              <a:t> </a:t>
            </a:r>
            <a:endParaRPr lang="en-US" altLang="ko-KR" sz="1100">
              <a:latin typeface="+mn-ea"/>
            </a:endParaRPr>
          </a:p>
          <a:p>
            <a:endParaRPr lang="en-US" altLang="ko-KR" sz="1100">
              <a:latin typeface="+mn-ea"/>
            </a:endParaRPr>
          </a:p>
          <a:p>
            <a:endParaRPr lang="en-US" altLang="ko-KR" sz="1100">
              <a:latin typeface="+mn-ea"/>
            </a:endParaRPr>
          </a:p>
          <a:p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신호의 이름은 </a:t>
            </a:r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digital block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을 기준으로 함</a:t>
            </a:r>
            <a:endParaRPr lang="en-US" altLang="ko-KR" sz="11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7792CB-2DD5-7A6D-D53B-8591897F46D2}"/>
              </a:ext>
            </a:extLst>
          </p:cNvPr>
          <p:cNvSpPr txBox="1"/>
          <p:nvPr/>
        </p:nvSpPr>
        <p:spPr>
          <a:xfrm>
            <a:off x="465958" y="3181392"/>
            <a:ext cx="1635063" cy="1692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sz="1100">
                <a:latin typeface="+mn-ea"/>
              </a:rPr>
              <a:t>check IDDQ simulation</a:t>
            </a:r>
            <a:endParaRPr lang="en-US" altLang="ko-KR" sz="1100" dirty="0">
              <a:latin typeface="+mn-ea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FBF0F4D-9DB9-4A6F-2B33-68EB2B3E3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739317"/>
              </p:ext>
            </p:extLst>
          </p:nvPr>
        </p:nvGraphicFramePr>
        <p:xfrm>
          <a:off x="7716705" y="1789074"/>
          <a:ext cx="3517900" cy="65405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346561920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575242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4137070405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45264511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272999242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Normal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I2C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IDDQ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46354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TESTMODE1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38497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TESTMODE0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18395"/>
                  </a:ext>
                </a:extLst>
              </a:tr>
            </a:tbl>
          </a:graphicData>
        </a:graphic>
      </p:graphicFrame>
      <p:pic>
        <p:nvPicPr>
          <p:cNvPr id="12" name="Picture 2">
            <a:extLst>
              <a:ext uri="{FF2B5EF4-FFF2-40B4-BE49-F238E27FC236}">
                <a16:creationId xmlns:a16="http://schemas.microsoft.com/office/drawing/2014/main" id="{542FE5CA-5F2C-ABC7-0A7E-7725A0ACA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40" y="531218"/>
            <a:ext cx="719137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F0F397-2DBD-6188-F93E-38475FEFA888}"/>
              </a:ext>
            </a:extLst>
          </p:cNvPr>
          <p:cNvSpPr txBox="1"/>
          <p:nvPr/>
        </p:nvSpPr>
        <p:spPr>
          <a:xfrm>
            <a:off x="233680" y="101600"/>
            <a:ext cx="1663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0. Information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658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F725D9-E83C-BA16-823B-8B7E1EB5A0DB}"/>
              </a:ext>
            </a:extLst>
          </p:cNvPr>
          <p:cNvSpPr txBox="1"/>
          <p:nvPr/>
        </p:nvSpPr>
        <p:spPr>
          <a:xfrm>
            <a:off x="233680" y="101600"/>
            <a:ext cx="1663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0. Information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3D568-8034-A931-8283-A125CA6E1AF1}"/>
              </a:ext>
            </a:extLst>
          </p:cNvPr>
          <p:cNvSpPr txBox="1"/>
          <p:nvPr/>
        </p:nvSpPr>
        <p:spPr>
          <a:xfrm>
            <a:off x="5857240" y="3855720"/>
            <a:ext cx="57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LUT</a:t>
            </a:r>
            <a:endParaRPr lang="ko-KR" altLang="en-US"/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6209F86A-55CF-8289-3E36-24D483BD93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269661"/>
              </p:ext>
            </p:extLst>
          </p:nvPr>
        </p:nvGraphicFramePr>
        <p:xfrm>
          <a:off x="5638800" y="3024188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87" imgH="806515" progId="Excel.Sheet.12">
                  <p:embed/>
                </p:oleObj>
              </mc:Choice>
              <mc:Fallback>
                <p:oleObj name="Worksheet" showAsIcon="1" r:id="rId2" imgW="914487" imgH="8065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024188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5520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1-1. V_TRIM_BGR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853510-A878-DB0F-A606-047D2FD8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108206-FA28-58BF-4418-425C95F9379B}"/>
              </a:ext>
            </a:extLst>
          </p:cNvPr>
          <p:cNvSpPr/>
          <p:nvPr/>
        </p:nvSpPr>
        <p:spPr>
          <a:xfrm>
            <a:off x="5201920" y="1325880"/>
            <a:ext cx="89408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B8815-65E4-AAF1-2141-A85BDEC426D4}"/>
              </a:ext>
            </a:extLst>
          </p:cNvPr>
          <p:cNvSpPr txBox="1"/>
          <p:nvPr/>
        </p:nvSpPr>
        <p:spPr>
          <a:xfrm>
            <a:off x="523823" y="4852099"/>
            <a:ext cx="74622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T_ANA_SEL&lt;2:0&gt;: 011  </a:t>
            </a:r>
            <a:r>
              <a:rPr lang="ko-KR" altLang="en-US" sz="1200"/>
              <a:t>상태에서 </a:t>
            </a:r>
            <a:r>
              <a:rPr lang="en-US" altLang="ko-KR" sz="1200"/>
              <a:t>TEST_V PIN</a:t>
            </a:r>
            <a:r>
              <a:rPr lang="ko-KR" altLang="en-US" sz="1200"/>
              <a:t>으로 전압을 측정</a:t>
            </a:r>
            <a:endParaRPr lang="en-US" altLang="ko-KR" sz="1200"/>
          </a:p>
          <a:p>
            <a:pPr marL="228600" indent="-228600">
              <a:buAutoNum type="alphaLcPeriod"/>
            </a:pPr>
            <a:r>
              <a:rPr lang="ko-KR" altLang="en-US" sz="1200"/>
              <a:t>온도 특성에 대한 </a:t>
            </a:r>
            <a:r>
              <a:rPr lang="en-US" altLang="ko-KR" sz="1200"/>
              <a:t>BGR Compensation</a:t>
            </a:r>
            <a:r>
              <a:rPr lang="ko-KR" altLang="en-US" sz="1200"/>
              <a:t>은  </a:t>
            </a:r>
            <a:r>
              <a:rPr lang="en-US" altLang="ko-KR" sz="1200"/>
              <a:t>V_TRIM_BGR&lt;5:0&gt; </a:t>
            </a:r>
            <a:r>
              <a:rPr lang="ko-KR" altLang="en-US" sz="1200"/>
              <a:t>으로 결정</a:t>
            </a:r>
            <a:r>
              <a:rPr lang="en-US" altLang="ko-KR" sz="1200"/>
              <a:t> </a:t>
            </a:r>
          </a:p>
          <a:p>
            <a:pPr marL="228600" indent="-228600">
              <a:buAutoNum type="alphaLcPeriod"/>
            </a:pPr>
            <a:r>
              <a:rPr lang="ko-KR" altLang="en-US" sz="1200"/>
              <a:t>온도에 대한 보상된 전압을 찾았으면 </a:t>
            </a:r>
            <a:r>
              <a:rPr lang="en-US" altLang="ko-KR" sz="1200"/>
              <a:t>BGR_R1_TRIM&lt;3:0&gt; </a:t>
            </a:r>
            <a:r>
              <a:rPr lang="ko-KR" altLang="en-US" sz="1200"/>
              <a:t>과 </a:t>
            </a:r>
            <a:r>
              <a:rPr lang="en-US" altLang="ko-KR" sz="1200"/>
              <a:t>BGR_R2_TRIM&lt;3:0&gt;</a:t>
            </a:r>
            <a:r>
              <a:rPr lang="ko-KR" altLang="en-US" sz="1200"/>
              <a:t>으로 </a:t>
            </a:r>
            <a:r>
              <a:rPr lang="en-US" altLang="ko-KR" sz="1200"/>
              <a:t>1.2V </a:t>
            </a:r>
            <a:r>
              <a:rPr lang="ko-KR" altLang="en-US" sz="1200"/>
              <a:t>전압 결정</a:t>
            </a:r>
            <a:r>
              <a:rPr lang="en-US" altLang="ko-KR" sz="1200"/>
              <a:t> </a:t>
            </a:r>
          </a:p>
          <a:p>
            <a:endParaRPr lang="en-US" altLang="ko-KR" sz="1200"/>
          </a:p>
          <a:p>
            <a:r>
              <a:rPr lang="en-US" altLang="ko-KR" sz="1200">
                <a:sym typeface="Wingdings" panose="05000000000000000000" pitchFamily="2" charset="2"/>
              </a:rPr>
              <a:t>  LUT </a:t>
            </a:r>
            <a:r>
              <a:rPr lang="ko-KR" altLang="en-US" sz="1200">
                <a:sym typeface="Wingdings" panose="05000000000000000000" pitchFamily="2" charset="2"/>
              </a:rPr>
              <a:t>참조 </a:t>
            </a:r>
            <a:r>
              <a:rPr lang="en-US" altLang="ko-KR" sz="1200">
                <a:sym typeface="Wingdings" panose="05000000000000000000" pitchFamily="2" charset="2"/>
              </a:rPr>
              <a:t>( ideal LUT</a:t>
            </a:r>
            <a:r>
              <a:rPr lang="ko-KR" altLang="en-US" sz="1200">
                <a:sym typeface="Wingdings" panose="05000000000000000000" pitchFamily="2" charset="2"/>
              </a:rPr>
              <a:t>을 바탕으로 </a:t>
            </a:r>
            <a:r>
              <a:rPr lang="en-US" altLang="ko-KR" sz="1200">
                <a:sym typeface="Wingdings" panose="05000000000000000000" pitchFamily="2" charset="2"/>
              </a:rPr>
              <a:t>Test LUT</a:t>
            </a:r>
            <a:r>
              <a:rPr lang="ko-KR" altLang="en-US" sz="1200">
                <a:sym typeface="Wingdings" panose="05000000000000000000" pitchFamily="2" charset="2"/>
              </a:rPr>
              <a:t>를 만드는 것이 바람직함</a:t>
            </a:r>
            <a:r>
              <a:rPr lang="en-US" altLang="ko-KR" sz="1200">
                <a:sym typeface="Wingdings" panose="05000000000000000000" pitchFamily="2" charset="2"/>
              </a:rPr>
              <a:t>) </a:t>
            </a:r>
            <a:r>
              <a:rPr lang="en-US" altLang="ko-KR" sz="1200"/>
              <a:t> </a:t>
            </a:r>
            <a:endParaRPr lang="ko-KR" altLang="en-US" sz="12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3B48DA-F1BC-D043-5B29-D657D047780A}"/>
              </a:ext>
            </a:extLst>
          </p:cNvPr>
          <p:cNvSpPr/>
          <p:nvPr/>
        </p:nvSpPr>
        <p:spPr>
          <a:xfrm>
            <a:off x="5201920" y="1976120"/>
            <a:ext cx="268732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0F1CE67-D6C5-7916-24B0-3205039042F0}"/>
              </a:ext>
            </a:extLst>
          </p:cNvPr>
          <p:cNvSpPr/>
          <p:nvPr/>
        </p:nvSpPr>
        <p:spPr>
          <a:xfrm>
            <a:off x="2997200" y="1325880"/>
            <a:ext cx="397933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945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4974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1-2. BGR_R1_TRIM&lt;3:0&gt;/ BGR_R2_TRIM&lt;3:0&gt;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853510-A878-DB0F-A606-047D2FD8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108206-FA28-58BF-4418-425C95F9379B}"/>
              </a:ext>
            </a:extLst>
          </p:cNvPr>
          <p:cNvSpPr/>
          <p:nvPr/>
        </p:nvSpPr>
        <p:spPr>
          <a:xfrm>
            <a:off x="5201920" y="1325880"/>
            <a:ext cx="89408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B8815-65E4-AAF1-2141-A85BDEC426D4}"/>
              </a:ext>
            </a:extLst>
          </p:cNvPr>
          <p:cNvSpPr txBox="1"/>
          <p:nvPr/>
        </p:nvSpPr>
        <p:spPr>
          <a:xfrm>
            <a:off x="523823" y="4852099"/>
            <a:ext cx="33290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V_BGR_TRIM </a:t>
            </a:r>
            <a:r>
              <a:rPr lang="ko-KR" altLang="en-US" sz="1200"/>
              <a:t>과 같은 방법</a:t>
            </a:r>
            <a:r>
              <a:rPr lang="en-US" altLang="ko-KR" sz="1200"/>
              <a:t>/ </a:t>
            </a:r>
            <a:r>
              <a:rPr lang="ko-KR" altLang="en-US" sz="1200"/>
              <a:t>같은 </a:t>
            </a:r>
            <a:r>
              <a:rPr lang="en-US" altLang="ko-KR" sz="1200"/>
              <a:t>LUT </a:t>
            </a:r>
            <a:r>
              <a:rPr lang="ko-KR" altLang="en-US" sz="1200"/>
              <a:t>사용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3B48DA-F1BC-D043-5B29-D657D047780A}"/>
              </a:ext>
            </a:extLst>
          </p:cNvPr>
          <p:cNvSpPr/>
          <p:nvPr/>
        </p:nvSpPr>
        <p:spPr>
          <a:xfrm>
            <a:off x="5842000" y="2273300"/>
            <a:ext cx="2015067" cy="30607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FC6F41-F75A-11DD-1658-E567373FB4AC}"/>
              </a:ext>
            </a:extLst>
          </p:cNvPr>
          <p:cNvSpPr/>
          <p:nvPr/>
        </p:nvSpPr>
        <p:spPr>
          <a:xfrm>
            <a:off x="2997200" y="1325880"/>
            <a:ext cx="397933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48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1-3. I_TRIM_BGR&lt;4:0&gt;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853510-A878-DB0F-A606-047D2FD8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108206-FA28-58BF-4418-425C95F9379B}"/>
              </a:ext>
            </a:extLst>
          </p:cNvPr>
          <p:cNvSpPr/>
          <p:nvPr/>
        </p:nvSpPr>
        <p:spPr>
          <a:xfrm>
            <a:off x="5201920" y="1325880"/>
            <a:ext cx="89408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3B48DA-F1BC-D043-5B29-D657D047780A}"/>
              </a:ext>
            </a:extLst>
          </p:cNvPr>
          <p:cNvSpPr/>
          <p:nvPr/>
        </p:nvSpPr>
        <p:spPr>
          <a:xfrm>
            <a:off x="5588000" y="2141220"/>
            <a:ext cx="2269067" cy="14986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57A9-2E80-38FD-5477-E2616FC71B09}"/>
              </a:ext>
            </a:extLst>
          </p:cNvPr>
          <p:cNvSpPr txBox="1"/>
          <p:nvPr/>
        </p:nvSpPr>
        <p:spPr>
          <a:xfrm>
            <a:off x="523823" y="4852099"/>
            <a:ext cx="8818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T_ANA_SEL&lt;2:0&gt;: 101  </a:t>
            </a:r>
            <a:r>
              <a:rPr lang="ko-KR" altLang="en-US" sz="1200"/>
              <a:t>상태에서 </a:t>
            </a:r>
            <a:r>
              <a:rPr lang="en-US" altLang="ko-KR" sz="1200"/>
              <a:t>TEST_V PIN</a:t>
            </a:r>
            <a:r>
              <a:rPr lang="ko-KR" altLang="en-US" sz="1200"/>
              <a:t>에 특정 전압 인가후 </a:t>
            </a:r>
            <a:r>
              <a:rPr lang="en-US" altLang="ko-KR" sz="1200"/>
              <a:t>(</a:t>
            </a:r>
            <a:r>
              <a:rPr lang="ko-KR" altLang="en-US" sz="1200"/>
              <a:t>전압</a:t>
            </a:r>
            <a:r>
              <a:rPr lang="en-US" altLang="ko-KR" sz="1200"/>
              <a:t> </a:t>
            </a:r>
            <a:r>
              <a:rPr lang="ko-KR" altLang="en-US" sz="1200"/>
              <a:t>추후 결정</a:t>
            </a:r>
            <a:r>
              <a:rPr lang="en-US" altLang="ko-KR" sz="1200"/>
              <a:t>) DUT</a:t>
            </a:r>
            <a:r>
              <a:rPr lang="ko-KR" altLang="en-US" sz="1200"/>
              <a:t>에서 장비로 들어오는 전류를 측정</a:t>
            </a:r>
            <a:endParaRPr lang="en-US" altLang="ko-KR" sz="1200"/>
          </a:p>
          <a:p>
            <a:pPr marL="228600" indent="-228600">
              <a:buAutoNum type="alphaLcPeriod"/>
            </a:pPr>
            <a:endParaRPr lang="en-US" altLang="ko-KR" sz="1200"/>
          </a:p>
          <a:p>
            <a:r>
              <a:rPr lang="en-US" altLang="ko-KR" sz="1200"/>
              <a:t>  </a:t>
            </a:r>
            <a:r>
              <a:rPr lang="en-US" altLang="ko-KR" sz="1200">
                <a:sym typeface="Wingdings" panose="05000000000000000000" pitchFamily="2" charset="2"/>
              </a:rPr>
              <a:t> LUT</a:t>
            </a:r>
            <a:r>
              <a:rPr lang="ko-KR" altLang="en-US" sz="1200">
                <a:sym typeface="Wingdings" panose="05000000000000000000" pitchFamily="2" charset="2"/>
              </a:rPr>
              <a:t> 참조</a:t>
            </a:r>
            <a:endParaRPr lang="en-US" altLang="ko-KR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0A145E-32F2-5A74-FAC3-125C1F3A88C6}"/>
              </a:ext>
            </a:extLst>
          </p:cNvPr>
          <p:cNvSpPr/>
          <p:nvPr/>
        </p:nvSpPr>
        <p:spPr>
          <a:xfrm>
            <a:off x="2997200" y="1325880"/>
            <a:ext cx="397933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761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305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1-4. TEMP_TRIM_BGR&lt;5:0&gt;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853510-A878-DB0F-A606-047D2FD8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108206-FA28-58BF-4418-425C95F9379B}"/>
              </a:ext>
            </a:extLst>
          </p:cNvPr>
          <p:cNvSpPr/>
          <p:nvPr/>
        </p:nvSpPr>
        <p:spPr>
          <a:xfrm>
            <a:off x="5201920" y="1325880"/>
            <a:ext cx="89408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3B48DA-F1BC-D043-5B29-D657D047780A}"/>
              </a:ext>
            </a:extLst>
          </p:cNvPr>
          <p:cNvSpPr/>
          <p:nvPr/>
        </p:nvSpPr>
        <p:spPr>
          <a:xfrm>
            <a:off x="3738881" y="2283460"/>
            <a:ext cx="2090420" cy="14986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57A9-2E80-38FD-5477-E2616FC71B09}"/>
              </a:ext>
            </a:extLst>
          </p:cNvPr>
          <p:cNvSpPr txBox="1"/>
          <p:nvPr/>
        </p:nvSpPr>
        <p:spPr>
          <a:xfrm>
            <a:off x="523823" y="4852099"/>
            <a:ext cx="3940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T_ANA_SEL&lt;2:0&gt;: 000  </a:t>
            </a:r>
            <a:r>
              <a:rPr lang="ko-KR" altLang="en-US" sz="1200"/>
              <a:t>상태에서 </a:t>
            </a:r>
            <a:r>
              <a:rPr lang="en-US" altLang="ko-KR" sz="1200"/>
              <a:t>TEST_V </a:t>
            </a:r>
            <a:r>
              <a:rPr lang="ko-KR" altLang="en-US" sz="1200"/>
              <a:t>전압 측정</a:t>
            </a:r>
            <a:endParaRPr lang="en-US" altLang="ko-KR" sz="1200"/>
          </a:p>
          <a:p>
            <a:pPr marL="228600" indent="-228600">
              <a:buAutoNum type="alphaLcPeriod"/>
            </a:pPr>
            <a:endParaRPr lang="en-US" altLang="ko-KR" sz="1200"/>
          </a:p>
          <a:p>
            <a:r>
              <a:rPr lang="en-US" altLang="ko-KR" sz="1200"/>
              <a:t>  </a:t>
            </a:r>
            <a:r>
              <a:rPr lang="en-US" altLang="ko-KR" sz="1200">
                <a:sym typeface="Wingdings" panose="05000000000000000000" pitchFamily="2" charset="2"/>
              </a:rPr>
              <a:t> LUT</a:t>
            </a:r>
            <a:r>
              <a:rPr lang="ko-KR" altLang="en-US" sz="1200">
                <a:sym typeface="Wingdings" panose="05000000000000000000" pitchFamily="2" charset="2"/>
              </a:rPr>
              <a:t> 참조</a:t>
            </a:r>
            <a:endParaRPr lang="en-US" altLang="ko-KR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988282-78D3-BE5D-5BC0-9F6108A61DF0}"/>
              </a:ext>
            </a:extLst>
          </p:cNvPr>
          <p:cNvSpPr/>
          <p:nvPr/>
        </p:nvSpPr>
        <p:spPr>
          <a:xfrm>
            <a:off x="2997200" y="1325880"/>
            <a:ext cx="397933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079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1-5. LDO_CTL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853510-A878-DB0F-A606-047D2FD8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108206-FA28-58BF-4418-425C95F9379B}"/>
              </a:ext>
            </a:extLst>
          </p:cNvPr>
          <p:cNvSpPr/>
          <p:nvPr/>
        </p:nvSpPr>
        <p:spPr>
          <a:xfrm>
            <a:off x="5201920" y="1325880"/>
            <a:ext cx="89408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3B48DA-F1BC-D043-5B29-D657D047780A}"/>
              </a:ext>
            </a:extLst>
          </p:cNvPr>
          <p:cNvSpPr/>
          <p:nvPr/>
        </p:nvSpPr>
        <p:spPr>
          <a:xfrm>
            <a:off x="4658783" y="2141220"/>
            <a:ext cx="939800" cy="13462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9EB64-E39A-FD88-4C02-BD202226E891}"/>
              </a:ext>
            </a:extLst>
          </p:cNvPr>
          <p:cNvSpPr txBox="1"/>
          <p:nvPr/>
        </p:nvSpPr>
        <p:spPr>
          <a:xfrm>
            <a:off x="523823" y="4852099"/>
            <a:ext cx="3940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T_ANA_SEL&lt;2:0&gt;: 100  </a:t>
            </a:r>
            <a:r>
              <a:rPr lang="ko-KR" altLang="en-US" sz="1200"/>
              <a:t>상태에서 </a:t>
            </a:r>
            <a:r>
              <a:rPr lang="en-US" altLang="ko-KR" sz="1200"/>
              <a:t>TEST_V </a:t>
            </a:r>
            <a:r>
              <a:rPr lang="ko-KR" altLang="en-US" sz="1200"/>
              <a:t>전압 측정</a:t>
            </a:r>
            <a:endParaRPr lang="en-US" altLang="ko-KR" sz="1200"/>
          </a:p>
          <a:p>
            <a:pPr marL="228600" indent="-228600">
              <a:buAutoNum type="alphaLcPeriod"/>
            </a:pPr>
            <a:endParaRPr lang="en-US" altLang="ko-KR" sz="1200"/>
          </a:p>
          <a:p>
            <a:r>
              <a:rPr lang="en-US" altLang="ko-KR" sz="1200"/>
              <a:t>  </a:t>
            </a:r>
            <a:r>
              <a:rPr lang="en-US" altLang="ko-KR" sz="1200">
                <a:sym typeface="Wingdings" panose="05000000000000000000" pitchFamily="2" charset="2"/>
              </a:rPr>
              <a:t> LUT</a:t>
            </a:r>
            <a:r>
              <a:rPr lang="ko-KR" altLang="en-US" sz="1200">
                <a:sym typeface="Wingdings" panose="05000000000000000000" pitchFamily="2" charset="2"/>
              </a:rPr>
              <a:t> 참조</a:t>
            </a:r>
            <a:endParaRPr lang="en-US" altLang="ko-KR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06C207-50F2-4E4B-105B-DABFEDDB45F8}"/>
              </a:ext>
            </a:extLst>
          </p:cNvPr>
          <p:cNvSpPr/>
          <p:nvPr/>
        </p:nvSpPr>
        <p:spPr>
          <a:xfrm>
            <a:off x="2997200" y="1325880"/>
            <a:ext cx="397933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76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59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1-6. OSC_CTL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853510-A878-DB0F-A606-047D2FD8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89" y="932319"/>
            <a:ext cx="8422105" cy="373539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7108206-FA28-58BF-4418-425C95F9379B}"/>
              </a:ext>
            </a:extLst>
          </p:cNvPr>
          <p:cNvSpPr/>
          <p:nvPr/>
        </p:nvSpPr>
        <p:spPr>
          <a:xfrm>
            <a:off x="5201920" y="1325880"/>
            <a:ext cx="89408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3B48DA-F1BC-D043-5B29-D657D047780A}"/>
              </a:ext>
            </a:extLst>
          </p:cNvPr>
          <p:cNvSpPr/>
          <p:nvPr/>
        </p:nvSpPr>
        <p:spPr>
          <a:xfrm>
            <a:off x="2981960" y="2405380"/>
            <a:ext cx="2847341" cy="13462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57A9-2E80-38FD-5477-E2616FC71B09}"/>
              </a:ext>
            </a:extLst>
          </p:cNvPr>
          <p:cNvSpPr txBox="1"/>
          <p:nvPr/>
        </p:nvSpPr>
        <p:spPr>
          <a:xfrm>
            <a:off x="523823" y="4852099"/>
            <a:ext cx="3466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SIO2N (I2C MODE) </a:t>
            </a:r>
            <a:r>
              <a:rPr lang="ko-KR" altLang="en-US" sz="1200"/>
              <a:t>에서 </a:t>
            </a:r>
            <a:r>
              <a:rPr lang="en-US" altLang="ko-KR" sz="1200"/>
              <a:t>16</a:t>
            </a:r>
            <a:r>
              <a:rPr lang="ko-KR" altLang="en-US" sz="1200"/>
              <a:t>분주된 </a:t>
            </a:r>
            <a:r>
              <a:rPr lang="en-US" altLang="ko-KR" sz="1200"/>
              <a:t>CLK</a:t>
            </a:r>
            <a:r>
              <a:rPr lang="ko-KR" altLang="en-US" sz="1200"/>
              <a:t> 측정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>
                <a:sym typeface="Wingdings" panose="05000000000000000000" pitchFamily="2" charset="2"/>
              </a:rPr>
              <a:t> LUT</a:t>
            </a:r>
            <a:r>
              <a:rPr lang="ko-KR" altLang="en-US" sz="1200">
                <a:sym typeface="Wingdings" panose="05000000000000000000" pitchFamily="2" charset="2"/>
              </a:rPr>
              <a:t> 참조</a:t>
            </a:r>
            <a:endParaRPr lang="en-US" altLang="ko-KR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3C4C72-E31A-5D5B-E68F-E410A11AA40C}"/>
              </a:ext>
            </a:extLst>
          </p:cNvPr>
          <p:cNvSpPr/>
          <p:nvPr/>
        </p:nvSpPr>
        <p:spPr>
          <a:xfrm>
            <a:off x="2997200" y="1325880"/>
            <a:ext cx="804333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52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27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1-7. LVDS</a:t>
            </a:r>
            <a:r>
              <a:rPr lang="ko-KR" alt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9BC8D2-730D-2C44-634E-72975107044E}"/>
              </a:ext>
            </a:extLst>
          </p:cNvPr>
          <p:cNvSpPr txBox="1"/>
          <p:nvPr/>
        </p:nvSpPr>
        <p:spPr>
          <a:xfrm>
            <a:off x="523823" y="648399"/>
            <a:ext cx="24625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SIO1/SIO2 LVDS Tx </a:t>
            </a:r>
            <a:r>
              <a:rPr lang="ko-KR" altLang="en-US" sz="1200"/>
              <a:t>전류 측정</a:t>
            </a:r>
            <a:endParaRPr lang="en-US" altLang="ko-KR" sz="12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DC239AC-A39E-BE0C-E762-9098172C2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" y="1075522"/>
            <a:ext cx="11136545" cy="88027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D9DE9D-1DED-166F-2F88-B091FA8786A0}"/>
              </a:ext>
            </a:extLst>
          </p:cNvPr>
          <p:cNvSpPr/>
          <p:nvPr/>
        </p:nvSpPr>
        <p:spPr>
          <a:xfrm>
            <a:off x="3989836" y="1260151"/>
            <a:ext cx="3052314" cy="1686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47753A8-705C-FFD6-2B89-AE1A7D8EA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7" y="2140429"/>
            <a:ext cx="5790625" cy="204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02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27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1-7. LVDS</a:t>
            </a:r>
            <a:r>
              <a:rPr lang="ko-KR" alt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9BC8D2-730D-2C44-634E-72975107044E}"/>
              </a:ext>
            </a:extLst>
          </p:cNvPr>
          <p:cNvSpPr txBox="1"/>
          <p:nvPr/>
        </p:nvSpPr>
        <p:spPr>
          <a:xfrm>
            <a:off x="523823" y="648399"/>
            <a:ext cx="29483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SIO1/SIO2 LVDS Rx Sense </a:t>
            </a:r>
            <a:r>
              <a:rPr lang="ko-KR" altLang="en-US" sz="1200"/>
              <a:t>저항 측정</a:t>
            </a:r>
            <a:endParaRPr lang="en-US" altLang="ko-KR" sz="12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DC239AC-A39E-BE0C-E762-9098172C2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" y="1075522"/>
            <a:ext cx="11136545" cy="88027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D9DE9D-1DED-166F-2F88-B091FA8786A0}"/>
              </a:ext>
            </a:extLst>
          </p:cNvPr>
          <p:cNvSpPr/>
          <p:nvPr/>
        </p:nvSpPr>
        <p:spPr>
          <a:xfrm>
            <a:off x="4019550" y="1397000"/>
            <a:ext cx="2235200" cy="2032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5C879F-8075-9672-EE8B-0A0A74EFF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277278"/>
            <a:ext cx="3515253" cy="162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81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1-8. ADC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01C0D-98D3-7DDB-9451-462A12E722C8}"/>
              </a:ext>
            </a:extLst>
          </p:cNvPr>
          <p:cNvSpPr txBox="1"/>
          <p:nvPr/>
        </p:nvSpPr>
        <p:spPr>
          <a:xfrm>
            <a:off x="580972" y="2450735"/>
            <a:ext cx="523900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TEST</a:t>
            </a:r>
            <a:r>
              <a:rPr lang="ko-KR" altLang="en-US" sz="1000" dirty="0"/>
              <a:t> 전압 인가 </a:t>
            </a:r>
            <a:r>
              <a:rPr lang="en-US" altLang="ko-KR" sz="1000" dirty="0"/>
              <a:t>PIN = TEST_V</a:t>
            </a:r>
          </a:p>
          <a:p>
            <a:r>
              <a:rPr lang="en-US" altLang="ko-KR" sz="1000" dirty="0"/>
              <a:t>ADC </a:t>
            </a:r>
            <a:r>
              <a:rPr lang="ko-KR" altLang="en-US" sz="1000" dirty="0"/>
              <a:t>출력 </a:t>
            </a:r>
            <a:r>
              <a:rPr lang="en-US" altLang="ko-KR" sz="1000" dirty="0"/>
              <a:t>READ </a:t>
            </a:r>
          </a:p>
          <a:p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US" altLang="ko-KR" sz="1000" dirty="0"/>
              <a:t>ADC</a:t>
            </a:r>
            <a:r>
              <a:rPr lang="ko-KR" altLang="en-US" sz="1000" dirty="0"/>
              <a:t> </a:t>
            </a:r>
            <a:r>
              <a:rPr lang="en-US" altLang="ko-KR" sz="1000" dirty="0"/>
              <a:t>GAIN</a:t>
            </a:r>
            <a:r>
              <a:rPr lang="ko-KR" altLang="en-US" sz="1000" dirty="0"/>
              <a:t> 보정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---------- setting---------------</a:t>
            </a:r>
          </a:p>
          <a:p>
            <a:r>
              <a:rPr lang="en-US" altLang="ko-KR" sz="1000" dirty="0"/>
              <a:t>VEXT_MON_E = 1’b 1</a:t>
            </a:r>
          </a:p>
          <a:p>
            <a:r>
              <a:rPr lang="en-US" altLang="ko-KR" sz="1000" dirty="0"/>
              <a:t>O_T_ANA_SEL[2:0] = 3’b 001</a:t>
            </a:r>
          </a:p>
          <a:p>
            <a:r>
              <a:rPr lang="en-US" altLang="ko-KR" sz="1000" dirty="0"/>
              <a:t>---------------------------------</a:t>
            </a:r>
          </a:p>
          <a:p>
            <a:endParaRPr lang="en-US" altLang="ko-KR" sz="1000" dirty="0"/>
          </a:p>
          <a:p>
            <a:r>
              <a:rPr lang="en-US" altLang="ko-KR" sz="1000" dirty="0"/>
              <a:t>INPUT = TEST_V</a:t>
            </a:r>
          </a:p>
          <a:p>
            <a:r>
              <a:rPr lang="en-US" altLang="ko-KR" sz="1000" dirty="0"/>
              <a:t>OUTPUT = VEXT_TM[9:0]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ADC_GAIN[4:0]   (0XEB [4:0])</a:t>
            </a:r>
          </a:p>
          <a:p>
            <a:r>
              <a:rPr lang="en-US" altLang="ko-KR" sz="1000" dirty="0"/>
              <a:t>Register default &amp; </a:t>
            </a:r>
            <a:r>
              <a:rPr lang="ko-KR" altLang="en-US" sz="1000" dirty="0"/>
              <a:t>방향성 </a:t>
            </a:r>
            <a:r>
              <a:rPr lang="en-US" altLang="ko-KR" sz="1000" dirty="0"/>
              <a:t>= [ default = 5’d:16 ] , [ Register </a:t>
            </a:r>
            <a:r>
              <a:rPr lang="ko-KR" altLang="en-US" sz="1000" dirty="0"/>
              <a:t>증가 </a:t>
            </a:r>
            <a:r>
              <a:rPr lang="en-US" altLang="ko-KR" sz="1000" dirty="0"/>
              <a:t>= Target </a:t>
            </a:r>
            <a:r>
              <a:rPr lang="ko-KR" altLang="en-US" sz="1000" dirty="0"/>
              <a:t>값 감소함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r>
              <a:rPr lang="en-US" altLang="ko-KR" sz="1000" dirty="0"/>
              <a:t>]</a:t>
            </a:r>
          </a:p>
          <a:p>
            <a:endParaRPr lang="en-US" altLang="ko-KR" sz="1000" dirty="0"/>
          </a:p>
          <a:p>
            <a:r>
              <a:rPr lang="en-US" altLang="ko-KR" sz="1000" dirty="0"/>
              <a:t>TARGET = </a:t>
            </a:r>
            <a:r>
              <a:rPr lang="en-US" altLang="ko-KR" sz="1000" b="1" dirty="0">
                <a:solidFill>
                  <a:srgbClr val="C00000"/>
                </a:solidFill>
              </a:rPr>
              <a:t>10’d 546 </a:t>
            </a:r>
          </a:p>
          <a:p>
            <a:r>
              <a:rPr lang="en-US" altLang="ko-KR" sz="1000" dirty="0"/>
              <a:t>INPUT_A = 1V</a:t>
            </a:r>
          </a:p>
          <a:p>
            <a:r>
              <a:rPr lang="en-US" altLang="ko-KR" sz="1000" dirty="0"/>
              <a:t>INPUT_B = 4V</a:t>
            </a:r>
          </a:p>
          <a:p>
            <a:endParaRPr lang="en-US" altLang="ko-KR" sz="1000" dirty="0"/>
          </a:p>
          <a:p>
            <a:r>
              <a:rPr lang="en-US" altLang="ko-KR" sz="1000" dirty="0"/>
              <a:t>OUTPUT_B – OUTPUT_A = TARGET (</a:t>
            </a:r>
            <a:r>
              <a:rPr lang="en-US" altLang="ko-KR" sz="1000" b="1" dirty="0">
                <a:solidFill>
                  <a:srgbClr val="C00000"/>
                </a:solidFill>
              </a:rPr>
              <a:t>10’d 546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endParaRPr lang="en-US" altLang="ko-KR" sz="1000" b="1" dirty="0"/>
          </a:p>
          <a:p>
            <a:r>
              <a:rPr lang="en-US" altLang="ko-KR" sz="1000" b="1" dirty="0">
                <a:solidFill>
                  <a:srgbClr val="C00000"/>
                </a:solidFill>
              </a:rPr>
              <a:t>10’d546</a:t>
            </a:r>
            <a:r>
              <a:rPr lang="ko-KR" altLang="en-US" sz="1000" b="1" dirty="0">
                <a:solidFill>
                  <a:srgbClr val="C00000"/>
                </a:solidFill>
              </a:rPr>
              <a:t>은 다수 시료의 평균값을 보고 수정가능</a:t>
            </a:r>
            <a:r>
              <a:rPr lang="en-US" altLang="ko-KR" sz="1000" b="1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B9A03-01B2-EF29-0B59-A0F1771B1ACE}"/>
              </a:ext>
            </a:extLst>
          </p:cNvPr>
          <p:cNvSpPr txBox="1"/>
          <p:nvPr/>
        </p:nvSpPr>
        <p:spPr>
          <a:xfrm>
            <a:off x="6440829" y="2450735"/>
            <a:ext cx="55086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ADC </a:t>
            </a:r>
            <a:r>
              <a:rPr lang="ko-KR" altLang="en-US" sz="1000" dirty="0"/>
              <a:t>출력 </a:t>
            </a:r>
            <a:r>
              <a:rPr lang="en-US" altLang="ko-KR" sz="1000" dirty="0"/>
              <a:t>READ </a:t>
            </a:r>
          </a:p>
          <a:p>
            <a:endParaRPr lang="en-US" altLang="ko-KR" sz="1000" dirty="0"/>
          </a:p>
          <a:p>
            <a:r>
              <a:rPr lang="en-US" altLang="ko-KR" sz="1000" dirty="0"/>
              <a:t>2.   ADC</a:t>
            </a:r>
            <a:r>
              <a:rPr lang="ko-KR" altLang="en-US" sz="1000" dirty="0"/>
              <a:t> </a:t>
            </a:r>
            <a:r>
              <a:rPr lang="en-US" altLang="ko-KR" sz="1000" dirty="0"/>
              <a:t>OFFSET</a:t>
            </a:r>
            <a:r>
              <a:rPr lang="ko-KR" altLang="en-US" sz="1000" dirty="0"/>
              <a:t> 보정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---------- setting---------------</a:t>
            </a:r>
          </a:p>
          <a:p>
            <a:r>
              <a:rPr lang="en-US" altLang="ko-KR" sz="1000" dirty="0"/>
              <a:t>VEXT_MON_E = 1’b 0</a:t>
            </a:r>
          </a:p>
          <a:p>
            <a:r>
              <a:rPr lang="en-US" altLang="ko-KR" sz="1000" dirty="0"/>
              <a:t>O_T_ANA_SEL[2:0] = 3’b 000</a:t>
            </a:r>
          </a:p>
          <a:p>
            <a:r>
              <a:rPr lang="en-US" altLang="ko-KR" sz="1000" dirty="0"/>
              <a:t>----------------------------------</a:t>
            </a:r>
          </a:p>
          <a:p>
            <a:endParaRPr lang="en-US" altLang="ko-KR" sz="1000" dirty="0"/>
          </a:p>
          <a:p>
            <a:r>
              <a:rPr lang="en-US" altLang="ko-KR" sz="1000" dirty="0"/>
              <a:t>INPUT = </a:t>
            </a:r>
            <a:r>
              <a:rPr lang="en-US" altLang="ko-KR" sz="1000" b="1" dirty="0">
                <a:solidFill>
                  <a:srgbClr val="C00000"/>
                </a:solidFill>
              </a:rPr>
              <a:t>X (internal input)</a:t>
            </a:r>
          </a:p>
          <a:p>
            <a:r>
              <a:rPr lang="en-US" altLang="ko-KR" sz="1000" dirty="0"/>
              <a:t>OUTPUT = TEMPERATURE[9:0]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ADC_OFFSET[8:0]   (0XEA [8:0])</a:t>
            </a:r>
          </a:p>
          <a:p>
            <a:r>
              <a:rPr lang="en-US" altLang="ko-KR" sz="1000" dirty="0"/>
              <a:t>Register default &amp; </a:t>
            </a:r>
            <a:r>
              <a:rPr lang="ko-KR" altLang="en-US" sz="1000" dirty="0"/>
              <a:t>방향성 </a:t>
            </a:r>
            <a:r>
              <a:rPr lang="en-US" altLang="ko-KR" sz="1000" dirty="0"/>
              <a:t>= [ default = 9’d:256 ] , [ Register </a:t>
            </a:r>
            <a:r>
              <a:rPr lang="ko-KR" altLang="en-US" sz="1000" dirty="0"/>
              <a:t>증가 </a:t>
            </a:r>
            <a:r>
              <a:rPr lang="en-US" altLang="ko-KR" sz="1000" dirty="0"/>
              <a:t>= Target </a:t>
            </a:r>
            <a:r>
              <a:rPr lang="ko-KR" altLang="en-US" sz="1000" dirty="0"/>
              <a:t>값 증가함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r>
              <a:rPr lang="en-US" altLang="ko-KR" sz="1000" dirty="0"/>
              <a:t>]</a:t>
            </a:r>
          </a:p>
          <a:p>
            <a:endParaRPr lang="en-US" altLang="ko-KR" sz="1000" dirty="0"/>
          </a:p>
          <a:p>
            <a:r>
              <a:rPr lang="en-US" altLang="ko-KR" sz="1000" dirty="0"/>
              <a:t>TARGET = </a:t>
            </a:r>
            <a:r>
              <a:rPr lang="en-US" altLang="ko-KR" sz="1000" b="1" dirty="0">
                <a:solidFill>
                  <a:srgbClr val="C00000"/>
                </a:solidFill>
              </a:rPr>
              <a:t>10’d 511</a:t>
            </a:r>
          </a:p>
          <a:p>
            <a:endParaRPr lang="en-US" altLang="ko-KR" sz="1000" dirty="0"/>
          </a:p>
          <a:p>
            <a:r>
              <a:rPr lang="en-US" altLang="ko-KR" sz="1000" dirty="0"/>
              <a:t>OUTPUT = TARGET (</a:t>
            </a:r>
            <a:r>
              <a:rPr lang="en-US" altLang="ko-KR" sz="1000" b="1" dirty="0">
                <a:solidFill>
                  <a:srgbClr val="C00000"/>
                </a:solidFill>
              </a:rPr>
              <a:t>10’d 511</a:t>
            </a:r>
            <a:r>
              <a:rPr lang="en-US" altLang="ko-KR" sz="1000" dirty="0"/>
              <a:t>)</a:t>
            </a:r>
          </a:p>
          <a:p>
            <a:endParaRPr lang="en-US" altLang="ko-KR" sz="1000" dirty="0"/>
          </a:p>
          <a:p>
            <a:endParaRPr lang="en-US" altLang="ko-KR" sz="1000" b="1" dirty="0"/>
          </a:p>
          <a:p>
            <a:r>
              <a:rPr lang="en-US" altLang="ko-KR" sz="1000" b="1" dirty="0">
                <a:solidFill>
                  <a:srgbClr val="C00000"/>
                </a:solidFill>
              </a:rPr>
              <a:t>10’d511</a:t>
            </a:r>
            <a:r>
              <a:rPr lang="ko-KR" altLang="en-US" sz="1000" b="1" dirty="0">
                <a:solidFill>
                  <a:srgbClr val="C00000"/>
                </a:solidFill>
              </a:rPr>
              <a:t>은 다수 시료의 평균값을 보고 수정가능</a:t>
            </a:r>
            <a:r>
              <a:rPr lang="en-US" altLang="ko-KR" sz="1000" b="1" dirty="0">
                <a:solidFill>
                  <a:srgbClr val="C00000"/>
                </a:solidFill>
              </a:rPr>
              <a:t>.</a:t>
            </a:r>
          </a:p>
          <a:p>
            <a:endParaRPr lang="en-US" altLang="ko-KR" sz="1200" dirty="0"/>
          </a:p>
          <a:p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CF9103-E1E4-CE88-FE32-7CE480CEA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53" y="1028001"/>
            <a:ext cx="9391545" cy="111169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D24493E-417C-AE8F-181B-93771F5D9921}"/>
              </a:ext>
            </a:extLst>
          </p:cNvPr>
          <p:cNvSpPr/>
          <p:nvPr/>
        </p:nvSpPr>
        <p:spPr>
          <a:xfrm>
            <a:off x="4557330" y="1710148"/>
            <a:ext cx="4183001" cy="29488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7CB507-A8BC-74AE-4D6C-958EBE73D708}"/>
              </a:ext>
            </a:extLst>
          </p:cNvPr>
          <p:cNvSpPr/>
          <p:nvPr/>
        </p:nvSpPr>
        <p:spPr>
          <a:xfrm>
            <a:off x="6307200" y="2101599"/>
            <a:ext cx="573542" cy="1644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57B576-D412-0FF3-F309-5D6B97D5C9EB}"/>
              </a:ext>
            </a:extLst>
          </p:cNvPr>
          <p:cNvSpPr txBox="1"/>
          <p:nvPr/>
        </p:nvSpPr>
        <p:spPr>
          <a:xfrm>
            <a:off x="1271503" y="692563"/>
            <a:ext cx="482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TEST</a:t>
            </a:r>
            <a:r>
              <a:rPr lang="ko-KR" altLang="en-US" sz="1200" dirty="0"/>
              <a:t> </a:t>
            </a:r>
            <a:r>
              <a:rPr lang="en-US" altLang="ko-KR" sz="1200" dirty="0"/>
              <a:t>MODE</a:t>
            </a:r>
            <a:r>
              <a:rPr lang="ko-KR" altLang="en-US" sz="1200" dirty="0"/>
              <a:t>로 접근 하면 </a:t>
            </a:r>
            <a:r>
              <a:rPr lang="en-US" altLang="ko-KR" sz="1200" dirty="0"/>
              <a:t>ADC </a:t>
            </a:r>
            <a:r>
              <a:rPr lang="ko-KR" altLang="en-US" sz="1200" dirty="0"/>
              <a:t>는</a:t>
            </a:r>
            <a:r>
              <a:rPr lang="en-US" altLang="ko-KR" sz="1200" dirty="0"/>
              <a:t> Active </a:t>
            </a:r>
            <a:r>
              <a:rPr lang="ko-KR" altLang="en-US" sz="1200" dirty="0"/>
              <a:t>상태</a:t>
            </a:r>
          </a:p>
        </p:txBody>
      </p:sp>
    </p:spTree>
    <p:extLst>
      <p:ext uri="{BB962C8B-B14F-4D97-AF65-F5344CB8AC3E}">
        <p14:creationId xmlns:p14="http://schemas.microsoft.com/office/powerpoint/2010/main" val="1410536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ECACB1-7B74-44E5-7F2E-D5A498F7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D325-1159-4903-B065-3EC415C0E6A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08DC1-3547-68BE-2CF3-6EFA27F8DDAC}"/>
              </a:ext>
            </a:extLst>
          </p:cNvPr>
          <p:cNvSpPr txBox="1"/>
          <p:nvPr/>
        </p:nvSpPr>
        <p:spPr>
          <a:xfrm>
            <a:off x="233680" y="101600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1-9. DRIVER_A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70745-7FB6-1E3C-774D-8F126FF13D69}"/>
              </a:ext>
            </a:extLst>
          </p:cNvPr>
          <p:cNvSpPr txBox="1"/>
          <p:nvPr/>
        </p:nvSpPr>
        <p:spPr>
          <a:xfrm>
            <a:off x="774483" y="1536428"/>
            <a:ext cx="52827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IOUT </a:t>
            </a:r>
            <a:r>
              <a:rPr lang="ko-KR" altLang="en-US" sz="1000" dirty="0"/>
              <a:t>출력 장비 측정</a:t>
            </a:r>
            <a:r>
              <a:rPr lang="en-US" altLang="ko-KR" sz="1000" dirty="0"/>
              <a:t> </a:t>
            </a:r>
          </a:p>
          <a:p>
            <a:endParaRPr lang="en-US" altLang="ko-KR" sz="1000" dirty="0"/>
          </a:p>
          <a:p>
            <a:r>
              <a:rPr lang="en-US" altLang="ko-KR" sz="1000" dirty="0"/>
              <a:t>1.   DRIVER</a:t>
            </a:r>
            <a:r>
              <a:rPr lang="ko-KR" altLang="en-US" sz="1000" dirty="0"/>
              <a:t>  보정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--------------- setting-----------------</a:t>
            </a:r>
          </a:p>
          <a:p>
            <a:r>
              <a:rPr lang="en-US" altLang="ko-KR" sz="1000" dirty="0"/>
              <a:t>AM </a:t>
            </a:r>
            <a:r>
              <a:rPr lang="ko-KR" altLang="en-US" sz="1000" dirty="0"/>
              <a:t>값을 </a:t>
            </a:r>
            <a:r>
              <a:rPr lang="en-US" altLang="ko-KR" sz="1000" dirty="0"/>
              <a:t>IOUT </a:t>
            </a:r>
            <a:r>
              <a:rPr lang="ko-KR" altLang="en-US" sz="1000" dirty="0"/>
              <a:t>목표치에 맞게 설정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(ex 20mA = AM[13])</a:t>
            </a:r>
          </a:p>
          <a:p>
            <a:r>
              <a:rPr lang="en-US" altLang="ko-KR" sz="1000" dirty="0"/>
              <a:t>IOUT</a:t>
            </a:r>
            <a:r>
              <a:rPr lang="ko-KR" altLang="en-US" sz="1000" dirty="0"/>
              <a:t> </a:t>
            </a:r>
            <a:r>
              <a:rPr lang="en-US" altLang="ko-KR" sz="1000" dirty="0"/>
              <a:t>INPUT data</a:t>
            </a:r>
            <a:r>
              <a:rPr lang="ko-KR" altLang="en-US" sz="1000" dirty="0"/>
              <a:t>를 최대값으로 설정</a:t>
            </a:r>
            <a:r>
              <a:rPr lang="en-US" altLang="ko-KR" sz="1000" dirty="0"/>
              <a:t>. (12’d 4095)</a:t>
            </a:r>
          </a:p>
          <a:p>
            <a:r>
              <a:rPr lang="en-US" altLang="ko-KR" sz="1000" dirty="0"/>
              <a:t>R/G/B 3</a:t>
            </a:r>
            <a:r>
              <a:rPr lang="ko-KR" altLang="en-US" sz="1000" dirty="0"/>
              <a:t>채널 각각 진행해야 함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-----------------------------------------</a:t>
            </a:r>
          </a:p>
          <a:p>
            <a:endParaRPr lang="en-US" altLang="ko-KR" sz="1000" dirty="0"/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ITRIM_R[7:0]   (0XEC [7:0])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ITRIM_G[7:0]   (0XED [7:0])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ITRIM_B[7:0]   (0XEE</a:t>
            </a:r>
            <a:r>
              <a:rPr lang="ko-KR" altLang="en-US" sz="1000" dirty="0"/>
              <a:t> </a:t>
            </a:r>
            <a:r>
              <a:rPr lang="en-US" altLang="ko-KR" sz="1000" dirty="0"/>
              <a:t>[7:0])</a:t>
            </a:r>
          </a:p>
          <a:p>
            <a:endParaRPr lang="en-US" altLang="ko-KR" sz="1000" dirty="0"/>
          </a:p>
          <a:p>
            <a:r>
              <a:rPr lang="en-US" altLang="ko-KR" sz="1000" dirty="0"/>
              <a:t>--------Register default &amp; </a:t>
            </a:r>
            <a:r>
              <a:rPr lang="ko-KR" altLang="en-US" sz="1000" dirty="0"/>
              <a:t>방향성</a:t>
            </a:r>
            <a:r>
              <a:rPr lang="en-US" altLang="ko-KR" sz="1000" dirty="0"/>
              <a:t>--------------</a:t>
            </a:r>
          </a:p>
          <a:p>
            <a:r>
              <a:rPr lang="en-US" altLang="ko-KR" sz="1000" dirty="0"/>
              <a:t>[ default = 8’d:256 ] , [ Register </a:t>
            </a:r>
            <a:r>
              <a:rPr lang="ko-KR" altLang="en-US" sz="1000" dirty="0"/>
              <a:t>증가 </a:t>
            </a:r>
            <a:r>
              <a:rPr lang="en-US" altLang="ko-KR" sz="1000" dirty="0"/>
              <a:t>= Target </a:t>
            </a:r>
            <a:r>
              <a:rPr lang="ko-KR" altLang="en-US" sz="1000" dirty="0"/>
              <a:t>값 증가함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r>
              <a:rPr lang="en-US" altLang="ko-KR" sz="1000" dirty="0"/>
              <a:t>]</a:t>
            </a:r>
          </a:p>
          <a:p>
            <a:endParaRPr lang="en-US" altLang="ko-KR" sz="1000" dirty="0"/>
          </a:p>
          <a:p>
            <a:r>
              <a:rPr lang="en-US" altLang="ko-KR" sz="1000" dirty="0"/>
              <a:t>IOUT </a:t>
            </a:r>
            <a:r>
              <a:rPr lang="ko-KR" altLang="en-US" sz="1000" dirty="0"/>
              <a:t>측정치가 </a:t>
            </a:r>
            <a:r>
              <a:rPr lang="en-US" altLang="ko-KR" sz="1000" dirty="0"/>
              <a:t>AM table</a:t>
            </a:r>
            <a:r>
              <a:rPr lang="ko-KR" altLang="en-US" sz="1000" dirty="0"/>
              <a:t>에서 설정한 전류와 같도록</a:t>
            </a:r>
            <a:endParaRPr lang="en-US" altLang="ko-KR" sz="1000" dirty="0"/>
          </a:p>
          <a:p>
            <a:r>
              <a:rPr lang="en-US" altLang="ko-KR" sz="1000" dirty="0"/>
              <a:t>ITRIM_R[7:0] / ITRIM_G[7:0] / ITRIM_B[7:0] </a:t>
            </a:r>
            <a:r>
              <a:rPr lang="ko-KR" altLang="en-US" sz="1000" dirty="0"/>
              <a:t>조절</a:t>
            </a:r>
            <a:r>
              <a:rPr lang="en-US" altLang="ko-KR" sz="100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6D3DA82-D8D8-2A1D-6536-677D407A0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612" y="1536428"/>
            <a:ext cx="1483782" cy="20349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BF3764-C104-2225-9445-9D0BAF584C66}"/>
              </a:ext>
            </a:extLst>
          </p:cNvPr>
          <p:cNvSpPr txBox="1"/>
          <p:nvPr/>
        </p:nvSpPr>
        <p:spPr>
          <a:xfrm>
            <a:off x="7332736" y="1521039"/>
            <a:ext cx="44475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IOUT </a:t>
            </a:r>
            <a:r>
              <a:rPr lang="ko-KR" altLang="en-US" sz="1000" dirty="0"/>
              <a:t>출력 </a:t>
            </a:r>
            <a:r>
              <a:rPr lang="en-US" altLang="ko-KR" sz="1000" dirty="0"/>
              <a:t>PWM </a:t>
            </a:r>
            <a:r>
              <a:rPr lang="ko-KR" altLang="en-US" sz="1000" dirty="0"/>
              <a:t>장비 측정</a:t>
            </a:r>
            <a:r>
              <a:rPr lang="en-US" altLang="ko-KR" sz="1000" dirty="0"/>
              <a:t>???</a:t>
            </a:r>
          </a:p>
          <a:p>
            <a:endParaRPr lang="en-US" altLang="ko-KR" sz="1000" dirty="0"/>
          </a:p>
          <a:p>
            <a:r>
              <a:rPr lang="en-US" altLang="ko-KR" sz="1000" dirty="0"/>
              <a:t>2.   DRIVER</a:t>
            </a:r>
            <a:r>
              <a:rPr lang="ko-KR" altLang="en-US" sz="1000" dirty="0"/>
              <a:t> </a:t>
            </a:r>
            <a:r>
              <a:rPr lang="en-US" altLang="ko-KR" sz="1000" dirty="0"/>
              <a:t>PWM </a:t>
            </a:r>
            <a:r>
              <a:rPr lang="ko-KR" altLang="en-US" sz="1000" dirty="0"/>
              <a:t>보정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---------- setting---------------</a:t>
            </a:r>
          </a:p>
          <a:p>
            <a:r>
              <a:rPr lang="en-US" altLang="ko-KR" sz="1000" dirty="0"/>
              <a:t>AM </a:t>
            </a:r>
            <a:r>
              <a:rPr lang="ko-KR" altLang="en-US" sz="1000" dirty="0"/>
              <a:t>값을 </a:t>
            </a:r>
            <a:r>
              <a:rPr lang="en-US" altLang="ko-KR" sz="1000" dirty="0"/>
              <a:t>IOUT </a:t>
            </a:r>
            <a:r>
              <a:rPr lang="ko-KR" altLang="en-US" sz="1000" dirty="0"/>
              <a:t>목표치에 맞게 설정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(ex 20mA = AM[13])</a:t>
            </a:r>
          </a:p>
          <a:p>
            <a:r>
              <a:rPr lang="en-US" altLang="ko-KR" sz="1000" dirty="0"/>
              <a:t>IOUT</a:t>
            </a:r>
            <a:r>
              <a:rPr lang="ko-KR" altLang="en-US" sz="1000" dirty="0"/>
              <a:t> </a:t>
            </a:r>
            <a:r>
              <a:rPr lang="en-US" altLang="ko-KR" sz="1000" dirty="0"/>
              <a:t>INPUT data</a:t>
            </a:r>
            <a:r>
              <a:rPr lang="ko-KR" altLang="en-US" sz="1000" dirty="0"/>
              <a:t>를 최대값으로 설정</a:t>
            </a:r>
            <a:r>
              <a:rPr lang="en-US" altLang="ko-KR" sz="1000" dirty="0"/>
              <a:t>. (12’d 4095)</a:t>
            </a:r>
          </a:p>
          <a:p>
            <a:r>
              <a:rPr lang="en-US" altLang="ko-KR" sz="1000" dirty="0"/>
              <a:t>R/G/B 3</a:t>
            </a:r>
            <a:r>
              <a:rPr lang="ko-KR" altLang="en-US" sz="1000" dirty="0"/>
              <a:t>채널 각각 진행해야 함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-----------------------------------------</a:t>
            </a:r>
          </a:p>
          <a:p>
            <a:endParaRPr lang="en-US" altLang="ko-KR" sz="1000" dirty="0"/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PWM_MAX_R[11:0]   (0XF1 [11:0])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PWM_MAX_G[11:0]   (0XF2 [11:0])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PWM_MAX_B[11:0]   (0XF3</a:t>
            </a:r>
            <a:r>
              <a:rPr lang="ko-KR" altLang="en-US" sz="1000" dirty="0"/>
              <a:t> </a:t>
            </a:r>
            <a:r>
              <a:rPr lang="en-US" altLang="ko-KR" sz="1000" dirty="0"/>
              <a:t>[11:0])</a:t>
            </a:r>
          </a:p>
          <a:p>
            <a:endParaRPr lang="en-US" altLang="ko-KR" sz="1000" dirty="0"/>
          </a:p>
          <a:p>
            <a:r>
              <a:rPr lang="en-US" altLang="ko-KR" sz="1000" dirty="0"/>
              <a:t>--------Register default &amp; </a:t>
            </a:r>
            <a:r>
              <a:rPr lang="ko-KR" altLang="en-US" sz="1000" dirty="0"/>
              <a:t>방향성</a:t>
            </a:r>
            <a:r>
              <a:rPr lang="en-US" altLang="ko-KR" sz="1000" dirty="0"/>
              <a:t>--------------</a:t>
            </a:r>
          </a:p>
          <a:p>
            <a:r>
              <a:rPr lang="en-US" altLang="ko-KR" sz="1000" dirty="0"/>
              <a:t>[ default = ??? ] , [ Register </a:t>
            </a:r>
            <a:r>
              <a:rPr lang="ko-KR" altLang="en-US" sz="1000" dirty="0"/>
              <a:t>증가 </a:t>
            </a:r>
            <a:r>
              <a:rPr lang="en-US" altLang="ko-KR" sz="1000" dirty="0"/>
              <a:t>= Target</a:t>
            </a:r>
            <a:r>
              <a:rPr lang="ko-KR" altLang="en-US" sz="1000" dirty="0"/>
              <a:t>값 </a:t>
            </a:r>
            <a:r>
              <a:rPr lang="en-US" altLang="ko-KR" sz="1000" dirty="0"/>
              <a:t>????</a:t>
            </a:r>
            <a:r>
              <a:rPr lang="ko-KR" altLang="en-US" sz="1000" dirty="0"/>
              <a:t> </a:t>
            </a:r>
            <a:r>
              <a:rPr lang="en-US" altLang="ko-KR" sz="1000" dirty="0"/>
              <a:t>]</a:t>
            </a:r>
          </a:p>
          <a:p>
            <a:endParaRPr lang="en-US" altLang="ko-KR" sz="1000" dirty="0"/>
          </a:p>
          <a:p>
            <a:r>
              <a:rPr lang="en-US" altLang="ko-KR" sz="1000" dirty="0"/>
              <a:t>IOUT(</a:t>
            </a:r>
            <a:r>
              <a:rPr lang="ko-KR" altLang="en-US" sz="1000" dirty="0"/>
              <a:t>휘도</a:t>
            </a:r>
            <a:r>
              <a:rPr lang="en-US" altLang="ko-KR" sz="1000" dirty="0"/>
              <a:t>) </a:t>
            </a:r>
            <a:r>
              <a:rPr lang="ko-KR" altLang="en-US" sz="1000" dirty="0"/>
              <a:t>측정치가 목표치와 같도록</a:t>
            </a:r>
            <a:endParaRPr lang="en-US" altLang="ko-KR" sz="1000" dirty="0"/>
          </a:p>
          <a:p>
            <a:r>
              <a:rPr lang="en-US" altLang="ko-KR" sz="1000" dirty="0"/>
              <a:t>PWM_MAX_R[11:0] / PWM_MAX_G[11:0] / PWM_MAX_B[11:0] </a:t>
            </a:r>
            <a:r>
              <a:rPr lang="ko-KR" altLang="en-US" sz="1000" dirty="0"/>
              <a:t>조절</a:t>
            </a:r>
            <a:r>
              <a:rPr lang="en-US" altLang="ko-KR" sz="10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7BB222-E7DC-04A1-7262-89C6560B2102}"/>
              </a:ext>
            </a:extLst>
          </p:cNvPr>
          <p:cNvSpPr txBox="1"/>
          <p:nvPr/>
        </p:nvSpPr>
        <p:spPr>
          <a:xfrm>
            <a:off x="4893056" y="1274818"/>
            <a:ext cx="1384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AM vs IOUT table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02505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ECACB1-7B74-44E5-7F2E-D5A498F7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ED325-1159-4903-B065-3EC415C0E6A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08DC1-3547-68BE-2CF3-6EFA27F8DDAC}"/>
              </a:ext>
            </a:extLst>
          </p:cNvPr>
          <p:cNvSpPr txBox="1"/>
          <p:nvPr/>
        </p:nvSpPr>
        <p:spPr>
          <a:xfrm>
            <a:off x="233680" y="101600"/>
            <a:ext cx="1880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1-10. DRIVER_B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70745-7FB6-1E3C-774D-8F126FF13D69}"/>
              </a:ext>
            </a:extLst>
          </p:cNvPr>
          <p:cNvSpPr txBox="1"/>
          <p:nvPr/>
        </p:nvSpPr>
        <p:spPr>
          <a:xfrm>
            <a:off x="458648" y="709405"/>
            <a:ext cx="379308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IOUT </a:t>
            </a:r>
            <a:r>
              <a:rPr lang="ko-KR" altLang="en-US" sz="1000" dirty="0"/>
              <a:t>출력 장비 측정</a:t>
            </a:r>
            <a:r>
              <a:rPr lang="en-US" altLang="ko-KR" sz="1000" dirty="0"/>
              <a:t> </a:t>
            </a:r>
          </a:p>
          <a:p>
            <a:endParaRPr lang="en-US" altLang="ko-KR" sz="1000" dirty="0"/>
          </a:p>
          <a:p>
            <a:r>
              <a:rPr lang="en-US" altLang="ko-KR" sz="1000" dirty="0"/>
              <a:t>1.   DRIVER</a:t>
            </a:r>
            <a:r>
              <a:rPr lang="ko-KR" altLang="en-US" sz="1000" dirty="0"/>
              <a:t>  보정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--------------- setting------------------------------------</a:t>
            </a:r>
          </a:p>
          <a:p>
            <a:r>
              <a:rPr lang="en-US" altLang="ko-KR" sz="1000" dirty="0"/>
              <a:t>AM </a:t>
            </a:r>
            <a:r>
              <a:rPr lang="ko-KR" altLang="en-US" sz="1000" dirty="0"/>
              <a:t>값을 </a:t>
            </a:r>
            <a:r>
              <a:rPr lang="en-US" altLang="ko-KR" sz="1000" dirty="0"/>
              <a:t>IOUT </a:t>
            </a:r>
            <a:r>
              <a:rPr lang="ko-KR" altLang="en-US" sz="1000" dirty="0"/>
              <a:t>목표치에 맞게 설정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(ex 20mA = AM[13])</a:t>
            </a:r>
          </a:p>
          <a:p>
            <a:r>
              <a:rPr lang="en-US" altLang="ko-KR" sz="1000" dirty="0"/>
              <a:t>IOUT</a:t>
            </a:r>
            <a:r>
              <a:rPr lang="ko-KR" altLang="en-US" sz="1000" dirty="0"/>
              <a:t> </a:t>
            </a:r>
            <a:r>
              <a:rPr lang="en-US" altLang="ko-KR" sz="1000" dirty="0"/>
              <a:t>INPUT data</a:t>
            </a:r>
            <a:r>
              <a:rPr lang="ko-KR" altLang="en-US" sz="1000" dirty="0"/>
              <a:t>를 </a:t>
            </a:r>
            <a:r>
              <a:rPr lang="en-US" altLang="ko-KR" sz="1000" dirty="0"/>
              <a:t>Trim1 </a:t>
            </a:r>
            <a:r>
              <a:rPr lang="ko-KR" altLang="en-US" sz="1000" dirty="0"/>
              <a:t>과 </a:t>
            </a:r>
            <a:r>
              <a:rPr lang="en-US" altLang="ko-KR" sz="1000" dirty="0"/>
              <a:t>Trim2 </a:t>
            </a:r>
            <a:r>
              <a:rPr lang="ko-KR" altLang="en-US" sz="1000" dirty="0"/>
              <a:t>각각 따로 설정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R/G/B 3</a:t>
            </a:r>
            <a:r>
              <a:rPr lang="ko-KR" altLang="en-US" sz="1000" dirty="0"/>
              <a:t>채널 각각 진행해야 함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----------------Trim1 (Input : 12’d 64 )------------------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ITRIM_R[7:0]   (0XEC [7:0])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ITRIM_G[7:0]   (0XED [7:0])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ITRIM_B[7:0]   (0XEE</a:t>
            </a:r>
            <a:r>
              <a:rPr lang="ko-KR" altLang="en-US" sz="1000" dirty="0"/>
              <a:t> </a:t>
            </a:r>
            <a:r>
              <a:rPr lang="en-US" altLang="ko-KR" sz="1000" dirty="0"/>
              <a:t>[7:0])</a:t>
            </a:r>
          </a:p>
          <a:p>
            <a:endParaRPr lang="en-US" altLang="ko-KR" sz="1000" dirty="0"/>
          </a:p>
          <a:p>
            <a:r>
              <a:rPr lang="en-US" altLang="ko-KR" sz="1000" dirty="0"/>
              <a:t>----------------Trim2 (Input : 12’d130 )------------------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GAIN_R[7:0]</a:t>
            </a:r>
            <a:r>
              <a:rPr lang="ko-KR" altLang="en-US" sz="1000" dirty="0"/>
              <a:t>    </a:t>
            </a:r>
            <a:r>
              <a:rPr lang="en-US" altLang="ko-KR" sz="1000" dirty="0"/>
              <a:t>(0XE8 [7:0])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GAIN_G[7:0]    (0XE9 [11:8],0XE8[11:8])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GAIN_B[7:0]</a:t>
            </a:r>
            <a:r>
              <a:rPr lang="ko-KR" altLang="en-US" sz="1000" dirty="0"/>
              <a:t>    </a:t>
            </a:r>
            <a:r>
              <a:rPr lang="en-US" altLang="ko-KR" sz="1000" dirty="0"/>
              <a:t>(0XE9 [7:0])</a:t>
            </a:r>
          </a:p>
          <a:p>
            <a:endParaRPr lang="en-US" altLang="ko-KR" sz="1000" dirty="0"/>
          </a:p>
          <a:p>
            <a:r>
              <a:rPr lang="en-US" altLang="ko-KR" sz="1000" dirty="0"/>
              <a:t>IOUT </a:t>
            </a:r>
            <a:r>
              <a:rPr lang="ko-KR" altLang="en-US" sz="1000" dirty="0"/>
              <a:t>측정치가 </a:t>
            </a:r>
            <a:r>
              <a:rPr lang="en-US" altLang="ko-KR" sz="1000" dirty="0"/>
              <a:t>AM table</a:t>
            </a:r>
            <a:r>
              <a:rPr lang="ko-KR" altLang="en-US" sz="1000" dirty="0"/>
              <a:t>에서 설정한 전류와 같도록</a:t>
            </a:r>
            <a:endParaRPr lang="en-US" altLang="ko-KR" sz="1000" dirty="0"/>
          </a:p>
          <a:p>
            <a:r>
              <a:rPr lang="en-US" altLang="ko-KR" sz="1000" dirty="0"/>
              <a:t>ITRIM_R[7:0] / ITRIM_G[7:0] / ITRIM_B[7:0]</a:t>
            </a:r>
          </a:p>
          <a:p>
            <a:r>
              <a:rPr lang="en-US" altLang="ko-KR" sz="1000" dirty="0"/>
              <a:t>GAIN_R[7:0] / GAIN_G[7:0] / GAIN_B[7:0] </a:t>
            </a:r>
            <a:r>
              <a:rPr lang="ko-KR" altLang="en-US" sz="1000" dirty="0"/>
              <a:t>조절</a:t>
            </a:r>
            <a:r>
              <a:rPr lang="en-US" altLang="ko-KR" sz="100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6D3DA82-D8D8-2A1D-6536-677D407A0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18" y="1187611"/>
            <a:ext cx="1483782" cy="20349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BF3764-C104-2225-9445-9D0BAF584C66}"/>
              </a:ext>
            </a:extLst>
          </p:cNvPr>
          <p:cNvSpPr txBox="1"/>
          <p:nvPr/>
        </p:nvSpPr>
        <p:spPr>
          <a:xfrm>
            <a:off x="7312529" y="1187611"/>
            <a:ext cx="444757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IOUT </a:t>
            </a:r>
            <a:r>
              <a:rPr lang="ko-KR" altLang="en-US" sz="1000" dirty="0"/>
              <a:t>출력 </a:t>
            </a:r>
            <a:r>
              <a:rPr lang="en-US" altLang="ko-KR" sz="1000" dirty="0"/>
              <a:t>PWM </a:t>
            </a:r>
            <a:r>
              <a:rPr lang="ko-KR" altLang="en-US" sz="1000" dirty="0"/>
              <a:t>장비 측정</a:t>
            </a:r>
            <a:r>
              <a:rPr lang="en-US" altLang="ko-KR" sz="1000" dirty="0"/>
              <a:t>???</a:t>
            </a:r>
          </a:p>
          <a:p>
            <a:endParaRPr lang="en-US" altLang="ko-KR" sz="1000" dirty="0"/>
          </a:p>
          <a:p>
            <a:r>
              <a:rPr lang="en-US" altLang="ko-KR" sz="1000" dirty="0"/>
              <a:t>2.   DRIVER</a:t>
            </a:r>
            <a:r>
              <a:rPr lang="ko-KR" altLang="en-US" sz="1000" dirty="0"/>
              <a:t> </a:t>
            </a:r>
            <a:r>
              <a:rPr lang="en-US" altLang="ko-KR" sz="1000" dirty="0"/>
              <a:t>PWM </a:t>
            </a:r>
            <a:r>
              <a:rPr lang="ko-KR" altLang="en-US" sz="1000" dirty="0"/>
              <a:t>보정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---------- setting---------------</a:t>
            </a:r>
          </a:p>
          <a:p>
            <a:r>
              <a:rPr lang="en-US" altLang="ko-KR" sz="1000" dirty="0"/>
              <a:t>AM </a:t>
            </a:r>
            <a:r>
              <a:rPr lang="ko-KR" altLang="en-US" sz="1000" dirty="0"/>
              <a:t>값을 </a:t>
            </a:r>
            <a:r>
              <a:rPr lang="en-US" altLang="ko-KR" sz="1000" dirty="0"/>
              <a:t>IOUT </a:t>
            </a:r>
            <a:r>
              <a:rPr lang="ko-KR" altLang="en-US" sz="1000" dirty="0"/>
              <a:t>목표치에 맞게 설정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br>
              <a:rPr lang="en-US" altLang="ko-KR" sz="1000" dirty="0"/>
            </a:br>
            <a:r>
              <a:rPr lang="en-US" altLang="ko-KR" sz="1000" dirty="0"/>
              <a:t>(ex 20mA = AM[13])</a:t>
            </a:r>
          </a:p>
          <a:p>
            <a:r>
              <a:rPr lang="en-US" altLang="ko-KR" sz="1000" dirty="0"/>
              <a:t>IOUT</a:t>
            </a:r>
            <a:r>
              <a:rPr lang="ko-KR" altLang="en-US" sz="1000" dirty="0"/>
              <a:t> </a:t>
            </a:r>
            <a:r>
              <a:rPr lang="en-US" altLang="ko-KR" sz="1000" dirty="0"/>
              <a:t>INPUT data</a:t>
            </a:r>
            <a:r>
              <a:rPr lang="ko-KR" altLang="en-US" sz="1000" dirty="0"/>
              <a:t>를 최대값으로 설정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R/G/B 3</a:t>
            </a:r>
            <a:r>
              <a:rPr lang="ko-KR" altLang="en-US" sz="1000" dirty="0"/>
              <a:t>채널 각각 진행해야 함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-----------------------------------------</a:t>
            </a:r>
          </a:p>
          <a:p>
            <a:endParaRPr lang="en-US" altLang="ko-KR" sz="1000" dirty="0"/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PWM_MAX_R[11:0]   (0XF1 [11:0])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PWM_MAX_G[11:0]   (0XF2 [11:0])</a:t>
            </a:r>
          </a:p>
          <a:p>
            <a:r>
              <a:rPr lang="ko-KR" altLang="en-US" sz="1000" dirty="0"/>
              <a:t>조절 </a:t>
            </a:r>
            <a:r>
              <a:rPr lang="en-US" altLang="ko-KR" sz="1000" dirty="0"/>
              <a:t>Register = PWM_MAX_B[11:0]   (0XF3</a:t>
            </a:r>
            <a:r>
              <a:rPr lang="ko-KR" altLang="en-US" sz="1000" dirty="0"/>
              <a:t> </a:t>
            </a:r>
            <a:r>
              <a:rPr lang="en-US" altLang="ko-KR" sz="1000" dirty="0"/>
              <a:t>[11:0])</a:t>
            </a:r>
          </a:p>
          <a:p>
            <a:endParaRPr lang="en-US" altLang="ko-KR" sz="1000" dirty="0"/>
          </a:p>
          <a:p>
            <a:r>
              <a:rPr lang="en-US" altLang="ko-KR" sz="1000" dirty="0"/>
              <a:t>IOUT(</a:t>
            </a:r>
            <a:r>
              <a:rPr lang="ko-KR" altLang="en-US" sz="1000" dirty="0"/>
              <a:t>휘도</a:t>
            </a:r>
            <a:r>
              <a:rPr lang="en-US" altLang="ko-KR" sz="1000" dirty="0"/>
              <a:t>) </a:t>
            </a:r>
            <a:r>
              <a:rPr lang="ko-KR" altLang="en-US" sz="1000" dirty="0"/>
              <a:t>측정치가 목표치와 같도록</a:t>
            </a:r>
            <a:endParaRPr lang="en-US" altLang="ko-KR" sz="1000" dirty="0"/>
          </a:p>
          <a:p>
            <a:r>
              <a:rPr lang="en-US" altLang="ko-KR" sz="1000" dirty="0"/>
              <a:t>PWM_MAX_R[11:0] / PWM_MAX_G[11:0] / PWM_MAX_B[11:0] </a:t>
            </a:r>
            <a:r>
              <a:rPr lang="ko-KR" altLang="en-US" sz="1000" dirty="0"/>
              <a:t>조절</a:t>
            </a:r>
            <a:r>
              <a:rPr lang="en-US" altLang="ko-KR" sz="10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7BB222-E7DC-04A1-7262-89C6560B2102}"/>
              </a:ext>
            </a:extLst>
          </p:cNvPr>
          <p:cNvSpPr txBox="1"/>
          <p:nvPr/>
        </p:nvSpPr>
        <p:spPr>
          <a:xfrm>
            <a:off x="4661940" y="926555"/>
            <a:ext cx="1384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AM vs IOUT table</a:t>
            </a:r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5DA2EEE-A77B-4DA6-F279-CF5619446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" y="4409657"/>
            <a:ext cx="7128278" cy="155062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3D98867-FB5A-9A14-A517-03A5BB4BB761}"/>
              </a:ext>
            </a:extLst>
          </p:cNvPr>
          <p:cNvSpPr/>
          <p:nvPr/>
        </p:nvSpPr>
        <p:spPr>
          <a:xfrm>
            <a:off x="4546740" y="2829083"/>
            <a:ext cx="1596411" cy="151558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039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201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2-1 UVLO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57A9-2E80-38FD-5477-E2616FC71B09}"/>
              </a:ext>
            </a:extLst>
          </p:cNvPr>
          <p:cNvSpPr txBox="1"/>
          <p:nvPr/>
        </p:nvSpPr>
        <p:spPr>
          <a:xfrm>
            <a:off x="330783" y="671259"/>
            <a:ext cx="593521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Driver off @ UVLO activate</a:t>
            </a:r>
          </a:p>
          <a:p>
            <a:pPr marL="228600" indent="-228600">
              <a:buAutoNum type="alphaLcPeriod"/>
            </a:pPr>
            <a:endParaRPr lang="en-US" altLang="ko-KR" sz="1200"/>
          </a:p>
          <a:p>
            <a:pPr marL="228600" indent="-228600">
              <a:buAutoNum type="alphaLcPeriod"/>
            </a:pPr>
            <a:r>
              <a:rPr lang="en-US" altLang="ko-KR" sz="1200"/>
              <a:t>max LED </a:t>
            </a:r>
            <a:r>
              <a:rPr lang="ko-KR" altLang="en-US" sz="1200"/>
              <a:t>전류 측정할 때 전원전압을 가변하며 </a:t>
            </a:r>
            <a:r>
              <a:rPr lang="en-US" altLang="ko-KR" sz="1200"/>
              <a:t>Test</a:t>
            </a:r>
          </a:p>
          <a:p>
            <a:r>
              <a:rPr lang="en-US" altLang="ko-KR" sz="1200"/>
              <a:t>    </a:t>
            </a:r>
            <a:r>
              <a:rPr lang="ko-KR" altLang="en-US" sz="1200"/>
              <a:t>전체 소모 전류 </a:t>
            </a:r>
            <a:r>
              <a:rPr lang="en-US" altLang="ko-KR" sz="1200"/>
              <a:t>(or</a:t>
            </a:r>
            <a:r>
              <a:rPr lang="ko-KR" altLang="en-US" sz="1200"/>
              <a:t> </a:t>
            </a:r>
            <a:r>
              <a:rPr lang="en-US" altLang="ko-KR" sz="1200"/>
              <a:t>LED</a:t>
            </a:r>
            <a:r>
              <a:rPr lang="ko-KR" altLang="en-US" sz="1200"/>
              <a:t> 전류가 변하는 것을 측정  </a:t>
            </a:r>
            <a:r>
              <a:rPr lang="en-US" altLang="ko-KR" sz="1200"/>
              <a:t>ex)90% </a:t>
            </a:r>
            <a:r>
              <a:rPr lang="en-US" altLang="ko-KR" sz="1200">
                <a:sym typeface="Wingdings" panose="05000000000000000000" pitchFamily="2" charset="2"/>
              </a:rPr>
              <a:t></a:t>
            </a:r>
            <a:r>
              <a:rPr lang="en-US" altLang="ko-KR" sz="1200"/>
              <a:t> 10% of ILED</a:t>
            </a:r>
          </a:p>
          <a:p>
            <a:r>
              <a:rPr lang="en-US" altLang="ko-KR" sz="1200"/>
              <a:t>                                                                        10%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en-US" altLang="ko-KR" sz="1200"/>
              <a:t>90% of ILED</a:t>
            </a:r>
          </a:p>
          <a:p>
            <a:r>
              <a:rPr lang="en-US" altLang="ko-KR" sz="1200"/>
              <a:t>                                                                        Hysteresis </a:t>
            </a:r>
          </a:p>
          <a:p>
            <a:r>
              <a:rPr lang="en-US" altLang="ko-KR" sz="1200"/>
              <a:t>c. </a:t>
            </a:r>
            <a:r>
              <a:rPr lang="ko-KR" altLang="en-US" sz="1200"/>
              <a:t>아래 </a:t>
            </a:r>
            <a:r>
              <a:rPr lang="en-US" altLang="ko-KR" sz="1200"/>
              <a:t>register map </a:t>
            </a:r>
            <a:r>
              <a:rPr lang="ko-KR" altLang="en-US" sz="1200"/>
              <a:t>의 빨간 </a:t>
            </a:r>
            <a:r>
              <a:rPr lang="en-US" altLang="ko-KR" sz="1200"/>
              <a:t>box</a:t>
            </a:r>
            <a:r>
              <a:rPr lang="ko-KR" altLang="en-US" sz="1200"/>
              <a:t>를 이용하여 </a:t>
            </a:r>
            <a:r>
              <a:rPr lang="en-US" altLang="ko-KR" sz="1200"/>
              <a:t>UVLO </a:t>
            </a:r>
            <a:r>
              <a:rPr lang="ko-KR" altLang="en-US" sz="1200"/>
              <a:t>값을 변경할 수 있음</a:t>
            </a:r>
            <a:r>
              <a:rPr lang="en-US" altLang="ko-KR" sz="1200"/>
              <a:t>( OTP</a:t>
            </a:r>
            <a:r>
              <a:rPr lang="ko-KR" altLang="en-US" sz="1200"/>
              <a:t> 아님</a:t>
            </a:r>
            <a:r>
              <a:rPr lang="en-US" altLang="ko-KR" sz="1200"/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56052E9-F2A6-D9B9-024C-14A5E4955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6" y="2866002"/>
            <a:ext cx="11972228" cy="224758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393517F-DBE9-FFB7-4537-289A7D00838F}"/>
              </a:ext>
            </a:extLst>
          </p:cNvPr>
          <p:cNvSpPr/>
          <p:nvPr/>
        </p:nvSpPr>
        <p:spPr>
          <a:xfrm>
            <a:off x="7869923" y="4084724"/>
            <a:ext cx="795822" cy="187558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B49A80-B32D-F255-5410-A2BB3612E010}"/>
              </a:ext>
            </a:extLst>
          </p:cNvPr>
          <p:cNvSpPr txBox="1"/>
          <p:nvPr/>
        </p:nvSpPr>
        <p:spPr>
          <a:xfrm>
            <a:off x="6248901" y="5276056"/>
            <a:ext cx="60970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UV_LVL[1:0]: UVLO detection level.</a:t>
            </a:r>
          </a:p>
          <a:p>
            <a:r>
              <a:rPr lang="ko-KR" altLang="en-US" sz="1200"/>
              <a:t>2'b00 : VUV_TH = 3.6V</a:t>
            </a:r>
          </a:p>
          <a:p>
            <a:r>
              <a:rPr lang="ko-KR" altLang="en-US" sz="1200"/>
              <a:t>2'b01 : VUV_TH = 3.8V</a:t>
            </a:r>
          </a:p>
          <a:p>
            <a:r>
              <a:rPr lang="ko-KR" altLang="en-US" sz="1200"/>
              <a:t>2'b10 : VUV_TH = 4.0V</a:t>
            </a:r>
          </a:p>
          <a:p>
            <a:r>
              <a:rPr lang="ko-KR" altLang="en-US" sz="1200"/>
              <a:t>2'b11 : VUV_TH = 4.2V (default)</a:t>
            </a:r>
          </a:p>
        </p:txBody>
      </p:sp>
    </p:spTree>
    <p:extLst>
      <p:ext uri="{BB962C8B-B14F-4D97-AF65-F5344CB8AC3E}">
        <p14:creationId xmlns:p14="http://schemas.microsoft.com/office/powerpoint/2010/main" val="3842667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3327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2-2 </a:t>
            </a:r>
            <a:r>
              <a:rPr lang="ko-KR" altLang="en-US"/>
              <a:t>전류 소모 </a:t>
            </a:r>
            <a:r>
              <a:rPr lang="en-US" altLang="ko-KR"/>
              <a:t>/ RGB LED </a:t>
            </a:r>
            <a:r>
              <a:rPr lang="ko-KR" altLang="en-US"/>
              <a:t>전류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57A9-2E80-38FD-5477-E2616FC71B09}"/>
              </a:ext>
            </a:extLst>
          </p:cNvPr>
          <p:cNvSpPr txBox="1"/>
          <p:nvPr/>
        </p:nvSpPr>
        <p:spPr>
          <a:xfrm>
            <a:off x="330783" y="671259"/>
            <a:ext cx="497386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ko-KR" altLang="en-US" sz="1200"/>
              <a:t>아래 명령을 사용하여 </a:t>
            </a:r>
            <a:r>
              <a:rPr lang="en-US" altLang="ko-KR" sz="1200"/>
              <a:t>SLEEP/DEEPSLEEP/ACTIVE </a:t>
            </a:r>
            <a:r>
              <a:rPr lang="ko-KR" altLang="en-US" sz="1200"/>
              <a:t>전류를 측정한다</a:t>
            </a:r>
            <a:r>
              <a:rPr lang="en-US" altLang="ko-KR" sz="1200"/>
              <a:t>.</a:t>
            </a:r>
          </a:p>
          <a:p>
            <a:pPr marL="228600" indent="-228600">
              <a:buAutoNum type="alphaLcPeriod"/>
            </a:pPr>
            <a:r>
              <a:rPr lang="en-US" altLang="ko-KR" sz="1200"/>
              <a:t>SLEEP/DEEPSLEEP</a:t>
            </a:r>
          </a:p>
          <a:p>
            <a:r>
              <a:rPr lang="en-US" altLang="ko-KR" sz="1200"/>
              <a:t>     - VDD</a:t>
            </a:r>
            <a:r>
              <a:rPr lang="ko-KR" altLang="en-US" sz="1200"/>
              <a:t>를 변경하며 전류소모 및 </a:t>
            </a:r>
            <a:r>
              <a:rPr lang="en-US" altLang="ko-KR" sz="1200"/>
              <a:t>ILED</a:t>
            </a:r>
            <a:r>
              <a:rPr lang="ko-KR" altLang="en-US" sz="1200"/>
              <a:t> 측정 </a:t>
            </a:r>
            <a:endParaRPr lang="en-US" altLang="ko-KR" sz="1200"/>
          </a:p>
          <a:p>
            <a:pPr marL="228600" indent="-228600">
              <a:buAutoNum type="alphaLcPeriod" startAt="3"/>
            </a:pPr>
            <a:r>
              <a:rPr lang="en-US" altLang="ko-KR" sz="1200"/>
              <a:t>ACTIVE</a:t>
            </a:r>
            <a:r>
              <a:rPr lang="ko-KR" altLang="en-US" sz="1200"/>
              <a:t> </a:t>
            </a:r>
            <a:endParaRPr lang="en-US" altLang="ko-KR" sz="1200"/>
          </a:p>
          <a:p>
            <a:r>
              <a:rPr lang="en-US" altLang="ko-KR" sz="1200"/>
              <a:t>    - </a:t>
            </a:r>
            <a:r>
              <a:rPr lang="ko-KR" altLang="en-US" sz="1200"/>
              <a:t>전류소모 및 각 </a:t>
            </a:r>
            <a:r>
              <a:rPr lang="en-US" altLang="ko-KR" sz="1200"/>
              <a:t>RGB ILED </a:t>
            </a:r>
            <a:r>
              <a:rPr lang="ko-KR" altLang="en-US" sz="1200"/>
              <a:t>측정 </a:t>
            </a:r>
            <a:r>
              <a:rPr lang="en-US" altLang="ko-KR" sz="1200"/>
              <a:t>(</a:t>
            </a:r>
            <a:r>
              <a:rPr lang="ko-KR" altLang="en-US" sz="1200"/>
              <a:t>최소</a:t>
            </a:r>
            <a:r>
              <a:rPr lang="en-US" altLang="ko-KR" sz="1200"/>
              <a:t>/</a:t>
            </a:r>
            <a:r>
              <a:rPr lang="ko-KR" altLang="en-US" sz="1200"/>
              <a:t>최대 전류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      </a:t>
            </a:r>
            <a:r>
              <a:rPr lang="ko-KR" altLang="en-US" sz="1200"/>
              <a:t>전류 </a:t>
            </a:r>
            <a:r>
              <a:rPr lang="en-US" altLang="ko-KR" sz="1200"/>
              <a:t>Rising time (10% </a:t>
            </a:r>
            <a:r>
              <a:rPr lang="en-US" altLang="ko-KR" sz="1200">
                <a:sym typeface="Wingdings" panose="05000000000000000000" pitchFamily="2" charset="2"/>
              </a:rPr>
              <a:t> 90%)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      </a:t>
            </a:r>
            <a:r>
              <a:rPr lang="ko-KR" altLang="en-US" sz="1200">
                <a:sym typeface="Wingdings" panose="05000000000000000000" pitchFamily="2" charset="2"/>
              </a:rPr>
              <a:t>전류 </a:t>
            </a:r>
            <a:r>
              <a:rPr lang="en-US" altLang="ko-KR" sz="1200">
                <a:sym typeface="Wingdings" panose="05000000000000000000" pitchFamily="2" charset="2"/>
              </a:rPr>
              <a:t>Falling time(90%  10%)</a:t>
            </a:r>
            <a:endParaRPr lang="en-US" altLang="ko-KR" sz="1200"/>
          </a:p>
          <a:p>
            <a:r>
              <a:rPr lang="en-US" altLang="ko-KR" sz="1200"/>
              <a:t>     - VLED</a:t>
            </a:r>
            <a:r>
              <a:rPr lang="ko-KR" altLang="en-US" sz="1200"/>
              <a:t> 측정</a:t>
            </a:r>
            <a:r>
              <a:rPr lang="en-US" altLang="ko-KR" sz="1200"/>
              <a:t>(</a:t>
            </a:r>
            <a:r>
              <a:rPr lang="ko-KR" altLang="en-US" sz="1200"/>
              <a:t>위 조건에서</a:t>
            </a:r>
            <a:r>
              <a:rPr lang="en-US" altLang="ko-KR" sz="1200"/>
              <a:t>)</a:t>
            </a:r>
          </a:p>
          <a:p>
            <a:pPr marL="228600" indent="-228600">
              <a:buAutoNum type="alphaLcPeriod" startAt="4"/>
            </a:pPr>
            <a:r>
              <a:rPr lang="en-US" altLang="ko-KR" sz="1200"/>
              <a:t>All LED off ( or DEEPSLEEP) ILED</a:t>
            </a:r>
            <a:r>
              <a:rPr lang="ko-KR" altLang="en-US" sz="1200"/>
              <a:t> 측정</a:t>
            </a:r>
            <a:r>
              <a:rPr lang="en-US" altLang="ko-KR" sz="1200"/>
              <a:t>/VLED</a:t>
            </a:r>
            <a:r>
              <a:rPr lang="ko-KR" altLang="en-US" sz="1200"/>
              <a:t>측정 </a:t>
            </a:r>
            <a:endParaRPr lang="en-US" altLang="ko-KR" sz="1200"/>
          </a:p>
          <a:p>
            <a:pPr marL="228600" indent="-228600">
              <a:buAutoNum type="alphaLcPeriod" startAt="4"/>
            </a:pPr>
            <a:r>
              <a:rPr lang="en-US" altLang="ko-KR" sz="1200"/>
              <a:t>Dimming (TBD)</a:t>
            </a:r>
          </a:p>
          <a:p>
            <a:pPr marL="228600" indent="-228600">
              <a:buFontTx/>
              <a:buAutoNum type="alphaLcPeriod" startAt="4"/>
            </a:pPr>
            <a:r>
              <a:rPr lang="en-US" altLang="ko-KR" sz="1200"/>
              <a:t>VDD </a:t>
            </a:r>
            <a:r>
              <a:rPr lang="ko-KR" altLang="en-US" sz="1200"/>
              <a:t>변경하며 </a:t>
            </a:r>
            <a:r>
              <a:rPr lang="en-US" altLang="ko-KR" sz="1200"/>
              <a:t>a~e</a:t>
            </a:r>
            <a:r>
              <a:rPr lang="ko-KR" altLang="en-US" sz="1200"/>
              <a:t>를 반복한다</a:t>
            </a:r>
            <a:r>
              <a:rPr lang="en-US" altLang="ko-KR" sz="1200"/>
              <a:t>. ( VDD=4.3V/5V/5.5V)</a:t>
            </a:r>
          </a:p>
          <a:p>
            <a:pPr marL="228600" indent="-228600">
              <a:buFontTx/>
              <a:buAutoNum type="alphaLcPeriod" startAt="4"/>
            </a:pPr>
            <a:endParaRPr lang="en-US" altLang="ko-KR" sz="1200"/>
          </a:p>
          <a:p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항목 최적화는 향후 고려</a:t>
            </a:r>
            <a:endParaRPr lang="en-US" altLang="ko-KR" sz="1200"/>
          </a:p>
          <a:p>
            <a:pPr marL="228600" indent="-228600">
              <a:buAutoNum type="alphaLcPeriod" startAt="4"/>
            </a:pPr>
            <a:endParaRPr lang="en-US" altLang="ko-KR" sz="12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8B6612-9DB5-A905-F8AC-4B143F773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87" y="3304852"/>
            <a:ext cx="6100763" cy="254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62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109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2-3 Fault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57A9-2E80-38FD-5477-E2616FC71B09}"/>
              </a:ext>
            </a:extLst>
          </p:cNvPr>
          <p:cNvSpPr txBox="1"/>
          <p:nvPr/>
        </p:nvSpPr>
        <p:spPr>
          <a:xfrm>
            <a:off x="330783" y="671259"/>
            <a:ext cx="17945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LED OPEN / SHORT</a:t>
            </a:r>
          </a:p>
        </p:txBody>
      </p:sp>
    </p:spTree>
    <p:extLst>
      <p:ext uri="{BB962C8B-B14F-4D97-AF65-F5344CB8AC3E}">
        <p14:creationId xmlns:p14="http://schemas.microsoft.com/office/powerpoint/2010/main" val="1221354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109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2-3 Fault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57A9-2E80-38FD-5477-E2616FC71B09}"/>
              </a:ext>
            </a:extLst>
          </p:cNvPr>
          <p:cNvSpPr txBox="1"/>
          <p:nvPr/>
        </p:nvSpPr>
        <p:spPr>
          <a:xfrm>
            <a:off x="330783" y="671259"/>
            <a:ext cx="2157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TSD (Thermal Shutdown)</a:t>
            </a:r>
          </a:p>
        </p:txBody>
      </p:sp>
    </p:spTree>
    <p:extLst>
      <p:ext uri="{BB962C8B-B14F-4D97-AF65-F5344CB8AC3E}">
        <p14:creationId xmlns:p14="http://schemas.microsoft.com/office/powerpoint/2010/main" val="2840058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2168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2-4 Serial Interface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457A9-2E80-38FD-5477-E2616FC71B09}"/>
              </a:ext>
            </a:extLst>
          </p:cNvPr>
          <p:cNvSpPr txBox="1"/>
          <p:nvPr/>
        </p:nvSpPr>
        <p:spPr>
          <a:xfrm>
            <a:off x="330783" y="671259"/>
            <a:ext cx="4447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lphaLcPeriod"/>
            </a:pPr>
            <a:r>
              <a:rPr lang="en-US" altLang="ko-KR" sz="1200"/>
              <a:t>I2C</a:t>
            </a:r>
            <a:r>
              <a:rPr lang="ko-KR" altLang="en-US" sz="1200"/>
              <a:t>를 사용하여</a:t>
            </a:r>
            <a:r>
              <a:rPr lang="en-US" altLang="ko-KR" sz="1200"/>
              <a:t> Test</a:t>
            </a:r>
            <a:r>
              <a:rPr lang="ko-KR" altLang="en-US" sz="1200"/>
              <a:t>할 때 </a:t>
            </a:r>
            <a:r>
              <a:rPr lang="en-US" altLang="ko-KR" sz="1200"/>
              <a:t> I2C input </a:t>
            </a:r>
            <a:r>
              <a:rPr lang="ko-KR" altLang="en-US" sz="1200"/>
              <a:t>신호를 변경하여 실시</a:t>
            </a:r>
            <a:endParaRPr lang="en-US" altLang="ko-KR" sz="12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5D394E-F28F-6353-1BC9-9B9142835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95" y="1091435"/>
            <a:ext cx="5612605" cy="25218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962FB1-BE03-7982-2FED-0E982821B221}"/>
              </a:ext>
            </a:extLst>
          </p:cNvPr>
          <p:cNvSpPr txBox="1"/>
          <p:nvPr/>
        </p:nvSpPr>
        <p:spPr>
          <a:xfrm>
            <a:off x="330783" y="4043109"/>
            <a:ext cx="2050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b. Pull-up/Pull-down </a:t>
            </a:r>
            <a:r>
              <a:rPr lang="ko-KR" altLang="en-US" sz="1200"/>
              <a:t>저항</a:t>
            </a:r>
            <a:r>
              <a:rPr lang="en-US" altLang="ko-KR" sz="1200"/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2194020-DA98-10A0-0EA8-90DA48129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36" y="4553132"/>
            <a:ext cx="5582314" cy="14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17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2-5 IDDQ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29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3390B-A30B-63A7-0F8B-FAE62F3F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0750" y="6356350"/>
            <a:ext cx="2743200" cy="365125"/>
          </a:xfrm>
        </p:spPr>
        <p:txBody>
          <a:bodyPr/>
          <a:lstStyle/>
          <a:p>
            <a:fld id="{CA6ED325-1159-4903-B065-3EC415C0E6A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DDD62-AC88-7306-296B-645C707F4469}"/>
              </a:ext>
            </a:extLst>
          </p:cNvPr>
          <p:cNvSpPr txBox="1"/>
          <p:nvPr/>
        </p:nvSpPr>
        <p:spPr>
          <a:xfrm>
            <a:off x="233680" y="101600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2-6 SCAN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421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F7EFD28B4384C419F76F0F707E0066C" ma:contentTypeVersion="0" ma:contentTypeDescription="새 문서를 만듭니다." ma:contentTypeScope="" ma:versionID="4a9cc89a59efde75f999469c51170dc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5932af452e1792303ed0b57d4a7ede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0FC39A-D6D6-43B1-90BF-961B7EB3E1B8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335DDCF-B671-4337-88B6-7241AE85B8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5CE3D3-7A3C-40BB-AAD9-85708A5BC4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138083</TotalTime>
  <Words>1593</Words>
  <Application>Microsoft Office PowerPoint</Application>
  <PresentationFormat>와이드스크린</PresentationFormat>
  <Paragraphs>306</Paragraphs>
  <Slides>23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Arial</vt:lpstr>
      <vt:lpstr>Wingdings</vt:lpstr>
      <vt:lpstr>Office 테마</vt:lpstr>
      <vt:lpstr>Worksheet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GT1027X</dc:title>
  <dc:creator>김 효정</dc:creator>
  <cp:lastModifiedBy>김 영훈</cp:lastModifiedBy>
  <cp:revision>260</cp:revision>
  <cp:lastPrinted>2024-01-17T06:29:24Z</cp:lastPrinted>
  <dcterms:created xsi:type="dcterms:W3CDTF">2023-09-13T01:22:06Z</dcterms:created>
  <dcterms:modified xsi:type="dcterms:W3CDTF">2024-06-25T02:46:32Z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0x0101002F7EFD28B4384C419F76F0F707E0066C</vt:lpwstr>
  </property>
</Properties>
</file>