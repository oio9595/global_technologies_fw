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64" r:id="rId2"/>
    <p:sldId id="601" r:id="rId3"/>
    <p:sldId id="586" r:id="rId4"/>
    <p:sldId id="569" r:id="rId5"/>
    <p:sldId id="587" r:id="rId6"/>
    <p:sldId id="588" r:id="rId7"/>
    <p:sldId id="590" r:id="rId8"/>
    <p:sldId id="592" r:id="rId9"/>
    <p:sldId id="597" r:id="rId10"/>
    <p:sldId id="598" r:id="rId11"/>
    <p:sldId id="599" r:id="rId12"/>
    <p:sldId id="600" r:id="rId13"/>
    <p:sldId id="593" r:id="rId14"/>
    <p:sldId id="594" r:id="rId15"/>
    <p:sldId id="596" r:id="rId16"/>
    <p:sldId id="58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FFFF00"/>
    <a:srgbClr val="00FF00"/>
    <a:srgbClr val="FF6000"/>
    <a:srgbClr val="72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D6318-F20B-69A9-A230-8B2D20EBE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F9CFFF-D12C-D8AF-E804-0C7F09585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D38474-0110-F75C-AAE9-CBC08009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35568-B040-5334-4544-593A8C2E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36C4A-3FAE-BB19-ABD2-9C7F1DAF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8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44EAB-6278-7205-F58B-D48FFBC7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CA590-ABBA-5A11-84C8-649103252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4A89A-8207-3F5F-80F6-F8EE1F00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BFA8D-EDE7-5923-7B8C-69899FA2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8497F4-2EA9-7965-9B83-D0D55EFF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38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93851-A11B-908B-7B36-51DA826A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5EB7FF-0422-0405-247F-C955CEDC5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F184BF-1EAF-DB33-D62A-AC55B658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C54E65-503E-FA89-7B6E-EBFFEA4B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B501E5-D481-10FC-600D-C3600D68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44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D27ADB-3E4B-5539-2EB5-7C398294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E7AF2E-0411-5E92-3159-BAE9E3E38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C85C25-B4F1-7C90-D789-F73DEAD28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7B945E-E3E2-9A4F-66A0-27142B0E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F98152-3328-16CE-B082-D81AF3F4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908E9D-4C9A-773A-CBAA-4B20CB3F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00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13C2B-3AE9-2CBE-F195-9604AE44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6218C6-CDCC-CCD5-96E7-AF3FF3D1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EDB7EC-DDFD-ED14-9172-BD60F68AA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F1238-2DAB-5A19-909C-510691D67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2ED6DB-B4EA-D523-4BB9-5E42B9104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23C6EB-E88C-4683-DB0E-D8C7C7D3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F28413-A060-AB47-BBA4-9682AFE0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093ECE-8A95-95C6-71F5-25379560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16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959CA-1703-FD8B-8512-FECD57D4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E7829C-3FB1-154E-4463-F2DD6BC4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624941-D57A-DD74-EE90-EC9F5BD8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8AE20A-B8D8-A107-28CF-3599BBC3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53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A9CE60-901E-075D-324B-091E9648E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3FF37B-8B9F-E9CE-933D-CCC61D55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42595-38E1-FC63-C21C-AF51753D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86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7B0AD-12F3-8B6A-6037-CFBB482F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56CFA6-92ED-B467-1BE4-A6F2EC1DF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AD6C7E-743B-61DD-3A09-7340EA8D7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E2385A-AB33-3E6C-95A4-276BFB7A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DF9862-BF85-598D-CAD7-F0D64383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6A67F-7C8B-48E8-4C25-85251ECA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3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254CA-B41F-6965-F5AE-971AA78C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C31193-1F0A-BA2D-3662-3C65D0BE7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082270-7B72-49E0-5971-3707CA55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065E53-481A-3F5C-12B3-DE71032F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20DC30-03B6-E4D8-C567-1B14B606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6256ED-5BBB-0E22-4DB5-1274474C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318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6081F-437A-859F-C771-4671EA40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9CF5D-EDC8-163A-95E1-84A7A42A1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01638-FDBB-27D0-46E7-A95C1EF8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29BF4-806E-60DC-FCC2-CAF21BAB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7F160-17F7-23FE-E71C-A873EE3C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65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EC73CA9-312C-4035-8F50-3F4ED4443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ECA387-E1F9-603B-13F6-E348174F1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13CE17-59EF-8BF9-B901-DFB1C5BB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6F6B29-460B-08A3-0605-9ED1CFBC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49CBA4-5248-BAB8-69A4-015B260B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851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623593-09DC-4F8D-35AC-2F5A61D7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C67579-84AF-CBE6-77DB-1582DD922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6FEACD-3A6E-19B6-2CFF-544EFAE7D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049FB-D58F-4316-AFBD-5B9DD005872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602F5F-365B-D640-A199-43ECC7162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02F15-D55D-7880-E111-C279B454C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53C52-D8E9-4691-9A6A-C9686C96AA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65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F226B-AC70-4978-AE1B-1435B77DE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ID804 FA Board HW Issue</a:t>
            </a: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ko-KR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2026. 09. 08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6F20D4-8954-4B38-BD4A-363B526372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717" y="5875988"/>
            <a:ext cx="1674226" cy="679007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B846274-2521-4186-8052-37B7ECC2A4FB}"/>
              </a:ext>
            </a:extLst>
          </p:cNvPr>
          <p:cNvSpPr/>
          <p:nvPr/>
        </p:nvSpPr>
        <p:spPr>
          <a:xfrm>
            <a:off x="10566476" y="141606"/>
            <a:ext cx="1476000" cy="3240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535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A6EC9-409A-94A0-D4C9-20AE66A7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E2FB7E-FBF4-D748-8DE0-5561383B0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2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A89E1-9DDC-AD73-9255-F86D7D7508EF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Issue</a:t>
            </a:r>
            <a:r>
              <a:rPr lang="ko-KR" alt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Summary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E6AD851-7ECB-1185-7D5C-F9A82774E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491451"/>
              </p:ext>
            </p:extLst>
          </p:nvPr>
        </p:nvGraphicFramePr>
        <p:xfrm>
          <a:off x="310119" y="1005416"/>
          <a:ext cx="114384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381">
                  <a:extLst>
                    <a:ext uri="{9D8B030D-6E8A-4147-A177-3AD203B41FA5}">
                      <a16:colId xmlns:a16="http://schemas.microsoft.com/office/drawing/2014/main" val="3740590380"/>
                    </a:ext>
                  </a:extLst>
                </a:gridCol>
                <a:gridCol w="6496050">
                  <a:extLst>
                    <a:ext uri="{9D8B030D-6E8A-4147-A177-3AD203B41FA5}">
                      <a16:colId xmlns:a16="http://schemas.microsoft.com/office/drawing/2014/main" val="1446023531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2802640158"/>
                    </a:ext>
                  </a:extLst>
                </a:gridCol>
                <a:gridCol w="1090055">
                  <a:extLst>
                    <a:ext uri="{9D8B030D-6E8A-4147-A177-3AD203B41FA5}">
                      <a16:colId xmlns:a16="http://schemas.microsoft.com/office/drawing/2014/main" val="3376664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lt"/>
                        </a:rPr>
                        <a:t>Issue No.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조치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SIO1P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Pull-Up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전원이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ID804 VDD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인가보다 먼저 공급되어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, IC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내부 경로를 통해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VDD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가 비정상적으로 상승함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SIO1P Pull-Up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전원을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ID804_VDD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로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7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ID804_VDD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 리플 및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rise time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이 과도하여 동작 안정성 저하 우려가 있음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ID804_VDD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주변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lt"/>
                        </a:rPr>
                        <a:t>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 용량 및 구성 변경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완료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27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회로도에서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“ID804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lt"/>
                        </a:rPr>
                        <a:t>_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RXD”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“ID804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lt"/>
                        </a:rPr>
                        <a:t>-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RXD” Net Label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이 불일치하여 신호가 연결되지 않음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Net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 점퍼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75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MCU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 I2C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핀 할당은 정상이나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회로도 작성 과정에서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SCL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SDA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네트가 반대로 연결되어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I2C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통신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패턴에서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SCL/SDA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연결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80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1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57CA-D185-337E-4595-8AFDB36E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CEABA-0796-744C-95D8-205174AAC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cs typeface="Calibri Light" panose="020F0302020204030204" pitchFamily="34" charset="0"/>
              </a:rPr>
              <a:t>SIO1P Pull-Up </a:t>
            </a:r>
            <a:r>
              <a:rPr lang="ko-KR" altLang="en-US" sz="3200" b="1" dirty="0">
                <a:cs typeface="Calibri Light" panose="020F0302020204030204" pitchFamily="34" charset="0"/>
              </a:rPr>
              <a:t>전원 시퀀스 이슈</a:t>
            </a:r>
            <a:endParaRPr lang="en-US" sz="3200" b="1" dirty="0"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01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98F0-CED6-B154-92F0-340E098B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1E5CB7-201C-D10E-0747-1D94454D0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4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75E45-24B0-2074-78E5-839A3E3F46DC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latin typeface="+mj-lt"/>
                <a:cs typeface="Calibri Light" panose="020F0302020204030204" pitchFamily="34" charset="0"/>
              </a:rPr>
              <a:t>SIO1P Pull-Up </a:t>
            </a:r>
            <a:r>
              <a:rPr lang="ko-KR" altLang="en-US" b="1" dirty="0">
                <a:latin typeface="+mj-lt"/>
                <a:cs typeface="Calibri Light" panose="020F0302020204030204" pitchFamily="34" charset="0"/>
              </a:rPr>
              <a:t>전원 시퀀스 이슈</a:t>
            </a:r>
            <a:endParaRPr lang="en-US" altLang="ko-KR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D585E5-AA6F-961E-59A2-E165BF761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339312"/>
            <a:ext cx="5695950" cy="32433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381D6F-E74B-47EC-02BB-C985CBD5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254" y="1708297"/>
            <a:ext cx="4754296" cy="25054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FEC68E2-C50D-83A7-4839-A42D9B213E63}"/>
              </a:ext>
            </a:extLst>
          </p:cNvPr>
          <p:cNvSpPr/>
          <p:nvPr/>
        </p:nvSpPr>
        <p:spPr>
          <a:xfrm>
            <a:off x="7362825" y="2343150"/>
            <a:ext cx="561975" cy="43815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CED42A-D3C9-9550-AB2C-8818DCE79A3D}"/>
              </a:ext>
            </a:extLst>
          </p:cNvPr>
          <p:cNvSpPr txBox="1"/>
          <p:nvPr/>
        </p:nvSpPr>
        <p:spPr>
          <a:xfrm>
            <a:off x="653775" y="2124075"/>
            <a:ext cx="449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VDD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31D72-BB2F-81BF-2C52-CA976C7C51FD}"/>
              </a:ext>
            </a:extLst>
          </p:cNvPr>
          <p:cNvSpPr txBox="1"/>
          <p:nvPr/>
        </p:nvSpPr>
        <p:spPr>
          <a:xfrm>
            <a:off x="657783" y="2439114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TM0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881764-8196-EB5E-800D-B7C482B96705}"/>
              </a:ext>
            </a:extLst>
          </p:cNvPr>
          <p:cNvSpPr txBox="1"/>
          <p:nvPr/>
        </p:nvSpPr>
        <p:spPr>
          <a:xfrm>
            <a:off x="612097" y="319587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SIO1P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AB0189-D221-0BC6-D63D-A4A536FF9554}"/>
              </a:ext>
            </a:extLst>
          </p:cNvPr>
          <p:cNvSpPr txBox="1"/>
          <p:nvPr/>
        </p:nvSpPr>
        <p:spPr>
          <a:xfrm>
            <a:off x="600075" y="3754034"/>
            <a:ext cx="5565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SIO1N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F32B5E7-56C6-A8E9-56A4-9CCF9E88CC53}"/>
              </a:ext>
            </a:extLst>
          </p:cNvPr>
          <p:cNvCxnSpPr/>
          <p:nvPr/>
        </p:nvCxnSpPr>
        <p:spPr>
          <a:xfrm>
            <a:off x="1543050" y="1962150"/>
            <a:ext cx="0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B6C2DA3-0DF3-3D2B-24D1-979EE8B76A7C}"/>
              </a:ext>
            </a:extLst>
          </p:cNvPr>
          <p:cNvCxnSpPr/>
          <p:nvPr/>
        </p:nvCxnSpPr>
        <p:spPr>
          <a:xfrm>
            <a:off x="1543050" y="2938697"/>
            <a:ext cx="0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633EE3-0F0A-5561-F7B9-446269A65BB0}"/>
              </a:ext>
            </a:extLst>
          </p:cNvPr>
          <p:cNvSpPr txBox="1"/>
          <p:nvPr/>
        </p:nvSpPr>
        <p:spPr>
          <a:xfrm>
            <a:off x="392581" y="630922"/>
            <a:ext cx="7375737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개선 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SIO1P Pull-Up </a:t>
            </a:r>
            <a:r>
              <a:rPr lang="ko-KR" altLang="en-US" sz="1000" dirty="0"/>
              <a:t>전원</a:t>
            </a:r>
            <a:r>
              <a:rPr lang="en-US" altLang="ko-KR" sz="1000" dirty="0"/>
              <a:t>(VDD_5V)</a:t>
            </a:r>
            <a:r>
              <a:rPr lang="ko-KR" altLang="en-US" sz="1000" dirty="0"/>
              <a:t>이 </a:t>
            </a:r>
            <a:r>
              <a:rPr lang="en-US" altLang="ko-KR" sz="1000" dirty="0"/>
              <a:t>ID804_VDD</a:t>
            </a:r>
            <a:r>
              <a:rPr lang="ko-KR" altLang="en-US" sz="1000" dirty="0"/>
              <a:t>보다 먼저 인가되어</a:t>
            </a:r>
            <a:r>
              <a:rPr lang="en-US" altLang="ko-KR" sz="1000" dirty="0"/>
              <a:t>, SIO1P</a:t>
            </a:r>
            <a:r>
              <a:rPr lang="ko-KR" altLang="en-US" sz="1000" dirty="0"/>
              <a:t>의 내부 경로를 통해 </a:t>
            </a:r>
            <a:r>
              <a:rPr lang="en-US" altLang="ko-KR" sz="1000" dirty="0"/>
              <a:t>ID804_VDD</a:t>
            </a:r>
            <a:r>
              <a:rPr lang="ko-KR" altLang="en-US" sz="1000" dirty="0"/>
              <a:t>에 역공급이 발생함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24FD6B-9540-C307-41EE-85BF37CB7516}"/>
              </a:ext>
            </a:extLst>
          </p:cNvPr>
          <p:cNvSpPr txBox="1"/>
          <p:nvPr/>
        </p:nvSpPr>
        <p:spPr>
          <a:xfrm>
            <a:off x="470883" y="4661907"/>
            <a:ext cx="3211135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SIO1P Pull-Up </a:t>
            </a:r>
            <a:r>
              <a:rPr lang="ko-KR" altLang="en-US" sz="1000" dirty="0"/>
              <a:t>전원 인가 → </a:t>
            </a:r>
            <a:r>
              <a:rPr lang="en-US" altLang="ko-KR" sz="1000" dirty="0"/>
              <a:t>ID804_VDD </a:t>
            </a:r>
            <a:r>
              <a:rPr lang="ko-KR" altLang="en-US" sz="1000" dirty="0"/>
              <a:t>비정상 상승</a:t>
            </a:r>
          </a:p>
        </p:txBody>
      </p:sp>
    </p:spTree>
    <p:extLst>
      <p:ext uri="{BB962C8B-B14F-4D97-AF65-F5344CB8AC3E}">
        <p14:creationId xmlns:p14="http://schemas.microsoft.com/office/powerpoint/2010/main" val="427451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6AAA-35ED-4D1A-37F9-C21F9C15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B16801-BDE9-C4A1-3547-87476E173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5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3029E-7094-EB62-4C72-EE6328A8153A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cs typeface="Calibri Light" panose="020F0302020204030204" pitchFamily="34" charset="0"/>
              </a:rPr>
              <a:t>SIO1P Pull-Up </a:t>
            </a:r>
            <a:r>
              <a:rPr lang="ko-KR" altLang="en-US" b="1" dirty="0">
                <a:cs typeface="Calibri Light" panose="020F0302020204030204" pitchFamily="34" charset="0"/>
              </a:rPr>
              <a:t>전원 시퀀스 이슈</a:t>
            </a:r>
            <a:endParaRPr lang="en-US" altLang="ko-KR" dirty="0"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4DA377-2334-7C8A-497F-A4B2B33B4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050" y="1339582"/>
            <a:ext cx="5695950" cy="32428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6C030B-2434-771D-49BA-CC19B6AFB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254" y="1708297"/>
            <a:ext cx="4754296" cy="25054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C61EC8-BF24-6BD6-11CB-07AE478097D4}"/>
              </a:ext>
            </a:extLst>
          </p:cNvPr>
          <p:cNvSpPr/>
          <p:nvPr/>
        </p:nvSpPr>
        <p:spPr>
          <a:xfrm>
            <a:off x="7222863" y="2343150"/>
            <a:ext cx="841897" cy="43815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F6CB3E-80A4-FFB1-B827-E3BCDD360296}"/>
              </a:ext>
            </a:extLst>
          </p:cNvPr>
          <p:cNvSpPr txBox="1"/>
          <p:nvPr/>
        </p:nvSpPr>
        <p:spPr>
          <a:xfrm>
            <a:off x="7222863" y="2439114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ID804_VDD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90B148-6BF7-E0A9-2E33-DDB22607EF3E}"/>
              </a:ext>
            </a:extLst>
          </p:cNvPr>
          <p:cNvSpPr txBox="1"/>
          <p:nvPr/>
        </p:nvSpPr>
        <p:spPr>
          <a:xfrm>
            <a:off x="653775" y="2124075"/>
            <a:ext cx="449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VDD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7B29A6-1684-E1A4-0DC7-4DF9EBF49E93}"/>
              </a:ext>
            </a:extLst>
          </p:cNvPr>
          <p:cNvSpPr txBox="1"/>
          <p:nvPr/>
        </p:nvSpPr>
        <p:spPr>
          <a:xfrm>
            <a:off x="657783" y="2439114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TM0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C3BB55-C478-3E8A-8BA2-ABB67BEF2EF5}"/>
              </a:ext>
            </a:extLst>
          </p:cNvPr>
          <p:cNvSpPr txBox="1"/>
          <p:nvPr/>
        </p:nvSpPr>
        <p:spPr>
          <a:xfrm>
            <a:off x="612097" y="319587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SIO1P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E8ED6-F175-7BB2-AE07-570C13650FA0}"/>
              </a:ext>
            </a:extLst>
          </p:cNvPr>
          <p:cNvSpPr txBox="1"/>
          <p:nvPr/>
        </p:nvSpPr>
        <p:spPr>
          <a:xfrm>
            <a:off x="600075" y="3754034"/>
            <a:ext cx="5565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SIO1N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DB475-9325-F8A5-A63A-60E4DD2C243A}"/>
              </a:ext>
            </a:extLst>
          </p:cNvPr>
          <p:cNvSpPr txBox="1"/>
          <p:nvPr/>
        </p:nvSpPr>
        <p:spPr>
          <a:xfrm>
            <a:off x="392581" y="630922"/>
            <a:ext cx="6827510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개선 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SIO1P Pull-Up </a:t>
            </a:r>
            <a:r>
              <a:rPr lang="ko-KR" altLang="en-US" sz="1000" dirty="0"/>
              <a:t>전원을 </a:t>
            </a:r>
            <a:r>
              <a:rPr lang="en-US" altLang="ko-KR" sz="1000" dirty="0"/>
              <a:t>ID804_VDD </a:t>
            </a:r>
            <a:r>
              <a:rPr lang="ko-KR" altLang="en-US" sz="1000" dirty="0"/>
              <a:t>전원 도메인으로 변경하여</a:t>
            </a:r>
            <a:r>
              <a:rPr lang="en-US" altLang="ko-KR" sz="1000" dirty="0"/>
              <a:t>,ID804_VDD </a:t>
            </a:r>
            <a:r>
              <a:rPr lang="ko-KR" altLang="en-US" sz="1000" dirty="0"/>
              <a:t>인가 전 </a:t>
            </a:r>
            <a:r>
              <a:rPr lang="en-US" altLang="ko-KR" sz="1000" dirty="0"/>
              <a:t>SIO1P</a:t>
            </a:r>
            <a:r>
              <a:rPr lang="ko-KR" altLang="en-US" sz="1000" dirty="0"/>
              <a:t>를 통한 역공급을 방지함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1474E37-F682-BE0D-63FC-40081320430B}"/>
              </a:ext>
            </a:extLst>
          </p:cNvPr>
          <p:cNvCxnSpPr/>
          <p:nvPr/>
        </p:nvCxnSpPr>
        <p:spPr>
          <a:xfrm>
            <a:off x="1543050" y="1962150"/>
            <a:ext cx="0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94A29D0-BC4C-961C-3B9A-00E4E04E2CAA}"/>
              </a:ext>
            </a:extLst>
          </p:cNvPr>
          <p:cNvCxnSpPr/>
          <p:nvPr/>
        </p:nvCxnSpPr>
        <p:spPr>
          <a:xfrm>
            <a:off x="1543050" y="2938697"/>
            <a:ext cx="0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D94A1E-E91A-99D2-B48E-ECA56C7BB360}"/>
              </a:ext>
            </a:extLst>
          </p:cNvPr>
          <p:cNvSpPr txBox="1"/>
          <p:nvPr/>
        </p:nvSpPr>
        <p:spPr>
          <a:xfrm>
            <a:off x="430429" y="4565300"/>
            <a:ext cx="4682692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ID804_VDD</a:t>
            </a:r>
            <a:r>
              <a:rPr lang="ko-KR" altLang="en-US" sz="1000" dirty="0"/>
              <a:t>와 </a:t>
            </a:r>
            <a:r>
              <a:rPr lang="en-US" altLang="ko-KR" sz="1000" dirty="0"/>
              <a:t>SIO1P Pull-Up </a:t>
            </a:r>
            <a:r>
              <a:rPr lang="ko-KR" altLang="en-US" sz="1000" dirty="0"/>
              <a:t>전원 시퀀스 일치→ </a:t>
            </a:r>
            <a:r>
              <a:rPr lang="en-US" altLang="ko-KR" sz="1000" dirty="0"/>
              <a:t>ID804_VDD </a:t>
            </a:r>
            <a:r>
              <a:rPr lang="ko-KR" altLang="en-US" sz="1000" dirty="0" err="1"/>
              <a:t>역급전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미발생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3876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A552-8026-EEEE-4EF0-C8539759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B6BD7-C844-FC20-11BC-20FF22CB0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cs typeface="Calibri Light" panose="020F0302020204030204" pitchFamily="34" charset="0"/>
              </a:rPr>
              <a:t>ID804_VDD </a:t>
            </a:r>
            <a:r>
              <a:rPr lang="ko-KR" altLang="en-US" sz="3200" b="1" dirty="0">
                <a:cs typeface="Calibri Light" panose="020F0302020204030204" pitchFamily="34" charset="0"/>
              </a:rPr>
              <a:t>전원 안정성 이슈</a:t>
            </a:r>
            <a:endParaRPr lang="en-US" sz="3200" b="1" dirty="0"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7EE4C-1FA0-1DB9-9699-8DEF1438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F3A1B7-F4C4-35AD-5934-CD16AFEB8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7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2077D-048E-6CE2-E066-68DAB479027E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latin typeface="+mj-lt"/>
                <a:cs typeface="Calibri Light" panose="020F0302020204030204" pitchFamily="34" charset="0"/>
              </a:rPr>
              <a:t>ID804_VDD </a:t>
            </a:r>
            <a:r>
              <a:rPr lang="ko-KR" altLang="en-US" b="1" dirty="0">
                <a:latin typeface="+mj-lt"/>
                <a:cs typeface="Calibri Light" panose="020F0302020204030204" pitchFamily="34" charset="0"/>
              </a:rPr>
              <a:t>전원 안정성 이슈</a:t>
            </a:r>
            <a:endParaRPr lang="en-US" altLang="ko-KR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47A754-B7E1-EA40-3479-FE5F9954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423" y="1112123"/>
            <a:ext cx="4250851" cy="46459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477C44-B8C3-BDCC-0B0D-70C413614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928" y="1807571"/>
            <a:ext cx="5687072" cy="324285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D2C671A-B219-27CE-578A-04F43B051FD9}"/>
              </a:ext>
            </a:extLst>
          </p:cNvPr>
          <p:cNvSpPr/>
          <p:nvPr/>
        </p:nvSpPr>
        <p:spPr>
          <a:xfrm>
            <a:off x="8937860" y="3216029"/>
            <a:ext cx="406165" cy="28917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D3C2C8-5B94-6104-2767-615E8D6B7AA8}"/>
              </a:ext>
            </a:extLst>
          </p:cNvPr>
          <p:cNvSpPr/>
          <p:nvPr/>
        </p:nvSpPr>
        <p:spPr>
          <a:xfrm>
            <a:off x="10150592" y="3300043"/>
            <a:ext cx="485423" cy="28917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2ECC73-2202-08CE-55FF-4C80891B3E7E}"/>
              </a:ext>
            </a:extLst>
          </p:cNvPr>
          <p:cNvSpPr/>
          <p:nvPr/>
        </p:nvSpPr>
        <p:spPr>
          <a:xfrm>
            <a:off x="9753952" y="3635297"/>
            <a:ext cx="485423" cy="289171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9687A-EDB9-BF84-4049-E0C33DA45C85}"/>
              </a:ext>
            </a:extLst>
          </p:cNvPr>
          <p:cNvSpPr txBox="1"/>
          <p:nvPr/>
        </p:nvSpPr>
        <p:spPr>
          <a:xfrm>
            <a:off x="392581" y="630922"/>
            <a:ext cx="5381601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개선 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ID804_VDD</a:t>
            </a:r>
            <a:r>
              <a:rPr lang="ko-KR" altLang="en-US" sz="1000" dirty="0"/>
              <a:t>의 리플 전압 및 상승 시간이 과도하여</a:t>
            </a:r>
            <a:r>
              <a:rPr lang="en-US" altLang="ko-KR" sz="1000" dirty="0"/>
              <a:t>, ID804 </a:t>
            </a:r>
            <a:r>
              <a:rPr lang="ko-KR" altLang="en-US" sz="1000" dirty="0"/>
              <a:t>동작 안정성 저하 가능성</a:t>
            </a:r>
            <a:r>
              <a:rPr lang="en-US" altLang="ko-KR" sz="1000" dirty="0"/>
              <a:t> </a:t>
            </a:r>
            <a:r>
              <a:rPr lang="ko-KR" altLang="en-US" sz="1000" dirty="0"/>
              <a:t>있음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5621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B6151-A6C5-2F04-80B9-5AC3355C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433BAC-8E07-F30C-61E2-8D569906B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8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450A5-21EB-FCDD-E32C-15DDEC330D2A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cs typeface="Calibri Light" panose="020F0302020204030204" pitchFamily="34" charset="0"/>
              </a:rPr>
              <a:t>ID804_VDD </a:t>
            </a:r>
            <a:r>
              <a:rPr lang="ko-KR" altLang="en-US" b="1" dirty="0">
                <a:cs typeface="Calibri Light" panose="020F0302020204030204" pitchFamily="34" charset="0"/>
              </a:rPr>
              <a:t>전원 안정성 이슈</a:t>
            </a:r>
            <a:endParaRPr lang="en-US" altLang="ko-KR" dirty="0"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70B0B0-BBBE-3582-9F72-6B0F0B903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874" y="2156477"/>
            <a:ext cx="2339774" cy="25572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FF23FB0-A27D-F5AA-D01A-B65133120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928" y="1810098"/>
            <a:ext cx="5687072" cy="3237801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E035534-03A8-34AF-A4E4-03A323690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511112"/>
              </p:ext>
            </p:extLst>
          </p:nvPr>
        </p:nvGraphicFramePr>
        <p:xfrm>
          <a:off x="9249522" y="2549257"/>
          <a:ext cx="2675778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753">
                  <a:extLst>
                    <a:ext uri="{9D8B030D-6E8A-4147-A177-3AD203B41FA5}">
                      <a16:colId xmlns:a16="http://schemas.microsoft.com/office/drawing/2014/main" val="1543169528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1590640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부품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작업 내역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21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C22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N.C.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11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C21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1uF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23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C19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100nF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0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부품 추가</a:t>
                      </a:r>
                      <a:endParaRPr lang="en-US" altLang="ko-KR" sz="10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U6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Pin.2 &lt;-&gt; GND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330nF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0481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636B487-A6A4-A899-F6DC-DD3B2AFEB957}"/>
              </a:ext>
            </a:extLst>
          </p:cNvPr>
          <p:cNvSpPr txBox="1"/>
          <p:nvPr/>
        </p:nvSpPr>
        <p:spPr>
          <a:xfrm>
            <a:off x="392581" y="630922"/>
            <a:ext cx="5759910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개선 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ID804_VDD</a:t>
            </a:r>
            <a:r>
              <a:rPr lang="ko-KR" altLang="en-US" sz="1000" dirty="0"/>
              <a:t> 주변 </a:t>
            </a:r>
            <a:r>
              <a:rPr lang="ko-KR" altLang="en-US" sz="1000" dirty="0" err="1"/>
              <a:t>커패시터</a:t>
            </a:r>
            <a:r>
              <a:rPr lang="ko-KR" altLang="en-US" sz="1000" dirty="0"/>
              <a:t> 용량 및 구성을 변경하여</a:t>
            </a:r>
            <a:r>
              <a:rPr lang="en-US" altLang="ko-KR" sz="1000" dirty="0"/>
              <a:t>, </a:t>
            </a:r>
            <a:r>
              <a:rPr lang="ko-KR" altLang="en-US" sz="1000" dirty="0"/>
              <a:t>전원 리플을 저감하고 </a:t>
            </a:r>
            <a:r>
              <a:rPr lang="en-US" altLang="ko-KR" sz="1000" dirty="0"/>
              <a:t>rise time</a:t>
            </a:r>
            <a:r>
              <a:rPr lang="ko-KR" altLang="en-US" sz="1000" dirty="0"/>
              <a:t>을 개선함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5486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AF9F-EB50-B3D0-9D1F-0C5EB6F0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1B35A-B3C0-4312-E89E-EBCFA3A09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cs typeface="Calibri Light" panose="020F0302020204030204" pitchFamily="34" charset="0"/>
              </a:rPr>
              <a:t>ID804_RXD / ID804-RXD</a:t>
            </a:r>
            <a:br>
              <a:rPr lang="en-US" sz="3200" b="1" dirty="0">
                <a:cs typeface="Calibri Light" panose="020F0302020204030204" pitchFamily="34" charset="0"/>
              </a:rPr>
            </a:br>
            <a:r>
              <a:rPr lang="en-US" sz="3200" b="1" dirty="0">
                <a:cs typeface="Calibri Light" panose="020F0302020204030204" pitchFamily="34" charset="0"/>
              </a:rPr>
              <a:t>Net Label </a:t>
            </a:r>
            <a:r>
              <a:rPr lang="ko-KR" altLang="en-US" sz="3200" b="1" dirty="0">
                <a:cs typeface="Calibri Light" panose="020F0302020204030204" pitchFamily="34" charset="0"/>
              </a:rPr>
              <a:t>불일치</a:t>
            </a:r>
            <a:endParaRPr lang="en-US" sz="3200" b="1" dirty="0"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6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9809-4A14-789F-908F-5BC6C7FD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960AF7-204F-9BA5-4E07-BC4769C95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10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06A71-99E5-467F-0CE4-5EDA5BCEDDA3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latin typeface="+mj-lt"/>
                <a:cs typeface="Calibri Light" panose="020F0302020204030204" pitchFamily="34" charset="0"/>
              </a:rPr>
              <a:t>ID804_RXD / </a:t>
            </a:r>
            <a:r>
              <a:rPr lang="en-US" altLang="ko-KR" b="1" dirty="0">
                <a:cs typeface="Calibri Light" panose="020F0302020204030204" pitchFamily="34" charset="0"/>
              </a:rPr>
              <a:t>ID804-RXD</a:t>
            </a:r>
            <a:r>
              <a:rPr lang="en-US" altLang="ko-KR" b="1" dirty="0">
                <a:latin typeface="+mj-lt"/>
                <a:cs typeface="Calibri Light" panose="020F0302020204030204" pitchFamily="34" charset="0"/>
              </a:rPr>
              <a:t> Net Label </a:t>
            </a:r>
            <a:r>
              <a:rPr lang="ko-KR" altLang="en-US" b="1" dirty="0">
                <a:latin typeface="+mj-lt"/>
                <a:cs typeface="Calibri Light" panose="020F0302020204030204" pitchFamily="34" charset="0"/>
              </a:rPr>
              <a:t>불일치</a:t>
            </a:r>
            <a:endParaRPr lang="en-US" altLang="ko-KR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B030F8-12C8-7946-1D9B-83734ABEE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88" y="2078498"/>
            <a:ext cx="6039160" cy="37593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6E1648-FE1B-39C8-24E9-028E45A77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642" y="2716705"/>
            <a:ext cx="3378374" cy="24829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56ACD5-8B8A-7B30-4248-CFF3A610ABC6}"/>
              </a:ext>
            </a:extLst>
          </p:cNvPr>
          <p:cNvSpPr/>
          <p:nvPr/>
        </p:nvSpPr>
        <p:spPr>
          <a:xfrm>
            <a:off x="1035364" y="4260948"/>
            <a:ext cx="50292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ECD5F1-5E3A-E0FD-5898-1E9F1CBA144C}"/>
              </a:ext>
            </a:extLst>
          </p:cNvPr>
          <p:cNvSpPr/>
          <p:nvPr/>
        </p:nvSpPr>
        <p:spPr>
          <a:xfrm>
            <a:off x="10653716" y="3643728"/>
            <a:ext cx="50292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A4C62-4043-97B8-FFC5-58C64F33015D}"/>
              </a:ext>
            </a:extLst>
          </p:cNvPr>
          <p:cNvSpPr txBox="1"/>
          <p:nvPr/>
        </p:nvSpPr>
        <p:spPr>
          <a:xfrm>
            <a:off x="945428" y="3958194"/>
            <a:ext cx="802406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Under Bar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98106-3411-C948-8B89-288B906A46CD}"/>
              </a:ext>
            </a:extLst>
          </p:cNvPr>
          <p:cNvSpPr txBox="1"/>
          <p:nvPr/>
        </p:nvSpPr>
        <p:spPr>
          <a:xfrm>
            <a:off x="10503973" y="3330221"/>
            <a:ext cx="652663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ko-KR" sz="1050" dirty="0" err="1">
                <a:solidFill>
                  <a:srgbClr val="FF0000"/>
                </a:solidFill>
              </a:rPr>
              <a:t>Hyphen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965E4-57D1-8186-238A-B8CD39EC2D4B}"/>
              </a:ext>
            </a:extLst>
          </p:cNvPr>
          <p:cNvSpPr txBox="1"/>
          <p:nvPr/>
        </p:nvSpPr>
        <p:spPr>
          <a:xfrm>
            <a:off x="392581" y="630922"/>
            <a:ext cx="6700873" cy="98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개선 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회로도에서 </a:t>
            </a:r>
            <a:r>
              <a:rPr lang="en-US" altLang="ko-KR" sz="1000" dirty="0"/>
              <a:t>ID804_RXD</a:t>
            </a:r>
            <a:r>
              <a:rPr lang="ko-KR" altLang="en-US" sz="1000" dirty="0"/>
              <a:t>와 </a:t>
            </a:r>
            <a:r>
              <a:rPr lang="en-US" altLang="ko-KR" sz="1000" dirty="0"/>
              <a:t>ID804-RXD</a:t>
            </a:r>
            <a:r>
              <a:rPr lang="ko-KR" altLang="en-US" sz="1000" dirty="0"/>
              <a:t>가 서로 다른 </a:t>
            </a:r>
            <a:r>
              <a:rPr lang="en-US" altLang="ko-KR" sz="1000" dirty="0"/>
              <a:t>Net Label</a:t>
            </a:r>
            <a:r>
              <a:rPr lang="ko-KR" altLang="en-US" sz="1000" dirty="0"/>
              <a:t>로 정의되어 </a:t>
            </a:r>
            <a:r>
              <a:rPr lang="en-US" altLang="ko-KR" sz="1000" dirty="0"/>
              <a:t>RXD </a:t>
            </a:r>
            <a:r>
              <a:rPr lang="ko-KR" altLang="en-US" sz="1000" dirty="0"/>
              <a:t>신호 경로가 단절된 것을 확인함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개선 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단절된 </a:t>
            </a:r>
            <a:r>
              <a:rPr lang="en-US" altLang="ko-KR" sz="1000" dirty="0"/>
              <a:t>RXD </a:t>
            </a:r>
            <a:r>
              <a:rPr lang="ko-KR" altLang="en-US" sz="1000" dirty="0"/>
              <a:t>신호 경로를 점퍼로 연결하여 통신을 복구함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634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F7C8-EFE0-4E64-DF52-020B38B3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27369-884A-DCA3-31D6-D67C25D37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cs typeface="Calibri Light" panose="020F0302020204030204" pitchFamily="34" charset="0"/>
              </a:rPr>
              <a:t>MCU</a:t>
            </a:r>
            <a:r>
              <a:rPr lang="ko-KR" altLang="en-US" sz="3200" b="1" dirty="0">
                <a:cs typeface="Calibri Light" panose="020F0302020204030204" pitchFamily="34" charset="0"/>
              </a:rPr>
              <a:t> </a:t>
            </a:r>
            <a:r>
              <a:rPr lang="en-US" sz="3200" b="1" dirty="0">
                <a:cs typeface="Calibri Light" panose="020F0302020204030204" pitchFamily="34" charset="0"/>
              </a:rPr>
              <a:t>I2C</a:t>
            </a:r>
            <a:r>
              <a:rPr lang="ko-KR" altLang="en-US" sz="3200" b="1" dirty="0">
                <a:cs typeface="Calibri Light" panose="020F0302020204030204" pitchFamily="34" charset="0"/>
              </a:rPr>
              <a:t> </a:t>
            </a:r>
            <a:r>
              <a:rPr lang="en-US" altLang="ko-KR" sz="3200" b="1" dirty="0">
                <a:cs typeface="Calibri Light" panose="020F0302020204030204" pitchFamily="34" charset="0"/>
              </a:rPr>
              <a:t>SCL/SDA</a:t>
            </a:r>
            <a:br>
              <a:rPr lang="en-US" altLang="ko-KR" sz="3200" b="1" dirty="0">
                <a:cs typeface="Calibri Light" panose="020F0302020204030204" pitchFamily="34" charset="0"/>
              </a:rPr>
            </a:br>
            <a:r>
              <a:rPr lang="ko-KR" altLang="en-US" sz="3200" b="1" dirty="0">
                <a:cs typeface="Calibri Light" panose="020F0302020204030204" pitchFamily="34" charset="0"/>
              </a:rPr>
              <a:t>회로도 </a:t>
            </a:r>
            <a:r>
              <a:rPr lang="en-US" altLang="ko-KR" sz="3200" b="1" dirty="0">
                <a:cs typeface="Calibri Light" panose="020F0302020204030204" pitchFamily="34" charset="0"/>
              </a:rPr>
              <a:t>Net</a:t>
            </a:r>
            <a:r>
              <a:rPr lang="ko-KR" altLang="en-US" sz="3200" b="1" dirty="0">
                <a:cs typeface="Calibri Light" panose="020F0302020204030204" pitchFamily="34" charset="0"/>
              </a:rPr>
              <a:t> 연결 반전</a:t>
            </a:r>
            <a:endParaRPr lang="en-US" sz="3200" b="1" dirty="0"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A514F-D481-B067-F828-00B5D62A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2EC581-7CFB-876F-7AC1-CDE2F8111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12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53B19-86B6-34E3-B23D-DEA5A69124FA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b="1" dirty="0">
                <a:cs typeface="Calibri Light" panose="020F0302020204030204" pitchFamily="34" charset="0"/>
              </a:rPr>
              <a:t>MCU</a:t>
            </a:r>
            <a:r>
              <a:rPr lang="ko-KR" altLang="en-US" b="1" dirty="0">
                <a:cs typeface="Calibri Light" panose="020F0302020204030204" pitchFamily="34" charset="0"/>
              </a:rPr>
              <a:t> </a:t>
            </a:r>
            <a:r>
              <a:rPr lang="en-US" altLang="ko-KR" b="1" dirty="0">
                <a:cs typeface="Calibri Light" panose="020F0302020204030204" pitchFamily="34" charset="0"/>
              </a:rPr>
              <a:t>I2C</a:t>
            </a:r>
            <a:r>
              <a:rPr lang="ko-KR" altLang="en-US" b="1" dirty="0">
                <a:cs typeface="Calibri Light" panose="020F0302020204030204" pitchFamily="34" charset="0"/>
              </a:rPr>
              <a:t> </a:t>
            </a:r>
            <a:r>
              <a:rPr lang="en-US" altLang="ko-KR" b="1" dirty="0">
                <a:cs typeface="Calibri Light" panose="020F0302020204030204" pitchFamily="34" charset="0"/>
              </a:rPr>
              <a:t>SCL/SDA </a:t>
            </a:r>
            <a:r>
              <a:rPr lang="ko-KR" altLang="en-US" b="1" dirty="0">
                <a:cs typeface="Calibri Light" panose="020F0302020204030204" pitchFamily="34" charset="0"/>
              </a:rPr>
              <a:t>회로도 </a:t>
            </a:r>
            <a:r>
              <a:rPr lang="en-US" altLang="ko-KR" b="1" dirty="0">
                <a:cs typeface="Calibri Light" panose="020F0302020204030204" pitchFamily="34" charset="0"/>
              </a:rPr>
              <a:t>Net </a:t>
            </a:r>
            <a:r>
              <a:rPr lang="ko-KR" altLang="en-US" b="1" dirty="0">
                <a:cs typeface="Calibri Light" panose="020F0302020204030204" pitchFamily="34" charset="0"/>
              </a:rPr>
              <a:t>연결 반전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89630DB-690D-399B-8A60-B9CE8E5D46BF}"/>
              </a:ext>
            </a:extLst>
          </p:cNvPr>
          <p:cNvGrpSpPr/>
          <p:nvPr/>
        </p:nvGrpSpPr>
        <p:grpSpPr>
          <a:xfrm>
            <a:off x="1428079" y="1977735"/>
            <a:ext cx="9211346" cy="4171478"/>
            <a:chOff x="559296" y="815691"/>
            <a:chExt cx="11073407" cy="540671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7F98333-81CD-2BE1-7455-84712AAE5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296" y="815691"/>
              <a:ext cx="11073407" cy="358831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22D6B23-9BF4-52AE-C880-8FE31835AA60}"/>
                </a:ext>
              </a:extLst>
            </p:cNvPr>
            <p:cNvSpPr/>
            <p:nvPr/>
          </p:nvSpPr>
          <p:spPr>
            <a:xfrm>
              <a:off x="647699" y="2857500"/>
              <a:ext cx="600075" cy="342900"/>
            </a:xfrm>
            <a:prstGeom prst="ellipse">
              <a:avLst/>
            </a:prstGeom>
            <a:noFill/>
            <a:ln>
              <a:solidFill>
                <a:srgbClr val="00CC9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8BFDE65-D624-6237-AC86-17479E5350DD}"/>
                </a:ext>
              </a:extLst>
            </p:cNvPr>
            <p:cNvSpPr/>
            <p:nvPr/>
          </p:nvSpPr>
          <p:spPr>
            <a:xfrm>
              <a:off x="6772274" y="2552700"/>
              <a:ext cx="600075" cy="342900"/>
            </a:xfrm>
            <a:prstGeom prst="ellipse">
              <a:avLst/>
            </a:prstGeom>
            <a:noFill/>
            <a:ln>
              <a:solidFill>
                <a:srgbClr val="00CC9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5A649B-D808-2B6B-9534-7C528C2CD401}"/>
                </a:ext>
              </a:extLst>
            </p:cNvPr>
            <p:cNvSpPr txBox="1"/>
            <p:nvPr/>
          </p:nvSpPr>
          <p:spPr>
            <a:xfrm>
              <a:off x="1984621" y="5479421"/>
              <a:ext cx="1495349" cy="742988"/>
            </a:xfrm>
            <a:prstGeom prst="rect">
              <a:avLst/>
            </a:prstGeom>
            <a:solidFill>
              <a:srgbClr val="00CC99">
                <a:alpha val="50000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PB7</a:t>
              </a:r>
            </a:p>
            <a:p>
              <a:r>
                <a:rPr lang="en-US" altLang="ko-KR" sz="1000" b="1" dirty="0"/>
                <a:t>  MCU</a:t>
              </a:r>
              <a:r>
                <a:rPr lang="ko-KR" altLang="en-US" sz="1000" b="1" dirty="0"/>
                <a:t> </a:t>
              </a:r>
              <a:r>
                <a:rPr lang="en-US" altLang="ko-KR" sz="1000" b="1" dirty="0"/>
                <a:t>-</a:t>
              </a:r>
              <a:r>
                <a:rPr lang="ko-KR" altLang="en-US" sz="1000" b="1" dirty="0"/>
                <a:t> </a:t>
              </a:r>
              <a:r>
                <a:rPr lang="en-US" altLang="ko-KR" sz="1000" b="1" dirty="0"/>
                <a:t>I2C_SDA</a:t>
              </a:r>
            </a:p>
            <a:p>
              <a:r>
                <a:rPr lang="ko-KR" altLang="en-US" sz="1000" b="1" dirty="0"/>
                <a:t>회로도 </a:t>
              </a:r>
              <a:r>
                <a:rPr lang="en-US" altLang="ko-KR" sz="1000" b="1" dirty="0"/>
                <a:t>– I2C_SCL</a:t>
              </a:r>
              <a:endParaRPr lang="ko-KR" altLang="en-US" sz="10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4DF724-1439-34DA-E96F-FBD3B8BA627D}"/>
                </a:ext>
              </a:extLst>
            </p:cNvPr>
            <p:cNvSpPr txBox="1"/>
            <p:nvPr/>
          </p:nvSpPr>
          <p:spPr>
            <a:xfrm>
              <a:off x="6499527" y="5400676"/>
              <a:ext cx="1495349" cy="718045"/>
            </a:xfrm>
            <a:prstGeom prst="rect">
              <a:avLst/>
            </a:prstGeom>
            <a:solidFill>
              <a:srgbClr val="00CC99">
                <a:alpha val="50000"/>
              </a:srgbClr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000" b="1"/>
              </a:lvl1pPr>
            </a:lstStyle>
            <a:p>
              <a:r>
                <a:rPr lang="en-US" altLang="ko-KR" dirty="0"/>
                <a:t>PB6</a:t>
              </a:r>
            </a:p>
            <a:p>
              <a:r>
                <a:rPr lang="en-US" altLang="ko-KR" dirty="0"/>
                <a:t>  </a:t>
              </a:r>
              <a:r>
                <a:rPr lang="en-US" altLang="ko-KR"/>
                <a:t>MCU</a:t>
              </a:r>
              <a:r>
                <a:rPr lang="ko-KR" altLang="en-US"/>
                <a:t> </a:t>
              </a:r>
              <a:r>
                <a:rPr lang="en-US" altLang="ko-KR"/>
                <a:t>-</a:t>
              </a:r>
              <a:r>
                <a:rPr lang="ko-KR" altLang="en-US"/>
                <a:t> </a:t>
              </a:r>
              <a:r>
                <a:rPr lang="en-US" altLang="ko-KR" dirty="0"/>
                <a:t>I2C_SCL</a:t>
              </a:r>
            </a:p>
            <a:p>
              <a:r>
                <a:rPr lang="ko-KR" altLang="en-US"/>
                <a:t>회로도 </a:t>
              </a:r>
              <a:r>
                <a:rPr lang="en-US" altLang="ko-KR" dirty="0"/>
                <a:t>– I2C_SDA</a:t>
              </a:r>
              <a:endParaRPr lang="ko-KR" altLang="en-US" dirty="0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88535A8-455B-7E34-08D7-2A5FF0ACC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4665" y="4843983"/>
              <a:ext cx="1771741" cy="74298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ED365BB4-837A-C994-FAEA-33EBAA564059}"/>
                </a:ext>
              </a:extLst>
            </p:cNvPr>
            <p:cNvCxnSpPr>
              <a:cxnSpLocks/>
            </p:cNvCxnSpPr>
            <p:nvPr/>
          </p:nvCxnSpPr>
          <p:spPr>
            <a:xfrm>
              <a:off x="947736" y="3200400"/>
              <a:ext cx="3452814" cy="2200275"/>
            </a:xfrm>
            <a:prstGeom prst="bentConnector3">
              <a:avLst>
                <a:gd name="adj1" fmla="val -207"/>
              </a:avLst>
            </a:prstGeom>
            <a:ln>
              <a:solidFill>
                <a:srgbClr val="00CC9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7EC52AA0-10A0-497F-D322-67F0E2D398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536479" y="3679644"/>
              <a:ext cx="2319877" cy="751789"/>
            </a:xfrm>
            <a:prstGeom prst="bentConnector3">
              <a:avLst>
                <a:gd name="adj1" fmla="val 100091"/>
              </a:avLst>
            </a:prstGeom>
            <a:ln>
              <a:solidFill>
                <a:srgbClr val="00CC9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526C481-8A81-5A2E-EDBC-E3EFEFCAB4E2}"/>
                </a:ext>
              </a:extLst>
            </p:cNvPr>
            <p:cNvSpPr txBox="1"/>
            <p:nvPr/>
          </p:nvSpPr>
          <p:spPr>
            <a:xfrm>
              <a:off x="4677312" y="4532744"/>
              <a:ext cx="13356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&lt;MCU</a:t>
              </a:r>
              <a:r>
                <a:rPr lang="ko-KR" altLang="en-US" sz="1200" b="1" dirty="0"/>
                <a:t> 핀 할당</a:t>
              </a:r>
              <a:r>
                <a:rPr lang="en-US" altLang="ko-KR" sz="1200" b="1" dirty="0"/>
                <a:t>&gt;</a:t>
              </a:r>
              <a:endParaRPr lang="ko-KR" altLang="en-US" sz="12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11488BB-63D2-B07F-06BA-01F756AFD16C}"/>
              </a:ext>
            </a:extLst>
          </p:cNvPr>
          <p:cNvSpPr txBox="1"/>
          <p:nvPr/>
        </p:nvSpPr>
        <p:spPr>
          <a:xfrm>
            <a:off x="392581" y="630922"/>
            <a:ext cx="2659702" cy="98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개선 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회로도상 </a:t>
            </a:r>
            <a:r>
              <a:rPr lang="en-US" altLang="ko-KR" sz="1000" dirty="0"/>
              <a:t>SCL</a:t>
            </a:r>
            <a:r>
              <a:rPr lang="ko-KR" altLang="en-US" sz="1000" dirty="0"/>
              <a:t>과 </a:t>
            </a:r>
            <a:r>
              <a:rPr lang="en-US" altLang="ko-KR" sz="1000" dirty="0"/>
              <a:t>SDA Net</a:t>
            </a:r>
            <a:r>
              <a:rPr lang="ko-KR" altLang="en-US" sz="1000" dirty="0"/>
              <a:t>이 교차 연결됨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개선 후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PCB </a:t>
            </a:r>
            <a:r>
              <a:rPr lang="ko-KR" altLang="en-US" sz="1000" dirty="0"/>
              <a:t>패턴에서 </a:t>
            </a:r>
            <a:r>
              <a:rPr lang="en-US" altLang="ko-KR" sz="1000" dirty="0"/>
              <a:t>SCL/SDA </a:t>
            </a:r>
            <a:r>
              <a:rPr lang="ko-KR" altLang="en-US" sz="1000" dirty="0"/>
              <a:t>연결을 수정함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4461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E255-DC4C-EEBB-F164-3348F0DC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14DA7-C701-E8E4-5DE8-57A87E517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ko-KR" sz="3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Waveforms</a:t>
            </a:r>
            <a:r>
              <a:rPr lang="ko-KR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sz="3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on</a:t>
            </a:r>
            <a:r>
              <a:rPr lang="ko-KR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sz="3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the</a:t>
            </a:r>
            <a:r>
              <a:rPr lang="ko-KR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sz="3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Updated</a:t>
            </a:r>
            <a:r>
              <a:rPr lang="ko-KR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Circuit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365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451C-2CF3-A16D-B4DC-0CAE7693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ECCC97-1C84-C83E-AFB8-A3D807FC4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14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4A721-935B-D467-CB7F-EFC2C89863DC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Waveforms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on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the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Updated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Circuit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9B79B2-3C3A-C11B-CAFB-013B3D7E3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6" y="1047500"/>
            <a:ext cx="8386069" cy="4775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72BC4-0C90-A173-8B3A-18DD5ACA8709}"/>
              </a:ext>
            </a:extLst>
          </p:cNvPr>
          <p:cNvSpPr txBox="1"/>
          <p:nvPr/>
        </p:nvSpPr>
        <p:spPr>
          <a:xfrm>
            <a:off x="1139550" y="2349253"/>
            <a:ext cx="449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VDD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E41B8-7CC5-77A2-B446-760EC53AD0A5}"/>
              </a:ext>
            </a:extLst>
          </p:cNvPr>
          <p:cNvSpPr txBox="1"/>
          <p:nvPr/>
        </p:nvSpPr>
        <p:spPr>
          <a:xfrm>
            <a:off x="1143558" y="275954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TM0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01F98-E1A4-B418-F3FC-0B0AC82A5118}"/>
              </a:ext>
            </a:extLst>
          </p:cNvPr>
          <p:cNvSpPr txBox="1"/>
          <p:nvPr/>
        </p:nvSpPr>
        <p:spPr>
          <a:xfrm>
            <a:off x="1097872" y="389730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SIO1P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9E116-3969-53CD-F52B-DC0B851883CA}"/>
              </a:ext>
            </a:extLst>
          </p:cNvPr>
          <p:cNvSpPr txBox="1"/>
          <p:nvPr/>
        </p:nvSpPr>
        <p:spPr>
          <a:xfrm>
            <a:off x="1085850" y="4684062"/>
            <a:ext cx="5565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SIO1N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3C4B2D-6C4F-3DCB-740F-505DF25C2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619" y="2482801"/>
            <a:ext cx="2190863" cy="189239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31F668B-41DF-F169-FDDF-59914729E982}"/>
              </a:ext>
            </a:extLst>
          </p:cNvPr>
          <p:cNvSpPr/>
          <p:nvPr/>
        </p:nvSpPr>
        <p:spPr>
          <a:xfrm>
            <a:off x="10229851" y="2882652"/>
            <a:ext cx="1390650" cy="260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987CF-5981-1B92-D42E-17E72DB4B9FF}"/>
              </a:ext>
            </a:extLst>
          </p:cNvPr>
          <p:cNvSpPr txBox="1"/>
          <p:nvPr/>
        </p:nvSpPr>
        <p:spPr>
          <a:xfrm>
            <a:off x="228082" y="596135"/>
            <a:ext cx="22958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Boot Sequence (SIO1, MCU </a:t>
            </a:r>
            <a:r>
              <a:rPr lang="en-US" altLang="ko-KR" sz="1000" dirty="0">
                <a:sym typeface="Wingdings" panose="05000000000000000000" pitchFamily="2" charset="2"/>
              </a:rPr>
              <a:t></a:t>
            </a:r>
            <a:r>
              <a:rPr lang="en-US" altLang="ko-KR" sz="1000" dirty="0"/>
              <a:t> I2C)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2376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5D70-C696-4CD4-D48B-07806D8D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AD10BD-FB21-A539-AAFB-BAC5CA779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15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7EC85-5053-714C-25A6-6C65B022FA13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Waveforms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on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the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ko-KR" altLang="ko-KR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Updated</a:t>
            </a:r>
            <a:r>
              <a:rPr lang="ko-KR" altLang="ko-KR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Circuit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9C6426-EAB9-9525-1B8E-A7488AAB8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603" y="1047500"/>
            <a:ext cx="8374394" cy="47752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049C3-F006-3514-7CFF-09D79FAF1052}"/>
              </a:ext>
            </a:extLst>
          </p:cNvPr>
          <p:cNvSpPr txBox="1"/>
          <p:nvPr/>
        </p:nvSpPr>
        <p:spPr>
          <a:xfrm>
            <a:off x="1139550" y="2349253"/>
            <a:ext cx="449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VDD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62E50-B7FC-A118-0225-71A36F5A3021}"/>
              </a:ext>
            </a:extLst>
          </p:cNvPr>
          <p:cNvSpPr txBox="1"/>
          <p:nvPr/>
        </p:nvSpPr>
        <p:spPr>
          <a:xfrm>
            <a:off x="1143558" y="275954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TM0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38A65-A581-D1CD-0485-79E379BFABCE}"/>
              </a:ext>
            </a:extLst>
          </p:cNvPr>
          <p:cNvSpPr txBox="1"/>
          <p:nvPr/>
        </p:nvSpPr>
        <p:spPr>
          <a:xfrm>
            <a:off x="1097872" y="389730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A21E14-E295-D624-7A9F-2DC2C5FC690D}"/>
              </a:ext>
            </a:extLst>
          </p:cNvPr>
          <p:cNvSpPr txBox="1"/>
          <p:nvPr/>
        </p:nvSpPr>
        <p:spPr>
          <a:xfrm>
            <a:off x="1085850" y="4684062"/>
            <a:ext cx="5565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37F463-F320-0448-1EBE-5E554274E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619" y="2482801"/>
            <a:ext cx="2190863" cy="189239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0952C60-BFB9-1D55-276C-20A5E4642715}"/>
              </a:ext>
            </a:extLst>
          </p:cNvPr>
          <p:cNvSpPr/>
          <p:nvPr/>
        </p:nvSpPr>
        <p:spPr>
          <a:xfrm>
            <a:off x="10229851" y="4035177"/>
            <a:ext cx="1390650" cy="260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9A37E-8E31-2A14-48E7-4DDA8AC93E46}"/>
              </a:ext>
            </a:extLst>
          </p:cNvPr>
          <p:cNvSpPr txBox="1"/>
          <p:nvPr/>
        </p:nvSpPr>
        <p:spPr>
          <a:xfrm>
            <a:off x="228082" y="596135"/>
            <a:ext cx="1760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Boot Sequence (SIO2, EOL)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1483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ABE34-2803-F258-5032-3861394F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8AD2D-D791-0E6B-53E1-3013EE8D3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7708"/>
            <a:ext cx="12192000" cy="240258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366235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500</Words>
  <Application>Microsoft Office PowerPoint</Application>
  <PresentationFormat>와이드스크린</PresentationFormat>
  <Paragraphs>101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 Light</vt:lpstr>
      <vt:lpstr>Wingdings</vt:lpstr>
      <vt:lpstr>Office 테마</vt:lpstr>
      <vt:lpstr>ID804 FA Board HW Issue  2026. 09. 08</vt:lpstr>
      <vt:lpstr>PowerPoint 프레젠테이션</vt:lpstr>
      <vt:lpstr>SIO1P Pull-Up 전원 시퀀스 이슈</vt:lpstr>
      <vt:lpstr>PowerPoint 프레젠테이션</vt:lpstr>
      <vt:lpstr>PowerPoint 프레젠테이션</vt:lpstr>
      <vt:lpstr>ID804_VDD 전원 안정성 이슈</vt:lpstr>
      <vt:lpstr>PowerPoint 프레젠테이션</vt:lpstr>
      <vt:lpstr>PowerPoint 프레젠테이션</vt:lpstr>
      <vt:lpstr>ID804_RXD / ID804-RXD Net Label 불일치</vt:lpstr>
      <vt:lpstr>PowerPoint 프레젠테이션</vt:lpstr>
      <vt:lpstr>MCU I2C SCL/SDA 회로도 Net 연결 반전</vt:lpstr>
      <vt:lpstr>PowerPoint 프레젠테이션</vt:lpstr>
      <vt:lpstr>Waveforms on the Updated Circuit</vt:lpstr>
      <vt:lpstr>PowerPoint 프레젠테이션</vt:lpstr>
      <vt:lpstr>PowerPoint 프레젠테이션</vt:lpstr>
      <vt:lpstr>Thanks.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10</cp:revision>
  <dcterms:created xsi:type="dcterms:W3CDTF">2026-09-08T00:33:26Z</dcterms:created>
  <dcterms:modified xsi:type="dcterms:W3CDTF">2026-09-16T01:51:28Z</dcterms:modified>
</cp:coreProperties>
</file>