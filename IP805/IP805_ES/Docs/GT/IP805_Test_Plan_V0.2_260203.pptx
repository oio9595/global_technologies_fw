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37"/>
  </p:notesMasterIdLst>
  <p:handoutMasterIdLst>
    <p:handoutMasterId r:id="rId38"/>
  </p:handoutMasterIdLst>
  <p:sldIdLst>
    <p:sldId id="320" r:id="rId5"/>
    <p:sldId id="321" r:id="rId6"/>
    <p:sldId id="324" r:id="rId7"/>
    <p:sldId id="317" r:id="rId8"/>
    <p:sldId id="325" r:id="rId9"/>
    <p:sldId id="326" r:id="rId10"/>
    <p:sldId id="367" r:id="rId11"/>
    <p:sldId id="383" r:id="rId12"/>
    <p:sldId id="327" r:id="rId13"/>
    <p:sldId id="381" r:id="rId14"/>
    <p:sldId id="366" r:id="rId15"/>
    <p:sldId id="328" r:id="rId16"/>
    <p:sldId id="368" r:id="rId17"/>
    <p:sldId id="329" r:id="rId18"/>
    <p:sldId id="369" r:id="rId19"/>
    <p:sldId id="330" r:id="rId20"/>
    <p:sldId id="370" r:id="rId21"/>
    <p:sldId id="333" r:id="rId22"/>
    <p:sldId id="371" r:id="rId23"/>
    <p:sldId id="331" r:id="rId24"/>
    <p:sldId id="372" r:id="rId25"/>
    <p:sldId id="332" r:id="rId26"/>
    <p:sldId id="373" r:id="rId27"/>
    <p:sldId id="334" r:id="rId28"/>
    <p:sldId id="374" r:id="rId29"/>
    <p:sldId id="335" r:id="rId30"/>
    <p:sldId id="380" r:id="rId31"/>
    <p:sldId id="409" r:id="rId32"/>
    <p:sldId id="382" r:id="rId33"/>
    <p:sldId id="384" r:id="rId34"/>
    <p:sldId id="389" r:id="rId35"/>
    <p:sldId id="390" r:id="rId36"/>
  </p:sldIdLst>
  <p:sldSz cx="9906000" cy="6858000" type="A4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3BCD184-41DF-4045-95C0-DF67FAC5F431}">
          <p14:sldIdLst>
            <p14:sldId id="320"/>
            <p14:sldId id="321"/>
            <p14:sldId id="324"/>
            <p14:sldId id="317"/>
            <p14:sldId id="325"/>
            <p14:sldId id="326"/>
            <p14:sldId id="367"/>
            <p14:sldId id="383"/>
            <p14:sldId id="327"/>
            <p14:sldId id="381"/>
            <p14:sldId id="366"/>
            <p14:sldId id="328"/>
            <p14:sldId id="368"/>
            <p14:sldId id="329"/>
            <p14:sldId id="369"/>
            <p14:sldId id="330"/>
            <p14:sldId id="370"/>
            <p14:sldId id="333"/>
            <p14:sldId id="371"/>
            <p14:sldId id="331"/>
            <p14:sldId id="372"/>
            <p14:sldId id="332"/>
            <p14:sldId id="373"/>
            <p14:sldId id="334"/>
            <p14:sldId id="374"/>
            <p14:sldId id="335"/>
            <p14:sldId id="380"/>
            <p14:sldId id="409"/>
          </p14:sldIdLst>
        </p14:section>
        <p14:section name="제목 없는 구역" id="{F3DBA5E8-D1F1-4260-9030-C348993BF7C5}">
          <p14:sldIdLst>
            <p14:sldId id="382"/>
            <p14:sldId id="384"/>
            <p14:sldId id="389"/>
            <p14:sldId id="3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orient="horz" pos="482" userDrawn="1">
          <p15:clr>
            <a:srgbClr val="A4A3A4"/>
          </p15:clr>
        </p15:guide>
        <p15:guide id="5" orient="horz" pos="1253" userDrawn="1">
          <p15:clr>
            <a:srgbClr val="A4A3A4"/>
          </p15:clr>
        </p15:guide>
        <p15:guide id="6" orient="horz" pos="2160" userDrawn="1">
          <p15:clr>
            <a:srgbClr val="A4A3A4"/>
          </p15:clr>
        </p15:guide>
        <p15:guide id="8" orient="horz" pos="391" userDrawn="1">
          <p15:clr>
            <a:srgbClr val="A4A3A4"/>
          </p15:clr>
        </p15:guide>
        <p15:guide id="9" pos="3120">
          <p15:clr>
            <a:srgbClr val="A4A3A4"/>
          </p15:clr>
        </p15:guide>
        <p15:guide id="10" pos="6068">
          <p15:clr>
            <a:srgbClr val="A4A3A4"/>
          </p15:clr>
        </p15:guide>
        <p15:guide id="11" pos="172">
          <p15:clr>
            <a:srgbClr val="A4A3A4"/>
          </p15:clr>
        </p15:guide>
        <p15:guide id="12" pos="3211" userDrawn="1">
          <p15:clr>
            <a:srgbClr val="A4A3A4"/>
          </p15:clr>
        </p15:guide>
        <p15:guide id="13" pos="3029" userDrawn="1">
          <p15:clr>
            <a:srgbClr val="A4A3A4"/>
          </p15:clr>
        </p15:guide>
        <p15:guide id="14" orient="horz" pos="5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1" initials="1" lastIdx="1" clrIdx="0">
    <p:extLst>
      <p:ext uri="{19B8F6BF-5375-455C-9EA6-DF929625EA0E}">
        <p15:presenceInfo xmlns:p15="http://schemas.microsoft.com/office/powerpoint/2012/main" userId="1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F8F8F8"/>
    <a:srgbClr val="FCE4D6"/>
    <a:srgbClr val="FFFFCC"/>
    <a:srgbClr val="CCECFF"/>
    <a:srgbClr val="CC0000"/>
    <a:srgbClr val="FFFFFF"/>
    <a:srgbClr val="FBFBFB"/>
    <a:srgbClr val="E6E7E8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596" y="102"/>
      </p:cViewPr>
      <p:guideLst>
        <p:guide orient="horz" pos="4110"/>
        <p:guide orient="horz" pos="482"/>
        <p:guide orient="horz" pos="1253"/>
        <p:guide orient="horz" pos="2160"/>
        <p:guide orient="horz" pos="391"/>
        <p:guide pos="3120"/>
        <p:guide pos="6068"/>
        <p:guide pos="172"/>
        <p:guide pos="3211"/>
        <p:guide pos="3029"/>
        <p:guide orient="horz" pos="57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7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commentAuthors" Target="commentAuthor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4FD006-3D59-49D3-BC2C-A1659E8F849F}" type="datetimeFigureOut">
              <a:rPr lang="ko-KR" altLang="en-US" smtClean="0"/>
              <a:t>2026-02-19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8242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8242"/>
            <a:ext cx="2946400" cy="49680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E827D-C523-472B-81F5-6AE841B249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8350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2944813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6" y="0"/>
            <a:ext cx="2944813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1200" y="744538"/>
            <a:ext cx="5376863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5710"/>
            <a:ext cx="5438775" cy="4466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28242"/>
            <a:ext cx="2944813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6" y="9428242"/>
            <a:ext cx="2944813" cy="496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FBC20937-50B8-4AB2-8A26-4784E80DE1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925087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C20937-50B8-4AB2-8A26-4784E80DE135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3336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서면결재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79437" y="1916832"/>
            <a:ext cx="8713787" cy="0"/>
          </a:xfrm>
          <a:prstGeom prst="line">
            <a:avLst/>
          </a:prstGeom>
          <a:noFill/>
          <a:ln w="25400">
            <a:solidFill>
              <a:srgbClr val="AEAEA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Picture 2" descr="U:\00_로고파일\CI_JPG+AI_파일묶음\hyundaimobis_CI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04" y="332656"/>
            <a:ext cx="1008112" cy="347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텍스트 개체 틀 3"/>
          <p:cNvSpPr>
            <a:spLocks noGrp="1"/>
          </p:cNvSpPr>
          <p:nvPr>
            <p:ph type="body" sz="quarter" idx="15" hasCustomPrompt="1"/>
          </p:nvPr>
        </p:nvSpPr>
        <p:spPr>
          <a:xfrm>
            <a:off x="705198" y="5378169"/>
            <a:ext cx="1433758" cy="28307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2023.03.01</a:t>
            </a:r>
            <a:endParaRPr lang="ko-KR" altLang="en-US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714846" y="5718854"/>
            <a:ext cx="1767375" cy="302434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 baseline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OO</a:t>
            </a:r>
            <a:r>
              <a:rPr lang="ko-KR" altLang="en-US"/>
              <a:t>부문 </a:t>
            </a:r>
            <a:r>
              <a:rPr lang="en-US" altLang="ko-KR"/>
              <a:t>OO</a:t>
            </a:r>
            <a:r>
              <a:rPr lang="ko-KR" altLang="en-US"/>
              <a:t>팀</a:t>
            </a:r>
          </a:p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ko-KR" altLang="en-US"/>
          </a:p>
        </p:txBody>
      </p:sp>
      <p:sp>
        <p:nvSpPr>
          <p:cNvPr id="16" name="텍스트 개체 틀 11"/>
          <p:cNvSpPr>
            <a:spLocks noGrp="1"/>
          </p:cNvSpPr>
          <p:nvPr>
            <p:ph type="body" sz="quarter" idx="17" hasCustomPrompt="1"/>
          </p:nvPr>
        </p:nvSpPr>
        <p:spPr>
          <a:xfrm>
            <a:off x="714845" y="6087580"/>
            <a:ext cx="1933899" cy="2937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0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ko-KR" altLang="en-US"/>
              <a:t>작성자 </a:t>
            </a:r>
            <a:r>
              <a:rPr lang="en-US" altLang="ko-KR"/>
              <a:t>: </a:t>
            </a:r>
            <a:r>
              <a:rPr lang="ko-KR" altLang="en-US"/>
              <a:t>홍길동 매니저</a:t>
            </a:r>
          </a:p>
        </p:txBody>
      </p:sp>
      <p:sp>
        <p:nvSpPr>
          <p:cNvPr id="17" name="텍스트 개체 틀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0512" y="1386109"/>
            <a:ext cx="5328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8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28</a:t>
            </a:r>
            <a:endParaRPr lang="ko-KR" altLang="en-US"/>
          </a:p>
        </p:txBody>
      </p:sp>
      <p:sp>
        <p:nvSpPr>
          <p:cNvPr id="18" name="텍스트 개체 틀 14"/>
          <p:cNvSpPr>
            <a:spLocks noGrp="1"/>
          </p:cNvSpPr>
          <p:nvPr>
            <p:ph type="body" sz="quarter" idx="19" hasCustomPrompt="1"/>
          </p:nvPr>
        </p:nvSpPr>
        <p:spPr>
          <a:xfrm>
            <a:off x="560512" y="1916832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2400" kern="1200" dirty="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>
              <a:spcBef>
                <a:spcPct val="0"/>
              </a:spcBef>
            </a:pPr>
            <a:r>
              <a:rPr lang="ko-KR" altLang="en-US"/>
              <a:t>소제목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M 24</a:t>
            </a:r>
            <a:endParaRPr lang="ko-KR" altLang="en-US"/>
          </a:p>
        </p:txBody>
      </p:sp>
      <p:pic>
        <p:nvPicPr>
          <p:cNvPr id="4" name="그림 3" descr="레드, 다크, 빛이(가) 표시된 사진&#10;&#10;자동 생성된 설명">
            <a:extLst>
              <a:ext uri="{FF2B5EF4-FFF2-40B4-BE49-F238E27FC236}">
                <a16:creationId xmlns:a16="http://schemas.microsoft.com/office/drawing/2014/main" id="{1CAA88DE-311A-2EFA-A944-3DB7CFB986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81745" y="2790000"/>
            <a:ext cx="5424255" cy="40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135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631825" y="2060575"/>
            <a:ext cx="8858250" cy="3240088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540000" indent="-216000">
              <a:buFont typeface="현대산스 Head Bold" panose="020B0600000101010101" pitchFamily="50" charset="-127"/>
              <a:buChar char="-"/>
              <a:defRPr sz="20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en-US" altLang="ko-KR"/>
          </a:p>
          <a:p>
            <a:pPr lvl="1"/>
            <a:endParaRPr lang="ko-KR" altLang="en-US"/>
          </a:p>
        </p:txBody>
      </p:sp>
      <p:sp>
        <p:nvSpPr>
          <p:cNvPr id="5" name="텍스트 개체 틀 2"/>
          <p:cNvSpPr>
            <a:spLocks noGrp="1"/>
          </p:cNvSpPr>
          <p:nvPr>
            <p:ph type="body" sz="quarter" idx="11" hasCustomPrompt="1"/>
          </p:nvPr>
        </p:nvSpPr>
        <p:spPr>
          <a:xfrm>
            <a:off x="279774" y="181916"/>
            <a:ext cx="4313186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aseline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ko-KR" altLang="en-US"/>
              <a:t>목 차 </a:t>
            </a:r>
            <a:r>
              <a:rPr lang="en-US" altLang="ko-KR"/>
              <a:t>/ </a:t>
            </a:r>
            <a:r>
              <a:rPr lang="ko-KR" altLang="en-US" err="1"/>
              <a:t>현대하모니</a:t>
            </a:r>
            <a:r>
              <a:rPr lang="en-US" altLang="ko-KR"/>
              <a:t>B 20</a:t>
            </a:r>
          </a:p>
        </p:txBody>
      </p:sp>
    </p:spTree>
    <p:extLst>
      <p:ext uri="{BB962C8B-B14F-4D97-AF65-F5344CB8AC3E}">
        <p14:creationId xmlns:p14="http://schemas.microsoft.com/office/powerpoint/2010/main" val="3774456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양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8"/>
          <p:cNvSpPr>
            <a:spLocks noChangeShapeType="1"/>
          </p:cNvSpPr>
          <p:nvPr userDrawn="1"/>
        </p:nvSpPr>
        <p:spPr bwMode="auto">
          <a:xfrm>
            <a:off x="272478" y="1986502"/>
            <a:ext cx="936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14" name="Rectangle 82"/>
          <p:cNvSpPr>
            <a:spLocks noChangeArrowheads="1"/>
          </p:cNvSpPr>
          <p:nvPr userDrawn="1"/>
        </p:nvSpPr>
        <p:spPr bwMode="auto">
          <a:xfrm>
            <a:off x="282394" y="2113236"/>
            <a:ext cx="9360154" cy="4320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6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8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  <p:sp>
        <p:nvSpPr>
          <p:cNvPr id="33" name="텍스트 개체 틀 13"/>
          <p:cNvSpPr>
            <a:spLocks noGrp="1"/>
          </p:cNvSpPr>
          <p:nvPr>
            <p:ph type="body" sz="quarter" idx="14" hasCustomPrompt="1"/>
          </p:nvPr>
        </p:nvSpPr>
        <p:spPr>
          <a:xfrm>
            <a:off x="279202" y="1682918"/>
            <a:ext cx="5472112" cy="28575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3626"/>
            <a:ext cx="5328094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817F4D1-1A88-FA46-5DCC-3C1E07D8A4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914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양식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Line 8"/>
          <p:cNvSpPr>
            <a:spLocks noChangeShapeType="1"/>
          </p:cNvSpPr>
          <p:nvPr userDrawn="1"/>
        </p:nvSpPr>
        <p:spPr bwMode="auto">
          <a:xfrm>
            <a:off x="272479" y="1986502"/>
            <a:ext cx="4535587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1" name="Line 8"/>
          <p:cNvSpPr>
            <a:spLocks noChangeShapeType="1"/>
          </p:cNvSpPr>
          <p:nvPr userDrawn="1"/>
        </p:nvSpPr>
        <p:spPr bwMode="auto">
          <a:xfrm>
            <a:off x="5107112" y="1986502"/>
            <a:ext cx="4535436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22" name="Rectangle 82"/>
          <p:cNvSpPr>
            <a:spLocks noChangeArrowheads="1"/>
          </p:cNvSpPr>
          <p:nvPr userDrawn="1"/>
        </p:nvSpPr>
        <p:spPr bwMode="auto">
          <a:xfrm>
            <a:off x="282394" y="2113236"/>
            <a:ext cx="4526144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3" name="Rectangle 82"/>
          <p:cNvSpPr>
            <a:spLocks noChangeArrowheads="1"/>
          </p:cNvSpPr>
          <p:nvPr userDrawn="1"/>
        </p:nvSpPr>
        <p:spPr bwMode="auto">
          <a:xfrm>
            <a:off x="5097463" y="2113236"/>
            <a:ext cx="4535487" cy="4320000"/>
          </a:xfrm>
          <a:prstGeom prst="rect">
            <a:avLst/>
          </a:prstGeom>
          <a:noFill/>
          <a:ln w="9525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9" rIns="91449" anchor="ctr"/>
          <a:lstStyle/>
          <a:p>
            <a:pPr defTabSz="957263" fontAlgn="auto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kumimoji="0" lang="en-US" altLang="ko-KR" sz="160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srgbClr val="1E3AF8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16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28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6" hasCustomPrompt="1"/>
          </p:nvPr>
        </p:nvSpPr>
        <p:spPr>
          <a:xfrm>
            <a:off x="292600" y="1684601"/>
            <a:ext cx="4515466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5096748" y="1684601"/>
            <a:ext cx="454579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 / </a:t>
            </a:r>
            <a:r>
              <a:rPr lang="ko-KR" altLang="en-US" err="1"/>
              <a:t>현대하모니</a:t>
            </a:r>
            <a:r>
              <a:rPr lang="en-US" altLang="ko-KR"/>
              <a:t>M 14</a:t>
            </a:r>
            <a:endParaRPr lang="ko-KR" altLang="en-US"/>
          </a:p>
        </p:txBody>
      </p:sp>
      <p:sp>
        <p:nvSpPr>
          <p:cNvPr id="32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91530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  <p:sp>
        <p:nvSpPr>
          <p:cNvPr id="33" name="텍스트 개체 틀 6"/>
          <p:cNvSpPr>
            <a:spLocks noGrp="1"/>
          </p:cNvSpPr>
          <p:nvPr>
            <p:ph type="body" sz="quarter" idx="38"/>
          </p:nvPr>
        </p:nvSpPr>
        <p:spPr>
          <a:xfrm>
            <a:off x="5108026" y="2218664"/>
            <a:ext cx="4445446" cy="694342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2AC621C-3C4D-5808-B0D1-C654F59BFE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115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 양식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272479" y="1986502"/>
            <a:ext cx="2268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6537496" y="1986502"/>
            <a:ext cx="3096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sp>
        <p:nvSpPr>
          <p:cNvPr id="7" name="오각형 6"/>
          <p:cNvSpPr/>
          <p:nvPr userDrawn="1"/>
        </p:nvSpPr>
        <p:spPr bwMode="gray">
          <a:xfrm rot="5400000">
            <a:off x="686479" y="4688933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8" name="오각형 7"/>
          <p:cNvSpPr/>
          <p:nvPr userDrawn="1"/>
        </p:nvSpPr>
        <p:spPr bwMode="gray">
          <a:xfrm rot="5400000">
            <a:off x="686479" y="3277015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9" name="오각형 8"/>
          <p:cNvSpPr/>
          <p:nvPr userDrawn="1"/>
        </p:nvSpPr>
        <p:spPr bwMode="gray">
          <a:xfrm rot="5400000">
            <a:off x="686479" y="1865096"/>
            <a:ext cx="1440000" cy="1944790"/>
          </a:xfrm>
          <a:prstGeom prst="homePlate">
            <a:avLst>
              <a:gd name="adj" fmla="val 17968"/>
            </a:avLst>
          </a:prstGeom>
          <a:solidFill>
            <a:srgbClr val="F8F8F8">
              <a:alpha val="50196"/>
            </a:srgb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vert270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0" name="Line 8"/>
          <p:cNvSpPr>
            <a:spLocks noChangeShapeType="1"/>
          </p:cNvSpPr>
          <p:nvPr userDrawn="1"/>
        </p:nvSpPr>
        <p:spPr bwMode="auto">
          <a:xfrm>
            <a:off x="2720752" y="1986502"/>
            <a:ext cx="3600000" cy="0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77800" marR="0" lvl="0" indent="-177800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ko-KR" altLang="en-US" sz="1400" b="1" i="0" u="none" strike="noStrike" kern="0" cap="none" spc="0" normalizeH="0" baseline="0" noProof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현대하모니 L" pitchFamily="18" charset="-127"/>
              <a:cs typeface="Arial" panose="020B0604020202020204" pitchFamily="34" charset="0"/>
            </a:endParaRP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2849580" y="3501008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849580" y="4932944"/>
            <a:ext cx="338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이등변 삼각형 12"/>
          <p:cNvSpPr/>
          <p:nvPr userDrawn="1"/>
        </p:nvSpPr>
        <p:spPr bwMode="gray">
          <a:xfrm rot="5400000">
            <a:off x="10047584" y="2733451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4" name="이등변 삼각형 13"/>
          <p:cNvSpPr/>
          <p:nvPr userDrawn="1"/>
        </p:nvSpPr>
        <p:spPr bwMode="gray">
          <a:xfrm rot="5400000">
            <a:off x="10053199" y="414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15" name="이등변 삼각형 14"/>
          <p:cNvSpPr/>
          <p:nvPr userDrawn="1"/>
        </p:nvSpPr>
        <p:spPr bwMode="gray">
          <a:xfrm rot="5400000">
            <a:off x="10047584" y="5585369"/>
            <a:ext cx="504000" cy="180000"/>
          </a:xfrm>
          <a:prstGeom prst="triangle">
            <a:avLst/>
          </a:prstGeom>
          <a:solidFill>
            <a:schemeClr val="bg1">
              <a:lumMod val="75000"/>
            </a:schemeClr>
          </a:solidFill>
          <a:ln w="19050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ko-KR" altLang="en-US" sz="1300" b="1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산스 Head" panose="020B0600000101010101" pitchFamily="50" charset="-127"/>
              <a:ea typeface="현대산스 Head" panose="020B0600000101010101" pitchFamily="50" charset="-127"/>
            </a:endParaRPr>
          </a:p>
        </p:txBody>
      </p:sp>
      <p:sp>
        <p:nvSpPr>
          <p:cNvPr id="24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25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sp>
        <p:nvSpPr>
          <p:cNvPr id="30" name="텍스트 개체 틀 6"/>
          <p:cNvSpPr>
            <a:spLocks noGrp="1"/>
          </p:cNvSpPr>
          <p:nvPr>
            <p:ph type="body" sz="quarter" idx="31"/>
          </p:nvPr>
        </p:nvSpPr>
        <p:spPr>
          <a:xfrm>
            <a:off x="273050" y="685972"/>
            <a:ext cx="9359900" cy="88741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Font typeface="현대산스 Head Bold" panose="020B0600000101010101" pitchFamily="50" charset="-127"/>
              <a:buNone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  <a:lvl2pPr marL="465750" indent="-285750">
              <a:lnSpc>
                <a:spcPct val="120000"/>
              </a:lnSpc>
              <a:spcBef>
                <a:spcPts val="0"/>
              </a:spcBef>
              <a:buFont typeface="현대산스 Head" panose="020B0600000101010101" pitchFamily="50" charset="-127"/>
              <a:buChar char="－"/>
              <a:defRPr sz="16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  <p:sp>
        <p:nvSpPr>
          <p:cNvPr id="31" name="텍스트 개체 틀 4"/>
          <p:cNvSpPr>
            <a:spLocks noGrp="1"/>
          </p:cNvSpPr>
          <p:nvPr>
            <p:ph type="body" sz="quarter" idx="37" hasCustomPrompt="1"/>
          </p:nvPr>
        </p:nvSpPr>
        <p:spPr>
          <a:xfrm>
            <a:off x="292600" y="1676938"/>
            <a:ext cx="2247879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2" name="텍스트 개체 틀 4"/>
          <p:cNvSpPr>
            <a:spLocks noGrp="1"/>
          </p:cNvSpPr>
          <p:nvPr>
            <p:ph type="body" sz="quarter" idx="38" hasCustomPrompt="1"/>
          </p:nvPr>
        </p:nvSpPr>
        <p:spPr>
          <a:xfrm>
            <a:off x="2720752" y="1676938"/>
            <a:ext cx="3600000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3" name="텍스트 개체 틀 4"/>
          <p:cNvSpPr>
            <a:spLocks noGrp="1"/>
          </p:cNvSpPr>
          <p:nvPr>
            <p:ph type="body" sz="quarter" idx="39" hasCustomPrompt="1"/>
          </p:nvPr>
        </p:nvSpPr>
        <p:spPr>
          <a:xfrm>
            <a:off x="6537496" y="1693363"/>
            <a:ext cx="3095454" cy="23213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aseline="0">
                <a:latin typeface="+mn-ea"/>
                <a:ea typeface="+mn-ea"/>
              </a:defRPr>
            </a:lvl1pPr>
          </a:lstStyle>
          <a:p>
            <a:pPr lvl="0"/>
            <a:r>
              <a:rPr lang="en-US" altLang="ko-KR"/>
              <a:t>Title</a:t>
            </a:r>
            <a:endParaRPr lang="ko-KR" altLang="en-US"/>
          </a:p>
        </p:txBody>
      </p:sp>
      <p:sp>
        <p:nvSpPr>
          <p:cNvPr id="34" name="텍스트 개체 틀 6"/>
          <p:cNvSpPr>
            <a:spLocks noGrp="1"/>
          </p:cNvSpPr>
          <p:nvPr>
            <p:ph type="body" sz="quarter" idx="33"/>
          </p:nvPr>
        </p:nvSpPr>
        <p:spPr>
          <a:xfrm>
            <a:off x="2720752" y="2189499"/>
            <a:ext cx="3600000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  <p:sp>
        <p:nvSpPr>
          <p:cNvPr id="35" name="텍스트 개체 틀 6"/>
          <p:cNvSpPr>
            <a:spLocks noGrp="1"/>
          </p:cNvSpPr>
          <p:nvPr>
            <p:ph type="body" sz="quarter" idx="40"/>
          </p:nvPr>
        </p:nvSpPr>
        <p:spPr>
          <a:xfrm>
            <a:off x="6537496" y="2189499"/>
            <a:ext cx="3095454" cy="735445"/>
          </a:xfrm>
          <a:prstGeom prst="rect">
            <a:avLst/>
          </a:prstGeom>
        </p:spPr>
        <p:txBody>
          <a:bodyPr/>
          <a:lstStyle>
            <a:lvl1pPr marL="87313" indent="-87313">
              <a:buFont typeface="Arial" panose="020B0604020202020204" pitchFamily="34" charset="0"/>
              <a:buChar char="•"/>
              <a:defRPr sz="13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1pPr>
            <a:lvl2pPr marL="268288" indent="-179388">
              <a:spcBef>
                <a:spcPts val="0"/>
              </a:spcBef>
              <a:buFont typeface="현대산스 Head" panose="020B0600000101010101" pitchFamily="50" charset="-127"/>
              <a:buChar char="－"/>
              <a:defRPr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defRPr>
            </a:lvl2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B8BA538-B173-8F31-6685-807D1D2781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84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자유 양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6"/>
          <p:cNvSpPr>
            <a:spLocks noGrp="1"/>
          </p:cNvSpPr>
          <p:nvPr>
            <p:ph type="body" sz="quarter" idx="11" hasCustomPrompt="1"/>
          </p:nvPr>
        </p:nvSpPr>
        <p:spPr>
          <a:xfrm>
            <a:off x="3361505" y="173853"/>
            <a:ext cx="2592883" cy="433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 lvl="0"/>
            <a:r>
              <a:rPr lang="en-US" altLang="ko-KR"/>
              <a:t>1) Sub-Title</a:t>
            </a:r>
            <a:endParaRPr lang="ko-KR" altLang="en-US"/>
          </a:p>
        </p:txBody>
      </p:sp>
      <p:sp>
        <p:nvSpPr>
          <p:cNvPr id="9" name="텍스트 개체 틀 2"/>
          <p:cNvSpPr>
            <a:spLocks noGrp="1"/>
          </p:cNvSpPr>
          <p:nvPr>
            <p:ph type="body" sz="quarter" idx="10" hasCustomPrompt="1"/>
          </p:nvPr>
        </p:nvSpPr>
        <p:spPr>
          <a:xfrm>
            <a:off x="279774" y="181916"/>
            <a:ext cx="1655614" cy="43264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defRPr>
            </a:lvl1pPr>
          </a:lstStyle>
          <a:p>
            <a:pPr lvl="0"/>
            <a:r>
              <a:rPr lang="en-US" altLang="ko-KR"/>
              <a:t>TITLE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7644C1B-E581-2D49-2683-2823AC4024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624" y="6525344"/>
            <a:ext cx="1832751" cy="17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5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슬라이드 엔딩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4B18652-69C9-5166-F6C0-EE52E4C21C89}"/>
              </a:ext>
            </a:extLst>
          </p:cNvPr>
          <p:cNvSpPr/>
          <p:nvPr userDrawn="1"/>
        </p:nvSpPr>
        <p:spPr bwMode="auto">
          <a:xfrm>
            <a:off x="0" y="0"/>
            <a:ext cx="9906000" cy="68580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9" name="그림 8" descr="팬, 장치이(가) 표시된 사진&#10;&#10;자동 생성된 설명">
            <a:extLst>
              <a:ext uri="{FF2B5EF4-FFF2-40B4-BE49-F238E27FC236}">
                <a16:creationId xmlns:a16="http://schemas.microsoft.com/office/drawing/2014/main" id="{CFBBE845-3D7D-02F2-6B69-64E9800869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356994"/>
            <a:ext cx="2864768" cy="4501006"/>
          </a:xfrm>
          <a:prstGeom prst="rect">
            <a:avLst/>
          </a:prstGeom>
        </p:spPr>
      </p:pic>
      <p:pic>
        <p:nvPicPr>
          <p:cNvPr id="6" name="Picture 2" descr="U:\00_로고파일\CI_JPG+AI_파일묶음\hyundaimobis_CI.png">
            <a:extLst>
              <a:ext uri="{FF2B5EF4-FFF2-40B4-BE49-F238E27FC236}">
                <a16:creationId xmlns:a16="http://schemas.microsoft.com/office/drawing/2014/main" id="{C1094C28-3707-B83C-FAD0-8EAC417861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9344" y="417234"/>
            <a:ext cx="1425944" cy="491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646BD2-8D0A-DD1A-ED6D-F5DE8982A3A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213" y="2817000"/>
            <a:ext cx="6374103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89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8710736" y="6597352"/>
            <a:ext cx="1066800" cy="250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0897" tIns="40448" rIns="80897" bIns="40448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40481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809625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212850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1617663"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0748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5320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29892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44646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algn="r">
              <a:spcBef>
                <a:spcPct val="50000"/>
              </a:spcBef>
              <a:defRPr/>
            </a:pPr>
            <a:r>
              <a:rPr lang="en-US" altLang="ko-KR" sz="105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fld id="{3DF88437-EB3C-49CC-ACAB-5AE315704231}" type="slidenum">
              <a:rPr lang="en-US" altLang="ko-KR" sz="1050" smtClean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pPr algn="r">
                <a:spcBef>
                  <a:spcPct val="50000"/>
                </a:spcBef>
                <a:defRPr/>
              </a:pPr>
              <a:t>‹#›</a:t>
            </a:fld>
            <a:r>
              <a:rPr lang="en-US" altLang="ko-KR" sz="105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/ 6 -</a:t>
            </a:r>
          </a:p>
        </p:txBody>
      </p:sp>
      <p:sp>
        <p:nvSpPr>
          <p:cNvPr id="1028" name="Line 10"/>
          <p:cNvSpPr>
            <a:spLocks noChangeShapeType="1"/>
          </p:cNvSpPr>
          <p:nvPr userDrawn="1"/>
        </p:nvSpPr>
        <p:spPr bwMode="auto">
          <a:xfrm>
            <a:off x="273050" y="620688"/>
            <a:ext cx="9216000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21E5BC-2E24-6218-0835-0C8862D95B1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484313" y="6703060"/>
            <a:ext cx="69913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이건( LEE KEON ) 전원구동반도체팀 / 1628623@mobis.com / 본 문서는 현대모비스의 대외비 정보자산이므로 무단 전재 및 복제할 수 없으며, 위반 시 당사 사규 및 관련 법규에 의해 제재될 수 있습니다.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C836EA-460C-D983-06DE-6CAA7F3466B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watermark"/>
              </p:ext>
            </p:extLst>
          </p:nvPr>
        </p:nvSpPr>
        <p:spPr>
          <a:xfrm>
            <a:off x="4502912" y="3383280"/>
            <a:ext cx="92710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737373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Hyundai Mobis 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90" r:id="rId2"/>
    <p:sldLayoutId id="2147483661" r:id="rId3"/>
    <p:sldLayoutId id="2147483675" r:id="rId4"/>
    <p:sldLayoutId id="2147483682" r:id="rId5"/>
    <p:sldLayoutId id="2147483683" r:id="rId6"/>
    <p:sldLayoutId id="2147483694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30188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13">
            <a:extLst>
              <a:ext uri="{FF2B5EF4-FFF2-40B4-BE49-F238E27FC236}">
                <a16:creationId xmlns:a16="http://schemas.microsoft.com/office/drawing/2014/main" id="{8B23F666-6A80-916A-501E-B8965BB2E9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0512" y="1386109"/>
            <a:ext cx="8424936" cy="523220"/>
          </a:xfrm>
        </p:spPr>
        <p:txBody>
          <a:bodyPr/>
          <a:lstStyle/>
          <a:p>
            <a:r>
              <a:rPr lang="en-US" altLang="ko-KR"/>
              <a:t>IP805 Test Plan Documentation</a:t>
            </a:r>
            <a:endParaRPr lang="ko-KR" altLang="en-US"/>
          </a:p>
        </p:txBody>
      </p:sp>
      <p:sp>
        <p:nvSpPr>
          <p:cNvPr id="16" name="텍스트 개체 틀 1">
            <a:extLst>
              <a:ext uri="{FF2B5EF4-FFF2-40B4-BE49-F238E27FC236}">
                <a16:creationId xmlns:a16="http://schemas.microsoft.com/office/drawing/2014/main" id="{0C6BD3EE-6EBF-3196-3A11-97FA335A03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98" y="5378169"/>
            <a:ext cx="1433758" cy="283079"/>
          </a:xfrm>
        </p:spPr>
        <p:txBody>
          <a:bodyPr/>
          <a:lstStyle/>
          <a:p>
            <a:r>
              <a:rPr lang="en-US" altLang="ko-KR"/>
              <a:t>2026.01.28</a:t>
            </a:r>
            <a:endParaRPr lang="ko-KR" altLang="en-US"/>
          </a:p>
        </p:txBody>
      </p:sp>
      <p:sp>
        <p:nvSpPr>
          <p:cNvPr id="17" name="텍스트 개체 틀 2">
            <a:extLst>
              <a:ext uri="{FF2B5EF4-FFF2-40B4-BE49-F238E27FC236}">
                <a16:creationId xmlns:a16="http://schemas.microsoft.com/office/drawing/2014/main" id="{DAD54430-C47E-6896-AFB0-3100A2EFC3A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4846" y="5718854"/>
            <a:ext cx="1767375" cy="302434"/>
          </a:xfrm>
        </p:spPr>
        <p:txBody>
          <a:bodyPr/>
          <a:lstStyle/>
          <a:p>
            <a:r>
              <a:rPr lang="ko-KR" altLang="en-US"/>
              <a:t>전원구동반도체팀</a:t>
            </a:r>
          </a:p>
        </p:txBody>
      </p:sp>
      <p:sp>
        <p:nvSpPr>
          <p:cNvPr id="18" name="텍스트 개체 틀 3">
            <a:extLst>
              <a:ext uri="{FF2B5EF4-FFF2-40B4-BE49-F238E27FC236}">
                <a16:creationId xmlns:a16="http://schemas.microsoft.com/office/drawing/2014/main" id="{63F96163-871D-E61A-0587-037AA254B6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4845" y="6087580"/>
            <a:ext cx="1933899" cy="293748"/>
          </a:xfrm>
        </p:spPr>
        <p:txBody>
          <a:bodyPr/>
          <a:lstStyle/>
          <a:p>
            <a:r>
              <a:rPr lang="ko-KR" altLang="en-US"/>
              <a:t>작성자 </a:t>
            </a:r>
            <a:r>
              <a:rPr lang="en-US" altLang="ko-KR"/>
              <a:t>: </a:t>
            </a:r>
            <a:r>
              <a:rPr lang="ko-KR" altLang="en-US"/>
              <a:t>최지수 연구원</a:t>
            </a:r>
          </a:p>
        </p:txBody>
      </p:sp>
    </p:spTree>
    <p:extLst>
      <p:ext uri="{BB962C8B-B14F-4D97-AF65-F5344CB8AC3E}">
        <p14:creationId xmlns:p14="http://schemas.microsoft.com/office/powerpoint/2010/main" val="2188201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ED8FB0-3BEF-A06E-ED77-6F6E3AF0D1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ko-KR" altLang="en-US"/>
              <a:t>목 차</a:t>
            </a:r>
          </a:p>
        </p:txBody>
      </p:sp>
      <p:sp>
        <p:nvSpPr>
          <p:cNvPr id="4" name="텍스트 개체 틀 1">
            <a:extLst>
              <a:ext uri="{FF2B5EF4-FFF2-40B4-BE49-F238E27FC236}">
                <a16:creationId xmlns:a16="http://schemas.microsoft.com/office/drawing/2014/main" id="{9AC14119-DAFE-7607-CEB8-F82C99B489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1158" y="1808956"/>
            <a:ext cx="8858250" cy="324008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ko-KR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Trimming guide</a:t>
            </a:r>
          </a:p>
          <a:p>
            <a:pPr>
              <a:lnSpc>
                <a:spcPct val="200000"/>
              </a:lnSpc>
            </a:pPr>
            <a:r>
              <a:rPr lang="en-US" altLang="ko-KR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Trimmed Parameters</a:t>
            </a:r>
          </a:p>
          <a:p>
            <a:pPr>
              <a:lnSpc>
                <a:spcPct val="200000"/>
              </a:lnSpc>
            </a:pPr>
            <a:r>
              <a:rPr lang="en-US" altLang="ko-KR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Datasheet EC Parameters</a:t>
            </a:r>
          </a:p>
        </p:txBody>
      </p:sp>
    </p:spTree>
    <p:extLst>
      <p:ext uri="{BB962C8B-B14F-4D97-AF65-F5344CB8AC3E}">
        <p14:creationId xmlns:p14="http://schemas.microsoft.com/office/powerpoint/2010/main" val="2036073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C393A-6156-1A4B-E5F5-95FFBE337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D73B04B0-869C-8763-7014-B66B7A441E67}"/>
              </a:ext>
            </a:extLst>
          </p:cNvPr>
          <p:cNvSpPr/>
          <p:nvPr/>
        </p:nvSpPr>
        <p:spPr bwMode="auto">
          <a:xfrm>
            <a:off x="631158" y="1988840"/>
            <a:ext cx="5257946" cy="504056"/>
          </a:xfrm>
          <a:prstGeom prst="round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AD8458E-63CA-4A24-637D-723147DAA81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ko-KR" altLang="en-US"/>
              <a:t>목 차</a:t>
            </a:r>
          </a:p>
        </p:txBody>
      </p:sp>
      <p:sp>
        <p:nvSpPr>
          <p:cNvPr id="4" name="텍스트 개체 틀 1">
            <a:extLst>
              <a:ext uri="{FF2B5EF4-FFF2-40B4-BE49-F238E27FC236}">
                <a16:creationId xmlns:a16="http://schemas.microsoft.com/office/drawing/2014/main" id="{3A83CACB-7043-8647-EF0D-AF13067529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1158" y="1808956"/>
            <a:ext cx="8858250" cy="324008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ko-KR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Trimming guide</a:t>
            </a:r>
          </a:p>
          <a:p>
            <a:pPr>
              <a:lnSpc>
                <a:spcPct val="200000"/>
              </a:lnSpc>
            </a:pPr>
            <a:r>
              <a:rPr lang="en-US" altLang="ko-KR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Trimmed Parameters</a:t>
            </a:r>
          </a:p>
          <a:p>
            <a:pPr>
              <a:lnSpc>
                <a:spcPct val="200000"/>
              </a:lnSpc>
            </a:pPr>
            <a:r>
              <a:rPr lang="en-US" altLang="ko-KR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Datasheet EC Parameters</a:t>
            </a:r>
          </a:p>
        </p:txBody>
      </p:sp>
    </p:spTree>
    <p:extLst>
      <p:ext uri="{BB962C8B-B14F-4D97-AF65-F5344CB8AC3E}">
        <p14:creationId xmlns:p14="http://schemas.microsoft.com/office/powerpoint/2010/main" val="1224871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42D4917-11E3-F0F0-9B50-0A9C2248F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78" y="4155622"/>
            <a:ext cx="9388443" cy="2013663"/>
          </a:xfrm>
          <a:prstGeom prst="rect">
            <a:avLst/>
          </a:prstGeom>
        </p:spPr>
      </p:pic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parameter &amp; Trim bit register map</a:t>
            </a: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5F2C9A-4B3B-1203-E99B-A9F57B932488}"/>
              </a:ext>
            </a:extLst>
          </p:cNvPr>
          <p:cNvSpPr txBox="1"/>
          <p:nvPr/>
        </p:nvSpPr>
        <p:spPr>
          <a:xfrm>
            <a:off x="2007918" y="3651336"/>
            <a:ext cx="575334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 Trim Parameters &gt;</a:t>
            </a:r>
            <a:endParaRPr lang="ko-KR" altLang="en-US" sz="130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5EF6D6-B572-3591-B2A2-09F1991E635C}"/>
              </a:ext>
            </a:extLst>
          </p:cNvPr>
          <p:cNvSpPr txBox="1"/>
          <p:nvPr/>
        </p:nvSpPr>
        <p:spPr>
          <a:xfrm>
            <a:off x="2076327" y="6169285"/>
            <a:ext cx="575334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 Trim bit Register map &gt;</a:t>
            </a:r>
            <a:endParaRPr lang="ko-KR" altLang="en-US" sz="130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BCF7684-2281-783E-D388-35E36FD2E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32" y="821087"/>
            <a:ext cx="8759736" cy="2745978"/>
          </a:xfrm>
          <a:prstGeom prst="rect">
            <a:avLst/>
          </a:prstGeom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EB841D9-65F5-9344-612C-CB1C9DC2F2D1}"/>
              </a:ext>
            </a:extLst>
          </p:cNvPr>
          <p:cNvCxnSpPr/>
          <p:nvPr/>
        </p:nvCxnSpPr>
        <p:spPr>
          <a:xfrm>
            <a:off x="495300" y="1379220"/>
            <a:ext cx="0" cy="2209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8296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6598-A1FF-D9F5-5463-88B8473EE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A71330D4-A3EE-B8B9-C579-92D79B66F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774" y="1196752"/>
            <a:ext cx="9223183" cy="398813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3D0769-317E-B8DD-9201-34E2D56E3E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Mode Register Map</a:t>
            </a:r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B8FFEF-86B4-EDF4-B78D-A509C26114BA}"/>
              </a:ext>
            </a:extLst>
          </p:cNvPr>
          <p:cNvSpPr txBox="1"/>
          <p:nvPr/>
        </p:nvSpPr>
        <p:spPr>
          <a:xfrm>
            <a:off x="279774" y="5474687"/>
            <a:ext cx="575334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* IP805_Register_ADIF_TOP 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</a:t>
            </a:r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 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Sheet “</a:t>
            </a:r>
            <a:r>
              <a:rPr lang="en-US" altLang="ko-KR" sz="1300" err="1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Testmode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 </a:t>
            </a:r>
            <a:r>
              <a:rPr lang="en-US" altLang="ko-KR" sz="1300" err="1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Reg.Table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” </a:t>
            </a:r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확인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 </a:t>
            </a:r>
            <a:endParaRPr lang="ko-KR" altLang="en-US" sz="130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5138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7C51E-D334-E346-4539-D9A6F2116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6CEC0E-E31A-2FB7-8AF5-0A0073D388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 dirty="0"/>
              <a:t>Initial Pin Conditions</a:t>
            </a: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5882F72-196F-840A-DC92-904B9B3B6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285512"/>
              </p:ext>
            </p:extLst>
          </p:nvPr>
        </p:nvGraphicFramePr>
        <p:xfrm>
          <a:off x="177167" y="1562500"/>
          <a:ext cx="9513703" cy="3364989"/>
        </p:xfrm>
        <a:graphic>
          <a:graphicData uri="http://schemas.openxmlformats.org/drawingml/2006/table">
            <a:tbl>
              <a:tblPr/>
              <a:tblGrid>
                <a:gridCol w="519980">
                  <a:extLst>
                    <a:ext uri="{9D8B030D-6E8A-4147-A177-3AD203B41FA5}">
                      <a16:colId xmlns:a16="http://schemas.microsoft.com/office/drawing/2014/main" val="3351243397"/>
                    </a:ext>
                  </a:extLst>
                </a:gridCol>
                <a:gridCol w="1829555">
                  <a:extLst>
                    <a:ext uri="{9D8B030D-6E8A-4147-A177-3AD203B41FA5}">
                      <a16:colId xmlns:a16="http://schemas.microsoft.com/office/drawing/2014/main" val="3580420577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15067267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7679458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38886558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04535401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34796741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826256144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003305898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69153827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885300622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8683575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413523613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76119036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26704610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54279285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736351818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15996046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58622946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401624855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67033059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646745290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852978312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32512472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87485880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7094221"/>
                    </a:ext>
                  </a:extLst>
                </a:gridCol>
              </a:tblGrid>
              <a:tr h="1907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Measure point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Sweep point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64059"/>
                  </a:ext>
                </a:extLst>
              </a:tr>
              <a:tr h="199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801229"/>
                  </a:ext>
                </a:extLst>
              </a:tr>
              <a:tr h="199368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MODE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Pin Number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202416"/>
                  </a:ext>
                </a:extLst>
              </a:tr>
              <a:tr h="2860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Pin Name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EN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VDD5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AGND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CANH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CANL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GND_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SIO_P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SIO_N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TM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RFREQ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VBCK_IO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BOOT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PGND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025583"/>
                  </a:ext>
                </a:extLst>
              </a:tr>
              <a:tr h="190700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ATB_1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Before Trim #0 : ATB_Buffer offest check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Measure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851039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#1 : BGR ZTC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029970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#2 : IREF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497480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#3 : VREF1P2V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258423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#4 : IPTAT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214314"/>
                  </a:ext>
                </a:extLst>
              </a:tr>
              <a:tr h="190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ATB_2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#5 : 1P5VLDO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828510"/>
                  </a:ext>
                </a:extLst>
              </a:tr>
              <a:tr h="1907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DTB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#6 : LP_OSC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787670"/>
                  </a:ext>
                </a:extLst>
              </a:tr>
              <a:tr h="1993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#7 : 32M_OSC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26994"/>
                  </a:ext>
                </a:extLst>
              </a:tr>
              <a:tr h="190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I2C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#1 : Current consumption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12V(I Meas.)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883632"/>
                  </a:ext>
                </a:extLst>
              </a:tr>
              <a:tr h="19070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DTB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#2: Over-Voltage monitoring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004591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#3: Enable Input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325344"/>
                  </a:ext>
                </a:extLst>
              </a:tr>
              <a:tr h="3831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#4: VDD5 LDO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Sweep&amp;</a:t>
                      </a:r>
                      <a:b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93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8001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712DD-3DD1-ED6E-A919-682774FAB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61378FA4-B346-4DA5-26CC-2CE90FA547BC}"/>
              </a:ext>
            </a:extLst>
          </p:cNvPr>
          <p:cNvSpPr/>
          <p:nvPr/>
        </p:nvSpPr>
        <p:spPr bwMode="auto">
          <a:xfrm>
            <a:off x="170137" y="1389783"/>
            <a:ext cx="3001640" cy="4368221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 w="6350">
            <a:solidFill>
              <a:schemeClr val="bg2">
                <a:lumMod val="20000"/>
                <a:lumOff val="80000"/>
              </a:schemeClr>
            </a:solidFill>
            <a:prstDash val="lg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ATB_1 MODE </a:t>
            </a:r>
          </a:p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Entry Sequence </a:t>
            </a:r>
            <a:endParaRPr lang="ko-KR" altLang="en-US" sz="140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E3EA61-110A-A5D4-C201-B7947359A3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Common Test Sequence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7A54838-88F7-E51E-74F8-C37A43B5039E}"/>
              </a:ext>
            </a:extLst>
          </p:cNvPr>
          <p:cNvSpPr/>
          <p:nvPr/>
        </p:nvSpPr>
        <p:spPr bwMode="auto">
          <a:xfrm>
            <a:off x="306015" y="4823259"/>
            <a:ext cx="2736304" cy="839003"/>
          </a:xfrm>
          <a:prstGeom prst="rect">
            <a:avLst/>
          </a:prstGeom>
          <a:solidFill>
            <a:srgbClr val="F8F8F8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&lt;ATB1 Entry&gt;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0xE8 : 0x100 (TM_ANA_TEST_EN)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0xE7 : 0x004 (TM_ATB1_EN)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A63146BE-E516-229F-976A-9F106EA9BB80}"/>
              </a:ext>
            </a:extLst>
          </p:cNvPr>
          <p:cNvCxnSpPr>
            <a:cxnSpLocks/>
            <a:stCxn id="13" idx="2"/>
            <a:endCxn id="12" idx="0"/>
          </p:cNvCxnSpPr>
          <p:nvPr/>
        </p:nvCxnSpPr>
        <p:spPr>
          <a:xfrm>
            <a:off x="1674167" y="2917741"/>
            <a:ext cx="0" cy="200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7468857-ABCA-F6EE-B5D7-CA2DE6051FE3}"/>
              </a:ext>
            </a:extLst>
          </p:cNvPr>
          <p:cNvSpPr/>
          <p:nvPr/>
        </p:nvSpPr>
        <p:spPr bwMode="auto">
          <a:xfrm>
            <a:off x="306015" y="3117850"/>
            <a:ext cx="2736304" cy="1494833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Test mode Enter (I2C mode)</a:t>
            </a:r>
          </a:p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TM pin : 0</a:t>
            </a: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</a:t>
            </a: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5V </a:t>
            </a:r>
            <a:r>
              <a: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인가</a:t>
            </a:r>
            <a:endParaRPr lang="en-US" altLang="ko-KR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(100us Delay)</a:t>
            </a:r>
          </a:p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GPIO0 /ADDR2 pin : 0V </a:t>
            </a:r>
            <a:r>
              <a: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인가</a:t>
            </a:r>
            <a:endParaRPr lang="en-US" altLang="ko-KR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20us delay </a:t>
            </a:r>
            <a:r>
              <a: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이후 </a:t>
            </a: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i2c write(TM Unlock)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0xE1 : 0x800 (TEST_E=1)</a:t>
            </a:r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58378BA-8700-80D5-3B18-52AAF1A7C96C}"/>
              </a:ext>
            </a:extLst>
          </p:cNvPr>
          <p:cNvSpPr/>
          <p:nvPr/>
        </p:nvSpPr>
        <p:spPr bwMode="auto">
          <a:xfrm>
            <a:off x="306015" y="2102136"/>
            <a:ext cx="2736304" cy="815605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RFREQ pin = N.C</a:t>
            </a:r>
          </a:p>
          <a:p>
            <a:pPr algn="ctr">
              <a:spcBef>
                <a:spcPts val="1000"/>
              </a:spcBef>
            </a:pP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VIN/EN pin = 12V</a:t>
            </a:r>
          </a:p>
          <a:p>
            <a:pPr algn="ctr">
              <a:spcBef>
                <a:spcPts val="1000"/>
              </a:spcBef>
            </a:pP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(4ms Delay) </a:t>
            </a:r>
            <a:endParaRPr lang="ko-KR" altLang="en-US" sz="12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410C374-3C34-3A6A-CDD8-82E26DF462BD}"/>
              </a:ext>
            </a:extLst>
          </p:cNvPr>
          <p:cNvCxnSpPr>
            <a:cxnSpLocks/>
            <a:stCxn id="12" idx="2"/>
            <a:endCxn id="2" idx="0"/>
          </p:cNvCxnSpPr>
          <p:nvPr/>
        </p:nvCxnSpPr>
        <p:spPr>
          <a:xfrm>
            <a:off x="1674167" y="4612683"/>
            <a:ext cx="0" cy="210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30F8AEA-84BB-DB34-91AF-4CC37CD6E6A2}"/>
              </a:ext>
            </a:extLst>
          </p:cNvPr>
          <p:cNvSpPr/>
          <p:nvPr/>
        </p:nvSpPr>
        <p:spPr bwMode="auto">
          <a:xfrm>
            <a:off x="3376151" y="1389783"/>
            <a:ext cx="3001640" cy="4368221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 w="6350">
            <a:solidFill>
              <a:schemeClr val="bg2">
                <a:lumMod val="20000"/>
                <a:lumOff val="80000"/>
              </a:schemeClr>
            </a:solidFill>
            <a:prstDash val="lg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ATB_2 MODE </a:t>
            </a:r>
          </a:p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Entry Sequence </a:t>
            </a:r>
            <a:endParaRPr lang="ko-KR" altLang="en-US" sz="140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A9B7E0C-B3D3-0F0B-CAC0-79ED6137EB14}"/>
              </a:ext>
            </a:extLst>
          </p:cNvPr>
          <p:cNvSpPr/>
          <p:nvPr/>
        </p:nvSpPr>
        <p:spPr bwMode="auto">
          <a:xfrm>
            <a:off x="3512029" y="4823259"/>
            <a:ext cx="2736304" cy="839003"/>
          </a:xfrm>
          <a:prstGeom prst="rect">
            <a:avLst/>
          </a:prstGeom>
          <a:solidFill>
            <a:srgbClr val="F8F8F8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&lt;ATB2 Entry&gt;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0xE8 : 0x100 (TM_ANA_TEST_EN)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0xE7 : 0x001 (TM_ATB2_EN)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D6A1492-1C43-EDB7-C5F5-C6E9C4744CBB}"/>
              </a:ext>
            </a:extLst>
          </p:cNvPr>
          <p:cNvCxnSpPr>
            <a:cxnSpLocks/>
            <a:stCxn id="33" idx="2"/>
            <a:endCxn id="18" idx="0"/>
          </p:cNvCxnSpPr>
          <p:nvPr/>
        </p:nvCxnSpPr>
        <p:spPr>
          <a:xfrm>
            <a:off x="4880181" y="2917741"/>
            <a:ext cx="0" cy="200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20A5973-8A5C-BC49-A607-8409D5B2CD3B}"/>
              </a:ext>
            </a:extLst>
          </p:cNvPr>
          <p:cNvSpPr/>
          <p:nvPr/>
        </p:nvSpPr>
        <p:spPr bwMode="auto">
          <a:xfrm>
            <a:off x="3512029" y="2102136"/>
            <a:ext cx="2736304" cy="815605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RFREQ pin = N.C</a:t>
            </a:r>
          </a:p>
          <a:p>
            <a:pPr algn="ctr">
              <a:spcBef>
                <a:spcPts val="1000"/>
              </a:spcBef>
            </a:pP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VIN/EN pin = 12V</a:t>
            </a:r>
          </a:p>
          <a:p>
            <a:pPr algn="ctr">
              <a:spcBef>
                <a:spcPts val="1000"/>
              </a:spcBef>
            </a:pP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(4ms Delay) </a:t>
            </a:r>
            <a:endParaRPr lang="ko-KR" altLang="en-US" sz="12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26E4C82A-0420-F5A2-A385-BDD846EBDFF1}"/>
              </a:ext>
            </a:extLst>
          </p:cNvPr>
          <p:cNvCxnSpPr>
            <a:cxnSpLocks/>
            <a:stCxn id="18" idx="2"/>
            <a:endCxn id="29" idx="0"/>
          </p:cNvCxnSpPr>
          <p:nvPr/>
        </p:nvCxnSpPr>
        <p:spPr>
          <a:xfrm>
            <a:off x="4880181" y="4612683"/>
            <a:ext cx="0" cy="210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999240C-628B-43E4-3FD7-B20A52696019}"/>
              </a:ext>
            </a:extLst>
          </p:cNvPr>
          <p:cNvSpPr/>
          <p:nvPr/>
        </p:nvSpPr>
        <p:spPr bwMode="auto">
          <a:xfrm>
            <a:off x="6582165" y="1389783"/>
            <a:ext cx="3001640" cy="5087217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 w="6350">
            <a:solidFill>
              <a:schemeClr val="bg2">
                <a:lumMod val="20000"/>
                <a:lumOff val="80000"/>
              </a:schemeClr>
            </a:solidFill>
            <a:prstDash val="lg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DTB MODE </a:t>
            </a:r>
          </a:p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Entry Sequence </a:t>
            </a:r>
            <a:endParaRPr lang="ko-KR" altLang="en-US" sz="140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57D4AEB-EC90-6B0A-92DF-B0FD1D4031FC}"/>
              </a:ext>
            </a:extLst>
          </p:cNvPr>
          <p:cNvSpPr/>
          <p:nvPr/>
        </p:nvSpPr>
        <p:spPr bwMode="auto">
          <a:xfrm>
            <a:off x="6714833" y="5445559"/>
            <a:ext cx="2736304" cy="821097"/>
          </a:xfrm>
          <a:prstGeom prst="rect">
            <a:avLst/>
          </a:prstGeom>
          <a:solidFill>
            <a:srgbClr val="F8F8F8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&lt;DTB1/2 Entry&gt;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0xE5 : 0x040 (DTB1_MUX_EN)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0xE6 : 0x040 (DTB2_MUX_EN)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65E8C43C-605B-6C01-3DD6-77122BB56A98}"/>
              </a:ext>
            </a:extLst>
          </p:cNvPr>
          <p:cNvCxnSpPr>
            <a:cxnSpLocks/>
            <a:stCxn id="41" idx="2"/>
            <a:endCxn id="25" idx="0"/>
          </p:cNvCxnSpPr>
          <p:nvPr/>
        </p:nvCxnSpPr>
        <p:spPr>
          <a:xfrm>
            <a:off x="8086195" y="2917741"/>
            <a:ext cx="5843" cy="200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46C0A4A-6701-BE53-0D25-4A6F5BC6514A}"/>
              </a:ext>
            </a:extLst>
          </p:cNvPr>
          <p:cNvSpPr/>
          <p:nvPr/>
        </p:nvSpPr>
        <p:spPr bwMode="auto">
          <a:xfrm>
            <a:off x="6718043" y="2102136"/>
            <a:ext cx="2736304" cy="815605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RFREQ pin = N.C</a:t>
            </a:r>
          </a:p>
          <a:p>
            <a:pPr algn="ctr">
              <a:spcBef>
                <a:spcPts val="1000"/>
              </a:spcBef>
            </a:pP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VIN/EN pin = 12V</a:t>
            </a:r>
          </a:p>
          <a:p>
            <a:pPr algn="ctr">
              <a:spcBef>
                <a:spcPts val="1000"/>
              </a:spcBef>
            </a:pP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(4ms Delay) </a:t>
            </a:r>
            <a:endParaRPr lang="ko-KR" altLang="en-US" sz="12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764425B3-466B-A6C7-7831-9119B084F135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8082985" y="4667250"/>
            <a:ext cx="0" cy="162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5AC88F3-992C-26D9-DF6D-447013D547EA}"/>
              </a:ext>
            </a:extLst>
          </p:cNvPr>
          <p:cNvSpPr/>
          <p:nvPr/>
        </p:nvSpPr>
        <p:spPr bwMode="auto">
          <a:xfrm>
            <a:off x="6714833" y="4830130"/>
            <a:ext cx="2736304" cy="420299"/>
          </a:xfrm>
          <a:prstGeom prst="rect">
            <a:avLst/>
          </a:prstGeom>
          <a:solidFill>
            <a:srgbClr val="F8F8F8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&lt;GPIO1/2 Output Mode&gt;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0x08 : 0x113 (GPIO1/2 Output Mode)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065BD3EE-8957-ACB1-27ED-1917AC18EE95}"/>
              </a:ext>
            </a:extLst>
          </p:cNvPr>
          <p:cNvCxnSpPr>
            <a:cxnSpLocks/>
            <a:stCxn id="44" idx="2"/>
            <a:endCxn id="37" idx="0"/>
          </p:cNvCxnSpPr>
          <p:nvPr/>
        </p:nvCxnSpPr>
        <p:spPr>
          <a:xfrm>
            <a:off x="8082985" y="5250429"/>
            <a:ext cx="0" cy="195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B1946B7-D180-6C37-38C2-102C5C607855}"/>
              </a:ext>
            </a:extLst>
          </p:cNvPr>
          <p:cNvSpPr txBox="1"/>
          <p:nvPr/>
        </p:nvSpPr>
        <p:spPr>
          <a:xfrm>
            <a:off x="279774" y="778598"/>
            <a:ext cx="918041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기본 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Test Set</a:t>
            </a:r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은 아래와 같고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추가적인 내용이 필요한 경우 따로 각 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Item Plan</a:t>
            </a:r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에 내용 명시할 예정 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(EX : RFREQ pin : 50k</a:t>
            </a:r>
            <a:r>
              <a:rPr lang="el-GR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Ω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설치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I2C </a:t>
            </a:r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통신 자체는 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POWER ON </a:t>
            </a:r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이후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“4.5ms </a:t>
            </a:r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이후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” </a:t>
            </a:r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에 모든 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I2C Command Sequence </a:t>
            </a:r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시작 실시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4CAD9DD-ADFA-5AC9-2E4A-F9D633CA758A}"/>
              </a:ext>
            </a:extLst>
          </p:cNvPr>
          <p:cNvSpPr/>
          <p:nvPr/>
        </p:nvSpPr>
        <p:spPr bwMode="auto">
          <a:xfrm>
            <a:off x="3512029" y="3117850"/>
            <a:ext cx="2736304" cy="1494833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Test mode Enter (I2C mode)</a:t>
            </a:r>
          </a:p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TM pin : 0</a:t>
            </a: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</a:t>
            </a: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5V </a:t>
            </a:r>
            <a:r>
              <a: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인가</a:t>
            </a:r>
            <a:endParaRPr lang="en-US" altLang="ko-KR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(100us Delay)</a:t>
            </a:r>
          </a:p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GPIO0 /ADDR2 pin : 0V </a:t>
            </a:r>
            <a:r>
              <a: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인가</a:t>
            </a:r>
            <a:endParaRPr lang="en-US" altLang="ko-KR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20us delay </a:t>
            </a:r>
            <a:r>
              <a: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이후 </a:t>
            </a: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i2c write(TM Unlock)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0xE1 : 0x800 (TEST_E=1)</a:t>
            </a:r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D17446C-4918-C9F1-7FC3-776EA162671B}"/>
              </a:ext>
            </a:extLst>
          </p:cNvPr>
          <p:cNvSpPr/>
          <p:nvPr/>
        </p:nvSpPr>
        <p:spPr bwMode="auto">
          <a:xfrm>
            <a:off x="6723886" y="3117850"/>
            <a:ext cx="2736304" cy="1494833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Test mode Enter (I2C mode)</a:t>
            </a:r>
          </a:p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TM pin : 0</a:t>
            </a: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</a:t>
            </a: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5V </a:t>
            </a:r>
            <a:r>
              <a: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인가</a:t>
            </a:r>
            <a:endParaRPr lang="en-US" altLang="ko-KR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(100us Delay)</a:t>
            </a:r>
          </a:p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GPIO0 /ADDR2 pin : 0V </a:t>
            </a:r>
            <a:r>
              <a: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인가</a:t>
            </a:r>
            <a:endParaRPr lang="en-US" altLang="ko-KR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20us delay </a:t>
            </a:r>
            <a:r>
              <a: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이후 </a:t>
            </a: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i2c write(TM Unlock)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0xE1 : 0x800 (TEST_E=1)</a:t>
            </a:r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3278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B2E02-51DD-3F0B-A87C-4208AE059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3992C5D1-6996-EBA5-CC7D-BFECCD4BB5CF}"/>
              </a:ext>
            </a:extLst>
          </p:cNvPr>
          <p:cNvSpPr/>
          <p:nvPr/>
        </p:nvSpPr>
        <p:spPr bwMode="auto">
          <a:xfrm>
            <a:off x="206350" y="1435079"/>
            <a:ext cx="3001640" cy="3454421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 w="6350">
            <a:solidFill>
              <a:schemeClr val="bg2">
                <a:lumMod val="20000"/>
                <a:lumOff val="80000"/>
              </a:schemeClr>
            </a:solidFill>
            <a:prstDash val="lg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Normal Test Mode </a:t>
            </a:r>
          </a:p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Entry Sequence </a:t>
            </a:r>
            <a:endParaRPr lang="ko-KR" altLang="en-US" sz="140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A02A7D-5657-A375-02F6-0F5E2C7CB3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Common Test Sequence</a:t>
            </a:r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25C50C4-BED7-4D24-3C19-1DE51D1C2476}"/>
              </a:ext>
            </a:extLst>
          </p:cNvPr>
          <p:cNvCxnSpPr>
            <a:cxnSpLocks/>
            <a:stCxn id="13" idx="2"/>
            <a:endCxn id="2" idx="0"/>
          </p:cNvCxnSpPr>
          <p:nvPr/>
        </p:nvCxnSpPr>
        <p:spPr>
          <a:xfrm>
            <a:off x="1710380" y="2695468"/>
            <a:ext cx="0" cy="267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C3F138E-7C69-396D-5772-CF9460DFAE02}"/>
              </a:ext>
            </a:extLst>
          </p:cNvPr>
          <p:cNvSpPr/>
          <p:nvPr/>
        </p:nvSpPr>
        <p:spPr bwMode="auto">
          <a:xfrm>
            <a:off x="342228" y="2147433"/>
            <a:ext cx="2736304" cy="548035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VIN/EN pin = 12V</a:t>
            </a:r>
          </a:p>
          <a:p>
            <a:pPr algn="ctr">
              <a:spcBef>
                <a:spcPts val="1000"/>
              </a:spcBef>
            </a:pP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(4ms Delay)</a:t>
            </a:r>
            <a:endParaRPr lang="ko-KR" altLang="en-US" sz="12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593AD5-00A0-4BB1-8E3F-AAB5E9441909}"/>
              </a:ext>
            </a:extLst>
          </p:cNvPr>
          <p:cNvSpPr txBox="1"/>
          <p:nvPr/>
        </p:nvSpPr>
        <p:spPr>
          <a:xfrm>
            <a:off x="279774" y="778598"/>
            <a:ext cx="918041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기본 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Test Set</a:t>
            </a:r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은 아래와 같고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추가적인 내용이 필요한 경우 따로 각 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Item Plan</a:t>
            </a:r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에 내용 명시할 예정 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(EX : RFREQ pin : 50k</a:t>
            </a:r>
            <a:r>
              <a:rPr lang="el-GR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Ω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설치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I2C </a:t>
            </a:r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통신 자체는 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POWER ON </a:t>
            </a:r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이후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, “4.5ms </a:t>
            </a:r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이후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” </a:t>
            </a:r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에 모든 </a:t>
            </a:r>
            <a:r>
              <a:rPr lang="en-US" altLang="ko-KR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I2C Command Sequence </a:t>
            </a:r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시작 실시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383D46D-78CA-39DD-7B7B-E7BEE91B1EB0}"/>
              </a:ext>
            </a:extLst>
          </p:cNvPr>
          <p:cNvSpPr/>
          <p:nvPr/>
        </p:nvSpPr>
        <p:spPr bwMode="auto">
          <a:xfrm>
            <a:off x="342228" y="2963038"/>
            <a:ext cx="2736304" cy="1494833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Test mode Enter (I2C mode)</a:t>
            </a:r>
          </a:p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TM pin : 0</a:t>
            </a: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</a:t>
            </a: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5V </a:t>
            </a:r>
            <a:r>
              <a: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인가</a:t>
            </a:r>
            <a:endParaRPr lang="en-US" altLang="ko-KR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(100us Delay)</a:t>
            </a:r>
          </a:p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GPIO0 /ADDR2 pin : 0V </a:t>
            </a:r>
            <a:r>
              <a: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인가</a:t>
            </a:r>
            <a:endParaRPr lang="en-US" altLang="ko-KR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20us delay </a:t>
            </a:r>
            <a:r>
              <a: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이후 </a:t>
            </a: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i2c write(TM Unlock)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0xE1 : 0x800 (TEST_E=1)</a:t>
            </a:r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3301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F3659-D3E5-0962-4B61-9D98B4A70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2188229D-256E-3462-DE23-176296A8188F}"/>
              </a:ext>
            </a:extLst>
          </p:cNvPr>
          <p:cNvSpPr/>
          <p:nvPr/>
        </p:nvSpPr>
        <p:spPr bwMode="auto">
          <a:xfrm>
            <a:off x="631158" y="2636912"/>
            <a:ext cx="5257946" cy="504056"/>
          </a:xfrm>
          <a:prstGeom prst="round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AE7DC3-A65E-5BE6-F8B2-3F658CF6C3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ko-KR" altLang="en-US"/>
              <a:t>목 차</a:t>
            </a:r>
          </a:p>
        </p:txBody>
      </p:sp>
      <p:sp>
        <p:nvSpPr>
          <p:cNvPr id="4" name="텍스트 개체 틀 1">
            <a:extLst>
              <a:ext uri="{FF2B5EF4-FFF2-40B4-BE49-F238E27FC236}">
                <a16:creationId xmlns:a16="http://schemas.microsoft.com/office/drawing/2014/main" id="{96B46994-CDBF-5C1F-77AE-1BCB007EED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1158" y="1808956"/>
            <a:ext cx="8858250" cy="324008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altLang="ko-KR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Trimming guide</a:t>
            </a:r>
          </a:p>
          <a:p>
            <a:pPr>
              <a:lnSpc>
                <a:spcPct val="200000"/>
              </a:lnSpc>
            </a:pPr>
            <a:r>
              <a:rPr lang="en-US" altLang="ko-KR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Trimmed Parameters</a:t>
            </a:r>
          </a:p>
          <a:p>
            <a:pPr>
              <a:lnSpc>
                <a:spcPct val="200000"/>
              </a:lnSpc>
            </a:pPr>
            <a:r>
              <a:rPr lang="en-US" altLang="ko-KR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Datasheet EC Parameters</a:t>
            </a:r>
          </a:p>
        </p:txBody>
      </p:sp>
    </p:spTree>
    <p:extLst>
      <p:ext uri="{BB962C8B-B14F-4D97-AF65-F5344CB8AC3E}">
        <p14:creationId xmlns:p14="http://schemas.microsoft.com/office/powerpoint/2010/main" val="257559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1F995-F234-4630-4D32-695EC5675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80E817-9E74-60E8-CFF1-97EC28136E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#. Trim Basic Sequence</a:t>
            </a:r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B7C4C95-5A10-3901-7E2B-1C125A1A9674}"/>
              </a:ext>
            </a:extLst>
          </p:cNvPr>
          <p:cNvGrpSpPr/>
          <p:nvPr/>
        </p:nvGrpSpPr>
        <p:grpSpPr>
          <a:xfrm>
            <a:off x="4551941" y="1195379"/>
            <a:ext cx="4654765" cy="4798561"/>
            <a:chOff x="2602491" y="788979"/>
            <a:chExt cx="4654765" cy="4798561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42AE7392-47D1-BFB7-8BA1-7AEDCFE7F8F0}"/>
                </a:ext>
              </a:extLst>
            </p:cNvPr>
            <p:cNvSpPr/>
            <p:nvPr/>
          </p:nvSpPr>
          <p:spPr bwMode="auto">
            <a:xfrm>
              <a:off x="2602491" y="788979"/>
              <a:ext cx="4654762" cy="242291"/>
            </a:xfrm>
            <a:prstGeom prst="rect">
              <a:avLst/>
            </a:prstGeom>
            <a:solidFill>
              <a:srgbClr val="FFFFCC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r>
                <a:rPr lang="ko-KR" altLang="en-US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초기 데이터 측정 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(PRE) - V/I/Hz </a:t>
              </a:r>
              <a:r>
                <a:rPr lang="ko-KR" altLang="en-US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등</a:t>
              </a:r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16BAE1B3-5F3F-3C3B-2BD8-6AA535AB1B05}"/>
                </a:ext>
              </a:extLst>
            </p:cNvPr>
            <p:cNvSpPr/>
            <p:nvPr/>
          </p:nvSpPr>
          <p:spPr bwMode="auto">
            <a:xfrm>
              <a:off x="2602492" y="1293599"/>
              <a:ext cx="4654762" cy="242291"/>
            </a:xfrm>
            <a:prstGeom prst="rect">
              <a:avLst/>
            </a:prstGeom>
            <a:solidFill>
              <a:srgbClr val="FFFFCC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Target</a:t>
              </a:r>
              <a:r>
                <a:rPr lang="ko-KR" altLang="en-US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 과의 차이 계산 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(PRE_ERR) - %</a:t>
              </a:r>
              <a:endPara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2A0065A-7DA3-8C50-470E-3BB731815384}"/>
                </a:ext>
              </a:extLst>
            </p:cNvPr>
            <p:cNvSpPr/>
            <p:nvPr/>
          </p:nvSpPr>
          <p:spPr bwMode="auto">
            <a:xfrm>
              <a:off x="2602492" y="1807272"/>
              <a:ext cx="4654762" cy="242291"/>
            </a:xfrm>
            <a:prstGeom prst="rect">
              <a:avLst/>
            </a:prstGeom>
            <a:solidFill>
              <a:srgbClr val="FFFFCC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1</a:t>
              </a:r>
              <a:r>
                <a:rPr lang="ko-KR" altLang="en-US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차 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- 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LSB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 </a:t>
              </a:r>
              <a:r>
                <a:rPr lang="ko-KR" altLang="en-US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기반의 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CODE</a:t>
              </a:r>
              <a:r>
                <a:rPr lang="ko-KR" altLang="en-US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 산출 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/ </a:t>
              </a:r>
              <a:r>
                <a:rPr lang="ko-KR" altLang="en-US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적용 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(MID_CODE) - HEX</a:t>
              </a:r>
              <a:endPara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7178A52-9EF8-31FF-ADC3-7AF0CDA40D9C}"/>
                </a:ext>
              </a:extLst>
            </p:cNvPr>
            <p:cNvSpPr/>
            <p:nvPr/>
          </p:nvSpPr>
          <p:spPr bwMode="auto">
            <a:xfrm>
              <a:off x="2602492" y="2342508"/>
              <a:ext cx="4654764" cy="242291"/>
            </a:xfrm>
            <a:prstGeom prst="rect">
              <a:avLst/>
            </a:prstGeom>
            <a:solidFill>
              <a:srgbClr val="FFFFCC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1</a:t>
              </a:r>
              <a:r>
                <a:rPr lang="ko-KR" altLang="en-US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차 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CODE</a:t>
              </a:r>
              <a:r>
                <a:rPr lang="ko-KR" altLang="en-US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값 적용한 데이터 측정 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(MID) - V/I/Hz</a:t>
              </a:r>
              <a:r>
                <a:rPr lang="ko-KR" altLang="en-US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 등</a:t>
              </a: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026A205-C2D9-0D58-6165-BD34E18EA978}"/>
                </a:ext>
              </a:extLst>
            </p:cNvPr>
            <p:cNvSpPr/>
            <p:nvPr/>
          </p:nvSpPr>
          <p:spPr bwMode="auto">
            <a:xfrm>
              <a:off x="2602493" y="2851001"/>
              <a:ext cx="4654760" cy="242291"/>
            </a:xfrm>
            <a:prstGeom prst="rect">
              <a:avLst/>
            </a:prstGeom>
            <a:solidFill>
              <a:srgbClr val="FFFFCC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Target</a:t>
              </a:r>
              <a:r>
                <a:rPr lang="ko-KR" altLang="en-US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 과의 차이 계산 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(MID_ERR) - %</a:t>
              </a:r>
              <a:endPara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DFB95F4D-6DD0-5449-7C1D-0E7E884CEE04}"/>
                </a:ext>
              </a:extLst>
            </p:cNvPr>
            <p:cNvSpPr/>
            <p:nvPr/>
          </p:nvSpPr>
          <p:spPr bwMode="auto">
            <a:xfrm>
              <a:off x="2602492" y="3355621"/>
              <a:ext cx="4654764" cy="242291"/>
            </a:xfrm>
            <a:prstGeom prst="rect">
              <a:avLst/>
            </a:prstGeom>
            <a:solidFill>
              <a:srgbClr val="FFFFCC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2</a:t>
              </a:r>
              <a:r>
                <a:rPr lang="ko-KR" altLang="en-US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차 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- 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LSB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 </a:t>
              </a:r>
              <a:r>
                <a:rPr lang="ko-KR" altLang="en-US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기반의 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CODE</a:t>
              </a:r>
              <a:r>
                <a:rPr lang="ko-KR" altLang="en-US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 산출 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/ </a:t>
              </a:r>
              <a:r>
                <a:rPr lang="ko-KR" altLang="en-US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적용 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(PST_CODE) - HEX</a:t>
              </a:r>
              <a:endPara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3D80643-6F11-A2B1-2DEF-C46CE6ACC14B}"/>
                </a:ext>
              </a:extLst>
            </p:cNvPr>
            <p:cNvSpPr/>
            <p:nvPr/>
          </p:nvSpPr>
          <p:spPr bwMode="auto">
            <a:xfrm>
              <a:off x="2602492" y="3945175"/>
              <a:ext cx="4654764" cy="242291"/>
            </a:xfrm>
            <a:prstGeom prst="rect">
              <a:avLst/>
            </a:prstGeom>
            <a:solidFill>
              <a:srgbClr val="FFFFCC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2</a:t>
              </a:r>
              <a:r>
                <a:rPr lang="ko-KR" altLang="en-US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차 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CODE</a:t>
              </a:r>
              <a:r>
                <a:rPr lang="ko-KR" altLang="en-US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 적용 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(PST_CODE_SIGN)</a:t>
              </a:r>
              <a:endPara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6C6B9EC-F45F-80AE-993F-FEC107B3F0B1}"/>
                </a:ext>
              </a:extLst>
            </p:cNvPr>
            <p:cNvSpPr/>
            <p:nvPr/>
          </p:nvSpPr>
          <p:spPr bwMode="auto">
            <a:xfrm>
              <a:off x="2602492" y="4486007"/>
              <a:ext cx="4654764" cy="242291"/>
            </a:xfrm>
            <a:prstGeom prst="rect">
              <a:avLst/>
            </a:prstGeom>
            <a:solidFill>
              <a:srgbClr val="FFFFCC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2</a:t>
              </a:r>
              <a:r>
                <a:rPr lang="ko-KR" altLang="en-US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차 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CODE </a:t>
              </a:r>
              <a:r>
                <a:rPr lang="ko-KR" altLang="en-US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적용한 데이터 측정 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(PST) - V/I/Hz </a:t>
              </a:r>
              <a:r>
                <a:rPr lang="ko-KR" altLang="en-US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등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F61471D-72A6-B4FE-0CC2-5699AE4AA3D0}"/>
                </a:ext>
              </a:extLst>
            </p:cNvPr>
            <p:cNvSpPr/>
            <p:nvPr/>
          </p:nvSpPr>
          <p:spPr bwMode="auto">
            <a:xfrm>
              <a:off x="2602491" y="4961774"/>
              <a:ext cx="4654764" cy="625766"/>
            </a:xfrm>
            <a:prstGeom prst="rect">
              <a:avLst/>
            </a:prstGeom>
            <a:solidFill>
              <a:srgbClr val="FFFFCC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1000"/>
                </a:spcBef>
              </a:pP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Target </a:t>
              </a:r>
              <a:r>
                <a:rPr lang="ko-KR" altLang="en-US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과의 차이 계산 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(PST_ERR) - %</a:t>
              </a:r>
            </a:p>
            <a:p>
              <a:pPr algn="ctr">
                <a:spcBef>
                  <a:spcPts val="1000"/>
                </a:spcBef>
              </a:pP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(+/- 0.5 LSB</a:t>
              </a:r>
              <a:r>
                <a:rPr lang="ko-KR" altLang="en-US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 안으로 들어와야 함</a:t>
              </a:r>
              <a:r>
                <a:rPr lang="en-US" altLang="ko-KR" sz="1200">
                  <a:ln>
                    <a:solidFill>
                      <a:schemeClr val="bg1">
                        <a:lumMod val="75000"/>
                        <a:alpha val="0"/>
                      </a:schemeClr>
                    </a:solidFill>
                  </a:ln>
                  <a:solidFill>
                    <a:srgbClr val="FF0000"/>
                  </a:solidFill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)</a:t>
              </a:r>
              <a:endPara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770F8E94-7C81-5AE6-9A4F-3639C4F88AA8}"/>
                </a:ext>
              </a:extLst>
            </p:cNvPr>
            <p:cNvCxnSpPr>
              <a:stCxn id="43" idx="2"/>
              <a:endCxn id="2" idx="0"/>
            </p:cNvCxnSpPr>
            <p:nvPr/>
          </p:nvCxnSpPr>
          <p:spPr>
            <a:xfrm>
              <a:off x="4929872" y="1031270"/>
              <a:ext cx="1" cy="2623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DC5ED066-2143-CEA8-FB62-1FBC6EE42A8C}"/>
                </a:ext>
              </a:extLst>
            </p:cNvPr>
            <p:cNvCxnSpPr>
              <a:cxnSpLocks/>
              <a:stCxn id="2" idx="2"/>
              <a:endCxn id="4" idx="0"/>
            </p:cNvCxnSpPr>
            <p:nvPr/>
          </p:nvCxnSpPr>
          <p:spPr>
            <a:xfrm>
              <a:off x="4929873" y="1535890"/>
              <a:ext cx="0" cy="2713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B140B863-28CF-1C61-3D44-802E79DE93DC}"/>
                </a:ext>
              </a:extLst>
            </p:cNvPr>
            <p:cNvCxnSpPr>
              <a:cxnSpLocks/>
              <a:stCxn id="4" idx="2"/>
              <a:endCxn id="7" idx="0"/>
            </p:cNvCxnSpPr>
            <p:nvPr/>
          </p:nvCxnSpPr>
          <p:spPr>
            <a:xfrm>
              <a:off x="4929873" y="2049563"/>
              <a:ext cx="1" cy="29294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CC051548-547E-BC10-A61E-E37D96AA8017}"/>
                </a:ext>
              </a:extLst>
            </p:cNvPr>
            <p:cNvCxnSpPr>
              <a:cxnSpLocks/>
              <a:stCxn id="7" idx="2"/>
              <a:endCxn id="11" idx="0"/>
            </p:cNvCxnSpPr>
            <p:nvPr/>
          </p:nvCxnSpPr>
          <p:spPr>
            <a:xfrm flipH="1">
              <a:off x="4929873" y="2584799"/>
              <a:ext cx="1" cy="2662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936CDA08-68AA-F12C-B2E2-9E1CB959BB5D}"/>
                </a:ext>
              </a:extLst>
            </p:cNvPr>
            <p:cNvCxnSpPr>
              <a:cxnSpLocks/>
              <a:stCxn id="11" idx="2"/>
              <a:endCxn id="12" idx="0"/>
            </p:cNvCxnSpPr>
            <p:nvPr/>
          </p:nvCxnSpPr>
          <p:spPr>
            <a:xfrm>
              <a:off x="4929873" y="3093292"/>
              <a:ext cx="1" cy="2623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화살표 연결선 34">
              <a:extLst>
                <a:ext uri="{FF2B5EF4-FFF2-40B4-BE49-F238E27FC236}">
                  <a16:creationId xmlns:a16="http://schemas.microsoft.com/office/drawing/2014/main" id="{C95233AA-EB65-5653-9EAC-86DB8C6D3950}"/>
                </a:ext>
              </a:extLst>
            </p:cNvPr>
            <p:cNvCxnSpPr>
              <a:cxnSpLocks/>
              <a:stCxn id="12" idx="2"/>
              <a:endCxn id="13" idx="0"/>
            </p:cNvCxnSpPr>
            <p:nvPr/>
          </p:nvCxnSpPr>
          <p:spPr>
            <a:xfrm>
              <a:off x="4929874" y="3597912"/>
              <a:ext cx="0" cy="3472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BD4027F9-528A-40A9-35BF-69A106885E1B}"/>
                </a:ext>
              </a:extLst>
            </p:cNvPr>
            <p:cNvCxnSpPr>
              <a:cxnSpLocks/>
              <a:stCxn id="13" idx="2"/>
              <a:endCxn id="14" idx="0"/>
            </p:cNvCxnSpPr>
            <p:nvPr/>
          </p:nvCxnSpPr>
          <p:spPr>
            <a:xfrm>
              <a:off x="4929874" y="4187466"/>
              <a:ext cx="0" cy="2985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754037A1-EB21-2AC7-8BCE-AFD189B4E9E0}"/>
                </a:ext>
              </a:extLst>
            </p:cNvPr>
            <p:cNvCxnSpPr>
              <a:cxnSpLocks/>
              <a:stCxn id="14" idx="2"/>
              <a:endCxn id="20" idx="0"/>
            </p:cNvCxnSpPr>
            <p:nvPr/>
          </p:nvCxnSpPr>
          <p:spPr>
            <a:xfrm flipH="1">
              <a:off x="4929873" y="4728298"/>
              <a:ext cx="1" cy="2334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7094C8C1-9036-C6E2-F3F0-29A0B8B83541}"/>
              </a:ext>
            </a:extLst>
          </p:cNvPr>
          <p:cNvSpPr/>
          <p:nvPr/>
        </p:nvSpPr>
        <p:spPr bwMode="auto">
          <a:xfrm>
            <a:off x="478173" y="2431399"/>
            <a:ext cx="3299942" cy="625766"/>
          </a:xfrm>
          <a:prstGeom prst="rect">
            <a:avLst/>
          </a:prstGeom>
          <a:solidFill>
            <a:srgbClr val="FFC000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Trim Table Extraction </a:t>
            </a:r>
          </a:p>
          <a:p>
            <a:pPr algn="ctr"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초기에만 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Sample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별 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LSB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측정을 위해 시행필요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lang="ko-KR" altLang="en-US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650F9AC-E83A-D1A0-6D88-0F27FB70902D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3778115" y="2401645"/>
            <a:ext cx="1695585" cy="342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B892466-66C1-F237-425A-6EE6F8194621}"/>
              </a:ext>
            </a:extLst>
          </p:cNvPr>
          <p:cNvCxnSpPr>
            <a:stCxn id="47" idx="3"/>
          </p:cNvCxnSpPr>
          <p:nvPr/>
        </p:nvCxnSpPr>
        <p:spPr>
          <a:xfrm>
            <a:off x="3778115" y="2744282"/>
            <a:ext cx="1790835" cy="1017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634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FF9F7-DDD0-576F-4A21-1B96CC633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011A538-EB4C-8C68-F6DB-CBA6C438C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762072"/>
              </p:ext>
            </p:extLst>
          </p:nvPr>
        </p:nvGraphicFramePr>
        <p:xfrm>
          <a:off x="177167" y="1562500"/>
          <a:ext cx="9513703" cy="3364989"/>
        </p:xfrm>
        <a:graphic>
          <a:graphicData uri="http://schemas.openxmlformats.org/drawingml/2006/table">
            <a:tbl>
              <a:tblPr/>
              <a:tblGrid>
                <a:gridCol w="519980">
                  <a:extLst>
                    <a:ext uri="{9D8B030D-6E8A-4147-A177-3AD203B41FA5}">
                      <a16:colId xmlns:a16="http://schemas.microsoft.com/office/drawing/2014/main" val="3351243397"/>
                    </a:ext>
                  </a:extLst>
                </a:gridCol>
                <a:gridCol w="1829555">
                  <a:extLst>
                    <a:ext uri="{9D8B030D-6E8A-4147-A177-3AD203B41FA5}">
                      <a16:colId xmlns:a16="http://schemas.microsoft.com/office/drawing/2014/main" val="3580420577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15067267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7679458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38886558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04535401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34796741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826256144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003305898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69153827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885300622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8683575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413523613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76119036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26704610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54279285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736351818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15996046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58622946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401624855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67033059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646745290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852978312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32512472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87485880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7094221"/>
                    </a:ext>
                  </a:extLst>
                </a:gridCol>
              </a:tblGrid>
              <a:tr h="1907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Measure point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Sweep point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64059"/>
                  </a:ext>
                </a:extLst>
              </a:tr>
              <a:tr h="199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801229"/>
                  </a:ext>
                </a:extLst>
              </a:tr>
              <a:tr h="199368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MODE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Pin Number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202416"/>
                  </a:ext>
                </a:extLst>
              </a:tr>
              <a:tr h="2860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Pin Name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EN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VDD5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AGND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CANH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CANL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GND_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SIO_P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SIO_N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TM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RFREQ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VBCK_IO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BOOT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PGND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025583"/>
                  </a:ext>
                </a:extLst>
              </a:tr>
              <a:tr h="190700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ATB_1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Before Trim #0 : ATB_Buffer offest check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Measure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851039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#1 : BGR ZTC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029970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#2 : IREF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497480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#3 : VREF1P2V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258423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#4 : IPTAT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214314"/>
                  </a:ext>
                </a:extLst>
              </a:tr>
              <a:tr h="190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ATB_2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#5 : 1P5VLDO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828510"/>
                  </a:ext>
                </a:extLst>
              </a:tr>
              <a:tr h="1907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DTB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#6 : LP_OSC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787670"/>
                  </a:ext>
                </a:extLst>
              </a:tr>
              <a:tr h="1993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#7 : 32M_OSC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26994"/>
                  </a:ext>
                </a:extLst>
              </a:tr>
              <a:tr h="190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I2C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#1 : Current consumption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12V(I Meas.)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883632"/>
                  </a:ext>
                </a:extLst>
              </a:tr>
              <a:tr h="19070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DTB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#2: Over-Voltage monitoring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004591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#3: Enable Input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325344"/>
                  </a:ext>
                </a:extLst>
              </a:tr>
              <a:tr h="3831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#4: VDD5 LDO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Sweep&amp;</a:t>
                      </a:r>
                      <a:b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93442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EF668A-7B75-C4C4-F904-BC11AFB1DE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#0. ATB1_BUFFER offset check Pin condition</a:t>
            </a:r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EDA7F59-E81D-205E-7CD2-179547A2D96A}"/>
              </a:ext>
            </a:extLst>
          </p:cNvPr>
          <p:cNvSpPr/>
          <p:nvPr/>
        </p:nvSpPr>
        <p:spPr bwMode="auto">
          <a:xfrm>
            <a:off x="704088" y="2432304"/>
            <a:ext cx="8970264" cy="20116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320B9EF-490A-541B-1700-3D27D60E252C}"/>
              </a:ext>
            </a:extLst>
          </p:cNvPr>
          <p:cNvSpPr/>
          <p:nvPr/>
        </p:nvSpPr>
        <p:spPr bwMode="auto">
          <a:xfrm>
            <a:off x="704088" y="2633472"/>
            <a:ext cx="8970264" cy="2300478"/>
          </a:xfrm>
          <a:prstGeom prst="rect">
            <a:avLst/>
          </a:prstGeom>
          <a:solidFill>
            <a:schemeClr val="bg2">
              <a:lumMod val="60000"/>
              <a:lumOff val="40000"/>
              <a:alpha val="4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9076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8E084-105E-2205-F71C-8E1ED1DA7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>
            <a:extLst>
              <a:ext uri="{FF2B5EF4-FFF2-40B4-BE49-F238E27FC236}">
                <a16:creationId xmlns:a16="http://schemas.microsoft.com/office/drawing/2014/main" id="{60B638C4-5D2C-763F-6C59-A1348048BCDB}"/>
              </a:ext>
            </a:extLst>
          </p:cNvPr>
          <p:cNvSpPr/>
          <p:nvPr/>
        </p:nvSpPr>
        <p:spPr bwMode="auto">
          <a:xfrm>
            <a:off x="3582040" y="849276"/>
            <a:ext cx="2736304" cy="1882092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 w="6350">
            <a:solidFill>
              <a:schemeClr val="bg2">
                <a:lumMod val="20000"/>
                <a:lumOff val="80000"/>
              </a:schemeClr>
            </a:solidFill>
            <a:prstDash val="lg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ATB_1 MODE </a:t>
            </a:r>
          </a:p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Entry Sequence </a:t>
            </a:r>
            <a:endParaRPr lang="ko-KR" altLang="en-US" sz="140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ABA47A-7AFF-A837-ED58-6248B073EC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#0. ATB1_BUFFER offset check</a:t>
            </a:r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5B2A76-0A17-B2E5-CB56-D5FDC324523E}"/>
              </a:ext>
            </a:extLst>
          </p:cNvPr>
          <p:cNvSpPr/>
          <p:nvPr/>
        </p:nvSpPr>
        <p:spPr bwMode="auto">
          <a:xfrm>
            <a:off x="3582040" y="2959944"/>
            <a:ext cx="2736304" cy="604405"/>
          </a:xfrm>
          <a:prstGeom prst="rect">
            <a:avLst/>
          </a:prstGeom>
          <a:solidFill>
            <a:srgbClr val="F8F8F8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&lt;VREF Monitor&gt;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0xE0 : 0x008 (TM_ATB_BIAS_EN)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0xE0 : 0x00b (VREF_1p2v select)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BCCC8DA-5C7C-5CBB-4719-6DCAE50DAD93}"/>
              </a:ext>
            </a:extLst>
          </p:cNvPr>
          <p:cNvSpPr/>
          <p:nvPr/>
        </p:nvSpPr>
        <p:spPr bwMode="auto">
          <a:xfrm>
            <a:off x="3582040" y="3764648"/>
            <a:ext cx="2736304" cy="657226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①GPIO1 pin Voltage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측정 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(VREF_1p2v w/o Buffer offset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출력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lang="ko-KR" altLang="en-US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D183A8D1-EAB5-DC79-0EF2-AD1C08A32127}"/>
              </a:ext>
            </a:extLst>
          </p:cNvPr>
          <p:cNvCxnSpPr>
            <a:cxnSpLocks/>
            <a:stCxn id="38" idx="2"/>
            <a:endCxn id="5" idx="0"/>
          </p:cNvCxnSpPr>
          <p:nvPr/>
        </p:nvCxnSpPr>
        <p:spPr>
          <a:xfrm>
            <a:off x="4950192" y="2731368"/>
            <a:ext cx="0" cy="228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2F94F6F-7218-E0F9-79F4-3C02E7DC39E8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4950192" y="3564349"/>
            <a:ext cx="0" cy="2002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468C6F9-6B1C-7DFF-84D7-F3B00CC3AECE}"/>
              </a:ext>
            </a:extLst>
          </p:cNvPr>
          <p:cNvSpPr/>
          <p:nvPr/>
        </p:nvSpPr>
        <p:spPr bwMode="auto">
          <a:xfrm>
            <a:off x="3582040" y="4628745"/>
            <a:ext cx="2736304" cy="530328"/>
          </a:xfrm>
          <a:prstGeom prst="rect">
            <a:avLst/>
          </a:prstGeom>
          <a:solidFill>
            <a:srgbClr val="F8F8F8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&lt;ATB1_BUFFER ON&gt;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0xE7 : 0x00c (TM_ATB1_BUF_EN Enable)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A617BE0-D1D4-5C14-20E9-90142375BE2E}"/>
              </a:ext>
            </a:extLst>
          </p:cNvPr>
          <p:cNvSpPr/>
          <p:nvPr/>
        </p:nvSpPr>
        <p:spPr bwMode="auto">
          <a:xfrm>
            <a:off x="3582040" y="5370858"/>
            <a:ext cx="2736304" cy="657226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②GPIO1 pin Voltage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측정 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(VREF_1p2v w/ Buffer offset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출력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lang="ko-KR" altLang="en-US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565BC4F-AF31-2383-35A1-4C2904B82596}"/>
              </a:ext>
            </a:extLst>
          </p:cNvPr>
          <p:cNvCxnSpPr>
            <a:cxnSpLocks/>
          </p:cNvCxnSpPr>
          <p:nvPr/>
        </p:nvCxnSpPr>
        <p:spPr>
          <a:xfrm>
            <a:off x="4950192" y="5159073"/>
            <a:ext cx="0" cy="2117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41D3F12-25D2-96DE-7C2F-4F7E63220907}"/>
              </a:ext>
            </a:extLst>
          </p:cNvPr>
          <p:cNvCxnSpPr>
            <a:cxnSpLocks/>
          </p:cNvCxnSpPr>
          <p:nvPr/>
        </p:nvCxnSpPr>
        <p:spPr>
          <a:xfrm>
            <a:off x="4950192" y="4425219"/>
            <a:ext cx="0" cy="203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FCEA93E-02FB-8D0D-8664-673C0B0395AC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6318344" y="5699471"/>
            <a:ext cx="4671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85B4052-B1DA-DD8A-3AEC-A675F36432A5}"/>
              </a:ext>
            </a:extLst>
          </p:cNvPr>
          <p:cNvSpPr/>
          <p:nvPr/>
        </p:nvSpPr>
        <p:spPr bwMode="auto">
          <a:xfrm>
            <a:off x="6785473" y="5370858"/>
            <a:ext cx="2310901" cy="657226"/>
          </a:xfrm>
          <a:prstGeom prst="rect">
            <a:avLst/>
          </a:prstGeom>
          <a:solidFill>
            <a:srgbClr val="FFFFCC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ATB1_Buffer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offset = ② - ①</a:t>
            </a:r>
          </a:p>
          <a:p>
            <a:pPr algn="ctr"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00FF00"/>
                </a:highlight>
                <a:latin typeface="현대하모니 M" panose="02020603020101020101" pitchFamily="18" charset="-127"/>
                <a:ea typeface="현대하모니 M" panose="02020603020101020101" pitchFamily="18" charset="-127"/>
              </a:rPr>
              <a:t>=ATB_OFST1</a:t>
            </a:r>
            <a:endParaRPr lang="ko-KR" altLang="en-US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highlight>
                <a:srgbClr val="00FF00"/>
              </a:highlight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6804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75870-A043-2600-C9AA-1C8C9E5D8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CAC30D45-A892-B2E3-802A-89B30789C1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002376"/>
              </p:ext>
            </p:extLst>
          </p:nvPr>
        </p:nvGraphicFramePr>
        <p:xfrm>
          <a:off x="177167" y="1562500"/>
          <a:ext cx="9513703" cy="3364989"/>
        </p:xfrm>
        <a:graphic>
          <a:graphicData uri="http://schemas.openxmlformats.org/drawingml/2006/table">
            <a:tbl>
              <a:tblPr/>
              <a:tblGrid>
                <a:gridCol w="519980">
                  <a:extLst>
                    <a:ext uri="{9D8B030D-6E8A-4147-A177-3AD203B41FA5}">
                      <a16:colId xmlns:a16="http://schemas.microsoft.com/office/drawing/2014/main" val="3351243397"/>
                    </a:ext>
                  </a:extLst>
                </a:gridCol>
                <a:gridCol w="1829555">
                  <a:extLst>
                    <a:ext uri="{9D8B030D-6E8A-4147-A177-3AD203B41FA5}">
                      <a16:colId xmlns:a16="http://schemas.microsoft.com/office/drawing/2014/main" val="3580420577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15067267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7679458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38886558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04535401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34796741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826256144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003305898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69153827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885300622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8683575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413523613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76119036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26704610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54279285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736351818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15996046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58622946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401624855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67033059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646745290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852978312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32512472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87485880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7094221"/>
                    </a:ext>
                  </a:extLst>
                </a:gridCol>
              </a:tblGrid>
              <a:tr h="1907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Measure point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Sweep point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64059"/>
                  </a:ext>
                </a:extLst>
              </a:tr>
              <a:tr h="199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801229"/>
                  </a:ext>
                </a:extLst>
              </a:tr>
              <a:tr h="199368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MODE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Pin Number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202416"/>
                  </a:ext>
                </a:extLst>
              </a:tr>
              <a:tr h="2860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Pin Name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EN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VDD5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AGND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CANH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CANL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GND_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SIO_P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SIO_N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TM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RFREQ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VBCK_IO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BOOT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PGND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025583"/>
                  </a:ext>
                </a:extLst>
              </a:tr>
              <a:tr h="190700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ATB_1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Before Trim #0 : ATB_Buffer offest check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Measure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851039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#1 : BGR ZTC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029970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#2 : IREF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497480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#3 : VREF1P2V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258423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#4 : IPTAT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214314"/>
                  </a:ext>
                </a:extLst>
              </a:tr>
              <a:tr h="190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ATB_2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#5 : 1P5VLDO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828510"/>
                  </a:ext>
                </a:extLst>
              </a:tr>
              <a:tr h="1907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DTB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#6 : LP_OSC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787670"/>
                  </a:ext>
                </a:extLst>
              </a:tr>
              <a:tr h="1993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#7 : 32M_OSC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26994"/>
                  </a:ext>
                </a:extLst>
              </a:tr>
              <a:tr h="190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I2C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#1 : Current consumption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12V(I Meas.)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883632"/>
                  </a:ext>
                </a:extLst>
              </a:tr>
              <a:tr h="19070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DTB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#2: Over-Voltage monitoring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004591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#3: Enable Input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325344"/>
                  </a:ext>
                </a:extLst>
              </a:tr>
              <a:tr h="3831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#4: VDD5 LDO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Sweep&amp;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93442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877CFCD-2E92-E0B9-C09B-78DC256293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#1. BGR Trim Pin Condition</a:t>
            </a:r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1208B2F-3003-D040-C424-A758F8BD7C03}"/>
              </a:ext>
            </a:extLst>
          </p:cNvPr>
          <p:cNvSpPr/>
          <p:nvPr/>
        </p:nvSpPr>
        <p:spPr bwMode="auto">
          <a:xfrm>
            <a:off x="704088" y="2603754"/>
            <a:ext cx="8970264" cy="24104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B8FEFFB-E49D-F4DA-1F19-5BAA958BC1C9}"/>
              </a:ext>
            </a:extLst>
          </p:cNvPr>
          <p:cNvSpPr/>
          <p:nvPr/>
        </p:nvSpPr>
        <p:spPr bwMode="auto">
          <a:xfrm>
            <a:off x="704088" y="2844800"/>
            <a:ext cx="8970264" cy="2089150"/>
          </a:xfrm>
          <a:prstGeom prst="rect">
            <a:avLst/>
          </a:prstGeom>
          <a:solidFill>
            <a:schemeClr val="bg2">
              <a:lumMod val="60000"/>
              <a:lumOff val="40000"/>
              <a:alpha val="4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37F595-01A1-7E4C-E3E9-525B42D1EDE8}"/>
              </a:ext>
            </a:extLst>
          </p:cNvPr>
          <p:cNvSpPr/>
          <p:nvPr/>
        </p:nvSpPr>
        <p:spPr bwMode="auto">
          <a:xfrm>
            <a:off x="704088" y="2419350"/>
            <a:ext cx="8970264" cy="184404"/>
          </a:xfrm>
          <a:prstGeom prst="rect">
            <a:avLst/>
          </a:prstGeom>
          <a:solidFill>
            <a:schemeClr val="bg2">
              <a:lumMod val="60000"/>
              <a:lumOff val="40000"/>
              <a:alpha val="4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67680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49F5A-E806-6C59-3981-E2E8257F2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936B1F-0086-ECF1-733A-D0859EC5365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#1. BGR Trim (ZTC Trim)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D123947-0DCE-134A-E4E8-F8220E87EFEB}"/>
              </a:ext>
            </a:extLst>
          </p:cNvPr>
          <p:cNvSpPr/>
          <p:nvPr/>
        </p:nvSpPr>
        <p:spPr bwMode="auto">
          <a:xfrm>
            <a:off x="3573135" y="2907631"/>
            <a:ext cx="2736304" cy="1020322"/>
          </a:xfrm>
          <a:prstGeom prst="rect">
            <a:avLst/>
          </a:prstGeom>
          <a:solidFill>
            <a:srgbClr val="F8F8F8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&lt;BGR Monitor&gt;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0xE0 : 0x008 (TM_ATB_BIAS_EN)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0xE0 : 0x009 (VBG_1p2_lvl select)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READ 0xF2 [4:0] (BGR 1.2vZTC Trim code)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2B9D04-FD28-3472-8C70-E2FDCA145EC8}"/>
              </a:ext>
            </a:extLst>
          </p:cNvPr>
          <p:cNvSpPr/>
          <p:nvPr/>
        </p:nvSpPr>
        <p:spPr bwMode="auto">
          <a:xfrm>
            <a:off x="3573135" y="4126681"/>
            <a:ext cx="2736304" cy="432000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GPIO1 pin Voltage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측정 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 VBG_pre0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(VBG_1p2v_lvl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출력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B9B882-A72B-BB10-7C65-901532D8E13E}"/>
              </a:ext>
            </a:extLst>
          </p:cNvPr>
          <p:cNvSpPr/>
          <p:nvPr/>
        </p:nvSpPr>
        <p:spPr bwMode="auto">
          <a:xfrm>
            <a:off x="2966234" y="5488238"/>
            <a:ext cx="3950107" cy="917635"/>
          </a:xfrm>
          <a:prstGeom prst="rect">
            <a:avLst/>
          </a:prstGeom>
          <a:solidFill>
            <a:srgbClr val="FFFFCC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&lt;BGR Trim 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실행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0xF2 : 0x000 ~ 0x01f (1.2V ZTC target / 1LSB: +/-4.5mV)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 : WRITE 0xF2 MID CODE (1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try target 1.2V)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nd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: WRITE 0xF2 FINE CODE (should be 1.2V +/-0.5LSB)</a:t>
            </a:r>
            <a:endParaRPr lang="en-US" altLang="ko-KR" sz="10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EF3565A-8141-FF60-EB34-379AF14B110F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4941287" y="3927953"/>
            <a:ext cx="0" cy="198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0BC13DB-4F45-31BE-D219-3A75CE12B587}"/>
              </a:ext>
            </a:extLst>
          </p:cNvPr>
          <p:cNvCxnSpPr>
            <a:cxnSpLocks/>
            <a:stCxn id="8" idx="2"/>
            <a:endCxn id="15" idx="0"/>
          </p:cNvCxnSpPr>
          <p:nvPr/>
        </p:nvCxnSpPr>
        <p:spPr>
          <a:xfrm>
            <a:off x="4941287" y="4558681"/>
            <a:ext cx="1" cy="198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2E40FA6E-9392-1DAC-C1F6-7E29F39276A1}"/>
              </a:ext>
            </a:extLst>
          </p:cNvPr>
          <p:cNvCxnSpPr>
            <a:cxnSpLocks/>
            <a:stCxn id="9" idx="3"/>
            <a:endCxn id="8" idx="3"/>
          </p:cNvCxnSpPr>
          <p:nvPr/>
        </p:nvCxnSpPr>
        <p:spPr>
          <a:xfrm flipH="1" flipV="1">
            <a:off x="6309439" y="4342681"/>
            <a:ext cx="606902" cy="1604375"/>
          </a:xfrm>
          <a:prstGeom prst="bentConnector3">
            <a:avLst>
              <a:gd name="adj1" fmla="val -37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8B4F519-1239-CFF8-D4B7-27CF3DE8561B}"/>
              </a:ext>
            </a:extLst>
          </p:cNvPr>
          <p:cNvSpPr/>
          <p:nvPr/>
        </p:nvSpPr>
        <p:spPr bwMode="auto">
          <a:xfrm>
            <a:off x="3573135" y="849276"/>
            <a:ext cx="2736304" cy="1130571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 w="6350">
            <a:solidFill>
              <a:schemeClr val="bg2">
                <a:lumMod val="20000"/>
                <a:lumOff val="80000"/>
              </a:schemeClr>
            </a:solidFill>
            <a:prstDash val="lg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ATB_1 MODE </a:t>
            </a:r>
          </a:p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Entry Sequence </a:t>
            </a:r>
            <a:endParaRPr lang="ko-KR" altLang="en-US" sz="140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33E696E-94F2-5422-7600-E4D2BA4FEABE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>
            <a:off x="4941287" y="2708903"/>
            <a:ext cx="0" cy="198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9089880-9B91-6AF7-6DB7-26929D8E5FD6}"/>
              </a:ext>
            </a:extLst>
          </p:cNvPr>
          <p:cNvSpPr/>
          <p:nvPr/>
        </p:nvSpPr>
        <p:spPr bwMode="auto">
          <a:xfrm>
            <a:off x="7077270" y="4739815"/>
            <a:ext cx="1933380" cy="432643"/>
          </a:xfrm>
          <a:prstGeom prst="rect">
            <a:avLst/>
          </a:prstGeom>
          <a:noFill/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 Double Trim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실행</a:t>
            </a:r>
            <a:endParaRPr lang="en-US" altLang="ko-KR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B0F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(2</a:t>
            </a:r>
            <a:r>
              <a:rPr lang="en-US" altLang="ko-KR" sz="12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nd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으로 이동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06E5C58-ACB3-38B6-484D-C2890EB053D6}"/>
              </a:ext>
            </a:extLst>
          </p:cNvPr>
          <p:cNvSpPr/>
          <p:nvPr/>
        </p:nvSpPr>
        <p:spPr bwMode="auto">
          <a:xfrm>
            <a:off x="3573135" y="2178575"/>
            <a:ext cx="2736304" cy="530328"/>
          </a:xfrm>
          <a:prstGeom prst="rect">
            <a:avLst/>
          </a:prstGeom>
          <a:solidFill>
            <a:srgbClr val="F8F8F8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&lt;ATB1_BUFFER ON&gt;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0xE7 : 0x00c (TM_ATB1_BUF_EN Enable)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AE52F9E9-3FEB-DCDA-2E35-E38235B40CD7}"/>
              </a:ext>
            </a:extLst>
          </p:cNvPr>
          <p:cNvCxnSpPr>
            <a:cxnSpLocks/>
            <a:stCxn id="19" idx="2"/>
            <a:endCxn id="11" idx="0"/>
          </p:cNvCxnSpPr>
          <p:nvPr/>
        </p:nvCxnSpPr>
        <p:spPr>
          <a:xfrm>
            <a:off x="4941287" y="1979847"/>
            <a:ext cx="0" cy="198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4D0F1F-9F09-0E8D-DC1C-1A3A980E0EB6}"/>
              </a:ext>
            </a:extLst>
          </p:cNvPr>
          <p:cNvSpPr/>
          <p:nvPr/>
        </p:nvSpPr>
        <p:spPr bwMode="auto">
          <a:xfrm>
            <a:off x="2966234" y="4757409"/>
            <a:ext cx="3950107" cy="532100"/>
          </a:xfrm>
          <a:prstGeom prst="rect">
            <a:avLst/>
          </a:prstGeom>
          <a:solidFill>
            <a:srgbClr val="FFFFCC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내부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 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전압 추정치 계산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VBG_pre0 –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00FF00"/>
                </a:highlight>
                <a:latin typeface="현대하모니 M" panose="02020603020101020101" pitchFamily="18" charset="-127"/>
                <a:ea typeface="현대하모니 M" panose="02020603020101020101" pitchFamily="18" charset="-127"/>
              </a:rPr>
              <a:t>ATB_OFST1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(Trim#0 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결과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 = VBG_pre1</a:t>
            </a: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0D083AB-0170-20F7-7F56-DBAA3C22F607}"/>
              </a:ext>
            </a:extLst>
          </p:cNvPr>
          <p:cNvCxnSpPr>
            <a:cxnSpLocks/>
            <a:stCxn id="15" idx="2"/>
            <a:endCxn id="9" idx="0"/>
          </p:cNvCxnSpPr>
          <p:nvPr/>
        </p:nvCxnSpPr>
        <p:spPr>
          <a:xfrm>
            <a:off x="4941288" y="5289509"/>
            <a:ext cx="0" cy="198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DFFF0AEE-43CF-9B94-41A1-722FFA0F7D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861879"/>
              </p:ext>
            </p:extLst>
          </p:nvPr>
        </p:nvGraphicFramePr>
        <p:xfrm>
          <a:off x="279774" y="850575"/>
          <a:ext cx="3022600" cy="3716655"/>
        </p:xfrm>
        <a:graphic>
          <a:graphicData uri="http://schemas.openxmlformats.org/drawingml/2006/table">
            <a:tbl>
              <a:tblPr/>
              <a:tblGrid>
                <a:gridCol w="826938">
                  <a:extLst>
                    <a:ext uri="{9D8B030D-6E8A-4147-A177-3AD203B41FA5}">
                      <a16:colId xmlns:a16="http://schemas.microsoft.com/office/drawing/2014/main" val="2155103578"/>
                    </a:ext>
                  </a:extLst>
                </a:gridCol>
                <a:gridCol w="684362">
                  <a:extLst>
                    <a:ext uri="{9D8B030D-6E8A-4147-A177-3AD203B41FA5}">
                      <a16:colId xmlns:a16="http://schemas.microsoft.com/office/drawing/2014/main" val="5825419"/>
                    </a:ext>
                  </a:extLst>
                </a:gridCol>
                <a:gridCol w="826938">
                  <a:extLst>
                    <a:ext uri="{9D8B030D-6E8A-4147-A177-3AD203B41FA5}">
                      <a16:colId xmlns:a16="http://schemas.microsoft.com/office/drawing/2014/main" val="2369782673"/>
                    </a:ext>
                  </a:extLst>
                </a:gridCol>
                <a:gridCol w="684362">
                  <a:extLst>
                    <a:ext uri="{9D8B030D-6E8A-4147-A177-3AD203B41FA5}">
                      <a16:colId xmlns:a16="http://schemas.microsoft.com/office/drawing/2014/main" val="703948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0xF2 [4:0]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TRIM_BG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RESULT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0xF2 [4:0]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TRIM_BG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RESULT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3175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50629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1.196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1.266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696158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1.191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63321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1.187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1.257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95905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1.183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4021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10989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018991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1.169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86926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1.165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30184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1.161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54845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1.156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778151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1.152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06412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1.148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1.218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98736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502972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1.209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0028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1.134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1.205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48428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1696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5F769-33AD-9166-9E4F-B16500152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C7BEBE0-C24D-9B4E-2602-45D5A3D95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806883"/>
              </p:ext>
            </p:extLst>
          </p:nvPr>
        </p:nvGraphicFramePr>
        <p:xfrm>
          <a:off x="177167" y="1562500"/>
          <a:ext cx="9513703" cy="3364989"/>
        </p:xfrm>
        <a:graphic>
          <a:graphicData uri="http://schemas.openxmlformats.org/drawingml/2006/table">
            <a:tbl>
              <a:tblPr/>
              <a:tblGrid>
                <a:gridCol w="519980">
                  <a:extLst>
                    <a:ext uri="{9D8B030D-6E8A-4147-A177-3AD203B41FA5}">
                      <a16:colId xmlns:a16="http://schemas.microsoft.com/office/drawing/2014/main" val="3351243397"/>
                    </a:ext>
                  </a:extLst>
                </a:gridCol>
                <a:gridCol w="1829555">
                  <a:extLst>
                    <a:ext uri="{9D8B030D-6E8A-4147-A177-3AD203B41FA5}">
                      <a16:colId xmlns:a16="http://schemas.microsoft.com/office/drawing/2014/main" val="3580420577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15067267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7679458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38886558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04535401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34796741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826256144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003305898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69153827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885300622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8683575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413523613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76119036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26704610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54279285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736351818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15996046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58622946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401624855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67033059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646745290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852978312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32512472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87485880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7094221"/>
                    </a:ext>
                  </a:extLst>
                </a:gridCol>
              </a:tblGrid>
              <a:tr h="1907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Measure point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Sweep point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64059"/>
                  </a:ext>
                </a:extLst>
              </a:tr>
              <a:tr h="199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801229"/>
                  </a:ext>
                </a:extLst>
              </a:tr>
              <a:tr h="199368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MODE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Pin Number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202416"/>
                  </a:ext>
                </a:extLst>
              </a:tr>
              <a:tr h="2860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Pin Name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EN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VDD5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AGND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CANH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CANL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GND_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SIO_P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SIO_N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TM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RFREQ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VBCK_IO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BOOT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PGND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025583"/>
                  </a:ext>
                </a:extLst>
              </a:tr>
              <a:tr h="190700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ATB_1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Before Trim #0 : ATB_Buffer offest check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Measure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851039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#1 : BGR ZTC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029970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#2 : IREF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497480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#3 : VREF1P2V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258423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#4 : IPTAT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214314"/>
                  </a:ext>
                </a:extLst>
              </a:tr>
              <a:tr h="190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ATB_2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#5 : 1P5VLDO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828510"/>
                  </a:ext>
                </a:extLst>
              </a:tr>
              <a:tr h="1907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DTB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#6 : LP_OSC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787670"/>
                  </a:ext>
                </a:extLst>
              </a:tr>
              <a:tr h="1993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#7 : 32M_OSC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26994"/>
                  </a:ext>
                </a:extLst>
              </a:tr>
              <a:tr h="190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I2C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#1 : Current consumption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12V(I Meas.)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883632"/>
                  </a:ext>
                </a:extLst>
              </a:tr>
              <a:tr h="19070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DTB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#2: Over-Voltage monitoring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004591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#3: Enable Input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325344"/>
                  </a:ext>
                </a:extLst>
              </a:tr>
              <a:tr h="3831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#4: VDD5 LDO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Sweep&amp;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93442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0AFCCE-79E9-D688-E3EF-2AC13B0AFD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#2. IREF Trim Pin Condition</a:t>
            </a:r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6215192-BCD1-A1F4-CF3C-B116CA93DBC9}"/>
              </a:ext>
            </a:extLst>
          </p:cNvPr>
          <p:cNvSpPr/>
          <p:nvPr/>
        </p:nvSpPr>
        <p:spPr bwMode="auto">
          <a:xfrm>
            <a:off x="704088" y="2810510"/>
            <a:ext cx="8970264" cy="20116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261E8A-5604-003D-1635-5E1A0603B19C}"/>
              </a:ext>
            </a:extLst>
          </p:cNvPr>
          <p:cNvSpPr/>
          <p:nvPr/>
        </p:nvSpPr>
        <p:spPr bwMode="auto">
          <a:xfrm>
            <a:off x="704088" y="3011678"/>
            <a:ext cx="8970264" cy="1922272"/>
          </a:xfrm>
          <a:prstGeom prst="rect">
            <a:avLst/>
          </a:prstGeom>
          <a:solidFill>
            <a:schemeClr val="bg2">
              <a:lumMod val="60000"/>
              <a:lumOff val="40000"/>
              <a:alpha val="4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8EA0718-D4C2-53AA-2496-E531D1956B82}"/>
              </a:ext>
            </a:extLst>
          </p:cNvPr>
          <p:cNvSpPr/>
          <p:nvPr/>
        </p:nvSpPr>
        <p:spPr bwMode="auto">
          <a:xfrm>
            <a:off x="704088" y="2442973"/>
            <a:ext cx="8970264" cy="367538"/>
          </a:xfrm>
          <a:prstGeom prst="rect">
            <a:avLst/>
          </a:prstGeom>
          <a:solidFill>
            <a:schemeClr val="bg2">
              <a:lumMod val="60000"/>
              <a:lumOff val="40000"/>
              <a:alpha val="4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8940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75DB8-BD3F-0C8D-D297-654A187C4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DF8372C7-3977-52B2-56B6-B46977A70EF0}"/>
              </a:ext>
            </a:extLst>
          </p:cNvPr>
          <p:cNvSpPr/>
          <p:nvPr/>
        </p:nvSpPr>
        <p:spPr bwMode="auto">
          <a:xfrm>
            <a:off x="3582040" y="849276"/>
            <a:ext cx="2736304" cy="1882092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 w="6350">
            <a:solidFill>
              <a:schemeClr val="bg2">
                <a:lumMod val="20000"/>
                <a:lumOff val="80000"/>
              </a:schemeClr>
            </a:solidFill>
            <a:prstDash val="lg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ATB_1 MODE </a:t>
            </a:r>
          </a:p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Entry Sequence </a:t>
            </a:r>
            <a:endParaRPr lang="ko-KR" altLang="en-US" sz="140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D05CC5-948E-E913-A8E4-6F8DEA2952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#2. IREF Trim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6A85880-A839-7B85-6799-08D9BA60DB17}"/>
              </a:ext>
            </a:extLst>
          </p:cNvPr>
          <p:cNvSpPr/>
          <p:nvPr/>
        </p:nvSpPr>
        <p:spPr bwMode="auto">
          <a:xfrm>
            <a:off x="3587252" y="2959944"/>
            <a:ext cx="2736304" cy="860751"/>
          </a:xfrm>
          <a:prstGeom prst="rect">
            <a:avLst/>
          </a:prstGeom>
          <a:solidFill>
            <a:srgbClr val="F8F8F8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&lt;IREF Monitor&gt;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0xE0 : 0x008 (TM_ATB_BIAS_EN)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0xE0 : 0x00a (IREF_TEST_3uA select)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READ 0xF3 [7:4] (IREF Trim code)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6F68B43-F066-9FFF-5252-88D09274BD85}"/>
              </a:ext>
            </a:extLst>
          </p:cNvPr>
          <p:cNvSpPr/>
          <p:nvPr/>
        </p:nvSpPr>
        <p:spPr bwMode="auto">
          <a:xfrm>
            <a:off x="3587252" y="4081003"/>
            <a:ext cx="2736304" cy="432000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GPIO1 pin Current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측정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( 2V BIAS)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(IREF_TEST_3uA sink)</a:t>
            </a:r>
            <a:endParaRPr lang="ko-KR" altLang="en-US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EEC5D19-3B4D-E90F-B22A-5B89C3AFF063}"/>
              </a:ext>
            </a:extLst>
          </p:cNvPr>
          <p:cNvSpPr/>
          <p:nvPr/>
        </p:nvSpPr>
        <p:spPr bwMode="auto">
          <a:xfrm>
            <a:off x="2977946" y="4915563"/>
            <a:ext cx="3950107" cy="1093161"/>
          </a:xfrm>
          <a:prstGeom prst="rect">
            <a:avLst/>
          </a:prstGeom>
          <a:solidFill>
            <a:srgbClr val="FFFFCC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&lt;IREF Trim 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실행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0xF3 : 0x000 ~ 0x0f0 (3uA target / 1LSB: +/-120nA)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 : WRITE 0xF3 MID CODE (1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try target 3uA)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nd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: WRITE 0xF3 FINE CODE (should be 3uA +/-0.5LSB)</a:t>
            </a:r>
            <a:endParaRPr lang="en-US" altLang="ko-KR" sz="10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157101C-7017-B2FE-7262-33703603B089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4955404" y="3820695"/>
            <a:ext cx="0" cy="260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7453932-1D64-473B-BC6F-7A3D17CC9735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4953000" y="4513003"/>
            <a:ext cx="2404" cy="402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01E77099-86AB-3657-FAD2-A2DEE8F81C58}"/>
              </a:ext>
            </a:extLst>
          </p:cNvPr>
          <p:cNvCxnSpPr>
            <a:cxnSpLocks/>
            <a:stCxn id="9" idx="3"/>
            <a:endCxn id="8" idx="3"/>
          </p:cNvCxnSpPr>
          <p:nvPr/>
        </p:nvCxnSpPr>
        <p:spPr>
          <a:xfrm flipH="1" flipV="1">
            <a:off x="6323556" y="4297003"/>
            <a:ext cx="604497" cy="1165141"/>
          </a:xfrm>
          <a:prstGeom prst="bentConnector3">
            <a:avLst>
              <a:gd name="adj1" fmla="val -3781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B993E03D-1935-82EF-44E0-4E748F19529E}"/>
              </a:ext>
            </a:extLst>
          </p:cNvPr>
          <p:cNvCxnSpPr>
            <a:cxnSpLocks/>
            <a:stCxn id="14" idx="2"/>
          </p:cNvCxnSpPr>
          <p:nvPr/>
        </p:nvCxnSpPr>
        <p:spPr>
          <a:xfrm>
            <a:off x="4950192" y="2731368"/>
            <a:ext cx="0" cy="228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2570E3F-4BA2-2B62-7D08-240A16A6F029}"/>
              </a:ext>
            </a:extLst>
          </p:cNvPr>
          <p:cNvSpPr/>
          <p:nvPr/>
        </p:nvSpPr>
        <p:spPr bwMode="auto">
          <a:xfrm>
            <a:off x="7105845" y="4663251"/>
            <a:ext cx="1933380" cy="432643"/>
          </a:xfrm>
          <a:prstGeom prst="rect">
            <a:avLst/>
          </a:prstGeom>
          <a:noFill/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IREF Double Trim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실행</a:t>
            </a:r>
            <a:endParaRPr lang="en-US" altLang="ko-KR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B0F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(2</a:t>
            </a:r>
            <a:r>
              <a:rPr lang="en-US" altLang="ko-KR" sz="12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nd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으로 이동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C1FD685-BEF1-CCEC-FF44-79387D636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77098"/>
              </p:ext>
            </p:extLst>
          </p:nvPr>
        </p:nvGraphicFramePr>
        <p:xfrm>
          <a:off x="279774" y="849276"/>
          <a:ext cx="1701800" cy="3707130"/>
        </p:xfrm>
        <a:graphic>
          <a:graphicData uri="http://schemas.openxmlformats.org/drawingml/2006/table">
            <a:tbl>
              <a:tblPr/>
              <a:tblGrid>
                <a:gridCol w="908946">
                  <a:extLst>
                    <a:ext uri="{9D8B030D-6E8A-4147-A177-3AD203B41FA5}">
                      <a16:colId xmlns:a16="http://schemas.microsoft.com/office/drawing/2014/main" val="4155962185"/>
                    </a:ext>
                  </a:extLst>
                </a:gridCol>
                <a:gridCol w="792854">
                  <a:extLst>
                    <a:ext uri="{9D8B030D-6E8A-4147-A177-3AD203B41FA5}">
                      <a16:colId xmlns:a16="http://schemas.microsoft.com/office/drawing/2014/main" val="18768252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0xF3 [7:4]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TRIM_IREF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RESULT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29747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75989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3.12u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69652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3.25u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19713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3.39u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02921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3.55u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0235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3.72u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186626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3.91u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35903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4.12u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713878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2.29u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263449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2.36u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754996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2.43u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24565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2.51u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67934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2.59u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86853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2.68u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48647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2.78u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59091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2.88u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776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9317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F6608-E378-49A8-A28F-FAC4B1BAE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B51C4D7-3265-85AA-B185-F811623B59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841121"/>
              </p:ext>
            </p:extLst>
          </p:nvPr>
        </p:nvGraphicFramePr>
        <p:xfrm>
          <a:off x="177167" y="1562500"/>
          <a:ext cx="9513703" cy="3364989"/>
        </p:xfrm>
        <a:graphic>
          <a:graphicData uri="http://schemas.openxmlformats.org/drawingml/2006/table">
            <a:tbl>
              <a:tblPr/>
              <a:tblGrid>
                <a:gridCol w="519980">
                  <a:extLst>
                    <a:ext uri="{9D8B030D-6E8A-4147-A177-3AD203B41FA5}">
                      <a16:colId xmlns:a16="http://schemas.microsoft.com/office/drawing/2014/main" val="3351243397"/>
                    </a:ext>
                  </a:extLst>
                </a:gridCol>
                <a:gridCol w="1829555">
                  <a:extLst>
                    <a:ext uri="{9D8B030D-6E8A-4147-A177-3AD203B41FA5}">
                      <a16:colId xmlns:a16="http://schemas.microsoft.com/office/drawing/2014/main" val="3580420577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15067267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7679458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38886558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04535401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34796741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826256144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003305898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69153827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885300622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8683575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413523613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76119036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26704610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54279285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736351818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15996046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58622946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401624855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67033059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646745290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852978312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32512472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87485880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7094221"/>
                    </a:ext>
                  </a:extLst>
                </a:gridCol>
              </a:tblGrid>
              <a:tr h="1907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Measure point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Sweep point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64059"/>
                  </a:ext>
                </a:extLst>
              </a:tr>
              <a:tr h="199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801229"/>
                  </a:ext>
                </a:extLst>
              </a:tr>
              <a:tr h="199368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MODE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Pin Number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202416"/>
                  </a:ext>
                </a:extLst>
              </a:tr>
              <a:tr h="2860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Pin Name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EN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VDD5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AGND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CANH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CANL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GND_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SIO_P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SIO_N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TM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RFREQ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VBCK_IO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BOOT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PGND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025583"/>
                  </a:ext>
                </a:extLst>
              </a:tr>
              <a:tr h="190700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ATB_1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Before Trim #0 : ATB_Buffer offest check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Measure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851039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#1 : BGR ZTC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029970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#2 : IREF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497480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#3 : VREF1P2V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258423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#4 : IPTAT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214314"/>
                  </a:ext>
                </a:extLst>
              </a:tr>
              <a:tr h="190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ATB_2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#5 : 1P5VLDO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828510"/>
                  </a:ext>
                </a:extLst>
              </a:tr>
              <a:tr h="1907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DTB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#6 : LP_OSC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787670"/>
                  </a:ext>
                </a:extLst>
              </a:tr>
              <a:tr h="1993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#7 : 32M_OSC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26994"/>
                  </a:ext>
                </a:extLst>
              </a:tr>
              <a:tr h="190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I2C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#1 : Current consumption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12V(I Meas.)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883632"/>
                  </a:ext>
                </a:extLst>
              </a:tr>
              <a:tr h="19070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DTB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#2: Over-Voltage monitoring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004591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#3: Enable Input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325344"/>
                  </a:ext>
                </a:extLst>
              </a:tr>
              <a:tr h="3831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#4: VDD5 LDO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Sweep&amp;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93442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DEF780-40E3-5CE8-9E94-3F236DCC501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#3. VREF1P2V Trim Pin Condition</a:t>
            </a:r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C6AF8E6-27D4-44DC-E830-4DB3324C3E28}"/>
              </a:ext>
            </a:extLst>
          </p:cNvPr>
          <p:cNvSpPr/>
          <p:nvPr/>
        </p:nvSpPr>
        <p:spPr bwMode="auto">
          <a:xfrm>
            <a:off x="704088" y="3004566"/>
            <a:ext cx="8970264" cy="20116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D1EBC69-AF33-1267-5E86-85F461E8F5F3}"/>
              </a:ext>
            </a:extLst>
          </p:cNvPr>
          <p:cNvSpPr/>
          <p:nvPr/>
        </p:nvSpPr>
        <p:spPr bwMode="auto">
          <a:xfrm>
            <a:off x="704088" y="3205734"/>
            <a:ext cx="8970264" cy="1728216"/>
          </a:xfrm>
          <a:prstGeom prst="rect">
            <a:avLst/>
          </a:prstGeom>
          <a:solidFill>
            <a:schemeClr val="bg2">
              <a:lumMod val="60000"/>
              <a:lumOff val="40000"/>
              <a:alpha val="4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1A3EB8A-4929-BDE2-BDC7-E404A4C09438}"/>
              </a:ext>
            </a:extLst>
          </p:cNvPr>
          <p:cNvSpPr/>
          <p:nvPr/>
        </p:nvSpPr>
        <p:spPr bwMode="auto">
          <a:xfrm>
            <a:off x="704088" y="2442972"/>
            <a:ext cx="8970264" cy="561594"/>
          </a:xfrm>
          <a:prstGeom prst="rect">
            <a:avLst/>
          </a:prstGeom>
          <a:solidFill>
            <a:schemeClr val="bg2">
              <a:lumMod val="60000"/>
              <a:lumOff val="40000"/>
              <a:alpha val="4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9657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6CA22-2E98-002B-2860-288042D11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FF04C83-4CE5-01F1-D8E4-30F4E4F6ED8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#3. VREF1P2V Trim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CD107C4-C338-54BF-FD8B-72CB915ECFA1}"/>
              </a:ext>
            </a:extLst>
          </p:cNvPr>
          <p:cNvSpPr/>
          <p:nvPr/>
        </p:nvSpPr>
        <p:spPr bwMode="auto">
          <a:xfrm>
            <a:off x="3582040" y="2959944"/>
            <a:ext cx="2736304" cy="958178"/>
          </a:xfrm>
          <a:prstGeom prst="rect">
            <a:avLst/>
          </a:prstGeom>
          <a:solidFill>
            <a:srgbClr val="F8F8F8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&lt;VREF Monitor&gt;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0xE0 : 0x008 (TM_ATB_BIAS_EN)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0xE0 : 0x00b (VREF_1p2v select)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READ 0xF2 [11:8] (BGR Level Trim code)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B8657A7-B23F-32F4-D5B7-E27121AF40D1}"/>
              </a:ext>
            </a:extLst>
          </p:cNvPr>
          <p:cNvSpPr/>
          <p:nvPr/>
        </p:nvSpPr>
        <p:spPr bwMode="auto">
          <a:xfrm>
            <a:off x="3582040" y="4152237"/>
            <a:ext cx="2736304" cy="657226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GPIO1 pin Voltage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측정 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(VREF_1p2v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출력 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1.2V target)</a:t>
            </a:r>
            <a:endParaRPr lang="ko-KR" altLang="en-US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84D48AD-AC42-3813-3BA6-0F4A05BEDB07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4950192" y="3918122"/>
            <a:ext cx="0" cy="234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D79FCAFE-FF46-0D72-B3E1-41C9BFA3A108}"/>
              </a:ext>
            </a:extLst>
          </p:cNvPr>
          <p:cNvSpPr/>
          <p:nvPr/>
        </p:nvSpPr>
        <p:spPr bwMode="auto">
          <a:xfrm>
            <a:off x="3582040" y="849276"/>
            <a:ext cx="2736304" cy="1882092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 w="6350">
            <a:solidFill>
              <a:schemeClr val="bg2">
                <a:lumMod val="20000"/>
                <a:lumOff val="80000"/>
              </a:schemeClr>
            </a:solidFill>
            <a:prstDash val="lg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ATB_1 MODE </a:t>
            </a:r>
          </a:p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Entry Sequence </a:t>
            </a:r>
            <a:endParaRPr lang="ko-KR" altLang="en-US" sz="140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9E9BA62A-2168-4A08-D036-86CE9C5B9C62}"/>
              </a:ext>
            </a:extLst>
          </p:cNvPr>
          <p:cNvCxnSpPr>
            <a:cxnSpLocks/>
          </p:cNvCxnSpPr>
          <p:nvPr/>
        </p:nvCxnSpPr>
        <p:spPr>
          <a:xfrm>
            <a:off x="4950192" y="2731368"/>
            <a:ext cx="0" cy="228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9F49C85-654C-1F47-DF3D-4082797F2320}"/>
              </a:ext>
            </a:extLst>
          </p:cNvPr>
          <p:cNvSpPr/>
          <p:nvPr/>
        </p:nvSpPr>
        <p:spPr bwMode="auto">
          <a:xfrm>
            <a:off x="2977946" y="5043578"/>
            <a:ext cx="3950107" cy="1093161"/>
          </a:xfrm>
          <a:prstGeom prst="rect">
            <a:avLst/>
          </a:prstGeom>
          <a:solidFill>
            <a:srgbClr val="FFFFCC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00FFFF"/>
                </a:highlight>
                <a:latin typeface="현대하모니 M" panose="02020603020101020101" pitchFamily="18" charset="-127"/>
                <a:ea typeface="현대하모니 M" panose="02020603020101020101" pitchFamily="18" charset="-127"/>
              </a:rPr>
              <a:t>VBG_1p2_lvl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00FFFF"/>
                </a:highlight>
                <a:latin typeface="현대하모니 M" panose="02020603020101020101" pitchFamily="18" charset="-127"/>
                <a:ea typeface="현대하모니 M" panose="02020603020101020101" pitchFamily="18" charset="-127"/>
              </a:rPr>
              <a:t>코드로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00FFFF"/>
                </a:highlight>
                <a:latin typeface="현대하모니 M" panose="02020603020101020101" pitchFamily="18" charset="-127"/>
                <a:ea typeface="현대하모니 M" panose="02020603020101020101" pitchFamily="18" charset="-127"/>
              </a:rPr>
              <a:t>VREF_1p2v Offset TRIM 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00FFFF"/>
                </a:highlight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실행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0xF2 : 0x0-- ~ 0xf-- (1.2V Level target / 1LSB: +/-5mV)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 : WRITE 0xF2 MID CODE (1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try target 1.2V)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nd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: WRITE 0xF2 FINE CODE (should be 1.2V +/-0.5LSB)</a:t>
            </a:r>
            <a:endParaRPr lang="en-US" altLang="ko-KR" sz="10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42F92075-F2A5-FF4C-4030-F70BED61870A}"/>
              </a:ext>
            </a:extLst>
          </p:cNvPr>
          <p:cNvCxnSpPr>
            <a:cxnSpLocks/>
            <a:stCxn id="10" idx="3"/>
            <a:endCxn id="8" idx="3"/>
          </p:cNvCxnSpPr>
          <p:nvPr/>
        </p:nvCxnSpPr>
        <p:spPr>
          <a:xfrm flipH="1" flipV="1">
            <a:off x="6318344" y="4480850"/>
            <a:ext cx="609709" cy="1109309"/>
          </a:xfrm>
          <a:prstGeom prst="bentConnector3">
            <a:avLst>
              <a:gd name="adj1" fmla="val -374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B8155CD-42AE-27CE-41DF-A4F71003A0E7}"/>
              </a:ext>
            </a:extLst>
          </p:cNvPr>
          <p:cNvSpPr/>
          <p:nvPr/>
        </p:nvSpPr>
        <p:spPr bwMode="auto">
          <a:xfrm>
            <a:off x="7077270" y="4739815"/>
            <a:ext cx="1933380" cy="432643"/>
          </a:xfrm>
          <a:prstGeom prst="rect">
            <a:avLst/>
          </a:prstGeom>
          <a:noFill/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BGR Double Trim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실행</a:t>
            </a:r>
            <a:endParaRPr lang="en-US" altLang="ko-KR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B0F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(2</a:t>
            </a:r>
            <a:r>
              <a:rPr lang="en-US" altLang="ko-KR" sz="12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nd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으로 이동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4B70897-ED3E-CB65-5CB2-C5CAB82F8F43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4950192" y="4809463"/>
            <a:ext cx="2808" cy="234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FB445BB1-18DC-7172-B8E3-1B2034BF00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22740"/>
              </p:ext>
            </p:extLst>
          </p:nvPr>
        </p:nvGraphicFramePr>
        <p:xfrm>
          <a:off x="279774" y="849276"/>
          <a:ext cx="1701800" cy="3716655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62591003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938301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0xF2 [11:8]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TRIM_BG_LVL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RESULT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9742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06524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58222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075167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30194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0032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91924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952293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1.235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20977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3121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1.165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39550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57806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1.175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27747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3509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1.185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81880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7477519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1.195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140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604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3D720-A3FC-53D9-C090-767715923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19EAEB4-B1E3-0A9A-E7DE-05AE30140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1530201"/>
              </p:ext>
            </p:extLst>
          </p:nvPr>
        </p:nvGraphicFramePr>
        <p:xfrm>
          <a:off x="177167" y="1562500"/>
          <a:ext cx="9513703" cy="3364989"/>
        </p:xfrm>
        <a:graphic>
          <a:graphicData uri="http://schemas.openxmlformats.org/drawingml/2006/table">
            <a:tbl>
              <a:tblPr/>
              <a:tblGrid>
                <a:gridCol w="519980">
                  <a:extLst>
                    <a:ext uri="{9D8B030D-6E8A-4147-A177-3AD203B41FA5}">
                      <a16:colId xmlns:a16="http://schemas.microsoft.com/office/drawing/2014/main" val="3351243397"/>
                    </a:ext>
                  </a:extLst>
                </a:gridCol>
                <a:gridCol w="1829555">
                  <a:extLst>
                    <a:ext uri="{9D8B030D-6E8A-4147-A177-3AD203B41FA5}">
                      <a16:colId xmlns:a16="http://schemas.microsoft.com/office/drawing/2014/main" val="3580420577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15067267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7679458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38886558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04535401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34796741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826256144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003305898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69153827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885300622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8683575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413523613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76119036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26704610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54279285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736351818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15996046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58622946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401624855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67033059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646745290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852978312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32512472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87485880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7094221"/>
                    </a:ext>
                  </a:extLst>
                </a:gridCol>
              </a:tblGrid>
              <a:tr h="1907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Measure point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Sweep point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64059"/>
                  </a:ext>
                </a:extLst>
              </a:tr>
              <a:tr h="199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801229"/>
                  </a:ext>
                </a:extLst>
              </a:tr>
              <a:tr h="199368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MODE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Pin Number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202416"/>
                  </a:ext>
                </a:extLst>
              </a:tr>
              <a:tr h="2860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Pin Name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EN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VDD5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AGND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CANH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CANL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GND_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SIO_P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SIO_N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TM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RFREQ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VBCK_IO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BOOT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PGND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025583"/>
                  </a:ext>
                </a:extLst>
              </a:tr>
              <a:tr h="190700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ATB_1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Before Trim #0 : ATB_Buffer offest check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Measure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851039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#1 : BGR ZTC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029970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#2 : IREF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497480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#3 : VREF1P2V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258423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#4 : IPTAT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214314"/>
                  </a:ext>
                </a:extLst>
              </a:tr>
              <a:tr h="190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ATB_2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#5 : 1P5VLDO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828510"/>
                  </a:ext>
                </a:extLst>
              </a:tr>
              <a:tr h="1907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DTB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#6 : LP_OSC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787670"/>
                  </a:ext>
                </a:extLst>
              </a:tr>
              <a:tr h="1993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#7 : 32M_OSC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26994"/>
                  </a:ext>
                </a:extLst>
              </a:tr>
              <a:tr h="190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I2C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#1 : Current consumption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12V(I Meas.)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883632"/>
                  </a:ext>
                </a:extLst>
              </a:tr>
              <a:tr h="19070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DTB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#2: Over-Voltage monitoring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004591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#3: Enable Input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325344"/>
                  </a:ext>
                </a:extLst>
              </a:tr>
              <a:tr h="3831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#4: VDD5 LDO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Sweep&amp;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93442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3A471A-D550-7E8D-23D8-B2E07C1560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#4. IPTAT Trim Pin Condition</a:t>
            </a:r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A653524-98C3-D07C-8A21-D5E32EB3FCED}"/>
              </a:ext>
            </a:extLst>
          </p:cNvPr>
          <p:cNvSpPr/>
          <p:nvPr/>
        </p:nvSpPr>
        <p:spPr bwMode="auto">
          <a:xfrm>
            <a:off x="704088" y="3203829"/>
            <a:ext cx="8970264" cy="20116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0649B24-BDB1-52AF-8F69-83BCC1E35224}"/>
              </a:ext>
            </a:extLst>
          </p:cNvPr>
          <p:cNvSpPr/>
          <p:nvPr/>
        </p:nvSpPr>
        <p:spPr bwMode="auto">
          <a:xfrm>
            <a:off x="704088" y="3404998"/>
            <a:ext cx="8970264" cy="1528952"/>
          </a:xfrm>
          <a:prstGeom prst="rect">
            <a:avLst/>
          </a:prstGeom>
          <a:solidFill>
            <a:schemeClr val="bg2">
              <a:lumMod val="60000"/>
              <a:lumOff val="40000"/>
              <a:alpha val="4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51FDE55-6E8B-53BD-5ABD-F69A39B121B4}"/>
              </a:ext>
            </a:extLst>
          </p:cNvPr>
          <p:cNvSpPr/>
          <p:nvPr/>
        </p:nvSpPr>
        <p:spPr bwMode="auto">
          <a:xfrm>
            <a:off x="704088" y="2442972"/>
            <a:ext cx="8970264" cy="765430"/>
          </a:xfrm>
          <a:prstGeom prst="rect">
            <a:avLst/>
          </a:prstGeom>
          <a:solidFill>
            <a:schemeClr val="bg2">
              <a:lumMod val="60000"/>
              <a:lumOff val="40000"/>
              <a:alpha val="4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91141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B7CF7-499E-7C5F-DC70-E119061AB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0158F5-0583-C3C7-3A83-9B5C35F4AC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#4. IPTAT Trim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AF06C1E-2C4A-ED41-CB2F-1A112F9CBBE3}"/>
              </a:ext>
            </a:extLst>
          </p:cNvPr>
          <p:cNvSpPr/>
          <p:nvPr/>
        </p:nvSpPr>
        <p:spPr bwMode="auto">
          <a:xfrm>
            <a:off x="3582040" y="2959944"/>
            <a:ext cx="2736304" cy="860751"/>
          </a:xfrm>
          <a:prstGeom prst="rect">
            <a:avLst/>
          </a:prstGeom>
          <a:solidFill>
            <a:srgbClr val="F8F8F8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&lt;IPTAT Monitor&gt;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0xE0 : 0x008 (TM_ATB_BIAS_EN)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0xE0 : 0x00c (IPTAT_TEST_1uA select)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READ 0xF3 [3:0] (IPTAT Trim code)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A73EB20-8FD6-2AA9-9B38-6F88BE041F05}"/>
              </a:ext>
            </a:extLst>
          </p:cNvPr>
          <p:cNvSpPr/>
          <p:nvPr/>
        </p:nvSpPr>
        <p:spPr bwMode="auto">
          <a:xfrm>
            <a:off x="3582040" y="4049876"/>
            <a:ext cx="2736304" cy="432000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GPIO1 pin Current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측정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(2V BIAS)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(IPTAT_TEST_1uA sink)</a:t>
            </a:r>
            <a:endParaRPr lang="ko-KR" altLang="en-US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E458114-E5A9-7AAB-8EF0-9956243505E0}"/>
              </a:ext>
            </a:extLst>
          </p:cNvPr>
          <p:cNvSpPr/>
          <p:nvPr/>
        </p:nvSpPr>
        <p:spPr bwMode="auto">
          <a:xfrm>
            <a:off x="2977542" y="4915563"/>
            <a:ext cx="3950107" cy="1093161"/>
          </a:xfrm>
          <a:prstGeom prst="rect">
            <a:avLst/>
          </a:prstGeom>
          <a:solidFill>
            <a:srgbClr val="FFFFCC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&lt;IPTAT Trim 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실행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0xF3 : 0x--0 ~ 0x--f (1uA target / 1LSB: +/-65nA)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 : WRITE 0xF3 MID CODE (1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try target 1uA)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nd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: WRITE 0xF3 FINE CODE (should be 1uA +/-0.5LSB)</a:t>
            </a:r>
            <a:endParaRPr lang="en-US" altLang="ko-KR" sz="10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55FD67E-4EE9-622E-4894-A16BA7D7DE57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4950192" y="3820695"/>
            <a:ext cx="0" cy="229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74A6E570-7602-10A9-9858-F205651EA680}"/>
              </a:ext>
            </a:extLst>
          </p:cNvPr>
          <p:cNvCxnSpPr>
            <a:cxnSpLocks/>
            <a:stCxn id="9" idx="3"/>
            <a:endCxn id="8" idx="3"/>
          </p:cNvCxnSpPr>
          <p:nvPr/>
        </p:nvCxnSpPr>
        <p:spPr>
          <a:xfrm flipH="1" flipV="1">
            <a:off x="6318344" y="4265876"/>
            <a:ext cx="609305" cy="1196268"/>
          </a:xfrm>
          <a:prstGeom prst="bentConnector3">
            <a:avLst>
              <a:gd name="adj1" fmla="val -3751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D974A8-74C6-9345-1FF2-3AEB2C013925}"/>
              </a:ext>
            </a:extLst>
          </p:cNvPr>
          <p:cNvSpPr/>
          <p:nvPr/>
        </p:nvSpPr>
        <p:spPr bwMode="auto">
          <a:xfrm>
            <a:off x="3582040" y="849276"/>
            <a:ext cx="2736304" cy="1882092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 w="6350">
            <a:solidFill>
              <a:schemeClr val="bg2">
                <a:lumMod val="20000"/>
                <a:lumOff val="80000"/>
              </a:schemeClr>
            </a:solidFill>
            <a:prstDash val="lg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ATB_1 MODE </a:t>
            </a:r>
          </a:p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Entry Sequence </a:t>
            </a:r>
            <a:endParaRPr lang="ko-KR" altLang="en-US" sz="140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3E594655-F994-DB02-AA98-64E8B7A873F9}"/>
              </a:ext>
            </a:extLst>
          </p:cNvPr>
          <p:cNvCxnSpPr>
            <a:cxnSpLocks/>
          </p:cNvCxnSpPr>
          <p:nvPr/>
        </p:nvCxnSpPr>
        <p:spPr>
          <a:xfrm>
            <a:off x="4950192" y="2731368"/>
            <a:ext cx="0" cy="228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2320B68-7829-C111-856F-7062A6F87D4B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4950192" y="4481876"/>
            <a:ext cx="2404" cy="4336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FB68FF3-392F-6EA8-391A-1CBFC4BC67F1}"/>
              </a:ext>
            </a:extLst>
          </p:cNvPr>
          <p:cNvSpPr/>
          <p:nvPr/>
        </p:nvSpPr>
        <p:spPr bwMode="auto">
          <a:xfrm>
            <a:off x="7105845" y="4663251"/>
            <a:ext cx="1933380" cy="432643"/>
          </a:xfrm>
          <a:prstGeom prst="rect">
            <a:avLst/>
          </a:prstGeom>
          <a:noFill/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IPTAT Double Trim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실행</a:t>
            </a:r>
            <a:endParaRPr lang="en-US" altLang="ko-KR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B0F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(2</a:t>
            </a:r>
            <a:r>
              <a:rPr lang="en-US" altLang="ko-KR" sz="12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nd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으로 이동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8A305DD8-5E0A-EEB9-0F14-B6C43AF76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640155"/>
              </p:ext>
            </p:extLst>
          </p:nvPr>
        </p:nvGraphicFramePr>
        <p:xfrm>
          <a:off x="279774" y="849276"/>
          <a:ext cx="1511300" cy="3707130"/>
        </p:xfrm>
        <a:graphic>
          <a:graphicData uri="http://schemas.openxmlformats.org/drawingml/2006/table">
            <a:tbl>
              <a:tblPr/>
              <a:tblGrid>
                <a:gridCol w="826938">
                  <a:extLst>
                    <a:ext uri="{9D8B030D-6E8A-4147-A177-3AD203B41FA5}">
                      <a16:colId xmlns:a16="http://schemas.microsoft.com/office/drawing/2014/main" val="2404014917"/>
                    </a:ext>
                  </a:extLst>
                </a:gridCol>
                <a:gridCol w="684362">
                  <a:extLst>
                    <a:ext uri="{9D8B030D-6E8A-4147-A177-3AD203B41FA5}">
                      <a16:colId xmlns:a16="http://schemas.microsoft.com/office/drawing/2014/main" val="22400424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0xF3 [3:0]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TRIM_IPTAT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RESULT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17642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1.01u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82889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1.08u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73863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1.16u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4363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1.25u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32872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1.37u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9107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1.50u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9483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1.67u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17409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1.88u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280647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0.67u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818141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0.70u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13071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0.73u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566927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0.76u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028098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0.80u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9423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0.85u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708385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0.89u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273792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0.95u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2310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7056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A6D65-643D-FBA7-62F6-18E7F3A9C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47F13B5F-FB2C-821E-5D14-2E01658A47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214079"/>
              </p:ext>
            </p:extLst>
          </p:nvPr>
        </p:nvGraphicFramePr>
        <p:xfrm>
          <a:off x="177167" y="1562500"/>
          <a:ext cx="9513703" cy="3364989"/>
        </p:xfrm>
        <a:graphic>
          <a:graphicData uri="http://schemas.openxmlformats.org/drawingml/2006/table">
            <a:tbl>
              <a:tblPr/>
              <a:tblGrid>
                <a:gridCol w="519980">
                  <a:extLst>
                    <a:ext uri="{9D8B030D-6E8A-4147-A177-3AD203B41FA5}">
                      <a16:colId xmlns:a16="http://schemas.microsoft.com/office/drawing/2014/main" val="3351243397"/>
                    </a:ext>
                  </a:extLst>
                </a:gridCol>
                <a:gridCol w="1829555">
                  <a:extLst>
                    <a:ext uri="{9D8B030D-6E8A-4147-A177-3AD203B41FA5}">
                      <a16:colId xmlns:a16="http://schemas.microsoft.com/office/drawing/2014/main" val="3580420577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15067267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7679458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38886558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04535401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34796741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826256144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003305898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69153827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885300622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8683575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413523613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76119036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26704610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54279285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736351818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15996046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58622946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401624855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67033059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646745290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852978312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32512472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87485880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7094221"/>
                    </a:ext>
                  </a:extLst>
                </a:gridCol>
              </a:tblGrid>
              <a:tr h="1907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Measure point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Sweep point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64059"/>
                  </a:ext>
                </a:extLst>
              </a:tr>
              <a:tr h="199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801229"/>
                  </a:ext>
                </a:extLst>
              </a:tr>
              <a:tr h="199368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MODE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Pin Number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202416"/>
                  </a:ext>
                </a:extLst>
              </a:tr>
              <a:tr h="2860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Pin Name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EN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VDD5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AGND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CANH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CANL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GND_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SIO_P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SIO_N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TM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RFREQ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VBCK_IO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BOOT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PGND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025583"/>
                  </a:ext>
                </a:extLst>
              </a:tr>
              <a:tr h="190700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ATB_1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Before Trim #0 : ATB_Buffer offest check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Measure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851039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#1 : BGR ZTC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029970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#2 : IREF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497480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#3 : VREF1P2V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258423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#4 : IPTAT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214314"/>
                  </a:ext>
                </a:extLst>
              </a:tr>
              <a:tr h="190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ATB_2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#5 : 1P5VLDO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828510"/>
                  </a:ext>
                </a:extLst>
              </a:tr>
              <a:tr h="1907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DTB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#6 : LP_OSC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787670"/>
                  </a:ext>
                </a:extLst>
              </a:tr>
              <a:tr h="1993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#7 : 32M_OSC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26994"/>
                  </a:ext>
                </a:extLst>
              </a:tr>
              <a:tr h="190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I2C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#1 : Current consumption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12V(I Meas.)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883632"/>
                  </a:ext>
                </a:extLst>
              </a:tr>
              <a:tr h="19070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DTB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#2: Over-Voltage monitoring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004591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#3: Enable Input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325344"/>
                  </a:ext>
                </a:extLst>
              </a:tr>
              <a:tr h="3831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#4: VDD5 LDO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Sweep&amp;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93442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C8B5BF-7879-7498-B821-82D3225112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#5. 1P5V_LDO Trim Pin Condition</a:t>
            </a:r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977B229-B724-7AC4-96C9-8636D0047FEB}"/>
              </a:ext>
            </a:extLst>
          </p:cNvPr>
          <p:cNvSpPr/>
          <p:nvPr/>
        </p:nvSpPr>
        <p:spPr bwMode="auto">
          <a:xfrm>
            <a:off x="704088" y="3394329"/>
            <a:ext cx="8970264" cy="20116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735FE0-B5FB-4535-CADD-F8E425467B5B}"/>
              </a:ext>
            </a:extLst>
          </p:cNvPr>
          <p:cNvSpPr/>
          <p:nvPr/>
        </p:nvSpPr>
        <p:spPr bwMode="auto">
          <a:xfrm>
            <a:off x="704088" y="3595498"/>
            <a:ext cx="8970264" cy="1338452"/>
          </a:xfrm>
          <a:prstGeom prst="rect">
            <a:avLst/>
          </a:prstGeom>
          <a:solidFill>
            <a:schemeClr val="bg2">
              <a:lumMod val="60000"/>
              <a:lumOff val="40000"/>
              <a:alpha val="4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E48258C-C270-1454-01B5-F4EA620E5510}"/>
              </a:ext>
            </a:extLst>
          </p:cNvPr>
          <p:cNvSpPr/>
          <p:nvPr/>
        </p:nvSpPr>
        <p:spPr bwMode="auto">
          <a:xfrm>
            <a:off x="704088" y="2442972"/>
            <a:ext cx="8970264" cy="938404"/>
          </a:xfrm>
          <a:prstGeom prst="rect">
            <a:avLst/>
          </a:prstGeom>
          <a:solidFill>
            <a:schemeClr val="bg2">
              <a:lumMod val="60000"/>
              <a:lumOff val="40000"/>
              <a:alpha val="4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72441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89F478-E0B2-A066-2D79-3BF9ACADB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16A48A-8933-379E-AB8A-73E0C01A9B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#5. 1P5V_LDO Trim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6A1363-FAF2-831B-E5A9-22DD15B88AE6}"/>
              </a:ext>
            </a:extLst>
          </p:cNvPr>
          <p:cNvSpPr/>
          <p:nvPr/>
        </p:nvSpPr>
        <p:spPr bwMode="auto">
          <a:xfrm>
            <a:off x="3582040" y="2959944"/>
            <a:ext cx="2736304" cy="860751"/>
          </a:xfrm>
          <a:prstGeom prst="rect">
            <a:avLst/>
          </a:prstGeom>
          <a:solidFill>
            <a:srgbClr val="F8F8F8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&lt;1P5V_LDO Monitor&gt;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0xE7 : 0x041 (ATB2_1P5V_SENSE select)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READ 0xF2 [7:5] (1P5V_LDO Trim code)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6733C52-65CA-C069-7DA6-F073A94AB6A5}"/>
              </a:ext>
            </a:extLst>
          </p:cNvPr>
          <p:cNvSpPr/>
          <p:nvPr/>
        </p:nvSpPr>
        <p:spPr bwMode="auto">
          <a:xfrm>
            <a:off x="3582040" y="4024221"/>
            <a:ext cx="2736304" cy="432000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GPIO2 pin Voltage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측정 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(VPD_SENSE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출력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lang="ko-KR" altLang="en-US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5FAB9D8-47C3-F2F1-EE18-4D5B3B0DA412}"/>
              </a:ext>
            </a:extLst>
          </p:cNvPr>
          <p:cNvSpPr/>
          <p:nvPr/>
        </p:nvSpPr>
        <p:spPr bwMode="auto">
          <a:xfrm>
            <a:off x="2975138" y="4659747"/>
            <a:ext cx="3950107" cy="1074303"/>
          </a:xfrm>
          <a:prstGeom prst="rect">
            <a:avLst/>
          </a:prstGeom>
          <a:solidFill>
            <a:srgbClr val="FFFFCC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&lt;1P5V_LDO Trim 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실행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0xF2 : 0x-0- ~ 0x-f- (1.5V target / 1LSB: +/-4mV)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 : WRITE 0xF2 MID CODE (1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try target 1.5V)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nd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: WRITE 0xF2 FINE CODE (should be 1.5V +/-0.5LSB)</a:t>
            </a:r>
            <a:endParaRPr lang="en-US" altLang="ko-KR" sz="10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8B721AB-9C82-759D-AA1D-06BCA3B8CA57}"/>
              </a:ext>
            </a:extLst>
          </p:cNvPr>
          <p:cNvCxnSpPr>
            <a:cxnSpLocks/>
          </p:cNvCxnSpPr>
          <p:nvPr/>
        </p:nvCxnSpPr>
        <p:spPr>
          <a:xfrm>
            <a:off x="4944576" y="3820695"/>
            <a:ext cx="0" cy="203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E19C063-F871-7BBA-B314-789D3A3FB89C}"/>
              </a:ext>
            </a:extLst>
          </p:cNvPr>
          <p:cNvCxnSpPr>
            <a:cxnSpLocks/>
          </p:cNvCxnSpPr>
          <p:nvPr/>
        </p:nvCxnSpPr>
        <p:spPr>
          <a:xfrm>
            <a:off x="4952596" y="4456221"/>
            <a:ext cx="0" cy="203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234BA6FC-5CE8-249F-1BE6-24A86BDC838F}"/>
              </a:ext>
            </a:extLst>
          </p:cNvPr>
          <p:cNvCxnSpPr>
            <a:cxnSpLocks/>
            <a:stCxn id="9" idx="3"/>
            <a:endCxn id="8" idx="3"/>
          </p:cNvCxnSpPr>
          <p:nvPr/>
        </p:nvCxnSpPr>
        <p:spPr>
          <a:xfrm flipH="1" flipV="1">
            <a:off x="6318344" y="4240221"/>
            <a:ext cx="606901" cy="956678"/>
          </a:xfrm>
          <a:prstGeom prst="bentConnector3">
            <a:avLst>
              <a:gd name="adj1" fmla="val -37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74086A9B-B4D2-1E78-4C72-A9D32DD2EC1C}"/>
              </a:ext>
            </a:extLst>
          </p:cNvPr>
          <p:cNvSpPr/>
          <p:nvPr/>
        </p:nvSpPr>
        <p:spPr bwMode="auto">
          <a:xfrm>
            <a:off x="3582040" y="849276"/>
            <a:ext cx="2736304" cy="1882092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 w="6350">
            <a:solidFill>
              <a:schemeClr val="bg2">
                <a:lumMod val="20000"/>
                <a:lumOff val="80000"/>
              </a:schemeClr>
            </a:solidFill>
            <a:prstDash val="lg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ATB_2 MODE </a:t>
            </a:r>
          </a:p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Entry Sequence </a:t>
            </a:r>
            <a:endParaRPr lang="ko-KR" altLang="en-US" sz="140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7A8EFDE-CC63-C1A4-C098-D04DBDE5185C}"/>
              </a:ext>
            </a:extLst>
          </p:cNvPr>
          <p:cNvCxnSpPr>
            <a:cxnSpLocks/>
          </p:cNvCxnSpPr>
          <p:nvPr/>
        </p:nvCxnSpPr>
        <p:spPr>
          <a:xfrm>
            <a:off x="4950192" y="2731368"/>
            <a:ext cx="0" cy="228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7C79597-7F22-9740-BA34-1AF8E6D63372}"/>
              </a:ext>
            </a:extLst>
          </p:cNvPr>
          <p:cNvSpPr/>
          <p:nvPr/>
        </p:nvSpPr>
        <p:spPr bwMode="auto">
          <a:xfrm>
            <a:off x="7105845" y="4502238"/>
            <a:ext cx="2555704" cy="432643"/>
          </a:xfrm>
          <a:prstGeom prst="rect">
            <a:avLst/>
          </a:prstGeom>
          <a:noFill/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1P5V_LDO Double Trim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실행</a:t>
            </a:r>
            <a:endParaRPr lang="en-US" altLang="ko-KR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B0F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(2</a:t>
            </a:r>
            <a:r>
              <a:rPr lang="en-US" altLang="ko-KR" sz="12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nd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으로 이동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0F8EB86-3857-C92C-EA89-93FDAF4EF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287848"/>
              </p:ext>
            </p:extLst>
          </p:nvPr>
        </p:nvGraphicFramePr>
        <p:xfrm>
          <a:off x="279774" y="849276"/>
          <a:ext cx="1511300" cy="2030730"/>
        </p:xfrm>
        <a:graphic>
          <a:graphicData uri="http://schemas.openxmlformats.org/drawingml/2006/table">
            <a:tbl>
              <a:tblPr/>
              <a:tblGrid>
                <a:gridCol w="826938">
                  <a:extLst>
                    <a:ext uri="{9D8B030D-6E8A-4147-A177-3AD203B41FA5}">
                      <a16:colId xmlns:a16="http://schemas.microsoft.com/office/drawing/2014/main" val="744191149"/>
                    </a:ext>
                  </a:extLst>
                </a:gridCol>
                <a:gridCol w="684362">
                  <a:extLst>
                    <a:ext uri="{9D8B030D-6E8A-4147-A177-3AD203B41FA5}">
                      <a16:colId xmlns:a16="http://schemas.microsoft.com/office/drawing/2014/main" val="7129586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0xF2 [7:5]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TRIM_VLDO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RESULT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136151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76795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1.504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98587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1.508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318906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564485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1.485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039619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1.489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497387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1.493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5084583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1.496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4152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5861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25A4B-FA15-5A85-84D2-153ED9424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12D0816-6650-FDB0-9ABF-78BDF87E47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947115"/>
              </p:ext>
            </p:extLst>
          </p:nvPr>
        </p:nvGraphicFramePr>
        <p:xfrm>
          <a:off x="177167" y="1562500"/>
          <a:ext cx="9513703" cy="3364989"/>
        </p:xfrm>
        <a:graphic>
          <a:graphicData uri="http://schemas.openxmlformats.org/drawingml/2006/table">
            <a:tbl>
              <a:tblPr/>
              <a:tblGrid>
                <a:gridCol w="519980">
                  <a:extLst>
                    <a:ext uri="{9D8B030D-6E8A-4147-A177-3AD203B41FA5}">
                      <a16:colId xmlns:a16="http://schemas.microsoft.com/office/drawing/2014/main" val="3351243397"/>
                    </a:ext>
                  </a:extLst>
                </a:gridCol>
                <a:gridCol w="1829555">
                  <a:extLst>
                    <a:ext uri="{9D8B030D-6E8A-4147-A177-3AD203B41FA5}">
                      <a16:colId xmlns:a16="http://schemas.microsoft.com/office/drawing/2014/main" val="3580420577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15067267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7679458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38886558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04535401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34796741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826256144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003305898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69153827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885300622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8683575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413523613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76119036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26704610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54279285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736351818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15996046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58622946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401624855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67033059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646745290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852978312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32512472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87485880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7094221"/>
                    </a:ext>
                  </a:extLst>
                </a:gridCol>
              </a:tblGrid>
              <a:tr h="1907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Measure point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Sweep point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64059"/>
                  </a:ext>
                </a:extLst>
              </a:tr>
              <a:tr h="199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801229"/>
                  </a:ext>
                </a:extLst>
              </a:tr>
              <a:tr h="199368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MODE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Pin Number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202416"/>
                  </a:ext>
                </a:extLst>
              </a:tr>
              <a:tr h="2860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Pin Name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EN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VDD5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AGND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CANH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CANL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GND_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SIO_P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SIO_N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TM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RFREQ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VBCK_IO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BOOT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VIN_</a:t>
                      </a:r>
                      <a:b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PGND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025583"/>
                  </a:ext>
                </a:extLst>
              </a:tr>
              <a:tr h="190700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ATB_1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Before Trim #0 : ATB_Buffer offest check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Measure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851039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#1 : BGR ZTC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029970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#2 : IREF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497480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#3 : VREF1P2V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258423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#4 : IPTAT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214314"/>
                  </a:ext>
                </a:extLst>
              </a:tr>
              <a:tr h="190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ATB_2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#5 : 1P5VLDO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828510"/>
                  </a:ext>
                </a:extLst>
              </a:tr>
              <a:tr h="1907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DTB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#6 : LP_OSC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787670"/>
                  </a:ext>
                </a:extLst>
              </a:tr>
              <a:tr h="1993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#7 : 32M_OSC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26994"/>
                  </a:ext>
                </a:extLst>
              </a:tr>
              <a:tr h="190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I2C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#1 : Current consumption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12V(I Meas.)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883632"/>
                  </a:ext>
                </a:extLst>
              </a:tr>
              <a:tr h="19070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DTB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#2: Over-Voltage monitoring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004591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#3: Enable Input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325344"/>
                  </a:ext>
                </a:extLst>
              </a:tr>
              <a:tr h="3831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#4: VDD5 LDO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Sweep&amp;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93442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502332-67B8-E80B-1CCA-B67E49F40F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#6. LP_OSC Trim Pin Condition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3AA21E1-F8F9-FF7D-B083-1941B206CEB1}"/>
              </a:ext>
            </a:extLst>
          </p:cNvPr>
          <p:cNvSpPr/>
          <p:nvPr/>
        </p:nvSpPr>
        <p:spPr bwMode="auto">
          <a:xfrm>
            <a:off x="704088" y="3781298"/>
            <a:ext cx="8970264" cy="1152651"/>
          </a:xfrm>
          <a:prstGeom prst="rect">
            <a:avLst/>
          </a:prstGeom>
          <a:solidFill>
            <a:schemeClr val="bg2">
              <a:lumMod val="60000"/>
              <a:lumOff val="40000"/>
              <a:alpha val="4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BE8F8B5-E141-4A2F-088A-F0008D5F6F33}"/>
              </a:ext>
            </a:extLst>
          </p:cNvPr>
          <p:cNvSpPr/>
          <p:nvPr/>
        </p:nvSpPr>
        <p:spPr bwMode="auto">
          <a:xfrm>
            <a:off x="704088" y="2427479"/>
            <a:ext cx="8970264" cy="1152651"/>
          </a:xfrm>
          <a:prstGeom prst="rect">
            <a:avLst/>
          </a:prstGeom>
          <a:solidFill>
            <a:schemeClr val="bg2">
              <a:lumMod val="60000"/>
              <a:lumOff val="40000"/>
              <a:alpha val="4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FF25F1E-2AF8-3AAD-4232-AFF633D3395B}"/>
              </a:ext>
            </a:extLst>
          </p:cNvPr>
          <p:cNvSpPr/>
          <p:nvPr/>
        </p:nvSpPr>
        <p:spPr bwMode="auto">
          <a:xfrm>
            <a:off x="704088" y="3580130"/>
            <a:ext cx="8970264" cy="20116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50889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46CB4-F385-E33C-F233-19E58248B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AF7375-666A-4D55-2454-F159006A64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#6. LP_OSC Trim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521C4F6-38C8-32E2-CC06-0A5C12588322}"/>
              </a:ext>
            </a:extLst>
          </p:cNvPr>
          <p:cNvSpPr/>
          <p:nvPr/>
        </p:nvSpPr>
        <p:spPr bwMode="auto">
          <a:xfrm>
            <a:off x="3582040" y="2959944"/>
            <a:ext cx="2736304" cy="860751"/>
          </a:xfrm>
          <a:prstGeom prst="rect">
            <a:avLst/>
          </a:prstGeom>
          <a:solidFill>
            <a:srgbClr val="F8F8F8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&lt;LP_OSC Monitor&gt;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0xE5 : 0x056 (DTB_LP_CLK select)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READ 0xF3 [11:8] (LP_OSC Trim code)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018A336-A12E-BCD2-E9B1-00CB18069BA4}"/>
              </a:ext>
            </a:extLst>
          </p:cNvPr>
          <p:cNvSpPr/>
          <p:nvPr/>
        </p:nvSpPr>
        <p:spPr bwMode="auto">
          <a:xfrm>
            <a:off x="3582040" y="4024221"/>
            <a:ext cx="2736304" cy="432000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GPIO1 pin Frequency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측정  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(LP_CLK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출력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lang="ko-KR" altLang="en-US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51383E-F950-44E8-D948-CC0488A10EC4}"/>
              </a:ext>
            </a:extLst>
          </p:cNvPr>
          <p:cNvSpPr/>
          <p:nvPr/>
        </p:nvSpPr>
        <p:spPr bwMode="auto">
          <a:xfrm>
            <a:off x="2800157" y="4659747"/>
            <a:ext cx="4125090" cy="1093353"/>
          </a:xfrm>
          <a:prstGeom prst="rect">
            <a:avLst/>
          </a:prstGeom>
          <a:solidFill>
            <a:srgbClr val="FFFFCC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&lt;LP_OSC Trim 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실행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0xF3 : 0x0-- ~ 0xF-- (100kHz target / 1LSB: +/-6kHz)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 : WRITE 0xF3 MID CODE (1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try target 100kHz)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nd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: WRITE 0xF2 FINE CODE (should be 100kHz +/-0.5LSB)</a:t>
            </a:r>
            <a:endParaRPr lang="en-US" altLang="ko-KR" sz="10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C6D537A-1DC4-CE43-A494-A42E83BCBFC9}"/>
              </a:ext>
            </a:extLst>
          </p:cNvPr>
          <p:cNvCxnSpPr/>
          <p:nvPr/>
        </p:nvCxnSpPr>
        <p:spPr>
          <a:xfrm>
            <a:off x="4944577" y="3820695"/>
            <a:ext cx="0" cy="203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0D9030F-C941-D598-50D3-E501C11CD4AD}"/>
              </a:ext>
            </a:extLst>
          </p:cNvPr>
          <p:cNvCxnSpPr/>
          <p:nvPr/>
        </p:nvCxnSpPr>
        <p:spPr>
          <a:xfrm>
            <a:off x="4952597" y="4456221"/>
            <a:ext cx="0" cy="2035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95CEF037-58BB-AC8C-1588-A09587081493}"/>
              </a:ext>
            </a:extLst>
          </p:cNvPr>
          <p:cNvCxnSpPr>
            <a:cxnSpLocks/>
            <a:stCxn id="9" idx="3"/>
            <a:endCxn id="8" idx="3"/>
          </p:cNvCxnSpPr>
          <p:nvPr/>
        </p:nvCxnSpPr>
        <p:spPr>
          <a:xfrm flipH="1" flipV="1">
            <a:off x="6318344" y="4240221"/>
            <a:ext cx="606903" cy="966203"/>
          </a:xfrm>
          <a:prstGeom prst="bentConnector3">
            <a:avLst>
              <a:gd name="adj1" fmla="val -37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25F8E03-0D76-88FE-DEA8-9EEEE7F32E5B}"/>
              </a:ext>
            </a:extLst>
          </p:cNvPr>
          <p:cNvSpPr/>
          <p:nvPr/>
        </p:nvSpPr>
        <p:spPr bwMode="auto">
          <a:xfrm>
            <a:off x="3582040" y="849276"/>
            <a:ext cx="2736304" cy="1882092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 w="6350">
            <a:solidFill>
              <a:schemeClr val="bg2">
                <a:lumMod val="20000"/>
                <a:lumOff val="80000"/>
              </a:schemeClr>
            </a:solidFill>
            <a:prstDash val="lg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DTB MODE </a:t>
            </a:r>
          </a:p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Entry Sequence </a:t>
            </a:r>
            <a:endParaRPr lang="ko-KR" altLang="en-US" sz="140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45465703-FD38-237F-D1CE-893AFA1B5FFC}"/>
              </a:ext>
            </a:extLst>
          </p:cNvPr>
          <p:cNvCxnSpPr>
            <a:cxnSpLocks/>
          </p:cNvCxnSpPr>
          <p:nvPr/>
        </p:nvCxnSpPr>
        <p:spPr>
          <a:xfrm>
            <a:off x="4950192" y="2731368"/>
            <a:ext cx="0" cy="228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02E30A3-4E2C-2161-1CFE-A354EC1DF532}"/>
              </a:ext>
            </a:extLst>
          </p:cNvPr>
          <p:cNvSpPr/>
          <p:nvPr/>
        </p:nvSpPr>
        <p:spPr bwMode="auto">
          <a:xfrm>
            <a:off x="7105845" y="4502238"/>
            <a:ext cx="2555704" cy="432643"/>
          </a:xfrm>
          <a:prstGeom prst="rect">
            <a:avLst/>
          </a:prstGeom>
          <a:noFill/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LP_OSC Double Trim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실행</a:t>
            </a:r>
            <a:endParaRPr lang="en-US" altLang="ko-KR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B0F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(2</a:t>
            </a:r>
            <a:r>
              <a:rPr lang="en-US" altLang="ko-KR" sz="12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nd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으로 이동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708C933-C798-1413-64AD-4F4992C1C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156928"/>
              </p:ext>
            </p:extLst>
          </p:nvPr>
        </p:nvGraphicFramePr>
        <p:xfrm>
          <a:off x="279774" y="849276"/>
          <a:ext cx="1701800" cy="3707130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120909906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13713807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0xF3 [11:8]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TRIM_LP_OSC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RESULT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646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102k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27134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108k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4365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114k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30236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120k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77194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126k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8512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132k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89709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138k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71541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143k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2198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55k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93175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61k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0683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67k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103624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73k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6873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46264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85k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36753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91k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352545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97k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12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10589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DAC80-0FC4-B6AA-C8AB-84C433679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899F997-4B6D-E05B-F03A-B2A458EBD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480730"/>
              </p:ext>
            </p:extLst>
          </p:nvPr>
        </p:nvGraphicFramePr>
        <p:xfrm>
          <a:off x="177167" y="1562500"/>
          <a:ext cx="9513703" cy="3364989"/>
        </p:xfrm>
        <a:graphic>
          <a:graphicData uri="http://schemas.openxmlformats.org/drawingml/2006/table">
            <a:tbl>
              <a:tblPr/>
              <a:tblGrid>
                <a:gridCol w="519980">
                  <a:extLst>
                    <a:ext uri="{9D8B030D-6E8A-4147-A177-3AD203B41FA5}">
                      <a16:colId xmlns:a16="http://schemas.microsoft.com/office/drawing/2014/main" val="3351243397"/>
                    </a:ext>
                  </a:extLst>
                </a:gridCol>
                <a:gridCol w="1829555">
                  <a:extLst>
                    <a:ext uri="{9D8B030D-6E8A-4147-A177-3AD203B41FA5}">
                      <a16:colId xmlns:a16="http://schemas.microsoft.com/office/drawing/2014/main" val="3580420577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15067267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7679458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38886558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04535401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347967415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826256144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003305898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69153827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885300622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8683575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413523613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76119036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26704610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54279285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736351818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15996046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586229469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4016248553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67033059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3646745290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852978312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325124721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1874858806"/>
                    </a:ext>
                  </a:extLst>
                </a:gridCol>
                <a:gridCol w="298507">
                  <a:extLst>
                    <a:ext uri="{9D8B030D-6E8A-4147-A177-3AD203B41FA5}">
                      <a16:colId xmlns:a16="http://schemas.microsoft.com/office/drawing/2014/main" val="257094221"/>
                    </a:ext>
                  </a:extLst>
                </a:gridCol>
              </a:tblGrid>
              <a:tr h="1907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Measure point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: Sweep point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64059"/>
                  </a:ext>
                </a:extLst>
              </a:tr>
              <a:tr h="19936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86" marR="6486" marT="648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801229"/>
                  </a:ext>
                </a:extLst>
              </a:tr>
              <a:tr h="199368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MODE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Pin Number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16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18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19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24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6202416"/>
                  </a:ext>
                </a:extLst>
              </a:tr>
              <a:tr h="2860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Pin Name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EN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VDD5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ADDR2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GPIO0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GPIO2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AGND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CANH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CANL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GND_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IO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SIO_P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SIO_N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TM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RFREQ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VBCK_IO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BOOT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SW2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VIN_</a:t>
                      </a:r>
                      <a:b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SW1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PGND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025583"/>
                  </a:ext>
                </a:extLst>
              </a:tr>
              <a:tr h="190700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ATB_1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Before Trim #0 : ATB_Buffer offest check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Measure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851039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#1 : BGR ZTC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029970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#2 : IREF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1497480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#3 : VREF1P2V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258423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#4 : IPTAT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214314"/>
                  </a:ext>
                </a:extLst>
              </a:tr>
              <a:tr h="190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ATB_2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#5 : 1P5VLDO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828510"/>
                  </a:ext>
                </a:extLst>
              </a:tr>
              <a:tr h="1907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DTB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#6 : LP_OSC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4787670"/>
                  </a:ext>
                </a:extLst>
              </a:tr>
              <a:tr h="1993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Trim #7 : 32M_OSC Trim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26994"/>
                  </a:ext>
                </a:extLst>
              </a:tr>
              <a:tr h="1907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I2C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#1 : Current consumption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12V(I Meas.)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883632"/>
                  </a:ext>
                </a:extLst>
              </a:tr>
              <a:tr h="19070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DTB</a:t>
                      </a:r>
                    </a:p>
                  </a:txBody>
                  <a:tcPr marL="6486" marR="6486" marT="6486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#2: Over-Voltage monitoring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004591"/>
                  </a:ext>
                </a:extLst>
              </a:tr>
              <a:tr h="1907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#3: Enable Input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325344"/>
                  </a:ext>
                </a:extLst>
              </a:tr>
              <a:tr h="38313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EC #4: VDD5 LDO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Sweep&amp;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5V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Meas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맑은 고딕" panose="020B0503020000020004" pitchFamily="50" charset="-127"/>
                          <a:cs typeface="+mn-cs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NC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12V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0V</a:t>
                      </a:r>
                    </a:p>
                  </a:txBody>
                  <a:tcPr marL="6486" marR="6486" marT="64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193442"/>
                  </a:ext>
                </a:extLst>
              </a:tr>
            </a:tbl>
          </a:graphicData>
        </a:graphic>
      </p:graphicFrame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D7E5AC-0407-B88B-38B9-8F25537D5B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#7. 32M OSC Trim Pin Condition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8410FB1-1B47-A3D8-D516-3CB0989F3B45}"/>
              </a:ext>
            </a:extLst>
          </p:cNvPr>
          <p:cNvSpPr/>
          <p:nvPr/>
        </p:nvSpPr>
        <p:spPr bwMode="auto">
          <a:xfrm>
            <a:off x="704088" y="3975101"/>
            <a:ext cx="8970264" cy="958848"/>
          </a:xfrm>
          <a:prstGeom prst="rect">
            <a:avLst/>
          </a:prstGeom>
          <a:solidFill>
            <a:schemeClr val="bg2">
              <a:lumMod val="60000"/>
              <a:lumOff val="40000"/>
              <a:alpha val="4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586E79E-8E1D-C459-BD39-5B4929CA8C98}"/>
              </a:ext>
            </a:extLst>
          </p:cNvPr>
          <p:cNvSpPr/>
          <p:nvPr/>
        </p:nvSpPr>
        <p:spPr bwMode="auto">
          <a:xfrm>
            <a:off x="704088" y="2442972"/>
            <a:ext cx="8970264" cy="1305494"/>
          </a:xfrm>
          <a:prstGeom prst="rect">
            <a:avLst/>
          </a:prstGeom>
          <a:solidFill>
            <a:schemeClr val="bg2">
              <a:lumMod val="60000"/>
              <a:lumOff val="40000"/>
              <a:alpha val="4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FA30BDF-1181-8148-EE4D-421CA2799E4D}"/>
              </a:ext>
            </a:extLst>
          </p:cNvPr>
          <p:cNvSpPr/>
          <p:nvPr/>
        </p:nvSpPr>
        <p:spPr bwMode="auto">
          <a:xfrm>
            <a:off x="704088" y="3767517"/>
            <a:ext cx="8970264" cy="18853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44124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4C674-D0BE-CB94-47A4-A9C6723ED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3089B8-E9E2-D3FE-6BFC-55611A7B84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#7. 32M_OSC Trim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9EAB163-0D5C-DF33-9C95-1A159AEFD068}"/>
              </a:ext>
            </a:extLst>
          </p:cNvPr>
          <p:cNvSpPr/>
          <p:nvPr/>
        </p:nvSpPr>
        <p:spPr bwMode="auto">
          <a:xfrm>
            <a:off x="3339383" y="2967218"/>
            <a:ext cx="3216002" cy="871478"/>
          </a:xfrm>
          <a:prstGeom prst="rect">
            <a:avLst/>
          </a:prstGeom>
          <a:solidFill>
            <a:srgbClr val="F8F8F8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&lt;32M_OSC Monitor&gt;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0xE5 : 0x05a (DTB_MCLK_DIV_32 select)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READ 0xF4 [7:0] (32M_OSC Trim code)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36A89B4-8B6F-8A16-E77B-CE3D8CB43B47}"/>
              </a:ext>
            </a:extLst>
          </p:cNvPr>
          <p:cNvSpPr/>
          <p:nvPr/>
        </p:nvSpPr>
        <p:spPr bwMode="auto">
          <a:xfrm>
            <a:off x="3579231" y="4165210"/>
            <a:ext cx="2736304" cy="432000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GPIO1 pin Frequency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측정  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(MCLK_DIV_32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출력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-1MHz)</a:t>
            </a:r>
            <a:endParaRPr lang="ko-KR" altLang="en-US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6474668-48AB-9C9A-888B-8E6889A800C4}"/>
              </a:ext>
            </a:extLst>
          </p:cNvPr>
          <p:cNvSpPr/>
          <p:nvPr/>
        </p:nvSpPr>
        <p:spPr bwMode="auto">
          <a:xfrm>
            <a:off x="2972330" y="4946466"/>
            <a:ext cx="3950107" cy="1363035"/>
          </a:xfrm>
          <a:prstGeom prst="rect">
            <a:avLst/>
          </a:prstGeom>
          <a:solidFill>
            <a:srgbClr val="FFFFCC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&lt;32M_OSC Trim 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수행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0xF4 : 0x000 ~ 0x0FF (32MHz target / 1LSB: +/-100KHz)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00FFFF"/>
                </a:highlight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32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00FFFF"/>
                </a:highlight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분주 되어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00FFFF"/>
                </a:highlight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1MHz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00FFFF"/>
                </a:highlight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로 출력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00FFFF"/>
                </a:highlight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(1MHz target / 1LSB: +/-3.125kHz)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 : WRITE 0xF4 MID CODE (1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try target 1MHz)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nd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: WRITE 0xF4 FINE CODE (should be 1MHz +/-0.5LSB)</a:t>
            </a:r>
            <a:endParaRPr lang="en-US" altLang="ko-KR" sz="10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AC9C56C-1186-6D76-5792-BF9147E333F6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4947383" y="3838696"/>
            <a:ext cx="1" cy="326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5E58A0D-121D-AC0C-256C-BFCF0123185B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4947383" y="4597210"/>
            <a:ext cx="1" cy="349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B94E4BD3-EF10-3555-AEC8-C0B21FC8F7E7}"/>
              </a:ext>
            </a:extLst>
          </p:cNvPr>
          <p:cNvCxnSpPr>
            <a:cxnSpLocks/>
            <a:stCxn id="9" idx="3"/>
            <a:endCxn id="8" idx="3"/>
          </p:cNvCxnSpPr>
          <p:nvPr/>
        </p:nvCxnSpPr>
        <p:spPr>
          <a:xfrm flipH="1" flipV="1">
            <a:off x="6315535" y="4381210"/>
            <a:ext cx="606902" cy="1246774"/>
          </a:xfrm>
          <a:prstGeom prst="bentConnector3">
            <a:avLst>
              <a:gd name="adj1" fmla="val -376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2C7BDA04-4730-5EAF-883F-D3D704920FCF}"/>
              </a:ext>
            </a:extLst>
          </p:cNvPr>
          <p:cNvSpPr/>
          <p:nvPr/>
        </p:nvSpPr>
        <p:spPr bwMode="auto">
          <a:xfrm>
            <a:off x="3582040" y="849276"/>
            <a:ext cx="2736304" cy="1882092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 w="6350">
            <a:solidFill>
              <a:schemeClr val="bg2">
                <a:lumMod val="20000"/>
                <a:lumOff val="80000"/>
              </a:schemeClr>
            </a:solidFill>
            <a:prstDash val="lg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DTB MODE </a:t>
            </a:r>
          </a:p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Entry Sequence </a:t>
            </a:r>
            <a:endParaRPr lang="ko-KR" altLang="en-US" sz="140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4B1DE9D-0A3D-5EC3-E27A-B59AECFE705B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 flipH="1">
            <a:off x="4947384" y="2731368"/>
            <a:ext cx="2808" cy="235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74A8A93-BBCD-12F0-17F8-728983B9E345}"/>
              </a:ext>
            </a:extLst>
          </p:cNvPr>
          <p:cNvSpPr/>
          <p:nvPr/>
        </p:nvSpPr>
        <p:spPr bwMode="auto">
          <a:xfrm>
            <a:off x="7103037" y="4730144"/>
            <a:ext cx="2555704" cy="432643"/>
          </a:xfrm>
          <a:prstGeom prst="rect">
            <a:avLst/>
          </a:prstGeom>
          <a:noFill/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32M OSC Double Trim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실행</a:t>
            </a:r>
            <a:endParaRPr lang="en-US" altLang="ko-KR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B0F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(2</a:t>
            </a:r>
            <a:r>
              <a:rPr lang="en-US" altLang="ko-KR" sz="12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nd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으로 이동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99836272-FD43-0D8F-05C3-CDA7BD7925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198843"/>
              </p:ext>
            </p:extLst>
          </p:nvPr>
        </p:nvGraphicFramePr>
        <p:xfrm>
          <a:off x="279773" y="849276"/>
          <a:ext cx="2952314" cy="2049780"/>
        </p:xfrm>
        <a:graphic>
          <a:graphicData uri="http://schemas.openxmlformats.org/drawingml/2006/table">
            <a:tbl>
              <a:tblPr/>
              <a:tblGrid>
                <a:gridCol w="1096354">
                  <a:extLst>
                    <a:ext uri="{9D8B030D-6E8A-4147-A177-3AD203B41FA5}">
                      <a16:colId xmlns:a16="http://schemas.microsoft.com/office/drawing/2014/main" val="3049564704"/>
                    </a:ext>
                  </a:extLst>
                </a:gridCol>
                <a:gridCol w="1029924">
                  <a:extLst>
                    <a:ext uri="{9D8B030D-6E8A-4147-A177-3AD203B41FA5}">
                      <a16:colId xmlns:a16="http://schemas.microsoft.com/office/drawing/2014/main" val="442671715"/>
                    </a:ext>
                  </a:extLst>
                </a:gridCol>
                <a:gridCol w="826036">
                  <a:extLst>
                    <a:ext uri="{9D8B030D-6E8A-4147-A177-3AD203B41FA5}">
                      <a16:colId xmlns:a16="http://schemas.microsoft.com/office/drawing/2014/main" val="20355210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0xF4 [7:0]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TRIM_32MOSC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Internal</a:t>
                      </a:r>
                    </a:p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OSC Freq.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분주</a:t>
                      </a:r>
                      <a:b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RESULT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09469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436021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31.9M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996.87K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91883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64177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18.7M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584.37K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686974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1000K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44315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…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833296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44.4M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1387.5K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63090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44.5M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1390.6K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79826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7172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75948-85E3-5505-BBD4-FDA94D487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671641-8CB9-7903-CE05-AD067D03FE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#9. BUCK_OSC (OSC_TOP_CLK) Trim</a:t>
            </a:r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4EA926F-02EE-BF8F-8440-CBBEBFD499B0}"/>
              </a:ext>
            </a:extLst>
          </p:cNvPr>
          <p:cNvSpPr/>
          <p:nvPr/>
        </p:nvSpPr>
        <p:spPr bwMode="auto">
          <a:xfrm>
            <a:off x="4428228" y="2683416"/>
            <a:ext cx="3216002" cy="989624"/>
          </a:xfrm>
          <a:prstGeom prst="rect">
            <a:avLst/>
          </a:prstGeom>
          <a:solidFill>
            <a:srgbClr val="F8F8F8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&lt;SSC Function OFF &amp; BUCK_OSC Monitor&gt;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0x07 : 0x0BD (SSC Function OFF)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0xE5 : 0x058 (DTB_OSC_TOP_CLK_DIV_4)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READ 0xF5 [3:0] (OSC_BIAS Trim code, default : 0)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1188ED-4969-F8D7-E102-C2FF4D476E09}"/>
              </a:ext>
            </a:extLst>
          </p:cNvPr>
          <p:cNvSpPr/>
          <p:nvPr/>
        </p:nvSpPr>
        <p:spPr bwMode="auto">
          <a:xfrm>
            <a:off x="4520108" y="3892779"/>
            <a:ext cx="3028856" cy="432000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GPIO1 pin Frequency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측정  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(OSC_TOP_CLK_DIV_4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출력 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- 550kHz)</a:t>
            </a:r>
            <a:endParaRPr lang="ko-KR" altLang="en-US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7315D25-A29C-244E-8C10-543019199822}"/>
              </a:ext>
            </a:extLst>
          </p:cNvPr>
          <p:cNvSpPr/>
          <p:nvPr/>
        </p:nvSpPr>
        <p:spPr bwMode="auto">
          <a:xfrm>
            <a:off x="4001629" y="4662664"/>
            <a:ext cx="4063971" cy="1521009"/>
          </a:xfrm>
          <a:prstGeom prst="rect">
            <a:avLst/>
          </a:prstGeom>
          <a:solidFill>
            <a:srgbClr val="FFFFCC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&lt;BUCK_OSC Trim 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실행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0xF5 : 0x--0 ~ 0x--F (2.2MHz target / 1LSB: +/-120kHz)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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00FFFF"/>
                </a:highlight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4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00FFFF"/>
                </a:highlight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분주 되어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00FFFF"/>
                </a:highlight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550kHz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00FFFF"/>
                </a:highlight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로 출력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highlight>
                  <a:srgbClr val="00FFFF"/>
                </a:highlight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(550kHz target / 1LSB: +/-30kHz)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 : WRITE 0xF4 MID CODE (1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try target 550kHz)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nd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: WRITE 0xF4 FINE CODE (should be 550kHz +/-0.5LSB)</a:t>
            </a:r>
            <a:endParaRPr lang="en-US" altLang="ko-KR" sz="10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F424374-0CF2-5B37-9C83-0862BE95B672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6034536" y="3673040"/>
            <a:ext cx="1693" cy="2197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1C79998-25ED-9A73-1373-148884CFC80C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6033615" y="4324779"/>
            <a:ext cx="921" cy="337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089736BD-A7A5-01F8-377E-8DF2D44343D2}"/>
              </a:ext>
            </a:extLst>
          </p:cNvPr>
          <p:cNvCxnSpPr>
            <a:cxnSpLocks/>
            <a:stCxn id="9" idx="3"/>
            <a:endCxn id="8" idx="3"/>
          </p:cNvCxnSpPr>
          <p:nvPr/>
        </p:nvCxnSpPr>
        <p:spPr>
          <a:xfrm flipH="1" flipV="1">
            <a:off x="7548964" y="4108779"/>
            <a:ext cx="516636" cy="1314390"/>
          </a:xfrm>
          <a:prstGeom prst="bentConnector3">
            <a:avLst>
              <a:gd name="adj1" fmla="val -4424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844983E-9EC4-B749-607F-6BE5949CC659}"/>
              </a:ext>
            </a:extLst>
          </p:cNvPr>
          <p:cNvSpPr/>
          <p:nvPr/>
        </p:nvSpPr>
        <p:spPr bwMode="auto">
          <a:xfrm>
            <a:off x="8191882" y="4446342"/>
            <a:ext cx="1597343" cy="479348"/>
          </a:xfrm>
          <a:prstGeom prst="rect">
            <a:avLst/>
          </a:prstGeom>
          <a:noFill/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BUCK_OSC 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Double Trim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실행</a:t>
            </a:r>
            <a:endParaRPr lang="en-US" altLang="ko-KR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B0F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(2</a:t>
            </a:r>
            <a:r>
              <a:rPr lang="en-US" altLang="ko-KR" sz="12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nd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으로 이동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00DF37-545C-4581-B842-6499070137D9}"/>
              </a:ext>
            </a:extLst>
          </p:cNvPr>
          <p:cNvSpPr/>
          <p:nvPr/>
        </p:nvSpPr>
        <p:spPr bwMode="auto">
          <a:xfrm>
            <a:off x="279774" y="1425996"/>
            <a:ext cx="3001640" cy="5019253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 w="6350">
            <a:solidFill>
              <a:schemeClr val="bg2">
                <a:lumMod val="20000"/>
                <a:lumOff val="80000"/>
              </a:schemeClr>
            </a:solidFill>
            <a:prstDash val="lg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DTB MODE </a:t>
            </a:r>
          </a:p>
          <a:p>
            <a:pPr algn="ctr">
              <a:spcBef>
                <a:spcPts val="10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Entry Sequence </a:t>
            </a:r>
            <a:endParaRPr lang="ko-KR" altLang="en-US" sz="140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247954D-C056-AF97-BC49-1146AFADD90C}"/>
              </a:ext>
            </a:extLst>
          </p:cNvPr>
          <p:cNvSpPr/>
          <p:nvPr/>
        </p:nvSpPr>
        <p:spPr bwMode="auto">
          <a:xfrm>
            <a:off x="412442" y="5423168"/>
            <a:ext cx="2736304" cy="799376"/>
          </a:xfrm>
          <a:prstGeom prst="rect">
            <a:avLst/>
          </a:prstGeom>
          <a:solidFill>
            <a:srgbClr val="F8F8F8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&lt;DTB1/2 Entry&gt;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0xE5 : 0x040 (DTB1_MUX_EN)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0xE6 : 0x040 (DTB2_MUX_EN)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9FBAC2CE-082B-DCAC-8BB2-A3CE7A52E6F1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1783804" y="2686385"/>
            <a:ext cx="0" cy="2675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9DA2EC6-7AAA-84E5-0A61-05B301034DD7}"/>
              </a:ext>
            </a:extLst>
          </p:cNvPr>
          <p:cNvSpPr/>
          <p:nvPr/>
        </p:nvSpPr>
        <p:spPr bwMode="auto">
          <a:xfrm>
            <a:off x="415652" y="2138350"/>
            <a:ext cx="2736304" cy="548035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RFREQ pin = 50k</a:t>
            </a:r>
            <a:r>
              <a:rPr lang="el-GR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Ω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연결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?</a:t>
            </a:r>
          </a:p>
          <a:p>
            <a:pPr algn="ctr">
              <a:spcBef>
                <a:spcPts val="1000"/>
              </a:spcBef>
            </a:pP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VIN/EN pin = 12V </a:t>
            </a:r>
            <a:endParaRPr lang="ko-KR" altLang="en-US" sz="12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90C8CA5-4617-9E11-58D9-631369D9683D}"/>
              </a:ext>
            </a:extLst>
          </p:cNvPr>
          <p:cNvCxnSpPr>
            <a:cxnSpLocks/>
            <a:stCxn id="2" idx="2"/>
            <a:endCxn id="15" idx="0"/>
          </p:cNvCxnSpPr>
          <p:nvPr/>
        </p:nvCxnSpPr>
        <p:spPr>
          <a:xfrm>
            <a:off x="1780594" y="4448788"/>
            <a:ext cx="0" cy="230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CA5CEB4-8FC9-9D45-E67B-885CAEC4DE4C}"/>
              </a:ext>
            </a:extLst>
          </p:cNvPr>
          <p:cNvSpPr/>
          <p:nvPr/>
        </p:nvSpPr>
        <p:spPr bwMode="auto">
          <a:xfrm>
            <a:off x="412442" y="4679326"/>
            <a:ext cx="2736304" cy="492727"/>
          </a:xfrm>
          <a:prstGeom prst="rect">
            <a:avLst/>
          </a:prstGeom>
          <a:solidFill>
            <a:srgbClr val="F8F8F8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&lt;GPIO1/2 Output Mode&gt;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0x08 : 0x113 (GPIO1/2 Output Mode)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B43F5B5-3921-D821-B152-D5EC3E527527}"/>
              </a:ext>
            </a:extLst>
          </p:cNvPr>
          <p:cNvCxnSpPr>
            <a:cxnSpLocks/>
            <a:stCxn id="15" idx="2"/>
            <a:endCxn id="6" idx="0"/>
          </p:cNvCxnSpPr>
          <p:nvPr/>
        </p:nvCxnSpPr>
        <p:spPr>
          <a:xfrm>
            <a:off x="1780594" y="5172053"/>
            <a:ext cx="0" cy="2511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CCBF7075-2BE4-04A0-7E22-DC2DC5225AED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3148746" y="3178228"/>
            <a:ext cx="1279482" cy="264462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>
            <a:extLst>
              <a:ext uri="{FF2B5EF4-FFF2-40B4-BE49-F238E27FC236}">
                <a16:creationId xmlns:a16="http://schemas.microsoft.com/office/drawing/2014/main" id="{146CC7FF-E51F-EA18-CA95-BB7DA1447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80" y="708343"/>
            <a:ext cx="9388444" cy="60619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F5866AAB-B8FE-BFBA-812F-07B8CDA25D59}"/>
              </a:ext>
            </a:extLst>
          </p:cNvPr>
          <p:cNvSpPr/>
          <p:nvPr/>
        </p:nvSpPr>
        <p:spPr bwMode="auto">
          <a:xfrm>
            <a:off x="412442" y="2953955"/>
            <a:ext cx="2736304" cy="1494833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Test mode Enter (I2C mode)</a:t>
            </a:r>
          </a:p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TM pin : 0</a:t>
            </a: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  <a:sym typeface="Wingdings" panose="05000000000000000000" pitchFamily="2" charset="2"/>
              </a:rPr>
              <a:t></a:t>
            </a: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5V </a:t>
            </a:r>
            <a:r>
              <a: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인가</a:t>
            </a:r>
            <a:endParaRPr lang="en-US" altLang="ko-KR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(100us Delay)</a:t>
            </a:r>
          </a:p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GPIO0 /ADDR2 pin : 0V </a:t>
            </a:r>
            <a:r>
              <a: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인가</a:t>
            </a:r>
            <a:endParaRPr lang="en-US" altLang="ko-KR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algn="ctr"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20us delay </a:t>
            </a:r>
            <a:r>
              <a: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이후 </a:t>
            </a: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i2c write(TM Unlock)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0xE1 : 0x800 (TEST_E=1)</a:t>
            </a:r>
            <a:endParaRPr lang="ko-KR" altLang="en-US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0B5063-3F0E-4506-6408-182A1D157A0F}"/>
              </a:ext>
            </a:extLst>
          </p:cNvPr>
          <p:cNvSpPr txBox="1"/>
          <p:nvPr/>
        </p:nvSpPr>
        <p:spPr>
          <a:xfrm>
            <a:off x="2858184" y="1979781"/>
            <a:ext cx="2133918" cy="292388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ko-KR" altLang="en-US" sz="13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저항 연결하는 시점 정의 필요</a:t>
            </a:r>
            <a:endParaRPr lang="ko-KR" altLang="en-US" sz="1300" dirty="0" err="1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8893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BCDC9-4383-F5A1-B087-DCF6AE30A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E1A149-1015-B15C-42A9-8013A38D8A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#9. BUCK_OSC (OSC_TOP_CLK) Trim</a:t>
            </a:r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F53902B-F51A-2CB2-69FC-138F76548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117307"/>
              </p:ext>
            </p:extLst>
          </p:nvPr>
        </p:nvGraphicFramePr>
        <p:xfrm>
          <a:off x="959084" y="1005840"/>
          <a:ext cx="2874189" cy="502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7876">
                  <a:extLst>
                    <a:ext uri="{9D8B030D-6E8A-4147-A177-3AD203B41FA5}">
                      <a16:colId xmlns:a16="http://schemas.microsoft.com/office/drawing/2014/main" val="2084724796"/>
                    </a:ext>
                  </a:extLst>
                </a:gridCol>
                <a:gridCol w="937821">
                  <a:extLst>
                    <a:ext uri="{9D8B030D-6E8A-4147-A177-3AD203B41FA5}">
                      <a16:colId xmlns:a16="http://schemas.microsoft.com/office/drawing/2014/main" val="265785884"/>
                    </a:ext>
                  </a:extLst>
                </a:gridCol>
                <a:gridCol w="638492">
                  <a:extLst>
                    <a:ext uri="{9D8B030D-6E8A-4147-A177-3AD203B41FA5}">
                      <a16:colId xmlns:a16="http://schemas.microsoft.com/office/drawing/2014/main" val="4040343282"/>
                    </a:ext>
                  </a:extLst>
                </a:gridCol>
              </a:tblGrid>
              <a:tr h="40039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0xF5 [3:0]</a:t>
                      </a:r>
                      <a:b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TRIM_OSC_TOP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OSC_FREQ</a:t>
                      </a:r>
                    </a:p>
                    <a:p>
                      <a:pPr algn="ctr" latinLnBrk="1"/>
                      <a:r>
                        <a:rPr lang="en-US" altLang="ko-KR" sz="1200" b="0"/>
                        <a:t>(MHz)</a:t>
                      </a:r>
                      <a:endParaRPr lang="ko-KR" altLang="en-US" sz="1200" b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DIV_4</a:t>
                      </a:r>
                    </a:p>
                    <a:p>
                      <a:pPr algn="ctr" latinLnBrk="1"/>
                      <a:r>
                        <a:rPr lang="en-US" altLang="ko-KR" sz="1200" b="0"/>
                        <a:t>(MHz)</a:t>
                      </a:r>
                      <a:endParaRPr lang="ko-KR" altLang="en-US" sz="1200" b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313488"/>
                  </a:ext>
                </a:extLst>
              </a:tr>
              <a:tr h="240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0000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2.201</a:t>
                      </a:r>
                      <a:endParaRPr lang="ko-KR" altLang="en-US" sz="12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0.550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45052626"/>
                  </a:ext>
                </a:extLst>
              </a:tr>
              <a:tr h="240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0001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2.088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11569953"/>
                  </a:ext>
                </a:extLst>
              </a:tr>
              <a:tr h="240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0010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1.974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0.494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85844559"/>
                  </a:ext>
                </a:extLst>
              </a:tr>
              <a:tr h="240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0011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1.858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0.465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6444816"/>
                  </a:ext>
                </a:extLst>
              </a:tr>
              <a:tr h="240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0100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1.739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0.435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63632135"/>
                  </a:ext>
                </a:extLst>
              </a:tr>
              <a:tr h="240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0101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1.617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0.404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5911992"/>
                  </a:ext>
                </a:extLst>
              </a:tr>
              <a:tr h="240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0110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1.492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0.373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62013275"/>
                  </a:ext>
                </a:extLst>
              </a:tr>
              <a:tr h="240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0111</a:t>
                      </a:r>
                      <a:endParaRPr lang="ko-KR" altLang="en-US" sz="1200"/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1.364</a:t>
                      </a:r>
                      <a:endParaRPr lang="ko-KR" altLang="en-US" sz="1200"/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0.341</a:t>
                      </a:r>
                    </a:p>
                  </a:txBody>
                  <a:tcPr marL="9525" marR="9525" marT="9525" marB="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373595"/>
                  </a:ext>
                </a:extLst>
              </a:tr>
              <a:tr h="240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1000</a:t>
                      </a:r>
                      <a:endParaRPr lang="ko-KR" altLang="en-US" sz="120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3.023</a:t>
                      </a:r>
                      <a:endParaRPr lang="ko-KR" altLang="en-US" sz="120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0.756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69133492"/>
                  </a:ext>
                </a:extLst>
              </a:tr>
              <a:tr h="240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1001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2.924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0.731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522331"/>
                  </a:ext>
                </a:extLst>
              </a:tr>
              <a:tr h="240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1010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2.827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0.707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23033018"/>
                  </a:ext>
                </a:extLst>
              </a:tr>
              <a:tr h="240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1011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2.728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0.682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35669991"/>
                  </a:ext>
                </a:extLst>
              </a:tr>
              <a:tr h="240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1100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2.626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0.657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40551219"/>
                  </a:ext>
                </a:extLst>
              </a:tr>
              <a:tr h="240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1101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2.522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0.631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43118775"/>
                  </a:ext>
                </a:extLst>
              </a:tr>
              <a:tr h="240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1110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2.417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0.604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65968093"/>
                  </a:ext>
                </a:extLst>
              </a:tr>
              <a:tr h="2402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1111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2.310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0.578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134593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F96B06A2-BDBC-7101-A4FD-2B10D4AE7989}"/>
              </a:ext>
            </a:extLst>
          </p:cNvPr>
          <p:cNvSpPr txBox="1"/>
          <p:nvPr/>
        </p:nvSpPr>
        <p:spPr>
          <a:xfrm>
            <a:off x="1212452" y="744230"/>
            <a:ext cx="22437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RFREQ@50kohm</a:t>
            </a:r>
            <a:endParaRPr lang="ko-KR" altLang="en-US" sz="110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6C12130C-C685-54D0-FCDD-A8A8D31D2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762848"/>
              </p:ext>
            </p:extLst>
          </p:nvPr>
        </p:nvGraphicFramePr>
        <p:xfrm>
          <a:off x="5521950" y="1005840"/>
          <a:ext cx="2912998" cy="50478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7876">
                  <a:extLst>
                    <a:ext uri="{9D8B030D-6E8A-4147-A177-3AD203B41FA5}">
                      <a16:colId xmlns:a16="http://schemas.microsoft.com/office/drawing/2014/main" val="2084724796"/>
                    </a:ext>
                  </a:extLst>
                </a:gridCol>
                <a:gridCol w="981392">
                  <a:extLst>
                    <a:ext uri="{9D8B030D-6E8A-4147-A177-3AD203B41FA5}">
                      <a16:colId xmlns:a16="http://schemas.microsoft.com/office/drawing/2014/main" val="265785884"/>
                    </a:ext>
                  </a:extLst>
                </a:gridCol>
                <a:gridCol w="633730">
                  <a:extLst>
                    <a:ext uri="{9D8B030D-6E8A-4147-A177-3AD203B41FA5}">
                      <a16:colId xmlns:a16="http://schemas.microsoft.com/office/drawing/2014/main" val="2161913249"/>
                    </a:ext>
                  </a:extLst>
                </a:gridCol>
              </a:tblGrid>
              <a:tr h="43732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0xF5 [3:0]</a:t>
                      </a:r>
                      <a:b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TRIM_OSC_TOP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OSC_FREQ</a:t>
                      </a:r>
                    </a:p>
                    <a:p>
                      <a:pPr algn="ctr" latinLnBrk="1"/>
                      <a:r>
                        <a:rPr lang="en-US" altLang="ko-KR" sz="1200" b="0"/>
                        <a:t>(MHz)</a:t>
                      </a:r>
                      <a:endParaRPr lang="ko-KR" altLang="en-US" sz="1200" b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/>
                        <a:t>DIV_4</a:t>
                      </a:r>
                    </a:p>
                    <a:p>
                      <a:pPr algn="ctr" latinLnBrk="1"/>
                      <a:r>
                        <a:rPr lang="en-US" altLang="ko-KR" sz="1200" b="0"/>
                        <a:t>(kHz)</a:t>
                      </a:r>
                      <a:endParaRPr lang="ko-KR" altLang="en-US" sz="1200" b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313488"/>
                  </a:ext>
                </a:extLst>
              </a:tr>
              <a:tr h="275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0000</a:t>
                      </a:r>
                    </a:p>
                    <a:p>
                      <a:pPr algn="ctr" latinLnBrk="1"/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(default)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rgbClr val="FF0000"/>
                          </a:solidFill>
                        </a:rPr>
                        <a:t>458.8</a:t>
                      </a:r>
                      <a:endParaRPr lang="ko-KR" altLang="en-US" sz="120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114.7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45052626"/>
                  </a:ext>
                </a:extLst>
              </a:tr>
              <a:tr h="275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0001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432.2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108.1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11569953"/>
                  </a:ext>
                </a:extLst>
              </a:tr>
              <a:tr h="275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0010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405.3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101.3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85844559"/>
                  </a:ext>
                </a:extLst>
              </a:tr>
              <a:tr h="275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0011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378.3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94.6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66444816"/>
                  </a:ext>
                </a:extLst>
              </a:tr>
              <a:tr h="275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0100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351.0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87.8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63632135"/>
                  </a:ext>
                </a:extLst>
              </a:tr>
              <a:tr h="275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0101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323.4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80.9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5911992"/>
                  </a:ext>
                </a:extLst>
              </a:tr>
              <a:tr h="275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0110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295.7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73.9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62013275"/>
                  </a:ext>
                </a:extLst>
              </a:tr>
              <a:tr h="275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0111</a:t>
                      </a:r>
                      <a:endParaRPr lang="ko-KR" altLang="en-US" sz="1200"/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267.8</a:t>
                      </a:r>
                      <a:endParaRPr lang="ko-KR" altLang="en-US" sz="1200" dirty="0"/>
                    </a:p>
                  </a:txBody>
                  <a:tcP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66.9</a:t>
                      </a:r>
                    </a:p>
                  </a:txBody>
                  <a:tcPr marL="9525" marR="9525" marT="9525" marB="0" anchor="ctr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7373595"/>
                  </a:ext>
                </a:extLst>
              </a:tr>
              <a:tr h="275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1000</a:t>
                      </a:r>
                      <a:endParaRPr lang="ko-KR" altLang="en-US" sz="120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665.9</a:t>
                      </a:r>
                      <a:endParaRPr lang="ko-KR" altLang="en-US" sz="1200"/>
                    </a:p>
                  </a:txBody>
                  <a:tcP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166.5</a:t>
                      </a:r>
                    </a:p>
                  </a:txBody>
                  <a:tcPr marL="9525" marR="9525" marT="9525" marB="0"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69133492"/>
                  </a:ext>
                </a:extLst>
              </a:tr>
              <a:tr h="275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1001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640.5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160.1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522331"/>
                  </a:ext>
                </a:extLst>
              </a:tr>
              <a:tr h="275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1010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615.0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153.7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23033018"/>
                  </a:ext>
                </a:extLst>
              </a:tr>
              <a:tr h="275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1011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589.4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147.3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35669991"/>
                  </a:ext>
                </a:extLst>
              </a:tr>
              <a:tr h="275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1100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563.6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140.9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40551219"/>
                  </a:ext>
                </a:extLst>
              </a:tr>
              <a:tr h="275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1101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537.7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134.4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43118775"/>
                  </a:ext>
                </a:extLst>
              </a:tr>
              <a:tr h="275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1110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511.5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127.9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65968093"/>
                  </a:ext>
                </a:extLst>
              </a:tr>
              <a:tr h="2755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1111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/>
                        <a:t>485.4</a:t>
                      </a:r>
                      <a:endParaRPr lang="ko-KR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121.4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00134593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28AC7B08-FF04-0FE2-1408-0BCA0C1B5A71}"/>
              </a:ext>
            </a:extLst>
          </p:cNvPr>
          <p:cNvSpPr txBox="1"/>
          <p:nvPr/>
        </p:nvSpPr>
        <p:spPr>
          <a:xfrm>
            <a:off x="5838815" y="744230"/>
            <a:ext cx="22792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>
                <a:ln>
                  <a:solidFill>
                    <a:srgbClr val="000000">
                      <a:alpha val="0"/>
                    </a:srgbClr>
                  </a:solidFill>
                </a:ln>
                <a:latin typeface="현대하모니 M" panose="02020603020101020101" pitchFamily="18" charset="-127"/>
                <a:ea typeface="현대하모니 M" panose="02020603020101020101" pitchFamily="18" charset="-127"/>
              </a:rPr>
              <a:t>RFREQ@300kohm</a:t>
            </a:r>
            <a:endParaRPr lang="ko-KR" altLang="en-US" sz="1100">
              <a:ln>
                <a:solidFill>
                  <a:srgbClr val="000000">
                    <a:alpha val="0"/>
                  </a:srgbClr>
                </a:solidFill>
              </a:ln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89570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06A0C-AD33-ACD0-13A7-93F3E593F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8F8DC3-52A4-050F-86B9-885D1571B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#10. LVDS TX Current Trim</a:t>
            </a:r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308E678-A6F5-26F9-B937-BB52A42607A6}"/>
              </a:ext>
            </a:extLst>
          </p:cNvPr>
          <p:cNvSpPr/>
          <p:nvPr/>
        </p:nvSpPr>
        <p:spPr bwMode="auto">
          <a:xfrm>
            <a:off x="2908886" y="5169348"/>
            <a:ext cx="3950107" cy="1213346"/>
          </a:xfrm>
          <a:prstGeom prst="rect">
            <a:avLst/>
          </a:prstGeom>
          <a:solidFill>
            <a:srgbClr val="FFFFCC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&lt;LVDS TX Current Trim 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실행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0xF7 : 0x--0 ~ 0x--7 (1.5mA target / 1LSB: +/-165uA)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Voltage 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를 측정하여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200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ohm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으로 나누어 전류 치 역산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(V = IR)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1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 : WRITE 0xF6 MID CODE (1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st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try target 1.5mA)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</a:t>
            </a:r>
            <a:r>
              <a:rPr lang="en-US" altLang="ko-KR" sz="10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nd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: WRITE 0xF6 FINE CODE (should be 1.5mA +/-0.5LSB)</a:t>
            </a:r>
            <a:endParaRPr lang="en-US" altLang="ko-KR" sz="10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752091C-57E7-F462-575A-41AF865387FE}"/>
              </a:ext>
            </a:extLst>
          </p:cNvPr>
          <p:cNvCxnSpPr>
            <a:cxnSpLocks/>
            <a:stCxn id="2" idx="2"/>
            <a:endCxn id="21" idx="0"/>
          </p:cNvCxnSpPr>
          <p:nvPr/>
        </p:nvCxnSpPr>
        <p:spPr>
          <a:xfrm>
            <a:off x="4883938" y="1875332"/>
            <a:ext cx="0" cy="180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2465B311-9018-FC38-7D35-8D416CF3AA93}"/>
              </a:ext>
            </a:extLst>
          </p:cNvPr>
          <p:cNvCxnSpPr>
            <a:cxnSpLocks/>
            <a:stCxn id="9" idx="3"/>
            <a:endCxn id="22" idx="3"/>
          </p:cNvCxnSpPr>
          <p:nvPr/>
        </p:nvCxnSpPr>
        <p:spPr>
          <a:xfrm flipH="1" flipV="1">
            <a:off x="6398367" y="4737347"/>
            <a:ext cx="460626" cy="1038674"/>
          </a:xfrm>
          <a:prstGeom prst="bentConnector3">
            <a:avLst>
              <a:gd name="adj1" fmla="val -4962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98229E2-C9BA-A1EE-673F-5291E61A64E8}"/>
              </a:ext>
            </a:extLst>
          </p:cNvPr>
          <p:cNvSpPr/>
          <p:nvPr/>
        </p:nvSpPr>
        <p:spPr bwMode="auto">
          <a:xfrm>
            <a:off x="7023589" y="4871885"/>
            <a:ext cx="1597343" cy="923428"/>
          </a:xfrm>
          <a:prstGeom prst="rect">
            <a:avLst/>
          </a:prstGeom>
          <a:noFill/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LVDS_TX_Current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Double Trim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실행</a:t>
            </a:r>
            <a:endParaRPr lang="en-US" altLang="ko-KR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B0F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(2</a:t>
            </a:r>
            <a:r>
              <a:rPr lang="en-US" altLang="ko-KR" sz="12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nd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으로 이동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5D0DFDB-58C4-BF5C-A346-94E5835D2E37}"/>
              </a:ext>
            </a:extLst>
          </p:cNvPr>
          <p:cNvSpPr/>
          <p:nvPr/>
        </p:nvSpPr>
        <p:spPr bwMode="auto">
          <a:xfrm>
            <a:off x="3369510" y="2668790"/>
            <a:ext cx="3028855" cy="1420557"/>
          </a:xfrm>
          <a:prstGeom prst="rect">
            <a:avLst/>
          </a:prstGeom>
          <a:solidFill>
            <a:srgbClr val="F8F8F8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 LVDS TX Current Measurement Setting&gt;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0xE3 : 0x090 (Only LVDS </a:t>
            </a:r>
            <a:r>
              <a:rPr lang="en-US" altLang="ko-KR" sz="100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TX_High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ON)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“SIO_P : High   / SIO_N : Low”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3681FD9-0DBC-C883-6D1F-04D951960DB8}"/>
              </a:ext>
            </a:extLst>
          </p:cNvPr>
          <p:cNvSpPr/>
          <p:nvPr/>
        </p:nvSpPr>
        <p:spPr bwMode="auto">
          <a:xfrm>
            <a:off x="3369511" y="1302457"/>
            <a:ext cx="3028854" cy="572875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 w="6350">
            <a:solidFill>
              <a:schemeClr val="bg2">
                <a:lumMod val="20000"/>
                <a:lumOff val="80000"/>
              </a:schemeClr>
            </a:solidFill>
            <a:prstDash val="lg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Normal I2C Test Mode </a:t>
            </a:r>
          </a:p>
          <a:p>
            <a:pPr algn="ctr">
              <a:spcBef>
                <a:spcPts val="1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Entry Sequence </a:t>
            </a:r>
            <a:endParaRPr lang="ko-KR" altLang="en-US" sz="140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1622802-5651-ABF2-53A4-C92BB5D0B4CF}"/>
              </a:ext>
            </a:extLst>
          </p:cNvPr>
          <p:cNvSpPr/>
          <p:nvPr/>
        </p:nvSpPr>
        <p:spPr bwMode="auto">
          <a:xfrm>
            <a:off x="3369511" y="2056061"/>
            <a:ext cx="3028854" cy="432000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"/>
              </a:spcBef>
            </a:pPr>
            <a:r>
              <a:rPr lang="ko-KR" altLang="en-US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저항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200ohm </a:t>
            </a:r>
            <a:r>
              <a:rPr lang="ko-KR" altLang="en-US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연결 </a:t>
            </a:r>
            <a:r>
              <a:rPr lang="ko-KR" altLang="en-US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릴레이 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2">
                    <a:lumMod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ON</a:t>
            </a:r>
          </a:p>
          <a:p>
            <a:pPr algn="ctr">
              <a:spcBef>
                <a:spcPts val="100"/>
              </a:spcBef>
            </a:pPr>
            <a:r>
              <a:rPr lang="ko-KR" altLang="en-US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  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(SIO_P 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↔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SIO_N)</a:t>
            </a:r>
            <a:endParaRPr lang="ko-KR" altLang="en-US" sz="12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446672A-3826-D16A-5361-B759D0B474A1}"/>
              </a:ext>
            </a:extLst>
          </p:cNvPr>
          <p:cNvSpPr/>
          <p:nvPr/>
        </p:nvSpPr>
        <p:spPr bwMode="auto">
          <a:xfrm>
            <a:off x="3369511" y="4521347"/>
            <a:ext cx="3028856" cy="432000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SIO_P ~ SIO_N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사이 전압 측정</a:t>
            </a:r>
            <a:endParaRPr lang="en-US" altLang="ko-KR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algn="ctr">
              <a:spcBef>
                <a:spcPts val="1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(V=IR,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Measure V = I * ideal 200 ohm)</a:t>
            </a:r>
            <a:endParaRPr lang="ko-KR" altLang="en-US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B17D9838-E38E-F3EE-396A-B74A2BE45D16}"/>
              </a:ext>
            </a:extLst>
          </p:cNvPr>
          <p:cNvCxnSpPr>
            <a:cxnSpLocks/>
            <a:stCxn id="21" idx="2"/>
            <a:endCxn id="15" idx="0"/>
          </p:cNvCxnSpPr>
          <p:nvPr/>
        </p:nvCxnSpPr>
        <p:spPr>
          <a:xfrm>
            <a:off x="4883938" y="2488061"/>
            <a:ext cx="0" cy="180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5BB8EA0-D923-6430-5724-6927002E346F}"/>
              </a:ext>
            </a:extLst>
          </p:cNvPr>
          <p:cNvCxnSpPr>
            <a:cxnSpLocks/>
            <a:stCxn id="15" idx="2"/>
            <a:endCxn id="22" idx="0"/>
          </p:cNvCxnSpPr>
          <p:nvPr/>
        </p:nvCxnSpPr>
        <p:spPr>
          <a:xfrm>
            <a:off x="4883938" y="4089347"/>
            <a:ext cx="1" cy="432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68D4B786-4530-7E49-3C5A-EA265A81B435}"/>
              </a:ext>
            </a:extLst>
          </p:cNvPr>
          <p:cNvCxnSpPr>
            <a:cxnSpLocks/>
            <a:stCxn id="22" idx="2"/>
            <a:endCxn id="9" idx="0"/>
          </p:cNvCxnSpPr>
          <p:nvPr/>
        </p:nvCxnSpPr>
        <p:spPr>
          <a:xfrm>
            <a:off x="4883939" y="4953347"/>
            <a:ext cx="1" cy="2160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3291013B-4E69-7D3E-AC44-D7E3AEFB7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10" y="665717"/>
            <a:ext cx="9243588" cy="596842"/>
          </a:xfrm>
          <a:prstGeom prst="rect">
            <a:avLst/>
          </a:prstGeom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F64D6F9-CEF9-0361-C383-64F0FECD1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4906679"/>
              </p:ext>
            </p:extLst>
          </p:nvPr>
        </p:nvGraphicFramePr>
        <p:xfrm>
          <a:off x="7534109" y="1632154"/>
          <a:ext cx="1800123" cy="26731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3300">
                  <a:extLst>
                    <a:ext uri="{9D8B030D-6E8A-4147-A177-3AD203B41FA5}">
                      <a16:colId xmlns:a16="http://schemas.microsoft.com/office/drawing/2014/main" val="2968958495"/>
                    </a:ext>
                  </a:extLst>
                </a:gridCol>
                <a:gridCol w="796823">
                  <a:extLst>
                    <a:ext uri="{9D8B030D-6E8A-4147-A177-3AD203B41FA5}">
                      <a16:colId xmlns:a16="http://schemas.microsoft.com/office/drawing/2014/main" val="4112132439"/>
                    </a:ext>
                  </a:extLst>
                </a:gridCol>
              </a:tblGrid>
              <a:tr h="41477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0xF6 [2:0]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TRIM_LVDS_TX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RESULT</a:t>
                      </a: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32415"/>
                  </a:ext>
                </a:extLst>
              </a:tr>
              <a:tr h="2986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000</a:t>
                      </a:r>
                    </a:p>
                    <a:p>
                      <a:pPr algn="ctr" latinLnBrk="1"/>
                      <a:r>
                        <a:rPr lang="en-US" altLang="ko-KR" sz="1050"/>
                        <a:t>(default)</a:t>
                      </a: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1.493 mA</a:t>
                      </a:r>
                      <a:endParaRPr lang="ko-KR" alt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198581"/>
                  </a:ext>
                </a:extLst>
              </a:tr>
              <a:tr h="2638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001</a:t>
                      </a: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1.657 mA</a:t>
                      </a:r>
                      <a:endParaRPr lang="ko-KR" alt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0367044"/>
                  </a:ext>
                </a:extLst>
              </a:tr>
              <a:tr h="2638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010</a:t>
                      </a: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1.821 mA</a:t>
                      </a:r>
                      <a:endParaRPr lang="ko-KR" alt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85961"/>
                  </a:ext>
                </a:extLst>
              </a:tr>
              <a:tr h="2638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011</a:t>
                      </a: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1.985 mA</a:t>
                      </a:r>
                      <a:endParaRPr lang="ko-KR" alt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5654283"/>
                  </a:ext>
                </a:extLst>
              </a:tr>
              <a:tr h="2638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100</a:t>
                      </a: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0.832 mA</a:t>
                      </a:r>
                      <a:endParaRPr lang="ko-KR" alt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9087644"/>
                  </a:ext>
                </a:extLst>
              </a:tr>
              <a:tr h="2638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101</a:t>
                      </a: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0.997 mA</a:t>
                      </a:r>
                      <a:endParaRPr lang="ko-KR" alt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7003899"/>
                  </a:ext>
                </a:extLst>
              </a:tr>
              <a:tr h="2638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110</a:t>
                      </a: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1.163 mA</a:t>
                      </a:r>
                      <a:endParaRPr lang="ko-KR" alt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0000428"/>
                  </a:ext>
                </a:extLst>
              </a:tr>
              <a:tr h="26384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111</a:t>
                      </a:r>
                      <a:endParaRPr lang="ko-KR" altLang="en-US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/>
                        <a:t>1.328 mA</a:t>
                      </a:r>
                      <a:endParaRPr lang="ko-KR" altLang="en-US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28326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12621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00D99-79E8-9C35-D90E-6322ED1E3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9611DE-3EE1-8440-CB30-809C7B6287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#11. LVDS RX RES Trim</a:t>
            </a:r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AEA7287-E09C-5EDE-890A-87A12F00C7A6}"/>
              </a:ext>
            </a:extLst>
          </p:cNvPr>
          <p:cNvSpPr/>
          <p:nvPr/>
        </p:nvSpPr>
        <p:spPr bwMode="auto">
          <a:xfrm>
            <a:off x="2815624" y="4770995"/>
            <a:ext cx="4106739" cy="1521009"/>
          </a:xfrm>
          <a:prstGeom prst="rect">
            <a:avLst/>
          </a:prstGeom>
          <a:solidFill>
            <a:srgbClr val="FFFFCC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&lt;LVDS RX </a:t>
            </a:r>
            <a:r>
              <a:rPr lang="en-US" altLang="ko-KR" sz="1000" dirty="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Term_res</a:t>
            </a: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Trim </a:t>
            </a:r>
            <a:r>
              <a: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실행</a:t>
            </a: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0xF7 : 0x-0- ~ 0x-3- (200ohm target / 1LSB: +/-18ohm / 2bit)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SIO_P </a:t>
            </a:r>
            <a:r>
              <a: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전압을 측정하여 역산 </a:t>
            </a: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(R</a:t>
            </a:r>
            <a:r>
              <a:rPr lang="ko-KR" altLang="en-US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= </a:t>
            </a:r>
            <a:r>
              <a:rPr lang="en-US" altLang="ko-KR" sz="1000" dirty="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Vdiff</a:t>
            </a: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/ </a:t>
            </a:r>
            <a:r>
              <a:rPr lang="en-US" altLang="ko-KR" sz="1000" dirty="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Isource</a:t>
            </a: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 =&gt; (1.2V - 1.0V) = Measurement Current * Target Res.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 =&gt; 200mV / 1mA = 200ohm (target)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 WRITE 0xF6 FINE CODE (should be 200ohm +/-0.5LSB)</a:t>
            </a:r>
            <a:endParaRPr lang="en-US" altLang="ko-KR" sz="10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FF000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89519C7-60AE-C065-F336-F0FBC4147739}"/>
              </a:ext>
            </a:extLst>
          </p:cNvPr>
          <p:cNvSpPr/>
          <p:nvPr/>
        </p:nvSpPr>
        <p:spPr bwMode="auto">
          <a:xfrm>
            <a:off x="3351403" y="2457460"/>
            <a:ext cx="3028855" cy="593407"/>
          </a:xfrm>
          <a:prstGeom prst="rect">
            <a:avLst/>
          </a:prstGeom>
          <a:solidFill>
            <a:srgbClr val="F8F8F8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 LVDS RX RES Measurement Setting&gt;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0xE3 : 0x060 (Only LVDS RX ON) </a:t>
            </a: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3E77CA4D-52D0-7774-A62F-21C6B6EDB175}"/>
              </a:ext>
            </a:extLst>
          </p:cNvPr>
          <p:cNvCxnSpPr>
            <a:cxnSpLocks/>
            <a:stCxn id="15" idx="2"/>
            <a:endCxn id="11" idx="0"/>
          </p:cNvCxnSpPr>
          <p:nvPr/>
        </p:nvCxnSpPr>
        <p:spPr>
          <a:xfrm flipH="1">
            <a:off x="4865830" y="3050867"/>
            <a:ext cx="1" cy="283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E27DDDB8-BDFD-ADAE-B408-DD2BA21F951F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4868994" y="4514850"/>
            <a:ext cx="0" cy="256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8D4D4FB-25CD-8426-554E-920151DE9AC1}"/>
              </a:ext>
            </a:extLst>
          </p:cNvPr>
          <p:cNvSpPr/>
          <p:nvPr/>
        </p:nvSpPr>
        <p:spPr bwMode="auto">
          <a:xfrm>
            <a:off x="2890777" y="3334327"/>
            <a:ext cx="3950105" cy="432000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SIO_N : 1.0V Force</a:t>
            </a:r>
            <a:r>
              <a:rPr lang="ko-KR" altLang="en-US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lang="ko-KR" altLang="en-US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전압 인가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421B950C-47EF-20EE-7B71-77A04C1D7C1A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>
            <a:off x="4865831" y="2046199"/>
            <a:ext cx="0" cy="411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193B136F-F444-644D-5AD7-C85B0B87DCB1}"/>
              </a:ext>
            </a:extLst>
          </p:cNvPr>
          <p:cNvSpPr/>
          <p:nvPr/>
        </p:nvSpPr>
        <p:spPr bwMode="auto">
          <a:xfrm>
            <a:off x="3351404" y="1473324"/>
            <a:ext cx="3028854" cy="572875"/>
          </a:xfrm>
          <a:prstGeom prst="rect">
            <a:avLst/>
          </a:prstGeom>
          <a:solidFill>
            <a:schemeClr val="accent4">
              <a:lumMod val="50000"/>
              <a:lumOff val="50000"/>
            </a:schemeClr>
          </a:solidFill>
          <a:ln w="6350">
            <a:solidFill>
              <a:schemeClr val="bg2">
                <a:lumMod val="20000"/>
                <a:lumOff val="80000"/>
              </a:schemeClr>
            </a:solidFill>
            <a:prstDash val="lgDash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Normal I2C Test Mode </a:t>
            </a:r>
          </a:p>
          <a:p>
            <a:pPr algn="ctr">
              <a:spcBef>
                <a:spcPts val="100"/>
              </a:spcBef>
            </a:pPr>
            <a:r>
              <a:rPr lang="en-US" altLang="ko-KR" sz="14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Entry Sequence </a:t>
            </a:r>
            <a:endParaRPr lang="ko-KR" altLang="en-US" sz="140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E6A0F8D-C25E-3D6F-40A2-8B1114DFA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61" y="752256"/>
            <a:ext cx="8953877" cy="578136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C7AF5D8-9876-2555-6872-594F3FF08E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8759163"/>
              </p:ext>
            </p:extLst>
          </p:nvPr>
        </p:nvGraphicFramePr>
        <p:xfrm>
          <a:off x="476060" y="1695049"/>
          <a:ext cx="2158497" cy="1739213"/>
        </p:xfrm>
        <a:graphic>
          <a:graphicData uri="http://schemas.openxmlformats.org/drawingml/2006/table">
            <a:tbl>
              <a:tblPr/>
              <a:tblGrid>
                <a:gridCol w="1361793">
                  <a:extLst>
                    <a:ext uri="{9D8B030D-6E8A-4147-A177-3AD203B41FA5}">
                      <a16:colId xmlns:a16="http://schemas.microsoft.com/office/drawing/2014/main" val="1209099065"/>
                    </a:ext>
                  </a:extLst>
                </a:gridCol>
                <a:gridCol w="796704">
                  <a:extLst>
                    <a:ext uri="{9D8B030D-6E8A-4147-A177-3AD203B41FA5}">
                      <a16:colId xmlns:a16="http://schemas.microsoft.com/office/drawing/2014/main" val="1371380712"/>
                    </a:ext>
                  </a:extLst>
                </a:gridCol>
              </a:tblGrid>
              <a:tr h="369141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0xF6 [5:4]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TRIM_LVDS_RX_RES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RESULT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64605"/>
                  </a:ext>
                </a:extLst>
              </a:tr>
              <a:tr h="3425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203 ohm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271346"/>
                  </a:ext>
                </a:extLst>
              </a:tr>
              <a:tr h="3425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184 ohm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436593"/>
                  </a:ext>
                </a:extLst>
              </a:tr>
              <a:tr h="3425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221 ohm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302369"/>
                  </a:ext>
                </a:extLst>
              </a:tr>
              <a:tr h="34251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192 ohm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771940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C8C804C3-3415-2000-2322-AC23A1C4D436}"/>
              </a:ext>
            </a:extLst>
          </p:cNvPr>
          <p:cNvSpPr/>
          <p:nvPr/>
        </p:nvSpPr>
        <p:spPr bwMode="auto">
          <a:xfrm>
            <a:off x="2890777" y="4029395"/>
            <a:ext cx="3950105" cy="432000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"/>
              </a:spcBef>
            </a:pP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SIO_P : 1mA Sourcing(</a:t>
            </a:r>
            <a:r>
              <a:rPr lang="ko-KR" altLang="en-US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전류 인가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  <a:p>
            <a:pPr algn="ctr">
              <a:spcBef>
                <a:spcPts val="100"/>
              </a:spcBef>
            </a:pP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(“SIO_P </a:t>
            </a:r>
            <a:r>
              <a:rPr lang="ko-KR" altLang="en-US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전압 측정값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”</a:t>
            </a:r>
            <a:r>
              <a:rPr lang="ko-KR" altLang="en-US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– 1V)/1mA = “</a:t>
            </a:r>
            <a:r>
              <a:rPr lang="en-US" altLang="ko-KR" sz="1200" dirty="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RX_Term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_</a:t>
            </a:r>
            <a:r>
              <a:rPr lang="ko-KR" altLang="en-US" sz="1200" dirty="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저항값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” 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3A7EA53D-46EF-F49A-1753-169675276948}"/>
              </a:ext>
            </a:extLst>
          </p:cNvPr>
          <p:cNvCxnSpPr>
            <a:cxnSpLocks/>
            <a:stCxn id="11" idx="2"/>
            <a:endCxn id="10" idx="0"/>
          </p:cNvCxnSpPr>
          <p:nvPr/>
        </p:nvCxnSpPr>
        <p:spPr>
          <a:xfrm>
            <a:off x="4865830" y="3766327"/>
            <a:ext cx="0" cy="2630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554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7C51E-D334-E346-4539-D9A6F2116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078FE144-C25A-CC5C-D738-FE55A1A48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9498"/>
            <a:ext cx="9906000" cy="1920488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6CEC0E-E31A-2FB7-8AF5-0A0073D388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9135830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#12. TMON_OFFSET_TRIM - Pin Conditions</a:t>
            </a:r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848C7E-50BB-D22E-9D79-1C139DBFA708}"/>
              </a:ext>
            </a:extLst>
          </p:cNvPr>
          <p:cNvSpPr/>
          <p:nvPr/>
        </p:nvSpPr>
        <p:spPr bwMode="auto">
          <a:xfrm>
            <a:off x="479833" y="2888055"/>
            <a:ext cx="9391242" cy="12819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3A563E2-A177-4957-B54C-7233B539A15A}"/>
              </a:ext>
            </a:extLst>
          </p:cNvPr>
          <p:cNvSpPr/>
          <p:nvPr/>
        </p:nvSpPr>
        <p:spPr bwMode="auto">
          <a:xfrm>
            <a:off x="479833" y="3016250"/>
            <a:ext cx="9391242" cy="1343819"/>
          </a:xfrm>
          <a:prstGeom prst="rect">
            <a:avLst/>
          </a:prstGeom>
          <a:solidFill>
            <a:schemeClr val="bg1">
              <a:lumMod val="85000"/>
              <a:alpha val="71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endParaRPr lang="ko-KR" altLang="en-US" sz="13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789880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FD20C-8247-79EE-035B-359B1BBC2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3A9D109-A4C4-2FED-2430-42344CB356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79774" y="181916"/>
            <a:ext cx="6977482" cy="432643"/>
          </a:xfrm>
        </p:spPr>
        <p:txBody>
          <a:bodyPr>
            <a:normAutofit/>
          </a:bodyPr>
          <a:lstStyle/>
          <a:p>
            <a:r>
              <a:rPr lang="en-US" altLang="ko-KR"/>
              <a:t>Trim #12. TMON_OFFSET_TRIM</a:t>
            </a:r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E47B78A-FD54-8264-F126-B5D2769C766D}"/>
              </a:ext>
            </a:extLst>
          </p:cNvPr>
          <p:cNvSpPr/>
          <p:nvPr/>
        </p:nvSpPr>
        <p:spPr bwMode="auto">
          <a:xfrm>
            <a:off x="2327335" y="1129275"/>
            <a:ext cx="3169037" cy="924201"/>
          </a:xfrm>
          <a:prstGeom prst="rect">
            <a:avLst/>
          </a:prstGeom>
          <a:solidFill>
            <a:schemeClr val="bg1">
              <a:lumMod val="50000"/>
            </a:schemeClr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ATB_2 MODE</a:t>
            </a:r>
          </a:p>
          <a:p>
            <a:pPr algn="ctr"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Entry Sequence</a:t>
            </a:r>
            <a:endParaRPr lang="ko-KR" altLang="en-US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CA02FED-AD4B-1C39-4340-D0E649D5644B}"/>
              </a:ext>
            </a:extLst>
          </p:cNvPr>
          <p:cNvSpPr/>
          <p:nvPr/>
        </p:nvSpPr>
        <p:spPr bwMode="auto">
          <a:xfrm>
            <a:off x="2327335" y="5547039"/>
            <a:ext cx="3169037" cy="556583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GPIO2 pin Voltage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측정 </a:t>
            </a:r>
            <a:endParaRPr lang="en-US" altLang="ko-KR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algn="ctr"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(TMON_OFST 1V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출력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lang="ko-KR" altLang="en-US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EF3CA85-C5C2-C12C-8AC2-BD88B4F42741}"/>
              </a:ext>
            </a:extLst>
          </p:cNvPr>
          <p:cNvSpPr/>
          <p:nvPr/>
        </p:nvSpPr>
        <p:spPr bwMode="auto">
          <a:xfrm>
            <a:off x="5779032" y="2380185"/>
            <a:ext cx="3392136" cy="1162715"/>
          </a:xfrm>
          <a:prstGeom prst="rect">
            <a:avLst/>
          </a:prstGeom>
          <a:solidFill>
            <a:srgbClr val="FFFFCC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/>
              </a:rPr>
              <a:t>&lt;TMON_OFFSET Trim 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/>
              </a:rPr>
              <a:t>실행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/>
              </a:rPr>
              <a:t>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/>
              </a:rPr>
              <a:t>측정값(</a:t>
            </a:r>
            <a:r>
              <a:rPr lang="ko-KR" altLang="en-US" sz="100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/>
              </a:rPr>
              <a:t>V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/>
              </a:rPr>
              <a:t>)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/>
              </a:rPr>
              <a:t>– 1V_target = 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/>
              </a:rPr>
              <a:t>오차 측정</a:t>
            </a:r>
            <a:endParaRPr lang="en-US" altLang="ko-KR" sz="100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/>
            </a:endParaRP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/>
              </a:rPr>
              <a:t>오차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/>
              </a:rPr>
              <a:t> / 55mV(1LSB) = (Trim Code 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/>
              </a:rPr>
              <a:t>찾기, 소수점 반올림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/>
              </a:rPr>
              <a:t>)</a:t>
            </a:r>
            <a:endParaRPr lang="en-US" altLang="ko-KR" sz="100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/>
            </a:endParaRP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/>
              </a:rPr>
              <a:t>0xF5 : 0x000 ~ 0x0f0 (1.0V target / 1LSB: +/-55mV)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/>
                <a:sym typeface="Wingdings" panose="05000000000000000000" pitchFamily="2" charset="2"/>
              </a:rPr>
              <a:t> (1V- 0.5*LSB) &lt; </a:t>
            </a:r>
            <a:r>
              <a:rPr lang="ko-KR" altLang="en-US" sz="1000" err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/>
              </a:rPr>
              <a:t>최종값</a:t>
            </a:r>
            <a:r>
              <a:rPr lang="ko-KR" altLang="en-US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/>
              </a:rPr>
              <a:t>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/>
              </a:rPr>
              <a:t>&lt; </a:t>
            </a: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sym typeface="Wingdings" panose="05000000000000000000" pitchFamily="2" charset="2"/>
              </a:rPr>
              <a:t>(1V+ 0.5*LSB) </a:t>
            </a:r>
            <a:endParaRPr lang="en-US" altLang="ko-KR" sz="1000">
              <a:ln>
                <a:solidFill>
                  <a:srgbClr val="FFFFFF">
                    <a:lumMod val="75000"/>
                    <a:alpha val="0"/>
                  </a:srgb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6628C37-CD51-9591-B468-322D2F9068F7}"/>
              </a:ext>
            </a:extLst>
          </p:cNvPr>
          <p:cNvCxnSpPr>
            <a:cxnSpLocks/>
            <a:stCxn id="2" idx="2"/>
            <a:endCxn id="22" idx="0"/>
          </p:cNvCxnSpPr>
          <p:nvPr/>
        </p:nvCxnSpPr>
        <p:spPr>
          <a:xfrm>
            <a:off x="3911854" y="2053476"/>
            <a:ext cx="0" cy="249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B09CC12-8B06-58E5-8BA0-5AA2E896C2A8}"/>
              </a:ext>
            </a:extLst>
          </p:cNvPr>
          <p:cNvCxnSpPr>
            <a:cxnSpLocks/>
            <a:stCxn id="31" idx="2"/>
            <a:endCxn id="8" idx="0"/>
          </p:cNvCxnSpPr>
          <p:nvPr/>
        </p:nvCxnSpPr>
        <p:spPr>
          <a:xfrm>
            <a:off x="3911854" y="5297875"/>
            <a:ext cx="0" cy="249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E5E9B5C-D142-2612-8DE2-465DAA5874FE}"/>
              </a:ext>
            </a:extLst>
          </p:cNvPr>
          <p:cNvSpPr/>
          <p:nvPr/>
        </p:nvSpPr>
        <p:spPr bwMode="auto">
          <a:xfrm>
            <a:off x="2327335" y="2302640"/>
            <a:ext cx="3169038" cy="924201"/>
          </a:xfrm>
          <a:prstGeom prst="rect">
            <a:avLst/>
          </a:prstGeom>
          <a:solidFill>
            <a:srgbClr val="F8F8F8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&lt;ATB2 SPARE_SEL 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0xE7 : 0x800 (TM_GAIN_TMON_EN)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+ 10us Delay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0xE7 : 0x861 (TM_ATB2_SPARE_SEL&lt;10&gt;)</a:t>
            </a:r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030D5A5E-FCB7-9FF7-3768-4874793372A8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5496372" y="2961543"/>
            <a:ext cx="282660" cy="286378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C2D381F2-FE20-A734-EF65-D35D189DED94}"/>
              </a:ext>
            </a:extLst>
          </p:cNvPr>
          <p:cNvCxnSpPr>
            <a:cxnSpLocks/>
            <a:stCxn id="9" idx="2"/>
            <a:endCxn id="42" idx="0"/>
          </p:cNvCxnSpPr>
          <p:nvPr/>
        </p:nvCxnSpPr>
        <p:spPr>
          <a:xfrm flipH="1">
            <a:off x="7475098" y="3542900"/>
            <a:ext cx="2" cy="644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896652BC-39DD-CE3B-7EF9-E319C510FABA}"/>
              </a:ext>
            </a:extLst>
          </p:cNvPr>
          <p:cNvSpPr/>
          <p:nvPr/>
        </p:nvSpPr>
        <p:spPr bwMode="auto">
          <a:xfrm>
            <a:off x="5779030" y="4187499"/>
            <a:ext cx="3392136" cy="432000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GPIO2 pin Voltage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측정 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(TMON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출력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lang="ko-KR" altLang="en-US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3F3CD6-DED6-A7DA-1E47-F1039E035396}"/>
              </a:ext>
            </a:extLst>
          </p:cNvPr>
          <p:cNvSpPr txBox="1"/>
          <p:nvPr/>
        </p:nvSpPr>
        <p:spPr>
          <a:xfrm>
            <a:off x="99589" y="1129275"/>
            <a:ext cx="2033497" cy="276999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>
                <a:ln>
                  <a:solidFill>
                    <a:srgbClr val="000000">
                      <a:alpha val="0"/>
                    </a:srgbClr>
                  </a:solidFill>
                </a:ln>
                <a:solidFill>
                  <a:schemeClr val="tx2">
                    <a:lumMod val="50000"/>
                  </a:schemeClr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ROOM TEMP = 25 Degree</a:t>
            </a:r>
            <a:endParaRPr lang="ko-KR" altLang="en-US" sz="1200">
              <a:ln>
                <a:solidFill>
                  <a:srgbClr val="000000">
                    <a:alpha val="0"/>
                  </a:srgbClr>
                </a:solidFill>
              </a:ln>
              <a:solidFill>
                <a:schemeClr val="tx2">
                  <a:lumMod val="50000"/>
                </a:schemeClr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93AD7D16-338A-A480-4B71-37D839B4A912}"/>
              </a:ext>
            </a:extLst>
          </p:cNvPr>
          <p:cNvCxnSpPr>
            <a:cxnSpLocks/>
            <a:stCxn id="42" idx="3"/>
            <a:endCxn id="9" idx="3"/>
          </p:cNvCxnSpPr>
          <p:nvPr/>
        </p:nvCxnSpPr>
        <p:spPr>
          <a:xfrm flipV="1">
            <a:off x="9171166" y="2961543"/>
            <a:ext cx="2" cy="1441956"/>
          </a:xfrm>
          <a:prstGeom prst="bentConnector3">
            <a:avLst>
              <a:gd name="adj1" fmla="val 114301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2C96297-8A41-EA49-59CB-53C97F46F9AB}"/>
              </a:ext>
            </a:extLst>
          </p:cNvPr>
          <p:cNvSpPr/>
          <p:nvPr/>
        </p:nvSpPr>
        <p:spPr bwMode="auto">
          <a:xfrm>
            <a:off x="9453827" y="3220807"/>
            <a:ext cx="1597343" cy="923428"/>
          </a:xfrm>
          <a:prstGeom prst="rect">
            <a:avLst/>
          </a:prstGeom>
          <a:noFill/>
          <a:ln w="3175"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TMON_OFFSET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Double Trim 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실행</a:t>
            </a:r>
            <a:endParaRPr lang="en-US" altLang="ko-KR" sz="120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rgbClr val="00B0F0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(2</a:t>
            </a:r>
            <a:r>
              <a:rPr lang="en-US" altLang="ko-KR" sz="1200" baseline="300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nd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Turn</a:t>
            </a:r>
            <a:r>
              <a:rPr lang="ko-KR" altLang="en-US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으로 이동</a:t>
            </a:r>
            <a:r>
              <a:rPr lang="en-US" altLang="ko-KR" sz="120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1C138F4D-4E67-2957-E655-B07DB3C84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6808225"/>
              </p:ext>
            </p:extLst>
          </p:nvPr>
        </p:nvGraphicFramePr>
        <p:xfrm>
          <a:off x="99590" y="1645285"/>
          <a:ext cx="2033497" cy="3707130"/>
        </p:xfrm>
        <a:graphic>
          <a:graphicData uri="http://schemas.openxmlformats.org/drawingml/2006/table">
            <a:tbl>
              <a:tblPr/>
              <a:tblGrid>
                <a:gridCol w="1303698">
                  <a:extLst>
                    <a:ext uri="{9D8B030D-6E8A-4147-A177-3AD203B41FA5}">
                      <a16:colId xmlns:a16="http://schemas.microsoft.com/office/drawing/2014/main" val="1209099065"/>
                    </a:ext>
                  </a:extLst>
                </a:gridCol>
                <a:gridCol w="729799">
                  <a:extLst>
                    <a:ext uri="{9D8B030D-6E8A-4147-A177-3AD203B41FA5}">
                      <a16:colId xmlns:a16="http://schemas.microsoft.com/office/drawing/2014/main" val="13713807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0xF5 [7:4]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TRIM_OFST_TMON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RESULT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646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27134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0.951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436593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0.893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430236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0.839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77194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0.777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8512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0.723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89709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0.665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871541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0.610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2198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1.468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93175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1.414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606836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1.356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103624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1.302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6873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1.240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46264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1.185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36753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1.127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352545"/>
                  </a:ext>
                </a:extLst>
              </a:tr>
              <a:tr h="21907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1.073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12843"/>
                  </a:ext>
                </a:extLst>
              </a:tr>
            </a:tbl>
          </a:graphicData>
        </a:graphic>
      </p:graphicFrame>
      <p:sp>
        <p:nvSpPr>
          <p:cNvPr id="31" name="직사각형 30">
            <a:extLst>
              <a:ext uri="{FF2B5EF4-FFF2-40B4-BE49-F238E27FC236}">
                <a16:creationId xmlns:a16="http://schemas.microsoft.com/office/drawing/2014/main" id="{87864054-441B-E49F-37E9-ADCE3386D05F}"/>
              </a:ext>
            </a:extLst>
          </p:cNvPr>
          <p:cNvSpPr/>
          <p:nvPr/>
        </p:nvSpPr>
        <p:spPr bwMode="auto">
          <a:xfrm>
            <a:off x="2327335" y="4373674"/>
            <a:ext cx="3169038" cy="924201"/>
          </a:xfrm>
          <a:prstGeom prst="rect">
            <a:avLst/>
          </a:prstGeom>
          <a:solidFill>
            <a:srgbClr val="F8F8F8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&lt;ATB2 SPARE_SEL &gt;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0xE7 : 0x071 (TM_ATB2_SPARE_SEL&lt;11&gt;)</a:t>
            </a:r>
          </a:p>
          <a:p>
            <a:pPr>
              <a:lnSpc>
                <a:spcPct val="50000"/>
              </a:lnSpc>
              <a:spcBef>
                <a:spcPts val="1000"/>
              </a:spcBef>
            </a:pP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0xF5 (Read</a:t>
            </a:r>
            <a:r>
              <a:rPr lang="nn-NO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TMON_OFFSET Trim code</a:t>
            </a:r>
            <a:r>
              <a:rPr lang="en-US" altLang="ko-KR" sz="10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68C8F84-5D83-F3D7-B734-BF6E68CFDBE4}"/>
              </a:ext>
            </a:extLst>
          </p:cNvPr>
          <p:cNvSpPr/>
          <p:nvPr/>
        </p:nvSpPr>
        <p:spPr bwMode="auto">
          <a:xfrm>
            <a:off x="2327334" y="3485395"/>
            <a:ext cx="3169037" cy="556583"/>
          </a:xfrm>
          <a:prstGeom prst="rect">
            <a:avLst/>
          </a:prstGeom>
          <a:solidFill>
            <a:srgbClr val="CCECFF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dk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1000"/>
              </a:spcBef>
            </a:pP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GPIO2 pin Voltage </a:t>
            </a:r>
            <a:r>
              <a:rPr lang="ko-KR" altLang="en-US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측정 </a:t>
            </a:r>
            <a:endParaRPr lang="en-US" altLang="ko-KR" sz="1200" dirty="0">
              <a:ln>
                <a:solidFill>
                  <a:schemeClr val="bg1">
                    <a:lumMod val="75000"/>
                    <a:alpha val="0"/>
                  </a:schemeClr>
                </a:solidFill>
              </a:ln>
              <a:solidFill>
                <a:schemeClr val="tx1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algn="ctr">
              <a:spcBef>
                <a:spcPts val="1000"/>
              </a:spcBef>
            </a:pP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(TMON_GAIN 1V </a:t>
            </a:r>
            <a:r>
              <a:rPr lang="ko-KR" altLang="en-US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전압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 </a:t>
            </a:r>
            <a:r>
              <a:rPr lang="ko-KR" altLang="en-US" sz="12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단순 산포 측정용</a:t>
            </a: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1695266D-541D-8356-8C42-65FE878B66DA}"/>
              </a:ext>
            </a:extLst>
          </p:cNvPr>
          <p:cNvCxnSpPr>
            <a:cxnSpLocks/>
            <a:stCxn id="22" idx="2"/>
            <a:endCxn id="35" idx="0"/>
          </p:cNvCxnSpPr>
          <p:nvPr/>
        </p:nvCxnSpPr>
        <p:spPr>
          <a:xfrm flipH="1">
            <a:off x="3911853" y="3226841"/>
            <a:ext cx="1" cy="258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F433D31E-5A45-8474-F6F9-1CD025BE9F4C}"/>
              </a:ext>
            </a:extLst>
          </p:cNvPr>
          <p:cNvCxnSpPr>
            <a:cxnSpLocks/>
            <a:stCxn id="35" idx="2"/>
            <a:endCxn id="31" idx="0"/>
          </p:cNvCxnSpPr>
          <p:nvPr/>
        </p:nvCxnSpPr>
        <p:spPr>
          <a:xfrm>
            <a:off x="3911853" y="4041978"/>
            <a:ext cx="1" cy="3316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703552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사용자 지정 1">
      <a:dk1>
        <a:srgbClr val="000000"/>
      </a:dk1>
      <a:lt1>
        <a:srgbClr val="FFFFFF"/>
      </a:lt1>
      <a:dk2>
        <a:srgbClr val="CCCCFF"/>
      </a:dk2>
      <a:lt2>
        <a:srgbClr val="727272"/>
      </a:lt2>
      <a:accent1>
        <a:srgbClr val="003399"/>
      </a:accent1>
      <a:accent2>
        <a:srgbClr val="7889FB"/>
      </a:accent2>
      <a:accent3>
        <a:srgbClr val="DED3B6"/>
      </a:accent3>
      <a:accent4>
        <a:srgbClr val="000000"/>
      </a:accent4>
      <a:accent5>
        <a:srgbClr val="C0C0C0"/>
      </a:accent5>
      <a:accent6>
        <a:srgbClr val="6C7CE3"/>
      </a:accent6>
      <a:hlink>
        <a:srgbClr val="DED3B6"/>
      </a:hlink>
      <a:folHlink>
        <a:srgbClr val="DDDDDD"/>
      </a:folHlink>
    </a:clrScheme>
    <a:fontScheme name="사용자 지정 1">
      <a:majorFont>
        <a:latin typeface="현대하모니 M"/>
        <a:ea typeface="현대하모니 M"/>
        <a:cs typeface=""/>
      </a:majorFont>
      <a:minorFont>
        <a:latin typeface="현대하모니 M"/>
        <a:ea typeface="현대하모니 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8F8F8"/>
        </a:solidFill>
        <a:ln w="3175">
          <a:solidFill>
            <a:schemeClr val="bg1">
              <a:lumMod val="65000"/>
            </a:schemeClr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1000"/>
          </a:spcBef>
          <a:defRPr sz="1300" smtClean="0">
            <a:ln>
              <a:solidFill>
                <a:schemeClr val="bg1">
                  <a:lumMod val="75000"/>
                  <a:alpha val="0"/>
                </a:schemeClr>
              </a:solidFill>
            </a:ln>
            <a:solidFill>
              <a:schemeClr val="tx1"/>
            </a:solidFill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  <a:style>
        <a:lnRef idx="0">
          <a:schemeClr val="accent1"/>
        </a:lnRef>
        <a:fillRef idx="1">
          <a:schemeClr val="accent1"/>
        </a:fillRef>
        <a:effectRef idx="0">
          <a:schemeClr val="dk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300" dirty="0" err="1" smtClean="0">
            <a:ln>
              <a:solidFill>
                <a:srgbClr val="000000">
                  <a:alpha val="0"/>
                </a:srgbClr>
              </a:solidFill>
            </a:ln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3">
        <a:dk1>
          <a:srgbClr val="000000"/>
        </a:dk1>
        <a:lt1>
          <a:srgbClr val="FFFFFF"/>
        </a:lt1>
        <a:dk2>
          <a:srgbClr val="CCCCFF"/>
        </a:dk2>
        <a:lt2>
          <a:srgbClr val="727272"/>
        </a:lt2>
        <a:accent1>
          <a:srgbClr val="003399"/>
        </a:accent1>
        <a:accent2>
          <a:srgbClr val="7889FB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6C7CE3"/>
        </a:accent6>
        <a:hlink>
          <a:srgbClr val="DED3B6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F1389BE4F938747BCEBBB82ADD40917" ma:contentTypeVersion="12" ma:contentTypeDescription="새 문서를 만듭니다." ma:contentTypeScope="" ma:versionID="0bc2c5c7c12245715eb04b53d5949c28">
  <xsd:schema xmlns:xsd="http://www.w3.org/2001/XMLSchema" xmlns:xs="http://www.w3.org/2001/XMLSchema" xmlns:p="http://schemas.microsoft.com/office/2006/metadata/properties" xmlns:ns2="4091606f-8ac8-4881-9daa-055674e133e4" xmlns:ns3="b752de3d-4e9b-4b77-ba80-081d107c2f74" targetNamespace="http://schemas.microsoft.com/office/2006/metadata/properties" ma:root="true" ma:fieldsID="e9a13d1e1bdb72e29f1abbd8d977e63a" ns2:_="" ns3:_="">
    <xsd:import namespace="4091606f-8ac8-4881-9daa-055674e133e4"/>
    <xsd:import namespace="b752de3d-4e9b-4b77-ba80-081d107c2f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91606f-8ac8-4881-9daa-055674e133e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98b4ddb5-9792-4103-acad-6387fb66c9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52de3d-4e9b-4b77-ba80-081d107c2f7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0280917-cf96-4555-bcba-7f0fe8334b70}" ma:internalName="TaxCatchAll" ma:showField="CatchAllData" ma:web="b752de3d-4e9b-4b77-ba80-081d107c2f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091606f-8ac8-4881-9daa-055674e133e4">
      <Terms xmlns="http://schemas.microsoft.com/office/infopath/2007/PartnerControls"/>
    </lcf76f155ced4ddcb4097134ff3c332f>
    <TaxCatchAll xmlns="b752de3d-4e9b-4b77-ba80-081d107c2f74" xsi:nil="true"/>
  </documentManagement>
</p:properties>
</file>

<file path=customXml/itemProps1.xml><?xml version="1.0" encoding="utf-8"?>
<ds:datastoreItem xmlns:ds="http://schemas.openxmlformats.org/officeDocument/2006/customXml" ds:itemID="{ADA3A0C9-C071-49C5-AE44-8F8676A782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DF67429-737F-4F5E-9C44-E7322F7CE4FD}">
  <ds:schemaRefs>
    <ds:schemaRef ds:uri="4091606f-8ac8-4881-9daa-055674e133e4"/>
    <ds:schemaRef ds:uri="b752de3d-4e9b-4b77-ba80-081d107c2f7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DDC1B36-3772-40FE-BEDE-6796FB90D782}">
  <ds:schemaRefs>
    <ds:schemaRef ds:uri="http://purl.org/dc/terms/"/>
    <ds:schemaRef ds:uri="b752de3d-4e9b-4b77-ba80-081d107c2f74"/>
    <ds:schemaRef ds:uri="4091606f-8ac8-4881-9daa-055674e133e4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39c00109-0cc4-4696-a37f-f508549773f6}" enabled="1" method="Standard" siteId="{d1eef0de-ce65-4ffc-8826-8306735bccba}" removed="0"/>
  <clbl:label id="{c6d9a7a2-a2c9-479c-a560-d79de4b6971b}" enabled="1" method="Privileged" siteId="{7cf932c0-bced-4490-b11f-48d23b1fe0d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7259</Words>
  <Application>Microsoft Office PowerPoint</Application>
  <PresentationFormat>A4 용지(210x297mm)</PresentationFormat>
  <Paragraphs>3947</Paragraphs>
  <Slides>32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2" baseType="lpstr">
      <vt:lpstr>굴림</vt:lpstr>
      <vt:lpstr>맑은 고딕</vt:lpstr>
      <vt:lpstr>현대산스 Head</vt:lpstr>
      <vt:lpstr>현대산스 Head Bold</vt:lpstr>
      <vt:lpstr>현대하모니 B</vt:lpstr>
      <vt:lpstr>현대하모니 L</vt:lpstr>
      <vt:lpstr>현대하모니 M</vt:lpstr>
      <vt:lpstr>Arial</vt:lpstr>
      <vt:lpstr>Wingdings</vt:lpstr>
      <vt:lpstr>기본 디자인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모비스 기획실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M</dc:creator>
  <cp:lastModifiedBy>이 준영</cp:lastModifiedBy>
  <cp:revision>4</cp:revision>
  <cp:lastPrinted>2023-05-03T00:20:36Z</cp:lastPrinted>
  <dcterms:created xsi:type="dcterms:W3CDTF">2010-10-13T05:26:30Z</dcterms:created>
  <dcterms:modified xsi:type="dcterms:W3CDTF">2026-02-19T07:05:13Z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c8052f8-6d20-481e-a88c-2a23f34d153f_SiteId">
    <vt:lpwstr>7cf932c0-bced-4490-b11f-48d23b1fe0d9</vt:lpwstr>
  </property>
  <property fmtid="{D5CDD505-2E9C-101B-9397-08002B2CF9AE}" pid="3" name="MSIP_Label_6c8052f8-6d20-481e-a88c-2a23f34d153f_SetDate">
    <vt:lpwstr>2024-02-16T02:25:35Z</vt:lpwstr>
  </property>
  <property fmtid="{D5CDD505-2E9C-101B-9397-08002B2CF9AE}" pid="4" name="MSIP_Label_6c8052f8-6d20-481e-a88c-2a23f34d153f_Name">
    <vt:lpwstr>내부직원 사용</vt:lpwstr>
  </property>
  <property fmtid="{D5CDD505-2E9C-101B-9397-08002B2CF9AE}" pid="5" name="MSIP_Label_6c8052f8-6d20-481e-a88c-2a23f34d153f_Method">
    <vt:lpwstr>Standard</vt:lpwstr>
  </property>
  <property fmtid="{D5CDD505-2E9C-101B-9397-08002B2CF9AE}" pid="6" name="MSIP_Label_6c8052f8-6d20-481e-a88c-2a23f34d153f_Enabled">
    <vt:lpwstr>true</vt:lpwstr>
  </property>
  <property fmtid="{D5CDD505-2E9C-101B-9397-08002B2CF9AE}" pid="7" name="MSIP_Label_6c8052f8-6d20-481e-a88c-2a23f34d153f_ContentBits">
    <vt:lpwstr>8</vt:lpwstr>
  </property>
  <property fmtid="{D5CDD505-2E9C-101B-9397-08002B2CF9AE}" pid="8" name="MSIP_Label_6c8052f8-6d20-481e-a88c-2a23f34d153f_ActionId">
    <vt:lpwstr>4c91d24a-25d2-4d5d-b936-5412499e8783</vt:lpwstr>
  </property>
  <property fmtid="{D5CDD505-2E9C-101B-9397-08002B2CF9AE}" pid="9" name="ClassificationContentMarkingFooterLocations">
    <vt:lpwstr>기본 디자인:4</vt:lpwstr>
  </property>
  <property fmtid="{D5CDD505-2E9C-101B-9397-08002B2CF9AE}" pid="10" name="ClassificationContentMarkingFooterText">
    <vt:lpwstr>이건( LEE KEON ) 전원구동반도체팀 / 1628623@mobis.com / 본 문서는 현대모비스의 대외비 정보자산이므로 무단 전재 및 복제할 수 없으며, 위반 시 당사 사규 및 관련 법규에 의해 제재될 수 있습니다. </vt:lpwstr>
  </property>
  <property fmtid="{D5CDD505-2E9C-101B-9397-08002B2CF9AE}" pid="11" name="ClassificationWatermarkLocations">
    <vt:lpwstr>기본 디자인:5</vt:lpwstr>
  </property>
  <property fmtid="{D5CDD505-2E9C-101B-9397-08002B2CF9AE}" pid="12" name="ClassificationWatermarkText">
    <vt:lpwstr>Hyundai Mobis Restricted</vt:lpwstr>
  </property>
  <property fmtid="{D5CDD505-2E9C-101B-9397-08002B2CF9AE}" pid="13" name="ContentTypeId">
    <vt:lpwstr>0x0101009F1389BE4F938747BCEBBB82ADD40917</vt:lpwstr>
  </property>
  <property fmtid="{D5CDD505-2E9C-101B-9397-08002B2CF9AE}" pid="14" name="MediaServiceImageTags">
    <vt:lpwstr/>
  </property>
</Properties>
</file>