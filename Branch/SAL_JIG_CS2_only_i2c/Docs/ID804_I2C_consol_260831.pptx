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9" r:id="rId3"/>
    <p:sldId id="271" r:id="rId4"/>
    <p:sldId id="273" r:id="rId5"/>
    <p:sldId id="281" r:id="rId6"/>
    <p:sldId id="274" r:id="rId7"/>
    <p:sldId id="283" r:id="rId8"/>
    <p:sldId id="282" r:id="rId9"/>
    <p:sldId id="275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C2125-1FD0-465A-4CF8-83B8F6743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CDA402-57DA-8A61-0C01-E646EA55F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A2410-E6DD-ADA6-EED2-DFFC7319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C675F-1E21-CF89-4D28-0407EED1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3142B-CC31-140D-D524-3BD086A1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68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5938A-A60C-D55C-150B-A7FBD324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64294-FE9E-A287-9CE8-B2E8C0BD0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7F32A-3178-514A-AEDA-9F2613DF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9544-C6C3-8E82-B5B0-838C1D92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F2B6E-AF50-53E4-D628-E29B581B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9CEA6-8451-7D39-0681-06E8AA59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3B8C7C-9469-6E97-7288-D78C7768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FE53B-592F-CAAC-3E80-4F87F062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95C3-61B2-D5FC-F9CD-401B7C68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84E22-E49D-1515-C6A0-CC7B7899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1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7F315-4F8A-D7EE-EBDD-0A13B6EE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1B61D-0936-5CF7-3791-77B56748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263F86-99DC-E038-5154-98FD49AA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9F17D8-FD5D-2B33-DF2D-C51C600E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BF6CB-FC04-249F-16DA-332D715D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936A0-A42E-8355-5030-E03FCF63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3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B4732-9967-741A-9F34-17B10A67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CE81C-19C9-861A-2429-801D5B4C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EA700C-7504-3CE8-13CA-A44F068B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5A142A-C95A-F0CC-4DFC-4A649E29D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EA5961-CD20-82D1-018A-E1A015C67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D392D8-A396-63A1-860A-7E2DF688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720B5E-6647-2125-B949-FDAF46FB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2B77CD-D1E3-1A05-BCE0-E4BA8CBE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9722C-F37F-BDEF-A88D-DEF22CFF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492ADB-F158-154D-0828-A92CEF15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FC0F86-E548-1233-67F8-40E1432C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C32D8-0B18-6546-25CC-40F3725B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60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BC3F5F-A3DA-305D-A74D-0940FADC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365153-6737-3C73-5196-6BF00939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0E2EB-C5C5-77C9-90FB-19EE95EB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64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DA472-52FC-2612-677B-6602C188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54E958-4603-FF23-3EA4-009F9962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18FD83-0F13-AAD7-30DC-5CB954D1E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AF1EF-D24F-2E25-38B2-F88CC820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8A79C-DE13-C2D3-0D15-FFF0B07B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F8933-20BD-0B2C-E085-55C760F8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44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5A1C-B8A2-B818-4922-FB6A684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3DA537-8F83-9835-296C-07D05C37C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D6ACAC-57EE-F877-2758-BD27441DF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A714B-1732-4D73-68D0-A412C07C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BF7014-D6D1-E786-83DC-2EAD85E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F12D1-3885-F1B0-1395-E733E378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12489-E813-007B-ADA8-7D14BD2C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E20C71-92D3-08AD-7475-45438EBD1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92020-3BD8-6CFA-1677-47533AA1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35DC7-34E6-EBD2-CACC-EAE25074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2BF3C-B2A9-88AD-1A95-6DA1F63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38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9E8988-29C5-F786-B04D-93A717F9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08551C-002C-AE8D-47BD-BF4D2657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85064-7349-B40C-5E2F-6A9BAE60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AF948-46DA-65F2-6535-F6588415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24953-09EB-8E9D-0271-862E1DDC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576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6B7B4C22-4407-4B65-91BD-E8AC0010BFB7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6B65CF-520E-4FF8-8772-DD7004A04E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3F77356-3DCF-4239-BE5D-E2BDA591D330}"/>
              </a:ext>
            </a:extLst>
          </p:cNvPr>
          <p:cNvCxnSpPr/>
          <p:nvPr userDrawn="1"/>
        </p:nvCxnSpPr>
        <p:spPr>
          <a:xfrm>
            <a:off x="243191" y="717680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821F35-727B-47CB-853A-A66BB103B276}"/>
              </a:ext>
            </a:extLst>
          </p:cNvPr>
          <p:cNvCxnSpPr>
            <a:cxnSpLocks/>
          </p:cNvCxnSpPr>
          <p:nvPr userDrawn="1"/>
        </p:nvCxnSpPr>
        <p:spPr>
          <a:xfrm>
            <a:off x="243191" y="6281511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C5E2ADB-C6E2-C075-32BF-D64A7200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81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B67CC-33FA-4DFA-9873-F17687A4BA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3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253363-CAA9-0702-090A-368DF9AD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E51BF-306D-53F6-7EC8-F5D34F93B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6BD49-A40D-62B2-3242-A9AAC0A6A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BDEE-9F52-44BB-955C-E64B430FFB4D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A1004-1CB8-E646-1507-E73A78B79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0E509-38D7-BF61-E7E7-3D890B7B0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1811045"/>
            <a:ext cx="8816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ID804 I2C</a:t>
            </a:r>
          </a:p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Consol manual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5F2AA-5B65-4210-840C-9D57D55E394F}"/>
              </a:ext>
            </a:extLst>
          </p:cNvPr>
          <p:cNvSpPr txBox="1"/>
          <p:nvPr/>
        </p:nvSpPr>
        <p:spPr>
          <a:xfrm>
            <a:off x="5150872" y="4065973"/>
            <a:ext cx="1890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Aug. 31, 2026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D7051-514F-451B-A600-C68725600D38}"/>
              </a:ext>
            </a:extLst>
          </p:cNvPr>
          <p:cNvSpPr txBox="1"/>
          <p:nvPr/>
        </p:nvSpPr>
        <p:spPr>
          <a:xfrm>
            <a:off x="4956172" y="5726096"/>
            <a:ext cx="227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Global Technologies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34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3254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Board Connection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1DD312-217F-151B-BD82-342735057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732" y="1074304"/>
            <a:ext cx="4829267" cy="470939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6529054-90EC-5F6A-8722-8AB2B9D8854E}"/>
              </a:ext>
            </a:extLst>
          </p:cNvPr>
          <p:cNvSpPr/>
          <p:nvPr/>
        </p:nvSpPr>
        <p:spPr>
          <a:xfrm>
            <a:off x="5671704" y="1125550"/>
            <a:ext cx="2119746" cy="14154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2B945A-504B-230F-D060-3679CDF28A1F}"/>
              </a:ext>
            </a:extLst>
          </p:cNvPr>
          <p:cNvSpPr/>
          <p:nvPr/>
        </p:nvSpPr>
        <p:spPr>
          <a:xfrm>
            <a:off x="5534025" y="4300402"/>
            <a:ext cx="704850" cy="96816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39A855-6957-CA0C-ABE5-0AEE7628D39F}"/>
              </a:ext>
            </a:extLst>
          </p:cNvPr>
          <p:cNvSpPr txBox="1"/>
          <p:nvPr/>
        </p:nvSpPr>
        <p:spPr>
          <a:xfrm>
            <a:off x="2547975" y="1279030"/>
            <a:ext cx="1980000" cy="115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vert="horz"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/>
              <a:t>Power Supply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- 12V, 1A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- YH396-02V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51033-7970-C4D4-D47D-C8257029DD70}"/>
              </a:ext>
            </a:extLst>
          </p:cNvPr>
          <p:cNvSpPr txBox="1"/>
          <p:nvPr/>
        </p:nvSpPr>
        <p:spPr>
          <a:xfrm>
            <a:off x="2547975" y="4208485"/>
            <a:ext cx="1980000" cy="11520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USB Cable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- MCU &lt;-&gt; PC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- MICRO-B to USB-B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53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3383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Board Connection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9527D3-4FC9-0AC8-244A-8924F2DF1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26" y="1368099"/>
            <a:ext cx="6880110" cy="47612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272219-D564-BCE1-826F-8DA6733E58CE}"/>
              </a:ext>
            </a:extLst>
          </p:cNvPr>
          <p:cNvSpPr txBox="1"/>
          <p:nvPr/>
        </p:nvSpPr>
        <p:spPr>
          <a:xfrm>
            <a:off x="203875" y="2171700"/>
            <a:ext cx="1044000" cy="43088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Switch Lever:</a:t>
            </a:r>
          </a:p>
          <a:p>
            <a:pPr algn="ctr"/>
            <a:r>
              <a:rPr lang="en-US" altLang="ko-KR" sz="1100" dirty="0"/>
              <a:t>DOWN </a:t>
            </a:r>
            <a:r>
              <a:rPr lang="ko-KR" altLang="en-US" sz="1100" b="1" dirty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6E5F7-B202-967C-2008-779AFC653D6A}"/>
              </a:ext>
            </a:extLst>
          </p:cNvPr>
          <p:cNvSpPr txBox="1"/>
          <p:nvPr/>
        </p:nvSpPr>
        <p:spPr>
          <a:xfrm>
            <a:off x="3104864" y="867373"/>
            <a:ext cx="1044000" cy="43088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Switch Lever:</a:t>
            </a:r>
          </a:p>
          <a:p>
            <a:pPr algn="ctr"/>
            <a:r>
              <a:rPr lang="en-US" altLang="ko-KR" sz="1100" dirty="0"/>
              <a:t>RIGHT </a:t>
            </a:r>
            <a:r>
              <a:rPr lang="ko-KR" altLang="en-US" sz="1100" b="1" dirty="0">
                <a:solidFill>
                  <a:srgbClr val="FF0000"/>
                </a:solidFill>
              </a:rPr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5357FD-3C40-ACF8-CE55-48473AD46242}"/>
              </a:ext>
            </a:extLst>
          </p:cNvPr>
          <p:cNvSpPr txBox="1"/>
          <p:nvPr/>
        </p:nvSpPr>
        <p:spPr>
          <a:xfrm>
            <a:off x="8242487" y="1847850"/>
            <a:ext cx="1044000" cy="43088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Switch Lever:</a:t>
            </a:r>
          </a:p>
          <a:p>
            <a:pPr algn="ctr"/>
            <a:r>
              <a:rPr lang="en-US" altLang="ko-KR" sz="1100" dirty="0"/>
              <a:t>DOWN </a:t>
            </a:r>
            <a:r>
              <a:rPr lang="ko-KR" altLang="en-US" sz="1100" b="1" dirty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096E3-3C1C-C3D0-1104-4C1C3A10BDDE}"/>
              </a:ext>
            </a:extLst>
          </p:cNvPr>
          <p:cNvSpPr txBox="1"/>
          <p:nvPr/>
        </p:nvSpPr>
        <p:spPr>
          <a:xfrm>
            <a:off x="8242487" y="4139743"/>
            <a:ext cx="1044000" cy="43088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Switch Lever:</a:t>
            </a:r>
          </a:p>
          <a:p>
            <a:pPr algn="ctr"/>
            <a:r>
              <a:rPr lang="en-US" altLang="ko-KR" sz="1100" dirty="0"/>
              <a:t>DOWN </a:t>
            </a:r>
            <a:r>
              <a:rPr lang="ko-KR" altLang="en-US" sz="1100" b="1" dirty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9739B2-B9E0-0530-3567-5C17F024829B}"/>
              </a:ext>
            </a:extLst>
          </p:cNvPr>
          <p:cNvSpPr txBox="1"/>
          <p:nvPr/>
        </p:nvSpPr>
        <p:spPr>
          <a:xfrm>
            <a:off x="8242487" y="5032602"/>
            <a:ext cx="1044000" cy="43088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Switch Lever:</a:t>
            </a:r>
          </a:p>
          <a:p>
            <a:pPr algn="ctr"/>
            <a:r>
              <a:rPr lang="en-US" altLang="ko-KR" sz="1100" dirty="0"/>
              <a:t>DOWN </a:t>
            </a:r>
            <a:r>
              <a:rPr lang="ko-KR" altLang="en-US" sz="1100" b="1" dirty="0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5AA57EF-63BB-1BFB-D2F8-2E5AF9C866A5}"/>
              </a:ext>
            </a:extLst>
          </p:cNvPr>
          <p:cNvSpPr/>
          <p:nvPr/>
        </p:nvSpPr>
        <p:spPr>
          <a:xfrm>
            <a:off x="3924300" y="1425249"/>
            <a:ext cx="1276350" cy="1516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67DA7B5-B17E-83CB-F8CE-76100340F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606" y="1425249"/>
            <a:ext cx="2384519" cy="2076176"/>
          </a:xfrm>
          <a:prstGeom prst="rect">
            <a:avLst/>
          </a:prstGeom>
        </p:spPr>
      </p:pic>
      <p:sp>
        <p:nvSpPr>
          <p:cNvPr id="33" name="화살표: 왼쪽으로 구부러짐 32">
            <a:extLst>
              <a:ext uri="{FF2B5EF4-FFF2-40B4-BE49-F238E27FC236}">
                <a16:creationId xmlns:a16="http://schemas.microsoft.com/office/drawing/2014/main" id="{025ED574-DB4D-E96C-89A4-36B85F05508E}"/>
              </a:ext>
            </a:extLst>
          </p:cNvPr>
          <p:cNvSpPr/>
          <p:nvPr/>
        </p:nvSpPr>
        <p:spPr>
          <a:xfrm rot="16200000">
            <a:off x="7420960" y="-1959583"/>
            <a:ext cx="668339" cy="6492498"/>
          </a:xfrm>
          <a:prstGeom prst="curvedLeftArrow">
            <a:avLst>
              <a:gd name="adj1" fmla="val 0"/>
              <a:gd name="adj2" fmla="val 50000"/>
              <a:gd name="adj3" fmla="val 506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AE8FD5-982B-B5A6-587B-36DC88E638DC}"/>
              </a:ext>
            </a:extLst>
          </p:cNvPr>
          <p:cNvSpPr txBox="1"/>
          <p:nvPr/>
        </p:nvSpPr>
        <p:spPr>
          <a:xfrm>
            <a:off x="7510248" y="821206"/>
            <a:ext cx="674988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ID804</a:t>
            </a:r>
            <a:endParaRPr lang="ko-KR" alt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54700A-1C79-F49A-045D-97B6F1B2FF28}"/>
              </a:ext>
            </a:extLst>
          </p:cNvPr>
          <p:cNvSpPr txBox="1"/>
          <p:nvPr/>
        </p:nvSpPr>
        <p:spPr>
          <a:xfrm>
            <a:off x="5386371" y="909895"/>
            <a:ext cx="1044000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Switch Lever:</a:t>
            </a:r>
          </a:p>
          <a:p>
            <a:pPr algn="ctr"/>
            <a:r>
              <a:rPr lang="en-US" altLang="ko-KR" sz="1100" dirty="0"/>
              <a:t>LEFT </a:t>
            </a:r>
            <a:r>
              <a:rPr lang="ko-KR" altLang="en-US" sz="1100" b="1" dirty="0">
                <a:solidFill>
                  <a:srgbClr val="FF0000"/>
                </a:solidFill>
              </a:rPr>
              <a:t>←</a:t>
            </a:r>
          </a:p>
        </p:txBody>
      </p:sp>
    </p:spTree>
    <p:extLst>
      <p:ext uri="{BB962C8B-B14F-4D97-AF65-F5344CB8AC3E}">
        <p14:creationId xmlns:p14="http://schemas.microsoft.com/office/powerpoint/2010/main" val="415855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3044280"/>
            <a:ext cx="8816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Command Interface</a:t>
            </a:r>
          </a:p>
        </p:txBody>
      </p:sp>
    </p:spTree>
    <p:extLst>
      <p:ext uri="{BB962C8B-B14F-4D97-AF65-F5344CB8AC3E}">
        <p14:creationId xmlns:p14="http://schemas.microsoft.com/office/powerpoint/2010/main" val="413278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44A6-171C-43D5-7AA5-AEFB303E0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D7C84E6-A57C-1628-54B6-1932F754E3BA}"/>
              </a:ext>
            </a:extLst>
          </p:cNvPr>
          <p:cNvSpPr txBox="1"/>
          <p:nvPr/>
        </p:nvSpPr>
        <p:spPr>
          <a:xfrm>
            <a:off x="243758" y="115888"/>
            <a:ext cx="4301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Serial Terminal Program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3A5D3DBE-6371-F91E-5181-8B68BFF16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EAC29-D605-6BDB-9AF5-690332F7B0D2}"/>
              </a:ext>
            </a:extLst>
          </p:cNvPr>
          <p:cNvSpPr txBox="1"/>
          <p:nvPr/>
        </p:nvSpPr>
        <p:spPr>
          <a:xfrm>
            <a:off x="339008" y="819212"/>
            <a:ext cx="820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TeraTerm</a:t>
            </a:r>
            <a:r>
              <a:rPr lang="en-US" altLang="ko-KR" dirty="0"/>
              <a:t>: https://github.com/TeraTermProject/teraterm/releases#release-v5.2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8B9E74-B4BE-6253-FD24-E4777B40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284338"/>
            <a:ext cx="5321326" cy="4754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45B771F-41E3-D839-791B-B85E9BE5E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258" y="1284338"/>
            <a:ext cx="4523864" cy="475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5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3578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Command Interface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CEC97E-7D9C-51F2-C47F-E0CE89D46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434" y="2334038"/>
            <a:ext cx="4033133" cy="2516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B867B9-86AA-5541-3030-099D9E5B4CF2}"/>
              </a:ext>
            </a:extLst>
          </p:cNvPr>
          <p:cNvSpPr txBox="1"/>
          <p:nvPr/>
        </p:nvSpPr>
        <p:spPr>
          <a:xfrm>
            <a:off x="321215" y="976896"/>
            <a:ext cx="7001276" cy="1435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dirty="0" err="1"/>
              <a:t>Follow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steps</a:t>
            </a:r>
            <a:r>
              <a:rPr lang="ko-KR" altLang="ko-KR" dirty="0"/>
              <a:t> </a:t>
            </a:r>
            <a:r>
              <a:rPr lang="ko-KR" altLang="ko-KR" dirty="0" err="1"/>
              <a:t>below</a:t>
            </a:r>
            <a:r>
              <a:rPr lang="ko-KR" altLang="ko-KR" dirty="0"/>
              <a:t>, </a:t>
            </a:r>
            <a:r>
              <a:rPr lang="ko-KR" altLang="ko-KR" dirty="0" err="1"/>
              <a:t>then</a:t>
            </a:r>
            <a:r>
              <a:rPr lang="ko-KR" altLang="ko-KR" dirty="0"/>
              <a:t> </a:t>
            </a:r>
            <a:r>
              <a:rPr lang="ko-KR" altLang="ko-KR" dirty="0" err="1"/>
              <a:t>check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terminal</a:t>
            </a:r>
            <a:r>
              <a:rPr lang="ko-KR" altLang="ko-KR" dirty="0"/>
              <a:t> </a:t>
            </a:r>
            <a:r>
              <a:rPr lang="ko-KR" altLang="ko-KR" dirty="0" err="1"/>
              <a:t>program</a:t>
            </a:r>
            <a:r>
              <a:rPr lang="ko-KR" altLang="ko-KR" dirty="0"/>
              <a:t> </a:t>
            </a:r>
            <a:r>
              <a:rPr lang="ko-KR" altLang="ko-KR" dirty="0" err="1"/>
              <a:t>screen</a:t>
            </a:r>
            <a:r>
              <a:rPr lang="ko-KR" altLang="ko-KR" dirty="0"/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1400" dirty="0"/>
              <a:t>1. </a:t>
            </a:r>
            <a:r>
              <a:rPr lang="ko-KR" altLang="ko-KR" sz="1400" dirty="0" err="1"/>
              <a:t>Install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IC. (</a:t>
            </a:r>
            <a:r>
              <a:rPr lang="ko-KR" altLang="ko-KR" sz="1400" dirty="0" err="1"/>
              <a:t>Ensure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IC </a:t>
            </a:r>
            <a:r>
              <a:rPr lang="ko-KR" altLang="ko-KR" sz="1400" dirty="0" err="1"/>
              <a:t>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oriented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correctly</a:t>
            </a:r>
            <a:r>
              <a:rPr lang="ko-KR" altLang="ko-KR" sz="1400" dirty="0"/>
              <a:t>.)</a:t>
            </a:r>
          </a:p>
          <a:p>
            <a:pPr lvl="0">
              <a:lnSpc>
                <a:spcPct val="150000"/>
              </a:lnSpc>
            </a:pPr>
            <a:r>
              <a:rPr lang="en-US" altLang="ko-KR" sz="1400" dirty="0"/>
              <a:t>2. </a:t>
            </a:r>
            <a:r>
              <a:rPr lang="ko-KR" altLang="ko-KR" sz="1400" dirty="0" err="1"/>
              <a:t>Connect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PC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MCU </a:t>
            </a:r>
            <a:r>
              <a:rPr lang="ko-KR" altLang="ko-KR" sz="1400" dirty="0" err="1"/>
              <a:t>using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USB </a:t>
            </a:r>
            <a:r>
              <a:rPr lang="ko-KR" altLang="ko-KR" sz="1400" dirty="0" err="1"/>
              <a:t>cable</a:t>
            </a:r>
            <a:r>
              <a:rPr lang="ko-KR" altLang="ko-KR" sz="1400" dirty="0"/>
              <a:t>.</a:t>
            </a:r>
          </a:p>
          <a:p>
            <a:pPr lvl="0">
              <a:lnSpc>
                <a:spcPct val="150000"/>
              </a:lnSpc>
            </a:pPr>
            <a:r>
              <a:rPr lang="en-US" altLang="ko-KR" sz="1400" dirty="0"/>
              <a:t>3. </a:t>
            </a:r>
            <a:r>
              <a:rPr lang="ko-KR" altLang="ko-KR" sz="1400" dirty="0" err="1"/>
              <a:t>Apply</a:t>
            </a:r>
            <a:r>
              <a:rPr lang="ko-KR" altLang="ko-KR" sz="1400" dirty="0"/>
              <a:t> 12 </a:t>
            </a:r>
            <a:r>
              <a:rPr lang="ko-KR" altLang="ko-KR" sz="1400" dirty="0" err="1"/>
              <a:t>V</a:t>
            </a:r>
            <a:r>
              <a:rPr lang="ko-KR" altLang="ko-KR" sz="1400" dirty="0"/>
              <a:t> </a:t>
            </a:r>
            <a:r>
              <a:rPr lang="ko-KR" altLang="ko-KR" sz="1400" dirty="0" err="1"/>
              <a:t>power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JIG </a:t>
            </a:r>
            <a:r>
              <a:rPr lang="ko-KR" altLang="ko-KR" sz="1400" dirty="0" err="1"/>
              <a:t>board</a:t>
            </a:r>
            <a:r>
              <a:rPr lang="ko-KR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6841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492DF-9F0C-1956-D976-02540DE6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E95ADEA-FABC-5C4D-E32B-099C820B76E7}"/>
              </a:ext>
            </a:extLst>
          </p:cNvPr>
          <p:cNvSpPr txBox="1"/>
          <p:nvPr/>
        </p:nvSpPr>
        <p:spPr>
          <a:xfrm>
            <a:off x="243758" y="115888"/>
            <a:ext cx="3578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Command Interface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10A1E8E4-C013-AA62-3627-69452FFF0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D11FA-3559-2110-0573-4AC4DD776845}"/>
              </a:ext>
            </a:extLst>
          </p:cNvPr>
          <p:cNvSpPr txBox="1"/>
          <p:nvPr/>
        </p:nvSpPr>
        <p:spPr>
          <a:xfrm>
            <a:off x="321215" y="976896"/>
            <a:ext cx="4273414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To see possible command, enter “help”</a:t>
            </a:r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7031A0-7B2F-CDE0-77B4-88861D9B1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203" b="72345"/>
          <a:stretch>
            <a:fillRect/>
          </a:stretch>
        </p:blipFill>
        <p:spPr>
          <a:xfrm>
            <a:off x="3729065" y="2068261"/>
            <a:ext cx="4733870" cy="272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5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9439-35D7-AF66-558E-07DB03FE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2BC91F9-4A78-EEBA-1B47-F65207222553}"/>
              </a:ext>
            </a:extLst>
          </p:cNvPr>
          <p:cNvSpPr txBox="1"/>
          <p:nvPr/>
        </p:nvSpPr>
        <p:spPr>
          <a:xfrm>
            <a:off x="243758" y="115888"/>
            <a:ext cx="3578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Command Interface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1EE300D-55EE-632F-5774-CD83BCC5D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7E1B3-71C3-3C83-723F-BDED2CE8D1A7}"/>
              </a:ext>
            </a:extLst>
          </p:cNvPr>
          <p:cNvSpPr txBox="1"/>
          <p:nvPr/>
        </p:nvSpPr>
        <p:spPr>
          <a:xfrm>
            <a:off x="243758" y="790637"/>
            <a:ext cx="2472280" cy="1112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/>
              <a:t>804_i2c_init</a:t>
            </a:r>
            <a:r>
              <a:rPr lang="en-US" altLang="ko-KR" dirty="0"/>
              <a:t>”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Supply VDD &amp; VLED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Read all register &amp; Dump</a:t>
            </a: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B64702-B4C4-60DA-B52C-CC22FBBD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975" b="28261"/>
          <a:stretch>
            <a:fillRect/>
          </a:stretch>
        </p:blipFill>
        <p:spPr>
          <a:xfrm>
            <a:off x="3713949" y="1089651"/>
            <a:ext cx="2070413" cy="46786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6379711-6016-BD32-3C80-6EA3F59AEF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975" b="57222"/>
          <a:stretch>
            <a:fillRect/>
          </a:stretch>
        </p:blipFill>
        <p:spPr>
          <a:xfrm>
            <a:off x="6096000" y="1089651"/>
            <a:ext cx="2070414" cy="278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9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3578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Command Interface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6850" y="931196"/>
            <a:ext cx="32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/>
              <a:t>804_w [hex] [hex]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EE6BD-7211-C5F9-F08C-F52942E1A6BC}"/>
              </a:ext>
            </a:extLst>
          </p:cNvPr>
          <p:cNvSpPr txBox="1"/>
          <p:nvPr/>
        </p:nvSpPr>
        <p:spPr>
          <a:xfrm>
            <a:off x="2064534" y="1227412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addr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13059-5A39-E4E3-14B7-4AF25FED4710}"/>
              </a:ext>
            </a:extLst>
          </p:cNvPr>
          <p:cNvSpPr txBox="1"/>
          <p:nvPr/>
        </p:nvSpPr>
        <p:spPr>
          <a:xfrm>
            <a:off x="2600002" y="1227412"/>
            <a:ext cx="547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66FF"/>
                </a:solidFill>
              </a:rPr>
              <a:t>value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12AD8E-673B-E082-DE96-F595BD34E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8961" y="1563192"/>
            <a:ext cx="3648584" cy="514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D5C5AD-7F77-FD65-C00E-C21080AE8285}"/>
              </a:ext>
            </a:extLst>
          </p:cNvPr>
          <p:cNvSpPr txBox="1"/>
          <p:nvPr/>
        </p:nvSpPr>
        <p:spPr>
          <a:xfrm>
            <a:off x="294949" y="3483551"/>
            <a:ext cx="2528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/>
              <a:t>804_r [hex]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79C284-FFB2-56C6-DED9-E15AB225716C}"/>
              </a:ext>
            </a:extLst>
          </p:cNvPr>
          <p:cNvSpPr txBox="1"/>
          <p:nvPr/>
        </p:nvSpPr>
        <p:spPr>
          <a:xfrm>
            <a:off x="2011037" y="3780693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addr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8041A7E-CE32-54D3-D4AC-39552CB65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7060" y="4076856"/>
            <a:ext cx="3400896" cy="485843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BDA927E-DF1A-8BCF-8388-F475F815340B}"/>
              </a:ext>
            </a:extLst>
          </p:cNvPr>
          <p:cNvSpPr/>
          <p:nvPr/>
        </p:nvSpPr>
        <p:spPr>
          <a:xfrm>
            <a:off x="4225564" y="1690457"/>
            <a:ext cx="721981" cy="523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1D26B5F-C00F-5215-17C8-2FB323387557}"/>
              </a:ext>
            </a:extLst>
          </p:cNvPr>
          <p:cNvSpPr/>
          <p:nvPr/>
        </p:nvSpPr>
        <p:spPr>
          <a:xfrm>
            <a:off x="3142294" y="4018659"/>
            <a:ext cx="1795403" cy="7328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BF98574-7FA3-1B84-033C-832DC8351B46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4039996" y="2213908"/>
            <a:ext cx="546559" cy="18047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AF7BDEA4-B30E-4684-61F8-B7C36C84DE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5293" y="1991075"/>
            <a:ext cx="2953162" cy="40650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1C9B78E-1CEE-330A-CB67-3C127314E06F}"/>
              </a:ext>
            </a:extLst>
          </p:cNvPr>
          <p:cNvSpPr txBox="1"/>
          <p:nvPr/>
        </p:nvSpPr>
        <p:spPr>
          <a:xfrm>
            <a:off x="6160538" y="795736"/>
            <a:ext cx="3986028" cy="1112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en-US" altLang="ko-KR" dirty="0"/>
              <a:t>ID804</a:t>
            </a:r>
            <a:r>
              <a:rPr lang="ko-KR" altLang="en-US" dirty="0"/>
              <a:t> </a:t>
            </a:r>
            <a:r>
              <a:rPr lang="en-US" altLang="ko-KR" dirty="0"/>
              <a:t>I2C Error</a:t>
            </a:r>
          </a:p>
          <a:p>
            <a:pPr>
              <a:lnSpc>
                <a:spcPct val="150000"/>
              </a:lnSpc>
            </a:pPr>
            <a:r>
              <a:rPr lang="ko-KR" altLang="ko-KR" sz="1400" dirty="0" err="1"/>
              <a:t>If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an</a:t>
            </a:r>
            <a:r>
              <a:rPr lang="ko-KR" altLang="ko-KR" sz="1400" dirty="0"/>
              <a:t> I2C </a:t>
            </a:r>
            <a:r>
              <a:rPr lang="ko-KR" altLang="ko-KR" sz="1400" dirty="0" err="1"/>
              <a:t>Error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occurs</a:t>
            </a:r>
            <a:r>
              <a:rPr lang="ko-KR" altLang="ko-KR" sz="1400" dirty="0"/>
              <a:t>:</a:t>
            </a:r>
          </a:p>
          <a:p>
            <a:pPr lvl="0"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ko-KR" sz="1400" dirty="0"/>
              <a:t>The </a:t>
            </a:r>
            <a:r>
              <a:rPr lang="ko-KR" altLang="ko-KR" sz="1400" dirty="0" err="1"/>
              <a:t>following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message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log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will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displayed</a:t>
            </a:r>
            <a:r>
              <a:rPr lang="ko-KR" altLang="ko-KR" sz="1400" dirty="0"/>
              <a:t>.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ADE35A6-6191-90F9-3E90-4803AC8FE4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82284" y="1991074"/>
            <a:ext cx="2307521" cy="406507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F2DD164-10D3-5704-11A5-24B1DE5F89B4}"/>
              </a:ext>
            </a:extLst>
          </p:cNvPr>
          <p:cNvCxnSpPr/>
          <p:nvPr/>
        </p:nvCxnSpPr>
        <p:spPr>
          <a:xfrm>
            <a:off x="6972043" y="2368008"/>
            <a:ext cx="12024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8A09C9-0AB1-9E61-8AC7-E798E984E2BB}"/>
              </a:ext>
            </a:extLst>
          </p:cNvPr>
          <p:cNvCxnSpPr/>
          <p:nvPr/>
        </p:nvCxnSpPr>
        <p:spPr>
          <a:xfrm>
            <a:off x="10300132" y="2367286"/>
            <a:ext cx="12024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4010DC-E0D9-8B9F-E13E-45C324D068CF}"/>
              </a:ext>
            </a:extLst>
          </p:cNvPr>
          <p:cNvSpPr txBox="1"/>
          <p:nvPr/>
        </p:nvSpPr>
        <p:spPr>
          <a:xfrm>
            <a:off x="2873570" y="2964892"/>
            <a:ext cx="3145413" cy="24622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ko-KR" sz="1000" b="1" dirty="0"/>
              <a:t>The </a:t>
            </a:r>
            <a:r>
              <a:rPr lang="ko-KR" altLang="ko-KR" sz="1000" b="1" dirty="0" err="1"/>
              <a:t>written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value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can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be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read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back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successfully</a:t>
            </a:r>
            <a:r>
              <a:rPr lang="ko-KR" altLang="ko-KR" sz="1000" b="1" dirty="0"/>
              <a:t>.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46225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4EE67-A601-5429-012E-18C77ECB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D1B76-57B0-9570-8DE6-DD241A3A298D}"/>
              </a:ext>
            </a:extLst>
          </p:cNvPr>
          <p:cNvSpPr txBox="1"/>
          <p:nvPr/>
        </p:nvSpPr>
        <p:spPr>
          <a:xfrm>
            <a:off x="1687995" y="3044280"/>
            <a:ext cx="8816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F/W Download</a:t>
            </a:r>
          </a:p>
        </p:txBody>
      </p:sp>
    </p:spTree>
    <p:extLst>
      <p:ext uri="{BB962C8B-B14F-4D97-AF65-F5344CB8AC3E}">
        <p14:creationId xmlns:p14="http://schemas.microsoft.com/office/powerpoint/2010/main" val="3229772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E748C-55AD-20F7-08D0-8AAE632E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EF1D314-7898-239B-EA62-D7CD6CC6691A}"/>
              </a:ext>
            </a:extLst>
          </p:cNvPr>
          <p:cNvSpPr txBox="1"/>
          <p:nvPr/>
        </p:nvSpPr>
        <p:spPr>
          <a:xfrm>
            <a:off x="243758" y="115888"/>
            <a:ext cx="2748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F/W Download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699AC28-58AD-8A28-E204-65C37B2E8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BC976-F2D8-FE01-D0FA-A47C9A13658D}"/>
              </a:ext>
            </a:extLst>
          </p:cNvPr>
          <p:cNvSpPr txBox="1"/>
          <p:nvPr/>
        </p:nvSpPr>
        <p:spPr>
          <a:xfrm>
            <a:off x="243758" y="852982"/>
            <a:ext cx="35749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/>
              <a:t>Run STM32CubeProgrammer</a:t>
            </a:r>
          </a:p>
          <a:p>
            <a:pPr marL="342900" indent="-342900">
              <a:buAutoNum type="arabicParenR"/>
            </a:pPr>
            <a:r>
              <a:rPr lang="en-US" altLang="ko-KR" dirty="0"/>
              <a:t>Turn on Jig Power</a:t>
            </a:r>
          </a:p>
          <a:p>
            <a:pPr marL="342900" indent="-342900">
              <a:buAutoNum type="arabicParenR"/>
            </a:pPr>
            <a:r>
              <a:rPr lang="en-US" altLang="ko-KR" dirty="0"/>
              <a:t>Press “Connect” BTN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8619CC-2B3E-8A71-6E1C-5F3DDE5F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04" y="2145241"/>
            <a:ext cx="5429187" cy="312810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46FECE-104E-3838-86E3-B61E67A12017}"/>
              </a:ext>
            </a:extLst>
          </p:cNvPr>
          <p:cNvSpPr/>
          <p:nvPr/>
        </p:nvSpPr>
        <p:spPr>
          <a:xfrm>
            <a:off x="5252169" y="2677929"/>
            <a:ext cx="541586" cy="225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C9E6228-BDE1-400A-DB2E-7F9F3739F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511" y="2145241"/>
            <a:ext cx="5429187" cy="3128723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27DBBA7-46DA-0036-D987-47509CF099A0}"/>
              </a:ext>
            </a:extLst>
          </p:cNvPr>
          <p:cNvSpPr/>
          <p:nvPr/>
        </p:nvSpPr>
        <p:spPr>
          <a:xfrm>
            <a:off x="5920509" y="2903407"/>
            <a:ext cx="468502" cy="1594702"/>
          </a:xfrm>
          <a:prstGeom prst="rightArrow">
            <a:avLst>
              <a:gd name="adj1" fmla="val 22199"/>
              <a:gd name="adj2" fmla="val 519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06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67D8-9538-BB33-9E9D-60DA56FA6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9E79F52-4307-E59C-5883-F360CAD18630}"/>
              </a:ext>
            </a:extLst>
          </p:cNvPr>
          <p:cNvSpPr txBox="1"/>
          <p:nvPr/>
        </p:nvSpPr>
        <p:spPr>
          <a:xfrm>
            <a:off x="243758" y="115888"/>
            <a:ext cx="2748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F/W Download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9EFA5EE9-BE69-2FE1-F665-3FCF2A027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E6B02-E894-9117-710E-D165591700FD}"/>
              </a:ext>
            </a:extLst>
          </p:cNvPr>
          <p:cNvSpPr txBox="1"/>
          <p:nvPr/>
        </p:nvSpPr>
        <p:spPr>
          <a:xfrm>
            <a:off x="243758" y="852982"/>
            <a:ext cx="614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3) Click “Open file” &amp; open released “sal_es0_xxxxxx.hex”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0A92E1-9CD0-6A94-369F-5E3CC7F6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980" y="1299808"/>
            <a:ext cx="7703533" cy="444059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CE8230E-9F8B-FC61-48BC-C4F4DC207998}"/>
              </a:ext>
            </a:extLst>
          </p:cNvPr>
          <p:cNvSpPr/>
          <p:nvPr/>
        </p:nvSpPr>
        <p:spPr>
          <a:xfrm>
            <a:off x="2587944" y="2086801"/>
            <a:ext cx="623797" cy="2869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C30AF1-C993-7239-B417-6EE7A7310D94}"/>
              </a:ext>
            </a:extLst>
          </p:cNvPr>
          <p:cNvSpPr/>
          <p:nvPr/>
        </p:nvSpPr>
        <p:spPr>
          <a:xfrm>
            <a:off x="4763108" y="3015056"/>
            <a:ext cx="1138928" cy="2730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615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BC00C-30A4-EC4E-5218-A6C0B191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DE1E93D-60AB-5791-2508-113EE85B7ADC}"/>
              </a:ext>
            </a:extLst>
          </p:cNvPr>
          <p:cNvSpPr txBox="1"/>
          <p:nvPr/>
        </p:nvSpPr>
        <p:spPr>
          <a:xfrm>
            <a:off x="243758" y="115888"/>
            <a:ext cx="2748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F/W Download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D2A488BC-1906-D13F-C44A-D3C218EA1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3DC8E-C37E-B518-52AB-7CCCEBCBB15D}"/>
              </a:ext>
            </a:extLst>
          </p:cNvPr>
          <p:cNvSpPr txBox="1"/>
          <p:nvPr/>
        </p:nvSpPr>
        <p:spPr>
          <a:xfrm>
            <a:off x="243758" y="852982"/>
            <a:ext cx="713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4) Click “Download” -&gt; “OK” -&gt; “Disconnect” &amp; turn off Jig Power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BAA57A-6AD1-3053-5F7C-FAA307992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46" y="1222314"/>
            <a:ext cx="8236654" cy="472793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2898D87-26C7-65A4-5B73-816B042FE767}"/>
              </a:ext>
            </a:extLst>
          </p:cNvPr>
          <p:cNvSpPr/>
          <p:nvPr/>
        </p:nvSpPr>
        <p:spPr>
          <a:xfrm>
            <a:off x="7732600" y="2373128"/>
            <a:ext cx="829510" cy="305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F76ED8-F180-0D40-1608-90CB1A268E4B}"/>
              </a:ext>
            </a:extLst>
          </p:cNvPr>
          <p:cNvSpPr/>
          <p:nvPr/>
        </p:nvSpPr>
        <p:spPr>
          <a:xfrm>
            <a:off x="7090671" y="2941173"/>
            <a:ext cx="669637" cy="305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852BE7-1AA0-D78E-D7E8-9EA2C8C5542F}"/>
              </a:ext>
            </a:extLst>
          </p:cNvPr>
          <p:cNvSpPr/>
          <p:nvPr/>
        </p:nvSpPr>
        <p:spPr>
          <a:xfrm>
            <a:off x="9504825" y="2012290"/>
            <a:ext cx="978447" cy="360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41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300</Words>
  <Application>Microsoft Office PowerPoint</Application>
  <PresentationFormat>와이드스크린</PresentationFormat>
  <Paragraphs>68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지훈</dc:creator>
  <cp:lastModifiedBy>이 준영</cp:lastModifiedBy>
  <cp:revision>37</cp:revision>
  <dcterms:created xsi:type="dcterms:W3CDTF">2024-09-25T08:23:49Z</dcterms:created>
  <dcterms:modified xsi:type="dcterms:W3CDTF">2026-08-31T02:56:31Z</dcterms:modified>
</cp:coreProperties>
</file>