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49"/>
  </p:notesMasterIdLst>
  <p:handoutMasterIdLst>
    <p:handoutMasterId r:id="rId50"/>
  </p:handoutMasterIdLst>
  <p:sldIdLst>
    <p:sldId id="266" r:id="rId5"/>
    <p:sldId id="385" r:id="rId6"/>
    <p:sldId id="277" r:id="rId7"/>
    <p:sldId id="278" r:id="rId8"/>
    <p:sldId id="279" r:id="rId9"/>
    <p:sldId id="420" r:id="rId10"/>
    <p:sldId id="276" r:id="rId11"/>
    <p:sldId id="417" r:id="rId12"/>
    <p:sldId id="418" r:id="rId13"/>
    <p:sldId id="287" r:id="rId14"/>
    <p:sldId id="434" r:id="rId15"/>
    <p:sldId id="419" r:id="rId16"/>
    <p:sldId id="433" r:id="rId17"/>
    <p:sldId id="728" r:id="rId18"/>
    <p:sldId id="722" r:id="rId19"/>
    <p:sldId id="727" r:id="rId20"/>
    <p:sldId id="729" r:id="rId21"/>
    <p:sldId id="717" r:id="rId22"/>
    <p:sldId id="718" r:id="rId23"/>
    <p:sldId id="432" r:id="rId24"/>
    <p:sldId id="293" r:id="rId25"/>
    <p:sldId id="427" r:id="rId26"/>
    <p:sldId id="330" r:id="rId27"/>
    <p:sldId id="414" r:id="rId28"/>
    <p:sldId id="724" r:id="rId29"/>
    <p:sldId id="412" r:id="rId30"/>
    <p:sldId id="726" r:id="rId31"/>
    <p:sldId id="725" r:id="rId32"/>
    <p:sldId id="723" r:id="rId33"/>
    <p:sldId id="409" r:id="rId34"/>
    <p:sldId id="422" r:id="rId35"/>
    <p:sldId id="720" r:id="rId36"/>
    <p:sldId id="721" r:id="rId37"/>
    <p:sldId id="730" r:id="rId38"/>
    <p:sldId id="415" r:id="rId39"/>
    <p:sldId id="410" r:id="rId40"/>
    <p:sldId id="425" r:id="rId41"/>
    <p:sldId id="426" r:id="rId42"/>
    <p:sldId id="413" r:id="rId43"/>
    <p:sldId id="714" r:id="rId44"/>
    <p:sldId id="715" r:id="rId45"/>
    <p:sldId id="716" r:id="rId46"/>
    <p:sldId id="421" r:id="rId47"/>
    <p:sldId id="348" r:id="rId48"/>
  </p:sldIdLst>
  <p:sldSz cx="6858000" cy="9906000" type="A4"/>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0" pos="255" userDrawn="1">
          <p15:clr>
            <a:srgbClr val="A4A3A4"/>
          </p15:clr>
        </p15:guide>
        <p15:guide id="14" pos="2659" userDrawn="1">
          <p15:clr>
            <a:srgbClr val="A4A3A4"/>
          </p15:clr>
        </p15:guide>
        <p15:guide id="20" orient="horz" pos="5433" userDrawn="1">
          <p15:clr>
            <a:srgbClr val="A4A3A4"/>
          </p15:clr>
        </p15:guide>
        <p15:guide id="22" orient="horz" pos="1124" userDrawn="1">
          <p15:clr>
            <a:srgbClr val="A4A3A4"/>
          </p15:clr>
        </p15:guide>
        <p15:guide id="24" pos="4065" userDrawn="1">
          <p15:clr>
            <a:srgbClr val="A4A3A4"/>
          </p15:clr>
        </p15:guide>
        <p15:guide id="25" pos="191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D5FA65B-5604-BE03-608B-F6122C8A8655}" name="dongil kim" initials="dk" userId="1a02b3e6538b5a48" providerId="Windows Live"/>
  <p188:author id="{C8DF6CCE-C23F-CF43-834D-8616D3F5DBC8}" name="Jaeeun Nam" initials="JE" userId="Jaeeun Nam" providerId="None"/>
  <p188:author id="{5E03ACD7-6916-F275-5442-2DA38665A9F9}" name="엄 윤섭" initials="윤엄" userId="S::yseom@solutionkorea.onmicrosoft.com::6f549fa0-d0b0-4839-be30-c990f199deaa"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on dongkook" initials="sd" lastIdx="1" clrIdx="0">
    <p:extLst>
      <p:ext uri="{19B8F6BF-5375-455C-9EA6-DF929625EA0E}">
        <p15:presenceInfo xmlns:p15="http://schemas.microsoft.com/office/powerpoint/2012/main" userId="99770237f39f986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FF"/>
    <a:srgbClr val="0066FF"/>
    <a:srgbClr val="FFC5FF"/>
    <a:srgbClr val="FFD1D1"/>
    <a:srgbClr val="BDD8FF"/>
    <a:srgbClr val="B3FFB3"/>
    <a:srgbClr val="CCFFFF"/>
    <a:srgbClr val="E6E6E6"/>
    <a:srgbClr val="0000FF"/>
    <a:srgbClr val="FFFFE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505E3EF-67EA-436B-97B2-0124C06EBD24}" styleName="보통 스타일 4 - 강조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322" autoAdjust="0"/>
    <p:restoredTop sz="95388" autoAdjust="0"/>
  </p:normalViewPr>
  <p:slideViewPr>
    <p:cSldViewPr snapToGrid="0">
      <p:cViewPr varScale="1">
        <p:scale>
          <a:sx n="112" d="100"/>
          <a:sy n="112" d="100"/>
        </p:scale>
        <p:origin x="4640" y="72"/>
      </p:cViewPr>
      <p:guideLst>
        <p:guide pos="255"/>
        <p:guide pos="2659"/>
        <p:guide orient="horz" pos="5433"/>
        <p:guide orient="horz" pos="1124"/>
        <p:guide pos="4065"/>
        <p:guide pos="191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102" d="100"/>
          <a:sy n="102" d="100"/>
        </p:scale>
        <p:origin x="3028" y="9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handoutMaster" Target="handoutMasters/handoutMaster1.xml"/><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microsoft.com/office/2018/10/relationships/authors" Target="authors.xml"/><Relationship Id="rId8" Type="http://schemas.openxmlformats.org/officeDocument/2006/relationships/slide" Target="slides/slide4.xml"/><Relationship Id="rId51" Type="http://schemas.openxmlformats.org/officeDocument/2006/relationships/commentAuthors" Target="commen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6BD34A0D-62E5-4126-B420-4B8945E29C66}"/>
              </a:ext>
            </a:extLst>
          </p:cNvPr>
          <p:cNvSpPr>
            <a:spLocks noGrp="1"/>
          </p:cNvSpPr>
          <p:nvPr>
            <p:ph type="hdr" sz="quarter"/>
          </p:nvPr>
        </p:nvSpPr>
        <p:spPr>
          <a:xfrm>
            <a:off x="0" y="0"/>
            <a:ext cx="2946400" cy="496888"/>
          </a:xfrm>
          <a:prstGeom prst="rect">
            <a:avLst/>
          </a:prstGeom>
        </p:spPr>
        <p:txBody>
          <a:bodyPr vert="horz" lIns="91431" tIns="45715" rIns="91431" bIns="45715" rtlCol="0"/>
          <a:lstStyle>
            <a:lvl1pPr algn="l">
              <a:defRPr sz="1200"/>
            </a:lvl1pPr>
          </a:lstStyle>
          <a:p>
            <a:endParaRPr lang="ko-KR" altLang="en-US" dirty="0"/>
          </a:p>
        </p:txBody>
      </p:sp>
      <p:sp>
        <p:nvSpPr>
          <p:cNvPr id="3" name="날짜 개체 틀 2">
            <a:extLst>
              <a:ext uri="{FF2B5EF4-FFF2-40B4-BE49-F238E27FC236}">
                <a16:creationId xmlns:a16="http://schemas.microsoft.com/office/drawing/2014/main" id="{6CD09051-50E8-45CF-8F91-5640B4F504F1}"/>
              </a:ext>
            </a:extLst>
          </p:cNvPr>
          <p:cNvSpPr>
            <a:spLocks noGrp="1"/>
          </p:cNvSpPr>
          <p:nvPr>
            <p:ph type="dt" sz="quarter" idx="1"/>
          </p:nvPr>
        </p:nvSpPr>
        <p:spPr>
          <a:xfrm>
            <a:off x="3849688" y="0"/>
            <a:ext cx="2946400" cy="496888"/>
          </a:xfrm>
          <a:prstGeom prst="rect">
            <a:avLst/>
          </a:prstGeom>
        </p:spPr>
        <p:txBody>
          <a:bodyPr vert="horz" lIns="91431" tIns="45715" rIns="91431" bIns="45715" rtlCol="0"/>
          <a:lstStyle>
            <a:lvl1pPr algn="r">
              <a:defRPr sz="1200"/>
            </a:lvl1pPr>
          </a:lstStyle>
          <a:p>
            <a:fld id="{2281637F-B6E0-4E7F-AD60-C289DCB0986F}" type="datetimeFigureOut">
              <a:rPr lang="ko-KR" altLang="en-US" smtClean="0"/>
              <a:t>2026-08-20</a:t>
            </a:fld>
            <a:endParaRPr lang="ko-KR" altLang="en-US" dirty="0"/>
          </a:p>
        </p:txBody>
      </p:sp>
      <p:sp>
        <p:nvSpPr>
          <p:cNvPr id="4" name="바닥글 개체 틀 3">
            <a:extLst>
              <a:ext uri="{FF2B5EF4-FFF2-40B4-BE49-F238E27FC236}">
                <a16:creationId xmlns:a16="http://schemas.microsoft.com/office/drawing/2014/main" id="{DDF8D031-E1F4-4D34-8C66-5F846CCEFA41}"/>
              </a:ext>
            </a:extLst>
          </p:cNvPr>
          <p:cNvSpPr>
            <a:spLocks noGrp="1"/>
          </p:cNvSpPr>
          <p:nvPr>
            <p:ph type="ftr" sz="quarter" idx="2"/>
          </p:nvPr>
        </p:nvSpPr>
        <p:spPr>
          <a:xfrm>
            <a:off x="0" y="9429750"/>
            <a:ext cx="2946400" cy="496888"/>
          </a:xfrm>
          <a:prstGeom prst="rect">
            <a:avLst/>
          </a:prstGeom>
        </p:spPr>
        <p:txBody>
          <a:bodyPr vert="horz" lIns="91431" tIns="45715" rIns="91431" bIns="45715" rtlCol="0" anchor="b"/>
          <a:lstStyle>
            <a:lvl1pPr algn="l">
              <a:defRPr sz="1200"/>
            </a:lvl1pPr>
          </a:lstStyle>
          <a:p>
            <a:endParaRPr lang="ko-KR" altLang="en-US" dirty="0"/>
          </a:p>
        </p:txBody>
      </p:sp>
      <p:sp>
        <p:nvSpPr>
          <p:cNvPr id="5" name="슬라이드 번호 개체 틀 4">
            <a:extLst>
              <a:ext uri="{FF2B5EF4-FFF2-40B4-BE49-F238E27FC236}">
                <a16:creationId xmlns:a16="http://schemas.microsoft.com/office/drawing/2014/main" id="{4D21CD1D-D96D-4EBE-978F-F2636A42F1C9}"/>
              </a:ext>
            </a:extLst>
          </p:cNvPr>
          <p:cNvSpPr>
            <a:spLocks noGrp="1"/>
          </p:cNvSpPr>
          <p:nvPr>
            <p:ph type="sldNum" sz="quarter" idx="3"/>
          </p:nvPr>
        </p:nvSpPr>
        <p:spPr>
          <a:xfrm>
            <a:off x="3849688" y="9429750"/>
            <a:ext cx="2946400" cy="496888"/>
          </a:xfrm>
          <a:prstGeom prst="rect">
            <a:avLst/>
          </a:prstGeom>
        </p:spPr>
        <p:txBody>
          <a:bodyPr vert="horz" lIns="91431" tIns="45715" rIns="91431" bIns="45715" rtlCol="0" anchor="b"/>
          <a:lstStyle>
            <a:lvl1pPr algn="r">
              <a:defRPr sz="1200"/>
            </a:lvl1pPr>
          </a:lstStyle>
          <a:p>
            <a:fld id="{BB9A4DEB-4C72-49D7-9C33-58C15789186D}" type="slidenum">
              <a:rPr lang="ko-KR" altLang="en-US" smtClean="0"/>
              <a:t>‹#›</a:t>
            </a:fld>
            <a:endParaRPr lang="ko-KR" altLang="en-US" dirty="0"/>
          </a:p>
        </p:txBody>
      </p:sp>
    </p:spTree>
    <p:extLst>
      <p:ext uri="{BB962C8B-B14F-4D97-AF65-F5344CB8AC3E}">
        <p14:creationId xmlns:p14="http://schemas.microsoft.com/office/powerpoint/2010/main" val="3703748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0"/>
            <a:ext cx="2945659" cy="498056"/>
          </a:xfrm>
          <a:prstGeom prst="rect">
            <a:avLst/>
          </a:prstGeom>
        </p:spPr>
        <p:txBody>
          <a:bodyPr vert="horz" lIns="91431" tIns="45715" rIns="91431" bIns="45715" rtlCol="0"/>
          <a:lstStyle>
            <a:lvl1pPr algn="l">
              <a:defRPr sz="1200"/>
            </a:lvl1pPr>
          </a:lstStyle>
          <a:p>
            <a:endParaRPr lang="ko-KR" altLang="en-US" dirty="0"/>
          </a:p>
        </p:txBody>
      </p:sp>
      <p:sp>
        <p:nvSpPr>
          <p:cNvPr id="3" name="날짜 개체 틀 2"/>
          <p:cNvSpPr>
            <a:spLocks noGrp="1"/>
          </p:cNvSpPr>
          <p:nvPr>
            <p:ph type="dt" idx="1"/>
          </p:nvPr>
        </p:nvSpPr>
        <p:spPr>
          <a:xfrm>
            <a:off x="3850444" y="0"/>
            <a:ext cx="2945659" cy="498056"/>
          </a:xfrm>
          <a:prstGeom prst="rect">
            <a:avLst/>
          </a:prstGeom>
        </p:spPr>
        <p:txBody>
          <a:bodyPr vert="horz" lIns="91431" tIns="45715" rIns="91431" bIns="45715" rtlCol="0"/>
          <a:lstStyle>
            <a:lvl1pPr algn="r">
              <a:defRPr sz="1200"/>
            </a:lvl1pPr>
          </a:lstStyle>
          <a:p>
            <a:fld id="{1905B5A4-DDD3-42F4-9B43-01BA73DC80EA}" type="datetimeFigureOut">
              <a:rPr lang="ko-KR" altLang="en-US" smtClean="0"/>
              <a:t>2026-08-20</a:t>
            </a:fld>
            <a:endParaRPr lang="ko-KR" altLang="en-US" dirty="0"/>
          </a:p>
        </p:txBody>
      </p:sp>
      <p:sp>
        <p:nvSpPr>
          <p:cNvPr id="4" name="슬라이드 이미지 개체 틀 3"/>
          <p:cNvSpPr>
            <a:spLocks noGrp="1" noRot="1" noChangeAspect="1"/>
          </p:cNvSpPr>
          <p:nvPr>
            <p:ph type="sldImg" idx="2"/>
          </p:nvPr>
        </p:nvSpPr>
        <p:spPr>
          <a:xfrm>
            <a:off x="2239963" y="1241425"/>
            <a:ext cx="2317750" cy="3349625"/>
          </a:xfrm>
          <a:prstGeom prst="rect">
            <a:avLst/>
          </a:prstGeom>
          <a:noFill/>
          <a:ln w="12700">
            <a:solidFill>
              <a:prstClr val="black"/>
            </a:solidFill>
          </a:ln>
        </p:spPr>
        <p:txBody>
          <a:bodyPr vert="horz" lIns="91431" tIns="45715" rIns="91431" bIns="45715" rtlCol="0" anchor="ctr"/>
          <a:lstStyle/>
          <a:p>
            <a:endParaRPr lang="ko-KR" altLang="en-US" dirty="0"/>
          </a:p>
        </p:txBody>
      </p:sp>
      <p:sp>
        <p:nvSpPr>
          <p:cNvPr id="5" name="슬라이드 노트 개체 틀 4"/>
          <p:cNvSpPr>
            <a:spLocks noGrp="1"/>
          </p:cNvSpPr>
          <p:nvPr>
            <p:ph type="body" sz="quarter" idx="3"/>
          </p:nvPr>
        </p:nvSpPr>
        <p:spPr>
          <a:xfrm>
            <a:off x="679768" y="4777195"/>
            <a:ext cx="5438140" cy="3908614"/>
          </a:xfrm>
          <a:prstGeom prst="rect">
            <a:avLst/>
          </a:prstGeom>
        </p:spPr>
        <p:txBody>
          <a:bodyPr vert="horz" lIns="91431" tIns="45715" rIns="91431" bIns="45715"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1" y="9428584"/>
            <a:ext cx="2945659" cy="498055"/>
          </a:xfrm>
          <a:prstGeom prst="rect">
            <a:avLst/>
          </a:prstGeom>
        </p:spPr>
        <p:txBody>
          <a:bodyPr vert="horz" lIns="91431" tIns="45715" rIns="91431" bIns="45715" rtlCol="0" anchor="b"/>
          <a:lstStyle>
            <a:lvl1pPr algn="l">
              <a:defRPr sz="1200"/>
            </a:lvl1pPr>
          </a:lstStyle>
          <a:p>
            <a:endParaRPr lang="ko-KR" altLang="en-US" dirty="0"/>
          </a:p>
        </p:txBody>
      </p:sp>
      <p:sp>
        <p:nvSpPr>
          <p:cNvPr id="7" name="슬라이드 번호 개체 틀 6"/>
          <p:cNvSpPr>
            <a:spLocks noGrp="1"/>
          </p:cNvSpPr>
          <p:nvPr>
            <p:ph type="sldNum" sz="quarter" idx="5"/>
          </p:nvPr>
        </p:nvSpPr>
        <p:spPr>
          <a:xfrm>
            <a:off x="3850444" y="9428584"/>
            <a:ext cx="2945659" cy="498055"/>
          </a:xfrm>
          <a:prstGeom prst="rect">
            <a:avLst/>
          </a:prstGeom>
        </p:spPr>
        <p:txBody>
          <a:bodyPr vert="horz" lIns="91431" tIns="45715" rIns="91431" bIns="45715" rtlCol="0" anchor="b"/>
          <a:lstStyle>
            <a:lvl1pPr algn="r">
              <a:defRPr sz="1200"/>
            </a:lvl1pPr>
          </a:lstStyle>
          <a:p>
            <a:fld id="{E0166A3B-8ACD-4EFC-80A7-344EDF6621A2}" type="slidenum">
              <a:rPr lang="ko-KR" altLang="en-US" smtClean="0"/>
              <a:t>‹#›</a:t>
            </a:fld>
            <a:endParaRPr lang="ko-KR" altLang="en-US" dirty="0"/>
          </a:p>
        </p:txBody>
      </p:sp>
    </p:spTree>
    <p:extLst>
      <p:ext uri="{BB962C8B-B14F-4D97-AF65-F5344CB8AC3E}">
        <p14:creationId xmlns:p14="http://schemas.microsoft.com/office/powerpoint/2010/main" val="283462906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04D46-4B2A-9E1F-11D2-26284FF0375A}"/>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C85EC52-E0D7-5FE7-630E-C954D0654246}"/>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D58FF159-8DD8-88A5-46CB-D908EB1460F8}"/>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FC15CD71-73F2-BA5C-BD54-0F066053DEE6}"/>
              </a:ext>
            </a:extLst>
          </p:cNvPr>
          <p:cNvSpPr>
            <a:spLocks noGrp="1"/>
          </p:cNvSpPr>
          <p:nvPr>
            <p:ph type="sldNum" sz="quarter" idx="5"/>
          </p:nvPr>
        </p:nvSpPr>
        <p:spPr/>
        <p:txBody>
          <a:bodyPr/>
          <a:lstStyle/>
          <a:p>
            <a:pPr>
              <a:defRPr/>
            </a:pPr>
            <a:fld id="{27059158-E109-4140-9926-DB4714258AF8}" type="slidenum">
              <a:rPr lang="ko-KR" altLang="en-US" smtClean="0"/>
              <a:pPr>
                <a:defRPr/>
              </a:pPr>
              <a:t>41</a:t>
            </a:fld>
            <a:endParaRPr lang="ko-KR" altLang="en-US"/>
          </a:p>
        </p:txBody>
      </p:sp>
    </p:spTree>
    <p:extLst>
      <p:ext uri="{BB962C8B-B14F-4D97-AF65-F5344CB8AC3E}">
        <p14:creationId xmlns:p14="http://schemas.microsoft.com/office/powerpoint/2010/main" val="17864707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5850A-55D8-A2EE-198B-08097A46A63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15E6C10-B918-A52D-BFAE-A2923C0917D0}"/>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31BA757-7A68-BBE4-23E9-B8F111642344}"/>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04ECA705-CF13-937E-3881-0E650889DD73}"/>
              </a:ext>
            </a:extLst>
          </p:cNvPr>
          <p:cNvSpPr>
            <a:spLocks noGrp="1"/>
          </p:cNvSpPr>
          <p:nvPr>
            <p:ph type="sldNum" sz="quarter" idx="5"/>
          </p:nvPr>
        </p:nvSpPr>
        <p:spPr/>
        <p:txBody>
          <a:bodyPr/>
          <a:lstStyle/>
          <a:p>
            <a:pPr>
              <a:defRPr/>
            </a:pPr>
            <a:fld id="{27059158-E109-4140-9926-DB4714258AF8}" type="slidenum">
              <a:rPr lang="ko-KR" altLang="en-US" smtClean="0"/>
              <a:pPr>
                <a:defRPr/>
              </a:pPr>
              <a:t>42</a:t>
            </a:fld>
            <a:endParaRPr lang="ko-KR" altLang="en-US"/>
          </a:p>
        </p:txBody>
      </p:sp>
    </p:spTree>
    <p:extLst>
      <p:ext uri="{BB962C8B-B14F-4D97-AF65-F5344CB8AC3E}">
        <p14:creationId xmlns:p14="http://schemas.microsoft.com/office/powerpoint/2010/main" val="33953167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610357" y="1599438"/>
            <a:ext cx="1637284" cy="492488"/>
          </a:xfrm>
          <a:prstGeom prst="rect">
            <a:avLst/>
          </a:prstGeom>
        </p:spPr>
        <p:txBody>
          <a:bodyPr lIns="0" tIns="0" rIns="0" bIns="0"/>
          <a:lstStyle>
            <a:lvl1pPr>
              <a:defRPr sz="3133" b="1" i="0">
                <a:solidFill>
                  <a:srgbClr val="7E7E7E"/>
                </a:solidFill>
                <a:latin typeface="Arial"/>
                <a:cs typeface="Arial"/>
              </a:defRPr>
            </a:lvl1pPr>
          </a:lstStyle>
          <a:p>
            <a:endParaRPr dirty="0"/>
          </a:p>
        </p:txBody>
      </p:sp>
      <p:sp>
        <p:nvSpPr>
          <p:cNvPr id="3" name="Holder 3"/>
          <p:cNvSpPr>
            <a:spLocks noGrp="1"/>
          </p:cNvSpPr>
          <p:nvPr>
            <p:ph type="body" idx="1"/>
          </p:nvPr>
        </p:nvSpPr>
        <p:spPr>
          <a:xfrm>
            <a:off x="471488" y="2637014"/>
            <a:ext cx="5915025" cy="6285266"/>
          </a:xfrm>
          <a:prstGeom prst="rect">
            <a:avLst/>
          </a:prstGeom>
        </p:spPr>
        <p:txBody>
          <a:bodyPr lIns="0" tIns="0" rIns="0" bIns="0"/>
          <a:lstStyle>
            <a:lvl1pPr>
              <a:defRPr/>
            </a:lvl1pPr>
          </a:lstStyle>
          <a:p>
            <a:endParaRPr dirty="0"/>
          </a:p>
        </p:txBody>
      </p:sp>
      <p:grpSp>
        <p:nvGrpSpPr>
          <p:cNvPr id="8" name="그룹 7">
            <a:extLst>
              <a:ext uri="{FF2B5EF4-FFF2-40B4-BE49-F238E27FC236}">
                <a16:creationId xmlns:a16="http://schemas.microsoft.com/office/drawing/2014/main" id="{2FCD22CD-A9EE-E210-7AD8-AFD633C45516}"/>
              </a:ext>
            </a:extLst>
          </p:cNvPr>
          <p:cNvGrpSpPr/>
          <p:nvPr userDrawn="1"/>
        </p:nvGrpSpPr>
        <p:grpSpPr>
          <a:xfrm>
            <a:off x="4366818" y="433977"/>
            <a:ext cx="2088304" cy="752967"/>
            <a:chOff x="4136310" y="299116"/>
            <a:chExt cx="2597866" cy="873507"/>
          </a:xfrm>
        </p:grpSpPr>
        <p:pic>
          <p:nvPicPr>
            <p:cNvPr id="9" name="그림 8">
              <a:extLst>
                <a:ext uri="{FF2B5EF4-FFF2-40B4-BE49-F238E27FC236}">
                  <a16:creationId xmlns:a16="http://schemas.microsoft.com/office/drawing/2014/main" id="{7038390E-AB2E-9D84-6BA0-EE882BF9F91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6310" y="299116"/>
              <a:ext cx="639895" cy="873507"/>
            </a:xfrm>
            <a:prstGeom prst="rect">
              <a:avLst/>
            </a:prstGeom>
          </p:spPr>
        </p:pic>
        <p:sp>
          <p:nvSpPr>
            <p:cNvPr id="10" name="TextBox 9">
              <a:extLst>
                <a:ext uri="{FF2B5EF4-FFF2-40B4-BE49-F238E27FC236}">
                  <a16:creationId xmlns:a16="http://schemas.microsoft.com/office/drawing/2014/main" id="{678F61E0-9BDD-6BD9-EB3D-41608A839E0B}"/>
                </a:ext>
              </a:extLst>
            </p:cNvPr>
            <p:cNvSpPr txBox="1"/>
            <p:nvPr/>
          </p:nvSpPr>
          <p:spPr>
            <a:xfrm>
              <a:off x="4604472" y="550651"/>
              <a:ext cx="2129704" cy="351840"/>
            </a:xfrm>
            <a:prstGeom prst="rect">
              <a:avLst/>
            </a:prstGeom>
            <a:noFill/>
          </p:spPr>
          <p:txBody>
            <a:bodyPr wrap="square" rtlCol="0">
              <a:spAutoFit/>
            </a:bodyPr>
            <a:lstStyle/>
            <a:p>
              <a:pPr defTabSz="841696" fontAlgn="auto" latinLnBrk="0">
                <a:spcBef>
                  <a:spcPts val="0"/>
                </a:spcBef>
                <a:spcAft>
                  <a:spcPts val="0"/>
                </a:spcAft>
                <a:defRPr/>
              </a:pPr>
              <a:r>
                <a:rPr kumimoji="0" lang="en-US" altLang="ko-KR" sz="1371" kern="0" dirty="0">
                  <a:solidFill>
                    <a:prstClr val="black"/>
                  </a:solidFill>
                  <a:latin typeface="Calibri"/>
                  <a:ea typeface="맑은 고딕" panose="020B0503020000020004" pitchFamily="50" charset="-127"/>
                </a:rPr>
                <a:t>Global Technologies</a:t>
              </a:r>
              <a:endParaRPr kumimoji="0" lang="ko-KR" altLang="en-US" sz="1371" kern="0" dirty="0">
                <a:solidFill>
                  <a:prstClr val="black"/>
                </a:solidFill>
                <a:latin typeface="Calibri"/>
                <a:ea typeface="맑은 고딕" panose="020B0503020000020004" pitchFamily="50" charset="-127"/>
              </a:endParaRPr>
            </a:p>
          </p:txBody>
        </p:sp>
      </p:grpSp>
    </p:spTree>
    <p:extLst>
      <p:ext uri="{BB962C8B-B14F-4D97-AF65-F5344CB8AC3E}">
        <p14:creationId xmlns:p14="http://schemas.microsoft.com/office/powerpoint/2010/main" val="875538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cxnSp>
        <p:nvCxnSpPr>
          <p:cNvPr id="7" name="직선 연결선 6">
            <a:extLst>
              <a:ext uri="{FF2B5EF4-FFF2-40B4-BE49-F238E27FC236}">
                <a16:creationId xmlns:a16="http://schemas.microsoft.com/office/drawing/2014/main" id="{FC6C40EC-0F6C-C824-EF25-F07C52217003}"/>
              </a:ext>
            </a:extLst>
          </p:cNvPr>
          <p:cNvCxnSpPr/>
          <p:nvPr userDrawn="1"/>
        </p:nvCxnSpPr>
        <p:spPr>
          <a:xfrm>
            <a:off x="404813" y="723000"/>
            <a:ext cx="6048375"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Holder 2">
            <a:extLst>
              <a:ext uri="{FF2B5EF4-FFF2-40B4-BE49-F238E27FC236}">
                <a16:creationId xmlns:a16="http://schemas.microsoft.com/office/drawing/2014/main" id="{56F15421-7FDC-AF5F-7050-18B6BB28B9AB}"/>
              </a:ext>
            </a:extLst>
          </p:cNvPr>
          <p:cNvSpPr>
            <a:spLocks noGrp="1"/>
          </p:cNvSpPr>
          <p:nvPr>
            <p:ph type="title"/>
          </p:nvPr>
        </p:nvSpPr>
        <p:spPr>
          <a:xfrm>
            <a:off x="2610357" y="1599438"/>
            <a:ext cx="1637284" cy="492488"/>
          </a:xfrm>
          <a:prstGeom prst="rect">
            <a:avLst/>
          </a:prstGeom>
        </p:spPr>
        <p:txBody>
          <a:bodyPr lIns="0" tIns="0" rIns="0" bIns="0"/>
          <a:lstStyle>
            <a:lvl1pPr>
              <a:defRPr sz="3133" b="1" i="0">
                <a:solidFill>
                  <a:srgbClr val="7E7E7E"/>
                </a:solidFill>
                <a:latin typeface="Arial"/>
                <a:cs typeface="Arial"/>
              </a:defRPr>
            </a:lvl1pPr>
          </a:lstStyle>
          <a:p>
            <a:endParaRPr dirty="0"/>
          </a:p>
        </p:txBody>
      </p:sp>
      <p:sp>
        <p:nvSpPr>
          <p:cNvPr id="9" name="Holder 3">
            <a:extLst>
              <a:ext uri="{FF2B5EF4-FFF2-40B4-BE49-F238E27FC236}">
                <a16:creationId xmlns:a16="http://schemas.microsoft.com/office/drawing/2014/main" id="{F7D19935-977E-EB05-03F2-58E9B62E7215}"/>
              </a:ext>
            </a:extLst>
          </p:cNvPr>
          <p:cNvSpPr>
            <a:spLocks noGrp="1"/>
          </p:cNvSpPr>
          <p:nvPr>
            <p:ph type="body" idx="1"/>
          </p:nvPr>
        </p:nvSpPr>
        <p:spPr>
          <a:xfrm>
            <a:off x="342900" y="2278383"/>
            <a:ext cx="6172200" cy="276999"/>
          </a:xfrm>
          <a:prstGeom prst="rect">
            <a:avLst/>
          </a:prstGeom>
        </p:spPr>
        <p:txBody>
          <a:bodyPr lIns="0" tIns="0" rIns="0" bIns="0"/>
          <a:lstStyle>
            <a:lvl1pPr>
              <a:defRPr/>
            </a:lvl1pPr>
          </a:lstStyle>
          <a:p>
            <a:endParaRPr dirty="0"/>
          </a:p>
        </p:txBody>
      </p:sp>
      <p:sp>
        <p:nvSpPr>
          <p:cNvPr id="10" name="object 4">
            <a:extLst>
              <a:ext uri="{FF2B5EF4-FFF2-40B4-BE49-F238E27FC236}">
                <a16:creationId xmlns:a16="http://schemas.microsoft.com/office/drawing/2014/main" id="{2978683C-BA9C-6C5C-A746-031BC95F64E6}"/>
              </a:ext>
            </a:extLst>
          </p:cNvPr>
          <p:cNvSpPr txBox="1"/>
          <p:nvPr userDrawn="1"/>
        </p:nvSpPr>
        <p:spPr>
          <a:xfrm>
            <a:off x="464061" y="398874"/>
            <a:ext cx="1606039" cy="283400"/>
          </a:xfrm>
          <a:prstGeom prst="rect">
            <a:avLst/>
          </a:prstGeom>
        </p:spPr>
        <p:txBody>
          <a:bodyPr vert="horz" wrap="square" lIns="0" tIns="12435" rIns="0" bIns="0" rtlCol="0">
            <a:spAutoFit/>
          </a:bodyPr>
          <a:lstStyle/>
          <a:p>
            <a:pPr marL="12435" defTabSz="895327" fontAlgn="auto">
              <a:spcBef>
                <a:spcPts val="98"/>
              </a:spcBef>
              <a:spcAft>
                <a:spcPts val="0"/>
              </a:spcAft>
            </a:pPr>
            <a:r>
              <a:rPr lang="en-US" sz="1760" b="1" dirty="0">
                <a:solidFill>
                  <a:srgbClr val="7E7E7E"/>
                </a:solidFill>
                <a:latin typeface="Arial"/>
                <a:ea typeface="+mj-ea"/>
                <a:cs typeface="Arial"/>
              </a:rPr>
              <a:t>XD12R</a:t>
            </a:r>
            <a:endParaRPr sz="1760" b="1" dirty="0">
              <a:solidFill>
                <a:srgbClr val="0000FF"/>
              </a:solidFill>
              <a:latin typeface="Arial"/>
              <a:ea typeface="+mj-ea"/>
              <a:cs typeface="Arial"/>
            </a:endParaRPr>
          </a:p>
        </p:txBody>
      </p:sp>
    </p:spTree>
    <p:extLst>
      <p:ext uri="{BB962C8B-B14F-4D97-AF65-F5344CB8AC3E}">
        <p14:creationId xmlns:p14="http://schemas.microsoft.com/office/powerpoint/2010/main" val="2380017233"/>
      </p:ext>
    </p:extLst>
  </p:cSld>
  <p:clrMapOvr>
    <a:masterClrMapping/>
  </p:clrMapOvr>
  <p:extLst>
    <p:ext uri="{DCECCB84-F9BA-43D5-87BE-67443E8EF086}">
      <p15:sldGuideLst xmlns:p15="http://schemas.microsoft.com/office/powerpoint/2012/main">
        <p15:guide id="1" orient="horz" pos="3120">
          <p15:clr>
            <a:srgbClr val="FBAE40"/>
          </p15:clr>
        </p15:guide>
        <p15:guide id="2" pos="261">
          <p15:clr>
            <a:srgbClr val="FBAE40"/>
          </p15:clr>
        </p15:guide>
        <p15:guide id="3" pos="4059">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a:prstGeom prst="rect">
            <a:avLst/>
          </a:prstGeom>
        </p:spPr>
        <p:txBody>
          <a:bodyPr anchor="b"/>
          <a:lstStyle>
            <a:lvl1pPr algn="ctr">
              <a:defRPr sz="4500"/>
            </a:lvl1pPr>
          </a:lstStyle>
          <a:p>
            <a:r>
              <a:rPr lang="ko-KR" altLang="en-US"/>
              <a:t>마스터 제목 스타일 편집</a:t>
            </a:r>
            <a:endParaRPr lang="en-US" dirty="0"/>
          </a:p>
        </p:txBody>
      </p:sp>
      <p:sp>
        <p:nvSpPr>
          <p:cNvPr id="3" name="Subtitle 2"/>
          <p:cNvSpPr>
            <a:spLocks noGrp="1"/>
          </p:cNvSpPr>
          <p:nvPr>
            <p:ph type="subTitle" idx="1"/>
          </p:nvPr>
        </p:nvSpPr>
        <p:spPr>
          <a:xfrm>
            <a:off x="857250" y="5202944"/>
            <a:ext cx="5143500" cy="2391656"/>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ko-KR" altLang="en-US" dirty="0"/>
              <a:t>클릭하여 마스터 부제목 스타일 편집</a:t>
            </a:r>
            <a:endParaRPr lang="en-US" dirty="0"/>
          </a:p>
        </p:txBody>
      </p:sp>
    </p:spTree>
    <p:extLst>
      <p:ext uri="{BB962C8B-B14F-4D97-AF65-F5344CB8AC3E}">
        <p14:creationId xmlns:p14="http://schemas.microsoft.com/office/powerpoint/2010/main" val="2371163162"/>
      </p:ext>
    </p:extLst>
  </p:cSld>
  <p:clrMapOvr>
    <a:masterClrMapping/>
  </p:clrMapOvr>
  <p:extLst>
    <p:ext uri="{DCECCB84-F9BA-43D5-87BE-67443E8EF086}">
      <p15:sldGuideLst xmlns:p15="http://schemas.microsoft.com/office/powerpoint/2012/main">
        <p15:guide id="1" orient="horz" pos="3120" userDrawn="1">
          <p15:clr>
            <a:srgbClr val="FBAE40"/>
          </p15:clr>
        </p15:guide>
        <p15:guide id="2"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Content Placeholder 2"/>
          <p:cNvSpPr>
            <a:spLocks noGrp="1"/>
          </p:cNvSpPr>
          <p:nvPr>
            <p:ph idx="1"/>
          </p:nvPr>
        </p:nvSpPr>
        <p:spPr>
          <a:xfrm>
            <a:off x="471488" y="2637014"/>
            <a:ext cx="5915025"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2026-08-20</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559610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a:prstGeom prst="rect">
            <a:avLst/>
          </a:prstGeom>
        </p:spPr>
        <p:txBody>
          <a:bodyPr anchor="b"/>
          <a:lstStyle>
            <a:lvl1pPr>
              <a:defRPr sz="4500"/>
            </a:lvl1pPr>
          </a:lstStyle>
          <a:p>
            <a:r>
              <a:rPr lang="ko-KR" altLang="en-US"/>
              <a:t>마스터 제목 스타일 편집</a:t>
            </a:r>
            <a:endParaRPr lang="en-US" dirty="0"/>
          </a:p>
        </p:txBody>
      </p:sp>
      <p:sp>
        <p:nvSpPr>
          <p:cNvPr id="3" name="Text Placeholder 2"/>
          <p:cNvSpPr>
            <a:spLocks noGrp="1"/>
          </p:cNvSpPr>
          <p:nvPr>
            <p:ph type="body" idx="1"/>
          </p:nvPr>
        </p:nvSpPr>
        <p:spPr>
          <a:xfrm>
            <a:off x="467916" y="6629226"/>
            <a:ext cx="5915025" cy="2166937"/>
          </a:xfrm>
          <a:prstGeom prst="rect">
            <a:avLst/>
          </a:prstGeo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2026-08-20</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358320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471488" y="2637014"/>
            <a:ext cx="2914650"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3471863" y="2637014"/>
            <a:ext cx="2914650"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2026-08-20</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507668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a:prstGeom prst="rect">
            <a:avLst/>
          </a:prstGeo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472381" y="2428347"/>
            <a:ext cx="2901255"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472381" y="3618442"/>
            <a:ext cx="2901255" cy="5322183"/>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3471863" y="2428347"/>
            <a:ext cx="2915543"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3471863" y="3618442"/>
            <a:ext cx="2915543" cy="5322183"/>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2026-08-20</a:t>
            </a:fld>
            <a:endParaRPr lang="ko-KR" altLang="en-US" dirty="0"/>
          </a:p>
        </p:txBody>
      </p:sp>
      <p:sp>
        <p:nvSpPr>
          <p:cNvPr id="8" name="Footer Placeholder 7"/>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9" name="Slide Number Placeholder 8"/>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702557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Date Placeholder 2"/>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2026-08-20</a:t>
            </a:fld>
            <a:endParaRPr lang="ko-KR" altLang="en-US" dirty="0"/>
          </a:p>
        </p:txBody>
      </p:sp>
      <p:sp>
        <p:nvSpPr>
          <p:cNvPr id="4" name="Footer Placeholder 3"/>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5" name="Slide Number Placeholder 4"/>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191415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2026-08-20</a:t>
            </a:fld>
            <a:endParaRPr lang="ko-KR" altLang="en-US" dirty="0"/>
          </a:p>
        </p:txBody>
      </p:sp>
      <p:sp>
        <p:nvSpPr>
          <p:cNvPr id="3" name="Footer Placeholder 2"/>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4" name="Slide Number Placeholder 3"/>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340858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ko-KR" altLang="en-US"/>
              <a:t>마스터 제목 스타일 편집</a:t>
            </a:r>
            <a:endParaRPr lang="en-US" dirty="0"/>
          </a:p>
        </p:txBody>
      </p:sp>
      <p:sp>
        <p:nvSpPr>
          <p:cNvPr id="3" name="Content Placeholder 2"/>
          <p:cNvSpPr>
            <a:spLocks noGrp="1"/>
          </p:cNvSpPr>
          <p:nvPr>
            <p:ph idx="1"/>
          </p:nvPr>
        </p:nvSpPr>
        <p:spPr>
          <a:xfrm>
            <a:off x="2915543" y="1426283"/>
            <a:ext cx="3471863" cy="7039681"/>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2026-08-20</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069352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2915543" y="1426283"/>
            <a:ext cx="3471863" cy="7039681"/>
          </a:xfrm>
          <a:prstGeom prst="rect">
            <a:avLst/>
          </a:prstGeo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ko-KR" altLang="en-US" dirty="0"/>
              <a:t>그림을 추가하려면 아이콘을 클릭하십시오</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2026-08-20</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805499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2637014"/>
            <a:ext cx="5915025" cy="6285266"/>
          </a:xfrm>
          <a:prstGeom prst="rect">
            <a:avLst/>
          </a:prstGeo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2026-08-20</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5154540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a:prstGeom prst="rect">
            <a:avLst/>
          </a:prstGeo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527403"/>
            <a:ext cx="4350544" cy="8394877"/>
          </a:xfrm>
          <a:prstGeom prst="rect">
            <a:avLst/>
          </a:prstGeo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2026-08-20</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955134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사용자 지정 레이아웃">
    <p:spTree>
      <p:nvGrpSpPr>
        <p:cNvPr id="1" name=""/>
        <p:cNvGrpSpPr/>
        <p:nvPr/>
      </p:nvGrpSpPr>
      <p:grpSpPr>
        <a:xfrm>
          <a:off x="0" y="0"/>
          <a:ext cx="0" cy="0"/>
          <a:chOff x="0" y="0"/>
          <a:chExt cx="0" cy="0"/>
        </a:xfrm>
      </p:grpSpPr>
    </p:spTree>
    <p:extLst>
      <p:ext uri="{BB962C8B-B14F-4D97-AF65-F5344CB8AC3E}">
        <p14:creationId xmlns:p14="http://schemas.microsoft.com/office/powerpoint/2010/main" val="553284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hyperlink" Target="http://glbltech.com/" TargetMode="Externa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object 9">
            <a:extLst>
              <a:ext uri="{FF2B5EF4-FFF2-40B4-BE49-F238E27FC236}">
                <a16:creationId xmlns:a16="http://schemas.microsoft.com/office/drawing/2014/main" id="{451BF618-E9B3-EC23-A10B-0CB97A947104}"/>
              </a:ext>
            </a:extLst>
          </p:cNvPr>
          <p:cNvSpPr txBox="1"/>
          <p:nvPr userDrawn="1"/>
        </p:nvSpPr>
        <p:spPr>
          <a:xfrm>
            <a:off x="414000" y="8981992"/>
            <a:ext cx="1990968" cy="283849"/>
          </a:xfrm>
          <a:prstGeom prst="rect">
            <a:avLst/>
          </a:prstGeom>
        </p:spPr>
        <p:txBody>
          <a:bodyPr vert="horz" wrap="square" lIns="0" tIns="12435" rIns="0" bIns="0" rtlCol="0">
            <a:spAutoFit/>
          </a:bodyPr>
          <a:lstStyle/>
          <a:p>
            <a:pPr marL="12435" defTabSz="895327" fontAlgn="auto">
              <a:spcBef>
                <a:spcPts val="98"/>
              </a:spcBef>
              <a:spcAft>
                <a:spcPts val="0"/>
              </a:spcAft>
            </a:pPr>
            <a:r>
              <a:rPr kumimoji="0" sz="1763" b="1" spc="-5" dirty="0">
                <a:solidFill>
                  <a:srgbClr val="FF0000"/>
                </a:solidFill>
                <a:latin typeface="Calibri"/>
                <a:ea typeface="+mn-ea"/>
                <a:cs typeface="Perpetua Titling MT"/>
              </a:rPr>
              <a:t>CONFIDENTIAL</a:t>
            </a:r>
            <a:endParaRPr kumimoji="0" sz="1763" dirty="0">
              <a:solidFill>
                <a:prstClr val="black"/>
              </a:solidFill>
              <a:latin typeface="Calibri"/>
              <a:ea typeface="+mn-ea"/>
              <a:cs typeface="Perpetua Titling MT"/>
            </a:endParaRPr>
          </a:p>
        </p:txBody>
      </p:sp>
      <p:sp>
        <p:nvSpPr>
          <p:cNvPr id="9" name="슬라이드 번호 개체 틀 3">
            <a:hlinkClick r:id="rId16"/>
            <a:extLst>
              <a:ext uri="{FF2B5EF4-FFF2-40B4-BE49-F238E27FC236}">
                <a16:creationId xmlns:a16="http://schemas.microsoft.com/office/drawing/2014/main" id="{7EEE58CB-7CB8-E53E-08F2-9ED6093EF097}"/>
              </a:ext>
            </a:extLst>
          </p:cNvPr>
          <p:cNvSpPr txBox="1">
            <a:spLocks/>
          </p:cNvSpPr>
          <p:nvPr userDrawn="1"/>
        </p:nvSpPr>
        <p:spPr>
          <a:xfrm>
            <a:off x="5115682" y="9408000"/>
            <a:ext cx="1327982" cy="180500"/>
          </a:xfrm>
          <a:prstGeom prst="rect">
            <a:avLst/>
          </a:prstGeom>
        </p:spPr>
        <p:txBody>
          <a:bodyPr vert="horz" lIns="0" tIns="0" rIns="0"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447663" fontAlgn="auto">
              <a:spcBef>
                <a:spcPts val="0"/>
              </a:spcBef>
              <a:spcAft>
                <a:spcPts val="0"/>
              </a:spcAft>
            </a:pPr>
            <a:r>
              <a:rPr kumimoji="0" lang="en-US" altLang="ko-KR" sz="881" dirty="0">
                <a:solidFill>
                  <a:prstClr val="black"/>
                </a:solidFill>
                <a:latin typeface="Arial" panose="020B0604020202020204" pitchFamily="34" charset="0"/>
                <a:ea typeface="맑은 고딕" panose="020B0503020000020004" pitchFamily="50" charset="-127"/>
                <a:cs typeface="Arial" panose="020B0604020202020204" pitchFamily="34" charset="0"/>
              </a:rPr>
              <a:t>http://www.glbltech.com/</a:t>
            </a:r>
            <a:endParaRPr kumimoji="0" lang="ko-KR" alt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sp>
        <p:nvSpPr>
          <p:cNvPr id="10" name="object 38">
            <a:extLst>
              <a:ext uri="{FF2B5EF4-FFF2-40B4-BE49-F238E27FC236}">
                <a16:creationId xmlns:a16="http://schemas.microsoft.com/office/drawing/2014/main" id="{1B5D1032-3349-06CD-5B46-8A6262F0EE24}"/>
              </a:ext>
            </a:extLst>
          </p:cNvPr>
          <p:cNvSpPr txBox="1">
            <a:spLocks/>
          </p:cNvSpPr>
          <p:nvPr userDrawn="1"/>
        </p:nvSpPr>
        <p:spPr>
          <a:xfrm>
            <a:off x="3311568" y="9452164"/>
            <a:ext cx="476888" cy="135550"/>
          </a:xfrm>
          <a:prstGeom prst="rect">
            <a:avLst/>
          </a:prstGeom>
        </p:spPr>
        <p:txBody>
          <a:bodyPr vert="horz" wrap="square" lIns="0" tIns="0" rIns="0" bIns="0" rtlCol="0">
            <a:no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defTabSz="447663" fontAlgn="auto" latinLnBrk="0">
              <a:spcBef>
                <a:spcPts val="0"/>
              </a:spcBef>
              <a:spcAft>
                <a:spcPts val="0"/>
              </a:spcAft>
              <a:defRPr/>
            </a:pPr>
            <a:r>
              <a:rPr kumimoji="0" 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rPr>
              <a:t>Page </a:t>
            </a:r>
            <a:fld id="{81D60167-4931-47E6-BA6A-407CBD079E47}" type="slidenum">
              <a:rPr kumimoji="0" sz="881">
                <a:solidFill>
                  <a:prstClr val="black"/>
                </a:solidFill>
                <a:latin typeface="Arial" panose="020B0604020202020204" pitchFamily="34" charset="0"/>
                <a:ea typeface="맑은 고딕" panose="020B0503020000020004" pitchFamily="50" charset="-127"/>
                <a:cs typeface="Arial" panose="020B0604020202020204" pitchFamily="34" charset="0"/>
              </a:rPr>
              <a:pPr algn="ctr" defTabSz="447663" fontAlgn="auto" latinLnBrk="0">
                <a:spcBef>
                  <a:spcPts val="0"/>
                </a:spcBef>
                <a:spcAft>
                  <a:spcPts val="0"/>
                </a:spcAft>
                <a:defRPr/>
              </a:pPr>
              <a:t>‹#›</a:t>
            </a:fld>
            <a:endParaRPr kumimoji="0"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sp>
        <p:nvSpPr>
          <p:cNvPr id="11" name="슬라이드 번호 개체 틀 3">
            <a:extLst>
              <a:ext uri="{FF2B5EF4-FFF2-40B4-BE49-F238E27FC236}">
                <a16:creationId xmlns:a16="http://schemas.microsoft.com/office/drawing/2014/main" id="{64B1755F-10B5-8238-A9A8-9B4A613AC068}"/>
              </a:ext>
            </a:extLst>
          </p:cNvPr>
          <p:cNvSpPr txBox="1">
            <a:spLocks/>
          </p:cNvSpPr>
          <p:nvPr userDrawn="1"/>
        </p:nvSpPr>
        <p:spPr>
          <a:xfrm>
            <a:off x="404813" y="9425597"/>
            <a:ext cx="2310252" cy="192515"/>
          </a:xfrm>
          <a:prstGeom prst="rect">
            <a:avLst/>
          </a:prstGeom>
        </p:spPr>
        <p:txBody>
          <a:bodyPr vert="horz" lIns="0" tIns="0" rIns="89533"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defTabSz="447663" fontAlgn="auto">
              <a:spcBef>
                <a:spcPts val="0"/>
              </a:spcBef>
              <a:spcAft>
                <a:spcPts val="0"/>
              </a:spcAft>
            </a:pPr>
            <a:r>
              <a:rPr kumimoji="0" lang="en-US" altLang="ko-KR" sz="881" dirty="0">
                <a:solidFill>
                  <a:prstClr val="black"/>
                </a:solidFill>
                <a:latin typeface="Arial" panose="020B0604020202020204" pitchFamily="34" charset="0"/>
                <a:ea typeface="맑은 고딕" panose="020B0503020000020004" pitchFamily="50" charset="-127"/>
                <a:cs typeface="Arial" panose="020B0604020202020204" pitchFamily="34" charset="0"/>
              </a:rPr>
              <a:t>Dated  31. Dec. 2025  Rev 0.2</a:t>
            </a:r>
            <a:endParaRPr kumimoji="0" lang="ko-KR" altLang="en-US" sz="881" dirty="0">
              <a:solidFill>
                <a:schemeClr val="accent2">
                  <a:lumMod val="75000"/>
                </a:schemeClr>
              </a:solidFill>
              <a:latin typeface="Arial" panose="020B0604020202020204" pitchFamily="34" charset="0"/>
              <a:ea typeface="맑은 고딕" panose="020B0503020000020004" pitchFamily="50" charset="-127"/>
              <a:cs typeface="Arial" panose="020B0604020202020204" pitchFamily="34" charset="0"/>
            </a:endParaRPr>
          </a:p>
        </p:txBody>
      </p:sp>
      <p:cxnSp>
        <p:nvCxnSpPr>
          <p:cNvPr id="12" name="직선 연결선 11">
            <a:extLst>
              <a:ext uri="{FF2B5EF4-FFF2-40B4-BE49-F238E27FC236}">
                <a16:creationId xmlns:a16="http://schemas.microsoft.com/office/drawing/2014/main" id="{BD0A5AB9-9B4F-97CA-0A77-1385281C935F}"/>
              </a:ext>
            </a:extLst>
          </p:cNvPr>
          <p:cNvCxnSpPr/>
          <p:nvPr userDrawn="1"/>
        </p:nvCxnSpPr>
        <p:spPr>
          <a:xfrm>
            <a:off x="404813" y="9363000"/>
            <a:ext cx="6048375"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D6224215-62C4-8FDE-7072-9FA0C92E6C97}"/>
              </a:ext>
            </a:extLst>
          </p:cNvPr>
          <p:cNvSpPr txBox="1"/>
          <p:nvPr userDrawn="1"/>
        </p:nvSpPr>
        <p:spPr>
          <a:xfrm rot="18900000">
            <a:off x="1431694" y="4537502"/>
            <a:ext cx="3759747" cy="830997"/>
          </a:xfrm>
          <a:prstGeom prst="rect">
            <a:avLst/>
          </a:prstGeom>
          <a:noFill/>
        </p:spPr>
        <p:txBody>
          <a:bodyPr wrap="none" lIns="0" tIns="0" rIns="0" bIns="0" rtlCol="0" anchor="ctr" anchorCtr="0">
            <a:spAutoFit/>
          </a:bodyPr>
          <a:lstStyle/>
          <a:p>
            <a:r>
              <a:rPr lang="en-US" altLang="ko-KR" sz="5400" b="1" dirty="0">
                <a:solidFill>
                  <a:srgbClr val="EFEFEF"/>
                </a:solidFill>
                <a:latin typeface="Arial" panose="020B0604020202020204" pitchFamily="34" charset="0"/>
                <a:ea typeface="+mn-ea"/>
                <a:cs typeface="Arial" panose="020B0604020202020204" pitchFamily="34" charset="0"/>
              </a:rPr>
              <a:t>Preliminary</a:t>
            </a:r>
            <a:endParaRPr lang="ko-KR" altLang="en-US" sz="5400" b="1" dirty="0">
              <a:solidFill>
                <a:srgbClr val="EFEFEF"/>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79806652"/>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6" r:id="rId14"/>
  </p:sldLayoutIdLst>
  <p:txStyles>
    <p:titleStyle>
      <a:lvl1pPr algn="l" defTabSz="685800" rtl="0" eaLnBrk="1" latinLnBrk="1"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1"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1"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1"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userDrawn="1">
          <p15:clr>
            <a:srgbClr val="F26B43"/>
          </p15:clr>
        </p15:guide>
        <p15:guide id="2" pos="2137"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 Id="rId5" Type="http://schemas.openxmlformats.org/officeDocument/2006/relationships/image" Target="../media/image8.emf"/><Relationship Id="rId4" Type="http://schemas.openxmlformats.org/officeDocument/2006/relationships/image" Target="../media/image7.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png"/><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14.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7" Type="http://schemas.microsoft.com/office/2007/relationships/hdphoto" Target="../media/hdphoto2.wdp"/><Relationship Id="rId2" Type="http://schemas.openxmlformats.org/officeDocument/2006/relationships/notesSlide" Target="../notesSlides/notesSlide1.xml"/><Relationship Id="rId1" Type="http://schemas.openxmlformats.org/officeDocument/2006/relationships/slideLayout" Target="../slideLayouts/slideLayout14.xml"/><Relationship Id="rId6" Type="http://schemas.openxmlformats.org/officeDocument/2006/relationships/image" Target="../media/image34.png"/><Relationship Id="rId5" Type="http://schemas.openxmlformats.org/officeDocument/2006/relationships/image" Target="../media/image33.png"/><Relationship Id="rId4" Type="http://schemas.microsoft.com/office/2007/relationships/hdphoto" Target="../media/hdphoto1.wdp"/></Relationships>
</file>

<file path=ppt/slides/_rels/slide42.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9" Type="http://schemas.openxmlformats.org/officeDocument/2006/relationships/image" Target="../media/image41.png"/></Relationships>
</file>

<file path=ppt/slides/_rels/slide4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A06CC78-9F83-436A-9A0F-12F273C5E8B4}"/>
              </a:ext>
            </a:extLst>
          </p:cNvPr>
          <p:cNvSpPr txBox="1"/>
          <p:nvPr/>
        </p:nvSpPr>
        <p:spPr>
          <a:xfrm>
            <a:off x="2622335" y="1624048"/>
            <a:ext cx="1322478" cy="492443"/>
          </a:xfrm>
          <a:prstGeom prst="rect">
            <a:avLst/>
          </a:prstGeom>
          <a:noFill/>
        </p:spPr>
        <p:txBody>
          <a:bodyPr wrap="none" lIns="0" tIns="0" rIns="0" bIns="0" rtlCol="0">
            <a:spAutoFit/>
          </a:bodyPr>
          <a:lstStyle/>
          <a:p>
            <a:r>
              <a:rPr lang="en-US" altLang="ko-KR" sz="3200" b="1" dirty="0">
                <a:solidFill>
                  <a:schemeClr val="bg1">
                    <a:lumMod val="50000"/>
                  </a:schemeClr>
                </a:solidFill>
                <a:latin typeface="Arial" panose="020B0604020202020204" pitchFamily="34" charset="0"/>
                <a:cs typeface="Arial" panose="020B0604020202020204" pitchFamily="34" charset="0"/>
              </a:rPr>
              <a:t>XD12R</a:t>
            </a:r>
            <a:endParaRPr lang="ko-KR" altLang="en-US" sz="3200" b="1" dirty="0">
              <a:solidFill>
                <a:schemeClr val="bg1">
                  <a:lumMod val="50000"/>
                </a:schemeClr>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3351C546-D4C1-4FC4-9AD8-956625090B6D}"/>
              </a:ext>
            </a:extLst>
          </p:cNvPr>
          <p:cNvSpPr txBox="1"/>
          <p:nvPr/>
        </p:nvSpPr>
        <p:spPr>
          <a:xfrm>
            <a:off x="2633691" y="2211029"/>
            <a:ext cx="3588483" cy="307777"/>
          </a:xfrm>
          <a:prstGeom prst="rect">
            <a:avLst/>
          </a:prstGeom>
          <a:noFill/>
        </p:spPr>
        <p:txBody>
          <a:bodyPr wrap="none" lIns="0" rtlCol="0">
            <a:spAutoFit/>
          </a:bodyPr>
          <a:lstStyle/>
          <a:p>
            <a:r>
              <a:rPr lang="en-US" altLang="ko-KR" sz="1400" b="1" dirty="0">
                <a:solidFill>
                  <a:schemeClr val="bg1">
                    <a:lumMod val="50000"/>
                  </a:schemeClr>
                </a:solidFill>
                <a:latin typeface="Arial" panose="020B0604020202020204" pitchFamily="34" charset="0"/>
                <a:cs typeface="Arial" panose="020B0604020202020204" pitchFamily="34" charset="0"/>
              </a:rPr>
              <a:t>The RGB(CM) LED</a:t>
            </a:r>
            <a:r>
              <a:rPr lang="ko-KR" altLang="en-US" sz="1400" b="1" dirty="0">
                <a:solidFill>
                  <a:schemeClr val="bg1">
                    <a:lumMod val="50000"/>
                  </a:schemeClr>
                </a:solidFill>
                <a:latin typeface="Arial" panose="020B0604020202020204" pitchFamily="34" charset="0"/>
                <a:cs typeface="Arial" panose="020B0604020202020204" pitchFamily="34" charset="0"/>
              </a:rPr>
              <a:t> </a:t>
            </a:r>
            <a:r>
              <a:rPr lang="en-US" altLang="ko-KR" sz="1400" b="1" dirty="0">
                <a:solidFill>
                  <a:schemeClr val="bg1">
                    <a:lumMod val="50000"/>
                  </a:schemeClr>
                </a:solidFill>
                <a:latin typeface="Arial" panose="020B0604020202020204" pitchFamily="34" charset="0"/>
                <a:cs typeface="Arial" panose="020B0604020202020204" pitchFamily="34" charset="0"/>
              </a:rPr>
              <a:t>Current Sink Driver IC</a:t>
            </a:r>
            <a:endParaRPr lang="ko-KR" altLang="en-US" sz="1400" b="1" dirty="0">
              <a:solidFill>
                <a:schemeClr val="bg1">
                  <a:lumMod val="50000"/>
                </a:schemeClr>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105BB2A0-CA1A-4992-AAF9-F7F876D0920C}"/>
              </a:ext>
            </a:extLst>
          </p:cNvPr>
          <p:cNvSpPr txBox="1"/>
          <p:nvPr/>
        </p:nvSpPr>
        <p:spPr>
          <a:xfrm>
            <a:off x="374406" y="3375814"/>
            <a:ext cx="1800000"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General Description</a:t>
            </a:r>
            <a:endParaRPr lang="ko-KR" altLang="en-US" sz="1400" b="1" dirty="0">
              <a:latin typeface="Arial" panose="020B0604020202020204" pitchFamily="34" charset="0"/>
              <a:cs typeface="Arial" panose="020B0604020202020204" pitchFamily="34" charset="0"/>
            </a:endParaRPr>
          </a:p>
        </p:txBody>
      </p:sp>
      <p:sp>
        <p:nvSpPr>
          <p:cNvPr id="33" name="TextBox 32">
            <a:extLst>
              <a:ext uri="{FF2B5EF4-FFF2-40B4-BE49-F238E27FC236}">
                <a16:creationId xmlns:a16="http://schemas.microsoft.com/office/drawing/2014/main" id="{014AD39C-3B16-4EC8-B3D3-D8F1117370B5}"/>
              </a:ext>
            </a:extLst>
          </p:cNvPr>
          <p:cNvSpPr txBox="1"/>
          <p:nvPr/>
        </p:nvSpPr>
        <p:spPr>
          <a:xfrm>
            <a:off x="2622335" y="2580779"/>
            <a:ext cx="962764" cy="261610"/>
          </a:xfrm>
          <a:prstGeom prst="rect">
            <a:avLst/>
          </a:prstGeom>
          <a:noFill/>
        </p:spPr>
        <p:txBody>
          <a:bodyPr wrap="none" lIns="0" rtlCol="0">
            <a:spAutoFit/>
          </a:bodyPr>
          <a:lstStyle/>
          <a:p>
            <a:r>
              <a:rPr lang="en-US" altLang="ko-KR" sz="1100" b="1" dirty="0">
                <a:solidFill>
                  <a:schemeClr val="bg1">
                    <a:lumMod val="50000"/>
                  </a:schemeClr>
                </a:solidFill>
                <a:latin typeface="Arial" panose="020B0604020202020204" pitchFamily="34" charset="0"/>
                <a:cs typeface="Arial" panose="020B0604020202020204" pitchFamily="34" charset="0"/>
              </a:rPr>
              <a:t>12 Channels </a:t>
            </a:r>
            <a:endParaRPr lang="ko-KR" altLang="en-US" sz="1100" b="1" dirty="0">
              <a:solidFill>
                <a:schemeClr val="bg1">
                  <a:lumMod val="50000"/>
                </a:schemeClr>
              </a:solidFill>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0C9D8F7A-0457-48C9-9A23-F46C4BDD3432}"/>
              </a:ext>
            </a:extLst>
          </p:cNvPr>
          <p:cNvSpPr txBox="1"/>
          <p:nvPr/>
        </p:nvSpPr>
        <p:spPr>
          <a:xfrm>
            <a:off x="421856" y="8006696"/>
            <a:ext cx="1470444"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Application</a:t>
            </a:r>
            <a:endParaRPr lang="ko-KR" altLang="en-US" sz="1400" b="1" dirty="0">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8D67C485-ABE7-4B33-85EE-599EA97A8C6B}"/>
              </a:ext>
            </a:extLst>
          </p:cNvPr>
          <p:cNvSpPr txBox="1"/>
          <p:nvPr/>
        </p:nvSpPr>
        <p:spPr>
          <a:xfrm>
            <a:off x="2633691" y="8024774"/>
            <a:ext cx="3946113" cy="846386"/>
          </a:xfrm>
          <a:prstGeom prst="rect">
            <a:avLst/>
          </a:prstGeom>
          <a:noFill/>
        </p:spPr>
        <p:txBody>
          <a:bodyPr wrap="square" lIns="0" tIns="0" rIns="0" bIns="0" rtlCol="0">
            <a:spAutoFit/>
          </a:bodyPr>
          <a:lstStyle/>
          <a:p>
            <a:pPr marL="171450" indent="-17145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RGB Mini-LED Backlight for Premium TV and Monitor.</a:t>
            </a:r>
          </a:p>
          <a:p>
            <a:pPr marL="171450" indent="-17145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Automotive Center Information Display (CID) RGB Backlight.</a:t>
            </a:r>
          </a:p>
          <a:p>
            <a:pPr marL="171450" indent="-17145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RGB Backlight for Automotive Display. </a:t>
            </a:r>
          </a:p>
          <a:p>
            <a:pPr marL="177800" lvl="1"/>
            <a:r>
              <a:rPr lang="en-US" altLang="ko-KR" sz="1000" dirty="0">
                <a:latin typeface="Arial" panose="020B0604020202020204" pitchFamily="34" charset="0"/>
                <a:cs typeface="Arial" panose="020B0604020202020204" pitchFamily="34" charset="0"/>
              </a:rPr>
              <a:t>  (Cluster, Center Information, Entertainment)</a:t>
            </a:r>
          </a:p>
        </p:txBody>
      </p:sp>
      <p:grpSp>
        <p:nvGrpSpPr>
          <p:cNvPr id="2" name="그룹 1">
            <a:extLst>
              <a:ext uri="{FF2B5EF4-FFF2-40B4-BE49-F238E27FC236}">
                <a16:creationId xmlns:a16="http://schemas.microsoft.com/office/drawing/2014/main" id="{6C3AE02B-FA85-D5E1-9E9A-4D744280F1E1}"/>
              </a:ext>
            </a:extLst>
          </p:cNvPr>
          <p:cNvGrpSpPr/>
          <p:nvPr/>
        </p:nvGrpSpPr>
        <p:grpSpPr>
          <a:xfrm>
            <a:off x="4366818" y="433977"/>
            <a:ext cx="2088304" cy="752967"/>
            <a:chOff x="4136310" y="299116"/>
            <a:chExt cx="2597866" cy="873507"/>
          </a:xfrm>
        </p:grpSpPr>
        <p:pic>
          <p:nvPicPr>
            <p:cNvPr id="3" name="그림 2">
              <a:extLst>
                <a:ext uri="{FF2B5EF4-FFF2-40B4-BE49-F238E27FC236}">
                  <a16:creationId xmlns:a16="http://schemas.microsoft.com/office/drawing/2014/main" id="{5E6E8B54-D78E-A385-9A5E-612DFC0BD92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6310" y="299116"/>
              <a:ext cx="639895" cy="873507"/>
            </a:xfrm>
            <a:prstGeom prst="rect">
              <a:avLst/>
            </a:prstGeom>
          </p:spPr>
        </p:pic>
        <p:sp>
          <p:nvSpPr>
            <p:cNvPr id="7" name="TextBox 6">
              <a:extLst>
                <a:ext uri="{FF2B5EF4-FFF2-40B4-BE49-F238E27FC236}">
                  <a16:creationId xmlns:a16="http://schemas.microsoft.com/office/drawing/2014/main" id="{CD680508-1D21-B8C2-4122-C25AF38E9DCA}"/>
                </a:ext>
              </a:extLst>
            </p:cNvPr>
            <p:cNvSpPr txBox="1"/>
            <p:nvPr/>
          </p:nvSpPr>
          <p:spPr>
            <a:xfrm>
              <a:off x="4604472" y="550651"/>
              <a:ext cx="2129704" cy="351840"/>
            </a:xfrm>
            <a:prstGeom prst="rect">
              <a:avLst/>
            </a:prstGeom>
            <a:noFill/>
          </p:spPr>
          <p:txBody>
            <a:bodyPr wrap="square" rtlCol="0">
              <a:spAutoFit/>
            </a:bodyPr>
            <a:lstStyle/>
            <a:p>
              <a:pPr defTabSz="841696" fontAlgn="auto" latinLnBrk="0">
                <a:spcBef>
                  <a:spcPts val="0"/>
                </a:spcBef>
                <a:spcAft>
                  <a:spcPts val="0"/>
                </a:spcAft>
                <a:defRPr/>
              </a:pPr>
              <a:r>
                <a:rPr kumimoji="0" lang="en-US" altLang="ko-KR" sz="1371" kern="0" dirty="0">
                  <a:solidFill>
                    <a:prstClr val="black"/>
                  </a:solidFill>
                  <a:latin typeface="Calibri"/>
                  <a:ea typeface="맑은 고딕" panose="020B0503020000020004" pitchFamily="50" charset="-127"/>
                </a:rPr>
                <a:t>Global Technologies</a:t>
              </a:r>
              <a:endParaRPr kumimoji="0" lang="ko-KR" altLang="en-US" sz="1371" kern="0" dirty="0">
                <a:solidFill>
                  <a:prstClr val="black"/>
                </a:solidFill>
                <a:latin typeface="Calibri"/>
                <a:ea typeface="맑은 고딕" panose="020B0503020000020004" pitchFamily="50" charset="-127"/>
              </a:endParaRPr>
            </a:p>
          </p:txBody>
        </p:sp>
      </p:grpSp>
      <p:sp>
        <p:nvSpPr>
          <p:cNvPr id="4" name="TextBox 3">
            <a:extLst>
              <a:ext uri="{FF2B5EF4-FFF2-40B4-BE49-F238E27FC236}">
                <a16:creationId xmlns:a16="http://schemas.microsoft.com/office/drawing/2014/main" id="{DB37986E-143D-AA49-9D45-D8C93BF6B2F7}"/>
              </a:ext>
            </a:extLst>
          </p:cNvPr>
          <p:cNvSpPr txBox="1"/>
          <p:nvPr/>
        </p:nvSpPr>
        <p:spPr>
          <a:xfrm>
            <a:off x="2603285" y="3206080"/>
            <a:ext cx="3676234" cy="4154984"/>
          </a:xfrm>
          <a:prstGeom prst="rect">
            <a:avLst/>
          </a:prstGeom>
          <a:noFill/>
        </p:spPr>
        <p:txBody>
          <a:bodyPr wrap="square" lIns="0" tIns="0" rIns="0" bIns="0" rtlCol="0">
            <a:spAutoFit/>
          </a:bodyPr>
          <a:lstStyle/>
          <a:p>
            <a:pPr indent="88900" algn="just"/>
            <a:r>
              <a:rPr lang="en-US" altLang="ko-KR" sz="1000" dirty="0">
                <a:effectLst/>
                <a:latin typeface="Arial" panose="020B0604020202020204" pitchFamily="34" charset="0"/>
                <a:ea typeface="Arial" panose="020B0604020202020204" pitchFamily="34" charset="0"/>
                <a:cs typeface="Arial" panose="020B0604020202020204" pitchFamily="34" charset="0"/>
              </a:rPr>
              <a:t>The XD12R is a 12-channel constant </a:t>
            </a:r>
            <a:r>
              <a:rPr lang="en-US" altLang="ko-KR" sz="1000" dirty="0">
                <a:latin typeface="Arial" panose="020B0604020202020204" pitchFamily="34" charset="0"/>
                <a:ea typeface="Arial" panose="020B0604020202020204" pitchFamily="34" charset="0"/>
                <a:cs typeface="Arial" panose="020B0604020202020204" pitchFamily="34" charset="0"/>
              </a:rPr>
              <a:t>current sink RGB(CM) LED  driver for display  backlight systems.</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While conventional RGB backlight systems require separate three channels for red, green, and blue LED pixels, the XD12R achieves multiplexed driving for full-color RGB backlight pixels with one or two channels.</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This approach allows single-layer BLU implementation, significantly reducing PCB layers.</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Each channel supports up to 64mA of output current and a maximum output voltage of 40V and can time-share up to            three LEDs per channel.</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This device can support max 14-bit PWM dimming resolution and a 12-bit DAC global brightness resolution and max. 5-colors.</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To ensure stable, flicker-free RGB time-sequential operation, the device features optimized subframe timing control and precise current regulation to effectively suppress flickering caused by rapid color transitions.</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Integrated self-protection features include LED open/short detection and overheating shutdown. A feedback control function is also included to optimize the VLED voltage during LED operation, improving power efficiency.</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The XD12R can be controlled with several commands through a XC24R controller or directly by a MCU.  Multiple XD12R devices can be daisy-chained and controlled via a serial interface from a single XC24R, enabling scalable, high-channel-count RGB LED backlight systems for large-area displays.</a:t>
            </a:r>
          </a:p>
        </p:txBody>
      </p:sp>
    </p:spTree>
    <p:extLst>
      <p:ext uri="{BB962C8B-B14F-4D97-AF65-F5344CB8AC3E}">
        <p14:creationId xmlns:p14="http://schemas.microsoft.com/office/powerpoint/2010/main" val="1814179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F3D50322-94E0-446F-9F13-DCD22B08D5D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Features</a:t>
            </a:r>
            <a:endParaRPr lang="ko-KR" altLang="en-US" sz="12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D29F4F1E-6437-8EF8-24BF-CE0EC645425C}"/>
              </a:ext>
            </a:extLst>
          </p:cNvPr>
          <p:cNvSpPr txBox="1"/>
          <p:nvPr/>
        </p:nvSpPr>
        <p:spPr>
          <a:xfrm>
            <a:off x="404813" y="1341902"/>
            <a:ext cx="6048621" cy="6770764"/>
          </a:xfrm>
          <a:prstGeom prst="rect">
            <a:avLst/>
          </a:prstGeom>
          <a:noFill/>
        </p:spPr>
        <p:txBody>
          <a:bodyPr wrap="square" lIns="0">
            <a:spAutoFit/>
          </a:bodyPr>
          <a:lstStyle/>
          <a:p>
            <a:pPr marL="279450" marR="137795" lvl="0" indent="-171450">
              <a:lnSpc>
                <a:spcPct val="150000"/>
              </a:lnSpc>
              <a:spcBef>
                <a:spcPts val="385"/>
              </a:spcBef>
              <a:spcAft>
                <a:spcPts val="0"/>
              </a:spcAft>
              <a:buFont typeface="Arial" panose="020B0604020202020204" pitchFamily="34" charset="0"/>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Specialized to support RGB(CM) backlight dimming</a:t>
            </a:r>
          </a:p>
          <a:p>
            <a:pPr marL="279450" marR="137795" lvl="0" indent="-171450">
              <a:lnSpc>
                <a:spcPct val="150000"/>
              </a:lnSpc>
              <a:spcBef>
                <a:spcPts val="385"/>
              </a:spcBef>
              <a:spcAft>
                <a:spcPts val="0"/>
              </a:spcAft>
              <a:buFont typeface="Arial" panose="020B0604020202020204" pitchFamily="34" charset="0"/>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Flexible for various LED pixel configuration: </a:t>
            </a:r>
          </a:p>
          <a:p>
            <a:pPr marL="108000" marR="137795" lvl="0">
              <a:lnSpc>
                <a:spcPct val="150000"/>
              </a:lnSpc>
              <a:spcBef>
                <a:spcPts val="385"/>
              </a:spcBef>
              <a:spcAft>
                <a:spcPts val="0"/>
              </a:spcAft>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     </a:t>
            </a:r>
            <a:r>
              <a:rPr lang="en-US" altLang="ko-KR" sz="1000" dirty="0">
                <a:effectLst/>
                <a:latin typeface="Arial" panose="020B0604020202020204" pitchFamily="34" charset="0"/>
                <a:ea typeface="Arial" panose="020B0604020202020204" pitchFamily="34" charset="0"/>
                <a:cs typeface="굴림" panose="020B0600000101010101" pitchFamily="50" charset="-127"/>
              </a:rPr>
              <a:t>Type-A(3-colors), Type-B(4-colors), Type-C (5-colors), TYPE-D (2-colors)</a:t>
            </a:r>
          </a:p>
          <a:p>
            <a:pPr marL="279450" marR="137795" lvl="0" indent="-171450">
              <a:lnSpc>
                <a:spcPct val="150000"/>
              </a:lnSpc>
              <a:spcBef>
                <a:spcPts val="385"/>
              </a:spcBef>
              <a:spcAft>
                <a:spcPts val="0"/>
              </a:spcAft>
              <a:buFont typeface="Arial" panose="020B0604020202020204" pitchFamily="34" charset="0"/>
              <a:buChar char="•"/>
              <a:tabLst>
                <a:tab pos="460375" algn="l"/>
              </a:tabLst>
            </a:pPr>
            <a:r>
              <a:rPr lang="en-US" altLang="ko-KR" sz="1000" dirty="0">
                <a:latin typeface="Arial" panose="020B0604020202020204" pitchFamily="34" charset="0"/>
              </a:rPr>
              <a:t>Bi-directional 1-wire daisy chain (31 serial) connection with configurable data rate</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max. 5-colors supported ( RED, GREEN, BLUE, CYAN, MAGENTA ) </a:t>
            </a:r>
            <a:endParaRPr lang="en-US" altLang="ko-KR" sz="1000" dirty="0">
              <a:latin typeface="Arial" panose="020B0604020202020204" pitchFamily="34" charset="0"/>
            </a:endParaRP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Support Interface parity function</a:t>
            </a:r>
            <a:endParaRPr lang="en-US" altLang="ko-KR" sz="1000" dirty="0">
              <a:latin typeface="Arial" panose="020B0604020202020204" pitchFamily="34" charset="0"/>
            </a:endParaRP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12-channel output sink drivers with programmable max. current 64mA</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12-bit global brightness control</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Configurable 12-bit PWM or 14-bit PWM </a:t>
            </a:r>
          </a:p>
          <a:p>
            <a:pPr marL="279450" lvl="0" indent="-171450">
              <a:lnSpc>
                <a:spcPct val="150000"/>
              </a:lnSpc>
              <a:spcBef>
                <a:spcPts val="325"/>
              </a:spcBef>
              <a:buFont typeface="Arial" panose="020B0604020202020204" pitchFamily="34" charset="0"/>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Support internal OSC frequency spread function for EMI rejection</a:t>
            </a:r>
            <a:endParaRPr lang="en-US" altLang="ko-KR" sz="1000" dirty="0">
              <a:latin typeface="Arial" panose="020B0604020202020204" pitchFamily="34" charset="0"/>
            </a:endParaRP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Programmable output headroom voltage </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Configurable dimming directions, head shift lighting and tail shift lighting</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Sync controllability between daisied devices (sync-generation)</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Optimal IC pin configuration allows for single layer PCB</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Supply voltage 3.0 ~ 3.6V</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Maximum 40V output driver working (headroom) voltage </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Programmable LED SHORT detection level </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Enable/disable OPEN detection</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Programmable FEEDBACK detection level  </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Programmable Over-Temperature Shutdown (Typ. 130 ℃)</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Enable/disable Over/Under-Voltage detection</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Latch-up Immunity, I</a:t>
            </a:r>
            <a:r>
              <a:rPr lang="en-US" altLang="ko-KR" sz="1000" baseline="-25000" dirty="0">
                <a:latin typeface="Arial" panose="020B0604020202020204" pitchFamily="34" charset="0"/>
              </a:rPr>
              <a:t>LATCH</a:t>
            </a:r>
            <a:r>
              <a:rPr lang="en-US" altLang="ko-KR" sz="1000" dirty="0">
                <a:latin typeface="Arial" panose="020B0604020202020204" pitchFamily="34" charset="0"/>
              </a:rPr>
              <a:t> (JEDEC JESD78D Nov 2011) : ±100mA</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ESDHBM (JEDEC JS-001-2017 Human Body Model) : ±2KV</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Compact QFN3030-24 pin package</a:t>
            </a:r>
          </a:p>
        </p:txBody>
      </p:sp>
    </p:spTree>
    <p:extLst>
      <p:ext uri="{BB962C8B-B14F-4D97-AF65-F5344CB8AC3E}">
        <p14:creationId xmlns:p14="http://schemas.microsoft.com/office/powerpoint/2010/main" val="4229424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258D35A-631D-4626-90DE-C1C5A9445CDD}"/>
              </a:ext>
            </a:extLst>
          </p:cNvPr>
          <p:cNvSpPr txBox="1"/>
          <p:nvPr/>
        </p:nvSpPr>
        <p:spPr>
          <a:xfrm>
            <a:off x="404811" y="5598967"/>
            <a:ext cx="6048623"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Application Circuit</a:t>
            </a:r>
            <a:endParaRPr lang="ko-KR" altLang="en-US" sz="1200"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04812"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Block Diagram</a:t>
            </a:r>
            <a:endParaRPr lang="ko-KR" altLang="en-US" sz="12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7E78E9E8-011B-8E52-4EEB-9EF4FE4AC79C}"/>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7" name="object 84">
            <a:extLst>
              <a:ext uri="{FF2B5EF4-FFF2-40B4-BE49-F238E27FC236}">
                <a16:creationId xmlns:a16="http://schemas.microsoft.com/office/drawing/2014/main" id="{92C24942-18BA-F0B3-A66D-927A605E8108}"/>
              </a:ext>
            </a:extLst>
          </p:cNvPr>
          <p:cNvSpPr txBox="1"/>
          <p:nvPr/>
        </p:nvSpPr>
        <p:spPr>
          <a:xfrm>
            <a:off x="2735861" y="4939417"/>
            <a:ext cx="1411925"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  Block Diagram</a:t>
            </a:r>
          </a:p>
        </p:txBody>
      </p:sp>
      <p:sp>
        <p:nvSpPr>
          <p:cNvPr id="8" name="object 84">
            <a:extLst>
              <a:ext uri="{FF2B5EF4-FFF2-40B4-BE49-F238E27FC236}">
                <a16:creationId xmlns:a16="http://schemas.microsoft.com/office/drawing/2014/main" id="{7FEE2E92-D26D-E884-C2F8-559976A729A1}"/>
              </a:ext>
            </a:extLst>
          </p:cNvPr>
          <p:cNvSpPr txBox="1"/>
          <p:nvPr/>
        </p:nvSpPr>
        <p:spPr>
          <a:xfrm>
            <a:off x="2580328" y="8384388"/>
            <a:ext cx="1703672" cy="153567"/>
          </a:xfrm>
          <a:prstGeom prst="rect">
            <a:avLst/>
          </a:prstGeom>
        </p:spPr>
        <p:txBody>
          <a:bodyPr vert="horz" wrap="none" lIns="0" tIns="14922"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2.  Application scheme</a:t>
            </a:r>
          </a:p>
        </p:txBody>
      </p:sp>
      <p:pic>
        <p:nvPicPr>
          <p:cNvPr id="4" name="그림 3">
            <a:extLst>
              <a:ext uri="{FF2B5EF4-FFF2-40B4-BE49-F238E27FC236}">
                <a16:creationId xmlns:a16="http://schemas.microsoft.com/office/drawing/2014/main" id="{B015F7F7-19ED-CBFB-4E26-E5D9FCC95C20}"/>
              </a:ext>
            </a:extLst>
          </p:cNvPr>
          <p:cNvPicPr>
            <a:picLocks noChangeAspect="1"/>
          </p:cNvPicPr>
          <p:nvPr/>
        </p:nvPicPr>
        <p:blipFill>
          <a:blip r:embed="rId2"/>
          <a:stretch>
            <a:fillRect/>
          </a:stretch>
        </p:blipFill>
        <p:spPr>
          <a:xfrm>
            <a:off x="1504527" y="1088795"/>
            <a:ext cx="4190920" cy="3859088"/>
          </a:xfrm>
          <a:prstGeom prst="rect">
            <a:avLst/>
          </a:prstGeom>
        </p:spPr>
      </p:pic>
      <p:pic>
        <p:nvPicPr>
          <p:cNvPr id="6" name="그림 5">
            <a:extLst>
              <a:ext uri="{FF2B5EF4-FFF2-40B4-BE49-F238E27FC236}">
                <a16:creationId xmlns:a16="http://schemas.microsoft.com/office/drawing/2014/main" id="{68C6A34B-AADC-C516-170C-24C72B6A60B0}"/>
              </a:ext>
            </a:extLst>
          </p:cNvPr>
          <p:cNvPicPr>
            <a:picLocks noChangeAspect="1"/>
          </p:cNvPicPr>
          <p:nvPr/>
        </p:nvPicPr>
        <p:blipFill>
          <a:blip r:embed="rId3"/>
          <a:stretch>
            <a:fillRect/>
          </a:stretch>
        </p:blipFill>
        <p:spPr>
          <a:xfrm>
            <a:off x="286765" y="6068333"/>
            <a:ext cx="6204726" cy="2251504"/>
          </a:xfrm>
          <a:prstGeom prst="rect">
            <a:avLst/>
          </a:prstGeom>
        </p:spPr>
      </p:pic>
    </p:spTree>
    <p:extLst>
      <p:ext uri="{BB962C8B-B14F-4D97-AF65-F5344CB8AC3E}">
        <p14:creationId xmlns:p14="http://schemas.microsoft.com/office/powerpoint/2010/main" val="74552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AC3E16D9-A788-49BA-8106-BEE884D02ED2}"/>
              </a:ext>
            </a:extLst>
          </p:cNvPr>
          <p:cNvSpPr txBox="1"/>
          <p:nvPr/>
        </p:nvSpPr>
        <p:spPr>
          <a:xfrm>
            <a:off x="404813" y="902696"/>
            <a:ext cx="6042618"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diagram (Top View)</a:t>
            </a:r>
          </a:p>
        </p:txBody>
      </p:sp>
      <p:sp>
        <p:nvSpPr>
          <p:cNvPr id="3" name="TextBox 2">
            <a:extLst>
              <a:ext uri="{FF2B5EF4-FFF2-40B4-BE49-F238E27FC236}">
                <a16:creationId xmlns:a16="http://schemas.microsoft.com/office/drawing/2014/main" id="{0673D932-0DC3-C4F2-313D-40C20553AED9}"/>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graphicFrame>
        <p:nvGraphicFramePr>
          <p:cNvPr id="5" name="표 4">
            <a:extLst>
              <a:ext uri="{FF2B5EF4-FFF2-40B4-BE49-F238E27FC236}">
                <a16:creationId xmlns:a16="http://schemas.microsoft.com/office/drawing/2014/main" id="{7366868F-F20C-0B60-EEBE-D115A91BDE1F}"/>
              </a:ext>
            </a:extLst>
          </p:cNvPr>
          <p:cNvGraphicFramePr>
            <a:graphicFrameLocks noGrp="1"/>
          </p:cNvGraphicFramePr>
          <p:nvPr>
            <p:extLst>
              <p:ext uri="{D42A27DB-BD31-4B8C-83A1-F6EECF244321}">
                <p14:modId xmlns:p14="http://schemas.microsoft.com/office/powerpoint/2010/main" val="3902691413"/>
              </p:ext>
            </p:extLst>
          </p:nvPr>
        </p:nvGraphicFramePr>
        <p:xfrm>
          <a:off x="404813" y="4557545"/>
          <a:ext cx="6042618" cy="4257283"/>
        </p:xfrm>
        <a:graphic>
          <a:graphicData uri="http://schemas.openxmlformats.org/drawingml/2006/table">
            <a:tbl>
              <a:tblPr>
                <a:tableStyleId>{5C22544A-7EE6-4342-B048-85BDC9FD1C3A}</a:tableStyleId>
              </a:tblPr>
              <a:tblGrid>
                <a:gridCol w="833869">
                  <a:extLst>
                    <a:ext uri="{9D8B030D-6E8A-4147-A177-3AD203B41FA5}">
                      <a16:colId xmlns:a16="http://schemas.microsoft.com/office/drawing/2014/main" val="1199541810"/>
                    </a:ext>
                  </a:extLst>
                </a:gridCol>
                <a:gridCol w="545282">
                  <a:extLst>
                    <a:ext uri="{9D8B030D-6E8A-4147-A177-3AD203B41FA5}">
                      <a16:colId xmlns:a16="http://schemas.microsoft.com/office/drawing/2014/main" val="2771136683"/>
                    </a:ext>
                  </a:extLst>
                </a:gridCol>
                <a:gridCol w="514124">
                  <a:extLst>
                    <a:ext uri="{9D8B030D-6E8A-4147-A177-3AD203B41FA5}">
                      <a16:colId xmlns:a16="http://schemas.microsoft.com/office/drawing/2014/main" val="112759525"/>
                    </a:ext>
                  </a:extLst>
                </a:gridCol>
                <a:gridCol w="911223">
                  <a:extLst>
                    <a:ext uri="{9D8B030D-6E8A-4147-A177-3AD203B41FA5}">
                      <a16:colId xmlns:a16="http://schemas.microsoft.com/office/drawing/2014/main" val="3900317923"/>
                    </a:ext>
                  </a:extLst>
                </a:gridCol>
                <a:gridCol w="1767880">
                  <a:extLst>
                    <a:ext uri="{9D8B030D-6E8A-4147-A177-3AD203B41FA5}">
                      <a16:colId xmlns:a16="http://schemas.microsoft.com/office/drawing/2014/main" val="3382103366"/>
                    </a:ext>
                  </a:extLst>
                </a:gridCol>
                <a:gridCol w="1470240">
                  <a:extLst>
                    <a:ext uri="{9D8B030D-6E8A-4147-A177-3AD203B41FA5}">
                      <a16:colId xmlns:a16="http://schemas.microsoft.com/office/drawing/2014/main" val="915546717"/>
                    </a:ext>
                  </a:extLst>
                </a:gridCol>
              </a:tblGrid>
              <a:tr h="260447">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42273324"/>
                  </a:ext>
                </a:extLst>
              </a:tr>
              <a:tr h="239063">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7398132"/>
                  </a:ext>
                </a:extLst>
              </a:tr>
              <a:tr h="239063">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altLang="ko-KR" sz="9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6008213"/>
                  </a:ext>
                </a:extLst>
              </a:tr>
              <a:tr h="239063">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7949854"/>
                  </a:ext>
                </a:extLst>
              </a:tr>
              <a:tr h="239063">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0537586"/>
                  </a:ext>
                </a:extLst>
              </a:tr>
              <a:tr h="239063">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8298388"/>
                  </a:ext>
                </a:extLst>
              </a:tr>
              <a:tr h="506561">
                <a:tc>
                  <a:txBody>
                    <a:bodyPr/>
                    <a:lstStyle/>
                    <a:p>
                      <a:pPr algn="ctr" fontAlgn="ct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SVI</a:t>
                      </a:r>
                      <a:endParaRPr lang="en-US" altLang="ko-KR" sz="900" b="0" i="0" u="none" strike="noStrike" baseline="30000" dirty="0">
                        <a:solidFill>
                          <a:schemeClr val="tx1"/>
                        </a:solidFill>
                        <a:effectLst/>
                        <a:latin typeface="Arial" panose="020B0604020202020204" pitchFamily="34" charset="0"/>
                        <a:ea typeface="+mn-ea"/>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lnSpc>
                          <a:spcPts val="800"/>
                        </a:lnSpc>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External sync. Input</a:t>
                      </a:r>
                      <a:endPar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External svsync (+</a:t>
                      </a:r>
                      <a:r>
                        <a:rPr lang="en-US" altLang="ko-KR" sz="900" b="0" i="0" u="none" strike="noStrike" dirty="0" err="1">
                          <a:solidFill>
                            <a:srgbClr val="000000"/>
                          </a:solidFill>
                          <a:effectLst/>
                          <a:latin typeface="Arial" panose="020B0604020202020204" pitchFamily="34" charset="0"/>
                          <a:ea typeface="굴림" panose="020B0600000101010101" pitchFamily="50" charset="-127"/>
                          <a:cs typeface="Arial" panose="020B0604020202020204" pitchFamily="34" charset="0"/>
                        </a:rPr>
                        <a:t>vsync</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daisy chain connected</a:t>
                      </a: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315327"/>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O12</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Sink 12</a:t>
                      </a:r>
                      <a:endParaRPr lang="ko-K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O11</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Sink 11</a:t>
                      </a:r>
                      <a:endParaRPr lang="ko-K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O10</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Sink 10</a:t>
                      </a:r>
                      <a:endParaRPr lang="ko-K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0580614"/>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O9</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10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Sink 9</a:t>
                      </a:r>
                      <a:endParaRPr lang="ko-K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0559267"/>
                  </a:ext>
                </a:extLst>
              </a:tr>
              <a:tr h="0">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O8</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11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Sink 8</a:t>
                      </a:r>
                      <a:endParaRPr lang="ko-K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7978524"/>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O7</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12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Sink 7</a:t>
                      </a:r>
                      <a:endParaRPr lang="ko-K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7588335"/>
                  </a:ext>
                </a:extLst>
              </a:tr>
              <a:tr h="506561">
                <a:tc>
                  <a:txBody>
                    <a:bodyPr/>
                    <a:lstStyle/>
                    <a:p>
                      <a:pPr algn="ctr" fontAlgn="ctr"/>
                      <a:r>
                        <a:rPr lang="en-US" altLang="ko-KR" sz="900" b="0" i="0" u="none" strike="noStrike" kern="1200" baseline="0" dirty="0">
                          <a:solidFill>
                            <a:schemeClr val="tx1"/>
                          </a:solidFill>
                          <a:effectLst/>
                          <a:latin typeface="Arial" panose="020B0604020202020204" pitchFamily="34" charset="0"/>
                          <a:ea typeface="+mn-ea"/>
                          <a:cs typeface="Arial" panose="020B0604020202020204" pitchFamily="34" charset="0"/>
                        </a:rPr>
                        <a:t>SVO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685800" rtl="0" eaLnBrk="1" fontAlgn="ctr" latinLnBrk="1" hangingPunct="1">
                        <a:lnSpc>
                          <a:spcPts val="800"/>
                        </a:lnSpc>
                      </a:pPr>
                      <a:r>
                        <a:rPr lang="en-US" altLang="ko-KR" sz="900" b="0" i="0" u="none" strike="noStrike" kern="1200" baseline="0" dirty="0">
                          <a:solidFill>
                            <a:schemeClr val="tx1"/>
                          </a:solidFill>
                          <a:effectLst/>
                          <a:latin typeface="Arial" panose="020B0604020202020204" pitchFamily="34" charset="0"/>
                          <a:ea typeface="+mn-ea"/>
                          <a:cs typeface="Arial" panose="020B0604020202020204" pitchFamily="34" charset="0"/>
                        </a:rPr>
                        <a:t>External sync. Output</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External svsync (+</a:t>
                      </a:r>
                      <a:r>
                        <a:rPr lang="en-US" altLang="ko-KR" sz="900" b="0" i="0" u="none" strike="noStrike" dirty="0" err="1">
                          <a:solidFill>
                            <a:srgbClr val="000000"/>
                          </a:solidFill>
                          <a:effectLst/>
                          <a:latin typeface="Arial" panose="020B0604020202020204" pitchFamily="34" charset="0"/>
                          <a:ea typeface="굴림" panose="020B0600000101010101" pitchFamily="50" charset="-127"/>
                          <a:cs typeface="Arial" panose="020B0604020202020204" pitchFamily="34" charset="0"/>
                        </a:rPr>
                        <a:t>vsync</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daisy chain connected</a:t>
                      </a: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1680076"/>
                  </a:ext>
                </a:extLst>
              </a:tr>
              <a:tr h="286954">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7811736"/>
                  </a:ext>
                </a:extLst>
              </a:tr>
            </a:tbl>
          </a:graphicData>
        </a:graphic>
      </p:graphicFrame>
      <p:sp>
        <p:nvSpPr>
          <p:cNvPr id="6" name="TextBox 5">
            <a:extLst>
              <a:ext uri="{FF2B5EF4-FFF2-40B4-BE49-F238E27FC236}">
                <a16:creationId xmlns:a16="http://schemas.microsoft.com/office/drawing/2014/main" id="{D7C30DE3-4D22-589E-192E-7C27E3DC89B9}"/>
              </a:ext>
            </a:extLst>
          </p:cNvPr>
          <p:cNvSpPr txBox="1"/>
          <p:nvPr/>
        </p:nvSpPr>
        <p:spPr>
          <a:xfrm>
            <a:off x="410818" y="4181880"/>
            <a:ext cx="6042618"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sp>
        <p:nvSpPr>
          <p:cNvPr id="2" name="object 84">
            <a:extLst>
              <a:ext uri="{FF2B5EF4-FFF2-40B4-BE49-F238E27FC236}">
                <a16:creationId xmlns:a16="http://schemas.microsoft.com/office/drawing/2014/main" id="{1C14F43E-8172-A20E-E067-0C053869EA35}"/>
              </a:ext>
            </a:extLst>
          </p:cNvPr>
          <p:cNvSpPr txBox="1"/>
          <p:nvPr/>
        </p:nvSpPr>
        <p:spPr>
          <a:xfrm>
            <a:off x="2793109" y="3916900"/>
            <a:ext cx="1294585"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3.  Pin diagram </a:t>
            </a:r>
          </a:p>
        </p:txBody>
      </p:sp>
      <p:grpSp>
        <p:nvGrpSpPr>
          <p:cNvPr id="91" name="그룹 90">
            <a:extLst>
              <a:ext uri="{FF2B5EF4-FFF2-40B4-BE49-F238E27FC236}">
                <a16:creationId xmlns:a16="http://schemas.microsoft.com/office/drawing/2014/main" id="{E4092F61-0D32-82BF-0AEB-858C24BB3AD8}"/>
              </a:ext>
            </a:extLst>
          </p:cNvPr>
          <p:cNvGrpSpPr/>
          <p:nvPr/>
        </p:nvGrpSpPr>
        <p:grpSpPr>
          <a:xfrm>
            <a:off x="2171806" y="1309289"/>
            <a:ext cx="2434199" cy="2467950"/>
            <a:chOff x="2171806" y="1309289"/>
            <a:chExt cx="2434199" cy="2467950"/>
          </a:xfrm>
        </p:grpSpPr>
        <p:sp>
          <p:nvSpPr>
            <p:cNvPr id="4" name="직사각형 3">
              <a:extLst>
                <a:ext uri="{FF2B5EF4-FFF2-40B4-BE49-F238E27FC236}">
                  <a16:creationId xmlns:a16="http://schemas.microsoft.com/office/drawing/2014/main" id="{10BEFC6D-2279-90DD-5D1C-DDD376E75550}"/>
                </a:ext>
              </a:extLst>
            </p:cNvPr>
            <p:cNvSpPr/>
            <p:nvPr/>
          </p:nvSpPr>
          <p:spPr>
            <a:xfrm rot="5400000">
              <a:off x="2155660" y="1325931"/>
              <a:ext cx="2466976" cy="2433714"/>
            </a:xfrm>
            <a:prstGeom prst="rect">
              <a:avLst/>
            </a:prstGeom>
            <a:solidFill>
              <a:schemeClr val="accent1">
                <a:alpha val="3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solidFill>
              </a:endParaRPr>
            </a:p>
          </p:txBody>
        </p:sp>
        <p:sp>
          <p:nvSpPr>
            <p:cNvPr id="7" name="직사각형 6">
              <a:extLst>
                <a:ext uri="{FF2B5EF4-FFF2-40B4-BE49-F238E27FC236}">
                  <a16:creationId xmlns:a16="http://schemas.microsoft.com/office/drawing/2014/main" id="{51A2092A-81D9-C96B-256D-80BE159E94B5}"/>
                </a:ext>
              </a:extLst>
            </p:cNvPr>
            <p:cNvSpPr/>
            <p:nvPr/>
          </p:nvSpPr>
          <p:spPr>
            <a:xfrm rot="5400000">
              <a:off x="4356202" y="1954037"/>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9" name="직사각형 8">
              <a:extLst>
                <a:ext uri="{FF2B5EF4-FFF2-40B4-BE49-F238E27FC236}">
                  <a16:creationId xmlns:a16="http://schemas.microsoft.com/office/drawing/2014/main" id="{4B7940B1-9224-DA86-1F10-7142A3E5A5DA}"/>
                </a:ext>
              </a:extLst>
            </p:cNvPr>
            <p:cNvSpPr/>
            <p:nvPr/>
          </p:nvSpPr>
          <p:spPr>
            <a:xfrm rot="5400000">
              <a:off x="4356202" y="2243994"/>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0" name="직사각형 9">
              <a:extLst>
                <a:ext uri="{FF2B5EF4-FFF2-40B4-BE49-F238E27FC236}">
                  <a16:creationId xmlns:a16="http://schemas.microsoft.com/office/drawing/2014/main" id="{77EFAC77-A846-E9D4-BB96-5115921B5AD4}"/>
                </a:ext>
              </a:extLst>
            </p:cNvPr>
            <p:cNvSpPr/>
            <p:nvPr/>
          </p:nvSpPr>
          <p:spPr>
            <a:xfrm rot="5400000">
              <a:off x="4356202" y="2533951"/>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1" name="직사각형 10">
              <a:extLst>
                <a:ext uri="{FF2B5EF4-FFF2-40B4-BE49-F238E27FC236}">
                  <a16:creationId xmlns:a16="http://schemas.microsoft.com/office/drawing/2014/main" id="{7121234D-8E03-EB17-0481-3C3E6430A4D5}"/>
                </a:ext>
              </a:extLst>
            </p:cNvPr>
            <p:cNvSpPr/>
            <p:nvPr/>
          </p:nvSpPr>
          <p:spPr>
            <a:xfrm rot="5400000">
              <a:off x="4356202" y="282390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2" name="순서도: 카드 11">
              <a:extLst>
                <a:ext uri="{FF2B5EF4-FFF2-40B4-BE49-F238E27FC236}">
                  <a16:creationId xmlns:a16="http://schemas.microsoft.com/office/drawing/2014/main" id="{CBF19FB9-0318-5E9B-3D5E-9A16AAC9565C}"/>
                </a:ext>
              </a:extLst>
            </p:cNvPr>
            <p:cNvSpPr/>
            <p:nvPr/>
          </p:nvSpPr>
          <p:spPr>
            <a:xfrm>
              <a:off x="2760341" y="2189661"/>
              <a:ext cx="1247715" cy="980299"/>
            </a:xfrm>
            <a:prstGeom prst="flowChartPunchedCar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4" name="TextBox 13">
              <a:extLst>
                <a:ext uri="{FF2B5EF4-FFF2-40B4-BE49-F238E27FC236}">
                  <a16:creationId xmlns:a16="http://schemas.microsoft.com/office/drawing/2014/main" id="{977AF367-90F1-EF67-E297-B0382CBB77D2}"/>
                </a:ext>
              </a:extLst>
            </p:cNvPr>
            <p:cNvSpPr txBox="1"/>
            <p:nvPr/>
          </p:nvSpPr>
          <p:spPr>
            <a:xfrm>
              <a:off x="3155950" y="2587398"/>
              <a:ext cx="487634" cy="230832"/>
            </a:xfrm>
            <a:prstGeom prst="rect">
              <a:avLst/>
            </a:prstGeom>
            <a:noFill/>
          </p:spPr>
          <p:txBody>
            <a:bodyPr wrap="non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T-Pad</a:t>
              </a:r>
              <a:endParaRPr kumimoji="0" lang="ko-KR" altLang="en-US" sz="9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15" name="TextBox 14">
              <a:extLst>
                <a:ext uri="{FF2B5EF4-FFF2-40B4-BE49-F238E27FC236}">
                  <a16:creationId xmlns:a16="http://schemas.microsoft.com/office/drawing/2014/main" id="{5FEF45A0-843F-661E-2E42-4B0F5B2C07D2}"/>
                </a:ext>
              </a:extLst>
            </p:cNvPr>
            <p:cNvSpPr txBox="1"/>
            <p:nvPr/>
          </p:nvSpPr>
          <p:spPr>
            <a:xfrm>
              <a:off x="2500821" y="1788727"/>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16" name="TextBox 15">
              <a:extLst>
                <a:ext uri="{FF2B5EF4-FFF2-40B4-BE49-F238E27FC236}">
                  <a16:creationId xmlns:a16="http://schemas.microsoft.com/office/drawing/2014/main" id="{2525FEEA-3F67-C5AB-8FE1-3FB7089CBE4A}"/>
                </a:ext>
              </a:extLst>
            </p:cNvPr>
            <p:cNvSpPr txBox="1"/>
            <p:nvPr/>
          </p:nvSpPr>
          <p:spPr>
            <a:xfrm>
              <a:off x="2505554" y="2054057"/>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lang="en-US" altLang="ko-KR" sz="800" baseline="-25000" dirty="0">
                  <a:latin typeface="맑은 고딕" panose="020F0502020204030204"/>
                  <a:ea typeface="맑은 고딕" panose="020B0503020000020004" pitchFamily="50" charset="-127"/>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17" name="TextBox 16">
              <a:extLst>
                <a:ext uri="{FF2B5EF4-FFF2-40B4-BE49-F238E27FC236}">
                  <a16:creationId xmlns:a16="http://schemas.microsoft.com/office/drawing/2014/main" id="{D88471AD-D1D6-B114-9280-EBCDF5FE7A73}"/>
                </a:ext>
              </a:extLst>
            </p:cNvPr>
            <p:cNvSpPr txBox="1"/>
            <p:nvPr/>
          </p:nvSpPr>
          <p:spPr>
            <a:xfrm>
              <a:off x="2505554" y="2621656"/>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18" name="TextBox 17">
              <a:extLst>
                <a:ext uri="{FF2B5EF4-FFF2-40B4-BE49-F238E27FC236}">
                  <a16:creationId xmlns:a16="http://schemas.microsoft.com/office/drawing/2014/main" id="{07631044-789A-5C1B-A2FB-F056DCE6ED35}"/>
                </a:ext>
              </a:extLst>
            </p:cNvPr>
            <p:cNvSpPr txBox="1"/>
            <p:nvPr/>
          </p:nvSpPr>
          <p:spPr>
            <a:xfrm>
              <a:off x="3985164" y="3314227"/>
              <a:ext cx="173124"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 O7</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19" name="TextBox 18">
              <a:extLst>
                <a:ext uri="{FF2B5EF4-FFF2-40B4-BE49-F238E27FC236}">
                  <a16:creationId xmlns:a16="http://schemas.microsoft.com/office/drawing/2014/main" id="{15E810F4-A711-AA8C-381B-668A586A773B}"/>
                </a:ext>
              </a:extLst>
            </p:cNvPr>
            <p:cNvSpPr txBox="1"/>
            <p:nvPr/>
          </p:nvSpPr>
          <p:spPr>
            <a:xfrm>
              <a:off x="3723966" y="3317402"/>
              <a:ext cx="173124"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 O8</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0" name="TextBox 19">
              <a:extLst>
                <a:ext uri="{FF2B5EF4-FFF2-40B4-BE49-F238E27FC236}">
                  <a16:creationId xmlns:a16="http://schemas.microsoft.com/office/drawing/2014/main" id="{F93B1722-F04E-8A67-56C2-0E7659F834D2}"/>
                </a:ext>
              </a:extLst>
            </p:cNvPr>
            <p:cNvSpPr txBox="1"/>
            <p:nvPr/>
          </p:nvSpPr>
          <p:spPr>
            <a:xfrm>
              <a:off x="3471851" y="3315744"/>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O9</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1" name="TextBox 20">
              <a:extLst>
                <a:ext uri="{FF2B5EF4-FFF2-40B4-BE49-F238E27FC236}">
                  <a16:creationId xmlns:a16="http://schemas.microsoft.com/office/drawing/2014/main" id="{83120E85-652E-9928-17AE-51C24A8CCD23}"/>
                </a:ext>
              </a:extLst>
            </p:cNvPr>
            <p:cNvSpPr txBox="1"/>
            <p:nvPr/>
          </p:nvSpPr>
          <p:spPr>
            <a:xfrm>
              <a:off x="2881654" y="3328632"/>
              <a:ext cx="19236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O11</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2" name="TextBox 21">
              <a:extLst>
                <a:ext uri="{FF2B5EF4-FFF2-40B4-BE49-F238E27FC236}">
                  <a16:creationId xmlns:a16="http://schemas.microsoft.com/office/drawing/2014/main" id="{C2F2D16B-57F8-9D57-1BD7-1661170EA737}"/>
                </a:ext>
              </a:extLst>
            </p:cNvPr>
            <p:cNvSpPr txBox="1"/>
            <p:nvPr/>
          </p:nvSpPr>
          <p:spPr>
            <a:xfrm>
              <a:off x="2595356" y="1640683"/>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3" name="TextBox 22">
              <a:extLst>
                <a:ext uri="{FF2B5EF4-FFF2-40B4-BE49-F238E27FC236}">
                  <a16:creationId xmlns:a16="http://schemas.microsoft.com/office/drawing/2014/main" id="{AA1F2303-1144-1D28-5F95-DD86EFF755DD}"/>
                </a:ext>
              </a:extLst>
            </p:cNvPr>
            <p:cNvSpPr txBox="1"/>
            <p:nvPr/>
          </p:nvSpPr>
          <p:spPr>
            <a:xfrm>
              <a:off x="2886669" y="1644409"/>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O2</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4" name="TextBox 23">
              <a:extLst>
                <a:ext uri="{FF2B5EF4-FFF2-40B4-BE49-F238E27FC236}">
                  <a16:creationId xmlns:a16="http://schemas.microsoft.com/office/drawing/2014/main" id="{33EB95BB-C305-2FE1-2EDE-2B87C52AC43B}"/>
                </a:ext>
              </a:extLst>
            </p:cNvPr>
            <p:cNvSpPr txBox="1"/>
            <p:nvPr/>
          </p:nvSpPr>
          <p:spPr>
            <a:xfrm>
              <a:off x="3175554" y="1637951"/>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O3</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5" name="TextBox 24">
              <a:extLst>
                <a:ext uri="{FF2B5EF4-FFF2-40B4-BE49-F238E27FC236}">
                  <a16:creationId xmlns:a16="http://schemas.microsoft.com/office/drawing/2014/main" id="{CCC4B4D3-E359-CFD9-9925-6DD71E5CA7F3}"/>
                </a:ext>
              </a:extLst>
            </p:cNvPr>
            <p:cNvSpPr txBox="1"/>
            <p:nvPr/>
          </p:nvSpPr>
          <p:spPr>
            <a:xfrm>
              <a:off x="3746653" y="1644469"/>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O5</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6" name="TextBox 25">
              <a:extLst>
                <a:ext uri="{FF2B5EF4-FFF2-40B4-BE49-F238E27FC236}">
                  <a16:creationId xmlns:a16="http://schemas.microsoft.com/office/drawing/2014/main" id="{73377BAF-EA54-530A-FE30-4651E615A217}"/>
                </a:ext>
              </a:extLst>
            </p:cNvPr>
            <p:cNvSpPr txBox="1"/>
            <p:nvPr/>
          </p:nvSpPr>
          <p:spPr>
            <a:xfrm>
              <a:off x="4066935" y="1767396"/>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7" name="TextBox 26">
              <a:extLst>
                <a:ext uri="{FF2B5EF4-FFF2-40B4-BE49-F238E27FC236}">
                  <a16:creationId xmlns:a16="http://schemas.microsoft.com/office/drawing/2014/main" id="{D3924879-37E2-4763-4869-0370C61A93C6}"/>
                </a:ext>
              </a:extLst>
            </p:cNvPr>
            <p:cNvSpPr txBox="1"/>
            <p:nvPr/>
          </p:nvSpPr>
          <p:spPr>
            <a:xfrm>
              <a:off x="4066935" y="2045550"/>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lang="en-US" altLang="ko-KR" sz="800" baseline="-25000" dirty="0">
                  <a:latin typeface="맑은 고딕" panose="020F0502020204030204"/>
                  <a:ea typeface="맑은 고딕" panose="020B0503020000020004" pitchFamily="50" charset="-127"/>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8" name="TextBox 27">
              <a:extLst>
                <a:ext uri="{FF2B5EF4-FFF2-40B4-BE49-F238E27FC236}">
                  <a16:creationId xmlns:a16="http://schemas.microsoft.com/office/drawing/2014/main" id="{7AA8826A-E6D0-64C6-925B-6BE00E4E9361}"/>
                </a:ext>
              </a:extLst>
            </p:cNvPr>
            <p:cNvSpPr txBox="1"/>
            <p:nvPr/>
          </p:nvSpPr>
          <p:spPr>
            <a:xfrm>
              <a:off x="4070791" y="2612661"/>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9" name="TextBox 28">
              <a:extLst>
                <a:ext uri="{FF2B5EF4-FFF2-40B4-BE49-F238E27FC236}">
                  <a16:creationId xmlns:a16="http://schemas.microsoft.com/office/drawing/2014/main" id="{764AA276-87BC-2310-5DAA-7268A22FFFB1}"/>
                </a:ext>
              </a:extLst>
            </p:cNvPr>
            <p:cNvSpPr txBox="1"/>
            <p:nvPr/>
          </p:nvSpPr>
          <p:spPr>
            <a:xfrm>
              <a:off x="4059981" y="2897602"/>
              <a:ext cx="19556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D</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DIO</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0" name="TextBox 29">
              <a:extLst>
                <a:ext uri="{FF2B5EF4-FFF2-40B4-BE49-F238E27FC236}">
                  <a16:creationId xmlns:a16="http://schemas.microsoft.com/office/drawing/2014/main" id="{7E58AB70-6282-E8AE-6948-64AE7D746344}"/>
                </a:ext>
              </a:extLst>
            </p:cNvPr>
            <p:cNvSpPr txBox="1"/>
            <p:nvPr/>
          </p:nvSpPr>
          <p:spPr>
            <a:xfrm>
              <a:off x="3443662" y="1638801"/>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O4</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2" name="TextBox 31">
              <a:extLst>
                <a:ext uri="{FF2B5EF4-FFF2-40B4-BE49-F238E27FC236}">
                  <a16:creationId xmlns:a16="http://schemas.microsoft.com/office/drawing/2014/main" id="{6BD1F01D-C969-AE2B-C6CC-183888363E28}"/>
                </a:ext>
              </a:extLst>
            </p:cNvPr>
            <p:cNvSpPr txBox="1"/>
            <p:nvPr/>
          </p:nvSpPr>
          <p:spPr>
            <a:xfrm>
              <a:off x="3991514" y="1643588"/>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O6</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33" name="TextBox 32">
              <a:extLst>
                <a:ext uri="{FF2B5EF4-FFF2-40B4-BE49-F238E27FC236}">
                  <a16:creationId xmlns:a16="http://schemas.microsoft.com/office/drawing/2014/main" id="{4B6621BE-F7C9-EE6A-AAAA-755B6BE7500F}"/>
                </a:ext>
              </a:extLst>
            </p:cNvPr>
            <p:cNvSpPr txBox="1"/>
            <p:nvPr/>
          </p:nvSpPr>
          <p:spPr>
            <a:xfrm>
              <a:off x="4070791" y="2330476"/>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4" name="TextBox 33">
              <a:extLst>
                <a:ext uri="{FF2B5EF4-FFF2-40B4-BE49-F238E27FC236}">
                  <a16:creationId xmlns:a16="http://schemas.microsoft.com/office/drawing/2014/main" id="{AA9A12CE-BA60-7CDD-3EF7-E247E5C38DE8}"/>
                </a:ext>
              </a:extLst>
            </p:cNvPr>
            <p:cNvSpPr txBox="1"/>
            <p:nvPr/>
          </p:nvSpPr>
          <p:spPr>
            <a:xfrm>
              <a:off x="3169269" y="3321059"/>
              <a:ext cx="19236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O10</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5" name="TextBox 34">
              <a:extLst>
                <a:ext uri="{FF2B5EF4-FFF2-40B4-BE49-F238E27FC236}">
                  <a16:creationId xmlns:a16="http://schemas.microsoft.com/office/drawing/2014/main" id="{E8DE0AC4-5C71-2A0D-6122-8EC33D16C5EE}"/>
                </a:ext>
              </a:extLst>
            </p:cNvPr>
            <p:cNvSpPr txBox="1"/>
            <p:nvPr/>
          </p:nvSpPr>
          <p:spPr>
            <a:xfrm>
              <a:off x="2597709" y="3324761"/>
              <a:ext cx="19236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O12</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36" name="TextBox 35">
              <a:extLst>
                <a:ext uri="{FF2B5EF4-FFF2-40B4-BE49-F238E27FC236}">
                  <a16:creationId xmlns:a16="http://schemas.microsoft.com/office/drawing/2014/main" id="{0351176F-82C3-882C-FAFC-C315FA4372F3}"/>
                </a:ext>
              </a:extLst>
            </p:cNvPr>
            <p:cNvSpPr txBox="1"/>
            <p:nvPr/>
          </p:nvSpPr>
          <p:spPr>
            <a:xfrm>
              <a:off x="2505554" y="2338020"/>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7" name="TextBox 36">
              <a:extLst>
                <a:ext uri="{FF2B5EF4-FFF2-40B4-BE49-F238E27FC236}">
                  <a16:creationId xmlns:a16="http://schemas.microsoft.com/office/drawing/2014/main" id="{B6F9D90C-5322-5E22-26FD-7198EA69A60E}"/>
                </a:ext>
              </a:extLst>
            </p:cNvPr>
            <p:cNvSpPr txBox="1"/>
            <p:nvPr/>
          </p:nvSpPr>
          <p:spPr>
            <a:xfrm>
              <a:off x="2499306" y="2922330"/>
              <a:ext cx="145874"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D</a:t>
              </a:r>
              <a:r>
                <a:rPr lang="en-US" altLang="ko-KR" sz="800" baseline="-25000" dirty="0">
                  <a:latin typeface="맑은 고딕" panose="020F0502020204030204"/>
                  <a:ea typeface="맑은 고딕" panose="020B0503020000020004" pitchFamily="50" charset="-127"/>
                </a:rPr>
                <a:t>IO</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9" name="직사각형 38">
              <a:extLst>
                <a:ext uri="{FF2B5EF4-FFF2-40B4-BE49-F238E27FC236}">
                  <a16:creationId xmlns:a16="http://schemas.microsoft.com/office/drawing/2014/main" id="{FA051048-6E56-1C06-FA00-88E848077C4D}"/>
                </a:ext>
              </a:extLst>
            </p:cNvPr>
            <p:cNvSpPr/>
            <p:nvPr/>
          </p:nvSpPr>
          <p:spPr>
            <a:xfrm rot="5400000">
              <a:off x="2232514" y="1954037"/>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0" name="직사각형 39">
              <a:extLst>
                <a:ext uri="{FF2B5EF4-FFF2-40B4-BE49-F238E27FC236}">
                  <a16:creationId xmlns:a16="http://schemas.microsoft.com/office/drawing/2014/main" id="{3727E2E1-037A-F2B2-591B-58FFF108E1B2}"/>
                </a:ext>
              </a:extLst>
            </p:cNvPr>
            <p:cNvSpPr/>
            <p:nvPr/>
          </p:nvSpPr>
          <p:spPr>
            <a:xfrm rot="5400000">
              <a:off x="2232514" y="2243994"/>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1" name="직사각형 40">
              <a:extLst>
                <a:ext uri="{FF2B5EF4-FFF2-40B4-BE49-F238E27FC236}">
                  <a16:creationId xmlns:a16="http://schemas.microsoft.com/office/drawing/2014/main" id="{3D09AB52-81CA-39E7-652C-8E1F5496EE66}"/>
                </a:ext>
              </a:extLst>
            </p:cNvPr>
            <p:cNvSpPr/>
            <p:nvPr/>
          </p:nvSpPr>
          <p:spPr>
            <a:xfrm rot="5400000">
              <a:off x="2232514" y="2533951"/>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2" name="직사각형 41">
              <a:extLst>
                <a:ext uri="{FF2B5EF4-FFF2-40B4-BE49-F238E27FC236}">
                  <a16:creationId xmlns:a16="http://schemas.microsoft.com/office/drawing/2014/main" id="{4BDDE61A-DD47-604A-2A8A-9D40158A90E9}"/>
                </a:ext>
              </a:extLst>
            </p:cNvPr>
            <p:cNvSpPr/>
            <p:nvPr/>
          </p:nvSpPr>
          <p:spPr>
            <a:xfrm rot="5400000">
              <a:off x="2232514" y="282390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7" name="사각형: 잘린 한쪽 모서리 46">
              <a:extLst>
                <a:ext uri="{FF2B5EF4-FFF2-40B4-BE49-F238E27FC236}">
                  <a16:creationId xmlns:a16="http://schemas.microsoft.com/office/drawing/2014/main" id="{BCD106BC-541B-5315-F1D4-4DF46DE22057}"/>
                </a:ext>
              </a:extLst>
            </p:cNvPr>
            <p:cNvSpPr/>
            <p:nvPr/>
          </p:nvSpPr>
          <p:spPr>
            <a:xfrm>
              <a:off x="2172769" y="1723703"/>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8" name="TextBox 47">
              <a:extLst>
                <a:ext uri="{FF2B5EF4-FFF2-40B4-BE49-F238E27FC236}">
                  <a16:creationId xmlns:a16="http://schemas.microsoft.com/office/drawing/2014/main" id="{84FE4F66-37EB-837A-7DDE-C20C479FCD08}"/>
                </a:ext>
              </a:extLst>
            </p:cNvPr>
            <p:cNvSpPr txBox="1"/>
            <p:nvPr/>
          </p:nvSpPr>
          <p:spPr>
            <a:xfrm>
              <a:off x="2213198" y="1701985"/>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5" name="사각형: 잘린 한쪽 모서리 44">
              <a:extLst>
                <a:ext uri="{FF2B5EF4-FFF2-40B4-BE49-F238E27FC236}">
                  <a16:creationId xmlns:a16="http://schemas.microsoft.com/office/drawing/2014/main" id="{D77BD9FB-05F1-DC04-B60E-6173FDA0DB97}"/>
                </a:ext>
              </a:extLst>
            </p:cNvPr>
            <p:cNvSpPr/>
            <p:nvPr/>
          </p:nvSpPr>
          <p:spPr>
            <a:xfrm rot="10800000" flipH="1">
              <a:off x="2171806" y="3169960"/>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6" name="TextBox 45">
              <a:extLst>
                <a:ext uri="{FF2B5EF4-FFF2-40B4-BE49-F238E27FC236}">
                  <a16:creationId xmlns:a16="http://schemas.microsoft.com/office/drawing/2014/main" id="{CB596575-8B5B-9B74-FF05-9CD56823AFEE}"/>
                </a:ext>
              </a:extLst>
            </p:cNvPr>
            <p:cNvSpPr txBox="1"/>
            <p:nvPr/>
          </p:nvSpPr>
          <p:spPr>
            <a:xfrm>
              <a:off x="2213199" y="3144125"/>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6</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0" name="직사각형 49">
              <a:extLst>
                <a:ext uri="{FF2B5EF4-FFF2-40B4-BE49-F238E27FC236}">
                  <a16:creationId xmlns:a16="http://schemas.microsoft.com/office/drawing/2014/main" id="{962093A6-89CE-FC42-EA15-EC74914A138F}"/>
                </a:ext>
              </a:extLst>
            </p:cNvPr>
            <p:cNvSpPr/>
            <p:nvPr/>
          </p:nvSpPr>
          <p:spPr>
            <a:xfrm>
              <a:off x="2868198" y="346963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8</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1" name="직사각형 50">
              <a:extLst>
                <a:ext uri="{FF2B5EF4-FFF2-40B4-BE49-F238E27FC236}">
                  <a16:creationId xmlns:a16="http://schemas.microsoft.com/office/drawing/2014/main" id="{AFCD6DD5-6741-1714-F968-22DED342FACD}"/>
                </a:ext>
              </a:extLst>
            </p:cNvPr>
            <p:cNvSpPr/>
            <p:nvPr/>
          </p:nvSpPr>
          <p:spPr>
            <a:xfrm>
              <a:off x="3158155" y="346963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9</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2" name="직사각형 51">
              <a:extLst>
                <a:ext uri="{FF2B5EF4-FFF2-40B4-BE49-F238E27FC236}">
                  <a16:creationId xmlns:a16="http://schemas.microsoft.com/office/drawing/2014/main" id="{446E8FB4-6F3F-76B2-ABDE-83EBC5761753}"/>
                </a:ext>
              </a:extLst>
            </p:cNvPr>
            <p:cNvSpPr/>
            <p:nvPr/>
          </p:nvSpPr>
          <p:spPr>
            <a:xfrm>
              <a:off x="3448112" y="346963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10</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3" name="직사각형 52">
              <a:extLst>
                <a:ext uri="{FF2B5EF4-FFF2-40B4-BE49-F238E27FC236}">
                  <a16:creationId xmlns:a16="http://schemas.microsoft.com/office/drawing/2014/main" id="{BE7DF7BE-6D66-EDCD-555F-0352B3A5B155}"/>
                </a:ext>
              </a:extLst>
            </p:cNvPr>
            <p:cNvSpPr/>
            <p:nvPr/>
          </p:nvSpPr>
          <p:spPr>
            <a:xfrm>
              <a:off x="3738069" y="346963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nvGrpSpPr>
            <p:cNvPr id="54" name="그룹 53">
              <a:extLst>
                <a:ext uri="{FF2B5EF4-FFF2-40B4-BE49-F238E27FC236}">
                  <a16:creationId xmlns:a16="http://schemas.microsoft.com/office/drawing/2014/main" id="{21401A0F-5406-77B3-0BD1-E5CC3CF2E23F}"/>
                </a:ext>
              </a:extLst>
            </p:cNvPr>
            <p:cNvGrpSpPr/>
            <p:nvPr/>
          </p:nvGrpSpPr>
          <p:grpSpPr>
            <a:xfrm>
              <a:off x="2559894" y="3469636"/>
              <a:ext cx="223838" cy="306640"/>
              <a:chOff x="2608988" y="3515561"/>
              <a:chExt cx="223838" cy="306640"/>
            </a:xfrm>
          </p:grpSpPr>
          <p:sp>
            <p:nvSpPr>
              <p:cNvPr id="58" name="사각형: 잘린 한쪽 모서리 57">
                <a:extLst>
                  <a:ext uri="{FF2B5EF4-FFF2-40B4-BE49-F238E27FC236}">
                    <a16:creationId xmlns:a16="http://schemas.microsoft.com/office/drawing/2014/main" id="{F6D47755-FF3E-4691-F42A-CFB9FA96DE4F}"/>
                  </a:ext>
                </a:extLst>
              </p:cNvPr>
              <p:cNvSpPr/>
              <p:nvPr/>
            </p:nvSpPr>
            <p:spPr>
              <a:xfrm rot="16200000">
                <a:off x="2568033" y="3574736"/>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9" name="TextBox 58">
                <a:extLst>
                  <a:ext uri="{FF2B5EF4-FFF2-40B4-BE49-F238E27FC236}">
                    <a16:creationId xmlns:a16="http://schemas.microsoft.com/office/drawing/2014/main" id="{1CD36541-57A2-E7E9-C006-A38EC79DA65E}"/>
                  </a:ext>
                </a:extLst>
              </p:cNvPr>
              <p:cNvSpPr txBox="1"/>
              <p:nvPr/>
            </p:nvSpPr>
            <p:spPr>
              <a:xfrm>
                <a:off x="2608988" y="355443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7</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55" name="그룹 54">
              <a:extLst>
                <a:ext uri="{FF2B5EF4-FFF2-40B4-BE49-F238E27FC236}">
                  <a16:creationId xmlns:a16="http://schemas.microsoft.com/office/drawing/2014/main" id="{D3D572E1-21DB-776C-B21D-D43D088A5CAD}"/>
                </a:ext>
              </a:extLst>
            </p:cNvPr>
            <p:cNvGrpSpPr/>
            <p:nvPr/>
          </p:nvGrpSpPr>
          <p:grpSpPr>
            <a:xfrm>
              <a:off x="4002033" y="3469638"/>
              <a:ext cx="223838" cy="307601"/>
              <a:chOff x="4051127" y="3515563"/>
              <a:chExt cx="223838" cy="307601"/>
            </a:xfrm>
          </p:grpSpPr>
          <p:sp>
            <p:nvSpPr>
              <p:cNvPr id="56" name="사각형: 잘린 한쪽 모서리 55">
                <a:extLst>
                  <a:ext uri="{FF2B5EF4-FFF2-40B4-BE49-F238E27FC236}">
                    <a16:creationId xmlns:a16="http://schemas.microsoft.com/office/drawing/2014/main" id="{5A9C65F6-948A-93BD-CCE5-BB69C3E6F946}"/>
                  </a:ext>
                </a:extLst>
              </p:cNvPr>
              <p:cNvSpPr/>
              <p:nvPr/>
            </p:nvSpPr>
            <p:spPr>
              <a:xfrm rot="5400000" flipH="1">
                <a:off x="4013809" y="3575219"/>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7" name="TextBox 56">
                <a:extLst>
                  <a:ext uri="{FF2B5EF4-FFF2-40B4-BE49-F238E27FC236}">
                    <a16:creationId xmlns:a16="http://schemas.microsoft.com/office/drawing/2014/main" id="{42E2AD9D-DFE8-1BC3-C5FC-C22613341F19}"/>
                  </a:ext>
                </a:extLst>
              </p:cNvPr>
              <p:cNvSpPr txBox="1"/>
              <p:nvPr/>
            </p:nvSpPr>
            <p:spPr>
              <a:xfrm>
                <a:off x="4051127" y="3554437"/>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sp>
          <p:nvSpPr>
            <p:cNvPr id="61" name="직사각형 60">
              <a:extLst>
                <a:ext uri="{FF2B5EF4-FFF2-40B4-BE49-F238E27FC236}">
                  <a16:creationId xmlns:a16="http://schemas.microsoft.com/office/drawing/2014/main" id="{C6513BF3-3B8D-1A5B-8878-3E81D2C5241E}"/>
                </a:ext>
              </a:extLst>
            </p:cNvPr>
            <p:cNvSpPr/>
            <p:nvPr/>
          </p:nvSpPr>
          <p:spPr>
            <a:xfrm>
              <a:off x="3714806" y="1310249"/>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20</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2" name="직사각형 61">
              <a:extLst>
                <a:ext uri="{FF2B5EF4-FFF2-40B4-BE49-F238E27FC236}">
                  <a16:creationId xmlns:a16="http://schemas.microsoft.com/office/drawing/2014/main" id="{D8FBE4BF-335D-34A9-4913-AC158259E933}"/>
                </a:ext>
              </a:extLst>
            </p:cNvPr>
            <p:cNvSpPr/>
            <p:nvPr/>
          </p:nvSpPr>
          <p:spPr>
            <a:xfrm>
              <a:off x="3424849" y="1310249"/>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3" name="직사각형 62">
              <a:extLst>
                <a:ext uri="{FF2B5EF4-FFF2-40B4-BE49-F238E27FC236}">
                  <a16:creationId xmlns:a16="http://schemas.microsoft.com/office/drawing/2014/main" id="{1906D30D-75DA-825E-A134-48FEA6D8E7C4}"/>
                </a:ext>
              </a:extLst>
            </p:cNvPr>
            <p:cNvSpPr/>
            <p:nvPr/>
          </p:nvSpPr>
          <p:spPr>
            <a:xfrm>
              <a:off x="3134892" y="1310249"/>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4" name="직사각형 63">
              <a:extLst>
                <a:ext uri="{FF2B5EF4-FFF2-40B4-BE49-F238E27FC236}">
                  <a16:creationId xmlns:a16="http://schemas.microsoft.com/office/drawing/2014/main" id="{798F4905-418B-7781-7097-8843328EC006}"/>
                </a:ext>
              </a:extLst>
            </p:cNvPr>
            <p:cNvSpPr/>
            <p:nvPr/>
          </p:nvSpPr>
          <p:spPr>
            <a:xfrm>
              <a:off x="2844935" y="1310249"/>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9" name="사각형: 잘린 한쪽 모서리 68">
              <a:extLst>
                <a:ext uri="{FF2B5EF4-FFF2-40B4-BE49-F238E27FC236}">
                  <a16:creationId xmlns:a16="http://schemas.microsoft.com/office/drawing/2014/main" id="{47BF5BD8-3BA4-5976-3128-182D9136BD46}"/>
                </a:ext>
              </a:extLst>
            </p:cNvPr>
            <p:cNvSpPr/>
            <p:nvPr/>
          </p:nvSpPr>
          <p:spPr>
            <a:xfrm rot="5400000">
              <a:off x="3944568" y="1369428"/>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0" name="TextBox 69">
              <a:extLst>
                <a:ext uri="{FF2B5EF4-FFF2-40B4-BE49-F238E27FC236}">
                  <a16:creationId xmlns:a16="http://schemas.microsoft.com/office/drawing/2014/main" id="{82492BF0-97F3-BB8D-4163-A4CF4E72910F}"/>
                </a:ext>
              </a:extLst>
            </p:cNvPr>
            <p:cNvSpPr txBox="1"/>
            <p:nvPr/>
          </p:nvSpPr>
          <p:spPr>
            <a:xfrm>
              <a:off x="3986415" y="1349566"/>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19</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7" name="사각형: 잘린 한쪽 모서리 66">
              <a:extLst>
                <a:ext uri="{FF2B5EF4-FFF2-40B4-BE49-F238E27FC236}">
                  <a16:creationId xmlns:a16="http://schemas.microsoft.com/office/drawing/2014/main" id="{66327C7A-2876-6B74-AFD1-FCA8E35994B3}"/>
                </a:ext>
              </a:extLst>
            </p:cNvPr>
            <p:cNvSpPr/>
            <p:nvPr/>
          </p:nvSpPr>
          <p:spPr>
            <a:xfrm rot="16200000" flipH="1">
              <a:off x="2497831" y="1368945"/>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8" name="TextBox 67">
              <a:extLst>
                <a:ext uri="{FF2B5EF4-FFF2-40B4-BE49-F238E27FC236}">
                  <a16:creationId xmlns:a16="http://schemas.microsoft.com/office/drawing/2014/main" id="{A47D69D0-D209-38DF-46DD-BA45D95E56FC}"/>
                </a:ext>
              </a:extLst>
            </p:cNvPr>
            <p:cNvSpPr txBox="1"/>
            <p:nvPr/>
          </p:nvSpPr>
          <p:spPr>
            <a:xfrm>
              <a:off x="2544276" y="1349565"/>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2" name="사각형: 잘린 한쪽 모서리 71">
              <a:extLst>
                <a:ext uri="{FF2B5EF4-FFF2-40B4-BE49-F238E27FC236}">
                  <a16:creationId xmlns:a16="http://schemas.microsoft.com/office/drawing/2014/main" id="{344D9631-1509-6F9F-7501-BD3CA9C18B20}"/>
                </a:ext>
              </a:extLst>
            </p:cNvPr>
            <p:cNvSpPr/>
            <p:nvPr/>
          </p:nvSpPr>
          <p:spPr>
            <a:xfrm rot="10800000" flipV="1">
              <a:off x="4294445" y="1719788"/>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3" name="TextBox 72">
              <a:extLst>
                <a:ext uri="{FF2B5EF4-FFF2-40B4-BE49-F238E27FC236}">
                  <a16:creationId xmlns:a16="http://schemas.microsoft.com/office/drawing/2014/main" id="{F148FC04-966F-9876-126A-DA764CBD2B06}"/>
                </a:ext>
              </a:extLst>
            </p:cNvPr>
            <p:cNvSpPr txBox="1"/>
            <p:nvPr/>
          </p:nvSpPr>
          <p:spPr>
            <a:xfrm>
              <a:off x="4343266" y="1701985"/>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18</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5" name="사각형: 잘린 한쪽 모서리 74">
              <a:extLst>
                <a:ext uri="{FF2B5EF4-FFF2-40B4-BE49-F238E27FC236}">
                  <a16:creationId xmlns:a16="http://schemas.microsoft.com/office/drawing/2014/main" id="{D02F29FC-05DF-7B55-A3F7-5FA06294CC4C}"/>
                </a:ext>
              </a:extLst>
            </p:cNvPr>
            <p:cNvSpPr/>
            <p:nvPr/>
          </p:nvSpPr>
          <p:spPr>
            <a:xfrm flipH="1" flipV="1">
              <a:off x="4297917" y="3173265"/>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6" name="TextBox 75">
              <a:extLst>
                <a:ext uri="{FF2B5EF4-FFF2-40B4-BE49-F238E27FC236}">
                  <a16:creationId xmlns:a16="http://schemas.microsoft.com/office/drawing/2014/main" id="{388A8235-8834-EB9E-D53A-9D4112DA65A7}"/>
                </a:ext>
              </a:extLst>
            </p:cNvPr>
            <p:cNvSpPr txBox="1"/>
            <p:nvPr/>
          </p:nvSpPr>
          <p:spPr>
            <a:xfrm>
              <a:off x="4340885" y="3144124"/>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a:t>
              </a:r>
              <a:r>
                <a:rPr lang="en-US" altLang="ko-KR" sz="900" dirty="0">
                  <a:latin typeface="맑은 고딕" panose="020F0502020204030204"/>
                  <a:ea typeface="맑은 고딕" panose="020B0503020000020004" pitchFamily="50" charset="-127"/>
                </a:rPr>
                <a:t>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7" name="TextBox 76">
              <a:extLst>
                <a:ext uri="{FF2B5EF4-FFF2-40B4-BE49-F238E27FC236}">
                  <a16:creationId xmlns:a16="http://schemas.microsoft.com/office/drawing/2014/main" id="{D8539796-98D7-4CFC-6D78-EEE30F169D38}"/>
                </a:ext>
              </a:extLst>
            </p:cNvPr>
            <p:cNvSpPr txBox="1"/>
            <p:nvPr/>
          </p:nvSpPr>
          <p:spPr>
            <a:xfrm>
              <a:off x="4048501" y="3213795"/>
              <a:ext cx="201978" cy="89768"/>
            </a:xfrm>
            <a:prstGeom prst="rect">
              <a:avLst/>
            </a:prstGeom>
            <a:noFill/>
          </p:spPr>
          <p:txBody>
            <a:bodyPr wrap="none" lIns="0" tIns="0" rIns="0" bIns="0" rtlCol="0">
              <a:spAutoFit/>
            </a:bodyPr>
            <a:lstStyle/>
            <a:p>
              <a:pPr algn="ctr" latinLnBrk="1">
                <a:lnSpc>
                  <a:spcPts val="700"/>
                </a:lnSpc>
                <a:defRPr/>
              </a:pPr>
              <a:r>
                <a:rPr lang="en-US" altLang="ko-KR" sz="800" dirty="0">
                  <a:latin typeface="+mn-ea"/>
                </a:rPr>
                <a:t>SVO</a:t>
              </a:r>
            </a:p>
          </p:txBody>
        </p:sp>
        <p:sp>
          <p:nvSpPr>
            <p:cNvPr id="78" name="TextBox 77">
              <a:extLst>
                <a:ext uri="{FF2B5EF4-FFF2-40B4-BE49-F238E27FC236}">
                  <a16:creationId xmlns:a16="http://schemas.microsoft.com/office/drawing/2014/main" id="{A3F06153-51CF-A070-1E79-384524A9E328}"/>
                </a:ext>
              </a:extLst>
            </p:cNvPr>
            <p:cNvSpPr txBox="1"/>
            <p:nvPr/>
          </p:nvSpPr>
          <p:spPr>
            <a:xfrm>
              <a:off x="2493111" y="3216065"/>
              <a:ext cx="149080" cy="89768"/>
            </a:xfrm>
            <a:prstGeom prst="rect">
              <a:avLst/>
            </a:prstGeom>
            <a:noFill/>
          </p:spPr>
          <p:txBody>
            <a:bodyPr wrap="none" lIns="0" tIns="0" rIns="0" bIns="0" rtlCol="0">
              <a:spAutoFit/>
            </a:bodyPr>
            <a:lstStyle/>
            <a:p>
              <a:pPr algn="ctr" latinLnBrk="1">
                <a:lnSpc>
                  <a:spcPts val="700"/>
                </a:lnSpc>
                <a:defRPr/>
              </a:pPr>
              <a:r>
                <a:rPr lang="en-US" altLang="ko-KR" sz="800" dirty="0">
                  <a:latin typeface="+mn-ea"/>
                </a:rPr>
                <a:t>SVI</a:t>
              </a:r>
            </a:p>
          </p:txBody>
        </p:sp>
        <p:sp>
          <p:nvSpPr>
            <p:cNvPr id="13" name="TextBox 12">
              <a:extLst>
                <a:ext uri="{FF2B5EF4-FFF2-40B4-BE49-F238E27FC236}">
                  <a16:creationId xmlns:a16="http://schemas.microsoft.com/office/drawing/2014/main" id="{C8C626C8-F415-6D40-6B19-73F26E2D5682}"/>
                </a:ext>
              </a:extLst>
            </p:cNvPr>
            <p:cNvSpPr txBox="1"/>
            <p:nvPr/>
          </p:nvSpPr>
          <p:spPr>
            <a:xfrm>
              <a:off x="2212632" y="1991841"/>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0" name="TextBox 79">
              <a:extLst>
                <a:ext uri="{FF2B5EF4-FFF2-40B4-BE49-F238E27FC236}">
                  <a16:creationId xmlns:a16="http://schemas.microsoft.com/office/drawing/2014/main" id="{CE764032-847F-60B3-3F90-98F5DFDD8555}"/>
                </a:ext>
              </a:extLst>
            </p:cNvPr>
            <p:cNvSpPr txBox="1"/>
            <p:nvPr/>
          </p:nvSpPr>
          <p:spPr>
            <a:xfrm>
              <a:off x="2207171" y="228072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1" name="TextBox 80">
              <a:extLst>
                <a:ext uri="{FF2B5EF4-FFF2-40B4-BE49-F238E27FC236}">
                  <a16:creationId xmlns:a16="http://schemas.microsoft.com/office/drawing/2014/main" id="{02059E8C-0320-A828-BF47-4CAD7779277B}"/>
                </a:ext>
              </a:extLst>
            </p:cNvPr>
            <p:cNvSpPr txBox="1"/>
            <p:nvPr/>
          </p:nvSpPr>
          <p:spPr>
            <a:xfrm>
              <a:off x="2207171" y="2564517"/>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2" name="TextBox 81">
              <a:extLst>
                <a:ext uri="{FF2B5EF4-FFF2-40B4-BE49-F238E27FC236}">
                  <a16:creationId xmlns:a16="http://schemas.microsoft.com/office/drawing/2014/main" id="{82AD2074-3EAD-5A1A-9DE8-B5520815FC83}"/>
                </a:ext>
              </a:extLst>
            </p:cNvPr>
            <p:cNvSpPr txBox="1"/>
            <p:nvPr/>
          </p:nvSpPr>
          <p:spPr>
            <a:xfrm>
              <a:off x="2207171" y="2858880"/>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5</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3" name="TextBox 82">
              <a:extLst>
                <a:ext uri="{FF2B5EF4-FFF2-40B4-BE49-F238E27FC236}">
                  <a16:creationId xmlns:a16="http://schemas.microsoft.com/office/drawing/2014/main" id="{9C852FBD-27C3-9A2F-569B-C7BBE5939F08}"/>
                </a:ext>
              </a:extLst>
            </p:cNvPr>
            <p:cNvSpPr txBox="1"/>
            <p:nvPr/>
          </p:nvSpPr>
          <p:spPr>
            <a:xfrm>
              <a:off x="4343266" y="1991841"/>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17</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5" name="TextBox 84">
              <a:extLst>
                <a:ext uri="{FF2B5EF4-FFF2-40B4-BE49-F238E27FC236}">
                  <a16:creationId xmlns:a16="http://schemas.microsoft.com/office/drawing/2014/main" id="{860FC2FA-762C-1F87-32D3-3A94DD0BF6E8}"/>
                </a:ext>
              </a:extLst>
            </p:cNvPr>
            <p:cNvSpPr txBox="1"/>
            <p:nvPr/>
          </p:nvSpPr>
          <p:spPr>
            <a:xfrm>
              <a:off x="4343266" y="2286173"/>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16</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6" name="TextBox 85">
              <a:extLst>
                <a:ext uri="{FF2B5EF4-FFF2-40B4-BE49-F238E27FC236}">
                  <a16:creationId xmlns:a16="http://schemas.microsoft.com/office/drawing/2014/main" id="{F78BB64B-D32D-2ED6-4564-962FE1030A22}"/>
                </a:ext>
              </a:extLst>
            </p:cNvPr>
            <p:cNvSpPr txBox="1"/>
            <p:nvPr/>
          </p:nvSpPr>
          <p:spPr>
            <a:xfrm>
              <a:off x="4343266" y="2564394"/>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15</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7" name="TextBox 86">
              <a:extLst>
                <a:ext uri="{FF2B5EF4-FFF2-40B4-BE49-F238E27FC236}">
                  <a16:creationId xmlns:a16="http://schemas.microsoft.com/office/drawing/2014/main" id="{5F141AA0-E529-C2FF-53F7-0A977948EDA2}"/>
                </a:ext>
              </a:extLst>
            </p:cNvPr>
            <p:cNvSpPr txBox="1"/>
            <p:nvPr/>
          </p:nvSpPr>
          <p:spPr>
            <a:xfrm>
              <a:off x="4343266" y="2858880"/>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spTree>
    <p:extLst>
      <p:ext uri="{BB962C8B-B14F-4D97-AF65-F5344CB8AC3E}">
        <p14:creationId xmlns:p14="http://schemas.microsoft.com/office/powerpoint/2010/main" val="1040848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CFAEEDD-4730-DFE8-E717-C1E7AA1F092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C7B47E05-986F-3DA1-318D-07E6AC8BE4BE}"/>
              </a:ext>
            </a:extLst>
          </p:cNvPr>
          <p:cNvGraphicFramePr>
            <a:graphicFrameLocks noGrp="1"/>
          </p:cNvGraphicFramePr>
          <p:nvPr>
            <p:extLst>
              <p:ext uri="{D42A27DB-BD31-4B8C-83A1-F6EECF244321}">
                <p14:modId xmlns:p14="http://schemas.microsoft.com/office/powerpoint/2010/main" val="2750372326"/>
              </p:ext>
            </p:extLst>
          </p:nvPr>
        </p:nvGraphicFramePr>
        <p:xfrm>
          <a:off x="404814" y="1276542"/>
          <a:ext cx="6048623" cy="2971811"/>
        </p:xfrm>
        <a:graphic>
          <a:graphicData uri="http://schemas.openxmlformats.org/drawingml/2006/table">
            <a:tbl>
              <a:tblPr>
                <a:tableStyleId>{5C22544A-7EE6-4342-B048-85BDC9FD1C3A}</a:tableStyleId>
              </a:tblPr>
              <a:tblGrid>
                <a:gridCol w="767909">
                  <a:extLst>
                    <a:ext uri="{9D8B030D-6E8A-4147-A177-3AD203B41FA5}">
                      <a16:colId xmlns:a16="http://schemas.microsoft.com/office/drawing/2014/main" val="1199541810"/>
                    </a:ext>
                  </a:extLst>
                </a:gridCol>
                <a:gridCol w="552817">
                  <a:extLst>
                    <a:ext uri="{9D8B030D-6E8A-4147-A177-3AD203B41FA5}">
                      <a16:colId xmlns:a16="http://schemas.microsoft.com/office/drawing/2014/main" val="2771136683"/>
                    </a:ext>
                  </a:extLst>
                </a:gridCol>
                <a:gridCol w="521227">
                  <a:extLst>
                    <a:ext uri="{9D8B030D-6E8A-4147-A177-3AD203B41FA5}">
                      <a16:colId xmlns:a16="http://schemas.microsoft.com/office/drawing/2014/main" val="112759525"/>
                    </a:ext>
                  </a:extLst>
                </a:gridCol>
                <a:gridCol w="923812">
                  <a:extLst>
                    <a:ext uri="{9D8B030D-6E8A-4147-A177-3AD203B41FA5}">
                      <a16:colId xmlns:a16="http://schemas.microsoft.com/office/drawing/2014/main" val="3900317923"/>
                    </a:ext>
                  </a:extLst>
                </a:gridCol>
                <a:gridCol w="1787697">
                  <a:extLst>
                    <a:ext uri="{9D8B030D-6E8A-4147-A177-3AD203B41FA5}">
                      <a16:colId xmlns:a16="http://schemas.microsoft.com/office/drawing/2014/main" val="3382103366"/>
                    </a:ext>
                  </a:extLst>
                </a:gridCol>
                <a:gridCol w="1495161">
                  <a:extLst>
                    <a:ext uri="{9D8B030D-6E8A-4147-A177-3AD203B41FA5}">
                      <a16:colId xmlns:a16="http://schemas.microsoft.com/office/drawing/2014/main" val="915546717"/>
                    </a:ext>
                  </a:extLst>
                </a:gridCol>
              </a:tblGrid>
              <a:tr h="329621">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42273324"/>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Test pin</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353795"/>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066672"/>
                  </a:ext>
                </a:extLst>
              </a:tr>
              <a:tr h="264219">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O6</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19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Sink 6</a:t>
                      </a:r>
                      <a:endParaRPr lang="ko-K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0384047"/>
                  </a:ext>
                </a:extLst>
              </a:tr>
              <a:tr h="264219">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O5</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20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Sink 5</a:t>
                      </a:r>
                      <a:endParaRPr lang="ko-K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4257892"/>
                  </a:ext>
                </a:extLst>
              </a:tr>
              <a:tr h="264219">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O4</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21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Sink 4</a:t>
                      </a:r>
                      <a:endParaRPr lang="ko-K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6803458"/>
                  </a:ext>
                </a:extLst>
              </a:tr>
              <a:tr h="264219">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O3</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22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Sink 3</a:t>
                      </a:r>
                      <a:endParaRPr lang="ko-K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7433265"/>
                  </a:ext>
                </a:extLst>
              </a:tr>
              <a:tr h="264219">
                <a:tc>
                  <a:txBody>
                    <a:bodyPr/>
                    <a:lstStyle/>
                    <a:p>
                      <a:pPr algn="ctr" fontAlgn="ctr"/>
                      <a:r>
                        <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O2</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23</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Sink 2</a:t>
                      </a:r>
                      <a:endParaRPr lang="ko-K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44291"/>
                  </a:ext>
                </a:extLst>
              </a:tr>
              <a:tr h="264219">
                <a:tc>
                  <a:txBody>
                    <a:bodyPr/>
                    <a:lstStyle/>
                    <a:p>
                      <a:pPr algn="ctr" fontAlgn="ctr"/>
                      <a:r>
                        <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O1</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24</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Sink 1</a:t>
                      </a:r>
                      <a:endParaRPr lang="ko-K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2793209"/>
                  </a:ext>
                </a:extLst>
              </a:tr>
            </a:tbl>
          </a:graphicData>
        </a:graphic>
      </p:graphicFrame>
      <p:sp>
        <p:nvSpPr>
          <p:cNvPr id="5" name="TextBox 4">
            <a:extLst>
              <a:ext uri="{FF2B5EF4-FFF2-40B4-BE49-F238E27FC236}">
                <a16:creationId xmlns:a16="http://schemas.microsoft.com/office/drawing/2014/main" id="{C7B7094A-6A33-B023-7C26-494F8CD0256F}"/>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sp>
        <p:nvSpPr>
          <p:cNvPr id="15" name="object 11">
            <a:extLst>
              <a:ext uri="{FF2B5EF4-FFF2-40B4-BE49-F238E27FC236}">
                <a16:creationId xmlns:a16="http://schemas.microsoft.com/office/drawing/2014/main" id="{77924AB2-D427-3E11-9D10-6C2E350D7DF3}"/>
              </a:ext>
            </a:extLst>
          </p:cNvPr>
          <p:cNvSpPr txBox="1"/>
          <p:nvPr/>
        </p:nvSpPr>
        <p:spPr>
          <a:xfrm>
            <a:off x="2732912" y="4453995"/>
            <a:ext cx="1392176"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1</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Pin Description </a:t>
            </a:r>
            <a:endParaRPr kumimoji="0" sz="900" dirty="0">
              <a:solidFill>
                <a:prstClr val="black"/>
              </a:solidFill>
              <a:latin typeface="Arial" panose="020B0604020202020204" pitchFamily="34" charset="0"/>
              <a:ea typeface="+mn-ea"/>
              <a:cs typeface="Arial" panose="020B0604020202020204" pitchFamily="34" charset="0"/>
            </a:endParaRPr>
          </a:p>
        </p:txBody>
      </p:sp>
      <p:sp>
        <p:nvSpPr>
          <p:cNvPr id="18" name="TextBox 17">
            <a:extLst>
              <a:ext uri="{FF2B5EF4-FFF2-40B4-BE49-F238E27FC236}">
                <a16:creationId xmlns:a16="http://schemas.microsoft.com/office/drawing/2014/main" id="{4AE1DB68-DC7C-30B9-83A3-6628F8AC04B5}"/>
              </a:ext>
            </a:extLst>
          </p:cNvPr>
          <p:cNvSpPr txBox="1"/>
          <p:nvPr/>
        </p:nvSpPr>
        <p:spPr>
          <a:xfrm>
            <a:off x="404812" y="5668664"/>
            <a:ext cx="6048623"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graphicFrame>
        <p:nvGraphicFramePr>
          <p:cNvPr id="33" name="표 32">
            <a:extLst>
              <a:ext uri="{FF2B5EF4-FFF2-40B4-BE49-F238E27FC236}">
                <a16:creationId xmlns:a16="http://schemas.microsoft.com/office/drawing/2014/main" id="{4EFE9879-BEAF-4A4B-A230-E7915D1742CC}"/>
              </a:ext>
            </a:extLst>
          </p:cNvPr>
          <p:cNvGraphicFramePr>
            <a:graphicFrameLocks noGrp="1"/>
          </p:cNvGraphicFramePr>
          <p:nvPr>
            <p:extLst>
              <p:ext uri="{D42A27DB-BD31-4B8C-83A1-F6EECF244321}">
                <p14:modId xmlns:p14="http://schemas.microsoft.com/office/powerpoint/2010/main" val="368817279"/>
              </p:ext>
            </p:extLst>
          </p:nvPr>
        </p:nvGraphicFramePr>
        <p:xfrm>
          <a:off x="404812" y="6098728"/>
          <a:ext cx="6048623" cy="2454219"/>
        </p:xfrm>
        <a:graphic>
          <a:graphicData uri="http://schemas.openxmlformats.org/drawingml/2006/table">
            <a:tbl>
              <a:tblPr>
                <a:tableStyleId>{5C22544A-7EE6-4342-B048-85BDC9FD1C3A}</a:tableStyleId>
              </a:tblPr>
              <a:tblGrid>
                <a:gridCol w="748211">
                  <a:extLst>
                    <a:ext uri="{9D8B030D-6E8A-4147-A177-3AD203B41FA5}">
                      <a16:colId xmlns:a16="http://schemas.microsoft.com/office/drawing/2014/main" val="1199541810"/>
                    </a:ext>
                  </a:extLst>
                </a:gridCol>
                <a:gridCol w="558227">
                  <a:extLst>
                    <a:ext uri="{9D8B030D-6E8A-4147-A177-3AD203B41FA5}">
                      <a16:colId xmlns:a16="http://schemas.microsoft.com/office/drawing/2014/main" val="112759525"/>
                    </a:ext>
                  </a:extLst>
                </a:gridCol>
                <a:gridCol w="3236381">
                  <a:extLst>
                    <a:ext uri="{9D8B030D-6E8A-4147-A177-3AD203B41FA5}">
                      <a16:colId xmlns:a16="http://schemas.microsoft.com/office/drawing/2014/main" val="3900317923"/>
                    </a:ext>
                  </a:extLst>
                </a:gridCol>
                <a:gridCol w="1505804">
                  <a:extLst>
                    <a:ext uri="{9D8B030D-6E8A-4147-A177-3AD203B41FA5}">
                      <a16:colId xmlns:a16="http://schemas.microsoft.com/office/drawing/2014/main" val="3382103366"/>
                    </a:ext>
                  </a:extLst>
                </a:gridCol>
              </a:tblGrid>
              <a:tr h="346347">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03271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107515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bl>
          </a:graphicData>
        </a:graphic>
      </p:graphicFrame>
      <p:grpSp>
        <p:nvGrpSpPr>
          <p:cNvPr id="34" name="그룹 33">
            <a:extLst>
              <a:ext uri="{FF2B5EF4-FFF2-40B4-BE49-F238E27FC236}">
                <a16:creationId xmlns:a16="http://schemas.microsoft.com/office/drawing/2014/main" id="{3E2A5793-F414-E400-C253-67015BEC55E3}"/>
              </a:ext>
            </a:extLst>
          </p:cNvPr>
          <p:cNvGrpSpPr/>
          <p:nvPr/>
        </p:nvGrpSpPr>
        <p:grpSpPr>
          <a:xfrm>
            <a:off x="2794443" y="6553702"/>
            <a:ext cx="1026319" cy="836432"/>
            <a:chOff x="2838451" y="6667968"/>
            <a:chExt cx="1026319" cy="836432"/>
          </a:xfrm>
        </p:grpSpPr>
        <p:pic>
          <p:nvPicPr>
            <p:cNvPr id="35" name="그림 34">
              <a:extLst>
                <a:ext uri="{FF2B5EF4-FFF2-40B4-BE49-F238E27FC236}">
                  <a16:creationId xmlns:a16="http://schemas.microsoft.com/office/drawing/2014/main" id="{0C4DBECA-587E-8106-D972-7E714696ADF2}"/>
                </a:ext>
              </a:extLst>
            </p:cNvPr>
            <p:cNvPicPr>
              <a:picLocks noChangeAspect="1"/>
            </p:cNvPicPr>
            <p:nvPr/>
          </p:nvPicPr>
          <p:blipFill>
            <a:blip r:embed="rId2"/>
            <a:stretch>
              <a:fillRect/>
            </a:stretch>
          </p:blipFill>
          <p:spPr>
            <a:xfrm>
              <a:off x="3495285" y="7019209"/>
              <a:ext cx="176479" cy="400184"/>
            </a:xfrm>
            <a:prstGeom prst="rect">
              <a:avLst/>
            </a:prstGeom>
            <a:ln>
              <a:noFill/>
            </a:ln>
          </p:spPr>
        </p:pic>
        <p:sp>
          <p:nvSpPr>
            <p:cNvPr id="36" name="타원 35">
              <a:extLst>
                <a:ext uri="{FF2B5EF4-FFF2-40B4-BE49-F238E27FC236}">
                  <a16:creationId xmlns:a16="http://schemas.microsoft.com/office/drawing/2014/main" id="{E641740A-185A-A95A-337D-425C99750A71}"/>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7" name="직사각형 36">
              <a:extLst>
                <a:ext uri="{FF2B5EF4-FFF2-40B4-BE49-F238E27FC236}">
                  <a16:creationId xmlns:a16="http://schemas.microsoft.com/office/drawing/2014/main" id="{9D50A1A6-A5D1-CD49-12F8-9F5A53176F6F}"/>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38" name="연결선: 꺾임 37">
              <a:extLst>
                <a:ext uri="{FF2B5EF4-FFF2-40B4-BE49-F238E27FC236}">
                  <a16:creationId xmlns:a16="http://schemas.microsoft.com/office/drawing/2014/main" id="{680A9B78-5B12-3063-AD96-507CC628BBDF}"/>
                </a:ext>
              </a:extLst>
            </p:cNvPr>
            <p:cNvCxnSpPr>
              <a:cxnSpLocks/>
              <a:endCxn id="36"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9" name="직선 연결선 38">
              <a:extLst>
                <a:ext uri="{FF2B5EF4-FFF2-40B4-BE49-F238E27FC236}">
                  <a16:creationId xmlns:a16="http://schemas.microsoft.com/office/drawing/2014/main" id="{1CB796CF-64AC-99FE-7C60-76B8C190D919}"/>
                </a:ext>
              </a:extLst>
            </p:cNvPr>
            <p:cNvCxnSpPr>
              <a:cxnSpLocks/>
              <a:endCxn id="37"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40" name="이등변 삼각형 39">
              <a:extLst>
                <a:ext uri="{FF2B5EF4-FFF2-40B4-BE49-F238E27FC236}">
                  <a16:creationId xmlns:a16="http://schemas.microsoft.com/office/drawing/2014/main" id="{B25A69D2-2EE9-7399-9946-1E24DBA77054}"/>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41" name="연결선: 꺾임 40">
              <a:extLst>
                <a:ext uri="{FF2B5EF4-FFF2-40B4-BE49-F238E27FC236}">
                  <a16:creationId xmlns:a16="http://schemas.microsoft.com/office/drawing/2014/main" id="{02688D9F-181C-E23F-88CB-5E76D1E02977}"/>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42" name="이등변 삼각형 41">
              <a:extLst>
                <a:ext uri="{FF2B5EF4-FFF2-40B4-BE49-F238E27FC236}">
                  <a16:creationId xmlns:a16="http://schemas.microsoft.com/office/drawing/2014/main" id="{25B49EEF-4F90-A551-4C97-5BB30D70AAB1}"/>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43" name="직선 연결선 42">
              <a:extLst>
                <a:ext uri="{FF2B5EF4-FFF2-40B4-BE49-F238E27FC236}">
                  <a16:creationId xmlns:a16="http://schemas.microsoft.com/office/drawing/2014/main" id="{EF8DFF74-CC26-2106-D419-E7D91B841DBD}"/>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44" name="직선 연결선 43">
              <a:extLst>
                <a:ext uri="{FF2B5EF4-FFF2-40B4-BE49-F238E27FC236}">
                  <a16:creationId xmlns:a16="http://schemas.microsoft.com/office/drawing/2014/main" id="{BC7A1B47-AA5F-921C-2EC3-5F726A59645E}"/>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grpSp>
        <p:nvGrpSpPr>
          <p:cNvPr id="45" name="그룹 44">
            <a:extLst>
              <a:ext uri="{FF2B5EF4-FFF2-40B4-BE49-F238E27FC236}">
                <a16:creationId xmlns:a16="http://schemas.microsoft.com/office/drawing/2014/main" id="{C48B7183-5FB3-F49C-F2A6-E34520564AE1}"/>
              </a:ext>
            </a:extLst>
          </p:cNvPr>
          <p:cNvGrpSpPr/>
          <p:nvPr/>
        </p:nvGrpSpPr>
        <p:grpSpPr>
          <a:xfrm>
            <a:off x="2846114" y="7609619"/>
            <a:ext cx="1026319" cy="836432"/>
            <a:chOff x="2838451" y="6667968"/>
            <a:chExt cx="1026319" cy="836432"/>
          </a:xfrm>
        </p:grpSpPr>
        <p:pic>
          <p:nvPicPr>
            <p:cNvPr id="46" name="그림 45">
              <a:extLst>
                <a:ext uri="{FF2B5EF4-FFF2-40B4-BE49-F238E27FC236}">
                  <a16:creationId xmlns:a16="http://schemas.microsoft.com/office/drawing/2014/main" id="{19656803-4B62-41BF-91BE-D1C89903D7F9}"/>
                </a:ext>
              </a:extLst>
            </p:cNvPr>
            <p:cNvPicPr>
              <a:picLocks noChangeAspect="1"/>
            </p:cNvPicPr>
            <p:nvPr/>
          </p:nvPicPr>
          <p:blipFill>
            <a:blip r:embed="rId2"/>
            <a:stretch>
              <a:fillRect/>
            </a:stretch>
          </p:blipFill>
          <p:spPr>
            <a:xfrm>
              <a:off x="3495285" y="7019209"/>
              <a:ext cx="176479" cy="400184"/>
            </a:xfrm>
            <a:prstGeom prst="rect">
              <a:avLst/>
            </a:prstGeom>
            <a:ln>
              <a:noFill/>
            </a:ln>
          </p:spPr>
        </p:pic>
        <p:sp>
          <p:nvSpPr>
            <p:cNvPr id="47" name="타원 46">
              <a:extLst>
                <a:ext uri="{FF2B5EF4-FFF2-40B4-BE49-F238E27FC236}">
                  <a16:creationId xmlns:a16="http://schemas.microsoft.com/office/drawing/2014/main" id="{230033DF-E38D-4CB9-C4AD-977872FB9672}"/>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8" name="직사각형 47">
              <a:extLst>
                <a:ext uri="{FF2B5EF4-FFF2-40B4-BE49-F238E27FC236}">
                  <a16:creationId xmlns:a16="http://schemas.microsoft.com/office/drawing/2014/main" id="{C9504CFF-A9EA-42DC-0F0E-A34943B5028C}"/>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49" name="연결선: 꺾임 48">
              <a:extLst>
                <a:ext uri="{FF2B5EF4-FFF2-40B4-BE49-F238E27FC236}">
                  <a16:creationId xmlns:a16="http://schemas.microsoft.com/office/drawing/2014/main" id="{69D76A0F-D9A2-9370-8A16-7A6AD3A5CE7C}"/>
                </a:ext>
              </a:extLst>
            </p:cNvPr>
            <p:cNvCxnSpPr>
              <a:cxnSpLocks/>
              <a:endCxn id="47"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50" name="직선 연결선 49">
              <a:extLst>
                <a:ext uri="{FF2B5EF4-FFF2-40B4-BE49-F238E27FC236}">
                  <a16:creationId xmlns:a16="http://schemas.microsoft.com/office/drawing/2014/main" id="{4C44A390-3418-2C92-1DBD-D54CF6BA3A6A}"/>
                </a:ext>
              </a:extLst>
            </p:cNvPr>
            <p:cNvCxnSpPr>
              <a:cxnSpLocks/>
              <a:endCxn id="48"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51" name="이등변 삼각형 50">
              <a:extLst>
                <a:ext uri="{FF2B5EF4-FFF2-40B4-BE49-F238E27FC236}">
                  <a16:creationId xmlns:a16="http://schemas.microsoft.com/office/drawing/2014/main" id="{238892E4-BC4D-BCEC-7C2F-EB706AEDF11D}"/>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52" name="연결선: 꺾임 51">
              <a:extLst>
                <a:ext uri="{FF2B5EF4-FFF2-40B4-BE49-F238E27FC236}">
                  <a16:creationId xmlns:a16="http://schemas.microsoft.com/office/drawing/2014/main" id="{D3B86EBC-6142-4A5B-FA38-5B9A1F787CE6}"/>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53" name="이등변 삼각형 52">
              <a:extLst>
                <a:ext uri="{FF2B5EF4-FFF2-40B4-BE49-F238E27FC236}">
                  <a16:creationId xmlns:a16="http://schemas.microsoft.com/office/drawing/2014/main" id="{7155760E-AAAA-9E21-90D1-044D54BD619D}"/>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54" name="직선 연결선 53">
              <a:extLst>
                <a:ext uri="{FF2B5EF4-FFF2-40B4-BE49-F238E27FC236}">
                  <a16:creationId xmlns:a16="http://schemas.microsoft.com/office/drawing/2014/main" id="{6D5BA405-89AB-56D1-EE23-D1FEEA1F82A2}"/>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55" name="직선 연결선 54">
              <a:extLst>
                <a:ext uri="{FF2B5EF4-FFF2-40B4-BE49-F238E27FC236}">
                  <a16:creationId xmlns:a16="http://schemas.microsoft.com/office/drawing/2014/main" id="{CBCCD43F-DF85-6E33-7707-4D1861FBE3E5}"/>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664098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6F590-55FB-7BDF-C846-C8EB3EFD9069}"/>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36EF345C-8049-F1D7-B860-4C2175C8ECC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E11F6DD-1AF4-D115-8657-7872965735FF}"/>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0972CC83-802F-A2BC-0D24-27F85E48937F}"/>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sp>
        <p:nvSpPr>
          <p:cNvPr id="56" name="object 84">
            <a:extLst>
              <a:ext uri="{FF2B5EF4-FFF2-40B4-BE49-F238E27FC236}">
                <a16:creationId xmlns:a16="http://schemas.microsoft.com/office/drawing/2014/main" id="{8B42C531-7D53-9F18-723B-DD406542ACCB}"/>
              </a:ext>
            </a:extLst>
          </p:cNvPr>
          <p:cNvSpPr txBox="1"/>
          <p:nvPr/>
        </p:nvSpPr>
        <p:spPr>
          <a:xfrm>
            <a:off x="2107127" y="7902935"/>
            <a:ext cx="2678297"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4  Equivalent Circuits of individual pins</a:t>
            </a:r>
          </a:p>
        </p:txBody>
      </p:sp>
      <p:graphicFrame>
        <p:nvGraphicFramePr>
          <p:cNvPr id="6" name="표 5">
            <a:extLst>
              <a:ext uri="{FF2B5EF4-FFF2-40B4-BE49-F238E27FC236}">
                <a16:creationId xmlns:a16="http://schemas.microsoft.com/office/drawing/2014/main" id="{EFA5AB55-8A0E-8B10-2D1A-C360527AAD2C}"/>
              </a:ext>
            </a:extLst>
          </p:cNvPr>
          <p:cNvGraphicFramePr>
            <a:graphicFrameLocks noGrp="1"/>
          </p:cNvGraphicFramePr>
          <p:nvPr>
            <p:extLst>
              <p:ext uri="{D42A27DB-BD31-4B8C-83A1-F6EECF244321}">
                <p14:modId xmlns:p14="http://schemas.microsoft.com/office/powerpoint/2010/main" val="2800858750"/>
              </p:ext>
            </p:extLst>
          </p:nvPr>
        </p:nvGraphicFramePr>
        <p:xfrm>
          <a:off x="413544" y="1341152"/>
          <a:ext cx="6039891" cy="6307108"/>
        </p:xfrm>
        <a:graphic>
          <a:graphicData uri="http://schemas.openxmlformats.org/drawingml/2006/table">
            <a:tbl>
              <a:tblPr>
                <a:tableStyleId>{5C22544A-7EE6-4342-B048-85BDC9FD1C3A}</a:tableStyleId>
              </a:tblPr>
              <a:tblGrid>
                <a:gridCol w="814717">
                  <a:extLst>
                    <a:ext uri="{9D8B030D-6E8A-4147-A177-3AD203B41FA5}">
                      <a16:colId xmlns:a16="http://schemas.microsoft.com/office/drawing/2014/main" val="1199541810"/>
                    </a:ext>
                  </a:extLst>
                </a:gridCol>
                <a:gridCol w="550304">
                  <a:extLst>
                    <a:ext uri="{9D8B030D-6E8A-4147-A177-3AD203B41FA5}">
                      <a16:colId xmlns:a16="http://schemas.microsoft.com/office/drawing/2014/main" val="112759525"/>
                    </a:ext>
                  </a:extLst>
                </a:gridCol>
                <a:gridCol w="3190441">
                  <a:extLst>
                    <a:ext uri="{9D8B030D-6E8A-4147-A177-3AD203B41FA5}">
                      <a16:colId xmlns:a16="http://schemas.microsoft.com/office/drawing/2014/main" val="3900317923"/>
                    </a:ext>
                  </a:extLst>
                </a:gridCol>
                <a:gridCol w="1484429">
                  <a:extLst>
                    <a:ext uri="{9D8B030D-6E8A-4147-A177-3AD203B41FA5}">
                      <a16:colId xmlns:a16="http://schemas.microsoft.com/office/drawing/2014/main" val="3382103366"/>
                    </a:ext>
                  </a:extLst>
                </a:gridCol>
              </a:tblGrid>
              <a:tr h="359474">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127274">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O1 ~ O12</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VDD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VSS</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5912342"/>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SVI</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Schmit trigger</a:t>
                      </a:r>
                    </a:p>
                  </a:txBody>
                  <a:tcPr marL="36000"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7900053"/>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SVO</a:t>
                      </a: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TTL output</a:t>
                      </a:r>
                    </a:p>
                  </a:txBody>
                  <a:tcPr marL="36000"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9342348"/>
                  </a:ext>
                </a:extLst>
              </a:tr>
            </a:tbl>
          </a:graphicData>
        </a:graphic>
      </p:graphicFrame>
      <p:pic>
        <p:nvPicPr>
          <p:cNvPr id="7" name="그림 6">
            <a:extLst>
              <a:ext uri="{FF2B5EF4-FFF2-40B4-BE49-F238E27FC236}">
                <a16:creationId xmlns:a16="http://schemas.microsoft.com/office/drawing/2014/main" id="{504D4D48-3769-6918-0FBE-6AF63E3D6618}"/>
              </a:ext>
            </a:extLst>
          </p:cNvPr>
          <p:cNvPicPr>
            <a:picLocks noChangeAspect="1"/>
          </p:cNvPicPr>
          <p:nvPr/>
        </p:nvPicPr>
        <p:blipFill>
          <a:blip r:embed="rId2"/>
          <a:stretch>
            <a:fillRect/>
          </a:stretch>
        </p:blipFill>
        <p:spPr>
          <a:xfrm>
            <a:off x="2721895" y="1846437"/>
            <a:ext cx="1123747" cy="765191"/>
          </a:xfrm>
          <a:prstGeom prst="rect">
            <a:avLst/>
          </a:prstGeom>
        </p:spPr>
      </p:pic>
      <p:grpSp>
        <p:nvGrpSpPr>
          <p:cNvPr id="8" name="그룹 7">
            <a:extLst>
              <a:ext uri="{FF2B5EF4-FFF2-40B4-BE49-F238E27FC236}">
                <a16:creationId xmlns:a16="http://schemas.microsoft.com/office/drawing/2014/main" id="{EE2D0AA2-DA3B-A03E-77A2-F8A829774B3B}"/>
              </a:ext>
            </a:extLst>
          </p:cNvPr>
          <p:cNvGrpSpPr/>
          <p:nvPr/>
        </p:nvGrpSpPr>
        <p:grpSpPr>
          <a:xfrm>
            <a:off x="2807104" y="4142420"/>
            <a:ext cx="1038538" cy="974255"/>
            <a:chOff x="2687819" y="3003631"/>
            <a:chExt cx="1094210" cy="1114062"/>
          </a:xfrm>
        </p:grpSpPr>
        <p:pic>
          <p:nvPicPr>
            <p:cNvPr id="9" name="그림 8">
              <a:extLst>
                <a:ext uri="{FF2B5EF4-FFF2-40B4-BE49-F238E27FC236}">
                  <a16:creationId xmlns:a16="http://schemas.microsoft.com/office/drawing/2014/main" id="{BA50303A-E42E-2986-0A8E-66B757F213F3}"/>
                </a:ext>
              </a:extLst>
            </p:cNvPr>
            <p:cNvPicPr>
              <a:picLocks noChangeAspect="1"/>
            </p:cNvPicPr>
            <p:nvPr/>
          </p:nvPicPr>
          <p:blipFill>
            <a:blip r:embed="rId3"/>
            <a:stretch>
              <a:fillRect/>
            </a:stretch>
          </p:blipFill>
          <p:spPr>
            <a:xfrm>
              <a:off x="2687819" y="3036852"/>
              <a:ext cx="1094210" cy="1080841"/>
            </a:xfrm>
            <a:prstGeom prst="rect">
              <a:avLst/>
            </a:prstGeom>
          </p:spPr>
        </p:pic>
        <p:sp>
          <p:nvSpPr>
            <p:cNvPr id="10" name="TextBox 152">
              <a:extLst>
                <a:ext uri="{FF2B5EF4-FFF2-40B4-BE49-F238E27FC236}">
                  <a16:creationId xmlns:a16="http://schemas.microsoft.com/office/drawing/2014/main" id="{9A16C6AB-7F7F-70F2-DA19-C713C876ACEB}"/>
                </a:ext>
              </a:extLst>
            </p:cNvPr>
            <p:cNvSpPr txBox="1"/>
            <p:nvPr/>
          </p:nvSpPr>
          <p:spPr>
            <a:xfrm>
              <a:off x="3004471" y="3003631"/>
              <a:ext cx="297480" cy="140348"/>
            </a:xfrm>
            <a:prstGeom prst="rect">
              <a:avLst/>
            </a:prstGeom>
            <a:solidFill>
              <a:schemeClr val="bg1"/>
            </a:solidFill>
          </p:spPr>
          <p:txBody>
            <a:bodyPr wrap="square" lIns="0" tIns="0" rIns="0" bIns="0" rtlCol="0" anchor="ctr" anchorCtr="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700" dirty="0">
                  <a:latin typeface="+mn-ea"/>
                </a:rPr>
                <a:t>V</a:t>
              </a:r>
              <a:r>
                <a:rPr lang="en-US" altLang="ko-KR" sz="700" baseline="-25000" dirty="0">
                  <a:latin typeface="+mn-ea"/>
                </a:rPr>
                <a:t>DD</a:t>
              </a:r>
              <a:endParaRPr lang="ko-KR" altLang="en-US" sz="700" baseline="-25000" dirty="0">
                <a:latin typeface="+mn-ea"/>
              </a:endParaRPr>
            </a:p>
          </p:txBody>
        </p:sp>
      </p:grpSp>
      <p:pic>
        <p:nvPicPr>
          <p:cNvPr id="12" name="그림 11">
            <a:extLst>
              <a:ext uri="{FF2B5EF4-FFF2-40B4-BE49-F238E27FC236}">
                <a16:creationId xmlns:a16="http://schemas.microsoft.com/office/drawing/2014/main" id="{55720A19-8E90-ED5C-C78A-5D857AFFCF14}"/>
              </a:ext>
            </a:extLst>
          </p:cNvPr>
          <p:cNvPicPr>
            <a:picLocks noChangeAspect="1"/>
          </p:cNvPicPr>
          <p:nvPr/>
        </p:nvPicPr>
        <p:blipFill>
          <a:blip r:embed="rId2"/>
          <a:stretch>
            <a:fillRect/>
          </a:stretch>
        </p:blipFill>
        <p:spPr>
          <a:xfrm>
            <a:off x="2691104" y="2996114"/>
            <a:ext cx="1185328" cy="772701"/>
          </a:xfrm>
          <a:prstGeom prst="rect">
            <a:avLst/>
          </a:prstGeom>
        </p:spPr>
      </p:pic>
      <p:pic>
        <p:nvPicPr>
          <p:cNvPr id="13" name="그림 12">
            <a:extLst>
              <a:ext uri="{FF2B5EF4-FFF2-40B4-BE49-F238E27FC236}">
                <a16:creationId xmlns:a16="http://schemas.microsoft.com/office/drawing/2014/main" id="{D59D645D-95DD-ADD2-E29A-2768FC116974}"/>
              </a:ext>
            </a:extLst>
          </p:cNvPr>
          <p:cNvPicPr>
            <a:picLocks noChangeAspect="1"/>
          </p:cNvPicPr>
          <p:nvPr/>
        </p:nvPicPr>
        <p:blipFill>
          <a:blip r:embed="rId4"/>
          <a:stretch>
            <a:fillRect/>
          </a:stretch>
        </p:blipFill>
        <p:spPr>
          <a:xfrm>
            <a:off x="2657024" y="6836059"/>
            <a:ext cx="1433930" cy="495840"/>
          </a:xfrm>
          <a:prstGeom prst="rect">
            <a:avLst/>
          </a:prstGeom>
        </p:spPr>
      </p:pic>
      <p:pic>
        <p:nvPicPr>
          <p:cNvPr id="14" name="그림 13">
            <a:extLst>
              <a:ext uri="{FF2B5EF4-FFF2-40B4-BE49-F238E27FC236}">
                <a16:creationId xmlns:a16="http://schemas.microsoft.com/office/drawing/2014/main" id="{9F8D1954-1866-F30D-12A0-7AB11C7552B3}"/>
              </a:ext>
            </a:extLst>
          </p:cNvPr>
          <p:cNvPicPr>
            <a:picLocks noChangeAspect="1"/>
          </p:cNvPicPr>
          <p:nvPr/>
        </p:nvPicPr>
        <p:blipFill>
          <a:blip r:embed="rId5"/>
          <a:stretch>
            <a:fillRect/>
          </a:stretch>
        </p:blipFill>
        <p:spPr>
          <a:xfrm>
            <a:off x="2667800" y="5579533"/>
            <a:ext cx="1423153" cy="542326"/>
          </a:xfrm>
          <a:prstGeom prst="rect">
            <a:avLst/>
          </a:prstGeom>
        </p:spPr>
      </p:pic>
    </p:spTree>
    <p:extLst>
      <p:ext uri="{BB962C8B-B14F-4D97-AF65-F5344CB8AC3E}">
        <p14:creationId xmlns:p14="http://schemas.microsoft.com/office/powerpoint/2010/main" val="1723755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214AA83-7B99-5FBF-03E1-15B4E303CF9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5AF7302F-F44A-3C3A-122C-5C4368B3EAA1}"/>
              </a:ext>
            </a:extLst>
          </p:cNvPr>
          <p:cNvSpPr txBox="1"/>
          <p:nvPr/>
        </p:nvSpPr>
        <p:spPr>
          <a:xfrm>
            <a:off x="400853" y="77486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Maximum Absolute ratings </a:t>
            </a:r>
            <a:r>
              <a:rPr lang="en-US" altLang="ko-KR" sz="900" dirty="0">
                <a:latin typeface="Arial" panose="020B0604020202020204" pitchFamily="34" charset="0"/>
                <a:cs typeface="Arial" panose="020B0604020202020204" pitchFamily="34" charset="0"/>
              </a:rPr>
              <a:t>(Ta = 25℃ unless otherwise noted)</a:t>
            </a:r>
            <a:endParaRPr lang="ko-KR" altLang="en-US" sz="1200" dirty="0">
              <a:latin typeface="Arial" panose="020B0604020202020204" pitchFamily="34" charset="0"/>
              <a:cs typeface="Arial" panose="020B0604020202020204" pitchFamily="34" charset="0"/>
            </a:endParaRPr>
          </a:p>
        </p:txBody>
      </p:sp>
      <p:graphicFrame>
        <p:nvGraphicFramePr>
          <p:cNvPr id="9" name="표 8">
            <a:extLst>
              <a:ext uri="{FF2B5EF4-FFF2-40B4-BE49-F238E27FC236}">
                <a16:creationId xmlns:a16="http://schemas.microsoft.com/office/drawing/2014/main" id="{6E597E11-04F1-8CDA-FBCE-19270DE4E0BD}"/>
              </a:ext>
            </a:extLst>
          </p:cNvPr>
          <p:cNvGraphicFramePr>
            <a:graphicFrameLocks noGrp="1"/>
          </p:cNvGraphicFramePr>
          <p:nvPr>
            <p:extLst>
              <p:ext uri="{D42A27DB-BD31-4B8C-83A1-F6EECF244321}">
                <p14:modId xmlns:p14="http://schemas.microsoft.com/office/powerpoint/2010/main" val="1120552693"/>
              </p:ext>
            </p:extLst>
          </p:nvPr>
        </p:nvGraphicFramePr>
        <p:xfrm>
          <a:off x="400854" y="1151755"/>
          <a:ext cx="6048620" cy="4280034"/>
        </p:xfrm>
        <a:graphic>
          <a:graphicData uri="http://schemas.openxmlformats.org/drawingml/2006/table">
            <a:tbl>
              <a:tblPr>
                <a:tableStyleId>{5C22544A-7EE6-4342-B048-85BDC9FD1C3A}</a:tableStyleId>
              </a:tblPr>
              <a:tblGrid>
                <a:gridCol w="2430328">
                  <a:extLst>
                    <a:ext uri="{9D8B030D-6E8A-4147-A177-3AD203B41FA5}">
                      <a16:colId xmlns:a16="http://schemas.microsoft.com/office/drawing/2014/main" val="1199541810"/>
                    </a:ext>
                  </a:extLst>
                </a:gridCol>
                <a:gridCol w="935844">
                  <a:extLst>
                    <a:ext uri="{9D8B030D-6E8A-4147-A177-3AD203B41FA5}">
                      <a16:colId xmlns:a16="http://schemas.microsoft.com/office/drawing/2014/main" val="2771136683"/>
                    </a:ext>
                  </a:extLst>
                </a:gridCol>
                <a:gridCol w="2119972">
                  <a:extLst>
                    <a:ext uri="{9D8B030D-6E8A-4147-A177-3AD203B41FA5}">
                      <a16:colId xmlns:a16="http://schemas.microsoft.com/office/drawing/2014/main" val="112759525"/>
                    </a:ext>
                  </a:extLst>
                </a:gridCol>
                <a:gridCol w="562476">
                  <a:extLst>
                    <a:ext uri="{9D8B030D-6E8A-4147-A177-3AD203B41FA5}">
                      <a16:colId xmlns:a16="http://schemas.microsoft.com/office/drawing/2014/main" val="3900317923"/>
                    </a:ext>
                  </a:extLst>
                </a:gridCol>
              </a:tblGrid>
              <a:tr h="315612">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Parameter</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Symbol</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Value</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Supply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-0.3 ~ 6.0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83173">
                <a:tc>
                  <a:txBody>
                    <a:bodyPr/>
                    <a:lstStyle/>
                    <a:p>
                      <a:pPr algn="ctr" fontAlgn="ctr"/>
                      <a:r>
                        <a:rPr lang="it-IT"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Sink output pin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40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Sink output current</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40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3604288"/>
                  </a:ext>
                </a:extLst>
              </a:tr>
              <a:tr h="283173">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DDIO</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2768681"/>
                  </a:ext>
                </a:extLst>
              </a:tr>
              <a:tr h="283173">
                <a:tc>
                  <a:txBody>
                    <a:bodyPr/>
                    <a:lstStyle/>
                    <a:p>
                      <a:pPr marR="149860" algn="l">
                        <a:spcBef>
                          <a:spcPts val="115"/>
                        </a:spcBef>
                        <a:spcAft>
                          <a:spcPts val="0"/>
                        </a:spcAft>
                      </a:pPr>
                      <a:r>
                        <a:rPr lang="en-US" sz="900" dirty="0">
                          <a:solidFill>
                            <a:schemeClr val="tx1"/>
                          </a:solidFill>
                          <a:effectLst/>
                          <a:latin typeface="Arial" panose="020B0604020202020204" pitchFamily="34" charset="0"/>
                          <a:ea typeface="Arial" panose="020B0604020202020204" pitchFamily="34" charset="0"/>
                          <a:cs typeface="Arial" panose="020B0604020202020204" pitchFamily="34" charset="0"/>
                        </a:rPr>
                        <a:t> Thermal</a:t>
                      </a:r>
                      <a:r>
                        <a:rPr lang="en-US" sz="900" spc="-25" dirty="0">
                          <a:solidFill>
                            <a:schemeClr val="tx1"/>
                          </a:solidFill>
                          <a:effectLst/>
                          <a:latin typeface="Arial" panose="020B0604020202020204" pitchFamily="34" charset="0"/>
                          <a:ea typeface="Arial" panose="020B0604020202020204" pitchFamily="34" charset="0"/>
                          <a:cs typeface="Arial" panose="020B0604020202020204" pitchFamily="34" charset="0"/>
                        </a:rPr>
                        <a:t> </a:t>
                      </a:r>
                      <a:r>
                        <a:rPr lang="en-US" sz="900" dirty="0">
                          <a:solidFill>
                            <a:schemeClr val="tx1"/>
                          </a:solidFill>
                          <a:effectLst/>
                          <a:latin typeface="Arial" panose="020B0604020202020204" pitchFamily="34" charset="0"/>
                          <a:ea typeface="Arial" panose="020B0604020202020204" pitchFamily="34" charset="0"/>
                          <a:cs typeface="Arial" panose="020B0604020202020204" pitchFamily="34" charset="0"/>
                        </a:rPr>
                        <a:t>Resistance</a:t>
                      </a:r>
                      <a:endParaRPr 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endParaRPr>
                    </a:p>
                  </a:txBody>
                  <a:tcPr marL="0" marR="0" marT="0" marB="0" anchor="ctr">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6949784"/>
                  </a:ext>
                </a:extLst>
              </a:tr>
              <a:tr h="283173">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solidFill>
                            <a:schemeClr val="tx1"/>
                          </a:solidFill>
                          <a:effectLst/>
                          <a:latin typeface="Arial" panose="020B0604020202020204" pitchFamily="34" charset="0"/>
                          <a:ea typeface="Arial" panose="020B0604020202020204" pitchFamily="34" charset="0"/>
                          <a:cs typeface="Arial" panose="020B0604020202020204" pitchFamily="34" charset="0"/>
                        </a:rPr>
                        <a:t> </a:t>
                      </a:r>
                      <a:r>
                        <a:rPr lang="en-US"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solidFill>
                            <a:schemeClr val="tx1"/>
                          </a:solidFill>
                          <a:effectLst/>
                          <a:latin typeface="Arial" panose="020B0604020202020204" pitchFamily="34" charset="0"/>
                          <a:ea typeface="Arial" panose="020B0604020202020204" pitchFamily="34" charset="0"/>
                          <a:cs typeface="Arial" panose="020B0604020202020204" pitchFamily="34" charset="0"/>
                        </a:rPr>
                        <a:t> Ambient </a:t>
                      </a:r>
                      <a:endParaRPr lang="ko-KR"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endParaRPr>
                    </a:p>
                  </a:txBody>
                  <a:tcPr marL="0" marR="7200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JA</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68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9172846"/>
                  </a:ext>
                </a:extLst>
              </a:tr>
              <a:tr h="283173">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solidFill>
                            <a:schemeClr val="tx1"/>
                          </a:solidFill>
                          <a:effectLst/>
                          <a:latin typeface="Arial" panose="020B0604020202020204" pitchFamily="34" charset="0"/>
                          <a:ea typeface="Arial" panose="020B0604020202020204" pitchFamily="34" charset="0"/>
                          <a:cs typeface="Arial" panose="020B0604020202020204" pitchFamily="34" charset="0"/>
                        </a:rPr>
                        <a:t> </a:t>
                      </a:r>
                      <a:r>
                        <a:rPr lang="en-US"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solidFill>
                            <a:schemeClr val="tx1"/>
                          </a:solidFill>
                          <a:effectLst/>
                          <a:latin typeface="Arial" panose="020B0604020202020204" pitchFamily="34" charset="0"/>
                          <a:ea typeface="Arial" panose="020B0604020202020204" pitchFamily="34" charset="0"/>
                          <a:cs typeface="Arial" panose="020B0604020202020204" pitchFamily="34" charset="0"/>
                        </a:rPr>
                        <a:t> Case</a:t>
                      </a:r>
                      <a:endParaRPr lang="ko-KR"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endParaRPr>
                    </a:p>
                  </a:txBody>
                  <a:tcPr marL="9525" marR="72000"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JC</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4.0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27682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Power Dissipation on package</a:t>
                      </a:r>
                      <a:endPar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TOT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1.0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W</a:t>
                      </a: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785888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Ambient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A</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 ~ 85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3588514"/>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Junction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0151205"/>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Storage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STG</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-45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4738261"/>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Relative Humidity (non-condensing)</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RH</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NC</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5 ~ 85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349667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Moisture Sensitivity Level</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MSL</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Maximum Floor Life-time of 168 </a:t>
                      </a:r>
                      <a:r>
                        <a:rPr lang="en-US" sz="900" b="0" i="0" u="none" strike="noStrike" dirty="0" err="1">
                          <a:solidFill>
                            <a:schemeClr val="tx1"/>
                          </a:solidFill>
                          <a:effectLst/>
                          <a:latin typeface="Arial" panose="020B0604020202020204" pitchFamily="34" charset="0"/>
                          <a:ea typeface="굴림" panose="020B0600000101010101" pitchFamily="50" charset="-127"/>
                          <a:cs typeface="Arial" panose="020B0604020202020204" pitchFamily="34" charset="0"/>
                        </a:rPr>
                        <a:t>hr</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9059752"/>
                  </a:ext>
                </a:extLst>
              </a:tr>
            </a:tbl>
          </a:graphicData>
        </a:graphic>
      </p:graphicFrame>
      <p:sp>
        <p:nvSpPr>
          <p:cNvPr id="10" name="object 11">
            <a:extLst>
              <a:ext uri="{FF2B5EF4-FFF2-40B4-BE49-F238E27FC236}">
                <a16:creationId xmlns:a16="http://schemas.microsoft.com/office/drawing/2014/main" id="{7AEA9F8C-F9AD-FCB6-50DC-53194BA15D65}"/>
              </a:ext>
            </a:extLst>
          </p:cNvPr>
          <p:cNvSpPr txBox="1"/>
          <p:nvPr/>
        </p:nvSpPr>
        <p:spPr>
          <a:xfrm>
            <a:off x="2412906" y="5591974"/>
            <a:ext cx="2020553"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lang="en-US" sz="900" b="1" dirty="0">
                <a:solidFill>
                  <a:prstClr val="black"/>
                </a:solidFill>
                <a:latin typeface="Arial" panose="020B0604020202020204" pitchFamily="34" charset="0"/>
                <a:cs typeface="Arial" panose="020B0604020202020204" pitchFamily="34" charset="0"/>
              </a:rPr>
              <a:t>2</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Maximum Absolute ratings </a:t>
            </a:r>
            <a:endParaRPr kumimoji="0" sz="900" dirty="0">
              <a:solidFill>
                <a:prstClr val="black"/>
              </a:solidFill>
              <a:latin typeface="Arial" panose="020B0604020202020204" pitchFamily="34" charset="0"/>
              <a:ea typeface="+mn-ea"/>
              <a:cs typeface="Arial" panose="020B0604020202020204" pitchFamily="34" charset="0"/>
            </a:endParaRPr>
          </a:p>
        </p:txBody>
      </p:sp>
      <p:sp>
        <p:nvSpPr>
          <p:cNvPr id="13" name="object 16">
            <a:extLst>
              <a:ext uri="{FF2B5EF4-FFF2-40B4-BE49-F238E27FC236}">
                <a16:creationId xmlns:a16="http://schemas.microsoft.com/office/drawing/2014/main" id="{8A25BF6C-77CF-2FB8-BD4A-3EDEC2C7E7B6}"/>
              </a:ext>
            </a:extLst>
          </p:cNvPr>
          <p:cNvSpPr txBox="1"/>
          <p:nvPr/>
        </p:nvSpPr>
        <p:spPr>
          <a:xfrm>
            <a:off x="400853" y="5677355"/>
            <a:ext cx="6044661" cy="605294"/>
          </a:xfrm>
          <a:prstGeom prst="rect">
            <a:avLst/>
          </a:prstGeom>
        </p:spPr>
        <p:txBody>
          <a:bodyPr vert="horz" wrap="square" lIns="0" tIns="12700" rIns="0" bIns="0" rtlCol="0">
            <a:spAutoFit/>
          </a:bodyPr>
          <a:lstStyle/>
          <a:p>
            <a:pPr marL="38100">
              <a:spcBef>
                <a:spcPts val="100"/>
              </a:spcBef>
            </a:pPr>
            <a:r>
              <a:rPr lang="en-US" altLang="ko-KR" sz="900" dirty="0">
                <a:latin typeface="Arial" panose="020B0604020202020204" pitchFamily="34" charset="0"/>
                <a:cs typeface="Arial" panose="020B0604020202020204" pitchFamily="34" charset="0"/>
              </a:rPr>
              <a:t>Note :</a:t>
            </a:r>
          </a:p>
          <a:p>
            <a:pPr marL="38100">
              <a:spcBef>
                <a:spcPts val="100"/>
              </a:spcBef>
            </a:pPr>
            <a:r>
              <a:rPr lang="en-US" altLang="ko-KR" sz="900" dirty="0">
                <a:latin typeface="Arial" panose="020B0604020202020204" pitchFamily="34" charset="0"/>
                <a:cs typeface="Arial" panose="020B0604020202020204" pitchFamily="34" charset="0"/>
              </a:rPr>
              <a:t>  1) Surface mounted on FR-4 substrate PC Board 1” x 1” inch 2-oz copper plate, V</a:t>
            </a:r>
            <a:r>
              <a:rPr lang="en-US" altLang="ko-KR" sz="900" baseline="-25000" dirty="0">
                <a:latin typeface="Arial" panose="020B0604020202020204" pitchFamily="34" charset="0"/>
                <a:cs typeface="Arial" panose="020B0604020202020204" pitchFamily="34" charset="0"/>
              </a:rPr>
              <a:t>HD</a:t>
            </a:r>
            <a:r>
              <a:rPr lang="en-US" altLang="ko-KR" sz="900" dirty="0">
                <a:latin typeface="Arial" panose="020B0604020202020204" pitchFamily="34" charset="0"/>
                <a:cs typeface="Arial" panose="020B0604020202020204" pitchFamily="34" charset="0"/>
              </a:rPr>
              <a:t> = 2.0V I</a:t>
            </a:r>
            <a:r>
              <a:rPr lang="en-US" altLang="ko-KR" sz="900" baseline="-25000" dirty="0">
                <a:latin typeface="Arial" panose="020B0604020202020204" pitchFamily="34" charset="0"/>
                <a:cs typeface="Arial" panose="020B0604020202020204" pitchFamily="34" charset="0"/>
              </a:rPr>
              <a:t>OUT</a:t>
            </a:r>
            <a:r>
              <a:rPr lang="en-US" altLang="ko-KR" sz="900" dirty="0">
                <a:latin typeface="Arial" panose="020B0604020202020204" pitchFamily="34" charset="0"/>
                <a:cs typeface="Arial" panose="020B0604020202020204" pitchFamily="34" charset="0"/>
              </a:rPr>
              <a:t>= 40mA T</a:t>
            </a:r>
            <a:r>
              <a:rPr lang="en-US" altLang="ko-KR" sz="900" baseline="-25000" dirty="0">
                <a:latin typeface="Arial" panose="020B0604020202020204" pitchFamily="34" charset="0"/>
                <a:cs typeface="Arial" panose="020B0604020202020204" pitchFamily="34" charset="0"/>
              </a:rPr>
              <a:t>A </a:t>
            </a:r>
            <a:r>
              <a:rPr lang="en-US" altLang="ko-KR" sz="900" dirty="0">
                <a:latin typeface="Arial" panose="020B0604020202020204" pitchFamily="34" charset="0"/>
                <a:cs typeface="Arial" panose="020B0604020202020204" pitchFamily="34" charset="0"/>
              </a:rPr>
              <a:t>= 55</a:t>
            </a:r>
            <a:r>
              <a:rPr lang="en-US" altLang="ko-KR" sz="900" dirty="0">
                <a:latin typeface="맑은 고딕" panose="020B0503020000020004" pitchFamily="50" charset="-127"/>
                <a:ea typeface="맑은 고딕" panose="020B0503020000020004" pitchFamily="50" charset="-127"/>
                <a:cs typeface="Arial" panose="020B0604020202020204" pitchFamily="34" charset="0"/>
              </a:rPr>
              <a:t>℃</a:t>
            </a:r>
            <a:endParaRPr lang="en-US" altLang="ko-KR" sz="900" spc="-5" dirty="0">
              <a:latin typeface="Arial" panose="020B0604020202020204" pitchFamily="34" charset="0"/>
              <a:cs typeface="Arial" panose="020B0604020202020204" pitchFamily="34" charset="0"/>
            </a:endParaRPr>
          </a:p>
          <a:p>
            <a:pPr marL="38100">
              <a:lnSpc>
                <a:spcPct val="100000"/>
              </a:lnSpc>
              <a:spcBef>
                <a:spcPts val="100"/>
              </a:spcBef>
            </a:pPr>
            <a:r>
              <a:rPr lang="en-US" sz="900" dirty="0">
                <a:latin typeface="Arial" panose="020B0604020202020204" pitchFamily="34" charset="0"/>
                <a:cs typeface="Arial" panose="020B0604020202020204" pitchFamily="34" charset="0"/>
              </a:rPr>
              <a:t>  2) Stresses beyond the Maximum Absolute ratings may cause permanent damage to the device</a:t>
            </a:r>
          </a:p>
          <a:p>
            <a:pPr marL="38100">
              <a:spcBef>
                <a:spcPts val="100"/>
              </a:spcBef>
            </a:pPr>
            <a:r>
              <a:rPr lang="en-US" altLang="ko-KR" sz="900" dirty="0">
                <a:latin typeface="Arial" panose="020B0604020202020204" pitchFamily="34" charset="0"/>
                <a:cs typeface="Arial" panose="020B0604020202020204" pitchFamily="34" charset="0"/>
              </a:rPr>
              <a:t>  3) Exposure to absolute maximum rating conditions for extended periods may affect device reliability.</a:t>
            </a:r>
            <a:r>
              <a:rPr lang="en-US" sz="900" dirty="0">
                <a:latin typeface="Arial" panose="020B0604020202020204" pitchFamily="34" charset="0"/>
                <a:cs typeface="Arial" panose="020B0604020202020204" pitchFamily="34" charset="0"/>
              </a:rPr>
              <a:t> </a:t>
            </a:r>
          </a:p>
        </p:txBody>
      </p:sp>
      <p:sp>
        <p:nvSpPr>
          <p:cNvPr id="14" name="TextBox 13">
            <a:extLst>
              <a:ext uri="{FF2B5EF4-FFF2-40B4-BE49-F238E27FC236}">
                <a16:creationId xmlns:a16="http://schemas.microsoft.com/office/drawing/2014/main" id="{61CAC411-EEAF-E64C-A789-957E1DB29C4F}"/>
              </a:ext>
            </a:extLst>
          </p:cNvPr>
          <p:cNvSpPr txBox="1"/>
          <p:nvPr/>
        </p:nvSpPr>
        <p:spPr>
          <a:xfrm>
            <a:off x="400853" y="6950863"/>
            <a:ext cx="605258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ESD  Ratings</a:t>
            </a:r>
          </a:p>
        </p:txBody>
      </p:sp>
      <p:sp>
        <p:nvSpPr>
          <p:cNvPr id="15" name="object 11">
            <a:extLst>
              <a:ext uri="{FF2B5EF4-FFF2-40B4-BE49-F238E27FC236}">
                <a16:creationId xmlns:a16="http://schemas.microsoft.com/office/drawing/2014/main" id="{8E31E840-F6D7-E808-3C69-796607A20105}"/>
              </a:ext>
            </a:extLst>
          </p:cNvPr>
          <p:cNvSpPr txBox="1"/>
          <p:nvPr/>
        </p:nvSpPr>
        <p:spPr>
          <a:xfrm>
            <a:off x="2554451" y="8626005"/>
            <a:ext cx="1167756"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3</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ESD r</a:t>
            </a:r>
            <a:r>
              <a:rPr lang="en-US" sz="900" b="1" dirty="0">
                <a:solidFill>
                  <a:prstClr val="black"/>
                </a:solidFill>
                <a:latin typeface="Arial" panose="020B0604020202020204" pitchFamily="34" charset="0"/>
                <a:cs typeface="Arial" panose="020B0604020202020204" pitchFamily="34" charset="0"/>
              </a:rPr>
              <a:t>atings</a:t>
            </a:r>
            <a:endParaRPr kumimoji="0" lang="en-US" sz="900" b="1" dirty="0">
              <a:solidFill>
                <a:prstClr val="black"/>
              </a:solidFill>
              <a:latin typeface="Arial" panose="020B0604020202020204" pitchFamily="34" charset="0"/>
              <a:ea typeface="+mn-ea"/>
              <a:cs typeface="Arial" panose="020B0604020202020204" pitchFamily="34" charset="0"/>
            </a:endParaRPr>
          </a:p>
        </p:txBody>
      </p:sp>
      <p:graphicFrame>
        <p:nvGraphicFramePr>
          <p:cNvPr id="16" name="표 15">
            <a:extLst>
              <a:ext uri="{FF2B5EF4-FFF2-40B4-BE49-F238E27FC236}">
                <a16:creationId xmlns:a16="http://schemas.microsoft.com/office/drawing/2014/main" id="{71BA5143-5A54-5931-1C48-43A3288F61D5}"/>
              </a:ext>
            </a:extLst>
          </p:cNvPr>
          <p:cNvGraphicFramePr>
            <a:graphicFrameLocks noGrp="1"/>
          </p:cNvGraphicFramePr>
          <p:nvPr>
            <p:extLst>
              <p:ext uri="{D42A27DB-BD31-4B8C-83A1-F6EECF244321}">
                <p14:modId xmlns:p14="http://schemas.microsoft.com/office/powerpoint/2010/main" val="3076287646"/>
              </p:ext>
            </p:extLst>
          </p:nvPr>
        </p:nvGraphicFramePr>
        <p:xfrm>
          <a:off x="400853" y="7264937"/>
          <a:ext cx="6048621" cy="1122562"/>
        </p:xfrm>
        <a:graphic>
          <a:graphicData uri="http://schemas.openxmlformats.org/drawingml/2006/table">
            <a:tbl>
              <a:tblPr>
                <a:tableStyleId>{5C22544A-7EE6-4342-B048-85BDC9FD1C3A}</a:tableStyleId>
              </a:tblPr>
              <a:tblGrid>
                <a:gridCol w="2424503">
                  <a:extLst>
                    <a:ext uri="{9D8B030D-6E8A-4147-A177-3AD203B41FA5}">
                      <a16:colId xmlns:a16="http://schemas.microsoft.com/office/drawing/2014/main" val="1320303658"/>
                    </a:ext>
                  </a:extLst>
                </a:gridCol>
                <a:gridCol w="941668">
                  <a:extLst>
                    <a:ext uri="{9D8B030D-6E8A-4147-A177-3AD203B41FA5}">
                      <a16:colId xmlns:a16="http://schemas.microsoft.com/office/drawing/2014/main" val="1181630776"/>
                    </a:ext>
                  </a:extLst>
                </a:gridCol>
                <a:gridCol w="805877">
                  <a:extLst>
                    <a:ext uri="{9D8B030D-6E8A-4147-A177-3AD203B41FA5}">
                      <a16:colId xmlns:a16="http://schemas.microsoft.com/office/drawing/2014/main" val="3949318443"/>
                    </a:ext>
                  </a:extLst>
                </a:gridCol>
                <a:gridCol w="401076">
                  <a:extLst>
                    <a:ext uri="{9D8B030D-6E8A-4147-A177-3AD203B41FA5}">
                      <a16:colId xmlns:a16="http://schemas.microsoft.com/office/drawing/2014/main" val="3257084413"/>
                    </a:ext>
                  </a:extLst>
                </a:gridCol>
                <a:gridCol w="1475497">
                  <a:extLst>
                    <a:ext uri="{9D8B030D-6E8A-4147-A177-3AD203B41FA5}">
                      <a16:colId xmlns:a16="http://schemas.microsoft.com/office/drawing/2014/main" val="3840390301"/>
                    </a:ext>
                  </a:extLst>
                </a:gridCol>
              </a:tblGrid>
              <a:tr h="289490">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Parameter</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Symbol</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Value</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Remark</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316782134"/>
                  </a:ext>
                </a:extLst>
              </a:tr>
              <a:tr h="374962">
                <a:tc>
                  <a:txBody>
                    <a:bodyPr/>
                    <a:lstStyle/>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Electrostatic Discharge HBM</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HBM</a:t>
                      </a:r>
                      <a:endParaRPr lang="ko-KR" sz="900" kern="100" baseline="-250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solidFill>
                            <a:schemeClr val="tx1"/>
                          </a:solidFill>
                          <a:effectLst/>
                          <a:latin typeface="Arial" panose="020B0604020202020204" pitchFamily="34" charset="0"/>
                          <a:ea typeface="MyriadPro-Regular"/>
                          <a:cs typeface="Arial" panose="020B0604020202020204" pitchFamily="34" charset="0"/>
                        </a:rPr>
                        <a:t>±</a:t>
                      </a: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2000</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Norm:</a:t>
                      </a:r>
                    </a:p>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JEDEC JS-001-2017</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251016"/>
                  </a:ext>
                </a:extLst>
              </a:tr>
              <a:tr h="458110">
                <a:tc>
                  <a:txBody>
                    <a:bodyPr/>
                    <a:lstStyle/>
                    <a:p>
                      <a:pPr algn="ctr" latinLnBrk="0">
                        <a:lnSpc>
                          <a:spcPts val="1000"/>
                        </a:lnSpc>
                      </a:pPr>
                      <a:r>
                        <a:rPr lang="en-US"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Electrostatic Discharge CDM</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CDM</a:t>
                      </a:r>
                      <a:endParaRPr lang="ko-KR" sz="900" kern="100" baseline="-250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solidFill>
                            <a:schemeClr val="tx1"/>
                          </a:solidFill>
                          <a:effectLst/>
                          <a:latin typeface="Arial" panose="020B0604020202020204" pitchFamily="34" charset="0"/>
                          <a:ea typeface="MyriadPro-Regular"/>
                          <a:cs typeface="Arial" panose="020B0604020202020204" pitchFamily="34" charset="0"/>
                        </a:rPr>
                        <a:t>±</a:t>
                      </a: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500</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Norm:</a:t>
                      </a:r>
                    </a:p>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 JEDEC JESD22-C101F Oct 2013</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62623322"/>
                  </a:ext>
                </a:extLst>
              </a:tr>
            </a:tbl>
          </a:graphicData>
        </a:graphic>
      </p:graphicFrame>
    </p:spTree>
    <p:extLst>
      <p:ext uri="{BB962C8B-B14F-4D97-AF65-F5344CB8AC3E}">
        <p14:creationId xmlns:p14="http://schemas.microsoft.com/office/powerpoint/2010/main" val="1793712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856DBA-E87C-4BBC-DFA5-64204302E04F}"/>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cxnSp>
        <p:nvCxnSpPr>
          <p:cNvPr id="6" name="직선 연결선 5">
            <a:extLst>
              <a:ext uri="{FF2B5EF4-FFF2-40B4-BE49-F238E27FC236}">
                <a16:creationId xmlns:a16="http://schemas.microsoft.com/office/drawing/2014/main" id="{E46F34CF-793E-C6A6-F89F-5AB77A74B8F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8" name="표 7">
            <a:extLst>
              <a:ext uri="{FF2B5EF4-FFF2-40B4-BE49-F238E27FC236}">
                <a16:creationId xmlns:a16="http://schemas.microsoft.com/office/drawing/2014/main" id="{FE91294D-1DB7-BFF1-6F9E-0D67CF4AAA7A}"/>
              </a:ext>
            </a:extLst>
          </p:cNvPr>
          <p:cNvGraphicFramePr>
            <a:graphicFrameLocks noGrp="1"/>
          </p:cNvGraphicFramePr>
          <p:nvPr>
            <p:extLst>
              <p:ext uri="{D42A27DB-BD31-4B8C-83A1-F6EECF244321}">
                <p14:modId xmlns:p14="http://schemas.microsoft.com/office/powerpoint/2010/main" val="72538980"/>
              </p:ext>
            </p:extLst>
          </p:nvPr>
        </p:nvGraphicFramePr>
        <p:xfrm>
          <a:off x="404814" y="1146143"/>
          <a:ext cx="6048621" cy="4753007"/>
        </p:xfrm>
        <a:graphic>
          <a:graphicData uri="http://schemas.openxmlformats.org/drawingml/2006/table">
            <a:tbl>
              <a:tblPr>
                <a:tableStyleId>{5C22544A-7EE6-4342-B048-85BDC9FD1C3A}</a:tableStyleId>
              </a:tblPr>
              <a:tblGrid>
                <a:gridCol w="1402522">
                  <a:extLst>
                    <a:ext uri="{9D8B030D-6E8A-4147-A177-3AD203B41FA5}">
                      <a16:colId xmlns:a16="http://schemas.microsoft.com/office/drawing/2014/main" val="1199541810"/>
                    </a:ext>
                  </a:extLst>
                </a:gridCol>
                <a:gridCol w="684027">
                  <a:extLst>
                    <a:ext uri="{9D8B030D-6E8A-4147-A177-3AD203B41FA5}">
                      <a16:colId xmlns:a16="http://schemas.microsoft.com/office/drawing/2014/main" val="2771136683"/>
                    </a:ext>
                  </a:extLst>
                </a:gridCol>
                <a:gridCol w="1809616">
                  <a:extLst>
                    <a:ext uri="{9D8B030D-6E8A-4147-A177-3AD203B41FA5}">
                      <a16:colId xmlns:a16="http://schemas.microsoft.com/office/drawing/2014/main" val="112759525"/>
                    </a:ext>
                  </a:extLst>
                </a:gridCol>
                <a:gridCol w="529993">
                  <a:extLst>
                    <a:ext uri="{9D8B030D-6E8A-4147-A177-3AD203B41FA5}">
                      <a16:colId xmlns:a16="http://schemas.microsoft.com/office/drawing/2014/main" val="2315189607"/>
                    </a:ext>
                  </a:extLst>
                </a:gridCol>
                <a:gridCol w="529993">
                  <a:extLst>
                    <a:ext uri="{9D8B030D-6E8A-4147-A177-3AD203B41FA5}">
                      <a16:colId xmlns:a16="http://schemas.microsoft.com/office/drawing/2014/main" val="1695008994"/>
                    </a:ext>
                  </a:extLst>
                </a:gridCol>
                <a:gridCol w="529993">
                  <a:extLst>
                    <a:ext uri="{9D8B030D-6E8A-4147-A177-3AD203B41FA5}">
                      <a16:colId xmlns:a16="http://schemas.microsoft.com/office/drawing/2014/main" val="1448189180"/>
                    </a:ext>
                  </a:extLst>
                </a:gridCol>
                <a:gridCol w="562477">
                  <a:extLst>
                    <a:ext uri="{9D8B030D-6E8A-4147-A177-3AD203B41FA5}">
                      <a16:colId xmlns:a16="http://schemas.microsoft.com/office/drawing/2014/main" val="3900317923"/>
                    </a:ext>
                  </a:extLst>
                </a:gridCol>
              </a:tblGrid>
              <a:tr h="211673">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211673">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27951154"/>
                  </a:ext>
                </a:extLst>
              </a:tr>
              <a:tr h="211673">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Supply voltage</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11673">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Operating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11673">
                <a:tc>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Supply current</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11673">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Quiescent Current </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Standby state, No LED current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4298844"/>
                  </a:ext>
                </a:extLst>
              </a:tr>
              <a:tr h="211673">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100% Independent of duty sink</a:t>
                      </a:r>
                      <a:endParaRPr lang="pt-B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3.00</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9015921"/>
                  </a:ext>
                </a:extLst>
              </a:tr>
              <a:tr h="211673">
                <a:tc>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Oscillator</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it-IT"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5929154"/>
                  </a:ext>
                </a:extLst>
              </a:tr>
              <a:tr h="211673">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MCLK</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f</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OSC</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75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MHz</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3860487"/>
                  </a:ext>
                </a:extLst>
              </a:tr>
              <a:tr h="211673">
                <a:tc gridSpan="7">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In/Out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353795"/>
                  </a:ext>
                </a:extLst>
              </a:tr>
              <a:tr h="211673">
                <a:tc rowSpan="5">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9875898"/>
                  </a:ext>
                </a:extLst>
              </a:tr>
              <a:tr h="211673">
                <a:tc vMerge="1">
                  <a:txBody>
                    <a:bodyPr/>
                    <a:lstStyle/>
                    <a:p>
                      <a:pPr algn="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9128075"/>
                  </a:ext>
                </a:extLst>
              </a:tr>
              <a:tr h="211673">
                <a:tc vMerge="1">
                  <a:txBody>
                    <a:bodyPr/>
                    <a:lstStyle/>
                    <a:p>
                      <a:pPr algn="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0.5</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8477197"/>
                  </a:ext>
                </a:extLst>
              </a:tr>
              <a:tr h="211673">
                <a:tc vMerge="1">
                  <a:txBody>
                    <a:bodyPr/>
                    <a:lstStyle/>
                    <a:p>
                      <a:pPr latinLnBrk="1"/>
                      <a:endParaRPr lang="ko-KR" altLang="en-US"/>
                    </a:p>
                  </a:txBody>
                  <a:tcP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7445929"/>
                  </a:ext>
                </a:extLst>
              </a:tr>
              <a:tr h="211673">
                <a:tc vMerge="1">
                  <a:txBody>
                    <a:bodyPr/>
                    <a:lstStyle/>
                    <a:p>
                      <a:pPr algn="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PD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Internal pull-down resistance</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KΩ</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4727661"/>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long time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0L</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as a receiver</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63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7985016"/>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short time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1L</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0H</a:t>
                      </a:r>
                      <a:endPar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as a receiver</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1950318"/>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delay</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D_DS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Downstream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to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9.0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050380"/>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output skew</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DSKEW_DS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DSKEW_DS </a:t>
                      </a:r>
                      <a:r>
                        <a:rPr lang="en-US" altLang="ko-KR" sz="8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@downstrm</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7501129"/>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delay</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D_US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Upstream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to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9.5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6954028"/>
                  </a:ext>
                </a:extLst>
              </a:tr>
              <a:tr h="211673">
                <a:tc>
                  <a:txBody>
                    <a:bodyPr/>
                    <a:lstStyle/>
                    <a:p>
                      <a:pPr algn="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output skew</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DSKEW_US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DSKEW_US </a:t>
                      </a:r>
                      <a:r>
                        <a:rPr lang="en-US" altLang="ko-KR" sz="8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@upstream</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1244435"/>
                  </a:ext>
                </a:extLst>
              </a:tr>
              <a:tr h="235702">
                <a:tc>
                  <a:txBody>
                    <a:bodyPr/>
                    <a:lstStyle/>
                    <a:p>
                      <a:pPr algn="r" fontAlgn="ctr"/>
                      <a:endPar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4781886"/>
                  </a:ext>
                </a:extLst>
              </a:tr>
            </a:tbl>
          </a:graphicData>
        </a:graphic>
      </p:graphicFrame>
      <p:sp>
        <p:nvSpPr>
          <p:cNvPr id="9" name="TextBox 8">
            <a:extLst>
              <a:ext uri="{FF2B5EF4-FFF2-40B4-BE49-F238E27FC236}">
                <a16:creationId xmlns:a16="http://schemas.microsoft.com/office/drawing/2014/main" id="{17AFC0CF-AFAC-679E-5E65-6ED3002BC54F}"/>
              </a:ext>
            </a:extLst>
          </p:cNvPr>
          <p:cNvSpPr txBox="1"/>
          <p:nvPr/>
        </p:nvSpPr>
        <p:spPr>
          <a:xfrm>
            <a:off x="413545" y="774866"/>
            <a:ext cx="603090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=3.3V,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pSp>
        <p:nvGrpSpPr>
          <p:cNvPr id="10" name="그룹 9">
            <a:extLst>
              <a:ext uri="{FF2B5EF4-FFF2-40B4-BE49-F238E27FC236}">
                <a16:creationId xmlns:a16="http://schemas.microsoft.com/office/drawing/2014/main" id="{7ACDD181-EA4D-67E4-B201-1387019A1CFF}"/>
              </a:ext>
            </a:extLst>
          </p:cNvPr>
          <p:cNvGrpSpPr/>
          <p:nvPr/>
        </p:nvGrpSpPr>
        <p:grpSpPr>
          <a:xfrm>
            <a:off x="2133600" y="6254750"/>
            <a:ext cx="3773277" cy="777436"/>
            <a:chOff x="1920695" y="7478240"/>
            <a:chExt cx="3333652" cy="718717"/>
          </a:xfrm>
        </p:grpSpPr>
        <p:grpSp>
          <p:nvGrpSpPr>
            <p:cNvPr id="11" name="그룹 10">
              <a:extLst>
                <a:ext uri="{FF2B5EF4-FFF2-40B4-BE49-F238E27FC236}">
                  <a16:creationId xmlns:a16="http://schemas.microsoft.com/office/drawing/2014/main" id="{7EA5A1D6-4B0F-024C-12A4-EDFCBE00EF2D}"/>
                </a:ext>
              </a:extLst>
            </p:cNvPr>
            <p:cNvGrpSpPr/>
            <p:nvPr/>
          </p:nvGrpSpPr>
          <p:grpSpPr>
            <a:xfrm>
              <a:off x="1920695" y="7478240"/>
              <a:ext cx="3331009" cy="192972"/>
              <a:chOff x="1348682" y="5433237"/>
              <a:chExt cx="2215377" cy="212651"/>
            </a:xfrm>
          </p:grpSpPr>
          <p:cxnSp>
            <p:nvCxnSpPr>
              <p:cNvPr id="29" name="직선 연결선 28">
                <a:extLst>
                  <a:ext uri="{FF2B5EF4-FFF2-40B4-BE49-F238E27FC236}">
                    <a16:creationId xmlns:a16="http://schemas.microsoft.com/office/drawing/2014/main" id="{16FB3E77-98CF-86F5-11E5-0AF7288A4D0B}"/>
                  </a:ext>
                </a:extLst>
              </p:cNvPr>
              <p:cNvCxnSpPr/>
              <p:nvPr/>
            </p:nvCxnSpPr>
            <p:spPr>
              <a:xfrm>
                <a:off x="1398181"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직선 연결선 29">
                <a:extLst>
                  <a:ext uri="{FF2B5EF4-FFF2-40B4-BE49-F238E27FC236}">
                    <a16:creationId xmlns:a16="http://schemas.microsoft.com/office/drawing/2014/main" id="{AFC3A21A-0EAA-569C-5D11-FCAD40C30D00}"/>
                  </a:ext>
                </a:extLst>
              </p:cNvPr>
              <p:cNvCxnSpPr/>
              <p:nvPr/>
            </p:nvCxnSpPr>
            <p:spPr>
              <a:xfrm>
                <a:off x="2081793"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직선 연결선 30">
                <a:extLst>
                  <a:ext uri="{FF2B5EF4-FFF2-40B4-BE49-F238E27FC236}">
                    <a16:creationId xmlns:a16="http://schemas.microsoft.com/office/drawing/2014/main" id="{DC8F7C31-5C02-D79E-ADC4-F9E39B9FE409}"/>
                  </a:ext>
                </a:extLst>
              </p:cNvPr>
              <p:cNvCxnSpPr/>
              <p:nvPr/>
            </p:nvCxnSpPr>
            <p:spPr>
              <a:xfrm>
                <a:off x="248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직선 연결선 31">
                <a:extLst>
                  <a:ext uri="{FF2B5EF4-FFF2-40B4-BE49-F238E27FC236}">
                    <a16:creationId xmlns:a16="http://schemas.microsoft.com/office/drawing/2014/main" id="{4DA832B5-17AE-119D-2784-837D6A26B111}"/>
                  </a:ext>
                </a:extLst>
              </p:cNvPr>
              <p:cNvCxnSpPr>
                <a:cxnSpLocks/>
              </p:cNvCxnSpPr>
              <p:nvPr/>
            </p:nvCxnSpPr>
            <p:spPr>
              <a:xfrm flipH="1">
                <a:off x="1398181" y="5433237"/>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직선 연결선 32">
                <a:extLst>
                  <a:ext uri="{FF2B5EF4-FFF2-40B4-BE49-F238E27FC236}">
                    <a16:creationId xmlns:a16="http://schemas.microsoft.com/office/drawing/2014/main" id="{8F53B157-7DE3-0000-F257-E96FF0C95D29}"/>
                  </a:ext>
                </a:extLst>
              </p:cNvPr>
              <p:cNvCxnSpPr>
                <a:cxnSpLocks/>
              </p:cNvCxnSpPr>
              <p:nvPr/>
            </p:nvCxnSpPr>
            <p:spPr>
              <a:xfrm flipH="1">
                <a:off x="2081793" y="5645888"/>
                <a:ext cx="4070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직선 연결선 33">
                <a:extLst>
                  <a:ext uri="{FF2B5EF4-FFF2-40B4-BE49-F238E27FC236}">
                    <a16:creationId xmlns:a16="http://schemas.microsoft.com/office/drawing/2014/main" id="{99F3EC9F-1CA5-8385-FE4E-2654743B02D9}"/>
                  </a:ext>
                </a:extLst>
              </p:cNvPr>
              <p:cNvCxnSpPr>
                <a:cxnSpLocks/>
              </p:cNvCxnSpPr>
              <p:nvPr/>
            </p:nvCxnSpPr>
            <p:spPr>
              <a:xfrm flipH="1">
                <a:off x="2484059" y="5433237"/>
                <a:ext cx="39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직선 연결선 34">
                <a:extLst>
                  <a:ext uri="{FF2B5EF4-FFF2-40B4-BE49-F238E27FC236}">
                    <a16:creationId xmlns:a16="http://schemas.microsoft.com/office/drawing/2014/main" id="{DE1D5271-2DF1-AF8B-D061-B23FEEEA3DB3}"/>
                  </a:ext>
                </a:extLst>
              </p:cNvPr>
              <p:cNvCxnSpPr/>
              <p:nvPr/>
            </p:nvCxnSpPr>
            <p:spPr>
              <a:xfrm>
                <a:off x="2880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직선 연결선 35">
                <a:extLst>
                  <a:ext uri="{FF2B5EF4-FFF2-40B4-BE49-F238E27FC236}">
                    <a16:creationId xmlns:a16="http://schemas.microsoft.com/office/drawing/2014/main" id="{9E5AF7F5-FD51-3D2F-A4E6-B821519DCD07}"/>
                  </a:ext>
                </a:extLst>
              </p:cNvPr>
              <p:cNvCxnSpPr>
                <a:cxnSpLocks/>
              </p:cNvCxnSpPr>
              <p:nvPr/>
            </p:nvCxnSpPr>
            <p:spPr>
              <a:xfrm flipH="1">
                <a:off x="2880059" y="5645888"/>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직선 연결선 36">
                <a:extLst>
                  <a:ext uri="{FF2B5EF4-FFF2-40B4-BE49-F238E27FC236}">
                    <a16:creationId xmlns:a16="http://schemas.microsoft.com/office/drawing/2014/main" id="{389D503A-809F-8FBA-6BB4-A701CADEAD5A}"/>
                  </a:ext>
                </a:extLst>
              </p:cNvPr>
              <p:cNvCxnSpPr>
                <a:cxnSpLocks/>
              </p:cNvCxnSpPr>
              <p:nvPr/>
            </p:nvCxnSpPr>
            <p:spPr>
              <a:xfrm flipH="1">
                <a:off x="1348682" y="5645888"/>
                <a:ext cx="4788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직선 연결선 37">
                <a:extLst>
                  <a:ext uri="{FF2B5EF4-FFF2-40B4-BE49-F238E27FC236}">
                    <a16:creationId xmlns:a16="http://schemas.microsoft.com/office/drawing/2014/main" id="{D0BBF19E-6BA8-90B0-8477-101BE98F9A00}"/>
                  </a:ext>
                </a:extLst>
              </p:cNvPr>
              <p:cNvCxnSpPr/>
              <p:nvPr/>
            </p:nvCxnSpPr>
            <p:spPr>
              <a:xfrm>
                <a:off x="356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 name="직선 연결선 11">
              <a:extLst>
                <a:ext uri="{FF2B5EF4-FFF2-40B4-BE49-F238E27FC236}">
                  <a16:creationId xmlns:a16="http://schemas.microsoft.com/office/drawing/2014/main" id="{D4101D33-13D1-5EF3-60FB-5E77F67016F2}"/>
                </a:ext>
              </a:extLst>
            </p:cNvPr>
            <p:cNvCxnSpPr>
              <a:cxnSpLocks/>
            </p:cNvCxnSpPr>
            <p:nvPr/>
          </p:nvCxnSpPr>
          <p:spPr>
            <a:xfrm>
              <a:off x="1993167" y="7701492"/>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3" name="직선 연결선 12">
              <a:extLst>
                <a:ext uri="{FF2B5EF4-FFF2-40B4-BE49-F238E27FC236}">
                  <a16:creationId xmlns:a16="http://schemas.microsoft.com/office/drawing/2014/main" id="{5E819AE1-81F6-903F-D971-CEB70DFF41F8}"/>
                </a:ext>
              </a:extLst>
            </p:cNvPr>
            <p:cNvCxnSpPr>
              <a:cxnSpLocks/>
            </p:cNvCxnSpPr>
            <p:nvPr/>
          </p:nvCxnSpPr>
          <p:spPr>
            <a:xfrm>
              <a:off x="3627693" y="7706761"/>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4" name="직선 연결선 13">
              <a:extLst>
                <a:ext uri="{FF2B5EF4-FFF2-40B4-BE49-F238E27FC236}">
                  <a16:creationId xmlns:a16="http://schemas.microsoft.com/office/drawing/2014/main" id="{C7CB769D-C909-1F28-225E-402D46A6110B}"/>
                </a:ext>
              </a:extLst>
            </p:cNvPr>
            <p:cNvCxnSpPr>
              <a:cxnSpLocks/>
            </p:cNvCxnSpPr>
            <p:nvPr/>
          </p:nvCxnSpPr>
          <p:spPr>
            <a:xfrm>
              <a:off x="5251693" y="7701496"/>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5" name="직선 연결선 14">
              <a:extLst>
                <a:ext uri="{FF2B5EF4-FFF2-40B4-BE49-F238E27FC236}">
                  <a16:creationId xmlns:a16="http://schemas.microsoft.com/office/drawing/2014/main" id="{0B8308F8-D342-C9D9-E85E-3663098DFA6C}"/>
                </a:ext>
              </a:extLst>
            </p:cNvPr>
            <p:cNvCxnSpPr>
              <a:cxnSpLocks/>
            </p:cNvCxnSpPr>
            <p:nvPr/>
          </p:nvCxnSpPr>
          <p:spPr>
            <a:xfrm>
              <a:off x="3010242" y="7881396"/>
              <a:ext cx="0" cy="25723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6" name="직선 연결선 15">
              <a:extLst>
                <a:ext uri="{FF2B5EF4-FFF2-40B4-BE49-F238E27FC236}">
                  <a16:creationId xmlns:a16="http://schemas.microsoft.com/office/drawing/2014/main" id="{06A8251F-34EE-9CC9-983A-79BF954C848E}"/>
                </a:ext>
              </a:extLst>
            </p:cNvPr>
            <p:cNvCxnSpPr>
              <a:cxnSpLocks/>
            </p:cNvCxnSpPr>
            <p:nvPr/>
          </p:nvCxnSpPr>
          <p:spPr>
            <a:xfrm flipH="1">
              <a:off x="1993167" y="7866398"/>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id="{49D75304-9018-4392-18BC-268A8B71A4D6}"/>
                </a:ext>
              </a:extLst>
            </p:cNvPr>
            <p:cNvCxnSpPr>
              <a:cxnSpLocks/>
            </p:cNvCxnSpPr>
            <p:nvPr/>
          </p:nvCxnSpPr>
          <p:spPr>
            <a:xfrm>
              <a:off x="4237292" y="7879900"/>
              <a:ext cx="0" cy="25723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E664B013-C5F5-BED2-6D23-657A3E5A6C67}"/>
                </a:ext>
              </a:extLst>
            </p:cNvPr>
            <p:cNvCxnSpPr>
              <a:cxnSpLocks/>
            </p:cNvCxnSpPr>
            <p:nvPr/>
          </p:nvCxnSpPr>
          <p:spPr>
            <a:xfrm flipH="1">
              <a:off x="3634347" y="7871664"/>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ECD48F24-770F-07FC-6FBB-28949DA6EE29}"/>
                </a:ext>
              </a:extLst>
            </p:cNvPr>
            <p:cNvSpPr txBox="1"/>
            <p:nvPr/>
          </p:nvSpPr>
          <p:spPr>
            <a:xfrm>
              <a:off x="2540301" y="7683917"/>
              <a:ext cx="4958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‘1’</a:t>
              </a:r>
              <a:endParaRPr lang="ko-KR" altLang="en-US" sz="900" dirty="0">
                <a:latin typeface="Arial" panose="020B0604020202020204" pitchFamily="34" charset="0"/>
                <a:cs typeface="Arial" panose="020B0604020202020204" pitchFamily="34" charset="0"/>
              </a:endParaRPr>
            </a:p>
          </p:txBody>
        </p:sp>
        <p:cxnSp>
          <p:nvCxnSpPr>
            <p:cNvPr id="20" name="직선 연결선 19">
              <a:extLst>
                <a:ext uri="{FF2B5EF4-FFF2-40B4-BE49-F238E27FC236}">
                  <a16:creationId xmlns:a16="http://schemas.microsoft.com/office/drawing/2014/main" id="{2AB04DE1-4571-BA88-688F-BFE4ABF68C1E}"/>
                </a:ext>
              </a:extLst>
            </p:cNvPr>
            <p:cNvCxnSpPr>
              <a:cxnSpLocks/>
            </p:cNvCxnSpPr>
            <p:nvPr/>
          </p:nvCxnSpPr>
          <p:spPr>
            <a:xfrm flipH="1">
              <a:off x="1994505" y="8060566"/>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1" name="직선 연결선 20">
              <a:extLst>
                <a:ext uri="{FF2B5EF4-FFF2-40B4-BE49-F238E27FC236}">
                  <a16:creationId xmlns:a16="http://schemas.microsoft.com/office/drawing/2014/main" id="{2BD3E51D-A22D-0942-E7D3-E7DA2C722393}"/>
                </a:ext>
              </a:extLst>
            </p:cNvPr>
            <p:cNvCxnSpPr>
              <a:cxnSpLocks/>
            </p:cNvCxnSpPr>
            <p:nvPr/>
          </p:nvCxnSpPr>
          <p:spPr>
            <a:xfrm flipH="1">
              <a:off x="3014932" y="8060565"/>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2" name="직선 연결선 21">
              <a:extLst>
                <a:ext uri="{FF2B5EF4-FFF2-40B4-BE49-F238E27FC236}">
                  <a16:creationId xmlns:a16="http://schemas.microsoft.com/office/drawing/2014/main" id="{DFE23AB7-9693-8B1D-2DF5-02FA628BE63C}"/>
                </a:ext>
              </a:extLst>
            </p:cNvPr>
            <p:cNvCxnSpPr>
              <a:cxnSpLocks/>
            </p:cNvCxnSpPr>
            <p:nvPr/>
          </p:nvCxnSpPr>
          <p:spPr>
            <a:xfrm flipH="1">
              <a:off x="4242608" y="8068162"/>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3" name="직선 연결선 22">
              <a:extLst>
                <a:ext uri="{FF2B5EF4-FFF2-40B4-BE49-F238E27FC236}">
                  <a16:creationId xmlns:a16="http://schemas.microsoft.com/office/drawing/2014/main" id="{4EF0E841-BFC9-611F-0893-7CB674CA096E}"/>
                </a:ext>
              </a:extLst>
            </p:cNvPr>
            <p:cNvCxnSpPr>
              <a:cxnSpLocks/>
            </p:cNvCxnSpPr>
            <p:nvPr/>
          </p:nvCxnSpPr>
          <p:spPr>
            <a:xfrm flipH="1">
              <a:off x="3628643" y="8058234"/>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A251B4BE-E200-3C91-C982-34D3B539DBCB}"/>
                </a:ext>
              </a:extLst>
            </p:cNvPr>
            <p:cNvSpPr txBox="1"/>
            <p:nvPr/>
          </p:nvSpPr>
          <p:spPr>
            <a:xfrm>
              <a:off x="2352065" y="7889160"/>
              <a:ext cx="242621"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a:t>
              </a:r>
              <a:endParaRPr lang="ko-KR" altLang="en-US" sz="900" baseline="-25000" dirty="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F62FC7D9-7F84-ACD6-7EA1-2BA4D7C2337C}"/>
                </a:ext>
              </a:extLst>
            </p:cNvPr>
            <p:cNvSpPr txBox="1"/>
            <p:nvPr/>
          </p:nvSpPr>
          <p:spPr>
            <a:xfrm>
              <a:off x="3197218" y="7923981"/>
              <a:ext cx="231060" cy="262985"/>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1L</a:t>
              </a:r>
              <a:endParaRPr lang="ko-KR" altLang="en-US" sz="900" baseline="-25000" dirty="0">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4846F5F6-DE39-7ADA-CD62-B648E00AADEF}"/>
                </a:ext>
              </a:extLst>
            </p:cNvPr>
            <p:cNvSpPr txBox="1"/>
            <p:nvPr/>
          </p:nvSpPr>
          <p:spPr>
            <a:xfrm>
              <a:off x="3816832" y="7914375"/>
              <a:ext cx="243955" cy="262985"/>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0H</a:t>
              </a:r>
              <a:endParaRPr lang="ko-KR" altLang="en-US" sz="900" baseline="-25000" dirty="0">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EA594CE2-CD01-64CA-C4A7-867A05A48381}"/>
                </a:ext>
              </a:extLst>
            </p:cNvPr>
            <p:cNvSpPr txBox="1"/>
            <p:nvPr/>
          </p:nvSpPr>
          <p:spPr>
            <a:xfrm>
              <a:off x="4669527" y="7895133"/>
              <a:ext cx="2297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0L</a:t>
              </a:r>
              <a:endParaRPr lang="ko-KR" altLang="en-US" sz="900" baseline="-25000" dirty="0">
                <a:latin typeface="Arial" panose="020B0604020202020204" pitchFamily="34" charset="0"/>
                <a:cs typeface="Arial" panose="020B0604020202020204" pitchFamily="34" charset="0"/>
              </a:endParaRPr>
            </a:p>
          </p:txBody>
        </p:sp>
        <p:sp>
          <p:nvSpPr>
            <p:cNvPr id="28" name="TextBox 27">
              <a:extLst>
                <a:ext uri="{FF2B5EF4-FFF2-40B4-BE49-F238E27FC236}">
                  <a16:creationId xmlns:a16="http://schemas.microsoft.com/office/drawing/2014/main" id="{C5FBDC26-4DBB-87AD-3371-4E6965E9CED6}"/>
                </a:ext>
              </a:extLst>
            </p:cNvPr>
            <p:cNvSpPr txBox="1"/>
            <p:nvPr/>
          </p:nvSpPr>
          <p:spPr>
            <a:xfrm>
              <a:off x="4208664" y="7713002"/>
              <a:ext cx="4958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‘0’</a:t>
              </a:r>
              <a:endParaRPr lang="ko-KR" altLang="en-US" sz="900" dirty="0">
                <a:latin typeface="Arial" panose="020B0604020202020204" pitchFamily="34" charset="0"/>
                <a:cs typeface="Arial" panose="020B0604020202020204" pitchFamily="34" charset="0"/>
              </a:endParaRPr>
            </a:p>
          </p:txBody>
        </p:sp>
      </p:grpSp>
      <p:sp>
        <p:nvSpPr>
          <p:cNvPr id="39" name="TextBox 38">
            <a:extLst>
              <a:ext uri="{FF2B5EF4-FFF2-40B4-BE49-F238E27FC236}">
                <a16:creationId xmlns:a16="http://schemas.microsoft.com/office/drawing/2014/main" id="{54AD670F-B025-70E9-E49A-BD7BCF75E6C1}"/>
              </a:ext>
            </a:extLst>
          </p:cNvPr>
          <p:cNvSpPr txBox="1"/>
          <p:nvPr/>
        </p:nvSpPr>
        <p:spPr>
          <a:xfrm>
            <a:off x="404813" y="7421974"/>
            <a:ext cx="5888038" cy="895117"/>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r>
              <a:rPr lang="en-US" altLang="ko-KR" dirty="0"/>
              <a:t>Note :  1) The operation below V</a:t>
            </a:r>
            <a:r>
              <a:rPr lang="en-US" altLang="ko-KR" baseline="-25000" dirty="0"/>
              <a:t>DD</a:t>
            </a:r>
            <a:r>
              <a:rPr lang="en-US" altLang="ko-KR" dirty="0"/>
              <a:t>, 3.3V will limit a maximum LED sinking current and affect a current variation.</a:t>
            </a:r>
          </a:p>
          <a:p>
            <a:pPr algn="just"/>
            <a:r>
              <a:rPr lang="en-US" altLang="ko-KR" dirty="0"/>
              <a:t>            2) The conditions, </a:t>
            </a:r>
            <a:r>
              <a:rPr lang="en-US" altLang="ko-KR" dirty="0">
                <a:latin typeface="맑은 고딕" panose="020B0503020000020004" pitchFamily="50" charset="-127"/>
                <a:ea typeface="맑은 고딕" panose="020B0503020000020004" pitchFamily="50" charset="-127"/>
              </a:rPr>
              <a:t>①</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1H </a:t>
            </a:r>
            <a:r>
              <a:rPr lang="en-US" altLang="ko-KR" sz="800" dirty="0">
                <a:solidFill>
                  <a:srgbClr val="000000"/>
                </a:solidFill>
                <a:ea typeface="굴림" panose="020B0600000101010101" pitchFamily="50" charset="-127"/>
              </a:rPr>
              <a:t> ≥ T</a:t>
            </a:r>
            <a:r>
              <a:rPr lang="en-US" altLang="ko-KR" sz="800" baseline="-25000" dirty="0">
                <a:solidFill>
                  <a:srgbClr val="000000"/>
                </a:solidFill>
                <a:ea typeface="굴림" panose="020B0600000101010101" pitchFamily="50" charset="-127"/>
              </a:rPr>
              <a:t>0H</a:t>
            </a:r>
            <a:r>
              <a:rPr lang="en-US" altLang="ko-KR" dirty="0">
                <a:solidFill>
                  <a:srgbClr val="000000"/>
                </a:solidFill>
                <a:ea typeface="굴림" panose="020B0600000101010101" pitchFamily="50" charset="-127"/>
              </a:rPr>
              <a:t>* 2   </a:t>
            </a:r>
            <a:r>
              <a:rPr lang="en-US" altLang="ko-KR" dirty="0">
                <a:latin typeface="맑은 고딕" panose="020B0503020000020004" pitchFamily="50" charset="-127"/>
                <a:ea typeface="맑은 고딕" panose="020B0503020000020004" pitchFamily="50" charset="-127"/>
              </a:rPr>
              <a:t>②</a:t>
            </a:r>
            <a:r>
              <a:rPr lang="en-US" altLang="ko-KR" sz="800" baseline="-25000" dirty="0">
                <a:solidFill>
                  <a:srgbClr val="000000"/>
                </a:solidFill>
                <a:ea typeface="굴림" panose="020B0600000101010101" pitchFamily="50" charset="-127"/>
              </a:rPr>
              <a:t> </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0L</a:t>
            </a:r>
            <a:r>
              <a:rPr lang="en-US" altLang="ko-KR" sz="800" dirty="0">
                <a:solidFill>
                  <a:srgbClr val="000000"/>
                </a:solidFill>
                <a:ea typeface="굴림" panose="020B0600000101010101" pitchFamily="50" charset="-127"/>
              </a:rPr>
              <a:t> ≥ T</a:t>
            </a:r>
            <a:r>
              <a:rPr lang="en-US" altLang="ko-KR" sz="800" baseline="-25000" dirty="0">
                <a:solidFill>
                  <a:srgbClr val="000000"/>
                </a:solidFill>
                <a:ea typeface="굴림" panose="020B0600000101010101" pitchFamily="50" charset="-127"/>
              </a:rPr>
              <a:t>1L</a:t>
            </a:r>
            <a:r>
              <a:rPr lang="en-US" altLang="ko-KR" dirty="0">
                <a:solidFill>
                  <a:srgbClr val="000000"/>
                </a:solidFill>
                <a:ea typeface="굴림" panose="020B0600000101010101" pitchFamily="50" charset="-127"/>
              </a:rPr>
              <a:t>* 2   </a:t>
            </a:r>
            <a:r>
              <a:rPr lang="en-US" altLang="ko-KR" dirty="0">
                <a:latin typeface="맑은 고딕" panose="020B0503020000020004" pitchFamily="50" charset="-127"/>
                <a:ea typeface="맑은 고딕" panose="020B0503020000020004" pitchFamily="50" charset="-127"/>
              </a:rPr>
              <a:t>③ </a:t>
            </a:r>
            <a:r>
              <a:rPr lang="en-US" altLang="ko-KR" dirty="0">
                <a:solidFill>
                  <a:srgbClr val="000000"/>
                </a:solidFill>
                <a:ea typeface="굴림" panose="020B0600000101010101" pitchFamily="50" charset="-127"/>
              </a:rPr>
              <a:t>(</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1H </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0H</a:t>
            </a:r>
            <a:r>
              <a:rPr lang="en-US" altLang="ko-KR" sz="800" dirty="0">
                <a:solidFill>
                  <a:srgbClr val="000000"/>
                </a:solidFill>
                <a:ea typeface="굴림" panose="020B0600000101010101" pitchFamily="50" charset="-127"/>
              </a:rPr>
              <a:t>) = (T</a:t>
            </a:r>
            <a:r>
              <a:rPr lang="en-US" altLang="ko-KR" sz="800" baseline="-25000" dirty="0">
                <a:solidFill>
                  <a:srgbClr val="000000"/>
                </a:solidFill>
                <a:ea typeface="굴림" panose="020B0600000101010101" pitchFamily="50" charset="-127"/>
              </a:rPr>
              <a:t>0L</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1L</a:t>
            </a:r>
            <a:r>
              <a:rPr lang="en-US" altLang="ko-KR" dirty="0">
                <a:solidFill>
                  <a:srgbClr val="000000"/>
                </a:solidFill>
                <a:ea typeface="굴림" panose="020B0600000101010101" pitchFamily="50" charset="-127"/>
              </a:rPr>
              <a:t>) &lt; 90 are normally recommended.</a:t>
            </a:r>
          </a:p>
          <a:p>
            <a:pPr algn="just"/>
            <a:r>
              <a:rPr lang="en-US" altLang="ko-KR" dirty="0">
                <a:solidFill>
                  <a:srgbClr val="000000"/>
                </a:solidFill>
                <a:ea typeface="굴림" panose="020B0600000101010101" pitchFamily="50" charset="-127"/>
              </a:rPr>
              <a:t>                 However, the value depends on the baud-rate of the XC.</a:t>
            </a:r>
            <a:endParaRPr lang="en-US" altLang="ko-KR" baseline="-25000" dirty="0">
              <a:solidFill>
                <a:srgbClr val="000000"/>
              </a:solidFill>
              <a:ea typeface="굴림" panose="020B0600000101010101" pitchFamily="50" charset="-127"/>
            </a:endParaRPr>
          </a:p>
          <a:p>
            <a:pPr marL="539750" indent="-501650"/>
            <a:r>
              <a:rPr lang="en-US" altLang="ko-KR" dirty="0">
                <a:solidFill>
                  <a:srgbClr val="000000"/>
                </a:solidFill>
                <a:ea typeface="굴림" panose="020B0600000101010101" pitchFamily="50" charset="-127"/>
              </a:rPr>
              <a:t>            3)  On downstreaming (or upstreaming), the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  </a:t>
            </a:r>
            <a:r>
              <a:rPr lang="en-US" altLang="ko-KR" sz="900" dirty="0">
                <a:latin typeface="Arial" panose="020B0604020202020204" pitchFamily="34" charset="0"/>
                <a:cs typeface="Arial" panose="020B0604020202020204" pitchFamily="34" charset="0"/>
              </a:rPr>
              <a:t>of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baseline="-25000" dirty="0">
                <a:ea typeface="굴림" panose="020B0600000101010101" pitchFamily="50" charset="-127"/>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  </a:t>
            </a:r>
            <a:r>
              <a:rPr lang="en-US" altLang="ko-KR" sz="900" dirty="0">
                <a:latin typeface="Arial" panose="020B0604020202020204" pitchFamily="34" charset="0"/>
                <a:cs typeface="Arial" panose="020B0604020202020204" pitchFamily="34" charset="0"/>
              </a:rPr>
              <a:t>of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is shorted as many as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DSKEW_DS </a:t>
            </a:r>
            <a:r>
              <a:rPr lang="en-US" altLang="ko-KR" dirty="0">
                <a:solidFill>
                  <a:srgbClr val="000000"/>
                </a:solidFill>
                <a:ea typeface="굴림" panose="020B0600000101010101" pitchFamily="50" charset="-127"/>
              </a:rPr>
              <a:t>(</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or</a:t>
            </a:r>
            <a:r>
              <a:rPr lang="en-US" altLang="ko-KR" baseline="0" dirty="0">
                <a:solidFill>
                  <a:srgbClr val="000000"/>
                </a:solidFill>
                <a:ea typeface="굴림" panose="020B0600000101010101" pitchFamily="50" charset="-127"/>
              </a:rPr>
              <a:t>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DSKEW_US</a:t>
            </a:r>
            <a:r>
              <a:rPr lang="en-US" altLang="ko-KR" dirty="0">
                <a:solidFill>
                  <a:srgbClr val="000000"/>
                </a:solidFill>
                <a:ea typeface="굴림" panose="020B0600000101010101" pitchFamily="50" charset="-127"/>
              </a:rPr>
              <a:t>), but the total of 1 bit cycle will remain the same. </a:t>
            </a:r>
          </a:p>
          <a:p>
            <a:pPr marL="539750"/>
            <a:r>
              <a:rPr lang="en-US" altLang="ko-KR" i="1" dirty="0">
                <a:solidFill>
                  <a:srgbClr val="000000"/>
                </a:solidFill>
                <a:ea typeface="굴림" panose="020B0600000101010101" pitchFamily="50" charset="-127"/>
              </a:rPr>
              <a:t>So, the proper value for </a:t>
            </a:r>
            <a:r>
              <a:rPr lang="en-US" altLang="ko-KR" sz="900" b="0" i="1" u="none" strike="noStrike" baseline="0" dirty="0">
                <a:solidFill>
                  <a:srgbClr val="000000"/>
                </a:solidFill>
                <a:latin typeface="Arial" panose="020B0604020202020204" pitchFamily="34" charset="0"/>
                <a:ea typeface="굴림" panose="020B0600000101010101" pitchFamily="50" charset="-127"/>
                <a:cs typeface="Arial" panose="020B0604020202020204" pitchFamily="34" charset="0"/>
              </a:rPr>
              <a:t>T</a:t>
            </a:r>
            <a:r>
              <a:rPr lang="en-US" altLang="ko-KR" sz="900" b="0" i="1" u="none" strike="noStrike"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1H</a:t>
            </a:r>
            <a:r>
              <a:rPr lang="en-US" altLang="ko-KR" i="1" dirty="0">
                <a:solidFill>
                  <a:srgbClr val="000000"/>
                </a:solidFill>
                <a:ea typeface="굴림" panose="020B0600000101010101" pitchFamily="50" charset="-127"/>
              </a:rPr>
              <a:t> </a:t>
            </a:r>
            <a:r>
              <a:rPr lang="en-US" altLang="ko-KR" sz="900" b="0" i="1" u="none" strike="noStrike" baseline="0" dirty="0">
                <a:solidFill>
                  <a:srgbClr val="000000"/>
                </a:solidFill>
                <a:latin typeface="Arial" panose="020B0604020202020204" pitchFamily="34" charset="0"/>
                <a:ea typeface="굴림" panose="020B0600000101010101" pitchFamily="50" charset="-127"/>
                <a:cs typeface="Arial" panose="020B0604020202020204" pitchFamily="34" charset="0"/>
              </a:rPr>
              <a:t>and T</a:t>
            </a:r>
            <a:r>
              <a:rPr lang="en-US" altLang="ko-KR" sz="900" b="0" i="1" u="none" strike="noStrike"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0L </a:t>
            </a:r>
            <a:r>
              <a:rPr lang="en-US" altLang="ko-KR" b="0" i="1" dirty="0">
                <a:solidFill>
                  <a:srgbClr val="000000"/>
                </a:solidFill>
              </a:rPr>
              <a:t>must be </a:t>
            </a:r>
            <a:r>
              <a:rPr lang="en-US" altLang="ko-KR" i="1" dirty="0">
                <a:solidFill>
                  <a:srgbClr val="000000"/>
                </a:solidFill>
              </a:rPr>
              <a:t> </a:t>
            </a:r>
            <a:r>
              <a:rPr lang="en-US" altLang="ko-KR" b="0" i="1" dirty="0">
                <a:solidFill>
                  <a:srgbClr val="000000"/>
                </a:solidFill>
              </a:rPr>
              <a:t>carefully determined based on the daisy size.</a:t>
            </a:r>
            <a:endParaRPr lang="en-US" altLang="ko-KR" sz="900" b="0" i="1" u="none" strike="noStrike" baseline="0" dirty="0">
              <a:solidFill>
                <a:srgbClr val="000000"/>
              </a:solidFill>
              <a:ea typeface="굴림" panose="020B0600000101010101" pitchFamily="50" charset="-127"/>
            </a:endParaRPr>
          </a:p>
        </p:txBody>
      </p:sp>
    </p:spTree>
    <p:extLst>
      <p:ext uri="{BB962C8B-B14F-4D97-AF65-F5344CB8AC3E}">
        <p14:creationId xmlns:p14="http://schemas.microsoft.com/office/powerpoint/2010/main" val="3554956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DEC4F87-9C9B-4C8F-A819-F5F816D1E76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A1CC61E-7715-1D2D-3615-A5B94FF7084D}"/>
              </a:ext>
            </a:extLst>
          </p:cNvPr>
          <p:cNvSpPr txBox="1"/>
          <p:nvPr/>
        </p:nvSpPr>
        <p:spPr>
          <a:xfrm>
            <a:off x="404811" y="774866"/>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=3.3V,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aphicFrame>
        <p:nvGraphicFramePr>
          <p:cNvPr id="4" name="표 3">
            <a:extLst>
              <a:ext uri="{FF2B5EF4-FFF2-40B4-BE49-F238E27FC236}">
                <a16:creationId xmlns:a16="http://schemas.microsoft.com/office/drawing/2014/main" id="{1149DE2F-0341-6284-3E53-515DA2C51693}"/>
              </a:ext>
            </a:extLst>
          </p:cNvPr>
          <p:cNvGraphicFramePr>
            <a:graphicFrameLocks noGrp="1"/>
          </p:cNvGraphicFramePr>
          <p:nvPr>
            <p:extLst>
              <p:ext uri="{D42A27DB-BD31-4B8C-83A1-F6EECF244321}">
                <p14:modId xmlns:p14="http://schemas.microsoft.com/office/powerpoint/2010/main" val="797144017"/>
              </p:ext>
            </p:extLst>
          </p:nvPr>
        </p:nvGraphicFramePr>
        <p:xfrm>
          <a:off x="333544" y="1136650"/>
          <a:ext cx="6169522" cy="6717743"/>
        </p:xfrm>
        <a:graphic>
          <a:graphicData uri="http://schemas.openxmlformats.org/drawingml/2006/table">
            <a:tbl>
              <a:tblPr>
                <a:tableStyleId>{5C22544A-7EE6-4342-B048-85BDC9FD1C3A}</a:tableStyleId>
              </a:tblPr>
              <a:tblGrid>
                <a:gridCol w="1430556">
                  <a:extLst>
                    <a:ext uri="{9D8B030D-6E8A-4147-A177-3AD203B41FA5}">
                      <a16:colId xmlns:a16="http://schemas.microsoft.com/office/drawing/2014/main" val="1783343538"/>
                    </a:ext>
                  </a:extLst>
                </a:gridCol>
                <a:gridCol w="697700">
                  <a:extLst>
                    <a:ext uri="{9D8B030D-6E8A-4147-A177-3AD203B41FA5}">
                      <a16:colId xmlns:a16="http://schemas.microsoft.com/office/drawing/2014/main" val="3180006436"/>
                    </a:ext>
                  </a:extLst>
                </a:gridCol>
                <a:gridCol w="1845786">
                  <a:extLst>
                    <a:ext uri="{9D8B030D-6E8A-4147-A177-3AD203B41FA5}">
                      <a16:colId xmlns:a16="http://schemas.microsoft.com/office/drawing/2014/main" val="1629708029"/>
                    </a:ext>
                  </a:extLst>
                </a:gridCol>
                <a:gridCol w="540587">
                  <a:extLst>
                    <a:ext uri="{9D8B030D-6E8A-4147-A177-3AD203B41FA5}">
                      <a16:colId xmlns:a16="http://schemas.microsoft.com/office/drawing/2014/main" val="3514095092"/>
                    </a:ext>
                  </a:extLst>
                </a:gridCol>
                <a:gridCol w="540587">
                  <a:extLst>
                    <a:ext uri="{9D8B030D-6E8A-4147-A177-3AD203B41FA5}">
                      <a16:colId xmlns:a16="http://schemas.microsoft.com/office/drawing/2014/main" val="2256908222"/>
                    </a:ext>
                  </a:extLst>
                </a:gridCol>
                <a:gridCol w="540587">
                  <a:extLst>
                    <a:ext uri="{9D8B030D-6E8A-4147-A177-3AD203B41FA5}">
                      <a16:colId xmlns:a16="http://schemas.microsoft.com/office/drawing/2014/main" val="2915946677"/>
                    </a:ext>
                  </a:extLst>
                </a:gridCol>
                <a:gridCol w="573719">
                  <a:extLst>
                    <a:ext uri="{9D8B030D-6E8A-4147-A177-3AD203B41FA5}">
                      <a16:colId xmlns:a16="http://schemas.microsoft.com/office/drawing/2014/main" val="2559142005"/>
                    </a:ext>
                  </a:extLst>
                </a:gridCol>
              </a:tblGrid>
              <a:tr h="244676">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200011002"/>
                  </a:ext>
                </a:extLst>
              </a:tr>
              <a:tr h="244676">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Output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886170">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Driving voltage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5880" marR="46355" indent="281940">
                        <a:lnSpc>
                          <a:spcPct val="100000"/>
                        </a:lnSpc>
                        <a:spcBef>
                          <a:spcPts val="85"/>
                        </a:spcBef>
                      </a:pPr>
                      <a:r>
                        <a:rPr lang="it-IT" altLang="ko-KR" sz="900" b="0" spc="-5" dirty="0">
                          <a:solidFill>
                            <a:schemeClr val="tx1"/>
                          </a:solidFill>
                          <a:latin typeface="Arial"/>
                          <a:cs typeface="Arial"/>
                        </a:rPr>
                        <a:t>Headroom voltage V</a:t>
                      </a:r>
                      <a:r>
                        <a:rPr lang="it-IT" altLang="ko-KR" sz="900" b="0" spc="-7" baseline="-18518" dirty="0">
                          <a:solidFill>
                            <a:schemeClr val="tx1"/>
                          </a:solidFill>
                          <a:latin typeface="Arial"/>
                          <a:cs typeface="Arial"/>
                        </a:rPr>
                        <a:t>HD</a:t>
                      </a:r>
                      <a:r>
                        <a:rPr lang="it-IT" altLang="ko-KR" sz="900" b="0" baseline="-18518" dirty="0">
                          <a:solidFill>
                            <a:schemeClr val="tx1"/>
                          </a:solidFill>
                          <a:latin typeface="Arial"/>
                          <a:cs typeface="Arial"/>
                        </a:rPr>
                        <a:t> </a:t>
                      </a:r>
                      <a:r>
                        <a:rPr lang="it-IT" altLang="ko-KR" sz="900" b="0" dirty="0">
                          <a:solidFill>
                            <a:schemeClr val="tx1"/>
                          </a:solidFill>
                          <a:latin typeface="Arial"/>
                          <a:cs typeface="Arial"/>
                        </a:rPr>
                        <a:t>: </a:t>
                      </a:r>
                      <a:r>
                        <a:rPr lang="it-IT" altLang="ko-KR" sz="900" b="0" spc="5" dirty="0">
                          <a:solidFill>
                            <a:schemeClr val="tx1"/>
                          </a:solidFill>
                          <a:latin typeface="Arial"/>
                          <a:cs typeface="Arial"/>
                        </a:rPr>
                        <a:t> </a:t>
                      </a:r>
                      <a:r>
                        <a:rPr lang="it-IT" altLang="ko-KR" sz="820" b="0" spc="-5" dirty="0">
                          <a:solidFill>
                            <a:schemeClr val="tx1"/>
                          </a:solidFill>
                          <a:latin typeface="Arial"/>
                          <a:cs typeface="Arial"/>
                        </a:rPr>
                        <a:t>0.33V@</a:t>
                      </a:r>
                      <a:r>
                        <a:rPr lang="it-IT" altLang="ko-KR" sz="820" b="0" spc="-15"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 </a:t>
                      </a:r>
                      <a:r>
                        <a:rPr lang="it-IT" altLang="ko-KR" sz="820" b="0" dirty="0">
                          <a:solidFill>
                            <a:schemeClr val="tx1"/>
                          </a:solidFill>
                          <a:latin typeface="Arial"/>
                          <a:cs typeface="Arial"/>
                        </a:rPr>
                        <a:t>4mA,    0.35V@</a:t>
                      </a:r>
                      <a:r>
                        <a:rPr lang="it-IT" altLang="ko-KR" sz="820" b="0" spc="-15"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 </a:t>
                      </a:r>
                      <a:r>
                        <a:rPr lang="it-IT" altLang="ko-KR" sz="820" b="0" spc="195" baseline="-18518" dirty="0">
                          <a:solidFill>
                            <a:schemeClr val="tx1"/>
                          </a:solidFill>
                          <a:latin typeface="Arial"/>
                          <a:cs typeface="Arial"/>
                        </a:rPr>
                        <a:t> </a:t>
                      </a:r>
                      <a:r>
                        <a:rPr lang="it-IT" altLang="ko-KR" sz="820" b="0" dirty="0">
                          <a:solidFill>
                            <a:schemeClr val="tx1"/>
                          </a:solidFill>
                          <a:latin typeface="Arial"/>
                          <a:cs typeface="Arial"/>
                        </a:rPr>
                        <a:t>8mA</a:t>
                      </a:r>
                    </a:p>
                    <a:p>
                      <a:pPr marL="54610">
                        <a:lnSpc>
                          <a:spcPct val="100000"/>
                        </a:lnSpc>
                      </a:pPr>
                      <a:r>
                        <a:rPr lang="it-IT" altLang="ko-KR" sz="820" b="0" spc="-5" dirty="0">
                          <a:solidFill>
                            <a:schemeClr val="tx1"/>
                          </a:solidFill>
                          <a:latin typeface="Arial"/>
                          <a:cs typeface="Arial"/>
                        </a:rPr>
                        <a:t>0.37V@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12mA,  </a:t>
                      </a:r>
                      <a:r>
                        <a:rPr lang="it-IT" altLang="ko-KR" sz="820" b="0" spc="-40" dirty="0">
                          <a:solidFill>
                            <a:schemeClr val="tx1"/>
                          </a:solidFill>
                          <a:latin typeface="Arial"/>
                          <a:cs typeface="Arial"/>
                        </a:rPr>
                        <a:t>0.39V</a:t>
                      </a:r>
                      <a:r>
                        <a:rPr lang="it-IT" altLang="ko-KR" sz="820" b="0" dirty="0">
                          <a:solidFill>
                            <a:schemeClr val="tx1"/>
                          </a:solidFill>
                          <a:latin typeface="Arial"/>
                          <a:cs typeface="Arial"/>
                        </a:rPr>
                        <a:t>@</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16mA</a:t>
                      </a:r>
                    </a:p>
                    <a:p>
                      <a:pPr marL="54610" marR="0" lvl="0" indent="0" algn="l" defTabSz="685800" rtl="0" eaLnBrk="1" fontAlgn="auto" latinLnBrk="1" hangingPunct="1">
                        <a:lnSpc>
                          <a:spcPct val="100000"/>
                        </a:lnSpc>
                        <a:spcBef>
                          <a:spcPts val="0"/>
                        </a:spcBef>
                        <a:spcAft>
                          <a:spcPts val="0"/>
                        </a:spcAft>
                        <a:buClrTx/>
                        <a:buSzTx/>
                        <a:buFontTx/>
                        <a:buNone/>
                        <a:tabLst/>
                        <a:defRPr/>
                      </a:pPr>
                      <a:r>
                        <a:rPr lang="it-IT" altLang="ko-KR" sz="820" b="0" spc="-5" dirty="0">
                          <a:solidFill>
                            <a:schemeClr val="tx1"/>
                          </a:solidFill>
                          <a:latin typeface="Arial"/>
                          <a:cs typeface="Arial"/>
                        </a:rPr>
                        <a:t>0.42V@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20mA,  0.44V@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24mA</a:t>
                      </a:r>
                      <a:r>
                        <a:rPr lang="it-IT" altLang="ko-KR" sz="820" b="0" spc="-20" dirty="0">
                          <a:solidFill>
                            <a:schemeClr val="tx1"/>
                          </a:solidFill>
                          <a:latin typeface="Arial"/>
                          <a:cs typeface="Arial"/>
                        </a:rPr>
                        <a:t> </a:t>
                      </a:r>
                      <a:r>
                        <a:rPr lang="it-IT" altLang="ko-KR" sz="820" b="0" spc="-5" dirty="0">
                          <a:solidFill>
                            <a:schemeClr val="tx1"/>
                          </a:solidFill>
                          <a:latin typeface="Arial"/>
                          <a:cs typeface="Arial"/>
                        </a:rPr>
                        <a:t>0.46V@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28mA,</a:t>
                      </a:r>
                      <a:r>
                        <a:rPr lang="it-IT" altLang="ko-KR" sz="820" b="0" spc="-40" dirty="0">
                          <a:solidFill>
                            <a:schemeClr val="tx1"/>
                          </a:solidFill>
                          <a:latin typeface="Arial"/>
                          <a:cs typeface="Arial"/>
                        </a:rPr>
                        <a:t>   </a:t>
                      </a:r>
                      <a:r>
                        <a:rPr lang="it-IT" altLang="ko-KR" sz="820" b="0" dirty="0">
                          <a:solidFill>
                            <a:schemeClr val="tx1"/>
                          </a:solidFill>
                          <a:latin typeface="Arial"/>
                          <a:cs typeface="Arial"/>
                        </a:rPr>
                        <a:t>0.48V@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32mA</a:t>
                      </a:r>
                    </a:p>
                    <a:p>
                      <a:pPr marL="54610" marR="0" lvl="0" indent="0" algn="l" defTabSz="685800" rtl="0" eaLnBrk="1" fontAlgn="auto" latinLnBrk="1" hangingPunct="1">
                        <a:lnSpc>
                          <a:spcPct val="100000"/>
                        </a:lnSpc>
                        <a:spcBef>
                          <a:spcPts val="0"/>
                        </a:spcBef>
                        <a:spcAft>
                          <a:spcPts val="0"/>
                        </a:spcAft>
                        <a:buClrTx/>
                        <a:buSzTx/>
                        <a:buFontTx/>
                        <a:buNone/>
                        <a:tabLst/>
                        <a:defRPr/>
                      </a:pPr>
                      <a:r>
                        <a:rPr lang="it-IT" altLang="ko-KR" sz="820" b="0" dirty="0">
                          <a:solidFill>
                            <a:schemeClr val="tx1"/>
                          </a:solidFill>
                          <a:latin typeface="Arial"/>
                          <a:cs typeface="Arial"/>
                        </a:rPr>
                        <a:t>0.50V@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36mA,</a:t>
                      </a:r>
                      <a:r>
                        <a:rPr lang="it-IT" altLang="ko-KR" sz="820" b="0" spc="-40" dirty="0">
                          <a:solidFill>
                            <a:schemeClr val="tx1"/>
                          </a:solidFill>
                          <a:latin typeface="Arial"/>
                          <a:cs typeface="Arial"/>
                        </a:rPr>
                        <a:t>   </a:t>
                      </a:r>
                      <a:r>
                        <a:rPr lang="it-IT" altLang="ko-KR" sz="820" b="0" dirty="0">
                          <a:solidFill>
                            <a:schemeClr val="tx1"/>
                          </a:solidFill>
                          <a:latin typeface="Arial"/>
                          <a:cs typeface="Arial"/>
                        </a:rPr>
                        <a:t>0.53V@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40mA</a:t>
                      </a:r>
                    </a:p>
                    <a:p>
                      <a:pPr marL="54610" marR="0" lvl="0" indent="0" algn="l" defTabSz="685800" rtl="0" eaLnBrk="1" fontAlgn="auto" latinLnBrk="1" hangingPunct="1">
                        <a:lnSpc>
                          <a:spcPct val="100000"/>
                        </a:lnSpc>
                        <a:spcBef>
                          <a:spcPts val="0"/>
                        </a:spcBef>
                        <a:spcAft>
                          <a:spcPts val="0"/>
                        </a:spcAft>
                        <a:buClrTx/>
                        <a:buSzTx/>
                        <a:buFontTx/>
                        <a:buNone/>
                        <a:tabLst/>
                        <a:defRPr/>
                      </a:pPr>
                      <a:r>
                        <a:rPr lang="it-IT" altLang="ko-KR" sz="820" b="0" spc="-5" dirty="0">
                          <a:solidFill>
                            <a:schemeClr val="tx1"/>
                          </a:solidFill>
                          <a:latin typeface="Arial"/>
                          <a:cs typeface="Arial"/>
                        </a:rPr>
                        <a:t>0.55V@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44mA,  0.57V@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48mA</a:t>
                      </a:r>
                      <a:r>
                        <a:rPr lang="it-IT" altLang="ko-KR" sz="820" b="0" spc="-20" dirty="0">
                          <a:solidFill>
                            <a:schemeClr val="tx1"/>
                          </a:solidFill>
                          <a:latin typeface="Arial"/>
                          <a:cs typeface="Arial"/>
                        </a:rPr>
                        <a:t> </a:t>
                      </a:r>
                      <a:r>
                        <a:rPr lang="it-IT" altLang="ko-KR" sz="820" b="0" spc="-5" dirty="0">
                          <a:solidFill>
                            <a:schemeClr val="tx1"/>
                          </a:solidFill>
                          <a:latin typeface="Arial"/>
                          <a:cs typeface="Arial"/>
                        </a:rPr>
                        <a:t>0.59V@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52mA,</a:t>
                      </a:r>
                      <a:r>
                        <a:rPr lang="it-IT" altLang="ko-KR" sz="820" b="0" spc="-40" dirty="0">
                          <a:solidFill>
                            <a:schemeClr val="tx1"/>
                          </a:solidFill>
                          <a:latin typeface="Arial"/>
                          <a:cs typeface="Arial"/>
                        </a:rPr>
                        <a:t>   </a:t>
                      </a:r>
                      <a:r>
                        <a:rPr lang="it-IT" altLang="ko-KR" sz="820" b="0" dirty="0">
                          <a:solidFill>
                            <a:schemeClr val="tx1"/>
                          </a:solidFill>
                          <a:latin typeface="Arial"/>
                          <a:cs typeface="Arial"/>
                        </a:rPr>
                        <a:t>0.62V@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56mA</a:t>
                      </a:r>
                    </a:p>
                    <a:p>
                      <a:pPr marL="54610" marR="0" lvl="0" indent="0" algn="l" defTabSz="685800" rtl="0" eaLnBrk="1" fontAlgn="auto" latinLnBrk="1" hangingPunct="1">
                        <a:lnSpc>
                          <a:spcPct val="100000"/>
                        </a:lnSpc>
                        <a:spcBef>
                          <a:spcPts val="0"/>
                        </a:spcBef>
                        <a:spcAft>
                          <a:spcPts val="0"/>
                        </a:spcAft>
                        <a:buClrTx/>
                        <a:buSzTx/>
                        <a:buFontTx/>
                        <a:buNone/>
                        <a:tabLst/>
                        <a:defRPr/>
                      </a:pPr>
                      <a:r>
                        <a:rPr lang="it-IT" altLang="ko-KR" sz="820" b="0" dirty="0">
                          <a:solidFill>
                            <a:schemeClr val="tx1"/>
                          </a:solidFill>
                          <a:latin typeface="Arial"/>
                          <a:cs typeface="Arial"/>
                        </a:rPr>
                        <a:t>0.64V@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60mA,</a:t>
                      </a:r>
                      <a:r>
                        <a:rPr lang="it-IT" altLang="ko-KR" sz="820" b="0" spc="-40" dirty="0">
                          <a:solidFill>
                            <a:schemeClr val="tx1"/>
                          </a:solidFill>
                          <a:latin typeface="Arial"/>
                          <a:cs typeface="Arial"/>
                        </a:rPr>
                        <a:t>   </a:t>
                      </a:r>
                      <a:r>
                        <a:rPr lang="it-IT" altLang="ko-KR" sz="820" b="0" dirty="0">
                          <a:solidFill>
                            <a:schemeClr val="tx1"/>
                          </a:solidFill>
                          <a:latin typeface="Arial"/>
                          <a:cs typeface="Arial"/>
                        </a:rPr>
                        <a:t>0.67V@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64mA</a:t>
                      </a:r>
                    </a:p>
                  </a:txBody>
                  <a:tcPr marL="0" marR="0" marT="1079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HD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634143">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Short detection voltage </a:t>
                      </a:r>
                      <a:r>
                        <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4)</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75590" marR="241300" indent="33020" algn="l">
                        <a:lnSpc>
                          <a:spcPct val="100000"/>
                        </a:lnSpc>
                        <a:spcBef>
                          <a:spcPts val="160"/>
                        </a:spcBef>
                      </a:pPr>
                      <a:r>
                        <a:rPr sz="800" spc="-15" dirty="0">
                          <a:solidFill>
                            <a:schemeClr val="tx1"/>
                          </a:solidFill>
                          <a:latin typeface="Arial"/>
                          <a:cs typeface="Arial"/>
                        </a:rPr>
                        <a:t>S</a:t>
                      </a:r>
                      <a:r>
                        <a:rPr sz="800" spc="-10" dirty="0">
                          <a:solidFill>
                            <a:schemeClr val="tx1"/>
                          </a:solidFill>
                          <a:latin typeface="Arial"/>
                          <a:cs typeface="Arial"/>
                        </a:rPr>
                        <a:t>ho</a:t>
                      </a:r>
                      <a:r>
                        <a:rPr sz="800" spc="-15" dirty="0">
                          <a:solidFill>
                            <a:schemeClr val="tx1"/>
                          </a:solidFill>
                          <a:latin typeface="Arial"/>
                          <a:cs typeface="Arial"/>
                        </a:rPr>
                        <a:t>r</a:t>
                      </a:r>
                      <a:r>
                        <a:rPr sz="800" dirty="0">
                          <a:solidFill>
                            <a:schemeClr val="tx1"/>
                          </a:solidFill>
                          <a:latin typeface="Arial"/>
                          <a:cs typeface="Arial"/>
                        </a:rPr>
                        <a:t>t</a:t>
                      </a:r>
                      <a:r>
                        <a:rPr sz="800" spc="-60" dirty="0">
                          <a:solidFill>
                            <a:schemeClr val="tx1"/>
                          </a:solidFill>
                          <a:latin typeface="Arial"/>
                          <a:cs typeface="Arial"/>
                        </a:rPr>
                        <a:t> </a:t>
                      </a:r>
                      <a:r>
                        <a:rPr sz="800" spc="-10" dirty="0">
                          <a:solidFill>
                            <a:schemeClr val="tx1"/>
                          </a:solidFill>
                          <a:latin typeface="Arial"/>
                          <a:cs typeface="Arial"/>
                        </a:rPr>
                        <a:t>detecti</a:t>
                      </a:r>
                      <a:r>
                        <a:rPr sz="800" spc="-25" dirty="0">
                          <a:solidFill>
                            <a:schemeClr val="tx1"/>
                          </a:solidFill>
                          <a:latin typeface="Arial"/>
                          <a:cs typeface="Arial"/>
                        </a:rPr>
                        <a:t>o</a:t>
                      </a:r>
                      <a:r>
                        <a:rPr sz="800" dirty="0">
                          <a:solidFill>
                            <a:schemeClr val="tx1"/>
                          </a:solidFill>
                          <a:latin typeface="Arial"/>
                          <a:cs typeface="Arial"/>
                        </a:rPr>
                        <a:t>n</a:t>
                      </a:r>
                      <a:r>
                        <a:rPr sz="800" spc="-70" dirty="0">
                          <a:solidFill>
                            <a:schemeClr val="tx1"/>
                          </a:solidFill>
                          <a:latin typeface="Arial"/>
                          <a:cs typeface="Arial"/>
                        </a:rPr>
                        <a:t> </a:t>
                      </a:r>
                      <a:r>
                        <a:rPr sz="800" spc="-10" dirty="0">
                          <a:solidFill>
                            <a:schemeClr val="tx1"/>
                          </a:solidFill>
                          <a:latin typeface="Arial"/>
                          <a:cs typeface="Arial"/>
                        </a:rPr>
                        <a:t>le</a:t>
                      </a:r>
                      <a:r>
                        <a:rPr sz="800" spc="-20" dirty="0">
                          <a:solidFill>
                            <a:schemeClr val="tx1"/>
                          </a:solidFill>
                          <a:latin typeface="Arial"/>
                          <a:cs typeface="Arial"/>
                        </a:rPr>
                        <a:t>v</a:t>
                      </a:r>
                      <a:r>
                        <a:rPr sz="800" spc="-10" dirty="0">
                          <a:solidFill>
                            <a:schemeClr val="tx1"/>
                          </a:solidFill>
                          <a:latin typeface="Arial"/>
                          <a:cs typeface="Arial"/>
                        </a:rPr>
                        <a:t>e</a:t>
                      </a:r>
                      <a:r>
                        <a:rPr sz="800" dirty="0">
                          <a:solidFill>
                            <a:schemeClr val="tx1"/>
                          </a:solidFill>
                          <a:latin typeface="Arial"/>
                          <a:cs typeface="Arial"/>
                        </a:rPr>
                        <a:t>l</a:t>
                      </a:r>
                      <a:r>
                        <a:rPr sz="800" spc="-30" dirty="0">
                          <a:solidFill>
                            <a:schemeClr val="tx1"/>
                          </a:solidFill>
                          <a:latin typeface="Arial"/>
                          <a:cs typeface="Arial"/>
                        </a:rPr>
                        <a:t> </a:t>
                      </a:r>
                      <a:r>
                        <a:rPr sz="800" spc="-5" dirty="0">
                          <a:solidFill>
                            <a:schemeClr val="tx1"/>
                          </a:solidFill>
                          <a:latin typeface="Arial"/>
                          <a:cs typeface="Arial"/>
                        </a:rPr>
                        <a:t>V</a:t>
                      </a:r>
                      <a:r>
                        <a:rPr sz="800" spc="-7" baseline="-18518" dirty="0">
                          <a:solidFill>
                            <a:schemeClr val="tx1"/>
                          </a:solidFill>
                          <a:latin typeface="Arial"/>
                          <a:cs typeface="Arial"/>
                        </a:rPr>
                        <a:t>S</a:t>
                      </a:r>
                      <a:r>
                        <a:rPr sz="800" baseline="-18518" dirty="0">
                          <a:solidFill>
                            <a:schemeClr val="tx1"/>
                          </a:solidFill>
                          <a:latin typeface="Arial"/>
                          <a:cs typeface="Arial"/>
                        </a:rPr>
                        <a:t>D</a:t>
                      </a:r>
                      <a:r>
                        <a:rPr lang="ko-KR" altLang="en-US" sz="800" baseline="-18518" dirty="0">
                          <a:solidFill>
                            <a:schemeClr val="tx1"/>
                          </a:solidFill>
                          <a:latin typeface="Arial"/>
                          <a:cs typeface="Arial"/>
                        </a:rPr>
                        <a:t> </a:t>
                      </a:r>
                      <a:r>
                        <a:rPr lang="en-US" altLang="ko-KR" sz="800" dirty="0">
                          <a:solidFill>
                            <a:schemeClr val="tx1"/>
                          </a:solidFill>
                          <a:latin typeface="Arial"/>
                          <a:cs typeface="Arial"/>
                        </a:rPr>
                        <a:t>:</a:t>
                      </a:r>
                      <a:r>
                        <a:rPr lang="ko-KR" altLang="en-US" sz="800" dirty="0">
                          <a:solidFill>
                            <a:schemeClr val="tx1"/>
                          </a:solidFill>
                          <a:latin typeface="Arial"/>
                          <a:cs typeface="Arial"/>
                        </a:rPr>
                        <a:t>  </a:t>
                      </a:r>
                      <a:endParaRPr lang="en-US" sz="800" dirty="0">
                        <a:solidFill>
                          <a:schemeClr val="tx1"/>
                        </a:solidFill>
                        <a:latin typeface="Arial"/>
                        <a:cs typeface="Arial"/>
                      </a:endParaRPr>
                    </a:p>
                    <a:p>
                      <a:pPr marL="275590" marR="241300" indent="33020" algn="l">
                        <a:lnSpc>
                          <a:spcPct val="100000"/>
                        </a:lnSpc>
                        <a:spcBef>
                          <a:spcPts val="160"/>
                        </a:spcBef>
                      </a:pPr>
                      <a:r>
                        <a:rPr lang="en-US" sz="800" dirty="0">
                          <a:solidFill>
                            <a:schemeClr val="tx1"/>
                          </a:solidFill>
                          <a:latin typeface="Arial"/>
                          <a:cs typeface="Arial"/>
                        </a:rPr>
                        <a:t>3b’000=3.5V,</a:t>
                      </a:r>
                      <a:r>
                        <a:rPr lang="en-US" sz="800" spc="160" dirty="0">
                          <a:solidFill>
                            <a:schemeClr val="tx1"/>
                          </a:solidFill>
                          <a:latin typeface="Arial"/>
                          <a:cs typeface="Arial"/>
                        </a:rPr>
                        <a:t> </a:t>
                      </a:r>
                      <a:r>
                        <a:rPr lang="en-US" sz="800" dirty="0">
                          <a:solidFill>
                            <a:schemeClr val="tx1"/>
                          </a:solidFill>
                          <a:latin typeface="Arial"/>
                          <a:cs typeface="Arial"/>
                        </a:rPr>
                        <a:t>3b’001=6.5V</a:t>
                      </a:r>
                    </a:p>
                    <a:p>
                      <a:pPr marL="275590" algn="l">
                        <a:lnSpc>
                          <a:spcPct val="100000"/>
                        </a:lnSpc>
                      </a:pPr>
                      <a:r>
                        <a:rPr lang="en-US" sz="800" dirty="0">
                          <a:solidFill>
                            <a:schemeClr val="tx1"/>
                          </a:solidFill>
                          <a:latin typeface="Arial"/>
                          <a:cs typeface="Arial"/>
                        </a:rPr>
                        <a:t> </a:t>
                      </a:r>
                      <a:r>
                        <a:rPr sz="800" dirty="0">
                          <a:solidFill>
                            <a:schemeClr val="tx1"/>
                          </a:solidFill>
                          <a:latin typeface="Arial"/>
                          <a:cs typeface="Arial"/>
                        </a:rPr>
                        <a:t>3b’0</a:t>
                      </a:r>
                      <a:r>
                        <a:rPr lang="en-US" sz="800" dirty="0">
                          <a:solidFill>
                            <a:schemeClr val="tx1"/>
                          </a:solidFill>
                          <a:latin typeface="Arial"/>
                          <a:cs typeface="Arial"/>
                        </a:rPr>
                        <a:t>10</a:t>
                      </a:r>
                      <a:r>
                        <a:rPr sz="800" dirty="0">
                          <a:solidFill>
                            <a:schemeClr val="tx1"/>
                          </a:solidFill>
                          <a:latin typeface="Arial"/>
                          <a:cs typeface="Arial"/>
                        </a:rPr>
                        <a:t>=</a:t>
                      </a:r>
                      <a:r>
                        <a:rPr lang="en-US" sz="800" dirty="0">
                          <a:solidFill>
                            <a:schemeClr val="tx1"/>
                          </a:solidFill>
                          <a:latin typeface="Arial"/>
                          <a:cs typeface="Arial"/>
                        </a:rPr>
                        <a:t>9.5</a:t>
                      </a:r>
                      <a:r>
                        <a:rPr sz="800" dirty="0">
                          <a:solidFill>
                            <a:schemeClr val="tx1"/>
                          </a:solidFill>
                          <a:latin typeface="Arial"/>
                          <a:cs typeface="Arial"/>
                        </a:rPr>
                        <a:t>V,</a:t>
                      </a:r>
                      <a:r>
                        <a:rPr sz="800" spc="125" dirty="0">
                          <a:solidFill>
                            <a:schemeClr val="tx1"/>
                          </a:solidFill>
                          <a:latin typeface="Arial"/>
                          <a:cs typeface="Arial"/>
                        </a:rPr>
                        <a:t> </a:t>
                      </a:r>
                      <a:r>
                        <a:rPr sz="800" dirty="0">
                          <a:solidFill>
                            <a:schemeClr val="tx1"/>
                          </a:solidFill>
                          <a:latin typeface="Arial"/>
                          <a:cs typeface="Arial"/>
                        </a:rPr>
                        <a:t>3b’</a:t>
                      </a:r>
                      <a:r>
                        <a:rPr lang="en-US" sz="800" dirty="0">
                          <a:solidFill>
                            <a:schemeClr val="tx1"/>
                          </a:solidFill>
                          <a:latin typeface="Arial"/>
                          <a:cs typeface="Arial"/>
                        </a:rPr>
                        <a:t>011</a:t>
                      </a:r>
                      <a:r>
                        <a:rPr sz="800" dirty="0">
                          <a:solidFill>
                            <a:schemeClr val="tx1"/>
                          </a:solidFill>
                          <a:latin typeface="Arial"/>
                          <a:cs typeface="Arial"/>
                        </a:rPr>
                        <a:t>=</a:t>
                      </a:r>
                      <a:r>
                        <a:rPr lang="en-US" sz="800" dirty="0">
                          <a:solidFill>
                            <a:schemeClr val="tx1"/>
                          </a:solidFill>
                          <a:latin typeface="Arial"/>
                          <a:cs typeface="Arial"/>
                        </a:rPr>
                        <a:t>12.5</a:t>
                      </a:r>
                      <a:r>
                        <a:rPr sz="800" dirty="0">
                          <a:solidFill>
                            <a:schemeClr val="tx1"/>
                          </a:solidFill>
                          <a:latin typeface="Arial"/>
                          <a:cs typeface="Arial"/>
                        </a:rPr>
                        <a:t>V</a:t>
                      </a:r>
                    </a:p>
                    <a:p>
                      <a:pPr marL="275590" algn="l">
                        <a:lnSpc>
                          <a:spcPct val="100000"/>
                        </a:lnSpc>
                      </a:pPr>
                      <a:r>
                        <a:rPr lang="en-US" sz="800" spc="-5" dirty="0">
                          <a:solidFill>
                            <a:schemeClr val="tx1"/>
                          </a:solidFill>
                          <a:latin typeface="Arial"/>
                          <a:cs typeface="Arial"/>
                        </a:rPr>
                        <a:t> </a:t>
                      </a:r>
                      <a:r>
                        <a:rPr sz="800" spc="-5" dirty="0">
                          <a:solidFill>
                            <a:schemeClr val="tx1"/>
                          </a:solidFill>
                          <a:latin typeface="Arial"/>
                          <a:cs typeface="Arial"/>
                        </a:rPr>
                        <a:t>3b’</a:t>
                      </a:r>
                      <a:r>
                        <a:rPr lang="en-US" sz="800" spc="-5" dirty="0">
                          <a:solidFill>
                            <a:schemeClr val="tx1"/>
                          </a:solidFill>
                          <a:latin typeface="Arial"/>
                          <a:cs typeface="Arial"/>
                        </a:rPr>
                        <a:t>100/101/110/111 </a:t>
                      </a:r>
                      <a:r>
                        <a:rPr sz="800" spc="-5" dirty="0">
                          <a:solidFill>
                            <a:schemeClr val="tx1"/>
                          </a:solidFill>
                          <a:latin typeface="Arial"/>
                          <a:cs typeface="Arial"/>
                        </a:rPr>
                        <a:t>=</a:t>
                      </a:r>
                      <a:r>
                        <a:rPr lang="en-US" sz="800" spc="-5" dirty="0">
                          <a:solidFill>
                            <a:schemeClr val="tx1"/>
                          </a:solidFill>
                          <a:latin typeface="Arial"/>
                          <a:cs typeface="Arial"/>
                        </a:rPr>
                        <a:t>16.5</a:t>
                      </a:r>
                      <a:r>
                        <a:rPr sz="800" spc="-5" dirty="0">
                          <a:solidFill>
                            <a:schemeClr val="tx1"/>
                          </a:solidFill>
                          <a:latin typeface="Arial"/>
                          <a:cs typeface="Arial"/>
                        </a:rPr>
                        <a:t>V</a:t>
                      </a:r>
                      <a:endParaRPr sz="800" dirty="0">
                        <a:solidFill>
                          <a:schemeClr val="tx1"/>
                        </a:solidFill>
                        <a:latin typeface="Arial"/>
                        <a:cs typeface="Arial"/>
                      </a:endParaRPr>
                    </a:p>
                  </a:txBody>
                  <a:tcPr marL="0" marR="0" marT="203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3359649"/>
                  </a:ext>
                </a:extLst>
              </a:tr>
              <a:tr h="244676">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Open detection voltage </a:t>
                      </a:r>
                      <a:r>
                        <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4</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OD</a:t>
                      </a: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154374"/>
                  </a:ext>
                </a:extLst>
              </a:tr>
              <a:tr h="838160">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Sink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Device max current level :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endParaRPr>
                    </a:p>
                    <a:p>
                      <a:pPr marL="67945" algn="l">
                        <a:lnSpc>
                          <a:spcPct val="100000"/>
                        </a:lnSpc>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4’b0000 =   4mA, 4’b0001 =   8mA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4’b0010 = 12mA, 4’b0011 = 16mA</a:t>
                      </a:r>
                    </a:p>
                    <a:p>
                      <a:pPr marL="67945" algn="l">
                        <a:lnSpc>
                          <a:spcPct val="100000"/>
                        </a:lnSpc>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4’b0100 = 20mA, 4’b0101 = 24mA</a:t>
                      </a:r>
                    </a:p>
                    <a:p>
                      <a:pPr marL="67945" algn="l">
                        <a:lnSpc>
                          <a:spcPct val="100000"/>
                        </a:lnSpc>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4’b0110 = 28mA, 4’b0111 = 32mA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4’b1000 = 36mA, 4’b1001 = 40mA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4’b1010 = 44mA, 4’b1011 = 48mA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4’b1100 = 52mA, 4’b1101 = 56mA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4’b1110 = 60mA, 4’b1111 = 64mA</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64</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22093"/>
                  </a:ext>
                </a:extLst>
              </a:tr>
              <a:tr h="263857">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Current accuracy </a:t>
                      </a:r>
                      <a:r>
                        <a:rPr kumimoji="0" lang="en-US" altLang="ko-KR" sz="900" b="0" i="0" u="none" strike="noStrike" kern="1200" cap="none" spc="0" normalizeH="0" baseline="30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5)</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endPar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318770" indent="0" algn="ctr">
                        <a:lnSpc>
                          <a:spcPct val="100000"/>
                        </a:lnSpc>
                        <a:spcBef>
                          <a:spcPts val="120"/>
                        </a:spcBef>
                      </a:pPr>
                      <a:r>
                        <a:rPr lang="en-US" altLang="ko-KR" sz="900" spc="-7" baseline="3968" dirty="0">
                          <a:solidFill>
                            <a:schemeClr val="tx1"/>
                          </a:solidFill>
                          <a:latin typeface="Arial"/>
                          <a:cs typeface="Arial"/>
                        </a:rPr>
                        <a:t>@ </a:t>
                      </a:r>
                      <a:r>
                        <a:rPr lang="en-US" altLang="ko-KR" sz="900" dirty="0">
                          <a:solidFill>
                            <a:schemeClr val="tx1"/>
                          </a:solidFill>
                          <a:latin typeface="Arial"/>
                          <a:cs typeface="Arial"/>
                        </a:rPr>
                        <a:t>a trimmed point</a:t>
                      </a:r>
                    </a:p>
                    <a:p>
                      <a:pPr marL="0" marR="318770" indent="0" algn="ctr">
                        <a:lnSpc>
                          <a:spcPct val="100000"/>
                        </a:lnSpc>
                        <a:spcBef>
                          <a:spcPts val="120"/>
                        </a:spcBef>
                      </a:pPr>
                      <a:r>
                        <a:rPr lang="en-US" altLang="ko-KR" sz="900" dirty="0">
                          <a:solidFill>
                            <a:schemeClr val="tx1"/>
                          </a:solidFill>
                          <a:latin typeface="Arial"/>
                          <a:cs typeface="Arial"/>
                        </a:rPr>
                        <a:t>(Room temperature at 25℃) </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lang="en-US" sz="900" dirty="0">
                          <a:solidFill>
                            <a:schemeClr val="tx1"/>
                          </a:solidFill>
                          <a:latin typeface="Arial"/>
                          <a:cs typeface="Arial"/>
                        </a:rPr>
                        <a:t>-1.5</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59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a:ea typeface="맑은 고딕" panose="020B0503020000020004" pitchFamily="50" charset="-127"/>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lang="en-US" sz="900" dirty="0">
                          <a:solidFill>
                            <a:schemeClr val="tx1"/>
                          </a:solidFill>
                          <a:latin typeface="Arial"/>
                          <a:cs typeface="Arial"/>
                        </a:rPr>
                        <a:t>+1.5</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7959294"/>
                  </a:ext>
                </a:extLst>
              </a:tr>
              <a:tr h="24467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LED off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OFF</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1270" algn="ctr">
                        <a:lnSpc>
                          <a:spcPct val="100000"/>
                        </a:lnSpc>
                        <a:spcBef>
                          <a:spcPts val="490"/>
                        </a:spcBef>
                      </a:pPr>
                      <a:r>
                        <a:rPr sz="900" spc="-5" dirty="0">
                          <a:solidFill>
                            <a:schemeClr val="tx1"/>
                          </a:solidFill>
                          <a:latin typeface="Arial"/>
                          <a:cs typeface="Arial"/>
                        </a:rPr>
                        <a:t>Vo</a:t>
                      </a:r>
                      <a:r>
                        <a:rPr sz="900" spc="-35" dirty="0">
                          <a:solidFill>
                            <a:schemeClr val="tx1"/>
                          </a:solidFill>
                          <a:latin typeface="Arial"/>
                          <a:cs typeface="Arial"/>
                        </a:rPr>
                        <a:t> </a:t>
                      </a:r>
                      <a:r>
                        <a:rPr sz="900" dirty="0">
                          <a:solidFill>
                            <a:schemeClr val="tx1"/>
                          </a:solidFill>
                          <a:latin typeface="Arial"/>
                          <a:cs typeface="Arial"/>
                        </a:rPr>
                        <a:t>=</a:t>
                      </a:r>
                      <a:r>
                        <a:rPr sz="900" spc="-25" dirty="0">
                          <a:solidFill>
                            <a:schemeClr val="tx1"/>
                          </a:solidFill>
                          <a:latin typeface="Arial"/>
                          <a:cs typeface="Arial"/>
                        </a:rPr>
                        <a:t> </a:t>
                      </a:r>
                      <a:r>
                        <a:rPr lang="en-US" sz="900" spc="-5" dirty="0">
                          <a:solidFill>
                            <a:schemeClr val="tx1"/>
                          </a:solidFill>
                          <a:latin typeface="Arial"/>
                          <a:cs typeface="Arial"/>
                        </a:rPr>
                        <a:t>40</a:t>
                      </a:r>
                      <a:r>
                        <a:rPr sz="900" spc="-5" dirty="0">
                          <a:solidFill>
                            <a:schemeClr val="tx1"/>
                          </a:solidFill>
                          <a:latin typeface="Arial"/>
                          <a:cs typeface="Arial"/>
                        </a:rPr>
                        <a:t>V</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90"/>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90"/>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635" algn="ctr">
                        <a:lnSpc>
                          <a:spcPct val="100000"/>
                        </a:lnSpc>
                        <a:spcBef>
                          <a:spcPts val="490"/>
                        </a:spcBef>
                      </a:pPr>
                      <a:r>
                        <a:rPr sz="900" spc="-5" dirty="0">
                          <a:solidFill>
                            <a:schemeClr val="tx1"/>
                          </a:solidFill>
                          <a:latin typeface="Arial"/>
                          <a:cs typeface="Arial"/>
                        </a:rPr>
                        <a:t>300</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nA</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65414234"/>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Feedback</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76727051"/>
                  </a:ext>
                </a:extLst>
              </a:tr>
              <a:tr h="850463">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FB threshold voltage</a:t>
                      </a:r>
                    </a:p>
                    <a:p>
                      <a:pPr marL="0" marR="0" lvl="0" indent="0" algn="r" defTabSz="685800" rtl="0" eaLnBrk="1" fontAlgn="ctr" latinLnBrk="1" hangingPunct="1">
                        <a:lnSpc>
                          <a:spcPct val="100000"/>
                        </a:lnSpc>
                        <a:spcBef>
                          <a:spcPts val="0"/>
                        </a:spcBef>
                        <a:spcAft>
                          <a:spcPts val="0"/>
                        </a:spcAft>
                        <a:buClrTx/>
                        <a:buSzTx/>
                        <a:buFontTx/>
                        <a:buNone/>
                        <a:tabLst/>
                        <a:defRPr/>
                      </a:pP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Logically ORed for 12-ch)</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level 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FBA</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p>
                      <a:pPr algn="ctr" fontAlgn="ctr">
                        <a:lnSpc>
                          <a:spcPct val="100000"/>
                        </a:lnSpc>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3’b000 = 0.45V,  3’b001 = 0.55V</a:t>
                      </a:r>
                    </a:p>
                    <a:p>
                      <a:pPr algn="ctr" fontAlgn="ctr">
                        <a:lnSpc>
                          <a:spcPct val="100000"/>
                        </a:lnSpc>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3’b010 = 0.65V,  3’b011 = 0.75V</a:t>
                      </a:r>
                    </a:p>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3’b100 = 0.90V,  3’b101 = 1.05V</a:t>
                      </a:r>
                    </a:p>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3’b110 = 1.20V,  3’b111 = 1.35V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FBA</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9383751"/>
                  </a:ext>
                </a:extLst>
              </a:tr>
              <a:tr h="244676">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hysteresis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40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60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110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mV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05651753"/>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Thermal protection</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11483299"/>
                  </a:ext>
                </a:extLst>
              </a:tr>
              <a:tr h="331615">
                <a:tc>
                  <a:txBody>
                    <a:bodyPr/>
                    <a:lstStyle/>
                    <a:p>
                      <a:pPr marL="0" marR="64135" indent="0" algn="r">
                        <a:lnSpc>
                          <a:spcPct val="100000"/>
                        </a:lnSpc>
                        <a:spcBef>
                          <a:spcPts val="0"/>
                        </a:spcBef>
                      </a:pPr>
                      <a:r>
                        <a:rPr lang="en-US" sz="900" spc="-10" dirty="0">
                          <a:latin typeface="Arial"/>
                          <a:cs typeface="Arial"/>
                        </a:rPr>
                        <a:t>T</a:t>
                      </a:r>
                      <a:r>
                        <a:rPr lang="en-US" sz="900" dirty="0">
                          <a:latin typeface="Arial"/>
                          <a:cs typeface="Arial"/>
                        </a:rPr>
                        <a:t>her</a:t>
                      </a:r>
                      <a:r>
                        <a:rPr lang="en-US" sz="900" spc="5" dirty="0">
                          <a:latin typeface="Arial"/>
                          <a:cs typeface="Arial"/>
                        </a:rPr>
                        <a:t>m</a:t>
                      </a:r>
                      <a:r>
                        <a:rPr lang="en-US" sz="900" dirty="0">
                          <a:latin typeface="Arial"/>
                          <a:cs typeface="Arial"/>
                        </a:rPr>
                        <a:t>al cut off </a:t>
                      </a:r>
                      <a:r>
                        <a:rPr lang="en-US" sz="900" spc="-5" dirty="0">
                          <a:latin typeface="Arial"/>
                          <a:cs typeface="Arial"/>
                        </a:rPr>
                        <a:t>@T</a:t>
                      </a:r>
                      <a:r>
                        <a:rPr lang="en-US" sz="900" spc="-7" baseline="-9259" dirty="0">
                          <a:latin typeface="Arial"/>
                          <a:cs typeface="Arial"/>
                        </a:rPr>
                        <a:t>J</a:t>
                      </a:r>
                      <a:endParaRPr lang="en-US" sz="900" baseline="-9259" dirty="0">
                        <a:latin typeface="Arial"/>
                        <a:cs typeface="Arial"/>
                      </a:endParaRPr>
                    </a:p>
                  </a:txBody>
                  <a:tcPr marL="0" marR="0" marT="36000" marB="3600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227965" lvl="0" indent="0" algn="r" defTabSz="914400" eaLnBrk="1" fontAlgn="auto" latinLnBrk="0" hangingPunct="1">
                        <a:lnSpc>
                          <a:spcPct val="100000"/>
                        </a:lnSpc>
                        <a:spcBef>
                          <a:spcPts val="605"/>
                        </a:spcBef>
                        <a:spcAft>
                          <a:spcPts val="0"/>
                        </a:spcAft>
                        <a:buClrTx/>
                        <a:buSzTx/>
                        <a:buFontTx/>
                        <a:buNone/>
                        <a:tabLst/>
                        <a:defRPr/>
                      </a:pPr>
                      <a:r>
                        <a:rPr kumimoji="0" lang="en-US" altLang="ko-KR" sz="1350" b="0" i="0" u="none" strike="noStrike" kern="0" cap="none" spc="-7" normalizeH="0" baseline="6172" noProof="0" dirty="0">
                          <a:ln>
                            <a:noFill/>
                          </a:ln>
                          <a:solidFill>
                            <a:prstClr val="black"/>
                          </a:solidFill>
                          <a:effectLst/>
                          <a:uLnTx/>
                          <a:uFillTx/>
                          <a:latin typeface="Arial"/>
                          <a:ea typeface="+mn-ea"/>
                          <a:cs typeface="Arial"/>
                        </a:rPr>
                        <a:t>T</a:t>
                      </a:r>
                      <a:r>
                        <a:rPr kumimoji="0" lang="en-US" altLang="ko-KR" sz="600" b="0" i="0" u="none" strike="noStrike" kern="0" cap="none" spc="-5" normalizeH="0" baseline="0" noProof="0" dirty="0">
                          <a:ln>
                            <a:noFill/>
                          </a:ln>
                          <a:solidFill>
                            <a:prstClr val="black"/>
                          </a:solidFill>
                          <a:effectLst/>
                          <a:uLnTx/>
                          <a:uFillTx/>
                          <a:latin typeface="Arial"/>
                          <a:ea typeface="+mn-ea"/>
                          <a:cs typeface="Arial"/>
                        </a:rPr>
                        <a:t>CUT</a:t>
                      </a:r>
                      <a:endParaRPr kumimoji="0" lang="en-US" altLang="ko-KR" sz="600" b="0" i="0" u="none" strike="noStrike" kern="0" cap="none" spc="0" normalizeH="0" baseline="0" noProof="0" dirty="0">
                        <a:ln>
                          <a:noFill/>
                        </a:ln>
                        <a:solidFill>
                          <a:prstClr val="black"/>
                        </a:solidFill>
                        <a:effectLst/>
                        <a:uLnTx/>
                        <a:uFillTx/>
                        <a:latin typeface="Arial"/>
                        <a:ea typeface="+mn-ea"/>
                        <a:cs typeface="Arial"/>
                      </a:endParaRPr>
                    </a:p>
                  </a:txBody>
                  <a:tcPr marL="0" marR="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altLang="ko-KR" sz="900" dirty="0">
                          <a:solidFill>
                            <a:schemeClr val="tx1"/>
                          </a:solidFill>
                          <a:latin typeface="Arial" panose="020B0604020202020204" pitchFamily="34" charset="0"/>
                          <a:cs typeface="Arial" panose="020B0604020202020204" pitchFamily="34" charset="0"/>
                        </a:rPr>
                        <a:t>Default OFS_TEMP [3:0] = 0x8</a:t>
                      </a:r>
                    </a:p>
                  </a:txBody>
                  <a:tcPr marL="0" marR="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3020" marR="0" lvl="0" indent="0" algn="ctr"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905" algn="ctr">
                        <a:lnSpc>
                          <a:spcPct val="100000"/>
                        </a:lnSpc>
                        <a:spcBef>
                          <a:spcPts val="815"/>
                        </a:spcBef>
                      </a:pPr>
                      <a:r>
                        <a:rPr lang="en-US" sz="900" dirty="0">
                          <a:solidFill>
                            <a:schemeClr val="tx1"/>
                          </a:solidFill>
                          <a:latin typeface="Arial" panose="020B0604020202020204" pitchFamily="34" charset="0"/>
                          <a:cs typeface="Arial" panose="020B0604020202020204" pitchFamily="34" charset="0"/>
                        </a:rPr>
                        <a:t>130</a:t>
                      </a:r>
                      <a:endParaRPr sz="900" dirty="0">
                        <a:solidFill>
                          <a:schemeClr val="tx1"/>
                        </a:solidFill>
                        <a:latin typeface="Arial" panose="020B0604020202020204" pitchFamily="34" charset="0"/>
                        <a:cs typeface="Arial" panose="020B0604020202020204" pitchFamily="34" charset="0"/>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3020" algn="ctr">
                        <a:lnSpc>
                          <a:spcPct val="100000"/>
                        </a:lnSpc>
                      </a:pPr>
                      <a:r>
                        <a:rPr lang="en-US" altLang="ko-KR" sz="900" dirty="0">
                          <a:solidFill>
                            <a:schemeClr val="tx1"/>
                          </a:solidFill>
                          <a:latin typeface="Arial" panose="020B0604020202020204" pitchFamily="34" charset="0"/>
                          <a:cs typeface="Arial" panose="020B0604020202020204" pitchFamily="34" charset="0"/>
                        </a:rPr>
                        <a:t>-</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19075" algn="r">
                        <a:lnSpc>
                          <a:spcPct val="100000"/>
                        </a:lnSpc>
                      </a:pPr>
                      <a:r>
                        <a:rPr sz="900" dirty="0">
                          <a:solidFill>
                            <a:schemeClr val="tx1"/>
                          </a:solidFill>
                          <a:latin typeface="Arial" panose="020B0604020202020204" pitchFamily="34" charset="0"/>
                          <a:cs typeface="Arial" panose="020B0604020202020204" pitchFamily="34" charset="0"/>
                        </a:rPr>
                        <a:t>℃</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179033"/>
                  </a:ext>
                </a:extLst>
              </a:tr>
              <a:tr h="228065">
                <a:tc>
                  <a:txBody>
                    <a:bodyPr/>
                    <a:lstStyle/>
                    <a:p>
                      <a:pPr marL="0" marR="66040" indent="0" algn="r">
                        <a:lnSpc>
                          <a:spcPct val="100000"/>
                        </a:lnSpc>
                      </a:pPr>
                      <a:r>
                        <a:rPr sz="900" spc="-5" dirty="0">
                          <a:latin typeface="Arial"/>
                          <a:cs typeface="Arial"/>
                        </a:rPr>
                        <a:t>Thermal</a:t>
                      </a:r>
                      <a:r>
                        <a:rPr sz="900" spc="-40" dirty="0">
                          <a:latin typeface="Arial"/>
                          <a:cs typeface="Arial"/>
                        </a:rPr>
                        <a:t> </a:t>
                      </a:r>
                      <a:r>
                        <a:rPr lang="en-US" sz="900" dirty="0">
                          <a:latin typeface="Arial"/>
                          <a:cs typeface="Arial"/>
                        </a:rPr>
                        <a:t>cut off </a:t>
                      </a:r>
                      <a:r>
                        <a:rPr sz="900" dirty="0">
                          <a:latin typeface="Arial"/>
                          <a:cs typeface="Arial"/>
                        </a:rPr>
                        <a:t>h</a:t>
                      </a:r>
                      <a:r>
                        <a:rPr sz="900" spc="-10" dirty="0">
                          <a:latin typeface="Arial"/>
                          <a:cs typeface="Arial"/>
                        </a:rPr>
                        <a:t>y</a:t>
                      </a:r>
                      <a:r>
                        <a:rPr sz="900" spc="5" dirty="0">
                          <a:latin typeface="Arial"/>
                          <a:cs typeface="Arial"/>
                        </a:rPr>
                        <a:t>s</a:t>
                      </a:r>
                      <a:r>
                        <a:rPr sz="900" dirty="0">
                          <a:latin typeface="Arial"/>
                          <a:cs typeface="Arial"/>
                        </a:rPr>
                        <a:t>tere</a:t>
                      </a:r>
                      <a:r>
                        <a:rPr sz="900" spc="5" dirty="0">
                          <a:latin typeface="Arial"/>
                          <a:cs typeface="Arial"/>
                        </a:rPr>
                        <a:t>s</a:t>
                      </a:r>
                      <a:r>
                        <a:rPr sz="900" dirty="0">
                          <a:latin typeface="Arial"/>
                          <a:cs typeface="Arial"/>
                        </a:rPr>
                        <a:t>is</a:t>
                      </a:r>
                      <a:r>
                        <a:rPr sz="900" spc="-30" dirty="0">
                          <a:latin typeface="Arial"/>
                          <a:cs typeface="Arial"/>
                        </a:rPr>
                        <a:t> </a:t>
                      </a:r>
                      <a:r>
                        <a:rPr kumimoji="0" lang="en-US" altLang="ko-KR" sz="900" b="0" i="0" u="none" strike="noStrike" kern="1200" cap="none" spc="-5" normalizeH="0" baseline="0" noProof="0" dirty="0">
                          <a:ln>
                            <a:noFill/>
                          </a:ln>
                          <a:solidFill>
                            <a:prstClr val="black"/>
                          </a:solidFill>
                          <a:effectLst/>
                          <a:uLnTx/>
                          <a:uFillTx/>
                          <a:latin typeface="Arial"/>
                          <a:ea typeface="+mn-ea"/>
                          <a:cs typeface="Arial"/>
                        </a:rPr>
                        <a:t>@T</a:t>
                      </a:r>
                      <a:r>
                        <a:rPr kumimoji="0" lang="en-US" altLang="ko-KR" sz="900" b="0" i="0" u="none" strike="noStrike" kern="1200" cap="none" spc="-7" normalizeH="0" baseline="-9259" noProof="0" dirty="0">
                          <a:ln>
                            <a:noFill/>
                          </a:ln>
                          <a:solidFill>
                            <a:prstClr val="black"/>
                          </a:solidFill>
                          <a:effectLst/>
                          <a:uLnTx/>
                          <a:uFillTx/>
                          <a:latin typeface="Arial"/>
                          <a:ea typeface="+mn-ea"/>
                          <a:cs typeface="Arial"/>
                        </a:rPr>
                        <a:t>J</a:t>
                      </a:r>
                      <a:endParaRPr sz="900" dirty="0">
                        <a:latin typeface="Arial"/>
                        <a:cs typeface="Arial"/>
                      </a:endParaRPr>
                    </a:p>
                  </a:txBody>
                  <a:tcPr marL="0" marR="0" marT="63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27965" algn="r">
                        <a:lnSpc>
                          <a:spcPct val="100000"/>
                        </a:lnSpc>
                      </a:pPr>
                      <a:r>
                        <a:rPr sz="1350" spc="-7" baseline="6172" dirty="0">
                          <a:latin typeface="Arial"/>
                          <a:cs typeface="Arial"/>
                        </a:rPr>
                        <a:t>T</a:t>
                      </a:r>
                      <a:r>
                        <a:rPr sz="600" spc="-5" dirty="0">
                          <a:latin typeface="Arial"/>
                          <a:cs typeface="Arial"/>
                        </a:rPr>
                        <a:t>HYS</a:t>
                      </a:r>
                      <a:endParaRPr sz="600" dirty="0">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0180">
                        <a:lnSpc>
                          <a:spcPct val="100000"/>
                        </a:lnSpc>
                      </a:pPr>
                      <a:r>
                        <a:rPr lang="en-US" sz="900" spc="-5" dirty="0">
                          <a:solidFill>
                            <a:schemeClr val="tx1"/>
                          </a:solidFill>
                          <a:latin typeface="Arial" panose="020B0604020202020204" pitchFamily="34" charset="0"/>
                          <a:cs typeface="Arial" panose="020B0604020202020204" pitchFamily="34" charset="0"/>
                        </a:rPr>
                        <a:t>1</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8575" algn="ctr">
                        <a:lnSpc>
                          <a:spcPct val="100000"/>
                        </a:lnSpc>
                      </a:pPr>
                      <a:r>
                        <a:rPr lang="en-US" sz="900" spc="-5" dirty="0">
                          <a:solidFill>
                            <a:schemeClr val="tx1"/>
                          </a:solidFill>
                          <a:latin typeface="Arial" panose="020B0604020202020204" pitchFamily="34" charset="0"/>
                          <a:cs typeface="Arial" panose="020B0604020202020204" pitchFamily="34" charset="0"/>
                        </a:rPr>
                        <a:t>2</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54610" algn="ctr">
                        <a:lnSpc>
                          <a:spcPct val="100000"/>
                        </a:lnSpc>
                      </a:pPr>
                      <a:r>
                        <a:rPr lang="en-US" sz="900" spc="-5" dirty="0">
                          <a:solidFill>
                            <a:schemeClr val="tx1"/>
                          </a:solidFill>
                          <a:latin typeface="Arial" panose="020B0604020202020204" pitchFamily="34" charset="0"/>
                          <a:cs typeface="Arial" panose="020B0604020202020204" pitchFamily="34" charset="0"/>
                        </a:rPr>
                        <a:t>3</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19075" algn="r">
                        <a:lnSpc>
                          <a:spcPct val="100000"/>
                        </a:lnSpc>
                        <a:spcBef>
                          <a:spcPts val="5"/>
                        </a:spcBef>
                      </a:pPr>
                      <a:r>
                        <a:rPr sz="900" dirty="0">
                          <a:solidFill>
                            <a:schemeClr val="tx1"/>
                          </a:solidFill>
                          <a:latin typeface="Arial" panose="020B0604020202020204" pitchFamily="34" charset="0"/>
                          <a:cs typeface="Arial" panose="020B0604020202020204"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3532953"/>
                  </a:ext>
                </a:extLst>
              </a:tr>
            </a:tbl>
          </a:graphicData>
        </a:graphic>
      </p:graphicFrame>
      <p:sp>
        <p:nvSpPr>
          <p:cNvPr id="5" name="TextBox 4">
            <a:extLst>
              <a:ext uri="{FF2B5EF4-FFF2-40B4-BE49-F238E27FC236}">
                <a16:creationId xmlns:a16="http://schemas.microsoft.com/office/drawing/2014/main" id="{C1647378-DF0C-27AC-E244-2231A1772290}"/>
              </a:ext>
            </a:extLst>
          </p:cNvPr>
          <p:cNvSpPr txBox="1"/>
          <p:nvPr/>
        </p:nvSpPr>
        <p:spPr>
          <a:xfrm>
            <a:off x="428208" y="7898910"/>
            <a:ext cx="6048620" cy="428322"/>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pPr>
              <a:spcBef>
                <a:spcPts val="0"/>
              </a:spcBef>
            </a:pPr>
            <a:r>
              <a:rPr lang="en-US" altLang="ko-KR" dirty="0"/>
              <a:t>Note :  4) If LED open or short event is happened, the corresponding channel will be turned-off under the function</a:t>
            </a:r>
          </a:p>
          <a:p>
            <a:pPr>
              <a:spcBef>
                <a:spcPts val="0"/>
              </a:spcBef>
            </a:pPr>
            <a:r>
              <a:rPr lang="en-US" altLang="ko-KR" dirty="0"/>
              <a:t>                enabled.  If the thermal is happened, all channels output will be turned-off under the function enabled.</a:t>
            </a:r>
          </a:p>
          <a:p>
            <a:pPr>
              <a:spcBef>
                <a:spcPts val="0"/>
              </a:spcBef>
            </a:pPr>
            <a:r>
              <a:rPr lang="en-US" altLang="ko-KR" dirty="0"/>
              <a:t>            5) Under satisfying the power dissipation specification.</a:t>
            </a:r>
          </a:p>
        </p:txBody>
      </p:sp>
    </p:spTree>
    <p:extLst>
      <p:ext uri="{BB962C8B-B14F-4D97-AF65-F5344CB8AC3E}">
        <p14:creationId xmlns:p14="http://schemas.microsoft.com/office/powerpoint/2010/main" val="3648400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948553EF-E3DF-E660-4A48-C2C8B63A812C}"/>
              </a:ext>
            </a:extLst>
          </p:cNvPr>
          <p:cNvSpPr txBox="1"/>
          <p:nvPr/>
        </p:nvSpPr>
        <p:spPr>
          <a:xfrm>
            <a:off x="404812" y="774866"/>
            <a:ext cx="603964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=3.3V,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aphicFrame>
        <p:nvGraphicFramePr>
          <p:cNvPr id="9" name="표 8">
            <a:extLst>
              <a:ext uri="{FF2B5EF4-FFF2-40B4-BE49-F238E27FC236}">
                <a16:creationId xmlns:a16="http://schemas.microsoft.com/office/drawing/2014/main" id="{9B4CF479-A9A6-1ED5-74B9-C5D521ACED0F}"/>
              </a:ext>
            </a:extLst>
          </p:cNvPr>
          <p:cNvGraphicFramePr>
            <a:graphicFrameLocks noGrp="1"/>
          </p:cNvGraphicFramePr>
          <p:nvPr>
            <p:extLst>
              <p:ext uri="{D42A27DB-BD31-4B8C-83A1-F6EECF244321}">
                <p14:modId xmlns:p14="http://schemas.microsoft.com/office/powerpoint/2010/main" val="650947857"/>
              </p:ext>
            </p:extLst>
          </p:nvPr>
        </p:nvGraphicFramePr>
        <p:xfrm>
          <a:off x="404811" y="1146851"/>
          <a:ext cx="6048622" cy="3163712"/>
        </p:xfrm>
        <a:graphic>
          <a:graphicData uri="http://schemas.openxmlformats.org/drawingml/2006/table">
            <a:tbl>
              <a:tblPr>
                <a:tableStyleId>{5C22544A-7EE6-4342-B048-85BDC9FD1C3A}</a:tableStyleId>
              </a:tblPr>
              <a:tblGrid>
                <a:gridCol w="1402522">
                  <a:extLst>
                    <a:ext uri="{9D8B030D-6E8A-4147-A177-3AD203B41FA5}">
                      <a16:colId xmlns:a16="http://schemas.microsoft.com/office/drawing/2014/main" val="1783343538"/>
                    </a:ext>
                  </a:extLst>
                </a:gridCol>
                <a:gridCol w="684027">
                  <a:extLst>
                    <a:ext uri="{9D8B030D-6E8A-4147-A177-3AD203B41FA5}">
                      <a16:colId xmlns:a16="http://schemas.microsoft.com/office/drawing/2014/main" val="3180006436"/>
                    </a:ext>
                  </a:extLst>
                </a:gridCol>
                <a:gridCol w="1809617">
                  <a:extLst>
                    <a:ext uri="{9D8B030D-6E8A-4147-A177-3AD203B41FA5}">
                      <a16:colId xmlns:a16="http://schemas.microsoft.com/office/drawing/2014/main" val="1629708029"/>
                    </a:ext>
                  </a:extLst>
                </a:gridCol>
                <a:gridCol w="529993">
                  <a:extLst>
                    <a:ext uri="{9D8B030D-6E8A-4147-A177-3AD203B41FA5}">
                      <a16:colId xmlns:a16="http://schemas.microsoft.com/office/drawing/2014/main" val="3514095092"/>
                    </a:ext>
                  </a:extLst>
                </a:gridCol>
                <a:gridCol w="529993">
                  <a:extLst>
                    <a:ext uri="{9D8B030D-6E8A-4147-A177-3AD203B41FA5}">
                      <a16:colId xmlns:a16="http://schemas.microsoft.com/office/drawing/2014/main" val="2256908222"/>
                    </a:ext>
                  </a:extLst>
                </a:gridCol>
                <a:gridCol w="529993">
                  <a:extLst>
                    <a:ext uri="{9D8B030D-6E8A-4147-A177-3AD203B41FA5}">
                      <a16:colId xmlns:a16="http://schemas.microsoft.com/office/drawing/2014/main" val="2915946677"/>
                    </a:ext>
                  </a:extLst>
                </a:gridCol>
                <a:gridCol w="562477">
                  <a:extLst>
                    <a:ext uri="{9D8B030D-6E8A-4147-A177-3AD203B41FA5}">
                      <a16:colId xmlns:a16="http://schemas.microsoft.com/office/drawing/2014/main" val="2559142005"/>
                    </a:ext>
                  </a:extLst>
                </a:gridCol>
              </a:tblGrid>
              <a:tr h="269132">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200011002"/>
                  </a:ext>
                </a:extLst>
              </a:tr>
              <a:tr h="269132">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69132">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 </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Ramp up and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LED </a:t>
                      </a:r>
                      <a:r>
                        <a:rPr lang="en-US" altLang="ko-KR" sz="9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Start</a:t>
                      </a:r>
                      <a:endParaRPr lang="en-US" sz="9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241376">
                <a:tc>
                  <a:txBody>
                    <a:bodyPr/>
                    <a:lstStyle/>
                    <a:p>
                      <a:pPr algn="r" fontAlgn="ct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baseline="0" dirty="0">
                          <a:latin typeface="Arial" panose="020B0604020202020204" pitchFamily="34" charset="0"/>
                          <a:cs typeface="Arial" panose="020B0604020202020204" pitchFamily="34" charset="0"/>
                        </a:rPr>
                        <a:t>Ramp up time</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VDD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from 0 to stable 3.3V</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241376">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LED </a:t>
                      </a:r>
                      <a:r>
                        <a:rPr lang="en-US" altLang="ko-KR" sz="900" baseline="0" dirty="0">
                          <a:latin typeface="Arial" panose="020B0604020202020204" pitchFamily="34" charset="0"/>
                          <a:cs typeface="Arial" panose="020B0604020202020204" pitchFamily="34" charset="0"/>
                        </a:rPr>
                        <a:t>Start time</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SU_DIM</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after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SU_DIM</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is completed</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6)</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6363831"/>
                  </a:ext>
                </a:extLst>
              </a:tr>
              <a:tr h="241376">
                <a:tc gridSpan="2">
                  <a:txBody>
                    <a:bodyPr/>
                    <a:lstStyle/>
                    <a:p>
                      <a:pPr algn="l"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Initialization after 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5V stable</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0927470"/>
                  </a:ext>
                </a:extLst>
              </a:tr>
              <a:tr h="22878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Initial time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INIT</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from stable 3.3V</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100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8014195"/>
                  </a:ext>
                </a:extLst>
              </a:tr>
              <a:tr h="22878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Allowed 1</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st</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command</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FCMD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after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INIT</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is completed</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2860677"/>
                  </a:ext>
                </a:extLst>
              </a:tr>
              <a:tr h="457355">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Timeout : Internal timer starts after completing to receive a read-back command and stops after first response bit</a:t>
                      </a:r>
                    </a:p>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from a last daisied device.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This depends on the frequency of MCLK.</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154374"/>
                  </a:ext>
                </a:extLst>
              </a:tr>
              <a:tr h="23908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Timeout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7)</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TIMEOUT</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131,071</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MCLK</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22093"/>
                  </a:ext>
                </a:extLst>
              </a:tr>
              <a:tr h="239087">
                <a:tc gridSpan="7">
                  <a:txBody>
                    <a:bodyPr/>
                    <a:lstStyle/>
                    <a:p>
                      <a:pPr algn="l" fontAlgn="ctr"/>
                      <a:r>
                        <a:rPr lang="en-US" altLang="ko-KR" sz="900" dirty="0">
                          <a:solidFill>
                            <a:schemeClr val="tx1"/>
                          </a:solidFill>
                          <a:latin typeface="Arial" panose="020B0604020202020204" pitchFamily="34" charset="0"/>
                          <a:cs typeface="Arial" panose="020B0604020202020204" pitchFamily="34" charset="0"/>
                        </a:rPr>
                        <a:t>  VSYNC daisy out @ EXT_VS_E = 1</a:t>
                      </a:r>
                      <a:endPar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67945" algn="ctr">
                        <a:lnSpc>
                          <a:spcPct val="100000"/>
                        </a:lnSpc>
                      </a:pP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4697295"/>
                  </a:ext>
                </a:extLst>
              </a:tr>
              <a:tr h="23908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VSYNCO delay</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VSOD</a:t>
                      </a:r>
                      <a:endParaRPr lang="ko-KR" altLang="en-US" sz="900" baseline="-25000" dirty="0">
                        <a:latin typeface="Arial" panose="020B0604020202020204" pitchFamily="34" charset="0"/>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b="0" dirty="0">
                          <a:solidFill>
                            <a:schemeClr val="tx1"/>
                          </a:solidFill>
                          <a:latin typeface="Arial" panose="020B0604020202020204" pitchFamily="34" charset="0"/>
                          <a:ea typeface="+mn-ea"/>
                          <a:cs typeface="Arial" panose="020B0604020202020204" pitchFamily="34" charset="0"/>
                        </a:rPr>
                        <a:t>from VSYNCI to VSYNCO</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5.0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9.0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1353266"/>
                  </a:ext>
                </a:extLst>
              </a:tr>
            </a:tbl>
          </a:graphicData>
        </a:graphic>
      </p:graphicFrame>
      <p:sp>
        <p:nvSpPr>
          <p:cNvPr id="10" name="TextBox 9">
            <a:extLst>
              <a:ext uri="{FF2B5EF4-FFF2-40B4-BE49-F238E27FC236}">
                <a16:creationId xmlns:a16="http://schemas.microsoft.com/office/drawing/2014/main" id="{001364E7-342B-084B-4044-93466BE3D5C1}"/>
              </a:ext>
            </a:extLst>
          </p:cNvPr>
          <p:cNvSpPr txBox="1"/>
          <p:nvPr/>
        </p:nvSpPr>
        <p:spPr>
          <a:xfrm>
            <a:off x="404811" y="4408249"/>
            <a:ext cx="6048622" cy="453970"/>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r>
              <a:rPr lang="en-US" altLang="ko-KR" dirty="0"/>
              <a:t>Note :  6</a:t>
            </a:r>
            <a:r>
              <a:rPr lang="en-US" altLang="ko-KR" dirty="0">
                <a:solidFill>
                  <a:srgbClr val="000000"/>
                </a:solidFill>
                <a:ea typeface="굴림" panose="020B0600000101010101" pitchFamily="50" charset="-127"/>
              </a:rPr>
              <a:t>) The time depends on the system configuration, the daisied XD12R  number and Baud-rate.</a:t>
            </a:r>
            <a:endParaRPr lang="en-US" altLang="ko-KR" dirty="0"/>
          </a:p>
          <a:p>
            <a:r>
              <a:rPr lang="en-US" altLang="ko-KR" dirty="0"/>
              <a:t>            7) If the timeout will be expired, the internal communication logic will go to an initial state, so new command</a:t>
            </a:r>
          </a:p>
          <a:p>
            <a:r>
              <a:rPr lang="en-US" altLang="ko-KR" dirty="0"/>
              <a:t>                transaction will be possible. The timeout function is configurable.</a:t>
            </a:r>
          </a:p>
        </p:txBody>
      </p:sp>
      <p:sp>
        <p:nvSpPr>
          <p:cNvPr id="13" name="object 2">
            <a:extLst>
              <a:ext uri="{FF2B5EF4-FFF2-40B4-BE49-F238E27FC236}">
                <a16:creationId xmlns:a16="http://schemas.microsoft.com/office/drawing/2014/main" id="{2FCACA9A-B44C-5AFF-A01F-2C574BB166F9}"/>
              </a:ext>
            </a:extLst>
          </p:cNvPr>
          <p:cNvSpPr txBox="1"/>
          <p:nvPr/>
        </p:nvSpPr>
        <p:spPr>
          <a:xfrm>
            <a:off x="404811" y="6391381"/>
            <a:ext cx="6039642" cy="215444"/>
          </a:xfrm>
          <a:prstGeom prst="rect">
            <a:avLst/>
          </a:prstGeom>
        </p:spPr>
        <p:txBody>
          <a:bodyPr vert="horz" wrap="square" lIns="0" tIns="0" rIns="0" bIns="0" rtlCol="0" anchor="ctr">
            <a:spAutoFit/>
          </a:bodyPr>
          <a:lstStyle/>
          <a:p>
            <a:pPr>
              <a:lnSpc>
                <a:spcPct val="100000"/>
              </a:lnSpc>
              <a:spcBef>
                <a:spcPts val="0"/>
              </a:spcBef>
            </a:pPr>
            <a:r>
              <a:rPr sz="1400" b="1" spc="-10" dirty="0">
                <a:latin typeface="Arial" panose="020B0604020202020204" pitchFamily="34" charset="0"/>
                <a:cs typeface="Arial" panose="020B0604020202020204" pitchFamily="34" charset="0"/>
              </a:rPr>
              <a:t>Power</a:t>
            </a:r>
            <a:r>
              <a:rPr sz="1400" b="1" spc="-25" dirty="0">
                <a:latin typeface="Arial" panose="020B0604020202020204" pitchFamily="34" charset="0"/>
                <a:cs typeface="Arial" panose="020B0604020202020204" pitchFamily="34" charset="0"/>
              </a:rPr>
              <a:t> </a:t>
            </a:r>
            <a:r>
              <a:rPr sz="1400" b="1" spc="-5" dirty="0">
                <a:latin typeface="Arial" panose="020B0604020202020204" pitchFamily="34" charset="0"/>
                <a:cs typeface="Arial" panose="020B0604020202020204" pitchFamily="34" charset="0"/>
              </a:rPr>
              <a:t>Sequence</a:t>
            </a:r>
            <a:endParaRPr sz="1400" dirty="0">
              <a:latin typeface="Arial" panose="020B0604020202020204" pitchFamily="34" charset="0"/>
              <a:cs typeface="Arial" panose="020B0604020202020204" pitchFamily="34" charset="0"/>
            </a:endParaRPr>
          </a:p>
        </p:txBody>
      </p:sp>
      <p:sp>
        <p:nvSpPr>
          <p:cNvPr id="15" name="object 9">
            <a:extLst>
              <a:ext uri="{FF2B5EF4-FFF2-40B4-BE49-F238E27FC236}">
                <a16:creationId xmlns:a16="http://schemas.microsoft.com/office/drawing/2014/main" id="{8A0BBBA5-07EB-20AC-7D28-AE0E3C69CE9C}"/>
              </a:ext>
            </a:extLst>
          </p:cNvPr>
          <p:cNvSpPr txBox="1"/>
          <p:nvPr/>
        </p:nvSpPr>
        <p:spPr>
          <a:xfrm>
            <a:off x="420038" y="5344120"/>
            <a:ext cx="4571161" cy="329662"/>
          </a:xfrm>
          <a:prstGeom prst="rect">
            <a:avLst/>
          </a:prstGeom>
        </p:spPr>
        <p:txBody>
          <a:bodyPr vert="horz" wrap="square" lIns="0" tIns="49741" rIns="0" bIns="0" rtlCol="0">
            <a:spAutoFit/>
          </a:bodyPr>
          <a:lstStyle/>
          <a:p>
            <a:pPr marL="12435" defTabSz="895327" fontAlgn="auto">
              <a:spcBef>
                <a:spcPts val="392"/>
              </a:spcBef>
              <a:spcAft>
                <a:spcPts val="0"/>
              </a:spcAft>
            </a:pPr>
            <a:r>
              <a:rPr kumimoji="0" sz="783" b="1" spc="-5" dirty="0">
                <a:solidFill>
                  <a:prstClr val="black"/>
                </a:solidFill>
                <a:latin typeface="Arial" panose="020B0604020202020204" pitchFamily="34" charset="0"/>
                <a:ea typeface="+mn-ea"/>
                <a:cs typeface="Arial" panose="020B0604020202020204" pitchFamily="34" charset="0"/>
              </a:rPr>
              <a:t>Important</a:t>
            </a:r>
            <a:r>
              <a:rPr kumimoji="0" sz="783" b="1" spc="-15" dirty="0">
                <a:solidFill>
                  <a:prstClr val="black"/>
                </a:solidFill>
                <a:latin typeface="Arial" panose="020B0604020202020204" pitchFamily="34" charset="0"/>
                <a:ea typeface="+mn-ea"/>
                <a:cs typeface="Arial" panose="020B0604020202020204" pitchFamily="34" charset="0"/>
              </a:rPr>
              <a:t> </a:t>
            </a:r>
            <a:r>
              <a:rPr kumimoji="0" sz="783" b="1" spc="-5" dirty="0">
                <a:solidFill>
                  <a:prstClr val="black"/>
                </a:solidFill>
                <a:latin typeface="Arial" panose="020B0604020202020204" pitchFamily="34" charset="0"/>
                <a:ea typeface="+mn-ea"/>
                <a:cs typeface="Arial" panose="020B0604020202020204" pitchFamily="34" charset="0"/>
              </a:rPr>
              <a:t>statement</a:t>
            </a:r>
            <a:endParaRPr kumimoji="0" sz="783" dirty="0">
              <a:solidFill>
                <a:prstClr val="black"/>
              </a:solidFill>
              <a:latin typeface="Arial" panose="020B0604020202020204" pitchFamily="34" charset="0"/>
              <a:ea typeface="+mn-ea"/>
              <a:cs typeface="Arial" panose="020B0604020202020204" pitchFamily="34" charset="0"/>
            </a:endParaRPr>
          </a:p>
          <a:p>
            <a:pPr marL="12435" defTabSz="895327" fontAlgn="auto">
              <a:spcBef>
                <a:spcPts val="298"/>
              </a:spcBef>
              <a:spcAft>
                <a:spcPts val="0"/>
              </a:spcAft>
            </a:pPr>
            <a:r>
              <a:rPr kumimoji="0" lang="en-US" sz="783" spc="-5" dirty="0">
                <a:solidFill>
                  <a:prstClr val="black"/>
                </a:solidFill>
                <a:latin typeface="Arial" panose="020B0604020202020204" pitchFamily="34" charset="0"/>
                <a:ea typeface="+mn-ea"/>
                <a:cs typeface="Arial" panose="020B0604020202020204" pitchFamily="34" charset="0"/>
              </a:rPr>
              <a:t>Global Technologies </a:t>
            </a:r>
            <a:r>
              <a:rPr kumimoji="0" sz="783" spc="-15" dirty="0">
                <a:solidFill>
                  <a:prstClr val="black"/>
                </a:solidFill>
                <a:latin typeface="Arial" panose="020B0604020202020204" pitchFamily="34" charset="0"/>
                <a:ea typeface="+mn-ea"/>
                <a:cs typeface="Arial" panose="020B0604020202020204" pitchFamily="34" charset="0"/>
              </a:rPr>
              <a:t> </a:t>
            </a:r>
            <a:r>
              <a:rPr kumimoji="0" sz="783" dirty="0">
                <a:solidFill>
                  <a:prstClr val="black"/>
                </a:solidFill>
                <a:latin typeface="Arial" panose="020B0604020202020204" pitchFamily="34" charset="0"/>
                <a:ea typeface="+mn-ea"/>
                <a:cs typeface="Arial" panose="020B0604020202020204" pitchFamily="34" charset="0"/>
              </a:rPr>
              <a:t>reserves</a:t>
            </a:r>
            <a:r>
              <a:rPr kumimoji="0" sz="783" spc="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the</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right</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to</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change</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the</a:t>
            </a:r>
            <a:r>
              <a:rPr kumimoji="0" sz="783" spc="1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above-mentioned</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information</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without</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prior</a:t>
            </a:r>
            <a:r>
              <a:rPr kumimoji="0" sz="783" spc="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notice.</a:t>
            </a:r>
            <a:endParaRPr kumimoji="0" sz="783" dirty="0">
              <a:solidFill>
                <a:prstClr val="black"/>
              </a:solidFill>
              <a:latin typeface="Arial" panose="020B0604020202020204" pitchFamily="34" charset="0"/>
              <a:ea typeface="+mn-ea"/>
              <a:cs typeface="Arial" panose="020B0604020202020204" pitchFamily="34" charset="0"/>
            </a:endParaRPr>
          </a:p>
        </p:txBody>
      </p:sp>
      <p:sp>
        <p:nvSpPr>
          <p:cNvPr id="16" name="object 11">
            <a:extLst>
              <a:ext uri="{FF2B5EF4-FFF2-40B4-BE49-F238E27FC236}">
                <a16:creationId xmlns:a16="http://schemas.microsoft.com/office/drawing/2014/main" id="{AB787E28-119F-260E-5D3E-436E1C1413B3}"/>
              </a:ext>
            </a:extLst>
          </p:cNvPr>
          <p:cNvSpPr txBox="1"/>
          <p:nvPr/>
        </p:nvSpPr>
        <p:spPr>
          <a:xfrm>
            <a:off x="2494505" y="5077139"/>
            <a:ext cx="1860253" cy="128240"/>
          </a:xfrm>
          <a:prstGeom prst="rect">
            <a:avLst/>
          </a:prstGeom>
          <a:noFill/>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4</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Electrical Characteristic </a:t>
            </a:r>
          </a:p>
        </p:txBody>
      </p:sp>
      <p:sp>
        <p:nvSpPr>
          <p:cNvPr id="19" name="object 84">
            <a:extLst>
              <a:ext uri="{FF2B5EF4-FFF2-40B4-BE49-F238E27FC236}">
                <a16:creationId xmlns:a16="http://schemas.microsoft.com/office/drawing/2014/main" id="{36E99F5D-AF01-5957-7265-C560C06D728E}"/>
              </a:ext>
            </a:extLst>
          </p:cNvPr>
          <p:cNvSpPr txBox="1"/>
          <p:nvPr/>
        </p:nvSpPr>
        <p:spPr>
          <a:xfrm>
            <a:off x="2067508" y="8351505"/>
            <a:ext cx="2732799"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5. Power up sequence </a:t>
            </a:r>
            <a:r>
              <a:rPr lang="en-US" sz="900" b="1" spc="15" dirty="0">
                <a:solidFill>
                  <a:prstClr val="black"/>
                </a:solidFill>
                <a:latin typeface="Arial" panose="020B0604020202020204" pitchFamily="34" charset="0"/>
                <a:cs typeface="Arial" panose="020B0604020202020204" pitchFamily="34" charset="0"/>
              </a:rPr>
              <a:t>and Ramp-up time</a:t>
            </a:r>
            <a:endParaRPr kumimoji="0" lang="en-US" sz="900" b="1" spc="15" dirty="0">
              <a:solidFill>
                <a:prstClr val="black"/>
              </a:solidFill>
              <a:latin typeface="Arial" panose="020B0604020202020204" pitchFamily="34" charset="0"/>
              <a:ea typeface="+mn-ea"/>
              <a:cs typeface="Arial" panose="020B0604020202020204" pitchFamily="34" charset="0"/>
            </a:endParaRPr>
          </a:p>
        </p:txBody>
      </p:sp>
      <p:grpSp>
        <p:nvGrpSpPr>
          <p:cNvPr id="20" name="그룹 19">
            <a:extLst>
              <a:ext uri="{FF2B5EF4-FFF2-40B4-BE49-F238E27FC236}">
                <a16:creationId xmlns:a16="http://schemas.microsoft.com/office/drawing/2014/main" id="{FEF005DC-87E9-3749-0CB5-3FF17B30867C}"/>
              </a:ext>
            </a:extLst>
          </p:cNvPr>
          <p:cNvGrpSpPr/>
          <p:nvPr/>
        </p:nvGrpSpPr>
        <p:grpSpPr>
          <a:xfrm>
            <a:off x="404812" y="6826252"/>
            <a:ext cx="5993913" cy="1423788"/>
            <a:chOff x="203750" y="5928093"/>
            <a:chExt cx="5993913" cy="1423788"/>
          </a:xfrm>
        </p:grpSpPr>
        <p:sp>
          <p:nvSpPr>
            <p:cNvPr id="21" name="TextBox 20">
              <a:extLst>
                <a:ext uri="{FF2B5EF4-FFF2-40B4-BE49-F238E27FC236}">
                  <a16:creationId xmlns:a16="http://schemas.microsoft.com/office/drawing/2014/main" id="{6A4720AD-B7ED-D3D4-0AE2-A47C965DDA5F}"/>
                </a:ext>
              </a:extLst>
            </p:cNvPr>
            <p:cNvSpPr txBox="1"/>
            <p:nvPr/>
          </p:nvSpPr>
          <p:spPr>
            <a:xfrm>
              <a:off x="1885330" y="5928093"/>
              <a:ext cx="592076" cy="138499"/>
            </a:xfrm>
            <a:prstGeom prst="rect">
              <a:avLst/>
            </a:prstGeom>
            <a:solidFill>
              <a:schemeClr val="bg1"/>
            </a:solidFill>
          </p:spPr>
          <p:txBody>
            <a:bodyPr wrap="none" lIns="36000" tIns="0" rIns="36000" bIns="0" rtlCol="0" anchor="ctr" anchorCtr="0">
              <a:spAutoFit/>
            </a:bodyPr>
            <a:lstStyle/>
            <a:p>
              <a:r>
                <a:rPr lang="en-US" altLang="ko-KR" sz="900" dirty="0"/>
                <a:t>3.3V stable</a:t>
              </a:r>
              <a:endParaRPr lang="ko-KR" altLang="en-US" sz="900" dirty="0"/>
            </a:p>
          </p:txBody>
        </p:sp>
        <p:cxnSp>
          <p:nvCxnSpPr>
            <p:cNvPr id="23" name="직선 연결선 22">
              <a:extLst>
                <a:ext uri="{FF2B5EF4-FFF2-40B4-BE49-F238E27FC236}">
                  <a16:creationId xmlns:a16="http://schemas.microsoft.com/office/drawing/2014/main" id="{BD93FCC2-A0A8-23D8-6C62-565F67D4DD9C}"/>
                </a:ext>
              </a:extLst>
            </p:cNvPr>
            <p:cNvCxnSpPr>
              <a:cxnSpLocks/>
            </p:cNvCxnSpPr>
            <p:nvPr/>
          </p:nvCxnSpPr>
          <p:spPr>
            <a:xfrm flipH="1">
              <a:off x="1606602" y="6065491"/>
              <a:ext cx="281318" cy="136938"/>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직선 연결선 26">
              <a:extLst>
                <a:ext uri="{FF2B5EF4-FFF2-40B4-BE49-F238E27FC236}">
                  <a16:creationId xmlns:a16="http://schemas.microsoft.com/office/drawing/2014/main" id="{839B374B-BBB4-8842-0834-6F55E0241D6A}"/>
                </a:ext>
              </a:extLst>
            </p:cNvPr>
            <p:cNvCxnSpPr>
              <a:cxnSpLocks/>
            </p:cNvCxnSpPr>
            <p:nvPr/>
          </p:nvCxnSpPr>
          <p:spPr>
            <a:xfrm flipH="1">
              <a:off x="1887980" y="6062544"/>
              <a:ext cx="424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직선 연결선 32">
              <a:extLst>
                <a:ext uri="{FF2B5EF4-FFF2-40B4-BE49-F238E27FC236}">
                  <a16:creationId xmlns:a16="http://schemas.microsoft.com/office/drawing/2014/main" id="{B353658D-A481-3ABC-99BA-2F244BDD8E3F}"/>
                </a:ext>
              </a:extLst>
            </p:cNvPr>
            <p:cNvCxnSpPr>
              <a:cxnSpLocks/>
            </p:cNvCxnSpPr>
            <p:nvPr/>
          </p:nvCxnSpPr>
          <p:spPr>
            <a:xfrm flipH="1">
              <a:off x="1231190" y="6201382"/>
              <a:ext cx="37541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88119177-9D52-DA01-DA69-C8C44F1A5618}"/>
                </a:ext>
              </a:extLst>
            </p:cNvPr>
            <p:cNvSpPr txBox="1"/>
            <p:nvPr/>
          </p:nvSpPr>
          <p:spPr>
            <a:xfrm>
              <a:off x="945940" y="6006061"/>
              <a:ext cx="346570" cy="230832"/>
            </a:xfrm>
            <a:prstGeom prst="rect">
              <a:avLst/>
            </a:prstGeom>
            <a:noFill/>
          </p:spPr>
          <p:txBody>
            <a:bodyPr wrap="none" rtlCol="0">
              <a:spAutoFit/>
            </a:bodyPr>
            <a:lstStyle/>
            <a:p>
              <a:r>
                <a:rPr lang="en-US" altLang="ko-KR" sz="900"/>
                <a:t>V</a:t>
              </a:r>
              <a:r>
                <a:rPr lang="en-US" altLang="ko-KR" sz="900" baseline="-25000"/>
                <a:t>DD</a:t>
              </a:r>
              <a:endParaRPr lang="ko-KR" altLang="en-US" sz="900" baseline="-25000" dirty="0"/>
            </a:p>
          </p:txBody>
        </p:sp>
        <p:cxnSp>
          <p:nvCxnSpPr>
            <p:cNvPr id="36" name="직선 연결선 35">
              <a:extLst>
                <a:ext uri="{FF2B5EF4-FFF2-40B4-BE49-F238E27FC236}">
                  <a16:creationId xmlns:a16="http://schemas.microsoft.com/office/drawing/2014/main" id="{2E816339-DC1C-0814-75C6-75118C68839C}"/>
                </a:ext>
              </a:extLst>
            </p:cNvPr>
            <p:cNvCxnSpPr>
              <a:cxnSpLocks/>
            </p:cNvCxnSpPr>
            <p:nvPr/>
          </p:nvCxnSpPr>
          <p:spPr>
            <a:xfrm>
              <a:off x="1606602" y="6111319"/>
              <a:ext cx="0" cy="216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7" name="직선 연결선 36">
              <a:extLst>
                <a:ext uri="{FF2B5EF4-FFF2-40B4-BE49-F238E27FC236}">
                  <a16:creationId xmlns:a16="http://schemas.microsoft.com/office/drawing/2014/main" id="{A1705223-88E4-DFA5-DFDD-0B94068B831E}"/>
                </a:ext>
              </a:extLst>
            </p:cNvPr>
            <p:cNvCxnSpPr>
              <a:cxnSpLocks/>
            </p:cNvCxnSpPr>
            <p:nvPr/>
          </p:nvCxnSpPr>
          <p:spPr>
            <a:xfrm flipH="1">
              <a:off x="1227566" y="6522366"/>
              <a:ext cx="490576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직사각형 38">
              <a:extLst>
                <a:ext uri="{FF2B5EF4-FFF2-40B4-BE49-F238E27FC236}">
                  <a16:creationId xmlns:a16="http://schemas.microsoft.com/office/drawing/2014/main" id="{03FFB232-2A35-2CD6-4A4A-8578E5BC00E0}"/>
                </a:ext>
              </a:extLst>
            </p:cNvPr>
            <p:cNvSpPr/>
            <p:nvPr/>
          </p:nvSpPr>
          <p:spPr>
            <a:xfrm>
              <a:off x="3885934" y="6307327"/>
              <a:ext cx="2270722" cy="216000"/>
            </a:xfrm>
            <a:prstGeom prst="rect">
              <a:avLst/>
            </a:prstGeom>
            <a:solidFill>
              <a:schemeClr val="accent4">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a:solidFill>
                    <a:schemeClr val="tx1"/>
                  </a:solidFill>
                  <a:latin typeface="Arial" panose="020B0604020202020204" pitchFamily="34" charset="0"/>
                  <a:cs typeface="Arial" panose="020B0604020202020204" pitchFamily="34" charset="0"/>
                </a:rPr>
                <a:t>accessible</a:t>
              </a:r>
              <a:endParaRPr lang="ko-KR" altLang="en-US" sz="900" dirty="0">
                <a:solidFill>
                  <a:schemeClr val="tx1"/>
                </a:solidFill>
                <a:latin typeface="Arial" panose="020B0604020202020204" pitchFamily="34" charset="0"/>
                <a:cs typeface="Arial" panose="020B0604020202020204" pitchFamily="34" charset="0"/>
              </a:endParaRPr>
            </a:p>
          </p:txBody>
        </p:sp>
        <p:sp>
          <p:nvSpPr>
            <p:cNvPr id="40" name="TextBox 39">
              <a:extLst>
                <a:ext uri="{FF2B5EF4-FFF2-40B4-BE49-F238E27FC236}">
                  <a16:creationId xmlns:a16="http://schemas.microsoft.com/office/drawing/2014/main" id="{B41EC319-31E3-F22F-309C-2A8F11030667}"/>
                </a:ext>
              </a:extLst>
            </p:cNvPr>
            <p:cNvSpPr txBox="1"/>
            <p:nvPr/>
          </p:nvSpPr>
          <p:spPr>
            <a:xfrm>
              <a:off x="1639935" y="6278601"/>
              <a:ext cx="234038"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VDD</a:t>
              </a:r>
              <a:endParaRPr lang="ko-KR" altLang="en-US" sz="900" dirty="0"/>
            </a:p>
          </p:txBody>
        </p:sp>
        <p:sp>
          <p:nvSpPr>
            <p:cNvPr id="41" name="TextBox 40">
              <a:extLst>
                <a:ext uri="{FF2B5EF4-FFF2-40B4-BE49-F238E27FC236}">
                  <a16:creationId xmlns:a16="http://schemas.microsoft.com/office/drawing/2014/main" id="{C396CC78-75FD-83B6-A117-24D59C82D3FC}"/>
                </a:ext>
              </a:extLst>
            </p:cNvPr>
            <p:cNvSpPr txBox="1"/>
            <p:nvPr/>
          </p:nvSpPr>
          <p:spPr>
            <a:xfrm>
              <a:off x="925194" y="6955010"/>
              <a:ext cx="367408" cy="230832"/>
            </a:xfrm>
            <a:prstGeom prst="rect">
              <a:avLst/>
            </a:prstGeom>
            <a:noFill/>
          </p:spPr>
          <p:txBody>
            <a:bodyPr wrap="none" rtlCol="0">
              <a:spAutoFit/>
            </a:bodyPr>
            <a:lstStyle/>
            <a:p>
              <a:r>
                <a:rPr lang="en-US" altLang="ko-KR" sz="900"/>
                <a:t>V</a:t>
              </a:r>
              <a:r>
                <a:rPr lang="en-US" altLang="ko-KR" sz="900" baseline="-25000"/>
                <a:t>LED</a:t>
              </a:r>
              <a:endParaRPr lang="ko-KR" altLang="en-US" sz="900" baseline="-25000" dirty="0"/>
            </a:p>
          </p:txBody>
        </p:sp>
        <p:cxnSp>
          <p:nvCxnSpPr>
            <p:cNvPr id="43" name="직선 연결선 42">
              <a:extLst>
                <a:ext uri="{FF2B5EF4-FFF2-40B4-BE49-F238E27FC236}">
                  <a16:creationId xmlns:a16="http://schemas.microsoft.com/office/drawing/2014/main" id="{4E4887DC-42BE-6BBB-8118-637DC8473954}"/>
                </a:ext>
              </a:extLst>
            </p:cNvPr>
            <p:cNvCxnSpPr>
              <a:cxnSpLocks/>
            </p:cNvCxnSpPr>
            <p:nvPr/>
          </p:nvCxnSpPr>
          <p:spPr>
            <a:xfrm>
              <a:off x="1606602" y="6267569"/>
              <a:ext cx="288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4" name="직선 연결선 43">
              <a:extLst>
                <a:ext uri="{FF2B5EF4-FFF2-40B4-BE49-F238E27FC236}">
                  <a16:creationId xmlns:a16="http://schemas.microsoft.com/office/drawing/2014/main" id="{14FE9F36-AE8A-87A6-CDC5-90B1F9E37E05}"/>
                </a:ext>
              </a:extLst>
            </p:cNvPr>
            <p:cNvCxnSpPr>
              <a:cxnSpLocks/>
            </p:cNvCxnSpPr>
            <p:nvPr/>
          </p:nvCxnSpPr>
          <p:spPr>
            <a:xfrm>
              <a:off x="1894602" y="6110518"/>
              <a:ext cx="0" cy="216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6" name="직선 연결선 45">
              <a:extLst>
                <a:ext uri="{FF2B5EF4-FFF2-40B4-BE49-F238E27FC236}">
                  <a16:creationId xmlns:a16="http://schemas.microsoft.com/office/drawing/2014/main" id="{DF535FAC-9193-6868-16AF-45B12D93E609}"/>
                </a:ext>
              </a:extLst>
            </p:cNvPr>
            <p:cNvCxnSpPr>
              <a:cxnSpLocks/>
            </p:cNvCxnSpPr>
            <p:nvPr/>
          </p:nvCxnSpPr>
          <p:spPr>
            <a:xfrm>
              <a:off x="1894602" y="6267569"/>
              <a:ext cx="1386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2980023E-AE86-815E-8FBC-D6EB26A86F3A}"/>
                </a:ext>
              </a:extLst>
            </p:cNvPr>
            <p:cNvSpPr txBox="1"/>
            <p:nvPr/>
          </p:nvSpPr>
          <p:spPr>
            <a:xfrm>
              <a:off x="2490816" y="6289928"/>
              <a:ext cx="214802"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INIT</a:t>
              </a:r>
              <a:endParaRPr lang="ko-KR" altLang="en-US" sz="900" dirty="0"/>
            </a:p>
          </p:txBody>
        </p:sp>
        <p:sp>
          <p:nvSpPr>
            <p:cNvPr id="48" name="TextBox 47">
              <a:extLst>
                <a:ext uri="{FF2B5EF4-FFF2-40B4-BE49-F238E27FC236}">
                  <a16:creationId xmlns:a16="http://schemas.microsoft.com/office/drawing/2014/main" id="{BE645A19-94EC-ACD3-33B9-B0063437C2AC}"/>
                </a:ext>
              </a:extLst>
            </p:cNvPr>
            <p:cNvSpPr txBox="1"/>
            <p:nvPr/>
          </p:nvSpPr>
          <p:spPr>
            <a:xfrm>
              <a:off x="203750" y="6348203"/>
              <a:ext cx="1292341" cy="230832"/>
            </a:xfrm>
            <a:prstGeom prst="rect">
              <a:avLst/>
            </a:prstGeom>
            <a:noFill/>
          </p:spPr>
          <p:txBody>
            <a:bodyPr wrap="none" rtlCol="0">
              <a:spAutoFit/>
            </a:bodyPr>
            <a:lstStyle/>
            <a:p>
              <a:r>
                <a:rPr lang="en-US" altLang="ko-KR" sz="900" dirty="0"/>
                <a:t>1</a:t>
              </a:r>
              <a:r>
                <a:rPr lang="en-US" altLang="ko-KR" sz="900" baseline="30000" dirty="0"/>
                <a:t>st</a:t>
              </a:r>
              <a:r>
                <a:rPr lang="en-US" altLang="ko-KR" sz="900" dirty="0"/>
                <a:t> Command to XD12R </a:t>
              </a:r>
              <a:endParaRPr lang="ko-KR" altLang="en-US" sz="900" baseline="-25000" dirty="0"/>
            </a:p>
          </p:txBody>
        </p:sp>
        <p:cxnSp>
          <p:nvCxnSpPr>
            <p:cNvPr id="49" name="직선 연결선 48">
              <a:extLst>
                <a:ext uri="{FF2B5EF4-FFF2-40B4-BE49-F238E27FC236}">
                  <a16:creationId xmlns:a16="http://schemas.microsoft.com/office/drawing/2014/main" id="{46B8E7C1-59CD-7EB1-7E38-06DCCAE4B0F8}"/>
                </a:ext>
              </a:extLst>
            </p:cNvPr>
            <p:cNvCxnSpPr>
              <a:cxnSpLocks/>
            </p:cNvCxnSpPr>
            <p:nvPr/>
          </p:nvCxnSpPr>
          <p:spPr>
            <a:xfrm>
              <a:off x="3880304" y="6922617"/>
              <a:ext cx="1188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0" name="직선 연결선 49">
              <a:extLst>
                <a:ext uri="{FF2B5EF4-FFF2-40B4-BE49-F238E27FC236}">
                  <a16:creationId xmlns:a16="http://schemas.microsoft.com/office/drawing/2014/main" id="{FBE5AD04-28F2-7674-FE91-A697FFC89259}"/>
                </a:ext>
              </a:extLst>
            </p:cNvPr>
            <p:cNvCxnSpPr>
              <a:cxnSpLocks/>
            </p:cNvCxnSpPr>
            <p:nvPr/>
          </p:nvCxnSpPr>
          <p:spPr>
            <a:xfrm flipH="1">
              <a:off x="5112508" y="6944977"/>
              <a:ext cx="157001" cy="189601"/>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직선 연결선 50">
              <a:extLst>
                <a:ext uri="{FF2B5EF4-FFF2-40B4-BE49-F238E27FC236}">
                  <a16:creationId xmlns:a16="http://schemas.microsoft.com/office/drawing/2014/main" id="{5E89D78B-A98A-F8BF-8844-E9F8CE7A8E79}"/>
                </a:ext>
              </a:extLst>
            </p:cNvPr>
            <p:cNvCxnSpPr>
              <a:cxnSpLocks/>
            </p:cNvCxnSpPr>
            <p:nvPr/>
          </p:nvCxnSpPr>
          <p:spPr>
            <a:xfrm flipH="1">
              <a:off x="5268358" y="6944977"/>
              <a:ext cx="900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직선 연결선 53">
              <a:extLst>
                <a:ext uri="{FF2B5EF4-FFF2-40B4-BE49-F238E27FC236}">
                  <a16:creationId xmlns:a16="http://schemas.microsoft.com/office/drawing/2014/main" id="{F0F4957E-34C0-D80A-A925-FD9C5B757E12}"/>
                </a:ext>
              </a:extLst>
            </p:cNvPr>
            <p:cNvCxnSpPr>
              <a:cxnSpLocks/>
            </p:cNvCxnSpPr>
            <p:nvPr/>
          </p:nvCxnSpPr>
          <p:spPr>
            <a:xfrm flipH="1">
              <a:off x="1224508" y="7140909"/>
              <a:ext cx="388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직선 연결선 56">
              <a:extLst>
                <a:ext uri="{FF2B5EF4-FFF2-40B4-BE49-F238E27FC236}">
                  <a16:creationId xmlns:a16="http://schemas.microsoft.com/office/drawing/2014/main" id="{4C3EFB1F-1215-2A55-6E62-18B6AD3E7022}"/>
                </a:ext>
              </a:extLst>
            </p:cNvPr>
            <p:cNvCxnSpPr>
              <a:cxnSpLocks/>
            </p:cNvCxnSpPr>
            <p:nvPr/>
          </p:nvCxnSpPr>
          <p:spPr>
            <a:xfrm>
              <a:off x="5064356" y="6850210"/>
              <a:ext cx="0" cy="252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CE97B84E-B32B-67AE-9D9A-7B5EBD0575A2}"/>
                </a:ext>
              </a:extLst>
            </p:cNvPr>
            <p:cNvSpPr txBox="1"/>
            <p:nvPr/>
          </p:nvSpPr>
          <p:spPr>
            <a:xfrm>
              <a:off x="4296150" y="6866324"/>
              <a:ext cx="362279"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SU</a:t>
              </a:r>
              <a:r>
                <a:rPr lang="en-US" altLang="ko-KR" sz="900" baseline="-25000">
                  <a:solidFill>
                    <a:srgbClr val="000000"/>
                  </a:solidFill>
                  <a:latin typeface="Arial" panose="020B0604020202020204" pitchFamily="34" charset="0"/>
                  <a:ea typeface="굴림" panose="020B0600000101010101" pitchFamily="50" charset="-127"/>
                  <a:cs typeface="Arial" panose="020B0604020202020204" pitchFamily="34" charset="0"/>
                </a:rPr>
                <a:t>_</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DIM</a:t>
              </a:r>
              <a:endParaRPr lang="ko-KR" altLang="en-US" sz="900" dirty="0"/>
            </a:p>
          </p:txBody>
        </p:sp>
        <p:sp>
          <p:nvSpPr>
            <p:cNvPr id="62" name="TextBox 61">
              <a:extLst>
                <a:ext uri="{FF2B5EF4-FFF2-40B4-BE49-F238E27FC236}">
                  <a16:creationId xmlns:a16="http://schemas.microsoft.com/office/drawing/2014/main" id="{5DFD2447-C997-BB1E-843F-A1ACF799E2B2}"/>
                </a:ext>
              </a:extLst>
            </p:cNvPr>
            <p:cNvSpPr txBox="1"/>
            <p:nvPr/>
          </p:nvSpPr>
          <p:spPr>
            <a:xfrm>
              <a:off x="203750" y="6627633"/>
              <a:ext cx="1120820" cy="230832"/>
            </a:xfrm>
            <a:prstGeom prst="rect">
              <a:avLst/>
            </a:prstGeom>
            <a:noFill/>
          </p:spPr>
          <p:txBody>
            <a:bodyPr wrap="none" rtlCol="0">
              <a:spAutoFit/>
            </a:bodyPr>
            <a:lstStyle/>
            <a:p>
              <a:r>
                <a:rPr lang="en-US" altLang="ko-KR" sz="900" dirty="0"/>
                <a:t>Set-up for dimming</a:t>
              </a:r>
              <a:endParaRPr lang="ko-KR" altLang="en-US" sz="900" baseline="-25000" dirty="0"/>
            </a:p>
          </p:txBody>
        </p:sp>
        <p:cxnSp>
          <p:nvCxnSpPr>
            <p:cNvPr id="63" name="직선 연결선 62">
              <a:extLst>
                <a:ext uri="{FF2B5EF4-FFF2-40B4-BE49-F238E27FC236}">
                  <a16:creationId xmlns:a16="http://schemas.microsoft.com/office/drawing/2014/main" id="{4B9CAA60-95FC-FCCE-56B8-CBE8446A63AB}"/>
                </a:ext>
              </a:extLst>
            </p:cNvPr>
            <p:cNvCxnSpPr>
              <a:cxnSpLocks/>
            </p:cNvCxnSpPr>
            <p:nvPr/>
          </p:nvCxnSpPr>
          <p:spPr>
            <a:xfrm flipH="1">
              <a:off x="1239105" y="6828472"/>
              <a:ext cx="490576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64" name="직사각형 63">
              <a:extLst>
                <a:ext uri="{FF2B5EF4-FFF2-40B4-BE49-F238E27FC236}">
                  <a16:creationId xmlns:a16="http://schemas.microsoft.com/office/drawing/2014/main" id="{EAAAD5F1-25E4-435C-F8F5-6AA206C8BFE4}"/>
                </a:ext>
              </a:extLst>
            </p:cNvPr>
            <p:cNvSpPr/>
            <p:nvPr/>
          </p:nvSpPr>
          <p:spPr>
            <a:xfrm>
              <a:off x="3886754" y="6611367"/>
              <a:ext cx="1201734" cy="216000"/>
            </a:xfrm>
            <a:prstGeom prst="rect">
              <a:avLst/>
            </a:prstGeom>
            <a:solidFill>
              <a:schemeClr val="accent4">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800" dirty="0">
                  <a:solidFill>
                    <a:schemeClr val="tx1"/>
                  </a:solidFill>
                  <a:latin typeface="Arial" panose="020B0604020202020204" pitchFamily="34" charset="0"/>
                  <a:cs typeface="Arial" panose="020B0604020202020204" pitchFamily="34" charset="0"/>
                </a:rPr>
                <a:t>XD12R  setup for dimming</a:t>
              </a:r>
              <a:endParaRPr lang="ko-KR" altLang="en-US" sz="800" dirty="0">
                <a:solidFill>
                  <a:schemeClr val="tx1"/>
                </a:solidFill>
                <a:latin typeface="Arial" panose="020B0604020202020204" pitchFamily="34" charset="0"/>
                <a:cs typeface="Arial" panose="020B0604020202020204" pitchFamily="34" charset="0"/>
              </a:endParaRPr>
            </a:p>
          </p:txBody>
        </p:sp>
        <p:sp>
          <p:nvSpPr>
            <p:cNvPr id="65" name="직사각형 64">
              <a:extLst>
                <a:ext uri="{FF2B5EF4-FFF2-40B4-BE49-F238E27FC236}">
                  <a16:creationId xmlns:a16="http://schemas.microsoft.com/office/drawing/2014/main" id="{9E1CF330-8DA4-8A2D-4E87-512640B7E488}"/>
                </a:ext>
              </a:extLst>
            </p:cNvPr>
            <p:cNvSpPr/>
            <p:nvPr/>
          </p:nvSpPr>
          <p:spPr>
            <a:xfrm>
              <a:off x="6140013" y="6017838"/>
              <a:ext cx="57650" cy="1334043"/>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900" dirty="0">
                <a:solidFill>
                  <a:schemeClr val="tx1"/>
                </a:solidFill>
                <a:latin typeface="Arial" panose="020B0604020202020204" pitchFamily="34" charset="0"/>
                <a:cs typeface="Arial" panose="020B0604020202020204" pitchFamily="34" charset="0"/>
              </a:endParaRPr>
            </a:p>
          </p:txBody>
        </p:sp>
        <p:cxnSp>
          <p:nvCxnSpPr>
            <p:cNvPr id="66" name="직선 연결선 65">
              <a:extLst>
                <a:ext uri="{FF2B5EF4-FFF2-40B4-BE49-F238E27FC236}">
                  <a16:creationId xmlns:a16="http://schemas.microsoft.com/office/drawing/2014/main" id="{EDC529B5-B777-BC5C-6C82-7DD14F333D45}"/>
                </a:ext>
              </a:extLst>
            </p:cNvPr>
            <p:cNvCxnSpPr>
              <a:cxnSpLocks/>
            </p:cNvCxnSpPr>
            <p:nvPr/>
          </p:nvCxnSpPr>
          <p:spPr>
            <a:xfrm>
              <a:off x="3275331" y="6194203"/>
              <a:ext cx="0" cy="180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7" name="직선 연결선 66">
              <a:extLst>
                <a:ext uri="{FF2B5EF4-FFF2-40B4-BE49-F238E27FC236}">
                  <a16:creationId xmlns:a16="http://schemas.microsoft.com/office/drawing/2014/main" id="{A3AD1D03-6325-4B2D-EBDE-2A471FB28997}"/>
                </a:ext>
              </a:extLst>
            </p:cNvPr>
            <p:cNvCxnSpPr>
              <a:cxnSpLocks/>
            </p:cNvCxnSpPr>
            <p:nvPr/>
          </p:nvCxnSpPr>
          <p:spPr>
            <a:xfrm>
              <a:off x="3275331" y="6267569"/>
              <a:ext cx="612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68" name="직선 연결선 67">
              <a:extLst>
                <a:ext uri="{FF2B5EF4-FFF2-40B4-BE49-F238E27FC236}">
                  <a16:creationId xmlns:a16="http://schemas.microsoft.com/office/drawing/2014/main" id="{8D7D58F7-750C-FD56-A53E-902AAA62499A}"/>
                </a:ext>
              </a:extLst>
            </p:cNvPr>
            <p:cNvCxnSpPr>
              <a:cxnSpLocks/>
            </p:cNvCxnSpPr>
            <p:nvPr/>
          </p:nvCxnSpPr>
          <p:spPr>
            <a:xfrm>
              <a:off x="3884441" y="6201382"/>
              <a:ext cx="0" cy="792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2F448FF7-0641-4277-132E-61F023CCA899}"/>
                </a:ext>
              </a:extLst>
            </p:cNvPr>
            <p:cNvSpPr txBox="1"/>
            <p:nvPr/>
          </p:nvSpPr>
          <p:spPr>
            <a:xfrm>
              <a:off x="3490632" y="6289723"/>
              <a:ext cx="293350"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FCMD</a:t>
              </a:r>
              <a:endParaRPr lang="ko-KR" altLang="en-US" sz="900" dirty="0"/>
            </a:p>
          </p:txBody>
        </p:sp>
      </p:grpSp>
    </p:spTree>
    <p:extLst>
      <p:ext uri="{BB962C8B-B14F-4D97-AF65-F5344CB8AC3E}">
        <p14:creationId xmlns:p14="http://schemas.microsoft.com/office/powerpoint/2010/main" val="1861681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54E0D-0D97-8AC6-1238-21318C285BB6}"/>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AB215879-26F5-B770-E03A-646C749F4476}"/>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758E4F52-55DA-FAF2-2D79-B74AC578F072}"/>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7CA3A987-7F48-0C3C-DFC6-5D2D34E3524B}"/>
              </a:ext>
            </a:extLst>
          </p:cNvPr>
          <p:cNvSpPr txBox="1"/>
          <p:nvPr/>
        </p:nvSpPr>
        <p:spPr>
          <a:xfrm>
            <a:off x="404812" y="774866"/>
            <a:ext cx="603964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Layout for Power Lane for single-layer PCB</a:t>
            </a:r>
            <a:endParaRPr lang="ko-KR" altLang="en-US" sz="12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500D4A6D-FA18-6335-6AB5-3893080A66AB}"/>
              </a:ext>
            </a:extLst>
          </p:cNvPr>
          <p:cNvSpPr txBox="1"/>
          <p:nvPr/>
        </p:nvSpPr>
        <p:spPr>
          <a:xfrm>
            <a:off x="413545" y="1348337"/>
            <a:ext cx="6039903"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As shown in the figure below, it is recommended that a bypass capacitor should be placed as close to the pin 1 and  pin 18 as possible in below.</a:t>
            </a:r>
          </a:p>
        </p:txBody>
      </p:sp>
      <p:sp>
        <p:nvSpPr>
          <p:cNvPr id="7" name="TextBox 6">
            <a:extLst>
              <a:ext uri="{FF2B5EF4-FFF2-40B4-BE49-F238E27FC236}">
                <a16:creationId xmlns:a16="http://schemas.microsoft.com/office/drawing/2014/main" id="{A88CEF6D-D9BB-C6B7-6F13-9C26F4E03323}"/>
              </a:ext>
            </a:extLst>
          </p:cNvPr>
          <p:cNvSpPr txBox="1"/>
          <p:nvPr/>
        </p:nvSpPr>
        <p:spPr>
          <a:xfrm>
            <a:off x="323850" y="2007941"/>
            <a:ext cx="4911090" cy="276999"/>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200" b="1"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XD12R</a:t>
            </a:r>
            <a:r>
              <a:rPr kumimoji="0" lang="ko-KR" altLang="en-US" sz="1200" b="1"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a:t>
            </a:r>
            <a:r>
              <a:rPr kumimoji="0" lang="en-US" altLang="ko-KR" sz="10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(Example) Recommended Routing Guidelines for single layer PCB</a:t>
            </a:r>
            <a:endParaRPr kumimoji="0" lang="ko-KR" altLang="en-US" sz="12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C7F10F10-579B-F65B-0640-FB65FE887610}"/>
              </a:ext>
            </a:extLst>
          </p:cNvPr>
          <p:cNvSpPr txBox="1"/>
          <p:nvPr/>
        </p:nvSpPr>
        <p:spPr>
          <a:xfrm>
            <a:off x="553680" y="2427418"/>
            <a:ext cx="5899508" cy="2099870"/>
          </a:xfrm>
          <a:prstGeom prst="rect">
            <a:avLst/>
          </a:prstGeom>
          <a:noFill/>
        </p:spPr>
        <p:txBody>
          <a:bodyPr wrap="square" lIns="0" tIns="0" rIns="0" bIns="0" rtlCol="0">
            <a:spAutoFit/>
          </a:bodyPr>
          <a:lstStyle/>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PCB</a:t>
            </a:r>
            <a:r>
              <a:rPr lang="ko-KR" altLang="en-US" sz="1000" b="1" dirty="0">
                <a:solidFill>
                  <a:prstClr val="black"/>
                </a:solidFill>
                <a:latin typeface="맑은 고딕" panose="020F0502020204030204"/>
              </a:rPr>
              <a:t> </a:t>
            </a:r>
            <a:r>
              <a:rPr lang="en-US" altLang="ko-KR" sz="1000" b="1" dirty="0">
                <a:solidFill>
                  <a:prstClr val="black"/>
                </a:solidFill>
                <a:latin typeface="맑은 고딕" panose="020F0502020204030204"/>
              </a:rPr>
              <a:t>: single layer</a:t>
            </a:r>
          </a:p>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PSR over lab area size :  </a:t>
            </a:r>
            <a:r>
              <a:rPr lang="en-US" altLang="ko-KR" sz="1000" dirty="0">
                <a:solidFill>
                  <a:prstClr val="black"/>
                </a:solidFill>
                <a:latin typeface="맑은 고딕" panose="020F0502020204030204"/>
              </a:rPr>
              <a:t>2.2 x 0.7 mm</a:t>
            </a:r>
          </a:p>
          <a:p>
            <a:pPr marL="171450" marR="0" lvl="0" indent="-171450" algn="l" defTabSz="914400" rtl="0" eaLnBrk="1" fontAlgn="auto" latinLnBrk="1" hangingPunct="1">
              <a:lnSpc>
                <a:spcPct val="150000"/>
              </a:lnSpc>
              <a:spcBef>
                <a:spcPts val="0"/>
              </a:spcBef>
              <a:spcAft>
                <a:spcPts val="0"/>
              </a:spcAft>
              <a:buClrTx/>
              <a:buSzTx/>
              <a:buFont typeface="Wingdings" panose="05000000000000000000" pitchFamily="2" charset="2"/>
              <a:buChar char="ü"/>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PSR thickness : 25~35um</a:t>
            </a:r>
            <a:r>
              <a:rPr kumimoji="0" lang="ko-KR" altLang="en-US"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To ensure insulation in the overlapping area between the T-PAD and </a:t>
            </a:r>
          </a:p>
          <a:p>
            <a:pPr marL="0" marR="0" lvl="0" indent="0" algn="l" defTabSz="914400" rtl="0" eaLnBrk="1" fontAlgn="auto" latinLnBrk="1" hangingPunct="1">
              <a:lnSpc>
                <a:spcPct val="15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the Power V</a:t>
            </a:r>
            <a:r>
              <a:rPr kumimoji="0" lang="en-US" altLang="ko-KR" sz="800" b="0" i="0" u="none" strike="noStrike" kern="1200" cap="none" spc="0" normalizeH="0" baseline="-25000" noProof="0" dirty="0">
                <a:ln>
                  <a:noFill/>
                </a:ln>
                <a:solidFill>
                  <a:prstClr val="black"/>
                </a:solidFill>
                <a:effectLst/>
                <a:uLnTx/>
                <a:uFillTx/>
                <a:latin typeface="맑은 고딕" panose="020F0502020204030204"/>
                <a:ea typeface="맑은 고딕" panose="020B0503020000020004" pitchFamily="50" charset="-127"/>
                <a:cs typeface="+mn-cs"/>
              </a:rPr>
              <a:t>DD</a:t>
            </a:r>
            <a:r>
              <a:rPr kumimoji="0" lang="en-US" altLang="ko-KR"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pattern, a PSR thickness of 25 to 35 µm or more is recommended.)</a:t>
            </a:r>
          </a:p>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Clearance : Min 0.17mm </a:t>
            </a:r>
            <a:r>
              <a:rPr lang="ko-KR" altLang="en-US" sz="1000" b="1" dirty="0">
                <a:solidFill>
                  <a:prstClr val="black"/>
                </a:solidFill>
                <a:latin typeface="맑은 고딕" panose="020F0502020204030204"/>
              </a:rPr>
              <a:t>↑ </a:t>
            </a:r>
            <a:r>
              <a:rPr lang="en-US" altLang="ko-KR" sz="800" dirty="0">
                <a:solidFill>
                  <a:prstClr val="black"/>
                </a:solidFill>
                <a:latin typeface="맑은 고딕" panose="020F0502020204030204"/>
              </a:rPr>
              <a:t>(PAD to PAD, PAD to Pattern, Pattern to Pattern)</a:t>
            </a:r>
          </a:p>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Power Pattern width </a:t>
            </a:r>
            <a:r>
              <a:rPr lang="en-US" altLang="ko-KR" sz="1000" dirty="0">
                <a:solidFill>
                  <a:prstClr val="black"/>
                </a:solidFill>
                <a:latin typeface="맑은 고딕" panose="020F0502020204030204"/>
              </a:rPr>
              <a:t>:  </a:t>
            </a:r>
            <a:r>
              <a:rPr lang="en-US" altLang="ko-KR" sz="800" dirty="0">
                <a:solidFill>
                  <a:prstClr val="black"/>
                </a:solidFill>
                <a:latin typeface="맑은 고딕" panose="020F0502020204030204"/>
              </a:rPr>
              <a:t>Please design the power pattern thickness to the maximum thickness as shown in the image  </a:t>
            </a:r>
          </a:p>
          <a:p>
            <a:pPr defTabSz="914400" latinLnBrk="1">
              <a:lnSpc>
                <a:spcPct val="150000"/>
              </a:lnSpc>
              <a:defRPr/>
            </a:pPr>
            <a:r>
              <a:rPr lang="en-US" altLang="ko-KR" sz="800" dirty="0">
                <a:solidFill>
                  <a:prstClr val="black"/>
                </a:solidFill>
                <a:latin typeface="맑은 고딕" panose="020F0502020204030204"/>
              </a:rPr>
              <a:t>	                 below.</a:t>
            </a:r>
          </a:p>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Test Pin location </a:t>
            </a:r>
            <a:r>
              <a:rPr lang="en-US" altLang="ko-KR" sz="1000" dirty="0">
                <a:solidFill>
                  <a:prstClr val="black"/>
                </a:solidFill>
                <a:latin typeface="맑은 고딕" panose="020F0502020204030204"/>
              </a:rPr>
              <a:t>: </a:t>
            </a:r>
            <a:r>
              <a:rPr lang="en-US" altLang="ko-KR" sz="800" dirty="0">
                <a:solidFill>
                  <a:prstClr val="black"/>
                </a:solidFill>
                <a:latin typeface="맑은 고딕" panose="020F0502020204030204"/>
              </a:rPr>
              <a:t>It is recommended to place the test point (TP) for the LED output pin within 30 mm of the IC, </a:t>
            </a:r>
          </a:p>
          <a:p>
            <a:pPr defTabSz="914400" latinLnBrk="1">
              <a:lnSpc>
                <a:spcPct val="150000"/>
              </a:lnSpc>
              <a:defRPr/>
            </a:pPr>
            <a:r>
              <a:rPr lang="en-US" altLang="ko-KR" sz="800" dirty="0">
                <a:solidFill>
                  <a:prstClr val="black"/>
                </a:solidFill>
                <a:latin typeface="맑은 고딕" panose="020F0502020204030204"/>
              </a:rPr>
              <a:t>                                    as it should be located close to the IC. </a:t>
            </a:r>
          </a:p>
          <a:p>
            <a:pPr defTabSz="914400" latinLnBrk="1">
              <a:lnSpc>
                <a:spcPct val="150000"/>
              </a:lnSpc>
              <a:defRPr/>
            </a:pPr>
            <a:r>
              <a:rPr lang="en-US" altLang="ko-KR" sz="800" dirty="0">
                <a:solidFill>
                  <a:prstClr val="black"/>
                </a:solidFill>
                <a:latin typeface="맑은 고딕" panose="020F0502020204030204"/>
              </a:rPr>
              <a:t>	          The test point for control signal lines can be placed anywhere along the net.</a:t>
            </a:r>
            <a:endParaRPr lang="ko-KR" altLang="en-US" sz="800" dirty="0">
              <a:solidFill>
                <a:prstClr val="black"/>
              </a:solidFill>
              <a:latin typeface="맑은 고딕" panose="020F0502020204030204"/>
            </a:endParaRPr>
          </a:p>
        </p:txBody>
      </p:sp>
      <p:pic>
        <p:nvPicPr>
          <p:cNvPr id="10" name="그림 9" descr="텍스트, 도표, 평면도, 스크린샷이(가) 표시된 사진&#10;&#10;AI 생성 콘텐츠는 정확하지 않을 수 있습니다.">
            <a:extLst>
              <a:ext uri="{FF2B5EF4-FFF2-40B4-BE49-F238E27FC236}">
                <a16:creationId xmlns:a16="http://schemas.microsoft.com/office/drawing/2014/main" id="{0E50A59B-9B8D-CD57-DF55-4C3343101785}"/>
              </a:ext>
            </a:extLst>
          </p:cNvPr>
          <p:cNvPicPr>
            <a:picLocks noChangeAspect="1"/>
          </p:cNvPicPr>
          <p:nvPr/>
        </p:nvPicPr>
        <p:blipFill>
          <a:blip r:embed="rId2"/>
          <a:stretch>
            <a:fillRect/>
          </a:stretch>
        </p:blipFill>
        <p:spPr>
          <a:xfrm>
            <a:off x="549275" y="5124450"/>
            <a:ext cx="5903913" cy="2270358"/>
          </a:xfrm>
          <a:prstGeom prst="rect">
            <a:avLst/>
          </a:prstGeom>
        </p:spPr>
      </p:pic>
    </p:spTree>
    <p:extLst>
      <p:ext uri="{BB962C8B-B14F-4D97-AF65-F5344CB8AC3E}">
        <p14:creationId xmlns:p14="http://schemas.microsoft.com/office/powerpoint/2010/main" val="33027857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6CB7AE3D-BA30-C6F2-087A-E709735D09EB}"/>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2" name="TextBox 1">
            <a:extLst>
              <a:ext uri="{FF2B5EF4-FFF2-40B4-BE49-F238E27FC236}">
                <a16:creationId xmlns:a16="http://schemas.microsoft.com/office/drawing/2014/main" id="{175E654F-AF3A-88EC-8A43-C6279D3F9C67}"/>
              </a:ext>
            </a:extLst>
          </p:cNvPr>
          <p:cNvSpPr txBox="1"/>
          <p:nvPr/>
        </p:nvSpPr>
        <p:spPr>
          <a:xfrm>
            <a:off x="407554" y="1556966"/>
            <a:ext cx="6039903" cy="461665"/>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XD12R can be controlled with several commands through a XC24R controller or directly by a Micom. </a:t>
            </a:r>
          </a:p>
          <a:p>
            <a:pPr algn="just"/>
            <a:r>
              <a:rPr lang="en-US" altLang="ko-KR" sz="1000" dirty="0">
                <a:latin typeface="Arial" panose="020B0604020202020204" pitchFamily="34" charset="0"/>
                <a:cs typeface="Arial" panose="020B0604020202020204" pitchFamily="34" charset="0"/>
              </a:rPr>
              <a:t>The access protocol and frame format are as follows and if several XD12R is connected in daisy, the commands should be repeated successively as many as the XD12R  number in daisy chain.</a:t>
            </a:r>
          </a:p>
        </p:txBody>
      </p:sp>
      <p:sp>
        <p:nvSpPr>
          <p:cNvPr id="16" name="TextBox 15">
            <a:extLst>
              <a:ext uri="{FF2B5EF4-FFF2-40B4-BE49-F238E27FC236}">
                <a16:creationId xmlns:a16="http://schemas.microsoft.com/office/drawing/2014/main" id="{9668DAC1-64C9-BE97-5D44-E43D959AC827}"/>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Serial Communication Protocol</a:t>
            </a:r>
          </a:p>
        </p:txBody>
      </p:sp>
      <p:sp>
        <p:nvSpPr>
          <p:cNvPr id="4" name="TextBox 3">
            <a:extLst>
              <a:ext uri="{FF2B5EF4-FFF2-40B4-BE49-F238E27FC236}">
                <a16:creationId xmlns:a16="http://schemas.microsoft.com/office/drawing/2014/main" id="{07ED3BEC-0215-1816-CA0B-2AE844A1C552}"/>
              </a:ext>
            </a:extLst>
          </p:cNvPr>
          <p:cNvSpPr txBox="1"/>
          <p:nvPr/>
        </p:nvSpPr>
        <p:spPr>
          <a:xfrm>
            <a:off x="2015319" y="5070075"/>
            <a:ext cx="2911053"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5. Serial communication protocol @ PC_EN = 0</a:t>
            </a:r>
          </a:p>
        </p:txBody>
      </p:sp>
      <p:sp>
        <p:nvSpPr>
          <p:cNvPr id="13" name="TextBox 12">
            <a:extLst>
              <a:ext uri="{FF2B5EF4-FFF2-40B4-BE49-F238E27FC236}">
                <a16:creationId xmlns:a16="http://schemas.microsoft.com/office/drawing/2014/main" id="{19077734-E651-A0AB-3F15-7C73D1EB6DC7}"/>
              </a:ext>
            </a:extLst>
          </p:cNvPr>
          <p:cNvSpPr txBox="1"/>
          <p:nvPr/>
        </p:nvSpPr>
        <p:spPr>
          <a:xfrm>
            <a:off x="341096" y="5534874"/>
            <a:ext cx="6039903" cy="153888"/>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serial communication protocol and the packet formats are shown in below for more details.</a:t>
            </a:r>
          </a:p>
        </p:txBody>
      </p:sp>
      <p:grpSp>
        <p:nvGrpSpPr>
          <p:cNvPr id="36" name="그룹 35">
            <a:extLst>
              <a:ext uri="{FF2B5EF4-FFF2-40B4-BE49-F238E27FC236}">
                <a16:creationId xmlns:a16="http://schemas.microsoft.com/office/drawing/2014/main" id="{E0904E6D-4CF6-A0AD-47E9-FC75A62F07DE}"/>
              </a:ext>
            </a:extLst>
          </p:cNvPr>
          <p:cNvGrpSpPr/>
          <p:nvPr/>
        </p:nvGrpSpPr>
        <p:grpSpPr>
          <a:xfrm>
            <a:off x="238088" y="6657762"/>
            <a:ext cx="6245917" cy="2582404"/>
            <a:chOff x="2976563" y="2832662"/>
            <a:chExt cx="6245917" cy="2582404"/>
          </a:xfrm>
        </p:grpSpPr>
        <p:grpSp>
          <p:nvGrpSpPr>
            <p:cNvPr id="37" name="그룹 36">
              <a:extLst>
                <a:ext uri="{FF2B5EF4-FFF2-40B4-BE49-F238E27FC236}">
                  <a16:creationId xmlns:a16="http://schemas.microsoft.com/office/drawing/2014/main" id="{B8C6F0F3-CA28-C49C-C089-2CA8D6D71CFC}"/>
                </a:ext>
              </a:extLst>
            </p:cNvPr>
            <p:cNvGrpSpPr/>
            <p:nvPr/>
          </p:nvGrpSpPr>
          <p:grpSpPr>
            <a:xfrm>
              <a:off x="2976563" y="2832662"/>
              <a:ext cx="6245917" cy="2582404"/>
              <a:chOff x="2976563" y="2832662"/>
              <a:chExt cx="6245917" cy="2582404"/>
            </a:xfrm>
          </p:grpSpPr>
          <p:pic>
            <p:nvPicPr>
              <p:cNvPr id="42" name="그림 41">
                <a:extLst>
                  <a:ext uri="{FF2B5EF4-FFF2-40B4-BE49-F238E27FC236}">
                    <a16:creationId xmlns:a16="http://schemas.microsoft.com/office/drawing/2014/main" id="{B660E06E-B47C-8C73-E431-EBF3B63C64B8}"/>
                  </a:ext>
                </a:extLst>
              </p:cNvPr>
              <p:cNvPicPr>
                <a:picLocks noChangeAspect="1"/>
              </p:cNvPicPr>
              <p:nvPr/>
            </p:nvPicPr>
            <p:blipFill>
              <a:blip r:embed="rId2"/>
              <a:stretch>
                <a:fillRect/>
              </a:stretch>
            </p:blipFill>
            <p:spPr>
              <a:xfrm>
                <a:off x="3030480" y="2832662"/>
                <a:ext cx="6192000" cy="2582404"/>
              </a:xfrm>
              <a:prstGeom prst="rect">
                <a:avLst/>
              </a:prstGeom>
            </p:spPr>
          </p:pic>
          <p:sp>
            <p:nvSpPr>
              <p:cNvPr id="43" name="TextBox 42">
                <a:extLst>
                  <a:ext uri="{FF2B5EF4-FFF2-40B4-BE49-F238E27FC236}">
                    <a16:creationId xmlns:a16="http://schemas.microsoft.com/office/drawing/2014/main" id="{F082A479-7322-F623-B706-A2AFED89662E}"/>
                  </a:ext>
                </a:extLst>
              </p:cNvPr>
              <p:cNvSpPr txBox="1"/>
              <p:nvPr/>
            </p:nvSpPr>
            <p:spPr>
              <a:xfrm>
                <a:off x="2976563" y="3196709"/>
                <a:ext cx="6143624" cy="369332"/>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ko-KR" altLang="en-US" sz="1100" b="0" i="0" u="none" strike="noStrike" kern="0" cap="none" spc="0" normalizeH="0" baseline="0" noProof="0" dirty="0">
                    <a:ln>
                      <a:noFill/>
                    </a:ln>
                    <a:solidFill>
                      <a:srgbClr val="000000"/>
                    </a:solidFill>
                    <a:effectLst/>
                    <a:uLnTx/>
                    <a:uFillTx/>
                    <a:latin typeface="맑은 고딕" panose="020B0503020000020004" pitchFamily="50" charset="-127"/>
                  </a:rPr>
                  <a:t>　</a:t>
                </a:r>
                <a:r>
                  <a:rPr kumimoji="0" lang="ko-KR" altLang="en-US" sz="1800" b="0" i="0" u="none" strike="noStrike" kern="0" cap="none" spc="0" normalizeH="0" baseline="0" noProof="0" dirty="0">
                    <a:ln>
                      <a:noFill/>
                    </a:ln>
                    <a:solidFill>
                      <a:prstClr val="black"/>
                    </a:solidFill>
                    <a:effectLst/>
                    <a:uLnTx/>
                    <a:uFillTx/>
                  </a:rPr>
                  <a:t> </a:t>
                </a:r>
              </a:p>
            </p:txBody>
          </p:sp>
          <p:sp>
            <p:nvSpPr>
              <p:cNvPr id="44" name="TextBox 43">
                <a:extLst>
                  <a:ext uri="{FF2B5EF4-FFF2-40B4-BE49-F238E27FC236}">
                    <a16:creationId xmlns:a16="http://schemas.microsoft.com/office/drawing/2014/main" id="{02044831-AF37-4022-CA7B-D9343FCA40AA}"/>
                  </a:ext>
                </a:extLst>
              </p:cNvPr>
              <p:cNvSpPr txBox="1"/>
              <p:nvPr/>
            </p:nvSpPr>
            <p:spPr>
              <a:xfrm>
                <a:off x="2976563" y="3196709"/>
                <a:ext cx="6143624" cy="369332"/>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ko-KR" altLang="en-US" sz="1100" b="0" i="0" u="none" strike="noStrike" kern="0" cap="none" spc="0" normalizeH="0" baseline="0" noProof="0" dirty="0">
                    <a:ln>
                      <a:noFill/>
                    </a:ln>
                    <a:solidFill>
                      <a:srgbClr val="000000"/>
                    </a:solidFill>
                    <a:effectLst/>
                    <a:uLnTx/>
                    <a:uFillTx/>
                    <a:latin typeface="맑은 고딕" panose="020B0503020000020004" pitchFamily="50" charset="-127"/>
                  </a:rPr>
                  <a:t>　</a:t>
                </a:r>
                <a:r>
                  <a:rPr kumimoji="0" lang="ko-KR" altLang="en-US" sz="1800" b="0" i="0" u="none" strike="noStrike" kern="0" cap="none" spc="0" normalizeH="0" baseline="0" noProof="0" dirty="0">
                    <a:ln>
                      <a:noFill/>
                    </a:ln>
                    <a:solidFill>
                      <a:prstClr val="black"/>
                    </a:solidFill>
                    <a:effectLst/>
                    <a:uLnTx/>
                    <a:uFillTx/>
                  </a:rPr>
                  <a:t> </a:t>
                </a:r>
              </a:p>
            </p:txBody>
          </p:sp>
          <p:sp>
            <p:nvSpPr>
              <p:cNvPr id="45" name="직사각형 44">
                <a:extLst>
                  <a:ext uri="{FF2B5EF4-FFF2-40B4-BE49-F238E27FC236}">
                    <a16:creationId xmlns:a16="http://schemas.microsoft.com/office/drawing/2014/main" id="{0A4AC433-3D9E-ACD5-4DA1-FF5281C5B070}"/>
                  </a:ext>
                </a:extLst>
              </p:cNvPr>
              <p:cNvSpPr/>
              <p:nvPr/>
            </p:nvSpPr>
            <p:spPr>
              <a:xfrm>
                <a:off x="3597506" y="4637088"/>
                <a:ext cx="71767"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nvGrpSpPr>
              <p:cNvPr id="46" name="그룹 45">
                <a:extLst>
                  <a:ext uri="{FF2B5EF4-FFF2-40B4-BE49-F238E27FC236}">
                    <a16:creationId xmlns:a16="http://schemas.microsoft.com/office/drawing/2014/main" id="{84D4B7F5-9EC6-B8F6-FE07-BAEF6E495E56}"/>
                  </a:ext>
                </a:extLst>
              </p:cNvPr>
              <p:cNvGrpSpPr/>
              <p:nvPr/>
            </p:nvGrpSpPr>
            <p:grpSpPr>
              <a:xfrm>
                <a:off x="3877597" y="4599160"/>
                <a:ext cx="260886" cy="169277"/>
                <a:chOff x="2366536" y="4364341"/>
                <a:chExt cx="242374" cy="169277"/>
              </a:xfrm>
            </p:grpSpPr>
            <p:sp>
              <p:nvSpPr>
                <p:cNvPr id="56" name="직사각형 55">
                  <a:extLst>
                    <a:ext uri="{FF2B5EF4-FFF2-40B4-BE49-F238E27FC236}">
                      <a16:creationId xmlns:a16="http://schemas.microsoft.com/office/drawing/2014/main" id="{720CA0CD-A73E-5C01-B1A4-6E3B4046CEDD}"/>
                    </a:ext>
                  </a:extLst>
                </p:cNvPr>
                <p:cNvSpPr/>
                <p:nvPr/>
              </p:nvSpPr>
              <p:spPr>
                <a:xfrm>
                  <a:off x="2455862" y="4398964"/>
                  <a:ext cx="66675"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7" name="TextBox 56">
                  <a:extLst>
                    <a:ext uri="{FF2B5EF4-FFF2-40B4-BE49-F238E27FC236}">
                      <a16:creationId xmlns:a16="http://schemas.microsoft.com/office/drawing/2014/main" id="{EB31CE00-A201-4310-28CB-2989D79616BD}"/>
                    </a:ext>
                  </a:extLst>
                </p:cNvPr>
                <p:cNvSpPr txBox="1"/>
                <p:nvPr/>
              </p:nvSpPr>
              <p:spPr>
                <a:xfrm>
                  <a:off x="2366536" y="4364341"/>
                  <a:ext cx="242374"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47" name="그룹 46">
                <a:extLst>
                  <a:ext uri="{FF2B5EF4-FFF2-40B4-BE49-F238E27FC236}">
                    <a16:creationId xmlns:a16="http://schemas.microsoft.com/office/drawing/2014/main" id="{175EC060-98F9-49E0-509C-7840B372A676}"/>
                  </a:ext>
                </a:extLst>
              </p:cNvPr>
              <p:cNvGrpSpPr/>
              <p:nvPr/>
            </p:nvGrpSpPr>
            <p:grpSpPr>
              <a:xfrm>
                <a:off x="5333396" y="4601034"/>
                <a:ext cx="260886" cy="169277"/>
                <a:chOff x="2368127" y="4366470"/>
                <a:chExt cx="242374" cy="169277"/>
              </a:xfrm>
            </p:grpSpPr>
            <p:sp>
              <p:nvSpPr>
                <p:cNvPr id="54" name="직사각형 53">
                  <a:extLst>
                    <a:ext uri="{FF2B5EF4-FFF2-40B4-BE49-F238E27FC236}">
                      <a16:creationId xmlns:a16="http://schemas.microsoft.com/office/drawing/2014/main" id="{8FE04E59-1C9B-5BAF-6B1D-FDC7FC2874D8}"/>
                    </a:ext>
                  </a:extLst>
                </p:cNvPr>
                <p:cNvSpPr/>
                <p:nvPr/>
              </p:nvSpPr>
              <p:spPr>
                <a:xfrm>
                  <a:off x="2455862" y="4398964"/>
                  <a:ext cx="66675"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5" name="TextBox 54">
                  <a:extLst>
                    <a:ext uri="{FF2B5EF4-FFF2-40B4-BE49-F238E27FC236}">
                      <a16:creationId xmlns:a16="http://schemas.microsoft.com/office/drawing/2014/main" id="{46852FA9-8FF6-CD7A-F7C4-A832EFF1CAB3}"/>
                    </a:ext>
                  </a:extLst>
                </p:cNvPr>
                <p:cNvSpPr txBox="1"/>
                <p:nvPr/>
              </p:nvSpPr>
              <p:spPr>
                <a:xfrm>
                  <a:off x="2368127" y="4366470"/>
                  <a:ext cx="242374"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48" name="그룹 47">
                <a:extLst>
                  <a:ext uri="{FF2B5EF4-FFF2-40B4-BE49-F238E27FC236}">
                    <a16:creationId xmlns:a16="http://schemas.microsoft.com/office/drawing/2014/main" id="{C504E94B-8DB1-083C-70BD-821C64B08FC2}"/>
                  </a:ext>
                </a:extLst>
              </p:cNvPr>
              <p:cNvGrpSpPr/>
              <p:nvPr/>
            </p:nvGrpSpPr>
            <p:grpSpPr>
              <a:xfrm>
                <a:off x="5708109" y="4599572"/>
                <a:ext cx="260886" cy="169277"/>
                <a:chOff x="2369602" y="4366470"/>
                <a:chExt cx="242374" cy="169277"/>
              </a:xfrm>
            </p:grpSpPr>
            <p:sp>
              <p:nvSpPr>
                <p:cNvPr id="52" name="직사각형 51">
                  <a:extLst>
                    <a:ext uri="{FF2B5EF4-FFF2-40B4-BE49-F238E27FC236}">
                      <a16:creationId xmlns:a16="http://schemas.microsoft.com/office/drawing/2014/main" id="{01BC7672-428E-CBD7-5F31-3E9717DF49AA}"/>
                    </a:ext>
                  </a:extLst>
                </p:cNvPr>
                <p:cNvSpPr/>
                <p:nvPr/>
              </p:nvSpPr>
              <p:spPr>
                <a:xfrm>
                  <a:off x="2455862" y="4398964"/>
                  <a:ext cx="66675"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3" name="TextBox 52">
                  <a:extLst>
                    <a:ext uri="{FF2B5EF4-FFF2-40B4-BE49-F238E27FC236}">
                      <a16:creationId xmlns:a16="http://schemas.microsoft.com/office/drawing/2014/main" id="{7FF2FDBE-80CB-D8B7-F1F8-5180E4CAE5EE}"/>
                    </a:ext>
                  </a:extLst>
                </p:cNvPr>
                <p:cNvSpPr txBox="1"/>
                <p:nvPr/>
              </p:nvSpPr>
              <p:spPr>
                <a:xfrm>
                  <a:off x="2369602" y="4366470"/>
                  <a:ext cx="242374"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49" name="그룹 48">
                <a:extLst>
                  <a:ext uri="{FF2B5EF4-FFF2-40B4-BE49-F238E27FC236}">
                    <a16:creationId xmlns:a16="http://schemas.microsoft.com/office/drawing/2014/main" id="{C6C325BF-500A-D9F8-4AF2-D90FE75FBB47}"/>
                  </a:ext>
                </a:extLst>
              </p:cNvPr>
              <p:cNvGrpSpPr/>
              <p:nvPr/>
            </p:nvGrpSpPr>
            <p:grpSpPr>
              <a:xfrm>
                <a:off x="6407956" y="4599572"/>
                <a:ext cx="260886" cy="169277"/>
                <a:chOff x="2369602" y="4366470"/>
                <a:chExt cx="242374" cy="169277"/>
              </a:xfrm>
            </p:grpSpPr>
            <p:sp>
              <p:nvSpPr>
                <p:cNvPr id="50" name="직사각형 49">
                  <a:extLst>
                    <a:ext uri="{FF2B5EF4-FFF2-40B4-BE49-F238E27FC236}">
                      <a16:creationId xmlns:a16="http://schemas.microsoft.com/office/drawing/2014/main" id="{3C6053EE-7882-F119-419B-C35522E6C728}"/>
                    </a:ext>
                  </a:extLst>
                </p:cNvPr>
                <p:cNvSpPr/>
                <p:nvPr/>
              </p:nvSpPr>
              <p:spPr>
                <a:xfrm>
                  <a:off x="2455862" y="4398964"/>
                  <a:ext cx="66675"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1" name="TextBox 50">
                  <a:extLst>
                    <a:ext uri="{FF2B5EF4-FFF2-40B4-BE49-F238E27FC236}">
                      <a16:creationId xmlns:a16="http://schemas.microsoft.com/office/drawing/2014/main" id="{F2B62981-DE58-3108-DC4C-E547FEC86E0C}"/>
                    </a:ext>
                  </a:extLst>
                </p:cNvPr>
                <p:cNvSpPr txBox="1"/>
                <p:nvPr/>
              </p:nvSpPr>
              <p:spPr>
                <a:xfrm>
                  <a:off x="2369602" y="4366470"/>
                  <a:ext cx="242374"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grpSp>
        <p:sp>
          <p:nvSpPr>
            <p:cNvPr id="38" name="TextBox 37">
              <a:extLst>
                <a:ext uri="{FF2B5EF4-FFF2-40B4-BE49-F238E27FC236}">
                  <a16:creationId xmlns:a16="http://schemas.microsoft.com/office/drawing/2014/main" id="{0F10D927-E1D0-F296-32EE-103DD5022558}"/>
                </a:ext>
              </a:extLst>
            </p:cNvPr>
            <p:cNvSpPr txBox="1"/>
            <p:nvPr/>
          </p:nvSpPr>
          <p:spPr>
            <a:xfrm>
              <a:off x="3503085" y="4599572"/>
              <a:ext cx="260886"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nvGrpSpPr>
            <p:cNvPr id="39" name="그룹 38">
              <a:extLst>
                <a:ext uri="{FF2B5EF4-FFF2-40B4-BE49-F238E27FC236}">
                  <a16:creationId xmlns:a16="http://schemas.microsoft.com/office/drawing/2014/main" id="{DA628397-4D50-01FE-1104-94C7B14FE9CF}"/>
                </a:ext>
              </a:extLst>
            </p:cNvPr>
            <p:cNvGrpSpPr/>
            <p:nvPr/>
          </p:nvGrpSpPr>
          <p:grpSpPr>
            <a:xfrm>
              <a:off x="4659234" y="4599443"/>
              <a:ext cx="260886" cy="169277"/>
              <a:chOff x="2590723" y="3781880"/>
              <a:chExt cx="260886" cy="169277"/>
            </a:xfrm>
          </p:grpSpPr>
          <p:sp>
            <p:nvSpPr>
              <p:cNvPr id="40" name="직사각형 39">
                <a:extLst>
                  <a:ext uri="{FF2B5EF4-FFF2-40B4-BE49-F238E27FC236}">
                    <a16:creationId xmlns:a16="http://schemas.microsoft.com/office/drawing/2014/main" id="{17AB5496-28FC-C755-809B-7D305DA1A36A}"/>
                  </a:ext>
                </a:extLst>
              </p:cNvPr>
              <p:cNvSpPr/>
              <p:nvPr/>
            </p:nvSpPr>
            <p:spPr>
              <a:xfrm>
                <a:off x="2685283" y="3820563"/>
                <a:ext cx="71767"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1" name="TextBox 40">
                <a:extLst>
                  <a:ext uri="{FF2B5EF4-FFF2-40B4-BE49-F238E27FC236}">
                    <a16:creationId xmlns:a16="http://schemas.microsoft.com/office/drawing/2014/main" id="{628D10A9-0E86-8357-B8A4-A7D6FBDEC567}"/>
                  </a:ext>
                </a:extLst>
              </p:cNvPr>
              <p:cNvSpPr txBox="1"/>
              <p:nvPr/>
            </p:nvSpPr>
            <p:spPr>
              <a:xfrm>
                <a:off x="2590723" y="3781880"/>
                <a:ext cx="260886"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grpSp>
      <p:pic>
        <p:nvPicPr>
          <p:cNvPr id="58" name="그림 57">
            <a:extLst>
              <a:ext uri="{FF2B5EF4-FFF2-40B4-BE49-F238E27FC236}">
                <a16:creationId xmlns:a16="http://schemas.microsoft.com/office/drawing/2014/main" id="{10EE5529-44E7-F073-8CBB-1EA2B5220D59}"/>
              </a:ext>
            </a:extLst>
          </p:cNvPr>
          <p:cNvPicPr>
            <a:picLocks noChangeAspect="1"/>
          </p:cNvPicPr>
          <p:nvPr/>
        </p:nvPicPr>
        <p:blipFill>
          <a:blip r:embed="rId3"/>
          <a:stretch>
            <a:fillRect/>
          </a:stretch>
        </p:blipFill>
        <p:spPr>
          <a:xfrm>
            <a:off x="495300" y="2245434"/>
            <a:ext cx="5911073" cy="2754488"/>
          </a:xfrm>
          <a:prstGeom prst="rect">
            <a:avLst/>
          </a:prstGeom>
        </p:spPr>
      </p:pic>
      <p:sp>
        <p:nvSpPr>
          <p:cNvPr id="8" name="TextBox 7">
            <a:extLst>
              <a:ext uri="{FF2B5EF4-FFF2-40B4-BE49-F238E27FC236}">
                <a16:creationId xmlns:a16="http://schemas.microsoft.com/office/drawing/2014/main" id="{BFF0FC8A-C219-447C-C734-912727F02E98}"/>
              </a:ext>
            </a:extLst>
          </p:cNvPr>
          <p:cNvSpPr txBox="1"/>
          <p:nvPr/>
        </p:nvSpPr>
        <p:spPr>
          <a:xfrm>
            <a:off x="1462481" y="8304440"/>
            <a:ext cx="955711" cy="184666"/>
          </a:xfrm>
          <a:prstGeom prst="rect">
            <a:avLst/>
          </a:prstGeom>
          <a:noFill/>
        </p:spPr>
        <p:txBody>
          <a:bodyPr wrap="none" rtlCol="0">
            <a:spAutoFit/>
          </a:bodyPr>
          <a:lstStyle/>
          <a:p>
            <a:r>
              <a:rPr lang="en-US" altLang="ko-KR" sz="600" dirty="0"/>
              <a:t>LD_TYP=01,PWM_RES=1</a:t>
            </a:r>
            <a:endParaRPr lang="ko-KR" altLang="en-US" sz="600" dirty="0"/>
          </a:p>
        </p:txBody>
      </p:sp>
      <p:grpSp>
        <p:nvGrpSpPr>
          <p:cNvPr id="10" name="그룹 9">
            <a:extLst>
              <a:ext uri="{FF2B5EF4-FFF2-40B4-BE49-F238E27FC236}">
                <a16:creationId xmlns:a16="http://schemas.microsoft.com/office/drawing/2014/main" id="{7FC9B547-85C5-2FEC-3656-A2D7CB857E83}"/>
              </a:ext>
            </a:extLst>
          </p:cNvPr>
          <p:cNvGrpSpPr/>
          <p:nvPr/>
        </p:nvGrpSpPr>
        <p:grpSpPr>
          <a:xfrm>
            <a:off x="1346199" y="5796164"/>
            <a:ext cx="3865267" cy="829415"/>
            <a:chOff x="1346199" y="5796164"/>
            <a:chExt cx="3865267" cy="829415"/>
          </a:xfrm>
        </p:grpSpPr>
        <p:pic>
          <p:nvPicPr>
            <p:cNvPr id="6" name="그림 5">
              <a:extLst>
                <a:ext uri="{FF2B5EF4-FFF2-40B4-BE49-F238E27FC236}">
                  <a16:creationId xmlns:a16="http://schemas.microsoft.com/office/drawing/2014/main" id="{CFD5CC27-98F1-4EF6-DFBE-9ED94EAC7DA0}"/>
                </a:ext>
              </a:extLst>
            </p:cNvPr>
            <p:cNvPicPr>
              <a:picLocks noChangeAspect="1"/>
            </p:cNvPicPr>
            <p:nvPr/>
          </p:nvPicPr>
          <p:blipFill>
            <a:blip r:embed="rId4"/>
            <a:stretch>
              <a:fillRect/>
            </a:stretch>
          </p:blipFill>
          <p:spPr>
            <a:xfrm>
              <a:off x="1346199" y="5796164"/>
              <a:ext cx="3865267" cy="829415"/>
            </a:xfrm>
            <a:prstGeom prst="rect">
              <a:avLst/>
            </a:prstGeom>
          </p:spPr>
        </p:pic>
        <p:sp>
          <p:nvSpPr>
            <p:cNvPr id="7" name="TextBox 6">
              <a:extLst>
                <a:ext uri="{FF2B5EF4-FFF2-40B4-BE49-F238E27FC236}">
                  <a16:creationId xmlns:a16="http://schemas.microsoft.com/office/drawing/2014/main" id="{CD831342-4F10-E99B-91E2-727BBD971028}"/>
                </a:ext>
              </a:extLst>
            </p:cNvPr>
            <p:cNvSpPr txBox="1"/>
            <p:nvPr/>
          </p:nvSpPr>
          <p:spPr>
            <a:xfrm>
              <a:off x="1549400" y="6070600"/>
              <a:ext cx="393700" cy="323165"/>
            </a:xfrm>
            <a:prstGeom prst="rect">
              <a:avLst/>
            </a:prstGeom>
            <a:solidFill>
              <a:schemeClr val="accent5">
                <a:lumMod val="20000"/>
                <a:lumOff val="80000"/>
              </a:schemeClr>
            </a:solidFill>
          </p:spPr>
          <p:txBody>
            <a:bodyPr wrap="square" lIns="0" tIns="0" rIns="0" bIns="0" rtlCol="0">
              <a:spAutoFit/>
            </a:bodyPr>
            <a:lstStyle/>
            <a:p>
              <a:pPr algn="ctr"/>
              <a:r>
                <a:rPr lang="en-US" altLang="ko-KR" sz="700" b="1" dirty="0">
                  <a:latin typeface="Arial" panose="020B0604020202020204" pitchFamily="34" charset="0"/>
                  <a:cs typeface="Arial" panose="020B0604020202020204" pitchFamily="34" charset="0"/>
                </a:rPr>
                <a:t>XC24R</a:t>
              </a:r>
            </a:p>
            <a:p>
              <a:pPr algn="ctr"/>
              <a:r>
                <a:rPr lang="en-US" altLang="ko-KR" sz="700" b="1" dirty="0">
                  <a:latin typeface="Arial" panose="020B0604020202020204" pitchFamily="34" charset="0"/>
                  <a:cs typeface="Arial" panose="020B0604020202020204" pitchFamily="34" charset="0"/>
                </a:rPr>
                <a:t>or</a:t>
              </a:r>
            </a:p>
            <a:p>
              <a:pPr algn="ctr"/>
              <a:r>
                <a:rPr lang="en-US" altLang="ko-KR" sz="700" b="1" dirty="0">
                  <a:latin typeface="Arial" panose="020B0604020202020204" pitchFamily="34" charset="0"/>
                  <a:cs typeface="Arial" panose="020B0604020202020204" pitchFamily="34" charset="0"/>
                </a:rPr>
                <a:t>MCU</a:t>
              </a:r>
              <a:endParaRPr lang="ko-KR" altLang="en-US" sz="700" b="1" dirty="0">
                <a:latin typeface="Arial" panose="020B0604020202020204" pitchFamily="34" charset="0"/>
                <a:cs typeface="Arial" panose="020B0604020202020204" pitchFamily="34" charset="0"/>
              </a:endParaRPr>
            </a:p>
          </p:txBody>
        </p:sp>
      </p:grpSp>
      <p:sp>
        <p:nvSpPr>
          <p:cNvPr id="9" name="직사각형 8">
            <a:extLst>
              <a:ext uri="{FF2B5EF4-FFF2-40B4-BE49-F238E27FC236}">
                <a16:creationId xmlns:a16="http://schemas.microsoft.com/office/drawing/2014/main" id="{284A59D3-E04A-D774-7309-79991DE2FD5B}"/>
              </a:ext>
            </a:extLst>
          </p:cNvPr>
          <p:cNvSpPr/>
          <p:nvPr/>
        </p:nvSpPr>
        <p:spPr>
          <a:xfrm>
            <a:off x="3535680" y="4423858"/>
            <a:ext cx="1955800" cy="5291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1131974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0DD6E-1A42-6ED0-F928-E5FEC9ABD594}"/>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3D38BB34-2343-755C-7DF7-80A370D1842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13D8806C-98E0-CDDA-F177-28DDB4A93803}"/>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3B36140B-3424-2995-257D-CCB96A0ADFC9}"/>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2" name="TextBox 1">
            <a:extLst>
              <a:ext uri="{FF2B5EF4-FFF2-40B4-BE49-F238E27FC236}">
                <a16:creationId xmlns:a16="http://schemas.microsoft.com/office/drawing/2014/main" id="{5AABB728-2368-EBE4-A038-DCF1272597AD}"/>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PWM Configuration</a:t>
            </a:r>
          </a:p>
        </p:txBody>
      </p:sp>
      <p:sp>
        <p:nvSpPr>
          <p:cNvPr id="7" name="TextBox 6">
            <a:extLst>
              <a:ext uri="{FF2B5EF4-FFF2-40B4-BE49-F238E27FC236}">
                <a16:creationId xmlns:a16="http://schemas.microsoft.com/office/drawing/2014/main" id="{BCB0DC03-4738-7CF1-9A4A-C3FB97CFD6BE}"/>
              </a:ext>
            </a:extLst>
          </p:cNvPr>
          <p:cNvSpPr txBox="1"/>
          <p:nvPr/>
        </p:nvSpPr>
        <p:spPr>
          <a:xfrm>
            <a:off x="407554" y="1556966"/>
            <a:ext cx="6039903"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PWM behavior</a:t>
            </a:r>
            <a:r>
              <a:rPr lang="ko-KR" altLang="en-US" sz="1000" dirty="0">
                <a:latin typeface="Arial" panose="020B0604020202020204" pitchFamily="34" charset="0"/>
                <a:cs typeface="Arial" panose="020B0604020202020204" pitchFamily="34" charset="0"/>
              </a:rPr>
              <a:t> </a:t>
            </a:r>
            <a:r>
              <a:rPr lang="en-US" altLang="ko-KR" sz="1000" dirty="0">
                <a:latin typeface="Arial" panose="020B0604020202020204" pitchFamily="34" charset="0"/>
                <a:cs typeface="Arial" panose="020B0604020202020204" pitchFamily="34" charset="0"/>
              </a:rPr>
              <a:t>depends on PWM configuration set to the PWM_RES and SUB-FRAME</a:t>
            </a:r>
          </a:p>
          <a:p>
            <a:pPr algn="just"/>
            <a:r>
              <a:rPr lang="en-US" altLang="ko-KR" sz="1000" dirty="0">
                <a:latin typeface="Arial" panose="020B0604020202020204" pitchFamily="34" charset="0"/>
                <a:cs typeface="Arial" panose="020B0604020202020204" pitchFamily="34" charset="0"/>
              </a:rPr>
              <a:t>(ex: LD_TYPE =1, </a:t>
            </a:r>
            <a:r>
              <a:rPr lang="en-US" altLang="ko-KR" sz="1000" dirty="0" err="1">
                <a:latin typeface="Arial" panose="020B0604020202020204" pitchFamily="34" charset="0"/>
                <a:cs typeface="Arial" panose="020B0604020202020204" pitchFamily="34" charset="0"/>
              </a:rPr>
              <a:t>svsync</a:t>
            </a:r>
            <a:r>
              <a:rPr lang="en-US" altLang="ko-KR" sz="1000" dirty="0">
                <a:latin typeface="Arial" panose="020B0604020202020204" pitchFamily="34" charset="0"/>
                <a:cs typeface="Arial" panose="020B0604020202020204" pitchFamily="34" charset="0"/>
              </a:rPr>
              <a:t> / 3) </a:t>
            </a:r>
            <a:r>
              <a:rPr lang="en-US" altLang="ko-KR" sz="1000" b="0" i="0" dirty="0">
                <a:solidFill>
                  <a:srgbClr val="000000"/>
                </a:solidFill>
                <a:effectLst/>
                <a:latin typeface="Arial" panose="020B0604020202020204" pitchFamily="34" charset="0"/>
                <a:cs typeface="Arial" panose="020B0604020202020204" pitchFamily="34" charset="0"/>
              </a:rPr>
              <a:t>as shown in the Table 6. LD data is applied to the next frame.</a:t>
            </a:r>
            <a:endParaRPr lang="en-US" altLang="ko-KR" sz="10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5943546A-7D6C-D5C8-BDDE-92DEF6E1E60E}"/>
              </a:ext>
            </a:extLst>
          </p:cNvPr>
          <p:cNvSpPr txBox="1"/>
          <p:nvPr/>
        </p:nvSpPr>
        <p:spPr>
          <a:xfrm>
            <a:off x="2699993" y="4562773"/>
            <a:ext cx="1532471"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6. PWM Configuration</a:t>
            </a:r>
          </a:p>
        </p:txBody>
      </p:sp>
      <p:sp>
        <p:nvSpPr>
          <p:cNvPr id="9" name="TextBox 8">
            <a:extLst>
              <a:ext uri="{FF2B5EF4-FFF2-40B4-BE49-F238E27FC236}">
                <a16:creationId xmlns:a16="http://schemas.microsoft.com/office/drawing/2014/main" id="{575A5018-F195-2FE7-E37B-C55F6985E790}"/>
              </a:ext>
            </a:extLst>
          </p:cNvPr>
          <p:cNvSpPr txBox="1"/>
          <p:nvPr/>
        </p:nvSpPr>
        <p:spPr>
          <a:xfrm>
            <a:off x="4232988" y="4314404"/>
            <a:ext cx="660758" cy="230832"/>
          </a:xfrm>
          <a:prstGeom prst="rect">
            <a:avLst/>
          </a:prstGeom>
          <a:noFill/>
        </p:spPr>
        <p:txBody>
          <a:bodyPr wrap="none" rtlCol="0">
            <a:spAutoFit/>
          </a:bodyPr>
          <a:lstStyle/>
          <a:p>
            <a:r>
              <a:rPr lang="en-US" altLang="ko-KR" sz="900" dirty="0"/>
              <a:t>don’t care</a:t>
            </a:r>
            <a:endParaRPr lang="ko-KR" altLang="en-US" sz="900" dirty="0"/>
          </a:p>
        </p:txBody>
      </p:sp>
      <p:sp>
        <p:nvSpPr>
          <p:cNvPr id="10" name="직사각형 9">
            <a:extLst>
              <a:ext uri="{FF2B5EF4-FFF2-40B4-BE49-F238E27FC236}">
                <a16:creationId xmlns:a16="http://schemas.microsoft.com/office/drawing/2014/main" id="{1F7ECCF2-4F58-429C-8CC5-567E881BD0BC}"/>
              </a:ext>
            </a:extLst>
          </p:cNvPr>
          <p:cNvSpPr/>
          <p:nvPr/>
        </p:nvSpPr>
        <p:spPr>
          <a:xfrm>
            <a:off x="4178464" y="4375820"/>
            <a:ext cx="108000" cy="108000"/>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900" dirty="0">
                <a:solidFill>
                  <a:schemeClr val="tx1"/>
                </a:solidFill>
              </a:rPr>
              <a:t>x</a:t>
            </a:r>
            <a:endParaRPr lang="ko-KR" altLang="en-US" sz="900" dirty="0">
              <a:solidFill>
                <a:schemeClr val="tx1"/>
              </a:solidFill>
            </a:endParaRPr>
          </a:p>
        </p:txBody>
      </p:sp>
      <p:sp>
        <p:nvSpPr>
          <p:cNvPr id="12" name="직사각형 11">
            <a:extLst>
              <a:ext uri="{FF2B5EF4-FFF2-40B4-BE49-F238E27FC236}">
                <a16:creationId xmlns:a16="http://schemas.microsoft.com/office/drawing/2014/main" id="{9A8D69C7-0936-9C79-820F-A6896024CA0E}"/>
              </a:ext>
            </a:extLst>
          </p:cNvPr>
          <p:cNvSpPr/>
          <p:nvPr/>
        </p:nvSpPr>
        <p:spPr>
          <a:xfrm>
            <a:off x="4171578" y="3932288"/>
            <a:ext cx="108000" cy="108000"/>
          </a:xfrm>
          <a:prstGeom prst="rect">
            <a:avLst/>
          </a:prstGeom>
          <a:solidFill>
            <a:srgbClr val="FFD1D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solidFill>
            </a:endParaRPr>
          </a:p>
        </p:txBody>
      </p:sp>
      <p:sp>
        <p:nvSpPr>
          <p:cNvPr id="13" name="TextBox 12">
            <a:extLst>
              <a:ext uri="{FF2B5EF4-FFF2-40B4-BE49-F238E27FC236}">
                <a16:creationId xmlns:a16="http://schemas.microsoft.com/office/drawing/2014/main" id="{7D982AB8-A21F-7182-1E9C-5338F0D16A6F}"/>
              </a:ext>
            </a:extLst>
          </p:cNvPr>
          <p:cNvSpPr txBox="1"/>
          <p:nvPr/>
        </p:nvSpPr>
        <p:spPr>
          <a:xfrm>
            <a:off x="4229813" y="3870872"/>
            <a:ext cx="1519968" cy="230832"/>
          </a:xfrm>
          <a:prstGeom prst="rect">
            <a:avLst/>
          </a:prstGeom>
          <a:noFill/>
        </p:spPr>
        <p:txBody>
          <a:bodyPr wrap="none" rtlCol="0">
            <a:spAutoFit/>
          </a:bodyPr>
          <a:lstStyle/>
          <a:p>
            <a:r>
              <a:rPr lang="en-US" altLang="ko-KR" sz="900" dirty="0"/>
              <a:t>sub-frames # with max. duty</a:t>
            </a:r>
            <a:endParaRPr lang="ko-KR" altLang="en-US" sz="900" dirty="0"/>
          </a:p>
        </p:txBody>
      </p:sp>
      <p:sp>
        <p:nvSpPr>
          <p:cNvPr id="14" name="직사각형 13">
            <a:extLst>
              <a:ext uri="{FF2B5EF4-FFF2-40B4-BE49-F238E27FC236}">
                <a16:creationId xmlns:a16="http://schemas.microsoft.com/office/drawing/2014/main" id="{2CAB58A1-CD59-3F4B-80BA-5FB43EF36665}"/>
              </a:ext>
            </a:extLst>
          </p:cNvPr>
          <p:cNvSpPr/>
          <p:nvPr/>
        </p:nvSpPr>
        <p:spPr>
          <a:xfrm>
            <a:off x="4169931" y="4161245"/>
            <a:ext cx="108000" cy="108000"/>
          </a:xfrm>
          <a:prstGeom prst="rect">
            <a:avLst/>
          </a:prstGeom>
          <a:solidFill>
            <a:srgbClr val="FFFFEB"/>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solidFill>
            </a:endParaRPr>
          </a:p>
        </p:txBody>
      </p:sp>
      <p:sp>
        <p:nvSpPr>
          <p:cNvPr id="15" name="TextBox 14">
            <a:extLst>
              <a:ext uri="{FF2B5EF4-FFF2-40B4-BE49-F238E27FC236}">
                <a16:creationId xmlns:a16="http://schemas.microsoft.com/office/drawing/2014/main" id="{8921A748-115B-3DA7-EF5A-4C34B2CBABC5}"/>
              </a:ext>
            </a:extLst>
          </p:cNvPr>
          <p:cNvSpPr txBox="1"/>
          <p:nvPr/>
        </p:nvSpPr>
        <p:spPr>
          <a:xfrm>
            <a:off x="4227728" y="4099829"/>
            <a:ext cx="1985543" cy="230832"/>
          </a:xfrm>
          <a:prstGeom prst="rect">
            <a:avLst/>
          </a:prstGeom>
          <a:noFill/>
        </p:spPr>
        <p:txBody>
          <a:bodyPr wrap="square" rtlCol="0">
            <a:spAutoFit/>
          </a:bodyPr>
          <a:lstStyle/>
          <a:p>
            <a:r>
              <a:rPr lang="en-US" altLang="ko-KR" sz="900" dirty="0"/>
              <a:t>s</a:t>
            </a:r>
            <a:r>
              <a:rPr lang="en-US" altLang="ko-KR" sz="900"/>
              <a:t>tep </a:t>
            </a:r>
            <a:r>
              <a:rPr lang="en-US" altLang="ko-KR" sz="900" dirty="0"/>
              <a:t># in sub-frame without max. duty</a:t>
            </a:r>
            <a:endParaRPr lang="ko-KR" altLang="en-US" sz="900" dirty="0"/>
          </a:p>
        </p:txBody>
      </p:sp>
      <p:graphicFrame>
        <p:nvGraphicFramePr>
          <p:cNvPr id="17" name="표 16">
            <a:extLst>
              <a:ext uri="{FF2B5EF4-FFF2-40B4-BE49-F238E27FC236}">
                <a16:creationId xmlns:a16="http://schemas.microsoft.com/office/drawing/2014/main" id="{50DDFEC4-D56E-18BC-3B1A-2785D0F391DD}"/>
              </a:ext>
            </a:extLst>
          </p:cNvPr>
          <p:cNvGraphicFramePr>
            <a:graphicFrameLocks noGrp="1"/>
          </p:cNvGraphicFramePr>
          <p:nvPr>
            <p:extLst>
              <p:ext uri="{D42A27DB-BD31-4B8C-83A1-F6EECF244321}">
                <p14:modId xmlns:p14="http://schemas.microsoft.com/office/powerpoint/2010/main" val="3693989713"/>
              </p:ext>
            </p:extLst>
          </p:nvPr>
        </p:nvGraphicFramePr>
        <p:xfrm>
          <a:off x="465944" y="2236036"/>
          <a:ext cx="5915026" cy="1542214"/>
        </p:xfrm>
        <a:graphic>
          <a:graphicData uri="http://schemas.openxmlformats.org/drawingml/2006/table">
            <a:tbl>
              <a:tblPr/>
              <a:tblGrid>
                <a:gridCol w="430436">
                  <a:extLst>
                    <a:ext uri="{9D8B030D-6E8A-4147-A177-3AD203B41FA5}">
                      <a16:colId xmlns:a16="http://schemas.microsoft.com/office/drawing/2014/main" val="3531318785"/>
                    </a:ext>
                  </a:extLst>
                </a:gridCol>
                <a:gridCol w="430436">
                  <a:extLst>
                    <a:ext uri="{9D8B030D-6E8A-4147-A177-3AD203B41FA5}">
                      <a16:colId xmlns:a16="http://schemas.microsoft.com/office/drawing/2014/main" val="2912788013"/>
                    </a:ext>
                  </a:extLst>
                </a:gridCol>
                <a:gridCol w="361011">
                  <a:extLst>
                    <a:ext uri="{9D8B030D-6E8A-4147-A177-3AD203B41FA5}">
                      <a16:colId xmlns:a16="http://schemas.microsoft.com/office/drawing/2014/main" val="693301796"/>
                    </a:ext>
                  </a:extLst>
                </a:gridCol>
                <a:gridCol w="361011">
                  <a:extLst>
                    <a:ext uri="{9D8B030D-6E8A-4147-A177-3AD203B41FA5}">
                      <a16:colId xmlns:a16="http://schemas.microsoft.com/office/drawing/2014/main" val="2052919037"/>
                    </a:ext>
                  </a:extLst>
                </a:gridCol>
                <a:gridCol w="361011">
                  <a:extLst>
                    <a:ext uri="{9D8B030D-6E8A-4147-A177-3AD203B41FA5}">
                      <a16:colId xmlns:a16="http://schemas.microsoft.com/office/drawing/2014/main" val="4087507781"/>
                    </a:ext>
                  </a:extLst>
                </a:gridCol>
                <a:gridCol w="361011">
                  <a:extLst>
                    <a:ext uri="{9D8B030D-6E8A-4147-A177-3AD203B41FA5}">
                      <a16:colId xmlns:a16="http://schemas.microsoft.com/office/drawing/2014/main" val="127666806"/>
                    </a:ext>
                  </a:extLst>
                </a:gridCol>
                <a:gridCol w="361011">
                  <a:extLst>
                    <a:ext uri="{9D8B030D-6E8A-4147-A177-3AD203B41FA5}">
                      <a16:colId xmlns:a16="http://schemas.microsoft.com/office/drawing/2014/main" val="3361233993"/>
                    </a:ext>
                  </a:extLst>
                </a:gridCol>
                <a:gridCol w="361011">
                  <a:extLst>
                    <a:ext uri="{9D8B030D-6E8A-4147-A177-3AD203B41FA5}">
                      <a16:colId xmlns:a16="http://schemas.microsoft.com/office/drawing/2014/main" val="2066667105"/>
                    </a:ext>
                  </a:extLst>
                </a:gridCol>
                <a:gridCol w="361011">
                  <a:extLst>
                    <a:ext uri="{9D8B030D-6E8A-4147-A177-3AD203B41FA5}">
                      <a16:colId xmlns:a16="http://schemas.microsoft.com/office/drawing/2014/main" val="3098939016"/>
                    </a:ext>
                  </a:extLst>
                </a:gridCol>
                <a:gridCol w="361011">
                  <a:extLst>
                    <a:ext uri="{9D8B030D-6E8A-4147-A177-3AD203B41FA5}">
                      <a16:colId xmlns:a16="http://schemas.microsoft.com/office/drawing/2014/main" val="1074266879"/>
                    </a:ext>
                  </a:extLst>
                </a:gridCol>
                <a:gridCol w="361011">
                  <a:extLst>
                    <a:ext uri="{9D8B030D-6E8A-4147-A177-3AD203B41FA5}">
                      <a16:colId xmlns:a16="http://schemas.microsoft.com/office/drawing/2014/main" val="2200393420"/>
                    </a:ext>
                  </a:extLst>
                </a:gridCol>
                <a:gridCol w="361011">
                  <a:extLst>
                    <a:ext uri="{9D8B030D-6E8A-4147-A177-3AD203B41FA5}">
                      <a16:colId xmlns:a16="http://schemas.microsoft.com/office/drawing/2014/main" val="714494251"/>
                    </a:ext>
                  </a:extLst>
                </a:gridCol>
                <a:gridCol w="361011">
                  <a:extLst>
                    <a:ext uri="{9D8B030D-6E8A-4147-A177-3AD203B41FA5}">
                      <a16:colId xmlns:a16="http://schemas.microsoft.com/office/drawing/2014/main" val="4231617388"/>
                    </a:ext>
                  </a:extLst>
                </a:gridCol>
                <a:gridCol w="361011">
                  <a:extLst>
                    <a:ext uri="{9D8B030D-6E8A-4147-A177-3AD203B41FA5}">
                      <a16:colId xmlns:a16="http://schemas.microsoft.com/office/drawing/2014/main" val="2238012840"/>
                    </a:ext>
                  </a:extLst>
                </a:gridCol>
                <a:gridCol w="361011">
                  <a:extLst>
                    <a:ext uri="{9D8B030D-6E8A-4147-A177-3AD203B41FA5}">
                      <a16:colId xmlns:a16="http://schemas.microsoft.com/office/drawing/2014/main" val="1152859303"/>
                    </a:ext>
                  </a:extLst>
                </a:gridCol>
                <a:gridCol w="361011">
                  <a:extLst>
                    <a:ext uri="{9D8B030D-6E8A-4147-A177-3AD203B41FA5}">
                      <a16:colId xmlns:a16="http://schemas.microsoft.com/office/drawing/2014/main" val="53892738"/>
                    </a:ext>
                  </a:extLst>
                </a:gridCol>
              </a:tblGrid>
              <a:tr h="152872">
                <a:tc rowSpan="2">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PWM_</a:t>
                      </a:r>
                    </a:p>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RES</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EEBF7"/>
                    </a:solidFill>
                  </a:tcPr>
                </a:tc>
                <a:tc rowSpan="2">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sub-</a:t>
                      </a:r>
                      <a:br>
                        <a:rPr lang="en-US" sz="700" b="0" i="0" u="none" strike="noStrike" dirty="0">
                          <a:solidFill>
                            <a:srgbClr val="000000"/>
                          </a:solidFill>
                          <a:effectLst/>
                          <a:latin typeface="Arial" panose="020B0604020202020204" pitchFamily="34" charset="0"/>
                          <a:ea typeface="맑은 고딕" panose="020B0503020000020004" pitchFamily="50" charset="-127"/>
                        </a:rPr>
                      </a:br>
                      <a:r>
                        <a:rPr lang="en-US" sz="700" b="0" i="0" u="none" strike="noStrike" dirty="0">
                          <a:solidFill>
                            <a:srgbClr val="000000"/>
                          </a:solidFill>
                          <a:effectLst/>
                          <a:latin typeface="Arial" panose="020B0604020202020204" pitchFamily="34" charset="0"/>
                          <a:ea typeface="맑은 고딕" panose="020B0503020000020004" pitchFamily="50" charset="-127"/>
                        </a:rPr>
                        <a:t>frame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EEBF7"/>
                    </a:solidFill>
                  </a:tcPr>
                </a:tc>
                <a:tc gridSpan="14">
                  <a:txBody>
                    <a:bodyPr/>
                    <a:lstStyle/>
                    <a:p>
                      <a:pPr algn="ctr" fontAlgn="ctr"/>
                      <a:r>
                        <a:rPr lang="en-US" sz="700" b="0" i="0" u="none" strike="noStrike">
                          <a:solidFill>
                            <a:srgbClr val="000000"/>
                          </a:solidFill>
                          <a:effectLst/>
                          <a:latin typeface="Arial" panose="020B0604020202020204" pitchFamily="34" charset="0"/>
                          <a:ea typeface="맑은 고딕" panose="020B0503020000020004" pitchFamily="50" charset="-127"/>
                        </a:rPr>
                        <a:t>LD data[13:0]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EEBF7"/>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521362232"/>
                  </a:ext>
                </a:extLst>
              </a:tr>
              <a:tr h="152872">
                <a:tc vMerge="1">
                  <a:txBody>
                    <a:bodyPr/>
                    <a:lstStyle/>
                    <a:p>
                      <a:pPr latinLnBrk="1"/>
                      <a:endParaRPr lang="ko-KR" altLang="en-US"/>
                    </a:p>
                  </a:txBody>
                  <a:tcPr/>
                </a:tc>
                <a:tc vMerge="1">
                  <a:txBody>
                    <a:bodyPr/>
                    <a:lstStyle/>
                    <a:p>
                      <a:pPr latinLnBrk="1"/>
                      <a:endParaRPr lang="ko-KR" altLang="en-US"/>
                    </a:p>
                  </a:txBody>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D13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extLst>
                  <a:ext uri="{0D108BD9-81ED-4DB2-BD59-A6C34878D82A}">
                    <a16:rowId xmlns:a16="http://schemas.microsoft.com/office/drawing/2014/main" val="1661273553"/>
                  </a:ext>
                </a:extLst>
              </a:tr>
              <a:tr h="152872">
                <a:tc rowSpan="4">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0</a:t>
                      </a:r>
                      <a:br>
                        <a:rPr lang="en-US" sz="700" b="0" i="0" u="none" strike="noStrike" dirty="0">
                          <a:solidFill>
                            <a:srgbClr val="000000"/>
                          </a:solidFill>
                          <a:effectLst/>
                          <a:latin typeface="Arial" panose="020B0604020202020204" pitchFamily="34" charset="0"/>
                          <a:ea typeface="맑은 고딕" panose="020B0503020000020004" pitchFamily="50" charset="-127"/>
                        </a:rPr>
                      </a:br>
                      <a:r>
                        <a:rPr lang="en-US" sz="700" b="0" i="0" u="none" strike="noStrike" dirty="0">
                          <a:solidFill>
                            <a:srgbClr val="000000"/>
                          </a:solidFill>
                          <a:effectLst/>
                          <a:latin typeface="Arial" panose="020B0604020202020204" pitchFamily="34" charset="0"/>
                          <a:ea typeface="맑은 고딕" panose="020B0503020000020004" pitchFamily="50" charset="-127"/>
                        </a:rPr>
                        <a:t>(12-bit)</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EEBF7"/>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extLst>
                  <a:ext uri="{0D108BD9-81ED-4DB2-BD59-A6C34878D82A}">
                    <a16:rowId xmlns:a16="http://schemas.microsoft.com/office/drawing/2014/main" val="2099392315"/>
                  </a:ext>
                </a:extLst>
              </a:tr>
              <a:tr h="152872">
                <a:tc vMerge="1">
                  <a:txBody>
                    <a:bodyPr/>
                    <a:lstStyle/>
                    <a:p>
                      <a:pPr latinLnBrk="1"/>
                      <a:endParaRPr lang="ko-KR" altLang="en-US"/>
                    </a:p>
                  </a:txBody>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extLst>
                  <a:ext uri="{0D108BD9-81ED-4DB2-BD59-A6C34878D82A}">
                    <a16:rowId xmlns:a16="http://schemas.microsoft.com/office/drawing/2014/main" val="3543466361"/>
                  </a:ext>
                </a:extLst>
              </a:tr>
              <a:tr h="152872">
                <a:tc vMerge="1">
                  <a:txBody>
                    <a:bodyPr/>
                    <a:lstStyle/>
                    <a:p>
                      <a:pPr latinLnBrk="1"/>
                      <a:endParaRPr lang="ko-KR" altLang="en-US"/>
                    </a:p>
                  </a:txBody>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extLst>
                  <a:ext uri="{0D108BD9-81ED-4DB2-BD59-A6C34878D82A}">
                    <a16:rowId xmlns:a16="http://schemas.microsoft.com/office/drawing/2014/main" val="2310943505"/>
                  </a:ext>
                </a:extLst>
              </a:tr>
              <a:tr h="151321">
                <a:tc vMerge="1">
                  <a:txBody>
                    <a:bodyPr/>
                    <a:lstStyle/>
                    <a:p>
                      <a:pPr latinLnBrk="1"/>
                      <a:endParaRPr lang="ko-KR" altLang="en-US"/>
                    </a:p>
                  </a:txBody>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32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extLst>
                  <a:ext uri="{0D108BD9-81ED-4DB2-BD59-A6C34878D82A}">
                    <a16:rowId xmlns:a16="http://schemas.microsoft.com/office/drawing/2014/main" val="2901028779"/>
                  </a:ext>
                </a:extLst>
              </a:tr>
              <a:tr h="152872">
                <a:tc rowSpan="4">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1</a:t>
                      </a:r>
                      <a:br>
                        <a:rPr lang="en-US" sz="700" b="0" i="0" u="none" strike="noStrike" dirty="0">
                          <a:solidFill>
                            <a:srgbClr val="000000"/>
                          </a:solidFill>
                          <a:effectLst/>
                          <a:latin typeface="Arial" panose="020B0604020202020204" pitchFamily="34" charset="0"/>
                          <a:ea typeface="맑은 고딕" panose="020B0503020000020004" pitchFamily="50" charset="-127"/>
                        </a:rPr>
                      </a:br>
                      <a:r>
                        <a:rPr lang="en-US" sz="700" b="0" i="0" u="none" strike="noStrike" dirty="0">
                          <a:solidFill>
                            <a:srgbClr val="000000"/>
                          </a:solidFill>
                          <a:effectLst/>
                          <a:latin typeface="Arial" panose="020B0604020202020204" pitchFamily="34" charset="0"/>
                          <a:ea typeface="맑은 고딕" panose="020B0503020000020004" pitchFamily="50" charset="-127"/>
                        </a:rPr>
                        <a:t>(14-bit)</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EEBF7"/>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extLst>
                  <a:ext uri="{0D108BD9-81ED-4DB2-BD59-A6C34878D82A}">
                    <a16:rowId xmlns:a16="http://schemas.microsoft.com/office/drawing/2014/main" val="4124920354"/>
                  </a:ext>
                </a:extLst>
              </a:tr>
              <a:tr h="152872">
                <a:tc vMerge="1">
                  <a:txBody>
                    <a:bodyPr/>
                    <a:lstStyle/>
                    <a:p>
                      <a:pPr latinLnBrk="1"/>
                      <a:endParaRPr lang="ko-KR" altLang="en-US"/>
                    </a:p>
                  </a:txBody>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extLst>
                  <a:ext uri="{0D108BD9-81ED-4DB2-BD59-A6C34878D82A}">
                    <a16:rowId xmlns:a16="http://schemas.microsoft.com/office/drawing/2014/main" val="1315183003"/>
                  </a:ext>
                </a:extLst>
              </a:tr>
              <a:tr h="152872">
                <a:tc vMerge="1">
                  <a:txBody>
                    <a:bodyPr/>
                    <a:lstStyle/>
                    <a:p>
                      <a:pPr latinLnBrk="1"/>
                      <a:endParaRPr lang="ko-KR" altLang="en-US"/>
                    </a:p>
                  </a:txBody>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extLst>
                  <a:ext uri="{0D108BD9-81ED-4DB2-BD59-A6C34878D82A}">
                    <a16:rowId xmlns:a16="http://schemas.microsoft.com/office/drawing/2014/main" val="306826347"/>
                  </a:ext>
                </a:extLst>
              </a:tr>
              <a:tr h="167917">
                <a:tc vMerge="1">
                  <a:txBody>
                    <a:bodyPr/>
                    <a:lstStyle/>
                    <a:p>
                      <a:pPr latinLnBrk="1"/>
                      <a:endParaRPr lang="ko-KR" altLang="en-US"/>
                    </a:p>
                  </a:txBody>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32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extLst>
                  <a:ext uri="{0D108BD9-81ED-4DB2-BD59-A6C34878D82A}">
                    <a16:rowId xmlns:a16="http://schemas.microsoft.com/office/drawing/2014/main" val="2202027263"/>
                  </a:ext>
                </a:extLst>
              </a:tr>
            </a:tbl>
          </a:graphicData>
        </a:graphic>
      </p:graphicFrame>
      <p:pic>
        <p:nvPicPr>
          <p:cNvPr id="20" name="그림 19">
            <a:extLst>
              <a:ext uri="{FF2B5EF4-FFF2-40B4-BE49-F238E27FC236}">
                <a16:creationId xmlns:a16="http://schemas.microsoft.com/office/drawing/2014/main" id="{D7E1042D-DE1E-4C76-3966-6C8FECA82179}"/>
              </a:ext>
            </a:extLst>
          </p:cNvPr>
          <p:cNvPicPr>
            <a:picLocks noChangeAspect="1"/>
          </p:cNvPicPr>
          <p:nvPr/>
        </p:nvPicPr>
        <p:blipFill>
          <a:blip r:embed="rId2"/>
          <a:stretch>
            <a:fillRect/>
          </a:stretch>
        </p:blipFill>
        <p:spPr>
          <a:xfrm>
            <a:off x="298245" y="6180360"/>
            <a:ext cx="5987637" cy="911313"/>
          </a:xfrm>
          <a:prstGeom prst="rect">
            <a:avLst/>
          </a:prstGeom>
        </p:spPr>
      </p:pic>
      <p:sp>
        <p:nvSpPr>
          <p:cNvPr id="21" name="TextBox 20">
            <a:extLst>
              <a:ext uri="{FF2B5EF4-FFF2-40B4-BE49-F238E27FC236}">
                <a16:creationId xmlns:a16="http://schemas.microsoft.com/office/drawing/2014/main" id="{6B74F8FC-9B2A-1B5C-7D1B-0B8A7A7FD9D3}"/>
              </a:ext>
            </a:extLst>
          </p:cNvPr>
          <p:cNvSpPr txBox="1"/>
          <p:nvPr/>
        </p:nvSpPr>
        <p:spPr>
          <a:xfrm>
            <a:off x="399458" y="5791765"/>
            <a:ext cx="3462866" cy="230832"/>
          </a:xfrm>
          <a:prstGeom prst="rect">
            <a:avLst/>
          </a:prstGeom>
          <a:noFill/>
        </p:spPr>
        <p:txBody>
          <a:bodyPr wrap="square">
            <a:spAutoFit/>
          </a:bodyPr>
          <a:lstStyle/>
          <a:p>
            <a:r>
              <a:rPr lang="en-US" altLang="ko-KR" sz="900" dirty="0">
                <a:latin typeface="Arial" panose="020B0604020202020204" pitchFamily="34" charset="0"/>
                <a:cs typeface="Arial" panose="020B0604020202020204" pitchFamily="34" charset="0"/>
              </a:rPr>
              <a:t>(example)</a:t>
            </a:r>
          </a:p>
        </p:txBody>
      </p:sp>
      <p:sp>
        <p:nvSpPr>
          <p:cNvPr id="22" name="TextBox 21">
            <a:extLst>
              <a:ext uri="{FF2B5EF4-FFF2-40B4-BE49-F238E27FC236}">
                <a16:creationId xmlns:a16="http://schemas.microsoft.com/office/drawing/2014/main" id="{D4E6F41C-FFA5-15E4-A98A-B987E8AA67C5}"/>
              </a:ext>
            </a:extLst>
          </p:cNvPr>
          <p:cNvSpPr txBox="1"/>
          <p:nvPr/>
        </p:nvSpPr>
        <p:spPr>
          <a:xfrm>
            <a:off x="4727528" y="5851375"/>
            <a:ext cx="1485743" cy="200055"/>
          </a:xfrm>
          <a:prstGeom prst="rect">
            <a:avLst/>
          </a:prstGeom>
          <a:noFill/>
        </p:spPr>
        <p:txBody>
          <a:bodyPr wrap="square" rtlCol="0">
            <a:spAutoFit/>
          </a:bodyPr>
          <a:lstStyle/>
          <a:p>
            <a:r>
              <a:rPr lang="en-US" altLang="ko-KR" sz="700" b="0" dirty="0">
                <a:solidFill>
                  <a:schemeClr val="tx1"/>
                </a:solidFill>
                <a:latin typeface="Arial" panose="020B0604020202020204" pitchFamily="34" charset="0"/>
                <a:cs typeface="Arial" panose="020B0604020202020204" pitchFamily="34" charset="0"/>
              </a:rPr>
              <a:t>LD_DIR = 1,</a:t>
            </a:r>
            <a:r>
              <a:rPr lang="ko-KR" altLang="en-US" sz="700" dirty="0">
                <a:latin typeface="Arial" panose="020B0604020202020204" pitchFamily="34" charset="0"/>
                <a:cs typeface="Arial" panose="020B0604020202020204" pitchFamily="34" charset="0"/>
              </a:rPr>
              <a:t> </a:t>
            </a:r>
            <a:r>
              <a:rPr lang="en-US" altLang="ko-KR" sz="700" dirty="0">
                <a:latin typeface="Arial" panose="020B0604020202020204" pitchFamily="34" charset="0"/>
                <a:cs typeface="Arial" panose="020B0604020202020204" pitchFamily="34" charset="0"/>
              </a:rPr>
              <a:t>SUB_FRAME = 4</a:t>
            </a:r>
            <a:endParaRPr lang="ko-KR" altLang="en-US" sz="700" dirty="0">
              <a:latin typeface="Arial" panose="020B060402020202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C35C9403-2B0C-8D4B-8C20-2F7B6F53CB93}"/>
              </a:ext>
            </a:extLst>
          </p:cNvPr>
          <p:cNvSpPr txBox="1"/>
          <p:nvPr/>
        </p:nvSpPr>
        <p:spPr>
          <a:xfrm>
            <a:off x="4051486" y="7276602"/>
            <a:ext cx="2329484" cy="507831"/>
          </a:xfrm>
          <a:prstGeom prst="rect">
            <a:avLst/>
          </a:prstGeom>
          <a:noFill/>
        </p:spPr>
        <p:txBody>
          <a:bodyPr wrap="none" rtlCol="0">
            <a:spAutoFit/>
          </a:bodyPr>
          <a:lstStyle/>
          <a:p>
            <a:pPr algn="r"/>
            <a:r>
              <a:rPr lang="en-US" altLang="ko-KR" sz="900" dirty="0">
                <a:latin typeface="Arial" panose="020B0604020202020204" pitchFamily="34" charset="0"/>
                <a:cs typeface="Arial" panose="020B0604020202020204" pitchFamily="34" charset="0"/>
              </a:rPr>
              <a:t>RED : sub-frames # with max. duty</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2</a:t>
            </a:r>
          </a:p>
          <a:p>
            <a:pPr algn="r"/>
            <a:r>
              <a:rPr lang="en-US" altLang="ko-KR" sz="900" dirty="0">
                <a:latin typeface="Arial" panose="020B0604020202020204" pitchFamily="34" charset="0"/>
                <a:cs typeface="Arial" panose="020B0604020202020204" pitchFamily="34" charset="0"/>
              </a:rPr>
              <a:t>GREEN : sub-frames # with max. duty</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3</a:t>
            </a:r>
          </a:p>
          <a:p>
            <a:pPr algn="r"/>
            <a:r>
              <a:rPr lang="en-US" altLang="ko-KR" sz="900" dirty="0">
                <a:latin typeface="Arial" panose="020B0604020202020204" pitchFamily="34" charset="0"/>
                <a:cs typeface="Arial" panose="020B0604020202020204" pitchFamily="34" charset="0"/>
              </a:rPr>
              <a:t>BLUE : sub-frames # with max. duty</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1</a:t>
            </a:r>
            <a:endParaRPr lang="ko-KR" altLang="en-US" sz="9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732687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97672D9-2928-0652-5882-DC3826ED210F}"/>
              </a:ext>
            </a:extLst>
          </p:cNvPr>
          <p:cNvSpPr txBox="1"/>
          <p:nvPr/>
        </p:nvSpPr>
        <p:spPr>
          <a:xfrm>
            <a:off x="399458" y="1411714"/>
            <a:ext cx="6039903" cy="400110"/>
          </a:xfrm>
          <a:prstGeom prst="rect">
            <a:avLst/>
          </a:prstGeom>
          <a:noFill/>
        </p:spPr>
        <p:txBody>
          <a:bodyPr wrap="square" lIns="0" rtlCol="0">
            <a:spAutoFit/>
          </a:bodyPr>
          <a:lstStyle/>
          <a:p>
            <a:r>
              <a:rPr lang="en-US" altLang="ko-KR" sz="1000" dirty="0">
                <a:latin typeface="Arial" panose="020B0604020202020204" pitchFamily="34" charset="0"/>
                <a:cs typeface="Arial" panose="020B0604020202020204" pitchFamily="34" charset="0"/>
              </a:rPr>
              <a:t>As shown in Table 7, the XD12R enables flexible channel mapping between time-division channels and non-time-division channels. </a:t>
            </a:r>
          </a:p>
        </p:txBody>
      </p:sp>
      <p:sp>
        <p:nvSpPr>
          <p:cNvPr id="5" name="TextBox 4">
            <a:extLst>
              <a:ext uri="{FF2B5EF4-FFF2-40B4-BE49-F238E27FC236}">
                <a16:creationId xmlns:a16="http://schemas.microsoft.com/office/drawing/2014/main" id="{8B29F200-1849-D987-2A09-01942B572F15}"/>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graphicFrame>
        <p:nvGraphicFramePr>
          <p:cNvPr id="6" name="표 5">
            <a:extLst>
              <a:ext uri="{FF2B5EF4-FFF2-40B4-BE49-F238E27FC236}">
                <a16:creationId xmlns:a16="http://schemas.microsoft.com/office/drawing/2014/main" id="{68E4CE5F-B38B-1644-882F-64A803C1AAD1}"/>
              </a:ext>
            </a:extLst>
          </p:cNvPr>
          <p:cNvGraphicFramePr>
            <a:graphicFrameLocks noGrp="1"/>
          </p:cNvGraphicFramePr>
          <p:nvPr>
            <p:extLst>
              <p:ext uri="{D42A27DB-BD31-4B8C-83A1-F6EECF244321}">
                <p14:modId xmlns:p14="http://schemas.microsoft.com/office/powerpoint/2010/main" val="3833987901"/>
              </p:ext>
            </p:extLst>
          </p:nvPr>
        </p:nvGraphicFramePr>
        <p:xfrm>
          <a:off x="399458" y="2139952"/>
          <a:ext cx="6025820" cy="2676398"/>
        </p:xfrm>
        <a:graphic>
          <a:graphicData uri="http://schemas.openxmlformats.org/drawingml/2006/table">
            <a:tbl>
              <a:tblPr/>
              <a:tblGrid>
                <a:gridCol w="391356">
                  <a:extLst>
                    <a:ext uri="{9D8B030D-6E8A-4147-A177-3AD203B41FA5}">
                      <a16:colId xmlns:a16="http://schemas.microsoft.com/office/drawing/2014/main" val="1634891475"/>
                    </a:ext>
                  </a:extLst>
                </a:gridCol>
                <a:gridCol w="487856">
                  <a:extLst>
                    <a:ext uri="{9D8B030D-6E8A-4147-A177-3AD203B41FA5}">
                      <a16:colId xmlns:a16="http://schemas.microsoft.com/office/drawing/2014/main" val="1203598015"/>
                    </a:ext>
                  </a:extLst>
                </a:gridCol>
                <a:gridCol w="428884">
                  <a:extLst>
                    <a:ext uri="{9D8B030D-6E8A-4147-A177-3AD203B41FA5}">
                      <a16:colId xmlns:a16="http://schemas.microsoft.com/office/drawing/2014/main" val="1341611930"/>
                    </a:ext>
                  </a:extLst>
                </a:gridCol>
                <a:gridCol w="428884">
                  <a:extLst>
                    <a:ext uri="{9D8B030D-6E8A-4147-A177-3AD203B41FA5}">
                      <a16:colId xmlns:a16="http://schemas.microsoft.com/office/drawing/2014/main" val="4244480464"/>
                    </a:ext>
                  </a:extLst>
                </a:gridCol>
                <a:gridCol w="428884">
                  <a:extLst>
                    <a:ext uri="{9D8B030D-6E8A-4147-A177-3AD203B41FA5}">
                      <a16:colId xmlns:a16="http://schemas.microsoft.com/office/drawing/2014/main" val="112774941"/>
                    </a:ext>
                  </a:extLst>
                </a:gridCol>
                <a:gridCol w="428884">
                  <a:extLst>
                    <a:ext uri="{9D8B030D-6E8A-4147-A177-3AD203B41FA5}">
                      <a16:colId xmlns:a16="http://schemas.microsoft.com/office/drawing/2014/main" val="877284966"/>
                    </a:ext>
                  </a:extLst>
                </a:gridCol>
                <a:gridCol w="428884">
                  <a:extLst>
                    <a:ext uri="{9D8B030D-6E8A-4147-A177-3AD203B41FA5}">
                      <a16:colId xmlns:a16="http://schemas.microsoft.com/office/drawing/2014/main" val="3571153352"/>
                    </a:ext>
                  </a:extLst>
                </a:gridCol>
                <a:gridCol w="428884">
                  <a:extLst>
                    <a:ext uri="{9D8B030D-6E8A-4147-A177-3AD203B41FA5}">
                      <a16:colId xmlns:a16="http://schemas.microsoft.com/office/drawing/2014/main" val="3524465244"/>
                    </a:ext>
                  </a:extLst>
                </a:gridCol>
                <a:gridCol w="428884">
                  <a:extLst>
                    <a:ext uri="{9D8B030D-6E8A-4147-A177-3AD203B41FA5}">
                      <a16:colId xmlns:a16="http://schemas.microsoft.com/office/drawing/2014/main" val="2616260109"/>
                    </a:ext>
                  </a:extLst>
                </a:gridCol>
                <a:gridCol w="428884">
                  <a:extLst>
                    <a:ext uri="{9D8B030D-6E8A-4147-A177-3AD203B41FA5}">
                      <a16:colId xmlns:a16="http://schemas.microsoft.com/office/drawing/2014/main" val="1685215795"/>
                    </a:ext>
                  </a:extLst>
                </a:gridCol>
                <a:gridCol w="428884">
                  <a:extLst>
                    <a:ext uri="{9D8B030D-6E8A-4147-A177-3AD203B41FA5}">
                      <a16:colId xmlns:a16="http://schemas.microsoft.com/office/drawing/2014/main" val="3113989274"/>
                    </a:ext>
                  </a:extLst>
                </a:gridCol>
                <a:gridCol w="428884">
                  <a:extLst>
                    <a:ext uri="{9D8B030D-6E8A-4147-A177-3AD203B41FA5}">
                      <a16:colId xmlns:a16="http://schemas.microsoft.com/office/drawing/2014/main" val="2876094526"/>
                    </a:ext>
                  </a:extLst>
                </a:gridCol>
                <a:gridCol w="428884">
                  <a:extLst>
                    <a:ext uri="{9D8B030D-6E8A-4147-A177-3AD203B41FA5}">
                      <a16:colId xmlns:a16="http://schemas.microsoft.com/office/drawing/2014/main" val="2527861826"/>
                    </a:ext>
                  </a:extLst>
                </a:gridCol>
                <a:gridCol w="428884">
                  <a:extLst>
                    <a:ext uri="{9D8B030D-6E8A-4147-A177-3AD203B41FA5}">
                      <a16:colId xmlns:a16="http://schemas.microsoft.com/office/drawing/2014/main" val="628964086"/>
                    </a:ext>
                  </a:extLst>
                </a:gridCol>
              </a:tblGrid>
              <a:tr h="166470">
                <a:tc gridSpan="2">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CHx_LD_TYPE</a:t>
                      </a:r>
                    </a:p>
                    <a:p>
                      <a:pPr algn="ct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(register)</a:t>
                      </a:r>
                    </a:p>
                  </a:txBody>
                  <a:tcPr marL="0" marR="0" marT="0" marB="0" anchor="ctr">
                    <a:lnL w="6350" cap="flat" cmpd="sng" algn="ctr">
                      <a:solidFill>
                        <a:srgbClr val="000000"/>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3974932789"/>
                  </a:ext>
                </a:extLst>
              </a:tr>
              <a:tr h="234088">
                <a:tc gridSpan="2">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LD transmit sequence</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17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2035780385"/>
                  </a:ext>
                </a:extLst>
              </a:tr>
              <a:tr h="166470">
                <a:tc gridSpan="2">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LD_SIZE(register) </a:t>
                      </a:r>
                    </a:p>
                    <a:p>
                      <a:pPr algn="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18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dirty="0">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968559316"/>
                  </a:ext>
                </a:extLst>
              </a:tr>
              <a:tr h="166470">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endParaRPr lang="ko-KR" altLang="en-US" b="0" dirty="0"/>
                    </a:p>
                  </a:txBody>
                  <a:tcPr marL="0" marR="0" marT="0"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7411040"/>
                  </a:ext>
                </a:extLst>
              </a:tr>
              <a:tr h="166470">
                <a:tc gridSpan="2">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mn-ea"/>
                        </a:rPr>
                        <a:t>CHx_LD_TYPE</a:t>
                      </a:r>
                    </a:p>
                    <a:p>
                      <a:pPr algn="ctr" fontAlgn="ctr"/>
                      <a:r>
                        <a:rPr lang="en-US" altLang="ko-KR" sz="700" b="0" i="0" u="none" strike="noStrike" dirty="0">
                          <a:solidFill>
                            <a:srgbClr val="000000"/>
                          </a:solidFill>
                          <a:effectLst/>
                          <a:latin typeface="맑은 고딕" panose="020B0503020000020004" pitchFamily="50" charset="-127"/>
                          <a:ea typeface="+mn-ea"/>
                        </a:rPr>
                        <a:t>(register</a:t>
                      </a:r>
                      <a:endParaRPr lang="en-US" sz="7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6350" cap="flat" cmpd="sng" algn="ctr">
                      <a:solidFill>
                        <a:srgbClr val="000000"/>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695181949"/>
                  </a:ext>
                </a:extLst>
              </a:tr>
              <a:tr h="256540">
                <a:tc gridSpan="2">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LD transmit sequence</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2061594089"/>
                  </a:ext>
                </a:extLst>
              </a:tr>
              <a:tr h="166470">
                <a:tc gridSpan="2">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LD_SIZE(register)</a:t>
                      </a:r>
                    </a:p>
                    <a:p>
                      <a:pPr algn="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 18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dirty="0">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11303030"/>
                  </a:ext>
                </a:extLst>
              </a:tr>
              <a:tr h="166470">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endParaRPr lang="ko-KR" altLang="en-US" b="0"/>
                    </a:p>
                  </a:txBody>
                  <a:tcPr marL="0" marR="0" marT="0"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72629457"/>
                  </a:ext>
                </a:extLst>
              </a:tr>
              <a:tr h="166470">
                <a:tc gridSpan="2">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mn-ea"/>
                        </a:rPr>
                        <a:t>CHx_LD_TYPE</a:t>
                      </a:r>
                    </a:p>
                    <a:p>
                      <a:pPr algn="ctr" fontAlgn="ctr"/>
                      <a:r>
                        <a:rPr lang="en-US" altLang="ko-KR" sz="700" b="0" i="0" u="none" strike="noStrike" dirty="0">
                          <a:solidFill>
                            <a:srgbClr val="000000"/>
                          </a:solidFill>
                          <a:effectLst/>
                          <a:latin typeface="맑은 고딕" panose="020B0503020000020004" pitchFamily="50" charset="-127"/>
                          <a:ea typeface="+mn-ea"/>
                        </a:rPr>
                        <a:t>(register</a:t>
                      </a:r>
                      <a:endParaRPr lang="en-US" sz="7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6350" cap="flat" cmpd="sng" algn="ctr">
                      <a:solidFill>
                        <a:srgbClr val="000000"/>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x</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x</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74076815"/>
                  </a:ext>
                </a:extLst>
              </a:tr>
              <a:tr h="256540">
                <a:tc gridSpan="2">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LD transmit sequence</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78911524"/>
                  </a:ext>
                </a:extLst>
              </a:tr>
              <a:tr h="245210">
                <a:tc gridSpan="2">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LD_SIZE (register) </a:t>
                      </a:r>
                    </a:p>
                    <a:p>
                      <a:pPr algn="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15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dirty="0">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dirty="0">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8817143"/>
                  </a:ext>
                </a:extLst>
              </a:tr>
              <a:tr h="166470">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endParaRPr lang="ko-KR" altLang="en-US"/>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gridSpan="3">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x means the </a:t>
                      </a:r>
                      <a:r>
                        <a:rPr lang="en-US" sz="700" b="0" i="0" u="none" strike="noStrike" dirty="0" err="1">
                          <a:solidFill>
                            <a:srgbClr val="000000"/>
                          </a:solidFill>
                          <a:effectLst/>
                          <a:latin typeface="맑은 고딕" panose="020B0503020000020004" pitchFamily="50" charset="-127"/>
                          <a:ea typeface="맑은 고딕" panose="020B0503020000020004" pitchFamily="50" charset="-127"/>
                        </a:rPr>
                        <a:t>CHx_EN</a:t>
                      </a:r>
                      <a:r>
                        <a:rPr lang="en-US" sz="700" b="0" i="0" u="none" strike="noStrike" dirty="0">
                          <a:solidFill>
                            <a:srgbClr val="000000"/>
                          </a:solidFill>
                          <a:effectLst/>
                          <a:latin typeface="맑은 고딕" panose="020B0503020000020004" pitchFamily="50" charset="-127"/>
                          <a:ea typeface="맑은 고딕" panose="020B0503020000020004" pitchFamily="50" charset="-127"/>
                        </a:rPr>
                        <a:t>=0</a:t>
                      </a: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hMerge="1">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endParaRPr dirty="0"/>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hMerge="1">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endParaRPr dirty="0"/>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850256780"/>
                  </a:ext>
                </a:extLst>
              </a:tr>
            </a:tbl>
          </a:graphicData>
        </a:graphic>
      </p:graphicFrame>
      <p:sp>
        <p:nvSpPr>
          <p:cNvPr id="7" name="TextBox 6">
            <a:extLst>
              <a:ext uri="{FF2B5EF4-FFF2-40B4-BE49-F238E27FC236}">
                <a16:creationId xmlns:a16="http://schemas.microsoft.com/office/drawing/2014/main" id="{1E9D4391-7724-1CB9-1E09-0EE8C59C0EC5}"/>
              </a:ext>
            </a:extLst>
          </p:cNvPr>
          <p:cNvSpPr txBox="1"/>
          <p:nvPr/>
        </p:nvSpPr>
        <p:spPr>
          <a:xfrm>
            <a:off x="2183574" y="5261180"/>
            <a:ext cx="2308324"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7. XD12R Flexible channel mapping </a:t>
            </a:r>
          </a:p>
        </p:txBody>
      </p:sp>
      <p:cxnSp>
        <p:nvCxnSpPr>
          <p:cNvPr id="8" name="직선 연결선 7">
            <a:extLst>
              <a:ext uri="{FF2B5EF4-FFF2-40B4-BE49-F238E27FC236}">
                <a16:creationId xmlns:a16="http://schemas.microsoft.com/office/drawing/2014/main" id="{EA5E1611-26A6-9CAB-1EC1-AE78FF087A4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0F72C1D-E842-DC88-2F0B-06C43583CEFD}"/>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966614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직선 연결선 3">
            <a:extLst>
              <a:ext uri="{FF2B5EF4-FFF2-40B4-BE49-F238E27FC236}">
                <a16:creationId xmlns:a16="http://schemas.microsoft.com/office/drawing/2014/main" id="{584E2C10-61BE-5E50-8DD6-8E78BBE1D9AE}"/>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252686A2-BEE9-24CA-9F93-D93A25A2596D}"/>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2230F108-520D-C2D3-EF7C-C01BA308A41B}"/>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7" name="TextBox 6">
            <a:extLst>
              <a:ext uri="{FF2B5EF4-FFF2-40B4-BE49-F238E27FC236}">
                <a16:creationId xmlns:a16="http://schemas.microsoft.com/office/drawing/2014/main" id="{03A5F59E-680C-91C8-6807-E11FBA6BE6DF}"/>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RGB PWM Dimming </a:t>
            </a:r>
          </a:p>
        </p:txBody>
      </p:sp>
      <p:sp>
        <p:nvSpPr>
          <p:cNvPr id="8" name="TextBox 7">
            <a:extLst>
              <a:ext uri="{FF2B5EF4-FFF2-40B4-BE49-F238E27FC236}">
                <a16:creationId xmlns:a16="http://schemas.microsoft.com/office/drawing/2014/main" id="{6C2CD508-E59A-17E9-F6D1-480E67C4C31F}"/>
              </a:ext>
            </a:extLst>
          </p:cNvPr>
          <p:cNvSpPr txBox="1"/>
          <p:nvPr/>
        </p:nvSpPr>
        <p:spPr>
          <a:xfrm>
            <a:off x="391362" y="1616176"/>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TYPE-A (3-colors) </a:t>
            </a:r>
          </a:p>
        </p:txBody>
      </p:sp>
      <p:sp>
        <p:nvSpPr>
          <p:cNvPr id="79" name="직사각형 78">
            <a:extLst>
              <a:ext uri="{FF2B5EF4-FFF2-40B4-BE49-F238E27FC236}">
                <a16:creationId xmlns:a16="http://schemas.microsoft.com/office/drawing/2014/main" id="{92C82B35-4C09-1A43-15DD-04F036EE0A5F}"/>
              </a:ext>
            </a:extLst>
          </p:cNvPr>
          <p:cNvSpPr/>
          <p:nvPr/>
        </p:nvSpPr>
        <p:spPr>
          <a:xfrm>
            <a:off x="3199635" y="4507920"/>
            <a:ext cx="1412909" cy="529332"/>
          </a:xfrm>
          <a:prstGeom prst="rect">
            <a:avLst/>
          </a:prstGeom>
          <a:noFill/>
          <a:ln w="12700"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80" name="직선 연결선 79">
            <a:extLst>
              <a:ext uri="{FF2B5EF4-FFF2-40B4-BE49-F238E27FC236}">
                <a16:creationId xmlns:a16="http://schemas.microsoft.com/office/drawing/2014/main" id="{31F4A199-518D-7AEB-C69C-39B525E3F65C}"/>
              </a:ext>
            </a:extLst>
          </p:cNvPr>
          <p:cNvCxnSpPr/>
          <p:nvPr/>
        </p:nvCxnSpPr>
        <p:spPr>
          <a:xfrm flipH="1">
            <a:off x="2482761" y="4097987"/>
            <a:ext cx="0" cy="126355"/>
          </a:xfrm>
          <a:prstGeom prst="line">
            <a:avLst/>
          </a:prstGeom>
          <a:noFill/>
          <a:ln w="6350" cap="flat" cmpd="sng" algn="ctr">
            <a:solidFill>
              <a:sysClr val="windowText" lastClr="000000"/>
            </a:solidFill>
            <a:prstDash val="solid"/>
            <a:miter lim="800000"/>
          </a:ln>
          <a:effectLst/>
        </p:spPr>
      </p:cxnSp>
      <p:cxnSp>
        <p:nvCxnSpPr>
          <p:cNvPr id="82" name="직선 연결선 81">
            <a:extLst>
              <a:ext uri="{FF2B5EF4-FFF2-40B4-BE49-F238E27FC236}">
                <a16:creationId xmlns:a16="http://schemas.microsoft.com/office/drawing/2014/main" id="{200A9090-5C23-95C2-C5DE-82E99FE45CB4}"/>
              </a:ext>
            </a:extLst>
          </p:cNvPr>
          <p:cNvCxnSpPr/>
          <p:nvPr/>
        </p:nvCxnSpPr>
        <p:spPr>
          <a:xfrm>
            <a:off x="3257330" y="4177586"/>
            <a:ext cx="179219" cy="0"/>
          </a:xfrm>
          <a:prstGeom prst="line">
            <a:avLst/>
          </a:prstGeom>
          <a:noFill/>
          <a:ln w="19050" cap="flat" cmpd="sng" algn="ctr">
            <a:solidFill>
              <a:sysClr val="windowText" lastClr="000000"/>
            </a:solidFill>
            <a:prstDash val="solid"/>
            <a:miter lim="800000"/>
          </a:ln>
          <a:effectLst/>
        </p:spPr>
      </p:cxnSp>
      <p:cxnSp>
        <p:nvCxnSpPr>
          <p:cNvPr id="84" name="직선 연결선 83">
            <a:extLst>
              <a:ext uri="{FF2B5EF4-FFF2-40B4-BE49-F238E27FC236}">
                <a16:creationId xmlns:a16="http://schemas.microsoft.com/office/drawing/2014/main" id="{2B8667C2-A16F-DE44-920D-03490E9FF205}"/>
              </a:ext>
            </a:extLst>
          </p:cNvPr>
          <p:cNvCxnSpPr/>
          <p:nvPr/>
        </p:nvCxnSpPr>
        <p:spPr>
          <a:xfrm>
            <a:off x="3453875" y="4177585"/>
            <a:ext cx="179219" cy="0"/>
          </a:xfrm>
          <a:prstGeom prst="line">
            <a:avLst/>
          </a:prstGeom>
          <a:noFill/>
          <a:ln w="19050" cap="flat" cmpd="sng" algn="ctr">
            <a:solidFill>
              <a:sysClr val="windowText" lastClr="000000"/>
            </a:solidFill>
            <a:prstDash val="solid"/>
            <a:miter lim="800000"/>
          </a:ln>
          <a:effectLst/>
        </p:spPr>
      </p:cxnSp>
      <p:cxnSp>
        <p:nvCxnSpPr>
          <p:cNvPr id="86" name="직선 연결선 85">
            <a:extLst>
              <a:ext uri="{FF2B5EF4-FFF2-40B4-BE49-F238E27FC236}">
                <a16:creationId xmlns:a16="http://schemas.microsoft.com/office/drawing/2014/main" id="{6B722264-9753-8164-90ED-EFC4B132AE05}"/>
              </a:ext>
            </a:extLst>
          </p:cNvPr>
          <p:cNvCxnSpPr/>
          <p:nvPr/>
        </p:nvCxnSpPr>
        <p:spPr>
          <a:xfrm>
            <a:off x="3652263" y="4174168"/>
            <a:ext cx="179218" cy="0"/>
          </a:xfrm>
          <a:prstGeom prst="line">
            <a:avLst/>
          </a:prstGeom>
          <a:noFill/>
          <a:ln w="19050" cap="flat" cmpd="sng" algn="ctr">
            <a:solidFill>
              <a:sysClr val="windowText" lastClr="000000"/>
            </a:solidFill>
            <a:prstDash val="solid"/>
            <a:miter lim="800000"/>
          </a:ln>
          <a:effectLst/>
        </p:spPr>
      </p:cxnSp>
      <p:cxnSp>
        <p:nvCxnSpPr>
          <p:cNvPr id="87" name="직선 연결선 86">
            <a:extLst>
              <a:ext uri="{FF2B5EF4-FFF2-40B4-BE49-F238E27FC236}">
                <a16:creationId xmlns:a16="http://schemas.microsoft.com/office/drawing/2014/main" id="{7B45798C-ECE6-60CE-6874-172A11538A88}"/>
              </a:ext>
            </a:extLst>
          </p:cNvPr>
          <p:cNvCxnSpPr/>
          <p:nvPr/>
        </p:nvCxnSpPr>
        <p:spPr>
          <a:xfrm>
            <a:off x="2644626" y="3954198"/>
            <a:ext cx="1819425" cy="0"/>
          </a:xfrm>
          <a:prstGeom prst="line">
            <a:avLst/>
          </a:prstGeom>
          <a:noFill/>
          <a:ln w="12700" cap="flat" cmpd="sng" algn="ctr">
            <a:solidFill>
              <a:sysClr val="windowText" lastClr="000000"/>
            </a:solidFill>
            <a:prstDash val="solid"/>
            <a:miter lim="800000"/>
          </a:ln>
          <a:effectLst/>
        </p:spPr>
      </p:cxnSp>
      <p:cxnSp>
        <p:nvCxnSpPr>
          <p:cNvPr id="88" name="직선 연결선 87">
            <a:extLst>
              <a:ext uri="{FF2B5EF4-FFF2-40B4-BE49-F238E27FC236}">
                <a16:creationId xmlns:a16="http://schemas.microsoft.com/office/drawing/2014/main" id="{C5788844-5A39-5ABE-3BA3-B99A0B396323}"/>
              </a:ext>
            </a:extLst>
          </p:cNvPr>
          <p:cNvCxnSpPr/>
          <p:nvPr/>
        </p:nvCxnSpPr>
        <p:spPr>
          <a:xfrm>
            <a:off x="1905573" y="3375185"/>
            <a:ext cx="2183309" cy="0"/>
          </a:xfrm>
          <a:prstGeom prst="line">
            <a:avLst/>
          </a:prstGeom>
          <a:noFill/>
          <a:ln w="12700" cap="flat" cmpd="sng" algn="ctr">
            <a:solidFill>
              <a:sysClr val="windowText" lastClr="000000"/>
            </a:solidFill>
            <a:prstDash val="solid"/>
            <a:miter lim="800000"/>
          </a:ln>
          <a:effectLst/>
        </p:spPr>
      </p:cxnSp>
      <p:cxnSp>
        <p:nvCxnSpPr>
          <p:cNvPr id="89" name="직선 연결선 88">
            <a:extLst>
              <a:ext uri="{FF2B5EF4-FFF2-40B4-BE49-F238E27FC236}">
                <a16:creationId xmlns:a16="http://schemas.microsoft.com/office/drawing/2014/main" id="{713A5560-762F-881B-C4ED-5B4AD611B1C1}"/>
              </a:ext>
            </a:extLst>
          </p:cNvPr>
          <p:cNvCxnSpPr/>
          <p:nvPr/>
        </p:nvCxnSpPr>
        <p:spPr>
          <a:xfrm>
            <a:off x="2349868" y="4030285"/>
            <a:ext cx="264644" cy="0"/>
          </a:xfrm>
          <a:prstGeom prst="line">
            <a:avLst/>
          </a:prstGeom>
          <a:noFill/>
          <a:ln w="19050" cap="flat" cmpd="sng" algn="ctr">
            <a:solidFill>
              <a:sysClr val="windowText" lastClr="000000"/>
            </a:solidFill>
            <a:prstDash val="solid"/>
            <a:miter lim="800000"/>
          </a:ln>
          <a:effectLst/>
        </p:spPr>
      </p:cxnSp>
      <p:cxnSp>
        <p:nvCxnSpPr>
          <p:cNvPr id="90" name="직선 연결선 89">
            <a:extLst>
              <a:ext uri="{FF2B5EF4-FFF2-40B4-BE49-F238E27FC236}">
                <a16:creationId xmlns:a16="http://schemas.microsoft.com/office/drawing/2014/main" id="{AB11A907-E25E-3EB3-AEF3-94DAA26B9DF5}"/>
              </a:ext>
            </a:extLst>
          </p:cNvPr>
          <p:cNvCxnSpPr/>
          <p:nvPr/>
        </p:nvCxnSpPr>
        <p:spPr>
          <a:xfrm>
            <a:off x="2414888" y="4088392"/>
            <a:ext cx="132322" cy="0"/>
          </a:xfrm>
          <a:prstGeom prst="line">
            <a:avLst/>
          </a:prstGeom>
          <a:noFill/>
          <a:ln w="19050" cap="flat" cmpd="sng" algn="ctr">
            <a:solidFill>
              <a:sysClr val="windowText" lastClr="000000"/>
            </a:solidFill>
            <a:prstDash val="solid"/>
            <a:miter lim="800000"/>
          </a:ln>
          <a:effectLst/>
        </p:spPr>
      </p:cxnSp>
      <p:cxnSp>
        <p:nvCxnSpPr>
          <p:cNvPr id="91" name="직선 연결선 90">
            <a:extLst>
              <a:ext uri="{FF2B5EF4-FFF2-40B4-BE49-F238E27FC236}">
                <a16:creationId xmlns:a16="http://schemas.microsoft.com/office/drawing/2014/main" id="{F099C8E9-651E-DE67-3211-8F47BE823D26}"/>
              </a:ext>
            </a:extLst>
          </p:cNvPr>
          <p:cNvCxnSpPr/>
          <p:nvPr/>
        </p:nvCxnSpPr>
        <p:spPr>
          <a:xfrm rot="5400000" flipH="1" flipV="1">
            <a:off x="2392297" y="3986800"/>
            <a:ext cx="63177" cy="0"/>
          </a:xfrm>
          <a:prstGeom prst="line">
            <a:avLst/>
          </a:prstGeom>
          <a:noFill/>
          <a:ln w="19050" cap="flat" cmpd="sng" algn="ctr">
            <a:solidFill>
              <a:sysClr val="windowText" lastClr="000000"/>
            </a:solidFill>
            <a:prstDash val="solid"/>
            <a:miter lim="800000"/>
          </a:ln>
          <a:effectLst/>
        </p:spPr>
      </p:cxnSp>
      <p:cxnSp>
        <p:nvCxnSpPr>
          <p:cNvPr id="92" name="직선 연결선 91">
            <a:extLst>
              <a:ext uri="{FF2B5EF4-FFF2-40B4-BE49-F238E27FC236}">
                <a16:creationId xmlns:a16="http://schemas.microsoft.com/office/drawing/2014/main" id="{C2F6D973-A164-05CB-CC28-43E8317275BC}"/>
              </a:ext>
            </a:extLst>
          </p:cNvPr>
          <p:cNvCxnSpPr/>
          <p:nvPr/>
        </p:nvCxnSpPr>
        <p:spPr>
          <a:xfrm rot="5400000">
            <a:off x="2503163" y="3985209"/>
            <a:ext cx="63177" cy="0"/>
          </a:xfrm>
          <a:prstGeom prst="line">
            <a:avLst/>
          </a:prstGeom>
          <a:noFill/>
          <a:ln w="19050" cap="flat" cmpd="sng" algn="ctr">
            <a:solidFill>
              <a:sysClr val="windowText" lastClr="000000"/>
            </a:solidFill>
            <a:prstDash val="solid"/>
            <a:miter lim="800000"/>
          </a:ln>
          <a:effectLst/>
        </p:spPr>
      </p:cxnSp>
      <p:cxnSp>
        <p:nvCxnSpPr>
          <p:cNvPr id="93" name="직선 연결선 92">
            <a:extLst>
              <a:ext uri="{FF2B5EF4-FFF2-40B4-BE49-F238E27FC236}">
                <a16:creationId xmlns:a16="http://schemas.microsoft.com/office/drawing/2014/main" id="{377588C5-CCBD-C588-6083-BB8B315E301D}"/>
              </a:ext>
            </a:extLst>
          </p:cNvPr>
          <p:cNvCxnSpPr/>
          <p:nvPr/>
        </p:nvCxnSpPr>
        <p:spPr>
          <a:xfrm>
            <a:off x="2520270" y="3954712"/>
            <a:ext cx="132321" cy="0"/>
          </a:xfrm>
          <a:prstGeom prst="line">
            <a:avLst/>
          </a:prstGeom>
          <a:noFill/>
          <a:ln w="19050" cap="flat" cmpd="sng" algn="ctr">
            <a:solidFill>
              <a:sysClr val="windowText" lastClr="000000"/>
            </a:solidFill>
            <a:prstDash val="solid"/>
            <a:miter lim="800000"/>
          </a:ln>
          <a:effectLst/>
        </p:spPr>
      </p:cxnSp>
      <p:cxnSp>
        <p:nvCxnSpPr>
          <p:cNvPr id="94" name="직선 연결선 93">
            <a:extLst>
              <a:ext uri="{FF2B5EF4-FFF2-40B4-BE49-F238E27FC236}">
                <a16:creationId xmlns:a16="http://schemas.microsoft.com/office/drawing/2014/main" id="{3EBAF185-46D1-739D-30B8-AAB4C0458861}"/>
              </a:ext>
            </a:extLst>
          </p:cNvPr>
          <p:cNvCxnSpPr/>
          <p:nvPr/>
        </p:nvCxnSpPr>
        <p:spPr>
          <a:xfrm>
            <a:off x="2301875" y="3957099"/>
            <a:ext cx="132321" cy="0"/>
          </a:xfrm>
          <a:prstGeom prst="line">
            <a:avLst/>
          </a:prstGeom>
          <a:noFill/>
          <a:ln w="19050" cap="flat" cmpd="sng" algn="ctr">
            <a:solidFill>
              <a:sysClr val="windowText" lastClr="000000"/>
            </a:solidFill>
            <a:prstDash val="solid"/>
            <a:miter lim="800000"/>
          </a:ln>
          <a:effectLst/>
        </p:spPr>
      </p:cxnSp>
      <p:cxnSp>
        <p:nvCxnSpPr>
          <p:cNvPr id="95" name="직선 연결선 94">
            <a:extLst>
              <a:ext uri="{FF2B5EF4-FFF2-40B4-BE49-F238E27FC236}">
                <a16:creationId xmlns:a16="http://schemas.microsoft.com/office/drawing/2014/main" id="{8D82DF25-E635-6DEC-F82F-98F3113350F6}"/>
              </a:ext>
            </a:extLst>
          </p:cNvPr>
          <p:cNvCxnSpPr/>
          <p:nvPr/>
        </p:nvCxnSpPr>
        <p:spPr>
          <a:xfrm>
            <a:off x="2551593" y="3752781"/>
            <a:ext cx="264644" cy="0"/>
          </a:xfrm>
          <a:prstGeom prst="line">
            <a:avLst/>
          </a:prstGeom>
          <a:noFill/>
          <a:ln w="19050" cap="flat" cmpd="sng" algn="ctr">
            <a:solidFill>
              <a:sysClr val="windowText" lastClr="000000"/>
            </a:solidFill>
            <a:prstDash val="solid"/>
            <a:miter lim="800000"/>
          </a:ln>
          <a:effectLst/>
        </p:spPr>
      </p:cxnSp>
      <p:cxnSp>
        <p:nvCxnSpPr>
          <p:cNvPr id="96" name="직선 연결선 95">
            <a:extLst>
              <a:ext uri="{FF2B5EF4-FFF2-40B4-BE49-F238E27FC236}">
                <a16:creationId xmlns:a16="http://schemas.microsoft.com/office/drawing/2014/main" id="{04FE1133-E1E0-40C8-378A-4856D366F74D}"/>
              </a:ext>
            </a:extLst>
          </p:cNvPr>
          <p:cNvCxnSpPr/>
          <p:nvPr/>
        </p:nvCxnSpPr>
        <p:spPr>
          <a:xfrm>
            <a:off x="2616613" y="3810888"/>
            <a:ext cx="132322" cy="0"/>
          </a:xfrm>
          <a:prstGeom prst="line">
            <a:avLst/>
          </a:prstGeom>
          <a:noFill/>
          <a:ln w="19050" cap="flat" cmpd="sng" algn="ctr">
            <a:solidFill>
              <a:sysClr val="windowText" lastClr="000000"/>
            </a:solidFill>
            <a:prstDash val="solid"/>
            <a:miter lim="800000"/>
          </a:ln>
          <a:effectLst/>
        </p:spPr>
      </p:cxnSp>
      <p:cxnSp>
        <p:nvCxnSpPr>
          <p:cNvPr id="97" name="직선 연결선 96">
            <a:extLst>
              <a:ext uri="{FF2B5EF4-FFF2-40B4-BE49-F238E27FC236}">
                <a16:creationId xmlns:a16="http://schemas.microsoft.com/office/drawing/2014/main" id="{5EE79EA7-8748-A528-7A5F-44EC1DC0301F}"/>
              </a:ext>
            </a:extLst>
          </p:cNvPr>
          <p:cNvCxnSpPr/>
          <p:nvPr/>
        </p:nvCxnSpPr>
        <p:spPr>
          <a:xfrm rot="5400000" flipH="1" flipV="1">
            <a:off x="2594022" y="3709295"/>
            <a:ext cx="63177" cy="0"/>
          </a:xfrm>
          <a:prstGeom prst="line">
            <a:avLst/>
          </a:prstGeom>
          <a:noFill/>
          <a:ln w="19050" cap="flat" cmpd="sng" algn="ctr">
            <a:solidFill>
              <a:sysClr val="windowText" lastClr="000000"/>
            </a:solidFill>
            <a:prstDash val="solid"/>
            <a:miter lim="800000"/>
          </a:ln>
          <a:effectLst/>
        </p:spPr>
      </p:cxnSp>
      <p:cxnSp>
        <p:nvCxnSpPr>
          <p:cNvPr id="98" name="직선 연결선 97">
            <a:extLst>
              <a:ext uri="{FF2B5EF4-FFF2-40B4-BE49-F238E27FC236}">
                <a16:creationId xmlns:a16="http://schemas.microsoft.com/office/drawing/2014/main" id="{C9F99014-72F5-469F-1F2B-2BC684C3574C}"/>
              </a:ext>
            </a:extLst>
          </p:cNvPr>
          <p:cNvCxnSpPr/>
          <p:nvPr/>
        </p:nvCxnSpPr>
        <p:spPr>
          <a:xfrm rot="5400000">
            <a:off x="2704888" y="3707704"/>
            <a:ext cx="63177" cy="0"/>
          </a:xfrm>
          <a:prstGeom prst="line">
            <a:avLst/>
          </a:prstGeom>
          <a:noFill/>
          <a:ln w="19050" cap="flat" cmpd="sng" algn="ctr">
            <a:solidFill>
              <a:sysClr val="windowText" lastClr="000000"/>
            </a:solidFill>
            <a:prstDash val="solid"/>
            <a:miter lim="800000"/>
          </a:ln>
          <a:effectLst/>
        </p:spPr>
      </p:cxnSp>
      <p:cxnSp>
        <p:nvCxnSpPr>
          <p:cNvPr id="99" name="직선 연결선 98">
            <a:extLst>
              <a:ext uri="{FF2B5EF4-FFF2-40B4-BE49-F238E27FC236}">
                <a16:creationId xmlns:a16="http://schemas.microsoft.com/office/drawing/2014/main" id="{17F71B21-202C-2B63-7075-98E920D7112F}"/>
              </a:ext>
            </a:extLst>
          </p:cNvPr>
          <p:cNvCxnSpPr/>
          <p:nvPr/>
        </p:nvCxnSpPr>
        <p:spPr>
          <a:xfrm>
            <a:off x="2721996" y="3677207"/>
            <a:ext cx="132321" cy="0"/>
          </a:xfrm>
          <a:prstGeom prst="line">
            <a:avLst/>
          </a:prstGeom>
          <a:noFill/>
          <a:ln w="19050" cap="flat" cmpd="sng" algn="ctr">
            <a:solidFill>
              <a:sysClr val="windowText" lastClr="000000"/>
            </a:solidFill>
            <a:prstDash val="solid"/>
            <a:miter lim="800000"/>
          </a:ln>
          <a:effectLst/>
        </p:spPr>
      </p:cxnSp>
      <p:cxnSp>
        <p:nvCxnSpPr>
          <p:cNvPr id="100" name="직선 연결선 99">
            <a:extLst>
              <a:ext uri="{FF2B5EF4-FFF2-40B4-BE49-F238E27FC236}">
                <a16:creationId xmlns:a16="http://schemas.microsoft.com/office/drawing/2014/main" id="{A120D6C0-4C0F-B369-3C16-62CF2823B9A8}"/>
              </a:ext>
            </a:extLst>
          </p:cNvPr>
          <p:cNvCxnSpPr/>
          <p:nvPr/>
        </p:nvCxnSpPr>
        <p:spPr>
          <a:xfrm>
            <a:off x="2503600" y="3679595"/>
            <a:ext cx="132321" cy="0"/>
          </a:xfrm>
          <a:prstGeom prst="line">
            <a:avLst/>
          </a:prstGeom>
          <a:noFill/>
          <a:ln w="19050" cap="flat" cmpd="sng" algn="ctr">
            <a:solidFill>
              <a:sysClr val="windowText" lastClr="000000"/>
            </a:solidFill>
            <a:prstDash val="solid"/>
            <a:miter lim="800000"/>
          </a:ln>
          <a:effectLst/>
        </p:spPr>
      </p:cxnSp>
      <p:cxnSp>
        <p:nvCxnSpPr>
          <p:cNvPr id="101" name="직선 연결선 100">
            <a:extLst>
              <a:ext uri="{FF2B5EF4-FFF2-40B4-BE49-F238E27FC236}">
                <a16:creationId xmlns:a16="http://schemas.microsoft.com/office/drawing/2014/main" id="{46E50D42-EB11-3396-8892-589E32E02194}"/>
              </a:ext>
            </a:extLst>
          </p:cNvPr>
          <p:cNvCxnSpPr/>
          <p:nvPr/>
        </p:nvCxnSpPr>
        <p:spPr>
          <a:xfrm flipH="1" flipV="1">
            <a:off x="3350514" y="4183115"/>
            <a:ext cx="0" cy="315887"/>
          </a:xfrm>
          <a:prstGeom prst="line">
            <a:avLst/>
          </a:prstGeom>
          <a:noFill/>
          <a:ln w="12700" cap="flat" cmpd="sng" algn="ctr">
            <a:solidFill>
              <a:sysClr val="windowText" lastClr="000000"/>
            </a:solidFill>
            <a:prstDash val="solid"/>
            <a:miter lim="800000"/>
          </a:ln>
          <a:effectLst/>
        </p:spPr>
      </p:cxnSp>
      <p:cxnSp>
        <p:nvCxnSpPr>
          <p:cNvPr id="102" name="직선 연결선 101">
            <a:extLst>
              <a:ext uri="{FF2B5EF4-FFF2-40B4-BE49-F238E27FC236}">
                <a16:creationId xmlns:a16="http://schemas.microsoft.com/office/drawing/2014/main" id="{CE89224E-9009-A907-1C12-FD88FE8645C3}"/>
              </a:ext>
            </a:extLst>
          </p:cNvPr>
          <p:cNvCxnSpPr/>
          <p:nvPr/>
        </p:nvCxnSpPr>
        <p:spPr>
          <a:xfrm flipH="1" flipV="1">
            <a:off x="3540567" y="4185503"/>
            <a:ext cx="0" cy="126355"/>
          </a:xfrm>
          <a:prstGeom prst="line">
            <a:avLst/>
          </a:prstGeom>
          <a:noFill/>
          <a:ln w="12700" cap="flat" cmpd="sng" algn="ctr">
            <a:solidFill>
              <a:sysClr val="windowText" lastClr="000000"/>
            </a:solidFill>
            <a:prstDash val="solid"/>
            <a:miter lim="800000"/>
          </a:ln>
          <a:effectLst/>
        </p:spPr>
      </p:cxnSp>
      <p:cxnSp>
        <p:nvCxnSpPr>
          <p:cNvPr id="103" name="직선 연결선 102">
            <a:extLst>
              <a:ext uri="{FF2B5EF4-FFF2-40B4-BE49-F238E27FC236}">
                <a16:creationId xmlns:a16="http://schemas.microsoft.com/office/drawing/2014/main" id="{604F93C7-7CBB-1927-BE37-B0B0D0D9CBDA}"/>
              </a:ext>
            </a:extLst>
          </p:cNvPr>
          <p:cNvCxnSpPr/>
          <p:nvPr/>
        </p:nvCxnSpPr>
        <p:spPr>
          <a:xfrm flipH="1" flipV="1">
            <a:off x="3734790" y="4179929"/>
            <a:ext cx="0" cy="126355"/>
          </a:xfrm>
          <a:prstGeom prst="line">
            <a:avLst/>
          </a:prstGeom>
          <a:noFill/>
          <a:ln w="12700" cap="flat" cmpd="sng" algn="ctr">
            <a:solidFill>
              <a:sysClr val="windowText" lastClr="000000"/>
            </a:solidFill>
            <a:prstDash val="solid"/>
            <a:miter lim="800000"/>
          </a:ln>
          <a:effectLst/>
        </p:spPr>
      </p:cxnSp>
      <p:cxnSp>
        <p:nvCxnSpPr>
          <p:cNvPr id="104" name="직선 연결선 103">
            <a:extLst>
              <a:ext uri="{FF2B5EF4-FFF2-40B4-BE49-F238E27FC236}">
                <a16:creationId xmlns:a16="http://schemas.microsoft.com/office/drawing/2014/main" id="{F963F128-3B08-30FD-7A0D-C740D9BCB03C}"/>
              </a:ext>
            </a:extLst>
          </p:cNvPr>
          <p:cNvCxnSpPr/>
          <p:nvPr/>
        </p:nvCxnSpPr>
        <p:spPr>
          <a:xfrm flipH="1" flipV="1">
            <a:off x="3349680" y="3373640"/>
            <a:ext cx="0" cy="699422"/>
          </a:xfrm>
          <a:prstGeom prst="line">
            <a:avLst/>
          </a:prstGeom>
          <a:noFill/>
          <a:ln w="12700" cap="flat" cmpd="sng" algn="ctr">
            <a:solidFill>
              <a:sysClr val="windowText" lastClr="000000"/>
            </a:solidFill>
            <a:prstDash val="solid"/>
            <a:miter lim="800000"/>
          </a:ln>
          <a:effectLst/>
        </p:spPr>
      </p:cxnSp>
      <p:cxnSp>
        <p:nvCxnSpPr>
          <p:cNvPr id="105" name="직선 연결선 104">
            <a:extLst>
              <a:ext uri="{FF2B5EF4-FFF2-40B4-BE49-F238E27FC236}">
                <a16:creationId xmlns:a16="http://schemas.microsoft.com/office/drawing/2014/main" id="{65487CE4-AF63-AC12-F584-A1CFDDA5B01E}"/>
              </a:ext>
            </a:extLst>
          </p:cNvPr>
          <p:cNvCxnSpPr/>
          <p:nvPr/>
        </p:nvCxnSpPr>
        <p:spPr>
          <a:xfrm flipH="1" flipV="1">
            <a:off x="3543068" y="3662541"/>
            <a:ext cx="0" cy="410654"/>
          </a:xfrm>
          <a:prstGeom prst="line">
            <a:avLst/>
          </a:prstGeom>
          <a:noFill/>
          <a:ln w="12700" cap="flat" cmpd="sng" algn="ctr">
            <a:solidFill>
              <a:sysClr val="windowText" lastClr="000000"/>
            </a:solidFill>
            <a:prstDash val="solid"/>
            <a:miter lim="800000"/>
          </a:ln>
          <a:effectLst/>
        </p:spPr>
      </p:cxnSp>
      <p:cxnSp>
        <p:nvCxnSpPr>
          <p:cNvPr id="106" name="직선 연결선 105">
            <a:extLst>
              <a:ext uri="{FF2B5EF4-FFF2-40B4-BE49-F238E27FC236}">
                <a16:creationId xmlns:a16="http://schemas.microsoft.com/office/drawing/2014/main" id="{203E803E-6702-74C8-F554-B97A1DBACC8F}"/>
              </a:ext>
            </a:extLst>
          </p:cNvPr>
          <p:cNvCxnSpPr/>
          <p:nvPr/>
        </p:nvCxnSpPr>
        <p:spPr>
          <a:xfrm flipV="1">
            <a:off x="3728955" y="3942770"/>
            <a:ext cx="0" cy="122587"/>
          </a:xfrm>
          <a:prstGeom prst="line">
            <a:avLst/>
          </a:prstGeom>
          <a:noFill/>
          <a:ln w="12700" cap="flat" cmpd="sng" algn="ctr">
            <a:solidFill>
              <a:sysClr val="windowText" lastClr="000000"/>
            </a:solidFill>
            <a:prstDash val="solid"/>
            <a:miter lim="800000"/>
          </a:ln>
          <a:effectLst/>
        </p:spPr>
      </p:cxnSp>
      <p:cxnSp>
        <p:nvCxnSpPr>
          <p:cNvPr id="107" name="직선 연결선 106">
            <a:extLst>
              <a:ext uri="{FF2B5EF4-FFF2-40B4-BE49-F238E27FC236}">
                <a16:creationId xmlns:a16="http://schemas.microsoft.com/office/drawing/2014/main" id="{4FC2ABE7-628B-A3BD-B87B-20AF6FCDE98D}"/>
              </a:ext>
            </a:extLst>
          </p:cNvPr>
          <p:cNvCxnSpPr/>
          <p:nvPr/>
        </p:nvCxnSpPr>
        <p:spPr>
          <a:xfrm>
            <a:off x="2843336" y="3675837"/>
            <a:ext cx="1422459" cy="0"/>
          </a:xfrm>
          <a:prstGeom prst="line">
            <a:avLst/>
          </a:prstGeom>
          <a:noFill/>
          <a:ln w="12700" cap="flat" cmpd="sng" algn="ctr">
            <a:solidFill>
              <a:sysClr val="windowText" lastClr="000000"/>
            </a:solidFill>
            <a:prstDash val="solid"/>
            <a:miter lim="800000"/>
          </a:ln>
          <a:effectLst/>
        </p:spPr>
      </p:cxnSp>
      <p:cxnSp>
        <p:nvCxnSpPr>
          <p:cNvPr id="108" name="직선 연결선 107">
            <a:extLst>
              <a:ext uri="{FF2B5EF4-FFF2-40B4-BE49-F238E27FC236}">
                <a16:creationId xmlns:a16="http://schemas.microsoft.com/office/drawing/2014/main" id="{CCEE23C7-A2CD-D646-FFE5-F55705300968}"/>
              </a:ext>
            </a:extLst>
          </p:cNvPr>
          <p:cNvCxnSpPr/>
          <p:nvPr/>
        </p:nvCxnSpPr>
        <p:spPr>
          <a:xfrm>
            <a:off x="1937248" y="3954665"/>
            <a:ext cx="363885" cy="0"/>
          </a:xfrm>
          <a:prstGeom prst="line">
            <a:avLst/>
          </a:prstGeom>
          <a:noFill/>
          <a:ln w="12700" cap="flat" cmpd="sng" algn="ctr">
            <a:solidFill>
              <a:sysClr val="windowText" lastClr="000000"/>
            </a:solidFill>
            <a:prstDash val="solid"/>
            <a:miter lim="800000"/>
          </a:ln>
          <a:effectLst/>
        </p:spPr>
      </p:cxnSp>
      <p:cxnSp>
        <p:nvCxnSpPr>
          <p:cNvPr id="109" name="직선 연결선 108">
            <a:extLst>
              <a:ext uri="{FF2B5EF4-FFF2-40B4-BE49-F238E27FC236}">
                <a16:creationId xmlns:a16="http://schemas.microsoft.com/office/drawing/2014/main" id="{FE3FDC4D-E88D-BAB6-BB11-9DA147384645}"/>
              </a:ext>
            </a:extLst>
          </p:cNvPr>
          <p:cNvCxnSpPr/>
          <p:nvPr/>
        </p:nvCxnSpPr>
        <p:spPr>
          <a:xfrm>
            <a:off x="1914743" y="3678786"/>
            <a:ext cx="661609" cy="0"/>
          </a:xfrm>
          <a:prstGeom prst="line">
            <a:avLst/>
          </a:prstGeom>
          <a:noFill/>
          <a:ln w="12700" cap="flat" cmpd="sng" algn="ctr">
            <a:solidFill>
              <a:sysClr val="windowText" lastClr="000000"/>
            </a:solidFill>
            <a:prstDash val="solid"/>
            <a:miter lim="800000"/>
          </a:ln>
          <a:effectLst/>
        </p:spPr>
      </p:cxnSp>
      <p:cxnSp>
        <p:nvCxnSpPr>
          <p:cNvPr id="110" name="직선 연결선 109">
            <a:extLst>
              <a:ext uri="{FF2B5EF4-FFF2-40B4-BE49-F238E27FC236}">
                <a16:creationId xmlns:a16="http://schemas.microsoft.com/office/drawing/2014/main" id="{AEA80EF2-1F34-6A9E-5002-34B2D361E1E3}"/>
              </a:ext>
            </a:extLst>
          </p:cNvPr>
          <p:cNvCxnSpPr/>
          <p:nvPr/>
        </p:nvCxnSpPr>
        <p:spPr>
          <a:xfrm>
            <a:off x="3539380" y="4306493"/>
            <a:ext cx="198483" cy="0"/>
          </a:xfrm>
          <a:prstGeom prst="line">
            <a:avLst/>
          </a:prstGeom>
          <a:noFill/>
          <a:ln w="12700" cap="flat" cmpd="sng" algn="ctr">
            <a:solidFill>
              <a:sysClr val="windowText" lastClr="000000"/>
            </a:solidFill>
            <a:prstDash val="solid"/>
            <a:miter lim="800000"/>
          </a:ln>
          <a:effectLst/>
        </p:spPr>
      </p:cxnSp>
      <p:cxnSp>
        <p:nvCxnSpPr>
          <p:cNvPr id="111" name="직선 연결선 110">
            <a:extLst>
              <a:ext uri="{FF2B5EF4-FFF2-40B4-BE49-F238E27FC236}">
                <a16:creationId xmlns:a16="http://schemas.microsoft.com/office/drawing/2014/main" id="{91EFAEE1-D210-E1B7-C43F-E56FF695272D}"/>
              </a:ext>
            </a:extLst>
          </p:cNvPr>
          <p:cNvCxnSpPr/>
          <p:nvPr/>
        </p:nvCxnSpPr>
        <p:spPr>
          <a:xfrm flipH="1">
            <a:off x="2676983" y="3805859"/>
            <a:ext cx="0" cy="615980"/>
          </a:xfrm>
          <a:prstGeom prst="line">
            <a:avLst/>
          </a:prstGeom>
          <a:noFill/>
          <a:ln w="6350" cap="flat" cmpd="sng" algn="ctr">
            <a:solidFill>
              <a:sysClr val="windowText" lastClr="000000"/>
            </a:solidFill>
            <a:prstDash val="solid"/>
            <a:miter lim="800000"/>
          </a:ln>
          <a:effectLst/>
        </p:spPr>
      </p:cxnSp>
      <p:cxnSp>
        <p:nvCxnSpPr>
          <p:cNvPr id="112" name="직선 연결선 111">
            <a:extLst>
              <a:ext uri="{FF2B5EF4-FFF2-40B4-BE49-F238E27FC236}">
                <a16:creationId xmlns:a16="http://schemas.microsoft.com/office/drawing/2014/main" id="{792FFCA1-5F9E-4DB1-EB29-69A8EFE3037E}"/>
              </a:ext>
            </a:extLst>
          </p:cNvPr>
          <p:cNvCxnSpPr/>
          <p:nvPr/>
        </p:nvCxnSpPr>
        <p:spPr>
          <a:xfrm>
            <a:off x="1960110" y="4422753"/>
            <a:ext cx="727769" cy="0"/>
          </a:xfrm>
          <a:prstGeom prst="line">
            <a:avLst/>
          </a:prstGeom>
          <a:noFill/>
          <a:ln w="6350" cap="flat" cmpd="sng" algn="ctr">
            <a:solidFill>
              <a:sysClr val="windowText" lastClr="000000"/>
            </a:solidFill>
            <a:prstDash val="solid"/>
            <a:miter lim="800000"/>
          </a:ln>
          <a:effectLst/>
        </p:spPr>
      </p:cxnSp>
      <p:cxnSp>
        <p:nvCxnSpPr>
          <p:cNvPr id="113" name="직선 연결선 112">
            <a:extLst>
              <a:ext uri="{FF2B5EF4-FFF2-40B4-BE49-F238E27FC236}">
                <a16:creationId xmlns:a16="http://schemas.microsoft.com/office/drawing/2014/main" id="{B65EAE32-247A-EEF0-A87F-5B271497BF6F}"/>
              </a:ext>
            </a:extLst>
          </p:cNvPr>
          <p:cNvCxnSpPr/>
          <p:nvPr/>
        </p:nvCxnSpPr>
        <p:spPr>
          <a:xfrm>
            <a:off x="1941771" y="4226143"/>
            <a:ext cx="545827" cy="0"/>
          </a:xfrm>
          <a:prstGeom prst="line">
            <a:avLst/>
          </a:prstGeom>
          <a:noFill/>
          <a:ln w="6350" cap="flat" cmpd="sng" algn="ctr">
            <a:solidFill>
              <a:sysClr val="windowText" lastClr="000000"/>
            </a:solidFill>
            <a:prstDash val="solid"/>
            <a:miter lim="800000"/>
          </a:ln>
          <a:effectLst/>
        </p:spPr>
      </p:cxnSp>
      <p:sp>
        <p:nvSpPr>
          <p:cNvPr id="114" name="TextBox 121">
            <a:extLst>
              <a:ext uri="{FF2B5EF4-FFF2-40B4-BE49-F238E27FC236}">
                <a16:creationId xmlns:a16="http://schemas.microsoft.com/office/drawing/2014/main" id="{71D03C11-1ADC-18DC-46AF-B510775E0751}"/>
              </a:ext>
            </a:extLst>
          </p:cNvPr>
          <p:cNvSpPr txBox="1"/>
          <p:nvPr/>
        </p:nvSpPr>
        <p:spPr>
          <a:xfrm>
            <a:off x="1974281" y="4099084"/>
            <a:ext cx="279223"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GATE3</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5" name="TextBox 122">
            <a:extLst>
              <a:ext uri="{FF2B5EF4-FFF2-40B4-BE49-F238E27FC236}">
                <a16:creationId xmlns:a16="http://schemas.microsoft.com/office/drawing/2014/main" id="{38CC9641-53D7-37E2-2E62-A7BAB17841AA}"/>
              </a:ext>
            </a:extLst>
          </p:cNvPr>
          <p:cNvSpPr txBox="1"/>
          <p:nvPr/>
        </p:nvSpPr>
        <p:spPr>
          <a:xfrm>
            <a:off x="1976781" y="4296488"/>
            <a:ext cx="279223"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GATE2</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6" name="TextBox 123">
            <a:extLst>
              <a:ext uri="{FF2B5EF4-FFF2-40B4-BE49-F238E27FC236}">
                <a16:creationId xmlns:a16="http://schemas.microsoft.com/office/drawing/2014/main" id="{3F6F0D36-4346-E008-69DA-A3C06B5B7F14}"/>
              </a:ext>
            </a:extLst>
          </p:cNvPr>
          <p:cNvSpPr txBox="1"/>
          <p:nvPr/>
        </p:nvSpPr>
        <p:spPr>
          <a:xfrm>
            <a:off x="1939271" y="3241807"/>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VLED1</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7" name="TextBox 124">
            <a:extLst>
              <a:ext uri="{FF2B5EF4-FFF2-40B4-BE49-F238E27FC236}">
                <a16:creationId xmlns:a16="http://schemas.microsoft.com/office/drawing/2014/main" id="{765648FD-62F3-A32D-2245-31D49A435AC7}"/>
              </a:ext>
            </a:extLst>
          </p:cNvPr>
          <p:cNvSpPr txBox="1"/>
          <p:nvPr/>
        </p:nvSpPr>
        <p:spPr>
          <a:xfrm>
            <a:off x="1941771" y="3534732"/>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VLED2</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8" name="TextBox 125">
            <a:extLst>
              <a:ext uri="{FF2B5EF4-FFF2-40B4-BE49-F238E27FC236}">
                <a16:creationId xmlns:a16="http://schemas.microsoft.com/office/drawing/2014/main" id="{C0E18BCC-8256-DD1E-532E-D04EFCAAC273}"/>
              </a:ext>
            </a:extLst>
          </p:cNvPr>
          <p:cNvSpPr txBox="1"/>
          <p:nvPr/>
        </p:nvSpPr>
        <p:spPr>
          <a:xfrm>
            <a:off x="1952607" y="3815714"/>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VLED3</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9" name="TextBox 126">
            <a:extLst>
              <a:ext uri="{FF2B5EF4-FFF2-40B4-BE49-F238E27FC236}">
                <a16:creationId xmlns:a16="http://schemas.microsoft.com/office/drawing/2014/main" id="{A7C7EC1C-10CA-0F53-535B-2EE864DE71EF}"/>
              </a:ext>
            </a:extLst>
          </p:cNvPr>
          <p:cNvSpPr txBox="1"/>
          <p:nvPr/>
        </p:nvSpPr>
        <p:spPr>
          <a:xfrm>
            <a:off x="3287996" y="4533691"/>
            <a:ext cx="17864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kumimoji="0" lang="en-US" altLang="ko-KR" sz="900" b="0" i="0" u="none" strike="noStrike" kern="0" cap="none" spc="0" normalizeH="0" baseline="-25000" noProof="0" dirty="0">
                <a:ln>
                  <a:noFill/>
                </a:ln>
                <a:solidFill>
                  <a:sysClr val="windowText" lastClr="000000"/>
                </a:solidFill>
                <a:effectLst/>
                <a:uLnTx/>
                <a:uFillTx/>
                <a:latin typeface="Aptos Narrow" panose="02110004020202020204"/>
                <a:ea typeface="맑은 고딕" panose="020B0503020000020004" pitchFamily="50" charset="-127"/>
                <a:cs typeface="+mn-cs"/>
              </a:rPr>
              <a:t>A</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cxnSp>
        <p:nvCxnSpPr>
          <p:cNvPr id="121" name="직선 연결선 120">
            <a:extLst>
              <a:ext uri="{FF2B5EF4-FFF2-40B4-BE49-F238E27FC236}">
                <a16:creationId xmlns:a16="http://schemas.microsoft.com/office/drawing/2014/main" id="{6C0654AD-BD07-1E96-7635-576BBCB4635A}"/>
              </a:ext>
            </a:extLst>
          </p:cNvPr>
          <p:cNvCxnSpPr/>
          <p:nvPr/>
        </p:nvCxnSpPr>
        <p:spPr>
          <a:xfrm>
            <a:off x="3989209" y="4172015"/>
            <a:ext cx="179219" cy="0"/>
          </a:xfrm>
          <a:prstGeom prst="line">
            <a:avLst/>
          </a:prstGeom>
          <a:noFill/>
          <a:ln w="19050" cap="flat" cmpd="sng" algn="ctr">
            <a:solidFill>
              <a:sysClr val="windowText" lastClr="000000"/>
            </a:solidFill>
            <a:prstDash val="solid"/>
            <a:miter lim="800000"/>
          </a:ln>
          <a:effectLst/>
        </p:spPr>
      </p:cxnSp>
      <p:cxnSp>
        <p:nvCxnSpPr>
          <p:cNvPr id="123" name="직선 연결선 122">
            <a:extLst>
              <a:ext uri="{FF2B5EF4-FFF2-40B4-BE49-F238E27FC236}">
                <a16:creationId xmlns:a16="http://schemas.microsoft.com/office/drawing/2014/main" id="{1A70BE8C-BA74-1B69-4699-AEA2F7A0E8EF}"/>
              </a:ext>
            </a:extLst>
          </p:cNvPr>
          <p:cNvCxnSpPr/>
          <p:nvPr/>
        </p:nvCxnSpPr>
        <p:spPr>
          <a:xfrm>
            <a:off x="4185753" y="4172014"/>
            <a:ext cx="179219" cy="0"/>
          </a:xfrm>
          <a:prstGeom prst="line">
            <a:avLst/>
          </a:prstGeom>
          <a:noFill/>
          <a:ln w="19050" cap="flat" cmpd="sng" algn="ctr">
            <a:solidFill>
              <a:sysClr val="windowText" lastClr="000000"/>
            </a:solidFill>
            <a:prstDash val="solid"/>
            <a:miter lim="800000"/>
          </a:ln>
          <a:effectLst/>
        </p:spPr>
      </p:cxnSp>
      <p:cxnSp>
        <p:nvCxnSpPr>
          <p:cNvPr id="125" name="직선 연결선 124">
            <a:extLst>
              <a:ext uri="{FF2B5EF4-FFF2-40B4-BE49-F238E27FC236}">
                <a16:creationId xmlns:a16="http://schemas.microsoft.com/office/drawing/2014/main" id="{A6CE6E4E-95B6-80EA-4760-BAF1876D5B07}"/>
              </a:ext>
            </a:extLst>
          </p:cNvPr>
          <p:cNvCxnSpPr/>
          <p:nvPr/>
        </p:nvCxnSpPr>
        <p:spPr>
          <a:xfrm>
            <a:off x="4384141" y="4168595"/>
            <a:ext cx="179218" cy="0"/>
          </a:xfrm>
          <a:prstGeom prst="line">
            <a:avLst/>
          </a:prstGeom>
          <a:noFill/>
          <a:ln w="19050" cap="flat" cmpd="sng" algn="ctr">
            <a:solidFill>
              <a:sysClr val="windowText" lastClr="000000"/>
            </a:solidFill>
            <a:prstDash val="solid"/>
            <a:miter lim="800000"/>
          </a:ln>
          <a:effectLst/>
        </p:spPr>
      </p:cxnSp>
      <p:cxnSp>
        <p:nvCxnSpPr>
          <p:cNvPr id="126" name="직선 연결선 125">
            <a:extLst>
              <a:ext uri="{FF2B5EF4-FFF2-40B4-BE49-F238E27FC236}">
                <a16:creationId xmlns:a16="http://schemas.microsoft.com/office/drawing/2014/main" id="{DCA029DF-B60E-BD56-F0E1-0F8D63FF9066}"/>
              </a:ext>
            </a:extLst>
          </p:cNvPr>
          <p:cNvCxnSpPr/>
          <p:nvPr/>
        </p:nvCxnSpPr>
        <p:spPr>
          <a:xfrm flipH="1" flipV="1">
            <a:off x="4082392" y="4181523"/>
            <a:ext cx="0" cy="315887"/>
          </a:xfrm>
          <a:prstGeom prst="line">
            <a:avLst/>
          </a:prstGeom>
          <a:noFill/>
          <a:ln w="12700" cap="flat" cmpd="sng" algn="ctr">
            <a:solidFill>
              <a:sysClr val="windowText" lastClr="000000"/>
            </a:solidFill>
            <a:prstDash val="solid"/>
            <a:miter lim="800000"/>
          </a:ln>
          <a:effectLst/>
        </p:spPr>
      </p:cxnSp>
      <p:cxnSp>
        <p:nvCxnSpPr>
          <p:cNvPr id="127" name="직선 연결선 126">
            <a:extLst>
              <a:ext uri="{FF2B5EF4-FFF2-40B4-BE49-F238E27FC236}">
                <a16:creationId xmlns:a16="http://schemas.microsoft.com/office/drawing/2014/main" id="{168E617F-3BAD-5C45-24D9-E23E377583FF}"/>
              </a:ext>
            </a:extLst>
          </p:cNvPr>
          <p:cNvCxnSpPr/>
          <p:nvPr/>
        </p:nvCxnSpPr>
        <p:spPr>
          <a:xfrm flipH="1" flipV="1">
            <a:off x="4272445" y="4179930"/>
            <a:ext cx="0" cy="126355"/>
          </a:xfrm>
          <a:prstGeom prst="line">
            <a:avLst/>
          </a:prstGeom>
          <a:noFill/>
          <a:ln w="12700" cap="flat" cmpd="sng" algn="ctr">
            <a:solidFill>
              <a:sysClr val="windowText" lastClr="000000"/>
            </a:solidFill>
            <a:prstDash val="solid"/>
            <a:miter lim="800000"/>
          </a:ln>
          <a:effectLst/>
        </p:spPr>
      </p:cxnSp>
      <p:cxnSp>
        <p:nvCxnSpPr>
          <p:cNvPr id="128" name="직선 연결선 127">
            <a:extLst>
              <a:ext uri="{FF2B5EF4-FFF2-40B4-BE49-F238E27FC236}">
                <a16:creationId xmlns:a16="http://schemas.microsoft.com/office/drawing/2014/main" id="{765400AF-9091-D550-A96E-0659006C0879}"/>
              </a:ext>
            </a:extLst>
          </p:cNvPr>
          <p:cNvCxnSpPr/>
          <p:nvPr/>
        </p:nvCxnSpPr>
        <p:spPr>
          <a:xfrm flipH="1" flipV="1">
            <a:off x="4471164" y="4174358"/>
            <a:ext cx="0" cy="126355"/>
          </a:xfrm>
          <a:prstGeom prst="line">
            <a:avLst/>
          </a:prstGeom>
          <a:noFill/>
          <a:ln w="12700" cap="flat" cmpd="sng" algn="ctr">
            <a:solidFill>
              <a:sysClr val="windowText" lastClr="000000"/>
            </a:solidFill>
            <a:prstDash val="solid"/>
            <a:miter lim="800000"/>
          </a:ln>
          <a:effectLst/>
        </p:spPr>
      </p:cxnSp>
      <p:cxnSp>
        <p:nvCxnSpPr>
          <p:cNvPr id="129" name="직선 연결선 128">
            <a:extLst>
              <a:ext uri="{FF2B5EF4-FFF2-40B4-BE49-F238E27FC236}">
                <a16:creationId xmlns:a16="http://schemas.microsoft.com/office/drawing/2014/main" id="{99DCCCFE-FF25-CB4B-0BDC-EFD512255436}"/>
              </a:ext>
            </a:extLst>
          </p:cNvPr>
          <p:cNvCxnSpPr/>
          <p:nvPr/>
        </p:nvCxnSpPr>
        <p:spPr>
          <a:xfrm flipH="1" flipV="1">
            <a:off x="4081305" y="3374297"/>
            <a:ext cx="0" cy="701810"/>
          </a:xfrm>
          <a:prstGeom prst="line">
            <a:avLst/>
          </a:prstGeom>
          <a:noFill/>
          <a:ln w="12700" cap="flat" cmpd="sng" algn="ctr">
            <a:solidFill>
              <a:sysClr val="windowText" lastClr="000000"/>
            </a:solidFill>
            <a:prstDash val="solid"/>
            <a:miter lim="800000"/>
          </a:ln>
          <a:effectLst/>
        </p:spPr>
      </p:cxnSp>
      <p:cxnSp>
        <p:nvCxnSpPr>
          <p:cNvPr id="130" name="직선 연결선 129">
            <a:extLst>
              <a:ext uri="{FF2B5EF4-FFF2-40B4-BE49-F238E27FC236}">
                <a16:creationId xmlns:a16="http://schemas.microsoft.com/office/drawing/2014/main" id="{2D22F63C-A23B-2D01-75F3-71034884EBE7}"/>
              </a:ext>
            </a:extLst>
          </p:cNvPr>
          <p:cNvCxnSpPr/>
          <p:nvPr/>
        </p:nvCxnSpPr>
        <p:spPr>
          <a:xfrm flipH="1" flipV="1">
            <a:off x="4274947" y="3671721"/>
            <a:ext cx="0" cy="410654"/>
          </a:xfrm>
          <a:prstGeom prst="line">
            <a:avLst/>
          </a:prstGeom>
          <a:noFill/>
          <a:ln w="12700" cap="flat" cmpd="sng" algn="ctr">
            <a:solidFill>
              <a:sysClr val="windowText" lastClr="000000"/>
            </a:solidFill>
            <a:prstDash val="solid"/>
            <a:miter lim="800000"/>
          </a:ln>
          <a:effectLst/>
        </p:spPr>
      </p:cxnSp>
      <p:cxnSp>
        <p:nvCxnSpPr>
          <p:cNvPr id="131" name="직선 연결선 130">
            <a:extLst>
              <a:ext uri="{FF2B5EF4-FFF2-40B4-BE49-F238E27FC236}">
                <a16:creationId xmlns:a16="http://schemas.microsoft.com/office/drawing/2014/main" id="{617951D8-5731-3199-2F3A-D7E091A7618E}"/>
              </a:ext>
            </a:extLst>
          </p:cNvPr>
          <p:cNvCxnSpPr/>
          <p:nvPr/>
        </p:nvCxnSpPr>
        <p:spPr>
          <a:xfrm>
            <a:off x="4279596" y="4300920"/>
            <a:ext cx="198483" cy="0"/>
          </a:xfrm>
          <a:prstGeom prst="line">
            <a:avLst/>
          </a:prstGeom>
          <a:noFill/>
          <a:ln w="12700" cap="flat" cmpd="sng" algn="ctr">
            <a:solidFill>
              <a:sysClr val="windowText" lastClr="000000"/>
            </a:solidFill>
            <a:prstDash val="solid"/>
            <a:miter lim="800000"/>
          </a:ln>
          <a:effectLst/>
        </p:spPr>
      </p:cxnSp>
      <p:sp>
        <p:nvSpPr>
          <p:cNvPr id="132" name="TextBox 136">
            <a:extLst>
              <a:ext uri="{FF2B5EF4-FFF2-40B4-BE49-F238E27FC236}">
                <a16:creationId xmlns:a16="http://schemas.microsoft.com/office/drawing/2014/main" id="{8CB87223-00F1-3C44-2015-271DE174CDCB}"/>
              </a:ext>
            </a:extLst>
          </p:cNvPr>
          <p:cNvSpPr txBox="1"/>
          <p:nvPr/>
        </p:nvSpPr>
        <p:spPr>
          <a:xfrm>
            <a:off x="3544736" y="4532100"/>
            <a:ext cx="28611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lang="en-US" altLang="ko-KR" sz="900" kern="0" baseline="-25000" dirty="0">
                <a:solidFill>
                  <a:sysClr val="windowText" lastClr="000000"/>
                </a:solidFill>
                <a:latin typeface="Aptos Narrow" panose="02110004020202020204"/>
                <a:ea typeface="맑은 고딕" panose="020B0503020000020004" pitchFamily="50" charset="-127"/>
              </a:rPr>
              <a:t>B</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33" name="타원 132">
            <a:extLst>
              <a:ext uri="{FF2B5EF4-FFF2-40B4-BE49-F238E27FC236}">
                <a16:creationId xmlns:a16="http://schemas.microsoft.com/office/drawing/2014/main" id="{D9EFFC01-D486-333B-599E-8B5833308804}"/>
              </a:ext>
            </a:extLst>
          </p:cNvPr>
          <p:cNvSpPr/>
          <p:nvPr/>
        </p:nvSpPr>
        <p:spPr>
          <a:xfrm>
            <a:off x="3699780" y="3926851"/>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4" name="타원 133">
            <a:extLst>
              <a:ext uri="{FF2B5EF4-FFF2-40B4-BE49-F238E27FC236}">
                <a16:creationId xmlns:a16="http://schemas.microsoft.com/office/drawing/2014/main" id="{0BA1129D-CEE9-3AAD-1B7E-5C6CC961B52C}"/>
              </a:ext>
            </a:extLst>
          </p:cNvPr>
          <p:cNvSpPr/>
          <p:nvPr/>
        </p:nvSpPr>
        <p:spPr>
          <a:xfrm>
            <a:off x="3510559" y="3650644"/>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5" name="타원 134">
            <a:extLst>
              <a:ext uri="{FF2B5EF4-FFF2-40B4-BE49-F238E27FC236}">
                <a16:creationId xmlns:a16="http://schemas.microsoft.com/office/drawing/2014/main" id="{55206848-C6A0-A88E-67EE-C722B1BD6E2C}"/>
              </a:ext>
            </a:extLst>
          </p:cNvPr>
          <p:cNvSpPr/>
          <p:nvPr/>
        </p:nvSpPr>
        <p:spPr>
          <a:xfrm>
            <a:off x="3317171" y="3338617"/>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6" name="타원 135">
            <a:extLst>
              <a:ext uri="{FF2B5EF4-FFF2-40B4-BE49-F238E27FC236}">
                <a16:creationId xmlns:a16="http://schemas.microsoft.com/office/drawing/2014/main" id="{6D64FBE8-FD30-277C-6D7A-E22BDA789816}"/>
              </a:ext>
            </a:extLst>
          </p:cNvPr>
          <p:cNvSpPr/>
          <p:nvPr/>
        </p:nvSpPr>
        <p:spPr>
          <a:xfrm>
            <a:off x="3606420" y="4279473"/>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7" name="타원 136">
            <a:extLst>
              <a:ext uri="{FF2B5EF4-FFF2-40B4-BE49-F238E27FC236}">
                <a16:creationId xmlns:a16="http://schemas.microsoft.com/office/drawing/2014/main" id="{81234010-E81C-3B63-6C96-C7EF526964B9}"/>
              </a:ext>
            </a:extLst>
          </p:cNvPr>
          <p:cNvSpPr/>
          <p:nvPr/>
        </p:nvSpPr>
        <p:spPr>
          <a:xfrm>
            <a:off x="4346636" y="4277880"/>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38" name="직선 연결선 137">
            <a:extLst>
              <a:ext uri="{FF2B5EF4-FFF2-40B4-BE49-F238E27FC236}">
                <a16:creationId xmlns:a16="http://schemas.microsoft.com/office/drawing/2014/main" id="{752C3318-57A6-2115-76F6-9BB20CCE4CBF}"/>
              </a:ext>
            </a:extLst>
          </p:cNvPr>
          <p:cNvCxnSpPr/>
          <p:nvPr/>
        </p:nvCxnSpPr>
        <p:spPr>
          <a:xfrm flipV="1">
            <a:off x="4465329" y="3948482"/>
            <a:ext cx="0" cy="122587"/>
          </a:xfrm>
          <a:prstGeom prst="line">
            <a:avLst/>
          </a:prstGeom>
          <a:noFill/>
          <a:ln w="12700" cap="flat" cmpd="sng" algn="ctr">
            <a:solidFill>
              <a:sysClr val="windowText" lastClr="000000"/>
            </a:solidFill>
            <a:prstDash val="solid"/>
            <a:miter lim="800000"/>
          </a:ln>
          <a:effectLst/>
        </p:spPr>
      </p:cxnSp>
      <p:cxnSp>
        <p:nvCxnSpPr>
          <p:cNvPr id="139" name="직선 연결선 138">
            <a:extLst>
              <a:ext uri="{FF2B5EF4-FFF2-40B4-BE49-F238E27FC236}">
                <a16:creationId xmlns:a16="http://schemas.microsoft.com/office/drawing/2014/main" id="{E9ECEF81-1FEA-9C8B-B6C1-17423E082316}"/>
              </a:ext>
            </a:extLst>
          </p:cNvPr>
          <p:cNvCxnSpPr/>
          <p:nvPr/>
        </p:nvCxnSpPr>
        <p:spPr>
          <a:xfrm flipH="1" flipV="1">
            <a:off x="4383311" y="4309676"/>
            <a:ext cx="0" cy="189533"/>
          </a:xfrm>
          <a:prstGeom prst="line">
            <a:avLst/>
          </a:prstGeom>
          <a:noFill/>
          <a:ln w="12700" cap="flat" cmpd="sng" algn="ctr">
            <a:solidFill>
              <a:sysClr val="windowText" lastClr="000000"/>
            </a:solidFill>
            <a:prstDash val="solid"/>
            <a:miter lim="800000"/>
          </a:ln>
          <a:effectLst/>
        </p:spPr>
      </p:cxnSp>
      <p:cxnSp>
        <p:nvCxnSpPr>
          <p:cNvPr id="140" name="직선 연결선 139">
            <a:extLst>
              <a:ext uri="{FF2B5EF4-FFF2-40B4-BE49-F238E27FC236}">
                <a16:creationId xmlns:a16="http://schemas.microsoft.com/office/drawing/2014/main" id="{6F39C9FC-F4ED-B6E6-E811-5BE11DF1CE6C}"/>
              </a:ext>
            </a:extLst>
          </p:cNvPr>
          <p:cNvCxnSpPr/>
          <p:nvPr/>
        </p:nvCxnSpPr>
        <p:spPr>
          <a:xfrm flipH="1" flipV="1">
            <a:off x="3643930" y="4308084"/>
            <a:ext cx="0" cy="189533"/>
          </a:xfrm>
          <a:prstGeom prst="line">
            <a:avLst/>
          </a:prstGeom>
          <a:noFill/>
          <a:ln w="12700" cap="flat" cmpd="sng" algn="ctr">
            <a:solidFill>
              <a:sysClr val="windowText" lastClr="000000"/>
            </a:solidFill>
            <a:prstDash val="solid"/>
            <a:miter lim="800000"/>
          </a:ln>
          <a:effectLst/>
        </p:spPr>
      </p:cxnSp>
      <p:sp>
        <p:nvSpPr>
          <p:cNvPr id="141" name="TextBox 145">
            <a:extLst>
              <a:ext uri="{FF2B5EF4-FFF2-40B4-BE49-F238E27FC236}">
                <a16:creationId xmlns:a16="http://schemas.microsoft.com/office/drawing/2014/main" id="{A4AA6919-446E-DA3F-54E5-E6246D0CD6F4}"/>
              </a:ext>
            </a:extLst>
          </p:cNvPr>
          <p:cNvSpPr txBox="1"/>
          <p:nvPr/>
        </p:nvSpPr>
        <p:spPr>
          <a:xfrm>
            <a:off x="3990698" y="4536078"/>
            <a:ext cx="17864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kumimoji="0" lang="en-US" altLang="ko-KR" sz="900" b="0" i="0" u="none" strike="noStrike" kern="0" cap="none" spc="0" normalizeH="0" baseline="-25000" noProof="0" dirty="0">
                <a:ln>
                  <a:noFill/>
                </a:ln>
                <a:solidFill>
                  <a:sysClr val="windowText" lastClr="000000"/>
                </a:solidFill>
                <a:effectLst/>
                <a:uLnTx/>
                <a:uFillTx/>
                <a:latin typeface="Aptos Narrow" panose="02110004020202020204"/>
                <a:ea typeface="맑은 고딕" panose="020B0503020000020004" pitchFamily="50" charset="-127"/>
                <a:cs typeface="+mn-cs"/>
              </a:rPr>
              <a:t>C</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42" name="TextBox 146">
            <a:extLst>
              <a:ext uri="{FF2B5EF4-FFF2-40B4-BE49-F238E27FC236}">
                <a16:creationId xmlns:a16="http://schemas.microsoft.com/office/drawing/2014/main" id="{4155D1BE-8E02-DE0B-8431-B682CCBCBD7C}"/>
              </a:ext>
            </a:extLst>
          </p:cNvPr>
          <p:cNvSpPr txBox="1"/>
          <p:nvPr/>
        </p:nvSpPr>
        <p:spPr>
          <a:xfrm>
            <a:off x="4247439" y="4534487"/>
            <a:ext cx="28611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kumimoji="0" lang="en-US" altLang="ko-KR" sz="900" b="0" i="0" u="none" strike="noStrike" kern="0" cap="none" spc="0" normalizeH="0" baseline="-25000" noProof="0" dirty="0">
                <a:ln>
                  <a:noFill/>
                </a:ln>
                <a:solidFill>
                  <a:sysClr val="windowText" lastClr="000000"/>
                </a:solidFill>
                <a:effectLst/>
                <a:uLnTx/>
                <a:uFillTx/>
                <a:latin typeface="Aptos Narrow" panose="02110004020202020204"/>
                <a:ea typeface="맑은 고딕" panose="020B0503020000020004" pitchFamily="50" charset="-127"/>
                <a:cs typeface="+mn-cs"/>
              </a:rPr>
              <a:t>D</a:t>
            </a:r>
            <a:endParaRPr kumimoji="0" lang="ko-KR" altLang="en-US" sz="900" b="0" i="0" u="none" strike="noStrike" kern="0" cap="none" spc="0" normalizeH="0" baseline="-2500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44" name="직사각형 143">
            <a:extLst>
              <a:ext uri="{FF2B5EF4-FFF2-40B4-BE49-F238E27FC236}">
                <a16:creationId xmlns:a16="http://schemas.microsoft.com/office/drawing/2014/main" id="{11715277-0331-EE5F-8C9C-A8CFABBAB6E0}"/>
              </a:ext>
            </a:extLst>
          </p:cNvPr>
          <p:cNvSpPr/>
          <p:nvPr/>
        </p:nvSpPr>
        <p:spPr>
          <a:xfrm>
            <a:off x="1784182" y="3105727"/>
            <a:ext cx="3006000" cy="2106000"/>
          </a:xfrm>
          <a:prstGeom prst="rect">
            <a:avLst/>
          </a:prstGeom>
          <a:noFill/>
          <a:ln w="3175"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45" name="TextBox 263">
            <a:extLst>
              <a:ext uri="{FF2B5EF4-FFF2-40B4-BE49-F238E27FC236}">
                <a16:creationId xmlns:a16="http://schemas.microsoft.com/office/drawing/2014/main" id="{A5DDC871-5160-4D99-AD3E-3A4564B8593B}"/>
              </a:ext>
            </a:extLst>
          </p:cNvPr>
          <p:cNvSpPr txBox="1"/>
          <p:nvPr/>
        </p:nvSpPr>
        <p:spPr>
          <a:xfrm>
            <a:off x="3787928" y="4784289"/>
            <a:ext cx="323575" cy="136149"/>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XD12R</a:t>
            </a:r>
            <a:endParaRPr kumimoji="0" lang="ko-KR" altLang="en-US" sz="1000" b="1"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4" name="TextBox 13">
            <a:extLst>
              <a:ext uri="{FF2B5EF4-FFF2-40B4-BE49-F238E27FC236}">
                <a16:creationId xmlns:a16="http://schemas.microsoft.com/office/drawing/2014/main" id="{A8178D28-8BC4-50DD-D334-C50DB13AC9FB}"/>
              </a:ext>
            </a:extLst>
          </p:cNvPr>
          <p:cNvSpPr txBox="1"/>
          <p:nvPr/>
        </p:nvSpPr>
        <p:spPr>
          <a:xfrm>
            <a:off x="399458" y="1923928"/>
            <a:ext cx="6047999" cy="1077218"/>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Type-A supports dimming 1# LED (RED) and 2# LED (GREEN/BLUE). RED dimming can be generated within 1-frame, regardless of SVI.</a:t>
            </a:r>
          </a:p>
          <a:p>
            <a:pPr algn="just"/>
            <a:r>
              <a:rPr lang="en-US" altLang="ko-KR" sz="1000" dirty="0">
                <a:latin typeface="Arial" panose="020B0604020202020204" pitchFamily="34" charset="0"/>
                <a:cs typeface="Arial" panose="020B0604020202020204" pitchFamily="34" charset="0"/>
              </a:rPr>
              <a:t>Type-A allows for time-division drive of two LEDs(green, blue) per channel.</a:t>
            </a:r>
          </a:p>
          <a:p>
            <a:pPr algn="just"/>
            <a:r>
              <a:rPr lang="en-US" altLang="ko-KR" sz="1000" dirty="0">
                <a:latin typeface="Arial" panose="020B0604020202020204" pitchFamily="34" charset="0"/>
                <a:cs typeface="Arial" panose="020B0604020202020204" pitchFamily="34" charset="0"/>
              </a:rPr>
              <a:t>The XD12R can independently control the current of each RGB LED by driving VREF1/2/3 at separate SVI intervals. Meanwhile, the XC24R provides external VLED selection signals (GATE 2/3) for time-division drive.</a:t>
            </a:r>
          </a:p>
          <a:p>
            <a:pPr algn="just"/>
            <a:endParaRPr lang="en-US" altLang="ko-KR" sz="1000" dirty="0">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55CEA467-6652-6C41-7DCC-B5ADB45F165A}"/>
              </a:ext>
            </a:extLst>
          </p:cNvPr>
          <p:cNvSpPr txBox="1"/>
          <p:nvPr/>
        </p:nvSpPr>
        <p:spPr>
          <a:xfrm>
            <a:off x="1821680" y="8183755"/>
            <a:ext cx="3406061"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7  PWM Dimming sequence @ TYPE-A, LD_DIR = 1</a:t>
            </a:r>
          </a:p>
        </p:txBody>
      </p:sp>
      <p:sp>
        <p:nvSpPr>
          <p:cNvPr id="2" name="이등변 삼각형 1">
            <a:extLst>
              <a:ext uri="{FF2B5EF4-FFF2-40B4-BE49-F238E27FC236}">
                <a16:creationId xmlns:a16="http://schemas.microsoft.com/office/drawing/2014/main" id="{89E4B565-7324-718C-400F-8C5BB7CDE06C}"/>
              </a:ext>
            </a:extLst>
          </p:cNvPr>
          <p:cNvSpPr/>
          <p:nvPr/>
        </p:nvSpPr>
        <p:spPr>
          <a:xfrm rot="10800000">
            <a:off x="3265031" y="4066435"/>
            <a:ext cx="165433" cy="94675"/>
          </a:xfrm>
          <a:prstGeom prst="triangle">
            <a:avLst/>
          </a:prstGeom>
          <a:solidFill>
            <a:srgbClr val="FF0000"/>
          </a:solidFill>
          <a:ln w="3175" cap="flat" cmpd="sng" algn="ctr">
            <a:solidFill>
              <a:srgbClr val="FF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3" name="이등변 삼각형 2">
            <a:extLst>
              <a:ext uri="{FF2B5EF4-FFF2-40B4-BE49-F238E27FC236}">
                <a16:creationId xmlns:a16="http://schemas.microsoft.com/office/drawing/2014/main" id="{B408FF3E-0133-2D5E-7372-FEB40C43ABE2}"/>
              </a:ext>
            </a:extLst>
          </p:cNvPr>
          <p:cNvSpPr/>
          <p:nvPr/>
        </p:nvSpPr>
        <p:spPr>
          <a:xfrm rot="10800000">
            <a:off x="3463587" y="4066436"/>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9" name="이등변 삼각형 8">
            <a:extLst>
              <a:ext uri="{FF2B5EF4-FFF2-40B4-BE49-F238E27FC236}">
                <a16:creationId xmlns:a16="http://schemas.microsoft.com/office/drawing/2014/main" id="{E84CA173-55D8-95FD-8AB5-D7341360BAC2}"/>
              </a:ext>
            </a:extLst>
          </p:cNvPr>
          <p:cNvSpPr/>
          <p:nvPr/>
        </p:nvSpPr>
        <p:spPr>
          <a:xfrm rot="10800000">
            <a:off x="3643092" y="4066435"/>
            <a:ext cx="165433" cy="94676"/>
          </a:xfrm>
          <a:prstGeom prst="triangle">
            <a:avLst/>
          </a:prstGeom>
          <a:solidFill>
            <a:srgbClr val="0066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0" name="이등변 삼각형 9">
            <a:extLst>
              <a:ext uri="{FF2B5EF4-FFF2-40B4-BE49-F238E27FC236}">
                <a16:creationId xmlns:a16="http://schemas.microsoft.com/office/drawing/2014/main" id="{62B1431B-8191-B30A-ADDF-62165824A3C2}"/>
              </a:ext>
            </a:extLst>
          </p:cNvPr>
          <p:cNvSpPr/>
          <p:nvPr/>
        </p:nvSpPr>
        <p:spPr>
          <a:xfrm rot="10800000">
            <a:off x="4005858" y="4062200"/>
            <a:ext cx="165433" cy="94675"/>
          </a:xfrm>
          <a:prstGeom prst="triangle">
            <a:avLst/>
          </a:prstGeom>
          <a:solidFill>
            <a:srgbClr val="FF0000"/>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1" name="이등변 삼각형 10">
            <a:extLst>
              <a:ext uri="{FF2B5EF4-FFF2-40B4-BE49-F238E27FC236}">
                <a16:creationId xmlns:a16="http://schemas.microsoft.com/office/drawing/2014/main" id="{E01B5B93-AB55-D96A-8A5D-6BB7964E1288}"/>
              </a:ext>
            </a:extLst>
          </p:cNvPr>
          <p:cNvSpPr/>
          <p:nvPr/>
        </p:nvSpPr>
        <p:spPr>
          <a:xfrm rot="10800000">
            <a:off x="4204414" y="4062201"/>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2" name="이등변 삼각형 11">
            <a:extLst>
              <a:ext uri="{FF2B5EF4-FFF2-40B4-BE49-F238E27FC236}">
                <a16:creationId xmlns:a16="http://schemas.microsoft.com/office/drawing/2014/main" id="{929DBD16-E4FB-5857-ED11-C6BCC01CF17C}"/>
              </a:ext>
            </a:extLst>
          </p:cNvPr>
          <p:cNvSpPr/>
          <p:nvPr/>
        </p:nvSpPr>
        <p:spPr>
          <a:xfrm rot="10800000">
            <a:off x="4383919" y="4062200"/>
            <a:ext cx="165433" cy="94676"/>
          </a:xfrm>
          <a:prstGeom prst="triangle">
            <a:avLst/>
          </a:prstGeom>
          <a:solidFill>
            <a:srgbClr val="0066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pic>
        <p:nvPicPr>
          <p:cNvPr id="15" name="그림 14">
            <a:extLst>
              <a:ext uri="{FF2B5EF4-FFF2-40B4-BE49-F238E27FC236}">
                <a16:creationId xmlns:a16="http://schemas.microsoft.com/office/drawing/2014/main" id="{B06DBAEE-DFF1-6692-1BEE-C9A9B53DD9DD}"/>
              </a:ext>
            </a:extLst>
          </p:cNvPr>
          <p:cNvPicPr>
            <a:picLocks noChangeAspect="1"/>
          </p:cNvPicPr>
          <p:nvPr/>
        </p:nvPicPr>
        <p:blipFill>
          <a:blip r:embed="rId2"/>
          <a:stretch>
            <a:fillRect/>
          </a:stretch>
        </p:blipFill>
        <p:spPr>
          <a:xfrm>
            <a:off x="423708" y="5534547"/>
            <a:ext cx="5551854" cy="2496739"/>
          </a:xfrm>
          <a:prstGeom prst="rect">
            <a:avLst/>
          </a:prstGeom>
        </p:spPr>
      </p:pic>
    </p:spTree>
    <p:extLst>
      <p:ext uri="{BB962C8B-B14F-4D97-AF65-F5344CB8AC3E}">
        <p14:creationId xmlns:p14="http://schemas.microsoft.com/office/powerpoint/2010/main" val="19481347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5F28E73-CA25-0D91-E185-5C06FF01872A}"/>
              </a:ext>
            </a:extLst>
          </p:cNvPr>
          <p:cNvSpPr txBox="1"/>
          <p:nvPr/>
        </p:nvSpPr>
        <p:spPr>
          <a:xfrm>
            <a:off x="391362" y="1616176"/>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TYPE-B (4-colors) </a:t>
            </a:r>
          </a:p>
        </p:txBody>
      </p:sp>
      <p:sp>
        <p:nvSpPr>
          <p:cNvPr id="6" name="직사각형 5">
            <a:extLst>
              <a:ext uri="{FF2B5EF4-FFF2-40B4-BE49-F238E27FC236}">
                <a16:creationId xmlns:a16="http://schemas.microsoft.com/office/drawing/2014/main" id="{5801A4B1-6138-BAA0-33A5-4E90EAA01E56}"/>
              </a:ext>
            </a:extLst>
          </p:cNvPr>
          <p:cNvSpPr/>
          <p:nvPr/>
        </p:nvSpPr>
        <p:spPr>
          <a:xfrm>
            <a:off x="3122376" y="4190421"/>
            <a:ext cx="1880048" cy="529332"/>
          </a:xfrm>
          <a:prstGeom prst="rect">
            <a:avLst/>
          </a:prstGeom>
          <a:noFill/>
          <a:ln w="12700"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7" name="직선 연결선 6">
            <a:extLst>
              <a:ext uri="{FF2B5EF4-FFF2-40B4-BE49-F238E27FC236}">
                <a16:creationId xmlns:a16="http://schemas.microsoft.com/office/drawing/2014/main" id="{2E8C8B9C-08EE-AC51-C4AC-AF8FDB3BAB00}"/>
              </a:ext>
            </a:extLst>
          </p:cNvPr>
          <p:cNvCxnSpPr/>
          <p:nvPr/>
        </p:nvCxnSpPr>
        <p:spPr>
          <a:xfrm flipH="1">
            <a:off x="2405501" y="3780488"/>
            <a:ext cx="0" cy="126355"/>
          </a:xfrm>
          <a:prstGeom prst="line">
            <a:avLst/>
          </a:prstGeom>
          <a:noFill/>
          <a:ln w="6350" cap="flat" cmpd="sng" algn="ctr">
            <a:solidFill>
              <a:sysClr val="windowText" lastClr="000000"/>
            </a:solidFill>
            <a:prstDash val="solid"/>
            <a:miter lim="800000"/>
          </a:ln>
          <a:effectLst/>
        </p:spPr>
      </p:cxnSp>
      <p:cxnSp>
        <p:nvCxnSpPr>
          <p:cNvPr id="8" name="직선 연결선 7">
            <a:extLst>
              <a:ext uri="{FF2B5EF4-FFF2-40B4-BE49-F238E27FC236}">
                <a16:creationId xmlns:a16="http://schemas.microsoft.com/office/drawing/2014/main" id="{8F50419B-02C3-BDD8-3E68-95D76068BCA5}"/>
              </a:ext>
            </a:extLst>
          </p:cNvPr>
          <p:cNvCxnSpPr/>
          <p:nvPr/>
        </p:nvCxnSpPr>
        <p:spPr>
          <a:xfrm>
            <a:off x="3180070" y="3860087"/>
            <a:ext cx="179219" cy="0"/>
          </a:xfrm>
          <a:prstGeom prst="line">
            <a:avLst/>
          </a:prstGeom>
          <a:noFill/>
          <a:ln w="19050" cap="flat" cmpd="sng" algn="ctr">
            <a:solidFill>
              <a:sysClr val="windowText" lastClr="000000"/>
            </a:solidFill>
            <a:prstDash val="solid"/>
            <a:miter lim="800000"/>
          </a:ln>
          <a:effectLst/>
        </p:spPr>
      </p:cxnSp>
      <p:cxnSp>
        <p:nvCxnSpPr>
          <p:cNvPr id="9" name="직선 연결선 8">
            <a:extLst>
              <a:ext uri="{FF2B5EF4-FFF2-40B4-BE49-F238E27FC236}">
                <a16:creationId xmlns:a16="http://schemas.microsoft.com/office/drawing/2014/main" id="{C9158481-656A-E572-D08A-6D77F1CB7B85}"/>
              </a:ext>
            </a:extLst>
          </p:cNvPr>
          <p:cNvCxnSpPr/>
          <p:nvPr/>
        </p:nvCxnSpPr>
        <p:spPr>
          <a:xfrm>
            <a:off x="3666599" y="3860086"/>
            <a:ext cx="179219" cy="0"/>
          </a:xfrm>
          <a:prstGeom prst="line">
            <a:avLst/>
          </a:prstGeom>
          <a:noFill/>
          <a:ln w="19050" cap="flat" cmpd="sng" algn="ctr">
            <a:solidFill>
              <a:sysClr val="windowText" lastClr="000000"/>
            </a:solidFill>
            <a:prstDash val="solid"/>
            <a:miter lim="800000"/>
          </a:ln>
          <a:effectLst/>
        </p:spPr>
      </p:cxnSp>
      <p:cxnSp>
        <p:nvCxnSpPr>
          <p:cNvPr id="10" name="직선 연결선 9">
            <a:extLst>
              <a:ext uri="{FF2B5EF4-FFF2-40B4-BE49-F238E27FC236}">
                <a16:creationId xmlns:a16="http://schemas.microsoft.com/office/drawing/2014/main" id="{A5904430-ECCF-64AF-C310-993ED4CA32BC}"/>
              </a:ext>
            </a:extLst>
          </p:cNvPr>
          <p:cNvCxnSpPr/>
          <p:nvPr/>
        </p:nvCxnSpPr>
        <p:spPr>
          <a:xfrm>
            <a:off x="3875572" y="3856669"/>
            <a:ext cx="179218" cy="0"/>
          </a:xfrm>
          <a:prstGeom prst="line">
            <a:avLst/>
          </a:prstGeom>
          <a:noFill/>
          <a:ln w="19050" cap="flat" cmpd="sng" algn="ctr">
            <a:solidFill>
              <a:sysClr val="windowText" lastClr="000000"/>
            </a:solidFill>
            <a:prstDash val="solid"/>
            <a:miter lim="800000"/>
          </a:ln>
          <a:effectLst/>
        </p:spPr>
      </p:cxnSp>
      <p:cxnSp>
        <p:nvCxnSpPr>
          <p:cNvPr id="11" name="직선 연결선 10">
            <a:extLst>
              <a:ext uri="{FF2B5EF4-FFF2-40B4-BE49-F238E27FC236}">
                <a16:creationId xmlns:a16="http://schemas.microsoft.com/office/drawing/2014/main" id="{32A878AC-B574-FD03-CB51-322D388352F6}"/>
              </a:ext>
            </a:extLst>
          </p:cNvPr>
          <p:cNvCxnSpPr>
            <a:cxnSpLocks/>
            <a:endCxn id="101" idx="2"/>
          </p:cNvCxnSpPr>
          <p:nvPr/>
        </p:nvCxnSpPr>
        <p:spPr>
          <a:xfrm>
            <a:off x="2567366" y="3636699"/>
            <a:ext cx="2304501" cy="8475"/>
          </a:xfrm>
          <a:prstGeom prst="line">
            <a:avLst/>
          </a:prstGeom>
          <a:noFill/>
          <a:ln w="12700" cap="flat" cmpd="sng" algn="ctr">
            <a:solidFill>
              <a:sysClr val="windowText" lastClr="000000"/>
            </a:solidFill>
            <a:prstDash val="solid"/>
            <a:miter lim="800000"/>
          </a:ln>
          <a:effectLst/>
        </p:spPr>
      </p:cxnSp>
      <p:cxnSp>
        <p:nvCxnSpPr>
          <p:cNvPr id="12" name="직선 연결선 11">
            <a:extLst>
              <a:ext uri="{FF2B5EF4-FFF2-40B4-BE49-F238E27FC236}">
                <a16:creationId xmlns:a16="http://schemas.microsoft.com/office/drawing/2014/main" id="{02575B5C-AB13-669C-BC61-63AB9A10DC0B}"/>
              </a:ext>
            </a:extLst>
          </p:cNvPr>
          <p:cNvCxnSpPr>
            <a:cxnSpLocks/>
            <a:endCxn id="103" idx="6"/>
          </p:cNvCxnSpPr>
          <p:nvPr/>
        </p:nvCxnSpPr>
        <p:spPr>
          <a:xfrm>
            <a:off x="1796971" y="2865069"/>
            <a:ext cx="2457879" cy="7722"/>
          </a:xfrm>
          <a:prstGeom prst="line">
            <a:avLst/>
          </a:prstGeom>
          <a:noFill/>
          <a:ln w="12700" cap="flat" cmpd="sng" algn="ctr">
            <a:solidFill>
              <a:sysClr val="windowText" lastClr="000000"/>
            </a:solidFill>
            <a:prstDash val="solid"/>
            <a:miter lim="800000"/>
          </a:ln>
          <a:effectLst/>
        </p:spPr>
      </p:cxnSp>
      <p:cxnSp>
        <p:nvCxnSpPr>
          <p:cNvPr id="13" name="직선 연결선 12">
            <a:extLst>
              <a:ext uri="{FF2B5EF4-FFF2-40B4-BE49-F238E27FC236}">
                <a16:creationId xmlns:a16="http://schemas.microsoft.com/office/drawing/2014/main" id="{E47DB1A2-23C0-0981-F540-11B35222F09C}"/>
              </a:ext>
            </a:extLst>
          </p:cNvPr>
          <p:cNvCxnSpPr/>
          <p:nvPr/>
        </p:nvCxnSpPr>
        <p:spPr>
          <a:xfrm>
            <a:off x="2272608" y="3712786"/>
            <a:ext cx="264644" cy="0"/>
          </a:xfrm>
          <a:prstGeom prst="line">
            <a:avLst/>
          </a:prstGeom>
          <a:noFill/>
          <a:ln w="19050" cap="flat" cmpd="sng" algn="ctr">
            <a:solidFill>
              <a:sysClr val="windowText" lastClr="000000"/>
            </a:solidFill>
            <a:prstDash val="solid"/>
            <a:miter lim="800000"/>
          </a:ln>
          <a:effectLst/>
        </p:spPr>
      </p:cxnSp>
      <p:cxnSp>
        <p:nvCxnSpPr>
          <p:cNvPr id="14" name="직선 연결선 13">
            <a:extLst>
              <a:ext uri="{FF2B5EF4-FFF2-40B4-BE49-F238E27FC236}">
                <a16:creationId xmlns:a16="http://schemas.microsoft.com/office/drawing/2014/main" id="{321EE8F8-DAF8-D560-FD27-BC238CF189FC}"/>
              </a:ext>
            </a:extLst>
          </p:cNvPr>
          <p:cNvCxnSpPr/>
          <p:nvPr/>
        </p:nvCxnSpPr>
        <p:spPr>
          <a:xfrm>
            <a:off x="2337628" y="3770893"/>
            <a:ext cx="132322" cy="0"/>
          </a:xfrm>
          <a:prstGeom prst="line">
            <a:avLst/>
          </a:prstGeom>
          <a:noFill/>
          <a:ln w="19050" cap="flat" cmpd="sng" algn="ctr">
            <a:solidFill>
              <a:sysClr val="windowText" lastClr="000000"/>
            </a:solidFill>
            <a:prstDash val="solid"/>
            <a:miter lim="800000"/>
          </a:ln>
          <a:effectLst/>
        </p:spPr>
      </p:cxnSp>
      <p:cxnSp>
        <p:nvCxnSpPr>
          <p:cNvPr id="15" name="직선 연결선 14">
            <a:extLst>
              <a:ext uri="{FF2B5EF4-FFF2-40B4-BE49-F238E27FC236}">
                <a16:creationId xmlns:a16="http://schemas.microsoft.com/office/drawing/2014/main" id="{2F7723B5-1DED-2C99-CA21-72679E4F40C0}"/>
              </a:ext>
            </a:extLst>
          </p:cNvPr>
          <p:cNvCxnSpPr/>
          <p:nvPr/>
        </p:nvCxnSpPr>
        <p:spPr>
          <a:xfrm rot="5400000" flipH="1" flipV="1">
            <a:off x="2315037" y="3669301"/>
            <a:ext cx="63177" cy="0"/>
          </a:xfrm>
          <a:prstGeom prst="line">
            <a:avLst/>
          </a:prstGeom>
          <a:noFill/>
          <a:ln w="19050" cap="flat" cmpd="sng" algn="ctr">
            <a:solidFill>
              <a:sysClr val="windowText" lastClr="000000"/>
            </a:solidFill>
            <a:prstDash val="solid"/>
            <a:miter lim="800000"/>
          </a:ln>
          <a:effectLst/>
        </p:spPr>
      </p:cxnSp>
      <p:cxnSp>
        <p:nvCxnSpPr>
          <p:cNvPr id="16" name="직선 연결선 15">
            <a:extLst>
              <a:ext uri="{FF2B5EF4-FFF2-40B4-BE49-F238E27FC236}">
                <a16:creationId xmlns:a16="http://schemas.microsoft.com/office/drawing/2014/main" id="{88F1ADC9-FEB8-9482-B23F-43C05BD9C66E}"/>
              </a:ext>
            </a:extLst>
          </p:cNvPr>
          <p:cNvCxnSpPr/>
          <p:nvPr/>
        </p:nvCxnSpPr>
        <p:spPr>
          <a:xfrm rot="5400000">
            <a:off x="2425903" y="3667710"/>
            <a:ext cx="63177" cy="0"/>
          </a:xfrm>
          <a:prstGeom prst="line">
            <a:avLst/>
          </a:prstGeom>
          <a:noFill/>
          <a:ln w="19050" cap="flat" cmpd="sng" algn="ctr">
            <a:solidFill>
              <a:sysClr val="windowText" lastClr="000000"/>
            </a:solidFill>
            <a:prstDash val="solid"/>
            <a:miter lim="800000"/>
          </a:ln>
          <a:effectLst/>
        </p:spPr>
      </p:cxnSp>
      <p:cxnSp>
        <p:nvCxnSpPr>
          <p:cNvPr id="17" name="직선 연결선 16">
            <a:extLst>
              <a:ext uri="{FF2B5EF4-FFF2-40B4-BE49-F238E27FC236}">
                <a16:creationId xmlns:a16="http://schemas.microsoft.com/office/drawing/2014/main" id="{8E62098D-7ADE-CD6B-3D64-FBC0352A8271}"/>
              </a:ext>
            </a:extLst>
          </p:cNvPr>
          <p:cNvCxnSpPr/>
          <p:nvPr/>
        </p:nvCxnSpPr>
        <p:spPr>
          <a:xfrm>
            <a:off x="2443010" y="3637213"/>
            <a:ext cx="132321" cy="0"/>
          </a:xfrm>
          <a:prstGeom prst="line">
            <a:avLst/>
          </a:prstGeom>
          <a:noFill/>
          <a:ln w="19050" cap="flat" cmpd="sng" algn="ctr">
            <a:solidFill>
              <a:sysClr val="windowText" lastClr="000000"/>
            </a:solidFill>
            <a:prstDash val="solid"/>
            <a:miter lim="800000"/>
          </a:ln>
          <a:effectLst/>
        </p:spPr>
      </p:cxnSp>
      <p:cxnSp>
        <p:nvCxnSpPr>
          <p:cNvPr id="18" name="직선 연결선 17">
            <a:extLst>
              <a:ext uri="{FF2B5EF4-FFF2-40B4-BE49-F238E27FC236}">
                <a16:creationId xmlns:a16="http://schemas.microsoft.com/office/drawing/2014/main" id="{64D8B2FE-855C-EEEC-A119-558420E36E5A}"/>
              </a:ext>
            </a:extLst>
          </p:cNvPr>
          <p:cNvCxnSpPr/>
          <p:nvPr/>
        </p:nvCxnSpPr>
        <p:spPr>
          <a:xfrm>
            <a:off x="2224615" y="3639600"/>
            <a:ext cx="132321" cy="0"/>
          </a:xfrm>
          <a:prstGeom prst="line">
            <a:avLst/>
          </a:prstGeom>
          <a:noFill/>
          <a:ln w="19050" cap="flat" cmpd="sng" algn="ctr">
            <a:solidFill>
              <a:sysClr val="windowText" lastClr="000000"/>
            </a:solidFill>
            <a:prstDash val="solid"/>
            <a:miter lim="800000"/>
          </a:ln>
          <a:effectLst/>
        </p:spPr>
      </p:cxnSp>
      <p:cxnSp>
        <p:nvCxnSpPr>
          <p:cNvPr id="19" name="직선 연결선 18">
            <a:extLst>
              <a:ext uri="{FF2B5EF4-FFF2-40B4-BE49-F238E27FC236}">
                <a16:creationId xmlns:a16="http://schemas.microsoft.com/office/drawing/2014/main" id="{65CF080D-1BA3-3C2E-2A2A-C692CAA60F1D}"/>
              </a:ext>
            </a:extLst>
          </p:cNvPr>
          <p:cNvCxnSpPr/>
          <p:nvPr/>
        </p:nvCxnSpPr>
        <p:spPr>
          <a:xfrm>
            <a:off x="2474333" y="3435282"/>
            <a:ext cx="264644" cy="0"/>
          </a:xfrm>
          <a:prstGeom prst="line">
            <a:avLst/>
          </a:prstGeom>
          <a:noFill/>
          <a:ln w="19050" cap="flat" cmpd="sng" algn="ctr">
            <a:solidFill>
              <a:sysClr val="windowText" lastClr="000000"/>
            </a:solidFill>
            <a:prstDash val="solid"/>
            <a:miter lim="800000"/>
          </a:ln>
          <a:effectLst/>
        </p:spPr>
      </p:cxnSp>
      <p:cxnSp>
        <p:nvCxnSpPr>
          <p:cNvPr id="20" name="직선 연결선 19">
            <a:extLst>
              <a:ext uri="{FF2B5EF4-FFF2-40B4-BE49-F238E27FC236}">
                <a16:creationId xmlns:a16="http://schemas.microsoft.com/office/drawing/2014/main" id="{93947126-E364-3664-0599-689B36D12477}"/>
              </a:ext>
            </a:extLst>
          </p:cNvPr>
          <p:cNvCxnSpPr/>
          <p:nvPr/>
        </p:nvCxnSpPr>
        <p:spPr>
          <a:xfrm>
            <a:off x="2539353" y="3493389"/>
            <a:ext cx="132322" cy="0"/>
          </a:xfrm>
          <a:prstGeom prst="line">
            <a:avLst/>
          </a:prstGeom>
          <a:noFill/>
          <a:ln w="19050" cap="flat" cmpd="sng" algn="ctr">
            <a:solidFill>
              <a:sysClr val="windowText" lastClr="000000"/>
            </a:solidFill>
            <a:prstDash val="solid"/>
            <a:miter lim="800000"/>
          </a:ln>
          <a:effectLst/>
        </p:spPr>
      </p:cxnSp>
      <p:cxnSp>
        <p:nvCxnSpPr>
          <p:cNvPr id="21" name="직선 연결선 20">
            <a:extLst>
              <a:ext uri="{FF2B5EF4-FFF2-40B4-BE49-F238E27FC236}">
                <a16:creationId xmlns:a16="http://schemas.microsoft.com/office/drawing/2014/main" id="{4338DD75-8933-9F90-4951-B357F3D0A1B4}"/>
              </a:ext>
            </a:extLst>
          </p:cNvPr>
          <p:cNvCxnSpPr/>
          <p:nvPr/>
        </p:nvCxnSpPr>
        <p:spPr>
          <a:xfrm rot="5400000" flipH="1" flipV="1">
            <a:off x="2516762" y="3391796"/>
            <a:ext cx="63177" cy="0"/>
          </a:xfrm>
          <a:prstGeom prst="line">
            <a:avLst/>
          </a:prstGeom>
          <a:noFill/>
          <a:ln w="19050" cap="flat" cmpd="sng" algn="ctr">
            <a:solidFill>
              <a:sysClr val="windowText" lastClr="000000"/>
            </a:solidFill>
            <a:prstDash val="solid"/>
            <a:miter lim="800000"/>
          </a:ln>
          <a:effectLst/>
        </p:spPr>
      </p:cxnSp>
      <p:cxnSp>
        <p:nvCxnSpPr>
          <p:cNvPr id="22" name="직선 연결선 21">
            <a:extLst>
              <a:ext uri="{FF2B5EF4-FFF2-40B4-BE49-F238E27FC236}">
                <a16:creationId xmlns:a16="http://schemas.microsoft.com/office/drawing/2014/main" id="{1805247E-9FBB-CDD9-F9A1-57680340B8C4}"/>
              </a:ext>
            </a:extLst>
          </p:cNvPr>
          <p:cNvCxnSpPr/>
          <p:nvPr/>
        </p:nvCxnSpPr>
        <p:spPr>
          <a:xfrm rot="5400000">
            <a:off x="2627628" y="3390205"/>
            <a:ext cx="63177" cy="0"/>
          </a:xfrm>
          <a:prstGeom prst="line">
            <a:avLst/>
          </a:prstGeom>
          <a:noFill/>
          <a:ln w="19050" cap="flat" cmpd="sng" algn="ctr">
            <a:solidFill>
              <a:sysClr val="windowText" lastClr="000000"/>
            </a:solidFill>
            <a:prstDash val="solid"/>
            <a:miter lim="800000"/>
          </a:ln>
          <a:effectLst/>
        </p:spPr>
      </p:cxnSp>
      <p:cxnSp>
        <p:nvCxnSpPr>
          <p:cNvPr id="23" name="직선 연결선 22">
            <a:extLst>
              <a:ext uri="{FF2B5EF4-FFF2-40B4-BE49-F238E27FC236}">
                <a16:creationId xmlns:a16="http://schemas.microsoft.com/office/drawing/2014/main" id="{CC048AB0-ED0F-1E0A-D480-06040A6A9E99}"/>
              </a:ext>
            </a:extLst>
          </p:cNvPr>
          <p:cNvCxnSpPr/>
          <p:nvPr/>
        </p:nvCxnSpPr>
        <p:spPr>
          <a:xfrm>
            <a:off x="2644736" y="3359708"/>
            <a:ext cx="132321" cy="0"/>
          </a:xfrm>
          <a:prstGeom prst="line">
            <a:avLst/>
          </a:prstGeom>
          <a:noFill/>
          <a:ln w="19050" cap="flat" cmpd="sng" algn="ctr">
            <a:solidFill>
              <a:sysClr val="windowText" lastClr="000000"/>
            </a:solidFill>
            <a:prstDash val="solid"/>
            <a:miter lim="800000"/>
          </a:ln>
          <a:effectLst/>
        </p:spPr>
      </p:cxnSp>
      <p:cxnSp>
        <p:nvCxnSpPr>
          <p:cNvPr id="24" name="직선 연결선 23">
            <a:extLst>
              <a:ext uri="{FF2B5EF4-FFF2-40B4-BE49-F238E27FC236}">
                <a16:creationId xmlns:a16="http://schemas.microsoft.com/office/drawing/2014/main" id="{B64FC1DF-018F-998B-EC5E-3D4A56F3848F}"/>
              </a:ext>
            </a:extLst>
          </p:cNvPr>
          <p:cNvCxnSpPr/>
          <p:nvPr/>
        </p:nvCxnSpPr>
        <p:spPr>
          <a:xfrm>
            <a:off x="2426340" y="3362096"/>
            <a:ext cx="132321" cy="0"/>
          </a:xfrm>
          <a:prstGeom prst="line">
            <a:avLst/>
          </a:prstGeom>
          <a:noFill/>
          <a:ln w="19050" cap="flat" cmpd="sng" algn="ctr">
            <a:solidFill>
              <a:sysClr val="windowText" lastClr="000000"/>
            </a:solidFill>
            <a:prstDash val="solid"/>
            <a:miter lim="800000"/>
          </a:ln>
          <a:effectLst/>
        </p:spPr>
      </p:cxnSp>
      <p:cxnSp>
        <p:nvCxnSpPr>
          <p:cNvPr id="25" name="직선 연결선 24">
            <a:extLst>
              <a:ext uri="{FF2B5EF4-FFF2-40B4-BE49-F238E27FC236}">
                <a16:creationId xmlns:a16="http://schemas.microsoft.com/office/drawing/2014/main" id="{86A9444C-5CB8-5C43-EAFF-9627B0E58942}"/>
              </a:ext>
            </a:extLst>
          </p:cNvPr>
          <p:cNvCxnSpPr/>
          <p:nvPr/>
        </p:nvCxnSpPr>
        <p:spPr>
          <a:xfrm flipH="1" flipV="1">
            <a:off x="3273254" y="3865616"/>
            <a:ext cx="0" cy="315887"/>
          </a:xfrm>
          <a:prstGeom prst="line">
            <a:avLst/>
          </a:prstGeom>
          <a:noFill/>
          <a:ln w="12700" cap="flat" cmpd="sng" algn="ctr">
            <a:solidFill>
              <a:sysClr val="windowText" lastClr="000000"/>
            </a:solidFill>
            <a:prstDash val="solid"/>
            <a:miter lim="800000"/>
          </a:ln>
          <a:effectLst/>
        </p:spPr>
      </p:cxnSp>
      <p:cxnSp>
        <p:nvCxnSpPr>
          <p:cNvPr id="26" name="직선 연결선 25">
            <a:extLst>
              <a:ext uri="{FF2B5EF4-FFF2-40B4-BE49-F238E27FC236}">
                <a16:creationId xmlns:a16="http://schemas.microsoft.com/office/drawing/2014/main" id="{DC35E8D8-1024-EEF6-E5A9-3B639EA2ED55}"/>
              </a:ext>
            </a:extLst>
          </p:cNvPr>
          <p:cNvCxnSpPr/>
          <p:nvPr/>
        </p:nvCxnSpPr>
        <p:spPr>
          <a:xfrm flipH="1" flipV="1">
            <a:off x="3763876" y="3868004"/>
            <a:ext cx="0" cy="126355"/>
          </a:xfrm>
          <a:prstGeom prst="line">
            <a:avLst/>
          </a:prstGeom>
          <a:noFill/>
          <a:ln w="12700" cap="flat" cmpd="sng" algn="ctr">
            <a:solidFill>
              <a:sysClr val="windowText" lastClr="000000"/>
            </a:solidFill>
            <a:prstDash val="solid"/>
            <a:miter lim="800000"/>
          </a:ln>
          <a:effectLst/>
        </p:spPr>
      </p:cxnSp>
      <p:cxnSp>
        <p:nvCxnSpPr>
          <p:cNvPr id="27" name="직선 연결선 26">
            <a:extLst>
              <a:ext uri="{FF2B5EF4-FFF2-40B4-BE49-F238E27FC236}">
                <a16:creationId xmlns:a16="http://schemas.microsoft.com/office/drawing/2014/main" id="{CE721EE0-640A-4D38-E5A7-0605EA0F9CCC}"/>
              </a:ext>
            </a:extLst>
          </p:cNvPr>
          <p:cNvCxnSpPr/>
          <p:nvPr/>
        </p:nvCxnSpPr>
        <p:spPr>
          <a:xfrm flipH="1" flipV="1">
            <a:off x="3958099" y="3862430"/>
            <a:ext cx="0" cy="126355"/>
          </a:xfrm>
          <a:prstGeom prst="line">
            <a:avLst/>
          </a:prstGeom>
          <a:noFill/>
          <a:ln w="12700" cap="flat" cmpd="sng" algn="ctr">
            <a:solidFill>
              <a:sysClr val="windowText" lastClr="000000"/>
            </a:solidFill>
            <a:prstDash val="solid"/>
            <a:miter lim="800000"/>
          </a:ln>
          <a:effectLst/>
        </p:spPr>
      </p:cxnSp>
      <p:cxnSp>
        <p:nvCxnSpPr>
          <p:cNvPr id="28" name="직선 연결선 27">
            <a:extLst>
              <a:ext uri="{FF2B5EF4-FFF2-40B4-BE49-F238E27FC236}">
                <a16:creationId xmlns:a16="http://schemas.microsoft.com/office/drawing/2014/main" id="{2B011A1D-8A92-563A-C63D-34F494C9D463}"/>
              </a:ext>
            </a:extLst>
          </p:cNvPr>
          <p:cNvCxnSpPr>
            <a:cxnSpLocks/>
            <a:endCxn id="56" idx="4"/>
          </p:cNvCxnSpPr>
          <p:nvPr/>
        </p:nvCxnSpPr>
        <p:spPr>
          <a:xfrm flipV="1">
            <a:off x="3272420" y="2900146"/>
            <a:ext cx="572" cy="976067"/>
          </a:xfrm>
          <a:prstGeom prst="line">
            <a:avLst/>
          </a:prstGeom>
          <a:noFill/>
          <a:ln w="12700" cap="flat" cmpd="sng" algn="ctr">
            <a:solidFill>
              <a:sysClr val="windowText" lastClr="000000"/>
            </a:solidFill>
            <a:prstDash val="solid"/>
            <a:miter lim="800000"/>
          </a:ln>
          <a:effectLst/>
        </p:spPr>
      </p:cxnSp>
      <p:cxnSp>
        <p:nvCxnSpPr>
          <p:cNvPr id="29" name="직선 연결선 28">
            <a:extLst>
              <a:ext uri="{FF2B5EF4-FFF2-40B4-BE49-F238E27FC236}">
                <a16:creationId xmlns:a16="http://schemas.microsoft.com/office/drawing/2014/main" id="{9A2506C4-9F7F-F623-F143-88B9A3857337}"/>
              </a:ext>
            </a:extLst>
          </p:cNvPr>
          <p:cNvCxnSpPr/>
          <p:nvPr/>
        </p:nvCxnSpPr>
        <p:spPr>
          <a:xfrm flipH="1" flipV="1">
            <a:off x="3766377" y="3345042"/>
            <a:ext cx="0" cy="410654"/>
          </a:xfrm>
          <a:prstGeom prst="line">
            <a:avLst/>
          </a:prstGeom>
          <a:noFill/>
          <a:ln w="12700" cap="flat" cmpd="sng" algn="ctr">
            <a:solidFill>
              <a:sysClr val="windowText" lastClr="000000"/>
            </a:solidFill>
            <a:prstDash val="solid"/>
            <a:miter lim="800000"/>
          </a:ln>
          <a:effectLst/>
        </p:spPr>
      </p:cxnSp>
      <p:cxnSp>
        <p:nvCxnSpPr>
          <p:cNvPr id="30" name="직선 연결선 29">
            <a:extLst>
              <a:ext uri="{FF2B5EF4-FFF2-40B4-BE49-F238E27FC236}">
                <a16:creationId xmlns:a16="http://schemas.microsoft.com/office/drawing/2014/main" id="{3FA0BA71-88B8-C0C4-EECF-4986362D808A}"/>
              </a:ext>
            </a:extLst>
          </p:cNvPr>
          <p:cNvCxnSpPr/>
          <p:nvPr/>
        </p:nvCxnSpPr>
        <p:spPr>
          <a:xfrm flipV="1">
            <a:off x="3952264" y="3625271"/>
            <a:ext cx="0" cy="122587"/>
          </a:xfrm>
          <a:prstGeom prst="line">
            <a:avLst/>
          </a:prstGeom>
          <a:noFill/>
          <a:ln w="12700" cap="flat" cmpd="sng" algn="ctr">
            <a:solidFill>
              <a:sysClr val="windowText" lastClr="000000"/>
            </a:solidFill>
            <a:prstDash val="solid"/>
            <a:miter lim="800000"/>
          </a:ln>
          <a:effectLst/>
        </p:spPr>
      </p:cxnSp>
      <p:cxnSp>
        <p:nvCxnSpPr>
          <p:cNvPr id="31" name="직선 연결선 30">
            <a:extLst>
              <a:ext uri="{FF2B5EF4-FFF2-40B4-BE49-F238E27FC236}">
                <a16:creationId xmlns:a16="http://schemas.microsoft.com/office/drawing/2014/main" id="{AF4AD7D5-3F1E-C763-8839-EC6EE33D8F56}"/>
              </a:ext>
            </a:extLst>
          </p:cNvPr>
          <p:cNvCxnSpPr>
            <a:cxnSpLocks/>
            <a:endCxn id="102" idx="6"/>
          </p:cNvCxnSpPr>
          <p:nvPr/>
        </p:nvCxnSpPr>
        <p:spPr>
          <a:xfrm>
            <a:off x="2766076" y="3358338"/>
            <a:ext cx="1982731" cy="10629"/>
          </a:xfrm>
          <a:prstGeom prst="line">
            <a:avLst/>
          </a:prstGeom>
          <a:noFill/>
          <a:ln w="12700" cap="flat" cmpd="sng" algn="ctr">
            <a:solidFill>
              <a:sysClr val="windowText" lastClr="000000"/>
            </a:solidFill>
            <a:prstDash val="solid"/>
            <a:miter lim="800000"/>
          </a:ln>
          <a:effectLst/>
        </p:spPr>
      </p:cxnSp>
      <p:cxnSp>
        <p:nvCxnSpPr>
          <p:cNvPr id="32" name="직선 연결선 31">
            <a:extLst>
              <a:ext uri="{FF2B5EF4-FFF2-40B4-BE49-F238E27FC236}">
                <a16:creationId xmlns:a16="http://schemas.microsoft.com/office/drawing/2014/main" id="{101E3F5B-D3C7-1509-597E-8850663EAE12}"/>
              </a:ext>
            </a:extLst>
          </p:cNvPr>
          <p:cNvCxnSpPr/>
          <p:nvPr/>
        </p:nvCxnSpPr>
        <p:spPr>
          <a:xfrm>
            <a:off x="1859988" y="3637166"/>
            <a:ext cx="363885" cy="0"/>
          </a:xfrm>
          <a:prstGeom prst="line">
            <a:avLst/>
          </a:prstGeom>
          <a:noFill/>
          <a:ln w="12700" cap="flat" cmpd="sng" algn="ctr">
            <a:solidFill>
              <a:sysClr val="windowText" lastClr="000000"/>
            </a:solidFill>
            <a:prstDash val="solid"/>
            <a:miter lim="800000"/>
          </a:ln>
          <a:effectLst/>
        </p:spPr>
      </p:cxnSp>
      <p:cxnSp>
        <p:nvCxnSpPr>
          <p:cNvPr id="33" name="직선 연결선 32">
            <a:extLst>
              <a:ext uri="{FF2B5EF4-FFF2-40B4-BE49-F238E27FC236}">
                <a16:creationId xmlns:a16="http://schemas.microsoft.com/office/drawing/2014/main" id="{38DC5A44-CFA6-F31E-ADF5-37A404FA3E40}"/>
              </a:ext>
            </a:extLst>
          </p:cNvPr>
          <p:cNvCxnSpPr/>
          <p:nvPr/>
        </p:nvCxnSpPr>
        <p:spPr>
          <a:xfrm>
            <a:off x="1837483" y="3361287"/>
            <a:ext cx="661609" cy="0"/>
          </a:xfrm>
          <a:prstGeom prst="line">
            <a:avLst/>
          </a:prstGeom>
          <a:noFill/>
          <a:ln w="12700" cap="flat" cmpd="sng" algn="ctr">
            <a:solidFill>
              <a:sysClr val="windowText" lastClr="000000"/>
            </a:solidFill>
            <a:prstDash val="solid"/>
            <a:miter lim="800000"/>
          </a:ln>
          <a:effectLst/>
        </p:spPr>
      </p:cxnSp>
      <p:cxnSp>
        <p:nvCxnSpPr>
          <p:cNvPr id="34" name="직선 연결선 33">
            <a:extLst>
              <a:ext uri="{FF2B5EF4-FFF2-40B4-BE49-F238E27FC236}">
                <a16:creationId xmlns:a16="http://schemas.microsoft.com/office/drawing/2014/main" id="{F73544B6-8D92-D96E-4B7C-88D5B6FDF503}"/>
              </a:ext>
            </a:extLst>
          </p:cNvPr>
          <p:cNvCxnSpPr/>
          <p:nvPr/>
        </p:nvCxnSpPr>
        <p:spPr>
          <a:xfrm>
            <a:off x="3762689" y="3988994"/>
            <a:ext cx="198483" cy="0"/>
          </a:xfrm>
          <a:prstGeom prst="line">
            <a:avLst/>
          </a:prstGeom>
          <a:noFill/>
          <a:ln w="12700" cap="flat" cmpd="sng" algn="ctr">
            <a:solidFill>
              <a:sysClr val="windowText" lastClr="000000"/>
            </a:solidFill>
            <a:prstDash val="solid"/>
            <a:miter lim="800000"/>
          </a:ln>
          <a:effectLst/>
        </p:spPr>
      </p:cxnSp>
      <p:cxnSp>
        <p:nvCxnSpPr>
          <p:cNvPr id="35" name="직선 연결선 34">
            <a:extLst>
              <a:ext uri="{FF2B5EF4-FFF2-40B4-BE49-F238E27FC236}">
                <a16:creationId xmlns:a16="http://schemas.microsoft.com/office/drawing/2014/main" id="{96B9D91D-2201-42C1-7EA3-88AA6E8FD427}"/>
              </a:ext>
            </a:extLst>
          </p:cNvPr>
          <p:cNvCxnSpPr/>
          <p:nvPr/>
        </p:nvCxnSpPr>
        <p:spPr>
          <a:xfrm flipH="1">
            <a:off x="2599723" y="3488360"/>
            <a:ext cx="0" cy="615980"/>
          </a:xfrm>
          <a:prstGeom prst="line">
            <a:avLst/>
          </a:prstGeom>
          <a:noFill/>
          <a:ln w="6350" cap="flat" cmpd="sng" algn="ctr">
            <a:solidFill>
              <a:sysClr val="windowText" lastClr="000000"/>
            </a:solidFill>
            <a:prstDash val="solid"/>
            <a:miter lim="800000"/>
          </a:ln>
          <a:effectLst/>
        </p:spPr>
      </p:cxnSp>
      <p:cxnSp>
        <p:nvCxnSpPr>
          <p:cNvPr id="36" name="직선 연결선 35">
            <a:extLst>
              <a:ext uri="{FF2B5EF4-FFF2-40B4-BE49-F238E27FC236}">
                <a16:creationId xmlns:a16="http://schemas.microsoft.com/office/drawing/2014/main" id="{2C6E3E90-77EC-BDB9-785F-0B3A7255BF71}"/>
              </a:ext>
            </a:extLst>
          </p:cNvPr>
          <p:cNvCxnSpPr/>
          <p:nvPr/>
        </p:nvCxnSpPr>
        <p:spPr>
          <a:xfrm>
            <a:off x="1882850" y="4105254"/>
            <a:ext cx="727769" cy="0"/>
          </a:xfrm>
          <a:prstGeom prst="line">
            <a:avLst/>
          </a:prstGeom>
          <a:noFill/>
          <a:ln w="6350" cap="flat" cmpd="sng" algn="ctr">
            <a:solidFill>
              <a:sysClr val="windowText" lastClr="000000"/>
            </a:solidFill>
            <a:prstDash val="solid"/>
            <a:miter lim="800000"/>
          </a:ln>
          <a:effectLst/>
        </p:spPr>
      </p:cxnSp>
      <p:cxnSp>
        <p:nvCxnSpPr>
          <p:cNvPr id="37" name="직선 연결선 36">
            <a:extLst>
              <a:ext uri="{FF2B5EF4-FFF2-40B4-BE49-F238E27FC236}">
                <a16:creationId xmlns:a16="http://schemas.microsoft.com/office/drawing/2014/main" id="{12EC36B6-222E-CDD2-0B57-661C2EE39F6E}"/>
              </a:ext>
            </a:extLst>
          </p:cNvPr>
          <p:cNvCxnSpPr/>
          <p:nvPr/>
        </p:nvCxnSpPr>
        <p:spPr>
          <a:xfrm>
            <a:off x="1864511" y="3908644"/>
            <a:ext cx="545827" cy="0"/>
          </a:xfrm>
          <a:prstGeom prst="line">
            <a:avLst/>
          </a:prstGeom>
          <a:noFill/>
          <a:ln w="6350" cap="flat" cmpd="sng" algn="ctr">
            <a:solidFill>
              <a:sysClr val="windowText" lastClr="000000"/>
            </a:solidFill>
            <a:prstDash val="solid"/>
            <a:miter lim="800000"/>
          </a:ln>
          <a:effectLst/>
        </p:spPr>
      </p:cxnSp>
      <p:sp>
        <p:nvSpPr>
          <p:cNvPr id="38" name="TextBox 121">
            <a:extLst>
              <a:ext uri="{FF2B5EF4-FFF2-40B4-BE49-F238E27FC236}">
                <a16:creationId xmlns:a16="http://schemas.microsoft.com/office/drawing/2014/main" id="{366AB6AF-EEEE-5643-EEA3-E8BD26B0B889}"/>
              </a:ext>
            </a:extLst>
          </p:cNvPr>
          <p:cNvSpPr txBox="1"/>
          <p:nvPr/>
        </p:nvSpPr>
        <p:spPr>
          <a:xfrm>
            <a:off x="1897021" y="3781585"/>
            <a:ext cx="279223"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GATE3</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39" name="TextBox 122">
            <a:extLst>
              <a:ext uri="{FF2B5EF4-FFF2-40B4-BE49-F238E27FC236}">
                <a16:creationId xmlns:a16="http://schemas.microsoft.com/office/drawing/2014/main" id="{400F1DC5-BC6E-27B4-D31A-F6AA4FEF2B18}"/>
              </a:ext>
            </a:extLst>
          </p:cNvPr>
          <p:cNvSpPr txBox="1"/>
          <p:nvPr/>
        </p:nvSpPr>
        <p:spPr>
          <a:xfrm>
            <a:off x="1899521" y="3978989"/>
            <a:ext cx="279223"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GATE2</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40" name="TextBox 123">
            <a:extLst>
              <a:ext uri="{FF2B5EF4-FFF2-40B4-BE49-F238E27FC236}">
                <a16:creationId xmlns:a16="http://schemas.microsoft.com/office/drawing/2014/main" id="{2CE10169-AF93-9202-6286-94CA7AF8694A}"/>
              </a:ext>
            </a:extLst>
          </p:cNvPr>
          <p:cNvSpPr txBox="1"/>
          <p:nvPr/>
        </p:nvSpPr>
        <p:spPr>
          <a:xfrm>
            <a:off x="1855980" y="2710566"/>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VLED1</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41" name="TextBox 124">
            <a:extLst>
              <a:ext uri="{FF2B5EF4-FFF2-40B4-BE49-F238E27FC236}">
                <a16:creationId xmlns:a16="http://schemas.microsoft.com/office/drawing/2014/main" id="{E69C157F-9509-13A1-7F69-C43F4E80E235}"/>
              </a:ext>
            </a:extLst>
          </p:cNvPr>
          <p:cNvSpPr txBox="1"/>
          <p:nvPr/>
        </p:nvSpPr>
        <p:spPr>
          <a:xfrm>
            <a:off x="1864511" y="3217233"/>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a:t>
            </a:r>
            <a:r>
              <a:rPr lang="en-US" altLang="ko-KR" sz="900" kern="0" dirty="0">
                <a:solidFill>
                  <a:sysClr val="windowText" lastClr="000000"/>
                </a:solidFill>
                <a:latin typeface="Aptos Narrow" panose="02110004020202020204"/>
                <a:ea typeface="맑은 고딕" panose="020B0503020000020004" pitchFamily="50" charset="-127"/>
              </a:rPr>
              <a:t>2</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42" name="TextBox 125">
            <a:extLst>
              <a:ext uri="{FF2B5EF4-FFF2-40B4-BE49-F238E27FC236}">
                <a16:creationId xmlns:a16="http://schemas.microsoft.com/office/drawing/2014/main" id="{2B933E38-AE7C-3DD2-01DD-AD9D1111B48B}"/>
              </a:ext>
            </a:extLst>
          </p:cNvPr>
          <p:cNvSpPr txBox="1"/>
          <p:nvPr/>
        </p:nvSpPr>
        <p:spPr>
          <a:xfrm>
            <a:off x="1875347" y="3498215"/>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a:t>
            </a:r>
            <a:r>
              <a:rPr lang="en-US" altLang="ko-KR" sz="900" kern="0" dirty="0">
                <a:solidFill>
                  <a:sysClr val="windowText" lastClr="000000"/>
                </a:solidFill>
                <a:latin typeface="Aptos Narrow" panose="02110004020202020204"/>
                <a:ea typeface="맑은 고딕" panose="020B0503020000020004" pitchFamily="50" charset="-127"/>
              </a:rPr>
              <a:t>3</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54" name="타원 53">
            <a:extLst>
              <a:ext uri="{FF2B5EF4-FFF2-40B4-BE49-F238E27FC236}">
                <a16:creationId xmlns:a16="http://schemas.microsoft.com/office/drawing/2014/main" id="{3DDA4A45-9395-093E-6B06-ACCC2AE63176}"/>
              </a:ext>
            </a:extLst>
          </p:cNvPr>
          <p:cNvSpPr/>
          <p:nvPr/>
        </p:nvSpPr>
        <p:spPr>
          <a:xfrm>
            <a:off x="3923089" y="3609352"/>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55" name="타원 54">
            <a:extLst>
              <a:ext uri="{FF2B5EF4-FFF2-40B4-BE49-F238E27FC236}">
                <a16:creationId xmlns:a16="http://schemas.microsoft.com/office/drawing/2014/main" id="{73DDA579-1BE6-DD62-B8EC-1014973ED7AB}"/>
              </a:ext>
            </a:extLst>
          </p:cNvPr>
          <p:cNvSpPr/>
          <p:nvPr/>
        </p:nvSpPr>
        <p:spPr>
          <a:xfrm>
            <a:off x="3733868" y="3333145"/>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56" name="타원 55">
            <a:extLst>
              <a:ext uri="{FF2B5EF4-FFF2-40B4-BE49-F238E27FC236}">
                <a16:creationId xmlns:a16="http://schemas.microsoft.com/office/drawing/2014/main" id="{1C782AB9-10F6-5FAE-4283-AEA3C12CD900}"/>
              </a:ext>
            </a:extLst>
          </p:cNvPr>
          <p:cNvSpPr/>
          <p:nvPr/>
        </p:nvSpPr>
        <p:spPr>
          <a:xfrm>
            <a:off x="3239911" y="2836969"/>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57" name="타원 56">
            <a:extLst>
              <a:ext uri="{FF2B5EF4-FFF2-40B4-BE49-F238E27FC236}">
                <a16:creationId xmlns:a16="http://schemas.microsoft.com/office/drawing/2014/main" id="{92BEC08E-7432-720E-4ADB-8977E25B8037}"/>
              </a:ext>
            </a:extLst>
          </p:cNvPr>
          <p:cNvSpPr/>
          <p:nvPr/>
        </p:nvSpPr>
        <p:spPr>
          <a:xfrm>
            <a:off x="3829729" y="3961974"/>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61" name="직선 연결선 60">
            <a:extLst>
              <a:ext uri="{FF2B5EF4-FFF2-40B4-BE49-F238E27FC236}">
                <a16:creationId xmlns:a16="http://schemas.microsoft.com/office/drawing/2014/main" id="{34EC8B27-F43B-78BB-E280-62DF2AC1EC18}"/>
              </a:ext>
            </a:extLst>
          </p:cNvPr>
          <p:cNvCxnSpPr/>
          <p:nvPr/>
        </p:nvCxnSpPr>
        <p:spPr>
          <a:xfrm flipH="1" flipV="1">
            <a:off x="3867239" y="3990585"/>
            <a:ext cx="0" cy="189533"/>
          </a:xfrm>
          <a:prstGeom prst="line">
            <a:avLst/>
          </a:prstGeom>
          <a:noFill/>
          <a:ln w="12700" cap="flat" cmpd="sng" algn="ctr">
            <a:solidFill>
              <a:sysClr val="windowText" lastClr="000000"/>
            </a:solidFill>
            <a:prstDash val="solid"/>
            <a:miter lim="800000"/>
          </a:ln>
          <a:effectLst/>
        </p:spPr>
      </p:cxnSp>
      <p:sp>
        <p:nvSpPr>
          <p:cNvPr id="64" name="직사각형 63">
            <a:extLst>
              <a:ext uri="{FF2B5EF4-FFF2-40B4-BE49-F238E27FC236}">
                <a16:creationId xmlns:a16="http://schemas.microsoft.com/office/drawing/2014/main" id="{17578D75-9402-5E4A-7772-EBEF0659B9E0}"/>
              </a:ext>
            </a:extLst>
          </p:cNvPr>
          <p:cNvSpPr/>
          <p:nvPr/>
        </p:nvSpPr>
        <p:spPr>
          <a:xfrm>
            <a:off x="1614847" y="2605617"/>
            <a:ext cx="3566753" cy="2288612"/>
          </a:xfrm>
          <a:prstGeom prst="rect">
            <a:avLst/>
          </a:prstGeom>
          <a:noFill/>
          <a:ln w="3175"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65" name="TextBox 263">
            <a:extLst>
              <a:ext uri="{FF2B5EF4-FFF2-40B4-BE49-F238E27FC236}">
                <a16:creationId xmlns:a16="http://schemas.microsoft.com/office/drawing/2014/main" id="{14CC2FBE-1EC0-3E65-C8CE-0D2E853983C3}"/>
              </a:ext>
            </a:extLst>
          </p:cNvPr>
          <p:cNvSpPr txBox="1"/>
          <p:nvPr/>
        </p:nvSpPr>
        <p:spPr>
          <a:xfrm>
            <a:off x="3876089" y="4471307"/>
            <a:ext cx="323575" cy="136149"/>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XD12R</a:t>
            </a:r>
            <a:endParaRPr kumimoji="0" lang="ko-KR" altLang="en-US" sz="1000" b="1"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66" name="TextBox 65">
            <a:extLst>
              <a:ext uri="{FF2B5EF4-FFF2-40B4-BE49-F238E27FC236}">
                <a16:creationId xmlns:a16="http://schemas.microsoft.com/office/drawing/2014/main" id="{674F8E12-C7BB-7975-AF00-77D2DB3018EA}"/>
              </a:ext>
            </a:extLst>
          </p:cNvPr>
          <p:cNvSpPr txBox="1"/>
          <p:nvPr/>
        </p:nvSpPr>
        <p:spPr>
          <a:xfrm>
            <a:off x="399458" y="1923928"/>
            <a:ext cx="6047999"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Type-B supports dimming 1# LED (RED) and 2# LED (CYAN) and 3# LED(GREEN/BLUE). RED and CYAN dimming can be generated within 1-frame, regardless of SVI.</a:t>
            </a:r>
          </a:p>
        </p:txBody>
      </p:sp>
      <p:sp>
        <p:nvSpPr>
          <p:cNvPr id="67" name="TextBox 66">
            <a:extLst>
              <a:ext uri="{FF2B5EF4-FFF2-40B4-BE49-F238E27FC236}">
                <a16:creationId xmlns:a16="http://schemas.microsoft.com/office/drawing/2014/main" id="{0C501D23-1427-9614-7F19-74FD9636F285}"/>
              </a:ext>
            </a:extLst>
          </p:cNvPr>
          <p:cNvSpPr txBox="1"/>
          <p:nvPr/>
        </p:nvSpPr>
        <p:spPr>
          <a:xfrm>
            <a:off x="1855980" y="8695647"/>
            <a:ext cx="3406061"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8  PWM Dimming sequence @ TYPE-B, LD_DIR = 1</a:t>
            </a:r>
          </a:p>
        </p:txBody>
      </p:sp>
      <p:sp>
        <p:nvSpPr>
          <p:cNvPr id="68" name="이등변 삼각형 67">
            <a:extLst>
              <a:ext uri="{FF2B5EF4-FFF2-40B4-BE49-F238E27FC236}">
                <a16:creationId xmlns:a16="http://schemas.microsoft.com/office/drawing/2014/main" id="{2004BE9E-6146-8FED-ED4D-00AF6AA35B72}"/>
              </a:ext>
            </a:extLst>
          </p:cNvPr>
          <p:cNvSpPr/>
          <p:nvPr/>
        </p:nvSpPr>
        <p:spPr>
          <a:xfrm rot="10800000">
            <a:off x="3187771" y="3748936"/>
            <a:ext cx="165433" cy="94675"/>
          </a:xfrm>
          <a:prstGeom prst="triangle">
            <a:avLst/>
          </a:prstGeom>
          <a:solidFill>
            <a:srgbClr val="FF0000"/>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69" name="이등변 삼각형 68">
            <a:extLst>
              <a:ext uri="{FF2B5EF4-FFF2-40B4-BE49-F238E27FC236}">
                <a16:creationId xmlns:a16="http://schemas.microsoft.com/office/drawing/2014/main" id="{4C000308-274B-95EC-FD72-9ECA487B49FF}"/>
              </a:ext>
            </a:extLst>
          </p:cNvPr>
          <p:cNvSpPr/>
          <p:nvPr/>
        </p:nvSpPr>
        <p:spPr>
          <a:xfrm rot="10800000">
            <a:off x="3686896" y="3755288"/>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0" name="이등변 삼각형 69">
            <a:extLst>
              <a:ext uri="{FF2B5EF4-FFF2-40B4-BE49-F238E27FC236}">
                <a16:creationId xmlns:a16="http://schemas.microsoft.com/office/drawing/2014/main" id="{B1ACC84A-1209-88F0-2248-941268005805}"/>
              </a:ext>
            </a:extLst>
          </p:cNvPr>
          <p:cNvSpPr/>
          <p:nvPr/>
        </p:nvSpPr>
        <p:spPr>
          <a:xfrm rot="10800000">
            <a:off x="3866401" y="3755287"/>
            <a:ext cx="165433" cy="94676"/>
          </a:xfrm>
          <a:prstGeom prst="triangle">
            <a:avLst/>
          </a:prstGeom>
          <a:solidFill>
            <a:srgbClr val="0066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5" name="타원 74">
            <a:extLst>
              <a:ext uri="{FF2B5EF4-FFF2-40B4-BE49-F238E27FC236}">
                <a16:creationId xmlns:a16="http://schemas.microsoft.com/office/drawing/2014/main" id="{D0B929BE-AEAD-78DF-FAEF-73CD342F04D9}"/>
              </a:ext>
            </a:extLst>
          </p:cNvPr>
          <p:cNvSpPr/>
          <p:nvPr/>
        </p:nvSpPr>
        <p:spPr>
          <a:xfrm>
            <a:off x="3487562" y="3071917"/>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76" name="직선 연결선 75">
            <a:extLst>
              <a:ext uri="{FF2B5EF4-FFF2-40B4-BE49-F238E27FC236}">
                <a16:creationId xmlns:a16="http://schemas.microsoft.com/office/drawing/2014/main" id="{7EB46E6F-EC26-1038-E67A-EF434EC3F5A6}"/>
              </a:ext>
            </a:extLst>
          </p:cNvPr>
          <p:cNvCxnSpPr>
            <a:cxnSpLocks/>
            <a:endCxn id="75" idx="0"/>
          </p:cNvCxnSpPr>
          <p:nvPr/>
        </p:nvCxnSpPr>
        <p:spPr>
          <a:xfrm flipV="1">
            <a:off x="3513901" y="3071917"/>
            <a:ext cx="6742" cy="679137"/>
          </a:xfrm>
          <a:prstGeom prst="line">
            <a:avLst/>
          </a:prstGeom>
          <a:noFill/>
          <a:ln w="12700" cap="flat" cmpd="sng" algn="ctr">
            <a:solidFill>
              <a:sysClr val="windowText" lastClr="000000"/>
            </a:solidFill>
            <a:prstDash val="solid"/>
            <a:miter lim="800000"/>
          </a:ln>
          <a:effectLst/>
        </p:spPr>
      </p:cxnSp>
      <p:cxnSp>
        <p:nvCxnSpPr>
          <p:cNvPr id="78" name="직선 연결선 77">
            <a:extLst>
              <a:ext uri="{FF2B5EF4-FFF2-40B4-BE49-F238E27FC236}">
                <a16:creationId xmlns:a16="http://schemas.microsoft.com/office/drawing/2014/main" id="{86A8B3B3-6051-CEE6-30CF-783B769D6891}"/>
              </a:ext>
            </a:extLst>
          </p:cNvPr>
          <p:cNvCxnSpPr>
            <a:cxnSpLocks/>
            <a:endCxn id="109" idx="2"/>
          </p:cNvCxnSpPr>
          <p:nvPr/>
        </p:nvCxnSpPr>
        <p:spPr>
          <a:xfrm flipV="1">
            <a:off x="1807555" y="3107739"/>
            <a:ext cx="2628785" cy="2863"/>
          </a:xfrm>
          <a:prstGeom prst="line">
            <a:avLst/>
          </a:prstGeom>
          <a:noFill/>
          <a:ln w="12700" cap="flat" cmpd="sng" algn="ctr">
            <a:solidFill>
              <a:sysClr val="windowText" lastClr="000000"/>
            </a:solidFill>
            <a:prstDash val="solid"/>
            <a:miter lim="800000"/>
          </a:ln>
          <a:effectLst/>
        </p:spPr>
      </p:cxnSp>
      <p:sp>
        <p:nvSpPr>
          <p:cNvPr id="79" name="TextBox 123">
            <a:extLst>
              <a:ext uri="{FF2B5EF4-FFF2-40B4-BE49-F238E27FC236}">
                <a16:creationId xmlns:a16="http://schemas.microsoft.com/office/drawing/2014/main" id="{8B7736BF-3AD2-A169-872C-785818DCEDE7}"/>
              </a:ext>
            </a:extLst>
          </p:cNvPr>
          <p:cNvSpPr txBox="1"/>
          <p:nvPr/>
        </p:nvSpPr>
        <p:spPr>
          <a:xfrm>
            <a:off x="1864450" y="2960331"/>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a:t>
            </a:r>
            <a:r>
              <a:rPr lang="en-US" altLang="ko-KR" sz="900" kern="0" dirty="0">
                <a:solidFill>
                  <a:sysClr val="windowText" lastClr="000000"/>
                </a:solidFill>
                <a:latin typeface="Aptos Narrow" panose="02110004020202020204"/>
                <a:ea typeface="맑은 고딕" panose="020B0503020000020004" pitchFamily="50" charset="-127"/>
              </a:rPr>
              <a:t>4</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80" name="이등변 삼각형 79">
            <a:extLst>
              <a:ext uri="{FF2B5EF4-FFF2-40B4-BE49-F238E27FC236}">
                <a16:creationId xmlns:a16="http://schemas.microsoft.com/office/drawing/2014/main" id="{344FE4EC-D7F7-B9FA-10C4-81631A414CF6}"/>
              </a:ext>
            </a:extLst>
          </p:cNvPr>
          <p:cNvSpPr/>
          <p:nvPr/>
        </p:nvSpPr>
        <p:spPr>
          <a:xfrm rot="10800000">
            <a:off x="3435419" y="3759522"/>
            <a:ext cx="165433" cy="94675"/>
          </a:xfrm>
          <a:prstGeom prst="triangle">
            <a:avLst/>
          </a:prstGeom>
          <a:solidFill>
            <a:srgbClr val="00FFFF"/>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82" name="직선 연결선 81">
            <a:extLst>
              <a:ext uri="{FF2B5EF4-FFF2-40B4-BE49-F238E27FC236}">
                <a16:creationId xmlns:a16="http://schemas.microsoft.com/office/drawing/2014/main" id="{79A5BA99-82BF-86E5-7290-34325BC7CC69}"/>
              </a:ext>
            </a:extLst>
          </p:cNvPr>
          <p:cNvCxnSpPr/>
          <p:nvPr/>
        </p:nvCxnSpPr>
        <p:spPr>
          <a:xfrm>
            <a:off x="3428525" y="3868004"/>
            <a:ext cx="179219" cy="0"/>
          </a:xfrm>
          <a:prstGeom prst="line">
            <a:avLst/>
          </a:prstGeom>
          <a:noFill/>
          <a:ln w="19050" cap="flat" cmpd="sng" algn="ctr">
            <a:solidFill>
              <a:sysClr val="windowText" lastClr="000000"/>
            </a:solidFill>
            <a:prstDash val="solid"/>
            <a:miter lim="800000"/>
          </a:ln>
          <a:effectLst/>
        </p:spPr>
      </p:cxnSp>
      <p:sp>
        <p:nvSpPr>
          <p:cNvPr id="83" name="TextBox 126">
            <a:extLst>
              <a:ext uri="{FF2B5EF4-FFF2-40B4-BE49-F238E27FC236}">
                <a16:creationId xmlns:a16="http://schemas.microsoft.com/office/drawing/2014/main" id="{42953FBD-5CB7-614C-BCB7-2C9E040A3D8B}"/>
              </a:ext>
            </a:extLst>
          </p:cNvPr>
          <p:cNvSpPr txBox="1"/>
          <p:nvPr/>
        </p:nvSpPr>
        <p:spPr>
          <a:xfrm>
            <a:off x="3210736" y="4216192"/>
            <a:ext cx="17864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kumimoji="0" lang="en-US" altLang="ko-KR" sz="900" b="0" i="0" u="none" strike="noStrike" kern="0" cap="none" spc="0" normalizeH="0" baseline="-25000" noProof="0" dirty="0">
                <a:ln>
                  <a:noFill/>
                </a:ln>
                <a:solidFill>
                  <a:sysClr val="windowText" lastClr="000000"/>
                </a:solidFill>
                <a:effectLst/>
                <a:uLnTx/>
                <a:uFillTx/>
                <a:latin typeface="Aptos Narrow" panose="02110004020202020204"/>
                <a:ea typeface="맑은 고딕" panose="020B0503020000020004" pitchFamily="50" charset="-127"/>
                <a:cs typeface="+mn-cs"/>
              </a:rPr>
              <a:t>A</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84" name="TextBox 136">
            <a:extLst>
              <a:ext uri="{FF2B5EF4-FFF2-40B4-BE49-F238E27FC236}">
                <a16:creationId xmlns:a16="http://schemas.microsoft.com/office/drawing/2014/main" id="{45D99D59-78E0-F49D-3C4A-4458453D9C11}"/>
              </a:ext>
            </a:extLst>
          </p:cNvPr>
          <p:cNvSpPr txBox="1"/>
          <p:nvPr/>
        </p:nvSpPr>
        <p:spPr>
          <a:xfrm>
            <a:off x="3467476" y="4214601"/>
            <a:ext cx="28611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lang="en-US" altLang="ko-KR" sz="900" kern="0" baseline="-25000" dirty="0">
                <a:solidFill>
                  <a:sysClr val="windowText" lastClr="000000"/>
                </a:solidFill>
                <a:latin typeface="Aptos Narrow" panose="02110004020202020204"/>
                <a:ea typeface="맑은 고딕" panose="020B0503020000020004" pitchFamily="50" charset="-127"/>
              </a:rPr>
              <a:t>B</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85" name="TextBox 145">
            <a:extLst>
              <a:ext uri="{FF2B5EF4-FFF2-40B4-BE49-F238E27FC236}">
                <a16:creationId xmlns:a16="http://schemas.microsoft.com/office/drawing/2014/main" id="{032D3EA9-8410-AEA0-F8D3-FECB9B3D94F2}"/>
              </a:ext>
            </a:extLst>
          </p:cNvPr>
          <p:cNvSpPr txBox="1"/>
          <p:nvPr/>
        </p:nvSpPr>
        <p:spPr>
          <a:xfrm>
            <a:off x="3748337" y="4218579"/>
            <a:ext cx="17864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kumimoji="0" lang="en-US" altLang="ko-KR" sz="900" b="0" i="0" u="none" strike="noStrike" kern="0" cap="none" spc="0" normalizeH="0" baseline="-25000" noProof="0" dirty="0">
                <a:ln>
                  <a:noFill/>
                </a:ln>
                <a:solidFill>
                  <a:sysClr val="windowText" lastClr="000000"/>
                </a:solidFill>
                <a:effectLst/>
                <a:uLnTx/>
                <a:uFillTx/>
                <a:latin typeface="Aptos Narrow" panose="02110004020202020204"/>
                <a:ea typeface="맑은 고딕" panose="020B0503020000020004" pitchFamily="50" charset="-127"/>
                <a:cs typeface="+mn-cs"/>
              </a:rPr>
              <a:t>C</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86" name="TextBox 146">
            <a:extLst>
              <a:ext uri="{FF2B5EF4-FFF2-40B4-BE49-F238E27FC236}">
                <a16:creationId xmlns:a16="http://schemas.microsoft.com/office/drawing/2014/main" id="{7887B04D-29B7-E7E6-5567-6C536029B199}"/>
              </a:ext>
            </a:extLst>
          </p:cNvPr>
          <p:cNvSpPr txBox="1"/>
          <p:nvPr/>
        </p:nvSpPr>
        <p:spPr>
          <a:xfrm>
            <a:off x="4123611" y="4216988"/>
            <a:ext cx="28611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kumimoji="0" lang="en-US" altLang="ko-KR" sz="900" b="0" i="0" u="none" strike="noStrike" kern="0" cap="none" spc="0" normalizeH="0" baseline="-25000" noProof="0" dirty="0">
                <a:ln>
                  <a:noFill/>
                </a:ln>
                <a:solidFill>
                  <a:sysClr val="windowText" lastClr="000000"/>
                </a:solidFill>
                <a:effectLst/>
                <a:uLnTx/>
                <a:uFillTx/>
                <a:latin typeface="Aptos Narrow" panose="02110004020202020204"/>
                <a:ea typeface="맑은 고딕" panose="020B0503020000020004" pitchFamily="50" charset="-127"/>
                <a:cs typeface="+mn-cs"/>
              </a:rPr>
              <a:t>D</a:t>
            </a:r>
            <a:endParaRPr kumimoji="0" lang="ko-KR" altLang="en-US" sz="900" b="0" i="0" u="none" strike="noStrike" kern="0" cap="none" spc="0" normalizeH="0" baseline="-2500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cxnSp>
        <p:nvCxnSpPr>
          <p:cNvPr id="87" name="직선 연결선 86">
            <a:extLst>
              <a:ext uri="{FF2B5EF4-FFF2-40B4-BE49-F238E27FC236}">
                <a16:creationId xmlns:a16="http://schemas.microsoft.com/office/drawing/2014/main" id="{4FD7DE02-2572-BBD5-5E02-DA3F1F4FAED8}"/>
              </a:ext>
            </a:extLst>
          </p:cNvPr>
          <p:cNvCxnSpPr/>
          <p:nvPr/>
        </p:nvCxnSpPr>
        <p:spPr>
          <a:xfrm flipH="1" flipV="1">
            <a:off x="3530023" y="3877184"/>
            <a:ext cx="0" cy="315887"/>
          </a:xfrm>
          <a:prstGeom prst="line">
            <a:avLst/>
          </a:prstGeom>
          <a:noFill/>
          <a:ln w="12700" cap="flat" cmpd="sng" algn="ctr">
            <a:solidFill>
              <a:sysClr val="windowText" lastClr="000000"/>
            </a:solidFill>
            <a:prstDash val="solid"/>
            <a:miter lim="800000"/>
          </a:ln>
          <a:effectLst/>
        </p:spPr>
      </p:cxnSp>
      <p:sp>
        <p:nvSpPr>
          <p:cNvPr id="89" name="TextBox 126">
            <a:extLst>
              <a:ext uri="{FF2B5EF4-FFF2-40B4-BE49-F238E27FC236}">
                <a16:creationId xmlns:a16="http://schemas.microsoft.com/office/drawing/2014/main" id="{D9D6A5A0-6062-1CB8-F464-9ECA8545A5C7}"/>
              </a:ext>
            </a:extLst>
          </p:cNvPr>
          <p:cNvSpPr txBox="1"/>
          <p:nvPr/>
        </p:nvSpPr>
        <p:spPr>
          <a:xfrm>
            <a:off x="4420893" y="4215236"/>
            <a:ext cx="17864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lang="en-US" altLang="ko-KR" sz="900" kern="0" baseline="-25000" dirty="0">
                <a:solidFill>
                  <a:sysClr val="windowText" lastClr="000000"/>
                </a:solidFill>
                <a:latin typeface="Aptos Narrow" panose="02110004020202020204"/>
                <a:ea typeface="맑은 고딕" panose="020B0503020000020004" pitchFamily="50" charset="-127"/>
              </a:rPr>
              <a:t>E</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90" name="TextBox 136">
            <a:extLst>
              <a:ext uri="{FF2B5EF4-FFF2-40B4-BE49-F238E27FC236}">
                <a16:creationId xmlns:a16="http://schemas.microsoft.com/office/drawing/2014/main" id="{D41D6A28-23F5-E690-848F-48491A0C3509}"/>
              </a:ext>
            </a:extLst>
          </p:cNvPr>
          <p:cNvSpPr txBox="1"/>
          <p:nvPr/>
        </p:nvSpPr>
        <p:spPr>
          <a:xfrm>
            <a:off x="4677633" y="4213645"/>
            <a:ext cx="259203" cy="123609"/>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kumimoji="0" lang="en-US" altLang="ko-KR" sz="900" b="0" i="0" u="none" strike="noStrike" kern="0" cap="none" spc="0" normalizeH="0" baseline="-25000" noProof="0" dirty="0">
                <a:ln>
                  <a:noFill/>
                </a:ln>
                <a:solidFill>
                  <a:sysClr val="windowText" lastClr="000000"/>
                </a:solidFill>
                <a:effectLst/>
                <a:uLnTx/>
                <a:uFillTx/>
                <a:latin typeface="Aptos Narrow" panose="02110004020202020204"/>
                <a:ea typeface="맑은 고딕" panose="020B0503020000020004" pitchFamily="50" charset="-127"/>
                <a:cs typeface="+mn-cs"/>
              </a:rPr>
              <a:t>F</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cxnSp>
        <p:nvCxnSpPr>
          <p:cNvPr id="91" name="직선 연결선 90">
            <a:extLst>
              <a:ext uri="{FF2B5EF4-FFF2-40B4-BE49-F238E27FC236}">
                <a16:creationId xmlns:a16="http://schemas.microsoft.com/office/drawing/2014/main" id="{A9A7121B-0749-C1EC-A14E-F7DE7721E88F}"/>
              </a:ext>
            </a:extLst>
          </p:cNvPr>
          <p:cNvCxnSpPr/>
          <p:nvPr/>
        </p:nvCxnSpPr>
        <p:spPr>
          <a:xfrm>
            <a:off x="4128848" y="3864320"/>
            <a:ext cx="179219" cy="0"/>
          </a:xfrm>
          <a:prstGeom prst="line">
            <a:avLst/>
          </a:prstGeom>
          <a:noFill/>
          <a:ln w="19050" cap="flat" cmpd="sng" algn="ctr">
            <a:solidFill>
              <a:sysClr val="windowText" lastClr="000000"/>
            </a:solidFill>
            <a:prstDash val="solid"/>
            <a:miter lim="800000"/>
          </a:ln>
          <a:effectLst/>
        </p:spPr>
      </p:cxnSp>
      <p:cxnSp>
        <p:nvCxnSpPr>
          <p:cNvPr id="92" name="직선 연결선 91">
            <a:extLst>
              <a:ext uri="{FF2B5EF4-FFF2-40B4-BE49-F238E27FC236}">
                <a16:creationId xmlns:a16="http://schemas.microsoft.com/office/drawing/2014/main" id="{B6BCE2DC-A82D-E388-BB17-A707143B76A0}"/>
              </a:ext>
            </a:extLst>
          </p:cNvPr>
          <p:cNvCxnSpPr/>
          <p:nvPr/>
        </p:nvCxnSpPr>
        <p:spPr>
          <a:xfrm>
            <a:off x="4615377" y="3864319"/>
            <a:ext cx="179219" cy="0"/>
          </a:xfrm>
          <a:prstGeom prst="line">
            <a:avLst/>
          </a:prstGeom>
          <a:noFill/>
          <a:ln w="19050" cap="flat" cmpd="sng" algn="ctr">
            <a:solidFill>
              <a:sysClr val="windowText" lastClr="000000"/>
            </a:solidFill>
            <a:prstDash val="solid"/>
            <a:miter lim="800000"/>
          </a:ln>
          <a:effectLst/>
        </p:spPr>
      </p:cxnSp>
      <p:cxnSp>
        <p:nvCxnSpPr>
          <p:cNvPr id="93" name="직선 연결선 92">
            <a:extLst>
              <a:ext uri="{FF2B5EF4-FFF2-40B4-BE49-F238E27FC236}">
                <a16:creationId xmlns:a16="http://schemas.microsoft.com/office/drawing/2014/main" id="{5C47D1AF-EC04-5120-2054-75653AA2310F}"/>
              </a:ext>
            </a:extLst>
          </p:cNvPr>
          <p:cNvCxnSpPr/>
          <p:nvPr/>
        </p:nvCxnSpPr>
        <p:spPr>
          <a:xfrm>
            <a:off x="4824350" y="3860902"/>
            <a:ext cx="179218" cy="0"/>
          </a:xfrm>
          <a:prstGeom prst="line">
            <a:avLst/>
          </a:prstGeom>
          <a:noFill/>
          <a:ln w="19050" cap="flat" cmpd="sng" algn="ctr">
            <a:solidFill>
              <a:sysClr val="windowText" lastClr="000000"/>
            </a:solidFill>
            <a:prstDash val="solid"/>
            <a:miter lim="800000"/>
          </a:ln>
          <a:effectLst/>
        </p:spPr>
      </p:cxnSp>
      <p:cxnSp>
        <p:nvCxnSpPr>
          <p:cNvPr id="94" name="직선 연결선 93">
            <a:extLst>
              <a:ext uri="{FF2B5EF4-FFF2-40B4-BE49-F238E27FC236}">
                <a16:creationId xmlns:a16="http://schemas.microsoft.com/office/drawing/2014/main" id="{E4E5F6E6-2678-2CF6-CFDD-26506E114B4B}"/>
              </a:ext>
            </a:extLst>
          </p:cNvPr>
          <p:cNvCxnSpPr/>
          <p:nvPr/>
        </p:nvCxnSpPr>
        <p:spPr>
          <a:xfrm flipH="1" flipV="1">
            <a:off x="4222032" y="3869849"/>
            <a:ext cx="0" cy="315887"/>
          </a:xfrm>
          <a:prstGeom prst="line">
            <a:avLst/>
          </a:prstGeom>
          <a:noFill/>
          <a:ln w="12700" cap="flat" cmpd="sng" algn="ctr">
            <a:solidFill>
              <a:sysClr val="windowText" lastClr="000000"/>
            </a:solidFill>
            <a:prstDash val="solid"/>
            <a:miter lim="800000"/>
          </a:ln>
          <a:effectLst/>
        </p:spPr>
      </p:cxnSp>
      <p:cxnSp>
        <p:nvCxnSpPr>
          <p:cNvPr id="95" name="직선 연결선 94">
            <a:extLst>
              <a:ext uri="{FF2B5EF4-FFF2-40B4-BE49-F238E27FC236}">
                <a16:creationId xmlns:a16="http://schemas.microsoft.com/office/drawing/2014/main" id="{62A0900B-6575-AA80-5057-4F5641E5CE52}"/>
              </a:ext>
            </a:extLst>
          </p:cNvPr>
          <p:cNvCxnSpPr/>
          <p:nvPr/>
        </p:nvCxnSpPr>
        <p:spPr>
          <a:xfrm flipH="1" flipV="1">
            <a:off x="4712654" y="3872237"/>
            <a:ext cx="0" cy="126355"/>
          </a:xfrm>
          <a:prstGeom prst="line">
            <a:avLst/>
          </a:prstGeom>
          <a:noFill/>
          <a:ln w="12700" cap="flat" cmpd="sng" algn="ctr">
            <a:solidFill>
              <a:sysClr val="windowText" lastClr="000000"/>
            </a:solidFill>
            <a:prstDash val="solid"/>
            <a:miter lim="800000"/>
          </a:ln>
          <a:effectLst/>
        </p:spPr>
      </p:cxnSp>
      <p:cxnSp>
        <p:nvCxnSpPr>
          <p:cNvPr id="96" name="직선 연결선 95">
            <a:extLst>
              <a:ext uri="{FF2B5EF4-FFF2-40B4-BE49-F238E27FC236}">
                <a16:creationId xmlns:a16="http://schemas.microsoft.com/office/drawing/2014/main" id="{62250FF5-ABEB-24AD-82AA-EDDA8F951DEE}"/>
              </a:ext>
            </a:extLst>
          </p:cNvPr>
          <p:cNvCxnSpPr/>
          <p:nvPr/>
        </p:nvCxnSpPr>
        <p:spPr>
          <a:xfrm flipH="1" flipV="1">
            <a:off x="4906877" y="3866663"/>
            <a:ext cx="0" cy="126355"/>
          </a:xfrm>
          <a:prstGeom prst="line">
            <a:avLst/>
          </a:prstGeom>
          <a:noFill/>
          <a:ln w="12700" cap="flat" cmpd="sng" algn="ctr">
            <a:solidFill>
              <a:sysClr val="windowText" lastClr="000000"/>
            </a:solidFill>
            <a:prstDash val="solid"/>
            <a:miter lim="800000"/>
          </a:ln>
          <a:effectLst/>
        </p:spPr>
      </p:cxnSp>
      <p:cxnSp>
        <p:nvCxnSpPr>
          <p:cNvPr id="97" name="직선 연결선 96">
            <a:extLst>
              <a:ext uri="{FF2B5EF4-FFF2-40B4-BE49-F238E27FC236}">
                <a16:creationId xmlns:a16="http://schemas.microsoft.com/office/drawing/2014/main" id="{E2E1D30C-CA36-EE1F-D200-5D3334815EBB}"/>
              </a:ext>
            </a:extLst>
          </p:cNvPr>
          <p:cNvCxnSpPr>
            <a:cxnSpLocks/>
            <a:endCxn id="103" idx="4"/>
          </p:cNvCxnSpPr>
          <p:nvPr/>
        </p:nvCxnSpPr>
        <p:spPr>
          <a:xfrm flipV="1">
            <a:off x="4221198" y="2904379"/>
            <a:ext cx="572" cy="976067"/>
          </a:xfrm>
          <a:prstGeom prst="line">
            <a:avLst/>
          </a:prstGeom>
          <a:noFill/>
          <a:ln w="12700" cap="flat" cmpd="sng" algn="ctr">
            <a:solidFill>
              <a:sysClr val="windowText" lastClr="000000"/>
            </a:solidFill>
            <a:prstDash val="solid"/>
            <a:miter lim="800000"/>
          </a:ln>
          <a:effectLst/>
        </p:spPr>
      </p:cxnSp>
      <p:cxnSp>
        <p:nvCxnSpPr>
          <p:cNvPr id="98" name="직선 연결선 97">
            <a:extLst>
              <a:ext uri="{FF2B5EF4-FFF2-40B4-BE49-F238E27FC236}">
                <a16:creationId xmlns:a16="http://schemas.microsoft.com/office/drawing/2014/main" id="{517A5417-23C4-B31A-F707-140389E11945}"/>
              </a:ext>
            </a:extLst>
          </p:cNvPr>
          <p:cNvCxnSpPr/>
          <p:nvPr/>
        </p:nvCxnSpPr>
        <p:spPr>
          <a:xfrm flipH="1" flipV="1">
            <a:off x="4715155" y="3349275"/>
            <a:ext cx="0" cy="410654"/>
          </a:xfrm>
          <a:prstGeom prst="line">
            <a:avLst/>
          </a:prstGeom>
          <a:noFill/>
          <a:ln w="12700" cap="flat" cmpd="sng" algn="ctr">
            <a:solidFill>
              <a:sysClr val="windowText" lastClr="000000"/>
            </a:solidFill>
            <a:prstDash val="solid"/>
            <a:miter lim="800000"/>
          </a:ln>
          <a:effectLst/>
        </p:spPr>
      </p:cxnSp>
      <p:cxnSp>
        <p:nvCxnSpPr>
          <p:cNvPr id="99" name="직선 연결선 98">
            <a:extLst>
              <a:ext uri="{FF2B5EF4-FFF2-40B4-BE49-F238E27FC236}">
                <a16:creationId xmlns:a16="http://schemas.microsoft.com/office/drawing/2014/main" id="{6ED83F90-864E-BD1F-E8D9-30EBD36B2800}"/>
              </a:ext>
            </a:extLst>
          </p:cNvPr>
          <p:cNvCxnSpPr/>
          <p:nvPr/>
        </p:nvCxnSpPr>
        <p:spPr>
          <a:xfrm flipV="1">
            <a:off x="4901042" y="3629504"/>
            <a:ext cx="0" cy="122587"/>
          </a:xfrm>
          <a:prstGeom prst="line">
            <a:avLst/>
          </a:prstGeom>
          <a:noFill/>
          <a:ln w="12700" cap="flat" cmpd="sng" algn="ctr">
            <a:solidFill>
              <a:sysClr val="windowText" lastClr="000000"/>
            </a:solidFill>
            <a:prstDash val="solid"/>
            <a:miter lim="800000"/>
          </a:ln>
          <a:effectLst/>
        </p:spPr>
      </p:cxnSp>
      <p:cxnSp>
        <p:nvCxnSpPr>
          <p:cNvPr id="100" name="직선 연결선 99">
            <a:extLst>
              <a:ext uri="{FF2B5EF4-FFF2-40B4-BE49-F238E27FC236}">
                <a16:creationId xmlns:a16="http://schemas.microsoft.com/office/drawing/2014/main" id="{D219F070-34A4-D71D-CF9A-EC1555D57663}"/>
              </a:ext>
            </a:extLst>
          </p:cNvPr>
          <p:cNvCxnSpPr/>
          <p:nvPr/>
        </p:nvCxnSpPr>
        <p:spPr>
          <a:xfrm>
            <a:off x="4711467" y="3993227"/>
            <a:ext cx="198483" cy="0"/>
          </a:xfrm>
          <a:prstGeom prst="line">
            <a:avLst/>
          </a:prstGeom>
          <a:noFill/>
          <a:ln w="12700" cap="flat" cmpd="sng" algn="ctr">
            <a:solidFill>
              <a:sysClr val="windowText" lastClr="000000"/>
            </a:solidFill>
            <a:prstDash val="solid"/>
            <a:miter lim="800000"/>
          </a:ln>
          <a:effectLst/>
        </p:spPr>
      </p:cxnSp>
      <p:sp>
        <p:nvSpPr>
          <p:cNvPr id="101" name="타원 100">
            <a:extLst>
              <a:ext uri="{FF2B5EF4-FFF2-40B4-BE49-F238E27FC236}">
                <a16:creationId xmlns:a16="http://schemas.microsoft.com/office/drawing/2014/main" id="{5C4C3CCD-B639-F5CF-670C-998AF70BF439}"/>
              </a:ext>
            </a:extLst>
          </p:cNvPr>
          <p:cNvSpPr/>
          <p:nvPr/>
        </p:nvSpPr>
        <p:spPr>
          <a:xfrm>
            <a:off x="4871867" y="3613585"/>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02" name="타원 101">
            <a:extLst>
              <a:ext uri="{FF2B5EF4-FFF2-40B4-BE49-F238E27FC236}">
                <a16:creationId xmlns:a16="http://schemas.microsoft.com/office/drawing/2014/main" id="{9DE3864F-EED3-EDDB-7DDE-D9BE2150F58C}"/>
              </a:ext>
            </a:extLst>
          </p:cNvPr>
          <p:cNvSpPr/>
          <p:nvPr/>
        </p:nvSpPr>
        <p:spPr>
          <a:xfrm>
            <a:off x="4682646" y="3337378"/>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03" name="타원 102">
            <a:extLst>
              <a:ext uri="{FF2B5EF4-FFF2-40B4-BE49-F238E27FC236}">
                <a16:creationId xmlns:a16="http://schemas.microsoft.com/office/drawing/2014/main" id="{97F3BD67-654C-5515-6851-BAD9DDF79C24}"/>
              </a:ext>
            </a:extLst>
          </p:cNvPr>
          <p:cNvSpPr/>
          <p:nvPr/>
        </p:nvSpPr>
        <p:spPr>
          <a:xfrm>
            <a:off x="4188689" y="2841202"/>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04" name="타원 103">
            <a:extLst>
              <a:ext uri="{FF2B5EF4-FFF2-40B4-BE49-F238E27FC236}">
                <a16:creationId xmlns:a16="http://schemas.microsoft.com/office/drawing/2014/main" id="{0B405DE4-F939-CD48-5AFD-9A36E391805D}"/>
              </a:ext>
            </a:extLst>
          </p:cNvPr>
          <p:cNvSpPr/>
          <p:nvPr/>
        </p:nvSpPr>
        <p:spPr>
          <a:xfrm>
            <a:off x="4778507" y="3966207"/>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05" name="직선 연결선 104">
            <a:extLst>
              <a:ext uri="{FF2B5EF4-FFF2-40B4-BE49-F238E27FC236}">
                <a16:creationId xmlns:a16="http://schemas.microsoft.com/office/drawing/2014/main" id="{9B1A45E1-AD9A-4A1A-18BF-A1ACA187556B}"/>
              </a:ext>
            </a:extLst>
          </p:cNvPr>
          <p:cNvCxnSpPr/>
          <p:nvPr/>
        </p:nvCxnSpPr>
        <p:spPr>
          <a:xfrm flipH="1" flipV="1">
            <a:off x="4816017" y="3994818"/>
            <a:ext cx="0" cy="189533"/>
          </a:xfrm>
          <a:prstGeom prst="line">
            <a:avLst/>
          </a:prstGeom>
          <a:noFill/>
          <a:ln w="12700" cap="flat" cmpd="sng" algn="ctr">
            <a:solidFill>
              <a:sysClr val="windowText" lastClr="000000"/>
            </a:solidFill>
            <a:prstDash val="solid"/>
            <a:miter lim="800000"/>
          </a:ln>
          <a:effectLst/>
        </p:spPr>
      </p:cxnSp>
      <p:sp>
        <p:nvSpPr>
          <p:cNvPr id="106" name="이등변 삼각형 105">
            <a:extLst>
              <a:ext uri="{FF2B5EF4-FFF2-40B4-BE49-F238E27FC236}">
                <a16:creationId xmlns:a16="http://schemas.microsoft.com/office/drawing/2014/main" id="{31725664-6FC8-198F-390D-537CDA75A996}"/>
              </a:ext>
            </a:extLst>
          </p:cNvPr>
          <p:cNvSpPr/>
          <p:nvPr/>
        </p:nvSpPr>
        <p:spPr>
          <a:xfrm rot="10800000">
            <a:off x="4136549" y="3753169"/>
            <a:ext cx="165433" cy="94675"/>
          </a:xfrm>
          <a:prstGeom prst="triangle">
            <a:avLst/>
          </a:prstGeom>
          <a:solidFill>
            <a:srgbClr val="FF0000"/>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07" name="이등변 삼각형 106">
            <a:extLst>
              <a:ext uri="{FF2B5EF4-FFF2-40B4-BE49-F238E27FC236}">
                <a16:creationId xmlns:a16="http://schemas.microsoft.com/office/drawing/2014/main" id="{8DF13C96-7330-8CC7-B819-7F90ABEDED96}"/>
              </a:ext>
            </a:extLst>
          </p:cNvPr>
          <p:cNvSpPr/>
          <p:nvPr/>
        </p:nvSpPr>
        <p:spPr>
          <a:xfrm rot="10800000">
            <a:off x="4635674" y="3759521"/>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08" name="이등변 삼각형 107">
            <a:extLst>
              <a:ext uri="{FF2B5EF4-FFF2-40B4-BE49-F238E27FC236}">
                <a16:creationId xmlns:a16="http://schemas.microsoft.com/office/drawing/2014/main" id="{92A039DA-EF78-DB20-3C3B-F7BB3809D527}"/>
              </a:ext>
            </a:extLst>
          </p:cNvPr>
          <p:cNvSpPr/>
          <p:nvPr/>
        </p:nvSpPr>
        <p:spPr>
          <a:xfrm rot="10800000">
            <a:off x="4815179" y="3759520"/>
            <a:ext cx="165433" cy="94676"/>
          </a:xfrm>
          <a:prstGeom prst="triangle">
            <a:avLst/>
          </a:prstGeom>
          <a:solidFill>
            <a:srgbClr val="0066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09" name="타원 108">
            <a:extLst>
              <a:ext uri="{FF2B5EF4-FFF2-40B4-BE49-F238E27FC236}">
                <a16:creationId xmlns:a16="http://schemas.microsoft.com/office/drawing/2014/main" id="{D86270CB-3BA2-6EB4-94B7-3FB46D983B08}"/>
              </a:ext>
            </a:extLst>
          </p:cNvPr>
          <p:cNvSpPr/>
          <p:nvPr/>
        </p:nvSpPr>
        <p:spPr>
          <a:xfrm>
            <a:off x="4436340" y="3076150"/>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10" name="직선 연결선 109">
            <a:extLst>
              <a:ext uri="{FF2B5EF4-FFF2-40B4-BE49-F238E27FC236}">
                <a16:creationId xmlns:a16="http://schemas.microsoft.com/office/drawing/2014/main" id="{2F283034-B90E-4B5C-9B0D-00F5F1731480}"/>
              </a:ext>
            </a:extLst>
          </p:cNvPr>
          <p:cNvCxnSpPr>
            <a:cxnSpLocks/>
            <a:endCxn id="109" idx="0"/>
          </p:cNvCxnSpPr>
          <p:nvPr/>
        </p:nvCxnSpPr>
        <p:spPr>
          <a:xfrm flipV="1">
            <a:off x="4462679" y="3076150"/>
            <a:ext cx="6742" cy="679137"/>
          </a:xfrm>
          <a:prstGeom prst="line">
            <a:avLst/>
          </a:prstGeom>
          <a:noFill/>
          <a:ln w="12700" cap="flat" cmpd="sng" algn="ctr">
            <a:solidFill>
              <a:sysClr val="windowText" lastClr="000000"/>
            </a:solidFill>
            <a:prstDash val="solid"/>
            <a:miter lim="800000"/>
          </a:ln>
          <a:effectLst/>
        </p:spPr>
      </p:cxnSp>
      <p:sp>
        <p:nvSpPr>
          <p:cNvPr id="111" name="이등변 삼각형 110">
            <a:extLst>
              <a:ext uri="{FF2B5EF4-FFF2-40B4-BE49-F238E27FC236}">
                <a16:creationId xmlns:a16="http://schemas.microsoft.com/office/drawing/2014/main" id="{9BCD0415-6459-7307-34C6-1F7A49BB94A0}"/>
              </a:ext>
            </a:extLst>
          </p:cNvPr>
          <p:cNvSpPr/>
          <p:nvPr/>
        </p:nvSpPr>
        <p:spPr>
          <a:xfrm rot="10800000">
            <a:off x="4384197" y="3763755"/>
            <a:ext cx="165433" cy="94675"/>
          </a:xfrm>
          <a:prstGeom prst="triangle">
            <a:avLst/>
          </a:prstGeom>
          <a:solidFill>
            <a:srgbClr val="00FFFF"/>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12" name="직선 연결선 111">
            <a:extLst>
              <a:ext uri="{FF2B5EF4-FFF2-40B4-BE49-F238E27FC236}">
                <a16:creationId xmlns:a16="http://schemas.microsoft.com/office/drawing/2014/main" id="{93FF750B-F454-20C3-F0E9-AE88AF1811BF}"/>
              </a:ext>
            </a:extLst>
          </p:cNvPr>
          <p:cNvCxnSpPr/>
          <p:nvPr/>
        </p:nvCxnSpPr>
        <p:spPr>
          <a:xfrm>
            <a:off x="4377303" y="3872237"/>
            <a:ext cx="179219" cy="0"/>
          </a:xfrm>
          <a:prstGeom prst="line">
            <a:avLst/>
          </a:prstGeom>
          <a:noFill/>
          <a:ln w="19050" cap="flat" cmpd="sng" algn="ctr">
            <a:solidFill>
              <a:sysClr val="windowText" lastClr="000000"/>
            </a:solidFill>
            <a:prstDash val="solid"/>
            <a:miter lim="800000"/>
          </a:ln>
          <a:effectLst/>
        </p:spPr>
      </p:cxnSp>
      <p:cxnSp>
        <p:nvCxnSpPr>
          <p:cNvPr id="113" name="직선 연결선 112">
            <a:extLst>
              <a:ext uri="{FF2B5EF4-FFF2-40B4-BE49-F238E27FC236}">
                <a16:creationId xmlns:a16="http://schemas.microsoft.com/office/drawing/2014/main" id="{D47A0FA7-9C55-4806-134C-9FB03F4FEB3F}"/>
              </a:ext>
            </a:extLst>
          </p:cNvPr>
          <p:cNvCxnSpPr/>
          <p:nvPr/>
        </p:nvCxnSpPr>
        <p:spPr>
          <a:xfrm flipH="1" flipV="1">
            <a:off x="4478801" y="3881417"/>
            <a:ext cx="0" cy="315887"/>
          </a:xfrm>
          <a:prstGeom prst="line">
            <a:avLst/>
          </a:prstGeom>
          <a:noFill/>
          <a:ln w="12700" cap="flat" cmpd="sng" algn="ctr">
            <a:solidFill>
              <a:sysClr val="windowText" lastClr="000000"/>
            </a:solidFill>
            <a:prstDash val="solid"/>
            <a:miter lim="800000"/>
          </a:ln>
          <a:effectLst/>
        </p:spPr>
      </p:cxnSp>
      <p:cxnSp>
        <p:nvCxnSpPr>
          <p:cNvPr id="125" name="직선 연결선 124">
            <a:extLst>
              <a:ext uri="{FF2B5EF4-FFF2-40B4-BE49-F238E27FC236}">
                <a16:creationId xmlns:a16="http://schemas.microsoft.com/office/drawing/2014/main" id="{5CEB1164-80C9-E6A5-6AA6-1ADE47DF0B17}"/>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6" name="TextBox 125">
            <a:extLst>
              <a:ext uri="{FF2B5EF4-FFF2-40B4-BE49-F238E27FC236}">
                <a16:creationId xmlns:a16="http://schemas.microsoft.com/office/drawing/2014/main" id="{A98D1256-3746-059C-0E83-8C26BA829729}"/>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pic>
        <p:nvPicPr>
          <p:cNvPr id="127" name="그림 126">
            <a:extLst>
              <a:ext uri="{FF2B5EF4-FFF2-40B4-BE49-F238E27FC236}">
                <a16:creationId xmlns:a16="http://schemas.microsoft.com/office/drawing/2014/main" id="{9D4D88AA-01D5-22DF-4127-B89D79F4D13B}"/>
              </a:ext>
            </a:extLst>
          </p:cNvPr>
          <p:cNvPicPr>
            <a:picLocks noChangeAspect="1"/>
          </p:cNvPicPr>
          <p:nvPr/>
        </p:nvPicPr>
        <p:blipFill>
          <a:blip r:embed="rId2"/>
          <a:stretch>
            <a:fillRect/>
          </a:stretch>
        </p:blipFill>
        <p:spPr>
          <a:xfrm>
            <a:off x="464710" y="5210571"/>
            <a:ext cx="5893205" cy="3395367"/>
          </a:xfrm>
          <a:prstGeom prst="rect">
            <a:avLst/>
          </a:prstGeom>
        </p:spPr>
      </p:pic>
      <p:cxnSp>
        <p:nvCxnSpPr>
          <p:cNvPr id="2" name="직선 연결선 1">
            <a:extLst>
              <a:ext uri="{FF2B5EF4-FFF2-40B4-BE49-F238E27FC236}">
                <a16:creationId xmlns:a16="http://schemas.microsoft.com/office/drawing/2014/main" id="{29065AA3-4A5F-8B20-6A2E-B090433F228A}"/>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B6132FE6-3645-BA70-3FD2-BEFC5CB0CF54}"/>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5" name="TextBox 4">
            <a:extLst>
              <a:ext uri="{FF2B5EF4-FFF2-40B4-BE49-F238E27FC236}">
                <a16:creationId xmlns:a16="http://schemas.microsoft.com/office/drawing/2014/main" id="{3EE7C240-8A13-F95E-8DDB-F8248B5E051C}"/>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RGB PWM Dimming </a:t>
            </a:r>
          </a:p>
        </p:txBody>
      </p:sp>
    </p:spTree>
    <p:extLst>
      <p:ext uri="{BB962C8B-B14F-4D97-AF65-F5344CB8AC3E}">
        <p14:creationId xmlns:p14="http://schemas.microsoft.com/office/powerpoint/2010/main" val="33435365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C04E334-27DF-6E46-3876-3667684C671B}"/>
              </a:ext>
            </a:extLst>
          </p:cNvPr>
          <p:cNvSpPr txBox="1"/>
          <p:nvPr/>
        </p:nvSpPr>
        <p:spPr>
          <a:xfrm>
            <a:off x="391362" y="1616176"/>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TYPE-C (5-colors) </a:t>
            </a:r>
          </a:p>
        </p:txBody>
      </p:sp>
      <p:sp>
        <p:nvSpPr>
          <p:cNvPr id="5" name="직사각형 4">
            <a:extLst>
              <a:ext uri="{FF2B5EF4-FFF2-40B4-BE49-F238E27FC236}">
                <a16:creationId xmlns:a16="http://schemas.microsoft.com/office/drawing/2014/main" id="{59680CF0-B0AA-2990-3BB7-FA1A457C60B6}"/>
              </a:ext>
            </a:extLst>
          </p:cNvPr>
          <p:cNvSpPr/>
          <p:nvPr/>
        </p:nvSpPr>
        <p:spPr>
          <a:xfrm>
            <a:off x="3147609" y="4935029"/>
            <a:ext cx="2089554" cy="529332"/>
          </a:xfrm>
          <a:prstGeom prst="rect">
            <a:avLst/>
          </a:prstGeom>
          <a:noFill/>
          <a:ln w="12700"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9DBA6C63-4CED-2FA5-A6F8-2FC8DD54B5A6}"/>
              </a:ext>
            </a:extLst>
          </p:cNvPr>
          <p:cNvCxnSpPr>
            <a:cxnSpLocks/>
          </p:cNvCxnSpPr>
          <p:nvPr/>
        </p:nvCxnSpPr>
        <p:spPr>
          <a:xfrm>
            <a:off x="2430734" y="3483696"/>
            <a:ext cx="0" cy="759433"/>
          </a:xfrm>
          <a:prstGeom prst="line">
            <a:avLst/>
          </a:prstGeom>
          <a:noFill/>
          <a:ln w="6350" cap="flat" cmpd="sng" algn="ctr">
            <a:solidFill>
              <a:sysClr val="windowText" lastClr="000000"/>
            </a:solidFill>
            <a:prstDash val="solid"/>
            <a:miter lim="800000"/>
          </a:ln>
          <a:effectLst/>
        </p:spPr>
      </p:cxnSp>
      <p:cxnSp>
        <p:nvCxnSpPr>
          <p:cNvPr id="7" name="직선 연결선 6">
            <a:extLst>
              <a:ext uri="{FF2B5EF4-FFF2-40B4-BE49-F238E27FC236}">
                <a16:creationId xmlns:a16="http://schemas.microsoft.com/office/drawing/2014/main" id="{29867882-9590-B79E-531E-65D4BFEA2EDF}"/>
              </a:ext>
            </a:extLst>
          </p:cNvPr>
          <p:cNvCxnSpPr/>
          <p:nvPr/>
        </p:nvCxnSpPr>
        <p:spPr>
          <a:xfrm>
            <a:off x="3205303" y="4604695"/>
            <a:ext cx="179219" cy="0"/>
          </a:xfrm>
          <a:prstGeom prst="line">
            <a:avLst/>
          </a:prstGeom>
          <a:noFill/>
          <a:ln w="19050" cap="flat" cmpd="sng" algn="ctr">
            <a:solidFill>
              <a:sysClr val="windowText" lastClr="000000"/>
            </a:solidFill>
            <a:prstDash val="solid"/>
            <a:miter lim="800000"/>
          </a:ln>
          <a:effectLst/>
        </p:spPr>
      </p:cxnSp>
      <p:cxnSp>
        <p:nvCxnSpPr>
          <p:cNvPr id="8" name="직선 연결선 7">
            <a:extLst>
              <a:ext uri="{FF2B5EF4-FFF2-40B4-BE49-F238E27FC236}">
                <a16:creationId xmlns:a16="http://schemas.microsoft.com/office/drawing/2014/main" id="{B3994C42-AC13-2FB3-E97D-217E883A0EC0}"/>
              </a:ext>
            </a:extLst>
          </p:cNvPr>
          <p:cNvCxnSpPr/>
          <p:nvPr/>
        </p:nvCxnSpPr>
        <p:spPr>
          <a:xfrm>
            <a:off x="3412385" y="4597030"/>
            <a:ext cx="179219" cy="0"/>
          </a:xfrm>
          <a:prstGeom prst="line">
            <a:avLst/>
          </a:prstGeom>
          <a:noFill/>
          <a:ln w="19050" cap="flat" cmpd="sng" algn="ctr">
            <a:solidFill>
              <a:sysClr val="windowText" lastClr="000000"/>
            </a:solidFill>
            <a:prstDash val="solid"/>
            <a:miter lim="800000"/>
          </a:ln>
          <a:effectLst/>
        </p:spPr>
      </p:cxnSp>
      <p:cxnSp>
        <p:nvCxnSpPr>
          <p:cNvPr id="9" name="직선 연결선 8">
            <a:extLst>
              <a:ext uri="{FF2B5EF4-FFF2-40B4-BE49-F238E27FC236}">
                <a16:creationId xmlns:a16="http://schemas.microsoft.com/office/drawing/2014/main" id="{DEE82CA5-94D1-C34D-AA6C-21B21AB389A3}"/>
              </a:ext>
            </a:extLst>
          </p:cNvPr>
          <p:cNvCxnSpPr/>
          <p:nvPr/>
        </p:nvCxnSpPr>
        <p:spPr>
          <a:xfrm>
            <a:off x="3609763" y="4601277"/>
            <a:ext cx="179218" cy="0"/>
          </a:xfrm>
          <a:prstGeom prst="line">
            <a:avLst/>
          </a:prstGeom>
          <a:noFill/>
          <a:ln w="19050" cap="flat" cmpd="sng" algn="ctr">
            <a:solidFill>
              <a:sysClr val="windowText" lastClr="000000"/>
            </a:solidFill>
            <a:prstDash val="solid"/>
            <a:miter lim="800000"/>
          </a:ln>
          <a:effectLst/>
        </p:spPr>
      </p:cxnSp>
      <p:cxnSp>
        <p:nvCxnSpPr>
          <p:cNvPr id="10" name="직선 연결선 9">
            <a:extLst>
              <a:ext uri="{FF2B5EF4-FFF2-40B4-BE49-F238E27FC236}">
                <a16:creationId xmlns:a16="http://schemas.microsoft.com/office/drawing/2014/main" id="{F9910D23-B27C-97FA-47BB-558BB4EA02F1}"/>
              </a:ext>
            </a:extLst>
          </p:cNvPr>
          <p:cNvCxnSpPr>
            <a:cxnSpLocks/>
            <a:endCxn id="77" idx="2"/>
          </p:cNvCxnSpPr>
          <p:nvPr/>
        </p:nvCxnSpPr>
        <p:spPr>
          <a:xfrm>
            <a:off x="2546172" y="3339329"/>
            <a:ext cx="2169955" cy="9053"/>
          </a:xfrm>
          <a:prstGeom prst="line">
            <a:avLst/>
          </a:prstGeom>
          <a:noFill/>
          <a:ln w="12700" cap="flat" cmpd="sng" algn="ctr">
            <a:solidFill>
              <a:sysClr val="windowText" lastClr="000000"/>
            </a:solidFill>
            <a:prstDash val="solid"/>
            <a:miter lim="800000"/>
          </a:ln>
          <a:effectLst/>
        </p:spPr>
      </p:cxnSp>
      <p:cxnSp>
        <p:nvCxnSpPr>
          <p:cNvPr id="11" name="직선 연결선 10">
            <a:extLst>
              <a:ext uri="{FF2B5EF4-FFF2-40B4-BE49-F238E27FC236}">
                <a16:creationId xmlns:a16="http://schemas.microsoft.com/office/drawing/2014/main" id="{C2B6BE96-ED00-AADE-FA36-FD07EB74E694}"/>
              </a:ext>
            </a:extLst>
          </p:cNvPr>
          <p:cNvCxnSpPr>
            <a:cxnSpLocks/>
            <a:endCxn id="79" idx="2"/>
          </p:cNvCxnSpPr>
          <p:nvPr/>
        </p:nvCxnSpPr>
        <p:spPr>
          <a:xfrm flipV="1">
            <a:off x="1853455" y="2819707"/>
            <a:ext cx="2456008" cy="3235"/>
          </a:xfrm>
          <a:prstGeom prst="line">
            <a:avLst/>
          </a:prstGeom>
          <a:noFill/>
          <a:ln w="12700" cap="flat" cmpd="sng" algn="ctr">
            <a:solidFill>
              <a:sysClr val="windowText" lastClr="000000"/>
            </a:solidFill>
            <a:prstDash val="solid"/>
            <a:miter lim="800000"/>
          </a:ln>
          <a:effectLst/>
        </p:spPr>
      </p:cxnSp>
      <p:cxnSp>
        <p:nvCxnSpPr>
          <p:cNvPr id="12" name="직선 연결선 11">
            <a:extLst>
              <a:ext uri="{FF2B5EF4-FFF2-40B4-BE49-F238E27FC236}">
                <a16:creationId xmlns:a16="http://schemas.microsoft.com/office/drawing/2014/main" id="{26E0CCF1-FDAD-C248-0D92-6C0F0EE721E2}"/>
              </a:ext>
            </a:extLst>
          </p:cNvPr>
          <p:cNvCxnSpPr/>
          <p:nvPr/>
        </p:nvCxnSpPr>
        <p:spPr>
          <a:xfrm>
            <a:off x="2297841" y="3415994"/>
            <a:ext cx="264644" cy="0"/>
          </a:xfrm>
          <a:prstGeom prst="line">
            <a:avLst/>
          </a:prstGeom>
          <a:noFill/>
          <a:ln w="19050" cap="flat" cmpd="sng" algn="ctr">
            <a:solidFill>
              <a:sysClr val="windowText" lastClr="000000"/>
            </a:solidFill>
            <a:prstDash val="solid"/>
            <a:miter lim="800000"/>
          </a:ln>
          <a:effectLst/>
        </p:spPr>
      </p:cxnSp>
      <p:cxnSp>
        <p:nvCxnSpPr>
          <p:cNvPr id="13" name="직선 연결선 12">
            <a:extLst>
              <a:ext uri="{FF2B5EF4-FFF2-40B4-BE49-F238E27FC236}">
                <a16:creationId xmlns:a16="http://schemas.microsoft.com/office/drawing/2014/main" id="{5EA8737D-A177-8281-8171-0AFB7C1262BC}"/>
              </a:ext>
            </a:extLst>
          </p:cNvPr>
          <p:cNvCxnSpPr/>
          <p:nvPr/>
        </p:nvCxnSpPr>
        <p:spPr>
          <a:xfrm>
            <a:off x="2362861" y="3474101"/>
            <a:ext cx="132322" cy="0"/>
          </a:xfrm>
          <a:prstGeom prst="line">
            <a:avLst/>
          </a:prstGeom>
          <a:noFill/>
          <a:ln w="19050" cap="flat" cmpd="sng" algn="ctr">
            <a:solidFill>
              <a:sysClr val="windowText" lastClr="000000"/>
            </a:solidFill>
            <a:prstDash val="solid"/>
            <a:miter lim="800000"/>
          </a:ln>
          <a:effectLst/>
        </p:spPr>
      </p:cxnSp>
      <p:cxnSp>
        <p:nvCxnSpPr>
          <p:cNvPr id="14" name="직선 연결선 13">
            <a:extLst>
              <a:ext uri="{FF2B5EF4-FFF2-40B4-BE49-F238E27FC236}">
                <a16:creationId xmlns:a16="http://schemas.microsoft.com/office/drawing/2014/main" id="{27924B18-DA32-FDD2-D63D-15DFBAA43950}"/>
              </a:ext>
            </a:extLst>
          </p:cNvPr>
          <p:cNvCxnSpPr/>
          <p:nvPr/>
        </p:nvCxnSpPr>
        <p:spPr>
          <a:xfrm rot="5400000" flipH="1" flipV="1">
            <a:off x="2340270" y="3372509"/>
            <a:ext cx="63177" cy="0"/>
          </a:xfrm>
          <a:prstGeom prst="line">
            <a:avLst/>
          </a:prstGeom>
          <a:noFill/>
          <a:ln w="19050" cap="flat" cmpd="sng" algn="ctr">
            <a:solidFill>
              <a:sysClr val="windowText" lastClr="000000"/>
            </a:solidFill>
            <a:prstDash val="solid"/>
            <a:miter lim="800000"/>
          </a:ln>
          <a:effectLst/>
        </p:spPr>
      </p:cxnSp>
      <p:cxnSp>
        <p:nvCxnSpPr>
          <p:cNvPr id="15" name="직선 연결선 14">
            <a:extLst>
              <a:ext uri="{FF2B5EF4-FFF2-40B4-BE49-F238E27FC236}">
                <a16:creationId xmlns:a16="http://schemas.microsoft.com/office/drawing/2014/main" id="{857FE9C3-9D86-00D4-9E62-185AAF417F4E}"/>
              </a:ext>
            </a:extLst>
          </p:cNvPr>
          <p:cNvCxnSpPr/>
          <p:nvPr/>
        </p:nvCxnSpPr>
        <p:spPr>
          <a:xfrm rot="5400000">
            <a:off x="2451136" y="3370918"/>
            <a:ext cx="63177" cy="0"/>
          </a:xfrm>
          <a:prstGeom prst="line">
            <a:avLst/>
          </a:prstGeom>
          <a:noFill/>
          <a:ln w="19050" cap="flat" cmpd="sng" algn="ctr">
            <a:solidFill>
              <a:sysClr val="windowText" lastClr="000000"/>
            </a:solidFill>
            <a:prstDash val="solid"/>
            <a:miter lim="800000"/>
          </a:ln>
          <a:effectLst/>
        </p:spPr>
      </p:cxnSp>
      <p:cxnSp>
        <p:nvCxnSpPr>
          <p:cNvPr id="16" name="직선 연결선 15">
            <a:extLst>
              <a:ext uri="{FF2B5EF4-FFF2-40B4-BE49-F238E27FC236}">
                <a16:creationId xmlns:a16="http://schemas.microsoft.com/office/drawing/2014/main" id="{C0C4FA53-01C6-628F-B600-39C4615557B3}"/>
              </a:ext>
            </a:extLst>
          </p:cNvPr>
          <p:cNvCxnSpPr/>
          <p:nvPr/>
        </p:nvCxnSpPr>
        <p:spPr>
          <a:xfrm>
            <a:off x="2468243" y="3340421"/>
            <a:ext cx="132321" cy="0"/>
          </a:xfrm>
          <a:prstGeom prst="line">
            <a:avLst/>
          </a:prstGeom>
          <a:noFill/>
          <a:ln w="19050" cap="flat" cmpd="sng" algn="ctr">
            <a:solidFill>
              <a:sysClr val="windowText" lastClr="000000"/>
            </a:solidFill>
            <a:prstDash val="solid"/>
            <a:miter lim="800000"/>
          </a:ln>
          <a:effectLst/>
        </p:spPr>
      </p:cxnSp>
      <p:cxnSp>
        <p:nvCxnSpPr>
          <p:cNvPr id="17" name="직선 연결선 16">
            <a:extLst>
              <a:ext uri="{FF2B5EF4-FFF2-40B4-BE49-F238E27FC236}">
                <a16:creationId xmlns:a16="http://schemas.microsoft.com/office/drawing/2014/main" id="{5A7D2A94-5B92-A1F5-EDA9-417D078BD83C}"/>
              </a:ext>
            </a:extLst>
          </p:cNvPr>
          <p:cNvCxnSpPr/>
          <p:nvPr/>
        </p:nvCxnSpPr>
        <p:spPr>
          <a:xfrm>
            <a:off x="2249848" y="3342808"/>
            <a:ext cx="132321" cy="0"/>
          </a:xfrm>
          <a:prstGeom prst="line">
            <a:avLst/>
          </a:prstGeom>
          <a:noFill/>
          <a:ln w="19050" cap="flat" cmpd="sng" algn="ctr">
            <a:solidFill>
              <a:sysClr val="windowText" lastClr="000000"/>
            </a:solidFill>
            <a:prstDash val="solid"/>
            <a:miter lim="800000"/>
          </a:ln>
          <a:effectLst/>
        </p:spPr>
      </p:cxnSp>
      <p:cxnSp>
        <p:nvCxnSpPr>
          <p:cNvPr id="18" name="직선 연결선 17">
            <a:extLst>
              <a:ext uri="{FF2B5EF4-FFF2-40B4-BE49-F238E27FC236}">
                <a16:creationId xmlns:a16="http://schemas.microsoft.com/office/drawing/2014/main" id="{874D9430-E199-821D-E6B0-3553797BC316}"/>
              </a:ext>
            </a:extLst>
          </p:cNvPr>
          <p:cNvCxnSpPr/>
          <p:nvPr/>
        </p:nvCxnSpPr>
        <p:spPr>
          <a:xfrm>
            <a:off x="2499566" y="3138490"/>
            <a:ext cx="264644" cy="0"/>
          </a:xfrm>
          <a:prstGeom prst="line">
            <a:avLst/>
          </a:prstGeom>
          <a:noFill/>
          <a:ln w="19050" cap="flat" cmpd="sng" algn="ctr">
            <a:solidFill>
              <a:sysClr val="windowText" lastClr="000000"/>
            </a:solidFill>
            <a:prstDash val="solid"/>
            <a:miter lim="800000"/>
          </a:ln>
          <a:effectLst/>
        </p:spPr>
      </p:cxnSp>
      <p:cxnSp>
        <p:nvCxnSpPr>
          <p:cNvPr id="19" name="직선 연결선 18">
            <a:extLst>
              <a:ext uri="{FF2B5EF4-FFF2-40B4-BE49-F238E27FC236}">
                <a16:creationId xmlns:a16="http://schemas.microsoft.com/office/drawing/2014/main" id="{CAB01398-D9E7-B437-ED52-A9AA3E3F8A69}"/>
              </a:ext>
            </a:extLst>
          </p:cNvPr>
          <p:cNvCxnSpPr/>
          <p:nvPr/>
        </p:nvCxnSpPr>
        <p:spPr>
          <a:xfrm>
            <a:off x="2564586" y="3196597"/>
            <a:ext cx="132322" cy="0"/>
          </a:xfrm>
          <a:prstGeom prst="line">
            <a:avLst/>
          </a:prstGeom>
          <a:noFill/>
          <a:ln w="19050" cap="flat" cmpd="sng" algn="ctr">
            <a:solidFill>
              <a:sysClr val="windowText" lastClr="000000"/>
            </a:solidFill>
            <a:prstDash val="solid"/>
            <a:miter lim="800000"/>
          </a:ln>
          <a:effectLst/>
        </p:spPr>
      </p:cxnSp>
      <p:cxnSp>
        <p:nvCxnSpPr>
          <p:cNvPr id="20" name="직선 연결선 19">
            <a:extLst>
              <a:ext uri="{FF2B5EF4-FFF2-40B4-BE49-F238E27FC236}">
                <a16:creationId xmlns:a16="http://schemas.microsoft.com/office/drawing/2014/main" id="{F2EFA75E-335D-9553-868D-5F2D0408E432}"/>
              </a:ext>
            </a:extLst>
          </p:cNvPr>
          <p:cNvCxnSpPr/>
          <p:nvPr/>
        </p:nvCxnSpPr>
        <p:spPr>
          <a:xfrm rot="5400000" flipH="1" flipV="1">
            <a:off x="2541995" y="3095004"/>
            <a:ext cx="63177" cy="0"/>
          </a:xfrm>
          <a:prstGeom prst="line">
            <a:avLst/>
          </a:prstGeom>
          <a:noFill/>
          <a:ln w="19050" cap="flat" cmpd="sng" algn="ctr">
            <a:solidFill>
              <a:sysClr val="windowText" lastClr="000000"/>
            </a:solidFill>
            <a:prstDash val="solid"/>
            <a:miter lim="800000"/>
          </a:ln>
          <a:effectLst/>
        </p:spPr>
      </p:cxnSp>
      <p:cxnSp>
        <p:nvCxnSpPr>
          <p:cNvPr id="21" name="직선 연결선 20">
            <a:extLst>
              <a:ext uri="{FF2B5EF4-FFF2-40B4-BE49-F238E27FC236}">
                <a16:creationId xmlns:a16="http://schemas.microsoft.com/office/drawing/2014/main" id="{3F1AC104-611A-0A36-B614-CD19B69DD76E}"/>
              </a:ext>
            </a:extLst>
          </p:cNvPr>
          <p:cNvCxnSpPr/>
          <p:nvPr/>
        </p:nvCxnSpPr>
        <p:spPr>
          <a:xfrm rot="5400000">
            <a:off x="2652861" y="3093413"/>
            <a:ext cx="63177" cy="0"/>
          </a:xfrm>
          <a:prstGeom prst="line">
            <a:avLst/>
          </a:prstGeom>
          <a:noFill/>
          <a:ln w="19050" cap="flat" cmpd="sng" algn="ctr">
            <a:solidFill>
              <a:sysClr val="windowText" lastClr="000000"/>
            </a:solidFill>
            <a:prstDash val="solid"/>
            <a:miter lim="800000"/>
          </a:ln>
          <a:effectLst/>
        </p:spPr>
      </p:cxnSp>
      <p:cxnSp>
        <p:nvCxnSpPr>
          <p:cNvPr id="22" name="직선 연결선 21">
            <a:extLst>
              <a:ext uri="{FF2B5EF4-FFF2-40B4-BE49-F238E27FC236}">
                <a16:creationId xmlns:a16="http://schemas.microsoft.com/office/drawing/2014/main" id="{90102255-DE0E-CF37-8C2E-20B080C0C8DF}"/>
              </a:ext>
            </a:extLst>
          </p:cNvPr>
          <p:cNvCxnSpPr/>
          <p:nvPr/>
        </p:nvCxnSpPr>
        <p:spPr>
          <a:xfrm>
            <a:off x="2669969" y="3062916"/>
            <a:ext cx="132321" cy="0"/>
          </a:xfrm>
          <a:prstGeom prst="line">
            <a:avLst/>
          </a:prstGeom>
          <a:noFill/>
          <a:ln w="19050" cap="flat" cmpd="sng" algn="ctr">
            <a:solidFill>
              <a:sysClr val="windowText" lastClr="000000"/>
            </a:solidFill>
            <a:prstDash val="solid"/>
            <a:miter lim="800000"/>
          </a:ln>
          <a:effectLst/>
        </p:spPr>
      </p:cxnSp>
      <p:cxnSp>
        <p:nvCxnSpPr>
          <p:cNvPr id="23" name="직선 연결선 22">
            <a:extLst>
              <a:ext uri="{FF2B5EF4-FFF2-40B4-BE49-F238E27FC236}">
                <a16:creationId xmlns:a16="http://schemas.microsoft.com/office/drawing/2014/main" id="{ED941F0B-B43C-9F71-D19C-D8A4700D6C9D}"/>
              </a:ext>
            </a:extLst>
          </p:cNvPr>
          <p:cNvCxnSpPr/>
          <p:nvPr/>
        </p:nvCxnSpPr>
        <p:spPr>
          <a:xfrm>
            <a:off x="2451573" y="3065304"/>
            <a:ext cx="132321" cy="0"/>
          </a:xfrm>
          <a:prstGeom prst="line">
            <a:avLst/>
          </a:prstGeom>
          <a:noFill/>
          <a:ln w="19050" cap="flat" cmpd="sng" algn="ctr">
            <a:solidFill>
              <a:sysClr val="windowText" lastClr="000000"/>
            </a:solidFill>
            <a:prstDash val="solid"/>
            <a:miter lim="800000"/>
          </a:ln>
          <a:effectLst/>
        </p:spPr>
      </p:cxnSp>
      <p:cxnSp>
        <p:nvCxnSpPr>
          <p:cNvPr id="24" name="직선 연결선 23">
            <a:extLst>
              <a:ext uri="{FF2B5EF4-FFF2-40B4-BE49-F238E27FC236}">
                <a16:creationId xmlns:a16="http://schemas.microsoft.com/office/drawing/2014/main" id="{34DE5BF6-02AE-5785-C926-AB48C5ECD098}"/>
              </a:ext>
            </a:extLst>
          </p:cNvPr>
          <p:cNvCxnSpPr/>
          <p:nvPr/>
        </p:nvCxnSpPr>
        <p:spPr>
          <a:xfrm flipH="1" flipV="1">
            <a:off x="3298487" y="4610224"/>
            <a:ext cx="0" cy="315887"/>
          </a:xfrm>
          <a:prstGeom prst="line">
            <a:avLst/>
          </a:prstGeom>
          <a:noFill/>
          <a:ln w="12700" cap="flat" cmpd="sng" algn="ctr">
            <a:solidFill>
              <a:sysClr val="windowText" lastClr="000000"/>
            </a:solidFill>
            <a:prstDash val="solid"/>
            <a:miter lim="800000"/>
          </a:ln>
          <a:effectLst/>
        </p:spPr>
      </p:cxnSp>
      <p:cxnSp>
        <p:nvCxnSpPr>
          <p:cNvPr id="25" name="직선 연결선 24">
            <a:extLst>
              <a:ext uri="{FF2B5EF4-FFF2-40B4-BE49-F238E27FC236}">
                <a16:creationId xmlns:a16="http://schemas.microsoft.com/office/drawing/2014/main" id="{45370D84-8970-A6C4-F927-008214017B6C}"/>
              </a:ext>
            </a:extLst>
          </p:cNvPr>
          <p:cNvCxnSpPr/>
          <p:nvPr/>
        </p:nvCxnSpPr>
        <p:spPr>
          <a:xfrm flipH="1" flipV="1">
            <a:off x="3509662" y="4604948"/>
            <a:ext cx="0" cy="126355"/>
          </a:xfrm>
          <a:prstGeom prst="line">
            <a:avLst/>
          </a:prstGeom>
          <a:noFill/>
          <a:ln w="12700" cap="flat" cmpd="sng" algn="ctr">
            <a:solidFill>
              <a:sysClr val="windowText" lastClr="000000"/>
            </a:solidFill>
            <a:prstDash val="solid"/>
            <a:miter lim="800000"/>
          </a:ln>
          <a:effectLst/>
        </p:spPr>
      </p:cxnSp>
      <p:cxnSp>
        <p:nvCxnSpPr>
          <p:cNvPr id="26" name="직선 연결선 25">
            <a:extLst>
              <a:ext uri="{FF2B5EF4-FFF2-40B4-BE49-F238E27FC236}">
                <a16:creationId xmlns:a16="http://schemas.microsoft.com/office/drawing/2014/main" id="{3DE55198-74D5-9A1F-729B-FE78F9AD9DD0}"/>
              </a:ext>
            </a:extLst>
          </p:cNvPr>
          <p:cNvCxnSpPr/>
          <p:nvPr/>
        </p:nvCxnSpPr>
        <p:spPr>
          <a:xfrm flipH="1" flipV="1">
            <a:off x="3703885" y="4599374"/>
            <a:ext cx="0" cy="126355"/>
          </a:xfrm>
          <a:prstGeom prst="line">
            <a:avLst/>
          </a:prstGeom>
          <a:noFill/>
          <a:ln w="12700" cap="flat" cmpd="sng" algn="ctr">
            <a:solidFill>
              <a:sysClr val="windowText" lastClr="000000"/>
            </a:solidFill>
            <a:prstDash val="solid"/>
            <a:miter lim="800000"/>
          </a:ln>
          <a:effectLst/>
        </p:spPr>
      </p:cxnSp>
      <p:cxnSp>
        <p:nvCxnSpPr>
          <p:cNvPr id="27" name="직선 연결선 26">
            <a:extLst>
              <a:ext uri="{FF2B5EF4-FFF2-40B4-BE49-F238E27FC236}">
                <a16:creationId xmlns:a16="http://schemas.microsoft.com/office/drawing/2014/main" id="{95B6B1AA-49FD-5295-D33B-7CC45C1B91E3}"/>
              </a:ext>
            </a:extLst>
          </p:cNvPr>
          <p:cNvCxnSpPr>
            <a:cxnSpLocks/>
            <a:stCxn id="51" idx="3"/>
            <a:endCxn id="44" idx="4"/>
          </p:cNvCxnSpPr>
          <p:nvPr/>
        </p:nvCxnSpPr>
        <p:spPr>
          <a:xfrm flipV="1">
            <a:off x="3295720" y="2857358"/>
            <a:ext cx="2505" cy="1636186"/>
          </a:xfrm>
          <a:prstGeom prst="line">
            <a:avLst/>
          </a:prstGeom>
          <a:noFill/>
          <a:ln w="12700" cap="flat" cmpd="sng" algn="ctr">
            <a:solidFill>
              <a:sysClr val="windowText" lastClr="000000"/>
            </a:solidFill>
            <a:prstDash val="solid"/>
            <a:miter lim="800000"/>
          </a:ln>
          <a:effectLst/>
        </p:spPr>
      </p:cxnSp>
      <p:cxnSp>
        <p:nvCxnSpPr>
          <p:cNvPr id="28" name="직선 연결선 27">
            <a:extLst>
              <a:ext uri="{FF2B5EF4-FFF2-40B4-BE49-F238E27FC236}">
                <a16:creationId xmlns:a16="http://schemas.microsoft.com/office/drawing/2014/main" id="{EBDBD132-630C-2F45-B87C-3F8F4F049DF9}"/>
              </a:ext>
            </a:extLst>
          </p:cNvPr>
          <p:cNvCxnSpPr>
            <a:cxnSpLocks/>
            <a:stCxn id="52" idx="3"/>
          </p:cNvCxnSpPr>
          <p:nvPr/>
        </p:nvCxnSpPr>
        <p:spPr>
          <a:xfrm flipH="1" flipV="1">
            <a:off x="3512163" y="3040586"/>
            <a:ext cx="3235" cy="1451646"/>
          </a:xfrm>
          <a:prstGeom prst="line">
            <a:avLst/>
          </a:prstGeom>
          <a:noFill/>
          <a:ln w="12700" cap="flat" cmpd="sng" algn="ctr">
            <a:solidFill>
              <a:sysClr val="windowText" lastClr="000000"/>
            </a:solidFill>
            <a:prstDash val="solid"/>
            <a:miter lim="800000"/>
          </a:ln>
          <a:effectLst/>
        </p:spPr>
      </p:cxnSp>
      <p:cxnSp>
        <p:nvCxnSpPr>
          <p:cNvPr id="29" name="직선 연결선 28">
            <a:extLst>
              <a:ext uri="{FF2B5EF4-FFF2-40B4-BE49-F238E27FC236}">
                <a16:creationId xmlns:a16="http://schemas.microsoft.com/office/drawing/2014/main" id="{2A1E5EA9-D85F-60C3-6945-0E68D843015A}"/>
              </a:ext>
            </a:extLst>
          </p:cNvPr>
          <p:cNvCxnSpPr>
            <a:cxnSpLocks/>
            <a:stCxn id="53" idx="3"/>
          </p:cNvCxnSpPr>
          <p:nvPr/>
        </p:nvCxnSpPr>
        <p:spPr>
          <a:xfrm flipV="1">
            <a:off x="3683308" y="3320815"/>
            <a:ext cx="14742" cy="1179080"/>
          </a:xfrm>
          <a:prstGeom prst="line">
            <a:avLst/>
          </a:prstGeom>
          <a:noFill/>
          <a:ln w="12700" cap="flat" cmpd="sng" algn="ctr">
            <a:solidFill>
              <a:sysClr val="windowText" lastClr="000000"/>
            </a:solidFill>
            <a:prstDash val="solid"/>
            <a:miter lim="800000"/>
          </a:ln>
          <a:effectLst/>
        </p:spPr>
      </p:cxnSp>
      <p:cxnSp>
        <p:nvCxnSpPr>
          <p:cNvPr id="30" name="직선 연결선 29">
            <a:extLst>
              <a:ext uri="{FF2B5EF4-FFF2-40B4-BE49-F238E27FC236}">
                <a16:creationId xmlns:a16="http://schemas.microsoft.com/office/drawing/2014/main" id="{6F77B385-EF15-5053-F341-E75E8A5877EE}"/>
              </a:ext>
            </a:extLst>
          </p:cNvPr>
          <p:cNvCxnSpPr>
            <a:cxnSpLocks/>
            <a:endCxn id="78" idx="6"/>
          </p:cNvCxnSpPr>
          <p:nvPr/>
        </p:nvCxnSpPr>
        <p:spPr>
          <a:xfrm>
            <a:off x="2680595" y="3061824"/>
            <a:ext cx="1923053" cy="10351"/>
          </a:xfrm>
          <a:prstGeom prst="line">
            <a:avLst/>
          </a:prstGeom>
          <a:noFill/>
          <a:ln w="12700" cap="flat" cmpd="sng" algn="ctr">
            <a:solidFill>
              <a:sysClr val="windowText" lastClr="000000"/>
            </a:solidFill>
            <a:prstDash val="solid"/>
            <a:miter lim="800000"/>
          </a:ln>
          <a:effectLst/>
        </p:spPr>
      </p:cxnSp>
      <p:cxnSp>
        <p:nvCxnSpPr>
          <p:cNvPr id="31" name="직선 연결선 30">
            <a:extLst>
              <a:ext uri="{FF2B5EF4-FFF2-40B4-BE49-F238E27FC236}">
                <a16:creationId xmlns:a16="http://schemas.microsoft.com/office/drawing/2014/main" id="{F9E7003E-D9E5-F293-74A4-EFFA35E259F1}"/>
              </a:ext>
            </a:extLst>
          </p:cNvPr>
          <p:cNvCxnSpPr>
            <a:cxnSpLocks/>
          </p:cNvCxnSpPr>
          <p:nvPr/>
        </p:nvCxnSpPr>
        <p:spPr>
          <a:xfrm>
            <a:off x="1853455" y="3340374"/>
            <a:ext cx="395651" cy="0"/>
          </a:xfrm>
          <a:prstGeom prst="line">
            <a:avLst/>
          </a:prstGeom>
          <a:noFill/>
          <a:ln w="12700" cap="flat" cmpd="sng" algn="ctr">
            <a:solidFill>
              <a:sysClr val="windowText" lastClr="000000"/>
            </a:solidFill>
            <a:prstDash val="solid"/>
            <a:miter lim="800000"/>
          </a:ln>
          <a:effectLst/>
        </p:spPr>
      </p:cxnSp>
      <p:cxnSp>
        <p:nvCxnSpPr>
          <p:cNvPr id="32" name="직선 연결선 31">
            <a:extLst>
              <a:ext uri="{FF2B5EF4-FFF2-40B4-BE49-F238E27FC236}">
                <a16:creationId xmlns:a16="http://schemas.microsoft.com/office/drawing/2014/main" id="{4DAB4C3E-0651-CB47-D279-BFFC9418CAAE}"/>
              </a:ext>
            </a:extLst>
          </p:cNvPr>
          <p:cNvCxnSpPr/>
          <p:nvPr/>
        </p:nvCxnSpPr>
        <p:spPr>
          <a:xfrm>
            <a:off x="1862716" y="3064495"/>
            <a:ext cx="661609" cy="0"/>
          </a:xfrm>
          <a:prstGeom prst="line">
            <a:avLst/>
          </a:prstGeom>
          <a:noFill/>
          <a:ln w="12700" cap="flat" cmpd="sng" algn="ctr">
            <a:solidFill>
              <a:sysClr val="windowText" lastClr="000000"/>
            </a:solidFill>
            <a:prstDash val="solid"/>
            <a:miter lim="800000"/>
          </a:ln>
          <a:effectLst/>
        </p:spPr>
      </p:cxnSp>
      <p:cxnSp>
        <p:nvCxnSpPr>
          <p:cNvPr id="33" name="직선 연결선 32">
            <a:extLst>
              <a:ext uri="{FF2B5EF4-FFF2-40B4-BE49-F238E27FC236}">
                <a16:creationId xmlns:a16="http://schemas.microsoft.com/office/drawing/2014/main" id="{3159C1ED-C300-25F0-8477-CA2CA6878489}"/>
              </a:ext>
            </a:extLst>
          </p:cNvPr>
          <p:cNvCxnSpPr/>
          <p:nvPr/>
        </p:nvCxnSpPr>
        <p:spPr>
          <a:xfrm>
            <a:off x="3508475" y="4725938"/>
            <a:ext cx="198483" cy="0"/>
          </a:xfrm>
          <a:prstGeom prst="line">
            <a:avLst/>
          </a:prstGeom>
          <a:noFill/>
          <a:ln w="12700" cap="flat" cmpd="sng" algn="ctr">
            <a:solidFill>
              <a:sysClr val="windowText" lastClr="000000"/>
            </a:solidFill>
            <a:prstDash val="solid"/>
            <a:miter lim="800000"/>
          </a:ln>
          <a:effectLst/>
        </p:spPr>
      </p:cxnSp>
      <p:cxnSp>
        <p:nvCxnSpPr>
          <p:cNvPr id="34" name="직선 연결선 33">
            <a:extLst>
              <a:ext uri="{FF2B5EF4-FFF2-40B4-BE49-F238E27FC236}">
                <a16:creationId xmlns:a16="http://schemas.microsoft.com/office/drawing/2014/main" id="{78CAB54A-A469-1801-C94D-528879704F93}"/>
              </a:ext>
            </a:extLst>
          </p:cNvPr>
          <p:cNvCxnSpPr>
            <a:cxnSpLocks/>
          </p:cNvCxnSpPr>
          <p:nvPr/>
        </p:nvCxnSpPr>
        <p:spPr>
          <a:xfrm>
            <a:off x="2624956" y="3191568"/>
            <a:ext cx="0" cy="777182"/>
          </a:xfrm>
          <a:prstGeom prst="line">
            <a:avLst/>
          </a:prstGeom>
          <a:noFill/>
          <a:ln w="6350" cap="flat" cmpd="sng" algn="ctr">
            <a:solidFill>
              <a:sysClr val="windowText" lastClr="000000"/>
            </a:solidFill>
            <a:prstDash val="solid"/>
            <a:miter lim="800000"/>
          </a:ln>
          <a:effectLst/>
        </p:spPr>
      </p:cxnSp>
      <p:cxnSp>
        <p:nvCxnSpPr>
          <p:cNvPr id="35" name="직선 연결선 34">
            <a:extLst>
              <a:ext uri="{FF2B5EF4-FFF2-40B4-BE49-F238E27FC236}">
                <a16:creationId xmlns:a16="http://schemas.microsoft.com/office/drawing/2014/main" id="{F65658CF-670C-8FF0-13DC-FF15772665C1}"/>
              </a:ext>
            </a:extLst>
          </p:cNvPr>
          <p:cNvCxnSpPr/>
          <p:nvPr/>
        </p:nvCxnSpPr>
        <p:spPr>
          <a:xfrm>
            <a:off x="1908083" y="3808462"/>
            <a:ext cx="727769" cy="0"/>
          </a:xfrm>
          <a:prstGeom prst="line">
            <a:avLst/>
          </a:prstGeom>
          <a:noFill/>
          <a:ln w="6350" cap="flat" cmpd="sng" algn="ctr">
            <a:solidFill>
              <a:sysClr val="windowText" lastClr="000000"/>
            </a:solidFill>
            <a:prstDash val="solid"/>
            <a:miter lim="800000"/>
          </a:ln>
          <a:effectLst/>
        </p:spPr>
      </p:cxnSp>
      <p:cxnSp>
        <p:nvCxnSpPr>
          <p:cNvPr id="36" name="직선 연결선 35">
            <a:extLst>
              <a:ext uri="{FF2B5EF4-FFF2-40B4-BE49-F238E27FC236}">
                <a16:creationId xmlns:a16="http://schemas.microsoft.com/office/drawing/2014/main" id="{F58E1D08-25F5-4130-161C-8D0BD1F2D2B4}"/>
              </a:ext>
            </a:extLst>
          </p:cNvPr>
          <p:cNvCxnSpPr/>
          <p:nvPr/>
        </p:nvCxnSpPr>
        <p:spPr>
          <a:xfrm>
            <a:off x="1889744" y="3611852"/>
            <a:ext cx="545827" cy="0"/>
          </a:xfrm>
          <a:prstGeom prst="line">
            <a:avLst/>
          </a:prstGeom>
          <a:noFill/>
          <a:ln w="6350" cap="flat" cmpd="sng" algn="ctr">
            <a:solidFill>
              <a:sysClr val="windowText" lastClr="000000"/>
            </a:solidFill>
            <a:prstDash val="solid"/>
            <a:miter lim="800000"/>
          </a:ln>
          <a:effectLst/>
        </p:spPr>
      </p:cxnSp>
      <p:sp>
        <p:nvSpPr>
          <p:cNvPr id="37" name="TextBox 121">
            <a:extLst>
              <a:ext uri="{FF2B5EF4-FFF2-40B4-BE49-F238E27FC236}">
                <a16:creationId xmlns:a16="http://schemas.microsoft.com/office/drawing/2014/main" id="{FB9C9F96-BDA0-BD6B-CBE2-25CE2CB6B405}"/>
              </a:ext>
            </a:extLst>
          </p:cNvPr>
          <p:cNvSpPr txBox="1"/>
          <p:nvPr/>
        </p:nvSpPr>
        <p:spPr>
          <a:xfrm>
            <a:off x="1922254" y="3484793"/>
            <a:ext cx="279223"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GATE3</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38" name="TextBox 122">
            <a:extLst>
              <a:ext uri="{FF2B5EF4-FFF2-40B4-BE49-F238E27FC236}">
                <a16:creationId xmlns:a16="http://schemas.microsoft.com/office/drawing/2014/main" id="{DBF5ED4D-9641-BB34-B02F-BAC0070F7F5C}"/>
              </a:ext>
            </a:extLst>
          </p:cNvPr>
          <p:cNvSpPr txBox="1"/>
          <p:nvPr/>
        </p:nvSpPr>
        <p:spPr>
          <a:xfrm>
            <a:off x="1924754" y="3682197"/>
            <a:ext cx="279223"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GATE2</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39" name="TextBox 123">
            <a:extLst>
              <a:ext uri="{FF2B5EF4-FFF2-40B4-BE49-F238E27FC236}">
                <a16:creationId xmlns:a16="http://schemas.microsoft.com/office/drawing/2014/main" id="{C4A392B0-BADB-207D-B5AA-BB14DC358D21}"/>
              </a:ext>
            </a:extLst>
          </p:cNvPr>
          <p:cNvSpPr txBox="1"/>
          <p:nvPr/>
        </p:nvSpPr>
        <p:spPr>
          <a:xfrm>
            <a:off x="1889743" y="2661504"/>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VLED1</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40" name="TextBox 124">
            <a:extLst>
              <a:ext uri="{FF2B5EF4-FFF2-40B4-BE49-F238E27FC236}">
                <a16:creationId xmlns:a16="http://schemas.microsoft.com/office/drawing/2014/main" id="{47E5AA7E-5956-68A9-367B-05B83468180D}"/>
              </a:ext>
            </a:extLst>
          </p:cNvPr>
          <p:cNvSpPr txBox="1"/>
          <p:nvPr/>
        </p:nvSpPr>
        <p:spPr>
          <a:xfrm>
            <a:off x="1889744" y="2920441"/>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a:t>
            </a:r>
            <a:r>
              <a:rPr lang="en-US" altLang="ko-KR" sz="900" kern="0" dirty="0">
                <a:solidFill>
                  <a:sysClr val="windowText" lastClr="000000"/>
                </a:solidFill>
                <a:latin typeface="Aptos Narrow" panose="02110004020202020204"/>
                <a:ea typeface="맑은 고딕" panose="020B0503020000020004" pitchFamily="50" charset="-127"/>
              </a:rPr>
              <a:t>2</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41" name="TextBox 125">
            <a:extLst>
              <a:ext uri="{FF2B5EF4-FFF2-40B4-BE49-F238E27FC236}">
                <a16:creationId xmlns:a16="http://schemas.microsoft.com/office/drawing/2014/main" id="{12790F55-52ED-ACF5-E388-BF583B6B2421}"/>
              </a:ext>
            </a:extLst>
          </p:cNvPr>
          <p:cNvSpPr txBox="1"/>
          <p:nvPr/>
        </p:nvSpPr>
        <p:spPr>
          <a:xfrm>
            <a:off x="1900580" y="3201423"/>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a:t>
            </a:r>
            <a:r>
              <a:rPr lang="en-US" altLang="ko-KR" sz="900" kern="0" dirty="0">
                <a:solidFill>
                  <a:sysClr val="windowText" lastClr="000000"/>
                </a:solidFill>
                <a:latin typeface="Aptos Narrow" panose="02110004020202020204"/>
                <a:ea typeface="맑은 고딕" panose="020B0503020000020004" pitchFamily="50" charset="-127"/>
              </a:rPr>
              <a:t>3</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42" name="타원 41">
            <a:extLst>
              <a:ext uri="{FF2B5EF4-FFF2-40B4-BE49-F238E27FC236}">
                <a16:creationId xmlns:a16="http://schemas.microsoft.com/office/drawing/2014/main" id="{36273C81-6AF2-6D8D-0D03-D48B6E75A287}"/>
              </a:ext>
            </a:extLst>
          </p:cNvPr>
          <p:cNvSpPr/>
          <p:nvPr/>
        </p:nvSpPr>
        <p:spPr>
          <a:xfrm>
            <a:off x="3668875" y="3304896"/>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43" name="타원 42">
            <a:extLst>
              <a:ext uri="{FF2B5EF4-FFF2-40B4-BE49-F238E27FC236}">
                <a16:creationId xmlns:a16="http://schemas.microsoft.com/office/drawing/2014/main" id="{F87C45AA-786F-523C-6428-CC304EE69874}"/>
              </a:ext>
            </a:extLst>
          </p:cNvPr>
          <p:cNvSpPr/>
          <p:nvPr/>
        </p:nvSpPr>
        <p:spPr>
          <a:xfrm>
            <a:off x="3479654" y="3028689"/>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44" name="타원 43">
            <a:extLst>
              <a:ext uri="{FF2B5EF4-FFF2-40B4-BE49-F238E27FC236}">
                <a16:creationId xmlns:a16="http://schemas.microsoft.com/office/drawing/2014/main" id="{553A5725-EDF6-24BD-1D85-03BDC8B581AD}"/>
              </a:ext>
            </a:extLst>
          </p:cNvPr>
          <p:cNvSpPr/>
          <p:nvPr/>
        </p:nvSpPr>
        <p:spPr>
          <a:xfrm>
            <a:off x="3265144" y="2794181"/>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45" name="타원 44">
            <a:extLst>
              <a:ext uri="{FF2B5EF4-FFF2-40B4-BE49-F238E27FC236}">
                <a16:creationId xmlns:a16="http://schemas.microsoft.com/office/drawing/2014/main" id="{003BDC70-F27E-85B7-15A9-DB3E0367ABFC}"/>
              </a:ext>
            </a:extLst>
          </p:cNvPr>
          <p:cNvSpPr/>
          <p:nvPr/>
        </p:nvSpPr>
        <p:spPr>
          <a:xfrm>
            <a:off x="3575515" y="4698918"/>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46" name="직선 연결선 45">
            <a:extLst>
              <a:ext uri="{FF2B5EF4-FFF2-40B4-BE49-F238E27FC236}">
                <a16:creationId xmlns:a16="http://schemas.microsoft.com/office/drawing/2014/main" id="{37BDDE36-86AC-C444-FBF0-E6B94B718DF2}"/>
              </a:ext>
            </a:extLst>
          </p:cNvPr>
          <p:cNvCxnSpPr/>
          <p:nvPr/>
        </p:nvCxnSpPr>
        <p:spPr>
          <a:xfrm flipH="1" flipV="1">
            <a:off x="3613025" y="4727529"/>
            <a:ext cx="0" cy="189533"/>
          </a:xfrm>
          <a:prstGeom prst="line">
            <a:avLst/>
          </a:prstGeom>
          <a:noFill/>
          <a:ln w="12700" cap="flat" cmpd="sng" algn="ctr">
            <a:solidFill>
              <a:sysClr val="windowText" lastClr="000000"/>
            </a:solidFill>
            <a:prstDash val="solid"/>
            <a:miter lim="800000"/>
          </a:ln>
          <a:effectLst/>
        </p:spPr>
      </p:cxnSp>
      <p:sp>
        <p:nvSpPr>
          <p:cNvPr id="47" name="직사각형 46">
            <a:extLst>
              <a:ext uri="{FF2B5EF4-FFF2-40B4-BE49-F238E27FC236}">
                <a16:creationId xmlns:a16="http://schemas.microsoft.com/office/drawing/2014/main" id="{FBEB3A78-CBEE-1EDF-1769-178EFA549A2F}"/>
              </a:ext>
            </a:extLst>
          </p:cNvPr>
          <p:cNvSpPr/>
          <p:nvPr/>
        </p:nvSpPr>
        <p:spPr>
          <a:xfrm>
            <a:off x="1640080" y="2562037"/>
            <a:ext cx="3725669" cy="2986544"/>
          </a:xfrm>
          <a:prstGeom prst="rect">
            <a:avLst/>
          </a:prstGeom>
          <a:noFill/>
          <a:ln w="3175"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48" name="TextBox 263">
            <a:extLst>
              <a:ext uri="{FF2B5EF4-FFF2-40B4-BE49-F238E27FC236}">
                <a16:creationId xmlns:a16="http://schemas.microsoft.com/office/drawing/2014/main" id="{EE67DB5C-C2AC-1BD8-1091-92C5F7775F47}"/>
              </a:ext>
            </a:extLst>
          </p:cNvPr>
          <p:cNvSpPr txBox="1"/>
          <p:nvPr/>
        </p:nvSpPr>
        <p:spPr>
          <a:xfrm>
            <a:off x="4117222" y="5231787"/>
            <a:ext cx="323575" cy="136149"/>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XD12R</a:t>
            </a:r>
            <a:endParaRPr kumimoji="0" lang="ko-KR" altLang="en-US" sz="1000" b="1"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49" name="TextBox 48">
            <a:extLst>
              <a:ext uri="{FF2B5EF4-FFF2-40B4-BE49-F238E27FC236}">
                <a16:creationId xmlns:a16="http://schemas.microsoft.com/office/drawing/2014/main" id="{2B496430-A20D-C4F8-B23B-468139AA7680}"/>
              </a:ext>
            </a:extLst>
          </p:cNvPr>
          <p:cNvSpPr txBox="1"/>
          <p:nvPr/>
        </p:nvSpPr>
        <p:spPr>
          <a:xfrm>
            <a:off x="399458" y="1923928"/>
            <a:ext cx="6047999"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Type-C supports dimming 1# LED (RED) and 2# LED(GREEN/BLUE) and 3#(CYAN/MAGENTA). RED dimming can be generated within 1-frame, regardless of SVI.</a:t>
            </a:r>
          </a:p>
        </p:txBody>
      </p:sp>
      <p:sp>
        <p:nvSpPr>
          <p:cNvPr id="50" name="TextBox 49">
            <a:extLst>
              <a:ext uri="{FF2B5EF4-FFF2-40B4-BE49-F238E27FC236}">
                <a16:creationId xmlns:a16="http://schemas.microsoft.com/office/drawing/2014/main" id="{4EA81255-BD64-52C5-DF7E-78EBB3FECD9B}"/>
              </a:ext>
            </a:extLst>
          </p:cNvPr>
          <p:cNvSpPr txBox="1"/>
          <p:nvPr/>
        </p:nvSpPr>
        <p:spPr>
          <a:xfrm>
            <a:off x="1900580" y="8921280"/>
            <a:ext cx="3406061"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9  PWM Dimming sequence @ TYPE-B, LD_DIR = 1</a:t>
            </a:r>
          </a:p>
        </p:txBody>
      </p:sp>
      <p:sp>
        <p:nvSpPr>
          <p:cNvPr id="51" name="이등변 삼각형 50">
            <a:extLst>
              <a:ext uri="{FF2B5EF4-FFF2-40B4-BE49-F238E27FC236}">
                <a16:creationId xmlns:a16="http://schemas.microsoft.com/office/drawing/2014/main" id="{0B831D46-FAA8-C5C8-64D3-B76C9303DA82}"/>
              </a:ext>
            </a:extLst>
          </p:cNvPr>
          <p:cNvSpPr/>
          <p:nvPr/>
        </p:nvSpPr>
        <p:spPr>
          <a:xfrm rot="10800000">
            <a:off x="3213004" y="4493544"/>
            <a:ext cx="165433" cy="94675"/>
          </a:xfrm>
          <a:prstGeom prst="triangle">
            <a:avLst/>
          </a:prstGeom>
          <a:solidFill>
            <a:srgbClr val="FF0000"/>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52" name="이등변 삼각형 51">
            <a:extLst>
              <a:ext uri="{FF2B5EF4-FFF2-40B4-BE49-F238E27FC236}">
                <a16:creationId xmlns:a16="http://schemas.microsoft.com/office/drawing/2014/main" id="{D2A57A42-582F-16E4-97CA-C9771F250F2A}"/>
              </a:ext>
            </a:extLst>
          </p:cNvPr>
          <p:cNvSpPr/>
          <p:nvPr/>
        </p:nvSpPr>
        <p:spPr>
          <a:xfrm rot="10800000">
            <a:off x="3432682" y="4492232"/>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53" name="이등변 삼각형 52">
            <a:extLst>
              <a:ext uri="{FF2B5EF4-FFF2-40B4-BE49-F238E27FC236}">
                <a16:creationId xmlns:a16="http://schemas.microsoft.com/office/drawing/2014/main" id="{01978E05-8A5D-8A5E-90E5-2F343B535348}"/>
              </a:ext>
            </a:extLst>
          </p:cNvPr>
          <p:cNvSpPr/>
          <p:nvPr/>
        </p:nvSpPr>
        <p:spPr>
          <a:xfrm rot="10800000">
            <a:off x="3600592" y="4499895"/>
            <a:ext cx="165433" cy="94676"/>
          </a:xfrm>
          <a:prstGeom prst="triangle">
            <a:avLst/>
          </a:prstGeom>
          <a:solidFill>
            <a:srgbClr val="0066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60" name="TextBox 126">
            <a:extLst>
              <a:ext uri="{FF2B5EF4-FFF2-40B4-BE49-F238E27FC236}">
                <a16:creationId xmlns:a16="http://schemas.microsoft.com/office/drawing/2014/main" id="{00D60013-652F-50D0-9474-2095E3BDD2D3}"/>
              </a:ext>
            </a:extLst>
          </p:cNvPr>
          <p:cNvSpPr txBox="1"/>
          <p:nvPr/>
        </p:nvSpPr>
        <p:spPr>
          <a:xfrm>
            <a:off x="3208978" y="4960800"/>
            <a:ext cx="17864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kumimoji="0" lang="en-US" altLang="ko-KR" sz="900" b="0" i="0" u="none" strike="noStrike" kern="0" cap="none" spc="0" normalizeH="0" baseline="-25000" noProof="0" dirty="0">
                <a:ln>
                  <a:noFill/>
                </a:ln>
                <a:solidFill>
                  <a:sysClr val="windowText" lastClr="000000"/>
                </a:solidFill>
                <a:effectLst/>
                <a:uLnTx/>
                <a:uFillTx/>
                <a:latin typeface="Aptos Narrow" panose="02110004020202020204"/>
                <a:ea typeface="맑은 고딕" panose="020B0503020000020004" pitchFamily="50" charset="-127"/>
                <a:cs typeface="+mn-cs"/>
              </a:rPr>
              <a:t>A</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61" name="TextBox 136">
            <a:extLst>
              <a:ext uri="{FF2B5EF4-FFF2-40B4-BE49-F238E27FC236}">
                <a16:creationId xmlns:a16="http://schemas.microsoft.com/office/drawing/2014/main" id="{C90900D2-A152-28FC-35EC-2A2002288E69}"/>
              </a:ext>
            </a:extLst>
          </p:cNvPr>
          <p:cNvSpPr txBox="1"/>
          <p:nvPr/>
        </p:nvSpPr>
        <p:spPr>
          <a:xfrm>
            <a:off x="3525817" y="4962831"/>
            <a:ext cx="28611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lang="en-US" altLang="ko-KR" sz="900" kern="0" baseline="-25000" dirty="0">
                <a:solidFill>
                  <a:sysClr val="windowText" lastClr="000000"/>
                </a:solidFill>
                <a:latin typeface="Aptos Narrow" panose="02110004020202020204"/>
                <a:ea typeface="맑은 고딕" panose="020B0503020000020004" pitchFamily="50" charset="-127"/>
              </a:rPr>
              <a:t>B</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cxnSp>
        <p:nvCxnSpPr>
          <p:cNvPr id="73" name="직선 연결선 72">
            <a:extLst>
              <a:ext uri="{FF2B5EF4-FFF2-40B4-BE49-F238E27FC236}">
                <a16:creationId xmlns:a16="http://schemas.microsoft.com/office/drawing/2014/main" id="{0D3100D3-3BF2-2458-B983-0AEBC704A7DA}"/>
              </a:ext>
            </a:extLst>
          </p:cNvPr>
          <p:cNvCxnSpPr>
            <a:cxnSpLocks/>
            <a:stCxn id="148" idx="3"/>
            <a:endCxn id="79" idx="4"/>
          </p:cNvCxnSpPr>
          <p:nvPr/>
        </p:nvCxnSpPr>
        <p:spPr>
          <a:xfrm flipH="1" flipV="1">
            <a:off x="4342544" y="2851295"/>
            <a:ext cx="6461" cy="1643077"/>
          </a:xfrm>
          <a:prstGeom prst="line">
            <a:avLst/>
          </a:prstGeom>
          <a:noFill/>
          <a:ln w="12700" cap="flat" cmpd="sng" algn="ctr">
            <a:solidFill>
              <a:sysClr val="windowText" lastClr="000000"/>
            </a:solidFill>
            <a:prstDash val="solid"/>
            <a:miter lim="800000"/>
          </a:ln>
          <a:effectLst/>
        </p:spPr>
      </p:cxnSp>
      <p:cxnSp>
        <p:nvCxnSpPr>
          <p:cNvPr id="74" name="직선 연결선 73">
            <a:extLst>
              <a:ext uri="{FF2B5EF4-FFF2-40B4-BE49-F238E27FC236}">
                <a16:creationId xmlns:a16="http://schemas.microsoft.com/office/drawing/2014/main" id="{8F5AF419-5821-34EE-0EF6-E229AC43C0E2}"/>
              </a:ext>
            </a:extLst>
          </p:cNvPr>
          <p:cNvCxnSpPr>
            <a:cxnSpLocks/>
            <a:stCxn id="149" idx="3"/>
          </p:cNvCxnSpPr>
          <p:nvPr/>
        </p:nvCxnSpPr>
        <p:spPr>
          <a:xfrm flipV="1">
            <a:off x="4568683" y="3052483"/>
            <a:ext cx="1313" cy="1440577"/>
          </a:xfrm>
          <a:prstGeom prst="line">
            <a:avLst/>
          </a:prstGeom>
          <a:noFill/>
          <a:ln w="12700" cap="flat" cmpd="sng" algn="ctr">
            <a:solidFill>
              <a:sysClr val="windowText" lastClr="000000"/>
            </a:solidFill>
            <a:prstDash val="solid"/>
            <a:miter lim="800000"/>
          </a:ln>
          <a:effectLst/>
        </p:spPr>
      </p:cxnSp>
      <p:cxnSp>
        <p:nvCxnSpPr>
          <p:cNvPr id="75" name="직선 연결선 74">
            <a:extLst>
              <a:ext uri="{FF2B5EF4-FFF2-40B4-BE49-F238E27FC236}">
                <a16:creationId xmlns:a16="http://schemas.microsoft.com/office/drawing/2014/main" id="{4364C1F7-93F3-F07B-C8A5-6C46952E37E1}"/>
              </a:ext>
            </a:extLst>
          </p:cNvPr>
          <p:cNvCxnSpPr>
            <a:cxnSpLocks/>
            <a:endCxn id="77" idx="4"/>
          </p:cNvCxnSpPr>
          <p:nvPr/>
        </p:nvCxnSpPr>
        <p:spPr>
          <a:xfrm flipV="1">
            <a:off x="4733416" y="3379970"/>
            <a:ext cx="15792" cy="1120753"/>
          </a:xfrm>
          <a:prstGeom prst="line">
            <a:avLst/>
          </a:prstGeom>
          <a:noFill/>
          <a:ln w="12700" cap="flat" cmpd="sng" algn="ctr">
            <a:solidFill>
              <a:sysClr val="windowText" lastClr="000000"/>
            </a:solidFill>
            <a:prstDash val="solid"/>
            <a:miter lim="800000"/>
          </a:ln>
          <a:effectLst/>
        </p:spPr>
      </p:cxnSp>
      <p:sp>
        <p:nvSpPr>
          <p:cNvPr id="77" name="타원 76">
            <a:extLst>
              <a:ext uri="{FF2B5EF4-FFF2-40B4-BE49-F238E27FC236}">
                <a16:creationId xmlns:a16="http://schemas.microsoft.com/office/drawing/2014/main" id="{12CF918B-C0F9-35A8-0292-1D4B627FCFA7}"/>
              </a:ext>
            </a:extLst>
          </p:cNvPr>
          <p:cNvSpPr/>
          <p:nvPr/>
        </p:nvSpPr>
        <p:spPr>
          <a:xfrm>
            <a:off x="4716127" y="3316793"/>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8" name="타원 77">
            <a:extLst>
              <a:ext uri="{FF2B5EF4-FFF2-40B4-BE49-F238E27FC236}">
                <a16:creationId xmlns:a16="http://schemas.microsoft.com/office/drawing/2014/main" id="{E856638F-FEE0-ACBD-50E2-7DCE9932E668}"/>
              </a:ext>
            </a:extLst>
          </p:cNvPr>
          <p:cNvSpPr/>
          <p:nvPr/>
        </p:nvSpPr>
        <p:spPr>
          <a:xfrm>
            <a:off x="4537487" y="3040586"/>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9" name="타원 78">
            <a:extLst>
              <a:ext uri="{FF2B5EF4-FFF2-40B4-BE49-F238E27FC236}">
                <a16:creationId xmlns:a16="http://schemas.microsoft.com/office/drawing/2014/main" id="{E3251087-D3CC-84F7-5598-08F3D7CF8BCF}"/>
              </a:ext>
            </a:extLst>
          </p:cNvPr>
          <p:cNvSpPr/>
          <p:nvPr/>
        </p:nvSpPr>
        <p:spPr>
          <a:xfrm>
            <a:off x="4309463" y="2788118"/>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91" name="직선 연결선 90">
            <a:extLst>
              <a:ext uri="{FF2B5EF4-FFF2-40B4-BE49-F238E27FC236}">
                <a16:creationId xmlns:a16="http://schemas.microsoft.com/office/drawing/2014/main" id="{0D7F1107-F137-8656-5BB6-15E95F59FF15}"/>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2" name="TextBox 91">
            <a:extLst>
              <a:ext uri="{FF2B5EF4-FFF2-40B4-BE49-F238E27FC236}">
                <a16:creationId xmlns:a16="http://schemas.microsoft.com/office/drawing/2014/main" id="{4E1A81A3-F8DB-D49D-0B95-3E248BF9F671}"/>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cxnSp>
        <p:nvCxnSpPr>
          <p:cNvPr id="94" name="직선 연결선 93">
            <a:extLst>
              <a:ext uri="{FF2B5EF4-FFF2-40B4-BE49-F238E27FC236}">
                <a16:creationId xmlns:a16="http://schemas.microsoft.com/office/drawing/2014/main" id="{6E5258FC-5FED-3A26-2F28-C389F3B61688}"/>
              </a:ext>
            </a:extLst>
          </p:cNvPr>
          <p:cNvCxnSpPr/>
          <p:nvPr/>
        </p:nvCxnSpPr>
        <p:spPr>
          <a:xfrm>
            <a:off x="2281528" y="4309979"/>
            <a:ext cx="264644" cy="0"/>
          </a:xfrm>
          <a:prstGeom prst="line">
            <a:avLst/>
          </a:prstGeom>
          <a:noFill/>
          <a:ln w="19050" cap="flat" cmpd="sng" algn="ctr">
            <a:solidFill>
              <a:sysClr val="windowText" lastClr="000000"/>
            </a:solidFill>
            <a:prstDash val="solid"/>
            <a:miter lim="800000"/>
          </a:ln>
          <a:effectLst/>
        </p:spPr>
      </p:cxnSp>
      <p:cxnSp>
        <p:nvCxnSpPr>
          <p:cNvPr id="95" name="직선 연결선 94">
            <a:extLst>
              <a:ext uri="{FF2B5EF4-FFF2-40B4-BE49-F238E27FC236}">
                <a16:creationId xmlns:a16="http://schemas.microsoft.com/office/drawing/2014/main" id="{4FA08A28-7737-7D4D-7FB7-EFF80E86B07B}"/>
              </a:ext>
            </a:extLst>
          </p:cNvPr>
          <p:cNvCxnSpPr/>
          <p:nvPr/>
        </p:nvCxnSpPr>
        <p:spPr>
          <a:xfrm>
            <a:off x="2346548" y="4244261"/>
            <a:ext cx="132322" cy="0"/>
          </a:xfrm>
          <a:prstGeom prst="line">
            <a:avLst/>
          </a:prstGeom>
          <a:noFill/>
          <a:ln w="19050" cap="flat" cmpd="sng" algn="ctr">
            <a:solidFill>
              <a:sysClr val="windowText" lastClr="000000"/>
            </a:solidFill>
            <a:prstDash val="solid"/>
            <a:miter lim="800000"/>
          </a:ln>
          <a:effectLst/>
        </p:spPr>
      </p:cxnSp>
      <p:cxnSp>
        <p:nvCxnSpPr>
          <p:cNvPr id="96" name="직선 연결선 95">
            <a:extLst>
              <a:ext uri="{FF2B5EF4-FFF2-40B4-BE49-F238E27FC236}">
                <a16:creationId xmlns:a16="http://schemas.microsoft.com/office/drawing/2014/main" id="{DBC4901F-3966-B8BA-1F50-8338E94FCBDB}"/>
              </a:ext>
            </a:extLst>
          </p:cNvPr>
          <p:cNvCxnSpPr/>
          <p:nvPr/>
        </p:nvCxnSpPr>
        <p:spPr>
          <a:xfrm rot="5400000" flipH="1" flipV="1">
            <a:off x="2323957" y="4347449"/>
            <a:ext cx="63177" cy="0"/>
          </a:xfrm>
          <a:prstGeom prst="line">
            <a:avLst/>
          </a:prstGeom>
          <a:noFill/>
          <a:ln w="19050" cap="flat" cmpd="sng" algn="ctr">
            <a:solidFill>
              <a:sysClr val="windowText" lastClr="000000"/>
            </a:solidFill>
            <a:prstDash val="solid"/>
            <a:miter lim="800000"/>
          </a:ln>
          <a:effectLst/>
        </p:spPr>
      </p:cxnSp>
      <p:cxnSp>
        <p:nvCxnSpPr>
          <p:cNvPr id="97" name="직선 연결선 96">
            <a:extLst>
              <a:ext uri="{FF2B5EF4-FFF2-40B4-BE49-F238E27FC236}">
                <a16:creationId xmlns:a16="http://schemas.microsoft.com/office/drawing/2014/main" id="{153C436D-A120-BD8B-819B-A4BF6768FACD}"/>
              </a:ext>
            </a:extLst>
          </p:cNvPr>
          <p:cNvCxnSpPr/>
          <p:nvPr/>
        </p:nvCxnSpPr>
        <p:spPr>
          <a:xfrm rot="5400000">
            <a:off x="2431647" y="4342686"/>
            <a:ext cx="63177" cy="0"/>
          </a:xfrm>
          <a:prstGeom prst="line">
            <a:avLst/>
          </a:prstGeom>
          <a:noFill/>
          <a:ln w="19050" cap="flat" cmpd="sng" algn="ctr">
            <a:solidFill>
              <a:sysClr val="windowText" lastClr="000000"/>
            </a:solidFill>
            <a:prstDash val="solid"/>
            <a:miter lim="800000"/>
          </a:ln>
          <a:effectLst/>
        </p:spPr>
      </p:cxnSp>
      <p:cxnSp>
        <p:nvCxnSpPr>
          <p:cNvPr id="98" name="직선 연결선 97">
            <a:extLst>
              <a:ext uri="{FF2B5EF4-FFF2-40B4-BE49-F238E27FC236}">
                <a16:creationId xmlns:a16="http://schemas.microsoft.com/office/drawing/2014/main" id="{D58DEEE2-816F-9A0A-8203-2032218AC54E}"/>
              </a:ext>
            </a:extLst>
          </p:cNvPr>
          <p:cNvCxnSpPr/>
          <p:nvPr/>
        </p:nvCxnSpPr>
        <p:spPr>
          <a:xfrm>
            <a:off x="2451930" y="4364581"/>
            <a:ext cx="132321" cy="0"/>
          </a:xfrm>
          <a:prstGeom prst="line">
            <a:avLst/>
          </a:prstGeom>
          <a:noFill/>
          <a:ln w="19050" cap="flat" cmpd="sng" algn="ctr">
            <a:solidFill>
              <a:sysClr val="windowText" lastClr="000000"/>
            </a:solidFill>
            <a:prstDash val="solid"/>
            <a:miter lim="800000"/>
          </a:ln>
          <a:effectLst/>
        </p:spPr>
      </p:cxnSp>
      <p:cxnSp>
        <p:nvCxnSpPr>
          <p:cNvPr id="99" name="직선 연결선 98">
            <a:extLst>
              <a:ext uri="{FF2B5EF4-FFF2-40B4-BE49-F238E27FC236}">
                <a16:creationId xmlns:a16="http://schemas.microsoft.com/office/drawing/2014/main" id="{D28AE365-2B1D-448C-380B-C86B143EF61E}"/>
              </a:ext>
            </a:extLst>
          </p:cNvPr>
          <p:cNvCxnSpPr/>
          <p:nvPr/>
        </p:nvCxnSpPr>
        <p:spPr>
          <a:xfrm>
            <a:off x="2233535" y="4366968"/>
            <a:ext cx="132321" cy="0"/>
          </a:xfrm>
          <a:prstGeom prst="line">
            <a:avLst/>
          </a:prstGeom>
          <a:noFill/>
          <a:ln w="19050" cap="flat" cmpd="sng" algn="ctr">
            <a:solidFill>
              <a:sysClr val="windowText" lastClr="000000"/>
            </a:solidFill>
            <a:prstDash val="solid"/>
            <a:miter lim="800000"/>
          </a:ln>
          <a:effectLst/>
        </p:spPr>
      </p:cxnSp>
      <p:cxnSp>
        <p:nvCxnSpPr>
          <p:cNvPr id="100" name="직선 연결선 99">
            <a:extLst>
              <a:ext uri="{FF2B5EF4-FFF2-40B4-BE49-F238E27FC236}">
                <a16:creationId xmlns:a16="http://schemas.microsoft.com/office/drawing/2014/main" id="{7B0FE151-A43E-A00A-8640-EF573E9EDE21}"/>
              </a:ext>
            </a:extLst>
          </p:cNvPr>
          <p:cNvCxnSpPr/>
          <p:nvPr/>
        </p:nvCxnSpPr>
        <p:spPr>
          <a:xfrm>
            <a:off x="2483253" y="4029300"/>
            <a:ext cx="264644" cy="0"/>
          </a:xfrm>
          <a:prstGeom prst="line">
            <a:avLst/>
          </a:prstGeom>
          <a:noFill/>
          <a:ln w="19050" cap="flat" cmpd="sng" algn="ctr">
            <a:solidFill>
              <a:sysClr val="windowText" lastClr="000000"/>
            </a:solidFill>
            <a:prstDash val="solid"/>
            <a:miter lim="800000"/>
          </a:ln>
          <a:effectLst/>
        </p:spPr>
      </p:cxnSp>
      <p:cxnSp>
        <p:nvCxnSpPr>
          <p:cNvPr id="101" name="직선 연결선 100">
            <a:extLst>
              <a:ext uri="{FF2B5EF4-FFF2-40B4-BE49-F238E27FC236}">
                <a16:creationId xmlns:a16="http://schemas.microsoft.com/office/drawing/2014/main" id="{EBB1C13B-44C0-A2A1-3682-AAD650C83872}"/>
              </a:ext>
            </a:extLst>
          </p:cNvPr>
          <p:cNvCxnSpPr/>
          <p:nvPr/>
        </p:nvCxnSpPr>
        <p:spPr>
          <a:xfrm>
            <a:off x="2548273" y="3973107"/>
            <a:ext cx="132322" cy="0"/>
          </a:xfrm>
          <a:prstGeom prst="line">
            <a:avLst/>
          </a:prstGeom>
          <a:noFill/>
          <a:ln w="19050" cap="flat" cmpd="sng" algn="ctr">
            <a:solidFill>
              <a:sysClr val="windowText" lastClr="000000"/>
            </a:solidFill>
            <a:prstDash val="solid"/>
            <a:miter lim="800000"/>
          </a:ln>
          <a:effectLst/>
        </p:spPr>
      </p:cxnSp>
      <p:cxnSp>
        <p:nvCxnSpPr>
          <p:cNvPr id="102" name="직선 연결선 101">
            <a:extLst>
              <a:ext uri="{FF2B5EF4-FFF2-40B4-BE49-F238E27FC236}">
                <a16:creationId xmlns:a16="http://schemas.microsoft.com/office/drawing/2014/main" id="{28390C59-B897-617B-0342-C63F8825F240}"/>
              </a:ext>
            </a:extLst>
          </p:cNvPr>
          <p:cNvCxnSpPr/>
          <p:nvPr/>
        </p:nvCxnSpPr>
        <p:spPr>
          <a:xfrm rot="5400000" flipH="1" flipV="1">
            <a:off x="2525682" y="4055660"/>
            <a:ext cx="63177" cy="0"/>
          </a:xfrm>
          <a:prstGeom prst="line">
            <a:avLst/>
          </a:prstGeom>
          <a:noFill/>
          <a:ln w="19050" cap="flat" cmpd="sng" algn="ctr">
            <a:solidFill>
              <a:sysClr val="windowText" lastClr="000000"/>
            </a:solidFill>
            <a:prstDash val="solid"/>
            <a:miter lim="800000"/>
          </a:ln>
          <a:effectLst/>
        </p:spPr>
      </p:cxnSp>
      <p:cxnSp>
        <p:nvCxnSpPr>
          <p:cNvPr id="103" name="직선 연결선 102">
            <a:extLst>
              <a:ext uri="{FF2B5EF4-FFF2-40B4-BE49-F238E27FC236}">
                <a16:creationId xmlns:a16="http://schemas.microsoft.com/office/drawing/2014/main" id="{61E90DD1-4C09-945B-9C27-2A91E4739AA2}"/>
              </a:ext>
            </a:extLst>
          </p:cNvPr>
          <p:cNvCxnSpPr/>
          <p:nvPr/>
        </p:nvCxnSpPr>
        <p:spPr>
          <a:xfrm rot="5400000">
            <a:off x="2634960" y="4063591"/>
            <a:ext cx="63177" cy="0"/>
          </a:xfrm>
          <a:prstGeom prst="line">
            <a:avLst/>
          </a:prstGeom>
          <a:noFill/>
          <a:ln w="19050" cap="flat" cmpd="sng" algn="ctr">
            <a:solidFill>
              <a:sysClr val="windowText" lastClr="000000"/>
            </a:solidFill>
            <a:prstDash val="solid"/>
            <a:miter lim="800000"/>
          </a:ln>
          <a:effectLst/>
        </p:spPr>
      </p:cxnSp>
      <p:cxnSp>
        <p:nvCxnSpPr>
          <p:cNvPr id="104" name="직선 연결선 103">
            <a:extLst>
              <a:ext uri="{FF2B5EF4-FFF2-40B4-BE49-F238E27FC236}">
                <a16:creationId xmlns:a16="http://schemas.microsoft.com/office/drawing/2014/main" id="{DB07007C-9FBE-061B-F85E-EBDFFBB6EA71}"/>
              </a:ext>
            </a:extLst>
          </p:cNvPr>
          <p:cNvCxnSpPr/>
          <p:nvPr/>
        </p:nvCxnSpPr>
        <p:spPr>
          <a:xfrm>
            <a:off x="2653656" y="4087076"/>
            <a:ext cx="132321" cy="0"/>
          </a:xfrm>
          <a:prstGeom prst="line">
            <a:avLst/>
          </a:prstGeom>
          <a:noFill/>
          <a:ln w="19050" cap="flat" cmpd="sng" algn="ctr">
            <a:solidFill>
              <a:sysClr val="windowText" lastClr="000000"/>
            </a:solidFill>
            <a:prstDash val="solid"/>
            <a:miter lim="800000"/>
          </a:ln>
          <a:effectLst/>
        </p:spPr>
      </p:cxnSp>
      <p:cxnSp>
        <p:nvCxnSpPr>
          <p:cNvPr id="105" name="직선 연결선 104">
            <a:extLst>
              <a:ext uri="{FF2B5EF4-FFF2-40B4-BE49-F238E27FC236}">
                <a16:creationId xmlns:a16="http://schemas.microsoft.com/office/drawing/2014/main" id="{888FA52C-FA8F-6ECD-F4C3-09FAF3CD145D}"/>
              </a:ext>
            </a:extLst>
          </p:cNvPr>
          <p:cNvCxnSpPr/>
          <p:nvPr/>
        </p:nvCxnSpPr>
        <p:spPr>
          <a:xfrm>
            <a:off x="2435260" y="4089464"/>
            <a:ext cx="132321" cy="0"/>
          </a:xfrm>
          <a:prstGeom prst="line">
            <a:avLst/>
          </a:prstGeom>
          <a:noFill/>
          <a:ln w="19050" cap="flat" cmpd="sng" algn="ctr">
            <a:solidFill>
              <a:sysClr val="windowText" lastClr="000000"/>
            </a:solidFill>
            <a:prstDash val="solid"/>
            <a:miter lim="800000"/>
          </a:ln>
          <a:effectLst/>
        </p:spPr>
      </p:cxnSp>
      <p:cxnSp>
        <p:nvCxnSpPr>
          <p:cNvPr id="106" name="직선 연결선 105">
            <a:extLst>
              <a:ext uri="{FF2B5EF4-FFF2-40B4-BE49-F238E27FC236}">
                <a16:creationId xmlns:a16="http://schemas.microsoft.com/office/drawing/2014/main" id="{35C59CBD-2957-708E-91E4-DE5C39415616}"/>
              </a:ext>
            </a:extLst>
          </p:cNvPr>
          <p:cNvCxnSpPr>
            <a:cxnSpLocks/>
          </p:cNvCxnSpPr>
          <p:nvPr/>
        </p:nvCxnSpPr>
        <p:spPr>
          <a:xfrm>
            <a:off x="1836738" y="4364534"/>
            <a:ext cx="396055" cy="0"/>
          </a:xfrm>
          <a:prstGeom prst="line">
            <a:avLst/>
          </a:prstGeom>
          <a:noFill/>
          <a:ln w="12700" cap="flat" cmpd="sng" algn="ctr">
            <a:solidFill>
              <a:sysClr val="windowText" lastClr="000000"/>
            </a:solidFill>
            <a:prstDash val="solid"/>
            <a:miter lim="800000"/>
          </a:ln>
          <a:effectLst/>
        </p:spPr>
      </p:cxnSp>
      <p:cxnSp>
        <p:nvCxnSpPr>
          <p:cNvPr id="107" name="직선 연결선 106">
            <a:extLst>
              <a:ext uri="{FF2B5EF4-FFF2-40B4-BE49-F238E27FC236}">
                <a16:creationId xmlns:a16="http://schemas.microsoft.com/office/drawing/2014/main" id="{6801CF26-46F8-3EDB-275E-B49E809CBB57}"/>
              </a:ext>
            </a:extLst>
          </p:cNvPr>
          <p:cNvCxnSpPr/>
          <p:nvPr/>
        </p:nvCxnSpPr>
        <p:spPr>
          <a:xfrm>
            <a:off x="1846403" y="4088655"/>
            <a:ext cx="661609" cy="0"/>
          </a:xfrm>
          <a:prstGeom prst="line">
            <a:avLst/>
          </a:prstGeom>
          <a:noFill/>
          <a:ln w="12700" cap="flat" cmpd="sng" algn="ctr">
            <a:solidFill>
              <a:sysClr val="windowText" lastClr="000000"/>
            </a:solidFill>
            <a:prstDash val="solid"/>
            <a:miter lim="800000"/>
          </a:ln>
          <a:effectLst/>
        </p:spPr>
      </p:cxnSp>
      <p:sp>
        <p:nvSpPr>
          <p:cNvPr id="113" name="TextBox 124">
            <a:extLst>
              <a:ext uri="{FF2B5EF4-FFF2-40B4-BE49-F238E27FC236}">
                <a16:creationId xmlns:a16="http://schemas.microsoft.com/office/drawing/2014/main" id="{36D37786-2D27-30E7-AD69-CDCEB84F1BB6}"/>
              </a:ext>
            </a:extLst>
          </p:cNvPr>
          <p:cNvSpPr txBox="1"/>
          <p:nvPr/>
        </p:nvSpPr>
        <p:spPr>
          <a:xfrm>
            <a:off x="1873431" y="3944601"/>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VLED4</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4" name="TextBox 125">
            <a:extLst>
              <a:ext uri="{FF2B5EF4-FFF2-40B4-BE49-F238E27FC236}">
                <a16:creationId xmlns:a16="http://schemas.microsoft.com/office/drawing/2014/main" id="{B39FF7B4-BAC5-5329-5AC6-D3609C126E1A}"/>
              </a:ext>
            </a:extLst>
          </p:cNvPr>
          <p:cNvSpPr txBox="1"/>
          <p:nvPr/>
        </p:nvSpPr>
        <p:spPr>
          <a:xfrm>
            <a:off x="1884267" y="4225583"/>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VLED5</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9" name="타원 118">
            <a:extLst>
              <a:ext uri="{FF2B5EF4-FFF2-40B4-BE49-F238E27FC236}">
                <a16:creationId xmlns:a16="http://schemas.microsoft.com/office/drawing/2014/main" id="{6D0C4A19-D676-E9EC-BB56-6E195F704118}"/>
              </a:ext>
            </a:extLst>
          </p:cNvPr>
          <p:cNvSpPr/>
          <p:nvPr/>
        </p:nvSpPr>
        <p:spPr>
          <a:xfrm>
            <a:off x="2592599" y="3782378"/>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20" name="타원 119">
            <a:extLst>
              <a:ext uri="{FF2B5EF4-FFF2-40B4-BE49-F238E27FC236}">
                <a16:creationId xmlns:a16="http://schemas.microsoft.com/office/drawing/2014/main" id="{D99E31BF-A2A4-A873-89C1-78AF4BC52D79}"/>
              </a:ext>
            </a:extLst>
          </p:cNvPr>
          <p:cNvSpPr/>
          <p:nvPr/>
        </p:nvSpPr>
        <p:spPr>
          <a:xfrm>
            <a:off x="2402490" y="3576568"/>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21" name="직선 연결선 120">
            <a:extLst>
              <a:ext uri="{FF2B5EF4-FFF2-40B4-BE49-F238E27FC236}">
                <a16:creationId xmlns:a16="http://schemas.microsoft.com/office/drawing/2014/main" id="{E220E8EB-3BC0-B4EB-7A68-3CA20D0FE1E4}"/>
              </a:ext>
            </a:extLst>
          </p:cNvPr>
          <p:cNvCxnSpPr>
            <a:cxnSpLocks/>
            <a:endCxn id="186" idx="2"/>
          </p:cNvCxnSpPr>
          <p:nvPr/>
        </p:nvCxnSpPr>
        <p:spPr>
          <a:xfrm>
            <a:off x="2762176" y="4085868"/>
            <a:ext cx="2192822" cy="18369"/>
          </a:xfrm>
          <a:prstGeom prst="line">
            <a:avLst/>
          </a:prstGeom>
          <a:noFill/>
          <a:ln w="12700" cap="flat" cmpd="sng" algn="ctr">
            <a:solidFill>
              <a:sysClr val="windowText" lastClr="000000"/>
            </a:solidFill>
            <a:prstDash val="solid"/>
            <a:miter lim="800000"/>
          </a:ln>
          <a:effectLst/>
        </p:spPr>
      </p:cxnSp>
      <p:cxnSp>
        <p:nvCxnSpPr>
          <p:cNvPr id="122" name="직선 연결선 121">
            <a:extLst>
              <a:ext uri="{FF2B5EF4-FFF2-40B4-BE49-F238E27FC236}">
                <a16:creationId xmlns:a16="http://schemas.microsoft.com/office/drawing/2014/main" id="{023A84FA-6364-D1C8-8647-3E46C6751312}"/>
              </a:ext>
            </a:extLst>
          </p:cNvPr>
          <p:cNvCxnSpPr>
            <a:cxnSpLocks/>
            <a:endCxn id="185" idx="2"/>
          </p:cNvCxnSpPr>
          <p:nvPr/>
        </p:nvCxnSpPr>
        <p:spPr>
          <a:xfrm>
            <a:off x="2583894" y="4365387"/>
            <a:ext cx="2544450" cy="21407"/>
          </a:xfrm>
          <a:prstGeom prst="line">
            <a:avLst/>
          </a:prstGeom>
          <a:noFill/>
          <a:ln w="12700" cap="flat" cmpd="sng" algn="ctr">
            <a:solidFill>
              <a:sysClr val="windowText" lastClr="000000"/>
            </a:solidFill>
            <a:prstDash val="solid"/>
            <a:miter lim="800000"/>
          </a:ln>
          <a:effectLst/>
        </p:spPr>
      </p:cxnSp>
      <p:cxnSp>
        <p:nvCxnSpPr>
          <p:cNvPr id="123" name="직선 연결선 122">
            <a:extLst>
              <a:ext uri="{FF2B5EF4-FFF2-40B4-BE49-F238E27FC236}">
                <a16:creationId xmlns:a16="http://schemas.microsoft.com/office/drawing/2014/main" id="{B8002C49-863E-ECD1-C1F5-130F51F9314B}"/>
              </a:ext>
            </a:extLst>
          </p:cNvPr>
          <p:cNvCxnSpPr/>
          <p:nvPr/>
        </p:nvCxnSpPr>
        <p:spPr>
          <a:xfrm>
            <a:off x="3822366" y="4603069"/>
            <a:ext cx="179219" cy="0"/>
          </a:xfrm>
          <a:prstGeom prst="line">
            <a:avLst/>
          </a:prstGeom>
          <a:noFill/>
          <a:ln w="19050" cap="flat" cmpd="sng" algn="ctr">
            <a:solidFill>
              <a:sysClr val="windowText" lastClr="000000"/>
            </a:solidFill>
            <a:prstDash val="solid"/>
            <a:miter lim="800000"/>
          </a:ln>
          <a:effectLst/>
        </p:spPr>
      </p:cxnSp>
      <p:cxnSp>
        <p:nvCxnSpPr>
          <p:cNvPr id="124" name="직선 연결선 123">
            <a:extLst>
              <a:ext uri="{FF2B5EF4-FFF2-40B4-BE49-F238E27FC236}">
                <a16:creationId xmlns:a16="http://schemas.microsoft.com/office/drawing/2014/main" id="{80B27E80-5E09-6852-BA10-61B30129E14C}"/>
              </a:ext>
            </a:extLst>
          </p:cNvPr>
          <p:cNvCxnSpPr/>
          <p:nvPr/>
        </p:nvCxnSpPr>
        <p:spPr>
          <a:xfrm>
            <a:off x="4019744" y="4607316"/>
            <a:ext cx="179218" cy="0"/>
          </a:xfrm>
          <a:prstGeom prst="line">
            <a:avLst/>
          </a:prstGeom>
          <a:noFill/>
          <a:ln w="19050" cap="flat" cmpd="sng" algn="ctr">
            <a:solidFill>
              <a:sysClr val="windowText" lastClr="000000"/>
            </a:solidFill>
            <a:prstDash val="solid"/>
            <a:miter lim="800000"/>
          </a:ln>
          <a:effectLst/>
        </p:spPr>
      </p:cxnSp>
      <p:cxnSp>
        <p:nvCxnSpPr>
          <p:cNvPr id="125" name="직선 연결선 124">
            <a:extLst>
              <a:ext uri="{FF2B5EF4-FFF2-40B4-BE49-F238E27FC236}">
                <a16:creationId xmlns:a16="http://schemas.microsoft.com/office/drawing/2014/main" id="{64B83FDF-AF2D-A4E9-8BCD-B3EEB65036F9}"/>
              </a:ext>
            </a:extLst>
          </p:cNvPr>
          <p:cNvCxnSpPr/>
          <p:nvPr/>
        </p:nvCxnSpPr>
        <p:spPr>
          <a:xfrm flipH="1" flipV="1">
            <a:off x="3919643" y="4610987"/>
            <a:ext cx="0" cy="126355"/>
          </a:xfrm>
          <a:prstGeom prst="line">
            <a:avLst/>
          </a:prstGeom>
          <a:noFill/>
          <a:ln w="12700" cap="flat" cmpd="sng" algn="ctr">
            <a:solidFill>
              <a:sysClr val="windowText" lastClr="000000"/>
            </a:solidFill>
            <a:prstDash val="solid"/>
            <a:miter lim="800000"/>
          </a:ln>
          <a:effectLst/>
        </p:spPr>
      </p:cxnSp>
      <p:cxnSp>
        <p:nvCxnSpPr>
          <p:cNvPr id="126" name="직선 연결선 125">
            <a:extLst>
              <a:ext uri="{FF2B5EF4-FFF2-40B4-BE49-F238E27FC236}">
                <a16:creationId xmlns:a16="http://schemas.microsoft.com/office/drawing/2014/main" id="{57FF7511-FE80-38A3-4BBC-E5A2B8598E91}"/>
              </a:ext>
            </a:extLst>
          </p:cNvPr>
          <p:cNvCxnSpPr/>
          <p:nvPr/>
        </p:nvCxnSpPr>
        <p:spPr>
          <a:xfrm flipH="1" flipV="1">
            <a:off x="4113866" y="4605413"/>
            <a:ext cx="0" cy="126355"/>
          </a:xfrm>
          <a:prstGeom prst="line">
            <a:avLst/>
          </a:prstGeom>
          <a:noFill/>
          <a:ln w="12700" cap="flat" cmpd="sng" algn="ctr">
            <a:solidFill>
              <a:sysClr val="windowText" lastClr="000000"/>
            </a:solidFill>
            <a:prstDash val="solid"/>
            <a:miter lim="800000"/>
          </a:ln>
          <a:effectLst/>
        </p:spPr>
      </p:cxnSp>
      <p:cxnSp>
        <p:nvCxnSpPr>
          <p:cNvPr id="127" name="직선 연결선 126">
            <a:extLst>
              <a:ext uri="{FF2B5EF4-FFF2-40B4-BE49-F238E27FC236}">
                <a16:creationId xmlns:a16="http://schemas.microsoft.com/office/drawing/2014/main" id="{9A77D198-08EE-1547-2F02-C6C92F99FF2C}"/>
              </a:ext>
            </a:extLst>
          </p:cNvPr>
          <p:cNvCxnSpPr/>
          <p:nvPr/>
        </p:nvCxnSpPr>
        <p:spPr>
          <a:xfrm flipH="1" flipV="1">
            <a:off x="3922144" y="4091200"/>
            <a:ext cx="0" cy="410654"/>
          </a:xfrm>
          <a:prstGeom prst="line">
            <a:avLst/>
          </a:prstGeom>
          <a:noFill/>
          <a:ln w="12700" cap="flat" cmpd="sng" algn="ctr">
            <a:solidFill>
              <a:sysClr val="windowText" lastClr="000000"/>
            </a:solidFill>
            <a:prstDash val="solid"/>
            <a:miter lim="800000"/>
          </a:ln>
          <a:effectLst/>
        </p:spPr>
      </p:cxnSp>
      <p:cxnSp>
        <p:nvCxnSpPr>
          <p:cNvPr id="128" name="직선 연결선 127">
            <a:extLst>
              <a:ext uri="{FF2B5EF4-FFF2-40B4-BE49-F238E27FC236}">
                <a16:creationId xmlns:a16="http://schemas.microsoft.com/office/drawing/2014/main" id="{004C546B-37E5-00AF-9873-71D22C83B8F1}"/>
              </a:ext>
            </a:extLst>
          </p:cNvPr>
          <p:cNvCxnSpPr/>
          <p:nvPr/>
        </p:nvCxnSpPr>
        <p:spPr>
          <a:xfrm flipV="1">
            <a:off x="4092156" y="4374604"/>
            <a:ext cx="0" cy="122587"/>
          </a:xfrm>
          <a:prstGeom prst="line">
            <a:avLst/>
          </a:prstGeom>
          <a:noFill/>
          <a:ln w="12700" cap="flat" cmpd="sng" algn="ctr">
            <a:solidFill>
              <a:sysClr val="windowText" lastClr="000000"/>
            </a:solidFill>
            <a:prstDash val="solid"/>
            <a:miter lim="800000"/>
          </a:ln>
          <a:effectLst/>
        </p:spPr>
      </p:cxnSp>
      <p:cxnSp>
        <p:nvCxnSpPr>
          <p:cNvPr id="129" name="직선 연결선 128">
            <a:extLst>
              <a:ext uri="{FF2B5EF4-FFF2-40B4-BE49-F238E27FC236}">
                <a16:creationId xmlns:a16="http://schemas.microsoft.com/office/drawing/2014/main" id="{43109B09-1BE8-77C5-D1EF-6EC2F1F554F1}"/>
              </a:ext>
            </a:extLst>
          </p:cNvPr>
          <p:cNvCxnSpPr/>
          <p:nvPr/>
        </p:nvCxnSpPr>
        <p:spPr>
          <a:xfrm>
            <a:off x="3918456" y="4731977"/>
            <a:ext cx="198483" cy="0"/>
          </a:xfrm>
          <a:prstGeom prst="line">
            <a:avLst/>
          </a:prstGeom>
          <a:noFill/>
          <a:ln w="12700" cap="flat" cmpd="sng" algn="ctr">
            <a:solidFill>
              <a:sysClr val="windowText" lastClr="000000"/>
            </a:solidFill>
            <a:prstDash val="solid"/>
            <a:miter lim="800000"/>
          </a:ln>
          <a:effectLst/>
        </p:spPr>
      </p:cxnSp>
      <p:sp>
        <p:nvSpPr>
          <p:cNvPr id="130" name="타원 129">
            <a:extLst>
              <a:ext uri="{FF2B5EF4-FFF2-40B4-BE49-F238E27FC236}">
                <a16:creationId xmlns:a16="http://schemas.microsoft.com/office/drawing/2014/main" id="{803BA3F6-D1B5-E8DC-43F6-365925517D3B}"/>
              </a:ext>
            </a:extLst>
          </p:cNvPr>
          <p:cNvSpPr/>
          <p:nvPr/>
        </p:nvSpPr>
        <p:spPr>
          <a:xfrm>
            <a:off x="4062981" y="4349160"/>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1" name="타원 130">
            <a:extLst>
              <a:ext uri="{FF2B5EF4-FFF2-40B4-BE49-F238E27FC236}">
                <a16:creationId xmlns:a16="http://schemas.microsoft.com/office/drawing/2014/main" id="{94FFF853-41DC-96BC-60D9-2BAA24FF5AB1}"/>
              </a:ext>
            </a:extLst>
          </p:cNvPr>
          <p:cNvSpPr/>
          <p:nvPr/>
        </p:nvSpPr>
        <p:spPr>
          <a:xfrm>
            <a:off x="3889635" y="4066603"/>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2" name="타원 131">
            <a:extLst>
              <a:ext uri="{FF2B5EF4-FFF2-40B4-BE49-F238E27FC236}">
                <a16:creationId xmlns:a16="http://schemas.microsoft.com/office/drawing/2014/main" id="{30351605-9BE7-3922-9873-3A3BDC68AAEF}"/>
              </a:ext>
            </a:extLst>
          </p:cNvPr>
          <p:cNvSpPr/>
          <p:nvPr/>
        </p:nvSpPr>
        <p:spPr>
          <a:xfrm>
            <a:off x="3985496" y="4704957"/>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33" name="직선 연결선 132">
            <a:extLst>
              <a:ext uri="{FF2B5EF4-FFF2-40B4-BE49-F238E27FC236}">
                <a16:creationId xmlns:a16="http://schemas.microsoft.com/office/drawing/2014/main" id="{832EC79A-8ED4-F770-C72B-67DDF8E0EBCF}"/>
              </a:ext>
            </a:extLst>
          </p:cNvPr>
          <p:cNvCxnSpPr/>
          <p:nvPr/>
        </p:nvCxnSpPr>
        <p:spPr>
          <a:xfrm flipH="1" flipV="1">
            <a:off x="4023006" y="4733568"/>
            <a:ext cx="0" cy="189533"/>
          </a:xfrm>
          <a:prstGeom prst="line">
            <a:avLst/>
          </a:prstGeom>
          <a:noFill/>
          <a:ln w="12700" cap="flat" cmpd="sng" algn="ctr">
            <a:solidFill>
              <a:sysClr val="windowText" lastClr="000000"/>
            </a:solidFill>
            <a:prstDash val="solid"/>
            <a:miter lim="800000"/>
          </a:ln>
          <a:effectLst/>
        </p:spPr>
      </p:cxnSp>
      <p:sp>
        <p:nvSpPr>
          <p:cNvPr id="134" name="이등변 삼각형 133">
            <a:extLst>
              <a:ext uri="{FF2B5EF4-FFF2-40B4-BE49-F238E27FC236}">
                <a16:creationId xmlns:a16="http://schemas.microsoft.com/office/drawing/2014/main" id="{BFEF5028-B231-67AD-24C7-B9A5E9E558B8}"/>
              </a:ext>
            </a:extLst>
          </p:cNvPr>
          <p:cNvSpPr/>
          <p:nvPr/>
        </p:nvSpPr>
        <p:spPr>
          <a:xfrm rot="10800000">
            <a:off x="3842663" y="4498271"/>
            <a:ext cx="165433" cy="94675"/>
          </a:xfrm>
          <a:prstGeom prst="triangle">
            <a:avLst/>
          </a:prstGeom>
          <a:solidFill>
            <a:srgbClr val="00B0F0"/>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5" name="이등변 삼각형 134">
            <a:extLst>
              <a:ext uri="{FF2B5EF4-FFF2-40B4-BE49-F238E27FC236}">
                <a16:creationId xmlns:a16="http://schemas.microsoft.com/office/drawing/2014/main" id="{DBC80FB7-076D-D7F2-5CBB-A80609B29191}"/>
              </a:ext>
            </a:extLst>
          </p:cNvPr>
          <p:cNvSpPr/>
          <p:nvPr/>
        </p:nvSpPr>
        <p:spPr>
          <a:xfrm rot="10800000">
            <a:off x="4010573" y="4505934"/>
            <a:ext cx="165433" cy="94676"/>
          </a:xfrm>
          <a:prstGeom prst="triangle">
            <a:avLst/>
          </a:prstGeom>
          <a:solidFill>
            <a:srgbClr val="FFC5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7" name="TextBox 145">
            <a:extLst>
              <a:ext uri="{FF2B5EF4-FFF2-40B4-BE49-F238E27FC236}">
                <a16:creationId xmlns:a16="http://schemas.microsoft.com/office/drawing/2014/main" id="{663602F0-2696-A563-2D96-9E0D99E9D133}"/>
              </a:ext>
            </a:extLst>
          </p:cNvPr>
          <p:cNvSpPr txBox="1"/>
          <p:nvPr/>
        </p:nvSpPr>
        <p:spPr>
          <a:xfrm>
            <a:off x="3934747" y="4951862"/>
            <a:ext cx="17864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kumimoji="0" lang="en-US" altLang="ko-KR" sz="900" b="0" i="0" u="none" strike="noStrike" kern="0" cap="none" spc="0" normalizeH="0" baseline="-25000" noProof="0" dirty="0">
                <a:ln>
                  <a:noFill/>
                </a:ln>
                <a:solidFill>
                  <a:sysClr val="windowText" lastClr="000000"/>
                </a:solidFill>
                <a:effectLst/>
                <a:uLnTx/>
                <a:uFillTx/>
                <a:latin typeface="Aptos Narrow" panose="02110004020202020204"/>
                <a:ea typeface="맑은 고딕" panose="020B0503020000020004" pitchFamily="50" charset="-127"/>
                <a:cs typeface="+mn-cs"/>
              </a:rPr>
              <a:t>C</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cxnSp>
        <p:nvCxnSpPr>
          <p:cNvPr id="138" name="직선 연결선 137">
            <a:extLst>
              <a:ext uri="{FF2B5EF4-FFF2-40B4-BE49-F238E27FC236}">
                <a16:creationId xmlns:a16="http://schemas.microsoft.com/office/drawing/2014/main" id="{972AF831-3F8B-3257-D4BB-0D2535247113}"/>
              </a:ext>
            </a:extLst>
          </p:cNvPr>
          <p:cNvCxnSpPr/>
          <p:nvPr/>
        </p:nvCxnSpPr>
        <p:spPr>
          <a:xfrm>
            <a:off x="4258588" y="4605523"/>
            <a:ext cx="179219" cy="0"/>
          </a:xfrm>
          <a:prstGeom prst="line">
            <a:avLst/>
          </a:prstGeom>
          <a:noFill/>
          <a:ln w="19050" cap="flat" cmpd="sng" algn="ctr">
            <a:solidFill>
              <a:sysClr val="windowText" lastClr="000000"/>
            </a:solidFill>
            <a:prstDash val="solid"/>
            <a:miter lim="800000"/>
          </a:ln>
          <a:effectLst/>
        </p:spPr>
      </p:cxnSp>
      <p:cxnSp>
        <p:nvCxnSpPr>
          <p:cNvPr id="139" name="직선 연결선 138">
            <a:extLst>
              <a:ext uri="{FF2B5EF4-FFF2-40B4-BE49-F238E27FC236}">
                <a16:creationId xmlns:a16="http://schemas.microsoft.com/office/drawing/2014/main" id="{98963A51-3FA8-C7E7-681D-C5E972FE0495}"/>
              </a:ext>
            </a:extLst>
          </p:cNvPr>
          <p:cNvCxnSpPr/>
          <p:nvPr/>
        </p:nvCxnSpPr>
        <p:spPr>
          <a:xfrm>
            <a:off x="4465670" y="4597858"/>
            <a:ext cx="179219" cy="0"/>
          </a:xfrm>
          <a:prstGeom prst="line">
            <a:avLst/>
          </a:prstGeom>
          <a:noFill/>
          <a:ln w="19050" cap="flat" cmpd="sng" algn="ctr">
            <a:solidFill>
              <a:sysClr val="windowText" lastClr="000000"/>
            </a:solidFill>
            <a:prstDash val="solid"/>
            <a:miter lim="800000"/>
          </a:ln>
          <a:effectLst/>
        </p:spPr>
      </p:cxnSp>
      <p:cxnSp>
        <p:nvCxnSpPr>
          <p:cNvPr id="140" name="직선 연결선 139">
            <a:extLst>
              <a:ext uri="{FF2B5EF4-FFF2-40B4-BE49-F238E27FC236}">
                <a16:creationId xmlns:a16="http://schemas.microsoft.com/office/drawing/2014/main" id="{86BB0226-8095-8F73-AA60-2DF733DAF031}"/>
              </a:ext>
            </a:extLst>
          </p:cNvPr>
          <p:cNvCxnSpPr/>
          <p:nvPr/>
        </p:nvCxnSpPr>
        <p:spPr>
          <a:xfrm>
            <a:off x="4663048" y="4602105"/>
            <a:ext cx="179218" cy="0"/>
          </a:xfrm>
          <a:prstGeom prst="line">
            <a:avLst/>
          </a:prstGeom>
          <a:noFill/>
          <a:ln w="19050" cap="flat" cmpd="sng" algn="ctr">
            <a:solidFill>
              <a:sysClr val="windowText" lastClr="000000"/>
            </a:solidFill>
            <a:prstDash val="solid"/>
            <a:miter lim="800000"/>
          </a:ln>
          <a:effectLst/>
        </p:spPr>
      </p:cxnSp>
      <p:cxnSp>
        <p:nvCxnSpPr>
          <p:cNvPr id="141" name="직선 연결선 140">
            <a:extLst>
              <a:ext uri="{FF2B5EF4-FFF2-40B4-BE49-F238E27FC236}">
                <a16:creationId xmlns:a16="http://schemas.microsoft.com/office/drawing/2014/main" id="{C72D40ED-DA69-4F3F-863C-1204F2F75A1F}"/>
              </a:ext>
            </a:extLst>
          </p:cNvPr>
          <p:cNvCxnSpPr/>
          <p:nvPr/>
        </p:nvCxnSpPr>
        <p:spPr>
          <a:xfrm flipH="1" flipV="1">
            <a:off x="4351772" y="4611052"/>
            <a:ext cx="0" cy="315887"/>
          </a:xfrm>
          <a:prstGeom prst="line">
            <a:avLst/>
          </a:prstGeom>
          <a:noFill/>
          <a:ln w="12700" cap="flat" cmpd="sng" algn="ctr">
            <a:solidFill>
              <a:sysClr val="windowText" lastClr="000000"/>
            </a:solidFill>
            <a:prstDash val="solid"/>
            <a:miter lim="800000"/>
          </a:ln>
          <a:effectLst/>
        </p:spPr>
      </p:cxnSp>
      <p:cxnSp>
        <p:nvCxnSpPr>
          <p:cNvPr id="142" name="직선 연결선 141">
            <a:extLst>
              <a:ext uri="{FF2B5EF4-FFF2-40B4-BE49-F238E27FC236}">
                <a16:creationId xmlns:a16="http://schemas.microsoft.com/office/drawing/2014/main" id="{48ED4594-9FDD-2CEC-C934-965BC0663E9C}"/>
              </a:ext>
            </a:extLst>
          </p:cNvPr>
          <p:cNvCxnSpPr/>
          <p:nvPr/>
        </p:nvCxnSpPr>
        <p:spPr>
          <a:xfrm flipH="1" flipV="1">
            <a:off x="4562947" y="4605776"/>
            <a:ext cx="0" cy="126355"/>
          </a:xfrm>
          <a:prstGeom prst="line">
            <a:avLst/>
          </a:prstGeom>
          <a:noFill/>
          <a:ln w="12700" cap="flat" cmpd="sng" algn="ctr">
            <a:solidFill>
              <a:sysClr val="windowText" lastClr="000000"/>
            </a:solidFill>
            <a:prstDash val="solid"/>
            <a:miter lim="800000"/>
          </a:ln>
          <a:effectLst/>
        </p:spPr>
      </p:cxnSp>
      <p:cxnSp>
        <p:nvCxnSpPr>
          <p:cNvPr id="143" name="직선 연결선 142">
            <a:extLst>
              <a:ext uri="{FF2B5EF4-FFF2-40B4-BE49-F238E27FC236}">
                <a16:creationId xmlns:a16="http://schemas.microsoft.com/office/drawing/2014/main" id="{C97893D8-09EF-1D4F-3943-495A6A7C1CD0}"/>
              </a:ext>
            </a:extLst>
          </p:cNvPr>
          <p:cNvCxnSpPr/>
          <p:nvPr/>
        </p:nvCxnSpPr>
        <p:spPr>
          <a:xfrm flipH="1" flipV="1">
            <a:off x="4757170" y="4600202"/>
            <a:ext cx="0" cy="126355"/>
          </a:xfrm>
          <a:prstGeom prst="line">
            <a:avLst/>
          </a:prstGeom>
          <a:noFill/>
          <a:ln w="12700" cap="flat" cmpd="sng" algn="ctr">
            <a:solidFill>
              <a:sysClr val="windowText" lastClr="000000"/>
            </a:solidFill>
            <a:prstDash val="solid"/>
            <a:miter lim="800000"/>
          </a:ln>
          <a:effectLst/>
        </p:spPr>
      </p:cxnSp>
      <p:cxnSp>
        <p:nvCxnSpPr>
          <p:cNvPr id="144" name="직선 연결선 143">
            <a:extLst>
              <a:ext uri="{FF2B5EF4-FFF2-40B4-BE49-F238E27FC236}">
                <a16:creationId xmlns:a16="http://schemas.microsoft.com/office/drawing/2014/main" id="{0C64FF33-AD4E-FBB9-1458-D57E7F079961}"/>
              </a:ext>
            </a:extLst>
          </p:cNvPr>
          <p:cNvCxnSpPr/>
          <p:nvPr/>
        </p:nvCxnSpPr>
        <p:spPr>
          <a:xfrm>
            <a:off x="4561760" y="4726766"/>
            <a:ext cx="198483" cy="0"/>
          </a:xfrm>
          <a:prstGeom prst="line">
            <a:avLst/>
          </a:prstGeom>
          <a:noFill/>
          <a:ln w="12700" cap="flat" cmpd="sng" algn="ctr">
            <a:solidFill>
              <a:sysClr val="windowText" lastClr="000000"/>
            </a:solidFill>
            <a:prstDash val="solid"/>
            <a:miter lim="800000"/>
          </a:ln>
          <a:effectLst/>
        </p:spPr>
      </p:cxnSp>
      <p:sp>
        <p:nvSpPr>
          <p:cNvPr id="145" name="타원 144">
            <a:extLst>
              <a:ext uri="{FF2B5EF4-FFF2-40B4-BE49-F238E27FC236}">
                <a16:creationId xmlns:a16="http://schemas.microsoft.com/office/drawing/2014/main" id="{B2B1BC2B-2D03-BFDD-C062-3C288A82AB08}"/>
              </a:ext>
            </a:extLst>
          </p:cNvPr>
          <p:cNvSpPr/>
          <p:nvPr/>
        </p:nvSpPr>
        <p:spPr>
          <a:xfrm>
            <a:off x="4628800" y="4699746"/>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46" name="직선 연결선 145">
            <a:extLst>
              <a:ext uri="{FF2B5EF4-FFF2-40B4-BE49-F238E27FC236}">
                <a16:creationId xmlns:a16="http://schemas.microsoft.com/office/drawing/2014/main" id="{8193F1D3-2BE9-4C74-6AED-518A56E6364C}"/>
              </a:ext>
            </a:extLst>
          </p:cNvPr>
          <p:cNvCxnSpPr/>
          <p:nvPr/>
        </p:nvCxnSpPr>
        <p:spPr>
          <a:xfrm flipH="1" flipV="1">
            <a:off x="4666310" y="4728357"/>
            <a:ext cx="0" cy="189533"/>
          </a:xfrm>
          <a:prstGeom prst="line">
            <a:avLst/>
          </a:prstGeom>
          <a:noFill/>
          <a:ln w="12700" cap="flat" cmpd="sng" algn="ctr">
            <a:solidFill>
              <a:sysClr val="windowText" lastClr="000000"/>
            </a:solidFill>
            <a:prstDash val="solid"/>
            <a:miter lim="800000"/>
          </a:ln>
          <a:effectLst/>
        </p:spPr>
      </p:cxnSp>
      <p:sp>
        <p:nvSpPr>
          <p:cNvPr id="148" name="이등변 삼각형 147">
            <a:extLst>
              <a:ext uri="{FF2B5EF4-FFF2-40B4-BE49-F238E27FC236}">
                <a16:creationId xmlns:a16="http://schemas.microsoft.com/office/drawing/2014/main" id="{B10255CE-EB5D-199F-435F-5570CAF69923}"/>
              </a:ext>
            </a:extLst>
          </p:cNvPr>
          <p:cNvSpPr/>
          <p:nvPr/>
        </p:nvSpPr>
        <p:spPr>
          <a:xfrm rot="10800000">
            <a:off x="4266289" y="4494372"/>
            <a:ext cx="165433" cy="94675"/>
          </a:xfrm>
          <a:prstGeom prst="triangle">
            <a:avLst/>
          </a:prstGeom>
          <a:solidFill>
            <a:srgbClr val="FF0000"/>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49" name="이등변 삼각형 148">
            <a:extLst>
              <a:ext uri="{FF2B5EF4-FFF2-40B4-BE49-F238E27FC236}">
                <a16:creationId xmlns:a16="http://schemas.microsoft.com/office/drawing/2014/main" id="{092461A8-8057-ACE0-4BA1-F19063B491A8}"/>
              </a:ext>
            </a:extLst>
          </p:cNvPr>
          <p:cNvSpPr/>
          <p:nvPr/>
        </p:nvSpPr>
        <p:spPr>
          <a:xfrm rot="10800000">
            <a:off x="4485967" y="4493060"/>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50" name="이등변 삼각형 149">
            <a:extLst>
              <a:ext uri="{FF2B5EF4-FFF2-40B4-BE49-F238E27FC236}">
                <a16:creationId xmlns:a16="http://schemas.microsoft.com/office/drawing/2014/main" id="{B423A7EF-AEE0-7352-353A-114886A3F8C4}"/>
              </a:ext>
            </a:extLst>
          </p:cNvPr>
          <p:cNvSpPr/>
          <p:nvPr/>
        </p:nvSpPr>
        <p:spPr>
          <a:xfrm rot="10800000">
            <a:off x="4663402" y="4500723"/>
            <a:ext cx="165433" cy="94676"/>
          </a:xfrm>
          <a:prstGeom prst="triangle">
            <a:avLst/>
          </a:prstGeom>
          <a:solidFill>
            <a:srgbClr val="0066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51" name="TextBox 126">
            <a:extLst>
              <a:ext uri="{FF2B5EF4-FFF2-40B4-BE49-F238E27FC236}">
                <a16:creationId xmlns:a16="http://schemas.microsoft.com/office/drawing/2014/main" id="{C43B216C-1241-BA97-244D-901DB91E96A8}"/>
              </a:ext>
            </a:extLst>
          </p:cNvPr>
          <p:cNvSpPr txBox="1"/>
          <p:nvPr/>
        </p:nvSpPr>
        <p:spPr>
          <a:xfrm>
            <a:off x="4262263" y="4961628"/>
            <a:ext cx="17864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lang="en-US" altLang="ko-KR" sz="900" kern="0" baseline="-25000" dirty="0">
                <a:solidFill>
                  <a:sysClr val="windowText" lastClr="000000"/>
                </a:solidFill>
                <a:latin typeface="Aptos Narrow" panose="02110004020202020204"/>
                <a:ea typeface="맑은 고딕" panose="020B0503020000020004" pitchFamily="50" charset="-127"/>
              </a:rPr>
              <a:t>D</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52" name="TextBox 136">
            <a:extLst>
              <a:ext uri="{FF2B5EF4-FFF2-40B4-BE49-F238E27FC236}">
                <a16:creationId xmlns:a16="http://schemas.microsoft.com/office/drawing/2014/main" id="{444483D3-C36D-34F2-FC11-67079613D7A6}"/>
              </a:ext>
            </a:extLst>
          </p:cNvPr>
          <p:cNvSpPr txBox="1"/>
          <p:nvPr/>
        </p:nvSpPr>
        <p:spPr>
          <a:xfrm>
            <a:off x="4579102" y="4963659"/>
            <a:ext cx="28611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kumimoji="0" lang="en-US" altLang="ko-KR" sz="900" b="0" i="0" u="none" strike="noStrike" kern="0" cap="none" spc="0" normalizeH="0" baseline="-25000" noProof="0" dirty="0">
                <a:ln>
                  <a:noFill/>
                </a:ln>
                <a:solidFill>
                  <a:sysClr val="windowText" lastClr="000000"/>
                </a:solidFill>
                <a:effectLst/>
                <a:uLnTx/>
                <a:uFillTx/>
                <a:latin typeface="Aptos Narrow" panose="02110004020202020204"/>
                <a:ea typeface="맑은 고딕" panose="020B0503020000020004" pitchFamily="50" charset="-127"/>
                <a:cs typeface="+mn-cs"/>
              </a:rPr>
              <a:t>E</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cxnSp>
        <p:nvCxnSpPr>
          <p:cNvPr id="153" name="직선 연결선 152">
            <a:extLst>
              <a:ext uri="{FF2B5EF4-FFF2-40B4-BE49-F238E27FC236}">
                <a16:creationId xmlns:a16="http://schemas.microsoft.com/office/drawing/2014/main" id="{8E4D1C27-D477-9FA6-6BFB-5FFF75A665AB}"/>
              </a:ext>
            </a:extLst>
          </p:cNvPr>
          <p:cNvCxnSpPr/>
          <p:nvPr/>
        </p:nvCxnSpPr>
        <p:spPr>
          <a:xfrm>
            <a:off x="4875651" y="4603897"/>
            <a:ext cx="179219" cy="0"/>
          </a:xfrm>
          <a:prstGeom prst="line">
            <a:avLst/>
          </a:prstGeom>
          <a:noFill/>
          <a:ln w="19050" cap="flat" cmpd="sng" algn="ctr">
            <a:solidFill>
              <a:sysClr val="windowText" lastClr="000000"/>
            </a:solidFill>
            <a:prstDash val="solid"/>
            <a:miter lim="800000"/>
          </a:ln>
          <a:effectLst/>
        </p:spPr>
      </p:cxnSp>
      <p:cxnSp>
        <p:nvCxnSpPr>
          <p:cNvPr id="154" name="직선 연결선 153">
            <a:extLst>
              <a:ext uri="{FF2B5EF4-FFF2-40B4-BE49-F238E27FC236}">
                <a16:creationId xmlns:a16="http://schemas.microsoft.com/office/drawing/2014/main" id="{C88A60E9-E733-E26A-BC7A-2F8FE909FFC0}"/>
              </a:ext>
            </a:extLst>
          </p:cNvPr>
          <p:cNvCxnSpPr/>
          <p:nvPr/>
        </p:nvCxnSpPr>
        <p:spPr>
          <a:xfrm>
            <a:off x="5073029" y="4608144"/>
            <a:ext cx="179218" cy="0"/>
          </a:xfrm>
          <a:prstGeom prst="line">
            <a:avLst/>
          </a:prstGeom>
          <a:noFill/>
          <a:ln w="19050" cap="flat" cmpd="sng" algn="ctr">
            <a:solidFill>
              <a:sysClr val="windowText" lastClr="000000"/>
            </a:solidFill>
            <a:prstDash val="solid"/>
            <a:miter lim="800000"/>
          </a:ln>
          <a:effectLst/>
        </p:spPr>
      </p:cxnSp>
      <p:cxnSp>
        <p:nvCxnSpPr>
          <p:cNvPr id="155" name="직선 연결선 154">
            <a:extLst>
              <a:ext uri="{FF2B5EF4-FFF2-40B4-BE49-F238E27FC236}">
                <a16:creationId xmlns:a16="http://schemas.microsoft.com/office/drawing/2014/main" id="{9BC851FB-07A3-1540-C654-09C8A39A7905}"/>
              </a:ext>
            </a:extLst>
          </p:cNvPr>
          <p:cNvCxnSpPr/>
          <p:nvPr/>
        </p:nvCxnSpPr>
        <p:spPr>
          <a:xfrm flipH="1" flipV="1">
            <a:off x="4972928" y="4611815"/>
            <a:ext cx="0" cy="126355"/>
          </a:xfrm>
          <a:prstGeom prst="line">
            <a:avLst/>
          </a:prstGeom>
          <a:noFill/>
          <a:ln w="12700" cap="flat" cmpd="sng" algn="ctr">
            <a:solidFill>
              <a:sysClr val="windowText" lastClr="000000"/>
            </a:solidFill>
            <a:prstDash val="solid"/>
            <a:miter lim="800000"/>
          </a:ln>
          <a:effectLst/>
        </p:spPr>
      </p:cxnSp>
      <p:cxnSp>
        <p:nvCxnSpPr>
          <p:cNvPr id="156" name="직선 연결선 155">
            <a:extLst>
              <a:ext uri="{FF2B5EF4-FFF2-40B4-BE49-F238E27FC236}">
                <a16:creationId xmlns:a16="http://schemas.microsoft.com/office/drawing/2014/main" id="{94177834-2834-3AC5-580E-BE66DA259F9C}"/>
              </a:ext>
            </a:extLst>
          </p:cNvPr>
          <p:cNvCxnSpPr/>
          <p:nvPr/>
        </p:nvCxnSpPr>
        <p:spPr>
          <a:xfrm flipH="1" flipV="1">
            <a:off x="5167151" y="4606241"/>
            <a:ext cx="0" cy="126355"/>
          </a:xfrm>
          <a:prstGeom prst="line">
            <a:avLst/>
          </a:prstGeom>
          <a:noFill/>
          <a:ln w="12700" cap="flat" cmpd="sng" algn="ctr">
            <a:solidFill>
              <a:sysClr val="windowText" lastClr="000000"/>
            </a:solidFill>
            <a:prstDash val="solid"/>
            <a:miter lim="800000"/>
          </a:ln>
          <a:effectLst/>
        </p:spPr>
      </p:cxnSp>
      <p:cxnSp>
        <p:nvCxnSpPr>
          <p:cNvPr id="157" name="직선 연결선 156">
            <a:extLst>
              <a:ext uri="{FF2B5EF4-FFF2-40B4-BE49-F238E27FC236}">
                <a16:creationId xmlns:a16="http://schemas.microsoft.com/office/drawing/2014/main" id="{E247659B-B75C-73FD-D1A0-CFFBA7A6565E}"/>
              </a:ext>
            </a:extLst>
          </p:cNvPr>
          <p:cNvCxnSpPr/>
          <p:nvPr/>
        </p:nvCxnSpPr>
        <p:spPr>
          <a:xfrm>
            <a:off x="4971741" y="4732805"/>
            <a:ext cx="198483" cy="0"/>
          </a:xfrm>
          <a:prstGeom prst="line">
            <a:avLst/>
          </a:prstGeom>
          <a:noFill/>
          <a:ln w="12700" cap="flat" cmpd="sng" algn="ctr">
            <a:solidFill>
              <a:sysClr val="windowText" lastClr="000000"/>
            </a:solidFill>
            <a:prstDash val="solid"/>
            <a:miter lim="800000"/>
          </a:ln>
          <a:effectLst/>
        </p:spPr>
      </p:cxnSp>
      <p:sp>
        <p:nvSpPr>
          <p:cNvPr id="158" name="타원 157">
            <a:extLst>
              <a:ext uri="{FF2B5EF4-FFF2-40B4-BE49-F238E27FC236}">
                <a16:creationId xmlns:a16="http://schemas.microsoft.com/office/drawing/2014/main" id="{9FD3B888-6989-7397-0B0D-9B2FE8B0AEB7}"/>
              </a:ext>
            </a:extLst>
          </p:cNvPr>
          <p:cNvSpPr/>
          <p:nvPr/>
        </p:nvSpPr>
        <p:spPr>
          <a:xfrm>
            <a:off x="5038781" y="4705785"/>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59" name="직선 연결선 158">
            <a:extLst>
              <a:ext uri="{FF2B5EF4-FFF2-40B4-BE49-F238E27FC236}">
                <a16:creationId xmlns:a16="http://schemas.microsoft.com/office/drawing/2014/main" id="{5A1B5AF8-30D2-8B87-77E1-7CC8638093A8}"/>
              </a:ext>
            </a:extLst>
          </p:cNvPr>
          <p:cNvCxnSpPr/>
          <p:nvPr/>
        </p:nvCxnSpPr>
        <p:spPr>
          <a:xfrm flipH="1" flipV="1">
            <a:off x="5076291" y="4734396"/>
            <a:ext cx="0" cy="189533"/>
          </a:xfrm>
          <a:prstGeom prst="line">
            <a:avLst/>
          </a:prstGeom>
          <a:noFill/>
          <a:ln w="12700" cap="flat" cmpd="sng" algn="ctr">
            <a:solidFill>
              <a:sysClr val="windowText" lastClr="000000"/>
            </a:solidFill>
            <a:prstDash val="solid"/>
            <a:miter lim="800000"/>
          </a:ln>
          <a:effectLst/>
        </p:spPr>
      </p:cxnSp>
      <p:sp>
        <p:nvSpPr>
          <p:cNvPr id="160" name="이등변 삼각형 159">
            <a:extLst>
              <a:ext uri="{FF2B5EF4-FFF2-40B4-BE49-F238E27FC236}">
                <a16:creationId xmlns:a16="http://schemas.microsoft.com/office/drawing/2014/main" id="{895FDDC7-6E47-8D8B-E349-2EBA447A3E80}"/>
              </a:ext>
            </a:extLst>
          </p:cNvPr>
          <p:cNvSpPr/>
          <p:nvPr/>
        </p:nvSpPr>
        <p:spPr>
          <a:xfrm rot="10800000">
            <a:off x="4895948" y="4499099"/>
            <a:ext cx="165433" cy="94675"/>
          </a:xfrm>
          <a:prstGeom prst="triangle">
            <a:avLst/>
          </a:prstGeom>
          <a:solidFill>
            <a:srgbClr val="00B0F0"/>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61" name="이등변 삼각형 160">
            <a:extLst>
              <a:ext uri="{FF2B5EF4-FFF2-40B4-BE49-F238E27FC236}">
                <a16:creationId xmlns:a16="http://schemas.microsoft.com/office/drawing/2014/main" id="{4C5BDD36-2238-1E53-40E2-9D12FC885501}"/>
              </a:ext>
            </a:extLst>
          </p:cNvPr>
          <p:cNvSpPr/>
          <p:nvPr/>
        </p:nvSpPr>
        <p:spPr>
          <a:xfrm rot="10800000">
            <a:off x="5063858" y="4506762"/>
            <a:ext cx="165433" cy="94676"/>
          </a:xfrm>
          <a:prstGeom prst="triangle">
            <a:avLst/>
          </a:prstGeom>
          <a:solidFill>
            <a:srgbClr val="FFC5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62" name="TextBox 145">
            <a:extLst>
              <a:ext uri="{FF2B5EF4-FFF2-40B4-BE49-F238E27FC236}">
                <a16:creationId xmlns:a16="http://schemas.microsoft.com/office/drawing/2014/main" id="{DE49B2EA-AA89-C019-5223-E86A17F3D854}"/>
              </a:ext>
            </a:extLst>
          </p:cNvPr>
          <p:cNvSpPr txBox="1"/>
          <p:nvPr/>
        </p:nvSpPr>
        <p:spPr>
          <a:xfrm>
            <a:off x="4988032" y="4952690"/>
            <a:ext cx="17864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lang="en-US" altLang="ko-KR" sz="900" kern="0" baseline="-25000" dirty="0">
                <a:solidFill>
                  <a:sysClr val="windowText" lastClr="000000"/>
                </a:solidFill>
                <a:latin typeface="Aptos Narrow" panose="02110004020202020204"/>
                <a:ea typeface="맑은 고딕" panose="020B0503020000020004" pitchFamily="50" charset="-127"/>
              </a:rPr>
              <a:t>F</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cxnSp>
        <p:nvCxnSpPr>
          <p:cNvPr id="183" name="직선 연결선 182">
            <a:extLst>
              <a:ext uri="{FF2B5EF4-FFF2-40B4-BE49-F238E27FC236}">
                <a16:creationId xmlns:a16="http://schemas.microsoft.com/office/drawing/2014/main" id="{E3F8574B-6FD9-8EB6-D48F-4D12F05F8986}"/>
              </a:ext>
            </a:extLst>
          </p:cNvPr>
          <p:cNvCxnSpPr/>
          <p:nvPr/>
        </p:nvCxnSpPr>
        <p:spPr>
          <a:xfrm flipH="1" flipV="1">
            <a:off x="4987507" y="4097245"/>
            <a:ext cx="0" cy="410654"/>
          </a:xfrm>
          <a:prstGeom prst="line">
            <a:avLst/>
          </a:prstGeom>
          <a:noFill/>
          <a:ln w="12700" cap="flat" cmpd="sng" algn="ctr">
            <a:solidFill>
              <a:sysClr val="windowText" lastClr="000000"/>
            </a:solidFill>
            <a:prstDash val="solid"/>
            <a:miter lim="800000"/>
          </a:ln>
          <a:effectLst/>
        </p:spPr>
      </p:cxnSp>
      <p:cxnSp>
        <p:nvCxnSpPr>
          <p:cNvPr id="184" name="직선 연결선 183">
            <a:extLst>
              <a:ext uri="{FF2B5EF4-FFF2-40B4-BE49-F238E27FC236}">
                <a16:creationId xmlns:a16="http://schemas.microsoft.com/office/drawing/2014/main" id="{3E9C51DB-5BEB-9887-A48F-469DD944F179}"/>
              </a:ext>
            </a:extLst>
          </p:cNvPr>
          <p:cNvCxnSpPr/>
          <p:nvPr/>
        </p:nvCxnSpPr>
        <p:spPr>
          <a:xfrm flipV="1">
            <a:off x="5157519" y="4380649"/>
            <a:ext cx="0" cy="122587"/>
          </a:xfrm>
          <a:prstGeom prst="line">
            <a:avLst/>
          </a:prstGeom>
          <a:noFill/>
          <a:ln w="12700" cap="flat" cmpd="sng" algn="ctr">
            <a:solidFill>
              <a:sysClr val="windowText" lastClr="000000"/>
            </a:solidFill>
            <a:prstDash val="solid"/>
            <a:miter lim="800000"/>
          </a:ln>
          <a:effectLst/>
        </p:spPr>
      </p:cxnSp>
      <p:sp>
        <p:nvSpPr>
          <p:cNvPr id="185" name="타원 184">
            <a:extLst>
              <a:ext uri="{FF2B5EF4-FFF2-40B4-BE49-F238E27FC236}">
                <a16:creationId xmlns:a16="http://schemas.microsoft.com/office/drawing/2014/main" id="{80796C75-914B-5E7D-DC34-F76AEDFB7F99}"/>
              </a:ext>
            </a:extLst>
          </p:cNvPr>
          <p:cNvSpPr/>
          <p:nvPr/>
        </p:nvSpPr>
        <p:spPr>
          <a:xfrm>
            <a:off x="5128344" y="4355205"/>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86" name="타원 185">
            <a:extLst>
              <a:ext uri="{FF2B5EF4-FFF2-40B4-BE49-F238E27FC236}">
                <a16:creationId xmlns:a16="http://schemas.microsoft.com/office/drawing/2014/main" id="{536605D4-5259-0995-2B6A-67F8BFFF5D8F}"/>
              </a:ext>
            </a:extLst>
          </p:cNvPr>
          <p:cNvSpPr/>
          <p:nvPr/>
        </p:nvSpPr>
        <p:spPr>
          <a:xfrm>
            <a:off x="4954998" y="4072648"/>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pic>
        <p:nvPicPr>
          <p:cNvPr id="195" name="그림 194">
            <a:extLst>
              <a:ext uri="{FF2B5EF4-FFF2-40B4-BE49-F238E27FC236}">
                <a16:creationId xmlns:a16="http://schemas.microsoft.com/office/drawing/2014/main" id="{B7F719AA-482D-CA41-D0A2-8565FC39DCAB}"/>
              </a:ext>
            </a:extLst>
          </p:cNvPr>
          <p:cNvPicPr>
            <a:picLocks noChangeAspect="1"/>
          </p:cNvPicPr>
          <p:nvPr/>
        </p:nvPicPr>
        <p:blipFill>
          <a:blip r:embed="rId2"/>
          <a:stretch>
            <a:fillRect/>
          </a:stretch>
        </p:blipFill>
        <p:spPr>
          <a:xfrm>
            <a:off x="766422" y="5701814"/>
            <a:ext cx="5484105" cy="3136025"/>
          </a:xfrm>
          <a:prstGeom prst="rect">
            <a:avLst/>
          </a:prstGeom>
        </p:spPr>
      </p:pic>
      <p:cxnSp>
        <p:nvCxnSpPr>
          <p:cNvPr id="2" name="직선 연결선 1">
            <a:extLst>
              <a:ext uri="{FF2B5EF4-FFF2-40B4-BE49-F238E27FC236}">
                <a16:creationId xmlns:a16="http://schemas.microsoft.com/office/drawing/2014/main" id="{7F9E1484-51D7-B974-4913-76BEFAAB4EF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14DD8D8-A004-C033-93C5-8B884F0796BA}"/>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54" name="TextBox 53">
            <a:extLst>
              <a:ext uri="{FF2B5EF4-FFF2-40B4-BE49-F238E27FC236}">
                <a16:creationId xmlns:a16="http://schemas.microsoft.com/office/drawing/2014/main" id="{D7161EEF-F5FF-A0BF-6C08-C6B8F67AF760}"/>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RGB PWM Dimming </a:t>
            </a:r>
          </a:p>
        </p:txBody>
      </p:sp>
    </p:spTree>
    <p:extLst>
      <p:ext uri="{BB962C8B-B14F-4D97-AF65-F5344CB8AC3E}">
        <p14:creationId xmlns:p14="http://schemas.microsoft.com/office/powerpoint/2010/main" val="27301774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직선 연결선 1">
            <a:extLst>
              <a:ext uri="{FF2B5EF4-FFF2-40B4-BE49-F238E27FC236}">
                <a16:creationId xmlns:a16="http://schemas.microsoft.com/office/drawing/2014/main" id="{D45A2D8B-9D96-2222-8C38-8B61F7E07E75}"/>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78897F6-CDCE-645D-8070-E46808A557A1}"/>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64984FA0-92CE-3710-A877-F9D530007774}"/>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8" name="TextBox 7">
            <a:extLst>
              <a:ext uri="{FF2B5EF4-FFF2-40B4-BE49-F238E27FC236}">
                <a16:creationId xmlns:a16="http://schemas.microsoft.com/office/drawing/2014/main" id="{0C7A0F7F-E908-92F5-D9A2-84AC4391751B}"/>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RGB PWM Dimming </a:t>
            </a:r>
          </a:p>
        </p:txBody>
      </p:sp>
      <p:sp>
        <p:nvSpPr>
          <p:cNvPr id="9" name="TextBox 8">
            <a:extLst>
              <a:ext uri="{FF2B5EF4-FFF2-40B4-BE49-F238E27FC236}">
                <a16:creationId xmlns:a16="http://schemas.microsoft.com/office/drawing/2014/main" id="{59B1A5AA-4237-1902-CED4-9318F488EBF9}"/>
              </a:ext>
            </a:extLst>
          </p:cNvPr>
          <p:cNvSpPr txBox="1"/>
          <p:nvPr/>
        </p:nvSpPr>
        <p:spPr>
          <a:xfrm>
            <a:off x="391362" y="1616176"/>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TYPE-D (2-colors) </a:t>
            </a:r>
          </a:p>
        </p:txBody>
      </p:sp>
      <p:sp>
        <p:nvSpPr>
          <p:cNvPr id="10" name="TextBox 9">
            <a:extLst>
              <a:ext uri="{FF2B5EF4-FFF2-40B4-BE49-F238E27FC236}">
                <a16:creationId xmlns:a16="http://schemas.microsoft.com/office/drawing/2014/main" id="{F91CCB85-0271-0F5B-6DAD-C9EC9CFBC34E}"/>
              </a:ext>
            </a:extLst>
          </p:cNvPr>
          <p:cNvSpPr txBox="1"/>
          <p:nvPr/>
        </p:nvSpPr>
        <p:spPr>
          <a:xfrm>
            <a:off x="399458" y="1923928"/>
            <a:ext cx="6047999"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Type-D supports dimming 2# LED (GREEN/BLUE). </a:t>
            </a:r>
          </a:p>
          <a:p>
            <a:pPr algn="just"/>
            <a:r>
              <a:rPr lang="en-US" altLang="ko-KR" sz="1000" dirty="0">
                <a:latin typeface="Arial" panose="020B0604020202020204" pitchFamily="34" charset="0"/>
                <a:cs typeface="Arial" panose="020B0604020202020204" pitchFamily="34" charset="0"/>
              </a:rPr>
              <a:t>Because RED dimming is not supported, only 2# GATE (GATE2/GATE3) signals are used.</a:t>
            </a:r>
          </a:p>
        </p:txBody>
      </p:sp>
      <p:grpSp>
        <p:nvGrpSpPr>
          <p:cNvPr id="212" name="그룹 211">
            <a:extLst>
              <a:ext uri="{FF2B5EF4-FFF2-40B4-BE49-F238E27FC236}">
                <a16:creationId xmlns:a16="http://schemas.microsoft.com/office/drawing/2014/main" id="{86B83285-443B-257E-AC01-B159D80F17C2}"/>
              </a:ext>
            </a:extLst>
          </p:cNvPr>
          <p:cNvGrpSpPr/>
          <p:nvPr/>
        </p:nvGrpSpPr>
        <p:grpSpPr>
          <a:xfrm>
            <a:off x="1893554" y="2732457"/>
            <a:ext cx="3265487" cy="2387600"/>
            <a:chOff x="5976938" y="3529013"/>
            <a:chExt cx="3265487" cy="2387600"/>
          </a:xfrm>
        </p:grpSpPr>
        <p:sp>
          <p:nvSpPr>
            <p:cNvPr id="149" name="직사각형 148">
              <a:extLst>
                <a:ext uri="{FF2B5EF4-FFF2-40B4-BE49-F238E27FC236}">
                  <a16:creationId xmlns:a16="http://schemas.microsoft.com/office/drawing/2014/main" id="{731A9431-A6E8-4379-A3A6-881F12ED402A}"/>
                </a:ext>
              </a:extLst>
            </p:cNvPr>
            <p:cNvSpPr/>
            <p:nvPr/>
          </p:nvSpPr>
          <p:spPr>
            <a:xfrm>
              <a:off x="7515225" y="5122863"/>
              <a:ext cx="1536700" cy="603250"/>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cxnSp>
          <p:nvCxnSpPr>
            <p:cNvPr id="150" name="직선 연결선 149">
              <a:extLst>
                <a:ext uri="{FF2B5EF4-FFF2-40B4-BE49-F238E27FC236}">
                  <a16:creationId xmlns:a16="http://schemas.microsoft.com/office/drawing/2014/main" id="{928EA8E2-4A77-4BEF-9F16-E30F28E7D1BB}"/>
                </a:ext>
              </a:extLst>
            </p:cNvPr>
            <p:cNvCxnSpPr/>
            <p:nvPr/>
          </p:nvCxnSpPr>
          <p:spPr>
            <a:xfrm flipH="1">
              <a:off x="6735763" y="4657725"/>
              <a:ext cx="0" cy="144463"/>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2" name="직선 연결선 151">
              <a:extLst>
                <a:ext uri="{FF2B5EF4-FFF2-40B4-BE49-F238E27FC236}">
                  <a16:creationId xmlns:a16="http://schemas.microsoft.com/office/drawing/2014/main" id="{40A4D5B9-9D60-4831-B1FC-A2F4B0000DAF}"/>
                </a:ext>
              </a:extLst>
            </p:cNvPr>
            <p:cNvCxnSpPr/>
            <p:nvPr/>
          </p:nvCxnSpPr>
          <p:spPr>
            <a:xfrm>
              <a:off x="7675563" y="4748213"/>
              <a:ext cx="19526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4" name="직선 연결선 153">
              <a:extLst>
                <a:ext uri="{FF2B5EF4-FFF2-40B4-BE49-F238E27FC236}">
                  <a16:creationId xmlns:a16="http://schemas.microsoft.com/office/drawing/2014/main" id="{6BFDC342-531D-4A03-82EE-2D7377EE4D7C}"/>
                </a:ext>
              </a:extLst>
            </p:cNvPr>
            <p:cNvCxnSpPr/>
            <p:nvPr/>
          </p:nvCxnSpPr>
          <p:spPr>
            <a:xfrm>
              <a:off x="7893050" y="4745038"/>
              <a:ext cx="195263"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5" name="직선 연결선 154">
              <a:extLst>
                <a:ext uri="{FF2B5EF4-FFF2-40B4-BE49-F238E27FC236}">
                  <a16:creationId xmlns:a16="http://schemas.microsoft.com/office/drawing/2014/main" id="{80BF80CA-C637-47DA-B3C7-960C13C45F4E}"/>
                </a:ext>
              </a:extLst>
            </p:cNvPr>
            <p:cNvCxnSpPr/>
            <p:nvPr/>
          </p:nvCxnSpPr>
          <p:spPr>
            <a:xfrm>
              <a:off x="6919913" y="4492625"/>
              <a:ext cx="186690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6" name="직선 연결선 155">
              <a:extLst>
                <a:ext uri="{FF2B5EF4-FFF2-40B4-BE49-F238E27FC236}">
                  <a16:creationId xmlns:a16="http://schemas.microsoft.com/office/drawing/2014/main" id="{2F618B89-6DA5-4519-8649-59CDDB034C28}"/>
                </a:ext>
              </a:extLst>
            </p:cNvPr>
            <p:cNvCxnSpPr/>
            <p:nvPr/>
          </p:nvCxnSpPr>
          <p:spPr>
            <a:xfrm>
              <a:off x="6591300" y="4581525"/>
              <a:ext cx="287338"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7" name="직선 연결선 156">
              <a:extLst>
                <a:ext uri="{FF2B5EF4-FFF2-40B4-BE49-F238E27FC236}">
                  <a16:creationId xmlns:a16="http://schemas.microsoft.com/office/drawing/2014/main" id="{6165199B-9CC0-4803-B0B1-D3EAE3ED531E}"/>
                </a:ext>
              </a:extLst>
            </p:cNvPr>
            <p:cNvCxnSpPr/>
            <p:nvPr/>
          </p:nvCxnSpPr>
          <p:spPr>
            <a:xfrm>
              <a:off x="6661150" y="4646613"/>
              <a:ext cx="144463"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8" name="직선 연결선 157">
              <a:extLst>
                <a:ext uri="{FF2B5EF4-FFF2-40B4-BE49-F238E27FC236}">
                  <a16:creationId xmlns:a16="http://schemas.microsoft.com/office/drawing/2014/main" id="{0DE6DEAD-647F-4B50-8699-15DBFDC16652}"/>
                </a:ext>
              </a:extLst>
            </p:cNvPr>
            <p:cNvCxnSpPr/>
            <p:nvPr/>
          </p:nvCxnSpPr>
          <p:spPr>
            <a:xfrm rot="5400000" flipH="1" flipV="1">
              <a:off x="6635750" y="4532313"/>
              <a:ext cx="71438"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9" name="직선 연결선 158">
              <a:extLst>
                <a:ext uri="{FF2B5EF4-FFF2-40B4-BE49-F238E27FC236}">
                  <a16:creationId xmlns:a16="http://schemas.microsoft.com/office/drawing/2014/main" id="{1BF161D5-AE8C-4EC9-8C62-2619F7CD4D87}"/>
                </a:ext>
              </a:extLst>
            </p:cNvPr>
            <p:cNvCxnSpPr/>
            <p:nvPr/>
          </p:nvCxnSpPr>
          <p:spPr>
            <a:xfrm rot="5400000">
              <a:off x="6756400" y="4530725"/>
              <a:ext cx="71438"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0" name="직선 연결선 159">
              <a:extLst>
                <a:ext uri="{FF2B5EF4-FFF2-40B4-BE49-F238E27FC236}">
                  <a16:creationId xmlns:a16="http://schemas.microsoft.com/office/drawing/2014/main" id="{46B4F224-E4B9-4357-9705-FF3925450CAA}"/>
                </a:ext>
              </a:extLst>
            </p:cNvPr>
            <p:cNvCxnSpPr/>
            <p:nvPr/>
          </p:nvCxnSpPr>
          <p:spPr>
            <a:xfrm>
              <a:off x="6777038" y="4495800"/>
              <a:ext cx="14287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1" name="직선 연결선 160">
              <a:extLst>
                <a:ext uri="{FF2B5EF4-FFF2-40B4-BE49-F238E27FC236}">
                  <a16:creationId xmlns:a16="http://schemas.microsoft.com/office/drawing/2014/main" id="{0A3F0394-F564-407F-A081-C4DC0793809E}"/>
                </a:ext>
              </a:extLst>
            </p:cNvPr>
            <p:cNvCxnSpPr/>
            <p:nvPr/>
          </p:nvCxnSpPr>
          <p:spPr>
            <a:xfrm>
              <a:off x="6540500" y="4498975"/>
              <a:ext cx="14287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2" name="직선 연결선 161">
              <a:extLst>
                <a:ext uri="{FF2B5EF4-FFF2-40B4-BE49-F238E27FC236}">
                  <a16:creationId xmlns:a16="http://schemas.microsoft.com/office/drawing/2014/main" id="{3F629E67-BDFB-4039-B8C1-62B841840662}"/>
                </a:ext>
              </a:extLst>
            </p:cNvPr>
            <p:cNvCxnSpPr/>
            <p:nvPr/>
          </p:nvCxnSpPr>
          <p:spPr>
            <a:xfrm>
              <a:off x="6810375" y="4267200"/>
              <a:ext cx="2889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3" name="직선 연결선 162">
              <a:extLst>
                <a:ext uri="{FF2B5EF4-FFF2-40B4-BE49-F238E27FC236}">
                  <a16:creationId xmlns:a16="http://schemas.microsoft.com/office/drawing/2014/main" id="{2C003B9B-4509-47C9-B9E3-87E3B60E2866}"/>
                </a:ext>
              </a:extLst>
            </p:cNvPr>
            <p:cNvCxnSpPr/>
            <p:nvPr/>
          </p:nvCxnSpPr>
          <p:spPr>
            <a:xfrm>
              <a:off x="6881813" y="4332288"/>
              <a:ext cx="14287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4" name="직선 연결선 163">
              <a:extLst>
                <a:ext uri="{FF2B5EF4-FFF2-40B4-BE49-F238E27FC236}">
                  <a16:creationId xmlns:a16="http://schemas.microsoft.com/office/drawing/2014/main" id="{EAEFA319-3D0C-40DF-B131-C32E674266F0}"/>
                </a:ext>
              </a:extLst>
            </p:cNvPr>
            <p:cNvCxnSpPr/>
            <p:nvPr/>
          </p:nvCxnSpPr>
          <p:spPr>
            <a:xfrm rot="5400000" flipH="1" flipV="1">
              <a:off x="6856413" y="4217988"/>
              <a:ext cx="71437"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5" name="직선 연결선 164">
              <a:extLst>
                <a:ext uri="{FF2B5EF4-FFF2-40B4-BE49-F238E27FC236}">
                  <a16:creationId xmlns:a16="http://schemas.microsoft.com/office/drawing/2014/main" id="{4F6BFCF0-85C4-47CB-B577-BAF115C00B5C}"/>
                </a:ext>
              </a:extLst>
            </p:cNvPr>
            <p:cNvCxnSpPr/>
            <p:nvPr/>
          </p:nvCxnSpPr>
          <p:spPr>
            <a:xfrm rot="5400000">
              <a:off x="6977063" y="4216400"/>
              <a:ext cx="71437"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6" name="직선 연결선 165">
              <a:extLst>
                <a:ext uri="{FF2B5EF4-FFF2-40B4-BE49-F238E27FC236}">
                  <a16:creationId xmlns:a16="http://schemas.microsoft.com/office/drawing/2014/main" id="{CA8F2486-0D7F-4027-AF95-2FE5D3B51474}"/>
                </a:ext>
              </a:extLst>
            </p:cNvPr>
            <p:cNvCxnSpPr/>
            <p:nvPr/>
          </p:nvCxnSpPr>
          <p:spPr>
            <a:xfrm>
              <a:off x="6996113" y="4181475"/>
              <a:ext cx="144462"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7" name="직선 연결선 166">
              <a:extLst>
                <a:ext uri="{FF2B5EF4-FFF2-40B4-BE49-F238E27FC236}">
                  <a16:creationId xmlns:a16="http://schemas.microsoft.com/office/drawing/2014/main" id="{EEB8DB13-4561-4C47-A43C-AF5CA20AF91B}"/>
                </a:ext>
              </a:extLst>
            </p:cNvPr>
            <p:cNvCxnSpPr/>
            <p:nvPr/>
          </p:nvCxnSpPr>
          <p:spPr>
            <a:xfrm>
              <a:off x="6757988" y="4184650"/>
              <a:ext cx="144462"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8" name="직선 연결선 167">
              <a:extLst>
                <a:ext uri="{FF2B5EF4-FFF2-40B4-BE49-F238E27FC236}">
                  <a16:creationId xmlns:a16="http://schemas.microsoft.com/office/drawing/2014/main" id="{4C97262E-FB7F-4B84-B729-3A81EB9DD745}"/>
                </a:ext>
              </a:extLst>
            </p:cNvPr>
            <p:cNvCxnSpPr/>
            <p:nvPr/>
          </p:nvCxnSpPr>
          <p:spPr>
            <a:xfrm flipH="1" flipV="1">
              <a:off x="7772400" y="4757738"/>
              <a:ext cx="0" cy="1444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9" name="직선 연결선 168">
              <a:extLst>
                <a:ext uri="{FF2B5EF4-FFF2-40B4-BE49-F238E27FC236}">
                  <a16:creationId xmlns:a16="http://schemas.microsoft.com/office/drawing/2014/main" id="{E823FCFC-08B9-47D1-BF5E-2CE0EBC91574}"/>
                </a:ext>
              </a:extLst>
            </p:cNvPr>
            <p:cNvCxnSpPr/>
            <p:nvPr/>
          </p:nvCxnSpPr>
          <p:spPr>
            <a:xfrm flipH="1" flipV="1">
              <a:off x="7983538" y="4751388"/>
              <a:ext cx="0" cy="1444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0" name="직선 연결선 169">
              <a:extLst>
                <a:ext uri="{FF2B5EF4-FFF2-40B4-BE49-F238E27FC236}">
                  <a16:creationId xmlns:a16="http://schemas.microsoft.com/office/drawing/2014/main" id="{C0D0D631-AE63-42B0-9529-272B27894A18}"/>
                </a:ext>
              </a:extLst>
            </p:cNvPr>
            <p:cNvCxnSpPr/>
            <p:nvPr/>
          </p:nvCxnSpPr>
          <p:spPr>
            <a:xfrm flipH="1" flipV="1">
              <a:off x="7775575" y="4164013"/>
              <a:ext cx="0" cy="46831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1" name="직선 연결선 170">
              <a:extLst>
                <a:ext uri="{FF2B5EF4-FFF2-40B4-BE49-F238E27FC236}">
                  <a16:creationId xmlns:a16="http://schemas.microsoft.com/office/drawing/2014/main" id="{760C1C31-854D-4C88-9A9B-CEEE0D15BC64}"/>
                </a:ext>
              </a:extLst>
            </p:cNvPr>
            <p:cNvCxnSpPr/>
            <p:nvPr/>
          </p:nvCxnSpPr>
          <p:spPr>
            <a:xfrm flipV="1">
              <a:off x="7977188" y="4481513"/>
              <a:ext cx="0" cy="1397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2" name="직선 연결선 171">
              <a:extLst>
                <a:ext uri="{FF2B5EF4-FFF2-40B4-BE49-F238E27FC236}">
                  <a16:creationId xmlns:a16="http://schemas.microsoft.com/office/drawing/2014/main" id="{F808E88F-0881-4ED0-BB9B-B127C97BE220}"/>
                </a:ext>
              </a:extLst>
            </p:cNvPr>
            <p:cNvCxnSpPr/>
            <p:nvPr/>
          </p:nvCxnSpPr>
          <p:spPr>
            <a:xfrm>
              <a:off x="7127875" y="4179888"/>
              <a:ext cx="145415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3" name="직선 연결선 172">
              <a:extLst>
                <a:ext uri="{FF2B5EF4-FFF2-40B4-BE49-F238E27FC236}">
                  <a16:creationId xmlns:a16="http://schemas.microsoft.com/office/drawing/2014/main" id="{BE95F554-7474-4BBD-9CA0-54CFD0CF6C84}"/>
                </a:ext>
              </a:extLst>
            </p:cNvPr>
            <p:cNvCxnSpPr>
              <a:cxnSpLocks/>
            </p:cNvCxnSpPr>
            <p:nvPr/>
          </p:nvCxnSpPr>
          <p:spPr>
            <a:xfrm>
              <a:off x="6148388" y="4495800"/>
              <a:ext cx="430212"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4" name="직선 연결선 173">
              <a:extLst>
                <a:ext uri="{FF2B5EF4-FFF2-40B4-BE49-F238E27FC236}">
                  <a16:creationId xmlns:a16="http://schemas.microsoft.com/office/drawing/2014/main" id="{961CA148-B08B-48FB-BDD6-74E031102DB5}"/>
                </a:ext>
              </a:extLst>
            </p:cNvPr>
            <p:cNvCxnSpPr/>
            <p:nvPr/>
          </p:nvCxnSpPr>
          <p:spPr>
            <a:xfrm>
              <a:off x="6118225" y="4183063"/>
              <a:ext cx="720725"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5" name="직선 연결선 174">
              <a:extLst>
                <a:ext uri="{FF2B5EF4-FFF2-40B4-BE49-F238E27FC236}">
                  <a16:creationId xmlns:a16="http://schemas.microsoft.com/office/drawing/2014/main" id="{7FEB05F4-FD38-437B-84E9-8658790FF605}"/>
                </a:ext>
              </a:extLst>
            </p:cNvPr>
            <p:cNvCxnSpPr/>
            <p:nvPr/>
          </p:nvCxnSpPr>
          <p:spPr>
            <a:xfrm>
              <a:off x="7770813" y="4894263"/>
              <a:ext cx="21590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6" name="직선 연결선 175">
              <a:extLst>
                <a:ext uri="{FF2B5EF4-FFF2-40B4-BE49-F238E27FC236}">
                  <a16:creationId xmlns:a16="http://schemas.microsoft.com/office/drawing/2014/main" id="{D6D2FCD8-1D84-4BDE-8BCD-158B835EB8D7}"/>
                </a:ext>
              </a:extLst>
            </p:cNvPr>
            <p:cNvCxnSpPr/>
            <p:nvPr/>
          </p:nvCxnSpPr>
          <p:spPr>
            <a:xfrm flipH="1">
              <a:off x="6946900" y="4327525"/>
              <a:ext cx="0" cy="701675"/>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7" name="직선 연결선 176">
              <a:extLst>
                <a:ext uri="{FF2B5EF4-FFF2-40B4-BE49-F238E27FC236}">
                  <a16:creationId xmlns:a16="http://schemas.microsoft.com/office/drawing/2014/main" id="{F25B3ACB-8311-4E7B-A898-0F17342B0E80}"/>
                </a:ext>
              </a:extLst>
            </p:cNvPr>
            <p:cNvCxnSpPr/>
            <p:nvPr/>
          </p:nvCxnSpPr>
          <p:spPr>
            <a:xfrm>
              <a:off x="6167438" y="5027613"/>
              <a:ext cx="792162"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8" name="직선 연결선 177">
              <a:extLst>
                <a:ext uri="{FF2B5EF4-FFF2-40B4-BE49-F238E27FC236}">
                  <a16:creationId xmlns:a16="http://schemas.microsoft.com/office/drawing/2014/main" id="{A1D3304C-EAE8-4744-B42B-3AADAE7F804F}"/>
                </a:ext>
              </a:extLst>
            </p:cNvPr>
            <p:cNvCxnSpPr/>
            <p:nvPr/>
          </p:nvCxnSpPr>
          <p:spPr>
            <a:xfrm>
              <a:off x="6148388" y="4803775"/>
              <a:ext cx="59372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179" name="TextBox 304">
              <a:extLst>
                <a:ext uri="{FF2B5EF4-FFF2-40B4-BE49-F238E27FC236}">
                  <a16:creationId xmlns:a16="http://schemas.microsoft.com/office/drawing/2014/main" id="{78CB69B0-11C5-443F-8C26-CDFA5E1BE3D1}"/>
                </a:ext>
              </a:extLst>
            </p:cNvPr>
            <p:cNvSpPr txBox="1"/>
            <p:nvPr/>
          </p:nvSpPr>
          <p:spPr>
            <a:xfrm>
              <a:off x="6183313" y="4659313"/>
              <a:ext cx="303212" cy="141287"/>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a:solidFill>
                    <a:schemeClr val="tx1"/>
                  </a:solidFill>
                </a:rPr>
                <a:t>GATE3</a:t>
              </a:r>
              <a:endParaRPr lang="ko-KR" altLang="en-US" sz="900" i="0">
                <a:solidFill>
                  <a:schemeClr val="tx1"/>
                </a:solidFill>
              </a:endParaRPr>
            </a:p>
          </p:txBody>
        </p:sp>
        <p:sp>
          <p:nvSpPr>
            <p:cNvPr id="180" name="TextBox 305">
              <a:extLst>
                <a:ext uri="{FF2B5EF4-FFF2-40B4-BE49-F238E27FC236}">
                  <a16:creationId xmlns:a16="http://schemas.microsoft.com/office/drawing/2014/main" id="{4E50C14E-1B64-4ED8-BDCC-D794D3D8518F}"/>
                </a:ext>
              </a:extLst>
            </p:cNvPr>
            <p:cNvSpPr txBox="1"/>
            <p:nvPr/>
          </p:nvSpPr>
          <p:spPr>
            <a:xfrm>
              <a:off x="6186488" y="4883150"/>
              <a:ext cx="303212" cy="141288"/>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a:solidFill>
                    <a:schemeClr val="tx1"/>
                  </a:solidFill>
                </a:rPr>
                <a:t>GATE2</a:t>
              </a:r>
              <a:endParaRPr lang="ko-KR" altLang="en-US" sz="900" i="0">
                <a:solidFill>
                  <a:schemeClr val="tx1"/>
                </a:solidFill>
              </a:endParaRPr>
            </a:p>
          </p:txBody>
        </p:sp>
        <p:sp>
          <p:nvSpPr>
            <p:cNvPr id="181" name="TextBox 307">
              <a:extLst>
                <a:ext uri="{FF2B5EF4-FFF2-40B4-BE49-F238E27FC236}">
                  <a16:creationId xmlns:a16="http://schemas.microsoft.com/office/drawing/2014/main" id="{F1F0F222-135F-4F16-BBFF-EB362196D597}"/>
                </a:ext>
              </a:extLst>
            </p:cNvPr>
            <p:cNvSpPr txBox="1"/>
            <p:nvPr/>
          </p:nvSpPr>
          <p:spPr>
            <a:xfrm>
              <a:off x="6148388" y="4019550"/>
              <a:ext cx="303212" cy="139700"/>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dirty="0">
                  <a:solidFill>
                    <a:schemeClr val="tx1"/>
                  </a:solidFill>
                </a:rPr>
                <a:t>VLED2</a:t>
              </a:r>
              <a:endParaRPr lang="ko-KR" altLang="en-US" sz="900" i="0" dirty="0">
                <a:solidFill>
                  <a:schemeClr val="tx1"/>
                </a:solidFill>
              </a:endParaRPr>
            </a:p>
          </p:txBody>
        </p:sp>
        <p:cxnSp>
          <p:nvCxnSpPr>
            <p:cNvPr id="183" name="직선 연결선 182">
              <a:extLst>
                <a:ext uri="{FF2B5EF4-FFF2-40B4-BE49-F238E27FC236}">
                  <a16:creationId xmlns:a16="http://schemas.microsoft.com/office/drawing/2014/main" id="{61FD1772-7F9D-408B-8547-88C628923CBD}"/>
                </a:ext>
              </a:extLst>
            </p:cNvPr>
            <p:cNvCxnSpPr/>
            <p:nvPr/>
          </p:nvCxnSpPr>
          <p:spPr>
            <a:xfrm>
              <a:off x="8470900" y="4741863"/>
              <a:ext cx="195263"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5" name="직선 연결선 184">
              <a:extLst>
                <a:ext uri="{FF2B5EF4-FFF2-40B4-BE49-F238E27FC236}">
                  <a16:creationId xmlns:a16="http://schemas.microsoft.com/office/drawing/2014/main" id="{D3C180BE-049D-4C92-89A5-5298B3399DD5}"/>
                </a:ext>
              </a:extLst>
            </p:cNvPr>
            <p:cNvCxnSpPr/>
            <p:nvPr/>
          </p:nvCxnSpPr>
          <p:spPr>
            <a:xfrm>
              <a:off x="8688388" y="4738688"/>
              <a:ext cx="19526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6" name="직선 연결선 185">
              <a:extLst>
                <a:ext uri="{FF2B5EF4-FFF2-40B4-BE49-F238E27FC236}">
                  <a16:creationId xmlns:a16="http://schemas.microsoft.com/office/drawing/2014/main" id="{0D309DB4-05E8-406C-8600-403F8158C4F7}"/>
                </a:ext>
              </a:extLst>
            </p:cNvPr>
            <p:cNvCxnSpPr/>
            <p:nvPr/>
          </p:nvCxnSpPr>
          <p:spPr>
            <a:xfrm flipH="1" flipV="1">
              <a:off x="8567738" y="4751388"/>
              <a:ext cx="0" cy="1444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7" name="직선 연결선 186">
              <a:extLst>
                <a:ext uri="{FF2B5EF4-FFF2-40B4-BE49-F238E27FC236}">
                  <a16:creationId xmlns:a16="http://schemas.microsoft.com/office/drawing/2014/main" id="{F2159A39-6694-4490-B805-ACF70BDD75B8}"/>
                </a:ext>
              </a:extLst>
            </p:cNvPr>
            <p:cNvCxnSpPr/>
            <p:nvPr/>
          </p:nvCxnSpPr>
          <p:spPr>
            <a:xfrm flipH="1" flipV="1">
              <a:off x="8783638" y="4745038"/>
              <a:ext cx="0" cy="1444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8" name="직선 연결선 187">
              <a:extLst>
                <a:ext uri="{FF2B5EF4-FFF2-40B4-BE49-F238E27FC236}">
                  <a16:creationId xmlns:a16="http://schemas.microsoft.com/office/drawing/2014/main" id="{5BADCDEC-C116-4FCD-BEF1-AFF28B51770B}"/>
                </a:ext>
              </a:extLst>
            </p:cNvPr>
            <p:cNvCxnSpPr/>
            <p:nvPr/>
          </p:nvCxnSpPr>
          <p:spPr>
            <a:xfrm flipH="1" flipV="1">
              <a:off x="8569325" y="4175125"/>
              <a:ext cx="0" cy="4667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9" name="직선 연결선 188">
              <a:extLst>
                <a:ext uri="{FF2B5EF4-FFF2-40B4-BE49-F238E27FC236}">
                  <a16:creationId xmlns:a16="http://schemas.microsoft.com/office/drawing/2014/main" id="{291C247C-402C-46D5-93A3-400C480A0C57}"/>
                </a:ext>
              </a:extLst>
            </p:cNvPr>
            <p:cNvCxnSpPr/>
            <p:nvPr/>
          </p:nvCxnSpPr>
          <p:spPr>
            <a:xfrm>
              <a:off x="8574088" y="4887913"/>
              <a:ext cx="21590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190" name="TextBox 322">
              <a:extLst>
                <a:ext uri="{FF2B5EF4-FFF2-40B4-BE49-F238E27FC236}">
                  <a16:creationId xmlns:a16="http://schemas.microsoft.com/office/drawing/2014/main" id="{AA4888EE-DD4A-4779-9958-7B49C6FB0296}"/>
                </a:ext>
              </a:extLst>
            </p:cNvPr>
            <p:cNvSpPr txBox="1"/>
            <p:nvPr/>
          </p:nvSpPr>
          <p:spPr>
            <a:xfrm>
              <a:off x="7799388" y="5151438"/>
              <a:ext cx="193675" cy="139700"/>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a:solidFill>
                    <a:schemeClr val="tx1"/>
                  </a:solidFill>
                </a:rPr>
                <a:t>CHx</a:t>
              </a:r>
              <a:endParaRPr lang="ko-KR" altLang="en-US" sz="900" i="0">
                <a:solidFill>
                  <a:schemeClr val="tx1"/>
                </a:solidFill>
              </a:endParaRPr>
            </a:p>
          </p:txBody>
        </p:sp>
        <p:sp>
          <p:nvSpPr>
            <p:cNvPr id="191" name="타원 190">
              <a:extLst>
                <a:ext uri="{FF2B5EF4-FFF2-40B4-BE49-F238E27FC236}">
                  <a16:creationId xmlns:a16="http://schemas.microsoft.com/office/drawing/2014/main" id="{0915C87B-391B-4D7A-8F2B-36ED38B881DE}"/>
                </a:ext>
              </a:extLst>
            </p:cNvPr>
            <p:cNvSpPr/>
            <p:nvPr/>
          </p:nvSpPr>
          <p:spPr>
            <a:xfrm>
              <a:off x="7945438" y="4464050"/>
              <a:ext cx="71437" cy="7143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192" name="타원 191">
              <a:extLst>
                <a:ext uri="{FF2B5EF4-FFF2-40B4-BE49-F238E27FC236}">
                  <a16:creationId xmlns:a16="http://schemas.microsoft.com/office/drawing/2014/main" id="{E5AA5503-B23A-4DC8-9979-7305D93E3FDA}"/>
                </a:ext>
              </a:extLst>
            </p:cNvPr>
            <p:cNvSpPr/>
            <p:nvPr/>
          </p:nvSpPr>
          <p:spPr>
            <a:xfrm>
              <a:off x="7740650" y="4151313"/>
              <a:ext cx="71438" cy="7143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193" name="타원 192">
              <a:extLst>
                <a:ext uri="{FF2B5EF4-FFF2-40B4-BE49-F238E27FC236}">
                  <a16:creationId xmlns:a16="http://schemas.microsoft.com/office/drawing/2014/main" id="{68BE00A5-34DE-464B-B0EC-D72277752AEB}"/>
                </a:ext>
              </a:extLst>
            </p:cNvPr>
            <p:cNvSpPr/>
            <p:nvPr/>
          </p:nvSpPr>
          <p:spPr>
            <a:xfrm>
              <a:off x="7843838" y="4864100"/>
              <a:ext cx="73025" cy="7143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194" name="타원 193">
              <a:extLst>
                <a:ext uri="{FF2B5EF4-FFF2-40B4-BE49-F238E27FC236}">
                  <a16:creationId xmlns:a16="http://schemas.microsoft.com/office/drawing/2014/main" id="{B46A3F26-F6FE-4A03-A4C8-0727B49793BD}"/>
                </a:ext>
              </a:extLst>
            </p:cNvPr>
            <p:cNvSpPr/>
            <p:nvPr/>
          </p:nvSpPr>
          <p:spPr>
            <a:xfrm>
              <a:off x="8647113" y="4862513"/>
              <a:ext cx="73025" cy="7143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cxnSp>
          <p:nvCxnSpPr>
            <p:cNvPr id="195" name="직선 연결선 194">
              <a:extLst>
                <a:ext uri="{FF2B5EF4-FFF2-40B4-BE49-F238E27FC236}">
                  <a16:creationId xmlns:a16="http://schemas.microsoft.com/office/drawing/2014/main" id="{039BF9F0-1E14-4936-969C-F7DB0D21C198}"/>
                </a:ext>
              </a:extLst>
            </p:cNvPr>
            <p:cNvCxnSpPr/>
            <p:nvPr/>
          </p:nvCxnSpPr>
          <p:spPr>
            <a:xfrm flipV="1">
              <a:off x="8774113" y="4491038"/>
              <a:ext cx="0" cy="1397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6" name="직선 연결선 195">
              <a:extLst>
                <a:ext uri="{FF2B5EF4-FFF2-40B4-BE49-F238E27FC236}">
                  <a16:creationId xmlns:a16="http://schemas.microsoft.com/office/drawing/2014/main" id="{17F5A7D1-5D5C-47FA-B803-D25A4CBE0C28}"/>
                </a:ext>
              </a:extLst>
            </p:cNvPr>
            <p:cNvCxnSpPr/>
            <p:nvPr/>
          </p:nvCxnSpPr>
          <p:spPr>
            <a:xfrm flipH="1" flipV="1">
              <a:off x="8688388" y="4897438"/>
              <a:ext cx="0" cy="2159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7" name="직선 연결선 196">
              <a:extLst>
                <a:ext uri="{FF2B5EF4-FFF2-40B4-BE49-F238E27FC236}">
                  <a16:creationId xmlns:a16="http://schemas.microsoft.com/office/drawing/2014/main" id="{B64CB180-AF11-4785-AAFC-9F7553BCD43D}"/>
                </a:ext>
              </a:extLst>
            </p:cNvPr>
            <p:cNvCxnSpPr/>
            <p:nvPr/>
          </p:nvCxnSpPr>
          <p:spPr>
            <a:xfrm flipH="1" flipV="1">
              <a:off x="7883525" y="4895850"/>
              <a:ext cx="0" cy="2159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198" name="TextBox 332">
              <a:extLst>
                <a:ext uri="{FF2B5EF4-FFF2-40B4-BE49-F238E27FC236}">
                  <a16:creationId xmlns:a16="http://schemas.microsoft.com/office/drawing/2014/main" id="{10935529-A36A-4B3E-8F1D-EEEBC62C0404}"/>
                </a:ext>
              </a:extLst>
            </p:cNvPr>
            <p:cNvSpPr txBox="1"/>
            <p:nvPr/>
          </p:nvSpPr>
          <p:spPr>
            <a:xfrm>
              <a:off x="8597900" y="5154613"/>
              <a:ext cx="195263" cy="138112"/>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a:solidFill>
                    <a:schemeClr val="tx1"/>
                  </a:solidFill>
                </a:rPr>
                <a:t>CHy</a:t>
              </a:r>
              <a:endParaRPr lang="ko-KR" altLang="en-US" sz="900" i="0">
                <a:solidFill>
                  <a:schemeClr val="tx1"/>
                </a:solidFill>
              </a:endParaRPr>
            </a:p>
          </p:txBody>
        </p:sp>
        <p:sp>
          <p:nvSpPr>
            <p:cNvPr id="200" name="직사각형 199">
              <a:extLst>
                <a:ext uri="{FF2B5EF4-FFF2-40B4-BE49-F238E27FC236}">
                  <a16:creationId xmlns:a16="http://schemas.microsoft.com/office/drawing/2014/main" id="{5F82EEB1-3794-484B-AABD-66142DB7366B}"/>
                </a:ext>
              </a:extLst>
            </p:cNvPr>
            <p:cNvSpPr/>
            <p:nvPr/>
          </p:nvSpPr>
          <p:spPr>
            <a:xfrm>
              <a:off x="5976938" y="3529013"/>
              <a:ext cx="3265487" cy="23876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201" name="TextBox 335">
              <a:extLst>
                <a:ext uri="{FF2B5EF4-FFF2-40B4-BE49-F238E27FC236}">
                  <a16:creationId xmlns:a16="http://schemas.microsoft.com/office/drawing/2014/main" id="{B143AB77-C086-467C-A34C-487D8E8E53D8}"/>
                </a:ext>
              </a:extLst>
            </p:cNvPr>
            <p:cNvSpPr txBox="1"/>
            <p:nvPr/>
          </p:nvSpPr>
          <p:spPr>
            <a:xfrm>
              <a:off x="8153400" y="5437188"/>
              <a:ext cx="352425" cy="155575"/>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1000" b="1" i="0" dirty="0">
                  <a:solidFill>
                    <a:schemeClr val="tx1"/>
                  </a:solidFill>
                </a:rPr>
                <a:t>XD12R</a:t>
              </a:r>
              <a:endParaRPr lang="ko-KR" altLang="en-US" sz="1000" b="1" i="0" dirty="0">
                <a:solidFill>
                  <a:schemeClr val="tx1"/>
                </a:solidFill>
              </a:endParaRPr>
            </a:p>
          </p:txBody>
        </p:sp>
        <p:sp>
          <p:nvSpPr>
            <p:cNvPr id="208" name="직사각형 207">
              <a:extLst>
                <a:ext uri="{FF2B5EF4-FFF2-40B4-BE49-F238E27FC236}">
                  <a16:creationId xmlns:a16="http://schemas.microsoft.com/office/drawing/2014/main" id="{E38BC94A-3E5E-4809-A6D8-62A931599D61}"/>
                </a:ext>
              </a:extLst>
            </p:cNvPr>
            <p:cNvSpPr/>
            <p:nvPr/>
          </p:nvSpPr>
          <p:spPr>
            <a:xfrm>
              <a:off x="7666038" y="4354513"/>
              <a:ext cx="203200" cy="741362"/>
            </a:xfrm>
            <a:prstGeom prst="rect">
              <a:avLst/>
            </a:prstGeom>
            <a:noFill/>
            <a:ln w="31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209" name="직사각형 208">
              <a:extLst>
                <a:ext uri="{FF2B5EF4-FFF2-40B4-BE49-F238E27FC236}">
                  <a16:creationId xmlns:a16="http://schemas.microsoft.com/office/drawing/2014/main" id="{BC4B5635-4290-441D-A051-126ABD000355}"/>
                </a:ext>
              </a:extLst>
            </p:cNvPr>
            <p:cNvSpPr/>
            <p:nvPr/>
          </p:nvSpPr>
          <p:spPr>
            <a:xfrm>
              <a:off x="7899400" y="4349750"/>
              <a:ext cx="203200" cy="741363"/>
            </a:xfrm>
            <a:prstGeom prst="rect">
              <a:avLst/>
            </a:prstGeom>
            <a:noFill/>
            <a:ln w="31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210" name="직사각형 209">
              <a:extLst>
                <a:ext uri="{FF2B5EF4-FFF2-40B4-BE49-F238E27FC236}">
                  <a16:creationId xmlns:a16="http://schemas.microsoft.com/office/drawing/2014/main" id="{1FAD1472-E6E5-4368-ABF8-D57B78CAB884}"/>
                </a:ext>
              </a:extLst>
            </p:cNvPr>
            <p:cNvSpPr/>
            <p:nvPr/>
          </p:nvSpPr>
          <p:spPr>
            <a:xfrm>
              <a:off x="8466138" y="4346575"/>
              <a:ext cx="203200" cy="739775"/>
            </a:xfrm>
            <a:prstGeom prst="rect">
              <a:avLst/>
            </a:prstGeom>
            <a:noFill/>
            <a:ln w="31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211" name="직사각형 210">
              <a:extLst>
                <a:ext uri="{FF2B5EF4-FFF2-40B4-BE49-F238E27FC236}">
                  <a16:creationId xmlns:a16="http://schemas.microsoft.com/office/drawing/2014/main" id="{88DA3553-BA70-468B-9A7F-6BCF0E6F4B11}"/>
                </a:ext>
              </a:extLst>
            </p:cNvPr>
            <p:cNvSpPr/>
            <p:nvPr/>
          </p:nvSpPr>
          <p:spPr>
            <a:xfrm>
              <a:off x="8697913" y="4341813"/>
              <a:ext cx="203200" cy="741362"/>
            </a:xfrm>
            <a:prstGeom prst="rect">
              <a:avLst/>
            </a:prstGeom>
            <a:noFill/>
            <a:ln w="31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grpSp>
      <p:sp>
        <p:nvSpPr>
          <p:cNvPr id="13" name="TextBox 12">
            <a:extLst>
              <a:ext uri="{FF2B5EF4-FFF2-40B4-BE49-F238E27FC236}">
                <a16:creationId xmlns:a16="http://schemas.microsoft.com/office/drawing/2014/main" id="{484A6925-DF40-47E3-FADA-AE51C86971AD}"/>
              </a:ext>
            </a:extLst>
          </p:cNvPr>
          <p:cNvSpPr txBox="1"/>
          <p:nvPr/>
        </p:nvSpPr>
        <p:spPr>
          <a:xfrm>
            <a:off x="1866523" y="7612541"/>
            <a:ext cx="3512500"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10  PWM Dimming sequence @ LD_DIR = 0, TYPE-D</a:t>
            </a:r>
          </a:p>
        </p:txBody>
      </p:sp>
      <p:sp>
        <p:nvSpPr>
          <p:cNvPr id="6" name="이등변 삼각형 5">
            <a:extLst>
              <a:ext uri="{FF2B5EF4-FFF2-40B4-BE49-F238E27FC236}">
                <a16:creationId xmlns:a16="http://schemas.microsoft.com/office/drawing/2014/main" id="{150857CF-1113-9ACE-F22E-CFC03DC4DC20}"/>
              </a:ext>
            </a:extLst>
          </p:cNvPr>
          <p:cNvSpPr/>
          <p:nvPr/>
        </p:nvSpPr>
        <p:spPr>
          <a:xfrm rot="10800000">
            <a:off x="3607134" y="3847940"/>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 name="이등변 삼각형 6">
            <a:extLst>
              <a:ext uri="{FF2B5EF4-FFF2-40B4-BE49-F238E27FC236}">
                <a16:creationId xmlns:a16="http://schemas.microsoft.com/office/drawing/2014/main" id="{4ABF4214-B15C-07B7-35E6-2BA7EA64BBDC}"/>
              </a:ext>
            </a:extLst>
          </p:cNvPr>
          <p:cNvSpPr/>
          <p:nvPr/>
        </p:nvSpPr>
        <p:spPr>
          <a:xfrm rot="10800000">
            <a:off x="3812840" y="3849247"/>
            <a:ext cx="165433" cy="94676"/>
          </a:xfrm>
          <a:prstGeom prst="triangle">
            <a:avLst/>
          </a:prstGeom>
          <a:solidFill>
            <a:srgbClr val="BDD8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4" name="이등변 삼각형 13">
            <a:extLst>
              <a:ext uri="{FF2B5EF4-FFF2-40B4-BE49-F238E27FC236}">
                <a16:creationId xmlns:a16="http://schemas.microsoft.com/office/drawing/2014/main" id="{B1D03DB8-94C5-0FB1-D437-1ABBB619A9DD}"/>
              </a:ext>
            </a:extLst>
          </p:cNvPr>
          <p:cNvSpPr/>
          <p:nvPr/>
        </p:nvSpPr>
        <p:spPr>
          <a:xfrm rot="10800000">
            <a:off x="4408349" y="3840096"/>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5" name="이등변 삼각형 14">
            <a:extLst>
              <a:ext uri="{FF2B5EF4-FFF2-40B4-BE49-F238E27FC236}">
                <a16:creationId xmlns:a16="http://schemas.microsoft.com/office/drawing/2014/main" id="{2A3E5386-2F98-10E5-912A-48B03AEE7E7F}"/>
              </a:ext>
            </a:extLst>
          </p:cNvPr>
          <p:cNvSpPr/>
          <p:nvPr/>
        </p:nvSpPr>
        <p:spPr>
          <a:xfrm rot="10800000">
            <a:off x="4612147" y="3845603"/>
            <a:ext cx="165433" cy="94676"/>
          </a:xfrm>
          <a:prstGeom prst="triangle">
            <a:avLst/>
          </a:prstGeom>
          <a:solidFill>
            <a:srgbClr val="BDD8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1" name="TextBox 307">
            <a:extLst>
              <a:ext uri="{FF2B5EF4-FFF2-40B4-BE49-F238E27FC236}">
                <a16:creationId xmlns:a16="http://schemas.microsoft.com/office/drawing/2014/main" id="{969F02CC-5D75-5C8E-DEFE-503942FAA63B}"/>
              </a:ext>
            </a:extLst>
          </p:cNvPr>
          <p:cNvSpPr txBox="1"/>
          <p:nvPr/>
        </p:nvSpPr>
        <p:spPr>
          <a:xfrm>
            <a:off x="2075323" y="3543670"/>
            <a:ext cx="303212" cy="139700"/>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dirty="0">
                <a:solidFill>
                  <a:schemeClr val="tx1"/>
                </a:solidFill>
              </a:rPr>
              <a:t>VLED</a:t>
            </a:r>
            <a:r>
              <a:rPr lang="en-US" altLang="ko-KR" sz="900" dirty="0"/>
              <a:t>3</a:t>
            </a:r>
            <a:endParaRPr lang="ko-KR" altLang="en-US" sz="900" i="0" dirty="0">
              <a:solidFill>
                <a:schemeClr val="tx1"/>
              </a:solidFill>
            </a:endParaRPr>
          </a:p>
        </p:txBody>
      </p:sp>
      <p:pic>
        <p:nvPicPr>
          <p:cNvPr id="5" name="그림 4">
            <a:extLst>
              <a:ext uri="{FF2B5EF4-FFF2-40B4-BE49-F238E27FC236}">
                <a16:creationId xmlns:a16="http://schemas.microsoft.com/office/drawing/2014/main" id="{514E12F1-7F46-A369-4231-FC4215B655D9}"/>
              </a:ext>
            </a:extLst>
          </p:cNvPr>
          <p:cNvPicPr>
            <a:picLocks noChangeAspect="1"/>
          </p:cNvPicPr>
          <p:nvPr/>
        </p:nvPicPr>
        <p:blipFill>
          <a:blip r:embed="rId2"/>
          <a:stretch>
            <a:fillRect/>
          </a:stretch>
        </p:blipFill>
        <p:spPr>
          <a:xfrm>
            <a:off x="146894" y="5572494"/>
            <a:ext cx="6250720" cy="1845999"/>
          </a:xfrm>
          <a:prstGeom prst="rect">
            <a:avLst/>
          </a:prstGeom>
        </p:spPr>
      </p:pic>
    </p:spTree>
    <p:extLst>
      <p:ext uri="{BB962C8B-B14F-4D97-AF65-F5344CB8AC3E}">
        <p14:creationId xmlns:p14="http://schemas.microsoft.com/office/powerpoint/2010/main" val="6226986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직선 연결선 1">
            <a:extLst>
              <a:ext uri="{FF2B5EF4-FFF2-40B4-BE49-F238E27FC236}">
                <a16:creationId xmlns:a16="http://schemas.microsoft.com/office/drawing/2014/main" id="{3458FFB0-B6F0-2FD8-80EC-7FADADDF99A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DB9F162-70BE-F551-51CA-40B5A616747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F4EC071F-5694-778B-2A03-691360296A13}"/>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8" name="TextBox 7">
            <a:extLst>
              <a:ext uri="{FF2B5EF4-FFF2-40B4-BE49-F238E27FC236}">
                <a16:creationId xmlns:a16="http://schemas.microsoft.com/office/drawing/2014/main" id="{2F68EC2E-6D6A-88F3-F654-3B39993E2D58}"/>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PARITY</a:t>
            </a:r>
          </a:p>
        </p:txBody>
      </p:sp>
      <p:sp>
        <p:nvSpPr>
          <p:cNvPr id="11" name="TextBox 10">
            <a:extLst>
              <a:ext uri="{FF2B5EF4-FFF2-40B4-BE49-F238E27FC236}">
                <a16:creationId xmlns:a16="http://schemas.microsoft.com/office/drawing/2014/main" id="{ECDE530E-4B35-5CB9-8B11-D4C9AC9300E9}"/>
              </a:ext>
            </a:extLst>
          </p:cNvPr>
          <p:cNvSpPr txBox="1"/>
          <p:nvPr/>
        </p:nvSpPr>
        <p:spPr>
          <a:xfrm>
            <a:off x="490104" y="1594666"/>
            <a:ext cx="6047999" cy="153888"/>
          </a:xfrm>
          <a:prstGeom prst="rect">
            <a:avLst/>
          </a:prstGeom>
          <a:noFill/>
        </p:spPr>
        <p:txBody>
          <a:bodyPr wrap="square" lIns="0" tIns="0" rIns="36000" bIns="0" rtlCol="0">
            <a:spAutoFit/>
          </a:bodyPr>
          <a:lstStyle/>
          <a:p>
            <a:r>
              <a:rPr lang="en-US" altLang="ko-KR" sz="1000" dirty="0">
                <a:latin typeface="Arial" panose="020B0604020202020204" pitchFamily="34" charset="0"/>
                <a:cs typeface="Arial" panose="020B0604020202020204" pitchFamily="34" charset="0"/>
              </a:rPr>
              <a:t>The XDR12 supports parity function for interface communication with XCR.</a:t>
            </a:r>
            <a:endParaRPr lang="ko-KR" altLang="en-US" sz="1000" dirty="0">
              <a:latin typeface="Arial" panose="020B0604020202020204" pitchFamily="34" charset="0"/>
              <a:cs typeface="Arial" panose="020B0604020202020204" pitchFamily="34" charset="0"/>
            </a:endParaRPr>
          </a:p>
        </p:txBody>
      </p:sp>
      <p:pic>
        <p:nvPicPr>
          <p:cNvPr id="12" name="그림 11">
            <a:extLst>
              <a:ext uri="{FF2B5EF4-FFF2-40B4-BE49-F238E27FC236}">
                <a16:creationId xmlns:a16="http://schemas.microsoft.com/office/drawing/2014/main" id="{5E235F77-3F91-FB91-5E1C-01F86FFBAB44}"/>
              </a:ext>
            </a:extLst>
          </p:cNvPr>
          <p:cNvPicPr>
            <a:picLocks noChangeAspect="1"/>
          </p:cNvPicPr>
          <p:nvPr/>
        </p:nvPicPr>
        <p:blipFill>
          <a:blip r:embed="rId2"/>
          <a:stretch>
            <a:fillRect/>
          </a:stretch>
        </p:blipFill>
        <p:spPr>
          <a:xfrm>
            <a:off x="490104" y="3286751"/>
            <a:ext cx="5772150" cy="1905106"/>
          </a:xfrm>
          <a:prstGeom prst="rect">
            <a:avLst/>
          </a:prstGeom>
        </p:spPr>
      </p:pic>
      <p:graphicFrame>
        <p:nvGraphicFramePr>
          <p:cNvPr id="13" name="표 12">
            <a:extLst>
              <a:ext uri="{FF2B5EF4-FFF2-40B4-BE49-F238E27FC236}">
                <a16:creationId xmlns:a16="http://schemas.microsoft.com/office/drawing/2014/main" id="{973210F2-927B-78FE-9ED6-5E3C63BB0526}"/>
              </a:ext>
            </a:extLst>
          </p:cNvPr>
          <p:cNvGraphicFramePr>
            <a:graphicFrameLocks noGrp="1"/>
          </p:cNvGraphicFramePr>
          <p:nvPr>
            <p:extLst>
              <p:ext uri="{D42A27DB-BD31-4B8C-83A1-F6EECF244321}">
                <p14:modId xmlns:p14="http://schemas.microsoft.com/office/powerpoint/2010/main" val="2835225128"/>
              </p:ext>
            </p:extLst>
          </p:nvPr>
        </p:nvGraphicFramePr>
        <p:xfrm>
          <a:off x="540904" y="1897436"/>
          <a:ext cx="5170486" cy="998189"/>
        </p:xfrm>
        <a:graphic>
          <a:graphicData uri="http://schemas.openxmlformats.org/drawingml/2006/table">
            <a:tbl>
              <a:tblPr/>
              <a:tblGrid>
                <a:gridCol w="837472">
                  <a:extLst>
                    <a:ext uri="{9D8B030D-6E8A-4147-A177-3AD203B41FA5}">
                      <a16:colId xmlns:a16="http://schemas.microsoft.com/office/drawing/2014/main" val="1029587374"/>
                    </a:ext>
                  </a:extLst>
                </a:gridCol>
                <a:gridCol w="4333014">
                  <a:extLst>
                    <a:ext uri="{9D8B030D-6E8A-4147-A177-3AD203B41FA5}">
                      <a16:colId xmlns:a16="http://schemas.microsoft.com/office/drawing/2014/main" val="3325282042"/>
                    </a:ext>
                  </a:extLst>
                </a:gridCol>
              </a:tblGrid>
              <a:tr h="251222">
                <a:tc>
                  <a:txBody>
                    <a:bodyPr/>
                    <a:lstStyle/>
                    <a:p>
                      <a:pPr algn="ctr" fontAlgn="ctr"/>
                      <a:r>
                        <a:rPr lang="en-US" sz="700" b="1" i="0" u="none" strike="noStrike">
                          <a:solidFill>
                            <a:srgbClr val="000000"/>
                          </a:solidFill>
                          <a:effectLst/>
                          <a:latin typeface="맑은 고딕" panose="020B0503020000020004" pitchFamily="50" charset="-127"/>
                          <a:ea typeface="맑은 고딕" panose="020B0503020000020004" pitchFamily="50" charset="-127"/>
                        </a:rPr>
                        <a:t>TYPE</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l"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EVEN PARITY</a:t>
                      </a:r>
                      <a:br>
                        <a:rPr lang="en-US" sz="700" b="0" i="0" u="none" strike="noStrike" dirty="0">
                          <a:solidFill>
                            <a:srgbClr val="000000"/>
                          </a:solidFill>
                          <a:effectLst/>
                          <a:latin typeface="맑은 고딕" panose="020B0503020000020004" pitchFamily="50" charset="-127"/>
                          <a:ea typeface="맑은 고딕" panose="020B0503020000020004" pitchFamily="50" charset="-127"/>
                        </a:rPr>
                      </a:br>
                      <a:r>
                        <a:rPr lang="en-US" sz="700" b="0" i="0" u="none" strike="noStrike" dirty="0">
                          <a:solidFill>
                            <a:srgbClr val="000000"/>
                          </a:solidFill>
                          <a:effectLst/>
                          <a:latin typeface="맑은 고딕" panose="020B0503020000020004" pitchFamily="50" charset="-127"/>
                          <a:ea typeface="맑은 고딕" panose="020B0503020000020004" pitchFamily="50" charset="-127"/>
                        </a:rPr>
                        <a:t>  If the number of 1s in the data bits is odd, the parity bit is set to 1.</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89266691"/>
                  </a:ext>
                </a:extLst>
              </a:tr>
              <a:tr h="251222">
                <a:tc>
                  <a:txBody>
                    <a:bodyPr/>
                    <a:lstStyle/>
                    <a:p>
                      <a:pPr algn="ctr" fontAlgn="ctr"/>
                      <a:r>
                        <a:rPr lang="en-US" sz="700" b="1" i="0" u="none" strike="noStrike">
                          <a:solidFill>
                            <a:srgbClr val="000000"/>
                          </a:solidFill>
                          <a:effectLst/>
                          <a:latin typeface="맑은 고딕" panose="020B0503020000020004" pitchFamily="50" charset="-127"/>
                          <a:ea typeface="맑은 고딕" panose="020B0503020000020004" pitchFamily="50" charset="-127"/>
                        </a:rPr>
                        <a:t>COMMAND</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l"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Supporting all commands except LD transfer command.</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43878742"/>
                  </a:ext>
                </a:extLst>
              </a:tr>
              <a:tr h="264621">
                <a:tc>
                  <a:txBody>
                    <a:bodyPr/>
                    <a:lstStyle/>
                    <a:p>
                      <a:pPr algn="ctr" fontAlgn="ctr"/>
                      <a:r>
                        <a:rPr lang="en-US" sz="700" b="1" i="0" u="none" strike="noStrike">
                          <a:solidFill>
                            <a:srgbClr val="000000"/>
                          </a:solidFill>
                          <a:effectLst/>
                          <a:latin typeface="맑은 고딕" panose="020B0503020000020004" pitchFamily="50" charset="-127"/>
                          <a:ea typeface="맑은 고딕" panose="020B0503020000020004" pitchFamily="50" charset="-127"/>
                        </a:rPr>
                        <a:t>RANGE</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l"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All area of protocol.</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20416695"/>
                  </a:ext>
                </a:extLst>
              </a:tr>
              <a:tr h="231124">
                <a:tc>
                  <a:txBody>
                    <a:bodyPr/>
                    <a:lstStyle/>
                    <a:p>
                      <a:pPr algn="ctr" fontAlgn="ctr"/>
                      <a:r>
                        <a:rPr lang="en-US" sz="700" b="1" i="0" u="none" strike="noStrike">
                          <a:solidFill>
                            <a:srgbClr val="000000"/>
                          </a:solidFill>
                          <a:effectLst/>
                          <a:latin typeface="맑은 고딕" panose="020B0503020000020004" pitchFamily="50" charset="-127"/>
                          <a:ea typeface="맑은 고딕" panose="020B0503020000020004" pitchFamily="50" charset="-127"/>
                        </a:rPr>
                        <a:t>FAIL</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l"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If the parity does not match, the command is not executed (daisy transmission is stopped).</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75332959"/>
                  </a:ext>
                </a:extLst>
              </a:tr>
            </a:tbl>
          </a:graphicData>
        </a:graphic>
      </p:graphicFrame>
      <p:sp>
        <p:nvSpPr>
          <p:cNvPr id="17" name="TextBox 16">
            <a:extLst>
              <a:ext uri="{FF2B5EF4-FFF2-40B4-BE49-F238E27FC236}">
                <a16:creationId xmlns:a16="http://schemas.microsoft.com/office/drawing/2014/main" id="{D9FF05F8-9EC7-524D-6660-F6A5697CC635}"/>
              </a:ext>
            </a:extLst>
          </p:cNvPr>
          <p:cNvSpPr txBox="1"/>
          <p:nvPr/>
        </p:nvSpPr>
        <p:spPr>
          <a:xfrm>
            <a:off x="1778829" y="5379783"/>
            <a:ext cx="3026470"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Figure 11. Serial communication protocol @ PC_EN = 1</a:t>
            </a:r>
          </a:p>
        </p:txBody>
      </p:sp>
    </p:spTree>
    <p:extLst>
      <p:ext uri="{BB962C8B-B14F-4D97-AF65-F5344CB8AC3E}">
        <p14:creationId xmlns:p14="http://schemas.microsoft.com/office/powerpoint/2010/main" val="23982227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DCDE7-F036-7AEB-F862-1E9B2753CF05}"/>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CC734C2C-C775-DD91-36D0-78C0784EF61F}"/>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5D4E264-41CE-36C3-B448-4190ED192D1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6437D930-8BF7-2AA4-0B38-D1EEDD4D4804}"/>
              </a:ext>
            </a:extLst>
          </p:cNvPr>
          <p:cNvSpPr txBox="1"/>
          <p:nvPr/>
        </p:nvSpPr>
        <p:spPr>
          <a:xfrm>
            <a:off x="399458" y="805287"/>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23" name="TextBox 22">
            <a:extLst>
              <a:ext uri="{FF2B5EF4-FFF2-40B4-BE49-F238E27FC236}">
                <a16:creationId xmlns:a16="http://schemas.microsoft.com/office/drawing/2014/main" id="{2B70C311-8E98-9CA9-0282-CAD80FD2FE72}"/>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Transition a frame frequency without a flicker</a:t>
            </a:r>
          </a:p>
        </p:txBody>
      </p:sp>
      <p:sp>
        <p:nvSpPr>
          <p:cNvPr id="4" name="TextBox 3">
            <a:extLst>
              <a:ext uri="{FF2B5EF4-FFF2-40B4-BE49-F238E27FC236}">
                <a16:creationId xmlns:a16="http://schemas.microsoft.com/office/drawing/2014/main" id="{D2F07B5C-E692-1E42-5911-D5D134A5863B}"/>
              </a:ext>
            </a:extLst>
          </p:cNvPr>
          <p:cNvSpPr txBox="1"/>
          <p:nvPr/>
        </p:nvSpPr>
        <p:spPr>
          <a:xfrm rot="5400000">
            <a:off x="3221778" y="5271732"/>
            <a:ext cx="1330172" cy="135550"/>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12.  PWM 12-bit</a:t>
            </a:r>
          </a:p>
        </p:txBody>
      </p:sp>
      <p:sp>
        <p:nvSpPr>
          <p:cNvPr id="5" name="TextBox 4">
            <a:extLst>
              <a:ext uri="{FF2B5EF4-FFF2-40B4-BE49-F238E27FC236}">
                <a16:creationId xmlns:a16="http://schemas.microsoft.com/office/drawing/2014/main" id="{693FC28B-BC73-02A4-A3D1-4A26BDC34F13}"/>
              </a:ext>
            </a:extLst>
          </p:cNvPr>
          <p:cNvSpPr txBox="1"/>
          <p:nvPr/>
        </p:nvSpPr>
        <p:spPr>
          <a:xfrm rot="5400000">
            <a:off x="105157" y="5271732"/>
            <a:ext cx="1330172" cy="135550"/>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13.  PWM 14-bit</a:t>
            </a:r>
          </a:p>
        </p:txBody>
      </p:sp>
      <p:pic>
        <p:nvPicPr>
          <p:cNvPr id="6" name="그림 5">
            <a:extLst>
              <a:ext uri="{FF2B5EF4-FFF2-40B4-BE49-F238E27FC236}">
                <a16:creationId xmlns:a16="http://schemas.microsoft.com/office/drawing/2014/main" id="{DFB2BBAF-C900-DABA-053C-CA5E87EB433C}"/>
              </a:ext>
            </a:extLst>
          </p:cNvPr>
          <p:cNvPicPr>
            <a:picLocks noChangeAspect="1"/>
          </p:cNvPicPr>
          <p:nvPr/>
        </p:nvPicPr>
        <p:blipFill>
          <a:blip r:embed="rId2"/>
          <a:stretch>
            <a:fillRect/>
          </a:stretch>
        </p:blipFill>
        <p:spPr>
          <a:xfrm rot="5400000">
            <a:off x="1398898" y="4280984"/>
            <a:ext cx="7287588" cy="2090575"/>
          </a:xfrm>
          <a:prstGeom prst="rect">
            <a:avLst/>
          </a:prstGeom>
        </p:spPr>
      </p:pic>
      <p:pic>
        <p:nvPicPr>
          <p:cNvPr id="7" name="그림 6">
            <a:extLst>
              <a:ext uri="{FF2B5EF4-FFF2-40B4-BE49-F238E27FC236}">
                <a16:creationId xmlns:a16="http://schemas.microsoft.com/office/drawing/2014/main" id="{116B7496-82BD-A7D9-D152-E4767C2DF39E}"/>
              </a:ext>
            </a:extLst>
          </p:cNvPr>
          <p:cNvPicPr>
            <a:picLocks noChangeAspect="1"/>
          </p:cNvPicPr>
          <p:nvPr/>
        </p:nvPicPr>
        <p:blipFill>
          <a:blip r:embed="rId3"/>
          <a:stretch>
            <a:fillRect/>
          </a:stretch>
        </p:blipFill>
        <p:spPr>
          <a:xfrm rot="5400000">
            <a:off x="-1576809" y="4228847"/>
            <a:ext cx="7293500" cy="2200759"/>
          </a:xfrm>
          <a:prstGeom prst="rect">
            <a:avLst/>
          </a:prstGeom>
        </p:spPr>
      </p:pic>
    </p:spTree>
    <p:extLst>
      <p:ext uri="{BB962C8B-B14F-4D97-AF65-F5344CB8AC3E}">
        <p14:creationId xmlns:p14="http://schemas.microsoft.com/office/powerpoint/2010/main" val="29202239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99D9A718-EAE2-4D8C-B8BD-17D024CE14FF}"/>
              </a:ext>
            </a:extLst>
          </p:cNvPr>
          <p:cNvSpPr txBox="1"/>
          <p:nvPr/>
        </p:nvSpPr>
        <p:spPr>
          <a:xfrm>
            <a:off x="404813" y="882048"/>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Register Map</a:t>
            </a:r>
          </a:p>
        </p:txBody>
      </p:sp>
      <p:sp>
        <p:nvSpPr>
          <p:cNvPr id="3" name="TextBox 2">
            <a:extLst>
              <a:ext uri="{FF2B5EF4-FFF2-40B4-BE49-F238E27FC236}">
                <a16:creationId xmlns:a16="http://schemas.microsoft.com/office/drawing/2014/main" id="{3361CF8C-9724-C6B9-548F-BF8FA6528D54}"/>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3" name="표 12">
            <a:extLst>
              <a:ext uri="{FF2B5EF4-FFF2-40B4-BE49-F238E27FC236}">
                <a16:creationId xmlns:a16="http://schemas.microsoft.com/office/drawing/2014/main" id="{CC9DA0BE-DE85-E682-589C-FB2F24785156}"/>
              </a:ext>
            </a:extLst>
          </p:cNvPr>
          <p:cNvGraphicFramePr>
            <a:graphicFrameLocks noGrp="1"/>
          </p:cNvGraphicFramePr>
          <p:nvPr>
            <p:extLst>
              <p:ext uri="{D42A27DB-BD31-4B8C-83A1-F6EECF244321}">
                <p14:modId xmlns:p14="http://schemas.microsoft.com/office/powerpoint/2010/main" val="1507027135"/>
              </p:ext>
            </p:extLst>
          </p:nvPr>
        </p:nvGraphicFramePr>
        <p:xfrm>
          <a:off x="404812" y="2194460"/>
          <a:ext cx="6048622" cy="4102474"/>
        </p:xfrm>
        <a:graphic>
          <a:graphicData uri="http://schemas.openxmlformats.org/drawingml/2006/table">
            <a:tbl>
              <a:tblPr firstRow="1" bandRow="1">
                <a:tableStyleId>{5C22544A-7EE6-4342-B048-85BDC9FD1C3A}</a:tableStyleId>
              </a:tblPr>
              <a:tblGrid>
                <a:gridCol w="411264">
                  <a:extLst>
                    <a:ext uri="{9D8B030D-6E8A-4147-A177-3AD203B41FA5}">
                      <a16:colId xmlns:a16="http://schemas.microsoft.com/office/drawing/2014/main" val="4170535043"/>
                    </a:ext>
                  </a:extLst>
                </a:gridCol>
                <a:gridCol w="594736">
                  <a:extLst>
                    <a:ext uri="{9D8B030D-6E8A-4147-A177-3AD203B41FA5}">
                      <a16:colId xmlns:a16="http://schemas.microsoft.com/office/drawing/2014/main" val="2079070694"/>
                    </a:ext>
                  </a:extLst>
                </a:gridCol>
                <a:gridCol w="287961">
                  <a:extLst>
                    <a:ext uri="{9D8B030D-6E8A-4147-A177-3AD203B41FA5}">
                      <a16:colId xmlns:a16="http://schemas.microsoft.com/office/drawing/2014/main" val="3858367650"/>
                    </a:ext>
                  </a:extLst>
                </a:gridCol>
                <a:gridCol w="4754661">
                  <a:extLst>
                    <a:ext uri="{9D8B030D-6E8A-4147-A177-3AD203B41FA5}">
                      <a16:colId xmlns:a16="http://schemas.microsoft.com/office/drawing/2014/main" val="32595803"/>
                    </a:ext>
                  </a:extLst>
                </a:gridCol>
              </a:tblGrid>
              <a:tr h="30586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a:noFill/>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8668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All internal logics are initialized to a default state and this bit will be auto-cleared after internal initialization.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1576041"/>
                  </a:ext>
                </a:extLst>
              </a:tr>
              <a:tr h="68409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VS_RST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then the serializer and de-serializer of XD12R  will be initialized to a default state at every vsync. This bit set does not affect all internal registers and buffers. </a:t>
                      </a:r>
                      <a:r>
                        <a:rPr lang="en-US" altLang="ko-KR" sz="900" b="0" i="1" dirty="0">
                          <a:solidFill>
                            <a:schemeClr val="tx1"/>
                          </a:solidFill>
                          <a:latin typeface="Arial" panose="020B0604020202020204" pitchFamily="34" charset="0"/>
                          <a:ea typeface="+mn-ea"/>
                          <a:cs typeface="Arial" panose="020B0604020202020204" pitchFamily="34" charset="0"/>
                        </a:rPr>
                        <a:t>This bit can’t be set at the same time as the E_RST bit.</a:t>
                      </a:r>
                      <a:endParaRPr lang="ko-KR" altLang="en-US" sz="900" b="0" i="1"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3354998"/>
                  </a:ext>
                </a:extLst>
              </a:tr>
              <a:tr h="49323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E_RST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then the serializer and de-serializer of XD12R  will be initialized to a default state at the last third pwm clock. This function starts from the first vsync input. So, it is careful that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the XD12R  access at the back of the frame should be avoided for proper operation. This bit set does not affect all internal registers and buffers. </a:t>
                      </a:r>
                      <a:r>
                        <a:rPr lang="en-US" altLang="ko-KR" sz="900" b="0" i="1" dirty="0">
                          <a:solidFill>
                            <a:schemeClr val="tx1"/>
                          </a:solidFill>
                          <a:latin typeface="Arial" panose="020B0604020202020204" pitchFamily="34" charset="0"/>
                          <a:ea typeface="+mn-ea"/>
                          <a:cs typeface="Arial" panose="020B0604020202020204" pitchFamily="34" charset="0"/>
                        </a:rPr>
                        <a:t>This bit can’t be set at the same time as the VS_RST bit.</a:t>
                      </a:r>
                      <a:endParaRPr lang="ko-KR" altLang="en-US" sz="900" b="0" i="1"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5687421"/>
                  </a:ext>
                </a:extLst>
              </a:tr>
              <a:tr h="49323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LKG_E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1"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Enable leakage current mode for driver protection to prevent the VLED voltage from being directly applied to the driver output node</a:t>
                      </a:r>
                      <a:endParaRPr lang="ko-KR" altLang="en-US" sz="900" b="0" i="1"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78377548"/>
                  </a:ext>
                </a:extLst>
              </a:tr>
              <a:tr h="113764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T>
                      <a:noFill/>
                    </a:lnT>
                  </a:tcPr>
                </a:tc>
                <a:tc>
                  <a:txBody>
                    <a:bodyPr/>
                    <a:lstStyle/>
                    <a:p>
                      <a:pPr algn="just" latinLnBrk="1"/>
                      <a:r>
                        <a:rPr lang="en-US" altLang="ko-KR" sz="900" b="0" dirty="0">
                          <a:solidFill>
                            <a:schemeClr val="tx1"/>
                          </a:solidFill>
                          <a:latin typeface="Arial" panose="020B0604020202020204" pitchFamily="34" charset="0"/>
                          <a:ea typeface="+mn-ea"/>
                          <a:cs typeface="Arial" panose="020B0604020202020204" pitchFamily="34" charset="0"/>
                        </a:rPr>
                        <a:t>These bits are read only. If the XD12R will receive the ID-Gen command from the XC24R controller, then the ID value is automatically generated. The ID value is needed for proper reading, so, the ID-Gen command must be firstly executed by the XC24R controller before executing any commands.  If all XD12R drivers daisied will receive the ID-Gen command, the last-located device will have the first number of ID, and the first located device will have the last number of ID, that is, the number of daisied devices. The ID value can not be written by a Host.</a:t>
                      </a:r>
                    </a:p>
                  </a:txBody>
                  <a:tcPr marL="36000" marR="0" marT="36000" marB="36000">
                    <a:lnL>
                      <a:noFill/>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2461270"/>
                  </a:ext>
                </a:extLst>
              </a:tr>
            </a:tbl>
          </a:graphicData>
        </a:graphic>
      </p:graphicFrame>
      <p:graphicFrame>
        <p:nvGraphicFramePr>
          <p:cNvPr id="2" name="표 1">
            <a:extLst>
              <a:ext uri="{FF2B5EF4-FFF2-40B4-BE49-F238E27FC236}">
                <a16:creationId xmlns:a16="http://schemas.microsoft.com/office/drawing/2014/main" id="{91BA68BD-CD99-1E39-D8C4-B3DECE023D43}"/>
              </a:ext>
            </a:extLst>
          </p:cNvPr>
          <p:cNvGraphicFramePr>
            <a:graphicFrameLocks noGrp="1"/>
          </p:cNvGraphicFramePr>
          <p:nvPr>
            <p:extLst>
              <p:ext uri="{D42A27DB-BD31-4B8C-83A1-F6EECF244321}">
                <p14:modId xmlns:p14="http://schemas.microsoft.com/office/powerpoint/2010/main" val="2746355665"/>
              </p:ext>
            </p:extLst>
          </p:nvPr>
        </p:nvGraphicFramePr>
        <p:xfrm>
          <a:off x="404812" y="1727442"/>
          <a:ext cx="6048623" cy="372600"/>
        </p:xfrm>
        <a:graphic>
          <a:graphicData uri="http://schemas.openxmlformats.org/drawingml/2006/table">
            <a:tbl>
              <a:tblPr firstRow="1" bandRow="1">
                <a:tableStyleId>{5C22544A-7EE6-4342-B048-85BDC9FD1C3A}</a:tableStyleId>
              </a:tblPr>
              <a:tblGrid>
                <a:gridCol w="349333">
                  <a:extLst>
                    <a:ext uri="{9D8B030D-6E8A-4147-A177-3AD203B41FA5}">
                      <a16:colId xmlns:a16="http://schemas.microsoft.com/office/drawing/2014/main" val="657570846"/>
                    </a:ext>
                  </a:extLst>
                </a:gridCol>
                <a:gridCol w="384104">
                  <a:extLst>
                    <a:ext uri="{9D8B030D-6E8A-4147-A177-3AD203B41FA5}">
                      <a16:colId xmlns:a16="http://schemas.microsoft.com/office/drawing/2014/main" val="3259894497"/>
                    </a:ext>
                  </a:extLst>
                </a:gridCol>
                <a:gridCol w="451423">
                  <a:extLst>
                    <a:ext uri="{9D8B030D-6E8A-4147-A177-3AD203B41FA5}">
                      <a16:colId xmlns:a16="http://schemas.microsoft.com/office/drawing/2014/main" val="4170535043"/>
                    </a:ext>
                  </a:extLst>
                </a:gridCol>
                <a:gridCol w="402367">
                  <a:extLst>
                    <a:ext uri="{9D8B030D-6E8A-4147-A177-3AD203B41FA5}">
                      <a16:colId xmlns:a16="http://schemas.microsoft.com/office/drawing/2014/main" val="2079070694"/>
                    </a:ext>
                  </a:extLst>
                </a:gridCol>
                <a:gridCol w="437726">
                  <a:extLst>
                    <a:ext uri="{9D8B030D-6E8A-4147-A177-3AD203B41FA5}">
                      <a16:colId xmlns:a16="http://schemas.microsoft.com/office/drawing/2014/main" val="4213315911"/>
                    </a:ext>
                  </a:extLst>
                </a:gridCol>
                <a:gridCol w="402367">
                  <a:extLst>
                    <a:ext uri="{9D8B030D-6E8A-4147-A177-3AD203B41FA5}">
                      <a16:colId xmlns:a16="http://schemas.microsoft.com/office/drawing/2014/main" val="2769999950"/>
                    </a:ext>
                  </a:extLst>
                </a:gridCol>
                <a:gridCol w="402367">
                  <a:extLst>
                    <a:ext uri="{9D8B030D-6E8A-4147-A177-3AD203B41FA5}">
                      <a16:colId xmlns:a16="http://schemas.microsoft.com/office/drawing/2014/main" val="135637185"/>
                    </a:ext>
                  </a:extLst>
                </a:gridCol>
                <a:gridCol w="402367">
                  <a:extLst>
                    <a:ext uri="{9D8B030D-6E8A-4147-A177-3AD203B41FA5}">
                      <a16:colId xmlns:a16="http://schemas.microsoft.com/office/drawing/2014/main" val="3038050475"/>
                    </a:ext>
                  </a:extLst>
                </a:gridCol>
                <a:gridCol w="402367">
                  <a:extLst>
                    <a:ext uri="{9D8B030D-6E8A-4147-A177-3AD203B41FA5}">
                      <a16:colId xmlns:a16="http://schemas.microsoft.com/office/drawing/2014/main" val="1979433044"/>
                    </a:ext>
                  </a:extLst>
                </a:gridCol>
                <a:gridCol w="402367">
                  <a:extLst>
                    <a:ext uri="{9D8B030D-6E8A-4147-A177-3AD203B41FA5}">
                      <a16:colId xmlns:a16="http://schemas.microsoft.com/office/drawing/2014/main" val="4270661649"/>
                    </a:ext>
                  </a:extLst>
                </a:gridCol>
                <a:gridCol w="402367">
                  <a:extLst>
                    <a:ext uri="{9D8B030D-6E8A-4147-A177-3AD203B41FA5}">
                      <a16:colId xmlns:a16="http://schemas.microsoft.com/office/drawing/2014/main" val="3027041370"/>
                    </a:ext>
                  </a:extLst>
                </a:gridCol>
                <a:gridCol w="402367">
                  <a:extLst>
                    <a:ext uri="{9D8B030D-6E8A-4147-A177-3AD203B41FA5}">
                      <a16:colId xmlns:a16="http://schemas.microsoft.com/office/drawing/2014/main" val="2852526216"/>
                    </a:ext>
                  </a:extLst>
                </a:gridCol>
                <a:gridCol w="402367">
                  <a:extLst>
                    <a:ext uri="{9D8B030D-6E8A-4147-A177-3AD203B41FA5}">
                      <a16:colId xmlns:a16="http://schemas.microsoft.com/office/drawing/2014/main" val="103420222"/>
                    </a:ext>
                  </a:extLst>
                </a:gridCol>
                <a:gridCol w="402367">
                  <a:extLst>
                    <a:ext uri="{9D8B030D-6E8A-4147-A177-3AD203B41FA5}">
                      <a16:colId xmlns:a16="http://schemas.microsoft.com/office/drawing/2014/main" val="1470405609"/>
                    </a:ext>
                  </a:extLst>
                </a:gridCol>
                <a:gridCol w="40236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RST</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VS_RST</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E_RST</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LKG_E</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ID [4:0]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FC28EF0F-BE36-6237-CD6A-53BD8C559916}"/>
              </a:ext>
            </a:extLst>
          </p:cNvPr>
          <p:cNvSpPr txBox="1"/>
          <p:nvPr/>
        </p:nvSpPr>
        <p:spPr>
          <a:xfrm>
            <a:off x="404811" y="1465288"/>
            <a:ext cx="60486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RESET / ID</a:t>
            </a:r>
          </a:p>
        </p:txBody>
      </p:sp>
    </p:spTree>
    <p:extLst>
      <p:ext uri="{BB962C8B-B14F-4D97-AF65-F5344CB8AC3E}">
        <p14:creationId xmlns:p14="http://schemas.microsoft.com/office/powerpoint/2010/main" val="35174991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361CF8C-9724-C6B9-548F-BF8FA6528D54}"/>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16A2C5B8-B17B-020B-6DAA-780E5A6167B4}"/>
              </a:ext>
            </a:extLst>
          </p:cNvPr>
          <p:cNvGraphicFramePr>
            <a:graphicFrameLocks noGrp="1"/>
          </p:cNvGraphicFramePr>
          <p:nvPr>
            <p:extLst>
              <p:ext uri="{D42A27DB-BD31-4B8C-83A1-F6EECF244321}">
                <p14:modId xmlns:p14="http://schemas.microsoft.com/office/powerpoint/2010/main" val="2322311362"/>
              </p:ext>
            </p:extLst>
          </p:nvPr>
        </p:nvGraphicFramePr>
        <p:xfrm>
          <a:off x="396248" y="1578632"/>
          <a:ext cx="6053219" cy="4507144"/>
        </p:xfrm>
        <a:graphic>
          <a:graphicData uri="http://schemas.openxmlformats.org/drawingml/2006/table">
            <a:tbl>
              <a:tblPr firstRow="1" bandRow="1">
                <a:tableStyleId>{5C22544A-7EE6-4342-B048-85BDC9FD1C3A}</a:tableStyleId>
              </a:tblPr>
              <a:tblGrid>
                <a:gridCol w="465167">
                  <a:extLst>
                    <a:ext uri="{9D8B030D-6E8A-4147-A177-3AD203B41FA5}">
                      <a16:colId xmlns:a16="http://schemas.microsoft.com/office/drawing/2014/main" val="4170535043"/>
                    </a:ext>
                  </a:extLst>
                </a:gridCol>
                <a:gridCol w="954687">
                  <a:extLst>
                    <a:ext uri="{9D8B030D-6E8A-4147-A177-3AD203B41FA5}">
                      <a16:colId xmlns:a16="http://schemas.microsoft.com/office/drawing/2014/main" val="2079070694"/>
                    </a:ext>
                  </a:extLst>
                </a:gridCol>
                <a:gridCol w="4633365">
                  <a:extLst>
                    <a:ext uri="{9D8B030D-6E8A-4147-A177-3AD203B41FA5}">
                      <a16:colId xmlns:a16="http://schemas.microsoft.com/office/drawing/2014/main" val="32595803"/>
                    </a:ext>
                  </a:extLst>
                </a:gridCol>
              </a:tblGrid>
              <a:tr h="276864">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5999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determines the dimming sequence. Even if the LD_MODE and LD_DIR value will be changed in the middle of the current frame, the value will affect the dimming sequence from the next frame after completing the current frame process.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8783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10:5</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(0x02)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SV_NO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sub-frame NO. in 1-frame.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4  : #4 sub-frames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8  : #8 sub-frames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16 : #16 sub-frames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32 : #32 sub-frames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Other register values ​​are unused.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6047234"/>
                  </a:ext>
                </a:extLst>
              </a:tr>
              <a:tr h="47404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DELAY_CH_EN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This bit determine the Ch. Delay value for LD_MODE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Ch. delay value in normal mode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Ratio of Ch. delay value in normal mode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(Normal mode SVSYNC = 16, 1/2 of the set Ch. delay value)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8853742"/>
                  </a:ext>
                </a:extLst>
              </a:tr>
              <a:tr h="3260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SYNCMODE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value determines VSYNC input.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command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SVI</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8028463"/>
                  </a:ext>
                </a:extLst>
              </a:tr>
              <a:tr h="604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PWM_RES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PWM resolution.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12-bit PWM resolution (max steps 4,095)</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14-bit PWM resolution (max steps 16,383)</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35336826"/>
                  </a:ext>
                </a:extLst>
              </a:tr>
              <a:tr h="30212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LD_DIR</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direction of modulated edge with increasing on time from a vsync.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Head Shift Lighting</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Tail Shift Lighting</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3402798"/>
                  </a:ext>
                </a:extLst>
              </a:tr>
              <a:tr h="30212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x8 mode.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Normal mode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x8 mode.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0519688"/>
                  </a:ext>
                </a:extLst>
              </a:tr>
            </a:tbl>
          </a:graphicData>
        </a:graphic>
      </p:graphicFrame>
      <p:graphicFrame>
        <p:nvGraphicFramePr>
          <p:cNvPr id="5" name="표 4">
            <a:extLst>
              <a:ext uri="{FF2B5EF4-FFF2-40B4-BE49-F238E27FC236}">
                <a16:creationId xmlns:a16="http://schemas.microsoft.com/office/drawing/2014/main" id="{C12F33D8-1154-A24F-1D88-72E594CFBE26}"/>
              </a:ext>
            </a:extLst>
          </p:cNvPr>
          <p:cNvGraphicFramePr>
            <a:graphicFrameLocks noGrp="1"/>
          </p:cNvGraphicFramePr>
          <p:nvPr>
            <p:extLst>
              <p:ext uri="{D42A27DB-BD31-4B8C-83A1-F6EECF244321}">
                <p14:modId xmlns:p14="http://schemas.microsoft.com/office/powerpoint/2010/main" val="291342354"/>
              </p:ext>
            </p:extLst>
          </p:nvPr>
        </p:nvGraphicFramePr>
        <p:xfrm>
          <a:off x="401292" y="1108857"/>
          <a:ext cx="6136943" cy="372600"/>
        </p:xfrm>
        <a:graphic>
          <a:graphicData uri="http://schemas.openxmlformats.org/drawingml/2006/table">
            <a:tbl>
              <a:tblPr firstRow="1" bandRow="1">
                <a:tableStyleId>{5C22544A-7EE6-4342-B048-85BDC9FD1C3A}</a:tableStyleId>
              </a:tblPr>
              <a:tblGrid>
                <a:gridCol w="256238">
                  <a:extLst>
                    <a:ext uri="{9D8B030D-6E8A-4147-A177-3AD203B41FA5}">
                      <a16:colId xmlns:a16="http://schemas.microsoft.com/office/drawing/2014/main" val="657570846"/>
                    </a:ext>
                  </a:extLst>
                </a:gridCol>
                <a:gridCol w="382348">
                  <a:extLst>
                    <a:ext uri="{9D8B030D-6E8A-4147-A177-3AD203B41FA5}">
                      <a16:colId xmlns:a16="http://schemas.microsoft.com/office/drawing/2014/main" val="3259894497"/>
                    </a:ext>
                  </a:extLst>
                </a:gridCol>
                <a:gridCol w="462769">
                  <a:extLst>
                    <a:ext uri="{9D8B030D-6E8A-4147-A177-3AD203B41FA5}">
                      <a16:colId xmlns:a16="http://schemas.microsoft.com/office/drawing/2014/main" val="4170535043"/>
                    </a:ext>
                  </a:extLst>
                </a:gridCol>
                <a:gridCol w="269813">
                  <a:extLst>
                    <a:ext uri="{9D8B030D-6E8A-4147-A177-3AD203B41FA5}">
                      <a16:colId xmlns:a16="http://schemas.microsoft.com/office/drawing/2014/main" val="2079070694"/>
                    </a:ext>
                  </a:extLst>
                </a:gridCol>
                <a:gridCol w="334932">
                  <a:extLst>
                    <a:ext uri="{9D8B030D-6E8A-4147-A177-3AD203B41FA5}">
                      <a16:colId xmlns:a16="http://schemas.microsoft.com/office/drawing/2014/main" val="4213315911"/>
                    </a:ext>
                  </a:extLst>
                </a:gridCol>
                <a:gridCol w="269814">
                  <a:extLst>
                    <a:ext uri="{9D8B030D-6E8A-4147-A177-3AD203B41FA5}">
                      <a16:colId xmlns:a16="http://schemas.microsoft.com/office/drawing/2014/main" val="2769999950"/>
                    </a:ext>
                  </a:extLst>
                </a:gridCol>
                <a:gridCol w="269813">
                  <a:extLst>
                    <a:ext uri="{9D8B030D-6E8A-4147-A177-3AD203B41FA5}">
                      <a16:colId xmlns:a16="http://schemas.microsoft.com/office/drawing/2014/main" val="135637185"/>
                    </a:ext>
                  </a:extLst>
                </a:gridCol>
                <a:gridCol w="277250">
                  <a:extLst>
                    <a:ext uri="{9D8B030D-6E8A-4147-A177-3AD203B41FA5}">
                      <a16:colId xmlns:a16="http://schemas.microsoft.com/office/drawing/2014/main" val="3038050475"/>
                    </a:ext>
                  </a:extLst>
                </a:gridCol>
                <a:gridCol w="269813">
                  <a:extLst>
                    <a:ext uri="{9D8B030D-6E8A-4147-A177-3AD203B41FA5}">
                      <a16:colId xmlns:a16="http://schemas.microsoft.com/office/drawing/2014/main" val="1979433044"/>
                    </a:ext>
                  </a:extLst>
                </a:gridCol>
                <a:gridCol w="489512">
                  <a:extLst>
                    <a:ext uri="{9D8B030D-6E8A-4147-A177-3AD203B41FA5}">
                      <a16:colId xmlns:a16="http://schemas.microsoft.com/office/drawing/2014/main" val="4270661649"/>
                    </a:ext>
                  </a:extLst>
                </a:gridCol>
                <a:gridCol w="733988">
                  <a:extLst>
                    <a:ext uri="{9D8B030D-6E8A-4147-A177-3AD203B41FA5}">
                      <a16:colId xmlns:a16="http://schemas.microsoft.com/office/drawing/2014/main" val="3027041370"/>
                    </a:ext>
                  </a:extLst>
                </a:gridCol>
                <a:gridCol w="608575">
                  <a:extLst>
                    <a:ext uri="{9D8B030D-6E8A-4147-A177-3AD203B41FA5}">
                      <a16:colId xmlns:a16="http://schemas.microsoft.com/office/drawing/2014/main" val="2852526216"/>
                    </a:ext>
                  </a:extLst>
                </a:gridCol>
                <a:gridCol w="545075">
                  <a:extLst>
                    <a:ext uri="{9D8B030D-6E8A-4147-A177-3AD203B41FA5}">
                      <a16:colId xmlns:a16="http://schemas.microsoft.com/office/drawing/2014/main" val="103420222"/>
                    </a:ext>
                  </a:extLst>
                </a:gridCol>
                <a:gridCol w="411725">
                  <a:extLst>
                    <a:ext uri="{9D8B030D-6E8A-4147-A177-3AD203B41FA5}">
                      <a16:colId xmlns:a16="http://schemas.microsoft.com/office/drawing/2014/main" val="1470405609"/>
                    </a:ext>
                  </a:extLst>
                </a:gridCol>
                <a:gridCol w="55527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SV_NO [5:0]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sz="700"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DELAY_CH_EN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SYNCMODE</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PWM_RES</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LD_DIR</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LD_MODE</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A3F5C112-999E-F03F-64A3-2C7CFCCEFDCE}"/>
              </a:ext>
            </a:extLst>
          </p:cNvPr>
          <p:cNvSpPr txBox="1"/>
          <p:nvPr/>
        </p:nvSpPr>
        <p:spPr>
          <a:xfrm>
            <a:off x="401291" y="848186"/>
            <a:ext cx="605214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 CONTROL</a:t>
            </a:r>
          </a:p>
        </p:txBody>
      </p:sp>
      <p:graphicFrame>
        <p:nvGraphicFramePr>
          <p:cNvPr id="8" name="표 7">
            <a:extLst>
              <a:ext uri="{FF2B5EF4-FFF2-40B4-BE49-F238E27FC236}">
                <a16:creationId xmlns:a16="http://schemas.microsoft.com/office/drawing/2014/main" id="{9859D6A7-8DEB-53DE-2BC1-54E0F0B05C42}"/>
              </a:ext>
            </a:extLst>
          </p:cNvPr>
          <p:cNvGraphicFramePr>
            <a:graphicFrameLocks noGrp="1"/>
          </p:cNvGraphicFramePr>
          <p:nvPr>
            <p:extLst>
              <p:ext uri="{D42A27DB-BD31-4B8C-83A1-F6EECF244321}">
                <p14:modId xmlns:p14="http://schemas.microsoft.com/office/powerpoint/2010/main" val="1006874427"/>
              </p:ext>
            </p:extLst>
          </p:nvPr>
        </p:nvGraphicFramePr>
        <p:xfrm>
          <a:off x="419418" y="7080161"/>
          <a:ext cx="6051898" cy="372600"/>
        </p:xfrm>
        <a:graphic>
          <a:graphicData uri="http://schemas.openxmlformats.org/drawingml/2006/table">
            <a:tbl>
              <a:tblPr firstRow="1" bandRow="1">
                <a:tableStyleId>{5C22544A-7EE6-4342-B048-85BDC9FD1C3A}</a:tableStyleId>
              </a:tblPr>
              <a:tblGrid>
                <a:gridCol w="256238">
                  <a:extLst>
                    <a:ext uri="{9D8B030D-6E8A-4147-A177-3AD203B41FA5}">
                      <a16:colId xmlns:a16="http://schemas.microsoft.com/office/drawing/2014/main" val="657570846"/>
                    </a:ext>
                  </a:extLst>
                </a:gridCol>
                <a:gridCol w="382348">
                  <a:extLst>
                    <a:ext uri="{9D8B030D-6E8A-4147-A177-3AD203B41FA5}">
                      <a16:colId xmlns:a16="http://schemas.microsoft.com/office/drawing/2014/main" val="3259894497"/>
                    </a:ext>
                  </a:extLst>
                </a:gridCol>
                <a:gridCol w="462769">
                  <a:extLst>
                    <a:ext uri="{9D8B030D-6E8A-4147-A177-3AD203B41FA5}">
                      <a16:colId xmlns:a16="http://schemas.microsoft.com/office/drawing/2014/main" val="4170535043"/>
                    </a:ext>
                  </a:extLst>
                </a:gridCol>
                <a:gridCol w="412545">
                  <a:extLst>
                    <a:ext uri="{9D8B030D-6E8A-4147-A177-3AD203B41FA5}">
                      <a16:colId xmlns:a16="http://schemas.microsoft.com/office/drawing/2014/main" val="2079070694"/>
                    </a:ext>
                  </a:extLst>
                </a:gridCol>
                <a:gridCol w="412545">
                  <a:extLst>
                    <a:ext uri="{9D8B030D-6E8A-4147-A177-3AD203B41FA5}">
                      <a16:colId xmlns:a16="http://schemas.microsoft.com/office/drawing/2014/main" val="4213315911"/>
                    </a:ext>
                  </a:extLst>
                </a:gridCol>
                <a:gridCol w="412545">
                  <a:extLst>
                    <a:ext uri="{9D8B030D-6E8A-4147-A177-3AD203B41FA5}">
                      <a16:colId xmlns:a16="http://schemas.microsoft.com/office/drawing/2014/main" val="2769999950"/>
                    </a:ext>
                  </a:extLst>
                </a:gridCol>
                <a:gridCol w="412545">
                  <a:extLst>
                    <a:ext uri="{9D8B030D-6E8A-4147-A177-3AD203B41FA5}">
                      <a16:colId xmlns:a16="http://schemas.microsoft.com/office/drawing/2014/main" val="135637185"/>
                    </a:ext>
                  </a:extLst>
                </a:gridCol>
                <a:gridCol w="412545">
                  <a:extLst>
                    <a:ext uri="{9D8B030D-6E8A-4147-A177-3AD203B41FA5}">
                      <a16:colId xmlns:a16="http://schemas.microsoft.com/office/drawing/2014/main" val="3038050475"/>
                    </a:ext>
                  </a:extLst>
                </a:gridCol>
                <a:gridCol w="412548">
                  <a:extLst>
                    <a:ext uri="{9D8B030D-6E8A-4147-A177-3AD203B41FA5}">
                      <a16:colId xmlns:a16="http://schemas.microsoft.com/office/drawing/2014/main" val="1979433044"/>
                    </a:ext>
                  </a:extLst>
                </a:gridCol>
                <a:gridCol w="412545">
                  <a:extLst>
                    <a:ext uri="{9D8B030D-6E8A-4147-A177-3AD203B41FA5}">
                      <a16:colId xmlns:a16="http://schemas.microsoft.com/office/drawing/2014/main" val="4270661649"/>
                    </a:ext>
                  </a:extLst>
                </a:gridCol>
                <a:gridCol w="412545">
                  <a:extLst>
                    <a:ext uri="{9D8B030D-6E8A-4147-A177-3AD203B41FA5}">
                      <a16:colId xmlns:a16="http://schemas.microsoft.com/office/drawing/2014/main" val="3027041370"/>
                    </a:ext>
                  </a:extLst>
                </a:gridCol>
                <a:gridCol w="412545">
                  <a:extLst>
                    <a:ext uri="{9D8B030D-6E8A-4147-A177-3AD203B41FA5}">
                      <a16:colId xmlns:a16="http://schemas.microsoft.com/office/drawing/2014/main" val="2852526216"/>
                    </a:ext>
                  </a:extLst>
                </a:gridCol>
                <a:gridCol w="412545">
                  <a:extLst>
                    <a:ext uri="{9D8B030D-6E8A-4147-A177-3AD203B41FA5}">
                      <a16:colId xmlns:a16="http://schemas.microsoft.com/office/drawing/2014/main" val="103420222"/>
                    </a:ext>
                  </a:extLst>
                </a:gridCol>
                <a:gridCol w="412545">
                  <a:extLst>
                    <a:ext uri="{9D8B030D-6E8A-4147-A177-3AD203B41FA5}">
                      <a16:colId xmlns:a16="http://schemas.microsoft.com/office/drawing/2014/main" val="1470405609"/>
                    </a:ext>
                  </a:extLst>
                </a:gridCol>
                <a:gridCol w="41254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solidFill>
                            <a:schemeClr val="tx1"/>
                          </a:solidFill>
                        </a:rPr>
                        <a:t>x</a:t>
                      </a:r>
                      <a:endParaRPr sz="700" dirty="0">
                        <a:solidFill>
                          <a:schemeClr val="tx1"/>
                        </a:solidFill>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LD_SIZE [5:0]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9" name="TextBox 8">
            <a:extLst>
              <a:ext uri="{FF2B5EF4-FFF2-40B4-BE49-F238E27FC236}">
                <a16:creationId xmlns:a16="http://schemas.microsoft.com/office/drawing/2014/main" id="{7B54B716-5E0B-E685-6822-948D43BD806A}"/>
              </a:ext>
            </a:extLst>
          </p:cNvPr>
          <p:cNvSpPr txBox="1"/>
          <p:nvPr/>
        </p:nvSpPr>
        <p:spPr>
          <a:xfrm>
            <a:off x="419417" y="6819490"/>
            <a:ext cx="605214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 SIZE</a:t>
            </a:r>
          </a:p>
        </p:txBody>
      </p:sp>
      <p:graphicFrame>
        <p:nvGraphicFramePr>
          <p:cNvPr id="10" name="표 9">
            <a:extLst>
              <a:ext uri="{FF2B5EF4-FFF2-40B4-BE49-F238E27FC236}">
                <a16:creationId xmlns:a16="http://schemas.microsoft.com/office/drawing/2014/main" id="{169F4B85-ECB4-A156-30B6-07045AE23589}"/>
              </a:ext>
            </a:extLst>
          </p:cNvPr>
          <p:cNvGraphicFramePr>
            <a:graphicFrameLocks noGrp="1"/>
          </p:cNvGraphicFramePr>
          <p:nvPr>
            <p:extLst>
              <p:ext uri="{D42A27DB-BD31-4B8C-83A1-F6EECF244321}">
                <p14:modId xmlns:p14="http://schemas.microsoft.com/office/powerpoint/2010/main" val="2769683543"/>
              </p:ext>
            </p:extLst>
          </p:nvPr>
        </p:nvGraphicFramePr>
        <p:xfrm>
          <a:off x="404813" y="7572383"/>
          <a:ext cx="6053219" cy="897504"/>
        </p:xfrm>
        <a:graphic>
          <a:graphicData uri="http://schemas.openxmlformats.org/drawingml/2006/table">
            <a:tbl>
              <a:tblPr firstRow="1" bandRow="1">
                <a:tableStyleId>{5C22544A-7EE6-4342-B048-85BDC9FD1C3A}</a:tableStyleId>
              </a:tblPr>
              <a:tblGrid>
                <a:gridCol w="465167">
                  <a:extLst>
                    <a:ext uri="{9D8B030D-6E8A-4147-A177-3AD203B41FA5}">
                      <a16:colId xmlns:a16="http://schemas.microsoft.com/office/drawing/2014/main" val="4170535043"/>
                    </a:ext>
                  </a:extLst>
                </a:gridCol>
                <a:gridCol w="954687">
                  <a:extLst>
                    <a:ext uri="{9D8B030D-6E8A-4147-A177-3AD203B41FA5}">
                      <a16:colId xmlns:a16="http://schemas.microsoft.com/office/drawing/2014/main" val="2079070694"/>
                    </a:ext>
                  </a:extLst>
                </a:gridCol>
                <a:gridCol w="4633365">
                  <a:extLst>
                    <a:ext uri="{9D8B030D-6E8A-4147-A177-3AD203B41FA5}">
                      <a16:colId xmlns:a16="http://schemas.microsoft.com/office/drawing/2014/main" val="32595803"/>
                    </a:ext>
                  </a:extLst>
                </a:gridCol>
              </a:tblGrid>
              <a:tr h="276864">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8783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LD_SIZE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value determines how many LD data will be transmitted for one time. This value is not needed to match with the number of enabled channels in the CHANNEL ENABLE register. It keeps in mind that the LD data to be transmitted </a:t>
                      </a:r>
                      <a:r>
                        <a:rPr lang="en-US" altLang="ko-KR" sz="900" b="0" i="1" dirty="0">
                          <a:solidFill>
                            <a:schemeClr val="tx1"/>
                          </a:solidFill>
                          <a:latin typeface="Arial" panose="020B0604020202020204" pitchFamily="34" charset="0"/>
                          <a:ea typeface="+mn-ea"/>
                          <a:cs typeface="Arial" panose="020B0604020202020204" pitchFamily="34" charset="0"/>
                        </a:rPr>
                        <a:t>will be mapped sequentially from channel 1 to channel n regardless of the corresponded CHx_EN bit activation</a:t>
                      </a:r>
                      <a:r>
                        <a:rPr lang="en-US" altLang="ko-KR" sz="900" b="0" dirty="0">
                          <a:solidFill>
                            <a:schemeClr val="tx1"/>
                          </a:solidFill>
                          <a:latin typeface="Arial" panose="020B0604020202020204" pitchFamily="34" charset="0"/>
                          <a:ea typeface="+mn-ea"/>
                          <a:cs typeface="Arial" panose="020B0604020202020204" pitchFamily="34" charset="0"/>
                        </a:rPr>
                        <a: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6047234"/>
                  </a:ext>
                </a:extLst>
              </a:tr>
            </a:tbl>
          </a:graphicData>
        </a:graphic>
      </p:graphicFrame>
    </p:spTree>
    <p:extLst>
      <p:ext uri="{BB962C8B-B14F-4D97-AF65-F5344CB8AC3E}">
        <p14:creationId xmlns:p14="http://schemas.microsoft.com/office/powerpoint/2010/main" val="15710624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0" name="표 9">
            <a:extLst>
              <a:ext uri="{FF2B5EF4-FFF2-40B4-BE49-F238E27FC236}">
                <a16:creationId xmlns:a16="http://schemas.microsoft.com/office/drawing/2014/main" id="{EAC0DE82-DBB0-B75B-5DAA-F618CA49EDD6}"/>
              </a:ext>
            </a:extLst>
          </p:cNvPr>
          <p:cNvGraphicFramePr>
            <a:graphicFrameLocks noGrp="1"/>
          </p:cNvGraphicFramePr>
          <p:nvPr>
            <p:extLst>
              <p:ext uri="{D42A27DB-BD31-4B8C-83A1-F6EECF244321}">
                <p14:modId xmlns:p14="http://schemas.microsoft.com/office/powerpoint/2010/main" val="817506571"/>
              </p:ext>
            </p:extLst>
          </p:nvPr>
        </p:nvGraphicFramePr>
        <p:xfrm>
          <a:off x="386140" y="4966247"/>
          <a:ext cx="6058367" cy="1887872"/>
        </p:xfrm>
        <a:graphic>
          <a:graphicData uri="http://schemas.openxmlformats.org/drawingml/2006/table">
            <a:tbl>
              <a:tblPr firstRow="1" bandRow="1">
                <a:tableStyleId>{5C22544A-7EE6-4342-B048-85BDC9FD1C3A}</a:tableStyleId>
              </a:tblPr>
              <a:tblGrid>
                <a:gridCol w="441510">
                  <a:extLst>
                    <a:ext uri="{9D8B030D-6E8A-4147-A177-3AD203B41FA5}">
                      <a16:colId xmlns:a16="http://schemas.microsoft.com/office/drawing/2014/main" val="4170535043"/>
                    </a:ext>
                  </a:extLst>
                </a:gridCol>
                <a:gridCol w="1049124">
                  <a:extLst>
                    <a:ext uri="{9D8B030D-6E8A-4147-A177-3AD203B41FA5}">
                      <a16:colId xmlns:a16="http://schemas.microsoft.com/office/drawing/2014/main" val="2079070694"/>
                    </a:ext>
                  </a:extLst>
                </a:gridCol>
                <a:gridCol w="4567733">
                  <a:extLst>
                    <a:ext uri="{9D8B030D-6E8A-4147-A177-3AD203B41FA5}">
                      <a16:colId xmlns:a16="http://schemas.microsoft.com/office/drawing/2014/main" val="32595803"/>
                    </a:ext>
                  </a:extLst>
                </a:gridCol>
              </a:tblGrid>
              <a:tr h="30711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CHx_EN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These bits should be set if the corresponding channels are to be used. The number of enabled channels in these registers does not need to match the LD_SIZE value. It is careful that the number of enabled channels should be the same as the LD_SIZE value, but the number can be smaller than the LD_SIZE value like the special mapping below.</a:t>
                      </a: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3582489"/>
                  </a:ext>
                </a:extLst>
              </a:tr>
            </a:tbl>
          </a:graphicData>
        </a:graphic>
      </p:graphicFrame>
      <p:sp>
        <p:nvSpPr>
          <p:cNvPr id="13" name="TextBox 12">
            <a:extLst>
              <a:ext uri="{FF2B5EF4-FFF2-40B4-BE49-F238E27FC236}">
                <a16:creationId xmlns:a16="http://schemas.microsoft.com/office/drawing/2014/main" id="{73440F33-4BCE-8AB1-2175-28FBD67160EF}"/>
              </a:ext>
            </a:extLst>
          </p:cNvPr>
          <p:cNvSpPr txBox="1"/>
          <p:nvPr/>
        </p:nvSpPr>
        <p:spPr>
          <a:xfrm>
            <a:off x="379365" y="4245793"/>
            <a:ext cx="607020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CHANNEL ENABLE</a:t>
            </a:r>
          </a:p>
        </p:txBody>
      </p:sp>
      <p:sp>
        <p:nvSpPr>
          <p:cNvPr id="18" name="TextBox 17">
            <a:extLst>
              <a:ext uri="{FF2B5EF4-FFF2-40B4-BE49-F238E27FC236}">
                <a16:creationId xmlns:a16="http://schemas.microsoft.com/office/drawing/2014/main" id="{C2BD314D-1132-1D85-789B-26AF97F14C50}"/>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9" name="표 8">
            <a:extLst>
              <a:ext uri="{FF2B5EF4-FFF2-40B4-BE49-F238E27FC236}">
                <a16:creationId xmlns:a16="http://schemas.microsoft.com/office/drawing/2014/main" id="{5CA8150D-F886-E5BB-7700-33A31FAE56DC}"/>
              </a:ext>
            </a:extLst>
          </p:cNvPr>
          <p:cNvGraphicFramePr>
            <a:graphicFrameLocks noGrp="1"/>
          </p:cNvGraphicFramePr>
          <p:nvPr>
            <p:extLst>
              <p:ext uri="{D42A27DB-BD31-4B8C-83A1-F6EECF244321}">
                <p14:modId xmlns:p14="http://schemas.microsoft.com/office/powerpoint/2010/main" val="1274059722"/>
              </p:ext>
            </p:extLst>
          </p:nvPr>
        </p:nvGraphicFramePr>
        <p:xfrm>
          <a:off x="391196" y="4511308"/>
          <a:ext cx="6058367" cy="372600"/>
        </p:xfrm>
        <a:graphic>
          <a:graphicData uri="http://schemas.openxmlformats.org/drawingml/2006/table">
            <a:tbl>
              <a:tblPr firstRow="1" bandRow="1">
                <a:tableStyleId>{5C22544A-7EE6-4342-B048-85BDC9FD1C3A}</a:tableStyleId>
              </a:tblPr>
              <a:tblGrid>
                <a:gridCol w="351953">
                  <a:extLst>
                    <a:ext uri="{9D8B030D-6E8A-4147-A177-3AD203B41FA5}">
                      <a16:colId xmlns:a16="http://schemas.microsoft.com/office/drawing/2014/main" val="657570846"/>
                    </a:ext>
                  </a:extLst>
                </a:gridCol>
                <a:gridCol w="386985">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CH12_EN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CH10_EN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CH9_EN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CH8_EN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CH7_EN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CH6_EN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CH5_EN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CH4_EN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CH3_EN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 name="표 1">
            <a:extLst>
              <a:ext uri="{FF2B5EF4-FFF2-40B4-BE49-F238E27FC236}">
                <a16:creationId xmlns:a16="http://schemas.microsoft.com/office/drawing/2014/main" id="{2F15A6A3-2BF0-89A4-6BC1-55BE07C8F019}"/>
              </a:ext>
            </a:extLst>
          </p:cNvPr>
          <p:cNvGraphicFramePr>
            <a:graphicFrameLocks noGrp="1"/>
          </p:cNvGraphicFramePr>
          <p:nvPr>
            <p:extLst>
              <p:ext uri="{D42A27DB-BD31-4B8C-83A1-F6EECF244321}">
                <p14:modId xmlns:p14="http://schemas.microsoft.com/office/powerpoint/2010/main" val="2212412003"/>
              </p:ext>
            </p:extLst>
          </p:nvPr>
        </p:nvGraphicFramePr>
        <p:xfrm>
          <a:off x="1916558" y="5952994"/>
          <a:ext cx="3491366" cy="227760"/>
        </p:xfrm>
        <a:graphic>
          <a:graphicData uri="http://schemas.openxmlformats.org/drawingml/2006/table">
            <a:tbl>
              <a:tblPr firstRow="1" bandRow="1">
                <a:tableStyleId>{5C22544A-7EE6-4342-B048-85BDC9FD1C3A}</a:tableStyleId>
              </a:tblPr>
              <a:tblGrid>
                <a:gridCol w="380263">
                  <a:extLst>
                    <a:ext uri="{9D8B030D-6E8A-4147-A177-3AD203B41FA5}">
                      <a16:colId xmlns:a16="http://schemas.microsoft.com/office/drawing/2014/main" val="4138367841"/>
                    </a:ext>
                  </a:extLst>
                </a:gridCol>
                <a:gridCol w="380263">
                  <a:extLst>
                    <a:ext uri="{9D8B030D-6E8A-4147-A177-3AD203B41FA5}">
                      <a16:colId xmlns:a16="http://schemas.microsoft.com/office/drawing/2014/main" val="3589866634"/>
                    </a:ext>
                  </a:extLst>
                </a:gridCol>
                <a:gridCol w="380263">
                  <a:extLst>
                    <a:ext uri="{9D8B030D-6E8A-4147-A177-3AD203B41FA5}">
                      <a16:colId xmlns:a16="http://schemas.microsoft.com/office/drawing/2014/main" val="203027085"/>
                    </a:ext>
                  </a:extLst>
                </a:gridCol>
                <a:gridCol w="380263">
                  <a:extLst>
                    <a:ext uri="{9D8B030D-6E8A-4147-A177-3AD203B41FA5}">
                      <a16:colId xmlns:a16="http://schemas.microsoft.com/office/drawing/2014/main" val="1213780966"/>
                    </a:ext>
                  </a:extLst>
                </a:gridCol>
                <a:gridCol w="380263">
                  <a:extLst>
                    <a:ext uri="{9D8B030D-6E8A-4147-A177-3AD203B41FA5}">
                      <a16:colId xmlns:a16="http://schemas.microsoft.com/office/drawing/2014/main" val="2173165944"/>
                    </a:ext>
                  </a:extLst>
                </a:gridCol>
                <a:gridCol w="380263">
                  <a:extLst>
                    <a:ext uri="{9D8B030D-6E8A-4147-A177-3AD203B41FA5}">
                      <a16:colId xmlns:a16="http://schemas.microsoft.com/office/drawing/2014/main" val="3651997756"/>
                    </a:ext>
                  </a:extLst>
                </a:gridCol>
                <a:gridCol w="380263">
                  <a:extLst>
                    <a:ext uri="{9D8B030D-6E8A-4147-A177-3AD203B41FA5}">
                      <a16:colId xmlns:a16="http://schemas.microsoft.com/office/drawing/2014/main" val="4226967004"/>
                    </a:ext>
                  </a:extLst>
                </a:gridCol>
                <a:gridCol w="829525">
                  <a:extLst>
                    <a:ext uri="{9D8B030D-6E8A-4147-A177-3AD203B41FA5}">
                      <a16:colId xmlns:a16="http://schemas.microsoft.com/office/drawing/2014/main" val="1995533423"/>
                    </a:ext>
                  </a:extLst>
                </a:gridCol>
              </a:tblGrid>
              <a:tr h="0">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CH1_EN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CH3_EN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CH4_EN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CH5_EN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CH6_EN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CH7_EN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CH8_EN~CH12_EN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40453051"/>
                  </a:ext>
                </a:extLst>
              </a:tr>
              <a:tr h="0">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all 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990245991"/>
                  </a:ext>
                </a:extLst>
              </a:tr>
            </a:tbl>
          </a:graphicData>
        </a:graphic>
      </p:graphicFrame>
      <p:sp>
        <p:nvSpPr>
          <p:cNvPr id="4" name="TextBox 3">
            <a:extLst>
              <a:ext uri="{FF2B5EF4-FFF2-40B4-BE49-F238E27FC236}">
                <a16:creationId xmlns:a16="http://schemas.microsoft.com/office/drawing/2014/main" id="{1133A133-E836-BAC2-2145-164EBD8EFD79}"/>
              </a:ext>
            </a:extLst>
          </p:cNvPr>
          <p:cNvSpPr txBox="1"/>
          <p:nvPr/>
        </p:nvSpPr>
        <p:spPr>
          <a:xfrm>
            <a:off x="5455232" y="5965310"/>
            <a:ext cx="854401" cy="215444"/>
          </a:xfrm>
          <a:prstGeom prst="rect">
            <a:avLst/>
          </a:prstGeom>
          <a:noFill/>
        </p:spPr>
        <p:txBody>
          <a:bodyPr wrap="none" lIns="0" tIns="0" rIns="0" bIns="0" rtlCol="0" anchor="ctr" anchorCtr="0">
            <a:spAutoFit/>
          </a:bodyPr>
          <a:lstStyle/>
          <a:p>
            <a:r>
              <a:rPr lang="en-US" altLang="ko-KR" sz="700" i="1" dirty="0">
                <a:latin typeface="Arial" panose="020B0604020202020204" pitchFamily="34" charset="0"/>
                <a:cs typeface="Arial" panose="020B0604020202020204" pitchFamily="34" charset="0"/>
              </a:rPr>
              <a:t>the number of</a:t>
            </a:r>
          </a:p>
          <a:p>
            <a:r>
              <a:rPr lang="en-US" altLang="ko-KR" sz="700" i="1" dirty="0">
                <a:latin typeface="Arial" panose="020B0604020202020204" pitchFamily="34" charset="0"/>
                <a:cs typeface="Arial" panose="020B0604020202020204" pitchFamily="34" charset="0"/>
              </a:rPr>
              <a:t>enabled channels = 5</a:t>
            </a:r>
            <a:endParaRPr lang="ko-KR" altLang="en-US" sz="700" i="1" dirty="0">
              <a:latin typeface="Arial" panose="020B0604020202020204" pitchFamily="34" charset="0"/>
              <a:cs typeface="Arial" panose="020B0604020202020204" pitchFamily="34" charset="0"/>
            </a:endParaRPr>
          </a:p>
        </p:txBody>
      </p:sp>
      <p:cxnSp>
        <p:nvCxnSpPr>
          <p:cNvPr id="5" name="직선 화살표 연결선 4">
            <a:extLst>
              <a:ext uri="{FF2B5EF4-FFF2-40B4-BE49-F238E27FC236}">
                <a16:creationId xmlns:a16="http://schemas.microsoft.com/office/drawing/2014/main" id="{B21B6B49-2F3B-60B2-EFC5-8E54A6D54257}"/>
              </a:ext>
            </a:extLst>
          </p:cNvPr>
          <p:cNvCxnSpPr>
            <a:cxnSpLocks/>
          </p:cNvCxnSpPr>
          <p:nvPr/>
        </p:nvCxnSpPr>
        <p:spPr>
          <a:xfrm>
            <a:off x="1908915" y="6426403"/>
            <a:ext cx="2664000" cy="0"/>
          </a:xfrm>
          <a:prstGeom prst="straightConnector1">
            <a:avLst/>
          </a:prstGeom>
          <a:ln w="3175">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AE42B329-6799-4FD2-A42B-EC801F1785DE}"/>
              </a:ext>
            </a:extLst>
          </p:cNvPr>
          <p:cNvSpPr txBox="1"/>
          <p:nvPr/>
        </p:nvSpPr>
        <p:spPr>
          <a:xfrm>
            <a:off x="2225372" y="6326633"/>
            <a:ext cx="2090317" cy="215444"/>
          </a:xfrm>
          <a:prstGeom prst="rect">
            <a:avLst/>
          </a:prstGeom>
          <a:solidFill>
            <a:schemeClr val="bg1"/>
          </a:solidFill>
        </p:spPr>
        <p:txBody>
          <a:bodyPr wrap="none" lIns="0" tIns="0" rIns="0" bIns="0" rtlCol="0" anchor="ctr" anchorCtr="0">
            <a:spAutoFit/>
          </a:bodyPr>
          <a:lstStyle/>
          <a:p>
            <a:pPr algn="ctr"/>
            <a:r>
              <a:rPr lang="en-US" altLang="ko-KR" sz="700" i="1" dirty="0">
                <a:latin typeface="Arial" panose="020B0604020202020204" pitchFamily="34" charset="0"/>
                <a:cs typeface="Arial" panose="020B0604020202020204" pitchFamily="34" charset="0"/>
              </a:rPr>
              <a:t>the amount of LD data to be transmitted for one time</a:t>
            </a:r>
          </a:p>
          <a:p>
            <a:pPr algn="ctr"/>
            <a:r>
              <a:rPr lang="en-US" altLang="ko-KR" sz="700" i="1" dirty="0">
                <a:latin typeface="Arial" panose="020B0604020202020204" pitchFamily="34" charset="0"/>
                <a:cs typeface="Arial" panose="020B0604020202020204" pitchFamily="34" charset="0"/>
              </a:rPr>
              <a:t>LD_SIZE = 7</a:t>
            </a:r>
            <a:endParaRPr lang="ko-KR" altLang="en-US" sz="700" i="1" dirty="0">
              <a:latin typeface="Arial" panose="020B0604020202020204" pitchFamily="34" charset="0"/>
              <a:cs typeface="Arial" panose="020B0604020202020204" pitchFamily="34" charset="0"/>
            </a:endParaRPr>
          </a:p>
        </p:txBody>
      </p:sp>
      <p:cxnSp>
        <p:nvCxnSpPr>
          <p:cNvPr id="8" name="직선 연결선 7">
            <a:extLst>
              <a:ext uri="{FF2B5EF4-FFF2-40B4-BE49-F238E27FC236}">
                <a16:creationId xmlns:a16="http://schemas.microsoft.com/office/drawing/2014/main" id="{E3D94867-40EE-8F6F-15AF-879A1B0FB727}"/>
              </a:ext>
            </a:extLst>
          </p:cNvPr>
          <p:cNvCxnSpPr/>
          <p:nvPr/>
        </p:nvCxnSpPr>
        <p:spPr>
          <a:xfrm>
            <a:off x="1916558" y="6244305"/>
            <a:ext cx="0" cy="252000"/>
          </a:xfrm>
          <a:prstGeom prst="line">
            <a:avLst/>
          </a:prstGeom>
          <a:ln w="31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2" name="직선 연결선 11">
            <a:extLst>
              <a:ext uri="{FF2B5EF4-FFF2-40B4-BE49-F238E27FC236}">
                <a16:creationId xmlns:a16="http://schemas.microsoft.com/office/drawing/2014/main" id="{15B5F65B-B395-EBD8-6B1B-26C651AEC006}"/>
              </a:ext>
            </a:extLst>
          </p:cNvPr>
          <p:cNvCxnSpPr/>
          <p:nvPr/>
        </p:nvCxnSpPr>
        <p:spPr>
          <a:xfrm>
            <a:off x="4572915" y="6240331"/>
            <a:ext cx="0" cy="252000"/>
          </a:xfrm>
          <a:prstGeom prst="line">
            <a:avLst/>
          </a:prstGeom>
          <a:ln w="31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776F881-7344-006C-C533-76E292201129}"/>
              </a:ext>
            </a:extLst>
          </p:cNvPr>
          <p:cNvSpPr txBox="1"/>
          <p:nvPr/>
        </p:nvSpPr>
        <p:spPr>
          <a:xfrm>
            <a:off x="2241805" y="6595729"/>
            <a:ext cx="3157917" cy="107722"/>
          </a:xfrm>
          <a:prstGeom prst="rect">
            <a:avLst/>
          </a:prstGeom>
          <a:solidFill>
            <a:schemeClr val="bg1"/>
          </a:solidFill>
        </p:spPr>
        <p:txBody>
          <a:bodyPr wrap="none" lIns="0" tIns="0" rIns="0" bIns="0" rtlCol="0" anchor="ctr" anchorCtr="0">
            <a:spAutoFit/>
          </a:bodyPr>
          <a:lstStyle/>
          <a:p>
            <a:pPr algn="ctr"/>
            <a:r>
              <a:rPr lang="en-US" altLang="ko-KR" sz="700" i="1" dirty="0">
                <a:latin typeface="Arial" panose="020B0604020202020204" pitchFamily="34" charset="0"/>
                <a:cs typeface="Arial" panose="020B0604020202020204" pitchFamily="34" charset="0"/>
              </a:rPr>
              <a:t>wherein, the LD data of the disabled channels, CH2 and CH5, can be any value</a:t>
            </a:r>
            <a:endParaRPr lang="ko-KR" altLang="en-US" sz="700" i="1" dirty="0">
              <a:latin typeface="Arial" panose="020B0604020202020204" pitchFamily="34" charset="0"/>
              <a:cs typeface="Arial" panose="020B0604020202020204" pitchFamily="34" charset="0"/>
            </a:endParaRPr>
          </a:p>
        </p:txBody>
      </p:sp>
      <p:graphicFrame>
        <p:nvGraphicFramePr>
          <p:cNvPr id="14" name="표 13">
            <a:extLst>
              <a:ext uri="{FF2B5EF4-FFF2-40B4-BE49-F238E27FC236}">
                <a16:creationId xmlns:a16="http://schemas.microsoft.com/office/drawing/2014/main" id="{AF698C05-BC74-8B02-D1D5-EB07A974E61E}"/>
              </a:ext>
            </a:extLst>
          </p:cNvPr>
          <p:cNvGraphicFramePr>
            <a:graphicFrameLocks noGrp="1"/>
          </p:cNvGraphicFramePr>
          <p:nvPr>
            <p:extLst>
              <p:ext uri="{D42A27DB-BD31-4B8C-83A1-F6EECF244321}">
                <p14:modId xmlns:p14="http://schemas.microsoft.com/office/powerpoint/2010/main" val="2853057030"/>
              </p:ext>
            </p:extLst>
          </p:nvPr>
        </p:nvGraphicFramePr>
        <p:xfrm>
          <a:off x="408435" y="2105772"/>
          <a:ext cx="6053732" cy="1652760"/>
        </p:xfrm>
        <a:graphic>
          <a:graphicData uri="http://schemas.openxmlformats.org/drawingml/2006/table">
            <a:tbl>
              <a:tblPr firstRow="1" bandRow="1">
                <a:tableStyleId>{5C22544A-7EE6-4342-B048-85BDC9FD1C3A}</a:tableStyleId>
              </a:tblPr>
              <a:tblGrid>
                <a:gridCol w="444621">
                  <a:extLst>
                    <a:ext uri="{9D8B030D-6E8A-4147-A177-3AD203B41FA5}">
                      <a16:colId xmlns:a16="http://schemas.microsoft.com/office/drawing/2014/main" val="4170535043"/>
                    </a:ext>
                  </a:extLst>
                </a:gridCol>
                <a:gridCol w="1056517">
                  <a:extLst>
                    <a:ext uri="{9D8B030D-6E8A-4147-A177-3AD203B41FA5}">
                      <a16:colId xmlns:a16="http://schemas.microsoft.com/office/drawing/2014/main" val="2079070694"/>
                    </a:ext>
                  </a:extLst>
                </a:gridCol>
                <a:gridCol w="4552594">
                  <a:extLst>
                    <a:ext uri="{9D8B030D-6E8A-4147-A177-3AD203B41FA5}">
                      <a16:colId xmlns:a16="http://schemas.microsoft.com/office/drawing/2014/main" val="32595803"/>
                    </a:ext>
                  </a:extLst>
                </a:gridCol>
              </a:tblGrid>
              <a:tr h="193808">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4436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FPWM_DIV1/2/3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registers determine the PWM reference clock. The PWM reference clock can be created by dividing the MCLK frequency by the setting value + 1. Even if the setting value will be changed in the middle of the frame, the value will be applied immediately from the next vsync assertion. </a:t>
                      </a:r>
                      <a:r>
                        <a:rPr lang="en-US" altLang="ko-KR" sz="900" b="0" i="1" dirty="0">
                          <a:solidFill>
                            <a:schemeClr val="tx1"/>
                          </a:solidFill>
                          <a:latin typeface="Arial" panose="020B0604020202020204" pitchFamily="34" charset="0"/>
                          <a:ea typeface="+mn-ea"/>
                          <a:cs typeface="Arial" panose="020B0604020202020204" pitchFamily="34" charset="0"/>
                        </a:rPr>
                        <a:t>Refer</a:t>
                      </a:r>
                      <a:r>
                        <a:rPr lang="ko-KR" altLang="en-US" sz="900" b="0" i="1" dirty="0">
                          <a:solidFill>
                            <a:schemeClr val="tx1"/>
                          </a:solidFill>
                          <a:latin typeface="Arial" panose="020B0604020202020204" pitchFamily="34" charset="0"/>
                          <a:ea typeface="+mn-ea"/>
                          <a:cs typeface="Arial" panose="020B0604020202020204" pitchFamily="34" charset="0"/>
                        </a:rPr>
                        <a:t> </a:t>
                      </a:r>
                      <a:r>
                        <a:rPr lang="en-US" altLang="ko-KR" sz="900" b="0" i="1" dirty="0">
                          <a:solidFill>
                            <a:schemeClr val="tx1"/>
                          </a:solidFill>
                          <a:latin typeface="Arial" panose="020B0604020202020204" pitchFamily="34" charset="0"/>
                          <a:ea typeface="+mn-ea"/>
                          <a:cs typeface="Arial" panose="020B0604020202020204" pitchFamily="34" charset="0"/>
                        </a:rPr>
                        <a:t>to</a:t>
                      </a:r>
                      <a:r>
                        <a:rPr lang="ko-KR" altLang="en-US" sz="900" b="0" i="1" dirty="0">
                          <a:solidFill>
                            <a:schemeClr val="tx1"/>
                          </a:solidFill>
                          <a:latin typeface="Arial" panose="020B0604020202020204" pitchFamily="34" charset="0"/>
                          <a:ea typeface="+mn-ea"/>
                          <a:cs typeface="Arial" panose="020B0604020202020204" pitchFamily="34" charset="0"/>
                        </a:rPr>
                        <a:t> </a:t>
                      </a:r>
                      <a:r>
                        <a:rPr lang="en-US" altLang="ko-KR" sz="900" b="0" i="1" dirty="0">
                          <a:solidFill>
                            <a:schemeClr val="tx1"/>
                          </a:solidFill>
                          <a:latin typeface="Arial" panose="020B0604020202020204" pitchFamily="34" charset="0"/>
                          <a:ea typeface="+mn-ea"/>
                          <a:cs typeface="Arial" panose="020B0604020202020204" pitchFamily="34" charset="0"/>
                        </a:rPr>
                        <a:t>the</a:t>
                      </a:r>
                      <a:r>
                        <a:rPr lang="ko-KR" altLang="en-US" sz="900" b="0" i="1" dirty="0">
                          <a:solidFill>
                            <a:schemeClr val="tx1"/>
                          </a:solidFill>
                          <a:latin typeface="Arial" panose="020B0604020202020204" pitchFamily="34" charset="0"/>
                          <a:ea typeface="+mn-ea"/>
                          <a:cs typeface="Arial" panose="020B0604020202020204" pitchFamily="34" charset="0"/>
                        </a:rPr>
                        <a:t> </a:t>
                      </a:r>
                      <a:r>
                        <a:rPr lang="en-US" altLang="ko-KR" sz="900" b="0" i="1" dirty="0">
                          <a:solidFill>
                            <a:schemeClr val="tx1"/>
                          </a:solidFill>
                          <a:latin typeface="Arial" panose="020B0604020202020204" pitchFamily="34" charset="0"/>
                          <a:ea typeface="+mn-ea"/>
                          <a:cs typeface="Arial" panose="020B0604020202020204" pitchFamily="34" charset="0"/>
                        </a:rPr>
                        <a:t>Tabel 6. for other relevant sets.</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i="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dirty="0">
                          <a:solidFill>
                            <a:schemeClr val="tx1"/>
                          </a:solidFill>
                          <a:latin typeface="Arial" panose="020B0604020202020204" pitchFamily="34" charset="0"/>
                          <a:ea typeface="+mn-ea"/>
                          <a:cs typeface="Arial" panose="020B0604020202020204" pitchFamily="34" charset="0"/>
                        </a:rPr>
                        <a:t>FPWM_DIV1[7:0] : </a:t>
                      </a:r>
                      <a:r>
                        <a:rPr lang="en-US" altLang="ko-KR" sz="900" b="0" dirty="0">
                          <a:solidFill>
                            <a:schemeClr val="tx1"/>
                          </a:solidFill>
                          <a:latin typeface="Arial" panose="020B0604020202020204" pitchFamily="34" charset="0"/>
                          <a:ea typeface="+mn-ea"/>
                          <a:cs typeface="Arial" panose="020B0604020202020204" pitchFamily="34" charset="0"/>
                        </a:rPr>
                        <a:t>PWM reference clock </a:t>
                      </a:r>
                      <a:r>
                        <a:rPr lang="en-US" altLang="ko-KR" sz="900" b="0" i="0" dirty="0">
                          <a:solidFill>
                            <a:schemeClr val="tx1"/>
                          </a:solidFill>
                          <a:latin typeface="Arial" panose="020B0604020202020204" pitchFamily="34" charset="0"/>
                          <a:ea typeface="+mn-ea"/>
                          <a:cs typeface="Arial" panose="020B0604020202020204" pitchFamily="34" charset="0"/>
                        </a:rPr>
                        <a:t>for single-Ch. LED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dirty="0">
                          <a:solidFill>
                            <a:schemeClr val="tx1"/>
                          </a:solidFill>
                          <a:latin typeface="Arial" panose="020B0604020202020204" pitchFamily="34" charset="0"/>
                          <a:ea typeface="+mn-ea"/>
                          <a:cs typeface="Arial" panose="020B0604020202020204" pitchFamily="34" charset="0"/>
                        </a:rPr>
                        <a:t>FPWM_DIV2[7:0] : </a:t>
                      </a:r>
                      <a:r>
                        <a:rPr lang="en-US" altLang="ko-KR" sz="900" b="0" dirty="0">
                          <a:solidFill>
                            <a:schemeClr val="tx1"/>
                          </a:solidFill>
                          <a:latin typeface="Arial" panose="020B0604020202020204" pitchFamily="34" charset="0"/>
                          <a:ea typeface="+mn-ea"/>
                          <a:cs typeface="Arial" panose="020B0604020202020204" pitchFamily="34" charset="0"/>
                        </a:rPr>
                        <a:t>PWM reference clock </a:t>
                      </a:r>
                      <a:r>
                        <a:rPr lang="en-US" altLang="ko-KR" sz="900" b="0" i="0" dirty="0">
                          <a:solidFill>
                            <a:schemeClr val="tx1"/>
                          </a:solidFill>
                          <a:latin typeface="Arial" panose="020B0604020202020204" pitchFamily="34" charset="0"/>
                          <a:ea typeface="+mn-ea"/>
                          <a:cs typeface="Arial" panose="020B0604020202020204" pitchFamily="34" charset="0"/>
                        </a:rPr>
                        <a:t>for 1</a:t>
                      </a:r>
                      <a:r>
                        <a:rPr lang="en-US" altLang="ko-KR" sz="900" b="0" i="0" baseline="30000" dirty="0">
                          <a:solidFill>
                            <a:schemeClr val="tx1"/>
                          </a:solidFill>
                          <a:latin typeface="Arial" panose="020B0604020202020204" pitchFamily="34" charset="0"/>
                          <a:ea typeface="+mn-ea"/>
                          <a:cs typeface="Arial" panose="020B0604020202020204" pitchFamily="34" charset="0"/>
                        </a:rPr>
                        <a:t>st</a:t>
                      </a:r>
                      <a:r>
                        <a:rPr lang="en-US" altLang="ko-KR" sz="900" b="0" i="0" dirty="0">
                          <a:solidFill>
                            <a:schemeClr val="tx1"/>
                          </a:solidFill>
                          <a:latin typeface="Arial" panose="020B0604020202020204" pitchFamily="34" charset="0"/>
                          <a:ea typeface="+mn-ea"/>
                          <a:cs typeface="Arial" panose="020B0604020202020204" pitchFamily="34" charset="0"/>
                        </a:rPr>
                        <a:t> time-division Ch. LED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dirty="0">
                          <a:solidFill>
                            <a:schemeClr val="tx1"/>
                          </a:solidFill>
                          <a:latin typeface="Arial" panose="020B0604020202020204" pitchFamily="34" charset="0"/>
                          <a:ea typeface="+mn-ea"/>
                          <a:cs typeface="Arial" panose="020B0604020202020204" pitchFamily="34" charset="0"/>
                        </a:rPr>
                        <a:t>FPWM_DIV3[7:0] : </a:t>
                      </a:r>
                      <a:r>
                        <a:rPr lang="en-US" altLang="ko-KR" sz="900" b="0" dirty="0">
                          <a:solidFill>
                            <a:schemeClr val="tx1"/>
                          </a:solidFill>
                          <a:latin typeface="Arial" panose="020B0604020202020204" pitchFamily="34" charset="0"/>
                          <a:ea typeface="+mn-ea"/>
                          <a:cs typeface="Arial" panose="020B0604020202020204" pitchFamily="34" charset="0"/>
                        </a:rPr>
                        <a:t>PWM reference clock </a:t>
                      </a:r>
                      <a:r>
                        <a:rPr lang="en-US" altLang="ko-KR" sz="900" b="0" i="0" dirty="0">
                          <a:solidFill>
                            <a:schemeClr val="tx1"/>
                          </a:solidFill>
                          <a:latin typeface="Arial" panose="020B0604020202020204" pitchFamily="34" charset="0"/>
                          <a:ea typeface="+mn-ea"/>
                          <a:cs typeface="Arial" panose="020B0604020202020204" pitchFamily="34" charset="0"/>
                        </a:rPr>
                        <a:t>for 2</a:t>
                      </a:r>
                      <a:r>
                        <a:rPr lang="en-US" altLang="ko-KR" sz="900" b="0" i="0" baseline="30000" dirty="0">
                          <a:solidFill>
                            <a:schemeClr val="tx1"/>
                          </a:solidFill>
                          <a:latin typeface="Arial" panose="020B0604020202020204" pitchFamily="34" charset="0"/>
                          <a:ea typeface="+mn-ea"/>
                          <a:cs typeface="Arial" panose="020B0604020202020204" pitchFamily="34" charset="0"/>
                        </a:rPr>
                        <a:t>nd</a:t>
                      </a:r>
                      <a:r>
                        <a:rPr lang="en-US" altLang="ko-KR" sz="900" b="0" i="0" dirty="0">
                          <a:solidFill>
                            <a:schemeClr val="tx1"/>
                          </a:solidFill>
                          <a:latin typeface="Arial" panose="020B0604020202020204" pitchFamily="34" charset="0"/>
                          <a:ea typeface="+mn-ea"/>
                          <a:cs typeface="Arial" panose="020B0604020202020204" pitchFamily="34" charset="0"/>
                        </a:rPr>
                        <a:t> time-division Ch. LED </a:t>
                      </a: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6" name="TextBox 15">
            <a:extLst>
              <a:ext uri="{FF2B5EF4-FFF2-40B4-BE49-F238E27FC236}">
                <a16:creationId xmlns:a16="http://schemas.microsoft.com/office/drawing/2014/main" id="{BC76782D-FE5D-8269-B216-5490BE15F2FA}"/>
              </a:ext>
            </a:extLst>
          </p:cNvPr>
          <p:cNvSpPr txBox="1"/>
          <p:nvPr/>
        </p:nvSpPr>
        <p:spPr>
          <a:xfrm>
            <a:off x="399453" y="848186"/>
            <a:ext cx="60537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FPWM DIVIDER</a:t>
            </a:r>
          </a:p>
        </p:txBody>
      </p:sp>
      <p:graphicFrame>
        <p:nvGraphicFramePr>
          <p:cNvPr id="17" name="표 16">
            <a:extLst>
              <a:ext uri="{FF2B5EF4-FFF2-40B4-BE49-F238E27FC236}">
                <a16:creationId xmlns:a16="http://schemas.microsoft.com/office/drawing/2014/main" id="{8BCE1C1E-E21C-59D0-176E-85B5E4A12F61}"/>
              </a:ext>
            </a:extLst>
          </p:cNvPr>
          <p:cNvGraphicFramePr>
            <a:graphicFrameLocks noGrp="1"/>
          </p:cNvGraphicFramePr>
          <p:nvPr>
            <p:extLst>
              <p:ext uri="{D42A27DB-BD31-4B8C-83A1-F6EECF244321}">
                <p14:modId xmlns:p14="http://schemas.microsoft.com/office/powerpoint/2010/main" val="68007267"/>
              </p:ext>
            </p:extLst>
          </p:nvPr>
        </p:nvGraphicFramePr>
        <p:xfrm>
          <a:off x="397025" y="1132999"/>
          <a:ext cx="6058369" cy="372600"/>
        </p:xfrm>
        <a:graphic>
          <a:graphicData uri="http://schemas.openxmlformats.org/drawingml/2006/table">
            <a:tbl>
              <a:tblPr firstRow="1" bandRow="1">
                <a:tableStyleId>{5C22544A-7EE6-4342-B048-85BDC9FD1C3A}</a:tableStyleId>
              </a:tblPr>
              <a:tblGrid>
                <a:gridCol w="351954">
                  <a:extLst>
                    <a:ext uri="{9D8B030D-6E8A-4147-A177-3AD203B41FA5}">
                      <a16:colId xmlns:a16="http://schemas.microsoft.com/office/drawing/2014/main" val="657570846"/>
                    </a:ext>
                  </a:extLst>
                </a:gridCol>
                <a:gridCol w="386986">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FPWM_DIV2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FPWM_DIV1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9" name="표 18">
            <a:extLst>
              <a:ext uri="{FF2B5EF4-FFF2-40B4-BE49-F238E27FC236}">
                <a16:creationId xmlns:a16="http://schemas.microsoft.com/office/drawing/2014/main" id="{F33E565F-7DF9-359C-B9A1-C4EEA4291EB4}"/>
              </a:ext>
            </a:extLst>
          </p:cNvPr>
          <p:cNvGraphicFramePr>
            <a:graphicFrameLocks noGrp="1"/>
          </p:cNvGraphicFramePr>
          <p:nvPr>
            <p:extLst>
              <p:ext uri="{D42A27DB-BD31-4B8C-83A1-F6EECF244321}">
                <p14:modId xmlns:p14="http://schemas.microsoft.com/office/powerpoint/2010/main" val="4173675954"/>
              </p:ext>
            </p:extLst>
          </p:nvPr>
        </p:nvGraphicFramePr>
        <p:xfrm>
          <a:off x="403798" y="1651808"/>
          <a:ext cx="6058369" cy="372600"/>
        </p:xfrm>
        <a:graphic>
          <a:graphicData uri="http://schemas.openxmlformats.org/drawingml/2006/table">
            <a:tbl>
              <a:tblPr firstRow="1" bandRow="1">
                <a:tableStyleId>{5C22544A-7EE6-4342-B048-85BDC9FD1C3A}</a:tableStyleId>
              </a:tblPr>
              <a:tblGrid>
                <a:gridCol w="351954">
                  <a:extLst>
                    <a:ext uri="{9D8B030D-6E8A-4147-A177-3AD203B41FA5}">
                      <a16:colId xmlns:a16="http://schemas.microsoft.com/office/drawing/2014/main" val="657570846"/>
                    </a:ext>
                  </a:extLst>
                </a:gridCol>
                <a:gridCol w="386986">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FPWM_DIV3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FPWM_DIV2[7:4]</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27087303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1743657798"/>
              </p:ext>
            </p:extLst>
          </p:nvPr>
        </p:nvGraphicFramePr>
        <p:xfrm>
          <a:off x="406838" y="1556231"/>
          <a:ext cx="6046597" cy="6003193"/>
        </p:xfrm>
        <a:graphic>
          <a:graphicData uri="http://schemas.openxmlformats.org/drawingml/2006/table">
            <a:tbl>
              <a:tblPr firstRow="1" bandRow="1">
                <a:tableStyleId>{5C22544A-7EE6-4342-B048-85BDC9FD1C3A}</a:tableStyleId>
              </a:tblPr>
              <a:tblGrid>
                <a:gridCol w="304092">
                  <a:extLst>
                    <a:ext uri="{9D8B030D-6E8A-4147-A177-3AD203B41FA5}">
                      <a16:colId xmlns:a16="http://schemas.microsoft.com/office/drawing/2014/main" val="4170535043"/>
                    </a:ext>
                  </a:extLst>
                </a:gridCol>
                <a:gridCol w="1243023">
                  <a:extLst>
                    <a:ext uri="{9D8B030D-6E8A-4147-A177-3AD203B41FA5}">
                      <a16:colId xmlns:a16="http://schemas.microsoft.com/office/drawing/2014/main" val="2079070694"/>
                    </a:ext>
                  </a:extLst>
                </a:gridCol>
                <a:gridCol w="4499482">
                  <a:extLst>
                    <a:ext uri="{9D8B030D-6E8A-4147-A177-3AD203B41FA5}">
                      <a16:colId xmlns:a16="http://schemas.microsoft.com/office/drawing/2014/main" val="32595803"/>
                    </a:ext>
                  </a:extLst>
                </a:gridCol>
              </a:tblGrid>
              <a:tr h="29796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251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11:10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AUTO_FAULT_FB_NO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number of FBs output when an auto fault read.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FB_MODE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for various faults</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7971460"/>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O_FB_E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FB possible to be asserted in only case the corresponding channel’s OPEN event is not happen. If this bit is 0, then the FB can be asserted owing to the OPEN event.</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199790"/>
                  </a:ext>
                </a:extLst>
              </a:tr>
              <a:tr h="59364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enables to detect the SHORT event, and the event can be detected in only case the corresponding channel’s PWM output is ON status and its channel’s headroom is above the set value in the SHORT_LEVEL register.</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58419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enables to detect the OPEN event, and the event can be detected in only case the corresponding channel’s PWM output is OFF status and its channel’s headroom is below 0.25V.</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4671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all channels’ output be off in case the THERMAL event happens, and all channels will be activated again after the THERMAL event is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9934807"/>
                  </a:ext>
                </a:extLst>
              </a:tr>
              <a:tr h="46082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SHORTed channel’s output be off in case the SHORT event happens.</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8665145"/>
                  </a:ext>
                </a:extLst>
              </a:tr>
              <a:tr h="46082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OPENed channel’s output be off in case the OPEN event happens.</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367827311"/>
              </p:ext>
            </p:extLst>
          </p:nvPr>
        </p:nvGraphicFramePr>
        <p:xfrm>
          <a:off x="399453" y="1113183"/>
          <a:ext cx="6062713" cy="372600"/>
        </p:xfrm>
        <a:graphic>
          <a:graphicData uri="http://schemas.openxmlformats.org/drawingml/2006/table">
            <a:tbl>
              <a:tblPr firstRow="1" bandRow="1">
                <a:tableStyleId>{5C22544A-7EE6-4342-B048-85BDC9FD1C3A}</a:tableStyleId>
              </a:tblPr>
              <a:tblGrid>
                <a:gridCol w="276033">
                  <a:extLst>
                    <a:ext uri="{9D8B030D-6E8A-4147-A177-3AD203B41FA5}">
                      <a16:colId xmlns:a16="http://schemas.microsoft.com/office/drawing/2014/main" val="657570846"/>
                    </a:ext>
                  </a:extLst>
                </a:gridCol>
                <a:gridCol w="323022">
                  <a:extLst>
                    <a:ext uri="{9D8B030D-6E8A-4147-A177-3AD203B41FA5}">
                      <a16:colId xmlns:a16="http://schemas.microsoft.com/office/drawing/2014/main" val="3259894497"/>
                    </a:ext>
                  </a:extLst>
                </a:gridCol>
                <a:gridCol w="433207">
                  <a:extLst>
                    <a:ext uri="{9D8B030D-6E8A-4147-A177-3AD203B41FA5}">
                      <a16:colId xmlns:a16="http://schemas.microsoft.com/office/drawing/2014/main" val="4170535043"/>
                    </a:ext>
                  </a:extLst>
                </a:gridCol>
                <a:gridCol w="468073">
                  <a:extLst>
                    <a:ext uri="{9D8B030D-6E8A-4147-A177-3AD203B41FA5}">
                      <a16:colId xmlns:a16="http://schemas.microsoft.com/office/drawing/2014/main" val="2079070694"/>
                    </a:ext>
                  </a:extLst>
                </a:gridCol>
                <a:gridCol w="484383">
                  <a:extLst>
                    <a:ext uri="{9D8B030D-6E8A-4147-A177-3AD203B41FA5}">
                      <a16:colId xmlns:a16="http://schemas.microsoft.com/office/drawing/2014/main" val="4213315911"/>
                    </a:ext>
                  </a:extLst>
                </a:gridCol>
                <a:gridCol w="343789">
                  <a:extLst>
                    <a:ext uri="{9D8B030D-6E8A-4147-A177-3AD203B41FA5}">
                      <a16:colId xmlns:a16="http://schemas.microsoft.com/office/drawing/2014/main" val="2769999950"/>
                    </a:ext>
                  </a:extLst>
                </a:gridCol>
                <a:gridCol w="431601">
                  <a:extLst>
                    <a:ext uri="{9D8B030D-6E8A-4147-A177-3AD203B41FA5}">
                      <a16:colId xmlns:a16="http://schemas.microsoft.com/office/drawing/2014/main" val="135637185"/>
                    </a:ext>
                  </a:extLst>
                </a:gridCol>
                <a:gridCol w="539833">
                  <a:extLst>
                    <a:ext uri="{9D8B030D-6E8A-4147-A177-3AD203B41FA5}">
                      <a16:colId xmlns:a16="http://schemas.microsoft.com/office/drawing/2014/main" val="3038050475"/>
                    </a:ext>
                  </a:extLst>
                </a:gridCol>
                <a:gridCol w="461126">
                  <a:extLst>
                    <a:ext uri="{9D8B030D-6E8A-4147-A177-3AD203B41FA5}">
                      <a16:colId xmlns:a16="http://schemas.microsoft.com/office/drawing/2014/main" val="1979433044"/>
                    </a:ext>
                  </a:extLst>
                </a:gridCol>
                <a:gridCol w="444033">
                  <a:extLst>
                    <a:ext uri="{9D8B030D-6E8A-4147-A177-3AD203B41FA5}">
                      <a16:colId xmlns:a16="http://schemas.microsoft.com/office/drawing/2014/main" val="4270661649"/>
                    </a:ext>
                  </a:extLst>
                </a:gridCol>
                <a:gridCol w="378373">
                  <a:extLst>
                    <a:ext uri="{9D8B030D-6E8A-4147-A177-3AD203B41FA5}">
                      <a16:colId xmlns:a16="http://schemas.microsoft.com/office/drawing/2014/main" val="3027041370"/>
                    </a:ext>
                  </a:extLst>
                </a:gridCol>
                <a:gridCol w="370218">
                  <a:extLst>
                    <a:ext uri="{9D8B030D-6E8A-4147-A177-3AD203B41FA5}">
                      <a16:colId xmlns:a16="http://schemas.microsoft.com/office/drawing/2014/main" val="2852526216"/>
                    </a:ext>
                  </a:extLst>
                </a:gridCol>
                <a:gridCol w="363694">
                  <a:extLst>
                    <a:ext uri="{9D8B030D-6E8A-4147-A177-3AD203B41FA5}">
                      <a16:colId xmlns:a16="http://schemas.microsoft.com/office/drawing/2014/main" val="103420222"/>
                    </a:ext>
                  </a:extLst>
                </a:gridCol>
                <a:gridCol w="368587">
                  <a:extLst>
                    <a:ext uri="{9D8B030D-6E8A-4147-A177-3AD203B41FA5}">
                      <a16:colId xmlns:a16="http://schemas.microsoft.com/office/drawing/2014/main" val="1470405609"/>
                    </a:ext>
                  </a:extLst>
                </a:gridCol>
                <a:gridCol w="37674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AUTO_FAULT_FB_NO[1:0]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FB_MODE[3:0]</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O_FB_E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S_DET_E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O_DET_E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T_OFF_E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S_OFF_E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O_OFF_E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F7A5E6D2-F026-3E2B-9B67-2951B89D805B}"/>
              </a:ext>
            </a:extLst>
          </p:cNvPr>
          <p:cNvSpPr txBox="1"/>
          <p:nvPr/>
        </p:nvSpPr>
        <p:spPr>
          <a:xfrm>
            <a:off x="399453" y="848186"/>
            <a:ext cx="605398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CONTROL</a:t>
            </a:r>
          </a:p>
        </p:txBody>
      </p:sp>
      <p:pic>
        <p:nvPicPr>
          <p:cNvPr id="13" name="그림 12">
            <a:extLst>
              <a:ext uri="{FF2B5EF4-FFF2-40B4-BE49-F238E27FC236}">
                <a16:creationId xmlns:a16="http://schemas.microsoft.com/office/drawing/2014/main" id="{4C340B7D-5D46-DECA-8C12-B733CD57F597}"/>
              </a:ext>
            </a:extLst>
          </p:cNvPr>
          <p:cNvPicPr>
            <a:picLocks noChangeAspect="1"/>
          </p:cNvPicPr>
          <p:nvPr/>
        </p:nvPicPr>
        <p:blipFill>
          <a:blip r:embed="rId2"/>
          <a:stretch>
            <a:fillRect/>
          </a:stretch>
        </p:blipFill>
        <p:spPr>
          <a:xfrm>
            <a:off x="1953749" y="2465882"/>
            <a:ext cx="4288025" cy="1832666"/>
          </a:xfrm>
          <a:prstGeom prst="rect">
            <a:avLst/>
          </a:prstGeom>
        </p:spPr>
      </p:pic>
    </p:spTree>
    <p:extLst>
      <p:ext uri="{BB962C8B-B14F-4D97-AF65-F5344CB8AC3E}">
        <p14:creationId xmlns:p14="http://schemas.microsoft.com/office/powerpoint/2010/main" val="20201828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표 7">
            <a:extLst>
              <a:ext uri="{FF2B5EF4-FFF2-40B4-BE49-F238E27FC236}">
                <a16:creationId xmlns:a16="http://schemas.microsoft.com/office/drawing/2014/main" id="{A4B501F9-8332-1AA1-B9F4-A16BDEFCC7BF}"/>
              </a:ext>
            </a:extLst>
          </p:cNvPr>
          <p:cNvGraphicFramePr>
            <a:graphicFrameLocks noGrp="1"/>
          </p:cNvGraphicFramePr>
          <p:nvPr>
            <p:extLst>
              <p:ext uri="{D42A27DB-BD31-4B8C-83A1-F6EECF244321}">
                <p14:modId xmlns:p14="http://schemas.microsoft.com/office/powerpoint/2010/main" val="2586551921"/>
              </p:ext>
            </p:extLst>
          </p:nvPr>
        </p:nvGraphicFramePr>
        <p:xfrm>
          <a:off x="423349" y="2217266"/>
          <a:ext cx="6052400" cy="1464517"/>
        </p:xfrm>
        <a:graphic>
          <a:graphicData uri="http://schemas.openxmlformats.org/drawingml/2006/table">
            <a:tbl>
              <a:tblPr firstRow="1" bandRow="1">
                <a:tableStyleId>{5C22544A-7EE6-4342-B048-85BDC9FD1C3A}</a:tableStyleId>
              </a:tblPr>
              <a:tblGrid>
                <a:gridCol w="373704">
                  <a:extLst>
                    <a:ext uri="{9D8B030D-6E8A-4147-A177-3AD203B41FA5}">
                      <a16:colId xmlns:a16="http://schemas.microsoft.com/office/drawing/2014/main" val="4170535043"/>
                    </a:ext>
                  </a:extLst>
                </a:gridCol>
                <a:gridCol w="1115461">
                  <a:extLst>
                    <a:ext uri="{9D8B030D-6E8A-4147-A177-3AD203B41FA5}">
                      <a16:colId xmlns:a16="http://schemas.microsoft.com/office/drawing/2014/main" val="2079070694"/>
                    </a:ext>
                  </a:extLst>
                </a:gridCol>
                <a:gridCol w="4563235">
                  <a:extLst>
                    <a:ext uri="{9D8B030D-6E8A-4147-A177-3AD203B41FA5}">
                      <a16:colId xmlns:a16="http://schemas.microsoft.com/office/drawing/2014/main" val="32595803"/>
                    </a:ext>
                  </a:extLst>
                </a:gridCol>
              </a:tblGrid>
              <a:tr h="29523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1171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CHx_LD_TYPE    </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whether it is time-sharing data or non-sharing data each CH.</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00  non-time-sharing data ( 1LD</a:t>
                      </a:r>
                      <a:r>
                        <a:rPr lang="en-US" altLang="ko-KR" sz="900" b="0" baseline="30000" dirty="0">
                          <a:solidFill>
                            <a:schemeClr val="tx1"/>
                          </a:solidFill>
                          <a:latin typeface="Arial" panose="020B0604020202020204" pitchFamily="34" charset="0"/>
                          <a:ea typeface="+mn-ea"/>
                          <a:cs typeface="Arial" panose="020B0604020202020204" pitchFamily="34" charset="0"/>
                        </a:rPr>
                        <a:t>1st</a:t>
                      </a:r>
                      <a:r>
                        <a:rPr lang="en-US" altLang="ko-KR" sz="900" b="0" dirty="0">
                          <a:solidFill>
                            <a:schemeClr val="tx1"/>
                          </a:solidFill>
                          <a:latin typeface="Arial" panose="020B0604020202020204" pitchFamily="34" charset="0"/>
                          <a:ea typeface="+mn-ea"/>
                          <a:cs typeface="Arial" panose="020B0604020202020204" pitchFamily="34" charset="0"/>
                        </a:rPr>
                        <a:t>)</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01  non-time-sharing data ( 1LD</a:t>
                      </a:r>
                      <a:r>
                        <a:rPr lang="en-US" altLang="ko-KR" sz="900" b="0" baseline="30000" dirty="0">
                          <a:solidFill>
                            <a:schemeClr val="tx1"/>
                          </a:solidFill>
                          <a:latin typeface="Arial" panose="020B0604020202020204" pitchFamily="34" charset="0"/>
                          <a:ea typeface="+mn-ea"/>
                          <a:cs typeface="Arial" panose="020B0604020202020204" pitchFamily="34" charset="0"/>
                        </a:rPr>
                        <a:t>2nd</a:t>
                      </a:r>
                      <a:r>
                        <a:rPr lang="en-US" altLang="ko-KR" sz="900" b="0" dirty="0">
                          <a:solidFill>
                            <a:schemeClr val="tx1"/>
                          </a:solidFill>
                          <a:latin typeface="Arial" panose="020B0604020202020204" pitchFamily="34" charset="0"/>
                          <a:ea typeface="+mn-ea"/>
                          <a:cs typeface="Arial" panose="020B0604020202020204" pitchFamily="34" charset="0"/>
                        </a:rPr>
                        <a:t>)</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10  time-sharing data ( 2LD</a:t>
                      </a:r>
                      <a:r>
                        <a:rPr lang="en-US" altLang="ko-KR" sz="900" b="0" baseline="30000" dirty="0">
                          <a:solidFill>
                            <a:schemeClr val="tx1"/>
                          </a:solidFill>
                          <a:latin typeface="Arial" panose="020B0604020202020204" pitchFamily="34" charset="0"/>
                          <a:ea typeface="+mn-ea"/>
                          <a:cs typeface="Arial" panose="020B0604020202020204" pitchFamily="34" charset="0"/>
                        </a:rPr>
                        <a:t>1st</a:t>
                      </a:r>
                      <a:r>
                        <a:rPr lang="en-US" altLang="ko-KR" sz="900" b="0" dirty="0">
                          <a:solidFill>
                            <a:schemeClr val="tx1"/>
                          </a:solidFill>
                          <a:latin typeface="Arial" panose="020B0604020202020204" pitchFamily="34" charset="0"/>
                          <a:ea typeface="+mn-ea"/>
                          <a:cs typeface="Arial" panose="020B0604020202020204" pitchFamily="34" charset="0"/>
                        </a:rPr>
                        <a:t>)</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11  time-sharing data ( 2LD</a:t>
                      </a:r>
                      <a:r>
                        <a:rPr lang="en-US" altLang="ko-KR" sz="900" b="0" baseline="30000" dirty="0">
                          <a:solidFill>
                            <a:schemeClr val="tx1"/>
                          </a:solidFill>
                          <a:latin typeface="Arial" panose="020B0604020202020204" pitchFamily="34" charset="0"/>
                          <a:ea typeface="+mn-ea"/>
                          <a:cs typeface="Arial" panose="020B0604020202020204" pitchFamily="34" charset="0"/>
                        </a:rPr>
                        <a:t>2nd</a:t>
                      </a:r>
                      <a:r>
                        <a:rPr lang="en-US" altLang="ko-KR" sz="900" b="0" dirty="0">
                          <a:solidFill>
                            <a:schemeClr val="tx1"/>
                          </a:solidFill>
                          <a:latin typeface="Arial" panose="020B0604020202020204" pitchFamily="34" charset="0"/>
                          <a:ea typeface="+mn-ea"/>
                          <a:cs typeface="Arial" panose="020B0604020202020204" pitchFamily="34" charset="0"/>
                        </a:rPr>
                        <a:t>)</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VREF / MAX_CURR / FB_LEVEL / SHORT_LEVEL.</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9" name="TextBox 8">
            <a:extLst>
              <a:ext uri="{FF2B5EF4-FFF2-40B4-BE49-F238E27FC236}">
                <a16:creationId xmlns:a16="http://schemas.microsoft.com/office/drawing/2014/main" id="{56604965-E010-D966-CB1B-0E629343A708}"/>
              </a:ext>
            </a:extLst>
          </p:cNvPr>
          <p:cNvSpPr txBox="1"/>
          <p:nvPr/>
        </p:nvSpPr>
        <p:spPr>
          <a:xfrm>
            <a:off x="429445" y="885384"/>
            <a:ext cx="6037969" cy="261610"/>
          </a:xfrm>
          <a:prstGeom prst="rect">
            <a:avLst/>
          </a:prstGeom>
          <a:noFill/>
        </p:spPr>
        <p:txBody>
          <a:bodyPr wrap="square" lIns="0" rtlCol="0">
            <a:spAutoFit/>
          </a:bodyPr>
          <a:lstStyle/>
          <a:p>
            <a:r>
              <a:rPr lang="en-US" altLang="ko-KR" sz="1100" b="1" dirty="0" err="1">
                <a:latin typeface="Arial" panose="020B0604020202020204" pitchFamily="34" charset="0"/>
                <a:cs typeface="Arial" panose="020B0604020202020204" pitchFamily="34" charset="0"/>
              </a:rPr>
              <a:t>CHx_LD_TYPE</a:t>
            </a:r>
            <a:endParaRPr lang="en-US" altLang="ko-KR" sz="1100" b="1" dirty="0">
              <a:latin typeface="Arial" panose="020B0604020202020204" pitchFamily="34" charset="0"/>
              <a:cs typeface="Arial" panose="020B0604020202020204" pitchFamily="34" charset="0"/>
            </a:endParaRPr>
          </a:p>
        </p:txBody>
      </p:sp>
      <p:graphicFrame>
        <p:nvGraphicFramePr>
          <p:cNvPr id="10" name="표 9">
            <a:extLst>
              <a:ext uri="{FF2B5EF4-FFF2-40B4-BE49-F238E27FC236}">
                <a16:creationId xmlns:a16="http://schemas.microsoft.com/office/drawing/2014/main" id="{1E38E9E1-E8D3-6293-8777-EFD1DDACB653}"/>
              </a:ext>
            </a:extLst>
          </p:cNvPr>
          <p:cNvGraphicFramePr>
            <a:graphicFrameLocks noGrp="1"/>
          </p:cNvGraphicFramePr>
          <p:nvPr>
            <p:extLst>
              <p:ext uri="{D42A27DB-BD31-4B8C-83A1-F6EECF244321}">
                <p14:modId xmlns:p14="http://schemas.microsoft.com/office/powerpoint/2010/main" val="705065055"/>
              </p:ext>
            </p:extLst>
          </p:nvPr>
        </p:nvGraphicFramePr>
        <p:xfrm>
          <a:off x="423349" y="1194926"/>
          <a:ext cx="6048453" cy="372600"/>
        </p:xfrm>
        <a:graphic>
          <a:graphicData uri="http://schemas.openxmlformats.org/drawingml/2006/table">
            <a:tbl>
              <a:tblPr firstRow="1" bandRow="1">
                <a:tableStyleId>{5C22544A-7EE6-4342-B048-85BDC9FD1C3A}</a:tableStyleId>
              </a:tblPr>
              <a:tblGrid>
                <a:gridCol w="348464">
                  <a:extLst>
                    <a:ext uri="{9D8B030D-6E8A-4147-A177-3AD203B41FA5}">
                      <a16:colId xmlns:a16="http://schemas.microsoft.com/office/drawing/2014/main" val="657570846"/>
                    </a:ext>
                  </a:extLst>
                </a:gridCol>
                <a:gridCol w="383148">
                  <a:extLst>
                    <a:ext uri="{9D8B030D-6E8A-4147-A177-3AD203B41FA5}">
                      <a16:colId xmlns:a16="http://schemas.microsoft.com/office/drawing/2014/main" val="3259894497"/>
                    </a:ext>
                  </a:extLst>
                </a:gridCol>
                <a:gridCol w="450301">
                  <a:extLst>
                    <a:ext uri="{9D8B030D-6E8A-4147-A177-3AD203B41FA5}">
                      <a16:colId xmlns:a16="http://schemas.microsoft.com/office/drawing/2014/main" val="4170535043"/>
                    </a:ext>
                  </a:extLst>
                </a:gridCol>
                <a:gridCol w="405545">
                  <a:extLst>
                    <a:ext uri="{9D8B030D-6E8A-4147-A177-3AD203B41FA5}">
                      <a16:colId xmlns:a16="http://schemas.microsoft.com/office/drawing/2014/main" val="2079070694"/>
                    </a:ext>
                  </a:extLst>
                </a:gridCol>
                <a:gridCol w="405545">
                  <a:extLst>
                    <a:ext uri="{9D8B030D-6E8A-4147-A177-3AD203B41FA5}">
                      <a16:colId xmlns:a16="http://schemas.microsoft.com/office/drawing/2014/main" val="4213315911"/>
                    </a:ext>
                  </a:extLst>
                </a:gridCol>
                <a:gridCol w="405545">
                  <a:extLst>
                    <a:ext uri="{9D8B030D-6E8A-4147-A177-3AD203B41FA5}">
                      <a16:colId xmlns:a16="http://schemas.microsoft.com/office/drawing/2014/main" val="2769999950"/>
                    </a:ext>
                  </a:extLst>
                </a:gridCol>
                <a:gridCol w="405545">
                  <a:extLst>
                    <a:ext uri="{9D8B030D-6E8A-4147-A177-3AD203B41FA5}">
                      <a16:colId xmlns:a16="http://schemas.microsoft.com/office/drawing/2014/main" val="135637185"/>
                    </a:ext>
                  </a:extLst>
                </a:gridCol>
                <a:gridCol w="405545">
                  <a:extLst>
                    <a:ext uri="{9D8B030D-6E8A-4147-A177-3AD203B41FA5}">
                      <a16:colId xmlns:a16="http://schemas.microsoft.com/office/drawing/2014/main" val="3038050475"/>
                    </a:ext>
                  </a:extLst>
                </a:gridCol>
                <a:gridCol w="405545">
                  <a:extLst>
                    <a:ext uri="{9D8B030D-6E8A-4147-A177-3AD203B41FA5}">
                      <a16:colId xmlns:a16="http://schemas.microsoft.com/office/drawing/2014/main" val="1979433044"/>
                    </a:ext>
                  </a:extLst>
                </a:gridCol>
                <a:gridCol w="405545">
                  <a:extLst>
                    <a:ext uri="{9D8B030D-6E8A-4147-A177-3AD203B41FA5}">
                      <a16:colId xmlns:a16="http://schemas.microsoft.com/office/drawing/2014/main" val="4270661649"/>
                    </a:ext>
                  </a:extLst>
                </a:gridCol>
                <a:gridCol w="405545">
                  <a:extLst>
                    <a:ext uri="{9D8B030D-6E8A-4147-A177-3AD203B41FA5}">
                      <a16:colId xmlns:a16="http://schemas.microsoft.com/office/drawing/2014/main" val="3027041370"/>
                    </a:ext>
                  </a:extLst>
                </a:gridCol>
                <a:gridCol w="405545">
                  <a:extLst>
                    <a:ext uri="{9D8B030D-6E8A-4147-A177-3AD203B41FA5}">
                      <a16:colId xmlns:a16="http://schemas.microsoft.com/office/drawing/2014/main" val="2852526216"/>
                    </a:ext>
                  </a:extLst>
                </a:gridCol>
                <a:gridCol w="405545">
                  <a:extLst>
                    <a:ext uri="{9D8B030D-6E8A-4147-A177-3AD203B41FA5}">
                      <a16:colId xmlns:a16="http://schemas.microsoft.com/office/drawing/2014/main" val="103420222"/>
                    </a:ext>
                  </a:extLst>
                </a:gridCol>
                <a:gridCol w="405545">
                  <a:extLst>
                    <a:ext uri="{9D8B030D-6E8A-4147-A177-3AD203B41FA5}">
                      <a16:colId xmlns:a16="http://schemas.microsoft.com/office/drawing/2014/main" val="1470405609"/>
                    </a:ext>
                  </a:extLst>
                </a:gridCol>
                <a:gridCol w="40554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CH12_LD_TYPE[1:0]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CH11_LD_TYPE[1:0]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CH10_LD_TYPE[1:0]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CH9_LD_TYPE[1:0]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CH8_LD_TYPE[1:0]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CH7_LD_TYPE[1:0]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1" name="표 10">
            <a:extLst>
              <a:ext uri="{FF2B5EF4-FFF2-40B4-BE49-F238E27FC236}">
                <a16:creationId xmlns:a16="http://schemas.microsoft.com/office/drawing/2014/main" id="{AF79A758-1B32-EA13-2B3B-E9E24E8A1815}"/>
              </a:ext>
            </a:extLst>
          </p:cNvPr>
          <p:cNvGraphicFramePr>
            <a:graphicFrameLocks noGrp="1"/>
          </p:cNvGraphicFramePr>
          <p:nvPr>
            <p:extLst>
              <p:ext uri="{D42A27DB-BD31-4B8C-83A1-F6EECF244321}">
                <p14:modId xmlns:p14="http://schemas.microsoft.com/office/powerpoint/2010/main" val="786114166"/>
              </p:ext>
            </p:extLst>
          </p:nvPr>
        </p:nvGraphicFramePr>
        <p:xfrm>
          <a:off x="423349" y="1689809"/>
          <a:ext cx="6048453" cy="372600"/>
        </p:xfrm>
        <a:graphic>
          <a:graphicData uri="http://schemas.openxmlformats.org/drawingml/2006/table">
            <a:tbl>
              <a:tblPr firstRow="1" bandRow="1">
                <a:tableStyleId>{5C22544A-7EE6-4342-B048-85BDC9FD1C3A}</a:tableStyleId>
              </a:tblPr>
              <a:tblGrid>
                <a:gridCol w="348464">
                  <a:extLst>
                    <a:ext uri="{9D8B030D-6E8A-4147-A177-3AD203B41FA5}">
                      <a16:colId xmlns:a16="http://schemas.microsoft.com/office/drawing/2014/main" val="657570846"/>
                    </a:ext>
                  </a:extLst>
                </a:gridCol>
                <a:gridCol w="383148">
                  <a:extLst>
                    <a:ext uri="{9D8B030D-6E8A-4147-A177-3AD203B41FA5}">
                      <a16:colId xmlns:a16="http://schemas.microsoft.com/office/drawing/2014/main" val="3259894497"/>
                    </a:ext>
                  </a:extLst>
                </a:gridCol>
                <a:gridCol w="450301">
                  <a:extLst>
                    <a:ext uri="{9D8B030D-6E8A-4147-A177-3AD203B41FA5}">
                      <a16:colId xmlns:a16="http://schemas.microsoft.com/office/drawing/2014/main" val="4170535043"/>
                    </a:ext>
                  </a:extLst>
                </a:gridCol>
                <a:gridCol w="405545">
                  <a:extLst>
                    <a:ext uri="{9D8B030D-6E8A-4147-A177-3AD203B41FA5}">
                      <a16:colId xmlns:a16="http://schemas.microsoft.com/office/drawing/2014/main" val="2079070694"/>
                    </a:ext>
                  </a:extLst>
                </a:gridCol>
                <a:gridCol w="405545">
                  <a:extLst>
                    <a:ext uri="{9D8B030D-6E8A-4147-A177-3AD203B41FA5}">
                      <a16:colId xmlns:a16="http://schemas.microsoft.com/office/drawing/2014/main" val="4213315911"/>
                    </a:ext>
                  </a:extLst>
                </a:gridCol>
                <a:gridCol w="405545">
                  <a:extLst>
                    <a:ext uri="{9D8B030D-6E8A-4147-A177-3AD203B41FA5}">
                      <a16:colId xmlns:a16="http://schemas.microsoft.com/office/drawing/2014/main" val="2769999950"/>
                    </a:ext>
                  </a:extLst>
                </a:gridCol>
                <a:gridCol w="405545">
                  <a:extLst>
                    <a:ext uri="{9D8B030D-6E8A-4147-A177-3AD203B41FA5}">
                      <a16:colId xmlns:a16="http://schemas.microsoft.com/office/drawing/2014/main" val="135637185"/>
                    </a:ext>
                  </a:extLst>
                </a:gridCol>
                <a:gridCol w="405545">
                  <a:extLst>
                    <a:ext uri="{9D8B030D-6E8A-4147-A177-3AD203B41FA5}">
                      <a16:colId xmlns:a16="http://schemas.microsoft.com/office/drawing/2014/main" val="3038050475"/>
                    </a:ext>
                  </a:extLst>
                </a:gridCol>
                <a:gridCol w="405545">
                  <a:extLst>
                    <a:ext uri="{9D8B030D-6E8A-4147-A177-3AD203B41FA5}">
                      <a16:colId xmlns:a16="http://schemas.microsoft.com/office/drawing/2014/main" val="1979433044"/>
                    </a:ext>
                  </a:extLst>
                </a:gridCol>
                <a:gridCol w="405545">
                  <a:extLst>
                    <a:ext uri="{9D8B030D-6E8A-4147-A177-3AD203B41FA5}">
                      <a16:colId xmlns:a16="http://schemas.microsoft.com/office/drawing/2014/main" val="4270661649"/>
                    </a:ext>
                  </a:extLst>
                </a:gridCol>
                <a:gridCol w="405545">
                  <a:extLst>
                    <a:ext uri="{9D8B030D-6E8A-4147-A177-3AD203B41FA5}">
                      <a16:colId xmlns:a16="http://schemas.microsoft.com/office/drawing/2014/main" val="3027041370"/>
                    </a:ext>
                  </a:extLst>
                </a:gridCol>
                <a:gridCol w="405545">
                  <a:extLst>
                    <a:ext uri="{9D8B030D-6E8A-4147-A177-3AD203B41FA5}">
                      <a16:colId xmlns:a16="http://schemas.microsoft.com/office/drawing/2014/main" val="2852526216"/>
                    </a:ext>
                  </a:extLst>
                </a:gridCol>
                <a:gridCol w="405545">
                  <a:extLst>
                    <a:ext uri="{9D8B030D-6E8A-4147-A177-3AD203B41FA5}">
                      <a16:colId xmlns:a16="http://schemas.microsoft.com/office/drawing/2014/main" val="103420222"/>
                    </a:ext>
                  </a:extLst>
                </a:gridCol>
                <a:gridCol w="405545">
                  <a:extLst>
                    <a:ext uri="{9D8B030D-6E8A-4147-A177-3AD203B41FA5}">
                      <a16:colId xmlns:a16="http://schemas.microsoft.com/office/drawing/2014/main" val="1470405609"/>
                    </a:ext>
                  </a:extLst>
                </a:gridCol>
                <a:gridCol w="40554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CH6_LD_TYPE[1:0]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CH5_LD_TYPE[1:0]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CH4_LD_TYPE[1:0]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CH3_LD_TYPE[1:0]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CH2_LD_TYPE[1:0]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CH1_LD_TYPE[1:0]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cxnSp>
        <p:nvCxnSpPr>
          <p:cNvPr id="12" name="직선 연결선 11">
            <a:extLst>
              <a:ext uri="{FF2B5EF4-FFF2-40B4-BE49-F238E27FC236}">
                <a16:creationId xmlns:a16="http://schemas.microsoft.com/office/drawing/2014/main" id="{6163B536-C8EE-26D3-EA2A-84F5FE8C5A46}"/>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C24F5FC2-87CA-47ED-6D26-82F57F6F5006}"/>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15" name="직사각형 14">
            <a:extLst>
              <a:ext uri="{FF2B5EF4-FFF2-40B4-BE49-F238E27FC236}">
                <a16:creationId xmlns:a16="http://schemas.microsoft.com/office/drawing/2014/main" id="{572C1ECF-39BB-8BDB-BBCB-FA21A2ACD498}"/>
              </a:ext>
            </a:extLst>
          </p:cNvPr>
          <p:cNvSpPr/>
          <p:nvPr/>
        </p:nvSpPr>
        <p:spPr>
          <a:xfrm>
            <a:off x="4687993" y="3987800"/>
            <a:ext cx="296334" cy="101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직사각형 15">
            <a:extLst>
              <a:ext uri="{FF2B5EF4-FFF2-40B4-BE49-F238E27FC236}">
                <a16:creationId xmlns:a16="http://schemas.microsoft.com/office/drawing/2014/main" id="{9DC65527-4533-6A70-F5D7-70E6D88344BB}"/>
              </a:ext>
            </a:extLst>
          </p:cNvPr>
          <p:cNvSpPr/>
          <p:nvPr/>
        </p:nvSpPr>
        <p:spPr>
          <a:xfrm>
            <a:off x="6381326" y="4292554"/>
            <a:ext cx="296334" cy="101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7" name="그림 6">
            <a:extLst>
              <a:ext uri="{FF2B5EF4-FFF2-40B4-BE49-F238E27FC236}">
                <a16:creationId xmlns:a16="http://schemas.microsoft.com/office/drawing/2014/main" id="{F6F97B11-CFDC-4C2E-064A-28CF93D0C1C1}"/>
              </a:ext>
            </a:extLst>
          </p:cNvPr>
          <p:cNvPicPr>
            <a:picLocks noChangeAspect="1"/>
          </p:cNvPicPr>
          <p:nvPr/>
        </p:nvPicPr>
        <p:blipFill>
          <a:blip r:embed="rId2"/>
          <a:stretch>
            <a:fillRect/>
          </a:stretch>
        </p:blipFill>
        <p:spPr>
          <a:xfrm>
            <a:off x="1549400" y="3893770"/>
            <a:ext cx="4673600" cy="710763"/>
          </a:xfrm>
          <a:prstGeom prst="rect">
            <a:avLst/>
          </a:prstGeom>
        </p:spPr>
      </p:pic>
    </p:spTree>
    <p:extLst>
      <p:ext uri="{BB962C8B-B14F-4D97-AF65-F5344CB8AC3E}">
        <p14:creationId xmlns:p14="http://schemas.microsoft.com/office/powerpoint/2010/main" val="39973743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2685886361"/>
              </p:ext>
            </p:extLst>
          </p:nvPr>
        </p:nvGraphicFramePr>
        <p:xfrm>
          <a:off x="403137" y="1668334"/>
          <a:ext cx="6047025" cy="5592600"/>
        </p:xfrm>
        <a:graphic>
          <a:graphicData uri="http://schemas.openxmlformats.org/drawingml/2006/table">
            <a:tbl>
              <a:tblPr firstRow="1" bandRow="1">
                <a:tableStyleId>{5C22544A-7EE6-4342-B048-85BDC9FD1C3A}</a:tableStyleId>
              </a:tblPr>
              <a:tblGrid>
                <a:gridCol w="432577">
                  <a:extLst>
                    <a:ext uri="{9D8B030D-6E8A-4147-A177-3AD203B41FA5}">
                      <a16:colId xmlns:a16="http://schemas.microsoft.com/office/drawing/2014/main" val="4170535043"/>
                    </a:ext>
                  </a:extLst>
                </a:gridCol>
                <a:gridCol w="797409">
                  <a:extLst>
                    <a:ext uri="{9D8B030D-6E8A-4147-A177-3AD203B41FA5}">
                      <a16:colId xmlns:a16="http://schemas.microsoft.com/office/drawing/2014/main" val="2079070694"/>
                    </a:ext>
                  </a:extLst>
                </a:gridCol>
                <a:gridCol w="4817039">
                  <a:extLst>
                    <a:ext uri="{9D8B030D-6E8A-4147-A177-3AD203B41FA5}">
                      <a16:colId xmlns:a16="http://schemas.microsoft.com/office/drawing/2014/main" val="32595803"/>
                    </a:ext>
                  </a:extLst>
                </a:gridCol>
              </a:tblGrid>
              <a:tr h="142035">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175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TIMEOUT_ERR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The TIMEOUT_ERR bit indicates no readout case within the count time set in 0x19.</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PARITY_ERR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The PARITY_ERR bit indicates a parity error.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81286988"/>
                  </a:ext>
                </a:extLst>
              </a:tr>
              <a:tr h="15687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VDD_OV</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tx1"/>
                          </a:solidFill>
                          <a:effectLst/>
                          <a:latin typeface="Arial" panose="020B0604020202020204" pitchFamily="34" charset="0"/>
                          <a:ea typeface="+mn-ea"/>
                          <a:cs typeface="Arial" panose="020B0604020202020204" pitchFamily="34" charset="0"/>
                        </a:rPr>
                        <a:t>Flag for VDD Over-Voltage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1592965"/>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VDD_UV</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tx1"/>
                          </a:solidFill>
                          <a:effectLst/>
                          <a:latin typeface="Arial" panose="020B0604020202020204" pitchFamily="34" charset="0"/>
                          <a:ea typeface="+mn-ea"/>
                          <a:cs typeface="Arial" panose="020B0604020202020204" pitchFamily="34" charset="0"/>
                        </a:rPr>
                        <a:t>Flag for VDD Under-Voltage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6914715"/>
                  </a:ext>
                </a:extLst>
              </a:tr>
              <a:tr h="10458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LDO_OV</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tx1"/>
                          </a:solidFill>
                          <a:effectLst/>
                          <a:latin typeface="Arial" panose="020B0604020202020204" pitchFamily="34" charset="0"/>
                          <a:ea typeface="+mn-ea"/>
                          <a:cs typeface="Arial" panose="020B0604020202020204" pitchFamily="34" charset="0"/>
                        </a:rPr>
                        <a:t>Flag for LDO Over-Voltage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0719077"/>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LDO_UV</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tx1"/>
                          </a:solidFill>
                          <a:effectLst/>
                          <a:latin typeface="Arial" panose="020B0604020202020204" pitchFamily="34" charset="0"/>
                          <a:ea typeface="+mn-ea"/>
                          <a:cs typeface="Arial" panose="020B0604020202020204" pitchFamily="34" charset="0"/>
                        </a:rPr>
                        <a:t>Flag for LDO Under-Voltage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35075559"/>
                  </a:ext>
                </a:extLst>
              </a:tr>
              <a:tr h="70088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THERMAL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THERMAL bit indicates whether the THERMAL event due to overheating happens, and this bit will keep asserted as long as the THERMAL event is not cleared. The event threshold can be set by the OFS_TEMP in the TEMP register.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T_OFF_E bit of the FAULT CONTROL register is set, all output sink drivers will be turned-off as long as the event is asserted, and turned-on again after internal temperature goes down below the set level of the OFS_TEMP. This bit involves other fault events in the readout information, MISS_VS, OV15 and UV15 at the FAULT_(AUTO)_READ transaction.</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3776345"/>
                  </a:ext>
                </a:extLst>
              </a:tr>
              <a:tr h="5146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SHORT bit indicates whether the SHORT event happens. The event can be detected in case some channel’s headroom goes above the set value in the SHORT_LEVEL of FAULT LEVEL register and its channel’s PWM out is ON status.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S_OFF_E bit of the FAULT CONTROL register is set, the output of the channels in which the event occurs is turned off. This bit is auto-cleared after readout but set again as long as the event is not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5146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OPEN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OPEN bit indicates whether the OPEN event happens. The event can be detected in case some channel’s headroom goes below 0.25V and its channel’s PWM out is OFF status.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O_OFF_E bit of the FAULT CONTROL register is set, the output of the channels in which the event occurs is turned off. This bit is auto-cleared after readout but set again as long as the event is not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60774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FB1/2/3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FB bit indicates whether the output channels’ headroom voltage is below the value set by FB_LEVEL of the FAULT LEVEL register due to insufficient VLED.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This bit is set whenever the  FB event occurs in even one of the activated channels and will be auto-cleared after readout this register. This bit will be set again after readout as long as the FB condition is still valid.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O_FB_E of FAULT CONTROL register is set, the FB event will happen in case the OPEN event is not asserted. </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i="0" kern="1200" dirty="0">
                        <a:solidFill>
                          <a:schemeClr val="dk1"/>
                        </a:solidFill>
                        <a:effectLst/>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FB1 : FB signal for LED1</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FB2 : FB signal for LED2</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FB3 : FB signal for LED3</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3268881575"/>
              </p:ext>
            </p:extLst>
          </p:nvPr>
        </p:nvGraphicFramePr>
        <p:xfrm>
          <a:off x="404564" y="1109616"/>
          <a:ext cx="6048450" cy="479280"/>
        </p:xfrm>
        <a:graphic>
          <a:graphicData uri="http://schemas.openxmlformats.org/drawingml/2006/table">
            <a:tbl>
              <a:tblPr firstRow="1" bandRow="1">
                <a:tableStyleId>{5C22544A-7EE6-4342-B048-85BDC9FD1C3A}</a:tableStyleId>
              </a:tblPr>
              <a:tblGrid>
                <a:gridCol w="348464">
                  <a:extLst>
                    <a:ext uri="{9D8B030D-6E8A-4147-A177-3AD203B41FA5}">
                      <a16:colId xmlns:a16="http://schemas.microsoft.com/office/drawing/2014/main" val="657570846"/>
                    </a:ext>
                  </a:extLst>
                </a:gridCol>
                <a:gridCol w="383148">
                  <a:extLst>
                    <a:ext uri="{9D8B030D-6E8A-4147-A177-3AD203B41FA5}">
                      <a16:colId xmlns:a16="http://schemas.microsoft.com/office/drawing/2014/main" val="3259894497"/>
                    </a:ext>
                  </a:extLst>
                </a:gridCol>
                <a:gridCol w="450301">
                  <a:extLst>
                    <a:ext uri="{9D8B030D-6E8A-4147-A177-3AD203B41FA5}">
                      <a16:colId xmlns:a16="http://schemas.microsoft.com/office/drawing/2014/main" val="4170535043"/>
                    </a:ext>
                  </a:extLst>
                </a:gridCol>
                <a:gridCol w="409055">
                  <a:extLst>
                    <a:ext uri="{9D8B030D-6E8A-4147-A177-3AD203B41FA5}">
                      <a16:colId xmlns:a16="http://schemas.microsoft.com/office/drawing/2014/main" val="2079070694"/>
                    </a:ext>
                  </a:extLst>
                </a:gridCol>
                <a:gridCol w="401365">
                  <a:extLst>
                    <a:ext uri="{9D8B030D-6E8A-4147-A177-3AD203B41FA5}">
                      <a16:colId xmlns:a16="http://schemas.microsoft.com/office/drawing/2014/main" val="4213315911"/>
                    </a:ext>
                  </a:extLst>
                </a:gridCol>
                <a:gridCol w="401365">
                  <a:extLst>
                    <a:ext uri="{9D8B030D-6E8A-4147-A177-3AD203B41FA5}">
                      <a16:colId xmlns:a16="http://schemas.microsoft.com/office/drawing/2014/main" val="2769999950"/>
                    </a:ext>
                  </a:extLst>
                </a:gridCol>
                <a:gridCol w="401365">
                  <a:extLst>
                    <a:ext uri="{9D8B030D-6E8A-4147-A177-3AD203B41FA5}">
                      <a16:colId xmlns:a16="http://schemas.microsoft.com/office/drawing/2014/main" val="135637185"/>
                    </a:ext>
                  </a:extLst>
                </a:gridCol>
                <a:gridCol w="401365">
                  <a:extLst>
                    <a:ext uri="{9D8B030D-6E8A-4147-A177-3AD203B41FA5}">
                      <a16:colId xmlns:a16="http://schemas.microsoft.com/office/drawing/2014/main" val="3038050475"/>
                    </a:ext>
                  </a:extLst>
                </a:gridCol>
                <a:gridCol w="336008">
                  <a:extLst>
                    <a:ext uri="{9D8B030D-6E8A-4147-A177-3AD203B41FA5}">
                      <a16:colId xmlns:a16="http://schemas.microsoft.com/office/drawing/2014/main" val="1979433044"/>
                    </a:ext>
                  </a:extLst>
                </a:gridCol>
                <a:gridCol w="466722">
                  <a:extLst>
                    <a:ext uri="{9D8B030D-6E8A-4147-A177-3AD203B41FA5}">
                      <a16:colId xmlns:a16="http://schemas.microsoft.com/office/drawing/2014/main" val="4270661649"/>
                    </a:ext>
                  </a:extLst>
                </a:gridCol>
                <a:gridCol w="401365">
                  <a:extLst>
                    <a:ext uri="{9D8B030D-6E8A-4147-A177-3AD203B41FA5}">
                      <a16:colId xmlns:a16="http://schemas.microsoft.com/office/drawing/2014/main" val="3027041370"/>
                    </a:ext>
                  </a:extLst>
                </a:gridCol>
                <a:gridCol w="443832">
                  <a:extLst>
                    <a:ext uri="{9D8B030D-6E8A-4147-A177-3AD203B41FA5}">
                      <a16:colId xmlns:a16="http://schemas.microsoft.com/office/drawing/2014/main" val="2852526216"/>
                    </a:ext>
                  </a:extLst>
                </a:gridCol>
                <a:gridCol w="401365">
                  <a:extLst>
                    <a:ext uri="{9D8B030D-6E8A-4147-A177-3AD203B41FA5}">
                      <a16:colId xmlns:a16="http://schemas.microsoft.com/office/drawing/2014/main" val="103420222"/>
                    </a:ext>
                  </a:extLst>
                </a:gridCol>
                <a:gridCol w="401365">
                  <a:extLst>
                    <a:ext uri="{9D8B030D-6E8A-4147-A177-3AD203B41FA5}">
                      <a16:colId xmlns:a16="http://schemas.microsoft.com/office/drawing/2014/main" val="1470405609"/>
                    </a:ext>
                  </a:extLst>
                </a:gridCol>
                <a:gridCol w="40136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RO</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TIMEOUT_ERR</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PARITY_ERR</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VDD_OV</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VDD_UV</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LDO_OV</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LDO_UV</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THERMAL</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SHORT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OPEN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FB3</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F7A5E6D2-F026-3E2B-9B67-2951B89D805B}"/>
              </a:ext>
            </a:extLst>
          </p:cNvPr>
          <p:cNvSpPr txBox="1"/>
          <p:nvPr/>
        </p:nvSpPr>
        <p:spPr>
          <a:xfrm>
            <a:off x="404564" y="848186"/>
            <a:ext cx="605760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STATUS</a:t>
            </a:r>
          </a:p>
        </p:txBody>
      </p:sp>
    </p:spTree>
    <p:extLst>
      <p:ext uri="{BB962C8B-B14F-4D97-AF65-F5344CB8AC3E}">
        <p14:creationId xmlns:p14="http://schemas.microsoft.com/office/powerpoint/2010/main" val="42943524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직선 연결선 3">
            <a:extLst>
              <a:ext uri="{FF2B5EF4-FFF2-40B4-BE49-F238E27FC236}">
                <a16:creationId xmlns:a16="http://schemas.microsoft.com/office/drawing/2014/main" id="{3A6DCE4C-7415-32B5-2FA7-9C75EA15C82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A1649580-0E57-32B4-E7C8-ECB9FE4E25DB}"/>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cxnSp>
        <p:nvCxnSpPr>
          <p:cNvPr id="6" name="직선 연결선 5">
            <a:extLst>
              <a:ext uri="{FF2B5EF4-FFF2-40B4-BE49-F238E27FC236}">
                <a16:creationId xmlns:a16="http://schemas.microsoft.com/office/drawing/2014/main" id="{1900B248-4831-2E43-4C96-A00100521895}"/>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7" name="표 6">
            <a:extLst>
              <a:ext uri="{FF2B5EF4-FFF2-40B4-BE49-F238E27FC236}">
                <a16:creationId xmlns:a16="http://schemas.microsoft.com/office/drawing/2014/main" id="{0006CE17-3DB9-C5F7-178A-DAC679D99506}"/>
              </a:ext>
            </a:extLst>
          </p:cNvPr>
          <p:cNvGraphicFramePr>
            <a:graphicFrameLocks noGrp="1"/>
          </p:cNvGraphicFramePr>
          <p:nvPr>
            <p:extLst>
              <p:ext uri="{D42A27DB-BD31-4B8C-83A1-F6EECF244321}">
                <p14:modId xmlns:p14="http://schemas.microsoft.com/office/powerpoint/2010/main" val="2271075161"/>
              </p:ext>
            </p:extLst>
          </p:nvPr>
        </p:nvGraphicFramePr>
        <p:xfrm>
          <a:off x="415467" y="3265938"/>
          <a:ext cx="6052400" cy="1327357"/>
        </p:xfrm>
        <a:graphic>
          <a:graphicData uri="http://schemas.openxmlformats.org/drawingml/2006/table">
            <a:tbl>
              <a:tblPr firstRow="1" bandRow="1">
                <a:tableStyleId>{5C22544A-7EE6-4342-B048-85BDC9FD1C3A}</a:tableStyleId>
              </a:tblPr>
              <a:tblGrid>
                <a:gridCol w="373704">
                  <a:extLst>
                    <a:ext uri="{9D8B030D-6E8A-4147-A177-3AD203B41FA5}">
                      <a16:colId xmlns:a16="http://schemas.microsoft.com/office/drawing/2014/main" val="4170535043"/>
                    </a:ext>
                  </a:extLst>
                </a:gridCol>
                <a:gridCol w="1115461">
                  <a:extLst>
                    <a:ext uri="{9D8B030D-6E8A-4147-A177-3AD203B41FA5}">
                      <a16:colId xmlns:a16="http://schemas.microsoft.com/office/drawing/2014/main" val="2079070694"/>
                    </a:ext>
                  </a:extLst>
                </a:gridCol>
                <a:gridCol w="4563235">
                  <a:extLst>
                    <a:ext uri="{9D8B030D-6E8A-4147-A177-3AD203B41FA5}">
                      <a16:colId xmlns:a16="http://schemas.microsoft.com/office/drawing/2014/main" val="32595803"/>
                    </a:ext>
                  </a:extLst>
                </a:gridCol>
              </a:tblGrid>
              <a:tr h="29523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1171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MAX_CURR_VREF1/2/3/4/5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MAX_CURR_VREF1/2/3/4/5 determines the maximum current value of a frame to be dimmed. If the max current level is set to 8mA, then the MAX_CURR_VREF value is proportional to the max current level, and so this value decides the max current reference of all blocks being dimmed for a frame. The setting value will come into effect at the next vsync assertion even if the value is set during current dimming frame earlier than the next </a:t>
                      </a:r>
                      <a:r>
                        <a:rPr lang="en-US" altLang="ko-KR" sz="900" b="0" dirty="0" err="1">
                          <a:solidFill>
                            <a:schemeClr val="tx1"/>
                          </a:solidFill>
                          <a:latin typeface="Arial" panose="020B0604020202020204" pitchFamily="34" charset="0"/>
                          <a:ea typeface="+mn-ea"/>
                          <a:cs typeface="Arial" panose="020B0604020202020204" pitchFamily="34" charset="0"/>
                        </a:rPr>
                        <a:t>vsync</a:t>
                      </a:r>
                      <a:r>
                        <a:rPr lang="en-US" altLang="ko-KR" sz="900" b="0" dirty="0">
                          <a:solidFill>
                            <a:schemeClr val="tx1"/>
                          </a:solidFill>
                          <a:latin typeface="Arial" panose="020B0604020202020204" pitchFamily="34" charset="0"/>
                          <a:ea typeface="+mn-ea"/>
                          <a:cs typeface="Arial" panose="020B0604020202020204" pitchFamily="34" charset="0"/>
                        </a:rPr>
                        <a:t>.</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8" name="표 7">
            <a:extLst>
              <a:ext uri="{FF2B5EF4-FFF2-40B4-BE49-F238E27FC236}">
                <a16:creationId xmlns:a16="http://schemas.microsoft.com/office/drawing/2014/main" id="{7590C2D4-55FB-1EA4-A87C-0FCA05C198F1}"/>
              </a:ext>
            </a:extLst>
          </p:cNvPr>
          <p:cNvGraphicFramePr>
            <a:graphicFrameLocks noGrp="1"/>
          </p:cNvGraphicFramePr>
          <p:nvPr>
            <p:extLst>
              <p:ext uri="{D42A27DB-BD31-4B8C-83A1-F6EECF244321}">
                <p14:modId xmlns:p14="http://schemas.microsoft.com/office/powerpoint/2010/main" val="2250424817"/>
              </p:ext>
            </p:extLst>
          </p:nvPr>
        </p:nvGraphicFramePr>
        <p:xfrm>
          <a:off x="406736" y="1110452"/>
          <a:ext cx="6046700" cy="372600"/>
        </p:xfrm>
        <a:graphic>
          <a:graphicData uri="http://schemas.openxmlformats.org/drawingml/2006/table">
            <a:tbl>
              <a:tblPr firstRow="1" bandRow="1">
                <a:tableStyleId>{5C22544A-7EE6-4342-B048-85BDC9FD1C3A}</a:tableStyleId>
              </a:tblPr>
              <a:tblGrid>
                <a:gridCol w="289172">
                  <a:extLst>
                    <a:ext uri="{9D8B030D-6E8A-4147-A177-3AD203B41FA5}">
                      <a16:colId xmlns:a16="http://schemas.microsoft.com/office/drawing/2014/main" val="657570846"/>
                    </a:ext>
                  </a:extLst>
                </a:gridCol>
                <a:gridCol w="411853">
                  <a:extLst>
                    <a:ext uri="{9D8B030D-6E8A-4147-A177-3AD203B41FA5}">
                      <a16:colId xmlns:a16="http://schemas.microsoft.com/office/drawing/2014/main" val="3259894497"/>
                    </a:ext>
                  </a:extLst>
                </a:gridCol>
                <a:gridCol w="464429">
                  <a:extLst>
                    <a:ext uri="{9D8B030D-6E8A-4147-A177-3AD203B41FA5}">
                      <a16:colId xmlns:a16="http://schemas.microsoft.com/office/drawing/2014/main" val="4170535043"/>
                    </a:ext>
                  </a:extLst>
                </a:gridCol>
                <a:gridCol w="327345">
                  <a:extLst>
                    <a:ext uri="{9D8B030D-6E8A-4147-A177-3AD203B41FA5}">
                      <a16:colId xmlns:a16="http://schemas.microsoft.com/office/drawing/2014/main" val="2079070694"/>
                    </a:ext>
                  </a:extLst>
                </a:gridCol>
                <a:gridCol w="413991">
                  <a:extLst>
                    <a:ext uri="{9D8B030D-6E8A-4147-A177-3AD203B41FA5}">
                      <a16:colId xmlns:a16="http://schemas.microsoft.com/office/drawing/2014/main" val="4213315911"/>
                    </a:ext>
                  </a:extLst>
                </a:gridCol>
                <a:gridCol w="413991">
                  <a:extLst>
                    <a:ext uri="{9D8B030D-6E8A-4147-A177-3AD203B41FA5}">
                      <a16:colId xmlns:a16="http://schemas.microsoft.com/office/drawing/2014/main" val="2769999950"/>
                    </a:ext>
                  </a:extLst>
                </a:gridCol>
                <a:gridCol w="413991">
                  <a:extLst>
                    <a:ext uri="{9D8B030D-6E8A-4147-A177-3AD203B41FA5}">
                      <a16:colId xmlns:a16="http://schemas.microsoft.com/office/drawing/2014/main" val="135637185"/>
                    </a:ext>
                  </a:extLst>
                </a:gridCol>
                <a:gridCol w="413991">
                  <a:extLst>
                    <a:ext uri="{9D8B030D-6E8A-4147-A177-3AD203B41FA5}">
                      <a16:colId xmlns:a16="http://schemas.microsoft.com/office/drawing/2014/main" val="3038050475"/>
                    </a:ext>
                  </a:extLst>
                </a:gridCol>
                <a:gridCol w="413991">
                  <a:extLst>
                    <a:ext uri="{9D8B030D-6E8A-4147-A177-3AD203B41FA5}">
                      <a16:colId xmlns:a16="http://schemas.microsoft.com/office/drawing/2014/main" val="1979433044"/>
                    </a:ext>
                  </a:extLst>
                </a:gridCol>
                <a:gridCol w="413991">
                  <a:extLst>
                    <a:ext uri="{9D8B030D-6E8A-4147-A177-3AD203B41FA5}">
                      <a16:colId xmlns:a16="http://schemas.microsoft.com/office/drawing/2014/main" val="4270661649"/>
                    </a:ext>
                  </a:extLst>
                </a:gridCol>
                <a:gridCol w="413991">
                  <a:extLst>
                    <a:ext uri="{9D8B030D-6E8A-4147-A177-3AD203B41FA5}">
                      <a16:colId xmlns:a16="http://schemas.microsoft.com/office/drawing/2014/main" val="3027041370"/>
                    </a:ext>
                  </a:extLst>
                </a:gridCol>
                <a:gridCol w="413991">
                  <a:extLst>
                    <a:ext uri="{9D8B030D-6E8A-4147-A177-3AD203B41FA5}">
                      <a16:colId xmlns:a16="http://schemas.microsoft.com/office/drawing/2014/main" val="2852526216"/>
                    </a:ext>
                  </a:extLst>
                </a:gridCol>
                <a:gridCol w="413991">
                  <a:extLst>
                    <a:ext uri="{9D8B030D-6E8A-4147-A177-3AD203B41FA5}">
                      <a16:colId xmlns:a16="http://schemas.microsoft.com/office/drawing/2014/main" val="103420222"/>
                    </a:ext>
                  </a:extLst>
                </a:gridCol>
                <a:gridCol w="413991">
                  <a:extLst>
                    <a:ext uri="{9D8B030D-6E8A-4147-A177-3AD203B41FA5}">
                      <a16:colId xmlns:a16="http://schemas.microsoft.com/office/drawing/2014/main" val="1470405609"/>
                    </a:ext>
                  </a:extLst>
                </a:gridCol>
                <a:gridCol w="4139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MAX_CURR_VREF1[11:0]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9" name="TextBox 8">
            <a:extLst>
              <a:ext uri="{FF2B5EF4-FFF2-40B4-BE49-F238E27FC236}">
                <a16:creationId xmlns:a16="http://schemas.microsoft.com/office/drawing/2014/main" id="{D54D9536-75A8-4F0F-61DB-0362C9696824}"/>
              </a:ext>
            </a:extLst>
          </p:cNvPr>
          <p:cNvSpPr txBox="1"/>
          <p:nvPr/>
        </p:nvSpPr>
        <p:spPr>
          <a:xfrm>
            <a:off x="404564" y="848842"/>
            <a:ext cx="603796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MAX CURRENT VREF</a:t>
            </a:r>
          </a:p>
        </p:txBody>
      </p:sp>
      <p:graphicFrame>
        <p:nvGraphicFramePr>
          <p:cNvPr id="10" name="표 9">
            <a:extLst>
              <a:ext uri="{FF2B5EF4-FFF2-40B4-BE49-F238E27FC236}">
                <a16:creationId xmlns:a16="http://schemas.microsoft.com/office/drawing/2014/main" id="{09C1C812-3D06-38A3-E4C8-1D660933B59B}"/>
              </a:ext>
            </a:extLst>
          </p:cNvPr>
          <p:cNvGraphicFramePr>
            <a:graphicFrameLocks noGrp="1"/>
          </p:cNvGraphicFramePr>
          <p:nvPr>
            <p:extLst>
              <p:ext uri="{D42A27DB-BD31-4B8C-83A1-F6EECF244321}">
                <p14:modId xmlns:p14="http://schemas.microsoft.com/office/powerpoint/2010/main" val="2032010158"/>
              </p:ext>
            </p:extLst>
          </p:nvPr>
        </p:nvGraphicFramePr>
        <p:xfrm>
          <a:off x="415467" y="1546171"/>
          <a:ext cx="6046700" cy="372600"/>
        </p:xfrm>
        <a:graphic>
          <a:graphicData uri="http://schemas.openxmlformats.org/drawingml/2006/table">
            <a:tbl>
              <a:tblPr firstRow="1" bandRow="1">
                <a:tableStyleId>{5C22544A-7EE6-4342-B048-85BDC9FD1C3A}</a:tableStyleId>
              </a:tblPr>
              <a:tblGrid>
                <a:gridCol w="289172">
                  <a:extLst>
                    <a:ext uri="{9D8B030D-6E8A-4147-A177-3AD203B41FA5}">
                      <a16:colId xmlns:a16="http://schemas.microsoft.com/office/drawing/2014/main" val="657570846"/>
                    </a:ext>
                  </a:extLst>
                </a:gridCol>
                <a:gridCol w="411853">
                  <a:extLst>
                    <a:ext uri="{9D8B030D-6E8A-4147-A177-3AD203B41FA5}">
                      <a16:colId xmlns:a16="http://schemas.microsoft.com/office/drawing/2014/main" val="3259894497"/>
                    </a:ext>
                  </a:extLst>
                </a:gridCol>
                <a:gridCol w="464429">
                  <a:extLst>
                    <a:ext uri="{9D8B030D-6E8A-4147-A177-3AD203B41FA5}">
                      <a16:colId xmlns:a16="http://schemas.microsoft.com/office/drawing/2014/main" val="4170535043"/>
                    </a:ext>
                  </a:extLst>
                </a:gridCol>
                <a:gridCol w="327345">
                  <a:extLst>
                    <a:ext uri="{9D8B030D-6E8A-4147-A177-3AD203B41FA5}">
                      <a16:colId xmlns:a16="http://schemas.microsoft.com/office/drawing/2014/main" val="2079070694"/>
                    </a:ext>
                  </a:extLst>
                </a:gridCol>
                <a:gridCol w="413991">
                  <a:extLst>
                    <a:ext uri="{9D8B030D-6E8A-4147-A177-3AD203B41FA5}">
                      <a16:colId xmlns:a16="http://schemas.microsoft.com/office/drawing/2014/main" val="4213315911"/>
                    </a:ext>
                  </a:extLst>
                </a:gridCol>
                <a:gridCol w="413991">
                  <a:extLst>
                    <a:ext uri="{9D8B030D-6E8A-4147-A177-3AD203B41FA5}">
                      <a16:colId xmlns:a16="http://schemas.microsoft.com/office/drawing/2014/main" val="2769999950"/>
                    </a:ext>
                  </a:extLst>
                </a:gridCol>
                <a:gridCol w="413991">
                  <a:extLst>
                    <a:ext uri="{9D8B030D-6E8A-4147-A177-3AD203B41FA5}">
                      <a16:colId xmlns:a16="http://schemas.microsoft.com/office/drawing/2014/main" val="135637185"/>
                    </a:ext>
                  </a:extLst>
                </a:gridCol>
                <a:gridCol w="413991">
                  <a:extLst>
                    <a:ext uri="{9D8B030D-6E8A-4147-A177-3AD203B41FA5}">
                      <a16:colId xmlns:a16="http://schemas.microsoft.com/office/drawing/2014/main" val="3038050475"/>
                    </a:ext>
                  </a:extLst>
                </a:gridCol>
                <a:gridCol w="413991">
                  <a:extLst>
                    <a:ext uri="{9D8B030D-6E8A-4147-A177-3AD203B41FA5}">
                      <a16:colId xmlns:a16="http://schemas.microsoft.com/office/drawing/2014/main" val="1979433044"/>
                    </a:ext>
                  </a:extLst>
                </a:gridCol>
                <a:gridCol w="413991">
                  <a:extLst>
                    <a:ext uri="{9D8B030D-6E8A-4147-A177-3AD203B41FA5}">
                      <a16:colId xmlns:a16="http://schemas.microsoft.com/office/drawing/2014/main" val="4270661649"/>
                    </a:ext>
                  </a:extLst>
                </a:gridCol>
                <a:gridCol w="413991">
                  <a:extLst>
                    <a:ext uri="{9D8B030D-6E8A-4147-A177-3AD203B41FA5}">
                      <a16:colId xmlns:a16="http://schemas.microsoft.com/office/drawing/2014/main" val="3027041370"/>
                    </a:ext>
                  </a:extLst>
                </a:gridCol>
                <a:gridCol w="413991">
                  <a:extLst>
                    <a:ext uri="{9D8B030D-6E8A-4147-A177-3AD203B41FA5}">
                      <a16:colId xmlns:a16="http://schemas.microsoft.com/office/drawing/2014/main" val="2852526216"/>
                    </a:ext>
                  </a:extLst>
                </a:gridCol>
                <a:gridCol w="413991">
                  <a:extLst>
                    <a:ext uri="{9D8B030D-6E8A-4147-A177-3AD203B41FA5}">
                      <a16:colId xmlns:a16="http://schemas.microsoft.com/office/drawing/2014/main" val="103420222"/>
                    </a:ext>
                  </a:extLst>
                </a:gridCol>
                <a:gridCol w="413991">
                  <a:extLst>
                    <a:ext uri="{9D8B030D-6E8A-4147-A177-3AD203B41FA5}">
                      <a16:colId xmlns:a16="http://schemas.microsoft.com/office/drawing/2014/main" val="1470405609"/>
                    </a:ext>
                  </a:extLst>
                </a:gridCol>
                <a:gridCol w="4139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MAX_CURR_VREF2[11:0]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1" name="표 10">
            <a:extLst>
              <a:ext uri="{FF2B5EF4-FFF2-40B4-BE49-F238E27FC236}">
                <a16:creationId xmlns:a16="http://schemas.microsoft.com/office/drawing/2014/main" id="{FF57BF8E-A4BE-5AED-37A8-4B106A46B830}"/>
              </a:ext>
            </a:extLst>
          </p:cNvPr>
          <p:cNvGraphicFramePr>
            <a:graphicFrameLocks noGrp="1"/>
          </p:cNvGraphicFramePr>
          <p:nvPr>
            <p:extLst>
              <p:ext uri="{D42A27DB-BD31-4B8C-83A1-F6EECF244321}">
                <p14:modId xmlns:p14="http://schemas.microsoft.com/office/powerpoint/2010/main" val="2841269008"/>
              </p:ext>
            </p:extLst>
          </p:nvPr>
        </p:nvGraphicFramePr>
        <p:xfrm>
          <a:off x="415467" y="1999567"/>
          <a:ext cx="6046700" cy="372600"/>
        </p:xfrm>
        <a:graphic>
          <a:graphicData uri="http://schemas.openxmlformats.org/drawingml/2006/table">
            <a:tbl>
              <a:tblPr firstRow="1" bandRow="1">
                <a:tableStyleId>{5C22544A-7EE6-4342-B048-85BDC9FD1C3A}</a:tableStyleId>
              </a:tblPr>
              <a:tblGrid>
                <a:gridCol w="289172">
                  <a:extLst>
                    <a:ext uri="{9D8B030D-6E8A-4147-A177-3AD203B41FA5}">
                      <a16:colId xmlns:a16="http://schemas.microsoft.com/office/drawing/2014/main" val="657570846"/>
                    </a:ext>
                  </a:extLst>
                </a:gridCol>
                <a:gridCol w="411853">
                  <a:extLst>
                    <a:ext uri="{9D8B030D-6E8A-4147-A177-3AD203B41FA5}">
                      <a16:colId xmlns:a16="http://schemas.microsoft.com/office/drawing/2014/main" val="3259894497"/>
                    </a:ext>
                  </a:extLst>
                </a:gridCol>
                <a:gridCol w="464429">
                  <a:extLst>
                    <a:ext uri="{9D8B030D-6E8A-4147-A177-3AD203B41FA5}">
                      <a16:colId xmlns:a16="http://schemas.microsoft.com/office/drawing/2014/main" val="4170535043"/>
                    </a:ext>
                  </a:extLst>
                </a:gridCol>
                <a:gridCol w="327345">
                  <a:extLst>
                    <a:ext uri="{9D8B030D-6E8A-4147-A177-3AD203B41FA5}">
                      <a16:colId xmlns:a16="http://schemas.microsoft.com/office/drawing/2014/main" val="2079070694"/>
                    </a:ext>
                  </a:extLst>
                </a:gridCol>
                <a:gridCol w="413991">
                  <a:extLst>
                    <a:ext uri="{9D8B030D-6E8A-4147-A177-3AD203B41FA5}">
                      <a16:colId xmlns:a16="http://schemas.microsoft.com/office/drawing/2014/main" val="4213315911"/>
                    </a:ext>
                  </a:extLst>
                </a:gridCol>
                <a:gridCol w="413991">
                  <a:extLst>
                    <a:ext uri="{9D8B030D-6E8A-4147-A177-3AD203B41FA5}">
                      <a16:colId xmlns:a16="http://schemas.microsoft.com/office/drawing/2014/main" val="2769999950"/>
                    </a:ext>
                  </a:extLst>
                </a:gridCol>
                <a:gridCol w="413991">
                  <a:extLst>
                    <a:ext uri="{9D8B030D-6E8A-4147-A177-3AD203B41FA5}">
                      <a16:colId xmlns:a16="http://schemas.microsoft.com/office/drawing/2014/main" val="135637185"/>
                    </a:ext>
                  </a:extLst>
                </a:gridCol>
                <a:gridCol w="413991">
                  <a:extLst>
                    <a:ext uri="{9D8B030D-6E8A-4147-A177-3AD203B41FA5}">
                      <a16:colId xmlns:a16="http://schemas.microsoft.com/office/drawing/2014/main" val="3038050475"/>
                    </a:ext>
                  </a:extLst>
                </a:gridCol>
                <a:gridCol w="413991">
                  <a:extLst>
                    <a:ext uri="{9D8B030D-6E8A-4147-A177-3AD203B41FA5}">
                      <a16:colId xmlns:a16="http://schemas.microsoft.com/office/drawing/2014/main" val="1979433044"/>
                    </a:ext>
                  </a:extLst>
                </a:gridCol>
                <a:gridCol w="413991">
                  <a:extLst>
                    <a:ext uri="{9D8B030D-6E8A-4147-A177-3AD203B41FA5}">
                      <a16:colId xmlns:a16="http://schemas.microsoft.com/office/drawing/2014/main" val="4270661649"/>
                    </a:ext>
                  </a:extLst>
                </a:gridCol>
                <a:gridCol w="413991">
                  <a:extLst>
                    <a:ext uri="{9D8B030D-6E8A-4147-A177-3AD203B41FA5}">
                      <a16:colId xmlns:a16="http://schemas.microsoft.com/office/drawing/2014/main" val="3027041370"/>
                    </a:ext>
                  </a:extLst>
                </a:gridCol>
                <a:gridCol w="413991">
                  <a:extLst>
                    <a:ext uri="{9D8B030D-6E8A-4147-A177-3AD203B41FA5}">
                      <a16:colId xmlns:a16="http://schemas.microsoft.com/office/drawing/2014/main" val="2852526216"/>
                    </a:ext>
                  </a:extLst>
                </a:gridCol>
                <a:gridCol w="413991">
                  <a:extLst>
                    <a:ext uri="{9D8B030D-6E8A-4147-A177-3AD203B41FA5}">
                      <a16:colId xmlns:a16="http://schemas.microsoft.com/office/drawing/2014/main" val="103420222"/>
                    </a:ext>
                  </a:extLst>
                </a:gridCol>
                <a:gridCol w="413991">
                  <a:extLst>
                    <a:ext uri="{9D8B030D-6E8A-4147-A177-3AD203B41FA5}">
                      <a16:colId xmlns:a16="http://schemas.microsoft.com/office/drawing/2014/main" val="1470405609"/>
                    </a:ext>
                  </a:extLst>
                </a:gridCol>
                <a:gridCol w="4139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MAX_CURR_VREF3[11:0]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2" name="표 11">
            <a:extLst>
              <a:ext uri="{FF2B5EF4-FFF2-40B4-BE49-F238E27FC236}">
                <a16:creationId xmlns:a16="http://schemas.microsoft.com/office/drawing/2014/main" id="{F2DBC359-4510-DD51-8101-DD3306B8820A}"/>
              </a:ext>
            </a:extLst>
          </p:cNvPr>
          <p:cNvGraphicFramePr>
            <a:graphicFrameLocks noGrp="1"/>
          </p:cNvGraphicFramePr>
          <p:nvPr>
            <p:extLst>
              <p:ext uri="{D42A27DB-BD31-4B8C-83A1-F6EECF244321}">
                <p14:modId xmlns:p14="http://schemas.microsoft.com/office/powerpoint/2010/main" val="3239313516"/>
              </p:ext>
            </p:extLst>
          </p:nvPr>
        </p:nvGraphicFramePr>
        <p:xfrm>
          <a:off x="415467" y="2452963"/>
          <a:ext cx="6046700" cy="372600"/>
        </p:xfrm>
        <a:graphic>
          <a:graphicData uri="http://schemas.openxmlformats.org/drawingml/2006/table">
            <a:tbl>
              <a:tblPr firstRow="1" bandRow="1">
                <a:tableStyleId>{5C22544A-7EE6-4342-B048-85BDC9FD1C3A}</a:tableStyleId>
              </a:tblPr>
              <a:tblGrid>
                <a:gridCol w="289172">
                  <a:extLst>
                    <a:ext uri="{9D8B030D-6E8A-4147-A177-3AD203B41FA5}">
                      <a16:colId xmlns:a16="http://schemas.microsoft.com/office/drawing/2014/main" val="657570846"/>
                    </a:ext>
                  </a:extLst>
                </a:gridCol>
                <a:gridCol w="411853">
                  <a:extLst>
                    <a:ext uri="{9D8B030D-6E8A-4147-A177-3AD203B41FA5}">
                      <a16:colId xmlns:a16="http://schemas.microsoft.com/office/drawing/2014/main" val="3259894497"/>
                    </a:ext>
                  </a:extLst>
                </a:gridCol>
                <a:gridCol w="464429">
                  <a:extLst>
                    <a:ext uri="{9D8B030D-6E8A-4147-A177-3AD203B41FA5}">
                      <a16:colId xmlns:a16="http://schemas.microsoft.com/office/drawing/2014/main" val="4170535043"/>
                    </a:ext>
                  </a:extLst>
                </a:gridCol>
                <a:gridCol w="327345">
                  <a:extLst>
                    <a:ext uri="{9D8B030D-6E8A-4147-A177-3AD203B41FA5}">
                      <a16:colId xmlns:a16="http://schemas.microsoft.com/office/drawing/2014/main" val="2079070694"/>
                    </a:ext>
                  </a:extLst>
                </a:gridCol>
                <a:gridCol w="413991">
                  <a:extLst>
                    <a:ext uri="{9D8B030D-6E8A-4147-A177-3AD203B41FA5}">
                      <a16:colId xmlns:a16="http://schemas.microsoft.com/office/drawing/2014/main" val="4213315911"/>
                    </a:ext>
                  </a:extLst>
                </a:gridCol>
                <a:gridCol w="413991">
                  <a:extLst>
                    <a:ext uri="{9D8B030D-6E8A-4147-A177-3AD203B41FA5}">
                      <a16:colId xmlns:a16="http://schemas.microsoft.com/office/drawing/2014/main" val="2769999950"/>
                    </a:ext>
                  </a:extLst>
                </a:gridCol>
                <a:gridCol w="413991">
                  <a:extLst>
                    <a:ext uri="{9D8B030D-6E8A-4147-A177-3AD203B41FA5}">
                      <a16:colId xmlns:a16="http://schemas.microsoft.com/office/drawing/2014/main" val="135637185"/>
                    </a:ext>
                  </a:extLst>
                </a:gridCol>
                <a:gridCol w="413991">
                  <a:extLst>
                    <a:ext uri="{9D8B030D-6E8A-4147-A177-3AD203B41FA5}">
                      <a16:colId xmlns:a16="http://schemas.microsoft.com/office/drawing/2014/main" val="3038050475"/>
                    </a:ext>
                  </a:extLst>
                </a:gridCol>
                <a:gridCol w="413991">
                  <a:extLst>
                    <a:ext uri="{9D8B030D-6E8A-4147-A177-3AD203B41FA5}">
                      <a16:colId xmlns:a16="http://schemas.microsoft.com/office/drawing/2014/main" val="1979433044"/>
                    </a:ext>
                  </a:extLst>
                </a:gridCol>
                <a:gridCol w="413991">
                  <a:extLst>
                    <a:ext uri="{9D8B030D-6E8A-4147-A177-3AD203B41FA5}">
                      <a16:colId xmlns:a16="http://schemas.microsoft.com/office/drawing/2014/main" val="4270661649"/>
                    </a:ext>
                  </a:extLst>
                </a:gridCol>
                <a:gridCol w="413991">
                  <a:extLst>
                    <a:ext uri="{9D8B030D-6E8A-4147-A177-3AD203B41FA5}">
                      <a16:colId xmlns:a16="http://schemas.microsoft.com/office/drawing/2014/main" val="3027041370"/>
                    </a:ext>
                  </a:extLst>
                </a:gridCol>
                <a:gridCol w="413991">
                  <a:extLst>
                    <a:ext uri="{9D8B030D-6E8A-4147-A177-3AD203B41FA5}">
                      <a16:colId xmlns:a16="http://schemas.microsoft.com/office/drawing/2014/main" val="2852526216"/>
                    </a:ext>
                  </a:extLst>
                </a:gridCol>
                <a:gridCol w="413991">
                  <a:extLst>
                    <a:ext uri="{9D8B030D-6E8A-4147-A177-3AD203B41FA5}">
                      <a16:colId xmlns:a16="http://schemas.microsoft.com/office/drawing/2014/main" val="103420222"/>
                    </a:ext>
                  </a:extLst>
                </a:gridCol>
                <a:gridCol w="413991">
                  <a:extLst>
                    <a:ext uri="{9D8B030D-6E8A-4147-A177-3AD203B41FA5}">
                      <a16:colId xmlns:a16="http://schemas.microsoft.com/office/drawing/2014/main" val="1470405609"/>
                    </a:ext>
                  </a:extLst>
                </a:gridCol>
                <a:gridCol w="4139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MAX_CURR_VREF4[11:0]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3" name="표 12">
            <a:extLst>
              <a:ext uri="{FF2B5EF4-FFF2-40B4-BE49-F238E27FC236}">
                <a16:creationId xmlns:a16="http://schemas.microsoft.com/office/drawing/2014/main" id="{5D7B3D0E-7548-96A9-4DF9-9064433015FF}"/>
              </a:ext>
            </a:extLst>
          </p:cNvPr>
          <p:cNvGraphicFramePr>
            <a:graphicFrameLocks noGrp="1"/>
          </p:cNvGraphicFramePr>
          <p:nvPr>
            <p:extLst>
              <p:ext uri="{D42A27DB-BD31-4B8C-83A1-F6EECF244321}">
                <p14:modId xmlns:p14="http://schemas.microsoft.com/office/powerpoint/2010/main" val="374509521"/>
              </p:ext>
            </p:extLst>
          </p:nvPr>
        </p:nvGraphicFramePr>
        <p:xfrm>
          <a:off x="415467" y="2906359"/>
          <a:ext cx="6046700" cy="372600"/>
        </p:xfrm>
        <a:graphic>
          <a:graphicData uri="http://schemas.openxmlformats.org/drawingml/2006/table">
            <a:tbl>
              <a:tblPr firstRow="1" bandRow="1">
                <a:tableStyleId>{5C22544A-7EE6-4342-B048-85BDC9FD1C3A}</a:tableStyleId>
              </a:tblPr>
              <a:tblGrid>
                <a:gridCol w="289172">
                  <a:extLst>
                    <a:ext uri="{9D8B030D-6E8A-4147-A177-3AD203B41FA5}">
                      <a16:colId xmlns:a16="http://schemas.microsoft.com/office/drawing/2014/main" val="657570846"/>
                    </a:ext>
                  </a:extLst>
                </a:gridCol>
                <a:gridCol w="411853">
                  <a:extLst>
                    <a:ext uri="{9D8B030D-6E8A-4147-A177-3AD203B41FA5}">
                      <a16:colId xmlns:a16="http://schemas.microsoft.com/office/drawing/2014/main" val="3259894497"/>
                    </a:ext>
                  </a:extLst>
                </a:gridCol>
                <a:gridCol w="464429">
                  <a:extLst>
                    <a:ext uri="{9D8B030D-6E8A-4147-A177-3AD203B41FA5}">
                      <a16:colId xmlns:a16="http://schemas.microsoft.com/office/drawing/2014/main" val="4170535043"/>
                    </a:ext>
                  </a:extLst>
                </a:gridCol>
                <a:gridCol w="327345">
                  <a:extLst>
                    <a:ext uri="{9D8B030D-6E8A-4147-A177-3AD203B41FA5}">
                      <a16:colId xmlns:a16="http://schemas.microsoft.com/office/drawing/2014/main" val="2079070694"/>
                    </a:ext>
                  </a:extLst>
                </a:gridCol>
                <a:gridCol w="413991">
                  <a:extLst>
                    <a:ext uri="{9D8B030D-6E8A-4147-A177-3AD203B41FA5}">
                      <a16:colId xmlns:a16="http://schemas.microsoft.com/office/drawing/2014/main" val="4213315911"/>
                    </a:ext>
                  </a:extLst>
                </a:gridCol>
                <a:gridCol w="413991">
                  <a:extLst>
                    <a:ext uri="{9D8B030D-6E8A-4147-A177-3AD203B41FA5}">
                      <a16:colId xmlns:a16="http://schemas.microsoft.com/office/drawing/2014/main" val="2769999950"/>
                    </a:ext>
                  </a:extLst>
                </a:gridCol>
                <a:gridCol w="413991">
                  <a:extLst>
                    <a:ext uri="{9D8B030D-6E8A-4147-A177-3AD203B41FA5}">
                      <a16:colId xmlns:a16="http://schemas.microsoft.com/office/drawing/2014/main" val="135637185"/>
                    </a:ext>
                  </a:extLst>
                </a:gridCol>
                <a:gridCol w="413991">
                  <a:extLst>
                    <a:ext uri="{9D8B030D-6E8A-4147-A177-3AD203B41FA5}">
                      <a16:colId xmlns:a16="http://schemas.microsoft.com/office/drawing/2014/main" val="3038050475"/>
                    </a:ext>
                  </a:extLst>
                </a:gridCol>
                <a:gridCol w="413991">
                  <a:extLst>
                    <a:ext uri="{9D8B030D-6E8A-4147-A177-3AD203B41FA5}">
                      <a16:colId xmlns:a16="http://schemas.microsoft.com/office/drawing/2014/main" val="1979433044"/>
                    </a:ext>
                  </a:extLst>
                </a:gridCol>
                <a:gridCol w="413991">
                  <a:extLst>
                    <a:ext uri="{9D8B030D-6E8A-4147-A177-3AD203B41FA5}">
                      <a16:colId xmlns:a16="http://schemas.microsoft.com/office/drawing/2014/main" val="4270661649"/>
                    </a:ext>
                  </a:extLst>
                </a:gridCol>
                <a:gridCol w="413991">
                  <a:extLst>
                    <a:ext uri="{9D8B030D-6E8A-4147-A177-3AD203B41FA5}">
                      <a16:colId xmlns:a16="http://schemas.microsoft.com/office/drawing/2014/main" val="3027041370"/>
                    </a:ext>
                  </a:extLst>
                </a:gridCol>
                <a:gridCol w="413991">
                  <a:extLst>
                    <a:ext uri="{9D8B030D-6E8A-4147-A177-3AD203B41FA5}">
                      <a16:colId xmlns:a16="http://schemas.microsoft.com/office/drawing/2014/main" val="2852526216"/>
                    </a:ext>
                  </a:extLst>
                </a:gridCol>
                <a:gridCol w="413991">
                  <a:extLst>
                    <a:ext uri="{9D8B030D-6E8A-4147-A177-3AD203B41FA5}">
                      <a16:colId xmlns:a16="http://schemas.microsoft.com/office/drawing/2014/main" val="103420222"/>
                    </a:ext>
                  </a:extLst>
                </a:gridCol>
                <a:gridCol w="413991">
                  <a:extLst>
                    <a:ext uri="{9D8B030D-6E8A-4147-A177-3AD203B41FA5}">
                      <a16:colId xmlns:a16="http://schemas.microsoft.com/office/drawing/2014/main" val="1470405609"/>
                    </a:ext>
                  </a:extLst>
                </a:gridCol>
                <a:gridCol w="4139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MAX_CURR_VREF5[11:0]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4" name="TextBox 13">
            <a:extLst>
              <a:ext uri="{FF2B5EF4-FFF2-40B4-BE49-F238E27FC236}">
                <a16:creationId xmlns:a16="http://schemas.microsoft.com/office/drawing/2014/main" id="{E5CC0E09-BF5D-A77F-CCFD-8B769436AA90}"/>
              </a:ext>
            </a:extLst>
          </p:cNvPr>
          <p:cNvSpPr txBox="1"/>
          <p:nvPr/>
        </p:nvSpPr>
        <p:spPr>
          <a:xfrm>
            <a:off x="404813" y="4907280"/>
            <a:ext cx="600918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a:t>
            </a:r>
          </a:p>
        </p:txBody>
      </p:sp>
      <p:graphicFrame>
        <p:nvGraphicFramePr>
          <p:cNvPr id="15" name="표 14">
            <a:extLst>
              <a:ext uri="{FF2B5EF4-FFF2-40B4-BE49-F238E27FC236}">
                <a16:creationId xmlns:a16="http://schemas.microsoft.com/office/drawing/2014/main" id="{13D113B7-FC19-FF6C-63AA-C3C85D360F0B}"/>
              </a:ext>
            </a:extLst>
          </p:cNvPr>
          <p:cNvGraphicFramePr>
            <a:graphicFrameLocks noGrp="1"/>
          </p:cNvGraphicFramePr>
          <p:nvPr>
            <p:extLst>
              <p:ext uri="{D42A27DB-BD31-4B8C-83A1-F6EECF244321}">
                <p14:modId xmlns:p14="http://schemas.microsoft.com/office/powerpoint/2010/main" val="156357113"/>
              </p:ext>
            </p:extLst>
          </p:nvPr>
        </p:nvGraphicFramePr>
        <p:xfrm>
          <a:off x="423594" y="5166666"/>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DELAY_CH2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16" name="표 15">
            <a:extLst>
              <a:ext uri="{FF2B5EF4-FFF2-40B4-BE49-F238E27FC236}">
                <a16:creationId xmlns:a16="http://schemas.microsoft.com/office/drawing/2014/main" id="{CAF164D7-C8A2-5CDE-4A90-74A72E0C1955}"/>
              </a:ext>
            </a:extLst>
          </p:cNvPr>
          <p:cNvGraphicFramePr>
            <a:graphicFrameLocks noGrp="1"/>
          </p:cNvGraphicFramePr>
          <p:nvPr>
            <p:extLst>
              <p:ext uri="{D42A27DB-BD31-4B8C-83A1-F6EECF244321}">
                <p14:modId xmlns:p14="http://schemas.microsoft.com/office/powerpoint/2010/main" val="2532684545"/>
              </p:ext>
            </p:extLst>
          </p:nvPr>
        </p:nvGraphicFramePr>
        <p:xfrm>
          <a:off x="423594" y="5664053"/>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DELAY_CH3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DELAY_CH4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17" name="표 16">
            <a:extLst>
              <a:ext uri="{FF2B5EF4-FFF2-40B4-BE49-F238E27FC236}">
                <a16:creationId xmlns:a16="http://schemas.microsoft.com/office/drawing/2014/main" id="{B031C8BD-2172-8BCF-A231-C7E3A6AF1C7B}"/>
              </a:ext>
            </a:extLst>
          </p:cNvPr>
          <p:cNvGraphicFramePr>
            <a:graphicFrameLocks noGrp="1"/>
          </p:cNvGraphicFramePr>
          <p:nvPr>
            <p:extLst>
              <p:ext uri="{D42A27DB-BD31-4B8C-83A1-F6EECF244321}">
                <p14:modId xmlns:p14="http://schemas.microsoft.com/office/powerpoint/2010/main" val="2171423969"/>
              </p:ext>
            </p:extLst>
          </p:nvPr>
        </p:nvGraphicFramePr>
        <p:xfrm>
          <a:off x="423594" y="6178437"/>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DELAY_CH5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DELAY_CH6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18" name="표 17">
            <a:extLst>
              <a:ext uri="{FF2B5EF4-FFF2-40B4-BE49-F238E27FC236}">
                <a16:creationId xmlns:a16="http://schemas.microsoft.com/office/drawing/2014/main" id="{B605CF2C-FDA2-5C35-73F6-FE6D251AE936}"/>
              </a:ext>
            </a:extLst>
          </p:cNvPr>
          <p:cNvGraphicFramePr>
            <a:graphicFrameLocks noGrp="1"/>
          </p:cNvGraphicFramePr>
          <p:nvPr>
            <p:extLst>
              <p:ext uri="{D42A27DB-BD31-4B8C-83A1-F6EECF244321}">
                <p14:modId xmlns:p14="http://schemas.microsoft.com/office/powerpoint/2010/main" val="1702891244"/>
              </p:ext>
            </p:extLst>
          </p:nvPr>
        </p:nvGraphicFramePr>
        <p:xfrm>
          <a:off x="423594" y="6692821"/>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DELAY_CH7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DELAY_CH8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19" name="표 18">
            <a:extLst>
              <a:ext uri="{FF2B5EF4-FFF2-40B4-BE49-F238E27FC236}">
                <a16:creationId xmlns:a16="http://schemas.microsoft.com/office/drawing/2014/main" id="{61563497-C797-C868-CC71-166BBE9DD427}"/>
              </a:ext>
            </a:extLst>
          </p:cNvPr>
          <p:cNvGraphicFramePr>
            <a:graphicFrameLocks noGrp="1"/>
          </p:cNvGraphicFramePr>
          <p:nvPr>
            <p:extLst>
              <p:ext uri="{D42A27DB-BD31-4B8C-83A1-F6EECF244321}">
                <p14:modId xmlns:p14="http://schemas.microsoft.com/office/powerpoint/2010/main" val="2524729117"/>
              </p:ext>
            </p:extLst>
          </p:nvPr>
        </p:nvGraphicFramePr>
        <p:xfrm>
          <a:off x="423594" y="7190208"/>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DELAY_CH9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DELAY_CH10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20" name="표 19">
            <a:extLst>
              <a:ext uri="{FF2B5EF4-FFF2-40B4-BE49-F238E27FC236}">
                <a16:creationId xmlns:a16="http://schemas.microsoft.com/office/drawing/2014/main" id="{82341981-4229-AB83-1E6C-E42B312572A7}"/>
              </a:ext>
            </a:extLst>
          </p:cNvPr>
          <p:cNvGraphicFramePr>
            <a:graphicFrameLocks noGrp="1"/>
          </p:cNvGraphicFramePr>
          <p:nvPr>
            <p:extLst>
              <p:ext uri="{D42A27DB-BD31-4B8C-83A1-F6EECF244321}">
                <p14:modId xmlns:p14="http://schemas.microsoft.com/office/powerpoint/2010/main" val="3712258186"/>
              </p:ext>
            </p:extLst>
          </p:nvPr>
        </p:nvGraphicFramePr>
        <p:xfrm>
          <a:off x="423594" y="7704592"/>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DELAY_CH11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DELAY_CH12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21" name="표 20">
            <a:extLst>
              <a:ext uri="{FF2B5EF4-FFF2-40B4-BE49-F238E27FC236}">
                <a16:creationId xmlns:a16="http://schemas.microsoft.com/office/drawing/2014/main" id="{42017B6D-B055-9618-6E26-A074499DF421}"/>
              </a:ext>
            </a:extLst>
          </p:cNvPr>
          <p:cNvGraphicFramePr>
            <a:graphicFrameLocks noGrp="1"/>
          </p:cNvGraphicFramePr>
          <p:nvPr>
            <p:extLst>
              <p:ext uri="{D42A27DB-BD31-4B8C-83A1-F6EECF244321}">
                <p14:modId xmlns:p14="http://schemas.microsoft.com/office/powerpoint/2010/main" val="1596008694"/>
              </p:ext>
            </p:extLst>
          </p:nvPr>
        </p:nvGraphicFramePr>
        <p:xfrm>
          <a:off x="404813" y="8218976"/>
          <a:ext cx="5964635" cy="785189"/>
        </p:xfrm>
        <a:graphic>
          <a:graphicData uri="http://schemas.openxmlformats.org/drawingml/2006/table">
            <a:tbl>
              <a:tblPr firstRow="1" bandRow="1">
                <a:tableStyleId>{5C22544A-7EE6-4342-B048-85BDC9FD1C3A}</a:tableStyleId>
              </a:tblPr>
              <a:tblGrid>
                <a:gridCol w="434007">
                  <a:extLst>
                    <a:ext uri="{9D8B030D-6E8A-4147-A177-3AD203B41FA5}">
                      <a16:colId xmlns:a16="http://schemas.microsoft.com/office/drawing/2014/main" val="4170535043"/>
                    </a:ext>
                  </a:extLst>
                </a:gridCol>
                <a:gridCol w="1112908">
                  <a:extLst>
                    <a:ext uri="{9D8B030D-6E8A-4147-A177-3AD203B41FA5}">
                      <a16:colId xmlns:a16="http://schemas.microsoft.com/office/drawing/2014/main" val="2079070694"/>
                    </a:ext>
                  </a:extLst>
                </a:gridCol>
                <a:gridCol w="4417720">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800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err="1">
                          <a:solidFill>
                            <a:schemeClr val="tx1"/>
                          </a:solidFill>
                          <a:latin typeface="Arial" panose="020B0604020202020204" pitchFamily="34" charset="0"/>
                          <a:ea typeface="+mn-ea"/>
                          <a:cs typeface="Arial" panose="020B0604020202020204" pitchFamily="34" charset="0"/>
                        </a:rPr>
                        <a:t>DELAY_CHx</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DELAY_CHx determines from which PWM position the dimming out starts. If this is set to n, then the dimming out starts at (n+1)</a:t>
                      </a:r>
                      <a:r>
                        <a:rPr lang="en-US" altLang="ko-KR" sz="900" b="0" baseline="30000" dirty="0">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PWM position. Normally, the setting value can not exceed the max PWM resolution.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10414849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표 3">
            <a:extLst>
              <a:ext uri="{FF2B5EF4-FFF2-40B4-BE49-F238E27FC236}">
                <a16:creationId xmlns:a16="http://schemas.microsoft.com/office/drawing/2014/main" id="{D3CB8E13-BD92-4CE4-DB78-18803788DC04}"/>
              </a:ext>
            </a:extLst>
          </p:cNvPr>
          <p:cNvGraphicFramePr>
            <a:graphicFrameLocks noGrp="1"/>
          </p:cNvGraphicFramePr>
          <p:nvPr>
            <p:extLst>
              <p:ext uri="{D42A27DB-BD31-4B8C-83A1-F6EECF244321}">
                <p14:modId xmlns:p14="http://schemas.microsoft.com/office/powerpoint/2010/main" val="3689115765"/>
              </p:ext>
            </p:extLst>
          </p:nvPr>
        </p:nvGraphicFramePr>
        <p:xfrm>
          <a:off x="393278" y="2641964"/>
          <a:ext cx="6046597" cy="1493189"/>
        </p:xfrm>
        <a:graphic>
          <a:graphicData uri="http://schemas.openxmlformats.org/drawingml/2006/table">
            <a:tbl>
              <a:tblPr firstRow="1" bandRow="1">
                <a:tableStyleId>{5C22544A-7EE6-4342-B048-85BDC9FD1C3A}</a:tableStyleId>
              </a:tblPr>
              <a:tblGrid>
                <a:gridCol w="304092">
                  <a:extLst>
                    <a:ext uri="{9D8B030D-6E8A-4147-A177-3AD203B41FA5}">
                      <a16:colId xmlns:a16="http://schemas.microsoft.com/office/drawing/2014/main" val="4170535043"/>
                    </a:ext>
                  </a:extLst>
                </a:gridCol>
                <a:gridCol w="1243023">
                  <a:extLst>
                    <a:ext uri="{9D8B030D-6E8A-4147-A177-3AD203B41FA5}">
                      <a16:colId xmlns:a16="http://schemas.microsoft.com/office/drawing/2014/main" val="2079070694"/>
                    </a:ext>
                  </a:extLst>
                </a:gridCol>
                <a:gridCol w="4499482">
                  <a:extLst>
                    <a:ext uri="{9D8B030D-6E8A-4147-A177-3AD203B41FA5}">
                      <a16:colId xmlns:a16="http://schemas.microsoft.com/office/drawing/2014/main" val="32595803"/>
                    </a:ext>
                  </a:extLst>
                </a:gridCol>
              </a:tblGrid>
              <a:tr h="29796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965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8:0</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FB1/2/3/4/5_LEVEL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1000" b="0" dirty="0">
                          <a:solidFill>
                            <a:schemeClr val="tx1"/>
                          </a:solidFill>
                          <a:latin typeface="Arial" panose="020B0604020202020204" pitchFamily="34" charset="0"/>
                          <a:ea typeface="+mn-ea"/>
                          <a:cs typeface="Arial" panose="020B0604020202020204" pitchFamily="34" charset="0"/>
                        </a:rPr>
                        <a:t>The FB_LEVEL determines the level at which a FB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3b’000 : &lt;  0.45V         3b’001 : &lt;  0.55V        3b’010 : &lt;  0.65V        3b’011 : &lt; 0.75V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3’b100 : &lt;  0.90V         3’b101 : &lt;  1.05V        3’b110 : &lt;  1.20V        3b’111 : &lt; 1.35V</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3560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SHORT1/2/3/4/5</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1000" b="0" dirty="0">
                          <a:solidFill>
                            <a:schemeClr val="tx1"/>
                          </a:solidFill>
                          <a:latin typeface="Arial" panose="020B0604020202020204" pitchFamily="34" charset="0"/>
                          <a:ea typeface="+mn-ea"/>
                          <a:cs typeface="Arial" panose="020B0604020202020204" pitchFamily="34" charset="0"/>
                        </a:rPr>
                        <a:t>The SHORT_LEVEL determines the level at which a SHORT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3b’000 :  &gt;  3.5V           3b’001 : &gt;  6.5V          3b’010 : &gt;  9.5V          3b’011 : &gt; 12.5V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3b’100/101/110/111 : &gt; 16.5V</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7971460"/>
                  </a:ext>
                </a:extLst>
              </a:tr>
            </a:tbl>
          </a:graphicData>
        </a:graphic>
      </p:graphicFrame>
      <p:graphicFrame>
        <p:nvGraphicFramePr>
          <p:cNvPr id="5" name="표 4">
            <a:extLst>
              <a:ext uri="{FF2B5EF4-FFF2-40B4-BE49-F238E27FC236}">
                <a16:creationId xmlns:a16="http://schemas.microsoft.com/office/drawing/2014/main" id="{45708631-8E6C-7BEB-F02D-1EF4BC5ECA70}"/>
              </a:ext>
            </a:extLst>
          </p:cNvPr>
          <p:cNvGraphicFramePr>
            <a:graphicFrameLocks noGrp="1"/>
          </p:cNvGraphicFramePr>
          <p:nvPr>
            <p:extLst>
              <p:ext uri="{D42A27DB-BD31-4B8C-83A1-F6EECF244321}">
                <p14:modId xmlns:p14="http://schemas.microsoft.com/office/powerpoint/2010/main" val="426242975"/>
              </p:ext>
            </p:extLst>
          </p:nvPr>
        </p:nvGraphicFramePr>
        <p:xfrm>
          <a:off x="402119" y="1111796"/>
          <a:ext cx="6062601" cy="372600"/>
        </p:xfrm>
        <a:graphic>
          <a:graphicData uri="http://schemas.openxmlformats.org/drawingml/2006/table">
            <a:tbl>
              <a:tblPr firstRow="1" bandRow="1">
                <a:tableStyleId>{5C22544A-7EE6-4342-B048-85BDC9FD1C3A}</a:tableStyleId>
              </a:tblPr>
              <a:tblGrid>
                <a:gridCol w="276028">
                  <a:extLst>
                    <a:ext uri="{9D8B030D-6E8A-4147-A177-3AD203B41FA5}">
                      <a16:colId xmlns:a16="http://schemas.microsoft.com/office/drawing/2014/main" val="657570846"/>
                    </a:ext>
                  </a:extLst>
                </a:gridCol>
                <a:gridCol w="323016">
                  <a:extLst>
                    <a:ext uri="{9D8B030D-6E8A-4147-A177-3AD203B41FA5}">
                      <a16:colId xmlns:a16="http://schemas.microsoft.com/office/drawing/2014/main" val="3259894497"/>
                    </a:ext>
                  </a:extLst>
                </a:gridCol>
                <a:gridCol w="433199">
                  <a:extLst>
                    <a:ext uri="{9D8B030D-6E8A-4147-A177-3AD203B41FA5}">
                      <a16:colId xmlns:a16="http://schemas.microsoft.com/office/drawing/2014/main" val="4170535043"/>
                    </a:ext>
                  </a:extLst>
                </a:gridCol>
                <a:gridCol w="468064">
                  <a:extLst>
                    <a:ext uri="{9D8B030D-6E8A-4147-A177-3AD203B41FA5}">
                      <a16:colId xmlns:a16="http://schemas.microsoft.com/office/drawing/2014/main" val="2079070694"/>
                    </a:ext>
                  </a:extLst>
                </a:gridCol>
                <a:gridCol w="484374">
                  <a:extLst>
                    <a:ext uri="{9D8B030D-6E8A-4147-A177-3AD203B41FA5}">
                      <a16:colId xmlns:a16="http://schemas.microsoft.com/office/drawing/2014/main" val="4213315911"/>
                    </a:ext>
                  </a:extLst>
                </a:gridCol>
                <a:gridCol w="343783">
                  <a:extLst>
                    <a:ext uri="{9D8B030D-6E8A-4147-A177-3AD203B41FA5}">
                      <a16:colId xmlns:a16="http://schemas.microsoft.com/office/drawing/2014/main" val="2769999950"/>
                    </a:ext>
                  </a:extLst>
                </a:gridCol>
                <a:gridCol w="431593">
                  <a:extLst>
                    <a:ext uri="{9D8B030D-6E8A-4147-A177-3AD203B41FA5}">
                      <a16:colId xmlns:a16="http://schemas.microsoft.com/office/drawing/2014/main" val="135637185"/>
                    </a:ext>
                  </a:extLst>
                </a:gridCol>
                <a:gridCol w="539823">
                  <a:extLst>
                    <a:ext uri="{9D8B030D-6E8A-4147-A177-3AD203B41FA5}">
                      <a16:colId xmlns:a16="http://schemas.microsoft.com/office/drawing/2014/main" val="3038050475"/>
                    </a:ext>
                  </a:extLst>
                </a:gridCol>
                <a:gridCol w="461118">
                  <a:extLst>
                    <a:ext uri="{9D8B030D-6E8A-4147-A177-3AD203B41FA5}">
                      <a16:colId xmlns:a16="http://schemas.microsoft.com/office/drawing/2014/main" val="1979433044"/>
                    </a:ext>
                  </a:extLst>
                </a:gridCol>
                <a:gridCol w="444025">
                  <a:extLst>
                    <a:ext uri="{9D8B030D-6E8A-4147-A177-3AD203B41FA5}">
                      <a16:colId xmlns:a16="http://schemas.microsoft.com/office/drawing/2014/main" val="4270661649"/>
                    </a:ext>
                  </a:extLst>
                </a:gridCol>
                <a:gridCol w="378366">
                  <a:extLst>
                    <a:ext uri="{9D8B030D-6E8A-4147-A177-3AD203B41FA5}">
                      <a16:colId xmlns:a16="http://schemas.microsoft.com/office/drawing/2014/main" val="3027041370"/>
                    </a:ext>
                  </a:extLst>
                </a:gridCol>
                <a:gridCol w="370211">
                  <a:extLst>
                    <a:ext uri="{9D8B030D-6E8A-4147-A177-3AD203B41FA5}">
                      <a16:colId xmlns:a16="http://schemas.microsoft.com/office/drawing/2014/main" val="2852526216"/>
                    </a:ext>
                  </a:extLst>
                </a:gridCol>
                <a:gridCol w="363687">
                  <a:extLst>
                    <a:ext uri="{9D8B030D-6E8A-4147-A177-3AD203B41FA5}">
                      <a16:colId xmlns:a16="http://schemas.microsoft.com/office/drawing/2014/main" val="103420222"/>
                    </a:ext>
                  </a:extLst>
                </a:gridCol>
                <a:gridCol w="368580">
                  <a:extLst>
                    <a:ext uri="{9D8B030D-6E8A-4147-A177-3AD203B41FA5}">
                      <a16:colId xmlns:a16="http://schemas.microsoft.com/office/drawing/2014/main" val="1470405609"/>
                    </a:ext>
                  </a:extLst>
                </a:gridCol>
                <a:gridCol w="3767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rgbClr val="000000"/>
                          </a:solidFill>
                          <a:effectLst/>
                          <a:latin typeface="Arial" panose="020B0604020202020204" pitchFamily="34" charset="0"/>
                          <a:ea typeface="+mn-ea"/>
                          <a:cs typeface="Arial" panose="020B0604020202020204" pitchFamily="34" charset="0"/>
                        </a:rPr>
                        <a:t>FB4_LEVEL [2:0]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FB3_LEVEL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FB2_LEVEL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FB1_LEVEL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6" name="TextBox 5">
            <a:extLst>
              <a:ext uri="{FF2B5EF4-FFF2-40B4-BE49-F238E27FC236}">
                <a16:creationId xmlns:a16="http://schemas.microsoft.com/office/drawing/2014/main" id="{F405B7C2-D563-4513-E1EB-601268D12B0E}"/>
              </a:ext>
            </a:extLst>
          </p:cNvPr>
          <p:cNvSpPr txBox="1"/>
          <p:nvPr/>
        </p:nvSpPr>
        <p:spPr>
          <a:xfrm>
            <a:off x="402008" y="846799"/>
            <a:ext cx="605398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LEVEL</a:t>
            </a:r>
          </a:p>
        </p:txBody>
      </p:sp>
      <p:graphicFrame>
        <p:nvGraphicFramePr>
          <p:cNvPr id="7" name="표 6">
            <a:extLst>
              <a:ext uri="{FF2B5EF4-FFF2-40B4-BE49-F238E27FC236}">
                <a16:creationId xmlns:a16="http://schemas.microsoft.com/office/drawing/2014/main" id="{6639C1F7-E3EB-6286-0633-E51D6EF973E7}"/>
              </a:ext>
            </a:extLst>
          </p:cNvPr>
          <p:cNvGraphicFramePr>
            <a:graphicFrameLocks noGrp="1"/>
          </p:cNvGraphicFramePr>
          <p:nvPr>
            <p:extLst>
              <p:ext uri="{D42A27DB-BD31-4B8C-83A1-F6EECF244321}">
                <p14:modId xmlns:p14="http://schemas.microsoft.com/office/powerpoint/2010/main" val="2903590854"/>
              </p:ext>
            </p:extLst>
          </p:nvPr>
        </p:nvGraphicFramePr>
        <p:xfrm>
          <a:off x="402119" y="1558836"/>
          <a:ext cx="6053873" cy="372600"/>
        </p:xfrm>
        <a:graphic>
          <a:graphicData uri="http://schemas.openxmlformats.org/drawingml/2006/table">
            <a:tbl>
              <a:tblPr firstRow="1" bandRow="1">
                <a:tableStyleId>{5C22544A-7EE6-4342-B048-85BDC9FD1C3A}</a:tableStyleId>
              </a:tblPr>
              <a:tblGrid>
                <a:gridCol w="275630">
                  <a:extLst>
                    <a:ext uri="{9D8B030D-6E8A-4147-A177-3AD203B41FA5}">
                      <a16:colId xmlns:a16="http://schemas.microsoft.com/office/drawing/2014/main" val="657570846"/>
                    </a:ext>
                  </a:extLst>
                </a:gridCol>
                <a:gridCol w="322551">
                  <a:extLst>
                    <a:ext uri="{9D8B030D-6E8A-4147-A177-3AD203B41FA5}">
                      <a16:colId xmlns:a16="http://schemas.microsoft.com/office/drawing/2014/main" val="3259894497"/>
                    </a:ext>
                  </a:extLst>
                </a:gridCol>
                <a:gridCol w="432575">
                  <a:extLst>
                    <a:ext uri="{9D8B030D-6E8A-4147-A177-3AD203B41FA5}">
                      <a16:colId xmlns:a16="http://schemas.microsoft.com/office/drawing/2014/main" val="4170535043"/>
                    </a:ext>
                  </a:extLst>
                </a:gridCol>
                <a:gridCol w="467390">
                  <a:extLst>
                    <a:ext uri="{9D8B030D-6E8A-4147-A177-3AD203B41FA5}">
                      <a16:colId xmlns:a16="http://schemas.microsoft.com/office/drawing/2014/main" val="2079070694"/>
                    </a:ext>
                  </a:extLst>
                </a:gridCol>
                <a:gridCol w="483677">
                  <a:extLst>
                    <a:ext uri="{9D8B030D-6E8A-4147-A177-3AD203B41FA5}">
                      <a16:colId xmlns:a16="http://schemas.microsoft.com/office/drawing/2014/main" val="4213315911"/>
                    </a:ext>
                  </a:extLst>
                </a:gridCol>
                <a:gridCol w="343288">
                  <a:extLst>
                    <a:ext uri="{9D8B030D-6E8A-4147-A177-3AD203B41FA5}">
                      <a16:colId xmlns:a16="http://schemas.microsoft.com/office/drawing/2014/main" val="2769999950"/>
                    </a:ext>
                  </a:extLst>
                </a:gridCol>
                <a:gridCol w="430972">
                  <a:extLst>
                    <a:ext uri="{9D8B030D-6E8A-4147-A177-3AD203B41FA5}">
                      <a16:colId xmlns:a16="http://schemas.microsoft.com/office/drawing/2014/main" val="135637185"/>
                    </a:ext>
                  </a:extLst>
                </a:gridCol>
                <a:gridCol w="539046">
                  <a:extLst>
                    <a:ext uri="{9D8B030D-6E8A-4147-A177-3AD203B41FA5}">
                      <a16:colId xmlns:a16="http://schemas.microsoft.com/office/drawing/2014/main" val="3038050475"/>
                    </a:ext>
                  </a:extLst>
                </a:gridCol>
                <a:gridCol w="460454">
                  <a:extLst>
                    <a:ext uri="{9D8B030D-6E8A-4147-A177-3AD203B41FA5}">
                      <a16:colId xmlns:a16="http://schemas.microsoft.com/office/drawing/2014/main" val="1979433044"/>
                    </a:ext>
                  </a:extLst>
                </a:gridCol>
                <a:gridCol w="443385">
                  <a:extLst>
                    <a:ext uri="{9D8B030D-6E8A-4147-A177-3AD203B41FA5}">
                      <a16:colId xmlns:a16="http://schemas.microsoft.com/office/drawing/2014/main" val="4270661649"/>
                    </a:ext>
                  </a:extLst>
                </a:gridCol>
                <a:gridCol w="377821">
                  <a:extLst>
                    <a:ext uri="{9D8B030D-6E8A-4147-A177-3AD203B41FA5}">
                      <a16:colId xmlns:a16="http://schemas.microsoft.com/office/drawing/2014/main" val="3027041370"/>
                    </a:ext>
                  </a:extLst>
                </a:gridCol>
                <a:gridCol w="369678">
                  <a:extLst>
                    <a:ext uri="{9D8B030D-6E8A-4147-A177-3AD203B41FA5}">
                      <a16:colId xmlns:a16="http://schemas.microsoft.com/office/drawing/2014/main" val="2852526216"/>
                    </a:ext>
                  </a:extLst>
                </a:gridCol>
                <a:gridCol w="363164">
                  <a:extLst>
                    <a:ext uri="{9D8B030D-6E8A-4147-A177-3AD203B41FA5}">
                      <a16:colId xmlns:a16="http://schemas.microsoft.com/office/drawing/2014/main" val="103420222"/>
                    </a:ext>
                  </a:extLst>
                </a:gridCol>
                <a:gridCol w="368050">
                  <a:extLst>
                    <a:ext uri="{9D8B030D-6E8A-4147-A177-3AD203B41FA5}">
                      <a16:colId xmlns:a16="http://schemas.microsoft.com/office/drawing/2014/main" val="1470405609"/>
                    </a:ext>
                  </a:extLst>
                </a:gridCol>
                <a:gridCol w="37619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SHORT3_LEVEL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SHORT2_LEVEL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SHORT1_LEVEL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FB5_LEVEL[2:0]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9" name="표 8">
            <a:extLst>
              <a:ext uri="{FF2B5EF4-FFF2-40B4-BE49-F238E27FC236}">
                <a16:creationId xmlns:a16="http://schemas.microsoft.com/office/drawing/2014/main" id="{25566A79-AE74-0430-A846-BB9C4861D106}"/>
              </a:ext>
            </a:extLst>
          </p:cNvPr>
          <p:cNvGraphicFramePr>
            <a:graphicFrameLocks noGrp="1"/>
          </p:cNvGraphicFramePr>
          <p:nvPr>
            <p:extLst>
              <p:ext uri="{D42A27DB-BD31-4B8C-83A1-F6EECF244321}">
                <p14:modId xmlns:p14="http://schemas.microsoft.com/office/powerpoint/2010/main" val="2012591943"/>
              </p:ext>
            </p:extLst>
          </p:nvPr>
        </p:nvGraphicFramePr>
        <p:xfrm>
          <a:off x="410847" y="2008624"/>
          <a:ext cx="6139913" cy="372600"/>
        </p:xfrm>
        <a:graphic>
          <a:graphicData uri="http://schemas.openxmlformats.org/drawingml/2006/table">
            <a:tbl>
              <a:tblPr firstRow="1" bandRow="1">
                <a:tableStyleId>{5C22544A-7EE6-4342-B048-85BDC9FD1C3A}</a:tableStyleId>
              </a:tblPr>
              <a:tblGrid>
                <a:gridCol w="275630">
                  <a:extLst>
                    <a:ext uri="{9D8B030D-6E8A-4147-A177-3AD203B41FA5}">
                      <a16:colId xmlns:a16="http://schemas.microsoft.com/office/drawing/2014/main" val="657570846"/>
                    </a:ext>
                  </a:extLst>
                </a:gridCol>
                <a:gridCol w="322551">
                  <a:extLst>
                    <a:ext uri="{9D8B030D-6E8A-4147-A177-3AD203B41FA5}">
                      <a16:colId xmlns:a16="http://schemas.microsoft.com/office/drawing/2014/main" val="3259894497"/>
                    </a:ext>
                  </a:extLst>
                </a:gridCol>
                <a:gridCol w="432575">
                  <a:extLst>
                    <a:ext uri="{9D8B030D-6E8A-4147-A177-3AD203B41FA5}">
                      <a16:colId xmlns:a16="http://schemas.microsoft.com/office/drawing/2014/main" val="4170535043"/>
                    </a:ext>
                  </a:extLst>
                </a:gridCol>
                <a:gridCol w="492852">
                  <a:extLst>
                    <a:ext uri="{9D8B030D-6E8A-4147-A177-3AD203B41FA5}">
                      <a16:colId xmlns:a16="http://schemas.microsoft.com/office/drawing/2014/main" val="2079070694"/>
                    </a:ext>
                  </a:extLst>
                </a:gridCol>
                <a:gridCol w="483677">
                  <a:extLst>
                    <a:ext uri="{9D8B030D-6E8A-4147-A177-3AD203B41FA5}">
                      <a16:colId xmlns:a16="http://schemas.microsoft.com/office/drawing/2014/main" val="4213315911"/>
                    </a:ext>
                  </a:extLst>
                </a:gridCol>
                <a:gridCol w="343288">
                  <a:extLst>
                    <a:ext uri="{9D8B030D-6E8A-4147-A177-3AD203B41FA5}">
                      <a16:colId xmlns:a16="http://schemas.microsoft.com/office/drawing/2014/main" val="2769999950"/>
                    </a:ext>
                  </a:extLst>
                </a:gridCol>
                <a:gridCol w="430972">
                  <a:extLst>
                    <a:ext uri="{9D8B030D-6E8A-4147-A177-3AD203B41FA5}">
                      <a16:colId xmlns:a16="http://schemas.microsoft.com/office/drawing/2014/main" val="135637185"/>
                    </a:ext>
                  </a:extLst>
                </a:gridCol>
                <a:gridCol w="599624">
                  <a:extLst>
                    <a:ext uri="{9D8B030D-6E8A-4147-A177-3AD203B41FA5}">
                      <a16:colId xmlns:a16="http://schemas.microsoft.com/office/drawing/2014/main" val="3038050475"/>
                    </a:ext>
                  </a:extLst>
                </a:gridCol>
                <a:gridCol w="460454">
                  <a:extLst>
                    <a:ext uri="{9D8B030D-6E8A-4147-A177-3AD203B41FA5}">
                      <a16:colId xmlns:a16="http://schemas.microsoft.com/office/drawing/2014/main" val="1979433044"/>
                    </a:ext>
                  </a:extLst>
                </a:gridCol>
                <a:gridCol w="443385">
                  <a:extLst>
                    <a:ext uri="{9D8B030D-6E8A-4147-A177-3AD203B41FA5}">
                      <a16:colId xmlns:a16="http://schemas.microsoft.com/office/drawing/2014/main" val="4270661649"/>
                    </a:ext>
                  </a:extLst>
                </a:gridCol>
                <a:gridCol w="377821">
                  <a:extLst>
                    <a:ext uri="{9D8B030D-6E8A-4147-A177-3AD203B41FA5}">
                      <a16:colId xmlns:a16="http://schemas.microsoft.com/office/drawing/2014/main" val="3027041370"/>
                    </a:ext>
                  </a:extLst>
                </a:gridCol>
                <a:gridCol w="369678">
                  <a:extLst>
                    <a:ext uri="{9D8B030D-6E8A-4147-A177-3AD203B41FA5}">
                      <a16:colId xmlns:a16="http://schemas.microsoft.com/office/drawing/2014/main" val="2852526216"/>
                    </a:ext>
                  </a:extLst>
                </a:gridCol>
                <a:gridCol w="363164">
                  <a:extLst>
                    <a:ext uri="{9D8B030D-6E8A-4147-A177-3AD203B41FA5}">
                      <a16:colId xmlns:a16="http://schemas.microsoft.com/office/drawing/2014/main" val="103420222"/>
                    </a:ext>
                  </a:extLst>
                </a:gridCol>
                <a:gridCol w="368050">
                  <a:extLst>
                    <a:ext uri="{9D8B030D-6E8A-4147-A177-3AD203B41FA5}">
                      <a16:colId xmlns:a16="http://schemas.microsoft.com/office/drawing/2014/main" val="1470405609"/>
                    </a:ext>
                  </a:extLst>
                </a:gridCol>
                <a:gridCol w="37619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t>x</a:t>
                      </a:r>
                      <a:endParaRPr sz="700"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t>x</a:t>
                      </a:r>
                      <a:endParaRPr sz="700"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fontAlgn="t"/>
                      <a:r>
                        <a:rPr lang="en-US" sz="7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x</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dirty="0"/>
                        <a:t>x</a:t>
                      </a:r>
                      <a:endParaRPr lang="ko-KR" altLang="en-US" sz="700" dirty="0"/>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dirty="0"/>
                        <a:t>x</a:t>
                      </a:r>
                      <a:endParaRPr lang="ko-KR" altLang="en-US" sz="700" dirty="0"/>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SHORT5_LEVEL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SHORT4_LEVEL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cxnSp>
        <p:nvCxnSpPr>
          <p:cNvPr id="10" name="직선 연결선 9">
            <a:extLst>
              <a:ext uri="{FF2B5EF4-FFF2-40B4-BE49-F238E27FC236}">
                <a16:creationId xmlns:a16="http://schemas.microsoft.com/office/drawing/2014/main" id="{856DFDE6-EBE8-5B16-2DD6-A6CF9563CB1C}"/>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D3357195-D84B-992D-2A99-840B3937C3D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cxnSp>
        <p:nvCxnSpPr>
          <p:cNvPr id="12" name="직선 연결선 11">
            <a:extLst>
              <a:ext uri="{FF2B5EF4-FFF2-40B4-BE49-F238E27FC236}">
                <a16:creationId xmlns:a16="http://schemas.microsoft.com/office/drawing/2014/main" id="{0EA9E116-7ACF-0EF6-128D-A62C07EA2B1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3" name="표 12">
            <a:extLst>
              <a:ext uri="{FF2B5EF4-FFF2-40B4-BE49-F238E27FC236}">
                <a16:creationId xmlns:a16="http://schemas.microsoft.com/office/drawing/2014/main" id="{3C26C8CF-B06F-F2E1-D4AC-FF96B5CC5C7E}"/>
              </a:ext>
            </a:extLst>
          </p:cNvPr>
          <p:cNvGraphicFramePr>
            <a:graphicFrameLocks noGrp="1"/>
          </p:cNvGraphicFramePr>
          <p:nvPr>
            <p:extLst>
              <p:ext uri="{D42A27DB-BD31-4B8C-83A1-F6EECF244321}">
                <p14:modId xmlns:p14="http://schemas.microsoft.com/office/powerpoint/2010/main" val="2105380049"/>
              </p:ext>
            </p:extLst>
          </p:nvPr>
        </p:nvGraphicFramePr>
        <p:xfrm>
          <a:off x="458611" y="5833375"/>
          <a:ext cx="6053977" cy="692640"/>
        </p:xfrm>
        <a:graphic>
          <a:graphicData uri="http://schemas.openxmlformats.org/drawingml/2006/table">
            <a:tbl>
              <a:tblPr firstRow="1" bandRow="1">
                <a:tableStyleId>{5C22544A-7EE6-4342-B048-85BDC9FD1C3A}</a:tableStyleId>
              </a:tblPr>
              <a:tblGrid>
                <a:gridCol w="353521">
                  <a:extLst>
                    <a:ext uri="{9D8B030D-6E8A-4147-A177-3AD203B41FA5}">
                      <a16:colId xmlns:a16="http://schemas.microsoft.com/office/drawing/2014/main" val="4170535043"/>
                    </a:ext>
                  </a:extLst>
                </a:gridCol>
                <a:gridCol w="1322448">
                  <a:extLst>
                    <a:ext uri="{9D8B030D-6E8A-4147-A177-3AD203B41FA5}">
                      <a16:colId xmlns:a16="http://schemas.microsoft.com/office/drawing/2014/main" val="2079070694"/>
                    </a:ext>
                  </a:extLst>
                </a:gridCol>
                <a:gridCol w="4378008">
                  <a:extLst>
                    <a:ext uri="{9D8B030D-6E8A-4147-A177-3AD203B41FA5}">
                      <a16:colId xmlns:a16="http://schemas.microsoft.com/office/drawing/2014/main" val="32595803"/>
                    </a:ext>
                  </a:extLst>
                </a:gridCol>
              </a:tblGrid>
              <a:tr h="13788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104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MAX_CURR_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LEVEL1/2/3/4/5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MAX_CURR_LEVEL determines the physical maximum current level of the device.  The max dimming sink-current set by the MAX_CURR_VREF can not be beyond the MAX_CURR_LEVEL.</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4" name="TextBox 13">
            <a:extLst>
              <a:ext uri="{FF2B5EF4-FFF2-40B4-BE49-F238E27FC236}">
                <a16:creationId xmlns:a16="http://schemas.microsoft.com/office/drawing/2014/main" id="{4B3B8378-FEF3-0BCE-5CAE-D3DEA41C9F85}"/>
              </a:ext>
            </a:extLst>
          </p:cNvPr>
          <p:cNvSpPr txBox="1"/>
          <p:nvPr/>
        </p:nvSpPr>
        <p:spPr>
          <a:xfrm>
            <a:off x="475062" y="4425807"/>
            <a:ext cx="605397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MAX CURRENT LEVEL</a:t>
            </a:r>
          </a:p>
        </p:txBody>
      </p:sp>
      <p:graphicFrame>
        <p:nvGraphicFramePr>
          <p:cNvPr id="17" name="표 16">
            <a:extLst>
              <a:ext uri="{FF2B5EF4-FFF2-40B4-BE49-F238E27FC236}">
                <a16:creationId xmlns:a16="http://schemas.microsoft.com/office/drawing/2014/main" id="{D867E8F5-FBF2-B122-27BF-B411415894F3}"/>
              </a:ext>
            </a:extLst>
          </p:cNvPr>
          <p:cNvGraphicFramePr>
            <a:graphicFrameLocks noGrp="1"/>
          </p:cNvGraphicFramePr>
          <p:nvPr>
            <p:extLst>
              <p:ext uri="{D42A27DB-BD31-4B8C-83A1-F6EECF244321}">
                <p14:modId xmlns:p14="http://schemas.microsoft.com/office/powerpoint/2010/main" val="2506952290"/>
              </p:ext>
            </p:extLst>
          </p:nvPr>
        </p:nvGraphicFramePr>
        <p:xfrm>
          <a:off x="475061" y="4690444"/>
          <a:ext cx="6050053" cy="372600"/>
        </p:xfrm>
        <a:graphic>
          <a:graphicData uri="http://schemas.openxmlformats.org/drawingml/2006/table">
            <a:tbl>
              <a:tblPr firstRow="1" bandRow="1">
                <a:tableStyleId>{5C22544A-7EE6-4342-B048-85BDC9FD1C3A}</a:tableStyleId>
              </a:tblPr>
              <a:tblGrid>
                <a:gridCol w="339418">
                  <a:extLst>
                    <a:ext uri="{9D8B030D-6E8A-4147-A177-3AD203B41FA5}">
                      <a16:colId xmlns:a16="http://schemas.microsoft.com/office/drawing/2014/main" val="657570846"/>
                    </a:ext>
                  </a:extLst>
                </a:gridCol>
                <a:gridCol w="373202">
                  <a:extLst>
                    <a:ext uri="{9D8B030D-6E8A-4147-A177-3AD203B41FA5}">
                      <a16:colId xmlns:a16="http://schemas.microsoft.com/office/drawing/2014/main" val="3259894497"/>
                    </a:ext>
                  </a:extLst>
                </a:gridCol>
                <a:gridCol w="438610">
                  <a:extLst>
                    <a:ext uri="{9D8B030D-6E8A-4147-A177-3AD203B41FA5}">
                      <a16:colId xmlns:a16="http://schemas.microsoft.com/office/drawing/2014/main" val="4170535043"/>
                    </a:ext>
                  </a:extLst>
                </a:gridCol>
                <a:gridCol w="390946">
                  <a:extLst>
                    <a:ext uri="{9D8B030D-6E8A-4147-A177-3AD203B41FA5}">
                      <a16:colId xmlns:a16="http://schemas.microsoft.com/office/drawing/2014/main" val="2079070694"/>
                    </a:ext>
                  </a:extLst>
                </a:gridCol>
                <a:gridCol w="390946">
                  <a:extLst>
                    <a:ext uri="{9D8B030D-6E8A-4147-A177-3AD203B41FA5}">
                      <a16:colId xmlns:a16="http://schemas.microsoft.com/office/drawing/2014/main" val="4213315911"/>
                    </a:ext>
                  </a:extLst>
                </a:gridCol>
                <a:gridCol w="470662">
                  <a:extLst>
                    <a:ext uri="{9D8B030D-6E8A-4147-A177-3AD203B41FA5}">
                      <a16:colId xmlns:a16="http://schemas.microsoft.com/office/drawing/2014/main" val="2769999950"/>
                    </a:ext>
                  </a:extLst>
                </a:gridCol>
                <a:gridCol w="477338">
                  <a:extLst>
                    <a:ext uri="{9D8B030D-6E8A-4147-A177-3AD203B41FA5}">
                      <a16:colId xmlns:a16="http://schemas.microsoft.com/office/drawing/2014/main" val="135637185"/>
                    </a:ext>
                  </a:extLst>
                </a:gridCol>
                <a:gridCol w="390946">
                  <a:extLst>
                    <a:ext uri="{9D8B030D-6E8A-4147-A177-3AD203B41FA5}">
                      <a16:colId xmlns:a16="http://schemas.microsoft.com/office/drawing/2014/main" val="3038050475"/>
                    </a:ext>
                  </a:extLst>
                </a:gridCol>
                <a:gridCol w="390946">
                  <a:extLst>
                    <a:ext uri="{9D8B030D-6E8A-4147-A177-3AD203B41FA5}">
                      <a16:colId xmlns:a16="http://schemas.microsoft.com/office/drawing/2014/main" val="1979433044"/>
                    </a:ext>
                  </a:extLst>
                </a:gridCol>
                <a:gridCol w="390946">
                  <a:extLst>
                    <a:ext uri="{9D8B030D-6E8A-4147-A177-3AD203B41FA5}">
                      <a16:colId xmlns:a16="http://schemas.microsoft.com/office/drawing/2014/main" val="4270661649"/>
                    </a:ext>
                  </a:extLst>
                </a:gridCol>
                <a:gridCol w="390946">
                  <a:extLst>
                    <a:ext uri="{9D8B030D-6E8A-4147-A177-3AD203B41FA5}">
                      <a16:colId xmlns:a16="http://schemas.microsoft.com/office/drawing/2014/main" val="3027041370"/>
                    </a:ext>
                  </a:extLst>
                </a:gridCol>
                <a:gridCol w="432309">
                  <a:extLst>
                    <a:ext uri="{9D8B030D-6E8A-4147-A177-3AD203B41FA5}">
                      <a16:colId xmlns:a16="http://schemas.microsoft.com/office/drawing/2014/main" val="2852526216"/>
                    </a:ext>
                  </a:extLst>
                </a:gridCol>
                <a:gridCol w="390946">
                  <a:extLst>
                    <a:ext uri="{9D8B030D-6E8A-4147-A177-3AD203B41FA5}">
                      <a16:colId xmlns:a16="http://schemas.microsoft.com/office/drawing/2014/main" val="103420222"/>
                    </a:ext>
                  </a:extLst>
                </a:gridCol>
                <a:gridCol w="390946">
                  <a:extLst>
                    <a:ext uri="{9D8B030D-6E8A-4147-A177-3AD203B41FA5}">
                      <a16:colId xmlns:a16="http://schemas.microsoft.com/office/drawing/2014/main" val="1470405609"/>
                    </a:ext>
                  </a:extLst>
                </a:gridCol>
                <a:gridCol w="39094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MAX_CURR_LEVEL3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MAX_CURR_LEVEL2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MAX_CURR_LEVEL1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FB_LEVEL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8" name="표 17">
            <a:extLst>
              <a:ext uri="{FF2B5EF4-FFF2-40B4-BE49-F238E27FC236}">
                <a16:creationId xmlns:a16="http://schemas.microsoft.com/office/drawing/2014/main" id="{44452F07-41A0-91C1-8C47-FB4B0EE2287E}"/>
              </a:ext>
            </a:extLst>
          </p:cNvPr>
          <p:cNvGraphicFramePr>
            <a:graphicFrameLocks noGrp="1"/>
          </p:cNvGraphicFramePr>
          <p:nvPr>
            <p:extLst>
              <p:ext uri="{D42A27DB-BD31-4B8C-83A1-F6EECF244321}">
                <p14:modId xmlns:p14="http://schemas.microsoft.com/office/powerpoint/2010/main" val="3432320673"/>
              </p:ext>
            </p:extLst>
          </p:nvPr>
        </p:nvGraphicFramePr>
        <p:xfrm>
          <a:off x="475061" y="5214078"/>
          <a:ext cx="6086461" cy="372600"/>
        </p:xfrm>
        <a:graphic>
          <a:graphicData uri="http://schemas.openxmlformats.org/drawingml/2006/table">
            <a:tbl>
              <a:tblPr firstRow="1" bandRow="1">
                <a:tableStyleId>{5C22544A-7EE6-4342-B048-85BDC9FD1C3A}</a:tableStyleId>
              </a:tblPr>
              <a:tblGrid>
                <a:gridCol w="339418">
                  <a:extLst>
                    <a:ext uri="{9D8B030D-6E8A-4147-A177-3AD203B41FA5}">
                      <a16:colId xmlns:a16="http://schemas.microsoft.com/office/drawing/2014/main" val="657570846"/>
                    </a:ext>
                  </a:extLst>
                </a:gridCol>
                <a:gridCol w="373202">
                  <a:extLst>
                    <a:ext uri="{9D8B030D-6E8A-4147-A177-3AD203B41FA5}">
                      <a16:colId xmlns:a16="http://schemas.microsoft.com/office/drawing/2014/main" val="3259894497"/>
                    </a:ext>
                  </a:extLst>
                </a:gridCol>
                <a:gridCol w="438610">
                  <a:extLst>
                    <a:ext uri="{9D8B030D-6E8A-4147-A177-3AD203B41FA5}">
                      <a16:colId xmlns:a16="http://schemas.microsoft.com/office/drawing/2014/main" val="4170535043"/>
                    </a:ext>
                  </a:extLst>
                </a:gridCol>
                <a:gridCol w="390946">
                  <a:extLst>
                    <a:ext uri="{9D8B030D-6E8A-4147-A177-3AD203B41FA5}">
                      <a16:colId xmlns:a16="http://schemas.microsoft.com/office/drawing/2014/main" val="2079070694"/>
                    </a:ext>
                  </a:extLst>
                </a:gridCol>
                <a:gridCol w="410819">
                  <a:extLst>
                    <a:ext uri="{9D8B030D-6E8A-4147-A177-3AD203B41FA5}">
                      <a16:colId xmlns:a16="http://schemas.microsoft.com/office/drawing/2014/main" val="4213315911"/>
                    </a:ext>
                  </a:extLst>
                </a:gridCol>
                <a:gridCol w="470662">
                  <a:extLst>
                    <a:ext uri="{9D8B030D-6E8A-4147-A177-3AD203B41FA5}">
                      <a16:colId xmlns:a16="http://schemas.microsoft.com/office/drawing/2014/main" val="2769999950"/>
                    </a:ext>
                  </a:extLst>
                </a:gridCol>
                <a:gridCol w="493873">
                  <a:extLst>
                    <a:ext uri="{9D8B030D-6E8A-4147-A177-3AD203B41FA5}">
                      <a16:colId xmlns:a16="http://schemas.microsoft.com/office/drawing/2014/main" val="135637185"/>
                    </a:ext>
                  </a:extLst>
                </a:gridCol>
                <a:gridCol w="390946">
                  <a:extLst>
                    <a:ext uri="{9D8B030D-6E8A-4147-A177-3AD203B41FA5}">
                      <a16:colId xmlns:a16="http://schemas.microsoft.com/office/drawing/2014/main" val="3038050475"/>
                    </a:ext>
                  </a:extLst>
                </a:gridCol>
                <a:gridCol w="390946">
                  <a:extLst>
                    <a:ext uri="{9D8B030D-6E8A-4147-A177-3AD203B41FA5}">
                      <a16:colId xmlns:a16="http://schemas.microsoft.com/office/drawing/2014/main" val="1979433044"/>
                    </a:ext>
                  </a:extLst>
                </a:gridCol>
                <a:gridCol w="390946">
                  <a:extLst>
                    <a:ext uri="{9D8B030D-6E8A-4147-A177-3AD203B41FA5}">
                      <a16:colId xmlns:a16="http://schemas.microsoft.com/office/drawing/2014/main" val="4270661649"/>
                    </a:ext>
                  </a:extLst>
                </a:gridCol>
                <a:gridCol w="390946">
                  <a:extLst>
                    <a:ext uri="{9D8B030D-6E8A-4147-A177-3AD203B41FA5}">
                      <a16:colId xmlns:a16="http://schemas.microsoft.com/office/drawing/2014/main" val="3027041370"/>
                    </a:ext>
                  </a:extLst>
                </a:gridCol>
                <a:gridCol w="432309">
                  <a:extLst>
                    <a:ext uri="{9D8B030D-6E8A-4147-A177-3AD203B41FA5}">
                      <a16:colId xmlns:a16="http://schemas.microsoft.com/office/drawing/2014/main" val="2852526216"/>
                    </a:ext>
                  </a:extLst>
                </a:gridCol>
                <a:gridCol w="390946">
                  <a:extLst>
                    <a:ext uri="{9D8B030D-6E8A-4147-A177-3AD203B41FA5}">
                      <a16:colId xmlns:a16="http://schemas.microsoft.com/office/drawing/2014/main" val="103420222"/>
                    </a:ext>
                  </a:extLst>
                </a:gridCol>
                <a:gridCol w="390946">
                  <a:extLst>
                    <a:ext uri="{9D8B030D-6E8A-4147-A177-3AD203B41FA5}">
                      <a16:colId xmlns:a16="http://schemas.microsoft.com/office/drawing/2014/main" val="1470405609"/>
                    </a:ext>
                  </a:extLst>
                </a:gridCol>
                <a:gridCol w="39094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MAX_CURR_LEVEL5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MAX_CURR_LEVEL4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FB_LEVEL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 name="표 1">
            <a:extLst>
              <a:ext uri="{FF2B5EF4-FFF2-40B4-BE49-F238E27FC236}">
                <a16:creationId xmlns:a16="http://schemas.microsoft.com/office/drawing/2014/main" id="{36A30146-DE5C-F660-2064-5C50489A56ED}"/>
              </a:ext>
            </a:extLst>
          </p:cNvPr>
          <p:cNvGraphicFramePr>
            <a:graphicFrameLocks noGrp="1"/>
          </p:cNvGraphicFramePr>
          <p:nvPr>
            <p:extLst>
              <p:ext uri="{D42A27DB-BD31-4B8C-83A1-F6EECF244321}">
                <p14:modId xmlns:p14="http://schemas.microsoft.com/office/powerpoint/2010/main" val="3748265166"/>
              </p:ext>
            </p:extLst>
          </p:nvPr>
        </p:nvGraphicFramePr>
        <p:xfrm>
          <a:off x="1291884" y="6611631"/>
          <a:ext cx="4092706" cy="1087320"/>
        </p:xfrm>
        <a:graphic>
          <a:graphicData uri="http://schemas.openxmlformats.org/drawingml/2006/table">
            <a:tbl>
              <a:tblPr firstRow="1" bandRow="1">
                <a:tableStyleId>{5C22544A-7EE6-4342-B048-85BDC9FD1C3A}</a:tableStyleId>
              </a:tblPr>
              <a:tblGrid>
                <a:gridCol w="1315639">
                  <a:extLst>
                    <a:ext uri="{9D8B030D-6E8A-4147-A177-3AD203B41FA5}">
                      <a16:colId xmlns:a16="http://schemas.microsoft.com/office/drawing/2014/main" val="2769999950"/>
                    </a:ext>
                  </a:extLst>
                </a:gridCol>
                <a:gridCol w="1049867">
                  <a:extLst>
                    <a:ext uri="{9D8B030D-6E8A-4147-A177-3AD203B41FA5}">
                      <a16:colId xmlns:a16="http://schemas.microsoft.com/office/drawing/2014/main" val="135637185"/>
                    </a:ext>
                  </a:extLst>
                </a:gridCol>
                <a:gridCol w="1727200">
                  <a:extLst>
                    <a:ext uri="{9D8B030D-6E8A-4147-A177-3AD203B41FA5}">
                      <a16:colId xmlns:a16="http://schemas.microsoft.com/office/drawing/2014/main" val="2852526216"/>
                    </a:ext>
                  </a:extLst>
                </a:gridCol>
              </a:tblGrid>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Step current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Bit [3:0]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MAX_CURR_LEVEL#</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row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4 mA / Step</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0000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4 mA</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0">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0001</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8 mA</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14361649"/>
                  </a:ext>
                </a:extLst>
              </a:tr>
              <a:tr h="0">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5811600"/>
                  </a:ext>
                </a:extLst>
              </a:tr>
              <a:tr h="0">
                <a:tc vMerge="1">
                  <a:txBody>
                    <a:bodyPr/>
                    <a:lstStyle/>
                    <a:p>
                      <a:pPr latinLnBrk="1"/>
                      <a:endParaRPr lang="ko-KR" altLang="en-US"/>
                    </a:p>
                  </a:txBody>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1110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60 mA</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6393522"/>
                  </a:ext>
                </a:extLst>
              </a:tr>
              <a:tr h="0">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1111</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64 mA</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5607618"/>
                  </a:ext>
                </a:extLst>
              </a:tr>
            </a:tbl>
          </a:graphicData>
        </a:graphic>
      </p:graphicFrame>
    </p:spTree>
    <p:extLst>
      <p:ext uri="{BB962C8B-B14F-4D97-AF65-F5344CB8AC3E}">
        <p14:creationId xmlns:p14="http://schemas.microsoft.com/office/powerpoint/2010/main" val="31007863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1C6A5-26E8-B0BB-7D68-36DA9A243C0B}"/>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A6A8D8ED-90B3-F885-C81B-36E680EBB6E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A5A3C562-F53C-F512-E124-A68FFD288636}"/>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DA09BE3B-D42A-9D30-9032-82333E69E4E5}"/>
              </a:ext>
            </a:extLst>
          </p:cNvPr>
          <p:cNvSpPr txBox="1"/>
          <p:nvPr/>
        </p:nvSpPr>
        <p:spPr>
          <a:xfrm>
            <a:off x="400802" y="3721756"/>
            <a:ext cx="60486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SERIALIZER OUTPUT BAUDRATE</a:t>
            </a:r>
          </a:p>
        </p:txBody>
      </p:sp>
      <p:graphicFrame>
        <p:nvGraphicFramePr>
          <p:cNvPr id="16" name="표 15">
            <a:extLst>
              <a:ext uri="{FF2B5EF4-FFF2-40B4-BE49-F238E27FC236}">
                <a16:creationId xmlns:a16="http://schemas.microsoft.com/office/drawing/2014/main" id="{9597CD42-B47D-8CA3-D0FA-33CC61DF1949}"/>
              </a:ext>
            </a:extLst>
          </p:cNvPr>
          <p:cNvGraphicFramePr>
            <a:graphicFrameLocks noGrp="1"/>
          </p:cNvGraphicFramePr>
          <p:nvPr>
            <p:extLst>
              <p:ext uri="{D42A27DB-BD31-4B8C-83A1-F6EECF244321}">
                <p14:modId xmlns:p14="http://schemas.microsoft.com/office/powerpoint/2010/main" val="1904795610"/>
              </p:ext>
            </p:extLst>
          </p:nvPr>
        </p:nvGraphicFramePr>
        <p:xfrm>
          <a:off x="400554" y="4498697"/>
          <a:ext cx="6048609" cy="1341883"/>
        </p:xfrm>
        <a:graphic>
          <a:graphicData uri="http://schemas.openxmlformats.org/drawingml/2006/table">
            <a:tbl>
              <a:tblPr firstRow="1" bandRow="1">
                <a:tableStyleId>{5C22544A-7EE6-4342-B048-85BDC9FD1C3A}</a:tableStyleId>
              </a:tblPr>
              <a:tblGrid>
                <a:gridCol w="435859">
                  <a:extLst>
                    <a:ext uri="{9D8B030D-6E8A-4147-A177-3AD203B41FA5}">
                      <a16:colId xmlns:a16="http://schemas.microsoft.com/office/drawing/2014/main" val="4170535043"/>
                    </a:ext>
                  </a:extLst>
                </a:gridCol>
                <a:gridCol w="1142081">
                  <a:extLst>
                    <a:ext uri="{9D8B030D-6E8A-4147-A177-3AD203B41FA5}">
                      <a16:colId xmlns:a16="http://schemas.microsoft.com/office/drawing/2014/main" val="2079070694"/>
                    </a:ext>
                  </a:extLst>
                </a:gridCol>
                <a:gridCol w="4470669">
                  <a:extLst>
                    <a:ext uri="{9D8B030D-6E8A-4147-A177-3AD203B41FA5}">
                      <a16:colId xmlns:a16="http://schemas.microsoft.com/office/drawing/2014/main" val="32595803"/>
                    </a:ext>
                  </a:extLst>
                </a:gridCol>
              </a:tblGrid>
              <a:tr h="27324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34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SERIAL_CLK_LOW</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low value ‘0’ or the number of MCLK of 0 level in logic high value ‘1’ when the XD12R is driving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 on read-back. For more details, refer to Table. 4, Logic low time. (unit </a:t>
                      </a:r>
                      <a:r>
                        <a:rPr lang="en-US" altLang="ko-KR" sz="900" b="0" dirty="0" err="1">
                          <a:solidFill>
                            <a:schemeClr val="tx1"/>
                          </a:solidFill>
                          <a:latin typeface="Arial" panose="020B0604020202020204" pitchFamily="34" charset="0"/>
                          <a:ea typeface="+mn-ea"/>
                          <a:cs typeface="Arial" panose="020B0604020202020204" pitchFamily="34" charset="0"/>
                        </a:rPr>
                        <a:t>mclk</a:t>
                      </a:r>
                      <a:r>
                        <a:rPr lang="en-US" altLang="ko-KR" sz="900" b="0" dirty="0">
                          <a:solidFill>
                            <a:schemeClr val="tx1"/>
                          </a:solidFill>
                          <a:latin typeface="Arial" panose="020B0604020202020204" pitchFamily="34" charset="0"/>
                          <a:ea typeface="+mn-ea"/>
                          <a:cs typeface="Arial" panose="020B0604020202020204" pitchFamily="34" charset="0"/>
                        </a:rPr>
                        <a:t>/2)</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534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SERIAL_CLK_HIGH</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high value ‘1’ or the number of MCLK of 0 level in logic low value ‘0’ when the XD12R is driving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 on read-back.  For more details, refer to Table. 4, Logic high time. (unit </a:t>
                      </a:r>
                      <a:r>
                        <a:rPr lang="en-US" altLang="ko-KR" sz="900" b="0" dirty="0" err="1">
                          <a:solidFill>
                            <a:schemeClr val="tx1"/>
                          </a:solidFill>
                          <a:latin typeface="Arial" panose="020B0604020202020204" pitchFamily="34" charset="0"/>
                          <a:ea typeface="+mn-ea"/>
                          <a:cs typeface="Arial" panose="020B0604020202020204" pitchFamily="34" charset="0"/>
                        </a:rPr>
                        <a:t>mclk</a:t>
                      </a:r>
                      <a:r>
                        <a:rPr lang="en-US" altLang="ko-KR" sz="900" b="0" dirty="0">
                          <a:solidFill>
                            <a:schemeClr val="tx1"/>
                          </a:solidFill>
                          <a:latin typeface="Arial" panose="020B0604020202020204" pitchFamily="34" charset="0"/>
                          <a:ea typeface="+mn-ea"/>
                          <a:cs typeface="Arial" panose="020B0604020202020204" pitchFamily="34" charset="0"/>
                        </a:rPr>
                        <a:t>/2)</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bl>
          </a:graphicData>
        </a:graphic>
      </p:graphicFrame>
      <p:graphicFrame>
        <p:nvGraphicFramePr>
          <p:cNvPr id="17" name="표 16">
            <a:extLst>
              <a:ext uri="{FF2B5EF4-FFF2-40B4-BE49-F238E27FC236}">
                <a16:creationId xmlns:a16="http://schemas.microsoft.com/office/drawing/2014/main" id="{0738ED28-379C-18F2-ECD4-2CB3C3F6EE76}"/>
              </a:ext>
            </a:extLst>
          </p:cNvPr>
          <p:cNvGraphicFramePr>
            <a:graphicFrameLocks noGrp="1"/>
          </p:cNvGraphicFramePr>
          <p:nvPr>
            <p:extLst>
              <p:ext uri="{D42A27DB-BD31-4B8C-83A1-F6EECF244321}">
                <p14:modId xmlns:p14="http://schemas.microsoft.com/office/powerpoint/2010/main" val="613424283"/>
              </p:ext>
            </p:extLst>
          </p:nvPr>
        </p:nvGraphicFramePr>
        <p:xfrm>
          <a:off x="400554" y="3982404"/>
          <a:ext cx="6048609" cy="372600"/>
        </p:xfrm>
        <a:graphic>
          <a:graphicData uri="http://schemas.openxmlformats.org/drawingml/2006/table">
            <a:tbl>
              <a:tblPr firstRow="1" bandRow="1">
                <a:tableStyleId>{5C22544A-7EE6-4342-B048-85BDC9FD1C3A}</a:tableStyleId>
              </a:tblPr>
              <a:tblGrid>
                <a:gridCol w="288979">
                  <a:extLst>
                    <a:ext uri="{9D8B030D-6E8A-4147-A177-3AD203B41FA5}">
                      <a16:colId xmlns:a16="http://schemas.microsoft.com/office/drawing/2014/main" val="657570846"/>
                    </a:ext>
                  </a:extLst>
                </a:gridCol>
                <a:gridCol w="338173">
                  <a:extLst>
                    <a:ext uri="{9D8B030D-6E8A-4147-A177-3AD203B41FA5}">
                      <a16:colId xmlns:a16="http://schemas.microsoft.com/office/drawing/2014/main" val="3259894497"/>
                    </a:ext>
                  </a:extLst>
                </a:gridCol>
                <a:gridCol w="453524">
                  <a:extLst>
                    <a:ext uri="{9D8B030D-6E8A-4147-A177-3AD203B41FA5}">
                      <a16:colId xmlns:a16="http://schemas.microsoft.com/office/drawing/2014/main" val="4170535043"/>
                    </a:ext>
                  </a:extLst>
                </a:gridCol>
                <a:gridCol w="418634">
                  <a:extLst>
                    <a:ext uri="{9D8B030D-6E8A-4147-A177-3AD203B41FA5}">
                      <a16:colId xmlns:a16="http://schemas.microsoft.com/office/drawing/2014/main" val="2079070694"/>
                    </a:ext>
                  </a:extLst>
                </a:gridCol>
                <a:gridCol w="418634">
                  <a:extLst>
                    <a:ext uri="{9D8B030D-6E8A-4147-A177-3AD203B41FA5}">
                      <a16:colId xmlns:a16="http://schemas.microsoft.com/office/drawing/2014/main" val="4213315911"/>
                    </a:ext>
                  </a:extLst>
                </a:gridCol>
                <a:gridCol w="418634">
                  <a:extLst>
                    <a:ext uri="{9D8B030D-6E8A-4147-A177-3AD203B41FA5}">
                      <a16:colId xmlns:a16="http://schemas.microsoft.com/office/drawing/2014/main" val="2769999950"/>
                    </a:ext>
                  </a:extLst>
                </a:gridCol>
                <a:gridCol w="418634">
                  <a:extLst>
                    <a:ext uri="{9D8B030D-6E8A-4147-A177-3AD203B41FA5}">
                      <a16:colId xmlns:a16="http://schemas.microsoft.com/office/drawing/2014/main" val="135637185"/>
                    </a:ext>
                  </a:extLst>
                </a:gridCol>
                <a:gridCol w="418634">
                  <a:extLst>
                    <a:ext uri="{9D8B030D-6E8A-4147-A177-3AD203B41FA5}">
                      <a16:colId xmlns:a16="http://schemas.microsoft.com/office/drawing/2014/main" val="3038050475"/>
                    </a:ext>
                  </a:extLst>
                </a:gridCol>
                <a:gridCol w="418634">
                  <a:extLst>
                    <a:ext uri="{9D8B030D-6E8A-4147-A177-3AD203B41FA5}">
                      <a16:colId xmlns:a16="http://schemas.microsoft.com/office/drawing/2014/main" val="1979433044"/>
                    </a:ext>
                  </a:extLst>
                </a:gridCol>
                <a:gridCol w="418634">
                  <a:extLst>
                    <a:ext uri="{9D8B030D-6E8A-4147-A177-3AD203B41FA5}">
                      <a16:colId xmlns:a16="http://schemas.microsoft.com/office/drawing/2014/main" val="4270661649"/>
                    </a:ext>
                  </a:extLst>
                </a:gridCol>
                <a:gridCol w="418634">
                  <a:extLst>
                    <a:ext uri="{9D8B030D-6E8A-4147-A177-3AD203B41FA5}">
                      <a16:colId xmlns:a16="http://schemas.microsoft.com/office/drawing/2014/main" val="3027041370"/>
                    </a:ext>
                  </a:extLst>
                </a:gridCol>
                <a:gridCol w="409244">
                  <a:extLst>
                    <a:ext uri="{9D8B030D-6E8A-4147-A177-3AD203B41FA5}">
                      <a16:colId xmlns:a16="http://schemas.microsoft.com/office/drawing/2014/main" val="2852526216"/>
                    </a:ext>
                  </a:extLst>
                </a:gridCol>
                <a:gridCol w="409244">
                  <a:extLst>
                    <a:ext uri="{9D8B030D-6E8A-4147-A177-3AD203B41FA5}">
                      <a16:colId xmlns:a16="http://schemas.microsoft.com/office/drawing/2014/main" val="103420222"/>
                    </a:ext>
                  </a:extLst>
                </a:gridCol>
                <a:gridCol w="409244">
                  <a:extLst>
                    <a:ext uri="{9D8B030D-6E8A-4147-A177-3AD203B41FA5}">
                      <a16:colId xmlns:a16="http://schemas.microsoft.com/office/drawing/2014/main" val="1470405609"/>
                    </a:ext>
                  </a:extLst>
                </a:gridCol>
                <a:gridCol w="39112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SERIAL_CLK_LOW [5:0]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SERIAL_CLK_HIGH [5:0]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8" name="TextBox 17">
            <a:extLst>
              <a:ext uri="{FF2B5EF4-FFF2-40B4-BE49-F238E27FC236}">
                <a16:creationId xmlns:a16="http://schemas.microsoft.com/office/drawing/2014/main" id="{D2BBA24D-3215-0A43-8722-B85CFCC5505B}"/>
              </a:ext>
            </a:extLst>
          </p:cNvPr>
          <p:cNvSpPr txBox="1"/>
          <p:nvPr/>
        </p:nvSpPr>
        <p:spPr>
          <a:xfrm>
            <a:off x="424787" y="6590145"/>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SERIAL LATENCY</a:t>
            </a:r>
          </a:p>
        </p:txBody>
      </p:sp>
      <p:graphicFrame>
        <p:nvGraphicFramePr>
          <p:cNvPr id="19" name="표 18">
            <a:extLst>
              <a:ext uri="{FF2B5EF4-FFF2-40B4-BE49-F238E27FC236}">
                <a16:creationId xmlns:a16="http://schemas.microsoft.com/office/drawing/2014/main" id="{D8746F16-2A79-1E22-42F1-DCA84C8BDF02}"/>
              </a:ext>
            </a:extLst>
          </p:cNvPr>
          <p:cNvGraphicFramePr>
            <a:graphicFrameLocks noGrp="1"/>
          </p:cNvGraphicFramePr>
          <p:nvPr>
            <p:extLst>
              <p:ext uri="{D42A27DB-BD31-4B8C-83A1-F6EECF244321}">
                <p14:modId xmlns:p14="http://schemas.microsoft.com/office/powerpoint/2010/main" val="258283071"/>
              </p:ext>
            </p:extLst>
          </p:nvPr>
        </p:nvGraphicFramePr>
        <p:xfrm>
          <a:off x="399387" y="7373123"/>
          <a:ext cx="6048610" cy="1604593"/>
        </p:xfrm>
        <a:graphic>
          <a:graphicData uri="http://schemas.openxmlformats.org/drawingml/2006/table">
            <a:tbl>
              <a:tblPr firstRow="1" bandRow="1">
                <a:tableStyleId>{5C22544A-7EE6-4342-B048-85BDC9FD1C3A}</a:tableStyleId>
              </a:tblPr>
              <a:tblGrid>
                <a:gridCol w="437163">
                  <a:extLst>
                    <a:ext uri="{9D8B030D-6E8A-4147-A177-3AD203B41FA5}">
                      <a16:colId xmlns:a16="http://schemas.microsoft.com/office/drawing/2014/main" val="4170535043"/>
                    </a:ext>
                  </a:extLst>
                </a:gridCol>
                <a:gridCol w="1145495">
                  <a:extLst>
                    <a:ext uri="{9D8B030D-6E8A-4147-A177-3AD203B41FA5}">
                      <a16:colId xmlns:a16="http://schemas.microsoft.com/office/drawing/2014/main" val="2079070694"/>
                    </a:ext>
                  </a:extLst>
                </a:gridCol>
                <a:gridCol w="4465952">
                  <a:extLst>
                    <a:ext uri="{9D8B030D-6E8A-4147-A177-3AD203B41FA5}">
                      <a16:colId xmlns:a16="http://schemas.microsoft.com/office/drawing/2014/main" val="32595803"/>
                    </a:ext>
                  </a:extLst>
                </a:gridCol>
              </a:tblGrid>
              <a:tr h="298153">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1573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SERIAL_LAT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interval time between the successive data packets incoming from the XC. That means the interval time between the last bit of n</a:t>
                      </a:r>
                      <a:r>
                        <a:rPr lang="en-US" altLang="ko-KR" sz="900" b="0" baseline="30000" dirty="0">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XD12R  device’s data packet and the first bit of (n+1)</a:t>
                      </a:r>
                      <a:r>
                        <a:rPr lang="en-US" altLang="ko-KR" sz="900" b="0" baseline="30000" dirty="0" err="1">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XD12R  device’s data packet incoming from the XC. The setting value should be larger than the 1-bit serial data length time at which the XCR is sending to the daisied XD12R s. So, the proper value depends on the serial baudrate of the XCR and can be set between (1-bit time + 3 MCLKs) and (1-bit time + 5 MCLKs). If the proper value will be set, then the serial data value will be broken.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1" dirty="0">
                          <a:solidFill>
                            <a:schemeClr val="tx1"/>
                          </a:solidFill>
                          <a:latin typeface="Arial" panose="020B0604020202020204" pitchFamily="34" charset="0"/>
                          <a:ea typeface="+mn-ea"/>
                          <a:cs typeface="Arial" panose="020B0604020202020204" pitchFamily="34" charset="0"/>
                        </a:rPr>
                        <a:t>It is careful that this register value should be changed to the proper value firstly in case that the Serializer Output Baudrate of XCR is changed to slow down. </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0" name="표 19">
            <a:extLst>
              <a:ext uri="{FF2B5EF4-FFF2-40B4-BE49-F238E27FC236}">
                <a16:creationId xmlns:a16="http://schemas.microsoft.com/office/drawing/2014/main" id="{B53DE0AB-610D-6165-339F-8BB4D2BACF6A}"/>
              </a:ext>
            </a:extLst>
          </p:cNvPr>
          <p:cNvGraphicFramePr>
            <a:graphicFrameLocks noGrp="1"/>
          </p:cNvGraphicFramePr>
          <p:nvPr>
            <p:extLst>
              <p:ext uri="{D42A27DB-BD31-4B8C-83A1-F6EECF244321}">
                <p14:modId xmlns:p14="http://schemas.microsoft.com/office/powerpoint/2010/main" val="2058294137"/>
              </p:ext>
            </p:extLst>
          </p:nvPr>
        </p:nvGraphicFramePr>
        <p:xfrm>
          <a:off x="404813" y="6852484"/>
          <a:ext cx="6048371" cy="372600"/>
        </p:xfrm>
        <a:graphic>
          <a:graphicData uri="http://schemas.openxmlformats.org/drawingml/2006/table">
            <a:tbl>
              <a:tblPr firstRow="1" bandRow="1">
                <a:tableStyleId>{5C22544A-7EE6-4342-B048-85BDC9FD1C3A}</a:tableStyleId>
              </a:tblPr>
              <a:tblGrid>
                <a:gridCol w="351373">
                  <a:extLst>
                    <a:ext uri="{9D8B030D-6E8A-4147-A177-3AD203B41FA5}">
                      <a16:colId xmlns:a16="http://schemas.microsoft.com/office/drawing/2014/main" val="657570846"/>
                    </a:ext>
                  </a:extLst>
                </a:gridCol>
                <a:gridCol w="386347">
                  <a:extLst>
                    <a:ext uri="{9D8B030D-6E8A-4147-A177-3AD203B41FA5}">
                      <a16:colId xmlns:a16="http://schemas.microsoft.com/office/drawing/2014/main" val="3259894497"/>
                    </a:ext>
                  </a:extLst>
                </a:gridCol>
                <a:gridCol w="454059">
                  <a:extLst>
                    <a:ext uri="{9D8B030D-6E8A-4147-A177-3AD203B41FA5}">
                      <a16:colId xmlns:a16="http://schemas.microsoft.com/office/drawing/2014/main" val="4170535043"/>
                    </a:ext>
                  </a:extLst>
                </a:gridCol>
                <a:gridCol w="404716">
                  <a:extLst>
                    <a:ext uri="{9D8B030D-6E8A-4147-A177-3AD203B41FA5}">
                      <a16:colId xmlns:a16="http://schemas.microsoft.com/office/drawing/2014/main" val="2079070694"/>
                    </a:ext>
                  </a:extLst>
                </a:gridCol>
                <a:gridCol w="404716">
                  <a:extLst>
                    <a:ext uri="{9D8B030D-6E8A-4147-A177-3AD203B41FA5}">
                      <a16:colId xmlns:a16="http://schemas.microsoft.com/office/drawing/2014/main" val="4213315911"/>
                    </a:ext>
                  </a:extLst>
                </a:gridCol>
                <a:gridCol w="404716">
                  <a:extLst>
                    <a:ext uri="{9D8B030D-6E8A-4147-A177-3AD203B41FA5}">
                      <a16:colId xmlns:a16="http://schemas.microsoft.com/office/drawing/2014/main" val="2769999950"/>
                    </a:ext>
                  </a:extLst>
                </a:gridCol>
                <a:gridCol w="404716">
                  <a:extLst>
                    <a:ext uri="{9D8B030D-6E8A-4147-A177-3AD203B41FA5}">
                      <a16:colId xmlns:a16="http://schemas.microsoft.com/office/drawing/2014/main" val="135637185"/>
                    </a:ext>
                  </a:extLst>
                </a:gridCol>
                <a:gridCol w="404716">
                  <a:extLst>
                    <a:ext uri="{9D8B030D-6E8A-4147-A177-3AD203B41FA5}">
                      <a16:colId xmlns:a16="http://schemas.microsoft.com/office/drawing/2014/main" val="3038050475"/>
                    </a:ext>
                  </a:extLst>
                </a:gridCol>
                <a:gridCol w="404716">
                  <a:extLst>
                    <a:ext uri="{9D8B030D-6E8A-4147-A177-3AD203B41FA5}">
                      <a16:colId xmlns:a16="http://schemas.microsoft.com/office/drawing/2014/main" val="1979433044"/>
                    </a:ext>
                  </a:extLst>
                </a:gridCol>
                <a:gridCol w="404716">
                  <a:extLst>
                    <a:ext uri="{9D8B030D-6E8A-4147-A177-3AD203B41FA5}">
                      <a16:colId xmlns:a16="http://schemas.microsoft.com/office/drawing/2014/main" val="4270661649"/>
                    </a:ext>
                  </a:extLst>
                </a:gridCol>
                <a:gridCol w="404716">
                  <a:extLst>
                    <a:ext uri="{9D8B030D-6E8A-4147-A177-3AD203B41FA5}">
                      <a16:colId xmlns:a16="http://schemas.microsoft.com/office/drawing/2014/main" val="3027041370"/>
                    </a:ext>
                  </a:extLst>
                </a:gridCol>
                <a:gridCol w="404716">
                  <a:extLst>
                    <a:ext uri="{9D8B030D-6E8A-4147-A177-3AD203B41FA5}">
                      <a16:colId xmlns:a16="http://schemas.microsoft.com/office/drawing/2014/main" val="2852526216"/>
                    </a:ext>
                  </a:extLst>
                </a:gridCol>
                <a:gridCol w="404716">
                  <a:extLst>
                    <a:ext uri="{9D8B030D-6E8A-4147-A177-3AD203B41FA5}">
                      <a16:colId xmlns:a16="http://schemas.microsoft.com/office/drawing/2014/main" val="103420222"/>
                    </a:ext>
                  </a:extLst>
                </a:gridCol>
                <a:gridCol w="404716">
                  <a:extLst>
                    <a:ext uri="{9D8B030D-6E8A-4147-A177-3AD203B41FA5}">
                      <a16:colId xmlns:a16="http://schemas.microsoft.com/office/drawing/2014/main" val="1470405609"/>
                    </a:ext>
                  </a:extLst>
                </a:gridCol>
                <a:gridCol w="40471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SERIAL_LATENCY [7:0]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 name="표 1">
            <a:extLst>
              <a:ext uri="{FF2B5EF4-FFF2-40B4-BE49-F238E27FC236}">
                <a16:creationId xmlns:a16="http://schemas.microsoft.com/office/drawing/2014/main" id="{498144FC-0ACF-C522-AFC5-B7350D05A0F1}"/>
              </a:ext>
            </a:extLst>
          </p:cNvPr>
          <p:cNvGraphicFramePr>
            <a:graphicFrameLocks noGrp="1"/>
          </p:cNvGraphicFramePr>
          <p:nvPr>
            <p:extLst>
              <p:ext uri="{D42A27DB-BD31-4B8C-83A1-F6EECF244321}">
                <p14:modId xmlns:p14="http://schemas.microsoft.com/office/powerpoint/2010/main" val="4251622869"/>
              </p:ext>
            </p:extLst>
          </p:nvPr>
        </p:nvGraphicFramePr>
        <p:xfrm>
          <a:off x="411788" y="1692400"/>
          <a:ext cx="6053977" cy="1176120"/>
        </p:xfrm>
        <a:graphic>
          <a:graphicData uri="http://schemas.openxmlformats.org/drawingml/2006/table">
            <a:tbl>
              <a:tblPr firstRow="1" bandRow="1">
                <a:tableStyleId>{5C22544A-7EE6-4342-B048-85BDC9FD1C3A}</a:tableStyleId>
              </a:tblPr>
              <a:tblGrid>
                <a:gridCol w="353521">
                  <a:extLst>
                    <a:ext uri="{9D8B030D-6E8A-4147-A177-3AD203B41FA5}">
                      <a16:colId xmlns:a16="http://schemas.microsoft.com/office/drawing/2014/main" val="4170535043"/>
                    </a:ext>
                  </a:extLst>
                </a:gridCol>
                <a:gridCol w="1322448">
                  <a:extLst>
                    <a:ext uri="{9D8B030D-6E8A-4147-A177-3AD203B41FA5}">
                      <a16:colId xmlns:a16="http://schemas.microsoft.com/office/drawing/2014/main" val="2079070694"/>
                    </a:ext>
                  </a:extLst>
                </a:gridCol>
                <a:gridCol w="4378008">
                  <a:extLst>
                    <a:ext uri="{9D8B030D-6E8A-4147-A177-3AD203B41FA5}">
                      <a16:colId xmlns:a16="http://schemas.microsoft.com/office/drawing/2014/main" val="32595803"/>
                    </a:ext>
                  </a:extLst>
                </a:gridCol>
              </a:tblGrid>
              <a:tr h="13788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PARITY_EN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parity check.</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parity check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parity check enable.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RD_EN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This bit is used to enable Command Register data.</a:t>
                      </a:r>
                    </a:p>
                    <a:p>
                      <a:pPr marL="0" marR="0" lvl="0" indent="0" algn="just" defTabSz="685800" rtl="0" eaLnBrk="1" fontAlgn="auto" latinLnBrk="1" hangingPunct="1">
                        <a:lnSpc>
                          <a:spcPct val="100000"/>
                        </a:lnSpc>
                        <a:spcBef>
                          <a:spcPts val="0"/>
                        </a:spcBef>
                        <a:spcAft>
                          <a:spcPts val="0"/>
                        </a:spcAft>
                        <a:buClrTx/>
                        <a:buSzTx/>
                        <a:buFontTx/>
                        <a:buNone/>
                        <a:tabLst/>
                        <a:defRPr/>
                      </a:pP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 0   register read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register read enable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10561164"/>
                  </a:ext>
                </a:extLst>
              </a:tr>
            </a:tbl>
          </a:graphicData>
        </a:graphic>
      </p:graphicFrame>
      <p:sp>
        <p:nvSpPr>
          <p:cNvPr id="3" name="TextBox 2">
            <a:extLst>
              <a:ext uri="{FF2B5EF4-FFF2-40B4-BE49-F238E27FC236}">
                <a16:creationId xmlns:a16="http://schemas.microsoft.com/office/drawing/2014/main" id="{0BD58825-A266-DC92-774E-6F17686FD982}"/>
              </a:ext>
            </a:extLst>
          </p:cNvPr>
          <p:cNvSpPr txBox="1"/>
          <p:nvPr/>
        </p:nvSpPr>
        <p:spPr>
          <a:xfrm>
            <a:off x="395545" y="800062"/>
            <a:ext cx="605397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PARITY_EN &amp; RD_EN</a:t>
            </a:r>
          </a:p>
        </p:txBody>
      </p:sp>
      <p:graphicFrame>
        <p:nvGraphicFramePr>
          <p:cNvPr id="21" name="표 20">
            <a:extLst>
              <a:ext uri="{FF2B5EF4-FFF2-40B4-BE49-F238E27FC236}">
                <a16:creationId xmlns:a16="http://schemas.microsoft.com/office/drawing/2014/main" id="{79C9F6CE-A40B-364B-1C32-A24B1FD8F135}"/>
              </a:ext>
            </a:extLst>
          </p:cNvPr>
          <p:cNvGraphicFramePr>
            <a:graphicFrameLocks noGrp="1"/>
          </p:cNvGraphicFramePr>
          <p:nvPr>
            <p:extLst>
              <p:ext uri="{D42A27DB-BD31-4B8C-83A1-F6EECF244321}">
                <p14:modId xmlns:p14="http://schemas.microsoft.com/office/powerpoint/2010/main" val="4251323829"/>
              </p:ext>
            </p:extLst>
          </p:nvPr>
        </p:nvGraphicFramePr>
        <p:xfrm>
          <a:off x="379304" y="1137396"/>
          <a:ext cx="6208618" cy="479280"/>
        </p:xfrm>
        <a:graphic>
          <a:graphicData uri="http://schemas.openxmlformats.org/drawingml/2006/table">
            <a:tbl>
              <a:tblPr firstRow="1" bandRow="1">
                <a:tableStyleId>{5C22544A-7EE6-4342-B048-85BDC9FD1C3A}</a:tableStyleId>
              </a:tblPr>
              <a:tblGrid>
                <a:gridCol w="339418">
                  <a:extLst>
                    <a:ext uri="{9D8B030D-6E8A-4147-A177-3AD203B41FA5}">
                      <a16:colId xmlns:a16="http://schemas.microsoft.com/office/drawing/2014/main" val="657570846"/>
                    </a:ext>
                  </a:extLst>
                </a:gridCol>
                <a:gridCol w="373202">
                  <a:extLst>
                    <a:ext uri="{9D8B030D-6E8A-4147-A177-3AD203B41FA5}">
                      <a16:colId xmlns:a16="http://schemas.microsoft.com/office/drawing/2014/main" val="3259894497"/>
                    </a:ext>
                  </a:extLst>
                </a:gridCol>
                <a:gridCol w="438610">
                  <a:extLst>
                    <a:ext uri="{9D8B030D-6E8A-4147-A177-3AD203B41FA5}">
                      <a16:colId xmlns:a16="http://schemas.microsoft.com/office/drawing/2014/main" val="4170535043"/>
                    </a:ext>
                  </a:extLst>
                </a:gridCol>
                <a:gridCol w="390946">
                  <a:extLst>
                    <a:ext uri="{9D8B030D-6E8A-4147-A177-3AD203B41FA5}">
                      <a16:colId xmlns:a16="http://schemas.microsoft.com/office/drawing/2014/main" val="2079070694"/>
                    </a:ext>
                  </a:extLst>
                </a:gridCol>
                <a:gridCol w="410819">
                  <a:extLst>
                    <a:ext uri="{9D8B030D-6E8A-4147-A177-3AD203B41FA5}">
                      <a16:colId xmlns:a16="http://schemas.microsoft.com/office/drawing/2014/main" val="4213315911"/>
                    </a:ext>
                  </a:extLst>
                </a:gridCol>
                <a:gridCol w="470662">
                  <a:extLst>
                    <a:ext uri="{9D8B030D-6E8A-4147-A177-3AD203B41FA5}">
                      <a16:colId xmlns:a16="http://schemas.microsoft.com/office/drawing/2014/main" val="2769999950"/>
                    </a:ext>
                  </a:extLst>
                </a:gridCol>
                <a:gridCol w="493873">
                  <a:extLst>
                    <a:ext uri="{9D8B030D-6E8A-4147-A177-3AD203B41FA5}">
                      <a16:colId xmlns:a16="http://schemas.microsoft.com/office/drawing/2014/main" val="135637185"/>
                    </a:ext>
                  </a:extLst>
                </a:gridCol>
                <a:gridCol w="390947">
                  <a:extLst>
                    <a:ext uri="{9D8B030D-6E8A-4147-A177-3AD203B41FA5}">
                      <a16:colId xmlns:a16="http://schemas.microsoft.com/office/drawing/2014/main" val="3038050475"/>
                    </a:ext>
                  </a:extLst>
                </a:gridCol>
                <a:gridCol w="390946">
                  <a:extLst>
                    <a:ext uri="{9D8B030D-6E8A-4147-A177-3AD203B41FA5}">
                      <a16:colId xmlns:a16="http://schemas.microsoft.com/office/drawing/2014/main" val="1979433044"/>
                    </a:ext>
                  </a:extLst>
                </a:gridCol>
                <a:gridCol w="390946">
                  <a:extLst>
                    <a:ext uri="{9D8B030D-6E8A-4147-A177-3AD203B41FA5}">
                      <a16:colId xmlns:a16="http://schemas.microsoft.com/office/drawing/2014/main" val="4270661649"/>
                    </a:ext>
                  </a:extLst>
                </a:gridCol>
                <a:gridCol w="390946">
                  <a:extLst>
                    <a:ext uri="{9D8B030D-6E8A-4147-A177-3AD203B41FA5}">
                      <a16:colId xmlns:a16="http://schemas.microsoft.com/office/drawing/2014/main" val="3027041370"/>
                    </a:ext>
                  </a:extLst>
                </a:gridCol>
                <a:gridCol w="462687">
                  <a:extLst>
                    <a:ext uri="{9D8B030D-6E8A-4147-A177-3AD203B41FA5}">
                      <a16:colId xmlns:a16="http://schemas.microsoft.com/office/drawing/2014/main" val="2852526216"/>
                    </a:ext>
                  </a:extLst>
                </a:gridCol>
                <a:gridCol w="431665">
                  <a:extLst>
                    <a:ext uri="{9D8B030D-6E8A-4147-A177-3AD203B41FA5}">
                      <a16:colId xmlns:a16="http://schemas.microsoft.com/office/drawing/2014/main" val="103420222"/>
                    </a:ext>
                  </a:extLst>
                </a:gridCol>
                <a:gridCol w="442005">
                  <a:extLst>
                    <a:ext uri="{9D8B030D-6E8A-4147-A177-3AD203B41FA5}">
                      <a16:colId xmlns:a16="http://schemas.microsoft.com/office/drawing/2014/main" val="1470405609"/>
                    </a:ext>
                  </a:extLst>
                </a:gridCol>
                <a:gridCol w="39094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PARITY_EN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t>x</a:t>
                      </a:r>
                      <a:endParaRPr sz="700"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t>x</a:t>
                      </a:r>
                      <a:endParaRPr sz="700"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RD_EN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33480672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83B53A36-51B8-8AB8-EC86-E46D71AE66B3}"/>
              </a:ext>
            </a:extLst>
          </p:cNvPr>
          <p:cNvSpPr txBox="1"/>
          <p:nvPr/>
        </p:nvSpPr>
        <p:spPr>
          <a:xfrm>
            <a:off x="404813" y="744417"/>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V_MASK</a:t>
            </a:r>
          </a:p>
        </p:txBody>
      </p:sp>
      <p:graphicFrame>
        <p:nvGraphicFramePr>
          <p:cNvPr id="39" name="표 38">
            <a:extLst>
              <a:ext uri="{FF2B5EF4-FFF2-40B4-BE49-F238E27FC236}">
                <a16:creationId xmlns:a16="http://schemas.microsoft.com/office/drawing/2014/main" id="{1A55B969-6895-80EA-3099-07FC6550AEC4}"/>
              </a:ext>
            </a:extLst>
          </p:cNvPr>
          <p:cNvGraphicFramePr>
            <a:graphicFrameLocks noGrp="1"/>
          </p:cNvGraphicFramePr>
          <p:nvPr>
            <p:extLst>
              <p:ext uri="{D42A27DB-BD31-4B8C-83A1-F6EECF244321}">
                <p14:modId xmlns:p14="http://schemas.microsoft.com/office/powerpoint/2010/main" val="2812221777"/>
              </p:ext>
            </p:extLst>
          </p:nvPr>
        </p:nvGraphicFramePr>
        <p:xfrm>
          <a:off x="404813" y="1000416"/>
          <a:ext cx="6048374" cy="372600"/>
        </p:xfrm>
        <a:graphic>
          <a:graphicData uri="http://schemas.openxmlformats.org/drawingml/2006/table">
            <a:tbl>
              <a:tblPr firstRow="1" bandRow="1">
                <a:tableStyleId>{5C22544A-7EE6-4342-B048-85BDC9FD1C3A}</a:tableStyleId>
              </a:tblPr>
              <a:tblGrid>
                <a:gridCol w="295519">
                  <a:extLst>
                    <a:ext uri="{9D8B030D-6E8A-4147-A177-3AD203B41FA5}">
                      <a16:colId xmlns:a16="http://schemas.microsoft.com/office/drawing/2014/main" val="657570846"/>
                    </a:ext>
                  </a:extLst>
                </a:gridCol>
                <a:gridCol w="345825">
                  <a:extLst>
                    <a:ext uri="{9D8B030D-6E8A-4147-A177-3AD203B41FA5}">
                      <a16:colId xmlns:a16="http://schemas.microsoft.com/office/drawing/2014/main" val="3259894497"/>
                    </a:ext>
                  </a:extLst>
                </a:gridCol>
                <a:gridCol w="506743">
                  <a:extLst>
                    <a:ext uri="{9D8B030D-6E8A-4147-A177-3AD203B41FA5}">
                      <a16:colId xmlns:a16="http://schemas.microsoft.com/office/drawing/2014/main" val="4170535043"/>
                    </a:ext>
                  </a:extLst>
                </a:gridCol>
                <a:gridCol w="416746">
                  <a:extLst>
                    <a:ext uri="{9D8B030D-6E8A-4147-A177-3AD203B41FA5}">
                      <a16:colId xmlns:a16="http://schemas.microsoft.com/office/drawing/2014/main" val="2079070694"/>
                    </a:ext>
                  </a:extLst>
                </a:gridCol>
                <a:gridCol w="494238">
                  <a:extLst>
                    <a:ext uri="{9D8B030D-6E8A-4147-A177-3AD203B41FA5}">
                      <a16:colId xmlns:a16="http://schemas.microsoft.com/office/drawing/2014/main" val="4213315911"/>
                    </a:ext>
                  </a:extLst>
                </a:gridCol>
                <a:gridCol w="436129">
                  <a:extLst>
                    <a:ext uri="{9D8B030D-6E8A-4147-A177-3AD203B41FA5}">
                      <a16:colId xmlns:a16="http://schemas.microsoft.com/office/drawing/2014/main" val="2769999950"/>
                    </a:ext>
                  </a:extLst>
                </a:gridCol>
                <a:gridCol w="432344">
                  <a:extLst>
                    <a:ext uri="{9D8B030D-6E8A-4147-A177-3AD203B41FA5}">
                      <a16:colId xmlns:a16="http://schemas.microsoft.com/office/drawing/2014/main" val="135637185"/>
                    </a:ext>
                  </a:extLst>
                </a:gridCol>
                <a:gridCol w="392640">
                  <a:extLst>
                    <a:ext uri="{9D8B030D-6E8A-4147-A177-3AD203B41FA5}">
                      <a16:colId xmlns:a16="http://schemas.microsoft.com/office/drawing/2014/main" val="3038050475"/>
                    </a:ext>
                  </a:extLst>
                </a:gridCol>
                <a:gridCol w="392640">
                  <a:extLst>
                    <a:ext uri="{9D8B030D-6E8A-4147-A177-3AD203B41FA5}">
                      <a16:colId xmlns:a16="http://schemas.microsoft.com/office/drawing/2014/main" val="1979433044"/>
                    </a:ext>
                  </a:extLst>
                </a:gridCol>
                <a:gridCol w="392640">
                  <a:extLst>
                    <a:ext uri="{9D8B030D-6E8A-4147-A177-3AD203B41FA5}">
                      <a16:colId xmlns:a16="http://schemas.microsoft.com/office/drawing/2014/main" val="4270661649"/>
                    </a:ext>
                  </a:extLst>
                </a:gridCol>
                <a:gridCol w="392640">
                  <a:extLst>
                    <a:ext uri="{9D8B030D-6E8A-4147-A177-3AD203B41FA5}">
                      <a16:colId xmlns:a16="http://schemas.microsoft.com/office/drawing/2014/main" val="3027041370"/>
                    </a:ext>
                  </a:extLst>
                </a:gridCol>
                <a:gridCol w="392640">
                  <a:extLst>
                    <a:ext uri="{9D8B030D-6E8A-4147-A177-3AD203B41FA5}">
                      <a16:colId xmlns:a16="http://schemas.microsoft.com/office/drawing/2014/main" val="2852526216"/>
                    </a:ext>
                  </a:extLst>
                </a:gridCol>
                <a:gridCol w="402408">
                  <a:extLst>
                    <a:ext uri="{9D8B030D-6E8A-4147-A177-3AD203B41FA5}">
                      <a16:colId xmlns:a16="http://schemas.microsoft.com/office/drawing/2014/main" val="103420222"/>
                    </a:ext>
                  </a:extLst>
                </a:gridCol>
                <a:gridCol w="392640">
                  <a:extLst>
                    <a:ext uri="{9D8B030D-6E8A-4147-A177-3AD203B41FA5}">
                      <a16:colId xmlns:a16="http://schemas.microsoft.com/office/drawing/2014/main" val="1470405609"/>
                    </a:ext>
                  </a:extLst>
                </a:gridCol>
                <a:gridCol w="362582">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V_MASK [9:0]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40" name="표 39">
            <a:extLst>
              <a:ext uri="{FF2B5EF4-FFF2-40B4-BE49-F238E27FC236}">
                <a16:creationId xmlns:a16="http://schemas.microsoft.com/office/drawing/2014/main" id="{5E4A3898-A33A-F21C-613C-BF0D543313CD}"/>
              </a:ext>
            </a:extLst>
          </p:cNvPr>
          <p:cNvGraphicFramePr>
            <a:graphicFrameLocks noGrp="1"/>
          </p:cNvGraphicFramePr>
          <p:nvPr>
            <p:extLst>
              <p:ext uri="{D42A27DB-BD31-4B8C-83A1-F6EECF244321}">
                <p14:modId xmlns:p14="http://schemas.microsoft.com/office/powerpoint/2010/main" val="1700566060"/>
              </p:ext>
            </p:extLst>
          </p:nvPr>
        </p:nvGraphicFramePr>
        <p:xfrm>
          <a:off x="384769" y="1444587"/>
          <a:ext cx="6046695" cy="679714"/>
        </p:xfrm>
        <a:graphic>
          <a:graphicData uri="http://schemas.openxmlformats.org/drawingml/2006/table">
            <a:tbl>
              <a:tblPr firstRow="1" bandRow="1">
                <a:tableStyleId>{5C22544A-7EE6-4342-B048-85BDC9FD1C3A}</a:tableStyleId>
              </a:tblPr>
              <a:tblGrid>
                <a:gridCol w="439978">
                  <a:extLst>
                    <a:ext uri="{9D8B030D-6E8A-4147-A177-3AD203B41FA5}">
                      <a16:colId xmlns:a16="http://schemas.microsoft.com/office/drawing/2014/main" val="4170535043"/>
                    </a:ext>
                  </a:extLst>
                </a:gridCol>
                <a:gridCol w="1128219">
                  <a:extLst>
                    <a:ext uri="{9D8B030D-6E8A-4147-A177-3AD203B41FA5}">
                      <a16:colId xmlns:a16="http://schemas.microsoft.com/office/drawing/2014/main" val="2079070694"/>
                    </a:ext>
                  </a:extLst>
                </a:gridCol>
                <a:gridCol w="4478498">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800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V_MASK</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V_MASK determines internal VSYNC position. This register is</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only valid</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under</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a:t>
                      </a:r>
                      <a:r>
                        <a:rPr lang="en-US" altLang="ko-KR" sz="900" b="0" dirty="0" err="1">
                          <a:solidFill>
                            <a:schemeClr val="tx1"/>
                          </a:solidFill>
                          <a:latin typeface="Arial" panose="020B0604020202020204" pitchFamily="34" charset="0"/>
                          <a:ea typeface="+mn-ea"/>
                          <a:cs typeface="Arial" panose="020B0604020202020204" pitchFamily="34" charset="0"/>
                        </a:rPr>
                        <a:t>syncmode</a:t>
                      </a:r>
                      <a:r>
                        <a:rPr lang="en-US" altLang="ko-KR" sz="900" b="0" dirty="0">
                          <a:solidFill>
                            <a:schemeClr val="tx1"/>
                          </a:solidFill>
                          <a:latin typeface="Arial" panose="020B0604020202020204" pitchFamily="34" charset="0"/>
                          <a:ea typeface="+mn-ea"/>
                          <a:cs typeface="Arial" panose="020B0604020202020204" pitchFamily="34" charset="0"/>
                        </a:rPr>
                        <a:t> = 1). Refer the picture below.</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4" name="TextBox 43">
            <a:extLst>
              <a:ext uri="{FF2B5EF4-FFF2-40B4-BE49-F238E27FC236}">
                <a16:creationId xmlns:a16="http://schemas.microsoft.com/office/drawing/2014/main" id="{19602BED-C8B2-1F88-3D7A-109D6FB697B5}"/>
              </a:ext>
            </a:extLst>
          </p:cNvPr>
          <p:cNvSpPr txBox="1"/>
          <p:nvPr/>
        </p:nvSpPr>
        <p:spPr>
          <a:xfrm>
            <a:off x="404813" y="3456174"/>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SV_MASK</a:t>
            </a:r>
          </a:p>
        </p:txBody>
      </p:sp>
      <p:graphicFrame>
        <p:nvGraphicFramePr>
          <p:cNvPr id="45" name="표 44">
            <a:extLst>
              <a:ext uri="{FF2B5EF4-FFF2-40B4-BE49-F238E27FC236}">
                <a16:creationId xmlns:a16="http://schemas.microsoft.com/office/drawing/2014/main" id="{43A90684-9D1F-0C14-6777-FBB0F17E45E1}"/>
              </a:ext>
            </a:extLst>
          </p:cNvPr>
          <p:cNvGraphicFramePr>
            <a:graphicFrameLocks noGrp="1"/>
          </p:cNvGraphicFramePr>
          <p:nvPr>
            <p:extLst>
              <p:ext uri="{D42A27DB-BD31-4B8C-83A1-F6EECF244321}">
                <p14:modId xmlns:p14="http://schemas.microsoft.com/office/powerpoint/2010/main" val="1972431652"/>
              </p:ext>
            </p:extLst>
          </p:nvPr>
        </p:nvGraphicFramePr>
        <p:xfrm>
          <a:off x="404813" y="3712173"/>
          <a:ext cx="6048375" cy="372600"/>
        </p:xfrm>
        <a:graphic>
          <a:graphicData uri="http://schemas.openxmlformats.org/drawingml/2006/table">
            <a:tbl>
              <a:tblPr firstRow="1" bandRow="1">
                <a:tableStyleId>{5C22544A-7EE6-4342-B048-85BDC9FD1C3A}</a:tableStyleId>
              </a:tblPr>
              <a:tblGrid>
                <a:gridCol w="295519">
                  <a:extLst>
                    <a:ext uri="{9D8B030D-6E8A-4147-A177-3AD203B41FA5}">
                      <a16:colId xmlns:a16="http://schemas.microsoft.com/office/drawing/2014/main" val="657570846"/>
                    </a:ext>
                  </a:extLst>
                </a:gridCol>
                <a:gridCol w="345825">
                  <a:extLst>
                    <a:ext uri="{9D8B030D-6E8A-4147-A177-3AD203B41FA5}">
                      <a16:colId xmlns:a16="http://schemas.microsoft.com/office/drawing/2014/main" val="3259894497"/>
                    </a:ext>
                  </a:extLst>
                </a:gridCol>
                <a:gridCol w="506743">
                  <a:extLst>
                    <a:ext uri="{9D8B030D-6E8A-4147-A177-3AD203B41FA5}">
                      <a16:colId xmlns:a16="http://schemas.microsoft.com/office/drawing/2014/main" val="4170535043"/>
                    </a:ext>
                  </a:extLst>
                </a:gridCol>
                <a:gridCol w="530387">
                  <a:extLst>
                    <a:ext uri="{9D8B030D-6E8A-4147-A177-3AD203B41FA5}">
                      <a16:colId xmlns:a16="http://schemas.microsoft.com/office/drawing/2014/main" val="2079070694"/>
                    </a:ext>
                  </a:extLst>
                </a:gridCol>
                <a:gridCol w="380598">
                  <a:extLst>
                    <a:ext uri="{9D8B030D-6E8A-4147-A177-3AD203B41FA5}">
                      <a16:colId xmlns:a16="http://schemas.microsoft.com/office/drawing/2014/main" val="4213315911"/>
                    </a:ext>
                  </a:extLst>
                </a:gridCol>
                <a:gridCol w="436129">
                  <a:extLst>
                    <a:ext uri="{9D8B030D-6E8A-4147-A177-3AD203B41FA5}">
                      <a16:colId xmlns:a16="http://schemas.microsoft.com/office/drawing/2014/main" val="2769999950"/>
                    </a:ext>
                  </a:extLst>
                </a:gridCol>
                <a:gridCol w="432344">
                  <a:extLst>
                    <a:ext uri="{9D8B030D-6E8A-4147-A177-3AD203B41FA5}">
                      <a16:colId xmlns:a16="http://schemas.microsoft.com/office/drawing/2014/main" val="135637185"/>
                    </a:ext>
                  </a:extLst>
                </a:gridCol>
                <a:gridCol w="392640">
                  <a:extLst>
                    <a:ext uri="{9D8B030D-6E8A-4147-A177-3AD203B41FA5}">
                      <a16:colId xmlns:a16="http://schemas.microsoft.com/office/drawing/2014/main" val="3038050475"/>
                    </a:ext>
                  </a:extLst>
                </a:gridCol>
                <a:gridCol w="392640">
                  <a:extLst>
                    <a:ext uri="{9D8B030D-6E8A-4147-A177-3AD203B41FA5}">
                      <a16:colId xmlns:a16="http://schemas.microsoft.com/office/drawing/2014/main" val="1979433044"/>
                    </a:ext>
                  </a:extLst>
                </a:gridCol>
                <a:gridCol w="392640">
                  <a:extLst>
                    <a:ext uri="{9D8B030D-6E8A-4147-A177-3AD203B41FA5}">
                      <a16:colId xmlns:a16="http://schemas.microsoft.com/office/drawing/2014/main" val="4270661649"/>
                    </a:ext>
                  </a:extLst>
                </a:gridCol>
                <a:gridCol w="392640">
                  <a:extLst>
                    <a:ext uri="{9D8B030D-6E8A-4147-A177-3AD203B41FA5}">
                      <a16:colId xmlns:a16="http://schemas.microsoft.com/office/drawing/2014/main" val="3027041370"/>
                    </a:ext>
                  </a:extLst>
                </a:gridCol>
                <a:gridCol w="392640">
                  <a:extLst>
                    <a:ext uri="{9D8B030D-6E8A-4147-A177-3AD203B41FA5}">
                      <a16:colId xmlns:a16="http://schemas.microsoft.com/office/drawing/2014/main" val="2852526216"/>
                    </a:ext>
                  </a:extLst>
                </a:gridCol>
                <a:gridCol w="402408">
                  <a:extLst>
                    <a:ext uri="{9D8B030D-6E8A-4147-A177-3AD203B41FA5}">
                      <a16:colId xmlns:a16="http://schemas.microsoft.com/office/drawing/2014/main" val="103420222"/>
                    </a:ext>
                  </a:extLst>
                </a:gridCol>
                <a:gridCol w="392640">
                  <a:extLst>
                    <a:ext uri="{9D8B030D-6E8A-4147-A177-3AD203B41FA5}">
                      <a16:colId xmlns:a16="http://schemas.microsoft.com/office/drawing/2014/main" val="1470405609"/>
                    </a:ext>
                  </a:extLst>
                </a:gridCol>
                <a:gridCol w="362582">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5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SV_MASK_EN</a:t>
                      </a:r>
                      <a:endParaRPr kumimoji="0" lang="ko-KR" altLang="en-US" sz="5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SV_MASK [9:0]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46" name="표 45">
            <a:extLst>
              <a:ext uri="{FF2B5EF4-FFF2-40B4-BE49-F238E27FC236}">
                <a16:creationId xmlns:a16="http://schemas.microsoft.com/office/drawing/2014/main" id="{0C03E747-81D2-2572-07FD-D1E4D54CC79B}"/>
              </a:ext>
            </a:extLst>
          </p:cNvPr>
          <p:cNvGraphicFramePr>
            <a:graphicFrameLocks noGrp="1"/>
          </p:cNvGraphicFramePr>
          <p:nvPr>
            <p:extLst>
              <p:ext uri="{D42A27DB-BD31-4B8C-83A1-F6EECF244321}">
                <p14:modId xmlns:p14="http://schemas.microsoft.com/office/powerpoint/2010/main" val="1658117645"/>
              </p:ext>
            </p:extLst>
          </p:nvPr>
        </p:nvGraphicFramePr>
        <p:xfrm>
          <a:off x="417695" y="4065773"/>
          <a:ext cx="6046695" cy="857189"/>
        </p:xfrm>
        <a:graphic>
          <a:graphicData uri="http://schemas.openxmlformats.org/drawingml/2006/table">
            <a:tbl>
              <a:tblPr firstRow="1" bandRow="1">
                <a:tableStyleId>{5C22544A-7EE6-4342-B048-85BDC9FD1C3A}</a:tableStyleId>
              </a:tblPr>
              <a:tblGrid>
                <a:gridCol w="439978">
                  <a:extLst>
                    <a:ext uri="{9D8B030D-6E8A-4147-A177-3AD203B41FA5}">
                      <a16:colId xmlns:a16="http://schemas.microsoft.com/office/drawing/2014/main" val="4170535043"/>
                    </a:ext>
                  </a:extLst>
                </a:gridCol>
                <a:gridCol w="1128219">
                  <a:extLst>
                    <a:ext uri="{9D8B030D-6E8A-4147-A177-3AD203B41FA5}">
                      <a16:colId xmlns:a16="http://schemas.microsoft.com/office/drawing/2014/main" val="2079070694"/>
                    </a:ext>
                  </a:extLst>
                </a:gridCol>
                <a:gridCol w="4478498">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890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SV_MASK_EN</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SV_MASK_EN determines SV_MASK function enable or disable.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 1 enable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1890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SV_MASK</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SV_MASK determines internal SVSYNC rising / falling position. </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69891"/>
                  </a:ext>
                </a:extLst>
              </a:tr>
            </a:tbl>
          </a:graphicData>
        </a:graphic>
      </p:graphicFrame>
      <p:sp>
        <p:nvSpPr>
          <p:cNvPr id="3" name="TextBox 2">
            <a:extLst>
              <a:ext uri="{FF2B5EF4-FFF2-40B4-BE49-F238E27FC236}">
                <a16:creationId xmlns:a16="http://schemas.microsoft.com/office/drawing/2014/main" id="{6B77DD34-A322-5D22-CBE4-39955E1647D8}"/>
              </a:ext>
            </a:extLst>
          </p:cNvPr>
          <p:cNvSpPr txBox="1"/>
          <p:nvPr/>
        </p:nvSpPr>
        <p:spPr>
          <a:xfrm>
            <a:off x="421375" y="5363930"/>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RSTCNT</a:t>
            </a:r>
          </a:p>
        </p:txBody>
      </p:sp>
      <p:graphicFrame>
        <p:nvGraphicFramePr>
          <p:cNvPr id="4" name="표 3">
            <a:extLst>
              <a:ext uri="{FF2B5EF4-FFF2-40B4-BE49-F238E27FC236}">
                <a16:creationId xmlns:a16="http://schemas.microsoft.com/office/drawing/2014/main" id="{7F3B34E6-1C8B-528A-478F-C1A45C921525}"/>
              </a:ext>
            </a:extLst>
          </p:cNvPr>
          <p:cNvGraphicFramePr>
            <a:graphicFrameLocks noGrp="1"/>
          </p:cNvGraphicFramePr>
          <p:nvPr>
            <p:extLst>
              <p:ext uri="{D42A27DB-BD31-4B8C-83A1-F6EECF244321}">
                <p14:modId xmlns:p14="http://schemas.microsoft.com/office/powerpoint/2010/main" val="2805891988"/>
              </p:ext>
            </p:extLst>
          </p:nvPr>
        </p:nvGraphicFramePr>
        <p:xfrm>
          <a:off x="404813" y="5619929"/>
          <a:ext cx="6048375" cy="372600"/>
        </p:xfrm>
        <a:graphic>
          <a:graphicData uri="http://schemas.openxmlformats.org/drawingml/2006/table">
            <a:tbl>
              <a:tblPr firstRow="1" bandRow="1">
                <a:tableStyleId>{5C22544A-7EE6-4342-B048-85BDC9FD1C3A}</a:tableStyleId>
              </a:tblPr>
              <a:tblGrid>
                <a:gridCol w="295519">
                  <a:extLst>
                    <a:ext uri="{9D8B030D-6E8A-4147-A177-3AD203B41FA5}">
                      <a16:colId xmlns:a16="http://schemas.microsoft.com/office/drawing/2014/main" val="657570846"/>
                    </a:ext>
                  </a:extLst>
                </a:gridCol>
                <a:gridCol w="345825">
                  <a:extLst>
                    <a:ext uri="{9D8B030D-6E8A-4147-A177-3AD203B41FA5}">
                      <a16:colId xmlns:a16="http://schemas.microsoft.com/office/drawing/2014/main" val="3259894497"/>
                    </a:ext>
                  </a:extLst>
                </a:gridCol>
                <a:gridCol w="506743">
                  <a:extLst>
                    <a:ext uri="{9D8B030D-6E8A-4147-A177-3AD203B41FA5}">
                      <a16:colId xmlns:a16="http://schemas.microsoft.com/office/drawing/2014/main" val="4170535043"/>
                    </a:ext>
                  </a:extLst>
                </a:gridCol>
                <a:gridCol w="530387">
                  <a:extLst>
                    <a:ext uri="{9D8B030D-6E8A-4147-A177-3AD203B41FA5}">
                      <a16:colId xmlns:a16="http://schemas.microsoft.com/office/drawing/2014/main" val="2079070694"/>
                    </a:ext>
                  </a:extLst>
                </a:gridCol>
                <a:gridCol w="380598">
                  <a:extLst>
                    <a:ext uri="{9D8B030D-6E8A-4147-A177-3AD203B41FA5}">
                      <a16:colId xmlns:a16="http://schemas.microsoft.com/office/drawing/2014/main" val="4213315911"/>
                    </a:ext>
                  </a:extLst>
                </a:gridCol>
                <a:gridCol w="436129">
                  <a:extLst>
                    <a:ext uri="{9D8B030D-6E8A-4147-A177-3AD203B41FA5}">
                      <a16:colId xmlns:a16="http://schemas.microsoft.com/office/drawing/2014/main" val="2769999950"/>
                    </a:ext>
                  </a:extLst>
                </a:gridCol>
                <a:gridCol w="432344">
                  <a:extLst>
                    <a:ext uri="{9D8B030D-6E8A-4147-A177-3AD203B41FA5}">
                      <a16:colId xmlns:a16="http://schemas.microsoft.com/office/drawing/2014/main" val="135637185"/>
                    </a:ext>
                  </a:extLst>
                </a:gridCol>
                <a:gridCol w="392640">
                  <a:extLst>
                    <a:ext uri="{9D8B030D-6E8A-4147-A177-3AD203B41FA5}">
                      <a16:colId xmlns:a16="http://schemas.microsoft.com/office/drawing/2014/main" val="3038050475"/>
                    </a:ext>
                  </a:extLst>
                </a:gridCol>
                <a:gridCol w="392640">
                  <a:extLst>
                    <a:ext uri="{9D8B030D-6E8A-4147-A177-3AD203B41FA5}">
                      <a16:colId xmlns:a16="http://schemas.microsoft.com/office/drawing/2014/main" val="1979433044"/>
                    </a:ext>
                  </a:extLst>
                </a:gridCol>
                <a:gridCol w="392640">
                  <a:extLst>
                    <a:ext uri="{9D8B030D-6E8A-4147-A177-3AD203B41FA5}">
                      <a16:colId xmlns:a16="http://schemas.microsoft.com/office/drawing/2014/main" val="4270661649"/>
                    </a:ext>
                  </a:extLst>
                </a:gridCol>
                <a:gridCol w="392640">
                  <a:extLst>
                    <a:ext uri="{9D8B030D-6E8A-4147-A177-3AD203B41FA5}">
                      <a16:colId xmlns:a16="http://schemas.microsoft.com/office/drawing/2014/main" val="3027041370"/>
                    </a:ext>
                  </a:extLst>
                </a:gridCol>
                <a:gridCol w="392640">
                  <a:extLst>
                    <a:ext uri="{9D8B030D-6E8A-4147-A177-3AD203B41FA5}">
                      <a16:colId xmlns:a16="http://schemas.microsoft.com/office/drawing/2014/main" val="2852526216"/>
                    </a:ext>
                  </a:extLst>
                </a:gridCol>
                <a:gridCol w="402408">
                  <a:extLst>
                    <a:ext uri="{9D8B030D-6E8A-4147-A177-3AD203B41FA5}">
                      <a16:colId xmlns:a16="http://schemas.microsoft.com/office/drawing/2014/main" val="103420222"/>
                    </a:ext>
                  </a:extLst>
                </a:gridCol>
                <a:gridCol w="392640">
                  <a:extLst>
                    <a:ext uri="{9D8B030D-6E8A-4147-A177-3AD203B41FA5}">
                      <a16:colId xmlns:a16="http://schemas.microsoft.com/office/drawing/2014/main" val="1470405609"/>
                    </a:ext>
                  </a:extLst>
                </a:gridCol>
                <a:gridCol w="362582">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latin typeface="Arial" panose="020B0604020202020204" pitchFamily="34" charset="0"/>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RSTCNT[10:0]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6" name="표 5">
            <a:extLst>
              <a:ext uri="{FF2B5EF4-FFF2-40B4-BE49-F238E27FC236}">
                <a16:creationId xmlns:a16="http://schemas.microsoft.com/office/drawing/2014/main" id="{D9842C39-9300-817D-510B-CC8AE9C68C81}"/>
              </a:ext>
            </a:extLst>
          </p:cNvPr>
          <p:cNvGraphicFramePr>
            <a:graphicFrameLocks noGrp="1"/>
          </p:cNvGraphicFramePr>
          <p:nvPr>
            <p:extLst>
              <p:ext uri="{D42A27DB-BD31-4B8C-83A1-F6EECF244321}">
                <p14:modId xmlns:p14="http://schemas.microsoft.com/office/powerpoint/2010/main" val="2920706360"/>
              </p:ext>
            </p:extLst>
          </p:nvPr>
        </p:nvGraphicFramePr>
        <p:xfrm>
          <a:off x="417695" y="6093062"/>
          <a:ext cx="6046695" cy="648029"/>
        </p:xfrm>
        <a:graphic>
          <a:graphicData uri="http://schemas.openxmlformats.org/drawingml/2006/table">
            <a:tbl>
              <a:tblPr firstRow="1" bandRow="1">
                <a:tableStyleId>{5C22544A-7EE6-4342-B048-85BDC9FD1C3A}</a:tableStyleId>
              </a:tblPr>
              <a:tblGrid>
                <a:gridCol w="439978">
                  <a:extLst>
                    <a:ext uri="{9D8B030D-6E8A-4147-A177-3AD203B41FA5}">
                      <a16:colId xmlns:a16="http://schemas.microsoft.com/office/drawing/2014/main" val="4170535043"/>
                    </a:ext>
                  </a:extLst>
                </a:gridCol>
                <a:gridCol w="1128219">
                  <a:extLst>
                    <a:ext uri="{9D8B030D-6E8A-4147-A177-3AD203B41FA5}">
                      <a16:colId xmlns:a16="http://schemas.microsoft.com/office/drawing/2014/main" val="2079070694"/>
                    </a:ext>
                  </a:extLst>
                </a:gridCol>
                <a:gridCol w="4478498">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890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RSTCNT</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RSTCNT determines RESET position for interface (decoder/encoder)</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RSTCNT is counted by a </a:t>
                      </a:r>
                      <a:r>
                        <a:rPr lang="en-US" altLang="ko-KR" sz="900" b="0" dirty="0" err="1">
                          <a:solidFill>
                            <a:schemeClr val="tx1"/>
                          </a:solidFill>
                          <a:latin typeface="Arial" panose="020B0604020202020204" pitchFamily="34" charset="0"/>
                          <a:ea typeface="+mn-ea"/>
                          <a:cs typeface="Arial" panose="020B0604020202020204" pitchFamily="34" charset="0"/>
                        </a:rPr>
                        <a:t>mclk</a:t>
                      </a:r>
                      <a:r>
                        <a:rPr lang="en-US" altLang="ko-KR" sz="900" b="0" dirty="0">
                          <a:solidFill>
                            <a:schemeClr val="tx1"/>
                          </a:solidFill>
                          <a:latin typeface="Arial" panose="020B0604020202020204" pitchFamily="34" charset="0"/>
                          <a:ea typeface="+mn-ea"/>
                          <a:cs typeface="Arial" panose="020B0604020202020204" pitchFamily="34" charset="0"/>
                        </a:rPr>
                        <a:t>/64 from a last svsync, reset at every </a:t>
                      </a:r>
                      <a:r>
                        <a:rPr lang="en-US" altLang="ko-KR" sz="900" b="0" dirty="0" err="1">
                          <a:solidFill>
                            <a:schemeClr val="tx1"/>
                          </a:solidFill>
                          <a:latin typeface="Arial" panose="020B0604020202020204" pitchFamily="34" charset="0"/>
                          <a:ea typeface="+mn-ea"/>
                          <a:cs typeface="Arial" panose="020B0604020202020204" pitchFamily="34" charset="0"/>
                        </a:rPr>
                        <a:t>vsync</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F8841AF7-A2B7-B367-3181-377F4C5B604F}"/>
              </a:ext>
            </a:extLst>
          </p:cNvPr>
          <p:cNvSpPr txBox="1"/>
          <p:nvPr/>
        </p:nvSpPr>
        <p:spPr>
          <a:xfrm>
            <a:off x="388449" y="7208613"/>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TIMEOUT</a:t>
            </a:r>
          </a:p>
        </p:txBody>
      </p:sp>
      <p:graphicFrame>
        <p:nvGraphicFramePr>
          <p:cNvPr id="9" name="표 8">
            <a:extLst>
              <a:ext uri="{FF2B5EF4-FFF2-40B4-BE49-F238E27FC236}">
                <a16:creationId xmlns:a16="http://schemas.microsoft.com/office/drawing/2014/main" id="{02700F86-541F-33BC-8714-5840CBC606FA}"/>
              </a:ext>
            </a:extLst>
          </p:cNvPr>
          <p:cNvGraphicFramePr>
            <a:graphicFrameLocks noGrp="1"/>
          </p:cNvGraphicFramePr>
          <p:nvPr>
            <p:extLst>
              <p:ext uri="{D42A27DB-BD31-4B8C-83A1-F6EECF244321}">
                <p14:modId xmlns:p14="http://schemas.microsoft.com/office/powerpoint/2010/main" val="2456123783"/>
              </p:ext>
            </p:extLst>
          </p:nvPr>
        </p:nvGraphicFramePr>
        <p:xfrm>
          <a:off x="404813" y="7464612"/>
          <a:ext cx="6048375" cy="372600"/>
        </p:xfrm>
        <a:graphic>
          <a:graphicData uri="http://schemas.openxmlformats.org/drawingml/2006/table">
            <a:tbl>
              <a:tblPr firstRow="1" bandRow="1">
                <a:tableStyleId>{5C22544A-7EE6-4342-B048-85BDC9FD1C3A}</a:tableStyleId>
              </a:tblPr>
              <a:tblGrid>
                <a:gridCol w="293874">
                  <a:extLst>
                    <a:ext uri="{9D8B030D-6E8A-4147-A177-3AD203B41FA5}">
                      <a16:colId xmlns:a16="http://schemas.microsoft.com/office/drawing/2014/main" val="657570846"/>
                    </a:ext>
                  </a:extLst>
                </a:gridCol>
                <a:gridCol w="343900">
                  <a:extLst>
                    <a:ext uri="{9D8B030D-6E8A-4147-A177-3AD203B41FA5}">
                      <a16:colId xmlns:a16="http://schemas.microsoft.com/office/drawing/2014/main" val="3259894497"/>
                    </a:ext>
                  </a:extLst>
                </a:gridCol>
                <a:gridCol w="503923">
                  <a:extLst>
                    <a:ext uri="{9D8B030D-6E8A-4147-A177-3AD203B41FA5}">
                      <a16:colId xmlns:a16="http://schemas.microsoft.com/office/drawing/2014/main" val="4170535043"/>
                    </a:ext>
                  </a:extLst>
                </a:gridCol>
                <a:gridCol w="527435">
                  <a:extLst>
                    <a:ext uri="{9D8B030D-6E8A-4147-A177-3AD203B41FA5}">
                      <a16:colId xmlns:a16="http://schemas.microsoft.com/office/drawing/2014/main" val="2079070694"/>
                    </a:ext>
                  </a:extLst>
                </a:gridCol>
                <a:gridCol w="378480">
                  <a:extLst>
                    <a:ext uri="{9D8B030D-6E8A-4147-A177-3AD203B41FA5}">
                      <a16:colId xmlns:a16="http://schemas.microsoft.com/office/drawing/2014/main" val="4213315911"/>
                    </a:ext>
                  </a:extLst>
                </a:gridCol>
                <a:gridCol w="433702">
                  <a:extLst>
                    <a:ext uri="{9D8B030D-6E8A-4147-A177-3AD203B41FA5}">
                      <a16:colId xmlns:a16="http://schemas.microsoft.com/office/drawing/2014/main" val="2769999950"/>
                    </a:ext>
                  </a:extLst>
                </a:gridCol>
                <a:gridCol w="429938">
                  <a:extLst>
                    <a:ext uri="{9D8B030D-6E8A-4147-A177-3AD203B41FA5}">
                      <a16:colId xmlns:a16="http://schemas.microsoft.com/office/drawing/2014/main" val="135637185"/>
                    </a:ext>
                  </a:extLst>
                </a:gridCol>
                <a:gridCol w="390455">
                  <a:extLst>
                    <a:ext uri="{9D8B030D-6E8A-4147-A177-3AD203B41FA5}">
                      <a16:colId xmlns:a16="http://schemas.microsoft.com/office/drawing/2014/main" val="3038050475"/>
                    </a:ext>
                  </a:extLst>
                </a:gridCol>
                <a:gridCol w="390455">
                  <a:extLst>
                    <a:ext uri="{9D8B030D-6E8A-4147-A177-3AD203B41FA5}">
                      <a16:colId xmlns:a16="http://schemas.microsoft.com/office/drawing/2014/main" val="1979433044"/>
                    </a:ext>
                  </a:extLst>
                </a:gridCol>
                <a:gridCol w="390455">
                  <a:extLst>
                    <a:ext uri="{9D8B030D-6E8A-4147-A177-3AD203B41FA5}">
                      <a16:colId xmlns:a16="http://schemas.microsoft.com/office/drawing/2014/main" val="4270661649"/>
                    </a:ext>
                  </a:extLst>
                </a:gridCol>
                <a:gridCol w="390455">
                  <a:extLst>
                    <a:ext uri="{9D8B030D-6E8A-4147-A177-3AD203B41FA5}">
                      <a16:colId xmlns:a16="http://schemas.microsoft.com/office/drawing/2014/main" val="3027041370"/>
                    </a:ext>
                  </a:extLst>
                </a:gridCol>
                <a:gridCol w="390455">
                  <a:extLst>
                    <a:ext uri="{9D8B030D-6E8A-4147-A177-3AD203B41FA5}">
                      <a16:colId xmlns:a16="http://schemas.microsoft.com/office/drawing/2014/main" val="2852526216"/>
                    </a:ext>
                  </a:extLst>
                </a:gridCol>
                <a:gridCol w="400168">
                  <a:extLst>
                    <a:ext uri="{9D8B030D-6E8A-4147-A177-3AD203B41FA5}">
                      <a16:colId xmlns:a16="http://schemas.microsoft.com/office/drawing/2014/main" val="103420222"/>
                    </a:ext>
                  </a:extLst>
                </a:gridCol>
                <a:gridCol w="424117">
                  <a:extLst>
                    <a:ext uri="{9D8B030D-6E8A-4147-A177-3AD203B41FA5}">
                      <a16:colId xmlns:a16="http://schemas.microsoft.com/office/drawing/2014/main" val="1470405609"/>
                    </a:ext>
                  </a:extLst>
                </a:gridCol>
                <a:gridCol w="360563">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0x7FF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latin typeface="Arial" panose="020B0604020202020204" pitchFamily="34" charset="0"/>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sz="700" dirty="0">
                          <a:latin typeface="Arial" panose="020B0604020202020204" pitchFamily="34" charset="0"/>
                          <a:cs typeface="Arial" panose="020B0604020202020204" pitchFamily="34" charset="0"/>
                        </a:rPr>
                        <a:t>TIMEOUT[10:0]</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11" name="표 10">
            <a:extLst>
              <a:ext uri="{FF2B5EF4-FFF2-40B4-BE49-F238E27FC236}">
                <a16:creationId xmlns:a16="http://schemas.microsoft.com/office/drawing/2014/main" id="{7A5B8558-CB14-B758-93AA-E862D3456F37}"/>
              </a:ext>
            </a:extLst>
          </p:cNvPr>
          <p:cNvGraphicFramePr>
            <a:graphicFrameLocks noGrp="1"/>
          </p:cNvGraphicFramePr>
          <p:nvPr>
            <p:extLst>
              <p:ext uri="{D42A27DB-BD31-4B8C-83A1-F6EECF244321}">
                <p14:modId xmlns:p14="http://schemas.microsoft.com/office/powerpoint/2010/main" val="4086728388"/>
              </p:ext>
            </p:extLst>
          </p:nvPr>
        </p:nvGraphicFramePr>
        <p:xfrm>
          <a:off x="404813" y="7937745"/>
          <a:ext cx="6026651" cy="648029"/>
        </p:xfrm>
        <a:graphic>
          <a:graphicData uri="http://schemas.openxmlformats.org/drawingml/2006/table">
            <a:tbl>
              <a:tblPr firstRow="1" bandRow="1">
                <a:tableStyleId>{5C22544A-7EE6-4342-B048-85BDC9FD1C3A}</a:tableStyleId>
              </a:tblPr>
              <a:tblGrid>
                <a:gridCol w="438520">
                  <a:extLst>
                    <a:ext uri="{9D8B030D-6E8A-4147-A177-3AD203B41FA5}">
                      <a16:colId xmlns:a16="http://schemas.microsoft.com/office/drawing/2014/main" val="4170535043"/>
                    </a:ext>
                  </a:extLst>
                </a:gridCol>
                <a:gridCol w="1124479">
                  <a:extLst>
                    <a:ext uri="{9D8B030D-6E8A-4147-A177-3AD203B41FA5}">
                      <a16:colId xmlns:a16="http://schemas.microsoft.com/office/drawing/2014/main" val="2079070694"/>
                    </a:ext>
                  </a:extLst>
                </a:gridCol>
                <a:gridCol w="4463652">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890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TIMEOUT</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TIMEOUT is the READOUT output waiting time. If no readout is input for more than TIMEOUT, the read operation is stopped.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pic>
        <p:nvPicPr>
          <p:cNvPr id="2" name="그림 1">
            <a:extLst>
              <a:ext uri="{FF2B5EF4-FFF2-40B4-BE49-F238E27FC236}">
                <a16:creationId xmlns:a16="http://schemas.microsoft.com/office/drawing/2014/main" id="{831AA078-1B79-47E0-5E58-CC8021161DF5}"/>
              </a:ext>
            </a:extLst>
          </p:cNvPr>
          <p:cNvPicPr>
            <a:picLocks noChangeAspect="1"/>
          </p:cNvPicPr>
          <p:nvPr/>
        </p:nvPicPr>
        <p:blipFill>
          <a:blip r:embed="rId2"/>
          <a:stretch>
            <a:fillRect/>
          </a:stretch>
        </p:blipFill>
        <p:spPr>
          <a:xfrm>
            <a:off x="499416" y="2303748"/>
            <a:ext cx="5628333" cy="857189"/>
          </a:xfrm>
          <a:prstGeom prst="rect">
            <a:avLst/>
          </a:prstGeom>
        </p:spPr>
      </p:pic>
    </p:spTree>
    <p:extLst>
      <p:ext uri="{BB962C8B-B14F-4D97-AF65-F5344CB8AC3E}">
        <p14:creationId xmlns:p14="http://schemas.microsoft.com/office/powerpoint/2010/main" val="17493792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09B56D3-A1E6-0BF0-F524-22950314FD50}"/>
              </a:ext>
            </a:extLst>
          </p:cNvPr>
          <p:cNvSpPr txBox="1"/>
          <p:nvPr/>
        </p:nvSpPr>
        <p:spPr>
          <a:xfrm>
            <a:off x="382631" y="786066"/>
            <a:ext cx="60572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FLL CONTROL</a:t>
            </a:r>
          </a:p>
        </p:txBody>
      </p:sp>
      <p:graphicFrame>
        <p:nvGraphicFramePr>
          <p:cNvPr id="7" name="표 6">
            <a:extLst>
              <a:ext uri="{FF2B5EF4-FFF2-40B4-BE49-F238E27FC236}">
                <a16:creationId xmlns:a16="http://schemas.microsoft.com/office/drawing/2014/main" id="{48A8FF4F-56C0-AD0F-DC5D-83EF91DACFA8}"/>
              </a:ext>
            </a:extLst>
          </p:cNvPr>
          <p:cNvGraphicFramePr>
            <a:graphicFrameLocks noGrp="1"/>
          </p:cNvGraphicFramePr>
          <p:nvPr>
            <p:extLst>
              <p:ext uri="{D42A27DB-BD31-4B8C-83A1-F6EECF244321}">
                <p14:modId xmlns:p14="http://schemas.microsoft.com/office/powerpoint/2010/main" val="3776927697"/>
              </p:ext>
            </p:extLst>
          </p:nvPr>
        </p:nvGraphicFramePr>
        <p:xfrm>
          <a:off x="382378" y="1921468"/>
          <a:ext cx="6061539" cy="1906627"/>
        </p:xfrm>
        <a:graphic>
          <a:graphicData uri="http://schemas.openxmlformats.org/drawingml/2006/table">
            <a:tbl>
              <a:tblPr firstRow="1" bandRow="1">
                <a:tableStyleId>{5C22544A-7EE6-4342-B048-85BDC9FD1C3A}</a:tableStyleId>
              </a:tblPr>
              <a:tblGrid>
                <a:gridCol w="331867">
                  <a:extLst>
                    <a:ext uri="{9D8B030D-6E8A-4147-A177-3AD203B41FA5}">
                      <a16:colId xmlns:a16="http://schemas.microsoft.com/office/drawing/2014/main" val="4170535043"/>
                    </a:ext>
                  </a:extLst>
                </a:gridCol>
                <a:gridCol w="1181468">
                  <a:extLst>
                    <a:ext uri="{9D8B030D-6E8A-4147-A177-3AD203B41FA5}">
                      <a16:colId xmlns:a16="http://schemas.microsoft.com/office/drawing/2014/main" val="2079070694"/>
                    </a:ext>
                  </a:extLst>
                </a:gridCol>
                <a:gridCol w="4548204">
                  <a:extLst>
                    <a:ext uri="{9D8B030D-6E8A-4147-A177-3AD203B41FA5}">
                      <a16:colId xmlns:a16="http://schemas.microsoft.com/office/drawing/2014/main" val="32595803"/>
                    </a:ext>
                  </a:extLst>
                </a:gridCol>
              </a:tblGrid>
              <a:tr h="288098">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724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FLLCNT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FLL target frequency value.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FLLCNT is counted by a </a:t>
                      </a:r>
                      <a:r>
                        <a:rPr lang="en-US" altLang="ko-KR" sz="900" b="0" dirty="0" err="1">
                          <a:solidFill>
                            <a:schemeClr val="tx1"/>
                          </a:solidFill>
                          <a:latin typeface="Arial" panose="020B0604020202020204" pitchFamily="34" charset="0"/>
                          <a:ea typeface="+mn-ea"/>
                          <a:cs typeface="Arial" panose="020B0604020202020204" pitchFamily="34" charset="0"/>
                        </a:rPr>
                        <a:t>mclk</a:t>
                      </a:r>
                      <a:r>
                        <a:rPr lang="en-US" altLang="ko-KR" sz="900" b="0">
                          <a:solidFill>
                            <a:schemeClr val="tx1"/>
                          </a:solidFill>
                          <a:latin typeface="Arial" panose="020B0604020202020204" pitchFamily="34" charset="0"/>
                          <a:ea typeface="+mn-ea"/>
                          <a:cs typeface="Arial" panose="020B0604020202020204" pitchFamily="34" charset="0"/>
                        </a:rPr>
                        <a:t>/2</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7724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FLL_EN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enables the FLL function.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The FLL continues to calibrate the MCLK frequency to exactly match the PWM frequency with the time of one frame.</a:t>
                      </a: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FLL function (= The MCLK is unlocking, so calibrated to the target frequency)</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 FLL function (= The MCLK is locking at the current frequency)</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1" dirty="0">
                          <a:solidFill>
                            <a:schemeClr val="tx1"/>
                          </a:solidFill>
                          <a:latin typeface="Arial" panose="020B0604020202020204" pitchFamily="34" charset="0"/>
                          <a:ea typeface="+mn-ea"/>
                          <a:cs typeface="Arial" panose="020B0604020202020204" pitchFamily="34" charset="0"/>
                        </a:rPr>
                        <a:t>It is needed that this bit should be set to 0 just before the first vsync starts to be entered to the XD12R  and set to 1 just before the vsync is not asserted if the vsync will be not supplied any more to the XD12R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6493848"/>
                  </a:ext>
                </a:extLst>
              </a:tr>
              <a:tr h="11493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10:9</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FLL_RANGE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420319"/>
                  </a:ext>
                </a:extLst>
              </a:tr>
            </a:tbl>
          </a:graphicData>
        </a:graphic>
      </p:graphicFrame>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B74AEC9C-7E5E-C643-C092-A9386D372D49}"/>
              </a:ext>
            </a:extLst>
          </p:cNvPr>
          <p:cNvGraphicFramePr>
            <a:graphicFrameLocks noGrp="1"/>
          </p:cNvGraphicFramePr>
          <p:nvPr>
            <p:extLst>
              <p:ext uri="{D42A27DB-BD31-4B8C-83A1-F6EECF244321}">
                <p14:modId xmlns:p14="http://schemas.microsoft.com/office/powerpoint/2010/main" val="1229610175"/>
              </p:ext>
            </p:extLst>
          </p:nvPr>
        </p:nvGraphicFramePr>
        <p:xfrm>
          <a:off x="404813" y="1553077"/>
          <a:ext cx="6048379" cy="387840"/>
        </p:xfrm>
        <a:graphic>
          <a:graphicData uri="http://schemas.openxmlformats.org/drawingml/2006/table">
            <a:tbl>
              <a:tblPr firstRow="1" bandRow="1">
                <a:tableStyleId>{5C22544A-7EE6-4342-B048-85BDC9FD1C3A}</a:tableStyleId>
              </a:tblPr>
              <a:tblGrid>
                <a:gridCol w="296942">
                  <a:extLst>
                    <a:ext uri="{9D8B030D-6E8A-4147-A177-3AD203B41FA5}">
                      <a16:colId xmlns:a16="http://schemas.microsoft.com/office/drawing/2014/main" val="657570846"/>
                    </a:ext>
                  </a:extLst>
                </a:gridCol>
                <a:gridCol w="347491">
                  <a:extLst>
                    <a:ext uri="{9D8B030D-6E8A-4147-A177-3AD203B41FA5}">
                      <a16:colId xmlns:a16="http://schemas.microsoft.com/office/drawing/2014/main" val="3259894497"/>
                    </a:ext>
                  </a:extLst>
                </a:gridCol>
                <a:gridCol w="466020">
                  <a:extLst>
                    <a:ext uri="{9D8B030D-6E8A-4147-A177-3AD203B41FA5}">
                      <a16:colId xmlns:a16="http://schemas.microsoft.com/office/drawing/2014/main" val="4170535043"/>
                    </a:ext>
                  </a:extLst>
                </a:gridCol>
                <a:gridCol w="427835">
                  <a:extLst>
                    <a:ext uri="{9D8B030D-6E8A-4147-A177-3AD203B41FA5}">
                      <a16:colId xmlns:a16="http://schemas.microsoft.com/office/drawing/2014/main" val="2079070694"/>
                    </a:ext>
                  </a:extLst>
                </a:gridCol>
                <a:gridCol w="450416">
                  <a:extLst>
                    <a:ext uri="{9D8B030D-6E8A-4147-A177-3AD203B41FA5}">
                      <a16:colId xmlns:a16="http://schemas.microsoft.com/office/drawing/2014/main" val="4213315911"/>
                    </a:ext>
                  </a:extLst>
                </a:gridCol>
                <a:gridCol w="452837">
                  <a:extLst>
                    <a:ext uri="{9D8B030D-6E8A-4147-A177-3AD203B41FA5}">
                      <a16:colId xmlns:a16="http://schemas.microsoft.com/office/drawing/2014/main" val="2769999950"/>
                    </a:ext>
                  </a:extLst>
                </a:gridCol>
                <a:gridCol w="478250">
                  <a:extLst>
                    <a:ext uri="{9D8B030D-6E8A-4147-A177-3AD203B41FA5}">
                      <a16:colId xmlns:a16="http://schemas.microsoft.com/office/drawing/2014/main" val="135637185"/>
                    </a:ext>
                  </a:extLst>
                </a:gridCol>
                <a:gridCol w="394532">
                  <a:extLst>
                    <a:ext uri="{9D8B030D-6E8A-4147-A177-3AD203B41FA5}">
                      <a16:colId xmlns:a16="http://schemas.microsoft.com/office/drawing/2014/main" val="3038050475"/>
                    </a:ext>
                  </a:extLst>
                </a:gridCol>
                <a:gridCol w="394532">
                  <a:extLst>
                    <a:ext uri="{9D8B030D-6E8A-4147-A177-3AD203B41FA5}">
                      <a16:colId xmlns:a16="http://schemas.microsoft.com/office/drawing/2014/main" val="1979433044"/>
                    </a:ext>
                  </a:extLst>
                </a:gridCol>
                <a:gridCol w="394532">
                  <a:extLst>
                    <a:ext uri="{9D8B030D-6E8A-4147-A177-3AD203B41FA5}">
                      <a16:colId xmlns:a16="http://schemas.microsoft.com/office/drawing/2014/main" val="4270661649"/>
                    </a:ext>
                  </a:extLst>
                </a:gridCol>
                <a:gridCol w="394532">
                  <a:extLst>
                    <a:ext uri="{9D8B030D-6E8A-4147-A177-3AD203B41FA5}">
                      <a16:colId xmlns:a16="http://schemas.microsoft.com/office/drawing/2014/main" val="3027041370"/>
                    </a:ext>
                  </a:extLst>
                </a:gridCol>
                <a:gridCol w="394532">
                  <a:extLst>
                    <a:ext uri="{9D8B030D-6E8A-4147-A177-3AD203B41FA5}">
                      <a16:colId xmlns:a16="http://schemas.microsoft.com/office/drawing/2014/main" val="2852526216"/>
                    </a:ext>
                  </a:extLst>
                </a:gridCol>
                <a:gridCol w="397067">
                  <a:extLst>
                    <a:ext uri="{9D8B030D-6E8A-4147-A177-3AD203B41FA5}">
                      <a16:colId xmlns:a16="http://schemas.microsoft.com/office/drawing/2014/main" val="103420222"/>
                    </a:ext>
                  </a:extLst>
                </a:gridCol>
                <a:gridCol w="394532">
                  <a:extLst>
                    <a:ext uri="{9D8B030D-6E8A-4147-A177-3AD203B41FA5}">
                      <a16:colId xmlns:a16="http://schemas.microsoft.com/office/drawing/2014/main" val="1470405609"/>
                    </a:ext>
                  </a:extLst>
                </a:gridCol>
                <a:gridCol w="36432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0xC32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FLL_EN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FLL_RANGE[1:0]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FLLCNT[20:12]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graphicFrame>
        <p:nvGraphicFramePr>
          <p:cNvPr id="18" name="표 17">
            <a:extLst>
              <a:ext uri="{FF2B5EF4-FFF2-40B4-BE49-F238E27FC236}">
                <a16:creationId xmlns:a16="http://schemas.microsoft.com/office/drawing/2014/main" id="{89F61CF7-913D-64E2-E618-008E8B401C3C}"/>
              </a:ext>
            </a:extLst>
          </p:cNvPr>
          <p:cNvGraphicFramePr>
            <a:graphicFrameLocks noGrp="1"/>
          </p:cNvGraphicFramePr>
          <p:nvPr>
            <p:extLst>
              <p:ext uri="{D42A27DB-BD31-4B8C-83A1-F6EECF244321}">
                <p14:modId xmlns:p14="http://schemas.microsoft.com/office/powerpoint/2010/main" val="2813872066"/>
              </p:ext>
            </p:extLst>
          </p:nvPr>
        </p:nvGraphicFramePr>
        <p:xfrm>
          <a:off x="404812" y="1096476"/>
          <a:ext cx="6048376" cy="372600"/>
        </p:xfrm>
        <a:graphic>
          <a:graphicData uri="http://schemas.openxmlformats.org/drawingml/2006/table">
            <a:tbl>
              <a:tblPr firstRow="1" bandRow="1">
                <a:tableStyleId>{5C22544A-7EE6-4342-B048-85BDC9FD1C3A}</a:tableStyleId>
              </a:tblPr>
              <a:tblGrid>
                <a:gridCol w="291522">
                  <a:extLst>
                    <a:ext uri="{9D8B030D-6E8A-4147-A177-3AD203B41FA5}">
                      <a16:colId xmlns:a16="http://schemas.microsoft.com/office/drawing/2014/main" val="657570846"/>
                    </a:ext>
                  </a:extLst>
                </a:gridCol>
                <a:gridCol w="342375">
                  <a:extLst>
                    <a:ext uri="{9D8B030D-6E8A-4147-A177-3AD203B41FA5}">
                      <a16:colId xmlns:a16="http://schemas.microsoft.com/office/drawing/2014/main" val="3259894497"/>
                    </a:ext>
                  </a:extLst>
                </a:gridCol>
                <a:gridCol w="467475">
                  <a:extLst>
                    <a:ext uri="{9D8B030D-6E8A-4147-A177-3AD203B41FA5}">
                      <a16:colId xmlns:a16="http://schemas.microsoft.com/office/drawing/2014/main" val="4170535043"/>
                    </a:ext>
                  </a:extLst>
                </a:gridCol>
                <a:gridCol w="842922">
                  <a:extLst>
                    <a:ext uri="{9D8B030D-6E8A-4147-A177-3AD203B41FA5}">
                      <a16:colId xmlns:a16="http://schemas.microsoft.com/office/drawing/2014/main" val="2079070694"/>
                    </a:ext>
                  </a:extLst>
                </a:gridCol>
                <a:gridCol w="384274">
                  <a:extLst>
                    <a:ext uri="{9D8B030D-6E8A-4147-A177-3AD203B41FA5}">
                      <a16:colId xmlns:a16="http://schemas.microsoft.com/office/drawing/2014/main" val="4213315911"/>
                    </a:ext>
                  </a:extLst>
                </a:gridCol>
                <a:gridCol w="376548">
                  <a:extLst>
                    <a:ext uri="{9D8B030D-6E8A-4147-A177-3AD203B41FA5}">
                      <a16:colId xmlns:a16="http://schemas.microsoft.com/office/drawing/2014/main" val="2769999950"/>
                    </a:ext>
                  </a:extLst>
                </a:gridCol>
                <a:gridCol w="426431">
                  <a:extLst>
                    <a:ext uri="{9D8B030D-6E8A-4147-A177-3AD203B41FA5}">
                      <a16:colId xmlns:a16="http://schemas.microsoft.com/office/drawing/2014/main" val="135637185"/>
                    </a:ext>
                  </a:extLst>
                </a:gridCol>
                <a:gridCol w="361860">
                  <a:extLst>
                    <a:ext uri="{9D8B030D-6E8A-4147-A177-3AD203B41FA5}">
                      <a16:colId xmlns:a16="http://schemas.microsoft.com/office/drawing/2014/main" val="3038050475"/>
                    </a:ext>
                  </a:extLst>
                </a:gridCol>
                <a:gridCol w="374252">
                  <a:extLst>
                    <a:ext uri="{9D8B030D-6E8A-4147-A177-3AD203B41FA5}">
                      <a16:colId xmlns:a16="http://schemas.microsoft.com/office/drawing/2014/main" val="1979433044"/>
                    </a:ext>
                  </a:extLst>
                </a:gridCol>
                <a:gridCol w="369295">
                  <a:extLst>
                    <a:ext uri="{9D8B030D-6E8A-4147-A177-3AD203B41FA5}">
                      <a16:colId xmlns:a16="http://schemas.microsoft.com/office/drawing/2014/main" val="4270661649"/>
                    </a:ext>
                  </a:extLst>
                </a:gridCol>
                <a:gridCol w="376730">
                  <a:extLst>
                    <a:ext uri="{9D8B030D-6E8A-4147-A177-3AD203B41FA5}">
                      <a16:colId xmlns:a16="http://schemas.microsoft.com/office/drawing/2014/main" val="3027041370"/>
                    </a:ext>
                  </a:extLst>
                </a:gridCol>
                <a:gridCol w="366816">
                  <a:extLst>
                    <a:ext uri="{9D8B030D-6E8A-4147-A177-3AD203B41FA5}">
                      <a16:colId xmlns:a16="http://schemas.microsoft.com/office/drawing/2014/main" val="2852526216"/>
                    </a:ext>
                  </a:extLst>
                </a:gridCol>
                <a:gridCol w="351948">
                  <a:extLst>
                    <a:ext uri="{9D8B030D-6E8A-4147-A177-3AD203B41FA5}">
                      <a16:colId xmlns:a16="http://schemas.microsoft.com/office/drawing/2014/main" val="103420222"/>
                    </a:ext>
                  </a:extLst>
                </a:gridCol>
                <a:gridCol w="351947">
                  <a:extLst>
                    <a:ext uri="{9D8B030D-6E8A-4147-A177-3AD203B41FA5}">
                      <a16:colId xmlns:a16="http://schemas.microsoft.com/office/drawing/2014/main" val="1470405609"/>
                    </a:ext>
                  </a:extLst>
                </a:gridCol>
                <a:gridCol w="36398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FLLCNT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6986462"/>
                  </a:ext>
                </a:extLst>
              </a:tr>
            </a:tbl>
          </a:graphicData>
        </a:graphic>
      </p:graphicFrame>
      <p:sp>
        <p:nvSpPr>
          <p:cNvPr id="3" name="TextBox 2">
            <a:extLst>
              <a:ext uri="{FF2B5EF4-FFF2-40B4-BE49-F238E27FC236}">
                <a16:creationId xmlns:a16="http://schemas.microsoft.com/office/drawing/2014/main" id="{F470ECF6-8CF6-2A72-37E4-E9C31315F8A3}"/>
              </a:ext>
            </a:extLst>
          </p:cNvPr>
          <p:cNvSpPr txBox="1"/>
          <p:nvPr/>
        </p:nvSpPr>
        <p:spPr>
          <a:xfrm>
            <a:off x="404813" y="4953000"/>
            <a:ext cx="60169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WR_PROTECT</a:t>
            </a:r>
          </a:p>
        </p:txBody>
      </p:sp>
      <p:graphicFrame>
        <p:nvGraphicFramePr>
          <p:cNvPr id="9" name="표 8">
            <a:extLst>
              <a:ext uri="{FF2B5EF4-FFF2-40B4-BE49-F238E27FC236}">
                <a16:creationId xmlns:a16="http://schemas.microsoft.com/office/drawing/2014/main" id="{9A5B4602-9808-EC1B-E405-91D7BF92117A}"/>
              </a:ext>
            </a:extLst>
          </p:cNvPr>
          <p:cNvGraphicFramePr>
            <a:graphicFrameLocks noGrp="1"/>
          </p:cNvGraphicFramePr>
          <p:nvPr>
            <p:extLst>
              <p:ext uri="{D42A27DB-BD31-4B8C-83A1-F6EECF244321}">
                <p14:modId xmlns:p14="http://schemas.microsoft.com/office/powerpoint/2010/main" val="4189007813"/>
              </p:ext>
            </p:extLst>
          </p:nvPr>
        </p:nvGraphicFramePr>
        <p:xfrm>
          <a:off x="404812" y="5720961"/>
          <a:ext cx="6034799" cy="1423662"/>
        </p:xfrm>
        <a:graphic>
          <a:graphicData uri="http://schemas.openxmlformats.org/drawingml/2006/table">
            <a:tbl>
              <a:tblPr firstRow="1" bandRow="1">
                <a:tableStyleId>{5C22544A-7EE6-4342-B048-85BDC9FD1C3A}</a:tableStyleId>
              </a:tblPr>
              <a:tblGrid>
                <a:gridCol w="440384">
                  <a:extLst>
                    <a:ext uri="{9D8B030D-6E8A-4147-A177-3AD203B41FA5}">
                      <a16:colId xmlns:a16="http://schemas.microsoft.com/office/drawing/2014/main" val="4170535043"/>
                    </a:ext>
                  </a:extLst>
                </a:gridCol>
                <a:gridCol w="959277">
                  <a:extLst>
                    <a:ext uri="{9D8B030D-6E8A-4147-A177-3AD203B41FA5}">
                      <a16:colId xmlns:a16="http://schemas.microsoft.com/office/drawing/2014/main" val="2079070694"/>
                    </a:ext>
                  </a:extLst>
                </a:gridCol>
                <a:gridCol w="4635138">
                  <a:extLst>
                    <a:ext uri="{9D8B030D-6E8A-4147-A177-3AD203B41FA5}">
                      <a16:colId xmlns:a16="http://schemas.microsoft.com/office/drawing/2014/main" val="32595803"/>
                    </a:ext>
                  </a:extLst>
                </a:gridCol>
              </a:tblGrid>
              <a:tr h="25438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7615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WR_PROTECT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are used REGISTER write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purpose of WR_PROTECT is to prevent registers from being unintentionally written.</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 write-protect1 = 0xAAA : PWMCLK_DIV1/2/3, MAX_CURR_VREF1/2/3 writable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 write-protect2 = 0xCCC : MAX_CURR_VREF1/2/3 writable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 write-protect3 = 0x555 : all register writable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 Other values</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 un-writable </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6" name="표 15">
            <a:extLst>
              <a:ext uri="{FF2B5EF4-FFF2-40B4-BE49-F238E27FC236}">
                <a16:creationId xmlns:a16="http://schemas.microsoft.com/office/drawing/2014/main" id="{4C64A5C7-BAFF-992D-A74D-BEB7178DC029}"/>
              </a:ext>
            </a:extLst>
          </p:cNvPr>
          <p:cNvGraphicFramePr>
            <a:graphicFrameLocks noGrp="1"/>
          </p:cNvGraphicFramePr>
          <p:nvPr>
            <p:extLst>
              <p:ext uri="{D42A27DB-BD31-4B8C-83A1-F6EECF244321}">
                <p14:modId xmlns:p14="http://schemas.microsoft.com/office/powerpoint/2010/main" val="2847934245"/>
              </p:ext>
            </p:extLst>
          </p:nvPr>
        </p:nvGraphicFramePr>
        <p:xfrm>
          <a:off x="404813" y="5204116"/>
          <a:ext cx="6048377" cy="372600"/>
        </p:xfrm>
        <a:graphic>
          <a:graphicData uri="http://schemas.openxmlformats.org/drawingml/2006/table">
            <a:tbl>
              <a:tblPr firstRow="1" bandRow="1">
                <a:tableStyleId>{5C22544A-7EE6-4342-B048-85BDC9FD1C3A}</a:tableStyleId>
              </a:tblPr>
              <a:tblGrid>
                <a:gridCol w="298630">
                  <a:extLst>
                    <a:ext uri="{9D8B030D-6E8A-4147-A177-3AD203B41FA5}">
                      <a16:colId xmlns:a16="http://schemas.microsoft.com/office/drawing/2014/main" val="657570846"/>
                    </a:ext>
                  </a:extLst>
                </a:gridCol>
                <a:gridCol w="349467">
                  <a:extLst>
                    <a:ext uri="{9D8B030D-6E8A-4147-A177-3AD203B41FA5}">
                      <a16:colId xmlns:a16="http://schemas.microsoft.com/office/drawing/2014/main" val="3259894497"/>
                    </a:ext>
                  </a:extLst>
                </a:gridCol>
                <a:gridCol w="468671">
                  <a:extLst>
                    <a:ext uri="{9D8B030D-6E8A-4147-A177-3AD203B41FA5}">
                      <a16:colId xmlns:a16="http://schemas.microsoft.com/office/drawing/2014/main" val="4170535043"/>
                    </a:ext>
                  </a:extLst>
                </a:gridCol>
                <a:gridCol w="430267">
                  <a:extLst>
                    <a:ext uri="{9D8B030D-6E8A-4147-A177-3AD203B41FA5}">
                      <a16:colId xmlns:a16="http://schemas.microsoft.com/office/drawing/2014/main" val="2079070694"/>
                    </a:ext>
                  </a:extLst>
                </a:gridCol>
                <a:gridCol w="421134">
                  <a:extLst>
                    <a:ext uri="{9D8B030D-6E8A-4147-A177-3AD203B41FA5}">
                      <a16:colId xmlns:a16="http://schemas.microsoft.com/office/drawing/2014/main" val="4213315911"/>
                    </a:ext>
                  </a:extLst>
                </a:gridCol>
                <a:gridCol w="455413">
                  <a:extLst>
                    <a:ext uri="{9D8B030D-6E8A-4147-A177-3AD203B41FA5}">
                      <a16:colId xmlns:a16="http://schemas.microsoft.com/office/drawing/2014/main" val="2769999950"/>
                    </a:ext>
                  </a:extLst>
                </a:gridCol>
                <a:gridCol w="480969">
                  <a:extLst>
                    <a:ext uri="{9D8B030D-6E8A-4147-A177-3AD203B41FA5}">
                      <a16:colId xmlns:a16="http://schemas.microsoft.com/office/drawing/2014/main" val="135637185"/>
                    </a:ext>
                  </a:extLst>
                </a:gridCol>
                <a:gridCol w="396775">
                  <a:extLst>
                    <a:ext uri="{9D8B030D-6E8A-4147-A177-3AD203B41FA5}">
                      <a16:colId xmlns:a16="http://schemas.microsoft.com/office/drawing/2014/main" val="3038050475"/>
                    </a:ext>
                  </a:extLst>
                </a:gridCol>
                <a:gridCol w="396775">
                  <a:extLst>
                    <a:ext uri="{9D8B030D-6E8A-4147-A177-3AD203B41FA5}">
                      <a16:colId xmlns:a16="http://schemas.microsoft.com/office/drawing/2014/main" val="1979433044"/>
                    </a:ext>
                  </a:extLst>
                </a:gridCol>
                <a:gridCol w="396775">
                  <a:extLst>
                    <a:ext uri="{9D8B030D-6E8A-4147-A177-3AD203B41FA5}">
                      <a16:colId xmlns:a16="http://schemas.microsoft.com/office/drawing/2014/main" val="4270661649"/>
                    </a:ext>
                  </a:extLst>
                </a:gridCol>
                <a:gridCol w="396775">
                  <a:extLst>
                    <a:ext uri="{9D8B030D-6E8A-4147-A177-3AD203B41FA5}">
                      <a16:colId xmlns:a16="http://schemas.microsoft.com/office/drawing/2014/main" val="3027041370"/>
                    </a:ext>
                  </a:extLst>
                </a:gridCol>
                <a:gridCol w="396775">
                  <a:extLst>
                    <a:ext uri="{9D8B030D-6E8A-4147-A177-3AD203B41FA5}">
                      <a16:colId xmlns:a16="http://schemas.microsoft.com/office/drawing/2014/main" val="2852526216"/>
                    </a:ext>
                  </a:extLst>
                </a:gridCol>
                <a:gridCol w="396775">
                  <a:extLst>
                    <a:ext uri="{9D8B030D-6E8A-4147-A177-3AD203B41FA5}">
                      <a16:colId xmlns:a16="http://schemas.microsoft.com/office/drawing/2014/main" val="103420222"/>
                    </a:ext>
                  </a:extLst>
                </a:gridCol>
                <a:gridCol w="396775">
                  <a:extLst>
                    <a:ext uri="{9D8B030D-6E8A-4147-A177-3AD203B41FA5}">
                      <a16:colId xmlns:a16="http://schemas.microsoft.com/office/drawing/2014/main" val="1470405609"/>
                    </a:ext>
                  </a:extLst>
                </a:gridCol>
                <a:gridCol w="36640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0x555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WR_PROTECT[9:0]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spTree>
    <p:extLst>
      <p:ext uri="{BB962C8B-B14F-4D97-AF65-F5344CB8AC3E}">
        <p14:creationId xmlns:p14="http://schemas.microsoft.com/office/powerpoint/2010/main" val="420139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직선 연결선 3">
            <a:extLst>
              <a:ext uri="{FF2B5EF4-FFF2-40B4-BE49-F238E27FC236}">
                <a16:creationId xmlns:a16="http://schemas.microsoft.com/office/drawing/2014/main" id="{75783E36-D081-8B7A-890F-923F44173C7E}"/>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3F36E75-58AB-1734-4A97-D03F26F4BDFA}"/>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1AD4AAFA-5CAB-3B58-3457-23605F201403}"/>
              </a:ext>
            </a:extLst>
          </p:cNvPr>
          <p:cNvSpPr txBox="1"/>
          <p:nvPr/>
        </p:nvSpPr>
        <p:spPr>
          <a:xfrm>
            <a:off x="404813" y="736491"/>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NF_CONTROL</a:t>
            </a:r>
          </a:p>
        </p:txBody>
      </p:sp>
      <p:graphicFrame>
        <p:nvGraphicFramePr>
          <p:cNvPr id="7" name="표 6">
            <a:extLst>
              <a:ext uri="{FF2B5EF4-FFF2-40B4-BE49-F238E27FC236}">
                <a16:creationId xmlns:a16="http://schemas.microsoft.com/office/drawing/2014/main" id="{61BEBD40-B1FF-FB2B-C6CC-83A0F95F0AAA}"/>
              </a:ext>
            </a:extLst>
          </p:cNvPr>
          <p:cNvGraphicFramePr>
            <a:graphicFrameLocks noGrp="1"/>
          </p:cNvGraphicFramePr>
          <p:nvPr>
            <p:extLst>
              <p:ext uri="{D42A27DB-BD31-4B8C-83A1-F6EECF244321}">
                <p14:modId xmlns:p14="http://schemas.microsoft.com/office/powerpoint/2010/main" val="630109372"/>
              </p:ext>
            </p:extLst>
          </p:nvPr>
        </p:nvGraphicFramePr>
        <p:xfrm>
          <a:off x="414077" y="1550702"/>
          <a:ext cx="6057234" cy="3775902"/>
        </p:xfrm>
        <a:graphic>
          <a:graphicData uri="http://schemas.openxmlformats.org/drawingml/2006/table">
            <a:tbl>
              <a:tblPr firstRow="1" bandRow="1">
                <a:tableStyleId>{5C22544A-7EE6-4342-B048-85BDC9FD1C3A}</a:tableStyleId>
              </a:tblPr>
              <a:tblGrid>
                <a:gridCol w="442021">
                  <a:extLst>
                    <a:ext uri="{9D8B030D-6E8A-4147-A177-3AD203B41FA5}">
                      <a16:colId xmlns:a16="http://schemas.microsoft.com/office/drawing/2014/main" val="4170535043"/>
                    </a:ext>
                  </a:extLst>
                </a:gridCol>
                <a:gridCol w="962843">
                  <a:extLst>
                    <a:ext uri="{9D8B030D-6E8A-4147-A177-3AD203B41FA5}">
                      <a16:colId xmlns:a16="http://schemas.microsoft.com/office/drawing/2014/main" val="2079070694"/>
                    </a:ext>
                  </a:extLst>
                </a:gridCol>
                <a:gridCol w="4652370">
                  <a:extLst>
                    <a:ext uri="{9D8B030D-6E8A-4147-A177-3AD203B41FA5}">
                      <a16:colId xmlns:a16="http://schemas.microsoft.com/office/drawing/2014/main" val="32595803"/>
                    </a:ext>
                  </a:extLst>
                </a:gridCol>
              </a:tblGrid>
              <a:tr h="25438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BBKN_TH</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BBKN_TH is a register for detecting short DIN pulses.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recommended to set BBKN_TH to the max. DIN that should be filtered.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BBKN_TH DIN pulses shorter than this register are not recognized as DIN pulses internally, and the corresponding command is ignored.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4029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EMI_REJ_EN</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EMI_REJ_EN determinant EMI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9603658"/>
                  </a:ext>
                </a:extLst>
              </a:tr>
              <a:tr h="322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SGRJT_EN2</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SGRJT_EN2 determinant SVI glitch within 4-MCLK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637655"/>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SGRJT_EN1</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SGRJT_EN1 determinant SVI glitch within 3-MCLK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24887075"/>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BBKN_EN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BBKN_TH determinant BBKN_EN function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48022440"/>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DGRJT_EN2</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DGRJT_EN2 determinant DIN glitch within 4-MCLK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612521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DGRJT_EN1</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DGRJT_EN1 determinant DIN glitch within 3-MCLK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7656316"/>
                  </a:ext>
                </a:extLst>
              </a:tr>
            </a:tbl>
          </a:graphicData>
        </a:graphic>
      </p:graphicFrame>
      <p:graphicFrame>
        <p:nvGraphicFramePr>
          <p:cNvPr id="8" name="표 7">
            <a:extLst>
              <a:ext uri="{FF2B5EF4-FFF2-40B4-BE49-F238E27FC236}">
                <a16:creationId xmlns:a16="http://schemas.microsoft.com/office/drawing/2014/main" id="{79E71122-A029-7760-6816-E3B566A314AB}"/>
              </a:ext>
            </a:extLst>
          </p:cNvPr>
          <p:cNvGraphicFramePr>
            <a:graphicFrameLocks noGrp="1"/>
          </p:cNvGraphicFramePr>
          <p:nvPr>
            <p:extLst>
              <p:ext uri="{D42A27DB-BD31-4B8C-83A1-F6EECF244321}">
                <p14:modId xmlns:p14="http://schemas.microsoft.com/office/powerpoint/2010/main" val="2220032359"/>
              </p:ext>
            </p:extLst>
          </p:nvPr>
        </p:nvGraphicFramePr>
        <p:xfrm>
          <a:off x="414080" y="1002107"/>
          <a:ext cx="6039108" cy="448800"/>
        </p:xfrm>
        <a:graphic>
          <a:graphicData uri="http://schemas.openxmlformats.org/drawingml/2006/table">
            <a:tbl>
              <a:tblPr firstRow="1" bandRow="1">
                <a:tableStyleId>{5C22544A-7EE6-4342-B048-85BDC9FD1C3A}</a:tableStyleId>
              </a:tblPr>
              <a:tblGrid>
                <a:gridCol w="286039">
                  <a:extLst>
                    <a:ext uri="{9D8B030D-6E8A-4147-A177-3AD203B41FA5}">
                      <a16:colId xmlns:a16="http://schemas.microsoft.com/office/drawing/2014/main" val="657570846"/>
                    </a:ext>
                  </a:extLst>
                </a:gridCol>
                <a:gridCol w="334731">
                  <a:extLst>
                    <a:ext uri="{9D8B030D-6E8A-4147-A177-3AD203B41FA5}">
                      <a16:colId xmlns:a16="http://schemas.microsoft.com/office/drawing/2014/main" val="3259894497"/>
                    </a:ext>
                  </a:extLst>
                </a:gridCol>
                <a:gridCol w="448909">
                  <a:extLst>
                    <a:ext uri="{9D8B030D-6E8A-4147-A177-3AD203B41FA5}">
                      <a16:colId xmlns:a16="http://schemas.microsoft.com/office/drawing/2014/main" val="4170535043"/>
                    </a:ext>
                  </a:extLst>
                </a:gridCol>
                <a:gridCol w="412124">
                  <a:extLst>
                    <a:ext uri="{9D8B030D-6E8A-4147-A177-3AD203B41FA5}">
                      <a16:colId xmlns:a16="http://schemas.microsoft.com/office/drawing/2014/main" val="2079070694"/>
                    </a:ext>
                  </a:extLst>
                </a:gridCol>
                <a:gridCol w="433877">
                  <a:extLst>
                    <a:ext uri="{9D8B030D-6E8A-4147-A177-3AD203B41FA5}">
                      <a16:colId xmlns:a16="http://schemas.microsoft.com/office/drawing/2014/main" val="4213315911"/>
                    </a:ext>
                  </a:extLst>
                </a:gridCol>
                <a:gridCol w="436210">
                  <a:extLst>
                    <a:ext uri="{9D8B030D-6E8A-4147-A177-3AD203B41FA5}">
                      <a16:colId xmlns:a16="http://schemas.microsoft.com/office/drawing/2014/main" val="2769999950"/>
                    </a:ext>
                  </a:extLst>
                </a:gridCol>
                <a:gridCol w="460689">
                  <a:extLst>
                    <a:ext uri="{9D8B030D-6E8A-4147-A177-3AD203B41FA5}">
                      <a16:colId xmlns:a16="http://schemas.microsoft.com/office/drawing/2014/main" val="135637185"/>
                    </a:ext>
                  </a:extLst>
                </a:gridCol>
                <a:gridCol w="380044">
                  <a:extLst>
                    <a:ext uri="{9D8B030D-6E8A-4147-A177-3AD203B41FA5}">
                      <a16:colId xmlns:a16="http://schemas.microsoft.com/office/drawing/2014/main" val="3038050475"/>
                    </a:ext>
                  </a:extLst>
                </a:gridCol>
                <a:gridCol w="380045">
                  <a:extLst>
                    <a:ext uri="{9D8B030D-6E8A-4147-A177-3AD203B41FA5}">
                      <a16:colId xmlns:a16="http://schemas.microsoft.com/office/drawing/2014/main" val="1979433044"/>
                    </a:ext>
                  </a:extLst>
                </a:gridCol>
                <a:gridCol w="433683">
                  <a:extLst>
                    <a:ext uri="{9D8B030D-6E8A-4147-A177-3AD203B41FA5}">
                      <a16:colId xmlns:a16="http://schemas.microsoft.com/office/drawing/2014/main" val="4270661649"/>
                    </a:ext>
                  </a:extLst>
                </a:gridCol>
                <a:gridCol w="438769">
                  <a:extLst>
                    <a:ext uri="{9D8B030D-6E8A-4147-A177-3AD203B41FA5}">
                      <a16:colId xmlns:a16="http://schemas.microsoft.com/office/drawing/2014/main" val="3027041370"/>
                    </a:ext>
                  </a:extLst>
                </a:gridCol>
                <a:gridCol w="437955">
                  <a:extLst>
                    <a:ext uri="{9D8B030D-6E8A-4147-A177-3AD203B41FA5}">
                      <a16:colId xmlns:a16="http://schemas.microsoft.com/office/drawing/2014/main" val="3449227607"/>
                    </a:ext>
                  </a:extLst>
                </a:gridCol>
                <a:gridCol w="380859">
                  <a:extLst>
                    <a:ext uri="{9D8B030D-6E8A-4147-A177-3AD203B41FA5}">
                      <a16:colId xmlns:a16="http://schemas.microsoft.com/office/drawing/2014/main" val="2408248379"/>
                    </a:ext>
                  </a:extLst>
                </a:gridCol>
                <a:gridCol w="365498">
                  <a:extLst>
                    <a:ext uri="{9D8B030D-6E8A-4147-A177-3AD203B41FA5}">
                      <a16:colId xmlns:a16="http://schemas.microsoft.com/office/drawing/2014/main" val="1470405609"/>
                    </a:ext>
                  </a:extLst>
                </a:gridCol>
                <a:gridCol w="409676">
                  <a:extLst>
                    <a:ext uri="{9D8B030D-6E8A-4147-A177-3AD203B41FA5}">
                      <a16:colId xmlns:a16="http://schemas.microsoft.com/office/drawing/2014/main" val="110445146"/>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lang="ko-KR" altLang="en-US"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lang="ko-KR" altLang="en-US"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lang="ko-KR" altLang="en-US" dirty="0"/>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BBKN_TH[5:0]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EMI_REJ_EN</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SGRJT_EN2</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SGRJT_EN1</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BBKN_EN</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DGRJT_EN2</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DGRJT_EN1</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sp>
        <p:nvSpPr>
          <p:cNvPr id="9" name="TextBox 8">
            <a:extLst>
              <a:ext uri="{FF2B5EF4-FFF2-40B4-BE49-F238E27FC236}">
                <a16:creationId xmlns:a16="http://schemas.microsoft.com/office/drawing/2014/main" id="{F14113C2-4F58-B531-12BD-7EAB6936C428}"/>
              </a:ext>
            </a:extLst>
          </p:cNvPr>
          <p:cNvSpPr txBox="1"/>
          <p:nvPr/>
        </p:nvSpPr>
        <p:spPr>
          <a:xfrm>
            <a:off x="422690" y="5315958"/>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CHOP_EN</a:t>
            </a:r>
          </a:p>
        </p:txBody>
      </p:sp>
      <p:graphicFrame>
        <p:nvGraphicFramePr>
          <p:cNvPr id="10" name="표 9">
            <a:extLst>
              <a:ext uri="{FF2B5EF4-FFF2-40B4-BE49-F238E27FC236}">
                <a16:creationId xmlns:a16="http://schemas.microsoft.com/office/drawing/2014/main" id="{D10C771E-E749-65C2-FB00-F13EFFC64BFF}"/>
              </a:ext>
            </a:extLst>
          </p:cNvPr>
          <p:cNvGraphicFramePr>
            <a:graphicFrameLocks noGrp="1"/>
          </p:cNvGraphicFramePr>
          <p:nvPr>
            <p:extLst>
              <p:ext uri="{D42A27DB-BD31-4B8C-83A1-F6EECF244321}">
                <p14:modId xmlns:p14="http://schemas.microsoft.com/office/powerpoint/2010/main" val="1007749523"/>
              </p:ext>
            </p:extLst>
          </p:nvPr>
        </p:nvGraphicFramePr>
        <p:xfrm>
          <a:off x="392113" y="5963608"/>
          <a:ext cx="6057234" cy="3155262"/>
        </p:xfrm>
        <a:graphic>
          <a:graphicData uri="http://schemas.openxmlformats.org/drawingml/2006/table">
            <a:tbl>
              <a:tblPr firstRow="1" bandRow="1">
                <a:tableStyleId>{5C22544A-7EE6-4342-B048-85BDC9FD1C3A}</a:tableStyleId>
              </a:tblPr>
              <a:tblGrid>
                <a:gridCol w="442021">
                  <a:extLst>
                    <a:ext uri="{9D8B030D-6E8A-4147-A177-3AD203B41FA5}">
                      <a16:colId xmlns:a16="http://schemas.microsoft.com/office/drawing/2014/main" val="4170535043"/>
                    </a:ext>
                  </a:extLst>
                </a:gridCol>
                <a:gridCol w="962843">
                  <a:extLst>
                    <a:ext uri="{9D8B030D-6E8A-4147-A177-3AD203B41FA5}">
                      <a16:colId xmlns:a16="http://schemas.microsoft.com/office/drawing/2014/main" val="2079070694"/>
                    </a:ext>
                  </a:extLst>
                </a:gridCol>
                <a:gridCol w="4652370">
                  <a:extLst>
                    <a:ext uri="{9D8B030D-6E8A-4147-A177-3AD203B41FA5}">
                      <a16:colId xmlns:a16="http://schemas.microsoft.com/office/drawing/2014/main" val="32595803"/>
                    </a:ext>
                  </a:extLst>
                </a:gridCol>
              </a:tblGrid>
              <a:tr h="25438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CHOP_DRV_EN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CHOP_DRV_EN enables DRIVER CHOPPING function.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4029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CHOP_OSCLDO_EN</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CHOP_OSCLDO_EN enables OSC LDO CHOPPING function.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9603658"/>
                  </a:ext>
                </a:extLst>
              </a:tr>
              <a:tr h="322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CHOP_OSC_EN</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CHOP_OSC_EN enables OSC CHOPPING function.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637655"/>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CHOP_EN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CHOP_EN must be enabled to use the CHOPPING function.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24887075"/>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CHOP_DAC_EN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CHOP_DAC_EN enables DAC CHOPPING function.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48022440"/>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CHOP_BGR_EN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CHOP_BGR_EN enables BGR CHOPPING function.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6125216"/>
                  </a:ext>
                </a:extLst>
              </a:tr>
            </a:tbl>
          </a:graphicData>
        </a:graphic>
      </p:graphicFrame>
      <p:graphicFrame>
        <p:nvGraphicFramePr>
          <p:cNvPr id="14" name="표 13">
            <a:extLst>
              <a:ext uri="{FF2B5EF4-FFF2-40B4-BE49-F238E27FC236}">
                <a16:creationId xmlns:a16="http://schemas.microsoft.com/office/drawing/2014/main" id="{F06593B5-CB48-DD5F-F914-AD9B347D72D2}"/>
              </a:ext>
            </a:extLst>
          </p:cNvPr>
          <p:cNvGraphicFramePr>
            <a:graphicFrameLocks noGrp="1"/>
          </p:cNvGraphicFramePr>
          <p:nvPr>
            <p:extLst>
              <p:ext uri="{D42A27DB-BD31-4B8C-83A1-F6EECF244321}">
                <p14:modId xmlns:p14="http://schemas.microsoft.com/office/powerpoint/2010/main" val="1185350172"/>
              </p:ext>
            </p:extLst>
          </p:nvPr>
        </p:nvGraphicFramePr>
        <p:xfrm>
          <a:off x="404984" y="5577568"/>
          <a:ext cx="6048450" cy="372600"/>
        </p:xfrm>
        <a:graphic>
          <a:graphicData uri="http://schemas.openxmlformats.org/drawingml/2006/table">
            <a:tbl>
              <a:tblPr firstRow="1" bandRow="1">
                <a:tableStyleId>{5C22544A-7EE6-4342-B048-85BDC9FD1C3A}</a:tableStyleId>
              </a:tblPr>
              <a:tblGrid>
                <a:gridCol w="348464">
                  <a:extLst>
                    <a:ext uri="{9D8B030D-6E8A-4147-A177-3AD203B41FA5}">
                      <a16:colId xmlns:a16="http://schemas.microsoft.com/office/drawing/2014/main" val="657570846"/>
                    </a:ext>
                  </a:extLst>
                </a:gridCol>
                <a:gridCol w="383148">
                  <a:extLst>
                    <a:ext uri="{9D8B030D-6E8A-4147-A177-3AD203B41FA5}">
                      <a16:colId xmlns:a16="http://schemas.microsoft.com/office/drawing/2014/main" val="3259894497"/>
                    </a:ext>
                  </a:extLst>
                </a:gridCol>
                <a:gridCol w="450301">
                  <a:extLst>
                    <a:ext uri="{9D8B030D-6E8A-4147-A177-3AD203B41FA5}">
                      <a16:colId xmlns:a16="http://schemas.microsoft.com/office/drawing/2014/main" val="4170535043"/>
                    </a:ext>
                  </a:extLst>
                </a:gridCol>
                <a:gridCol w="299053">
                  <a:extLst>
                    <a:ext uri="{9D8B030D-6E8A-4147-A177-3AD203B41FA5}">
                      <a16:colId xmlns:a16="http://schemas.microsoft.com/office/drawing/2014/main" val="2079070694"/>
                    </a:ext>
                  </a:extLst>
                </a:gridCol>
                <a:gridCol w="311150">
                  <a:extLst>
                    <a:ext uri="{9D8B030D-6E8A-4147-A177-3AD203B41FA5}">
                      <a16:colId xmlns:a16="http://schemas.microsoft.com/office/drawing/2014/main" val="4213315911"/>
                    </a:ext>
                  </a:extLst>
                </a:gridCol>
                <a:gridCol w="330200">
                  <a:extLst>
                    <a:ext uri="{9D8B030D-6E8A-4147-A177-3AD203B41FA5}">
                      <a16:colId xmlns:a16="http://schemas.microsoft.com/office/drawing/2014/main" val="2769999950"/>
                    </a:ext>
                  </a:extLst>
                </a:gridCol>
                <a:gridCol w="282575">
                  <a:extLst>
                    <a:ext uri="{9D8B030D-6E8A-4147-A177-3AD203B41FA5}">
                      <a16:colId xmlns:a16="http://schemas.microsoft.com/office/drawing/2014/main" val="135637185"/>
                    </a:ext>
                  </a:extLst>
                </a:gridCol>
                <a:gridCol w="254000">
                  <a:extLst>
                    <a:ext uri="{9D8B030D-6E8A-4147-A177-3AD203B41FA5}">
                      <a16:colId xmlns:a16="http://schemas.microsoft.com/office/drawing/2014/main" val="3038050475"/>
                    </a:ext>
                  </a:extLst>
                </a:gridCol>
                <a:gridCol w="257175">
                  <a:extLst>
                    <a:ext uri="{9D8B030D-6E8A-4147-A177-3AD203B41FA5}">
                      <a16:colId xmlns:a16="http://schemas.microsoft.com/office/drawing/2014/main" val="1979433044"/>
                    </a:ext>
                  </a:extLst>
                </a:gridCol>
                <a:gridCol w="527050">
                  <a:extLst>
                    <a:ext uri="{9D8B030D-6E8A-4147-A177-3AD203B41FA5}">
                      <a16:colId xmlns:a16="http://schemas.microsoft.com/office/drawing/2014/main" val="4270661649"/>
                    </a:ext>
                  </a:extLst>
                </a:gridCol>
                <a:gridCol w="619125">
                  <a:extLst>
                    <a:ext uri="{9D8B030D-6E8A-4147-A177-3AD203B41FA5}">
                      <a16:colId xmlns:a16="http://schemas.microsoft.com/office/drawing/2014/main" val="3027041370"/>
                    </a:ext>
                  </a:extLst>
                </a:gridCol>
                <a:gridCol w="476250">
                  <a:extLst>
                    <a:ext uri="{9D8B030D-6E8A-4147-A177-3AD203B41FA5}">
                      <a16:colId xmlns:a16="http://schemas.microsoft.com/office/drawing/2014/main" val="2852526216"/>
                    </a:ext>
                  </a:extLst>
                </a:gridCol>
                <a:gridCol w="488950">
                  <a:extLst>
                    <a:ext uri="{9D8B030D-6E8A-4147-A177-3AD203B41FA5}">
                      <a16:colId xmlns:a16="http://schemas.microsoft.com/office/drawing/2014/main" val="103420222"/>
                    </a:ext>
                  </a:extLst>
                </a:gridCol>
                <a:gridCol w="555625">
                  <a:extLst>
                    <a:ext uri="{9D8B030D-6E8A-4147-A177-3AD203B41FA5}">
                      <a16:colId xmlns:a16="http://schemas.microsoft.com/office/drawing/2014/main" val="1470405609"/>
                    </a:ext>
                  </a:extLst>
                </a:gridCol>
                <a:gridCol w="46538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CHOP_DRV_EN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CHOP_OSCLDO_EN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CHOP_OSC_EN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srgbClr val="FF0000"/>
                          </a:solidFill>
                          <a:effectLst/>
                          <a:uLnTx/>
                          <a:uFillTx/>
                          <a:latin typeface="Arial" panose="020B0604020202020204" pitchFamily="34" charset="0"/>
                          <a:ea typeface="맑은 고딕" panose="020B0503020000020004" pitchFamily="50" charset="-127"/>
                          <a:cs typeface="Arial" panose="020B0604020202020204" pitchFamily="34" charset="0"/>
                        </a:rPr>
                        <a:t>CHOP_EN</a:t>
                      </a:r>
                      <a:endParaRPr kumimoji="0" lang="ko-KR" altLang="en-US" sz="450" b="0" i="0" u="none" strike="noStrike" kern="1200" cap="none" spc="0" normalizeH="0" baseline="0" noProof="0" dirty="0">
                        <a:ln>
                          <a:noFill/>
                        </a:ln>
                        <a:solidFill>
                          <a:srgbClr val="FF0000"/>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CHOP_DAC_EN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CHOP_BGR_EN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5561203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직선 연결선 3">
            <a:extLst>
              <a:ext uri="{FF2B5EF4-FFF2-40B4-BE49-F238E27FC236}">
                <a16:creationId xmlns:a16="http://schemas.microsoft.com/office/drawing/2014/main" id="{C1CCE3D5-00C2-FD2E-4DD3-C6B8F6E684A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6E7CEDF2-50D3-CC9C-0120-08F5B66E6027}"/>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FCD335A-0277-A41A-A7F2-5CBC9C44750A}"/>
              </a:ext>
            </a:extLst>
          </p:cNvPr>
          <p:cNvSpPr txBox="1"/>
          <p:nvPr/>
        </p:nvSpPr>
        <p:spPr>
          <a:xfrm>
            <a:off x="386687" y="825092"/>
            <a:ext cx="605723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TEMP</a:t>
            </a:r>
          </a:p>
        </p:txBody>
      </p:sp>
      <p:graphicFrame>
        <p:nvGraphicFramePr>
          <p:cNvPr id="15" name="표 14">
            <a:extLst>
              <a:ext uri="{FF2B5EF4-FFF2-40B4-BE49-F238E27FC236}">
                <a16:creationId xmlns:a16="http://schemas.microsoft.com/office/drawing/2014/main" id="{2E2D76C7-6056-18D7-2156-FEFD22AD04AD}"/>
              </a:ext>
            </a:extLst>
          </p:cNvPr>
          <p:cNvGraphicFramePr>
            <a:graphicFrameLocks noGrp="1"/>
          </p:cNvGraphicFramePr>
          <p:nvPr>
            <p:extLst>
              <p:ext uri="{D42A27DB-BD31-4B8C-83A1-F6EECF244321}">
                <p14:modId xmlns:p14="http://schemas.microsoft.com/office/powerpoint/2010/main" val="3520932831"/>
              </p:ext>
            </p:extLst>
          </p:nvPr>
        </p:nvGraphicFramePr>
        <p:xfrm>
          <a:off x="386686" y="1618527"/>
          <a:ext cx="6057230" cy="1946073"/>
        </p:xfrm>
        <a:graphic>
          <a:graphicData uri="http://schemas.openxmlformats.org/drawingml/2006/table">
            <a:tbl>
              <a:tblPr firstRow="1" bandRow="1">
                <a:tableStyleId>{5C22544A-7EE6-4342-B048-85BDC9FD1C3A}</a:tableStyleId>
              </a:tblPr>
              <a:tblGrid>
                <a:gridCol w="435763">
                  <a:extLst>
                    <a:ext uri="{9D8B030D-6E8A-4147-A177-3AD203B41FA5}">
                      <a16:colId xmlns:a16="http://schemas.microsoft.com/office/drawing/2014/main" val="4170535043"/>
                    </a:ext>
                  </a:extLst>
                </a:gridCol>
                <a:gridCol w="1031099">
                  <a:extLst>
                    <a:ext uri="{9D8B030D-6E8A-4147-A177-3AD203B41FA5}">
                      <a16:colId xmlns:a16="http://schemas.microsoft.com/office/drawing/2014/main" val="2079070694"/>
                    </a:ext>
                  </a:extLst>
                </a:gridCol>
                <a:gridCol w="4590368">
                  <a:extLst>
                    <a:ext uri="{9D8B030D-6E8A-4147-A177-3AD203B41FA5}">
                      <a16:colId xmlns:a16="http://schemas.microsoft.com/office/drawing/2014/main" val="32595803"/>
                    </a:ext>
                  </a:extLst>
                </a:gridCol>
              </a:tblGrid>
              <a:tr h="25647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10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11:8</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OFS_TEMP</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temperature level at which the thermal event occurs. The thermal threshold temperature may vary slightly from the set value. The thermal event threshold temperature according to the OFS_TEMP value is mapped as follows.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93/ 99/ 103/ 109/ 113/ 117/ 123/ 127/ 133(default) / 137/ 143/ 147/ 151/ 157/ 161/ 165℃</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32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OV_SWAP_EN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3434939"/>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DAC_RNG</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r h="10458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FLT_CTL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3784100"/>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O_SLEW</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56481471"/>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FLT_GAIN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61689241"/>
                  </a:ext>
                </a:extLst>
              </a:tr>
            </a:tbl>
          </a:graphicData>
        </a:graphic>
      </p:graphicFrame>
      <p:graphicFrame>
        <p:nvGraphicFramePr>
          <p:cNvPr id="6" name="표 5">
            <a:extLst>
              <a:ext uri="{FF2B5EF4-FFF2-40B4-BE49-F238E27FC236}">
                <a16:creationId xmlns:a16="http://schemas.microsoft.com/office/drawing/2014/main" id="{CF9F7FBD-1A32-6960-FA16-AC9FDD2544E4}"/>
              </a:ext>
            </a:extLst>
          </p:cNvPr>
          <p:cNvGraphicFramePr>
            <a:graphicFrameLocks noGrp="1"/>
          </p:cNvGraphicFramePr>
          <p:nvPr>
            <p:extLst>
              <p:ext uri="{D42A27DB-BD31-4B8C-83A1-F6EECF244321}">
                <p14:modId xmlns:p14="http://schemas.microsoft.com/office/powerpoint/2010/main" val="734886575"/>
              </p:ext>
            </p:extLst>
          </p:nvPr>
        </p:nvGraphicFramePr>
        <p:xfrm>
          <a:off x="404812" y="1090806"/>
          <a:ext cx="6048365" cy="479280"/>
        </p:xfrm>
        <a:graphic>
          <a:graphicData uri="http://schemas.openxmlformats.org/drawingml/2006/table">
            <a:tbl>
              <a:tblPr firstRow="1" bandRow="1">
                <a:tableStyleId>{5C22544A-7EE6-4342-B048-85BDC9FD1C3A}</a:tableStyleId>
              </a:tblPr>
              <a:tblGrid>
                <a:gridCol w="348388">
                  <a:extLst>
                    <a:ext uri="{9D8B030D-6E8A-4147-A177-3AD203B41FA5}">
                      <a16:colId xmlns:a16="http://schemas.microsoft.com/office/drawing/2014/main" val="657570846"/>
                    </a:ext>
                  </a:extLst>
                </a:gridCol>
                <a:gridCol w="383065">
                  <a:extLst>
                    <a:ext uri="{9D8B030D-6E8A-4147-A177-3AD203B41FA5}">
                      <a16:colId xmlns:a16="http://schemas.microsoft.com/office/drawing/2014/main" val="3259894497"/>
                    </a:ext>
                  </a:extLst>
                </a:gridCol>
                <a:gridCol w="450201">
                  <a:extLst>
                    <a:ext uri="{9D8B030D-6E8A-4147-A177-3AD203B41FA5}">
                      <a16:colId xmlns:a16="http://schemas.microsoft.com/office/drawing/2014/main" val="4170535043"/>
                    </a:ext>
                  </a:extLst>
                </a:gridCol>
                <a:gridCol w="401278">
                  <a:extLst>
                    <a:ext uri="{9D8B030D-6E8A-4147-A177-3AD203B41FA5}">
                      <a16:colId xmlns:a16="http://schemas.microsoft.com/office/drawing/2014/main" val="2079070694"/>
                    </a:ext>
                  </a:extLst>
                </a:gridCol>
                <a:gridCol w="401278">
                  <a:extLst>
                    <a:ext uri="{9D8B030D-6E8A-4147-A177-3AD203B41FA5}">
                      <a16:colId xmlns:a16="http://schemas.microsoft.com/office/drawing/2014/main" val="4213315911"/>
                    </a:ext>
                  </a:extLst>
                </a:gridCol>
                <a:gridCol w="401278">
                  <a:extLst>
                    <a:ext uri="{9D8B030D-6E8A-4147-A177-3AD203B41FA5}">
                      <a16:colId xmlns:a16="http://schemas.microsoft.com/office/drawing/2014/main" val="2769999950"/>
                    </a:ext>
                  </a:extLst>
                </a:gridCol>
                <a:gridCol w="401278">
                  <a:extLst>
                    <a:ext uri="{9D8B030D-6E8A-4147-A177-3AD203B41FA5}">
                      <a16:colId xmlns:a16="http://schemas.microsoft.com/office/drawing/2014/main" val="135637185"/>
                    </a:ext>
                  </a:extLst>
                </a:gridCol>
                <a:gridCol w="401278">
                  <a:extLst>
                    <a:ext uri="{9D8B030D-6E8A-4147-A177-3AD203B41FA5}">
                      <a16:colId xmlns:a16="http://schemas.microsoft.com/office/drawing/2014/main" val="3038050475"/>
                    </a:ext>
                  </a:extLst>
                </a:gridCol>
                <a:gridCol w="452653">
                  <a:extLst>
                    <a:ext uri="{9D8B030D-6E8A-4147-A177-3AD203B41FA5}">
                      <a16:colId xmlns:a16="http://schemas.microsoft.com/office/drawing/2014/main" val="1979433044"/>
                    </a:ext>
                  </a:extLst>
                </a:gridCol>
                <a:gridCol w="401278">
                  <a:extLst>
                    <a:ext uri="{9D8B030D-6E8A-4147-A177-3AD203B41FA5}">
                      <a16:colId xmlns:a16="http://schemas.microsoft.com/office/drawing/2014/main" val="4270661649"/>
                    </a:ext>
                  </a:extLst>
                </a:gridCol>
                <a:gridCol w="401278">
                  <a:extLst>
                    <a:ext uri="{9D8B030D-6E8A-4147-A177-3AD203B41FA5}">
                      <a16:colId xmlns:a16="http://schemas.microsoft.com/office/drawing/2014/main" val="3027041370"/>
                    </a:ext>
                  </a:extLst>
                </a:gridCol>
                <a:gridCol w="401278">
                  <a:extLst>
                    <a:ext uri="{9D8B030D-6E8A-4147-A177-3AD203B41FA5}">
                      <a16:colId xmlns:a16="http://schemas.microsoft.com/office/drawing/2014/main" val="2852526216"/>
                    </a:ext>
                  </a:extLst>
                </a:gridCol>
                <a:gridCol w="401278">
                  <a:extLst>
                    <a:ext uri="{9D8B030D-6E8A-4147-A177-3AD203B41FA5}">
                      <a16:colId xmlns:a16="http://schemas.microsoft.com/office/drawing/2014/main" val="103420222"/>
                    </a:ext>
                  </a:extLst>
                </a:gridCol>
                <a:gridCol w="401278">
                  <a:extLst>
                    <a:ext uri="{9D8B030D-6E8A-4147-A177-3AD203B41FA5}">
                      <a16:colId xmlns:a16="http://schemas.microsoft.com/office/drawing/2014/main" val="1470405609"/>
                    </a:ext>
                  </a:extLst>
                </a:gridCol>
                <a:gridCol w="40127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0x829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OFS_TEMP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OV_SWAP_EN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DAC_RNG</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FLT_CTL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O_SLEW[1:0]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FLT_GAIN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55B08AF4-C782-A136-1BBC-8DB15625609A}"/>
              </a:ext>
            </a:extLst>
          </p:cNvPr>
          <p:cNvSpPr txBox="1"/>
          <p:nvPr/>
        </p:nvSpPr>
        <p:spPr>
          <a:xfrm>
            <a:off x="386688" y="3875820"/>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OSC FLL MANUAL</a:t>
            </a:r>
          </a:p>
        </p:txBody>
      </p:sp>
      <p:graphicFrame>
        <p:nvGraphicFramePr>
          <p:cNvPr id="10" name="표 9">
            <a:extLst>
              <a:ext uri="{FF2B5EF4-FFF2-40B4-BE49-F238E27FC236}">
                <a16:creationId xmlns:a16="http://schemas.microsoft.com/office/drawing/2014/main" id="{E930E701-0F95-4A77-2A04-FAEA137B9F27}"/>
              </a:ext>
            </a:extLst>
          </p:cNvPr>
          <p:cNvGraphicFramePr>
            <a:graphicFrameLocks noGrp="1"/>
          </p:cNvGraphicFramePr>
          <p:nvPr>
            <p:extLst>
              <p:ext uri="{D42A27DB-BD31-4B8C-83A1-F6EECF244321}">
                <p14:modId xmlns:p14="http://schemas.microsoft.com/office/powerpoint/2010/main" val="2717770033"/>
              </p:ext>
            </p:extLst>
          </p:nvPr>
        </p:nvGraphicFramePr>
        <p:xfrm>
          <a:off x="395952" y="5015151"/>
          <a:ext cx="6057234" cy="947022"/>
        </p:xfrm>
        <a:graphic>
          <a:graphicData uri="http://schemas.openxmlformats.org/drawingml/2006/table">
            <a:tbl>
              <a:tblPr firstRow="1" bandRow="1">
                <a:tableStyleId>{5C22544A-7EE6-4342-B048-85BDC9FD1C3A}</a:tableStyleId>
              </a:tblPr>
              <a:tblGrid>
                <a:gridCol w="442021">
                  <a:extLst>
                    <a:ext uri="{9D8B030D-6E8A-4147-A177-3AD203B41FA5}">
                      <a16:colId xmlns:a16="http://schemas.microsoft.com/office/drawing/2014/main" val="4170535043"/>
                    </a:ext>
                  </a:extLst>
                </a:gridCol>
                <a:gridCol w="962843">
                  <a:extLst>
                    <a:ext uri="{9D8B030D-6E8A-4147-A177-3AD203B41FA5}">
                      <a16:colId xmlns:a16="http://schemas.microsoft.com/office/drawing/2014/main" val="2079070694"/>
                    </a:ext>
                  </a:extLst>
                </a:gridCol>
                <a:gridCol w="4652370">
                  <a:extLst>
                    <a:ext uri="{9D8B030D-6E8A-4147-A177-3AD203B41FA5}">
                      <a16:colId xmlns:a16="http://schemas.microsoft.com/office/drawing/2014/main" val="32595803"/>
                    </a:ext>
                  </a:extLst>
                </a:gridCol>
              </a:tblGrid>
              <a:tr h="25438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7615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OSC_MAN_E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Enable the manual mode of the FLL module</a:t>
                      </a:r>
                      <a:r>
                        <a:rPr lang="en-US" altLang="ko-KR" sz="900" b="0" i="1" dirty="0">
                          <a:solidFill>
                            <a:schemeClr val="tx1"/>
                          </a:solidFill>
                          <a:latin typeface="Arial" panose="020B0604020202020204" pitchFamily="34" charset="0"/>
                          <a:ea typeface="+mn-ea"/>
                          <a:cs typeface="Arial" panose="020B0604020202020204" pitchFamily="34" charset="0"/>
                        </a:rPr>
                        <a:t>. It is careful that this bit must be cleared during the initialization after POR.</a:t>
                      </a:r>
                      <a:endParaRPr lang="ko-KR" altLang="en-US" sz="900" b="0" i="1"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1079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OSC_FLL_MAN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FLL target frequency value in manual 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420319"/>
                  </a:ext>
                </a:extLst>
              </a:tr>
            </a:tbl>
          </a:graphicData>
        </a:graphic>
      </p:graphicFrame>
      <p:graphicFrame>
        <p:nvGraphicFramePr>
          <p:cNvPr id="12" name="표 11">
            <a:extLst>
              <a:ext uri="{FF2B5EF4-FFF2-40B4-BE49-F238E27FC236}">
                <a16:creationId xmlns:a16="http://schemas.microsoft.com/office/drawing/2014/main" id="{E9D8FCDF-0D0C-E876-153B-5462FD43AD00}"/>
              </a:ext>
            </a:extLst>
          </p:cNvPr>
          <p:cNvGraphicFramePr>
            <a:graphicFrameLocks noGrp="1"/>
          </p:cNvGraphicFramePr>
          <p:nvPr>
            <p:extLst>
              <p:ext uri="{D42A27DB-BD31-4B8C-83A1-F6EECF244321}">
                <p14:modId xmlns:p14="http://schemas.microsoft.com/office/powerpoint/2010/main" val="1562984023"/>
              </p:ext>
            </p:extLst>
          </p:nvPr>
        </p:nvGraphicFramePr>
        <p:xfrm>
          <a:off x="395955" y="4141436"/>
          <a:ext cx="6057233" cy="372600"/>
        </p:xfrm>
        <a:graphic>
          <a:graphicData uri="http://schemas.openxmlformats.org/drawingml/2006/table">
            <a:tbl>
              <a:tblPr firstRow="1" bandRow="1">
                <a:tableStyleId>{5C22544A-7EE6-4342-B048-85BDC9FD1C3A}</a:tableStyleId>
              </a:tblPr>
              <a:tblGrid>
                <a:gridCol w="299068">
                  <a:extLst>
                    <a:ext uri="{9D8B030D-6E8A-4147-A177-3AD203B41FA5}">
                      <a16:colId xmlns:a16="http://schemas.microsoft.com/office/drawing/2014/main" val="657570846"/>
                    </a:ext>
                  </a:extLst>
                </a:gridCol>
                <a:gridCol w="349978">
                  <a:extLst>
                    <a:ext uri="{9D8B030D-6E8A-4147-A177-3AD203B41FA5}">
                      <a16:colId xmlns:a16="http://schemas.microsoft.com/office/drawing/2014/main" val="3259894497"/>
                    </a:ext>
                  </a:extLst>
                </a:gridCol>
                <a:gridCol w="469357">
                  <a:extLst>
                    <a:ext uri="{9D8B030D-6E8A-4147-A177-3AD203B41FA5}">
                      <a16:colId xmlns:a16="http://schemas.microsoft.com/office/drawing/2014/main" val="4170535043"/>
                    </a:ext>
                  </a:extLst>
                </a:gridCol>
                <a:gridCol w="430897">
                  <a:extLst>
                    <a:ext uri="{9D8B030D-6E8A-4147-A177-3AD203B41FA5}">
                      <a16:colId xmlns:a16="http://schemas.microsoft.com/office/drawing/2014/main" val="2079070694"/>
                    </a:ext>
                  </a:extLst>
                </a:gridCol>
                <a:gridCol w="421751">
                  <a:extLst>
                    <a:ext uri="{9D8B030D-6E8A-4147-A177-3AD203B41FA5}">
                      <a16:colId xmlns:a16="http://schemas.microsoft.com/office/drawing/2014/main" val="4213315911"/>
                    </a:ext>
                  </a:extLst>
                </a:gridCol>
                <a:gridCol w="456080">
                  <a:extLst>
                    <a:ext uri="{9D8B030D-6E8A-4147-A177-3AD203B41FA5}">
                      <a16:colId xmlns:a16="http://schemas.microsoft.com/office/drawing/2014/main" val="2769999950"/>
                    </a:ext>
                  </a:extLst>
                </a:gridCol>
                <a:gridCol w="481673">
                  <a:extLst>
                    <a:ext uri="{9D8B030D-6E8A-4147-A177-3AD203B41FA5}">
                      <a16:colId xmlns:a16="http://schemas.microsoft.com/office/drawing/2014/main" val="135637185"/>
                    </a:ext>
                  </a:extLst>
                </a:gridCol>
                <a:gridCol w="397356">
                  <a:extLst>
                    <a:ext uri="{9D8B030D-6E8A-4147-A177-3AD203B41FA5}">
                      <a16:colId xmlns:a16="http://schemas.microsoft.com/office/drawing/2014/main" val="3038050475"/>
                    </a:ext>
                  </a:extLst>
                </a:gridCol>
                <a:gridCol w="397356">
                  <a:extLst>
                    <a:ext uri="{9D8B030D-6E8A-4147-A177-3AD203B41FA5}">
                      <a16:colId xmlns:a16="http://schemas.microsoft.com/office/drawing/2014/main" val="1979433044"/>
                    </a:ext>
                  </a:extLst>
                </a:gridCol>
                <a:gridCol w="397356">
                  <a:extLst>
                    <a:ext uri="{9D8B030D-6E8A-4147-A177-3AD203B41FA5}">
                      <a16:colId xmlns:a16="http://schemas.microsoft.com/office/drawing/2014/main" val="4270661649"/>
                    </a:ext>
                  </a:extLst>
                </a:gridCol>
                <a:gridCol w="397356">
                  <a:extLst>
                    <a:ext uri="{9D8B030D-6E8A-4147-A177-3AD203B41FA5}">
                      <a16:colId xmlns:a16="http://schemas.microsoft.com/office/drawing/2014/main" val="3027041370"/>
                    </a:ext>
                  </a:extLst>
                </a:gridCol>
                <a:gridCol w="397356">
                  <a:extLst>
                    <a:ext uri="{9D8B030D-6E8A-4147-A177-3AD203B41FA5}">
                      <a16:colId xmlns:a16="http://schemas.microsoft.com/office/drawing/2014/main" val="2852526216"/>
                    </a:ext>
                  </a:extLst>
                </a:gridCol>
                <a:gridCol w="397356">
                  <a:extLst>
                    <a:ext uri="{9D8B030D-6E8A-4147-A177-3AD203B41FA5}">
                      <a16:colId xmlns:a16="http://schemas.microsoft.com/office/drawing/2014/main" val="103420222"/>
                    </a:ext>
                  </a:extLst>
                </a:gridCol>
                <a:gridCol w="397356">
                  <a:extLst>
                    <a:ext uri="{9D8B030D-6E8A-4147-A177-3AD203B41FA5}">
                      <a16:colId xmlns:a16="http://schemas.microsoft.com/office/drawing/2014/main" val="1470405609"/>
                    </a:ext>
                  </a:extLst>
                </a:gridCol>
                <a:gridCol w="36693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OSC_FLL_MAN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graphicFrame>
        <p:nvGraphicFramePr>
          <p:cNvPr id="14" name="표 13">
            <a:extLst>
              <a:ext uri="{FF2B5EF4-FFF2-40B4-BE49-F238E27FC236}">
                <a16:creationId xmlns:a16="http://schemas.microsoft.com/office/drawing/2014/main" id="{9E668C40-2FC3-732F-E4A5-41343C5D4BC7}"/>
              </a:ext>
            </a:extLst>
          </p:cNvPr>
          <p:cNvGraphicFramePr>
            <a:graphicFrameLocks noGrp="1"/>
          </p:cNvGraphicFramePr>
          <p:nvPr>
            <p:extLst>
              <p:ext uri="{D42A27DB-BD31-4B8C-83A1-F6EECF244321}">
                <p14:modId xmlns:p14="http://schemas.microsoft.com/office/powerpoint/2010/main" val="1255257127"/>
              </p:ext>
            </p:extLst>
          </p:nvPr>
        </p:nvGraphicFramePr>
        <p:xfrm>
          <a:off x="395955" y="4584393"/>
          <a:ext cx="6057233" cy="372600"/>
        </p:xfrm>
        <a:graphic>
          <a:graphicData uri="http://schemas.openxmlformats.org/drawingml/2006/table">
            <a:tbl>
              <a:tblPr firstRow="1" bandRow="1">
                <a:tableStyleId>{5C22544A-7EE6-4342-B048-85BDC9FD1C3A}</a:tableStyleId>
              </a:tblPr>
              <a:tblGrid>
                <a:gridCol w="289194">
                  <a:extLst>
                    <a:ext uri="{9D8B030D-6E8A-4147-A177-3AD203B41FA5}">
                      <a16:colId xmlns:a16="http://schemas.microsoft.com/office/drawing/2014/main" val="657570846"/>
                    </a:ext>
                  </a:extLst>
                </a:gridCol>
                <a:gridCol w="345135">
                  <a:extLst>
                    <a:ext uri="{9D8B030D-6E8A-4147-A177-3AD203B41FA5}">
                      <a16:colId xmlns:a16="http://schemas.microsoft.com/office/drawing/2014/main" val="3259894497"/>
                    </a:ext>
                  </a:extLst>
                </a:gridCol>
                <a:gridCol w="463468">
                  <a:extLst>
                    <a:ext uri="{9D8B030D-6E8A-4147-A177-3AD203B41FA5}">
                      <a16:colId xmlns:a16="http://schemas.microsoft.com/office/drawing/2014/main" val="4170535043"/>
                    </a:ext>
                  </a:extLst>
                </a:gridCol>
                <a:gridCol w="553606">
                  <a:extLst>
                    <a:ext uri="{9D8B030D-6E8A-4147-A177-3AD203B41FA5}">
                      <a16:colId xmlns:a16="http://schemas.microsoft.com/office/drawing/2014/main" val="2079070694"/>
                    </a:ext>
                  </a:extLst>
                </a:gridCol>
                <a:gridCol w="400530">
                  <a:extLst>
                    <a:ext uri="{9D8B030D-6E8A-4147-A177-3AD203B41FA5}">
                      <a16:colId xmlns:a16="http://schemas.microsoft.com/office/drawing/2014/main" val="4213315911"/>
                    </a:ext>
                  </a:extLst>
                </a:gridCol>
                <a:gridCol w="400530">
                  <a:extLst>
                    <a:ext uri="{9D8B030D-6E8A-4147-A177-3AD203B41FA5}">
                      <a16:colId xmlns:a16="http://schemas.microsoft.com/office/drawing/2014/main" val="2769999950"/>
                    </a:ext>
                  </a:extLst>
                </a:gridCol>
                <a:gridCol w="400530">
                  <a:extLst>
                    <a:ext uri="{9D8B030D-6E8A-4147-A177-3AD203B41FA5}">
                      <a16:colId xmlns:a16="http://schemas.microsoft.com/office/drawing/2014/main" val="135637185"/>
                    </a:ext>
                  </a:extLst>
                </a:gridCol>
                <a:gridCol w="400530">
                  <a:extLst>
                    <a:ext uri="{9D8B030D-6E8A-4147-A177-3AD203B41FA5}">
                      <a16:colId xmlns:a16="http://schemas.microsoft.com/office/drawing/2014/main" val="3038050475"/>
                    </a:ext>
                  </a:extLst>
                </a:gridCol>
                <a:gridCol w="400530">
                  <a:extLst>
                    <a:ext uri="{9D8B030D-6E8A-4147-A177-3AD203B41FA5}">
                      <a16:colId xmlns:a16="http://schemas.microsoft.com/office/drawing/2014/main" val="1979433044"/>
                    </a:ext>
                  </a:extLst>
                </a:gridCol>
                <a:gridCol w="400530">
                  <a:extLst>
                    <a:ext uri="{9D8B030D-6E8A-4147-A177-3AD203B41FA5}">
                      <a16:colId xmlns:a16="http://schemas.microsoft.com/office/drawing/2014/main" val="4270661649"/>
                    </a:ext>
                  </a:extLst>
                </a:gridCol>
                <a:gridCol w="400530">
                  <a:extLst>
                    <a:ext uri="{9D8B030D-6E8A-4147-A177-3AD203B41FA5}">
                      <a16:colId xmlns:a16="http://schemas.microsoft.com/office/drawing/2014/main" val="3027041370"/>
                    </a:ext>
                  </a:extLst>
                </a:gridCol>
                <a:gridCol w="400530">
                  <a:extLst>
                    <a:ext uri="{9D8B030D-6E8A-4147-A177-3AD203B41FA5}">
                      <a16:colId xmlns:a16="http://schemas.microsoft.com/office/drawing/2014/main" val="2852526216"/>
                    </a:ext>
                  </a:extLst>
                </a:gridCol>
                <a:gridCol w="400530">
                  <a:extLst>
                    <a:ext uri="{9D8B030D-6E8A-4147-A177-3AD203B41FA5}">
                      <a16:colId xmlns:a16="http://schemas.microsoft.com/office/drawing/2014/main" val="103420222"/>
                    </a:ext>
                  </a:extLst>
                </a:gridCol>
                <a:gridCol w="400530">
                  <a:extLst>
                    <a:ext uri="{9D8B030D-6E8A-4147-A177-3AD203B41FA5}">
                      <a16:colId xmlns:a16="http://schemas.microsoft.com/office/drawing/2014/main" val="1470405609"/>
                    </a:ext>
                  </a:extLst>
                </a:gridCol>
                <a:gridCol w="4005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OSC_MAN_E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OSC_FLL_MAN [15:12]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9" name="TextBox 8">
            <a:extLst>
              <a:ext uri="{FF2B5EF4-FFF2-40B4-BE49-F238E27FC236}">
                <a16:creationId xmlns:a16="http://schemas.microsoft.com/office/drawing/2014/main" id="{1A75E865-EC90-F4EB-6CB7-8983809EBC0E}"/>
              </a:ext>
            </a:extLst>
          </p:cNvPr>
          <p:cNvSpPr txBox="1"/>
          <p:nvPr/>
        </p:nvSpPr>
        <p:spPr>
          <a:xfrm>
            <a:off x="395956" y="6027320"/>
            <a:ext cx="605723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SPREAD</a:t>
            </a:r>
          </a:p>
        </p:txBody>
      </p:sp>
      <p:graphicFrame>
        <p:nvGraphicFramePr>
          <p:cNvPr id="11" name="표 10">
            <a:extLst>
              <a:ext uri="{FF2B5EF4-FFF2-40B4-BE49-F238E27FC236}">
                <a16:creationId xmlns:a16="http://schemas.microsoft.com/office/drawing/2014/main" id="{B32264EF-EB67-B922-EB1F-85E43863FCC0}"/>
              </a:ext>
            </a:extLst>
          </p:cNvPr>
          <p:cNvGraphicFramePr>
            <a:graphicFrameLocks noGrp="1"/>
          </p:cNvGraphicFramePr>
          <p:nvPr>
            <p:extLst>
              <p:ext uri="{D42A27DB-BD31-4B8C-83A1-F6EECF244321}">
                <p14:modId xmlns:p14="http://schemas.microsoft.com/office/powerpoint/2010/main" val="2551898504"/>
              </p:ext>
            </p:extLst>
          </p:nvPr>
        </p:nvGraphicFramePr>
        <p:xfrm>
          <a:off x="395955" y="6721695"/>
          <a:ext cx="6057230" cy="1981236"/>
        </p:xfrm>
        <a:graphic>
          <a:graphicData uri="http://schemas.openxmlformats.org/drawingml/2006/table">
            <a:tbl>
              <a:tblPr firstRow="1" bandRow="1">
                <a:tableStyleId>{5C22544A-7EE6-4342-B048-85BDC9FD1C3A}</a:tableStyleId>
              </a:tblPr>
              <a:tblGrid>
                <a:gridCol w="435763">
                  <a:extLst>
                    <a:ext uri="{9D8B030D-6E8A-4147-A177-3AD203B41FA5}">
                      <a16:colId xmlns:a16="http://schemas.microsoft.com/office/drawing/2014/main" val="4170535043"/>
                    </a:ext>
                  </a:extLst>
                </a:gridCol>
                <a:gridCol w="1031099">
                  <a:extLst>
                    <a:ext uri="{9D8B030D-6E8A-4147-A177-3AD203B41FA5}">
                      <a16:colId xmlns:a16="http://schemas.microsoft.com/office/drawing/2014/main" val="2079070694"/>
                    </a:ext>
                  </a:extLst>
                </a:gridCol>
                <a:gridCol w="4590368">
                  <a:extLst>
                    <a:ext uri="{9D8B030D-6E8A-4147-A177-3AD203B41FA5}">
                      <a16:colId xmlns:a16="http://schemas.microsoft.com/office/drawing/2014/main" val="32595803"/>
                    </a:ext>
                  </a:extLst>
                </a:gridCol>
              </a:tblGrid>
              <a:tr h="25647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10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SPRD_EN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SPREAD function enable.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32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6:4</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SPRD_SPD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This determines SPREAD step.</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('000' :128 clock, '001' :64 clock, '010' : 32 clock, '011' : 16 clock</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'100’ :    8 clock, '101’ :  4 clock, '110’ :   2 clock, '111’ :   1 clock)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3434939"/>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SPRD_GAIN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This determines SPREAD gain.</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(‘000' : calculated value/8, ‘001' : calculated value/4, </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‘010’ : calculated value/2, ‘011' : calculated value,</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‘100’ : calculated value*2, ‘101’ : calculated value*4,</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‘110’ : calculated value*8, ‘111’ : calculated value*16)</a:t>
                      </a: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bl>
          </a:graphicData>
        </a:graphic>
      </p:graphicFrame>
      <p:graphicFrame>
        <p:nvGraphicFramePr>
          <p:cNvPr id="13" name="표 12">
            <a:extLst>
              <a:ext uri="{FF2B5EF4-FFF2-40B4-BE49-F238E27FC236}">
                <a16:creationId xmlns:a16="http://schemas.microsoft.com/office/drawing/2014/main" id="{07BB6DF7-47EE-B74B-BBE6-7C9C9DCC512C}"/>
              </a:ext>
            </a:extLst>
          </p:cNvPr>
          <p:cNvGraphicFramePr>
            <a:graphicFrameLocks noGrp="1"/>
          </p:cNvGraphicFramePr>
          <p:nvPr>
            <p:extLst>
              <p:ext uri="{D42A27DB-BD31-4B8C-83A1-F6EECF244321}">
                <p14:modId xmlns:p14="http://schemas.microsoft.com/office/powerpoint/2010/main" val="3663146226"/>
              </p:ext>
            </p:extLst>
          </p:nvPr>
        </p:nvGraphicFramePr>
        <p:xfrm>
          <a:off x="395955" y="6293034"/>
          <a:ext cx="6057226" cy="372600"/>
        </p:xfrm>
        <a:graphic>
          <a:graphicData uri="http://schemas.openxmlformats.org/drawingml/2006/table">
            <a:tbl>
              <a:tblPr firstRow="1" bandRow="1">
                <a:tableStyleId>{5C22544A-7EE6-4342-B048-85BDC9FD1C3A}</a:tableStyleId>
              </a:tblPr>
              <a:tblGrid>
                <a:gridCol w="348898">
                  <a:extLst>
                    <a:ext uri="{9D8B030D-6E8A-4147-A177-3AD203B41FA5}">
                      <a16:colId xmlns:a16="http://schemas.microsoft.com/office/drawing/2014/main" val="657570846"/>
                    </a:ext>
                  </a:extLst>
                </a:gridCol>
                <a:gridCol w="383626">
                  <a:extLst>
                    <a:ext uri="{9D8B030D-6E8A-4147-A177-3AD203B41FA5}">
                      <a16:colId xmlns:a16="http://schemas.microsoft.com/office/drawing/2014/main" val="3259894497"/>
                    </a:ext>
                  </a:extLst>
                </a:gridCol>
                <a:gridCol w="450860">
                  <a:extLst>
                    <a:ext uri="{9D8B030D-6E8A-4147-A177-3AD203B41FA5}">
                      <a16:colId xmlns:a16="http://schemas.microsoft.com/office/drawing/2014/main" val="4170535043"/>
                    </a:ext>
                  </a:extLst>
                </a:gridCol>
                <a:gridCol w="529663">
                  <a:extLst>
                    <a:ext uri="{9D8B030D-6E8A-4147-A177-3AD203B41FA5}">
                      <a16:colId xmlns:a16="http://schemas.microsoft.com/office/drawing/2014/main" val="2079070694"/>
                    </a:ext>
                  </a:extLst>
                </a:gridCol>
                <a:gridCol w="414867">
                  <a:extLst>
                    <a:ext uri="{9D8B030D-6E8A-4147-A177-3AD203B41FA5}">
                      <a16:colId xmlns:a16="http://schemas.microsoft.com/office/drawing/2014/main" val="4213315911"/>
                    </a:ext>
                  </a:extLst>
                </a:gridCol>
                <a:gridCol w="364067">
                  <a:extLst>
                    <a:ext uri="{9D8B030D-6E8A-4147-A177-3AD203B41FA5}">
                      <a16:colId xmlns:a16="http://schemas.microsoft.com/office/drawing/2014/main" val="2769999950"/>
                    </a:ext>
                  </a:extLst>
                </a:gridCol>
                <a:gridCol w="330200">
                  <a:extLst>
                    <a:ext uri="{9D8B030D-6E8A-4147-A177-3AD203B41FA5}">
                      <a16:colId xmlns:a16="http://schemas.microsoft.com/office/drawing/2014/main" val="135637185"/>
                    </a:ext>
                  </a:extLst>
                </a:gridCol>
                <a:gridCol w="370533">
                  <a:extLst>
                    <a:ext uri="{9D8B030D-6E8A-4147-A177-3AD203B41FA5}">
                      <a16:colId xmlns:a16="http://schemas.microsoft.com/office/drawing/2014/main" val="3038050475"/>
                    </a:ext>
                  </a:extLst>
                </a:gridCol>
                <a:gridCol w="453316">
                  <a:extLst>
                    <a:ext uri="{9D8B030D-6E8A-4147-A177-3AD203B41FA5}">
                      <a16:colId xmlns:a16="http://schemas.microsoft.com/office/drawing/2014/main" val="1979433044"/>
                    </a:ext>
                  </a:extLst>
                </a:gridCol>
                <a:gridCol w="401866">
                  <a:extLst>
                    <a:ext uri="{9D8B030D-6E8A-4147-A177-3AD203B41FA5}">
                      <a16:colId xmlns:a16="http://schemas.microsoft.com/office/drawing/2014/main" val="4270661649"/>
                    </a:ext>
                  </a:extLst>
                </a:gridCol>
                <a:gridCol w="401866">
                  <a:extLst>
                    <a:ext uri="{9D8B030D-6E8A-4147-A177-3AD203B41FA5}">
                      <a16:colId xmlns:a16="http://schemas.microsoft.com/office/drawing/2014/main" val="3027041370"/>
                    </a:ext>
                  </a:extLst>
                </a:gridCol>
                <a:gridCol w="401866">
                  <a:extLst>
                    <a:ext uri="{9D8B030D-6E8A-4147-A177-3AD203B41FA5}">
                      <a16:colId xmlns:a16="http://schemas.microsoft.com/office/drawing/2014/main" val="2852526216"/>
                    </a:ext>
                  </a:extLst>
                </a:gridCol>
                <a:gridCol w="401866">
                  <a:extLst>
                    <a:ext uri="{9D8B030D-6E8A-4147-A177-3AD203B41FA5}">
                      <a16:colId xmlns:a16="http://schemas.microsoft.com/office/drawing/2014/main" val="103420222"/>
                    </a:ext>
                  </a:extLst>
                </a:gridCol>
                <a:gridCol w="401866">
                  <a:extLst>
                    <a:ext uri="{9D8B030D-6E8A-4147-A177-3AD203B41FA5}">
                      <a16:colId xmlns:a16="http://schemas.microsoft.com/office/drawing/2014/main" val="1470405609"/>
                    </a:ext>
                  </a:extLst>
                </a:gridCol>
                <a:gridCol w="401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SPRD_EN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SPRD_SPD[2:0]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SPRD_GAIN[3:0]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14791028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직선 연결선 3">
            <a:extLst>
              <a:ext uri="{FF2B5EF4-FFF2-40B4-BE49-F238E27FC236}">
                <a16:creationId xmlns:a16="http://schemas.microsoft.com/office/drawing/2014/main" id="{AE6339BF-CA64-D090-719B-884ECFA07AF6}"/>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A037121B-272E-0FD5-9655-7C4A69180D9A}"/>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D48F2A0C-5E18-76CC-0F02-C00F0B49EB0F}"/>
              </a:ext>
            </a:extLst>
          </p:cNvPr>
          <p:cNvSpPr txBox="1"/>
          <p:nvPr/>
        </p:nvSpPr>
        <p:spPr>
          <a:xfrm>
            <a:off x="404935" y="867833"/>
            <a:ext cx="605723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CLOCK GATE EN</a:t>
            </a:r>
          </a:p>
        </p:txBody>
      </p:sp>
      <p:graphicFrame>
        <p:nvGraphicFramePr>
          <p:cNvPr id="7" name="표 6">
            <a:extLst>
              <a:ext uri="{FF2B5EF4-FFF2-40B4-BE49-F238E27FC236}">
                <a16:creationId xmlns:a16="http://schemas.microsoft.com/office/drawing/2014/main" id="{90390064-12D9-948D-E620-C22D45463B36}"/>
              </a:ext>
            </a:extLst>
          </p:cNvPr>
          <p:cNvGraphicFramePr>
            <a:graphicFrameLocks noGrp="1"/>
          </p:cNvGraphicFramePr>
          <p:nvPr>
            <p:extLst>
              <p:ext uri="{D42A27DB-BD31-4B8C-83A1-F6EECF244321}">
                <p14:modId xmlns:p14="http://schemas.microsoft.com/office/powerpoint/2010/main" val="3482127271"/>
              </p:ext>
            </p:extLst>
          </p:nvPr>
        </p:nvGraphicFramePr>
        <p:xfrm>
          <a:off x="404937" y="1732593"/>
          <a:ext cx="6057230" cy="2739036"/>
        </p:xfrm>
        <a:graphic>
          <a:graphicData uri="http://schemas.openxmlformats.org/drawingml/2006/table">
            <a:tbl>
              <a:tblPr firstRow="1" bandRow="1">
                <a:tableStyleId>{5C22544A-7EE6-4342-B048-85BDC9FD1C3A}</a:tableStyleId>
              </a:tblPr>
              <a:tblGrid>
                <a:gridCol w="435763">
                  <a:extLst>
                    <a:ext uri="{9D8B030D-6E8A-4147-A177-3AD203B41FA5}">
                      <a16:colId xmlns:a16="http://schemas.microsoft.com/office/drawing/2014/main" val="4170535043"/>
                    </a:ext>
                  </a:extLst>
                </a:gridCol>
                <a:gridCol w="1031099">
                  <a:extLst>
                    <a:ext uri="{9D8B030D-6E8A-4147-A177-3AD203B41FA5}">
                      <a16:colId xmlns:a16="http://schemas.microsoft.com/office/drawing/2014/main" val="2079070694"/>
                    </a:ext>
                  </a:extLst>
                </a:gridCol>
                <a:gridCol w="4590368">
                  <a:extLst>
                    <a:ext uri="{9D8B030D-6E8A-4147-A177-3AD203B41FA5}">
                      <a16:colId xmlns:a16="http://schemas.microsoft.com/office/drawing/2014/main" val="32595803"/>
                    </a:ext>
                  </a:extLst>
                </a:gridCol>
              </a:tblGrid>
              <a:tr h="25647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10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OTP_MCLK_EN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clock gate enable function enable for OTP block.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32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FR2_MCLK_EN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clock gate enable function enable for 2</a:t>
                      </a:r>
                      <a:r>
                        <a:rPr lang="en-US" altLang="ko-KR" sz="900" b="0" baseline="30000" dirty="0">
                          <a:solidFill>
                            <a:schemeClr val="tx1"/>
                          </a:solidFill>
                          <a:latin typeface="Arial" panose="020B0604020202020204" pitchFamily="34" charset="0"/>
                          <a:ea typeface="+mn-ea"/>
                          <a:cs typeface="Arial" panose="020B0604020202020204" pitchFamily="34" charset="0"/>
                        </a:rPr>
                        <a:t>nd </a:t>
                      </a:r>
                      <a:r>
                        <a:rPr lang="en-US" altLang="ko-KR" sz="900" b="0" dirty="0">
                          <a:solidFill>
                            <a:schemeClr val="tx1"/>
                          </a:solidFill>
                          <a:latin typeface="Arial" panose="020B0604020202020204" pitchFamily="34" charset="0"/>
                          <a:ea typeface="+mn-ea"/>
                          <a:cs typeface="Arial" panose="020B0604020202020204" pitchFamily="34" charset="0"/>
                        </a:rPr>
                        <a:t> frame buffer.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3434939"/>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FR1_</a:t>
                      </a:r>
                      <a:r>
                        <a:rPr lang="en-US" altLang="ko-KR" sz="900" b="0" dirty="0">
                          <a:solidFill>
                            <a:schemeClr val="tx1"/>
                          </a:solidFill>
                          <a:latin typeface="Arial" panose="020B0604020202020204" pitchFamily="34" charset="0"/>
                          <a:ea typeface="+mn-ea"/>
                          <a:cs typeface="Arial" panose="020B0604020202020204" pitchFamily="34" charset="0"/>
                        </a:rPr>
                        <a:t>MCLK_EN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clock gate enable function enable for 1</a:t>
                      </a:r>
                      <a:r>
                        <a:rPr lang="en-US" altLang="ko-KR" sz="900" b="0" baseline="30000" dirty="0">
                          <a:solidFill>
                            <a:schemeClr val="tx1"/>
                          </a:solidFill>
                          <a:latin typeface="Arial" panose="020B0604020202020204" pitchFamily="34" charset="0"/>
                          <a:ea typeface="+mn-ea"/>
                          <a:cs typeface="Arial" panose="020B0604020202020204" pitchFamily="34" charset="0"/>
                        </a:rPr>
                        <a:t>st</a:t>
                      </a:r>
                      <a:r>
                        <a:rPr lang="en-US" altLang="ko-KR" sz="900" b="0" dirty="0">
                          <a:solidFill>
                            <a:schemeClr val="tx1"/>
                          </a:solidFill>
                          <a:latin typeface="Arial" panose="020B0604020202020204" pitchFamily="34" charset="0"/>
                          <a:ea typeface="+mn-ea"/>
                          <a:cs typeface="Arial" panose="020B0604020202020204" pitchFamily="34" charset="0"/>
                        </a:rPr>
                        <a:t> frame buffer.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DC_MCLK_EN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clock gate enable function enable for register write / read block.</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07178428"/>
                  </a:ext>
                </a:extLst>
              </a:tr>
            </a:tbl>
          </a:graphicData>
        </a:graphic>
      </p:graphicFrame>
      <p:graphicFrame>
        <p:nvGraphicFramePr>
          <p:cNvPr id="8" name="표 7">
            <a:extLst>
              <a:ext uri="{FF2B5EF4-FFF2-40B4-BE49-F238E27FC236}">
                <a16:creationId xmlns:a16="http://schemas.microsoft.com/office/drawing/2014/main" id="{8AFCB6CD-0EE7-EA6B-8589-43DC10459D5A}"/>
              </a:ext>
            </a:extLst>
          </p:cNvPr>
          <p:cNvGraphicFramePr>
            <a:graphicFrameLocks noGrp="1"/>
          </p:cNvGraphicFramePr>
          <p:nvPr>
            <p:extLst>
              <p:ext uri="{D42A27DB-BD31-4B8C-83A1-F6EECF244321}">
                <p14:modId xmlns:p14="http://schemas.microsoft.com/office/powerpoint/2010/main" val="1635806190"/>
              </p:ext>
            </p:extLst>
          </p:nvPr>
        </p:nvGraphicFramePr>
        <p:xfrm>
          <a:off x="404934" y="1133547"/>
          <a:ext cx="6271276" cy="479280"/>
        </p:xfrm>
        <a:graphic>
          <a:graphicData uri="http://schemas.openxmlformats.org/drawingml/2006/table">
            <a:tbl>
              <a:tblPr firstRow="1" bandRow="1">
                <a:tableStyleId>{5C22544A-7EE6-4342-B048-85BDC9FD1C3A}</a:tableStyleId>
              </a:tblPr>
              <a:tblGrid>
                <a:gridCol w="348898">
                  <a:extLst>
                    <a:ext uri="{9D8B030D-6E8A-4147-A177-3AD203B41FA5}">
                      <a16:colId xmlns:a16="http://schemas.microsoft.com/office/drawing/2014/main" val="657570846"/>
                    </a:ext>
                  </a:extLst>
                </a:gridCol>
                <a:gridCol w="383626">
                  <a:extLst>
                    <a:ext uri="{9D8B030D-6E8A-4147-A177-3AD203B41FA5}">
                      <a16:colId xmlns:a16="http://schemas.microsoft.com/office/drawing/2014/main" val="3259894497"/>
                    </a:ext>
                  </a:extLst>
                </a:gridCol>
                <a:gridCol w="450860">
                  <a:extLst>
                    <a:ext uri="{9D8B030D-6E8A-4147-A177-3AD203B41FA5}">
                      <a16:colId xmlns:a16="http://schemas.microsoft.com/office/drawing/2014/main" val="4170535043"/>
                    </a:ext>
                  </a:extLst>
                </a:gridCol>
                <a:gridCol w="529663">
                  <a:extLst>
                    <a:ext uri="{9D8B030D-6E8A-4147-A177-3AD203B41FA5}">
                      <a16:colId xmlns:a16="http://schemas.microsoft.com/office/drawing/2014/main" val="2079070694"/>
                    </a:ext>
                  </a:extLst>
                </a:gridCol>
                <a:gridCol w="414867">
                  <a:extLst>
                    <a:ext uri="{9D8B030D-6E8A-4147-A177-3AD203B41FA5}">
                      <a16:colId xmlns:a16="http://schemas.microsoft.com/office/drawing/2014/main" val="4213315911"/>
                    </a:ext>
                  </a:extLst>
                </a:gridCol>
                <a:gridCol w="364067">
                  <a:extLst>
                    <a:ext uri="{9D8B030D-6E8A-4147-A177-3AD203B41FA5}">
                      <a16:colId xmlns:a16="http://schemas.microsoft.com/office/drawing/2014/main" val="2769999950"/>
                    </a:ext>
                  </a:extLst>
                </a:gridCol>
                <a:gridCol w="330200">
                  <a:extLst>
                    <a:ext uri="{9D8B030D-6E8A-4147-A177-3AD203B41FA5}">
                      <a16:colId xmlns:a16="http://schemas.microsoft.com/office/drawing/2014/main" val="135637185"/>
                    </a:ext>
                  </a:extLst>
                </a:gridCol>
                <a:gridCol w="370533">
                  <a:extLst>
                    <a:ext uri="{9D8B030D-6E8A-4147-A177-3AD203B41FA5}">
                      <a16:colId xmlns:a16="http://schemas.microsoft.com/office/drawing/2014/main" val="3038050475"/>
                    </a:ext>
                  </a:extLst>
                </a:gridCol>
                <a:gridCol w="470616">
                  <a:extLst>
                    <a:ext uri="{9D8B030D-6E8A-4147-A177-3AD203B41FA5}">
                      <a16:colId xmlns:a16="http://schemas.microsoft.com/office/drawing/2014/main" val="1979433044"/>
                    </a:ext>
                  </a:extLst>
                </a:gridCol>
                <a:gridCol w="426516">
                  <a:extLst>
                    <a:ext uri="{9D8B030D-6E8A-4147-A177-3AD203B41FA5}">
                      <a16:colId xmlns:a16="http://schemas.microsoft.com/office/drawing/2014/main" val="4270661649"/>
                    </a:ext>
                  </a:extLst>
                </a:gridCol>
                <a:gridCol w="433866">
                  <a:extLst>
                    <a:ext uri="{9D8B030D-6E8A-4147-A177-3AD203B41FA5}">
                      <a16:colId xmlns:a16="http://schemas.microsoft.com/office/drawing/2014/main" val="3027041370"/>
                    </a:ext>
                  </a:extLst>
                </a:gridCol>
                <a:gridCol w="441216">
                  <a:extLst>
                    <a:ext uri="{9D8B030D-6E8A-4147-A177-3AD203B41FA5}">
                      <a16:colId xmlns:a16="http://schemas.microsoft.com/office/drawing/2014/main" val="2852526216"/>
                    </a:ext>
                  </a:extLst>
                </a:gridCol>
                <a:gridCol w="448566">
                  <a:extLst>
                    <a:ext uri="{9D8B030D-6E8A-4147-A177-3AD203B41FA5}">
                      <a16:colId xmlns:a16="http://schemas.microsoft.com/office/drawing/2014/main" val="103420222"/>
                    </a:ext>
                  </a:extLst>
                </a:gridCol>
                <a:gridCol w="455916">
                  <a:extLst>
                    <a:ext uri="{9D8B030D-6E8A-4147-A177-3AD203B41FA5}">
                      <a16:colId xmlns:a16="http://schemas.microsoft.com/office/drawing/2014/main" val="1470405609"/>
                    </a:ext>
                  </a:extLst>
                </a:gridCol>
                <a:gridCol w="401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OTP_MCLK_EN</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FR2_MCLK_EN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FR1_CLK_EN</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DC_MCLK_EN</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35668824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7" name="표 6">
            <a:extLst>
              <a:ext uri="{FF2B5EF4-FFF2-40B4-BE49-F238E27FC236}">
                <a16:creationId xmlns:a16="http://schemas.microsoft.com/office/drawing/2014/main" id="{48A8FF4F-56C0-AD0F-DC5D-83EF91DACFA8}"/>
              </a:ext>
            </a:extLst>
          </p:cNvPr>
          <p:cNvGraphicFramePr>
            <a:graphicFrameLocks noGrp="1"/>
          </p:cNvGraphicFramePr>
          <p:nvPr>
            <p:extLst>
              <p:ext uri="{D42A27DB-BD31-4B8C-83A1-F6EECF244321}">
                <p14:modId xmlns:p14="http://schemas.microsoft.com/office/powerpoint/2010/main" val="1819464954"/>
              </p:ext>
            </p:extLst>
          </p:nvPr>
        </p:nvGraphicFramePr>
        <p:xfrm>
          <a:off x="395875" y="1734018"/>
          <a:ext cx="6063640" cy="3610409"/>
        </p:xfrm>
        <a:graphic>
          <a:graphicData uri="http://schemas.openxmlformats.org/drawingml/2006/table">
            <a:tbl>
              <a:tblPr firstRow="1" bandRow="1">
                <a:tableStyleId>{5C22544A-7EE6-4342-B048-85BDC9FD1C3A}</a:tableStyleId>
              </a:tblPr>
              <a:tblGrid>
                <a:gridCol w="448185">
                  <a:extLst>
                    <a:ext uri="{9D8B030D-6E8A-4147-A177-3AD203B41FA5}">
                      <a16:colId xmlns:a16="http://schemas.microsoft.com/office/drawing/2014/main" val="4170535043"/>
                    </a:ext>
                  </a:extLst>
                </a:gridCol>
                <a:gridCol w="925008">
                  <a:extLst>
                    <a:ext uri="{9D8B030D-6E8A-4147-A177-3AD203B41FA5}">
                      <a16:colId xmlns:a16="http://schemas.microsoft.com/office/drawing/2014/main" val="2079070694"/>
                    </a:ext>
                  </a:extLst>
                </a:gridCol>
                <a:gridCol w="237279">
                  <a:extLst>
                    <a:ext uri="{9D8B030D-6E8A-4147-A177-3AD203B41FA5}">
                      <a16:colId xmlns:a16="http://schemas.microsoft.com/office/drawing/2014/main" val="2393941440"/>
                    </a:ext>
                  </a:extLst>
                </a:gridCol>
                <a:gridCol w="4453168">
                  <a:extLst>
                    <a:ext uri="{9D8B030D-6E8A-4147-A177-3AD203B41FA5}">
                      <a16:colId xmlns:a16="http://schemas.microsoft.com/office/drawing/2014/main" val="32595803"/>
                    </a:ext>
                  </a:extLst>
                </a:gridCol>
              </a:tblGrid>
              <a:tr h="2912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1245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TEST_EN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used to test the device for trimming. To use the PWM_FULL_O, MCLK_O and VREF_O function, this bit should be set firstly and cleared lastly after these functions are used.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10458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TEST_ANA_EN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000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Should be “000”</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7080443"/>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SW_SEL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000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Should be “00”</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206708"/>
                  </a:ext>
                </a:extLst>
              </a:tr>
              <a:tr h="30439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PWM_FULL_O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enabled channels’ PWM out keeps active state regardless of the vsync.</a:t>
                      </a:r>
                      <a:endParaRPr lang="ko-KR" altLang="en-US" sz="900" b="0" dirty="0">
                        <a:solidFill>
                          <a:srgbClr val="FF0000"/>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1456802"/>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MCLK64_O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clock </a:t>
                      </a:r>
                      <a:r>
                        <a:rPr lang="en-US" altLang="ko-KR" sz="900" b="0" i="0" kern="1200" dirty="0">
                          <a:solidFill>
                            <a:schemeClr val="dk1"/>
                          </a:solidFill>
                          <a:effectLst/>
                          <a:latin typeface="Arial" panose="020B0604020202020204" pitchFamily="34" charset="0"/>
                          <a:ea typeface="+mn-ea"/>
                          <a:cs typeface="Arial" panose="020B0604020202020204" pitchFamily="34" charset="0"/>
                        </a:rPr>
                        <a:t>obtained by dividing MCLK by 64 is output to DDIO pin.</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1427674"/>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DTEST_MUX_EN</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a:t>
                      </a:r>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Digital mux signal selection bits for test.</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3638392"/>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EXT_CLKIN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EXT_CLKIN is used under TEST_EN = 1.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Should be “0”</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97162866"/>
                  </a:ext>
                </a:extLst>
              </a:tr>
              <a:tr h="39197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ADDR_EXT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used to select which register groups, the general registers or the OTP mirror registers, will be accessed. The OTP control registers address, 0x3E ~ 0x3F, can be commonly accessed regardless of this bit.</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general registers can be accessed except for the OTP mirror registers.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OTP mirror registers can be accessed except for the general registers.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5958323"/>
                  </a:ext>
                </a:extLst>
              </a:tr>
            </a:tbl>
          </a:graphicData>
        </a:graphic>
      </p:graphicFrame>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4" name="표 13">
            <a:extLst>
              <a:ext uri="{FF2B5EF4-FFF2-40B4-BE49-F238E27FC236}">
                <a16:creationId xmlns:a16="http://schemas.microsoft.com/office/drawing/2014/main" id="{DC61DBDC-9142-7382-EC04-5B31D4EBA0B0}"/>
              </a:ext>
            </a:extLst>
          </p:cNvPr>
          <p:cNvGraphicFramePr>
            <a:graphicFrameLocks noGrp="1"/>
          </p:cNvGraphicFramePr>
          <p:nvPr>
            <p:extLst>
              <p:ext uri="{D42A27DB-BD31-4B8C-83A1-F6EECF244321}">
                <p14:modId xmlns:p14="http://schemas.microsoft.com/office/powerpoint/2010/main" val="2362473806"/>
              </p:ext>
            </p:extLst>
          </p:nvPr>
        </p:nvGraphicFramePr>
        <p:xfrm>
          <a:off x="404811" y="1258316"/>
          <a:ext cx="6057353" cy="479280"/>
        </p:xfrm>
        <a:graphic>
          <a:graphicData uri="http://schemas.openxmlformats.org/drawingml/2006/table">
            <a:tbl>
              <a:tblPr firstRow="1" bandRow="1">
                <a:tableStyleId>{5C22544A-7EE6-4342-B048-85BDC9FD1C3A}</a:tableStyleId>
              </a:tblPr>
              <a:tblGrid>
                <a:gridCol w="292531">
                  <a:extLst>
                    <a:ext uri="{9D8B030D-6E8A-4147-A177-3AD203B41FA5}">
                      <a16:colId xmlns:a16="http://schemas.microsoft.com/office/drawing/2014/main" val="657570846"/>
                    </a:ext>
                  </a:extLst>
                </a:gridCol>
                <a:gridCol w="342329">
                  <a:extLst>
                    <a:ext uri="{9D8B030D-6E8A-4147-A177-3AD203B41FA5}">
                      <a16:colId xmlns:a16="http://schemas.microsoft.com/office/drawing/2014/main" val="3259894497"/>
                    </a:ext>
                  </a:extLst>
                </a:gridCol>
                <a:gridCol w="459098">
                  <a:extLst>
                    <a:ext uri="{9D8B030D-6E8A-4147-A177-3AD203B41FA5}">
                      <a16:colId xmlns:a16="http://schemas.microsoft.com/office/drawing/2014/main" val="4170535043"/>
                    </a:ext>
                  </a:extLst>
                </a:gridCol>
                <a:gridCol w="456773">
                  <a:extLst>
                    <a:ext uri="{9D8B030D-6E8A-4147-A177-3AD203B41FA5}">
                      <a16:colId xmlns:a16="http://schemas.microsoft.com/office/drawing/2014/main" val="2079070694"/>
                    </a:ext>
                  </a:extLst>
                </a:gridCol>
                <a:gridCol w="286008">
                  <a:extLst>
                    <a:ext uri="{9D8B030D-6E8A-4147-A177-3AD203B41FA5}">
                      <a16:colId xmlns:a16="http://schemas.microsoft.com/office/drawing/2014/main" val="4213315911"/>
                    </a:ext>
                  </a:extLst>
                </a:gridCol>
                <a:gridCol w="463550">
                  <a:extLst>
                    <a:ext uri="{9D8B030D-6E8A-4147-A177-3AD203B41FA5}">
                      <a16:colId xmlns:a16="http://schemas.microsoft.com/office/drawing/2014/main" val="2769999950"/>
                    </a:ext>
                  </a:extLst>
                </a:gridCol>
                <a:gridCol w="362975">
                  <a:extLst>
                    <a:ext uri="{9D8B030D-6E8A-4147-A177-3AD203B41FA5}">
                      <a16:colId xmlns:a16="http://schemas.microsoft.com/office/drawing/2014/main" val="135637185"/>
                    </a:ext>
                  </a:extLst>
                </a:gridCol>
                <a:gridCol w="247650">
                  <a:extLst>
                    <a:ext uri="{9D8B030D-6E8A-4147-A177-3AD203B41FA5}">
                      <a16:colId xmlns:a16="http://schemas.microsoft.com/office/drawing/2014/main" val="3038050475"/>
                    </a:ext>
                  </a:extLst>
                </a:gridCol>
                <a:gridCol w="205350">
                  <a:extLst>
                    <a:ext uri="{9D8B030D-6E8A-4147-A177-3AD203B41FA5}">
                      <a16:colId xmlns:a16="http://schemas.microsoft.com/office/drawing/2014/main" val="1979433044"/>
                    </a:ext>
                  </a:extLst>
                </a:gridCol>
                <a:gridCol w="644525">
                  <a:extLst>
                    <a:ext uri="{9D8B030D-6E8A-4147-A177-3AD203B41FA5}">
                      <a16:colId xmlns:a16="http://schemas.microsoft.com/office/drawing/2014/main" val="4270661649"/>
                    </a:ext>
                  </a:extLst>
                </a:gridCol>
                <a:gridCol w="504825">
                  <a:extLst>
                    <a:ext uri="{9D8B030D-6E8A-4147-A177-3AD203B41FA5}">
                      <a16:colId xmlns:a16="http://schemas.microsoft.com/office/drawing/2014/main" val="3027041370"/>
                    </a:ext>
                  </a:extLst>
                </a:gridCol>
                <a:gridCol w="273050">
                  <a:extLst>
                    <a:ext uri="{9D8B030D-6E8A-4147-A177-3AD203B41FA5}">
                      <a16:colId xmlns:a16="http://schemas.microsoft.com/office/drawing/2014/main" val="2852526216"/>
                    </a:ext>
                  </a:extLst>
                </a:gridCol>
                <a:gridCol w="441325">
                  <a:extLst>
                    <a:ext uri="{9D8B030D-6E8A-4147-A177-3AD203B41FA5}">
                      <a16:colId xmlns:a16="http://schemas.microsoft.com/office/drawing/2014/main" val="103420222"/>
                    </a:ext>
                  </a:extLst>
                </a:gridCol>
                <a:gridCol w="541601">
                  <a:extLst>
                    <a:ext uri="{9D8B030D-6E8A-4147-A177-3AD203B41FA5}">
                      <a16:colId xmlns:a16="http://schemas.microsoft.com/office/drawing/2014/main" val="1470405609"/>
                    </a:ext>
                  </a:extLst>
                </a:gridCol>
                <a:gridCol w="53576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TEST_EN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TEST_ANA_EN[2:0]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SW_SEL[2:0]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PWM_FULL_O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MCLK64_O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DTEST_MUX_EN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EXT_CLKIN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ADDR_EXT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6" name="TextBox 15">
            <a:extLst>
              <a:ext uri="{FF2B5EF4-FFF2-40B4-BE49-F238E27FC236}">
                <a16:creationId xmlns:a16="http://schemas.microsoft.com/office/drawing/2014/main" id="{6179CFB8-81A8-57C9-41F2-B298EF749D7E}"/>
              </a:ext>
            </a:extLst>
          </p:cNvPr>
          <p:cNvSpPr txBox="1"/>
          <p:nvPr/>
        </p:nvSpPr>
        <p:spPr>
          <a:xfrm>
            <a:off x="404811" y="5380864"/>
            <a:ext cx="605192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ACCESS</a:t>
            </a:r>
          </a:p>
        </p:txBody>
      </p:sp>
      <p:graphicFrame>
        <p:nvGraphicFramePr>
          <p:cNvPr id="24" name="표 23">
            <a:extLst>
              <a:ext uri="{FF2B5EF4-FFF2-40B4-BE49-F238E27FC236}">
                <a16:creationId xmlns:a16="http://schemas.microsoft.com/office/drawing/2014/main" id="{999EB05F-AAFA-8169-C521-02BFC8EA63C8}"/>
              </a:ext>
            </a:extLst>
          </p:cNvPr>
          <p:cNvGraphicFramePr>
            <a:graphicFrameLocks noGrp="1"/>
          </p:cNvGraphicFramePr>
          <p:nvPr>
            <p:extLst>
              <p:ext uri="{D42A27DB-BD31-4B8C-83A1-F6EECF244321}">
                <p14:modId xmlns:p14="http://schemas.microsoft.com/office/powerpoint/2010/main" val="3570208614"/>
              </p:ext>
            </p:extLst>
          </p:nvPr>
        </p:nvGraphicFramePr>
        <p:xfrm>
          <a:off x="413751" y="6847159"/>
          <a:ext cx="6038247" cy="372600"/>
        </p:xfrm>
        <a:graphic>
          <a:graphicData uri="http://schemas.openxmlformats.org/drawingml/2006/table">
            <a:tbl>
              <a:tblPr firstRow="1" bandRow="1">
                <a:tableStyleId>{5C22544A-7EE6-4342-B048-85BDC9FD1C3A}</a:tableStyleId>
              </a:tblPr>
              <a:tblGrid>
                <a:gridCol w="334389">
                  <a:extLst>
                    <a:ext uri="{9D8B030D-6E8A-4147-A177-3AD203B41FA5}">
                      <a16:colId xmlns:a16="http://schemas.microsoft.com/office/drawing/2014/main" val="657570846"/>
                    </a:ext>
                  </a:extLst>
                </a:gridCol>
                <a:gridCol w="354228">
                  <a:extLst>
                    <a:ext uri="{9D8B030D-6E8A-4147-A177-3AD203B41FA5}">
                      <a16:colId xmlns:a16="http://schemas.microsoft.com/office/drawing/2014/main" val="3259894497"/>
                    </a:ext>
                  </a:extLst>
                </a:gridCol>
                <a:gridCol w="464161">
                  <a:extLst>
                    <a:ext uri="{9D8B030D-6E8A-4147-A177-3AD203B41FA5}">
                      <a16:colId xmlns:a16="http://schemas.microsoft.com/office/drawing/2014/main" val="4170535043"/>
                    </a:ext>
                  </a:extLst>
                </a:gridCol>
                <a:gridCol w="423445">
                  <a:extLst>
                    <a:ext uri="{9D8B030D-6E8A-4147-A177-3AD203B41FA5}">
                      <a16:colId xmlns:a16="http://schemas.microsoft.com/office/drawing/2014/main" val="2079070694"/>
                    </a:ext>
                  </a:extLst>
                </a:gridCol>
                <a:gridCol w="407160">
                  <a:extLst>
                    <a:ext uri="{9D8B030D-6E8A-4147-A177-3AD203B41FA5}">
                      <a16:colId xmlns:a16="http://schemas.microsoft.com/office/drawing/2014/main" val="4213315911"/>
                    </a:ext>
                  </a:extLst>
                </a:gridCol>
                <a:gridCol w="415302">
                  <a:extLst>
                    <a:ext uri="{9D8B030D-6E8A-4147-A177-3AD203B41FA5}">
                      <a16:colId xmlns:a16="http://schemas.microsoft.com/office/drawing/2014/main" val="2769999950"/>
                    </a:ext>
                  </a:extLst>
                </a:gridCol>
                <a:gridCol w="411231">
                  <a:extLst>
                    <a:ext uri="{9D8B030D-6E8A-4147-A177-3AD203B41FA5}">
                      <a16:colId xmlns:a16="http://schemas.microsoft.com/office/drawing/2014/main" val="135637185"/>
                    </a:ext>
                  </a:extLst>
                </a:gridCol>
                <a:gridCol w="411230">
                  <a:extLst>
                    <a:ext uri="{9D8B030D-6E8A-4147-A177-3AD203B41FA5}">
                      <a16:colId xmlns:a16="http://schemas.microsoft.com/office/drawing/2014/main" val="3038050475"/>
                    </a:ext>
                  </a:extLst>
                </a:gridCol>
                <a:gridCol w="411230">
                  <a:extLst>
                    <a:ext uri="{9D8B030D-6E8A-4147-A177-3AD203B41FA5}">
                      <a16:colId xmlns:a16="http://schemas.microsoft.com/office/drawing/2014/main" val="1979433044"/>
                    </a:ext>
                  </a:extLst>
                </a:gridCol>
                <a:gridCol w="415303">
                  <a:extLst>
                    <a:ext uri="{9D8B030D-6E8A-4147-A177-3AD203B41FA5}">
                      <a16:colId xmlns:a16="http://schemas.microsoft.com/office/drawing/2014/main" val="4270661649"/>
                    </a:ext>
                  </a:extLst>
                </a:gridCol>
                <a:gridCol w="397996">
                  <a:extLst>
                    <a:ext uri="{9D8B030D-6E8A-4147-A177-3AD203B41FA5}">
                      <a16:colId xmlns:a16="http://schemas.microsoft.com/office/drawing/2014/main" val="3027041370"/>
                    </a:ext>
                  </a:extLst>
                </a:gridCol>
                <a:gridCol w="398143">
                  <a:extLst>
                    <a:ext uri="{9D8B030D-6E8A-4147-A177-3AD203B41FA5}">
                      <a16:colId xmlns:a16="http://schemas.microsoft.com/office/drawing/2014/main" val="2852526216"/>
                    </a:ext>
                  </a:extLst>
                </a:gridCol>
                <a:gridCol w="398143">
                  <a:extLst>
                    <a:ext uri="{9D8B030D-6E8A-4147-A177-3AD203B41FA5}">
                      <a16:colId xmlns:a16="http://schemas.microsoft.com/office/drawing/2014/main" val="103420222"/>
                    </a:ext>
                  </a:extLst>
                </a:gridCol>
                <a:gridCol w="398143">
                  <a:extLst>
                    <a:ext uri="{9D8B030D-6E8A-4147-A177-3AD203B41FA5}">
                      <a16:colId xmlns:a16="http://schemas.microsoft.com/office/drawing/2014/main" val="1470405609"/>
                    </a:ext>
                  </a:extLst>
                </a:gridCol>
                <a:gridCol w="39814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OTP_RD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OTP_WSEL [3:0]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SHORT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OPEN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FB</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6" name="TextBox 25">
            <a:extLst>
              <a:ext uri="{FF2B5EF4-FFF2-40B4-BE49-F238E27FC236}">
                <a16:creationId xmlns:a16="http://schemas.microsoft.com/office/drawing/2014/main" id="{B006BA10-BC89-16DF-4D10-C3D035F30E44}"/>
              </a:ext>
            </a:extLst>
          </p:cNvPr>
          <p:cNvSpPr txBox="1"/>
          <p:nvPr/>
        </p:nvSpPr>
        <p:spPr>
          <a:xfrm>
            <a:off x="413751" y="6584073"/>
            <a:ext cx="603824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WRITE</a:t>
            </a:r>
          </a:p>
        </p:txBody>
      </p:sp>
      <p:sp>
        <p:nvSpPr>
          <p:cNvPr id="28" name="TextBox 27">
            <a:extLst>
              <a:ext uri="{FF2B5EF4-FFF2-40B4-BE49-F238E27FC236}">
                <a16:creationId xmlns:a16="http://schemas.microsoft.com/office/drawing/2014/main" id="{C6986916-2C64-B629-A96B-8AF117FEE8DA}"/>
              </a:ext>
            </a:extLst>
          </p:cNvPr>
          <p:cNvSpPr txBox="1"/>
          <p:nvPr/>
        </p:nvSpPr>
        <p:spPr>
          <a:xfrm>
            <a:off x="404814" y="7305037"/>
            <a:ext cx="604865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RD/PROG</a:t>
            </a:r>
          </a:p>
        </p:txBody>
      </p:sp>
      <p:sp>
        <p:nvSpPr>
          <p:cNvPr id="29" name="TextBox 28">
            <a:extLst>
              <a:ext uri="{FF2B5EF4-FFF2-40B4-BE49-F238E27FC236}">
                <a16:creationId xmlns:a16="http://schemas.microsoft.com/office/drawing/2014/main" id="{FC244CE5-E3CF-6B88-F093-0FD103304D76}"/>
              </a:ext>
            </a:extLst>
          </p:cNvPr>
          <p:cNvSpPr txBox="1"/>
          <p:nvPr/>
        </p:nvSpPr>
        <p:spPr>
          <a:xfrm>
            <a:off x="404814" y="8008468"/>
            <a:ext cx="603967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PROTECT</a:t>
            </a:r>
          </a:p>
        </p:txBody>
      </p:sp>
      <p:graphicFrame>
        <p:nvGraphicFramePr>
          <p:cNvPr id="30" name="표 29">
            <a:extLst>
              <a:ext uri="{FF2B5EF4-FFF2-40B4-BE49-F238E27FC236}">
                <a16:creationId xmlns:a16="http://schemas.microsoft.com/office/drawing/2014/main" id="{344C8E5D-6544-504B-AA6C-A6CF302A4DFE}"/>
              </a:ext>
            </a:extLst>
          </p:cNvPr>
          <p:cNvGraphicFramePr>
            <a:graphicFrameLocks noGrp="1"/>
          </p:cNvGraphicFramePr>
          <p:nvPr>
            <p:extLst>
              <p:ext uri="{D42A27DB-BD31-4B8C-83A1-F6EECF244321}">
                <p14:modId xmlns:p14="http://schemas.microsoft.com/office/powerpoint/2010/main" val="3767175951"/>
              </p:ext>
            </p:extLst>
          </p:nvPr>
        </p:nvGraphicFramePr>
        <p:xfrm>
          <a:off x="408467" y="8275084"/>
          <a:ext cx="6043535" cy="372600"/>
        </p:xfrm>
        <a:graphic>
          <a:graphicData uri="http://schemas.openxmlformats.org/drawingml/2006/table">
            <a:tbl>
              <a:tblPr firstRow="1" bandRow="1">
                <a:tableStyleId>{5C22544A-7EE6-4342-B048-85BDC9FD1C3A}</a:tableStyleId>
              </a:tblPr>
              <a:tblGrid>
                <a:gridCol w="351093">
                  <a:extLst>
                    <a:ext uri="{9D8B030D-6E8A-4147-A177-3AD203B41FA5}">
                      <a16:colId xmlns:a16="http://schemas.microsoft.com/office/drawing/2014/main" val="657570846"/>
                    </a:ext>
                  </a:extLst>
                </a:gridCol>
                <a:gridCol w="386041">
                  <a:extLst>
                    <a:ext uri="{9D8B030D-6E8A-4147-A177-3AD203B41FA5}">
                      <a16:colId xmlns:a16="http://schemas.microsoft.com/office/drawing/2014/main" val="3259894497"/>
                    </a:ext>
                  </a:extLst>
                </a:gridCol>
                <a:gridCol w="453697">
                  <a:extLst>
                    <a:ext uri="{9D8B030D-6E8A-4147-A177-3AD203B41FA5}">
                      <a16:colId xmlns:a16="http://schemas.microsoft.com/office/drawing/2014/main" val="4170535043"/>
                    </a:ext>
                  </a:extLst>
                </a:gridCol>
                <a:gridCol w="404392">
                  <a:extLst>
                    <a:ext uri="{9D8B030D-6E8A-4147-A177-3AD203B41FA5}">
                      <a16:colId xmlns:a16="http://schemas.microsoft.com/office/drawing/2014/main" val="2079070694"/>
                    </a:ext>
                  </a:extLst>
                </a:gridCol>
                <a:gridCol w="404392">
                  <a:extLst>
                    <a:ext uri="{9D8B030D-6E8A-4147-A177-3AD203B41FA5}">
                      <a16:colId xmlns:a16="http://schemas.microsoft.com/office/drawing/2014/main" val="4213315911"/>
                    </a:ext>
                  </a:extLst>
                </a:gridCol>
                <a:gridCol w="404392">
                  <a:extLst>
                    <a:ext uri="{9D8B030D-6E8A-4147-A177-3AD203B41FA5}">
                      <a16:colId xmlns:a16="http://schemas.microsoft.com/office/drawing/2014/main" val="2769999950"/>
                    </a:ext>
                  </a:extLst>
                </a:gridCol>
                <a:gridCol w="404392">
                  <a:extLst>
                    <a:ext uri="{9D8B030D-6E8A-4147-A177-3AD203B41FA5}">
                      <a16:colId xmlns:a16="http://schemas.microsoft.com/office/drawing/2014/main" val="135637185"/>
                    </a:ext>
                  </a:extLst>
                </a:gridCol>
                <a:gridCol w="404392">
                  <a:extLst>
                    <a:ext uri="{9D8B030D-6E8A-4147-A177-3AD203B41FA5}">
                      <a16:colId xmlns:a16="http://schemas.microsoft.com/office/drawing/2014/main" val="3038050475"/>
                    </a:ext>
                  </a:extLst>
                </a:gridCol>
                <a:gridCol w="404392">
                  <a:extLst>
                    <a:ext uri="{9D8B030D-6E8A-4147-A177-3AD203B41FA5}">
                      <a16:colId xmlns:a16="http://schemas.microsoft.com/office/drawing/2014/main" val="1979433044"/>
                    </a:ext>
                  </a:extLst>
                </a:gridCol>
                <a:gridCol w="404392">
                  <a:extLst>
                    <a:ext uri="{9D8B030D-6E8A-4147-A177-3AD203B41FA5}">
                      <a16:colId xmlns:a16="http://schemas.microsoft.com/office/drawing/2014/main" val="4270661649"/>
                    </a:ext>
                  </a:extLst>
                </a:gridCol>
                <a:gridCol w="404392">
                  <a:extLst>
                    <a:ext uri="{9D8B030D-6E8A-4147-A177-3AD203B41FA5}">
                      <a16:colId xmlns:a16="http://schemas.microsoft.com/office/drawing/2014/main" val="3027041370"/>
                    </a:ext>
                  </a:extLst>
                </a:gridCol>
                <a:gridCol w="404392">
                  <a:extLst>
                    <a:ext uri="{9D8B030D-6E8A-4147-A177-3AD203B41FA5}">
                      <a16:colId xmlns:a16="http://schemas.microsoft.com/office/drawing/2014/main" val="2852526216"/>
                    </a:ext>
                  </a:extLst>
                </a:gridCol>
                <a:gridCol w="404392">
                  <a:extLst>
                    <a:ext uri="{9D8B030D-6E8A-4147-A177-3AD203B41FA5}">
                      <a16:colId xmlns:a16="http://schemas.microsoft.com/office/drawing/2014/main" val="103420222"/>
                    </a:ext>
                  </a:extLst>
                </a:gridCol>
                <a:gridCol w="404392">
                  <a:extLst>
                    <a:ext uri="{9D8B030D-6E8A-4147-A177-3AD203B41FA5}">
                      <a16:colId xmlns:a16="http://schemas.microsoft.com/office/drawing/2014/main" val="1470405609"/>
                    </a:ext>
                  </a:extLst>
                </a:gridCol>
                <a:gridCol w="40439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0x5A5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               PROTECT_EN/DIS [11:0]        </a:t>
                      </a:r>
                      <a:r>
                        <a:rPr lang="en-US" altLang="ko-KR" sz="700" b="0" kern="1200" dirty="0">
                          <a:solidFill>
                            <a:schemeClr val="tx1"/>
                          </a:solidFill>
                          <a:latin typeface="Microsoft GothicNeo" panose="020B0500000101010101" pitchFamily="50" charset="-127"/>
                          <a:ea typeface="Microsoft GothicNeo" panose="020B0500000101010101" pitchFamily="50" charset="-127"/>
                          <a:cs typeface="Microsoft GothicNeo" panose="020B0500000101010101" pitchFamily="50" charset="-127"/>
                        </a:rPr>
                        <a:t>※ </a:t>
                      </a:r>
                      <a:r>
                        <a:rPr lang="en-US" altLang="ko-KR" sz="700" b="0" kern="1200" dirty="0">
                          <a:solidFill>
                            <a:schemeClr val="tx1"/>
                          </a:solidFill>
                          <a:latin typeface="Arial" panose="020B0604020202020204" pitchFamily="34" charset="0"/>
                          <a:ea typeface="+mn-ea"/>
                          <a:cs typeface="Arial" panose="020B0604020202020204" pitchFamily="34" charset="0"/>
                        </a:rPr>
                        <a:t>enable (0x5A5), disable (0xA5A), need to disable for writing</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3" name="표 32">
            <a:extLst>
              <a:ext uri="{FF2B5EF4-FFF2-40B4-BE49-F238E27FC236}">
                <a16:creationId xmlns:a16="http://schemas.microsoft.com/office/drawing/2014/main" id="{B4B6ADFB-367B-6856-8CC1-29850FE989EC}"/>
              </a:ext>
            </a:extLst>
          </p:cNvPr>
          <p:cNvGraphicFramePr>
            <a:graphicFrameLocks noGrp="1"/>
          </p:cNvGraphicFramePr>
          <p:nvPr>
            <p:extLst>
              <p:ext uri="{D42A27DB-BD31-4B8C-83A1-F6EECF244321}">
                <p14:modId xmlns:p14="http://schemas.microsoft.com/office/powerpoint/2010/main" val="1316919675"/>
              </p:ext>
            </p:extLst>
          </p:nvPr>
        </p:nvGraphicFramePr>
        <p:xfrm>
          <a:off x="404815" y="6099298"/>
          <a:ext cx="6047183" cy="372600"/>
        </p:xfrm>
        <a:graphic>
          <a:graphicData uri="http://schemas.openxmlformats.org/drawingml/2006/table">
            <a:tbl>
              <a:tblPr firstRow="1" bandRow="1">
                <a:tableStyleId>{5C22544A-7EE6-4342-B048-85BDC9FD1C3A}</a:tableStyleId>
              </a:tblPr>
              <a:tblGrid>
                <a:gridCol w="344569">
                  <a:extLst>
                    <a:ext uri="{9D8B030D-6E8A-4147-A177-3AD203B41FA5}">
                      <a16:colId xmlns:a16="http://schemas.microsoft.com/office/drawing/2014/main" val="657570846"/>
                    </a:ext>
                  </a:extLst>
                </a:gridCol>
                <a:gridCol w="352237">
                  <a:extLst>
                    <a:ext uri="{9D8B030D-6E8A-4147-A177-3AD203B41FA5}">
                      <a16:colId xmlns:a16="http://schemas.microsoft.com/office/drawing/2014/main" val="3259894497"/>
                    </a:ext>
                  </a:extLst>
                </a:gridCol>
                <a:gridCol w="466920">
                  <a:extLst>
                    <a:ext uri="{9D8B030D-6E8A-4147-A177-3AD203B41FA5}">
                      <a16:colId xmlns:a16="http://schemas.microsoft.com/office/drawing/2014/main" val="4170535043"/>
                    </a:ext>
                  </a:extLst>
                </a:gridCol>
                <a:gridCol w="370523">
                  <a:extLst>
                    <a:ext uri="{9D8B030D-6E8A-4147-A177-3AD203B41FA5}">
                      <a16:colId xmlns:a16="http://schemas.microsoft.com/office/drawing/2014/main" val="2079070694"/>
                    </a:ext>
                  </a:extLst>
                </a:gridCol>
                <a:gridCol w="503791">
                  <a:extLst>
                    <a:ext uri="{9D8B030D-6E8A-4147-A177-3AD203B41FA5}">
                      <a16:colId xmlns:a16="http://schemas.microsoft.com/office/drawing/2014/main" val="4213315911"/>
                    </a:ext>
                  </a:extLst>
                </a:gridCol>
                <a:gridCol w="402101">
                  <a:extLst>
                    <a:ext uri="{9D8B030D-6E8A-4147-A177-3AD203B41FA5}">
                      <a16:colId xmlns:a16="http://schemas.microsoft.com/office/drawing/2014/main" val="2769999950"/>
                    </a:ext>
                  </a:extLst>
                </a:gridCol>
                <a:gridCol w="402101">
                  <a:extLst>
                    <a:ext uri="{9D8B030D-6E8A-4147-A177-3AD203B41FA5}">
                      <a16:colId xmlns:a16="http://schemas.microsoft.com/office/drawing/2014/main" val="135637185"/>
                    </a:ext>
                  </a:extLst>
                </a:gridCol>
                <a:gridCol w="402101">
                  <a:extLst>
                    <a:ext uri="{9D8B030D-6E8A-4147-A177-3AD203B41FA5}">
                      <a16:colId xmlns:a16="http://schemas.microsoft.com/office/drawing/2014/main" val="3038050475"/>
                    </a:ext>
                  </a:extLst>
                </a:gridCol>
                <a:gridCol w="402101">
                  <a:extLst>
                    <a:ext uri="{9D8B030D-6E8A-4147-A177-3AD203B41FA5}">
                      <a16:colId xmlns:a16="http://schemas.microsoft.com/office/drawing/2014/main" val="1979433044"/>
                    </a:ext>
                  </a:extLst>
                </a:gridCol>
                <a:gridCol w="402101">
                  <a:extLst>
                    <a:ext uri="{9D8B030D-6E8A-4147-A177-3AD203B41FA5}">
                      <a16:colId xmlns:a16="http://schemas.microsoft.com/office/drawing/2014/main" val="4270661649"/>
                    </a:ext>
                  </a:extLst>
                </a:gridCol>
                <a:gridCol w="402101">
                  <a:extLst>
                    <a:ext uri="{9D8B030D-6E8A-4147-A177-3AD203B41FA5}">
                      <a16:colId xmlns:a16="http://schemas.microsoft.com/office/drawing/2014/main" val="3027041370"/>
                    </a:ext>
                  </a:extLst>
                </a:gridCol>
                <a:gridCol w="402101">
                  <a:extLst>
                    <a:ext uri="{9D8B030D-6E8A-4147-A177-3AD203B41FA5}">
                      <a16:colId xmlns:a16="http://schemas.microsoft.com/office/drawing/2014/main" val="2852526216"/>
                    </a:ext>
                  </a:extLst>
                </a:gridCol>
                <a:gridCol w="402101">
                  <a:extLst>
                    <a:ext uri="{9D8B030D-6E8A-4147-A177-3AD203B41FA5}">
                      <a16:colId xmlns:a16="http://schemas.microsoft.com/office/drawing/2014/main" val="103420222"/>
                    </a:ext>
                  </a:extLst>
                </a:gridCol>
                <a:gridCol w="402101">
                  <a:extLst>
                    <a:ext uri="{9D8B030D-6E8A-4147-A177-3AD203B41FA5}">
                      <a16:colId xmlns:a16="http://schemas.microsoft.com/office/drawing/2014/main" val="1470405609"/>
                    </a:ext>
                  </a:extLst>
                </a:gridCol>
                <a:gridCol w="3902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[11:0]</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4" name="표 33">
            <a:extLst>
              <a:ext uri="{FF2B5EF4-FFF2-40B4-BE49-F238E27FC236}">
                <a16:creationId xmlns:a16="http://schemas.microsoft.com/office/drawing/2014/main" id="{A737F4D4-AC2F-DBD8-BB4C-07CEEBF6C658}"/>
              </a:ext>
            </a:extLst>
          </p:cNvPr>
          <p:cNvGraphicFramePr>
            <a:graphicFrameLocks noGrp="1"/>
          </p:cNvGraphicFramePr>
          <p:nvPr>
            <p:extLst>
              <p:ext uri="{D42A27DB-BD31-4B8C-83A1-F6EECF244321}">
                <p14:modId xmlns:p14="http://schemas.microsoft.com/office/powerpoint/2010/main" val="1942217728"/>
              </p:ext>
            </p:extLst>
          </p:nvPr>
        </p:nvGraphicFramePr>
        <p:xfrm>
          <a:off x="404815" y="5652394"/>
          <a:ext cx="6051922" cy="372600"/>
        </p:xfrm>
        <a:graphic>
          <a:graphicData uri="http://schemas.openxmlformats.org/drawingml/2006/table">
            <a:tbl>
              <a:tblPr firstRow="1" bandRow="1">
                <a:tableStyleId>{5C22544A-7EE6-4342-B048-85BDC9FD1C3A}</a:tableStyleId>
              </a:tblPr>
              <a:tblGrid>
                <a:gridCol w="345805">
                  <a:extLst>
                    <a:ext uri="{9D8B030D-6E8A-4147-A177-3AD203B41FA5}">
                      <a16:colId xmlns:a16="http://schemas.microsoft.com/office/drawing/2014/main" val="657570846"/>
                    </a:ext>
                  </a:extLst>
                </a:gridCol>
                <a:gridCol w="358218">
                  <a:extLst>
                    <a:ext uri="{9D8B030D-6E8A-4147-A177-3AD203B41FA5}">
                      <a16:colId xmlns:a16="http://schemas.microsoft.com/office/drawing/2014/main" val="3259894497"/>
                    </a:ext>
                  </a:extLst>
                </a:gridCol>
                <a:gridCol w="466253">
                  <a:extLst>
                    <a:ext uri="{9D8B030D-6E8A-4147-A177-3AD203B41FA5}">
                      <a16:colId xmlns:a16="http://schemas.microsoft.com/office/drawing/2014/main" val="4170535043"/>
                    </a:ext>
                  </a:extLst>
                </a:gridCol>
                <a:gridCol w="327847">
                  <a:extLst>
                    <a:ext uri="{9D8B030D-6E8A-4147-A177-3AD203B41FA5}">
                      <a16:colId xmlns:a16="http://schemas.microsoft.com/office/drawing/2014/main" val="2079070694"/>
                    </a:ext>
                  </a:extLst>
                </a:gridCol>
                <a:gridCol w="418981">
                  <a:extLst>
                    <a:ext uri="{9D8B030D-6E8A-4147-A177-3AD203B41FA5}">
                      <a16:colId xmlns:a16="http://schemas.microsoft.com/office/drawing/2014/main" val="4213315911"/>
                    </a:ext>
                  </a:extLst>
                </a:gridCol>
                <a:gridCol w="334413">
                  <a:extLst>
                    <a:ext uri="{9D8B030D-6E8A-4147-A177-3AD203B41FA5}">
                      <a16:colId xmlns:a16="http://schemas.microsoft.com/office/drawing/2014/main" val="2769999950"/>
                    </a:ext>
                  </a:extLst>
                </a:gridCol>
                <a:gridCol w="334413">
                  <a:extLst>
                    <a:ext uri="{9D8B030D-6E8A-4147-A177-3AD203B41FA5}">
                      <a16:colId xmlns:a16="http://schemas.microsoft.com/office/drawing/2014/main" val="135637185"/>
                    </a:ext>
                  </a:extLst>
                </a:gridCol>
                <a:gridCol w="334413">
                  <a:extLst>
                    <a:ext uri="{9D8B030D-6E8A-4147-A177-3AD203B41FA5}">
                      <a16:colId xmlns:a16="http://schemas.microsoft.com/office/drawing/2014/main" val="3038050475"/>
                    </a:ext>
                  </a:extLst>
                </a:gridCol>
                <a:gridCol w="334413">
                  <a:extLst>
                    <a:ext uri="{9D8B030D-6E8A-4147-A177-3AD203B41FA5}">
                      <a16:colId xmlns:a16="http://schemas.microsoft.com/office/drawing/2014/main" val="1979433044"/>
                    </a:ext>
                  </a:extLst>
                </a:gridCol>
                <a:gridCol w="334413">
                  <a:extLst>
                    <a:ext uri="{9D8B030D-6E8A-4147-A177-3AD203B41FA5}">
                      <a16:colId xmlns:a16="http://schemas.microsoft.com/office/drawing/2014/main" val="4270661649"/>
                    </a:ext>
                  </a:extLst>
                </a:gridCol>
                <a:gridCol w="334413">
                  <a:extLst>
                    <a:ext uri="{9D8B030D-6E8A-4147-A177-3AD203B41FA5}">
                      <a16:colId xmlns:a16="http://schemas.microsoft.com/office/drawing/2014/main" val="3027041370"/>
                    </a:ext>
                  </a:extLst>
                </a:gridCol>
                <a:gridCol w="517570">
                  <a:extLst>
                    <a:ext uri="{9D8B030D-6E8A-4147-A177-3AD203B41FA5}">
                      <a16:colId xmlns:a16="http://schemas.microsoft.com/office/drawing/2014/main" val="2852526216"/>
                    </a:ext>
                  </a:extLst>
                </a:gridCol>
                <a:gridCol w="517570">
                  <a:extLst>
                    <a:ext uri="{9D8B030D-6E8A-4147-A177-3AD203B41FA5}">
                      <a16:colId xmlns:a16="http://schemas.microsoft.com/office/drawing/2014/main" val="103420222"/>
                    </a:ext>
                  </a:extLst>
                </a:gridCol>
                <a:gridCol w="517570">
                  <a:extLst>
                    <a:ext uri="{9D8B030D-6E8A-4147-A177-3AD203B41FA5}">
                      <a16:colId xmlns:a16="http://schemas.microsoft.com/office/drawing/2014/main" val="1470405609"/>
                    </a:ext>
                  </a:extLst>
                </a:gridCol>
                <a:gridCol w="575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[15:12]</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5" name="표 34">
            <a:extLst>
              <a:ext uri="{FF2B5EF4-FFF2-40B4-BE49-F238E27FC236}">
                <a16:creationId xmlns:a16="http://schemas.microsoft.com/office/drawing/2014/main" id="{95B9A0BF-47AE-C803-0327-F82DAD28E211}"/>
              </a:ext>
            </a:extLst>
          </p:cNvPr>
          <p:cNvGraphicFramePr>
            <a:graphicFrameLocks noGrp="1"/>
          </p:cNvGraphicFramePr>
          <p:nvPr>
            <p:extLst>
              <p:ext uri="{D42A27DB-BD31-4B8C-83A1-F6EECF244321}">
                <p14:modId xmlns:p14="http://schemas.microsoft.com/office/powerpoint/2010/main" val="2713885924"/>
              </p:ext>
            </p:extLst>
          </p:nvPr>
        </p:nvGraphicFramePr>
        <p:xfrm>
          <a:off x="408467" y="7570225"/>
          <a:ext cx="6043532" cy="372600"/>
        </p:xfrm>
        <a:graphic>
          <a:graphicData uri="http://schemas.openxmlformats.org/drawingml/2006/table">
            <a:tbl>
              <a:tblPr firstRow="1" bandRow="1">
                <a:tableStyleId>{5C22544A-7EE6-4342-B048-85BDC9FD1C3A}</a:tableStyleId>
              </a:tblPr>
              <a:tblGrid>
                <a:gridCol w="349578">
                  <a:extLst>
                    <a:ext uri="{9D8B030D-6E8A-4147-A177-3AD203B41FA5}">
                      <a16:colId xmlns:a16="http://schemas.microsoft.com/office/drawing/2014/main" val="657570846"/>
                    </a:ext>
                  </a:extLst>
                </a:gridCol>
                <a:gridCol w="341612">
                  <a:extLst>
                    <a:ext uri="{9D8B030D-6E8A-4147-A177-3AD203B41FA5}">
                      <a16:colId xmlns:a16="http://schemas.microsoft.com/office/drawing/2014/main" val="3259894497"/>
                    </a:ext>
                  </a:extLst>
                </a:gridCol>
                <a:gridCol w="468643">
                  <a:extLst>
                    <a:ext uri="{9D8B030D-6E8A-4147-A177-3AD203B41FA5}">
                      <a16:colId xmlns:a16="http://schemas.microsoft.com/office/drawing/2014/main" val="4170535043"/>
                    </a:ext>
                  </a:extLst>
                </a:gridCol>
                <a:gridCol w="327952">
                  <a:extLst>
                    <a:ext uri="{9D8B030D-6E8A-4147-A177-3AD203B41FA5}">
                      <a16:colId xmlns:a16="http://schemas.microsoft.com/office/drawing/2014/main" val="2079070694"/>
                    </a:ext>
                  </a:extLst>
                </a:gridCol>
                <a:gridCol w="293185">
                  <a:extLst>
                    <a:ext uri="{9D8B030D-6E8A-4147-A177-3AD203B41FA5}">
                      <a16:colId xmlns:a16="http://schemas.microsoft.com/office/drawing/2014/main" val="4213315911"/>
                    </a:ext>
                  </a:extLst>
                </a:gridCol>
                <a:gridCol w="278705">
                  <a:extLst>
                    <a:ext uri="{9D8B030D-6E8A-4147-A177-3AD203B41FA5}">
                      <a16:colId xmlns:a16="http://schemas.microsoft.com/office/drawing/2014/main" val="2769999950"/>
                    </a:ext>
                  </a:extLst>
                </a:gridCol>
                <a:gridCol w="278855">
                  <a:extLst>
                    <a:ext uri="{9D8B030D-6E8A-4147-A177-3AD203B41FA5}">
                      <a16:colId xmlns:a16="http://schemas.microsoft.com/office/drawing/2014/main" val="135637185"/>
                    </a:ext>
                  </a:extLst>
                </a:gridCol>
                <a:gridCol w="278855">
                  <a:extLst>
                    <a:ext uri="{9D8B030D-6E8A-4147-A177-3AD203B41FA5}">
                      <a16:colId xmlns:a16="http://schemas.microsoft.com/office/drawing/2014/main" val="3038050475"/>
                    </a:ext>
                  </a:extLst>
                </a:gridCol>
                <a:gridCol w="278855">
                  <a:extLst>
                    <a:ext uri="{9D8B030D-6E8A-4147-A177-3AD203B41FA5}">
                      <a16:colId xmlns:a16="http://schemas.microsoft.com/office/drawing/2014/main" val="1979433044"/>
                    </a:ext>
                  </a:extLst>
                </a:gridCol>
                <a:gridCol w="278855">
                  <a:extLst>
                    <a:ext uri="{9D8B030D-6E8A-4147-A177-3AD203B41FA5}">
                      <a16:colId xmlns:a16="http://schemas.microsoft.com/office/drawing/2014/main" val="4270661649"/>
                    </a:ext>
                  </a:extLst>
                </a:gridCol>
                <a:gridCol w="278855">
                  <a:extLst>
                    <a:ext uri="{9D8B030D-6E8A-4147-A177-3AD203B41FA5}">
                      <a16:colId xmlns:a16="http://schemas.microsoft.com/office/drawing/2014/main" val="3027041370"/>
                    </a:ext>
                  </a:extLst>
                </a:gridCol>
                <a:gridCol w="278855">
                  <a:extLst>
                    <a:ext uri="{9D8B030D-6E8A-4147-A177-3AD203B41FA5}">
                      <a16:colId xmlns:a16="http://schemas.microsoft.com/office/drawing/2014/main" val="2852526216"/>
                    </a:ext>
                  </a:extLst>
                </a:gridCol>
                <a:gridCol w="278855">
                  <a:extLst>
                    <a:ext uri="{9D8B030D-6E8A-4147-A177-3AD203B41FA5}">
                      <a16:colId xmlns:a16="http://schemas.microsoft.com/office/drawing/2014/main" val="103420222"/>
                    </a:ext>
                  </a:extLst>
                </a:gridCol>
                <a:gridCol w="1014921">
                  <a:extLst>
                    <a:ext uri="{9D8B030D-6E8A-4147-A177-3AD203B41FA5}">
                      <a16:colId xmlns:a16="http://schemas.microsoft.com/office/drawing/2014/main" val="1470405609"/>
                    </a:ext>
                  </a:extLst>
                </a:gridCol>
                <a:gridCol w="101695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OTP_RD_START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OTP_PG_START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 name="TextBox 1">
            <a:extLst>
              <a:ext uri="{FF2B5EF4-FFF2-40B4-BE49-F238E27FC236}">
                <a16:creationId xmlns:a16="http://schemas.microsoft.com/office/drawing/2014/main" id="{3796B731-2885-C230-7204-FD277CF6F662}"/>
              </a:ext>
            </a:extLst>
          </p:cNvPr>
          <p:cNvSpPr txBox="1"/>
          <p:nvPr/>
        </p:nvSpPr>
        <p:spPr>
          <a:xfrm>
            <a:off x="399058" y="65519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5" name="TextBox 4">
            <a:extLst>
              <a:ext uri="{FF2B5EF4-FFF2-40B4-BE49-F238E27FC236}">
                <a16:creationId xmlns:a16="http://schemas.microsoft.com/office/drawing/2014/main" id="{728915BE-104A-4704-66CA-DFDA6057FCAF}"/>
              </a:ext>
            </a:extLst>
          </p:cNvPr>
          <p:cNvSpPr txBox="1"/>
          <p:nvPr/>
        </p:nvSpPr>
        <p:spPr>
          <a:xfrm>
            <a:off x="404812" y="992188"/>
            <a:ext cx="6054707"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OP MODE</a:t>
            </a:r>
          </a:p>
        </p:txBody>
      </p:sp>
    </p:spTree>
    <p:extLst>
      <p:ext uri="{BB962C8B-B14F-4D97-AF65-F5344CB8AC3E}">
        <p14:creationId xmlns:p14="http://schemas.microsoft.com/office/powerpoint/2010/main" val="2078954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E9A2885B-6E91-48F5-8F6B-6960BD3383A2}"/>
              </a:ext>
            </a:extLst>
          </p:cNvPr>
          <p:cNvSpPr txBox="1"/>
          <p:nvPr/>
        </p:nvSpPr>
        <p:spPr>
          <a:xfrm>
            <a:off x="399058" y="672784"/>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704DB72B-2006-4821-8B38-D02A5A436DB3}"/>
              </a:ext>
            </a:extLst>
          </p:cNvPr>
          <p:cNvSpPr txBox="1"/>
          <p:nvPr/>
        </p:nvSpPr>
        <p:spPr>
          <a:xfrm>
            <a:off x="395876" y="1391815"/>
            <a:ext cx="605349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CRC</a:t>
            </a:r>
          </a:p>
        </p:txBody>
      </p:sp>
      <p:graphicFrame>
        <p:nvGraphicFramePr>
          <p:cNvPr id="7" name="표 6">
            <a:extLst>
              <a:ext uri="{FF2B5EF4-FFF2-40B4-BE49-F238E27FC236}">
                <a16:creationId xmlns:a16="http://schemas.microsoft.com/office/drawing/2014/main" id="{C4563957-6945-7A90-55E9-08278A7599C7}"/>
              </a:ext>
            </a:extLst>
          </p:cNvPr>
          <p:cNvGraphicFramePr>
            <a:graphicFrameLocks noGrp="1"/>
          </p:cNvGraphicFramePr>
          <p:nvPr>
            <p:extLst>
              <p:ext uri="{D42A27DB-BD31-4B8C-83A1-F6EECF244321}">
                <p14:modId xmlns:p14="http://schemas.microsoft.com/office/powerpoint/2010/main" val="2313489449"/>
              </p:ext>
            </p:extLst>
          </p:nvPr>
        </p:nvGraphicFramePr>
        <p:xfrm>
          <a:off x="404813" y="1653952"/>
          <a:ext cx="6044563" cy="372600"/>
        </p:xfrm>
        <a:graphic>
          <a:graphicData uri="http://schemas.openxmlformats.org/drawingml/2006/table">
            <a:tbl>
              <a:tblPr firstRow="1" bandRow="1">
                <a:tableStyleId>{5C22544A-7EE6-4342-B048-85BDC9FD1C3A}</a:tableStyleId>
              </a:tblPr>
              <a:tblGrid>
                <a:gridCol w="338436">
                  <a:extLst>
                    <a:ext uri="{9D8B030D-6E8A-4147-A177-3AD203B41FA5}">
                      <a16:colId xmlns:a16="http://schemas.microsoft.com/office/drawing/2014/main" val="657570846"/>
                    </a:ext>
                  </a:extLst>
                </a:gridCol>
                <a:gridCol w="396048">
                  <a:extLst>
                    <a:ext uri="{9D8B030D-6E8A-4147-A177-3AD203B41FA5}">
                      <a16:colId xmlns:a16="http://schemas.microsoft.com/office/drawing/2014/main" val="3259894497"/>
                    </a:ext>
                  </a:extLst>
                </a:gridCol>
                <a:gridCol w="460603">
                  <a:extLst>
                    <a:ext uri="{9D8B030D-6E8A-4147-A177-3AD203B41FA5}">
                      <a16:colId xmlns:a16="http://schemas.microsoft.com/office/drawing/2014/main" val="4170535043"/>
                    </a:ext>
                  </a:extLst>
                </a:gridCol>
                <a:gridCol w="475729">
                  <a:extLst>
                    <a:ext uri="{9D8B030D-6E8A-4147-A177-3AD203B41FA5}">
                      <a16:colId xmlns:a16="http://schemas.microsoft.com/office/drawing/2014/main" val="2079070694"/>
                    </a:ext>
                  </a:extLst>
                </a:gridCol>
                <a:gridCol w="418290">
                  <a:extLst>
                    <a:ext uri="{9D8B030D-6E8A-4147-A177-3AD203B41FA5}">
                      <a16:colId xmlns:a16="http://schemas.microsoft.com/office/drawing/2014/main" val="4213315911"/>
                    </a:ext>
                  </a:extLst>
                </a:gridCol>
                <a:gridCol w="397189">
                  <a:extLst>
                    <a:ext uri="{9D8B030D-6E8A-4147-A177-3AD203B41FA5}">
                      <a16:colId xmlns:a16="http://schemas.microsoft.com/office/drawing/2014/main" val="2769999950"/>
                    </a:ext>
                  </a:extLst>
                </a:gridCol>
                <a:gridCol w="397189">
                  <a:extLst>
                    <a:ext uri="{9D8B030D-6E8A-4147-A177-3AD203B41FA5}">
                      <a16:colId xmlns:a16="http://schemas.microsoft.com/office/drawing/2014/main" val="135637185"/>
                    </a:ext>
                  </a:extLst>
                </a:gridCol>
                <a:gridCol w="397189">
                  <a:extLst>
                    <a:ext uri="{9D8B030D-6E8A-4147-A177-3AD203B41FA5}">
                      <a16:colId xmlns:a16="http://schemas.microsoft.com/office/drawing/2014/main" val="3038050475"/>
                    </a:ext>
                  </a:extLst>
                </a:gridCol>
                <a:gridCol w="397189">
                  <a:extLst>
                    <a:ext uri="{9D8B030D-6E8A-4147-A177-3AD203B41FA5}">
                      <a16:colId xmlns:a16="http://schemas.microsoft.com/office/drawing/2014/main" val="1979433044"/>
                    </a:ext>
                  </a:extLst>
                </a:gridCol>
                <a:gridCol w="397189">
                  <a:extLst>
                    <a:ext uri="{9D8B030D-6E8A-4147-A177-3AD203B41FA5}">
                      <a16:colId xmlns:a16="http://schemas.microsoft.com/office/drawing/2014/main" val="4270661649"/>
                    </a:ext>
                  </a:extLst>
                </a:gridCol>
                <a:gridCol w="397189">
                  <a:extLst>
                    <a:ext uri="{9D8B030D-6E8A-4147-A177-3AD203B41FA5}">
                      <a16:colId xmlns:a16="http://schemas.microsoft.com/office/drawing/2014/main" val="3027041370"/>
                    </a:ext>
                  </a:extLst>
                </a:gridCol>
                <a:gridCol w="397189">
                  <a:extLst>
                    <a:ext uri="{9D8B030D-6E8A-4147-A177-3AD203B41FA5}">
                      <a16:colId xmlns:a16="http://schemas.microsoft.com/office/drawing/2014/main" val="2852526216"/>
                    </a:ext>
                  </a:extLst>
                </a:gridCol>
                <a:gridCol w="397189">
                  <a:extLst>
                    <a:ext uri="{9D8B030D-6E8A-4147-A177-3AD203B41FA5}">
                      <a16:colId xmlns:a16="http://schemas.microsoft.com/office/drawing/2014/main" val="103420222"/>
                    </a:ext>
                  </a:extLst>
                </a:gridCol>
                <a:gridCol w="397189">
                  <a:extLst>
                    <a:ext uri="{9D8B030D-6E8A-4147-A177-3AD203B41FA5}">
                      <a16:colId xmlns:a16="http://schemas.microsoft.com/office/drawing/2014/main" val="1470405609"/>
                    </a:ext>
                  </a:extLst>
                </a:gridCol>
                <a:gridCol w="38075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OTP_CRC_CHECKSUM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D1F6B3BB-B5B5-2174-FE6F-317B68CEEC78}"/>
              </a:ext>
            </a:extLst>
          </p:cNvPr>
          <p:cNvSpPr txBox="1"/>
          <p:nvPr/>
        </p:nvSpPr>
        <p:spPr>
          <a:xfrm>
            <a:off x="403310" y="988283"/>
            <a:ext cx="60460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These registers are the OTP Mirror registers.</a:t>
            </a:r>
          </a:p>
        </p:txBody>
      </p:sp>
      <p:sp>
        <p:nvSpPr>
          <p:cNvPr id="2" name="TextBox 1">
            <a:extLst>
              <a:ext uri="{FF2B5EF4-FFF2-40B4-BE49-F238E27FC236}">
                <a16:creationId xmlns:a16="http://schemas.microsoft.com/office/drawing/2014/main" id="{6EAC8778-3449-E60C-8C10-4103C7E55033}"/>
              </a:ext>
            </a:extLst>
          </p:cNvPr>
          <p:cNvSpPr txBox="1"/>
          <p:nvPr/>
        </p:nvSpPr>
        <p:spPr>
          <a:xfrm>
            <a:off x="397648" y="2211992"/>
            <a:ext cx="60468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IREF_CTL / BGR_CTL</a:t>
            </a:r>
          </a:p>
        </p:txBody>
      </p:sp>
      <p:graphicFrame>
        <p:nvGraphicFramePr>
          <p:cNvPr id="10" name="표 9">
            <a:extLst>
              <a:ext uri="{FF2B5EF4-FFF2-40B4-BE49-F238E27FC236}">
                <a16:creationId xmlns:a16="http://schemas.microsoft.com/office/drawing/2014/main" id="{9D589C2A-4D7F-455D-0205-FC62E47FF466}"/>
              </a:ext>
            </a:extLst>
          </p:cNvPr>
          <p:cNvGraphicFramePr>
            <a:graphicFrameLocks noGrp="1"/>
          </p:cNvGraphicFramePr>
          <p:nvPr>
            <p:extLst>
              <p:ext uri="{D42A27DB-BD31-4B8C-83A1-F6EECF244321}">
                <p14:modId xmlns:p14="http://schemas.microsoft.com/office/powerpoint/2010/main" val="1631109814"/>
              </p:ext>
            </p:extLst>
          </p:nvPr>
        </p:nvGraphicFramePr>
        <p:xfrm>
          <a:off x="407377" y="2470560"/>
          <a:ext cx="6046059" cy="372600"/>
        </p:xfrm>
        <a:graphic>
          <a:graphicData uri="http://schemas.openxmlformats.org/drawingml/2006/table">
            <a:tbl>
              <a:tblPr firstRow="1" bandRow="1">
                <a:tableStyleId>{5C22544A-7EE6-4342-B048-85BDC9FD1C3A}</a:tableStyleId>
              </a:tblPr>
              <a:tblGrid>
                <a:gridCol w="351239">
                  <a:extLst>
                    <a:ext uri="{9D8B030D-6E8A-4147-A177-3AD203B41FA5}">
                      <a16:colId xmlns:a16="http://schemas.microsoft.com/office/drawing/2014/main" val="657570846"/>
                    </a:ext>
                  </a:extLst>
                </a:gridCol>
                <a:gridCol w="386201">
                  <a:extLst>
                    <a:ext uri="{9D8B030D-6E8A-4147-A177-3AD203B41FA5}">
                      <a16:colId xmlns:a16="http://schemas.microsoft.com/office/drawing/2014/main" val="3259894497"/>
                    </a:ext>
                  </a:extLst>
                </a:gridCol>
                <a:gridCol w="453886">
                  <a:extLst>
                    <a:ext uri="{9D8B030D-6E8A-4147-A177-3AD203B41FA5}">
                      <a16:colId xmlns:a16="http://schemas.microsoft.com/office/drawing/2014/main" val="4170535043"/>
                    </a:ext>
                  </a:extLst>
                </a:gridCol>
                <a:gridCol w="404561">
                  <a:extLst>
                    <a:ext uri="{9D8B030D-6E8A-4147-A177-3AD203B41FA5}">
                      <a16:colId xmlns:a16="http://schemas.microsoft.com/office/drawing/2014/main" val="2079070694"/>
                    </a:ext>
                  </a:extLst>
                </a:gridCol>
                <a:gridCol w="404561">
                  <a:extLst>
                    <a:ext uri="{9D8B030D-6E8A-4147-A177-3AD203B41FA5}">
                      <a16:colId xmlns:a16="http://schemas.microsoft.com/office/drawing/2014/main" val="4213315911"/>
                    </a:ext>
                  </a:extLst>
                </a:gridCol>
                <a:gridCol w="404561">
                  <a:extLst>
                    <a:ext uri="{9D8B030D-6E8A-4147-A177-3AD203B41FA5}">
                      <a16:colId xmlns:a16="http://schemas.microsoft.com/office/drawing/2014/main" val="2769999950"/>
                    </a:ext>
                  </a:extLst>
                </a:gridCol>
                <a:gridCol w="404561">
                  <a:extLst>
                    <a:ext uri="{9D8B030D-6E8A-4147-A177-3AD203B41FA5}">
                      <a16:colId xmlns:a16="http://schemas.microsoft.com/office/drawing/2014/main" val="135637185"/>
                    </a:ext>
                  </a:extLst>
                </a:gridCol>
                <a:gridCol w="404561">
                  <a:extLst>
                    <a:ext uri="{9D8B030D-6E8A-4147-A177-3AD203B41FA5}">
                      <a16:colId xmlns:a16="http://schemas.microsoft.com/office/drawing/2014/main" val="3038050475"/>
                    </a:ext>
                  </a:extLst>
                </a:gridCol>
                <a:gridCol w="404561">
                  <a:extLst>
                    <a:ext uri="{9D8B030D-6E8A-4147-A177-3AD203B41FA5}">
                      <a16:colId xmlns:a16="http://schemas.microsoft.com/office/drawing/2014/main" val="1979433044"/>
                    </a:ext>
                  </a:extLst>
                </a:gridCol>
                <a:gridCol w="404561">
                  <a:extLst>
                    <a:ext uri="{9D8B030D-6E8A-4147-A177-3AD203B41FA5}">
                      <a16:colId xmlns:a16="http://schemas.microsoft.com/office/drawing/2014/main" val="4270661649"/>
                    </a:ext>
                  </a:extLst>
                </a:gridCol>
                <a:gridCol w="404561">
                  <a:extLst>
                    <a:ext uri="{9D8B030D-6E8A-4147-A177-3AD203B41FA5}">
                      <a16:colId xmlns:a16="http://schemas.microsoft.com/office/drawing/2014/main" val="3027041370"/>
                    </a:ext>
                  </a:extLst>
                </a:gridCol>
                <a:gridCol w="404562">
                  <a:extLst>
                    <a:ext uri="{9D8B030D-6E8A-4147-A177-3AD203B41FA5}">
                      <a16:colId xmlns:a16="http://schemas.microsoft.com/office/drawing/2014/main" val="2852526216"/>
                    </a:ext>
                  </a:extLst>
                </a:gridCol>
                <a:gridCol w="404561">
                  <a:extLst>
                    <a:ext uri="{9D8B030D-6E8A-4147-A177-3AD203B41FA5}">
                      <a16:colId xmlns:a16="http://schemas.microsoft.com/office/drawing/2014/main" val="103420222"/>
                    </a:ext>
                  </a:extLst>
                </a:gridCol>
                <a:gridCol w="404561">
                  <a:extLst>
                    <a:ext uri="{9D8B030D-6E8A-4147-A177-3AD203B41FA5}">
                      <a16:colId xmlns:a16="http://schemas.microsoft.com/office/drawing/2014/main" val="1470405609"/>
                    </a:ext>
                  </a:extLst>
                </a:gridCol>
                <a:gridCol w="40456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IREF_CTL[4:0]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algn="ctr"/>
                      <a:r>
                        <a:rPr lang="en-US" sz="700" dirty="0">
                          <a:latin typeface="Arial" panose="020B0604020202020204" pitchFamily="34" charset="0"/>
                          <a:cs typeface="Arial" panose="020B0604020202020204" pitchFamily="34" charset="0"/>
                        </a:rPr>
                        <a:t>BGR_TC[4:0]</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1" name="TextBox 10">
            <a:extLst>
              <a:ext uri="{FF2B5EF4-FFF2-40B4-BE49-F238E27FC236}">
                <a16:creationId xmlns:a16="http://schemas.microsoft.com/office/drawing/2014/main" id="{631E30AC-512A-822F-71C5-562F11E04003}"/>
              </a:ext>
            </a:extLst>
          </p:cNvPr>
          <p:cNvSpPr txBox="1"/>
          <p:nvPr/>
        </p:nvSpPr>
        <p:spPr>
          <a:xfrm>
            <a:off x="415503" y="3006825"/>
            <a:ext cx="60460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LDO_DAC_CTL / OSC_RCTL</a:t>
            </a:r>
          </a:p>
        </p:txBody>
      </p:sp>
      <p:graphicFrame>
        <p:nvGraphicFramePr>
          <p:cNvPr id="14" name="표 13">
            <a:extLst>
              <a:ext uri="{FF2B5EF4-FFF2-40B4-BE49-F238E27FC236}">
                <a16:creationId xmlns:a16="http://schemas.microsoft.com/office/drawing/2014/main" id="{9E8A8682-8AB2-EE00-7AA6-95427C11A15F}"/>
              </a:ext>
            </a:extLst>
          </p:cNvPr>
          <p:cNvGraphicFramePr>
            <a:graphicFrameLocks noGrp="1"/>
          </p:cNvGraphicFramePr>
          <p:nvPr>
            <p:extLst>
              <p:ext uri="{D42A27DB-BD31-4B8C-83A1-F6EECF244321}">
                <p14:modId xmlns:p14="http://schemas.microsoft.com/office/powerpoint/2010/main" val="3866864601"/>
              </p:ext>
            </p:extLst>
          </p:nvPr>
        </p:nvGraphicFramePr>
        <p:xfrm>
          <a:off x="392961" y="3277695"/>
          <a:ext cx="6054130" cy="372600"/>
        </p:xfrm>
        <a:graphic>
          <a:graphicData uri="http://schemas.openxmlformats.org/drawingml/2006/table">
            <a:tbl>
              <a:tblPr firstRow="1" bandRow="1">
                <a:tableStyleId>{5C22544A-7EE6-4342-B048-85BDC9FD1C3A}</a:tableStyleId>
              </a:tblPr>
              <a:tblGrid>
                <a:gridCol w="333756">
                  <a:extLst>
                    <a:ext uri="{9D8B030D-6E8A-4147-A177-3AD203B41FA5}">
                      <a16:colId xmlns:a16="http://schemas.microsoft.com/office/drawing/2014/main" val="657570846"/>
                    </a:ext>
                  </a:extLst>
                </a:gridCol>
                <a:gridCol w="391551">
                  <a:extLst>
                    <a:ext uri="{9D8B030D-6E8A-4147-A177-3AD203B41FA5}">
                      <a16:colId xmlns:a16="http://schemas.microsoft.com/office/drawing/2014/main" val="3259894497"/>
                    </a:ext>
                  </a:extLst>
                </a:gridCol>
                <a:gridCol w="453079">
                  <a:extLst>
                    <a:ext uri="{9D8B030D-6E8A-4147-A177-3AD203B41FA5}">
                      <a16:colId xmlns:a16="http://schemas.microsoft.com/office/drawing/2014/main" val="4170535043"/>
                    </a:ext>
                  </a:extLst>
                </a:gridCol>
                <a:gridCol w="397143">
                  <a:extLst>
                    <a:ext uri="{9D8B030D-6E8A-4147-A177-3AD203B41FA5}">
                      <a16:colId xmlns:a16="http://schemas.microsoft.com/office/drawing/2014/main" val="2079070694"/>
                    </a:ext>
                  </a:extLst>
                </a:gridCol>
                <a:gridCol w="419516">
                  <a:extLst>
                    <a:ext uri="{9D8B030D-6E8A-4147-A177-3AD203B41FA5}">
                      <a16:colId xmlns:a16="http://schemas.microsoft.com/office/drawing/2014/main" val="4213315911"/>
                    </a:ext>
                  </a:extLst>
                </a:gridCol>
                <a:gridCol w="413923">
                  <a:extLst>
                    <a:ext uri="{9D8B030D-6E8A-4147-A177-3AD203B41FA5}">
                      <a16:colId xmlns:a16="http://schemas.microsoft.com/office/drawing/2014/main" val="2769999950"/>
                    </a:ext>
                  </a:extLst>
                </a:gridCol>
                <a:gridCol w="408330">
                  <a:extLst>
                    <a:ext uri="{9D8B030D-6E8A-4147-A177-3AD203B41FA5}">
                      <a16:colId xmlns:a16="http://schemas.microsoft.com/office/drawing/2014/main" val="135637185"/>
                    </a:ext>
                  </a:extLst>
                </a:gridCol>
                <a:gridCol w="413923">
                  <a:extLst>
                    <a:ext uri="{9D8B030D-6E8A-4147-A177-3AD203B41FA5}">
                      <a16:colId xmlns:a16="http://schemas.microsoft.com/office/drawing/2014/main" val="3038050475"/>
                    </a:ext>
                  </a:extLst>
                </a:gridCol>
                <a:gridCol w="408330">
                  <a:extLst>
                    <a:ext uri="{9D8B030D-6E8A-4147-A177-3AD203B41FA5}">
                      <a16:colId xmlns:a16="http://schemas.microsoft.com/office/drawing/2014/main" val="1979433044"/>
                    </a:ext>
                  </a:extLst>
                </a:gridCol>
                <a:gridCol w="446081">
                  <a:extLst>
                    <a:ext uri="{9D8B030D-6E8A-4147-A177-3AD203B41FA5}">
                      <a16:colId xmlns:a16="http://schemas.microsoft.com/office/drawing/2014/main" val="4270661649"/>
                    </a:ext>
                  </a:extLst>
                </a:gridCol>
                <a:gridCol w="444089">
                  <a:extLst>
                    <a:ext uri="{9D8B030D-6E8A-4147-A177-3AD203B41FA5}">
                      <a16:colId xmlns:a16="http://schemas.microsoft.com/office/drawing/2014/main" val="3027041370"/>
                    </a:ext>
                  </a:extLst>
                </a:gridCol>
                <a:gridCol w="416508">
                  <a:extLst>
                    <a:ext uri="{9D8B030D-6E8A-4147-A177-3AD203B41FA5}">
                      <a16:colId xmlns:a16="http://schemas.microsoft.com/office/drawing/2014/main" val="2852526216"/>
                    </a:ext>
                  </a:extLst>
                </a:gridCol>
                <a:gridCol w="416507">
                  <a:extLst>
                    <a:ext uri="{9D8B030D-6E8A-4147-A177-3AD203B41FA5}">
                      <a16:colId xmlns:a16="http://schemas.microsoft.com/office/drawing/2014/main" val="103420222"/>
                    </a:ext>
                  </a:extLst>
                </a:gridCol>
                <a:gridCol w="351557">
                  <a:extLst>
                    <a:ext uri="{9D8B030D-6E8A-4147-A177-3AD203B41FA5}">
                      <a16:colId xmlns:a16="http://schemas.microsoft.com/office/drawing/2014/main" val="1470405609"/>
                    </a:ext>
                  </a:extLst>
                </a:gridCol>
                <a:gridCol w="33983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LDO_DAC_CTL[4:0]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OSC_RCTL[4:0]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5" name="표 14">
            <a:extLst>
              <a:ext uri="{FF2B5EF4-FFF2-40B4-BE49-F238E27FC236}">
                <a16:creationId xmlns:a16="http://schemas.microsoft.com/office/drawing/2014/main" id="{2BA96956-98BF-4537-F806-52BFBA52216E}"/>
              </a:ext>
            </a:extLst>
          </p:cNvPr>
          <p:cNvGraphicFramePr>
            <a:graphicFrameLocks noGrp="1"/>
          </p:cNvGraphicFramePr>
          <p:nvPr>
            <p:extLst>
              <p:ext uri="{D42A27DB-BD31-4B8C-83A1-F6EECF244321}">
                <p14:modId xmlns:p14="http://schemas.microsoft.com/office/powerpoint/2010/main" val="3048258992"/>
              </p:ext>
            </p:extLst>
          </p:nvPr>
        </p:nvGraphicFramePr>
        <p:xfrm>
          <a:off x="397523" y="4069921"/>
          <a:ext cx="6049566" cy="372600"/>
        </p:xfrm>
        <a:graphic>
          <a:graphicData uri="http://schemas.openxmlformats.org/drawingml/2006/table">
            <a:tbl>
              <a:tblPr firstRow="1" bandRow="1">
                <a:tableStyleId>{5C22544A-7EE6-4342-B048-85BDC9FD1C3A}</a:tableStyleId>
              </a:tblPr>
              <a:tblGrid>
                <a:gridCol w="333505">
                  <a:extLst>
                    <a:ext uri="{9D8B030D-6E8A-4147-A177-3AD203B41FA5}">
                      <a16:colId xmlns:a16="http://schemas.microsoft.com/office/drawing/2014/main" val="657570846"/>
                    </a:ext>
                  </a:extLst>
                </a:gridCol>
                <a:gridCol w="391256">
                  <a:extLst>
                    <a:ext uri="{9D8B030D-6E8A-4147-A177-3AD203B41FA5}">
                      <a16:colId xmlns:a16="http://schemas.microsoft.com/office/drawing/2014/main" val="3259894497"/>
                    </a:ext>
                  </a:extLst>
                </a:gridCol>
                <a:gridCol w="452737">
                  <a:extLst>
                    <a:ext uri="{9D8B030D-6E8A-4147-A177-3AD203B41FA5}">
                      <a16:colId xmlns:a16="http://schemas.microsoft.com/office/drawing/2014/main" val="4170535043"/>
                    </a:ext>
                  </a:extLst>
                </a:gridCol>
                <a:gridCol w="409419">
                  <a:extLst>
                    <a:ext uri="{9D8B030D-6E8A-4147-A177-3AD203B41FA5}">
                      <a16:colId xmlns:a16="http://schemas.microsoft.com/office/drawing/2014/main" val="2079070694"/>
                    </a:ext>
                  </a:extLst>
                </a:gridCol>
                <a:gridCol w="409419">
                  <a:extLst>
                    <a:ext uri="{9D8B030D-6E8A-4147-A177-3AD203B41FA5}">
                      <a16:colId xmlns:a16="http://schemas.microsoft.com/office/drawing/2014/main" val="4213315911"/>
                    </a:ext>
                  </a:extLst>
                </a:gridCol>
                <a:gridCol w="409419">
                  <a:extLst>
                    <a:ext uri="{9D8B030D-6E8A-4147-A177-3AD203B41FA5}">
                      <a16:colId xmlns:a16="http://schemas.microsoft.com/office/drawing/2014/main" val="2769999950"/>
                    </a:ext>
                  </a:extLst>
                </a:gridCol>
                <a:gridCol w="409419">
                  <a:extLst>
                    <a:ext uri="{9D8B030D-6E8A-4147-A177-3AD203B41FA5}">
                      <a16:colId xmlns:a16="http://schemas.microsoft.com/office/drawing/2014/main" val="135637185"/>
                    </a:ext>
                  </a:extLst>
                </a:gridCol>
                <a:gridCol w="413611">
                  <a:extLst>
                    <a:ext uri="{9D8B030D-6E8A-4147-A177-3AD203B41FA5}">
                      <a16:colId xmlns:a16="http://schemas.microsoft.com/office/drawing/2014/main" val="3038050475"/>
                    </a:ext>
                  </a:extLst>
                </a:gridCol>
                <a:gridCol w="408022">
                  <a:extLst>
                    <a:ext uri="{9D8B030D-6E8A-4147-A177-3AD203B41FA5}">
                      <a16:colId xmlns:a16="http://schemas.microsoft.com/office/drawing/2014/main" val="1979433044"/>
                    </a:ext>
                  </a:extLst>
                </a:gridCol>
                <a:gridCol w="445745">
                  <a:extLst>
                    <a:ext uri="{9D8B030D-6E8A-4147-A177-3AD203B41FA5}">
                      <a16:colId xmlns:a16="http://schemas.microsoft.com/office/drawing/2014/main" val="4270661649"/>
                    </a:ext>
                  </a:extLst>
                </a:gridCol>
                <a:gridCol w="443754">
                  <a:extLst>
                    <a:ext uri="{9D8B030D-6E8A-4147-A177-3AD203B41FA5}">
                      <a16:colId xmlns:a16="http://schemas.microsoft.com/office/drawing/2014/main" val="3027041370"/>
                    </a:ext>
                  </a:extLst>
                </a:gridCol>
                <a:gridCol w="416194">
                  <a:extLst>
                    <a:ext uri="{9D8B030D-6E8A-4147-A177-3AD203B41FA5}">
                      <a16:colId xmlns:a16="http://schemas.microsoft.com/office/drawing/2014/main" val="2852526216"/>
                    </a:ext>
                  </a:extLst>
                </a:gridCol>
                <a:gridCol w="416193">
                  <a:extLst>
                    <a:ext uri="{9D8B030D-6E8A-4147-A177-3AD203B41FA5}">
                      <a16:colId xmlns:a16="http://schemas.microsoft.com/office/drawing/2014/main" val="103420222"/>
                    </a:ext>
                  </a:extLst>
                </a:gridCol>
                <a:gridCol w="351292">
                  <a:extLst>
                    <a:ext uri="{9D8B030D-6E8A-4147-A177-3AD203B41FA5}">
                      <a16:colId xmlns:a16="http://schemas.microsoft.com/office/drawing/2014/main" val="1470405609"/>
                    </a:ext>
                  </a:extLst>
                </a:gridCol>
                <a:gridCol w="33958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LDO_OSC_CTL[3:0]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LDO_CTL[3:0]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6" name="TextBox 15">
            <a:extLst>
              <a:ext uri="{FF2B5EF4-FFF2-40B4-BE49-F238E27FC236}">
                <a16:creationId xmlns:a16="http://schemas.microsoft.com/office/drawing/2014/main" id="{C80A7409-B5D7-D1CE-4E6B-3ED66BACCE86}"/>
              </a:ext>
            </a:extLst>
          </p:cNvPr>
          <p:cNvSpPr txBox="1"/>
          <p:nvPr/>
        </p:nvSpPr>
        <p:spPr>
          <a:xfrm>
            <a:off x="415503" y="3765283"/>
            <a:ext cx="60460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LDO_OSC_CTL / LOD_CTL</a:t>
            </a:r>
          </a:p>
        </p:txBody>
      </p:sp>
    </p:spTree>
    <p:extLst>
      <p:ext uri="{BB962C8B-B14F-4D97-AF65-F5344CB8AC3E}">
        <p14:creationId xmlns:p14="http://schemas.microsoft.com/office/powerpoint/2010/main" val="22597739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5EB76770-2393-D9DA-F2DB-2C60235D3630}"/>
              </a:ext>
            </a:extLst>
          </p:cNvPr>
          <p:cNvSpPr txBox="1"/>
          <p:nvPr/>
        </p:nvSpPr>
        <p:spPr>
          <a:xfrm>
            <a:off x="400454" y="66885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2" name="TextBox 1">
            <a:extLst>
              <a:ext uri="{FF2B5EF4-FFF2-40B4-BE49-F238E27FC236}">
                <a16:creationId xmlns:a16="http://schemas.microsoft.com/office/drawing/2014/main" id="{B080FA4C-345F-0A5E-AE1D-16A6CA727478}"/>
              </a:ext>
            </a:extLst>
          </p:cNvPr>
          <p:cNvSpPr txBox="1"/>
          <p:nvPr/>
        </p:nvSpPr>
        <p:spPr>
          <a:xfrm>
            <a:off x="404806" y="994571"/>
            <a:ext cx="605736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1</a:t>
            </a:r>
          </a:p>
        </p:txBody>
      </p:sp>
      <p:graphicFrame>
        <p:nvGraphicFramePr>
          <p:cNvPr id="4" name="표 3">
            <a:extLst>
              <a:ext uri="{FF2B5EF4-FFF2-40B4-BE49-F238E27FC236}">
                <a16:creationId xmlns:a16="http://schemas.microsoft.com/office/drawing/2014/main" id="{8755DDD7-B159-D3C8-E0E8-3D1B6FDDC6AF}"/>
              </a:ext>
            </a:extLst>
          </p:cNvPr>
          <p:cNvGraphicFramePr>
            <a:graphicFrameLocks noGrp="1"/>
          </p:cNvGraphicFramePr>
          <p:nvPr>
            <p:extLst>
              <p:ext uri="{D42A27DB-BD31-4B8C-83A1-F6EECF244321}">
                <p14:modId xmlns:p14="http://schemas.microsoft.com/office/powerpoint/2010/main" val="281013769"/>
              </p:ext>
            </p:extLst>
          </p:nvPr>
        </p:nvGraphicFramePr>
        <p:xfrm>
          <a:off x="400082" y="1910270"/>
          <a:ext cx="6059148" cy="372600"/>
        </p:xfrm>
        <a:graphic>
          <a:graphicData uri="http://schemas.openxmlformats.org/drawingml/2006/table">
            <a:tbl>
              <a:tblPr firstRow="1" bandRow="1">
                <a:tableStyleId>{5C22544A-7EE6-4342-B048-85BDC9FD1C3A}</a:tableStyleId>
              </a:tblPr>
              <a:tblGrid>
                <a:gridCol w="329295">
                  <a:extLst>
                    <a:ext uri="{9D8B030D-6E8A-4147-A177-3AD203B41FA5}">
                      <a16:colId xmlns:a16="http://schemas.microsoft.com/office/drawing/2014/main" val="657570846"/>
                    </a:ext>
                  </a:extLst>
                </a:gridCol>
                <a:gridCol w="404189">
                  <a:extLst>
                    <a:ext uri="{9D8B030D-6E8A-4147-A177-3AD203B41FA5}">
                      <a16:colId xmlns:a16="http://schemas.microsoft.com/office/drawing/2014/main" val="3259894497"/>
                    </a:ext>
                  </a:extLst>
                </a:gridCol>
                <a:gridCol w="461117">
                  <a:extLst>
                    <a:ext uri="{9D8B030D-6E8A-4147-A177-3AD203B41FA5}">
                      <a16:colId xmlns:a16="http://schemas.microsoft.com/office/drawing/2014/main" val="4170535043"/>
                    </a:ext>
                  </a:extLst>
                </a:gridCol>
                <a:gridCol w="415574">
                  <a:extLst>
                    <a:ext uri="{9D8B030D-6E8A-4147-A177-3AD203B41FA5}">
                      <a16:colId xmlns:a16="http://schemas.microsoft.com/office/drawing/2014/main" val="2079070694"/>
                    </a:ext>
                  </a:extLst>
                </a:gridCol>
                <a:gridCol w="421266">
                  <a:extLst>
                    <a:ext uri="{9D8B030D-6E8A-4147-A177-3AD203B41FA5}">
                      <a16:colId xmlns:a16="http://schemas.microsoft.com/office/drawing/2014/main" val="4213315911"/>
                    </a:ext>
                  </a:extLst>
                </a:gridCol>
                <a:gridCol w="415574">
                  <a:extLst>
                    <a:ext uri="{9D8B030D-6E8A-4147-A177-3AD203B41FA5}">
                      <a16:colId xmlns:a16="http://schemas.microsoft.com/office/drawing/2014/main" val="2769999950"/>
                    </a:ext>
                  </a:extLst>
                </a:gridCol>
                <a:gridCol w="421266">
                  <a:extLst>
                    <a:ext uri="{9D8B030D-6E8A-4147-A177-3AD203B41FA5}">
                      <a16:colId xmlns:a16="http://schemas.microsoft.com/office/drawing/2014/main" val="135637185"/>
                    </a:ext>
                  </a:extLst>
                </a:gridCol>
                <a:gridCol w="415574">
                  <a:extLst>
                    <a:ext uri="{9D8B030D-6E8A-4147-A177-3AD203B41FA5}">
                      <a16:colId xmlns:a16="http://schemas.microsoft.com/office/drawing/2014/main" val="3038050475"/>
                    </a:ext>
                  </a:extLst>
                </a:gridCol>
                <a:gridCol w="390897">
                  <a:extLst>
                    <a:ext uri="{9D8B030D-6E8A-4147-A177-3AD203B41FA5}">
                      <a16:colId xmlns:a16="http://schemas.microsoft.com/office/drawing/2014/main" val="1979433044"/>
                    </a:ext>
                  </a:extLst>
                </a:gridCol>
                <a:gridCol w="423897">
                  <a:extLst>
                    <a:ext uri="{9D8B030D-6E8A-4147-A177-3AD203B41FA5}">
                      <a16:colId xmlns:a16="http://schemas.microsoft.com/office/drawing/2014/main" val="4270661649"/>
                    </a:ext>
                  </a:extLst>
                </a:gridCol>
                <a:gridCol w="423897">
                  <a:extLst>
                    <a:ext uri="{9D8B030D-6E8A-4147-A177-3AD203B41FA5}">
                      <a16:colId xmlns:a16="http://schemas.microsoft.com/office/drawing/2014/main" val="3027041370"/>
                    </a:ext>
                  </a:extLst>
                </a:gridCol>
                <a:gridCol w="423897">
                  <a:extLst>
                    <a:ext uri="{9D8B030D-6E8A-4147-A177-3AD203B41FA5}">
                      <a16:colId xmlns:a16="http://schemas.microsoft.com/office/drawing/2014/main" val="2852526216"/>
                    </a:ext>
                  </a:extLst>
                </a:gridCol>
                <a:gridCol w="423897">
                  <a:extLst>
                    <a:ext uri="{9D8B030D-6E8A-4147-A177-3AD203B41FA5}">
                      <a16:colId xmlns:a16="http://schemas.microsoft.com/office/drawing/2014/main" val="103420222"/>
                    </a:ext>
                  </a:extLst>
                </a:gridCol>
                <a:gridCol w="342942">
                  <a:extLst>
                    <a:ext uri="{9D8B030D-6E8A-4147-A177-3AD203B41FA5}">
                      <a16:colId xmlns:a16="http://schemas.microsoft.com/office/drawing/2014/main" val="1470405609"/>
                    </a:ext>
                  </a:extLst>
                </a:gridCol>
                <a:gridCol w="345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_CH2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 name="TextBox 4">
            <a:extLst>
              <a:ext uri="{FF2B5EF4-FFF2-40B4-BE49-F238E27FC236}">
                <a16:creationId xmlns:a16="http://schemas.microsoft.com/office/drawing/2014/main" id="{C4215DBC-7058-1530-27D2-1B2B8FA3C342}"/>
              </a:ext>
            </a:extLst>
          </p:cNvPr>
          <p:cNvSpPr txBox="1"/>
          <p:nvPr/>
        </p:nvSpPr>
        <p:spPr>
          <a:xfrm>
            <a:off x="404809" y="1638328"/>
            <a:ext cx="60573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2</a:t>
            </a:r>
          </a:p>
        </p:txBody>
      </p:sp>
      <p:graphicFrame>
        <p:nvGraphicFramePr>
          <p:cNvPr id="9" name="표 8">
            <a:extLst>
              <a:ext uri="{FF2B5EF4-FFF2-40B4-BE49-F238E27FC236}">
                <a16:creationId xmlns:a16="http://schemas.microsoft.com/office/drawing/2014/main" id="{288A205C-AB13-323C-2E44-23F8EEA56135}"/>
              </a:ext>
            </a:extLst>
          </p:cNvPr>
          <p:cNvGraphicFramePr>
            <a:graphicFrameLocks noGrp="1"/>
          </p:cNvGraphicFramePr>
          <p:nvPr>
            <p:extLst>
              <p:ext uri="{D42A27DB-BD31-4B8C-83A1-F6EECF244321}">
                <p14:modId xmlns:p14="http://schemas.microsoft.com/office/powerpoint/2010/main" val="1724581428"/>
              </p:ext>
            </p:extLst>
          </p:nvPr>
        </p:nvGraphicFramePr>
        <p:xfrm>
          <a:off x="403572" y="2558889"/>
          <a:ext cx="6058595" cy="372600"/>
        </p:xfrm>
        <a:graphic>
          <a:graphicData uri="http://schemas.openxmlformats.org/drawingml/2006/table">
            <a:tbl>
              <a:tblPr firstRow="1" bandRow="1">
                <a:tableStyleId>{5C22544A-7EE6-4342-B048-85BDC9FD1C3A}</a:tableStyleId>
              </a:tblPr>
              <a:tblGrid>
                <a:gridCol w="329265">
                  <a:extLst>
                    <a:ext uri="{9D8B030D-6E8A-4147-A177-3AD203B41FA5}">
                      <a16:colId xmlns:a16="http://schemas.microsoft.com/office/drawing/2014/main" val="657570846"/>
                    </a:ext>
                  </a:extLst>
                </a:gridCol>
                <a:gridCol w="404152">
                  <a:extLst>
                    <a:ext uri="{9D8B030D-6E8A-4147-A177-3AD203B41FA5}">
                      <a16:colId xmlns:a16="http://schemas.microsoft.com/office/drawing/2014/main" val="3259894497"/>
                    </a:ext>
                  </a:extLst>
                </a:gridCol>
                <a:gridCol w="461075">
                  <a:extLst>
                    <a:ext uri="{9D8B030D-6E8A-4147-A177-3AD203B41FA5}">
                      <a16:colId xmlns:a16="http://schemas.microsoft.com/office/drawing/2014/main" val="4170535043"/>
                    </a:ext>
                  </a:extLst>
                </a:gridCol>
                <a:gridCol w="415536">
                  <a:extLst>
                    <a:ext uri="{9D8B030D-6E8A-4147-A177-3AD203B41FA5}">
                      <a16:colId xmlns:a16="http://schemas.microsoft.com/office/drawing/2014/main" val="2079070694"/>
                    </a:ext>
                  </a:extLst>
                </a:gridCol>
                <a:gridCol w="421228">
                  <a:extLst>
                    <a:ext uri="{9D8B030D-6E8A-4147-A177-3AD203B41FA5}">
                      <a16:colId xmlns:a16="http://schemas.microsoft.com/office/drawing/2014/main" val="4213315911"/>
                    </a:ext>
                  </a:extLst>
                </a:gridCol>
                <a:gridCol w="415536">
                  <a:extLst>
                    <a:ext uri="{9D8B030D-6E8A-4147-A177-3AD203B41FA5}">
                      <a16:colId xmlns:a16="http://schemas.microsoft.com/office/drawing/2014/main" val="2769999950"/>
                    </a:ext>
                  </a:extLst>
                </a:gridCol>
                <a:gridCol w="421228">
                  <a:extLst>
                    <a:ext uri="{9D8B030D-6E8A-4147-A177-3AD203B41FA5}">
                      <a16:colId xmlns:a16="http://schemas.microsoft.com/office/drawing/2014/main" val="135637185"/>
                    </a:ext>
                  </a:extLst>
                </a:gridCol>
                <a:gridCol w="415536">
                  <a:extLst>
                    <a:ext uri="{9D8B030D-6E8A-4147-A177-3AD203B41FA5}">
                      <a16:colId xmlns:a16="http://schemas.microsoft.com/office/drawing/2014/main" val="3038050475"/>
                    </a:ext>
                  </a:extLst>
                </a:gridCol>
                <a:gridCol w="390862">
                  <a:extLst>
                    <a:ext uri="{9D8B030D-6E8A-4147-A177-3AD203B41FA5}">
                      <a16:colId xmlns:a16="http://schemas.microsoft.com/office/drawing/2014/main" val="1979433044"/>
                    </a:ext>
                  </a:extLst>
                </a:gridCol>
                <a:gridCol w="423858">
                  <a:extLst>
                    <a:ext uri="{9D8B030D-6E8A-4147-A177-3AD203B41FA5}">
                      <a16:colId xmlns:a16="http://schemas.microsoft.com/office/drawing/2014/main" val="4270661649"/>
                    </a:ext>
                  </a:extLst>
                </a:gridCol>
                <a:gridCol w="423858">
                  <a:extLst>
                    <a:ext uri="{9D8B030D-6E8A-4147-A177-3AD203B41FA5}">
                      <a16:colId xmlns:a16="http://schemas.microsoft.com/office/drawing/2014/main" val="3027041370"/>
                    </a:ext>
                  </a:extLst>
                </a:gridCol>
                <a:gridCol w="423858">
                  <a:extLst>
                    <a:ext uri="{9D8B030D-6E8A-4147-A177-3AD203B41FA5}">
                      <a16:colId xmlns:a16="http://schemas.microsoft.com/office/drawing/2014/main" val="2852526216"/>
                    </a:ext>
                  </a:extLst>
                </a:gridCol>
                <a:gridCol w="423858">
                  <a:extLst>
                    <a:ext uri="{9D8B030D-6E8A-4147-A177-3AD203B41FA5}">
                      <a16:colId xmlns:a16="http://schemas.microsoft.com/office/drawing/2014/main" val="103420222"/>
                    </a:ext>
                  </a:extLst>
                </a:gridCol>
                <a:gridCol w="342911">
                  <a:extLst>
                    <a:ext uri="{9D8B030D-6E8A-4147-A177-3AD203B41FA5}">
                      <a16:colId xmlns:a16="http://schemas.microsoft.com/office/drawing/2014/main" val="1470405609"/>
                    </a:ext>
                  </a:extLst>
                </a:gridCol>
                <a:gridCol w="3458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_CH3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C804169D-D9BD-C4A4-F505-F5C516A49FDF}"/>
              </a:ext>
            </a:extLst>
          </p:cNvPr>
          <p:cNvSpPr txBox="1"/>
          <p:nvPr/>
        </p:nvSpPr>
        <p:spPr>
          <a:xfrm>
            <a:off x="410522" y="2299186"/>
            <a:ext cx="605365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3</a:t>
            </a:r>
          </a:p>
        </p:txBody>
      </p:sp>
      <p:graphicFrame>
        <p:nvGraphicFramePr>
          <p:cNvPr id="13" name="표 12">
            <a:extLst>
              <a:ext uri="{FF2B5EF4-FFF2-40B4-BE49-F238E27FC236}">
                <a16:creationId xmlns:a16="http://schemas.microsoft.com/office/drawing/2014/main" id="{3007EBC0-1FD1-47A4-0FEC-18BA6A8079A6}"/>
              </a:ext>
            </a:extLst>
          </p:cNvPr>
          <p:cNvGraphicFramePr>
            <a:graphicFrameLocks noGrp="1"/>
          </p:cNvGraphicFramePr>
          <p:nvPr>
            <p:extLst>
              <p:ext uri="{D42A27DB-BD31-4B8C-83A1-F6EECF244321}">
                <p14:modId xmlns:p14="http://schemas.microsoft.com/office/powerpoint/2010/main" val="3623340157"/>
              </p:ext>
            </p:extLst>
          </p:nvPr>
        </p:nvGraphicFramePr>
        <p:xfrm>
          <a:off x="402554" y="3210327"/>
          <a:ext cx="6063914" cy="372600"/>
        </p:xfrm>
        <a:graphic>
          <a:graphicData uri="http://schemas.openxmlformats.org/drawingml/2006/table">
            <a:tbl>
              <a:tblPr firstRow="1" bandRow="1">
                <a:tableStyleId>{5C22544A-7EE6-4342-B048-85BDC9FD1C3A}</a:tableStyleId>
              </a:tblPr>
              <a:tblGrid>
                <a:gridCol w="329554">
                  <a:extLst>
                    <a:ext uri="{9D8B030D-6E8A-4147-A177-3AD203B41FA5}">
                      <a16:colId xmlns:a16="http://schemas.microsoft.com/office/drawing/2014/main" val="657570846"/>
                    </a:ext>
                  </a:extLst>
                </a:gridCol>
                <a:gridCol w="404506">
                  <a:extLst>
                    <a:ext uri="{9D8B030D-6E8A-4147-A177-3AD203B41FA5}">
                      <a16:colId xmlns:a16="http://schemas.microsoft.com/office/drawing/2014/main" val="3259894497"/>
                    </a:ext>
                  </a:extLst>
                </a:gridCol>
                <a:gridCol w="461480">
                  <a:extLst>
                    <a:ext uri="{9D8B030D-6E8A-4147-A177-3AD203B41FA5}">
                      <a16:colId xmlns:a16="http://schemas.microsoft.com/office/drawing/2014/main" val="4170535043"/>
                    </a:ext>
                  </a:extLst>
                </a:gridCol>
                <a:gridCol w="415901">
                  <a:extLst>
                    <a:ext uri="{9D8B030D-6E8A-4147-A177-3AD203B41FA5}">
                      <a16:colId xmlns:a16="http://schemas.microsoft.com/office/drawing/2014/main" val="2079070694"/>
                    </a:ext>
                  </a:extLst>
                </a:gridCol>
                <a:gridCol w="421598">
                  <a:extLst>
                    <a:ext uri="{9D8B030D-6E8A-4147-A177-3AD203B41FA5}">
                      <a16:colId xmlns:a16="http://schemas.microsoft.com/office/drawing/2014/main" val="4213315911"/>
                    </a:ext>
                  </a:extLst>
                </a:gridCol>
                <a:gridCol w="415901">
                  <a:extLst>
                    <a:ext uri="{9D8B030D-6E8A-4147-A177-3AD203B41FA5}">
                      <a16:colId xmlns:a16="http://schemas.microsoft.com/office/drawing/2014/main" val="2769999950"/>
                    </a:ext>
                  </a:extLst>
                </a:gridCol>
                <a:gridCol w="421598">
                  <a:extLst>
                    <a:ext uri="{9D8B030D-6E8A-4147-A177-3AD203B41FA5}">
                      <a16:colId xmlns:a16="http://schemas.microsoft.com/office/drawing/2014/main" val="135637185"/>
                    </a:ext>
                  </a:extLst>
                </a:gridCol>
                <a:gridCol w="415901">
                  <a:extLst>
                    <a:ext uri="{9D8B030D-6E8A-4147-A177-3AD203B41FA5}">
                      <a16:colId xmlns:a16="http://schemas.microsoft.com/office/drawing/2014/main" val="3038050475"/>
                    </a:ext>
                  </a:extLst>
                </a:gridCol>
                <a:gridCol w="391205">
                  <a:extLst>
                    <a:ext uri="{9D8B030D-6E8A-4147-A177-3AD203B41FA5}">
                      <a16:colId xmlns:a16="http://schemas.microsoft.com/office/drawing/2014/main" val="1979433044"/>
                    </a:ext>
                  </a:extLst>
                </a:gridCol>
                <a:gridCol w="424230">
                  <a:extLst>
                    <a:ext uri="{9D8B030D-6E8A-4147-A177-3AD203B41FA5}">
                      <a16:colId xmlns:a16="http://schemas.microsoft.com/office/drawing/2014/main" val="4270661649"/>
                    </a:ext>
                  </a:extLst>
                </a:gridCol>
                <a:gridCol w="424230">
                  <a:extLst>
                    <a:ext uri="{9D8B030D-6E8A-4147-A177-3AD203B41FA5}">
                      <a16:colId xmlns:a16="http://schemas.microsoft.com/office/drawing/2014/main" val="3027041370"/>
                    </a:ext>
                  </a:extLst>
                </a:gridCol>
                <a:gridCol w="424230">
                  <a:extLst>
                    <a:ext uri="{9D8B030D-6E8A-4147-A177-3AD203B41FA5}">
                      <a16:colId xmlns:a16="http://schemas.microsoft.com/office/drawing/2014/main" val="2852526216"/>
                    </a:ext>
                  </a:extLst>
                </a:gridCol>
                <a:gridCol w="424230">
                  <a:extLst>
                    <a:ext uri="{9D8B030D-6E8A-4147-A177-3AD203B41FA5}">
                      <a16:colId xmlns:a16="http://schemas.microsoft.com/office/drawing/2014/main" val="103420222"/>
                    </a:ext>
                  </a:extLst>
                </a:gridCol>
                <a:gridCol w="343212">
                  <a:extLst>
                    <a:ext uri="{9D8B030D-6E8A-4147-A177-3AD203B41FA5}">
                      <a16:colId xmlns:a16="http://schemas.microsoft.com/office/drawing/2014/main" val="1470405609"/>
                    </a:ext>
                  </a:extLst>
                </a:gridCol>
                <a:gridCol w="34613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_CH4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4" name="TextBox 13">
            <a:extLst>
              <a:ext uri="{FF2B5EF4-FFF2-40B4-BE49-F238E27FC236}">
                <a16:creationId xmlns:a16="http://schemas.microsoft.com/office/drawing/2014/main" id="{B3B9AB2A-1107-9F48-108E-0669DA131DE4}"/>
              </a:ext>
            </a:extLst>
          </p:cNvPr>
          <p:cNvSpPr txBox="1"/>
          <p:nvPr/>
        </p:nvSpPr>
        <p:spPr>
          <a:xfrm>
            <a:off x="403994" y="2949031"/>
            <a:ext cx="605859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4</a:t>
            </a:r>
          </a:p>
        </p:txBody>
      </p:sp>
      <p:graphicFrame>
        <p:nvGraphicFramePr>
          <p:cNvPr id="16" name="표 15">
            <a:extLst>
              <a:ext uri="{FF2B5EF4-FFF2-40B4-BE49-F238E27FC236}">
                <a16:creationId xmlns:a16="http://schemas.microsoft.com/office/drawing/2014/main" id="{87E9E057-E699-536E-A022-962F95979145}"/>
              </a:ext>
            </a:extLst>
          </p:cNvPr>
          <p:cNvGraphicFramePr>
            <a:graphicFrameLocks noGrp="1"/>
          </p:cNvGraphicFramePr>
          <p:nvPr>
            <p:extLst>
              <p:ext uri="{D42A27DB-BD31-4B8C-83A1-F6EECF244321}">
                <p14:modId xmlns:p14="http://schemas.microsoft.com/office/powerpoint/2010/main" val="3060450965"/>
              </p:ext>
            </p:extLst>
          </p:nvPr>
        </p:nvGraphicFramePr>
        <p:xfrm>
          <a:off x="395604" y="3859634"/>
          <a:ext cx="6072542"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2">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4">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_CH5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73A4B8FE-215E-7DD7-A582-90B95D28925E}"/>
              </a:ext>
            </a:extLst>
          </p:cNvPr>
          <p:cNvSpPr txBox="1"/>
          <p:nvPr/>
        </p:nvSpPr>
        <p:spPr>
          <a:xfrm>
            <a:off x="399097" y="3596814"/>
            <a:ext cx="607077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5</a:t>
            </a:r>
          </a:p>
        </p:txBody>
      </p:sp>
      <p:graphicFrame>
        <p:nvGraphicFramePr>
          <p:cNvPr id="18" name="표 17">
            <a:extLst>
              <a:ext uri="{FF2B5EF4-FFF2-40B4-BE49-F238E27FC236}">
                <a16:creationId xmlns:a16="http://schemas.microsoft.com/office/drawing/2014/main" id="{03FCA041-7B06-9174-9743-760802E8FE7E}"/>
              </a:ext>
            </a:extLst>
          </p:cNvPr>
          <p:cNvGraphicFramePr>
            <a:graphicFrameLocks noGrp="1"/>
          </p:cNvGraphicFramePr>
          <p:nvPr>
            <p:extLst>
              <p:ext uri="{D42A27DB-BD31-4B8C-83A1-F6EECF244321}">
                <p14:modId xmlns:p14="http://schemas.microsoft.com/office/powerpoint/2010/main" val="3867422702"/>
              </p:ext>
            </p:extLst>
          </p:nvPr>
        </p:nvGraphicFramePr>
        <p:xfrm>
          <a:off x="393878" y="4511628"/>
          <a:ext cx="6072541"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1">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4">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_CH6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9" name="TextBox 18">
            <a:extLst>
              <a:ext uri="{FF2B5EF4-FFF2-40B4-BE49-F238E27FC236}">
                <a16:creationId xmlns:a16="http://schemas.microsoft.com/office/drawing/2014/main" id="{F0FD6907-9648-568D-3049-29A99EB2B0E1}"/>
              </a:ext>
            </a:extLst>
          </p:cNvPr>
          <p:cNvSpPr txBox="1"/>
          <p:nvPr/>
        </p:nvSpPr>
        <p:spPr>
          <a:xfrm>
            <a:off x="397371" y="4248808"/>
            <a:ext cx="607077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6</a:t>
            </a:r>
          </a:p>
        </p:txBody>
      </p:sp>
      <p:graphicFrame>
        <p:nvGraphicFramePr>
          <p:cNvPr id="21" name="표 20">
            <a:extLst>
              <a:ext uri="{FF2B5EF4-FFF2-40B4-BE49-F238E27FC236}">
                <a16:creationId xmlns:a16="http://schemas.microsoft.com/office/drawing/2014/main" id="{69CCD497-0F4E-08CA-98D1-B558713D625B}"/>
              </a:ext>
            </a:extLst>
          </p:cNvPr>
          <p:cNvGraphicFramePr>
            <a:graphicFrameLocks noGrp="1"/>
          </p:cNvGraphicFramePr>
          <p:nvPr>
            <p:extLst>
              <p:ext uri="{D42A27DB-BD31-4B8C-83A1-F6EECF244321}">
                <p14:modId xmlns:p14="http://schemas.microsoft.com/office/powerpoint/2010/main" val="2646817010"/>
              </p:ext>
            </p:extLst>
          </p:nvPr>
        </p:nvGraphicFramePr>
        <p:xfrm>
          <a:off x="393878" y="5167508"/>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_CH7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2" name="TextBox 21">
            <a:extLst>
              <a:ext uri="{FF2B5EF4-FFF2-40B4-BE49-F238E27FC236}">
                <a16:creationId xmlns:a16="http://schemas.microsoft.com/office/drawing/2014/main" id="{4025C4CC-55B1-9D62-00CA-78D0FA7A7844}"/>
              </a:ext>
            </a:extLst>
          </p:cNvPr>
          <p:cNvSpPr txBox="1"/>
          <p:nvPr/>
        </p:nvSpPr>
        <p:spPr>
          <a:xfrm>
            <a:off x="398604" y="4906099"/>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7</a:t>
            </a:r>
          </a:p>
        </p:txBody>
      </p:sp>
      <p:graphicFrame>
        <p:nvGraphicFramePr>
          <p:cNvPr id="23" name="표 22">
            <a:extLst>
              <a:ext uri="{FF2B5EF4-FFF2-40B4-BE49-F238E27FC236}">
                <a16:creationId xmlns:a16="http://schemas.microsoft.com/office/drawing/2014/main" id="{A74272DD-EF59-9068-6241-A7D8FEDF7960}"/>
              </a:ext>
            </a:extLst>
          </p:cNvPr>
          <p:cNvGraphicFramePr>
            <a:graphicFrameLocks noGrp="1"/>
          </p:cNvGraphicFramePr>
          <p:nvPr>
            <p:extLst>
              <p:ext uri="{D42A27DB-BD31-4B8C-83A1-F6EECF244321}">
                <p14:modId xmlns:p14="http://schemas.microsoft.com/office/powerpoint/2010/main" val="3871762132"/>
              </p:ext>
            </p:extLst>
          </p:nvPr>
        </p:nvGraphicFramePr>
        <p:xfrm>
          <a:off x="391745" y="5816130"/>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_CH8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5" name="TextBox 24">
            <a:extLst>
              <a:ext uri="{FF2B5EF4-FFF2-40B4-BE49-F238E27FC236}">
                <a16:creationId xmlns:a16="http://schemas.microsoft.com/office/drawing/2014/main" id="{21F184D9-E2B5-B730-756D-981F4F630FB1}"/>
              </a:ext>
            </a:extLst>
          </p:cNvPr>
          <p:cNvSpPr txBox="1"/>
          <p:nvPr/>
        </p:nvSpPr>
        <p:spPr>
          <a:xfrm>
            <a:off x="396471" y="5555626"/>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8</a:t>
            </a:r>
          </a:p>
        </p:txBody>
      </p:sp>
      <p:graphicFrame>
        <p:nvGraphicFramePr>
          <p:cNvPr id="27" name="표 26">
            <a:extLst>
              <a:ext uri="{FF2B5EF4-FFF2-40B4-BE49-F238E27FC236}">
                <a16:creationId xmlns:a16="http://schemas.microsoft.com/office/drawing/2014/main" id="{7117CC40-2DEC-F861-5015-57F354C61DE1}"/>
              </a:ext>
            </a:extLst>
          </p:cNvPr>
          <p:cNvGraphicFramePr>
            <a:graphicFrameLocks noGrp="1"/>
          </p:cNvGraphicFramePr>
          <p:nvPr>
            <p:extLst>
              <p:ext uri="{D42A27DB-BD31-4B8C-83A1-F6EECF244321}">
                <p14:modId xmlns:p14="http://schemas.microsoft.com/office/powerpoint/2010/main" val="394363416"/>
              </p:ext>
            </p:extLst>
          </p:nvPr>
        </p:nvGraphicFramePr>
        <p:xfrm>
          <a:off x="383939" y="6473240"/>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_CH9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4" name="TextBox 43">
            <a:extLst>
              <a:ext uri="{FF2B5EF4-FFF2-40B4-BE49-F238E27FC236}">
                <a16:creationId xmlns:a16="http://schemas.microsoft.com/office/drawing/2014/main" id="{115C8241-B022-EBC5-7AA6-3C4293B25ADA}"/>
              </a:ext>
            </a:extLst>
          </p:cNvPr>
          <p:cNvSpPr txBox="1"/>
          <p:nvPr/>
        </p:nvSpPr>
        <p:spPr>
          <a:xfrm>
            <a:off x="388665" y="6208518"/>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9</a:t>
            </a:r>
          </a:p>
        </p:txBody>
      </p:sp>
      <p:graphicFrame>
        <p:nvGraphicFramePr>
          <p:cNvPr id="45" name="표 44">
            <a:extLst>
              <a:ext uri="{FF2B5EF4-FFF2-40B4-BE49-F238E27FC236}">
                <a16:creationId xmlns:a16="http://schemas.microsoft.com/office/drawing/2014/main" id="{ECB8BE41-09F5-4CAA-0120-AF2BCBC8C0B4}"/>
              </a:ext>
            </a:extLst>
          </p:cNvPr>
          <p:cNvGraphicFramePr>
            <a:graphicFrameLocks noGrp="1"/>
          </p:cNvGraphicFramePr>
          <p:nvPr>
            <p:extLst>
              <p:ext uri="{D42A27DB-BD31-4B8C-83A1-F6EECF244321}">
                <p14:modId xmlns:p14="http://schemas.microsoft.com/office/powerpoint/2010/main" val="2510483839"/>
              </p:ext>
            </p:extLst>
          </p:nvPr>
        </p:nvGraphicFramePr>
        <p:xfrm>
          <a:off x="391745" y="7127782"/>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_CH10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6" name="TextBox 45">
            <a:extLst>
              <a:ext uri="{FF2B5EF4-FFF2-40B4-BE49-F238E27FC236}">
                <a16:creationId xmlns:a16="http://schemas.microsoft.com/office/drawing/2014/main" id="{9104A1C3-709A-0289-44C5-512E0C5680E0}"/>
              </a:ext>
            </a:extLst>
          </p:cNvPr>
          <p:cNvSpPr txBox="1"/>
          <p:nvPr/>
        </p:nvSpPr>
        <p:spPr>
          <a:xfrm>
            <a:off x="396471" y="686396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10</a:t>
            </a:r>
          </a:p>
        </p:txBody>
      </p:sp>
      <p:graphicFrame>
        <p:nvGraphicFramePr>
          <p:cNvPr id="47" name="표 46">
            <a:extLst>
              <a:ext uri="{FF2B5EF4-FFF2-40B4-BE49-F238E27FC236}">
                <a16:creationId xmlns:a16="http://schemas.microsoft.com/office/drawing/2014/main" id="{8BE26898-8792-824D-ADC1-8DA5E2D70E0D}"/>
              </a:ext>
            </a:extLst>
          </p:cNvPr>
          <p:cNvGraphicFramePr>
            <a:graphicFrameLocks noGrp="1"/>
          </p:cNvGraphicFramePr>
          <p:nvPr>
            <p:extLst>
              <p:ext uri="{D42A27DB-BD31-4B8C-83A1-F6EECF244321}">
                <p14:modId xmlns:p14="http://schemas.microsoft.com/office/powerpoint/2010/main" val="607872444"/>
              </p:ext>
            </p:extLst>
          </p:nvPr>
        </p:nvGraphicFramePr>
        <p:xfrm>
          <a:off x="404813" y="1259733"/>
          <a:ext cx="6057359" cy="372600"/>
        </p:xfrm>
        <a:graphic>
          <a:graphicData uri="http://schemas.openxmlformats.org/drawingml/2006/table">
            <a:tbl>
              <a:tblPr firstRow="1" bandRow="1">
                <a:tableStyleId>{5C22544A-7EE6-4342-B048-85BDC9FD1C3A}</a:tableStyleId>
              </a:tblPr>
              <a:tblGrid>
                <a:gridCol w="329198">
                  <a:extLst>
                    <a:ext uri="{9D8B030D-6E8A-4147-A177-3AD203B41FA5}">
                      <a16:colId xmlns:a16="http://schemas.microsoft.com/office/drawing/2014/main" val="657570846"/>
                    </a:ext>
                  </a:extLst>
                </a:gridCol>
                <a:gridCol w="404069">
                  <a:extLst>
                    <a:ext uri="{9D8B030D-6E8A-4147-A177-3AD203B41FA5}">
                      <a16:colId xmlns:a16="http://schemas.microsoft.com/office/drawing/2014/main" val="3259894497"/>
                    </a:ext>
                  </a:extLst>
                </a:gridCol>
                <a:gridCol w="460980">
                  <a:extLst>
                    <a:ext uri="{9D8B030D-6E8A-4147-A177-3AD203B41FA5}">
                      <a16:colId xmlns:a16="http://schemas.microsoft.com/office/drawing/2014/main" val="4170535043"/>
                    </a:ext>
                  </a:extLst>
                </a:gridCol>
                <a:gridCol w="415451">
                  <a:extLst>
                    <a:ext uri="{9D8B030D-6E8A-4147-A177-3AD203B41FA5}">
                      <a16:colId xmlns:a16="http://schemas.microsoft.com/office/drawing/2014/main" val="2079070694"/>
                    </a:ext>
                  </a:extLst>
                </a:gridCol>
                <a:gridCol w="421142">
                  <a:extLst>
                    <a:ext uri="{9D8B030D-6E8A-4147-A177-3AD203B41FA5}">
                      <a16:colId xmlns:a16="http://schemas.microsoft.com/office/drawing/2014/main" val="4213315911"/>
                    </a:ext>
                  </a:extLst>
                </a:gridCol>
                <a:gridCol w="415451">
                  <a:extLst>
                    <a:ext uri="{9D8B030D-6E8A-4147-A177-3AD203B41FA5}">
                      <a16:colId xmlns:a16="http://schemas.microsoft.com/office/drawing/2014/main" val="2769999950"/>
                    </a:ext>
                  </a:extLst>
                </a:gridCol>
                <a:gridCol w="421142">
                  <a:extLst>
                    <a:ext uri="{9D8B030D-6E8A-4147-A177-3AD203B41FA5}">
                      <a16:colId xmlns:a16="http://schemas.microsoft.com/office/drawing/2014/main" val="135637185"/>
                    </a:ext>
                  </a:extLst>
                </a:gridCol>
                <a:gridCol w="415451">
                  <a:extLst>
                    <a:ext uri="{9D8B030D-6E8A-4147-A177-3AD203B41FA5}">
                      <a16:colId xmlns:a16="http://schemas.microsoft.com/office/drawing/2014/main" val="3038050475"/>
                    </a:ext>
                  </a:extLst>
                </a:gridCol>
                <a:gridCol w="390782">
                  <a:extLst>
                    <a:ext uri="{9D8B030D-6E8A-4147-A177-3AD203B41FA5}">
                      <a16:colId xmlns:a16="http://schemas.microsoft.com/office/drawing/2014/main" val="1979433044"/>
                    </a:ext>
                  </a:extLst>
                </a:gridCol>
                <a:gridCol w="423772">
                  <a:extLst>
                    <a:ext uri="{9D8B030D-6E8A-4147-A177-3AD203B41FA5}">
                      <a16:colId xmlns:a16="http://schemas.microsoft.com/office/drawing/2014/main" val="4270661649"/>
                    </a:ext>
                  </a:extLst>
                </a:gridCol>
                <a:gridCol w="423772">
                  <a:extLst>
                    <a:ext uri="{9D8B030D-6E8A-4147-A177-3AD203B41FA5}">
                      <a16:colId xmlns:a16="http://schemas.microsoft.com/office/drawing/2014/main" val="3027041370"/>
                    </a:ext>
                  </a:extLst>
                </a:gridCol>
                <a:gridCol w="423772">
                  <a:extLst>
                    <a:ext uri="{9D8B030D-6E8A-4147-A177-3AD203B41FA5}">
                      <a16:colId xmlns:a16="http://schemas.microsoft.com/office/drawing/2014/main" val="2852526216"/>
                    </a:ext>
                  </a:extLst>
                </a:gridCol>
                <a:gridCol w="423772">
                  <a:extLst>
                    <a:ext uri="{9D8B030D-6E8A-4147-A177-3AD203B41FA5}">
                      <a16:colId xmlns:a16="http://schemas.microsoft.com/office/drawing/2014/main" val="103420222"/>
                    </a:ext>
                  </a:extLst>
                </a:gridCol>
                <a:gridCol w="342841">
                  <a:extLst>
                    <a:ext uri="{9D8B030D-6E8A-4147-A177-3AD203B41FA5}">
                      <a16:colId xmlns:a16="http://schemas.microsoft.com/office/drawing/2014/main" val="1470405609"/>
                    </a:ext>
                  </a:extLst>
                </a:gridCol>
                <a:gridCol w="3457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48" name="표 47">
            <a:extLst>
              <a:ext uri="{FF2B5EF4-FFF2-40B4-BE49-F238E27FC236}">
                <a16:creationId xmlns:a16="http://schemas.microsoft.com/office/drawing/2014/main" id="{06F07769-B78A-ADC6-ADED-744DADE9B8F1}"/>
              </a:ext>
            </a:extLst>
          </p:cNvPr>
          <p:cNvGraphicFramePr>
            <a:graphicFrameLocks noGrp="1"/>
          </p:cNvGraphicFramePr>
          <p:nvPr>
            <p:extLst>
              <p:ext uri="{D42A27DB-BD31-4B8C-83A1-F6EECF244321}">
                <p14:modId xmlns:p14="http://schemas.microsoft.com/office/powerpoint/2010/main" val="2115329683"/>
              </p:ext>
            </p:extLst>
          </p:nvPr>
        </p:nvGraphicFramePr>
        <p:xfrm>
          <a:off x="383939" y="8429736"/>
          <a:ext cx="6067485"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0">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_CH12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9" name="TextBox 48">
            <a:extLst>
              <a:ext uri="{FF2B5EF4-FFF2-40B4-BE49-F238E27FC236}">
                <a16:creationId xmlns:a16="http://schemas.microsoft.com/office/drawing/2014/main" id="{97EC6956-36C0-E24F-9EB9-6B888A6B41FE}"/>
              </a:ext>
            </a:extLst>
          </p:cNvPr>
          <p:cNvSpPr txBox="1"/>
          <p:nvPr/>
        </p:nvSpPr>
        <p:spPr>
          <a:xfrm>
            <a:off x="388665" y="8168327"/>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12</a:t>
            </a:r>
          </a:p>
        </p:txBody>
      </p:sp>
      <p:graphicFrame>
        <p:nvGraphicFramePr>
          <p:cNvPr id="50" name="표 49">
            <a:extLst>
              <a:ext uri="{FF2B5EF4-FFF2-40B4-BE49-F238E27FC236}">
                <a16:creationId xmlns:a16="http://schemas.microsoft.com/office/drawing/2014/main" id="{1C043E92-E3F2-385F-415A-B16D7D4A2DE7}"/>
              </a:ext>
            </a:extLst>
          </p:cNvPr>
          <p:cNvGraphicFramePr>
            <a:graphicFrameLocks noGrp="1"/>
          </p:cNvGraphicFramePr>
          <p:nvPr>
            <p:extLst>
              <p:ext uri="{D42A27DB-BD31-4B8C-83A1-F6EECF244321}">
                <p14:modId xmlns:p14="http://schemas.microsoft.com/office/powerpoint/2010/main" val="1568071313"/>
              </p:ext>
            </p:extLst>
          </p:nvPr>
        </p:nvGraphicFramePr>
        <p:xfrm>
          <a:off x="387798" y="7778972"/>
          <a:ext cx="6067485"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0">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OFS_</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CH11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1" name="TextBox 50">
            <a:extLst>
              <a:ext uri="{FF2B5EF4-FFF2-40B4-BE49-F238E27FC236}">
                <a16:creationId xmlns:a16="http://schemas.microsoft.com/office/drawing/2014/main" id="{38982CD2-1804-05D5-A969-2B80614A60F7}"/>
              </a:ext>
            </a:extLst>
          </p:cNvPr>
          <p:cNvSpPr txBox="1"/>
          <p:nvPr/>
        </p:nvSpPr>
        <p:spPr>
          <a:xfrm>
            <a:off x="392524" y="751515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11</a:t>
            </a:r>
          </a:p>
        </p:txBody>
      </p:sp>
    </p:spTree>
    <p:extLst>
      <p:ext uri="{BB962C8B-B14F-4D97-AF65-F5344CB8AC3E}">
        <p14:creationId xmlns:p14="http://schemas.microsoft.com/office/powerpoint/2010/main" val="20856366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5EB76770-2393-D9DA-F2DB-2C60235D3630}"/>
              </a:ext>
            </a:extLst>
          </p:cNvPr>
          <p:cNvSpPr txBox="1"/>
          <p:nvPr/>
        </p:nvSpPr>
        <p:spPr>
          <a:xfrm>
            <a:off x="400454" y="66885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2" name="TextBox 1">
            <a:extLst>
              <a:ext uri="{FF2B5EF4-FFF2-40B4-BE49-F238E27FC236}">
                <a16:creationId xmlns:a16="http://schemas.microsoft.com/office/drawing/2014/main" id="{43860087-FEB6-25E1-C87D-3B3790D66373}"/>
              </a:ext>
            </a:extLst>
          </p:cNvPr>
          <p:cNvSpPr txBox="1"/>
          <p:nvPr/>
        </p:nvSpPr>
        <p:spPr>
          <a:xfrm>
            <a:off x="404806" y="994571"/>
            <a:ext cx="605736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1</a:t>
            </a:r>
          </a:p>
        </p:txBody>
      </p:sp>
      <p:graphicFrame>
        <p:nvGraphicFramePr>
          <p:cNvPr id="4" name="표 3">
            <a:extLst>
              <a:ext uri="{FF2B5EF4-FFF2-40B4-BE49-F238E27FC236}">
                <a16:creationId xmlns:a16="http://schemas.microsoft.com/office/drawing/2014/main" id="{D8757D80-AF28-9760-78AA-131A9FE99642}"/>
              </a:ext>
            </a:extLst>
          </p:cNvPr>
          <p:cNvGraphicFramePr>
            <a:graphicFrameLocks noGrp="1"/>
          </p:cNvGraphicFramePr>
          <p:nvPr>
            <p:extLst>
              <p:ext uri="{D42A27DB-BD31-4B8C-83A1-F6EECF244321}">
                <p14:modId xmlns:p14="http://schemas.microsoft.com/office/powerpoint/2010/main" val="3135627927"/>
              </p:ext>
            </p:extLst>
          </p:nvPr>
        </p:nvGraphicFramePr>
        <p:xfrm>
          <a:off x="400082" y="1910270"/>
          <a:ext cx="6059149" cy="372600"/>
        </p:xfrm>
        <a:graphic>
          <a:graphicData uri="http://schemas.openxmlformats.org/drawingml/2006/table">
            <a:tbl>
              <a:tblPr firstRow="1" bandRow="1">
                <a:tableStyleId>{5C22544A-7EE6-4342-B048-85BDC9FD1C3A}</a:tableStyleId>
              </a:tblPr>
              <a:tblGrid>
                <a:gridCol w="329295">
                  <a:extLst>
                    <a:ext uri="{9D8B030D-6E8A-4147-A177-3AD203B41FA5}">
                      <a16:colId xmlns:a16="http://schemas.microsoft.com/office/drawing/2014/main" val="657570846"/>
                    </a:ext>
                  </a:extLst>
                </a:gridCol>
                <a:gridCol w="404189">
                  <a:extLst>
                    <a:ext uri="{9D8B030D-6E8A-4147-A177-3AD203B41FA5}">
                      <a16:colId xmlns:a16="http://schemas.microsoft.com/office/drawing/2014/main" val="3259894497"/>
                    </a:ext>
                  </a:extLst>
                </a:gridCol>
                <a:gridCol w="461117">
                  <a:extLst>
                    <a:ext uri="{9D8B030D-6E8A-4147-A177-3AD203B41FA5}">
                      <a16:colId xmlns:a16="http://schemas.microsoft.com/office/drawing/2014/main" val="4170535043"/>
                    </a:ext>
                  </a:extLst>
                </a:gridCol>
                <a:gridCol w="415574">
                  <a:extLst>
                    <a:ext uri="{9D8B030D-6E8A-4147-A177-3AD203B41FA5}">
                      <a16:colId xmlns:a16="http://schemas.microsoft.com/office/drawing/2014/main" val="2079070694"/>
                    </a:ext>
                  </a:extLst>
                </a:gridCol>
                <a:gridCol w="421266">
                  <a:extLst>
                    <a:ext uri="{9D8B030D-6E8A-4147-A177-3AD203B41FA5}">
                      <a16:colId xmlns:a16="http://schemas.microsoft.com/office/drawing/2014/main" val="4213315911"/>
                    </a:ext>
                  </a:extLst>
                </a:gridCol>
                <a:gridCol w="415574">
                  <a:extLst>
                    <a:ext uri="{9D8B030D-6E8A-4147-A177-3AD203B41FA5}">
                      <a16:colId xmlns:a16="http://schemas.microsoft.com/office/drawing/2014/main" val="2769999950"/>
                    </a:ext>
                  </a:extLst>
                </a:gridCol>
                <a:gridCol w="421266">
                  <a:extLst>
                    <a:ext uri="{9D8B030D-6E8A-4147-A177-3AD203B41FA5}">
                      <a16:colId xmlns:a16="http://schemas.microsoft.com/office/drawing/2014/main" val="135637185"/>
                    </a:ext>
                  </a:extLst>
                </a:gridCol>
                <a:gridCol w="415574">
                  <a:extLst>
                    <a:ext uri="{9D8B030D-6E8A-4147-A177-3AD203B41FA5}">
                      <a16:colId xmlns:a16="http://schemas.microsoft.com/office/drawing/2014/main" val="3038050475"/>
                    </a:ext>
                  </a:extLst>
                </a:gridCol>
                <a:gridCol w="390897">
                  <a:extLst>
                    <a:ext uri="{9D8B030D-6E8A-4147-A177-3AD203B41FA5}">
                      <a16:colId xmlns:a16="http://schemas.microsoft.com/office/drawing/2014/main" val="1979433044"/>
                    </a:ext>
                  </a:extLst>
                </a:gridCol>
                <a:gridCol w="423897">
                  <a:extLst>
                    <a:ext uri="{9D8B030D-6E8A-4147-A177-3AD203B41FA5}">
                      <a16:colId xmlns:a16="http://schemas.microsoft.com/office/drawing/2014/main" val="4270661649"/>
                    </a:ext>
                  </a:extLst>
                </a:gridCol>
                <a:gridCol w="423897">
                  <a:extLst>
                    <a:ext uri="{9D8B030D-6E8A-4147-A177-3AD203B41FA5}">
                      <a16:colId xmlns:a16="http://schemas.microsoft.com/office/drawing/2014/main" val="3027041370"/>
                    </a:ext>
                  </a:extLst>
                </a:gridCol>
                <a:gridCol w="423898">
                  <a:extLst>
                    <a:ext uri="{9D8B030D-6E8A-4147-A177-3AD203B41FA5}">
                      <a16:colId xmlns:a16="http://schemas.microsoft.com/office/drawing/2014/main" val="2852526216"/>
                    </a:ext>
                  </a:extLst>
                </a:gridCol>
                <a:gridCol w="423897">
                  <a:extLst>
                    <a:ext uri="{9D8B030D-6E8A-4147-A177-3AD203B41FA5}">
                      <a16:colId xmlns:a16="http://schemas.microsoft.com/office/drawing/2014/main" val="103420222"/>
                    </a:ext>
                  </a:extLst>
                </a:gridCol>
                <a:gridCol w="342942">
                  <a:extLst>
                    <a:ext uri="{9D8B030D-6E8A-4147-A177-3AD203B41FA5}">
                      <a16:colId xmlns:a16="http://schemas.microsoft.com/office/drawing/2014/main" val="1470405609"/>
                    </a:ext>
                  </a:extLst>
                </a:gridCol>
                <a:gridCol w="345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 name="TextBox 4">
            <a:extLst>
              <a:ext uri="{FF2B5EF4-FFF2-40B4-BE49-F238E27FC236}">
                <a16:creationId xmlns:a16="http://schemas.microsoft.com/office/drawing/2014/main" id="{00E3D1C6-FE9F-FA09-EF86-5CD248974E1A}"/>
              </a:ext>
            </a:extLst>
          </p:cNvPr>
          <p:cNvSpPr txBox="1"/>
          <p:nvPr/>
        </p:nvSpPr>
        <p:spPr>
          <a:xfrm>
            <a:off x="404809" y="1638328"/>
            <a:ext cx="60573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2</a:t>
            </a:r>
          </a:p>
        </p:txBody>
      </p:sp>
      <p:graphicFrame>
        <p:nvGraphicFramePr>
          <p:cNvPr id="9" name="표 8">
            <a:extLst>
              <a:ext uri="{FF2B5EF4-FFF2-40B4-BE49-F238E27FC236}">
                <a16:creationId xmlns:a16="http://schemas.microsoft.com/office/drawing/2014/main" id="{1562E8B9-8F9A-E218-D3E9-B7BE942C7C4C}"/>
              </a:ext>
            </a:extLst>
          </p:cNvPr>
          <p:cNvGraphicFramePr>
            <a:graphicFrameLocks noGrp="1"/>
          </p:cNvGraphicFramePr>
          <p:nvPr>
            <p:extLst>
              <p:ext uri="{D42A27DB-BD31-4B8C-83A1-F6EECF244321}">
                <p14:modId xmlns:p14="http://schemas.microsoft.com/office/powerpoint/2010/main" val="3713119989"/>
              </p:ext>
            </p:extLst>
          </p:nvPr>
        </p:nvGraphicFramePr>
        <p:xfrm>
          <a:off x="403572" y="2558889"/>
          <a:ext cx="6058596" cy="372600"/>
        </p:xfrm>
        <a:graphic>
          <a:graphicData uri="http://schemas.openxmlformats.org/drawingml/2006/table">
            <a:tbl>
              <a:tblPr firstRow="1" bandRow="1">
                <a:tableStyleId>{5C22544A-7EE6-4342-B048-85BDC9FD1C3A}</a:tableStyleId>
              </a:tblPr>
              <a:tblGrid>
                <a:gridCol w="329265">
                  <a:extLst>
                    <a:ext uri="{9D8B030D-6E8A-4147-A177-3AD203B41FA5}">
                      <a16:colId xmlns:a16="http://schemas.microsoft.com/office/drawing/2014/main" val="657570846"/>
                    </a:ext>
                  </a:extLst>
                </a:gridCol>
                <a:gridCol w="404152">
                  <a:extLst>
                    <a:ext uri="{9D8B030D-6E8A-4147-A177-3AD203B41FA5}">
                      <a16:colId xmlns:a16="http://schemas.microsoft.com/office/drawing/2014/main" val="3259894497"/>
                    </a:ext>
                  </a:extLst>
                </a:gridCol>
                <a:gridCol w="461075">
                  <a:extLst>
                    <a:ext uri="{9D8B030D-6E8A-4147-A177-3AD203B41FA5}">
                      <a16:colId xmlns:a16="http://schemas.microsoft.com/office/drawing/2014/main" val="4170535043"/>
                    </a:ext>
                  </a:extLst>
                </a:gridCol>
                <a:gridCol w="415536">
                  <a:extLst>
                    <a:ext uri="{9D8B030D-6E8A-4147-A177-3AD203B41FA5}">
                      <a16:colId xmlns:a16="http://schemas.microsoft.com/office/drawing/2014/main" val="2079070694"/>
                    </a:ext>
                  </a:extLst>
                </a:gridCol>
                <a:gridCol w="421228">
                  <a:extLst>
                    <a:ext uri="{9D8B030D-6E8A-4147-A177-3AD203B41FA5}">
                      <a16:colId xmlns:a16="http://schemas.microsoft.com/office/drawing/2014/main" val="4213315911"/>
                    </a:ext>
                  </a:extLst>
                </a:gridCol>
                <a:gridCol w="415536">
                  <a:extLst>
                    <a:ext uri="{9D8B030D-6E8A-4147-A177-3AD203B41FA5}">
                      <a16:colId xmlns:a16="http://schemas.microsoft.com/office/drawing/2014/main" val="2769999950"/>
                    </a:ext>
                  </a:extLst>
                </a:gridCol>
                <a:gridCol w="421228">
                  <a:extLst>
                    <a:ext uri="{9D8B030D-6E8A-4147-A177-3AD203B41FA5}">
                      <a16:colId xmlns:a16="http://schemas.microsoft.com/office/drawing/2014/main" val="135637185"/>
                    </a:ext>
                  </a:extLst>
                </a:gridCol>
                <a:gridCol w="415536">
                  <a:extLst>
                    <a:ext uri="{9D8B030D-6E8A-4147-A177-3AD203B41FA5}">
                      <a16:colId xmlns:a16="http://schemas.microsoft.com/office/drawing/2014/main" val="3038050475"/>
                    </a:ext>
                  </a:extLst>
                </a:gridCol>
                <a:gridCol w="390862">
                  <a:extLst>
                    <a:ext uri="{9D8B030D-6E8A-4147-A177-3AD203B41FA5}">
                      <a16:colId xmlns:a16="http://schemas.microsoft.com/office/drawing/2014/main" val="1979433044"/>
                    </a:ext>
                  </a:extLst>
                </a:gridCol>
                <a:gridCol w="423858">
                  <a:extLst>
                    <a:ext uri="{9D8B030D-6E8A-4147-A177-3AD203B41FA5}">
                      <a16:colId xmlns:a16="http://schemas.microsoft.com/office/drawing/2014/main" val="4270661649"/>
                    </a:ext>
                  </a:extLst>
                </a:gridCol>
                <a:gridCol w="423858">
                  <a:extLst>
                    <a:ext uri="{9D8B030D-6E8A-4147-A177-3AD203B41FA5}">
                      <a16:colId xmlns:a16="http://schemas.microsoft.com/office/drawing/2014/main" val="3027041370"/>
                    </a:ext>
                  </a:extLst>
                </a:gridCol>
                <a:gridCol w="423859">
                  <a:extLst>
                    <a:ext uri="{9D8B030D-6E8A-4147-A177-3AD203B41FA5}">
                      <a16:colId xmlns:a16="http://schemas.microsoft.com/office/drawing/2014/main" val="2852526216"/>
                    </a:ext>
                  </a:extLst>
                </a:gridCol>
                <a:gridCol w="423858">
                  <a:extLst>
                    <a:ext uri="{9D8B030D-6E8A-4147-A177-3AD203B41FA5}">
                      <a16:colId xmlns:a16="http://schemas.microsoft.com/office/drawing/2014/main" val="103420222"/>
                    </a:ext>
                  </a:extLst>
                </a:gridCol>
                <a:gridCol w="342911">
                  <a:extLst>
                    <a:ext uri="{9D8B030D-6E8A-4147-A177-3AD203B41FA5}">
                      <a16:colId xmlns:a16="http://schemas.microsoft.com/office/drawing/2014/main" val="1470405609"/>
                    </a:ext>
                  </a:extLst>
                </a:gridCol>
                <a:gridCol w="3458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GAIN_CH3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84ACB6DC-5EF4-CDFC-A91A-D334BCD4289D}"/>
              </a:ext>
            </a:extLst>
          </p:cNvPr>
          <p:cNvSpPr txBox="1"/>
          <p:nvPr/>
        </p:nvSpPr>
        <p:spPr>
          <a:xfrm>
            <a:off x="410522" y="2299186"/>
            <a:ext cx="605365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3</a:t>
            </a:r>
          </a:p>
        </p:txBody>
      </p:sp>
      <p:graphicFrame>
        <p:nvGraphicFramePr>
          <p:cNvPr id="13" name="표 12">
            <a:extLst>
              <a:ext uri="{FF2B5EF4-FFF2-40B4-BE49-F238E27FC236}">
                <a16:creationId xmlns:a16="http://schemas.microsoft.com/office/drawing/2014/main" id="{1C620205-8A8D-C1AB-C55F-0246AF7CD750}"/>
              </a:ext>
            </a:extLst>
          </p:cNvPr>
          <p:cNvGraphicFramePr>
            <a:graphicFrameLocks noGrp="1"/>
          </p:cNvGraphicFramePr>
          <p:nvPr>
            <p:extLst>
              <p:ext uri="{D42A27DB-BD31-4B8C-83A1-F6EECF244321}">
                <p14:modId xmlns:p14="http://schemas.microsoft.com/office/powerpoint/2010/main" val="2966191457"/>
              </p:ext>
            </p:extLst>
          </p:nvPr>
        </p:nvGraphicFramePr>
        <p:xfrm>
          <a:off x="402554" y="3210327"/>
          <a:ext cx="6063915" cy="372600"/>
        </p:xfrm>
        <a:graphic>
          <a:graphicData uri="http://schemas.openxmlformats.org/drawingml/2006/table">
            <a:tbl>
              <a:tblPr firstRow="1" bandRow="1">
                <a:tableStyleId>{5C22544A-7EE6-4342-B048-85BDC9FD1C3A}</a:tableStyleId>
              </a:tblPr>
              <a:tblGrid>
                <a:gridCol w="329554">
                  <a:extLst>
                    <a:ext uri="{9D8B030D-6E8A-4147-A177-3AD203B41FA5}">
                      <a16:colId xmlns:a16="http://schemas.microsoft.com/office/drawing/2014/main" val="657570846"/>
                    </a:ext>
                  </a:extLst>
                </a:gridCol>
                <a:gridCol w="404506">
                  <a:extLst>
                    <a:ext uri="{9D8B030D-6E8A-4147-A177-3AD203B41FA5}">
                      <a16:colId xmlns:a16="http://schemas.microsoft.com/office/drawing/2014/main" val="3259894497"/>
                    </a:ext>
                  </a:extLst>
                </a:gridCol>
                <a:gridCol w="461480">
                  <a:extLst>
                    <a:ext uri="{9D8B030D-6E8A-4147-A177-3AD203B41FA5}">
                      <a16:colId xmlns:a16="http://schemas.microsoft.com/office/drawing/2014/main" val="4170535043"/>
                    </a:ext>
                  </a:extLst>
                </a:gridCol>
                <a:gridCol w="415901">
                  <a:extLst>
                    <a:ext uri="{9D8B030D-6E8A-4147-A177-3AD203B41FA5}">
                      <a16:colId xmlns:a16="http://schemas.microsoft.com/office/drawing/2014/main" val="2079070694"/>
                    </a:ext>
                  </a:extLst>
                </a:gridCol>
                <a:gridCol w="421598">
                  <a:extLst>
                    <a:ext uri="{9D8B030D-6E8A-4147-A177-3AD203B41FA5}">
                      <a16:colId xmlns:a16="http://schemas.microsoft.com/office/drawing/2014/main" val="4213315911"/>
                    </a:ext>
                  </a:extLst>
                </a:gridCol>
                <a:gridCol w="415901">
                  <a:extLst>
                    <a:ext uri="{9D8B030D-6E8A-4147-A177-3AD203B41FA5}">
                      <a16:colId xmlns:a16="http://schemas.microsoft.com/office/drawing/2014/main" val="2769999950"/>
                    </a:ext>
                  </a:extLst>
                </a:gridCol>
                <a:gridCol w="421598">
                  <a:extLst>
                    <a:ext uri="{9D8B030D-6E8A-4147-A177-3AD203B41FA5}">
                      <a16:colId xmlns:a16="http://schemas.microsoft.com/office/drawing/2014/main" val="135637185"/>
                    </a:ext>
                  </a:extLst>
                </a:gridCol>
                <a:gridCol w="415901">
                  <a:extLst>
                    <a:ext uri="{9D8B030D-6E8A-4147-A177-3AD203B41FA5}">
                      <a16:colId xmlns:a16="http://schemas.microsoft.com/office/drawing/2014/main" val="3038050475"/>
                    </a:ext>
                  </a:extLst>
                </a:gridCol>
                <a:gridCol w="391205">
                  <a:extLst>
                    <a:ext uri="{9D8B030D-6E8A-4147-A177-3AD203B41FA5}">
                      <a16:colId xmlns:a16="http://schemas.microsoft.com/office/drawing/2014/main" val="1979433044"/>
                    </a:ext>
                  </a:extLst>
                </a:gridCol>
                <a:gridCol w="424230">
                  <a:extLst>
                    <a:ext uri="{9D8B030D-6E8A-4147-A177-3AD203B41FA5}">
                      <a16:colId xmlns:a16="http://schemas.microsoft.com/office/drawing/2014/main" val="4270661649"/>
                    </a:ext>
                  </a:extLst>
                </a:gridCol>
                <a:gridCol w="424230">
                  <a:extLst>
                    <a:ext uri="{9D8B030D-6E8A-4147-A177-3AD203B41FA5}">
                      <a16:colId xmlns:a16="http://schemas.microsoft.com/office/drawing/2014/main" val="3027041370"/>
                    </a:ext>
                  </a:extLst>
                </a:gridCol>
                <a:gridCol w="424231">
                  <a:extLst>
                    <a:ext uri="{9D8B030D-6E8A-4147-A177-3AD203B41FA5}">
                      <a16:colId xmlns:a16="http://schemas.microsoft.com/office/drawing/2014/main" val="2852526216"/>
                    </a:ext>
                  </a:extLst>
                </a:gridCol>
                <a:gridCol w="424230">
                  <a:extLst>
                    <a:ext uri="{9D8B030D-6E8A-4147-A177-3AD203B41FA5}">
                      <a16:colId xmlns:a16="http://schemas.microsoft.com/office/drawing/2014/main" val="103420222"/>
                    </a:ext>
                  </a:extLst>
                </a:gridCol>
                <a:gridCol w="343212">
                  <a:extLst>
                    <a:ext uri="{9D8B030D-6E8A-4147-A177-3AD203B41FA5}">
                      <a16:colId xmlns:a16="http://schemas.microsoft.com/office/drawing/2014/main" val="1470405609"/>
                    </a:ext>
                  </a:extLst>
                </a:gridCol>
                <a:gridCol w="34613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GAIN_CH4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4" name="TextBox 13">
            <a:extLst>
              <a:ext uri="{FF2B5EF4-FFF2-40B4-BE49-F238E27FC236}">
                <a16:creationId xmlns:a16="http://schemas.microsoft.com/office/drawing/2014/main" id="{F9EC7763-2E94-C3FC-83AC-5F5A7A40543B}"/>
              </a:ext>
            </a:extLst>
          </p:cNvPr>
          <p:cNvSpPr txBox="1"/>
          <p:nvPr/>
        </p:nvSpPr>
        <p:spPr>
          <a:xfrm>
            <a:off x="403994" y="2949031"/>
            <a:ext cx="605859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4</a:t>
            </a:r>
          </a:p>
        </p:txBody>
      </p:sp>
      <p:graphicFrame>
        <p:nvGraphicFramePr>
          <p:cNvPr id="16" name="표 15">
            <a:extLst>
              <a:ext uri="{FF2B5EF4-FFF2-40B4-BE49-F238E27FC236}">
                <a16:creationId xmlns:a16="http://schemas.microsoft.com/office/drawing/2014/main" id="{0E8AA658-C05F-A715-34BE-6CF073C490EF}"/>
              </a:ext>
            </a:extLst>
          </p:cNvPr>
          <p:cNvGraphicFramePr>
            <a:graphicFrameLocks noGrp="1"/>
          </p:cNvGraphicFramePr>
          <p:nvPr>
            <p:extLst>
              <p:ext uri="{D42A27DB-BD31-4B8C-83A1-F6EECF244321}">
                <p14:modId xmlns:p14="http://schemas.microsoft.com/office/powerpoint/2010/main" val="3664181195"/>
              </p:ext>
            </p:extLst>
          </p:nvPr>
        </p:nvGraphicFramePr>
        <p:xfrm>
          <a:off x="395604" y="3859634"/>
          <a:ext cx="6072542"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2">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4">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GAIN_CH5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210CA4DD-3431-1DDB-03F8-638DA8A9BEEF}"/>
              </a:ext>
            </a:extLst>
          </p:cNvPr>
          <p:cNvSpPr txBox="1"/>
          <p:nvPr/>
        </p:nvSpPr>
        <p:spPr>
          <a:xfrm>
            <a:off x="399097" y="3596814"/>
            <a:ext cx="607077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5</a:t>
            </a:r>
          </a:p>
        </p:txBody>
      </p:sp>
      <p:graphicFrame>
        <p:nvGraphicFramePr>
          <p:cNvPr id="18" name="표 17">
            <a:extLst>
              <a:ext uri="{FF2B5EF4-FFF2-40B4-BE49-F238E27FC236}">
                <a16:creationId xmlns:a16="http://schemas.microsoft.com/office/drawing/2014/main" id="{30AD076E-4AE9-AADB-BB2C-ADE40F330F4F}"/>
              </a:ext>
            </a:extLst>
          </p:cNvPr>
          <p:cNvGraphicFramePr>
            <a:graphicFrameLocks noGrp="1"/>
          </p:cNvGraphicFramePr>
          <p:nvPr>
            <p:extLst>
              <p:ext uri="{D42A27DB-BD31-4B8C-83A1-F6EECF244321}">
                <p14:modId xmlns:p14="http://schemas.microsoft.com/office/powerpoint/2010/main" val="2527053205"/>
              </p:ext>
            </p:extLst>
          </p:nvPr>
        </p:nvGraphicFramePr>
        <p:xfrm>
          <a:off x="393878" y="4511628"/>
          <a:ext cx="6072542"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1">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5">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GAIN_CH6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9" name="TextBox 18">
            <a:extLst>
              <a:ext uri="{FF2B5EF4-FFF2-40B4-BE49-F238E27FC236}">
                <a16:creationId xmlns:a16="http://schemas.microsoft.com/office/drawing/2014/main" id="{09F55DE0-F7CB-E256-E99A-5C62C247A9E9}"/>
              </a:ext>
            </a:extLst>
          </p:cNvPr>
          <p:cNvSpPr txBox="1"/>
          <p:nvPr/>
        </p:nvSpPr>
        <p:spPr>
          <a:xfrm>
            <a:off x="397371" y="4248808"/>
            <a:ext cx="607077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6</a:t>
            </a:r>
          </a:p>
        </p:txBody>
      </p:sp>
      <p:graphicFrame>
        <p:nvGraphicFramePr>
          <p:cNvPr id="21" name="표 20">
            <a:extLst>
              <a:ext uri="{FF2B5EF4-FFF2-40B4-BE49-F238E27FC236}">
                <a16:creationId xmlns:a16="http://schemas.microsoft.com/office/drawing/2014/main" id="{B36B421F-9768-6D75-B531-8532577AF901}"/>
              </a:ext>
            </a:extLst>
          </p:cNvPr>
          <p:cNvGraphicFramePr>
            <a:graphicFrameLocks noGrp="1"/>
          </p:cNvGraphicFramePr>
          <p:nvPr>
            <p:extLst>
              <p:ext uri="{D42A27DB-BD31-4B8C-83A1-F6EECF244321}">
                <p14:modId xmlns:p14="http://schemas.microsoft.com/office/powerpoint/2010/main" val="2540264603"/>
              </p:ext>
            </p:extLst>
          </p:nvPr>
        </p:nvGraphicFramePr>
        <p:xfrm>
          <a:off x="391745" y="5174894"/>
          <a:ext cx="6061406"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6">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GAIN_CH7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2" name="TextBox 21">
            <a:extLst>
              <a:ext uri="{FF2B5EF4-FFF2-40B4-BE49-F238E27FC236}">
                <a16:creationId xmlns:a16="http://schemas.microsoft.com/office/drawing/2014/main" id="{1706C60E-64DC-9D8A-257D-B1DDF48B6B73}"/>
              </a:ext>
            </a:extLst>
          </p:cNvPr>
          <p:cNvSpPr txBox="1"/>
          <p:nvPr/>
        </p:nvSpPr>
        <p:spPr>
          <a:xfrm>
            <a:off x="398604" y="4906099"/>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7</a:t>
            </a:r>
          </a:p>
        </p:txBody>
      </p:sp>
      <p:graphicFrame>
        <p:nvGraphicFramePr>
          <p:cNvPr id="23" name="표 22">
            <a:extLst>
              <a:ext uri="{FF2B5EF4-FFF2-40B4-BE49-F238E27FC236}">
                <a16:creationId xmlns:a16="http://schemas.microsoft.com/office/drawing/2014/main" id="{110CD29E-67FC-4CD7-9E0C-EBC3519EFC67}"/>
              </a:ext>
            </a:extLst>
          </p:cNvPr>
          <p:cNvGraphicFramePr>
            <a:graphicFrameLocks noGrp="1"/>
          </p:cNvGraphicFramePr>
          <p:nvPr>
            <p:extLst>
              <p:ext uri="{D42A27DB-BD31-4B8C-83A1-F6EECF244321}">
                <p14:modId xmlns:p14="http://schemas.microsoft.com/office/powerpoint/2010/main" val="2764751260"/>
              </p:ext>
            </p:extLst>
          </p:nvPr>
        </p:nvGraphicFramePr>
        <p:xfrm>
          <a:off x="391745" y="5816130"/>
          <a:ext cx="6061406"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6">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GAIN_CH8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5" name="TextBox 24">
            <a:extLst>
              <a:ext uri="{FF2B5EF4-FFF2-40B4-BE49-F238E27FC236}">
                <a16:creationId xmlns:a16="http://schemas.microsoft.com/office/drawing/2014/main" id="{3787AB3A-52BB-3522-1C1A-563AD74E977D}"/>
              </a:ext>
            </a:extLst>
          </p:cNvPr>
          <p:cNvSpPr txBox="1"/>
          <p:nvPr/>
        </p:nvSpPr>
        <p:spPr>
          <a:xfrm>
            <a:off x="396471" y="5555626"/>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8</a:t>
            </a:r>
          </a:p>
        </p:txBody>
      </p:sp>
      <p:graphicFrame>
        <p:nvGraphicFramePr>
          <p:cNvPr id="27" name="표 26">
            <a:extLst>
              <a:ext uri="{FF2B5EF4-FFF2-40B4-BE49-F238E27FC236}">
                <a16:creationId xmlns:a16="http://schemas.microsoft.com/office/drawing/2014/main" id="{38E432A7-0EB9-05B8-EE90-FDC0756921D3}"/>
              </a:ext>
            </a:extLst>
          </p:cNvPr>
          <p:cNvGraphicFramePr>
            <a:graphicFrameLocks noGrp="1"/>
          </p:cNvGraphicFramePr>
          <p:nvPr>
            <p:extLst>
              <p:ext uri="{D42A27DB-BD31-4B8C-83A1-F6EECF244321}">
                <p14:modId xmlns:p14="http://schemas.microsoft.com/office/powerpoint/2010/main" val="1648976384"/>
              </p:ext>
            </p:extLst>
          </p:nvPr>
        </p:nvGraphicFramePr>
        <p:xfrm>
          <a:off x="383939" y="6473240"/>
          <a:ext cx="6061406"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6">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GAIN_CH9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4" name="TextBox 43">
            <a:extLst>
              <a:ext uri="{FF2B5EF4-FFF2-40B4-BE49-F238E27FC236}">
                <a16:creationId xmlns:a16="http://schemas.microsoft.com/office/drawing/2014/main" id="{D5CEFA4E-6DDD-1D0E-8482-1F37C0269CCF}"/>
              </a:ext>
            </a:extLst>
          </p:cNvPr>
          <p:cNvSpPr txBox="1"/>
          <p:nvPr/>
        </p:nvSpPr>
        <p:spPr>
          <a:xfrm>
            <a:off x="388665" y="6208518"/>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9</a:t>
            </a:r>
          </a:p>
        </p:txBody>
      </p:sp>
      <p:graphicFrame>
        <p:nvGraphicFramePr>
          <p:cNvPr id="45" name="표 44">
            <a:extLst>
              <a:ext uri="{FF2B5EF4-FFF2-40B4-BE49-F238E27FC236}">
                <a16:creationId xmlns:a16="http://schemas.microsoft.com/office/drawing/2014/main" id="{D57D69EE-C61A-AAB0-3BC1-FAF8EC7A10AF}"/>
              </a:ext>
            </a:extLst>
          </p:cNvPr>
          <p:cNvGraphicFramePr>
            <a:graphicFrameLocks noGrp="1"/>
          </p:cNvGraphicFramePr>
          <p:nvPr>
            <p:extLst>
              <p:ext uri="{D42A27DB-BD31-4B8C-83A1-F6EECF244321}">
                <p14:modId xmlns:p14="http://schemas.microsoft.com/office/powerpoint/2010/main" val="1810221484"/>
              </p:ext>
            </p:extLst>
          </p:nvPr>
        </p:nvGraphicFramePr>
        <p:xfrm>
          <a:off x="391745" y="7127782"/>
          <a:ext cx="6061406"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6">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GAIN_CH10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6" name="TextBox 45">
            <a:extLst>
              <a:ext uri="{FF2B5EF4-FFF2-40B4-BE49-F238E27FC236}">
                <a16:creationId xmlns:a16="http://schemas.microsoft.com/office/drawing/2014/main" id="{4BC35642-8AFA-9669-F8DE-0DA3D5B82435}"/>
              </a:ext>
            </a:extLst>
          </p:cNvPr>
          <p:cNvSpPr txBox="1"/>
          <p:nvPr/>
        </p:nvSpPr>
        <p:spPr>
          <a:xfrm>
            <a:off x="396471" y="686396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10</a:t>
            </a:r>
          </a:p>
        </p:txBody>
      </p:sp>
      <p:graphicFrame>
        <p:nvGraphicFramePr>
          <p:cNvPr id="47" name="표 46">
            <a:extLst>
              <a:ext uri="{FF2B5EF4-FFF2-40B4-BE49-F238E27FC236}">
                <a16:creationId xmlns:a16="http://schemas.microsoft.com/office/drawing/2014/main" id="{835B340E-31E2-8292-2145-63B22084B0FB}"/>
              </a:ext>
            </a:extLst>
          </p:cNvPr>
          <p:cNvGraphicFramePr>
            <a:graphicFrameLocks noGrp="1"/>
          </p:cNvGraphicFramePr>
          <p:nvPr>
            <p:extLst>
              <p:ext uri="{D42A27DB-BD31-4B8C-83A1-F6EECF244321}">
                <p14:modId xmlns:p14="http://schemas.microsoft.com/office/powerpoint/2010/main" val="3815572682"/>
              </p:ext>
            </p:extLst>
          </p:nvPr>
        </p:nvGraphicFramePr>
        <p:xfrm>
          <a:off x="404813" y="1259733"/>
          <a:ext cx="6057360" cy="372600"/>
        </p:xfrm>
        <a:graphic>
          <a:graphicData uri="http://schemas.openxmlformats.org/drawingml/2006/table">
            <a:tbl>
              <a:tblPr firstRow="1" bandRow="1">
                <a:tableStyleId>{5C22544A-7EE6-4342-B048-85BDC9FD1C3A}</a:tableStyleId>
              </a:tblPr>
              <a:tblGrid>
                <a:gridCol w="329198">
                  <a:extLst>
                    <a:ext uri="{9D8B030D-6E8A-4147-A177-3AD203B41FA5}">
                      <a16:colId xmlns:a16="http://schemas.microsoft.com/office/drawing/2014/main" val="657570846"/>
                    </a:ext>
                  </a:extLst>
                </a:gridCol>
                <a:gridCol w="404069">
                  <a:extLst>
                    <a:ext uri="{9D8B030D-6E8A-4147-A177-3AD203B41FA5}">
                      <a16:colId xmlns:a16="http://schemas.microsoft.com/office/drawing/2014/main" val="3259894497"/>
                    </a:ext>
                  </a:extLst>
                </a:gridCol>
                <a:gridCol w="460980">
                  <a:extLst>
                    <a:ext uri="{9D8B030D-6E8A-4147-A177-3AD203B41FA5}">
                      <a16:colId xmlns:a16="http://schemas.microsoft.com/office/drawing/2014/main" val="4170535043"/>
                    </a:ext>
                  </a:extLst>
                </a:gridCol>
                <a:gridCol w="415451">
                  <a:extLst>
                    <a:ext uri="{9D8B030D-6E8A-4147-A177-3AD203B41FA5}">
                      <a16:colId xmlns:a16="http://schemas.microsoft.com/office/drawing/2014/main" val="2079070694"/>
                    </a:ext>
                  </a:extLst>
                </a:gridCol>
                <a:gridCol w="421142">
                  <a:extLst>
                    <a:ext uri="{9D8B030D-6E8A-4147-A177-3AD203B41FA5}">
                      <a16:colId xmlns:a16="http://schemas.microsoft.com/office/drawing/2014/main" val="4213315911"/>
                    </a:ext>
                  </a:extLst>
                </a:gridCol>
                <a:gridCol w="415451">
                  <a:extLst>
                    <a:ext uri="{9D8B030D-6E8A-4147-A177-3AD203B41FA5}">
                      <a16:colId xmlns:a16="http://schemas.microsoft.com/office/drawing/2014/main" val="2769999950"/>
                    </a:ext>
                  </a:extLst>
                </a:gridCol>
                <a:gridCol w="421142">
                  <a:extLst>
                    <a:ext uri="{9D8B030D-6E8A-4147-A177-3AD203B41FA5}">
                      <a16:colId xmlns:a16="http://schemas.microsoft.com/office/drawing/2014/main" val="135637185"/>
                    </a:ext>
                  </a:extLst>
                </a:gridCol>
                <a:gridCol w="415451">
                  <a:extLst>
                    <a:ext uri="{9D8B030D-6E8A-4147-A177-3AD203B41FA5}">
                      <a16:colId xmlns:a16="http://schemas.microsoft.com/office/drawing/2014/main" val="3038050475"/>
                    </a:ext>
                  </a:extLst>
                </a:gridCol>
                <a:gridCol w="390782">
                  <a:extLst>
                    <a:ext uri="{9D8B030D-6E8A-4147-A177-3AD203B41FA5}">
                      <a16:colId xmlns:a16="http://schemas.microsoft.com/office/drawing/2014/main" val="1979433044"/>
                    </a:ext>
                  </a:extLst>
                </a:gridCol>
                <a:gridCol w="423772">
                  <a:extLst>
                    <a:ext uri="{9D8B030D-6E8A-4147-A177-3AD203B41FA5}">
                      <a16:colId xmlns:a16="http://schemas.microsoft.com/office/drawing/2014/main" val="4270661649"/>
                    </a:ext>
                  </a:extLst>
                </a:gridCol>
                <a:gridCol w="423772">
                  <a:extLst>
                    <a:ext uri="{9D8B030D-6E8A-4147-A177-3AD203B41FA5}">
                      <a16:colId xmlns:a16="http://schemas.microsoft.com/office/drawing/2014/main" val="3027041370"/>
                    </a:ext>
                  </a:extLst>
                </a:gridCol>
                <a:gridCol w="423773">
                  <a:extLst>
                    <a:ext uri="{9D8B030D-6E8A-4147-A177-3AD203B41FA5}">
                      <a16:colId xmlns:a16="http://schemas.microsoft.com/office/drawing/2014/main" val="2852526216"/>
                    </a:ext>
                  </a:extLst>
                </a:gridCol>
                <a:gridCol w="423772">
                  <a:extLst>
                    <a:ext uri="{9D8B030D-6E8A-4147-A177-3AD203B41FA5}">
                      <a16:colId xmlns:a16="http://schemas.microsoft.com/office/drawing/2014/main" val="103420222"/>
                    </a:ext>
                  </a:extLst>
                </a:gridCol>
                <a:gridCol w="342841">
                  <a:extLst>
                    <a:ext uri="{9D8B030D-6E8A-4147-A177-3AD203B41FA5}">
                      <a16:colId xmlns:a16="http://schemas.microsoft.com/office/drawing/2014/main" val="1470405609"/>
                    </a:ext>
                  </a:extLst>
                </a:gridCol>
                <a:gridCol w="3457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48" name="표 47">
            <a:extLst>
              <a:ext uri="{FF2B5EF4-FFF2-40B4-BE49-F238E27FC236}">
                <a16:creationId xmlns:a16="http://schemas.microsoft.com/office/drawing/2014/main" id="{454E45DE-DB3D-D563-836B-1E1A8324BB0A}"/>
              </a:ext>
            </a:extLst>
          </p:cNvPr>
          <p:cNvGraphicFramePr>
            <a:graphicFrameLocks noGrp="1"/>
          </p:cNvGraphicFramePr>
          <p:nvPr>
            <p:extLst>
              <p:ext uri="{D42A27DB-BD31-4B8C-83A1-F6EECF244321}">
                <p14:modId xmlns:p14="http://schemas.microsoft.com/office/powerpoint/2010/main" val="266277986"/>
              </p:ext>
            </p:extLst>
          </p:nvPr>
        </p:nvGraphicFramePr>
        <p:xfrm>
          <a:off x="383939" y="8429736"/>
          <a:ext cx="6067486"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1">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GAIN_CH12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9" name="TextBox 48">
            <a:extLst>
              <a:ext uri="{FF2B5EF4-FFF2-40B4-BE49-F238E27FC236}">
                <a16:creationId xmlns:a16="http://schemas.microsoft.com/office/drawing/2014/main" id="{CBEB84D1-6AF1-C05F-FA59-507EE42B6CCE}"/>
              </a:ext>
            </a:extLst>
          </p:cNvPr>
          <p:cNvSpPr txBox="1"/>
          <p:nvPr/>
        </p:nvSpPr>
        <p:spPr>
          <a:xfrm>
            <a:off x="388665" y="8168327"/>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12</a:t>
            </a:r>
          </a:p>
        </p:txBody>
      </p:sp>
      <p:graphicFrame>
        <p:nvGraphicFramePr>
          <p:cNvPr id="50" name="표 49">
            <a:extLst>
              <a:ext uri="{FF2B5EF4-FFF2-40B4-BE49-F238E27FC236}">
                <a16:creationId xmlns:a16="http://schemas.microsoft.com/office/drawing/2014/main" id="{42AA51D4-D61F-31AA-88B7-C49BA55BBA52}"/>
              </a:ext>
            </a:extLst>
          </p:cNvPr>
          <p:cNvGraphicFramePr>
            <a:graphicFrameLocks noGrp="1"/>
          </p:cNvGraphicFramePr>
          <p:nvPr>
            <p:extLst>
              <p:ext uri="{D42A27DB-BD31-4B8C-83A1-F6EECF244321}">
                <p14:modId xmlns:p14="http://schemas.microsoft.com/office/powerpoint/2010/main" val="2382754974"/>
              </p:ext>
            </p:extLst>
          </p:nvPr>
        </p:nvGraphicFramePr>
        <p:xfrm>
          <a:off x="387798" y="7778972"/>
          <a:ext cx="6067486"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1">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GAIN_CH11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1" name="TextBox 50">
            <a:extLst>
              <a:ext uri="{FF2B5EF4-FFF2-40B4-BE49-F238E27FC236}">
                <a16:creationId xmlns:a16="http://schemas.microsoft.com/office/drawing/2014/main" id="{3A3A36FA-4428-8318-9A4C-228EC0E18990}"/>
              </a:ext>
            </a:extLst>
          </p:cNvPr>
          <p:cNvSpPr txBox="1"/>
          <p:nvPr/>
        </p:nvSpPr>
        <p:spPr>
          <a:xfrm>
            <a:off x="392524" y="751515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11</a:t>
            </a:r>
          </a:p>
        </p:txBody>
      </p:sp>
    </p:spTree>
    <p:extLst>
      <p:ext uri="{BB962C8B-B14F-4D97-AF65-F5344CB8AC3E}">
        <p14:creationId xmlns:p14="http://schemas.microsoft.com/office/powerpoint/2010/main" val="32049329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04813" y="77486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Soldering Temperature Reflow Profile</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2" name="object 9">
            <a:extLst>
              <a:ext uri="{FF2B5EF4-FFF2-40B4-BE49-F238E27FC236}">
                <a16:creationId xmlns:a16="http://schemas.microsoft.com/office/drawing/2014/main" id="{D6154BFE-7514-F37B-CF49-47138627C315}"/>
              </a:ext>
            </a:extLst>
          </p:cNvPr>
          <p:cNvSpPr txBox="1"/>
          <p:nvPr/>
        </p:nvSpPr>
        <p:spPr>
          <a:xfrm>
            <a:off x="413545" y="8470612"/>
            <a:ext cx="6039889" cy="335989"/>
          </a:xfrm>
          <a:prstGeom prst="rect">
            <a:avLst/>
          </a:prstGeom>
        </p:spPr>
        <p:txBody>
          <a:bodyPr vert="horz" wrap="square" lIns="0" tIns="50800" rIns="0" bIns="0" rtlCol="0">
            <a:spAutoFit/>
          </a:bodyPr>
          <a:lstStyle/>
          <a:p>
            <a:pPr marL="12700" defTabSz="839876" fontAlgn="auto">
              <a:spcBef>
                <a:spcPts val="400"/>
              </a:spcBef>
              <a:spcAft>
                <a:spcPts val="0"/>
              </a:spcAft>
            </a:pPr>
            <a:r>
              <a:rPr kumimoji="0" sz="800" b="1" spc="-5" dirty="0">
                <a:solidFill>
                  <a:prstClr val="black"/>
                </a:solidFill>
                <a:latin typeface="Arial" panose="020B0604020202020204" pitchFamily="34" charset="0"/>
                <a:ea typeface="+mn-ea"/>
                <a:cs typeface="Arial" panose="020B0604020202020204" pitchFamily="34" charset="0"/>
              </a:rPr>
              <a:t>Important</a:t>
            </a:r>
            <a:r>
              <a:rPr kumimoji="0" sz="800" b="1" spc="-15" dirty="0">
                <a:solidFill>
                  <a:prstClr val="black"/>
                </a:solidFill>
                <a:latin typeface="Arial" panose="020B0604020202020204" pitchFamily="34" charset="0"/>
                <a:ea typeface="+mn-ea"/>
                <a:cs typeface="Arial" panose="020B0604020202020204" pitchFamily="34" charset="0"/>
              </a:rPr>
              <a:t> </a:t>
            </a:r>
            <a:r>
              <a:rPr kumimoji="0" sz="800" b="1" spc="-5" dirty="0">
                <a:solidFill>
                  <a:prstClr val="black"/>
                </a:solidFill>
                <a:latin typeface="Arial" panose="020B0604020202020204" pitchFamily="34" charset="0"/>
                <a:ea typeface="+mn-ea"/>
                <a:cs typeface="Arial" panose="020B0604020202020204" pitchFamily="34" charset="0"/>
              </a:rPr>
              <a:t>statement</a:t>
            </a:r>
            <a:endParaRPr kumimoji="0" sz="800" dirty="0">
              <a:solidFill>
                <a:prstClr val="black"/>
              </a:solidFill>
              <a:latin typeface="Arial" panose="020B0604020202020204" pitchFamily="34" charset="0"/>
              <a:ea typeface="+mn-ea"/>
              <a:cs typeface="Arial" panose="020B0604020202020204" pitchFamily="34" charset="0"/>
            </a:endParaRPr>
          </a:p>
          <a:p>
            <a:pPr marL="12700" defTabSz="839876" fontAlgn="auto">
              <a:spcBef>
                <a:spcPts val="305"/>
              </a:spcBef>
              <a:spcAft>
                <a:spcPts val="0"/>
              </a:spcAft>
            </a:pPr>
            <a:r>
              <a:rPr kumimoji="0" lang="en-US" sz="800" spc="-5" dirty="0">
                <a:solidFill>
                  <a:prstClr val="black"/>
                </a:solidFill>
                <a:latin typeface="Arial" panose="020B0604020202020204" pitchFamily="34" charset="0"/>
                <a:ea typeface="+mn-ea"/>
                <a:cs typeface="Arial" panose="020B0604020202020204" pitchFamily="34" charset="0"/>
              </a:rPr>
              <a:t>Global Technologies </a:t>
            </a:r>
            <a:r>
              <a:rPr kumimoji="0" sz="800" spc="-15" dirty="0">
                <a:solidFill>
                  <a:prstClr val="black"/>
                </a:solidFill>
                <a:latin typeface="Arial" panose="020B0604020202020204" pitchFamily="34" charset="0"/>
                <a:ea typeface="+mn-ea"/>
                <a:cs typeface="Arial" panose="020B0604020202020204" pitchFamily="34" charset="0"/>
              </a:rPr>
              <a:t> </a:t>
            </a:r>
            <a:r>
              <a:rPr kumimoji="0" sz="800" dirty="0">
                <a:solidFill>
                  <a:prstClr val="black"/>
                </a:solidFill>
                <a:latin typeface="Arial" panose="020B0604020202020204" pitchFamily="34" charset="0"/>
                <a:ea typeface="+mn-ea"/>
                <a:cs typeface="Arial" panose="020B0604020202020204" pitchFamily="34" charset="0"/>
              </a:rPr>
              <a:t>reserves</a:t>
            </a:r>
            <a:r>
              <a:rPr kumimoji="0" sz="800" spc="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the</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right</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to</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change</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the</a:t>
            </a:r>
            <a:r>
              <a:rPr kumimoji="0" sz="800" spc="1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above-mentioned</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information</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without</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prior</a:t>
            </a:r>
            <a:r>
              <a:rPr kumimoji="0" sz="800" spc="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notice.</a:t>
            </a:r>
            <a:endParaRPr kumimoji="0" sz="800" dirty="0">
              <a:solidFill>
                <a:prstClr val="black"/>
              </a:solidFill>
              <a:latin typeface="Arial" panose="020B0604020202020204" pitchFamily="34" charset="0"/>
              <a:ea typeface="+mn-ea"/>
              <a:cs typeface="Arial" panose="020B0604020202020204" pitchFamily="34" charset="0"/>
            </a:endParaRPr>
          </a:p>
        </p:txBody>
      </p:sp>
      <p:sp>
        <p:nvSpPr>
          <p:cNvPr id="4" name="object 84">
            <a:extLst>
              <a:ext uri="{FF2B5EF4-FFF2-40B4-BE49-F238E27FC236}">
                <a16:creationId xmlns:a16="http://schemas.microsoft.com/office/drawing/2014/main" id="{4840524A-B3EF-ABB9-6510-7CC402EFF71E}"/>
              </a:ext>
            </a:extLst>
          </p:cNvPr>
          <p:cNvSpPr txBox="1"/>
          <p:nvPr/>
        </p:nvSpPr>
        <p:spPr>
          <a:xfrm>
            <a:off x="2298356" y="4784057"/>
            <a:ext cx="2308324" cy="138499"/>
          </a:xfrm>
          <a:prstGeom prst="rect">
            <a:avLst/>
          </a:prstGeom>
        </p:spPr>
        <p:txBody>
          <a:bodyPr vert="horz" wrap="none" lIns="0" tIns="0" rIns="0" bIns="0" rtlCol="0" anchor="ctr" anchorCtr="0">
            <a:spAutoFit/>
          </a:bodyPr>
          <a:lstStyle/>
          <a:p>
            <a:pPr marL="12700" defTabSz="839876" fontAlgn="auto">
              <a:spcBef>
                <a:spcPts val="120"/>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12.  Reflow Soldering information</a:t>
            </a:r>
          </a:p>
        </p:txBody>
      </p:sp>
      <p:graphicFrame>
        <p:nvGraphicFramePr>
          <p:cNvPr id="5" name="object 8">
            <a:extLst>
              <a:ext uri="{FF2B5EF4-FFF2-40B4-BE49-F238E27FC236}">
                <a16:creationId xmlns:a16="http://schemas.microsoft.com/office/drawing/2014/main" id="{2D0CDE7B-4464-6845-2220-F4DF8F4E17D7}"/>
              </a:ext>
            </a:extLst>
          </p:cNvPr>
          <p:cNvGraphicFramePr>
            <a:graphicFrameLocks noGrp="1"/>
          </p:cNvGraphicFramePr>
          <p:nvPr>
            <p:extLst>
              <p:ext uri="{D42A27DB-BD31-4B8C-83A1-F6EECF244321}">
                <p14:modId xmlns:p14="http://schemas.microsoft.com/office/powerpoint/2010/main" val="1165019878"/>
              </p:ext>
            </p:extLst>
          </p:nvPr>
        </p:nvGraphicFramePr>
        <p:xfrm>
          <a:off x="887435" y="5002608"/>
          <a:ext cx="5130165" cy="1692571"/>
        </p:xfrm>
        <a:graphic>
          <a:graphicData uri="http://schemas.openxmlformats.org/drawingml/2006/table">
            <a:tbl>
              <a:tblPr firstRow="1" bandRow="1"/>
              <a:tblGrid>
                <a:gridCol w="2615490">
                  <a:extLst>
                    <a:ext uri="{9D8B030D-6E8A-4147-A177-3AD203B41FA5}">
                      <a16:colId xmlns:a16="http://schemas.microsoft.com/office/drawing/2014/main" val="20000"/>
                    </a:ext>
                  </a:extLst>
                </a:gridCol>
                <a:gridCol w="2514675">
                  <a:extLst>
                    <a:ext uri="{9D8B030D-6E8A-4147-A177-3AD203B41FA5}">
                      <a16:colId xmlns:a16="http://schemas.microsoft.com/office/drawing/2014/main" val="20001"/>
                    </a:ext>
                  </a:extLst>
                </a:gridCol>
              </a:tblGrid>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241935" algn="ctr">
                        <a:lnSpc>
                          <a:spcPct val="100000"/>
                        </a:lnSpc>
                        <a:spcBef>
                          <a:spcPts val="310"/>
                        </a:spcBef>
                      </a:pPr>
                      <a:r>
                        <a:rPr sz="900" b="1" dirty="0">
                          <a:solidFill>
                            <a:schemeClr val="tx1"/>
                          </a:solidFill>
                          <a:latin typeface="Arial"/>
                          <a:ea typeface="+mn-ea"/>
                          <a:cs typeface="Arial"/>
                        </a:rPr>
                        <a:t>Parameter</a:t>
                      </a: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lumMod val="95000"/>
                          <a:lumOff val="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241935" algn="ctr">
                        <a:lnSpc>
                          <a:spcPct val="100000"/>
                        </a:lnSpc>
                        <a:spcBef>
                          <a:spcPts val="310"/>
                        </a:spcBef>
                      </a:pPr>
                      <a:r>
                        <a:rPr lang="en-US" sz="900" b="1" dirty="0">
                          <a:solidFill>
                            <a:schemeClr val="tx1"/>
                          </a:solidFill>
                          <a:latin typeface="Arial"/>
                          <a:ea typeface="+mn-ea"/>
                          <a:cs typeface="Arial"/>
                        </a:rPr>
                        <a:t>Pb</a:t>
                      </a:r>
                      <a:r>
                        <a:rPr sz="900" b="1" dirty="0">
                          <a:solidFill>
                            <a:schemeClr val="tx1"/>
                          </a:solidFill>
                          <a:latin typeface="Arial"/>
                          <a:ea typeface="+mn-ea"/>
                          <a:cs typeface="Arial"/>
                        </a:rPr>
                        <a:t>-free soldering conditions</a:t>
                      </a:r>
                    </a:p>
                  </a:txBody>
                  <a:tcPr marL="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lumMod val="95000"/>
                          <a:lumOff val="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0"/>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5"/>
                        </a:spcBef>
                      </a:pPr>
                      <a:r>
                        <a:rPr sz="800" spc="-15" dirty="0">
                          <a:latin typeface="Arial" panose="020B0604020202020204" pitchFamily="34" charset="0"/>
                          <a:cs typeface="Arial" panose="020B0604020202020204" pitchFamily="34" charset="0"/>
                        </a:rPr>
                        <a:t>Average</a:t>
                      </a:r>
                      <a:r>
                        <a:rPr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ramp-up</a:t>
                      </a:r>
                      <a:r>
                        <a:rPr sz="80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rate</a:t>
                      </a:r>
                      <a:r>
                        <a:rPr lang="en-US" sz="800" spc="-1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(217</a:t>
                      </a:r>
                      <a:r>
                        <a:rPr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lang="en-US" sz="800" spc="-5" dirty="0">
                          <a:latin typeface="Arial" panose="020B0604020202020204" pitchFamily="34" charset="0"/>
                          <a:cs typeface="Arial" panose="020B0604020202020204" pitchFamily="34" charset="0"/>
                        </a:rPr>
                        <a:t> </a:t>
                      </a:r>
                      <a:r>
                        <a:rPr sz="800" spc="-26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to</a:t>
                      </a:r>
                      <a:r>
                        <a:rPr sz="80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Peak)</a:t>
                      </a:r>
                      <a:endParaRPr sz="800" dirty="0">
                        <a:latin typeface="Arial" panose="020B0604020202020204" pitchFamily="34" charset="0"/>
                        <a:cs typeface="Arial" panose="020B0604020202020204" pitchFamily="34" charset="0"/>
                      </a:endParaRPr>
                    </a:p>
                  </a:txBody>
                  <a:tcPr marL="0" marR="0" marT="4445"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5"/>
                        </a:spcBef>
                      </a:pPr>
                      <a:r>
                        <a:rPr sz="800" spc="-10" dirty="0">
                          <a:latin typeface="Arial" panose="020B0604020202020204" pitchFamily="34" charset="0"/>
                          <a:cs typeface="Arial" panose="020B0604020202020204" pitchFamily="34" charset="0"/>
                        </a:rPr>
                        <a:t>3℃/second</a:t>
                      </a:r>
                      <a:r>
                        <a:rPr sz="800" spc="-2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max</a:t>
                      </a:r>
                      <a:r>
                        <a:rPr lang="en-US" sz="800" spc="-1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72000" marR="0" marT="4445"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13092">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i</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of</a:t>
                      </a:r>
                      <a:r>
                        <a:rPr sz="800" spc="-10"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P</a:t>
                      </a:r>
                      <a:r>
                        <a:rPr sz="800" spc="-15" dirty="0">
                          <a:latin typeface="Arial" panose="020B0604020202020204" pitchFamily="34" charset="0"/>
                          <a:cs typeface="Arial" panose="020B0604020202020204" pitchFamily="34" charset="0"/>
                        </a:rPr>
                        <a:t>r</a:t>
                      </a:r>
                      <a:r>
                        <a:rPr sz="800" spc="-5" dirty="0">
                          <a:latin typeface="Arial" panose="020B0604020202020204" pitchFamily="34" charset="0"/>
                          <a:cs typeface="Arial" panose="020B0604020202020204" pitchFamily="34" charset="0"/>
                        </a:rPr>
                        <a:t>e</a:t>
                      </a:r>
                      <a:r>
                        <a:rPr sz="800" spc="15" dirty="0">
                          <a:latin typeface="Arial" panose="020B0604020202020204" pitchFamily="34" charset="0"/>
                          <a:cs typeface="Arial" panose="020B0604020202020204" pitchFamily="34" charset="0"/>
                        </a:rPr>
                        <a:t>h</a:t>
                      </a:r>
                      <a:r>
                        <a:rPr sz="800" spc="-5" dirty="0">
                          <a:latin typeface="Arial" panose="020B0604020202020204" pitchFamily="34" charset="0"/>
                          <a:cs typeface="Arial" panose="020B0604020202020204" pitchFamily="34" charset="0"/>
                        </a:rPr>
                        <a:t>e</a:t>
                      </a:r>
                      <a:r>
                        <a:rPr sz="800" spc="-10" dirty="0">
                          <a:latin typeface="Arial" panose="020B0604020202020204" pitchFamily="34" charset="0"/>
                          <a:cs typeface="Arial" panose="020B0604020202020204" pitchFamily="34" charset="0"/>
                        </a:rPr>
                        <a:t>a</a:t>
                      </a:r>
                      <a:r>
                        <a:rPr sz="800" dirty="0">
                          <a:latin typeface="Arial" panose="020B0604020202020204" pitchFamily="34" charset="0"/>
                          <a:cs typeface="Arial" panose="020B0604020202020204" pitchFamily="34" charset="0"/>
                        </a:rPr>
                        <a:t>t </a:t>
                      </a:r>
                      <a:r>
                        <a:rPr sz="800" spc="-10" dirty="0">
                          <a:latin typeface="Arial" panose="020B0604020202020204" pitchFamily="34" charset="0"/>
                          <a:cs typeface="Arial" panose="020B0604020202020204" pitchFamily="34" charset="0"/>
                        </a:rPr>
                        <a:t>t</a:t>
                      </a:r>
                      <a:r>
                        <a:rPr sz="800" spc="5"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p</a:t>
                      </a:r>
                      <a:r>
                        <a:rPr lang="en-US" sz="80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sz="800" spc="-10" dirty="0">
                          <a:latin typeface="Arial" panose="020B0604020202020204" pitchFamily="34" charset="0"/>
                          <a:cs typeface="Arial" panose="020B0604020202020204" pitchFamily="34" charset="0"/>
                        </a:rPr>
                        <a:t>f</a:t>
                      </a:r>
                      <a:r>
                        <a:rPr sz="800" spc="-15" dirty="0">
                          <a:latin typeface="Arial" panose="020B0604020202020204" pitchFamily="34" charset="0"/>
                          <a:cs typeface="Arial" panose="020B0604020202020204" pitchFamily="34" charset="0"/>
                        </a:rPr>
                        <a:t>r</a:t>
                      </a:r>
                      <a:r>
                        <a:rPr sz="800" dirty="0">
                          <a:latin typeface="Arial" panose="020B0604020202020204" pitchFamily="34" charset="0"/>
                          <a:cs typeface="Arial" panose="020B0604020202020204" pitchFamily="34" charset="0"/>
                        </a:rPr>
                        <a:t>om</a:t>
                      </a:r>
                      <a:r>
                        <a:rPr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1</a:t>
                      </a:r>
                      <a:r>
                        <a:rPr sz="800" dirty="0">
                          <a:latin typeface="Arial" panose="020B0604020202020204" pitchFamily="34" charset="0"/>
                          <a:cs typeface="Arial" panose="020B0604020202020204" pitchFamily="34" charset="0"/>
                        </a:rPr>
                        <a:t>50</a:t>
                      </a:r>
                      <a:r>
                        <a:rPr sz="800" spc="10"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 </a:t>
                      </a:r>
                      <a:r>
                        <a:rPr sz="800" spc="-275" dirty="0">
                          <a:latin typeface="Arial" panose="020B0604020202020204" pitchFamily="34" charset="0"/>
                          <a:cs typeface="Arial" panose="020B0604020202020204" pitchFamily="34" charset="0"/>
                        </a:rPr>
                        <a:t> </a:t>
                      </a:r>
                      <a:r>
                        <a:rPr lang="en-US" sz="800" spc="-27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o 200</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70"/>
                        </a:lnSpc>
                      </a:pPr>
                      <a:r>
                        <a:rPr sz="800" spc="-5" dirty="0">
                          <a:latin typeface="Arial" panose="020B0604020202020204" pitchFamily="34" charset="0"/>
                          <a:cs typeface="Arial" panose="020B0604020202020204" pitchFamily="34" charset="0"/>
                        </a:rPr>
                        <a:t>60</a:t>
                      </a:r>
                      <a:r>
                        <a:rPr lang="en-US" sz="800" spc="-5" dirty="0">
                          <a:latin typeface="Arial" panose="020B0604020202020204" pitchFamily="34" charset="0"/>
                          <a:cs typeface="Arial" panose="020B0604020202020204" pitchFamily="34" charset="0"/>
                        </a:rPr>
                        <a:t> ~ </a:t>
                      </a:r>
                      <a:r>
                        <a:rPr sz="800" spc="-5" dirty="0">
                          <a:latin typeface="Arial" panose="020B0604020202020204" pitchFamily="34" charset="0"/>
                          <a:cs typeface="Arial" panose="020B0604020202020204" pitchFamily="34" charset="0"/>
                        </a:rPr>
                        <a:t>120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14173">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Time</a:t>
                      </a:r>
                      <a:r>
                        <a:rPr sz="800" spc="-1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to</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be</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maintained</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above</a:t>
                      </a:r>
                      <a:r>
                        <a:rPr lang="en-US"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217</a:t>
                      </a:r>
                      <a:r>
                        <a:rPr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60</a:t>
                      </a:r>
                      <a:r>
                        <a:rPr lang="en-US" sz="800" spc="-5" dirty="0">
                          <a:latin typeface="Arial" panose="020B0604020202020204" pitchFamily="34" charset="0"/>
                          <a:cs typeface="Arial" panose="020B0604020202020204" pitchFamily="34" charset="0"/>
                        </a:rPr>
                        <a:t> ~ </a:t>
                      </a:r>
                      <a:r>
                        <a:rPr sz="800" spc="-5" dirty="0">
                          <a:latin typeface="Arial" panose="020B0604020202020204" pitchFamily="34" charset="0"/>
                          <a:cs typeface="Arial" panose="020B0604020202020204" pitchFamily="34" charset="0"/>
                        </a:rPr>
                        <a:t>150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10" dirty="0">
                          <a:latin typeface="Arial" panose="020B0604020202020204" pitchFamily="34" charset="0"/>
                          <a:cs typeface="Arial" panose="020B0604020202020204" pitchFamily="34" charset="0"/>
                        </a:rPr>
                        <a:t>Peak</a:t>
                      </a:r>
                      <a:r>
                        <a:rPr sz="800" spc="-3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temperature</a:t>
                      </a:r>
                      <a:endParaRPr sz="800" dirty="0">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lang="en-US" sz="800" spc="-5" dirty="0">
                          <a:latin typeface="Arial" panose="020B0604020202020204" pitchFamily="34" charset="0"/>
                          <a:cs typeface="Arial" panose="020B0604020202020204" pitchFamily="34" charset="0"/>
                        </a:rPr>
                        <a:t> </a:t>
                      </a:r>
                      <a:r>
                        <a:rPr lang="en-US" sz="800" kern="1200" spc="-5" dirty="0">
                          <a:solidFill>
                            <a:schemeClr val="tx1"/>
                          </a:solidFill>
                          <a:latin typeface="Arial" panose="020B0604020202020204" pitchFamily="34" charset="0"/>
                          <a:ea typeface="+mn-ea"/>
                          <a:cs typeface="Arial" panose="020B0604020202020204" pitchFamily="34" charset="0"/>
                        </a:rPr>
                        <a:t>260 </a:t>
                      </a:r>
                      <a:r>
                        <a:rPr lang="ko-KR" altLang="en-US" sz="800" kern="1200" spc="-5" dirty="0">
                          <a:solidFill>
                            <a:schemeClr val="tx1"/>
                          </a:solidFill>
                          <a:latin typeface="Arial" panose="020B0604020202020204" pitchFamily="34" charset="0"/>
                          <a:ea typeface="+mn-ea"/>
                          <a:cs typeface="Arial" panose="020B0604020202020204" pitchFamily="34" charset="0"/>
                        </a:rPr>
                        <a:t>℃</a:t>
                      </a:r>
                      <a:endParaRPr sz="800" kern="1200" spc="-5" dirty="0">
                        <a:solidFill>
                          <a:schemeClr val="tx1"/>
                        </a:solidFill>
                        <a:latin typeface="Arial" panose="020B0604020202020204" pitchFamily="34" charset="0"/>
                        <a:ea typeface="+mn-ea"/>
                        <a:cs typeface="Arial" panose="020B0604020202020204" pitchFamily="34" charset="0"/>
                      </a:endParaRPr>
                    </a:p>
                  </a:txBody>
                  <a:tcPr marL="72000" marR="0" marT="381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Time</a:t>
                      </a:r>
                      <a:r>
                        <a:rPr sz="800" spc="-1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within 5</a:t>
                      </a:r>
                      <a:r>
                        <a:rPr sz="80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lang="en-US"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of</a:t>
                      </a:r>
                      <a:r>
                        <a:rPr sz="800" spc="-1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actual</a:t>
                      </a:r>
                      <a:r>
                        <a:rPr sz="800" spc="-5" dirty="0">
                          <a:latin typeface="Arial" panose="020B0604020202020204" pitchFamily="34" charset="0"/>
                          <a:cs typeface="Arial" panose="020B0604020202020204" pitchFamily="34" charset="0"/>
                        </a:rPr>
                        <a:t> peak </a:t>
                      </a:r>
                      <a:r>
                        <a:rPr sz="800" spc="-10" dirty="0">
                          <a:latin typeface="Arial" panose="020B0604020202020204" pitchFamily="34" charset="0"/>
                          <a:cs typeface="Arial" panose="020B0604020202020204" pitchFamily="34" charset="0"/>
                        </a:rPr>
                        <a:t>temp</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30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70"/>
                        </a:lnSpc>
                      </a:pPr>
                      <a:r>
                        <a:rPr sz="800" spc="-5" dirty="0">
                          <a:latin typeface="Arial" panose="020B0604020202020204" pitchFamily="34" charset="0"/>
                          <a:cs typeface="Arial" panose="020B0604020202020204" pitchFamily="34" charset="0"/>
                        </a:rPr>
                        <a:t>Ramp-down</a:t>
                      </a:r>
                      <a:r>
                        <a:rPr sz="800" spc="-25" dirty="0">
                          <a:latin typeface="Arial" panose="020B0604020202020204" pitchFamily="34" charset="0"/>
                          <a:cs typeface="Arial" panose="020B0604020202020204" pitchFamily="34" charset="0"/>
                        </a:rPr>
                        <a:t> </a:t>
                      </a:r>
                      <a:r>
                        <a:rPr sz="800" spc="-15" dirty="0">
                          <a:latin typeface="Arial" panose="020B0604020202020204" pitchFamily="34" charset="0"/>
                          <a:cs typeface="Arial" panose="020B0604020202020204" pitchFamily="34" charset="0"/>
                        </a:rPr>
                        <a:t>rate</a:t>
                      </a:r>
                      <a:endParaRPr sz="800" dirty="0">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6</a:t>
                      </a:r>
                      <a:r>
                        <a:rPr sz="800" spc="19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℃/second</a:t>
                      </a:r>
                      <a:r>
                        <a:rPr sz="800" spc="-2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max.</a:t>
                      </a:r>
                      <a:endParaRPr sz="800" dirty="0">
                        <a:latin typeface="Arial" panose="020B0604020202020204" pitchFamily="34" charset="0"/>
                        <a:cs typeface="Arial" panose="020B0604020202020204" pitchFamily="34" charset="0"/>
                      </a:endParaRPr>
                    </a:p>
                  </a:txBody>
                  <a:tcPr marL="72000" marR="0" marT="381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0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i</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 f</a:t>
                      </a:r>
                      <a:r>
                        <a:rPr sz="800" spc="-15" dirty="0">
                          <a:latin typeface="Arial" panose="020B0604020202020204" pitchFamily="34" charset="0"/>
                          <a:cs typeface="Arial" panose="020B0604020202020204" pitchFamily="34" charset="0"/>
                        </a:rPr>
                        <a:t>r</a:t>
                      </a:r>
                      <a:r>
                        <a:rPr sz="800" dirty="0">
                          <a:latin typeface="Arial" panose="020B0604020202020204" pitchFamily="34" charset="0"/>
                          <a:cs typeface="Arial" panose="020B0604020202020204" pitchFamily="34" charset="0"/>
                        </a:rPr>
                        <a:t>om </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2</a:t>
                      </a:r>
                      <a:r>
                        <a:rPr sz="800" spc="15" dirty="0">
                          <a:latin typeface="Arial" panose="020B0604020202020204" pitchFamily="34" charset="0"/>
                          <a:cs typeface="Arial" panose="020B0604020202020204" pitchFamily="34" charset="0"/>
                        </a:rPr>
                        <a:t>5</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 </a:t>
                      </a:r>
                      <a:r>
                        <a:rPr sz="800" spc="-27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o </a:t>
                      </a:r>
                      <a:r>
                        <a:rPr sz="800" spc="5" dirty="0">
                          <a:latin typeface="Arial" panose="020B0604020202020204" pitchFamily="34" charset="0"/>
                          <a:cs typeface="Arial" panose="020B0604020202020204" pitchFamily="34" charset="0"/>
                        </a:rPr>
                        <a:t>p</a:t>
                      </a:r>
                      <a:r>
                        <a:rPr sz="800" spc="-5" dirty="0">
                          <a:latin typeface="Arial" panose="020B0604020202020204" pitchFamily="34" charset="0"/>
                          <a:cs typeface="Arial" panose="020B0604020202020204" pitchFamily="34" charset="0"/>
                        </a:rPr>
                        <a:t>e</a:t>
                      </a:r>
                      <a:r>
                        <a:rPr sz="800" dirty="0">
                          <a:latin typeface="Arial" panose="020B0604020202020204" pitchFamily="34" charset="0"/>
                          <a:cs typeface="Arial" panose="020B0604020202020204" pitchFamily="34" charset="0"/>
                        </a:rPr>
                        <a:t>ak </a:t>
                      </a:r>
                      <a:r>
                        <a:rPr sz="800" spc="-10" dirty="0">
                          <a:latin typeface="Arial" panose="020B0604020202020204" pitchFamily="34" charset="0"/>
                          <a:cs typeface="Arial" panose="020B0604020202020204" pitchFamily="34" charset="0"/>
                        </a:rPr>
                        <a:t>t</a:t>
                      </a:r>
                      <a:r>
                        <a:rPr sz="800" spc="-5"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p</a:t>
                      </a: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95000"/>
                          <a:lumOff val="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8</a:t>
                      </a:r>
                      <a:r>
                        <a:rPr sz="800" spc="-3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minutes</a:t>
                      </a:r>
                      <a:r>
                        <a:rPr sz="800" spc="-1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max</a:t>
                      </a:r>
                      <a:r>
                        <a:rPr lang="en-US" sz="800" spc="-1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95000"/>
                          <a:lumOff val="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bl>
          </a:graphicData>
        </a:graphic>
      </p:graphicFrame>
      <p:sp>
        <p:nvSpPr>
          <p:cNvPr id="6" name="object 11">
            <a:extLst>
              <a:ext uri="{FF2B5EF4-FFF2-40B4-BE49-F238E27FC236}">
                <a16:creationId xmlns:a16="http://schemas.microsoft.com/office/drawing/2014/main" id="{069DF14D-707B-B04B-2829-2465CDF5CE1B}"/>
              </a:ext>
            </a:extLst>
          </p:cNvPr>
          <p:cNvSpPr txBox="1"/>
          <p:nvPr/>
        </p:nvSpPr>
        <p:spPr>
          <a:xfrm>
            <a:off x="2354026" y="6775231"/>
            <a:ext cx="2149948" cy="132024"/>
          </a:xfrm>
          <a:prstGeom prst="rect">
            <a:avLst/>
          </a:prstGeom>
        </p:spPr>
        <p:txBody>
          <a:bodyPr vert="horz" wrap="none" lIns="0" tIns="0" rIns="0" bIns="0" rtlCol="0" anchor="ctr" anchorCtr="0">
            <a:spAutoFit/>
          </a:bodyPr>
          <a:lstStyle/>
          <a:p>
            <a:pPr marL="63500" defTabSz="839876" fontAlgn="auto">
              <a:lnSpc>
                <a:spcPts val="1065"/>
              </a:lnSpc>
              <a:spcBef>
                <a:spcPts val="100"/>
              </a:spcBef>
              <a:spcAft>
                <a:spcPts val="0"/>
              </a:spcAft>
              <a:tabLst>
                <a:tab pos="673100" algn="l"/>
              </a:tabLst>
            </a:pPr>
            <a:r>
              <a:rPr kumimoji="0" sz="900" b="1" spc="-65"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8</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Reflow Soldering Parameter </a:t>
            </a:r>
            <a:endParaRPr kumimoji="0" sz="900" dirty="0">
              <a:solidFill>
                <a:prstClr val="black"/>
              </a:solidFill>
              <a:latin typeface="Arial" panose="020B0604020202020204" pitchFamily="34" charset="0"/>
              <a:ea typeface="+mn-ea"/>
              <a:cs typeface="Arial" panose="020B0604020202020204" pitchFamily="34" charset="0"/>
            </a:endParaRPr>
          </a:p>
        </p:txBody>
      </p:sp>
      <p:sp>
        <p:nvSpPr>
          <p:cNvPr id="7" name="object 7">
            <a:extLst>
              <a:ext uri="{FF2B5EF4-FFF2-40B4-BE49-F238E27FC236}">
                <a16:creationId xmlns:a16="http://schemas.microsoft.com/office/drawing/2014/main" id="{E96B3914-0E06-3FC2-95C5-531C84860C34}"/>
              </a:ext>
            </a:extLst>
          </p:cNvPr>
          <p:cNvSpPr txBox="1"/>
          <p:nvPr/>
        </p:nvSpPr>
        <p:spPr>
          <a:xfrm>
            <a:off x="404812" y="6906460"/>
            <a:ext cx="6048622" cy="1533753"/>
          </a:xfrm>
          <a:prstGeom prst="rect">
            <a:avLst/>
          </a:prstGeom>
        </p:spPr>
        <p:txBody>
          <a:bodyPr vert="horz" wrap="square" lIns="0" tIns="0" rIns="0" bIns="0" rtlCol="0" anchor="ctr" anchorCtr="0">
            <a:spAutoFit/>
          </a:bodyPr>
          <a:lstStyle/>
          <a:p>
            <a:pPr marL="11527" marR="4611">
              <a:spcBef>
                <a:spcPts val="159"/>
              </a:spcBef>
            </a:pPr>
            <a:r>
              <a:rPr sz="800" spc="-5" dirty="0">
                <a:latin typeface="Arial"/>
                <a:cs typeface="Arial"/>
              </a:rPr>
              <a:t>Note: </a:t>
            </a:r>
            <a:endParaRPr lang="en-US" sz="800" spc="-5" dirty="0">
              <a:latin typeface="Arial"/>
              <a:cs typeface="Arial"/>
            </a:endParaRPr>
          </a:p>
          <a:p>
            <a:pPr marL="11527" marR="4611">
              <a:spcBef>
                <a:spcPts val="159"/>
              </a:spcBef>
            </a:pPr>
            <a:r>
              <a:rPr lang="en-US" sz="800" spc="-5" dirty="0">
                <a:latin typeface="Arial"/>
                <a:cs typeface="Arial"/>
              </a:rPr>
              <a:t>1. </a:t>
            </a:r>
            <a:r>
              <a:rPr sz="800" spc="-5" dirty="0">
                <a:latin typeface="Arial"/>
                <a:cs typeface="Arial"/>
              </a:rPr>
              <a:t>The</a:t>
            </a:r>
            <a:r>
              <a:rPr sz="800" spc="14" dirty="0">
                <a:latin typeface="Arial"/>
                <a:cs typeface="Arial"/>
              </a:rPr>
              <a:t> </a:t>
            </a:r>
            <a:r>
              <a:rPr sz="800" spc="-5" dirty="0">
                <a:latin typeface="Arial"/>
                <a:cs typeface="Arial"/>
              </a:rPr>
              <a:t>reflow</a:t>
            </a:r>
            <a:r>
              <a:rPr sz="800" spc="5" dirty="0">
                <a:latin typeface="Arial"/>
                <a:cs typeface="Arial"/>
              </a:rPr>
              <a:t> </a:t>
            </a:r>
            <a:r>
              <a:rPr sz="800" spc="-5" dirty="0">
                <a:latin typeface="Arial"/>
                <a:cs typeface="Arial"/>
              </a:rPr>
              <a:t>peak</a:t>
            </a:r>
            <a:r>
              <a:rPr sz="800" spc="9" dirty="0">
                <a:latin typeface="Arial"/>
                <a:cs typeface="Arial"/>
              </a:rPr>
              <a:t> </a:t>
            </a:r>
            <a:r>
              <a:rPr sz="800" spc="-5" dirty="0">
                <a:latin typeface="Arial"/>
                <a:cs typeface="Arial"/>
              </a:rPr>
              <a:t>soldering</a:t>
            </a:r>
            <a:r>
              <a:rPr sz="800" spc="14" dirty="0">
                <a:latin typeface="Arial"/>
                <a:cs typeface="Arial"/>
              </a:rPr>
              <a:t> </a:t>
            </a:r>
            <a:r>
              <a:rPr sz="800" spc="-5" dirty="0">
                <a:latin typeface="Arial"/>
                <a:cs typeface="Arial"/>
              </a:rPr>
              <a:t>temperature</a:t>
            </a:r>
            <a:r>
              <a:rPr sz="800" spc="14" dirty="0">
                <a:latin typeface="Arial"/>
                <a:cs typeface="Arial"/>
              </a:rPr>
              <a:t> </a:t>
            </a:r>
            <a:r>
              <a:rPr sz="800" spc="-9" dirty="0">
                <a:latin typeface="Arial"/>
                <a:cs typeface="Arial"/>
              </a:rPr>
              <a:t>is</a:t>
            </a:r>
            <a:r>
              <a:rPr sz="800" spc="23" dirty="0">
                <a:latin typeface="Arial"/>
                <a:cs typeface="Arial"/>
              </a:rPr>
              <a:t> </a:t>
            </a:r>
            <a:r>
              <a:rPr sz="800" spc="-9" dirty="0">
                <a:latin typeface="Arial"/>
                <a:cs typeface="Arial"/>
              </a:rPr>
              <a:t>peak</a:t>
            </a:r>
            <a:r>
              <a:rPr sz="800" spc="27" dirty="0">
                <a:latin typeface="Arial"/>
                <a:cs typeface="Arial"/>
              </a:rPr>
              <a:t> </a:t>
            </a:r>
            <a:r>
              <a:rPr sz="800" spc="-5" dirty="0">
                <a:latin typeface="Arial"/>
                <a:cs typeface="Arial"/>
              </a:rPr>
              <a:t>260°C</a:t>
            </a:r>
            <a:r>
              <a:rPr sz="800" spc="18" dirty="0">
                <a:latin typeface="Arial"/>
                <a:cs typeface="Arial"/>
              </a:rPr>
              <a:t> </a:t>
            </a:r>
            <a:r>
              <a:rPr sz="800" spc="-5" dirty="0">
                <a:latin typeface="Arial"/>
                <a:cs typeface="Arial"/>
              </a:rPr>
              <a:t>and</a:t>
            </a:r>
            <a:r>
              <a:rPr sz="800" spc="14" dirty="0">
                <a:latin typeface="Arial"/>
                <a:cs typeface="Arial"/>
              </a:rPr>
              <a:t> </a:t>
            </a:r>
            <a:r>
              <a:rPr sz="800" spc="-9" dirty="0">
                <a:latin typeface="Arial"/>
                <a:cs typeface="Arial"/>
              </a:rPr>
              <a:t>it</a:t>
            </a:r>
            <a:r>
              <a:rPr sz="800" spc="18" dirty="0">
                <a:latin typeface="Arial"/>
                <a:cs typeface="Arial"/>
              </a:rPr>
              <a:t> </a:t>
            </a:r>
            <a:r>
              <a:rPr sz="800" spc="-9" dirty="0">
                <a:latin typeface="Arial"/>
                <a:cs typeface="Arial"/>
              </a:rPr>
              <a:t>is</a:t>
            </a:r>
            <a:r>
              <a:rPr sz="800" spc="9" dirty="0">
                <a:latin typeface="Arial"/>
                <a:cs typeface="Arial"/>
              </a:rPr>
              <a:t> </a:t>
            </a:r>
            <a:r>
              <a:rPr sz="800" spc="-5" dirty="0">
                <a:latin typeface="Arial"/>
                <a:cs typeface="Arial"/>
              </a:rPr>
              <a:t>specified</a:t>
            </a:r>
            <a:r>
              <a:rPr sz="800" spc="5" dirty="0">
                <a:latin typeface="Arial"/>
                <a:cs typeface="Arial"/>
              </a:rPr>
              <a:t> </a:t>
            </a:r>
            <a:r>
              <a:rPr sz="800" spc="-5" dirty="0">
                <a:latin typeface="Arial"/>
                <a:cs typeface="Arial"/>
              </a:rPr>
              <a:t>based</a:t>
            </a:r>
            <a:r>
              <a:rPr sz="800" spc="5" dirty="0">
                <a:latin typeface="Arial"/>
                <a:cs typeface="Arial"/>
              </a:rPr>
              <a:t> </a:t>
            </a:r>
            <a:r>
              <a:rPr sz="800" dirty="0">
                <a:latin typeface="Arial"/>
                <a:cs typeface="Arial"/>
              </a:rPr>
              <a:t>on</a:t>
            </a:r>
            <a:r>
              <a:rPr sz="800" spc="5" dirty="0">
                <a:latin typeface="Arial"/>
                <a:cs typeface="Arial"/>
              </a:rPr>
              <a:t> </a:t>
            </a:r>
            <a:r>
              <a:rPr sz="800" spc="-5" dirty="0">
                <a:latin typeface="Arial"/>
                <a:cs typeface="Arial"/>
              </a:rPr>
              <a:t>IPC/JEDEC</a:t>
            </a:r>
            <a:r>
              <a:rPr sz="800" spc="5" dirty="0">
                <a:latin typeface="Arial"/>
                <a:cs typeface="Arial"/>
              </a:rPr>
              <a:t> </a:t>
            </a:r>
            <a:r>
              <a:rPr sz="800" spc="-5" dirty="0">
                <a:latin typeface="Arial"/>
                <a:cs typeface="Arial"/>
              </a:rPr>
              <a:t>J-STD- </a:t>
            </a:r>
            <a:r>
              <a:rPr sz="800" spc="-236" dirty="0">
                <a:latin typeface="Arial"/>
                <a:cs typeface="Arial"/>
              </a:rPr>
              <a:t> </a:t>
            </a:r>
            <a:r>
              <a:rPr sz="800" spc="-9" dirty="0">
                <a:latin typeface="Arial"/>
                <a:cs typeface="Arial"/>
              </a:rPr>
              <a:t>020</a:t>
            </a:r>
            <a:r>
              <a:rPr sz="800" dirty="0">
                <a:latin typeface="Arial"/>
                <a:cs typeface="Arial"/>
              </a:rPr>
              <a:t> </a:t>
            </a:r>
            <a:r>
              <a:rPr sz="800" spc="-5" dirty="0">
                <a:latin typeface="Arial"/>
                <a:cs typeface="Arial"/>
              </a:rPr>
              <a:t>“</a:t>
            </a:r>
            <a:endParaRPr lang="en-US" sz="800" spc="-5" dirty="0">
              <a:latin typeface="Arial"/>
              <a:cs typeface="Arial"/>
            </a:endParaRPr>
          </a:p>
          <a:p>
            <a:pPr marL="11527" marR="4611">
              <a:spcBef>
                <a:spcPts val="159"/>
              </a:spcBef>
            </a:pPr>
            <a:r>
              <a:rPr lang="en-US" sz="800" spc="-5" dirty="0">
                <a:latin typeface="Arial"/>
                <a:cs typeface="Arial"/>
              </a:rPr>
              <a:t>     </a:t>
            </a:r>
            <a:r>
              <a:rPr sz="800" spc="-5" dirty="0">
                <a:latin typeface="Arial"/>
                <a:cs typeface="Arial"/>
              </a:rPr>
              <a:t>Moisture/Reflow</a:t>
            </a:r>
            <a:r>
              <a:rPr sz="800" spc="14" dirty="0">
                <a:latin typeface="Arial"/>
                <a:cs typeface="Arial"/>
              </a:rPr>
              <a:t> </a:t>
            </a:r>
            <a:r>
              <a:rPr sz="800" spc="-5" dirty="0">
                <a:latin typeface="Arial"/>
                <a:cs typeface="Arial"/>
              </a:rPr>
              <a:t>Sensitivity</a:t>
            </a:r>
            <a:r>
              <a:rPr sz="800" spc="5" dirty="0">
                <a:latin typeface="Arial"/>
                <a:cs typeface="Arial"/>
              </a:rPr>
              <a:t> </a:t>
            </a:r>
            <a:r>
              <a:rPr sz="800" spc="-5" dirty="0">
                <a:latin typeface="Arial"/>
                <a:cs typeface="Arial"/>
              </a:rPr>
              <a:t>Classification</a:t>
            </a:r>
            <a:r>
              <a:rPr sz="800" spc="5" dirty="0">
                <a:latin typeface="Arial"/>
                <a:cs typeface="Arial"/>
              </a:rPr>
              <a:t> </a:t>
            </a:r>
            <a:r>
              <a:rPr sz="800" spc="-5" dirty="0">
                <a:latin typeface="Arial"/>
                <a:cs typeface="Arial"/>
              </a:rPr>
              <a:t>for</a:t>
            </a:r>
            <a:r>
              <a:rPr sz="800" spc="14" dirty="0">
                <a:latin typeface="Arial"/>
                <a:cs typeface="Arial"/>
              </a:rPr>
              <a:t> </a:t>
            </a:r>
            <a:r>
              <a:rPr sz="800" spc="-5" dirty="0">
                <a:latin typeface="Arial"/>
                <a:cs typeface="Arial"/>
              </a:rPr>
              <a:t>Non-Hermetic</a:t>
            </a:r>
            <a:r>
              <a:rPr sz="800" spc="9" dirty="0">
                <a:latin typeface="Arial"/>
                <a:cs typeface="Arial"/>
              </a:rPr>
              <a:t> </a:t>
            </a:r>
            <a:r>
              <a:rPr sz="800" spc="-5" dirty="0">
                <a:latin typeface="Arial"/>
                <a:cs typeface="Arial"/>
              </a:rPr>
              <a:t>Solid</a:t>
            </a:r>
            <a:r>
              <a:rPr sz="800" spc="9" dirty="0">
                <a:latin typeface="Arial"/>
                <a:cs typeface="Arial"/>
              </a:rPr>
              <a:t> </a:t>
            </a:r>
            <a:r>
              <a:rPr sz="800" spc="-5" dirty="0">
                <a:latin typeface="Arial"/>
                <a:cs typeface="Arial"/>
              </a:rPr>
              <a:t>State</a:t>
            </a:r>
            <a:r>
              <a:rPr sz="800" spc="5" dirty="0">
                <a:latin typeface="Arial"/>
                <a:cs typeface="Arial"/>
              </a:rPr>
              <a:t> </a:t>
            </a:r>
            <a:r>
              <a:rPr sz="800" dirty="0">
                <a:latin typeface="Arial"/>
                <a:cs typeface="Arial"/>
              </a:rPr>
              <a:t>Surface </a:t>
            </a:r>
            <a:r>
              <a:rPr sz="800" spc="-5" dirty="0">
                <a:latin typeface="Arial"/>
                <a:cs typeface="Arial"/>
              </a:rPr>
              <a:t>Mount</a:t>
            </a:r>
            <a:r>
              <a:rPr sz="800" spc="5" dirty="0">
                <a:latin typeface="Arial"/>
                <a:cs typeface="Arial"/>
              </a:rPr>
              <a:t> </a:t>
            </a:r>
            <a:r>
              <a:rPr sz="800" dirty="0">
                <a:latin typeface="Arial"/>
                <a:cs typeface="Arial"/>
              </a:rPr>
              <a:t>Devices”</a:t>
            </a:r>
            <a:endParaRPr lang="en-US" sz="800" dirty="0">
              <a:latin typeface="Arial"/>
              <a:cs typeface="Arial"/>
            </a:endParaRPr>
          </a:p>
          <a:p>
            <a:pPr marL="11527" marR="4611">
              <a:spcBef>
                <a:spcPts val="159"/>
              </a:spcBef>
            </a:pPr>
            <a:r>
              <a:rPr lang="en-US" sz="800" dirty="0">
                <a:latin typeface="Arial"/>
                <a:cs typeface="Arial"/>
              </a:rPr>
              <a:t>2. Tolerance for peak proﬁle temperature (Tp) is deﬁned as a supplier minimum and a user maximum.</a:t>
            </a:r>
          </a:p>
          <a:p>
            <a:pPr marL="88900" marR="4611" indent="-77788">
              <a:spcBef>
                <a:spcPts val="159"/>
              </a:spcBef>
            </a:pPr>
            <a:r>
              <a:rPr lang="en-US" sz="800" dirty="0">
                <a:latin typeface="Arial"/>
                <a:cs typeface="Arial"/>
              </a:rPr>
              <a:t>3. This document should serve as recommendation only. Other parameters may also affect soldering, so these profiles</a:t>
            </a:r>
          </a:p>
          <a:p>
            <a:pPr marL="88900" marR="4611" indent="-77788">
              <a:spcBef>
                <a:spcPts val="159"/>
              </a:spcBef>
            </a:pPr>
            <a:r>
              <a:rPr lang="en-US" sz="800" dirty="0">
                <a:latin typeface="Arial"/>
                <a:cs typeface="Arial"/>
              </a:rPr>
              <a:t>   do not guarantee absolute success.</a:t>
            </a:r>
          </a:p>
          <a:p>
            <a:pPr marL="88900" marR="4611" indent="-77788">
              <a:spcBef>
                <a:spcPts val="159"/>
              </a:spcBef>
            </a:pPr>
            <a:r>
              <a:rPr lang="en-US" sz="800" dirty="0">
                <a:latin typeface="Arial"/>
                <a:cs typeface="Arial"/>
              </a:rPr>
              <a:t>4. Soldering profiles should be determined by reference to the solder and solder paste manufacturer's specifications, unless they conflict with the recommendations in this document.</a:t>
            </a:r>
          </a:p>
          <a:p>
            <a:pPr marL="88900" marR="4611" indent="-77788">
              <a:spcBef>
                <a:spcPts val="159"/>
              </a:spcBef>
            </a:pPr>
            <a:r>
              <a:rPr lang="en-US" sz="800" dirty="0">
                <a:latin typeface="Arial"/>
                <a:cs typeface="Arial"/>
              </a:rPr>
              <a:t>5. The soldering profile and footprint information specified in this datasheet are general recommendations and are provided for reference only. The design, control, and quality assurance of the actual soldering process are the sole responsibility of the customer. The supplier assumes no responsibility for the soldering process or its results.</a:t>
            </a:r>
            <a:endParaRPr sz="800" dirty="0">
              <a:latin typeface="Arial"/>
              <a:cs typeface="Arial"/>
            </a:endParaRPr>
          </a:p>
        </p:txBody>
      </p:sp>
      <p:pic>
        <p:nvPicPr>
          <p:cNvPr id="8" name="그림 7">
            <a:extLst>
              <a:ext uri="{FF2B5EF4-FFF2-40B4-BE49-F238E27FC236}">
                <a16:creationId xmlns:a16="http://schemas.microsoft.com/office/drawing/2014/main" id="{7AA2AEB0-6189-E4C2-B6EF-5A50F4C2EFA9}"/>
              </a:ext>
            </a:extLst>
          </p:cNvPr>
          <p:cNvPicPr>
            <a:picLocks noChangeAspect="1"/>
          </p:cNvPicPr>
          <p:nvPr/>
        </p:nvPicPr>
        <p:blipFill>
          <a:blip r:embed="rId2"/>
          <a:stretch>
            <a:fillRect/>
          </a:stretch>
        </p:blipFill>
        <p:spPr>
          <a:xfrm>
            <a:off x="1164855" y="1131343"/>
            <a:ext cx="4483612" cy="3472798"/>
          </a:xfrm>
          <a:prstGeom prst="rect">
            <a:avLst/>
          </a:prstGeom>
        </p:spPr>
      </p:pic>
    </p:spTree>
    <p:extLst>
      <p:ext uri="{BB962C8B-B14F-4D97-AF65-F5344CB8AC3E}">
        <p14:creationId xmlns:p14="http://schemas.microsoft.com/office/powerpoint/2010/main" val="7566176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0205E-7C87-EED9-8872-AB393304C1C5}"/>
            </a:ext>
          </a:extLst>
        </p:cNvPr>
        <p:cNvGrpSpPr/>
        <p:nvPr/>
      </p:nvGrpSpPr>
      <p:grpSpPr>
        <a:xfrm>
          <a:off x="0" y="0"/>
          <a:ext cx="0" cy="0"/>
          <a:chOff x="0" y="0"/>
          <a:chExt cx="0" cy="0"/>
        </a:xfrm>
      </p:grpSpPr>
      <p:cxnSp>
        <p:nvCxnSpPr>
          <p:cNvPr id="14" name="직선 연결선 13">
            <a:extLst>
              <a:ext uri="{FF2B5EF4-FFF2-40B4-BE49-F238E27FC236}">
                <a16:creationId xmlns:a16="http://schemas.microsoft.com/office/drawing/2014/main" id="{36E953EA-0322-6F28-C7CA-FCA8CBBB041B}"/>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7A8504EA-51F4-F29D-363C-B1F553700374}"/>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grpSp>
        <p:nvGrpSpPr>
          <p:cNvPr id="6" name="그룹 5">
            <a:extLst>
              <a:ext uri="{FF2B5EF4-FFF2-40B4-BE49-F238E27FC236}">
                <a16:creationId xmlns:a16="http://schemas.microsoft.com/office/drawing/2014/main" id="{0B926796-826C-8FB6-4304-EFB8BE484653}"/>
              </a:ext>
            </a:extLst>
          </p:cNvPr>
          <p:cNvGrpSpPr/>
          <p:nvPr/>
        </p:nvGrpSpPr>
        <p:grpSpPr>
          <a:xfrm>
            <a:off x="2976684" y="2012056"/>
            <a:ext cx="997628" cy="989567"/>
            <a:chOff x="3030961" y="1951322"/>
            <a:chExt cx="997628" cy="989567"/>
          </a:xfrm>
        </p:grpSpPr>
        <p:sp>
          <p:nvSpPr>
            <p:cNvPr id="4483" name="직사각형 4482">
              <a:extLst>
                <a:ext uri="{FF2B5EF4-FFF2-40B4-BE49-F238E27FC236}">
                  <a16:creationId xmlns:a16="http://schemas.microsoft.com/office/drawing/2014/main" id="{DF49E695-762E-CE84-7A16-54E986048318}"/>
                </a:ext>
              </a:extLst>
            </p:cNvPr>
            <p:cNvSpPr/>
            <p:nvPr/>
          </p:nvSpPr>
          <p:spPr>
            <a:xfrm>
              <a:off x="3030961" y="1951322"/>
              <a:ext cx="997628" cy="989567"/>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a:latin typeface="Arial" panose="020B0604020202020204" pitchFamily="34" charset="0"/>
                <a:cs typeface="Arial" panose="020B0604020202020204" pitchFamily="34" charset="0"/>
              </a:endParaRPr>
            </a:p>
          </p:txBody>
        </p:sp>
        <p:sp>
          <p:nvSpPr>
            <p:cNvPr id="4484" name="object 19">
              <a:extLst>
                <a:ext uri="{FF2B5EF4-FFF2-40B4-BE49-F238E27FC236}">
                  <a16:creationId xmlns:a16="http://schemas.microsoft.com/office/drawing/2014/main" id="{7C196ADE-2E63-D7E1-85C6-8DEB225C3CFE}"/>
                </a:ext>
              </a:extLst>
            </p:cNvPr>
            <p:cNvSpPr txBox="1"/>
            <p:nvPr/>
          </p:nvSpPr>
          <p:spPr>
            <a:xfrm>
              <a:off x="3190293" y="2160781"/>
              <a:ext cx="723151" cy="246221"/>
            </a:xfrm>
            <a:prstGeom prst="rect">
              <a:avLst/>
            </a:prstGeom>
          </p:spPr>
          <p:txBody>
            <a:bodyPr vert="horz" wrap="square" lIns="0" tIns="0" rIns="0" bIns="0"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gn="ctr">
                <a:spcBef>
                  <a:spcPts val="409"/>
                </a:spcBef>
              </a:pPr>
              <a:r>
                <a:rPr lang="en-US" sz="1600" b="1" spc="-20" dirty="0">
                  <a:solidFill>
                    <a:schemeClr val="bg1"/>
                  </a:solidFill>
                  <a:latin typeface="Arial" panose="020B0604020202020204" pitchFamily="34" charset="0"/>
                  <a:cs typeface="Arial" panose="020B0604020202020204" pitchFamily="34" charset="0"/>
                </a:rPr>
                <a:t>XXXXX</a:t>
              </a:r>
              <a:endParaRPr sz="1600" b="1" dirty="0">
                <a:solidFill>
                  <a:schemeClr val="bg1"/>
                </a:solidFill>
                <a:latin typeface="Arial" panose="020B0604020202020204" pitchFamily="34" charset="0"/>
                <a:cs typeface="Arial" panose="020B0604020202020204" pitchFamily="34" charset="0"/>
              </a:endParaRPr>
            </a:p>
          </p:txBody>
        </p:sp>
        <p:sp>
          <p:nvSpPr>
            <p:cNvPr id="4485" name="object 19">
              <a:extLst>
                <a:ext uri="{FF2B5EF4-FFF2-40B4-BE49-F238E27FC236}">
                  <a16:creationId xmlns:a16="http://schemas.microsoft.com/office/drawing/2014/main" id="{5775165B-85C9-715D-A91D-51B00135E9A4}"/>
                </a:ext>
              </a:extLst>
            </p:cNvPr>
            <p:cNvSpPr txBox="1"/>
            <p:nvPr/>
          </p:nvSpPr>
          <p:spPr>
            <a:xfrm>
              <a:off x="3228408" y="2386971"/>
              <a:ext cx="586947" cy="153888"/>
            </a:xfrm>
            <a:prstGeom prst="rect">
              <a:avLst/>
            </a:prstGeom>
          </p:spPr>
          <p:txBody>
            <a:bodyPr vert="horz" wrap="square" lIns="0" tIns="0" rIns="0" bIns="0"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spcBef>
                  <a:spcPts val="409"/>
                </a:spcBef>
              </a:pPr>
              <a:r>
                <a:rPr lang="en-US" sz="1000" b="1" spc="-20" dirty="0" err="1">
                  <a:solidFill>
                    <a:schemeClr val="bg1"/>
                  </a:solidFill>
                  <a:latin typeface="Arial" panose="020B0604020202020204" pitchFamily="34" charset="0"/>
                  <a:cs typeface="Arial" panose="020B0604020202020204" pitchFamily="34" charset="0"/>
                </a:rPr>
                <a:t>abc</a:t>
              </a:r>
              <a:endParaRPr sz="1000" b="1" dirty="0">
                <a:solidFill>
                  <a:schemeClr val="bg1"/>
                </a:solidFill>
                <a:latin typeface="Arial" panose="020B0604020202020204" pitchFamily="34" charset="0"/>
                <a:cs typeface="Arial" panose="020B0604020202020204" pitchFamily="34" charset="0"/>
              </a:endParaRPr>
            </a:p>
          </p:txBody>
        </p:sp>
        <p:sp>
          <p:nvSpPr>
            <p:cNvPr id="4486" name="object 19">
              <a:extLst>
                <a:ext uri="{FF2B5EF4-FFF2-40B4-BE49-F238E27FC236}">
                  <a16:creationId xmlns:a16="http://schemas.microsoft.com/office/drawing/2014/main" id="{686801C9-6A0A-47E4-F4EC-9B97C4B29728}"/>
                </a:ext>
              </a:extLst>
            </p:cNvPr>
            <p:cNvSpPr txBox="1"/>
            <p:nvPr/>
          </p:nvSpPr>
          <p:spPr>
            <a:xfrm>
              <a:off x="3229406" y="2558504"/>
              <a:ext cx="586947" cy="153888"/>
            </a:xfrm>
            <a:prstGeom prst="rect">
              <a:avLst/>
            </a:prstGeom>
          </p:spPr>
          <p:txBody>
            <a:bodyPr vert="horz" wrap="square" lIns="0" tIns="0" rIns="0" bIns="0"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spcBef>
                  <a:spcPts val="409"/>
                </a:spcBef>
              </a:pPr>
              <a:r>
                <a:rPr lang="en-US" sz="1000" b="1" spc="-20" dirty="0">
                  <a:solidFill>
                    <a:schemeClr val="bg1"/>
                  </a:solidFill>
                  <a:latin typeface="Arial" panose="020B0604020202020204" pitchFamily="34" charset="0"/>
                  <a:cs typeface="Arial" panose="020B0604020202020204" pitchFamily="34" charset="0"/>
                </a:rPr>
                <a:t>YWCD@</a:t>
              </a:r>
              <a:endParaRPr sz="1000" b="1" dirty="0">
                <a:solidFill>
                  <a:schemeClr val="bg1"/>
                </a:solidFill>
                <a:latin typeface="Arial" panose="020B0604020202020204" pitchFamily="34" charset="0"/>
                <a:cs typeface="Arial" panose="020B0604020202020204" pitchFamily="34" charset="0"/>
              </a:endParaRPr>
            </a:p>
          </p:txBody>
        </p:sp>
      </p:grpSp>
      <p:sp>
        <p:nvSpPr>
          <p:cNvPr id="7" name="object 24">
            <a:extLst>
              <a:ext uri="{FF2B5EF4-FFF2-40B4-BE49-F238E27FC236}">
                <a16:creationId xmlns:a16="http://schemas.microsoft.com/office/drawing/2014/main" id="{0BBA2FDD-E2A2-0EC2-D3F2-D59E72D37CA2}"/>
              </a:ext>
            </a:extLst>
          </p:cNvPr>
          <p:cNvSpPr txBox="1"/>
          <p:nvPr/>
        </p:nvSpPr>
        <p:spPr>
          <a:xfrm>
            <a:off x="2776170" y="4530771"/>
            <a:ext cx="3376961" cy="271869"/>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4">
              <a:spcBef>
                <a:spcPts val="100"/>
              </a:spcBef>
            </a:pPr>
            <a:r>
              <a:rPr lang="en-US" altLang="ko-KR" sz="800" dirty="0">
                <a:latin typeface="Arial" panose="020B0604020202020204" pitchFamily="34" charset="0"/>
                <a:cs typeface="Arial" panose="020B0604020202020204" pitchFamily="34" charset="0"/>
              </a:rPr>
              <a:t>※ </a:t>
            </a:r>
            <a:r>
              <a:rPr lang="en-US" sz="800" dirty="0">
                <a:latin typeface="Arial" panose="020B0604020202020204" pitchFamily="34" charset="0"/>
                <a:cs typeface="Arial" panose="020B0604020202020204" pitchFamily="34" charset="0"/>
              </a:rPr>
              <a:t>Example code :2025. 07. 07</a:t>
            </a:r>
          </a:p>
          <a:p>
            <a:pPr lvl="4">
              <a:spcBef>
                <a:spcPts val="100"/>
              </a:spcBef>
            </a:pPr>
            <a:r>
              <a:rPr lang="en-US" sz="800" dirty="0">
                <a:latin typeface="Arial" panose="020B0604020202020204" pitchFamily="34" charset="0"/>
                <a:ea typeface="맑은 고딕" panose="020B0503020000020004" pitchFamily="50" charset="-127"/>
                <a:cs typeface="Arial" panose="020B0604020202020204" pitchFamily="34" charset="0"/>
              </a:rPr>
              <a:t>                             wafer Lot </a:t>
            </a:r>
            <a:r>
              <a:rPr lang="ko-KR" altLang="en-US" sz="800" dirty="0">
                <a:latin typeface="Arial" panose="020B0604020202020204" pitchFamily="34" charset="0"/>
                <a:ea typeface="맑은 고딕" panose="020B0503020000020004" pitchFamily="50" charset="-127"/>
                <a:cs typeface="Arial" panose="020B0604020202020204" pitchFamily="34" charset="0"/>
              </a:rPr>
              <a:t> </a:t>
            </a:r>
            <a:r>
              <a:rPr lang="en-US" altLang="ko-KR" sz="800" dirty="0">
                <a:latin typeface="Arial" panose="020B0604020202020204" pitchFamily="34" charset="0"/>
                <a:ea typeface="맑은 고딕" panose="020B0503020000020004" pitchFamily="50" charset="-127"/>
                <a:cs typeface="Arial" panose="020B0604020202020204" pitchFamily="34" charset="0"/>
              </a:rPr>
              <a:t>#1-5</a:t>
            </a:r>
            <a:endParaRPr lang="en-US" sz="800" dirty="0">
              <a:latin typeface="Arial" panose="020B0604020202020204" pitchFamily="34" charset="0"/>
              <a:ea typeface="맑은 고딕" panose="020B0503020000020004" pitchFamily="50" charset="-127"/>
              <a:cs typeface="Arial" panose="020B0604020202020204" pitchFamily="34" charset="0"/>
            </a:endParaRPr>
          </a:p>
        </p:txBody>
      </p:sp>
      <p:sp>
        <p:nvSpPr>
          <p:cNvPr id="18" name="object 18">
            <a:extLst>
              <a:ext uri="{FF2B5EF4-FFF2-40B4-BE49-F238E27FC236}">
                <a16:creationId xmlns:a16="http://schemas.microsoft.com/office/drawing/2014/main" id="{E07664D1-C1ED-69C4-640B-B5BBFE6DABF4}"/>
              </a:ext>
            </a:extLst>
          </p:cNvPr>
          <p:cNvSpPr txBox="1"/>
          <p:nvPr/>
        </p:nvSpPr>
        <p:spPr>
          <a:xfrm>
            <a:off x="1349546" y="3669278"/>
            <a:ext cx="836725" cy="19749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gn="ctr">
              <a:lnSpc>
                <a:spcPct val="100000"/>
              </a:lnSpc>
              <a:spcBef>
                <a:spcPts val="100"/>
              </a:spcBef>
            </a:pPr>
            <a:r>
              <a:rPr sz="1200" dirty="0">
                <a:uFill>
                  <a:solidFill>
                    <a:srgbClr val="000000"/>
                  </a:solidFill>
                </a:uFill>
                <a:latin typeface="Calibri"/>
                <a:cs typeface="Calibri"/>
              </a:rPr>
              <a:t>TOP</a:t>
            </a:r>
            <a:r>
              <a:rPr sz="1200" spc="-70" dirty="0">
                <a:uFill>
                  <a:solidFill>
                    <a:srgbClr val="000000"/>
                  </a:solidFill>
                </a:uFill>
                <a:latin typeface="Calibri"/>
                <a:cs typeface="Calibri"/>
              </a:rPr>
              <a:t> </a:t>
            </a:r>
            <a:r>
              <a:rPr sz="1200" spc="-20" dirty="0">
                <a:uFill>
                  <a:solidFill>
                    <a:srgbClr val="000000"/>
                  </a:solidFill>
                </a:uFill>
                <a:latin typeface="Calibri"/>
                <a:cs typeface="Calibri"/>
              </a:rPr>
              <a:t>VIEW</a:t>
            </a:r>
            <a:endParaRPr sz="1200" dirty="0">
              <a:latin typeface="Calibri"/>
              <a:cs typeface="Calibri"/>
            </a:endParaRPr>
          </a:p>
        </p:txBody>
      </p:sp>
      <p:pic>
        <p:nvPicPr>
          <p:cNvPr id="19" name="object 22">
            <a:extLst>
              <a:ext uri="{FF2B5EF4-FFF2-40B4-BE49-F238E27FC236}">
                <a16:creationId xmlns:a16="http://schemas.microsoft.com/office/drawing/2014/main" id="{CC01A5A4-136B-50B7-E8A0-FBC4C94CE803}"/>
              </a:ext>
            </a:extLst>
          </p:cNvPr>
          <p:cNvPicPr/>
          <p:nvPr/>
        </p:nvPicPr>
        <p:blipFill>
          <a:blip r:embed="rId2" cstate="print"/>
          <a:stretch>
            <a:fillRect/>
          </a:stretch>
        </p:blipFill>
        <p:spPr>
          <a:xfrm>
            <a:off x="1132848" y="3240016"/>
            <a:ext cx="112794" cy="114265"/>
          </a:xfrm>
          <a:prstGeom prst="rect">
            <a:avLst/>
          </a:prstGeom>
        </p:spPr>
      </p:pic>
      <p:sp>
        <p:nvSpPr>
          <p:cNvPr id="20" name="직사각형 19">
            <a:extLst>
              <a:ext uri="{FF2B5EF4-FFF2-40B4-BE49-F238E27FC236}">
                <a16:creationId xmlns:a16="http://schemas.microsoft.com/office/drawing/2014/main" id="{601ACE50-EB3E-5A0B-FC6F-398F47549F8D}"/>
              </a:ext>
            </a:extLst>
          </p:cNvPr>
          <p:cNvSpPr/>
          <p:nvPr/>
        </p:nvSpPr>
        <p:spPr>
          <a:xfrm>
            <a:off x="931467" y="1733065"/>
            <a:ext cx="1825573" cy="182045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a:solidFill>
                <a:schemeClr val="tx1"/>
              </a:solidFill>
              <a:latin typeface="Arial" panose="020B0604020202020204" pitchFamily="34" charset="0"/>
              <a:cs typeface="Arial" panose="020B0604020202020204" pitchFamily="34" charset="0"/>
            </a:endParaRPr>
          </a:p>
        </p:txBody>
      </p:sp>
      <p:sp>
        <p:nvSpPr>
          <p:cNvPr id="21" name="TextBox 4533">
            <a:extLst>
              <a:ext uri="{FF2B5EF4-FFF2-40B4-BE49-F238E27FC236}">
                <a16:creationId xmlns:a16="http://schemas.microsoft.com/office/drawing/2014/main" id="{B5F6F448-6570-362D-9F87-64B8791D4A24}"/>
              </a:ext>
            </a:extLst>
          </p:cNvPr>
          <p:cNvSpPr txBox="1"/>
          <p:nvPr/>
        </p:nvSpPr>
        <p:spPr>
          <a:xfrm>
            <a:off x="1049723" y="1284948"/>
            <a:ext cx="1724937"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ko-KR" sz="1200" b="1" dirty="0">
                <a:latin typeface="Arial" panose="020B0604020202020204" pitchFamily="34" charset="0"/>
                <a:cs typeface="Arial" panose="020B0604020202020204" pitchFamily="34" charset="0"/>
              </a:rPr>
              <a:t>&lt; JSICAT marking &gt;</a:t>
            </a:r>
            <a:endParaRPr lang="ko-KR" altLang="en-US" sz="1200" b="1" dirty="0">
              <a:latin typeface="Arial" panose="020B0604020202020204" pitchFamily="34" charset="0"/>
              <a:cs typeface="Arial" panose="020B0604020202020204" pitchFamily="34" charset="0"/>
            </a:endParaRPr>
          </a:p>
        </p:txBody>
      </p:sp>
      <p:sp>
        <p:nvSpPr>
          <p:cNvPr id="22" name="object 24">
            <a:extLst>
              <a:ext uri="{FF2B5EF4-FFF2-40B4-BE49-F238E27FC236}">
                <a16:creationId xmlns:a16="http://schemas.microsoft.com/office/drawing/2014/main" id="{BD1FCA71-29AA-7FFC-5E78-EA09D080E9B3}"/>
              </a:ext>
            </a:extLst>
          </p:cNvPr>
          <p:cNvSpPr txBox="1"/>
          <p:nvPr/>
        </p:nvSpPr>
        <p:spPr>
          <a:xfrm>
            <a:off x="678169" y="4298373"/>
            <a:ext cx="2468046" cy="39498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00000"/>
              </a:lnSpc>
              <a:spcBef>
                <a:spcPts val="100"/>
              </a:spcBef>
            </a:pPr>
            <a:r>
              <a:rPr lang="en-US" sz="1200" b="1" dirty="0">
                <a:latin typeface="Arial" panose="020B0604020202020204" pitchFamily="34" charset="0"/>
                <a:cs typeface="Arial" panose="020B0604020202020204" pitchFamily="34" charset="0"/>
              </a:rPr>
              <a:t>Fix. Code </a:t>
            </a:r>
            <a:r>
              <a:rPr sz="1200" b="1" dirty="0">
                <a:latin typeface="Arial" panose="020B0604020202020204" pitchFamily="34" charset="0"/>
                <a:cs typeface="Arial" panose="020B0604020202020204" pitchFamily="34" charset="0"/>
              </a:rPr>
              <a:t>IC</a:t>
            </a:r>
            <a:r>
              <a:rPr sz="1200" b="1" spc="-20" dirty="0">
                <a:latin typeface="Arial" panose="020B0604020202020204" pitchFamily="34" charset="0"/>
                <a:cs typeface="Arial" panose="020B0604020202020204" pitchFamily="34" charset="0"/>
              </a:rPr>
              <a:t> </a:t>
            </a:r>
            <a:r>
              <a:rPr sz="1200" b="1" dirty="0">
                <a:latin typeface="Arial" panose="020B0604020202020204" pitchFamily="34" charset="0"/>
                <a:cs typeface="Arial" panose="020B0604020202020204" pitchFamily="34" charset="0"/>
              </a:rPr>
              <a:t>Part</a:t>
            </a:r>
            <a:r>
              <a:rPr sz="1200" b="1" spc="-25" dirty="0">
                <a:latin typeface="Arial" panose="020B0604020202020204" pitchFamily="34" charset="0"/>
                <a:cs typeface="Arial" panose="020B0604020202020204" pitchFamily="34" charset="0"/>
              </a:rPr>
              <a:t> </a:t>
            </a:r>
            <a:r>
              <a:rPr sz="1200" b="1" spc="-20" dirty="0">
                <a:latin typeface="Arial" panose="020B0604020202020204" pitchFamily="34" charset="0"/>
                <a:cs typeface="Arial" panose="020B0604020202020204" pitchFamily="34" charset="0"/>
              </a:rPr>
              <a:t>Name</a:t>
            </a:r>
            <a:r>
              <a:rPr lang="en-US" sz="1200" b="1" spc="-20" dirty="0">
                <a:latin typeface="Arial" panose="020B0604020202020204" pitchFamily="34" charset="0"/>
                <a:cs typeface="Arial" panose="020B0604020202020204" pitchFamily="34" charset="0"/>
              </a:rPr>
              <a:t>: </a:t>
            </a:r>
            <a:r>
              <a:rPr lang="en-US" altLang="ko-KR" sz="1200" b="1" dirty="0">
                <a:latin typeface="Arial" panose="020B0604020202020204" pitchFamily="34" charset="0"/>
                <a:cs typeface="Arial" panose="020B0604020202020204" pitchFamily="34" charset="0"/>
              </a:rPr>
              <a:t>XD12R</a:t>
            </a:r>
          </a:p>
          <a:p>
            <a:pPr marL="228600" indent="-228600">
              <a:lnSpc>
                <a:spcPct val="100000"/>
              </a:lnSpc>
              <a:spcBef>
                <a:spcPts val="100"/>
              </a:spcBef>
              <a:buAutoNum type="arabicParenBoth"/>
            </a:pPr>
            <a:endParaRPr lang="en-US" sz="1200" b="1" dirty="0">
              <a:latin typeface="Arial" panose="020B0604020202020204" pitchFamily="34" charset="0"/>
              <a:cs typeface="Arial" panose="020B0604020202020204" pitchFamily="34" charset="0"/>
            </a:endParaRPr>
          </a:p>
        </p:txBody>
      </p:sp>
      <p:sp>
        <p:nvSpPr>
          <p:cNvPr id="24" name="object 18">
            <a:extLst>
              <a:ext uri="{FF2B5EF4-FFF2-40B4-BE49-F238E27FC236}">
                <a16:creationId xmlns:a16="http://schemas.microsoft.com/office/drawing/2014/main" id="{B70A2B5A-7D84-C460-3DCF-975EFAC058F9}"/>
              </a:ext>
            </a:extLst>
          </p:cNvPr>
          <p:cNvSpPr txBox="1"/>
          <p:nvPr/>
        </p:nvSpPr>
        <p:spPr>
          <a:xfrm>
            <a:off x="4549673" y="3673154"/>
            <a:ext cx="836725" cy="19749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gn="ctr">
              <a:lnSpc>
                <a:spcPct val="100000"/>
              </a:lnSpc>
              <a:spcBef>
                <a:spcPts val="100"/>
              </a:spcBef>
            </a:pPr>
            <a:r>
              <a:rPr sz="1200" dirty="0">
                <a:uFill>
                  <a:solidFill>
                    <a:srgbClr val="000000"/>
                  </a:solidFill>
                </a:uFill>
                <a:latin typeface="Calibri"/>
                <a:cs typeface="Calibri"/>
              </a:rPr>
              <a:t>TOP</a:t>
            </a:r>
            <a:r>
              <a:rPr sz="1200" spc="-70" dirty="0">
                <a:uFill>
                  <a:solidFill>
                    <a:srgbClr val="000000"/>
                  </a:solidFill>
                </a:uFill>
                <a:latin typeface="Calibri"/>
                <a:cs typeface="Calibri"/>
              </a:rPr>
              <a:t> </a:t>
            </a:r>
            <a:r>
              <a:rPr sz="1200" spc="-20" dirty="0">
                <a:uFill>
                  <a:solidFill>
                    <a:srgbClr val="000000"/>
                  </a:solidFill>
                </a:uFill>
                <a:latin typeface="Calibri"/>
                <a:cs typeface="Calibri"/>
              </a:rPr>
              <a:t>VIEW</a:t>
            </a:r>
            <a:endParaRPr sz="1200" dirty="0">
              <a:latin typeface="Calibri"/>
              <a:cs typeface="Calibri"/>
            </a:endParaRPr>
          </a:p>
        </p:txBody>
      </p:sp>
      <p:sp>
        <p:nvSpPr>
          <p:cNvPr id="38" name="object 129">
            <a:extLst>
              <a:ext uri="{FF2B5EF4-FFF2-40B4-BE49-F238E27FC236}">
                <a16:creationId xmlns:a16="http://schemas.microsoft.com/office/drawing/2014/main" id="{436C4AE4-77E5-A72B-BE05-F384812CCB0C}"/>
              </a:ext>
            </a:extLst>
          </p:cNvPr>
          <p:cNvSpPr/>
          <p:nvPr/>
        </p:nvSpPr>
        <p:spPr>
          <a:xfrm rot="5400000">
            <a:off x="4136022" y="1863832"/>
            <a:ext cx="62951" cy="26101"/>
          </a:xfrm>
          <a:custGeom>
            <a:avLst/>
            <a:gdLst/>
            <a:ahLst/>
            <a:cxnLst/>
            <a:rect l="l" t="t" r="r" b="b"/>
            <a:pathLst>
              <a:path w="78105" h="32385">
                <a:moveTo>
                  <a:pt x="1524" y="1524"/>
                </a:moveTo>
                <a:lnTo>
                  <a:pt x="0" y="1524"/>
                </a:lnTo>
                <a:lnTo>
                  <a:pt x="0" y="0"/>
                </a:lnTo>
                <a:lnTo>
                  <a:pt x="1524" y="0"/>
                </a:lnTo>
                <a:lnTo>
                  <a:pt x="1524" y="1524"/>
                </a:lnTo>
                <a:close/>
              </a:path>
              <a:path w="78105" h="32385">
                <a:moveTo>
                  <a:pt x="1524" y="32004"/>
                </a:moveTo>
                <a:lnTo>
                  <a:pt x="0" y="32004"/>
                </a:lnTo>
                <a:lnTo>
                  <a:pt x="0" y="30480"/>
                </a:lnTo>
                <a:lnTo>
                  <a:pt x="1524" y="30480"/>
                </a:lnTo>
                <a:lnTo>
                  <a:pt x="1524" y="32004"/>
                </a:lnTo>
                <a:close/>
              </a:path>
              <a:path w="78105" h="32385">
                <a:moveTo>
                  <a:pt x="77724" y="32004"/>
                </a:moveTo>
                <a:lnTo>
                  <a:pt x="76200" y="32004"/>
                </a:lnTo>
                <a:lnTo>
                  <a:pt x="76200" y="30480"/>
                </a:lnTo>
                <a:lnTo>
                  <a:pt x="77724" y="30480"/>
                </a:lnTo>
                <a:lnTo>
                  <a:pt x="77724" y="32004"/>
                </a:lnTo>
                <a:close/>
              </a:path>
            </a:pathLst>
          </a:custGeom>
          <a:solidFill>
            <a:srgbClr val="000000"/>
          </a:solidFill>
        </p:spPr>
        <p:txBody>
          <a:bodyPr wrap="square" lIns="0" tIns="0" rIns="0" bIns="0" rtlCol="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a:latin typeface="Arial" panose="020B0604020202020204" pitchFamily="34" charset="0"/>
              <a:cs typeface="Arial" panose="020B0604020202020204" pitchFamily="34" charset="0"/>
            </a:endParaRPr>
          </a:p>
        </p:txBody>
      </p:sp>
      <p:sp>
        <p:nvSpPr>
          <p:cNvPr id="41" name="TextBox 24">
            <a:extLst>
              <a:ext uri="{FF2B5EF4-FFF2-40B4-BE49-F238E27FC236}">
                <a16:creationId xmlns:a16="http://schemas.microsoft.com/office/drawing/2014/main" id="{4B95F45A-B22A-09DF-4B6F-4017A7DF7EA9}"/>
              </a:ext>
            </a:extLst>
          </p:cNvPr>
          <p:cNvSpPr txBox="1"/>
          <p:nvPr/>
        </p:nvSpPr>
        <p:spPr>
          <a:xfrm>
            <a:off x="4180548" y="1287753"/>
            <a:ext cx="1879805"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ko-KR" sz="1200" b="1" dirty="0">
                <a:latin typeface="Arial" panose="020B0604020202020204" pitchFamily="34" charset="0"/>
                <a:cs typeface="Arial" panose="020B0604020202020204" pitchFamily="34" charset="0"/>
              </a:rPr>
              <a:t>&lt; SEMTECH marking &gt;</a:t>
            </a:r>
            <a:endParaRPr lang="ko-KR" altLang="en-US" sz="1200" b="1" dirty="0">
              <a:latin typeface="Arial" panose="020B0604020202020204" pitchFamily="34" charset="0"/>
              <a:cs typeface="Arial" panose="020B0604020202020204" pitchFamily="34" charset="0"/>
            </a:endParaRPr>
          </a:p>
        </p:txBody>
      </p:sp>
      <p:pic>
        <p:nvPicPr>
          <p:cNvPr id="42" name="table">
            <a:extLst>
              <a:ext uri="{FF2B5EF4-FFF2-40B4-BE49-F238E27FC236}">
                <a16:creationId xmlns:a16="http://schemas.microsoft.com/office/drawing/2014/main" id="{6FFCDCD8-54E3-BF90-0BD6-358EF908E2B7}"/>
              </a:ext>
            </a:extLst>
          </p:cNvPr>
          <p:cNvPicPr>
            <a:picLocks noChangeAspect="1"/>
          </p:cNvPicPr>
          <p:nvPr/>
        </p:nvPicPr>
        <p:blipFill>
          <a:blip r:embed="rId3"/>
          <a:stretch>
            <a:fillRect/>
          </a:stretch>
        </p:blipFill>
        <p:spPr>
          <a:xfrm>
            <a:off x="608985" y="4984306"/>
            <a:ext cx="2298549" cy="1892537"/>
          </a:xfrm>
          <a:prstGeom prst="rect">
            <a:avLst/>
          </a:prstGeom>
        </p:spPr>
      </p:pic>
      <p:sp>
        <p:nvSpPr>
          <p:cNvPr id="43" name="object 24">
            <a:extLst>
              <a:ext uri="{FF2B5EF4-FFF2-40B4-BE49-F238E27FC236}">
                <a16:creationId xmlns:a16="http://schemas.microsoft.com/office/drawing/2014/main" id="{6AE1A0A4-04E2-9230-C40E-3B5E2810A41D}"/>
              </a:ext>
            </a:extLst>
          </p:cNvPr>
          <p:cNvSpPr txBox="1"/>
          <p:nvPr/>
        </p:nvSpPr>
        <p:spPr>
          <a:xfrm>
            <a:off x="672424" y="4742978"/>
            <a:ext cx="2218444" cy="19749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00000"/>
              </a:lnSpc>
              <a:spcBef>
                <a:spcPts val="100"/>
              </a:spcBef>
            </a:pPr>
            <a:r>
              <a:rPr lang="en-US" sz="1200" b="1" dirty="0">
                <a:latin typeface="Arial" panose="020B0604020202020204" pitchFamily="34" charset="0"/>
                <a:cs typeface="Arial" panose="020B0604020202020204" pitchFamily="34" charset="0"/>
              </a:rPr>
              <a:t>Package Drawings </a:t>
            </a:r>
            <a:r>
              <a:rPr sz="1200" b="1" dirty="0">
                <a:latin typeface="Arial" panose="020B0604020202020204" pitchFamily="34" charset="0"/>
                <a:cs typeface="Arial" panose="020B0604020202020204" pitchFamily="34" charset="0"/>
              </a:rPr>
              <a:t>Marking</a:t>
            </a:r>
            <a:r>
              <a:rPr lang="en-US" sz="1200" b="1" spc="-30" dirty="0">
                <a:latin typeface="Arial" panose="020B0604020202020204" pitchFamily="34" charset="0"/>
                <a:cs typeface="Arial" panose="020B0604020202020204" pitchFamily="34" charset="0"/>
              </a:rPr>
              <a:t>s</a:t>
            </a:r>
            <a:endParaRPr sz="1200" b="1" dirty="0">
              <a:latin typeface="Arial" panose="020B0604020202020204" pitchFamily="34" charset="0"/>
              <a:cs typeface="Arial" panose="020B0604020202020204" pitchFamily="34" charset="0"/>
            </a:endParaRPr>
          </a:p>
        </p:txBody>
      </p:sp>
      <p:sp>
        <p:nvSpPr>
          <p:cNvPr id="44" name="object 24">
            <a:extLst>
              <a:ext uri="{FF2B5EF4-FFF2-40B4-BE49-F238E27FC236}">
                <a16:creationId xmlns:a16="http://schemas.microsoft.com/office/drawing/2014/main" id="{708D742D-7B3C-9BDB-615F-D6D4A3EECA5F}"/>
              </a:ext>
            </a:extLst>
          </p:cNvPr>
          <p:cNvSpPr txBox="1"/>
          <p:nvPr/>
        </p:nvSpPr>
        <p:spPr>
          <a:xfrm>
            <a:off x="3264750" y="4290671"/>
            <a:ext cx="3145553" cy="19749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00000"/>
              </a:lnSpc>
              <a:spcBef>
                <a:spcPts val="100"/>
              </a:spcBef>
            </a:pPr>
            <a:r>
              <a:rPr lang="en-US" sz="1200" b="1" dirty="0">
                <a:latin typeface="Arial" panose="020B0604020202020204" pitchFamily="34" charset="0"/>
                <a:cs typeface="Arial" panose="020B0604020202020204" pitchFamily="34" charset="0"/>
              </a:rPr>
              <a:t>Assembly production Code : </a:t>
            </a:r>
            <a:r>
              <a:rPr lang="en-US" sz="1200" b="1" spc="-20" dirty="0">
                <a:latin typeface="Arial" panose="020B0604020202020204" pitchFamily="34" charset="0"/>
                <a:cs typeface="Arial" panose="020B0604020202020204" pitchFamily="34" charset="0"/>
              </a:rPr>
              <a:t> </a:t>
            </a:r>
            <a:r>
              <a:rPr lang="en-US" altLang="ko-KR" sz="1050" b="1" dirty="0">
                <a:latin typeface="Arial" panose="020B0604020202020204" pitchFamily="34" charset="0"/>
                <a:cs typeface="Arial" panose="020B0604020202020204" pitchFamily="34" charset="0"/>
              </a:rPr>
              <a:t>CBA2J, CBA2S</a:t>
            </a:r>
            <a:endParaRPr sz="1200" b="1" dirty="0">
              <a:latin typeface="Arial" panose="020B0604020202020204" pitchFamily="34" charset="0"/>
              <a:cs typeface="Arial" panose="020B0604020202020204" pitchFamily="34" charset="0"/>
            </a:endParaRPr>
          </a:p>
        </p:txBody>
      </p:sp>
      <p:sp>
        <p:nvSpPr>
          <p:cNvPr id="45" name="object 24">
            <a:extLst>
              <a:ext uri="{FF2B5EF4-FFF2-40B4-BE49-F238E27FC236}">
                <a16:creationId xmlns:a16="http://schemas.microsoft.com/office/drawing/2014/main" id="{AFA2563C-47AB-C72E-660A-4DEA4D6D5A90}"/>
              </a:ext>
            </a:extLst>
          </p:cNvPr>
          <p:cNvSpPr txBox="1"/>
          <p:nvPr/>
        </p:nvSpPr>
        <p:spPr>
          <a:xfrm>
            <a:off x="-1111250" y="7202785"/>
            <a:ext cx="3526853" cy="271869"/>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4">
              <a:spcBef>
                <a:spcPts val="100"/>
              </a:spcBef>
            </a:pPr>
            <a:r>
              <a:rPr lang="en-US" sz="800" dirty="0">
                <a:latin typeface="Arial" panose="020B0604020202020204" pitchFamily="34" charset="0"/>
                <a:cs typeface="Arial" panose="020B0604020202020204" pitchFamily="34" charset="0"/>
              </a:rPr>
              <a:t>** Font Type : Arial</a:t>
            </a:r>
          </a:p>
          <a:p>
            <a:pPr lvl="4">
              <a:spcBef>
                <a:spcPts val="100"/>
              </a:spcBef>
            </a:pPr>
            <a:r>
              <a:rPr lang="en-US" sz="800" dirty="0">
                <a:latin typeface="Arial" panose="020B0604020202020204" pitchFamily="34" charset="0"/>
                <a:cs typeface="Arial" panose="020B0604020202020204" pitchFamily="34" charset="0"/>
              </a:rPr>
              <a:t>    Marking text tolerance : </a:t>
            </a:r>
            <a:r>
              <a:rPr lang="en-US" sz="800" dirty="0">
                <a:latin typeface="Arial" panose="020B0604020202020204" pitchFamily="34" charset="0"/>
                <a:ea typeface="맑은 고딕" panose="020B0503020000020004" pitchFamily="50" charset="-127"/>
                <a:cs typeface="Arial" panose="020B0604020202020204" pitchFamily="34" charset="0"/>
              </a:rPr>
              <a:t>±0.05mm</a:t>
            </a:r>
          </a:p>
        </p:txBody>
      </p:sp>
      <p:sp>
        <p:nvSpPr>
          <p:cNvPr id="46" name="object 10">
            <a:extLst>
              <a:ext uri="{FF2B5EF4-FFF2-40B4-BE49-F238E27FC236}">
                <a16:creationId xmlns:a16="http://schemas.microsoft.com/office/drawing/2014/main" id="{887C044C-85F8-8C52-0A5E-E4ED8AFFD953}"/>
              </a:ext>
            </a:extLst>
          </p:cNvPr>
          <p:cNvSpPr txBox="1"/>
          <p:nvPr/>
        </p:nvSpPr>
        <p:spPr>
          <a:xfrm>
            <a:off x="3311200" y="4671908"/>
            <a:ext cx="823594" cy="154529"/>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125"/>
              </a:spcBef>
            </a:pPr>
            <a:r>
              <a:rPr lang="en-US" sz="900" dirty="0">
                <a:latin typeface="Arial"/>
                <a:cs typeface="Arial"/>
              </a:rPr>
              <a:t>Y</a:t>
            </a:r>
            <a:r>
              <a:rPr sz="900" spc="15" dirty="0">
                <a:latin typeface="Arial"/>
                <a:cs typeface="Arial"/>
              </a:rPr>
              <a:t> </a:t>
            </a:r>
            <a:r>
              <a:rPr sz="900" dirty="0">
                <a:latin typeface="Arial"/>
                <a:cs typeface="Arial"/>
              </a:rPr>
              <a:t>→</a:t>
            </a:r>
            <a:r>
              <a:rPr sz="900" spc="20" dirty="0">
                <a:latin typeface="Arial"/>
                <a:cs typeface="Arial"/>
              </a:rPr>
              <a:t> </a:t>
            </a:r>
            <a:r>
              <a:rPr sz="900" dirty="0">
                <a:latin typeface="Arial"/>
                <a:cs typeface="Arial"/>
              </a:rPr>
              <a:t>Year</a:t>
            </a:r>
            <a:r>
              <a:rPr sz="900" spc="35" dirty="0">
                <a:latin typeface="Arial"/>
                <a:cs typeface="Arial"/>
              </a:rPr>
              <a:t> </a:t>
            </a:r>
            <a:r>
              <a:rPr sz="900" spc="-20" dirty="0">
                <a:latin typeface="Arial"/>
                <a:cs typeface="Arial"/>
              </a:rPr>
              <a:t>code</a:t>
            </a:r>
            <a:endParaRPr sz="900" dirty="0">
              <a:latin typeface="Arial"/>
              <a:cs typeface="Arial"/>
            </a:endParaRPr>
          </a:p>
        </p:txBody>
      </p:sp>
      <p:pic>
        <p:nvPicPr>
          <p:cNvPr id="47" name="table">
            <a:extLst>
              <a:ext uri="{FF2B5EF4-FFF2-40B4-BE49-F238E27FC236}">
                <a16:creationId xmlns:a16="http://schemas.microsoft.com/office/drawing/2014/main" id="{CDC11C2F-D4B8-38D6-BBB5-DC63C4CBC7EC}"/>
              </a:ext>
            </a:extLst>
          </p:cNvPr>
          <p:cNvPicPr>
            <a:picLocks noChangeAspect="1"/>
          </p:cNvPicPr>
          <p:nvPr/>
        </p:nvPicPr>
        <p:blipFill>
          <a:blip r:embed="rId4"/>
          <a:stretch>
            <a:fillRect/>
          </a:stretch>
        </p:blipFill>
        <p:spPr>
          <a:xfrm>
            <a:off x="3264751" y="4849102"/>
            <a:ext cx="2863234" cy="539750"/>
          </a:xfrm>
          <a:prstGeom prst="rect">
            <a:avLst/>
          </a:prstGeom>
        </p:spPr>
      </p:pic>
      <p:sp>
        <p:nvSpPr>
          <p:cNvPr id="48" name="object 11">
            <a:extLst>
              <a:ext uri="{FF2B5EF4-FFF2-40B4-BE49-F238E27FC236}">
                <a16:creationId xmlns:a16="http://schemas.microsoft.com/office/drawing/2014/main" id="{CE1DDC1A-5507-416B-0700-A9E3026F81D3}"/>
              </a:ext>
            </a:extLst>
          </p:cNvPr>
          <p:cNvSpPr txBox="1"/>
          <p:nvPr/>
        </p:nvSpPr>
        <p:spPr>
          <a:xfrm>
            <a:off x="3311200" y="5480428"/>
            <a:ext cx="2223195" cy="154529"/>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125"/>
              </a:spcBef>
            </a:pPr>
            <a:r>
              <a:rPr lang="en-US" sz="900" spc="25" dirty="0">
                <a:latin typeface="Arial"/>
                <a:cs typeface="Arial"/>
              </a:rPr>
              <a:t>W</a:t>
            </a:r>
            <a:r>
              <a:rPr sz="900" spc="25" dirty="0">
                <a:latin typeface="Arial"/>
                <a:cs typeface="Arial"/>
              </a:rPr>
              <a:t> </a:t>
            </a:r>
            <a:r>
              <a:rPr sz="900" dirty="0">
                <a:latin typeface="Arial"/>
                <a:cs typeface="Arial"/>
              </a:rPr>
              <a:t>→</a:t>
            </a:r>
            <a:r>
              <a:rPr sz="900" spc="20" dirty="0">
                <a:latin typeface="Arial"/>
                <a:cs typeface="Arial"/>
              </a:rPr>
              <a:t> </a:t>
            </a:r>
            <a:r>
              <a:rPr sz="900" dirty="0">
                <a:latin typeface="Arial"/>
                <a:cs typeface="Arial"/>
              </a:rPr>
              <a:t>Week</a:t>
            </a:r>
            <a:r>
              <a:rPr sz="900" spc="5" dirty="0">
                <a:latin typeface="Arial"/>
                <a:cs typeface="Arial"/>
              </a:rPr>
              <a:t> </a:t>
            </a:r>
            <a:r>
              <a:rPr sz="900" dirty="0">
                <a:latin typeface="Arial"/>
                <a:cs typeface="Arial"/>
              </a:rPr>
              <a:t>code</a:t>
            </a:r>
            <a:r>
              <a:rPr sz="900" spc="295" dirty="0">
                <a:latin typeface="Arial"/>
                <a:cs typeface="Arial"/>
              </a:rPr>
              <a:t> </a:t>
            </a:r>
            <a:r>
              <a:rPr sz="900" dirty="0">
                <a:latin typeface="Arial"/>
                <a:cs typeface="Arial"/>
              </a:rPr>
              <a:t>,</a:t>
            </a:r>
            <a:r>
              <a:rPr sz="900" spc="325" dirty="0">
                <a:latin typeface="Arial"/>
                <a:cs typeface="Arial"/>
              </a:rPr>
              <a:t> </a:t>
            </a:r>
            <a:r>
              <a:rPr sz="900" dirty="0">
                <a:latin typeface="Arial"/>
                <a:cs typeface="Arial"/>
              </a:rPr>
              <a:t>A=W1,</a:t>
            </a:r>
            <a:r>
              <a:rPr sz="900" spc="160" dirty="0">
                <a:latin typeface="Arial"/>
                <a:cs typeface="Arial"/>
              </a:rPr>
              <a:t>  </a:t>
            </a:r>
            <a:r>
              <a:rPr sz="900" spc="-10" dirty="0">
                <a:latin typeface="Arial"/>
                <a:cs typeface="Arial"/>
              </a:rPr>
              <a:t>B=W2,….</a:t>
            </a:r>
            <a:endParaRPr sz="900" dirty="0">
              <a:latin typeface="Arial"/>
              <a:cs typeface="Arial"/>
            </a:endParaRPr>
          </a:p>
        </p:txBody>
      </p:sp>
      <p:pic>
        <p:nvPicPr>
          <p:cNvPr id="49" name="table">
            <a:extLst>
              <a:ext uri="{FF2B5EF4-FFF2-40B4-BE49-F238E27FC236}">
                <a16:creationId xmlns:a16="http://schemas.microsoft.com/office/drawing/2014/main" id="{6E59BFAB-F276-07E2-15AA-0F2C75B08D75}"/>
              </a:ext>
            </a:extLst>
          </p:cNvPr>
          <p:cNvPicPr>
            <a:picLocks noChangeAspect="1"/>
          </p:cNvPicPr>
          <p:nvPr/>
        </p:nvPicPr>
        <p:blipFill>
          <a:blip r:embed="rId5"/>
          <a:stretch>
            <a:fillRect/>
          </a:stretch>
        </p:blipFill>
        <p:spPr>
          <a:xfrm>
            <a:off x="3246274" y="5673164"/>
            <a:ext cx="2906863" cy="433070"/>
          </a:xfrm>
          <a:prstGeom prst="rect">
            <a:avLst/>
          </a:prstGeom>
        </p:spPr>
      </p:pic>
      <p:sp>
        <p:nvSpPr>
          <p:cNvPr id="50" name="object 12">
            <a:extLst>
              <a:ext uri="{FF2B5EF4-FFF2-40B4-BE49-F238E27FC236}">
                <a16:creationId xmlns:a16="http://schemas.microsoft.com/office/drawing/2014/main" id="{9DA46B66-8819-6B3E-A817-84B3DAB1CFAE}"/>
              </a:ext>
            </a:extLst>
          </p:cNvPr>
          <p:cNvSpPr txBox="1"/>
          <p:nvPr/>
        </p:nvSpPr>
        <p:spPr>
          <a:xfrm>
            <a:off x="3311199" y="6206718"/>
            <a:ext cx="2841938" cy="431528"/>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66700" indent="-254000">
              <a:lnSpc>
                <a:spcPct val="100000"/>
              </a:lnSpc>
              <a:spcBef>
                <a:spcPts val="125"/>
              </a:spcBef>
            </a:pPr>
            <a:r>
              <a:rPr sz="900" dirty="0">
                <a:latin typeface="Arial"/>
                <a:cs typeface="Arial"/>
              </a:rPr>
              <a:t>C</a:t>
            </a:r>
            <a:r>
              <a:rPr sz="900" spc="25" dirty="0">
                <a:latin typeface="Arial"/>
                <a:cs typeface="Arial"/>
              </a:rPr>
              <a:t> </a:t>
            </a:r>
            <a:r>
              <a:rPr sz="900" dirty="0">
                <a:latin typeface="Arial"/>
                <a:cs typeface="Arial"/>
              </a:rPr>
              <a:t>→</a:t>
            </a:r>
            <a:r>
              <a:rPr sz="900" spc="25" dirty="0">
                <a:latin typeface="Arial"/>
                <a:cs typeface="Arial"/>
              </a:rPr>
              <a:t> </a:t>
            </a:r>
            <a:r>
              <a:rPr sz="900" dirty="0">
                <a:latin typeface="Arial"/>
                <a:cs typeface="Arial"/>
              </a:rPr>
              <a:t>Wafer lot,</a:t>
            </a:r>
            <a:r>
              <a:rPr sz="900" spc="180" dirty="0">
                <a:latin typeface="Arial"/>
                <a:cs typeface="Arial"/>
              </a:rPr>
              <a:t>  </a:t>
            </a:r>
            <a:r>
              <a:rPr sz="900" dirty="0">
                <a:latin typeface="Arial"/>
                <a:cs typeface="Arial"/>
              </a:rPr>
              <a:t>Each</a:t>
            </a:r>
            <a:r>
              <a:rPr sz="900" spc="35" dirty="0">
                <a:latin typeface="Arial"/>
                <a:cs typeface="Arial"/>
              </a:rPr>
              <a:t> </a:t>
            </a:r>
            <a:r>
              <a:rPr sz="900" dirty="0">
                <a:latin typeface="Arial"/>
                <a:cs typeface="Arial"/>
              </a:rPr>
              <a:t>wafer</a:t>
            </a:r>
            <a:r>
              <a:rPr sz="900" spc="25" dirty="0">
                <a:latin typeface="Arial"/>
                <a:cs typeface="Arial"/>
              </a:rPr>
              <a:t> </a:t>
            </a:r>
            <a:r>
              <a:rPr sz="900" dirty="0">
                <a:latin typeface="Arial"/>
                <a:cs typeface="Arial"/>
              </a:rPr>
              <a:t>Lot</a:t>
            </a:r>
            <a:r>
              <a:rPr sz="900" spc="30" dirty="0">
                <a:latin typeface="Arial"/>
                <a:cs typeface="Arial"/>
              </a:rPr>
              <a:t> </a:t>
            </a:r>
            <a:r>
              <a:rPr sz="900" dirty="0">
                <a:latin typeface="Arial"/>
                <a:cs typeface="Arial"/>
              </a:rPr>
              <a:t>is</a:t>
            </a:r>
            <a:r>
              <a:rPr sz="900" spc="30" dirty="0">
                <a:latin typeface="Arial"/>
                <a:cs typeface="Arial"/>
              </a:rPr>
              <a:t> </a:t>
            </a:r>
            <a:r>
              <a:rPr sz="900" dirty="0">
                <a:latin typeface="Arial"/>
                <a:cs typeface="Arial"/>
              </a:rPr>
              <a:t>represented</a:t>
            </a:r>
            <a:r>
              <a:rPr sz="900" spc="25" dirty="0">
                <a:latin typeface="Arial"/>
                <a:cs typeface="Arial"/>
              </a:rPr>
              <a:t> </a:t>
            </a:r>
            <a:r>
              <a:rPr sz="900" dirty="0">
                <a:latin typeface="Arial"/>
                <a:cs typeface="Arial"/>
              </a:rPr>
              <a:t>by</a:t>
            </a:r>
            <a:r>
              <a:rPr sz="900" spc="30" dirty="0">
                <a:latin typeface="Arial"/>
                <a:cs typeface="Arial"/>
              </a:rPr>
              <a:t> </a:t>
            </a:r>
            <a:r>
              <a:rPr sz="900" dirty="0">
                <a:latin typeface="Arial"/>
                <a:cs typeface="Arial"/>
              </a:rPr>
              <a:t>a</a:t>
            </a:r>
            <a:r>
              <a:rPr sz="900" spc="35" dirty="0">
                <a:latin typeface="Arial"/>
                <a:cs typeface="Arial"/>
              </a:rPr>
              <a:t> </a:t>
            </a:r>
            <a:r>
              <a:rPr sz="900" dirty="0">
                <a:latin typeface="Arial"/>
                <a:cs typeface="Arial"/>
              </a:rPr>
              <a:t>character</a:t>
            </a:r>
            <a:r>
              <a:rPr sz="900" spc="15" dirty="0">
                <a:latin typeface="Arial"/>
                <a:cs typeface="Arial"/>
              </a:rPr>
              <a:t> </a:t>
            </a:r>
            <a:r>
              <a:rPr sz="900" dirty="0">
                <a:latin typeface="Arial"/>
                <a:cs typeface="Arial"/>
              </a:rPr>
              <a:t>(Ex:</a:t>
            </a:r>
            <a:r>
              <a:rPr sz="900" spc="65" dirty="0">
                <a:latin typeface="Arial"/>
                <a:cs typeface="Arial"/>
              </a:rPr>
              <a:t> </a:t>
            </a:r>
            <a:r>
              <a:rPr sz="900" dirty="0">
                <a:latin typeface="Arial"/>
                <a:cs typeface="Arial"/>
              </a:rPr>
              <a:t>A,</a:t>
            </a:r>
            <a:r>
              <a:rPr sz="900" spc="30" dirty="0">
                <a:latin typeface="Arial"/>
                <a:cs typeface="Arial"/>
              </a:rPr>
              <a:t> </a:t>
            </a:r>
            <a:r>
              <a:rPr sz="900" dirty="0">
                <a:latin typeface="Arial"/>
                <a:cs typeface="Arial"/>
              </a:rPr>
              <a:t>B,</a:t>
            </a:r>
            <a:r>
              <a:rPr sz="900" spc="45" dirty="0">
                <a:latin typeface="Arial"/>
                <a:cs typeface="Arial"/>
              </a:rPr>
              <a:t> </a:t>
            </a:r>
            <a:r>
              <a:rPr sz="900" dirty="0">
                <a:latin typeface="Arial"/>
                <a:cs typeface="Arial"/>
              </a:rPr>
              <a:t>C,</a:t>
            </a:r>
            <a:r>
              <a:rPr sz="900" spc="30" dirty="0">
                <a:latin typeface="Arial"/>
                <a:cs typeface="Arial"/>
              </a:rPr>
              <a:t> </a:t>
            </a:r>
            <a:r>
              <a:rPr sz="900" spc="-25" dirty="0">
                <a:latin typeface="Arial"/>
                <a:cs typeface="Arial"/>
              </a:rPr>
              <a:t>…).</a:t>
            </a:r>
            <a:endParaRPr sz="900" dirty="0">
              <a:latin typeface="Arial"/>
              <a:cs typeface="Arial"/>
            </a:endParaRPr>
          </a:p>
          <a:p>
            <a:pPr marL="266700">
              <a:lnSpc>
                <a:spcPct val="100000"/>
              </a:lnSpc>
              <a:spcBef>
                <a:spcPts val="20"/>
              </a:spcBef>
            </a:pPr>
            <a:r>
              <a:rPr sz="900" dirty="0">
                <a:latin typeface="Arial"/>
                <a:cs typeface="Arial"/>
              </a:rPr>
              <a:t>These</a:t>
            </a:r>
            <a:r>
              <a:rPr sz="900" spc="30" dirty="0">
                <a:latin typeface="Arial"/>
                <a:cs typeface="Arial"/>
              </a:rPr>
              <a:t> </a:t>
            </a:r>
            <a:r>
              <a:rPr sz="900" dirty="0">
                <a:latin typeface="Arial"/>
                <a:cs typeface="Arial"/>
              </a:rPr>
              <a:t>character</a:t>
            </a:r>
            <a:r>
              <a:rPr sz="900" spc="50" dirty="0">
                <a:latin typeface="Arial"/>
                <a:cs typeface="Arial"/>
              </a:rPr>
              <a:t> </a:t>
            </a:r>
            <a:r>
              <a:rPr sz="900" dirty="0">
                <a:latin typeface="Arial"/>
                <a:cs typeface="Arial"/>
              </a:rPr>
              <a:t>cycle</a:t>
            </a:r>
            <a:r>
              <a:rPr sz="900" spc="65" dirty="0">
                <a:latin typeface="Arial"/>
                <a:cs typeface="Arial"/>
              </a:rPr>
              <a:t> </a:t>
            </a:r>
            <a:r>
              <a:rPr sz="900" dirty="0">
                <a:latin typeface="Arial"/>
                <a:cs typeface="Arial"/>
              </a:rPr>
              <a:t>once</a:t>
            </a:r>
            <a:r>
              <a:rPr sz="900" spc="30" dirty="0">
                <a:latin typeface="Arial"/>
                <a:cs typeface="Arial"/>
              </a:rPr>
              <a:t> </a:t>
            </a:r>
            <a:r>
              <a:rPr sz="900" dirty="0">
                <a:latin typeface="Arial"/>
                <a:cs typeface="Arial"/>
              </a:rPr>
              <a:t>a</a:t>
            </a:r>
            <a:r>
              <a:rPr sz="900" spc="65" dirty="0">
                <a:latin typeface="Arial"/>
                <a:cs typeface="Arial"/>
              </a:rPr>
              <a:t> </a:t>
            </a:r>
            <a:r>
              <a:rPr sz="900" spc="-20" dirty="0">
                <a:latin typeface="Arial"/>
                <a:cs typeface="Arial"/>
              </a:rPr>
              <a:t>week.</a:t>
            </a:r>
            <a:endParaRPr sz="900" dirty="0">
              <a:latin typeface="Arial"/>
              <a:cs typeface="Arial"/>
            </a:endParaRPr>
          </a:p>
        </p:txBody>
      </p:sp>
      <p:pic>
        <p:nvPicPr>
          <p:cNvPr id="51" name="table">
            <a:extLst>
              <a:ext uri="{FF2B5EF4-FFF2-40B4-BE49-F238E27FC236}">
                <a16:creationId xmlns:a16="http://schemas.microsoft.com/office/drawing/2014/main" id="{3C72237E-AA48-8D0D-7AB6-AA30D5A8D0F7}"/>
              </a:ext>
            </a:extLst>
          </p:cNvPr>
          <p:cNvPicPr>
            <a:picLocks noChangeAspect="1"/>
          </p:cNvPicPr>
          <p:nvPr/>
        </p:nvPicPr>
        <p:blipFill>
          <a:blip r:embed="rId6"/>
          <a:stretch>
            <a:fillRect/>
          </a:stretch>
        </p:blipFill>
        <p:spPr>
          <a:xfrm>
            <a:off x="3246273" y="6667842"/>
            <a:ext cx="2906865" cy="433070"/>
          </a:xfrm>
          <a:prstGeom prst="rect">
            <a:avLst/>
          </a:prstGeom>
        </p:spPr>
      </p:pic>
      <p:sp>
        <p:nvSpPr>
          <p:cNvPr id="52" name="object 13">
            <a:extLst>
              <a:ext uri="{FF2B5EF4-FFF2-40B4-BE49-F238E27FC236}">
                <a16:creationId xmlns:a16="http://schemas.microsoft.com/office/drawing/2014/main" id="{3E105C42-2789-C087-6073-8D9512EF705D}"/>
              </a:ext>
            </a:extLst>
          </p:cNvPr>
          <p:cNvSpPr txBox="1"/>
          <p:nvPr/>
        </p:nvSpPr>
        <p:spPr>
          <a:xfrm>
            <a:off x="3311199" y="7192234"/>
            <a:ext cx="2841938" cy="595676"/>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125"/>
              </a:spcBef>
            </a:pPr>
            <a:r>
              <a:rPr sz="900" dirty="0">
                <a:latin typeface="Arial"/>
                <a:cs typeface="Arial"/>
              </a:rPr>
              <a:t>D</a:t>
            </a:r>
            <a:r>
              <a:rPr sz="900" spc="30" dirty="0">
                <a:latin typeface="Arial"/>
                <a:cs typeface="Arial"/>
              </a:rPr>
              <a:t> </a:t>
            </a:r>
            <a:r>
              <a:rPr sz="900" dirty="0">
                <a:latin typeface="Arial"/>
                <a:cs typeface="Arial"/>
              </a:rPr>
              <a:t>→</a:t>
            </a:r>
            <a:r>
              <a:rPr sz="900" spc="30" dirty="0">
                <a:latin typeface="Arial"/>
                <a:cs typeface="Arial"/>
              </a:rPr>
              <a:t> </a:t>
            </a:r>
            <a:r>
              <a:rPr lang="en-US" sz="900" spc="30" dirty="0">
                <a:latin typeface="Arial"/>
                <a:cs typeface="Arial"/>
              </a:rPr>
              <a:t>Traceability Code </a:t>
            </a:r>
            <a:r>
              <a:rPr sz="900" dirty="0">
                <a:latin typeface="Arial"/>
                <a:cs typeface="Arial"/>
              </a:rPr>
              <a:t>Wafer</a:t>
            </a:r>
            <a:r>
              <a:rPr sz="900" spc="5" dirty="0">
                <a:latin typeface="Arial"/>
                <a:cs typeface="Arial"/>
              </a:rPr>
              <a:t> </a:t>
            </a:r>
            <a:r>
              <a:rPr sz="900" dirty="0">
                <a:latin typeface="Arial"/>
                <a:cs typeface="Arial"/>
              </a:rPr>
              <a:t>lot</a:t>
            </a:r>
            <a:r>
              <a:rPr sz="900" spc="35" dirty="0">
                <a:latin typeface="Arial"/>
                <a:cs typeface="Arial"/>
              </a:rPr>
              <a:t> </a:t>
            </a:r>
            <a:r>
              <a:rPr sz="900" dirty="0">
                <a:latin typeface="Arial"/>
                <a:cs typeface="Arial"/>
              </a:rPr>
              <a:t>NO.</a:t>
            </a:r>
            <a:r>
              <a:rPr sz="900" spc="315" dirty="0">
                <a:latin typeface="Arial"/>
                <a:cs typeface="Arial"/>
              </a:rPr>
              <a:t> </a:t>
            </a:r>
            <a:r>
              <a:rPr sz="900" dirty="0">
                <a:latin typeface="Arial"/>
                <a:cs typeface="Arial"/>
              </a:rPr>
              <a:t>:</a:t>
            </a:r>
            <a:r>
              <a:rPr sz="900" spc="50" dirty="0">
                <a:latin typeface="Arial"/>
                <a:cs typeface="Arial"/>
              </a:rPr>
              <a:t> </a:t>
            </a:r>
            <a:endParaRPr lang="en-US" sz="900" spc="50" dirty="0">
              <a:latin typeface="Arial"/>
              <a:cs typeface="Arial"/>
            </a:endParaRPr>
          </a:p>
          <a:p>
            <a:pPr marL="182563" indent="84138">
              <a:lnSpc>
                <a:spcPct val="100000"/>
              </a:lnSpc>
              <a:spcBef>
                <a:spcPts val="125"/>
              </a:spcBef>
            </a:pPr>
            <a:r>
              <a:rPr sz="900" dirty="0">
                <a:latin typeface="Arial"/>
                <a:cs typeface="Arial"/>
              </a:rPr>
              <a:t>A</a:t>
            </a:r>
            <a:r>
              <a:rPr sz="900" spc="35" dirty="0">
                <a:latin typeface="Arial"/>
                <a:cs typeface="Arial"/>
              </a:rPr>
              <a:t> </a:t>
            </a:r>
            <a:r>
              <a:rPr sz="900" dirty="0">
                <a:latin typeface="Arial"/>
                <a:cs typeface="Arial"/>
              </a:rPr>
              <a:t>big</a:t>
            </a:r>
            <a:r>
              <a:rPr sz="900" spc="30" dirty="0">
                <a:latin typeface="Arial"/>
                <a:cs typeface="Arial"/>
              </a:rPr>
              <a:t> </a:t>
            </a:r>
            <a:r>
              <a:rPr sz="900" dirty="0">
                <a:latin typeface="Arial"/>
                <a:cs typeface="Arial"/>
              </a:rPr>
              <a:t>assembly</a:t>
            </a:r>
            <a:r>
              <a:rPr sz="900" spc="10" dirty="0">
                <a:latin typeface="Arial"/>
                <a:cs typeface="Arial"/>
              </a:rPr>
              <a:t> </a:t>
            </a:r>
            <a:r>
              <a:rPr sz="900" dirty="0">
                <a:latin typeface="Arial"/>
                <a:cs typeface="Arial"/>
              </a:rPr>
              <a:t>Lot</a:t>
            </a:r>
            <a:r>
              <a:rPr sz="900" spc="35" dirty="0">
                <a:latin typeface="Arial"/>
                <a:cs typeface="Arial"/>
              </a:rPr>
              <a:t> </a:t>
            </a:r>
            <a:r>
              <a:rPr sz="900" dirty="0">
                <a:latin typeface="Arial"/>
                <a:cs typeface="Arial"/>
              </a:rPr>
              <a:t>consists</a:t>
            </a:r>
            <a:r>
              <a:rPr sz="900" spc="15" dirty="0">
                <a:latin typeface="Arial"/>
                <a:cs typeface="Arial"/>
              </a:rPr>
              <a:t> </a:t>
            </a:r>
            <a:r>
              <a:rPr sz="900" dirty="0">
                <a:latin typeface="Arial"/>
                <a:cs typeface="Arial"/>
              </a:rPr>
              <a:t>of</a:t>
            </a:r>
            <a:r>
              <a:rPr sz="900" spc="50" dirty="0">
                <a:latin typeface="Arial"/>
                <a:cs typeface="Arial"/>
              </a:rPr>
              <a:t> </a:t>
            </a:r>
            <a:r>
              <a:rPr sz="900" dirty="0">
                <a:latin typeface="Arial"/>
                <a:cs typeface="Arial"/>
              </a:rPr>
              <a:t>three</a:t>
            </a:r>
            <a:r>
              <a:rPr sz="900" spc="45" dirty="0">
                <a:latin typeface="Arial"/>
                <a:cs typeface="Arial"/>
              </a:rPr>
              <a:t> </a:t>
            </a:r>
            <a:r>
              <a:rPr sz="900" dirty="0">
                <a:latin typeface="Arial"/>
                <a:cs typeface="Arial"/>
              </a:rPr>
              <a:t>wafers.</a:t>
            </a:r>
            <a:r>
              <a:rPr sz="900" spc="315" dirty="0">
                <a:latin typeface="Arial"/>
                <a:cs typeface="Arial"/>
              </a:rPr>
              <a:t> </a:t>
            </a:r>
            <a:r>
              <a:rPr sz="900" dirty="0">
                <a:latin typeface="Arial"/>
                <a:cs typeface="Arial"/>
              </a:rPr>
              <a:t>Each</a:t>
            </a:r>
            <a:r>
              <a:rPr sz="900" spc="35" dirty="0">
                <a:latin typeface="Arial"/>
                <a:cs typeface="Arial"/>
              </a:rPr>
              <a:t> </a:t>
            </a:r>
            <a:r>
              <a:rPr sz="900" dirty="0">
                <a:latin typeface="Arial"/>
                <a:cs typeface="Arial"/>
              </a:rPr>
              <a:t>big</a:t>
            </a:r>
            <a:r>
              <a:rPr sz="900" spc="30" dirty="0">
                <a:latin typeface="Arial"/>
                <a:cs typeface="Arial"/>
              </a:rPr>
              <a:t> </a:t>
            </a:r>
            <a:r>
              <a:rPr sz="900" dirty="0">
                <a:latin typeface="Arial"/>
                <a:cs typeface="Arial"/>
              </a:rPr>
              <a:t>assembly</a:t>
            </a:r>
            <a:r>
              <a:rPr sz="900" spc="10" dirty="0">
                <a:latin typeface="Arial"/>
                <a:cs typeface="Arial"/>
              </a:rPr>
              <a:t> </a:t>
            </a:r>
            <a:r>
              <a:rPr sz="900" spc="-25" dirty="0">
                <a:latin typeface="Arial"/>
                <a:cs typeface="Arial"/>
              </a:rPr>
              <a:t>Lot</a:t>
            </a:r>
            <a:r>
              <a:rPr lang="en-US" sz="900" spc="-25" dirty="0">
                <a:latin typeface="Arial"/>
                <a:cs typeface="Arial"/>
              </a:rPr>
              <a:t>.</a:t>
            </a:r>
          </a:p>
          <a:p>
            <a:pPr marL="182563" indent="84138">
              <a:lnSpc>
                <a:spcPct val="100000"/>
              </a:lnSpc>
              <a:spcBef>
                <a:spcPts val="125"/>
              </a:spcBef>
            </a:pPr>
            <a:r>
              <a:rPr sz="900" dirty="0">
                <a:latin typeface="Arial"/>
                <a:cs typeface="Arial"/>
              </a:rPr>
              <a:t>Lot</a:t>
            </a:r>
            <a:r>
              <a:rPr sz="900" spc="40" dirty="0">
                <a:latin typeface="Arial"/>
                <a:cs typeface="Arial"/>
              </a:rPr>
              <a:t> </a:t>
            </a:r>
            <a:r>
              <a:rPr sz="900" dirty="0">
                <a:latin typeface="Arial"/>
                <a:cs typeface="Arial"/>
              </a:rPr>
              <a:t>is</a:t>
            </a:r>
            <a:r>
              <a:rPr sz="900" spc="45" dirty="0">
                <a:latin typeface="Arial"/>
                <a:cs typeface="Arial"/>
              </a:rPr>
              <a:t> </a:t>
            </a:r>
            <a:r>
              <a:rPr sz="900" dirty="0">
                <a:latin typeface="Arial"/>
                <a:cs typeface="Arial"/>
              </a:rPr>
              <a:t>represented</a:t>
            </a:r>
            <a:r>
              <a:rPr sz="900" spc="25" dirty="0">
                <a:latin typeface="Arial"/>
                <a:cs typeface="Arial"/>
              </a:rPr>
              <a:t> </a:t>
            </a:r>
            <a:r>
              <a:rPr sz="900" dirty="0">
                <a:latin typeface="Arial"/>
                <a:cs typeface="Arial"/>
              </a:rPr>
              <a:t>by</a:t>
            </a:r>
            <a:r>
              <a:rPr sz="900" spc="60" dirty="0">
                <a:latin typeface="Arial"/>
                <a:cs typeface="Arial"/>
              </a:rPr>
              <a:t> </a:t>
            </a:r>
            <a:r>
              <a:rPr sz="900" dirty="0">
                <a:latin typeface="Arial"/>
                <a:cs typeface="Arial"/>
              </a:rPr>
              <a:t>a</a:t>
            </a:r>
            <a:r>
              <a:rPr sz="900" spc="45" dirty="0">
                <a:latin typeface="Arial"/>
                <a:cs typeface="Arial"/>
              </a:rPr>
              <a:t> </a:t>
            </a:r>
            <a:r>
              <a:rPr sz="900" dirty="0">
                <a:latin typeface="Arial"/>
                <a:cs typeface="Arial"/>
              </a:rPr>
              <a:t>character</a:t>
            </a:r>
            <a:r>
              <a:rPr sz="900" spc="40" dirty="0">
                <a:latin typeface="Arial"/>
                <a:cs typeface="Arial"/>
              </a:rPr>
              <a:t> </a:t>
            </a:r>
            <a:r>
              <a:rPr sz="900" dirty="0">
                <a:latin typeface="Arial"/>
                <a:cs typeface="Arial"/>
              </a:rPr>
              <a:t>(Ex:</a:t>
            </a:r>
            <a:r>
              <a:rPr sz="900" spc="75" dirty="0">
                <a:latin typeface="Arial"/>
                <a:cs typeface="Arial"/>
              </a:rPr>
              <a:t> </a:t>
            </a:r>
            <a:r>
              <a:rPr sz="900" spc="-10" dirty="0">
                <a:latin typeface="Arial"/>
                <a:cs typeface="Arial"/>
              </a:rPr>
              <a:t>1,2,3,…)</a:t>
            </a:r>
            <a:endParaRPr sz="900" dirty="0">
              <a:latin typeface="Arial"/>
              <a:cs typeface="Arial"/>
            </a:endParaRPr>
          </a:p>
        </p:txBody>
      </p:sp>
      <p:pic>
        <p:nvPicPr>
          <p:cNvPr id="53" name="table">
            <a:extLst>
              <a:ext uri="{FF2B5EF4-FFF2-40B4-BE49-F238E27FC236}">
                <a16:creationId xmlns:a16="http://schemas.microsoft.com/office/drawing/2014/main" id="{3A4D7DF2-9821-813A-CC3B-1A5A9781C24B}"/>
              </a:ext>
            </a:extLst>
          </p:cNvPr>
          <p:cNvPicPr>
            <a:picLocks noChangeAspect="1"/>
          </p:cNvPicPr>
          <p:nvPr/>
        </p:nvPicPr>
        <p:blipFill>
          <a:blip r:embed="rId7"/>
          <a:stretch>
            <a:fillRect/>
          </a:stretch>
        </p:blipFill>
        <p:spPr>
          <a:xfrm>
            <a:off x="3246269" y="7798226"/>
            <a:ext cx="2906863" cy="433070"/>
          </a:xfrm>
          <a:prstGeom prst="rect">
            <a:avLst/>
          </a:prstGeom>
        </p:spPr>
      </p:pic>
      <p:sp>
        <p:nvSpPr>
          <p:cNvPr id="54" name="object 10">
            <a:extLst>
              <a:ext uri="{FF2B5EF4-FFF2-40B4-BE49-F238E27FC236}">
                <a16:creationId xmlns:a16="http://schemas.microsoft.com/office/drawing/2014/main" id="{3F4802A4-CE43-6C2F-E275-0296B4053A40}"/>
              </a:ext>
            </a:extLst>
          </p:cNvPr>
          <p:cNvSpPr txBox="1"/>
          <p:nvPr/>
        </p:nvSpPr>
        <p:spPr>
          <a:xfrm>
            <a:off x="3311199" y="8330595"/>
            <a:ext cx="2223195" cy="154529"/>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125"/>
              </a:spcBef>
            </a:pPr>
            <a:r>
              <a:rPr lang="en-US" sz="900" dirty="0">
                <a:latin typeface="Arial"/>
                <a:cs typeface="Arial"/>
              </a:rPr>
              <a:t>@</a:t>
            </a:r>
            <a:r>
              <a:rPr sz="900" spc="15" dirty="0">
                <a:latin typeface="Arial"/>
                <a:cs typeface="Arial"/>
              </a:rPr>
              <a:t> </a:t>
            </a:r>
            <a:r>
              <a:rPr sz="900" dirty="0">
                <a:latin typeface="Arial"/>
                <a:cs typeface="Arial"/>
              </a:rPr>
              <a:t>→</a:t>
            </a:r>
            <a:r>
              <a:rPr sz="900" spc="20" dirty="0">
                <a:latin typeface="Arial"/>
                <a:cs typeface="Arial"/>
              </a:rPr>
              <a:t> </a:t>
            </a:r>
            <a:r>
              <a:rPr lang="en-US" sz="900" spc="20" dirty="0">
                <a:latin typeface="Arial"/>
                <a:cs typeface="Arial"/>
              </a:rPr>
              <a:t>Assembly plant</a:t>
            </a:r>
            <a:r>
              <a:rPr sz="900" spc="35" dirty="0">
                <a:latin typeface="Arial"/>
                <a:cs typeface="Arial"/>
              </a:rPr>
              <a:t> </a:t>
            </a:r>
            <a:r>
              <a:rPr sz="900" spc="-20" dirty="0">
                <a:latin typeface="Arial"/>
                <a:cs typeface="Arial"/>
              </a:rPr>
              <a:t>code</a:t>
            </a:r>
            <a:endParaRPr sz="900" dirty="0">
              <a:latin typeface="Arial"/>
              <a:cs typeface="Arial"/>
            </a:endParaRPr>
          </a:p>
        </p:txBody>
      </p:sp>
      <p:pic>
        <p:nvPicPr>
          <p:cNvPr id="55" name="table">
            <a:extLst>
              <a:ext uri="{FF2B5EF4-FFF2-40B4-BE49-F238E27FC236}">
                <a16:creationId xmlns:a16="http://schemas.microsoft.com/office/drawing/2014/main" id="{337FFB37-A1A6-91CA-1444-1B811EB86C12}"/>
              </a:ext>
            </a:extLst>
          </p:cNvPr>
          <p:cNvPicPr>
            <a:picLocks noChangeAspect="1"/>
          </p:cNvPicPr>
          <p:nvPr/>
        </p:nvPicPr>
        <p:blipFill>
          <a:blip r:embed="rId8"/>
          <a:stretch>
            <a:fillRect/>
          </a:stretch>
        </p:blipFill>
        <p:spPr>
          <a:xfrm>
            <a:off x="3246268" y="8523029"/>
            <a:ext cx="2906863" cy="433070"/>
          </a:xfrm>
          <a:prstGeom prst="rect">
            <a:avLst/>
          </a:prstGeom>
        </p:spPr>
      </p:pic>
      <p:sp>
        <p:nvSpPr>
          <p:cNvPr id="56" name="object 19">
            <a:extLst>
              <a:ext uri="{FF2B5EF4-FFF2-40B4-BE49-F238E27FC236}">
                <a16:creationId xmlns:a16="http://schemas.microsoft.com/office/drawing/2014/main" id="{85A9BBA8-9E97-0C84-DB3F-305341E0BBF6}"/>
              </a:ext>
            </a:extLst>
          </p:cNvPr>
          <p:cNvSpPr txBox="1"/>
          <p:nvPr/>
        </p:nvSpPr>
        <p:spPr>
          <a:xfrm>
            <a:off x="1323989" y="2717999"/>
            <a:ext cx="1377142" cy="360354"/>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marR="480695">
              <a:lnSpc>
                <a:spcPct val="100000"/>
              </a:lnSpc>
              <a:spcBef>
                <a:spcPts val="155"/>
              </a:spcBef>
            </a:pPr>
            <a:r>
              <a:rPr lang="en-US" sz="2000" b="1" spc="-10" dirty="0">
                <a:latin typeface="Arial" panose="020B0604020202020204" pitchFamily="34" charset="0"/>
                <a:cs typeface="Arial" panose="020B0604020202020204" pitchFamily="34" charset="0"/>
              </a:rPr>
              <a:t>CBA2J</a:t>
            </a:r>
            <a:endParaRPr sz="2000" b="1" dirty="0">
              <a:latin typeface="Arial" panose="020B0604020202020204" pitchFamily="34" charset="0"/>
              <a:cs typeface="Arial" panose="020B0604020202020204" pitchFamily="34" charset="0"/>
            </a:endParaRPr>
          </a:p>
        </p:txBody>
      </p:sp>
      <p:sp>
        <p:nvSpPr>
          <p:cNvPr id="57" name="object 19">
            <a:extLst>
              <a:ext uri="{FF2B5EF4-FFF2-40B4-BE49-F238E27FC236}">
                <a16:creationId xmlns:a16="http://schemas.microsoft.com/office/drawing/2014/main" id="{3284A6AF-7121-936D-2A80-4626E8F9F5E6}"/>
              </a:ext>
            </a:extLst>
          </p:cNvPr>
          <p:cNvSpPr txBox="1"/>
          <p:nvPr/>
        </p:nvSpPr>
        <p:spPr>
          <a:xfrm>
            <a:off x="1313782" y="1980518"/>
            <a:ext cx="1441965" cy="483465"/>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409"/>
              </a:spcBef>
            </a:pPr>
            <a:r>
              <a:rPr lang="en-US" sz="2800" b="1" spc="-20" dirty="0">
                <a:latin typeface="Arial" panose="020B0604020202020204" pitchFamily="34" charset="0"/>
                <a:cs typeface="Arial" panose="020B0604020202020204" pitchFamily="34" charset="0"/>
              </a:rPr>
              <a:t>XD12R</a:t>
            </a:r>
            <a:endParaRPr sz="2800" b="1" dirty="0">
              <a:latin typeface="Arial" panose="020B0604020202020204" pitchFamily="34" charset="0"/>
              <a:cs typeface="Arial" panose="020B0604020202020204" pitchFamily="34" charset="0"/>
            </a:endParaRPr>
          </a:p>
        </p:txBody>
      </p:sp>
      <p:sp>
        <p:nvSpPr>
          <p:cNvPr id="58" name="object 19">
            <a:extLst>
              <a:ext uri="{FF2B5EF4-FFF2-40B4-BE49-F238E27FC236}">
                <a16:creationId xmlns:a16="http://schemas.microsoft.com/office/drawing/2014/main" id="{5828DA3C-3E72-49CC-B228-6DACDD4F2A6B}"/>
              </a:ext>
            </a:extLst>
          </p:cNvPr>
          <p:cNvSpPr txBox="1"/>
          <p:nvPr/>
        </p:nvSpPr>
        <p:spPr>
          <a:xfrm>
            <a:off x="1325384" y="2395505"/>
            <a:ext cx="1101426" cy="360354"/>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marR="480695">
              <a:lnSpc>
                <a:spcPct val="100000"/>
              </a:lnSpc>
              <a:spcBef>
                <a:spcPts val="155"/>
              </a:spcBef>
            </a:pPr>
            <a:r>
              <a:rPr lang="en-US" sz="2000" b="1" dirty="0">
                <a:latin typeface="Arial" panose="020B0604020202020204" pitchFamily="34" charset="0"/>
                <a:cs typeface="Arial" panose="020B0604020202020204" pitchFamily="34" charset="0"/>
              </a:rPr>
              <a:t>AAA</a:t>
            </a:r>
            <a:endParaRPr sz="2000" b="1" dirty="0">
              <a:latin typeface="Arial" panose="020B0604020202020204" pitchFamily="34" charset="0"/>
              <a:cs typeface="Arial" panose="020B0604020202020204" pitchFamily="34" charset="0"/>
            </a:endParaRPr>
          </a:p>
        </p:txBody>
      </p:sp>
      <p:sp>
        <p:nvSpPr>
          <p:cNvPr id="59" name="직사각형 58">
            <a:extLst>
              <a:ext uri="{FF2B5EF4-FFF2-40B4-BE49-F238E27FC236}">
                <a16:creationId xmlns:a16="http://schemas.microsoft.com/office/drawing/2014/main" id="{A45AB195-67EF-B230-C453-FDA9193DE3AF}"/>
              </a:ext>
            </a:extLst>
          </p:cNvPr>
          <p:cNvSpPr/>
          <p:nvPr/>
        </p:nvSpPr>
        <p:spPr>
          <a:xfrm>
            <a:off x="4169849" y="1733065"/>
            <a:ext cx="1825573" cy="182045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a:solidFill>
                <a:schemeClr val="tx1"/>
              </a:solidFill>
              <a:latin typeface="Arial" panose="020B0604020202020204" pitchFamily="34" charset="0"/>
              <a:cs typeface="Arial" panose="020B0604020202020204" pitchFamily="34" charset="0"/>
            </a:endParaRPr>
          </a:p>
        </p:txBody>
      </p:sp>
      <p:sp>
        <p:nvSpPr>
          <p:cNvPr id="60" name="object 19">
            <a:extLst>
              <a:ext uri="{FF2B5EF4-FFF2-40B4-BE49-F238E27FC236}">
                <a16:creationId xmlns:a16="http://schemas.microsoft.com/office/drawing/2014/main" id="{A458A3E4-10BA-0BAD-FD2A-E8F6D1C110AA}"/>
              </a:ext>
            </a:extLst>
          </p:cNvPr>
          <p:cNvSpPr txBox="1"/>
          <p:nvPr/>
        </p:nvSpPr>
        <p:spPr>
          <a:xfrm>
            <a:off x="4562371" y="2717999"/>
            <a:ext cx="1377142" cy="360354"/>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marR="480695">
              <a:lnSpc>
                <a:spcPct val="100000"/>
              </a:lnSpc>
              <a:spcBef>
                <a:spcPts val="155"/>
              </a:spcBef>
            </a:pPr>
            <a:r>
              <a:rPr lang="en-US" sz="2000" b="1" spc="-10" dirty="0">
                <a:latin typeface="Arial" panose="020B0604020202020204" pitchFamily="34" charset="0"/>
                <a:cs typeface="Arial" panose="020B0604020202020204" pitchFamily="34" charset="0"/>
              </a:rPr>
              <a:t>CBA2S</a:t>
            </a:r>
            <a:endParaRPr sz="2000" b="1" dirty="0">
              <a:latin typeface="Arial" panose="020B0604020202020204" pitchFamily="34" charset="0"/>
              <a:cs typeface="Arial" panose="020B0604020202020204" pitchFamily="34" charset="0"/>
            </a:endParaRPr>
          </a:p>
        </p:txBody>
      </p:sp>
      <p:sp>
        <p:nvSpPr>
          <p:cNvPr id="61" name="object 19">
            <a:extLst>
              <a:ext uri="{FF2B5EF4-FFF2-40B4-BE49-F238E27FC236}">
                <a16:creationId xmlns:a16="http://schemas.microsoft.com/office/drawing/2014/main" id="{3ECD27CD-7DEF-1BF1-0AA5-24021E20B8FA}"/>
              </a:ext>
            </a:extLst>
          </p:cNvPr>
          <p:cNvSpPr txBox="1"/>
          <p:nvPr/>
        </p:nvSpPr>
        <p:spPr>
          <a:xfrm>
            <a:off x="4539464" y="1980518"/>
            <a:ext cx="1441965" cy="483465"/>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409"/>
              </a:spcBef>
            </a:pPr>
            <a:r>
              <a:rPr lang="en-US" sz="2800" b="1" spc="-20" dirty="0">
                <a:latin typeface="Arial" panose="020B0604020202020204" pitchFamily="34" charset="0"/>
                <a:cs typeface="Arial" panose="020B0604020202020204" pitchFamily="34" charset="0"/>
              </a:rPr>
              <a:t>XD12R</a:t>
            </a:r>
            <a:endParaRPr sz="2800" b="1" dirty="0">
              <a:latin typeface="Arial" panose="020B0604020202020204" pitchFamily="34" charset="0"/>
              <a:cs typeface="Arial" panose="020B0604020202020204" pitchFamily="34" charset="0"/>
            </a:endParaRPr>
          </a:p>
        </p:txBody>
      </p:sp>
      <p:sp>
        <p:nvSpPr>
          <p:cNvPr id="62" name="object 19">
            <a:extLst>
              <a:ext uri="{FF2B5EF4-FFF2-40B4-BE49-F238E27FC236}">
                <a16:creationId xmlns:a16="http://schemas.microsoft.com/office/drawing/2014/main" id="{14C6ED34-A95C-660E-4918-9D9C55787A8B}"/>
              </a:ext>
            </a:extLst>
          </p:cNvPr>
          <p:cNvSpPr txBox="1"/>
          <p:nvPr/>
        </p:nvSpPr>
        <p:spPr>
          <a:xfrm>
            <a:off x="4563766" y="2395505"/>
            <a:ext cx="1101426" cy="360354"/>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marR="480695">
              <a:lnSpc>
                <a:spcPct val="100000"/>
              </a:lnSpc>
              <a:spcBef>
                <a:spcPts val="155"/>
              </a:spcBef>
            </a:pPr>
            <a:r>
              <a:rPr lang="en-US" sz="2000" b="1" spc="-10" dirty="0">
                <a:latin typeface="Arial" panose="020B0604020202020204" pitchFamily="34" charset="0"/>
                <a:cs typeface="Arial" panose="020B0604020202020204" pitchFamily="34" charset="0"/>
              </a:rPr>
              <a:t>AAA</a:t>
            </a:r>
            <a:endParaRPr sz="2000" b="1" dirty="0">
              <a:latin typeface="Arial" panose="020B0604020202020204" pitchFamily="34" charset="0"/>
              <a:cs typeface="Arial" panose="020B0604020202020204" pitchFamily="34" charset="0"/>
            </a:endParaRPr>
          </a:p>
        </p:txBody>
      </p:sp>
      <p:pic>
        <p:nvPicPr>
          <p:cNvPr id="63" name="object 22">
            <a:extLst>
              <a:ext uri="{FF2B5EF4-FFF2-40B4-BE49-F238E27FC236}">
                <a16:creationId xmlns:a16="http://schemas.microsoft.com/office/drawing/2014/main" id="{E2965C42-BF0B-A564-C8C5-6B0AEB48F905}"/>
              </a:ext>
            </a:extLst>
          </p:cNvPr>
          <p:cNvPicPr/>
          <p:nvPr/>
        </p:nvPicPr>
        <p:blipFill>
          <a:blip r:embed="rId2" cstate="print"/>
          <a:stretch>
            <a:fillRect/>
          </a:stretch>
        </p:blipFill>
        <p:spPr>
          <a:xfrm>
            <a:off x="4366399" y="3240016"/>
            <a:ext cx="112794" cy="114265"/>
          </a:xfrm>
          <a:prstGeom prst="rect">
            <a:avLst/>
          </a:prstGeom>
        </p:spPr>
      </p:pic>
      <p:sp>
        <p:nvSpPr>
          <p:cNvPr id="4480" name="TextBox 12">
            <a:extLst>
              <a:ext uri="{FF2B5EF4-FFF2-40B4-BE49-F238E27FC236}">
                <a16:creationId xmlns:a16="http://schemas.microsoft.com/office/drawing/2014/main" id="{EC65BC56-D97E-579F-E179-A6CAD5057235}"/>
              </a:ext>
            </a:extLst>
          </p:cNvPr>
          <p:cNvSpPr txBox="1"/>
          <p:nvPr/>
        </p:nvSpPr>
        <p:spPr>
          <a:xfrm>
            <a:off x="419512" y="835600"/>
            <a:ext cx="6048622" cy="307777"/>
          </a:xfrm>
          <a:prstGeom prst="rect">
            <a:avLst/>
          </a:prstGeom>
          <a:noFill/>
        </p:spPr>
        <p:txBody>
          <a:bodyPr wrap="square" l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435">
              <a:spcBef>
                <a:spcPts val="98"/>
              </a:spcBef>
            </a:pPr>
            <a:r>
              <a:rPr lang="en-US" altLang="ko-KR" sz="1400" b="1" spc="-5" dirty="0">
                <a:latin typeface="Arial"/>
                <a:cs typeface="Arial"/>
              </a:rPr>
              <a:t>Body TOP Marking </a:t>
            </a:r>
            <a:endParaRPr lang="en-US" altLang="ko-KR" sz="1400" dirty="0">
              <a:latin typeface="Arial"/>
              <a:cs typeface="Arial"/>
            </a:endParaRPr>
          </a:p>
        </p:txBody>
      </p:sp>
      <p:sp>
        <p:nvSpPr>
          <p:cNvPr id="4482" name="타원 4481">
            <a:extLst>
              <a:ext uri="{FF2B5EF4-FFF2-40B4-BE49-F238E27FC236}">
                <a16:creationId xmlns:a16="http://schemas.microsoft.com/office/drawing/2014/main" id="{4C204CD4-FEA8-796B-E39D-9011CDC9AFFD}"/>
              </a:ext>
            </a:extLst>
          </p:cNvPr>
          <p:cNvSpPr/>
          <p:nvPr/>
        </p:nvSpPr>
        <p:spPr>
          <a:xfrm>
            <a:off x="3070792" y="2834118"/>
            <a:ext cx="65223" cy="6522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a:p>
        </p:txBody>
      </p:sp>
    </p:spTree>
    <p:extLst>
      <p:ext uri="{BB962C8B-B14F-4D97-AF65-F5344CB8AC3E}">
        <p14:creationId xmlns:p14="http://schemas.microsoft.com/office/powerpoint/2010/main" val="19151303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4D04B-1A87-13B5-C111-1D888F129B68}"/>
            </a:ext>
          </a:extLst>
        </p:cNvPr>
        <p:cNvGrpSpPr/>
        <p:nvPr/>
      </p:nvGrpSpPr>
      <p:grpSpPr>
        <a:xfrm>
          <a:off x="0" y="0"/>
          <a:ext cx="0" cy="0"/>
          <a:chOff x="0" y="0"/>
          <a:chExt cx="0" cy="0"/>
        </a:xfrm>
      </p:grpSpPr>
      <p:sp>
        <p:nvSpPr>
          <p:cNvPr id="10" name="object 4">
            <a:extLst>
              <a:ext uri="{FF2B5EF4-FFF2-40B4-BE49-F238E27FC236}">
                <a16:creationId xmlns:a16="http://schemas.microsoft.com/office/drawing/2014/main" id="{3F2BD2B8-D409-B60E-0763-F9D71F813185}"/>
              </a:ext>
            </a:extLst>
          </p:cNvPr>
          <p:cNvSpPr txBox="1"/>
          <p:nvPr/>
        </p:nvSpPr>
        <p:spPr>
          <a:xfrm>
            <a:off x="692150" y="1250061"/>
            <a:ext cx="2287905" cy="197490"/>
          </a:xfrm>
          <a:prstGeom prst="rect">
            <a:avLst/>
          </a:prstGeom>
        </p:spPr>
        <p:txBody>
          <a:bodyPr vert="horz" wrap="square" lIns="0" tIns="12700" rIns="0" bIns="0" rtlCol="0">
            <a:spAutoFit/>
          </a:bodyPr>
          <a:lstStyle/>
          <a:p>
            <a:pPr marL="219710">
              <a:lnSpc>
                <a:spcPct val="100000"/>
              </a:lnSpc>
              <a:spcBef>
                <a:spcPts val="940"/>
              </a:spcBef>
            </a:pPr>
            <a:r>
              <a:rPr sz="1200" spc="-5" dirty="0">
                <a:latin typeface="Arial"/>
                <a:cs typeface="Arial"/>
              </a:rPr>
              <a:t>1</a:t>
            </a:r>
            <a:r>
              <a:rPr sz="1050" spc="-5" dirty="0">
                <a:latin typeface="Arial"/>
                <a:cs typeface="Arial"/>
              </a:rPr>
              <a:t>)</a:t>
            </a:r>
            <a:r>
              <a:rPr sz="1050" spc="-45" dirty="0">
                <a:latin typeface="Arial"/>
                <a:cs typeface="Arial"/>
              </a:rPr>
              <a:t> </a:t>
            </a:r>
            <a:r>
              <a:rPr sz="1200" spc="-5" dirty="0">
                <a:latin typeface="Arial"/>
                <a:cs typeface="Arial"/>
              </a:rPr>
              <a:t>JSICAT</a:t>
            </a:r>
            <a:endParaRPr sz="1050" dirty="0">
              <a:latin typeface="Arial"/>
              <a:cs typeface="Arial"/>
            </a:endParaRPr>
          </a:p>
        </p:txBody>
      </p:sp>
      <p:pic>
        <p:nvPicPr>
          <p:cNvPr id="3" name="图片 3">
            <a:extLst>
              <a:ext uri="{FF2B5EF4-FFF2-40B4-BE49-F238E27FC236}">
                <a16:creationId xmlns:a16="http://schemas.microsoft.com/office/drawing/2014/main" id="{7616BB36-7622-F44A-4237-7A725692773C}"/>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5000"/>
                    </a14:imgEffect>
                    <a14:imgEffect>
                      <a14:saturation sat="18000"/>
                    </a14:imgEffect>
                  </a14:imgLayer>
                </a14:imgProps>
              </a:ext>
            </a:extLst>
          </a:blip>
          <a:stretch>
            <a:fillRect/>
          </a:stretch>
        </p:blipFill>
        <p:spPr>
          <a:xfrm>
            <a:off x="1198805" y="4953000"/>
            <a:ext cx="4659191" cy="3389302"/>
          </a:xfrm>
          <a:prstGeom prst="rect">
            <a:avLst/>
          </a:prstGeom>
          <a:noFill/>
          <a:ln w="9525">
            <a:noFill/>
          </a:ln>
        </p:spPr>
      </p:pic>
      <p:pic>
        <p:nvPicPr>
          <p:cNvPr id="9" name="그림 1">
            <a:extLst>
              <a:ext uri="{FF2B5EF4-FFF2-40B4-BE49-F238E27FC236}">
                <a16:creationId xmlns:a16="http://schemas.microsoft.com/office/drawing/2014/main" id="{8F166DB8-6313-A18A-C526-EAD1D5C93B3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36666"/>
          <a:stretch>
            <a:fillRect/>
          </a:stretch>
        </p:blipFill>
        <p:spPr bwMode="auto">
          <a:xfrm>
            <a:off x="1270001" y="1530811"/>
            <a:ext cx="5068645" cy="225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그림 1">
            <a:extLst>
              <a:ext uri="{FF2B5EF4-FFF2-40B4-BE49-F238E27FC236}">
                <a16:creationId xmlns:a16="http://schemas.microsoft.com/office/drawing/2014/main" id="{FA213CC8-2E98-EE78-0C66-81D483AF52F1}"/>
              </a:ext>
            </a:extLst>
          </p:cNvPr>
          <p:cNvPicPr>
            <a:picLocks noChangeAspect="1" noChangeArrowheads="1"/>
          </p:cNvPicPr>
          <p:nvPr/>
        </p:nvPicPr>
        <p:blipFill>
          <a:blip r:embed="rId6" cstate="print">
            <a:extLst>
              <a:ext uri="{BEBA8EAE-BF5A-486C-A8C5-ECC9F3942E4B}">
                <a14:imgProps xmlns:a14="http://schemas.microsoft.com/office/drawing/2010/main">
                  <a14:imgLayer r:embed="rId7">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1412166" y="3237848"/>
            <a:ext cx="1586393" cy="343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47FB9822-8FA1-8943-5C39-B071E2AAD5BB}"/>
              </a:ext>
            </a:extLst>
          </p:cNvPr>
          <p:cNvSpPr txBox="1"/>
          <p:nvPr/>
        </p:nvSpPr>
        <p:spPr>
          <a:xfrm>
            <a:off x="404813" y="774866"/>
            <a:ext cx="6048622" cy="307777"/>
          </a:xfrm>
          <a:prstGeom prst="rect">
            <a:avLst/>
          </a:prstGeom>
          <a:noFill/>
        </p:spPr>
        <p:txBody>
          <a:bodyPr wrap="square" lIns="0" rtlCol="0">
            <a:spAutoFit/>
          </a:bodyPr>
          <a:lstStyle/>
          <a:p>
            <a:pPr marL="12700">
              <a:lnSpc>
                <a:spcPct val="100000"/>
              </a:lnSpc>
              <a:spcBef>
                <a:spcPts val="100"/>
              </a:spcBef>
            </a:pPr>
            <a:r>
              <a:rPr lang="en-US" altLang="ko-KR" sz="1400" b="1" spc="-5" dirty="0">
                <a:latin typeface="Arial"/>
                <a:cs typeface="Arial"/>
              </a:rPr>
              <a:t>Embossed</a:t>
            </a:r>
            <a:r>
              <a:rPr lang="en-US" altLang="ko-KR" sz="1400" b="1" spc="-50" dirty="0">
                <a:latin typeface="Arial"/>
                <a:cs typeface="Arial"/>
              </a:rPr>
              <a:t> </a:t>
            </a:r>
            <a:r>
              <a:rPr lang="en-US" altLang="ko-KR" sz="1400" b="1" dirty="0">
                <a:latin typeface="Arial"/>
                <a:cs typeface="Arial"/>
              </a:rPr>
              <a:t>tape</a:t>
            </a:r>
            <a:r>
              <a:rPr lang="en-US" altLang="ko-KR" sz="1400" b="1" spc="-40" dirty="0">
                <a:latin typeface="Arial"/>
                <a:cs typeface="Arial"/>
              </a:rPr>
              <a:t> </a:t>
            </a:r>
            <a:r>
              <a:rPr lang="en-US" altLang="ko-KR" sz="1400" b="1" dirty="0">
                <a:latin typeface="Arial"/>
                <a:cs typeface="Arial"/>
              </a:rPr>
              <a:t>and</a:t>
            </a:r>
            <a:r>
              <a:rPr lang="en-US" altLang="ko-KR" sz="1400" b="1" spc="-30" dirty="0">
                <a:latin typeface="Arial"/>
                <a:cs typeface="Arial"/>
              </a:rPr>
              <a:t> </a:t>
            </a:r>
            <a:r>
              <a:rPr lang="en-US" altLang="ko-KR" sz="1400" b="1" spc="-5" dirty="0">
                <a:latin typeface="Arial"/>
                <a:cs typeface="Arial"/>
              </a:rPr>
              <a:t>reel</a:t>
            </a:r>
            <a:r>
              <a:rPr lang="en-US" altLang="ko-KR" sz="1400" b="1" spc="-45" dirty="0">
                <a:latin typeface="Arial"/>
                <a:cs typeface="Arial"/>
              </a:rPr>
              <a:t> </a:t>
            </a:r>
            <a:r>
              <a:rPr lang="en-US" altLang="ko-KR" sz="1400" b="1" dirty="0">
                <a:latin typeface="Arial"/>
                <a:cs typeface="Arial"/>
              </a:rPr>
              <a:t>data</a:t>
            </a:r>
            <a:endParaRPr lang="en-US" altLang="ko-KR" sz="1400" dirty="0">
              <a:latin typeface="Arial"/>
              <a:cs typeface="Arial"/>
            </a:endParaRPr>
          </a:p>
        </p:txBody>
      </p:sp>
      <p:cxnSp>
        <p:nvCxnSpPr>
          <p:cNvPr id="11" name="직선 연결선 10">
            <a:extLst>
              <a:ext uri="{FF2B5EF4-FFF2-40B4-BE49-F238E27FC236}">
                <a16:creationId xmlns:a16="http://schemas.microsoft.com/office/drawing/2014/main" id="{2273513B-8326-19FD-22DB-E93D8EC79C7C}"/>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D71FA746-A3FB-ACE4-EB6D-B3203164ADD7}"/>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14" name="object 84">
            <a:extLst>
              <a:ext uri="{FF2B5EF4-FFF2-40B4-BE49-F238E27FC236}">
                <a16:creationId xmlns:a16="http://schemas.microsoft.com/office/drawing/2014/main" id="{F2F9DB30-9F1E-9882-18A1-04D724F79138}"/>
              </a:ext>
            </a:extLst>
          </p:cNvPr>
          <p:cNvSpPr txBox="1"/>
          <p:nvPr/>
        </p:nvSpPr>
        <p:spPr>
          <a:xfrm>
            <a:off x="2475954" y="8517440"/>
            <a:ext cx="2144177"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13. Tape and </a:t>
            </a:r>
            <a:r>
              <a:rPr lang="en-US" sz="900" b="1" spc="15" dirty="0">
                <a:solidFill>
                  <a:prstClr val="black"/>
                </a:solidFill>
                <a:latin typeface="Arial" panose="020B0604020202020204" pitchFamily="34" charset="0"/>
                <a:cs typeface="Arial" panose="020B0604020202020204" pitchFamily="34" charset="0"/>
              </a:rPr>
              <a:t>reel </a:t>
            </a:r>
            <a:r>
              <a:rPr kumimoji="0" lang="en-US" sz="900" b="1" spc="15" dirty="0">
                <a:solidFill>
                  <a:prstClr val="black"/>
                </a:solidFill>
                <a:latin typeface="Arial" panose="020B0604020202020204" pitchFamily="34" charset="0"/>
                <a:ea typeface="+mn-ea"/>
                <a:cs typeface="Arial" panose="020B0604020202020204" pitchFamily="34" charset="0"/>
              </a:rPr>
              <a:t>specification</a:t>
            </a:r>
          </a:p>
        </p:txBody>
      </p:sp>
      <p:graphicFrame>
        <p:nvGraphicFramePr>
          <p:cNvPr id="16" name="표 15">
            <a:extLst>
              <a:ext uri="{FF2B5EF4-FFF2-40B4-BE49-F238E27FC236}">
                <a16:creationId xmlns:a16="http://schemas.microsoft.com/office/drawing/2014/main" id="{CEB55193-1A3D-2432-1439-1C7C546BECD4}"/>
              </a:ext>
            </a:extLst>
          </p:cNvPr>
          <p:cNvGraphicFramePr>
            <a:graphicFrameLocks noGrp="1"/>
          </p:cNvGraphicFramePr>
          <p:nvPr>
            <p:extLst>
              <p:ext uri="{D42A27DB-BD31-4B8C-83A1-F6EECF244321}">
                <p14:modId xmlns:p14="http://schemas.microsoft.com/office/powerpoint/2010/main" val="3036793649"/>
              </p:ext>
            </p:extLst>
          </p:nvPr>
        </p:nvGraphicFramePr>
        <p:xfrm>
          <a:off x="1270001" y="3995533"/>
          <a:ext cx="4587995" cy="714720"/>
        </p:xfrm>
        <a:graphic>
          <a:graphicData uri="http://schemas.openxmlformats.org/drawingml/2006/table">
            <a:tbl>
              <a:tblPr firstRow="1" bandRow="1">
                <a:tableStyleId>{5C22544A-7EE6-4342-B048-85BDC9FD1C3A}</a:tableStyleId>
              </a:tblPr>
              <a:tblGrid>
                <a:gridCol w="520555">
                  <a:extLst>
                    <a:ext uri="{9D8B030D-6E8A-4147-A177-3AD203B41FA5}">
                      <a16:colId xmlns:a16="http://schemas.microsoft.com/office/drawing/2014/main" val="74672149"/>
                    </a:ext>
                  </a:extLst>
                </a:gridCol>
                <a:gridCol w="574216">
                  <a:extLst>
                    <a:ext uri="{9D8B030D-6E8A-4147-A177-3AD203B41FA5}">
                      <a16:colId xmlns:a16="http://schemas.microsoft.com/office/drawing/2014/main" val="3542412228"/>
                    </a:ext>
                  </a:extLst>
                </a:gridCol>
                <a:gridCol w="582204">
                  <a:extLst>
                    <a:ext uri="{9D8B030D-6E8A-4147-A177-3AD203B41FA5}">
                      <a16:colId xmlns:a16="http://schemas.microsoft.com/office/drawing/2014/main" val="1447971793"/>
                    </a:ext>
                  </a:extLst>
                </a:gridCol>
                <a:gridCol w="582204">
                  <a:extLst>
                    <a:ext uri="{9D8B030D-6E8A-4147-A177-3AD203B41FA5}">
                      <a16:colId xmlns:a16="http://schemas.microsoft.com/office/drawing/2014/main" val="3786809632"/>
                    </a:ext>
                  </a:extLst>
                </a:gridCol>
                <a:gridCol w="582204">
                  <a:extLst>
                    <a:ext uri="{9D8B030D-6E8A-4147-A177-3AD203B41FA5}">
                      <a16:colId xmlns:a16="http://schemas.microsoft.com/office/drawing/2014/main" val="23671882"/>
                    </a:ext>
                  </a:extLst>
                </a:gridCol>
                <a:gridCol w="582204">
                  <a:extLst>
                    <a:ext uri="{9D8B030D-6E8A-4147-A177-3AD203B41FA5}">
                      <a16:colId xmlns:a16="http://schemas.microsoft.com/office/drawing/2014/main" val="2154264380"/>
                    </a:ext>
                  </a:extLst>
                </a:gridCol>
                <a:gridCol w="582204">
                  <a:extLst>
                    <a:ext uri="{9D8B030D-6E8A-4147-A177-3AD203B41FA5}">
                      <a16:colId xmlns:a16="http://schemas.microsoft.com/office/drawing/2014/main" val="265539384"/>
                    </a:ext>
                  </a:extLst>
                </a:gridCol>
                <a:gridCol w="582204">
                  <a:extLst>
                    <a:ext uri="{9D8B030D-6E8A-4147-A177-3AD203B41FA5}">
                      <a16:colId xmlns:a16="http://schemas.microsoft.com/office/drawing/2014/main" val="2203870411"/>
                    </a:ext>
                  </a:extLst>
                </a:gridCol>
              </a:tblGrid>
              <a:tr h="130431">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12.00±0.10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T</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0.20±0.05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D1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1.55±0.10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ko-KR" altLang="en-US" sz="700" b="0" dirty="0">
                          <a:solidFill>
                            <a:schemeClr val="tx1"/>
                          </a:solidFill>
                          <a:latin typeface="Arial" panose="020B0604020202020204" pitchFamily="34" charset="0"/>
                          <a:cs typeface="Arial" panose="020B0604020202020204" pitchFamily="34" charset="0"/>
                        </a:rPr>
                        <a:t>单位</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Mm</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940243"/>
                  </a:ext>
                </a:extLst>
              </a:tr>
              <a:tr h="13043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1.75±0.10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5.50±0.10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1.55±0.10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latin typeface="Arial" panose="020B0604020202020204" pitchFamily="34" charset="0"/>
                          <a:cs typeface="Arial" panose="020B0604020202020204" pitchFamily="34" charset="0"/>
                        </a:rPr>
                        <a:t>材质</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ABS</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2582253"/>
                  </a:ext>
                </a:extLst>
              </a:tr>
              <a:tr h="13043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P0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4.00±0.10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P1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8.00±0.10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P2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2.00±0.10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latin typeface="Arial" panose="020B0604020202020204" pitchFamily="34" charset="0"/>
                          <a:cs typeface="Arial" panose="020B0604020202020204" pitchFamily="34" charset="0"/>
                        </a:rPr>
                        <a:t>品名</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QFN3*3-0.75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7999027"/>
                  </a:ext>
                </a:extLst>
              </a:tr>
              <a:tr h="13043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A0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3.18±0.10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B0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3.22±0.10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K0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0.75±0.10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latin typeface="Arial" panose="020B0604020202020204" pitchFamily="34" charset="0"/>
                          <a:cs typeface="Arial" panose="020B0604020202020204" pitchFamily="34" charset="0"/>
                        </a:rPr>
                        <a:t>制造商</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latin typeface="Arial" panose="020B0604020202020204" pitchFamily="34" charset="0"/>
                          <a:cs typeface="Arial" panose="020B0604020202020204" pitchFamily="34" charset="0"/>
                        </a:rPr>
                        <a:t>新创源</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4177519"/>
                  </a:ext>
                </a:extLst>
              </a:tr>
            </a:tbl>
          </a:graphicData>
        </a:graphic>
      </p:graphicFrame>
    </p:spTree>
    <p:extLst>
      <p:ext uri="{BB962C8B-B14F-4D97-AF65-F5344CB8AC3E}">
        <p14:creationId xmlns:p14="http://schemas.microsoft.com/office/powerpoint/2010/main" val="19621169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D882A-1B0A-C5D4-2AA8-259F5208BD04}"/>
            </a:ext>
          </a:extLst>
        </p:cNvPr>
        <p:cNvGrpSpPr/>
        <p:nvPr/>
      </p:nvGrpSpPr>
      <p:grpSpPr>
        <a:xfrm>
          <a:off x="0" y="0"/>
          <a:ext cx="0" cy="0"/>
          <a:chOff x="0" y="0"/>
          <a:chExt cx="0" cy="0"/>
        </a:xfrm>
      </p:grpSpPr>
      <p:sp>
        <p:nvSpPr>
          <p:cNvPr id="10" name="object 4">
            <a:extLst>
              <a:ext uri="{FF2B5EF4-FFF2-40B4-BE49-F238E27FC236}">
                <a16:creationId xmlns:a16="http://schemas.microsoft.com/office/drawing/2014/main" id="{006A1C83-190F-5BD1-FB3A-6DE48A101BD0}"/>
              </a:ext>
            </a:extLst>
          </p:cNvPr>
          <p:cNvSpPr txBox="1"/>
          <p:nvPr/>
        </p:nvSpPr>
        <p:spPr>
          <a:xfrm>
            <a:off x="593242" y="950090"/>
            <a:ext cx="2287905" cy="197490"/>
          </a:xfrm>
          <a:prstGeom prst="rect">
            <a:avLst/>
          </a:prstGeom>
        </p:spPr>
        <p:txBody>
          <a:bodyPr vert="horz" wrap="square" lIns="0" tIns="12700" rIns="0" bIns="0" rtlCol="0">
            <a:spAutoFit/>
          </a:bodyPr>
          <a:lstStyle/>
          <a:p>
            <a:pPr marL="219710">
              <a:lnSpc>
                <a:spcPct val="100000"/>
              </a:lnSpc>
              <a:spcBef>
                <a:spcPts val="940"/>
              </a:spcBef>
            </a:pPr>
            <a:r>
              <a:rPr lang="en-US" sz="1200" spc="-5" dirty="0">
                <a:latin typeface="Arial"/>
                <a:cs typeface="Arial"/>
              </a:rPr>
              <a:t>2</a:t>
            </a:r>
            <a:r>
              <a:rPr sz="1200" spc="-5" dirty="0">
                <a:latin typeface="Arial"/>
                <a:cs typeface="Arial"/>
              </a:rPr>
              <a:t>)</a:t>
            </a:r>
            <a:r>
              <a:rPr sz="1200" spc="-45" dirty="0">
                <a:latin typeface="Arial"/>
                <a:cs typeface="Arial"/>
              </a:rPr>
              <a:t> </a:t>
            </a:r>
            <a:r>
              <a:rPr lang="en-US" sz="1200" spc="-45" dirty="0">
                <a:latin typeface="Arial"/>
                <a:cs typeface="Arial"/>
              </a:rPr>
              <a:t>SEMTECH</a:t>
            </a:r>
            <a:endParaRPr sz="1200" dirty="0">
              <a:latin typeface="Arial"/>
              <a:cs typeface="Arial"/>
            </a:endParaRPr>
          </a:p>
        </p:txBody>
      </p:sp>
      <p:cxnSp>
        <p:nvCxnSpPr>
          <p:cNvPr id="4" name="직선 연결선 3">
            <a:extLst>
              <a:ext uri="{FF2B5EF4-FFF2-40B4-BE49-F238E27FC236}">
                <a16:creationId xmlns:a16="http://schemas.microsoft.com/office/drawing/2014/main" id="{A2AF0985-2444-6909-FF6A-0DF7B5673107}"/>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36B29E2-58B4-EBFB-C3AA-8D01D3B6C003}"/>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13" name="object 84">
            <a:extLst>
              <a:ext uri="{FF2B5EF4-FFF2-40B4-BE49-F238E27FC236}">
                <a16:creationId xmlns:a16="http://schemas.microsoft.com/office/drawing/2014/main" id="{8E4DC635-883E-54C8-9614-7D9F97C2628B}"/>
              </a:ext>
            </a:extLst>
          </p:cNvPr>
          <p:cNvSpPr txBox="1"/>
          <p:nvPr/>
        </p:nvSpPr>
        <p:spPr>
          <a:xfrm>
            <a:off x="2353705" y="7807356"/>
            <a:ext cx="2144177"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14. Tape and reel specification</a:t>
            </a:r>
          </a:p>
        </p:txBody>
      </p:sp>
      <p:pic>
        <p:nvPicPr>
          <p:cNvPr id="23" name="그림 22">
            <a:extLst>
              <a:ext uri="{FF2B5EF4-FFF2-40B4-BE49-F238E27FC236}">
                <a16:creationId xmlns:a16="http://schemas.microsoft.com/office/drawing/2014/main" id="{0665F417-906B-55E7-65C9-0FDDC58356B0}"/>
              </a:ext>
            </a:extLst>
          </p:cNvPr>
          <p:cNvPicPr>
            <a:picLocks noChangeAspect="1"/>
          </p:cNvPicPr>
          <p:nvPr/>
        </p:nvPicPr>
        <p:blipFill>
          <a:blip r:embed="rId3"/>
          <a:stretch>
            <a:fillRect/>
          </a:stretch>
        </p:blipFill>
        <p:spPr>
          <a:xfrm>
            <a:off x="1062759" y="3709043"/>
            <a:ext cx="2043564" cy="1213366"/>
          </a:xfrm>
          <a:prstGeom prst="rect">
            <a:avLst/>
          </a:prstGeom>
        </p:spPr>
      </p:pic>
      <p:pic>
        <p:nvPicPr>
          <p:cNvPr id="25" name="그림 24">
            <a:extLst>
              <a:ext uri="{FF2B5EF4-FFF2-40B4-BE49-F238E27FC236}">
                <a16:creationId xmlns:a16="http://schemas.microsoft.com/office/drawing/2014/main" id="{EFDFA6BE-D4E0-A966-D13D-4CA030071A1B}"/>
              </a:ext>
            </a:extLst>
          </p:cNvPr>
          <p:cNvPicPr>
            <a:picLocks noChangeAspect="1"/>
          </p:cNvPicPr>
          <p:nvPr/>
        </p:nvPicPr>
        <p:blipFill>
          <a:blip r:embed="rId4"/>
          <a:stretch>
            <a:fillRect/>
          </a:stretch>
        </p:blipFill>
        <p:spPr>
          <a:xfrm>
            <a:off x="3507050" y="3470660"/>
            <a:ext cx="2161191" cy="1420643"/>
          </a:xfrm>
          <a:prstGeom prst="rect">
            <a:avLst/>
          </a:prstGeom>
        </p:spPr>
      </p:pic>
      <p:pic>
        <p:nvPicPr>
          <p:cNvPr id="27" name="그림 26">
            <a:extLst>
              <a:ext uri="{FF2B5EF4-FFF2-40B4-BE49-F238E27FC236}">
                <a16:creationId xmlns:a16="http://schemas.microsoft.com/office/drawing/2014/main" id="{89827A5E-B16D-D3D8-DFC3-E02B410D1FBB}"/>
              </a:ext>
            </a:extLst>
          </p:cNvPr>
          <p:cNvPicPr>
            <a:picLocks noChangeAspect="1"/>
          </p:cNvPicPr>
          <p:nvPr/>
        </p:nvPicPr>
        <p:blipFill>
          <a:blip r:embed="rId5"/>
          <a:stretch>
            <a:fillRect/>
          </a:stretch>
        </p:blipFill>
        <p:spPr>
          <a:xfrm>
            <a:off x="995605" y="5062656"/>
            <a:ext cx="2141784" cy="1460064"/>
          </a:xfrm>
          <a:prstGeom prst="rect">
            <a:avLst/>
          </a:prstGeom>
        </p:spPr>
      </p:pic>
      <p:pic>
        <p:nvPicPr>
          <p:cNvPr id="29" name="그림 28">
            <a:extLst>
              <a:ext uri="{FF2B5EF4-FFF2-40B4-BE49-F238E27FC236}">
                <a16:creationId xmlns:a16="http://schemas.microsoft.com/office/drawing/2014/main" id="{08593B92-A620-3AD7-34FB-81AB38F14865}"/>
              </a:ext>
            </a:extLst>
          </p:cNvPr>
          <p:cNvPicPr>
            <a:picLocks noChangeAspect="1"/>
          </p:cNvPicPr>
          <p:nvPr/>
        </p:nvPicPr>
        <p:blipFill>
          <a:blip r:embed="rId6"/>
          <a:stretch>
            <a:fillRect/>
          </a:stretch>
        </p:blipFill>
        <p:spPr>
          <a:xfrm>
            <a:off x="3559381" y="5123351"/>
            <a:ext cx="2495216" cy="1338674"/>
          </a:xfrm>
          <a:prstGeom prst="rect">
            <a:avLst/>
          </a:prstGeom>
        </p:spPr>
      </p:pic>
      <p:pic>
        <p:nvPicPr>
          <p:cNvPr id="31" name="그림 30">
            <a:extLst>
              <a:ext uri="{FF2B5EF4-FFF2-40B4-BE49-F238E27FC236}">
                <a16:creationId xmlns:a16="http://schemas.microsoft.com/office/drawing/2014/main" id="{736ECF55-F29F-2147-6977-4784A8F0136B}"/>
              </a:ext>
            </a:extLst>
          </p:cNvPr>
          <p:cNvPicPr>
            <a:picLocks noChangeAspect="1"/>
          </p:cNvPicPr>
          <p:nvPr/>
        </p:nvPicPr>
        <p:blipFill>
          <a:blip r:embed="rId7"/>
          <a:stretch>
            <a:fillRect/>
          </a:stretch>
        </p:blipFill>
        <p:spPr>
          <a:xfrm>
            <a:off x="1062759" y="1472026"/>
            <a:ext cx="1873247" cy="2064953"/>
          </a:xfrm>
          <a:prstGeom prst="rect">
            <a:avLst/>
          </a:prstGeom>
        </p:spPr>
      </p:pic>
      <p:pic>
        <p:nvPicPr>
          <p:cNvPr id="33" name="그림 32">
            <a:extLst>
              <a:ext uri="{FF2B5EF4-FFF2-40B4-BE49-F238E27FC236}">
                <a16:creationId xmlns:a16="http://schemas.microsoft.com/office/drawing/2014/main" id="{E12568AD-DF73-976D-9F0F-D65D64719629}"/>
              </a:ext>
            </a:extLst>
          </p:cNvPr>
          <p:cNvPicPr>
            <a:picLocks noChangeAspect="1"/>
          </p:cNvPicPr>
          <p:nvPr/>
        </p:nvPicPr>
        <p:blipFill>
          <a:blip r:embed="rId8"/>
          <a:stretch>
            <a:fillRect/>
          </a:stretch>
        </p:blipFill>
        <p:spPr>
          <a:xfrm>
            <a:off x="3269364" y="1672303"/>
            <a:ext cx="2785233" cy="1664398"/>
          </a:xfrm>
          <a:prstGeom prst="rect">
            <a:avLst/>
          </a:prstGeom>
        </p:spPr>
      </p:pic>
      <p:sp>
        <p:nvSpPr>
          <p:cNvPr id="34" name="TextBox 33">
            <a:extLst>
              <a:ext uri="{FF2B5EF4-FFF2-40B4-BE49-F238E27FC236}">
                <a16:creationId xmlns:a16="http://schemas.microsoft.com/office/drawing/2014/main" id="{B1AB06D6-3852-8522-40EC-62A64F1942A1}"/>
              </a:ext>
            </a:extLst>
          </p:cNvPr>
          <p:cNvSpPr txBox="1"/>
          <p:nvPr/>
        </p:nvSpPr>
        <p:spPr>
          <a:xfrm>
            <a:off x="593243" y="8018424"/>
            <a:ext cx="5813908" cy="615553"/>
          </a:xfrm>
          <a:prstGeom prst="rect">
            <a:avLst/>
          </a:prstGeom>
          <a:noFill/>
        </p:spPr>
        <p:txBody>
          <a:bodyPr wrap="square" lIns="0" tIns="0" rIns="36000" bIns="0" rtlCol="0">
            <a:spAutoFit/>
          </a:bodyPr>
          <a:lstStyle/>
          <a:p>
            <a:r>
              <a:rPr lang="en-US" altLang="ko-KR" sz="1000" dirty="0">
                <a:latin typeface="Arial" panose="020B0604020202020204" pitchFamily="34" charset="0"/>
                <a:cs typeface="Arial" panose="020B0604020202020204" pitchFamily="34" charset="0"/>
              </a:rPr>
              <a:t>Note : </a:t>
            </a:r>
            <a:br>
              <a:rPr lang="en-US" altLang="ko-KR" sz="1000" dirty="0">
                <a:latin typeface="Arial" panose="020B0604020202020204" pitchFamily="34" charset="0"/>
                <a:cs typeface="Arial" panose="020B0604020202020204" pitchFamily="34" charset="0"/>
              </a:rPr>
            </a:br>
            <a:r>
              <a:rPr lang="en-US" altLang="ko-KR" sz="1000" dirty="0">
                <a:latin typeface="Arial" panose="020B0604020202020204" pitchFamily="34" charset="0"/>
                <a:cs typeface="Arial" panose="020B0604020202020204" pitchFamily="34" charset="0"/>
              </a:rPr>
              <a:t>1. Metric dimensions govern-English are in parentheses for reference only.</a:t>
            </a:r>
            <a:br>
              <a:rPr lang="en-US" altLang="ko-KR" sz="1000" dirty="0">
                <a:latin typeface="Arial" panose="020B0604020202020204" pitchFamily="34" charset="0"/>
                <a:cs typeface="Arial" panose="020B0604020202020204" pitchFamily="34" charset="0"/>
              </a:rPr>
            </a:br>
            <a:r>
              <a:rPr lang="en-US" altLang="ko-KR" sz="1000" dirty="0">
                <a:latin typeface="Arial" panose="020B0604020202020204" pitchFamily="34" charset="0"/>
                <a:cs typeface="Arial" panose="020B0604020202020204" pitchFamily="34" charset="0"/>
              </a:rPr>
              <a:t>2. The clearance between the components and the cavity must be within 0.05 mm min. to 0.5 mm max.</a:t>
            </a:r>
          </a:p>
          <a:p>
            <a:r>
              <a:rPr lang="en-US" altLang="ko-KR" sz="1000" dirty="0">
                <a:latin typeface="Arial" panose="020B0604020202020204" pitchFamily="34" charset="0"/>
                <a:cs typeface="Arial" panose="020B0604020202020204" pitchFamily="34" charset="0"/>
              </a:rPr>
              <a:t>3. The component cannot rotate more than 10</a:t>
            </a:r>
            <a:r>
              <a:rPr lang="en-US" altLang="ko-KR" sz="1000" dirty="0">
                <a:latin typeface="맑은 고딕" panose="020B0503020000020004" pitchFamily="50" charset="-127"/>
                <a:ea typeface="맑은 고딕" panose="020B0503020000020004" pitchFamily="50" charset="-127"/>
                <a:cs typeface="Arial" panose="020B0604020202020204" pitchFamily="34" charset="0"/>
              </a:rPr>
              <a:t>︒</a:t>
            </a:r>
            <a:r>
              <a:rPr lang="en-US" altLang="ko-KR" sz="1000" dirty="0">
                <a:latin typeface="Arial" panose="020B0604020202020204" pitchFamily="34" charset="0"/>
                <a:ea typeface="맑은 고딕" panose="020B0503020000020004" pitchFamily="50" charset="-127"/>
                <a:cs typeface="Arial" panose="020B0604020202020204" pitchFamily="34" charset="0"/>
              </a:rPr>
              <a:t> within the determined cavity.</a:t>
            </a:r>
            <a:endParaRPr lang="en-US" altLang="ko-KR" sz="1000" dirty="0">
              <a:latin typeface="Arial" panose="020B0604020202020204" pitchFamily="34" charset="0"/>
              <a:cs typeface="Arial" panose="020B0604020202020204" pitchFamily="34" charset="0"/>
            </a:endParaRPr>
          </a:p>
        </p:txBody>
      </p:sp>
      <p:graphicFrame>
        <p:nvGraphicFramePr>
          <p:cNvPr id="41" name="표 40">
            <a:extLst>
              <a:ext uri="{FF2B5EF4-FFF2-40B4-BE49-F238E27FC236}">
                <a16:creationId xmlns:a16="http://schemas.microsoft.com/office/drawing/2014/main" id="{2B6B45EA-BD84-198B-D9EA-A8EA93528716}"/>
              </a:ext>
            </a:extLst>
          </p:cNvPr>
          <p:cNvGraphicFramePr>
            <a:graphicFrameLocks noGrp="1"/>
          </p:cNvGraphicFramePr>
          <p:nvPr>
            <p:extLst>
              <p:ext uri="{D42A27DB-BD31-4B8C-83A1-F6EECF244321}">
                <p14:modId xmlns:p14="http://schemas.microsoft.com/office/powerpoint/2010/main" val="751329291"/>
              </p:ext>
            </p:extLst>
          </p:nvPr>
        </p:nvGraphicFramePr>
        <p:xfrm>
          <a:off x="945132" y="6694784"/>
          <a:ext cx="5023867" cy="433560"/>
        </p:xfrm>
        <a:graphic>
          <a:graphicData uri="http://schemas.openxmlformats.org/drawingml/2006/table">
            <a:tbl>
              <a:tblPr firstRow="1" bandRow="1">
                <a:tableStyleId>{5C22544A-7EE6-4342-B048-85BDC9FD1C3A}</a:tableStyleId>
              </a:tblPr>
              <a:tblGrid>
                <a:gridCol w="505822">
                  <a:extLst>
                    <a:ext uri="{9D8B030D-6E8A-4147-A177-3AD203B41FA5}">
                      <a16:colId xmlns:a16="http://schemas.microsoft.com/office/drawing/2014/main" val="3246048688"/>
                    </a:ext>
                  </a:extLst>
                </a:gridCol>
                <a:gridCol w="557963">
                  <a:extLst>
                    <a:ext uri="{9D8B030D-6E8A-4147-A177-3AD203B41FA5}">
                      <a16:colId xmlns:a16="http://schemas.microsoft.com/office/drawing/2014/main" val="3109661393"/>
                    </a:ext>
                  </a:extLst>
                </a:gridCol>
                <a:gridCol w="565726">
                  <a:extLst>
                    <a:ext uri="{9D8B030D-6E8A-4147-A177-3AD203B41FA5}">
                      <a16:colId xmlns:a16="http://schemas.microsoft.com/office/drawing/2014/main" val="336048231"/>
                    </a:ext>
                  </a:extLst>
                </a:gridCol>
                <a:gridCol w="565726">
                  <a:extLst>
                    <a:ext uri="{9D8B030D-6E8A-4147-A177-3AD203B41FA5}">
                      <a16:colId xmlns:a16="http://schemas.microsoft.com/office/drawing/2014/main" val="825296521"/>
                    </a:ext>
                  </a:extLst>
                </a:gridCol>
                <a:gridCol w="565726">
                  <a:extLst>
                    <a:ext uri="{9D8B030D-6E8A-4147-A177-3AD203B41FA5}">
                      <a16:colId xmlns:a16="http://schemas.microsoft.com/office/drawing/2014/main" val="1377223108"/>
                    </a:ext>
                  </a:extLst>
                </a:gridCol>
                <a:gridCol w="565726">
                  <a:extLst>
                    <a:ext uri="{9D8B030D-6E8A-4147-A177-3AD203B41FA5}">
                      <a16:colId xmlns:a16="http://schemas.microsoft.com/office/drawing/2014/main" val="3700380994"/>
                    </a:ext>
                  </a:extLst>
                </a:gridCol>
                <a:gridCol w="565726">
                  <a:extLst>
                    <a:ext uri="{9D8B030D-6E8A-4147-A177-3AD203B41FA5}">
                      <a16:colId xmlns:a16="http://schemas.microsoft.com/office/drawing/2014/main" val="869300479"/>
                    </a:ext>
                  </a:extLst>
                </a:gridCol>
                <a:gridCol w="565726">
                  <a:extLst>
                    <a:ext uri="{9D8B030D-6E8A-4147-A177-3AD203B41FA5}">
                      <a16:colId xmlns:a16="http://schemas.microsoft.com/office/drawing/2014/main" val="4036811077"/>
                    </a:ext>
                  </a:extLst>
                </a:gridCol>
                <a:gridCol w="565726">
                  <a:extLst>
                    <a:ext uri="{9D8B030D-6E8A-4147-A177-3AD203B41FA5}">
                      <a16:colId xmlns:a16="http://schemas.microsoft.com/office/drawing/2014/main" val="2101304561"/>
                    </a:ext>
                  </a:extLst>
                </a:gridCol>
              </a:tblGrid>
              <a:tr h="0">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Package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Tape Size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D1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a:t>
                      </a:r>
                      <a:r>
                        <a:rPr kumimoji="0" lang="en-US" altLang="ko-KR" sz="700" b="0" i="0" u="none" strike="noStrike" kern="1200" cap="none" spc="0" normalizeH="0" baseline="-25000" noProof="0" dirty="0">
                          <a:ln>
                            <a:noFill/>
                          </a:ln>
                          <a:solidFill>
                            <a:schemeClr val="tx1"/>
                          </a:solidFill>
                          <a:effectLst/>
                          <a:uLnTx/>
                          <a:uFillTx/>
                          <a:latin typeface="Arial" panose="020B0604020202020204" pitchFamily="34" charset="0"/>
                          <a:ea typeface="+mn-ea"/>
                          <a:cs typeface="Arial" panose="020B0604020202020204" pitchFamily="34" charset="0"/>
                        </a:rPr>
                        <a:t>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a:t>
                      </a:r>
                      <a:r>
                        <a:rPr kumimoji="0" lang="en-US" altLang="ko-KR" sz="700" b="0" i="0" u="none" strike="noStrike" kern="1200" cap="none" spc="0" normalizeH="0" baseline="-25000" noProof="0" dirty="0">
                          <a:ln>
                            <a:noFill/>
                          </a:ln>
                          <a:solidFill>
                            <a:schemeClr val="tx1"/>
                          </a:solidFill>
                          <a:effectLst/>
                          <a:uLnTx/>
                          <a:uFillTx/>
                          <a:latin typeface="Arial" panose="020B0604020202020204" pitchFamily="34" charset="0"/>
                          <a:ea typeface="+mn-ea"/>
                          <a:cs typeface="Arial" panose="020B0604020202020204" pitchFamily="34" charset="0"/>
                        </a:rPr>
                        <a:t>2</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63115578"/>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QFN3030-24L</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12mm</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1.55</a:t>
                      </a:r>
                      <a:r>
                        <a:rPr lang="en-US" altLang="ko-KR" sz="600" b="0" dirty="0">
                          <a:solidFill>
                            <a:schemeClr val="tx1"/>
                          </a:solidFill>
                          <a:latin typeface="Arial" panose="020B0604020202020204" pitchFamily="34" charset="0"/>
                          <a:ea typeface="맑은 고딕" panose="020B0503020000020004" pitchFamily="50" charset="-127"/>
                          <a:cs typeface="Arial" panose="020B0604020202020204" pitchFamily="34" charset="0"/>
                        </a:rPr>
                        <a:t>±0.1mm (0.061±0.004”)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1.55±0.1mm (0.061±0.004”)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1.75±0.1mm (0.069±0.004”)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5.5±0.1mm (0.217±0.004”)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8±0.1mm (0.315±0.004”)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4±0.1mm (0.157±0.004”)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2±0.1mm (0.079±0.004”)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49335514"/>
                  </a:ext>
                </a:extLst>
              </a:tr>
            </a:tbl>
          </a:graphicData>
        </a:graphic>
      </p:graphicFrame>
      <p:graphicFrame>
        <p:nvGraphicFramePr>
          <p:cNvPr id="42" name="표 41">
            <a:extLst>
              <a:ext uri="{FF2B5EF4-FFF2-40B4-BE49-F238E27FC236}">
                <a16:creationId xmlns:a16="http://schemas.microsoft.com/office/drawing/2014/main" id="{59FE0F30-C51D-81BB-8941-C7B8BCB3C6FC}"/>
              </a:ext>
            </a:extLst>
          </p:cNvPr>
          <p:cNvGraphicFramePr>
            <a:graphicFrameLocks noGrp="1"/>
          </p:cNvGraphicFramePr>
          <p:nvPr>
            <p:extLst>
              <p:ext uri="{D42A27DB-BD31-4B8C-83A1-F6EECF244321}">
                <p14:modId xmlns:p14="http://schemas.microsoft.com/office/powerpoint/2010/main" val="3472337985"/>
              </p:ext>
            </p:extLst>
          </p:nvPr>
        </p:nvGraphicFramePr>
        <p:xfrm>
          <a:off x="945132" y="7209491"/>
          <a:ext cx="4185668" cy="433560"/>
        </p:xfrm>
        <a:graphic>
          <a:graphicData uri="http://schemas.openxmlformats.org/drawingml/2006/table">
            <a:tbl>
              <a:tblPr firstRow="1" bandRow="1">
                <a:tableStyleId>{5C22544A-7EE6-4342-B048-85BDC9FD1C3A}</a:tableStyleId>
              </a:tblPr>
              <a:tblGrid>
                <a:gridCol w="499493">
                  <a:extLst>
                    <a:ext uri="{9D8B030D-6E8A-4147-A177-3AD203B41FA5}">
                      <a16:colId xmlns:a16="http://schemas.microsoft.com/office/drawing/2014/main" val="74672149"/>
                    </a:ext>
                  </a:extLst>
                </a:gridCol>
                <a:gridCol w="558800">
                  <a:extLst>
                    <a:ext uri="{9D8B030D-6E8A-4147-A177-3AD203B41FA5}">
                      <a16:colId xmlns:a16="http://schemas.microsoft.com/office/drawing/2014/main" val="1668447251"/>
                    </a:ext>
                  </a:extLst>
                </a:gridCol>
                <a:gridCol w="625475">
                  <a:extLst>
                    <a:ext uri="{9D8B030D-6E8A-4147-A177-3AD203B41FA5}">
                      <a16:colId xmlns:a16="http://schemas.microsoft.com/office/drawing/2014/main" val="1378522382"/>
                    </a:ext>
                  </a:extLst>
                </a:gridCol>
                <a:gridCol w="625475">
                  <a:extLst>
                    <a:ext uri="{9D8B030D-6E8A-4147-A177-3AD203B41FA5}">
                      <a16:colId xmlns:a16="http://schemas.microsoft.com/office/drawing/2014/main" val="2132518063"/>
                    </a:ext>
                  </a:extLst>
                </a:gridCol>
                <a:gridCol w="625475">
                  <a:extLst>
                    <a:ext uri="{9D8B030D-6E8A-4147-A177-3AD203B41FA5}">
                      <a16:colId xmlns:a16="http://schemas.microsoft.com/office/drawing/2014/main" val="3542412228"/>
                    </a:ext>
                  </a:extLst>
                </a:gridCol>
                <a:gridCol w="625475">
                  <a:extLst>
                    <a:ext uri="{9D8B030D-6E8A-4147-A177-3AD203B41FA5}">
                      <a16:colId xmlns:a16="http://schemas.microsoft.com/office/drawing/2014/main" val="1447971793"/>
                    </a:ext>
                  </a:extLst>
                </a:gridCol>
                <a:gridCol w="625475">
                  <a:extLst>
                    <a:ext uri="{9D8B030D-6E8A-4147-A177-3AD203B41FA5}">
                      <a16:colId xmlns:a16="http://schemas.microsoft.com/office/drawing/2014/main" val="3786809632"/>
                    </a:ext>
                  </a:extLst>
                </a:gridCol>
              </a:tblGrid>
              <a:tr h="0">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Package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R Min.</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T</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W</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A0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B0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K0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72940243"/>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QFN3030</a:t>
                      </a:r>
                      <a:br>
                        <a:rPr lang="en-US" altLang="ko-KR" sz="600" b="0" dirty="0">
                          <a:solidFill>
                            <a:schemeClr val="tx1"/>
                          </a:solidFill>
                          <a:latin typeface="Arial" panose="020B0604020202020204" pitchFamily="34" charset="0"/>
                          <a:ea typeface="+mn-ea"/>
                          <a:cs typeface="Arial" panose="020B0604020202020204" pitchFamily="34" charset="0"/>
                        </a:rPr>
                      </a:br>
                      <a:r>
                        <a:rPr lang="en-US" altLang="ko-KR" sz="600" b="0" dirty="0">
                          <a:solidFill>
                            <a:schemeClr val="tx1"/>
                          </a:solidFill>
                          <a:latin typeface="Arial" panose="020B0604020202020204" pitchFamily="34" charset="0"/>
                          <a:ea typeface="+mn-ea"/>
                          <a:cs typeface="Arial" panose="020B0604020202020204" pitchFamily="34" charset="0"/>
                        </a:rPr>
                        <a:t>-24L</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25mm</a:t>
                      </a: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(0.98”)</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0.20±0.05mm (0.008±0.002”)</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12mm±0.1mm (0.472±0.004”)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3.22±0.1 mm (0.127±0.004”)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3.22</a:t>
                      </a:r>
                      <a:r>
                        <a:rPr lang="en-US" altLang="ko-KR" sz="600" b="0" dirty="0">
                          <a:solidFill>
                            <a:schemeClr val="tx1"/>
                          </a:solidFill>
                          <a:latin typeface="Arial" panose="020B0604020202020204" pitchFamily="34" charset="0"/>
                          <a:ea typeface="맑은 고딕" panose="020B0503020000020004" pitchFamily="50" charset="-127"/>
                          <a:cs typeface="Arial" panose="020B0604020202020204" pitchFamily="34" charset="0"/>
                        </a:rPr>
                        <a:t>±0.1mm (0.127±0.004”)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0.75±0.1mm (0.03±0.004”)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2582253"/>
                  </a:ext>
                </a:extLst>
              </a:tr>
            </a:tbl>
          </a:graphicData>
        </a:graphic>
      </p:graphicFrame>
      <p:pic>
        <p:nvPicPr>
          <p:cNvPr id="2" name="그림 1">
            <a:extLst>
              <a:ext uri="{FF2B5EF4-FFF2-40B4-BE49-F238E27FC236}">
                <a16:creationId xmlns:a16="http://schemas.microsoft.com/office/drawing/2014/main" id="{73DB685C-48DF-77FF-3376-5D03E370EAE6}"/>
              </a:ext>
            </a:extLst>
          </p:cNvPr>
          <p:cNvPicPr>
            <a:picLocks noChangeAspect="1"/>
          </p:cNvPicPr>
          <p:nvPr/>
        </p:nvPicPr>
        <p:blipFill>
          <a:blip r:embed="rId9"/>
          <a:stretch>
            <a:fillRect/>
          </a:stretch>
        </p:blipFill>
        <p:spPr>
          <a:xfrm>
            <a:off x="1782780" y="3543839"/>
            <a:ext cx="1776601" cy="503986"/>
          </a:xfrm>
          <a:prstGeom prst="rect">
            <a:avLst/>
          </a:prstGeom>
        </p:spPr>
      </p:pic>
    </p:spTree>
    <p:extLst>
      <p:ext uri="{BB962C8B-B14F-4D97-AF65-F5344CB8AC3E}">
        <p14:creationId xmlns:p14="http://schemas.microsoft.com/office/powerpoint/2010/main" val="33014140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04813" y="821032"/>
            <a:ext cx="6048615" cy="215444"/>
          </a:xfrm>
          <a:prstGeom prst="rect">
            <a:avLst/>
          </a:prstGeom>
          <a:noFill/>
        </p:spPr>
        <p:txBody>
          <a:bodyPr vert="horz" wrap="square" lIns="0" tIns="0" rIns="0" bIns="0" rtlCol="0" anchor="ctr" anchorCtr="0">
            <a:spAutoFit/>
          </a:bodyPr>
          <a:lstStyle/>
          <a:p>
            <a:r>
              <a:rPr lang="en-US" altLang="ko-KR" sz="1400" b="1" dirty="0">
                <a:latin typeface="Arial" panose="020B0604020202020204" pitchFamily="34" charset="0"/>
                <a:cs typeface="Arial" panose="020B0604020202020204" pitchFamily="34" charset="0"/>
              </a:rPr>
              <a:t>Package specification</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grpSp>
        <p:nvGrpSpPr>
          <p:cNvPr id="10" name="그룹 9">
            <a:extLst>
              <a:ext uri="{FF2B5EF4-FFF2-40B4-BE49-F238E27FC236}">
                <a16:creationId xmlns:a16="http://schemas.microsoft.com/office/drawing/2014/main" id="{9C60ED0E-AD57-0C1A-6F93-CC0040ACB422}"/>
              </a:ext>
            </a:extLst>
          </p:cNvPr>
          <p:cNvGrpSpPr/>
          <p:nvPr/>
        </p:nvGrpSpPr>
        <p:grpSpPr>
          <a:xfrm>
            <a:off x="950714" y="2048428"/>
            <a:ext cx="2017514" cy="2017631"/>
            <a:chOff x="934465" y="2137885"/>
            <a:chExt cx="1602000" cy="1602000"/>
          </a:xfrm>
        </p:grpSpPr>
        <p:sp>
          <p:nvSpPr>
            <p:cNvPr id="11" name="직사각형 10">
              <a:extLst>
                <a:ext uri="{FF2B5EF4-FFF2-40B4-BE49-F238E27FC236}">
                  <a16:creationId xmlns:a16="http://schemas.microsoft.com/office/drawing/2014/main" id="{3D19DF92-9F59-3044-EBFA-EF0F11AFF2A3}"/>
                </a:ext>
              </a:extLst>
            </p:cNvPr>
            <p:cNvSpPr/>
            <p:nvPr/>
          </p:nvSpPr>
          <p:spPr>
            <a:xfrm>
              <a:off x="934465" y="2137885"/>
              <a:ext cx="1602000" cy="1602000"/>
            </a:xfrm>
            <a:prstGeom prst="rect">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 name="타원 12">
              <a:extLst>
                <a:ext uri="{FF2B5EF4-FFF2-40B4-BE49-F238E27FC236}">
                  <a16:creationId xmlns:a16="http://schemas.microsoft.com/office/drawing/2014/main" id="{287340AB-B6AD-5634-ADF7-FE1FA3F09C12}"/>
                </a:ext>
              </a:extLst>
            </p:cNvPr>
            <p:cNvSpPr/>
            <p:nvPr/>
          </p:nvSpPr>
          <p:spPr>
            <a:xfrm>
              <a:off x="1068746" y="3568638"/>
              <a:ext cx="72000" cy="72000"/>
            </a:xfrm>
            <a:prstGeom prst="ellipse">
              <a:avLst/>
            </a:prstGeom>
            <a:solidFill>
              <a:schemeClr val="tx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4" name="TextBox 13">
              <a:extLst>
                <a:ext uri="{FF2B5EF4-FFF2-40B4-BE49-F238E27FC236}">
                  <a16:creationId xmlns:a16="http://schemas.microsoft.com/office/drawing/2014/main" id="{2248BB79-0FCB-EFD4-CFAB-E3B39ACC1951}"/>
                </a:ext>
              </a:extLst>
            </p:cNvPr>
            <p:cNvSpPr txBox="1"/>
            <p:nvPr/>
          </p:nvSpPr>
          <p:spPr>
            <a:xfrm>
              <a:off x="951974" y="3353975"/>
              <a:ext cx="356656" cy="158844"/>
            </a:xfrm>
            <a:prstGeom prst="rect">
              <a:avLst/>
            </a:prstGeom>
            <a:noFill/>
            <a:ln w="12700">
              <a:noFill/>
            </a:ln>
          </p:spPr>
          <p:txBody>
            <a:bodyPr wrap="none" rtlCol="0">
              <a:spAutoFit/>
            </a:bodyPr>
            <a:lstStyle/>
            <a:p>
              <a:r>
                <a:rPr lang="en-US" altLang="ko-KR" sz="700" b="1" dirty="0">
                  <a:latin typeface="Arial" panose="020B0604020202020204" pitchFamily="34" charset="0"/>
                  <a:cs typeface="Arial" panose="020B0604020202020204" pitchFamily="34" charset="0"/>
                </a:rPr>
                <a:t>Pin #1</a:t>
              </a:r>
              <a:endParaRPr lang="ko-KR" altLang="en-US" sz="700" b="1" dirty="0">
                <a:latin typeface="Arial" panose="020B0604020202020204" pitchFamily="34" charset="0"/>
                <a:cs typeface="Arial" panose="020B0604020202020204" pitchFamily="34" charset="0"/>
              </a:endParaRPr>
            </a:p>
          </p:txBody>
        </p:sp>
      </p:grpSp>
      <p:cxnSp>
        <p:nvCxnSpPr>
          <p:cNvPr id="16" name="직선 연결선 15">
            <a:extLst>
              <a:ext uri="{FF2B5EF4-FFF2-40B4-BE49-F238E27FC236}">
                <a16:creationId xmlns:a16="http://schemas.microsoft.com/office/drawing/2014/main" id="{E19A48B9-465F-F4D6-3E89-3F5D2910A501}"/>
              </a:ext>
            </a:extLst>
          </p:cNvPr>
          <p:cNvCxnSpPr>
            <a:cxnSpLocks/>
          </p:cNvCxnSpPr>
          <p:nvPr/>
        </p:nvCxnSpPr>
        <p:spPr>
          <a:xfrm flipH="1">
            <a:off x="597482" y="2048428"/>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E56C4A0A-FF8D-5068-A502-B7BAD42ED1C7}"/>
              </a:ext>
            </a:extLst>
          </p:cNvPr>
          <p:cNvCxnSpPr/>
          <p:nvPr/>
        </p:nvCxnSpPr>
        <p:spPr>
          <a:xfrm>
            <a:off x="719771" y="2070516"/>
            <a:ext cx="0" cy="1949621"/>
          </a:xfrm>
          <a:prstGeom prst="line">
            <a:avLst/>
          </a:prstGeom>
          <a:ln w="3175">
            <a:solidFill>
              <a:schemeClr val="tx1"/>
            </a:solidFill>
            <a:headEnd type="triangle"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19" name="직선 연결선 18">
            <a:extLst>
              <a:ext uri="{FF2B5EF4-FFF2-40B4-BE49-F238E27FC236}">
                <a16:creationId xmlns:a16="http://schemas.microsoft.com/office/drawing/2014/main" id="{46D4D303-6224-F151-37E5-B0A4D8D7A78B}"/>
              </a:ext>
            </a:extLst>
          </p:cNvPr>
          <p:cNvCxnSpPr>
            <a:cxnSpLocks/>
          </p:cNvCxnSpPr>
          <p:nvPr/>
        </p:nvCxnSpPr>
        <p:spPr>
          <a:xfrm flipH="1">
            <a:off x="584089" y="4038652"/>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직선 연결선 19">
            <a:extLst>
              <a:ext uri="{FF2B5EF4-FFF2-40B4-BE49-F238E27FC236}">
                <a16:creationId xmlns:a16="http://schemas.microsoft.com/office/drawing/2014/main" id="{61E345FC-BBC1-3AB8-A8F7-63ED9CDE56BB}"/>
              </a:ext>
            </a:extLst>
          </p:cNvPr>
          <p:cNvCxnSpPr>
            <a:cxnSpLocks/>
          </p:cNvCxnSpPr>
          <p:nvPr/>
        </p:nvCxnSpPr>
        <p:spPr>
          <a:xfrm rot="5400000" flipH="1" flipV="1">
            <a:off x="829249" y="4247781"/>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직선 연결선 21">
            <a:extLst>
              <a:ext uri="{FF2B5EF4-FFF2-40B4-BE49-F238E27FC236}">
                <a16:creationId xmlns:a16="http://schemas.microsoft.com/office/drawing/2014/main" id="{A62870C1-DF60-9007-6351-2B99C6751217}"/>
              </a:ext>
            </a:extLst>
          </p:cNvPr>
          <p:cNvCxnSpPr>
            <a:cxnSpLocks/>
          </p:cNvCxnSpPr>
          <p:nvPr/>
        </p:nvCxnSpPr>
        <p:spPr>
          <a:xfrm rot="5400000" flipH="1" flipV="1">
            <a:off x="2836324" y="4246566"/>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직선 연결선 22">
            <a:extLst>
              <a:ext uri="{FF2B5EF4-FFF2-40B4-BE49-F238E27FC236}">
                <a16:creationId xmlns:a16="http://schemas.microsoft.com/office/drawing/2014/main" id="{D46AC9AF-AC12-D6DA-8BED-08211461B132}"/>
              </a:ext>
            </a:extLst>
          </p:cNvPr>
          <p:cNvCxnSpPr>
            <a:cxnSpLocks/>
          </p:cNvCxnSpPr>
          <p:nvPr/>
        </p:nvCxnSpPr>
        <p:spPr>
          <a:xfrm flipH="1">
            <a:off x="957663" y="4240456"/>
            <a:ext cx="1994845" cy="0"/>
          </a:xfrm>
          <a:prstGeom prst="line">
            <a:avLst/>
          </a:prstGeom>
          <a:ln w="3175">
            <a:solidFill>
              <a:schemeClr val="tx1"/>
            </a:solidFill>
            <a:headEnd type="triangle" w="sm" len="med"/>
            <a:tailEnd type="triangle" w="sm" len="med"/>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A5F43BF8-D5E2-952B-D8F5-804FC641D419}"/>
              </a:ext>
            </a:extLst>
          </p:cNvPr>
          <p:cNvSpPr txBox="1"/>
          <p:nvPr/>
        </p:nvSpPr>
        <p:spPr>
          <a:xfrm>
            <a:off x="1911804" y="4155817"/>
            <a:ext cx="86562" cy="169277"/>
          </a:xfrm>
          <a:prstGeom prst="rect">
            <a:avLst/>
          </a:prstGeom>
          <a:solidFill>
            <a:schemeClr val="bg1"/>
          </a:solidFill>
        </p:spPr>
        <p:txBody>
          <a:bodyPr wrap="none" lIns="0" tIns="0" rIns="0" bIns="0" rtlCol="0" anchor="ctr" anchorCtr="0">
            <a:spAutoFit/>
          </a:bodyPr>
          <a:lstStyle/>
          <a:p>
            <a:r>
              <a:rPr lang="en-US" altLang="ko-KR" sz="1100" dirty="0"/>
              <a:t>D</a:t>
            </a:r>
            <a:endParaRPr lang="ko-KR" altLang="en-US" sz="1100" dirty="0"/>
          </a:p>
        </p:txBody>
      </p:sp>
      <p:graphicFrame>
        <p:nvGraphicFramePr>
          <p:cNvPr id="7" name="object 2">
            <a:extLst>
              <a:ext uri="{FF2B5EF4-FFF2-40B4-BE49-F238E27FC236}">
                <a16:creationId xmlns:a16="http://schemas.microsoft.com/office/drawing/2014/main" id="{0B9B7991-237F-E7E6-7D59-BFB5F34D7471}"/>
              </a:ext>
            </a:extLst>
          </p:cNvPr>
          <p:cNvGraphicFramePr>
            <a:graphicFrameLocks noGrp="1"/>
          </p:cNvGraphicFramePr>
          <p:nvPr>
            <p:extLst>
              <p:ext uri="{D42A27DB-BD31-4B8C-83A1-F6EECF244321}">
                <p14:modId xmlns:p14="http://schemas.microsoft.com/office/powerpoint/2010/main" val="3680206732"/>
              </p:ext>
            </p:extLst>
          </p:nvPr>
        </p:nvGraphicFramePr>
        <p:xfrm>
          <a:off x="3919794" y="4723738"/>
          <a:ext cx="2359085" cy="3339850"/>
        </p:xfrm>
        <a:graphic>
          <a:graphicData uri="http://schemas.openxmlformats.org/drawingml/2006/table">
            <a:tbl>
              <a:tblPr firstRow="1" bandRow="1">
                <a:tableStyleId>{2D5ABB26-0587-4C30-8999-92F81FD0307C}</a:tableStyleId>
              </a:tblPr>
              <a:tblGrid>
                <a:gridCol w="693962">
                  <a:extLst>
                    <a:ext uri="{9D8B030D-6E8A-4147-A177-3AD203B41FA5}">
                      <a16:colId xmlns:a16="http://schemas.microsoft.com/office/drawing/2014/main" val="20000"/>
                    </a:ext>
                  </a:extLst>
                </a:gridCol>
                <a:gridCol w="556456">
                  <a:extLst>
                    <a:ext uri="{9D8B030D-6E8A-4147-A177-3AD203B41FA5}">
                      <a16:colId xmlns:a16="http://schemas.microsoft.com/office/drawing/2014/main" val="20001"/>
                    </a:ext>
                  </a:extLst>
                </a:gridCol>
                <a:gridCol w="545379">
                  <a:extLst>
                    <a:ext uri="{9D8B030D-6E8A-4147-A177-3AD203B41FA5}">
                      <a16:colId xmlns:a16="http://schemas.microsoft.com/office/drawing/2014/main" val="4065758931"/>
                    </a:ext>
                  </a:extLst>
                </a:gridCol>
                <a:gridCol w="563288">
                  <a:extLst>
                    <a:ext uri="{9D8B030D-6E8A-4147-A177-3AD203B41FA5}">
                      <a16:colId xmlns:a16="http://schemas.microsoft.com/office/drawing/2014/main" val="20002"/>
                    </a:ext>
                  </a:extLst>
                </a:gridCol>
              </a:tblGrid>
              <a:tr h="229005">
                <a:tc rowSpan="2">
                  <a:txBody>
                    <a:bodyPr/>
                    <a:lstStyle/>
                    <a:p>
                      <a:pPr marL="0" indent="0" algn="ctr">
                        <a:lnSpc>
                          <a:spcPct val="100000"/>
                        </a:lnSpc>
                        <a:spcBef>
                          <a:spcPts val="185"/>
                        </a:spcBef>
                      </a:pPr>
                      <a:r>
                        <a:rPr lang="en-US" sz="900" b="1" dirty="0">
                          <a:latin typeface="Arial" panose="020B0604020202020204" pitchFamily="34" charset="0"/>
                          <a:cs typeface="Arial" panose="020B0604020202020204" pitchFamily="34" charset="0"/>
                        </a:rPr>
                        <a:t>Symbol</a:t>
                      </a:r>
                      <a:endParaRPr sz="900" b="1"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3">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Dimensions in mm</a:t>
                      </a:r>
                      <a:endParaRPr sz="900" b="1"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marL="63500" algn="ctr">
                        <a:lnSpc>
                          <a:spcPct val="100000"/>
                        </a:lnSpc>
                        <a:spcBef>
                          <a:spcPts val="185"/>
                        </a:spcBef>
                      </a:pPr>
                      <a:endParaRPr sz="1000" dirty="0">
                        <a:latin typeface="Calibri"/>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tcPr>
                </a:tc>
                <a:tc hMerge="1">
                  <a:txBody>
                    <a:bodyPr/>
                    <a:lstStyle/>
                    <a:p>
                      <a:pPr marL="64135" algn="ctr">
                        <a:lnSpc>
                          <a:spcPct val="100000"/>
                        </a:lnSpc>
                        <a:spcBef>
                          <a:spcPts val="185"/>
                        </a:spcBef>
                      </a:pPr>
                      <a:endParaRPr sz="10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29005">
                <a:tc v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Min</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Typ</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Max</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0.50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0.55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0.60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0.05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A2</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0.45 REF</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A3</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0.152 REF</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tc>
                <a:extLst>
                  <a:ext uri="{0D108BD9-81ED-4DB2-BD59-A6C34878D82A}">
                    <a16:rowId xmlns:a16="http://schemas.microsoft.com/office/drawing/2014/main" val="2321657069"/>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b</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D</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2.90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3.10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D1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1.35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1.40</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1.45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2.90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3.10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1.75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 </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0.40 BSC</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1"/>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K</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K1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0.65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0.70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0.75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9159450"/>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L</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sp>
        <p:nvSpPr>
          <p:cNvPr id="12" name="TextBox 11">
            <a:extLst>
              <a:ext uri="{FF2B5EF4-FFF2-40B4-BE49-F238E27FC236}">
                <a16:creationId xmlns:a16="http://schemas.microsoft.com/office/drawing/2014/main" id="{C0A64E1C-33EA-1238-5141-A68DDCF8FC0C}"/>
              </a:ext>
            </a:extLst>
          </p:cNvPr>
          <p:cNvSpPr txBox="1"/>
          <p:nvPr/>
        </p:nvSpPr>
        <p:spPr>
          <a:xfrm>
            <a:off x="1598278" y="4634214"/>
            <a:ext cx="660437" cy="153888"/>
          </a:xfrm>
          <a:prstGeom prst="rect">
            <a:avLst/>
          </a:prstGeom>
          <a:noFill/>
        </p:spPr>
        <p:txBody>
          <a:bodyPr vert="horz" wrap="none" lIns="0" tIns="0" rIns="0" bIns="0" rtlCol="0" anchor="ctr" anchorCtr="0">
            <a:spAutoFit/>
          </a:bodyPr>
          <a:lstStyle/>
          <a:p>
            <a:r>
              <a:rPr lang="en-US" altLang="ko-KR" sz="1000" b="1" dirty="0">
                <a:latin typeface="Arial" panose="020B0604020202020204" pitchFamily="34" charset="0"/>
                <a:cs typeface="Arial" panose="020B0604020202020204" pitchFamily="34" charset="0"/>
              </a:rPr>
              <a:t>SIDE VIEW</a:t>
            </a:r>
            <a:endParaRPr lang="ko-KR" altLang="en-US" sz="1000" b="1" dirty="0">
              <a:latin typeface="Arial" panose="020B0604020202020204" pitchFamily="34" charset="0"/>
              <a:cs typeface="Arial" panose="020B0604020202020204" pitchFamily="34" charset="0"/>
            </a:endParaRPr>
          </a:p>
        </p:txBody>
      </p:sp>
      <p:sp>
        <p:nvSpPr>
          <p:cNvPr id="8" name="object 84">
            <a:extLst>
              <a:ext uri="{FF2B5EF4-FFF2-40B4-BE49-F238E27FC236}">
                <a16:creationId xmlns:a16="http://schemas.microsoft.com/office/drawing/2014/main" id="{1E9A1E01-6F1D-EB23-92C6-9C650F0B90D6}"/>
              </a:ext>
            </a:extLst>
          </p:cNvPr>
          <p:cNvSpPr txBox="1"/>
          <p:nvPr/>
        </p:nvSpPr>
        <p:spPr>
          <a:xfrm>
            <a:off x="2660200" y="8815546"/>
            <a:ext cx="1537600"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15. Package Outline</a:t>
            </a:r>
          </a:p>
        </p:txBody>
      </p:sp>
      <p:sp>
        <p:nvSpPr>
          <p:cNvPr id="28" name="object 3">
            <a:extLst>
              <a:ext uri="{FF2B5EF4-FFF2-40B4-BE49-F238E27FC236}">
                <a16:creationId xmlns:a16="http://schemas.microsoft.com/office/drawing/2014/main" id="{21C39B93-B2F1-FB91-1EEE-E0B3D0A972CA}"/>
              </a:ext>
            </a:extLst>
          </p:cNvPr>
          <p:cNvSpPr txBox="1"/>
          <p:nvPr/>
        </p:nvSpPr>
        <p:spPr>
          <a:xfrm>
            <a:off x="2363268" y="1185896"/>
            <a:ext cx="2656407" cy="169277"/>
          </a:xfrm>
          <a:prstGeom prst="rect">
            <a:avLst/>
          </a:prstGeom>
        </p:spPr>
        <p:txBody>
          <a:bodyPr vert="horz" wrap="square" lIns="0" tIns="0" rIns="0" bIns="0" rtlCol="0" anchor="ctr" anchorCtr="0">
            <a:spAutoFit/>
          </a:bodyPr>
          <a:lstStyle/>
          <a:p>
            <a:pPr algn="ctr" defTabSz="895327" fontAlgn="auto">
              <a:spcBef>
                <a:spcPts val="474"/>
              </a:spcBef>
              <a:spcAft>
                <a:spcPts val="0"/>
              </a:spcAft>
            </a:pPr>
            <a:r>
              <a:rPr lang="en-US" altLang="ko-KR" sz="1100" b="1" spc="-20" dirty="0">
                <a:solidFill>
                  <a:prstClr val="black"/>
                </a:solidFill>
                <a:latin typeface="Arial"/>
                <a:ea typeface="맑은 고딕" panose="020B0503020000020004" pitchFamily="50" charset="-127"/>
                <a:cs typeface="Arial"/>
              </a:rPr>
              <a:t>Q</a:t>
            </a:r>
            <a:r>
              <a:rPr kumimoji="0" lang="en-US" altLang="ko-KR" sz="1100" b="1" spc="-20" dirty="0">
                <a:solidFill>
                  <a:prstClr val="black"/>
                </a:solidFill>
                <a:latin typeface="Arial"/>
                <a:ea typeface="맑은 고딕" panose="020B0503020000020004" pitchFamily="50" charset="-127"/>
                <a:cs typeface="Arial"/>
              </a:rPr>
              <a:t>FN 3030-24L </a:t>
            </a:r>
            <a:r>
              <a:rPr kumimoji="0" lang="en-US" altLang="ko-KR" sz="1100" b="1" spc="-5" dirty="0">
                <a:solidFill>
                  <a:prstClr val="black"/>
                </a:solidFill>
                <a:latin typeface="Arial"/>
                <a:ea typeface="맑은 고딕" panose="020B0503020000020004" pitchFamily="50" charset="-127"/>
                <a:cs typeface="Arial"/>
              </a:rPr>
              <a:t> Package</a:t>
            </a:r>
            <a:r>
              <a:rPr kumimoji="0" lang="en-US" altLang="ko-KR" sz="1100" b="1" spc="-73" dirty="0">
                <a:solidFill>
                  <a:prstClr val="black"/>
                </a:solidFill>
                <a:latin typeface="Arial"/>
                <a:ea typeface="맑은 고딕" panose="020B0503020000020004" pitchFamily="50" charset="-127"/>
                <a:cs typeface="Arial"/>
              </a:rPr>
              <a:t> </a:t>
            </a:r>
            <a:r>
              <a:rPr kumimoji="0" lang="en-US" altLang="ko-KR" sz="1100" b="1" spc="-5" dirty="0">
                <a:solidFill>
                  <a:prstClr val="black"/>
                </a:solidFill>
                <a:latin typeface="Arial"/>
                <a:ea typeface="맑은 고딕" panose="020B0503020000020004" pitchFamily="50" charset="-127"/>
                <a:cs typeface="Arial"/>
              </a:rPr>
              <a:t>Outline [TBD]</a:t>
            </a:r>
            <a:endParaRPr kumimoji="0" lang="en-US" altLang="ko-KR" sz="1100" b="1" dirty="0">
              <a:solidFill>
                <a:prstClr val="black"/>
              </a:solidFill>
              <a:latin typeface="Arial"/>
              <a:ea typeface="맑은 고딕" panose="020B0503020000020004" pitchFamily="50" charset="-127"/>
              <a:cs typeface="Arial"/>
            </a:endParaRPr>
          </a:p>
        </p:txBody>
      </p:sp>
      <p:sp>
        <p:nvSpPr>
          <p:cNvPr id="24" name="TextBox 23">
            <a:extLst>
              <a:ext uri="{FF2B5EF4-FFF2-40B4-BE49-F238E27FC236}">
                <a16:creationId xmlns:a16="http://schemas.microsoft.com/office/drawing/2014/main" id="{6F1D99D7-953D-A0B1-E3C7-F81D54B49737}"/>
              </a:ext>
            </a:extLst>
          </p:cNvPr>
          <p:cNvSpPr txBox="1"/>
          <p:nvPr/>
        </p:nvSpPr>
        <p:spPr>
          <a:xfrm>
            <a:off x="683684" y="2939513"/>
            <a:ext cx="68930" cy="169277"/>
          </a:xfrm>
          <a:prstGeom prst="rect">
            <a:avLst/>
          </a:prstGeom>
          <a:solidFill>
            <a:schemeClr val="bg1"/>
          </a:solidFill>
        </p:spPr>
        <p:txBody>
          <a:bodyPr wrap="none" lIns="0" tIns="0" rIns="0" bIns="0" rtlCol="0" anchor="ctr" anchorCtr="0">
            <a:spAutoFit/>
          </a:bodyPr>
          <a:lstStyle/>
          <a:p>
            <a:r>
              <a:rPr lang="en-US" altLang="ko-KR" sz="1100" dirty="0"/>
              <a:t>E</a:t>
            </a:r>
            <a:endParaRPr lang="ko-KR" altLang="en-US" sz="1100" dirty="0"/>
          </a:p>
        </p:txBody>
      </p:sp>
      <p:sp>
        <p:nvSpPr>
          <p:cNvPr id="15" name="TextBox 14">
            <a:extLst>
              <a:ext uri="{FF2B5EF4-FFF2-40B4-BE49-F238E27FC236}">
                <a16:creationId xmlns:a16="http://schemas.microsoft.com/office/drawing/2014/main" id="{0CB09810-A151-C751-9644-0DADE9A706F0}"/>
              </a:ext>
            </a:extLst>
          </p:cNvPr>
          <p:cNvSpPr txBox="1"/>
          <p:nvPr/>
        </p:nvSpPr>
        <p:spPr>
          <a:xfrm>
            <a:off x="1598278" y="1591805"/>
            <a:ext cx="625171" cy="153888"/>
          </a:xfrm>
          <a:prstGeom prst="rect">
            <a:avLst/>
          </a:prstGeom>
          <a:noFill/>
        </p:spPr>
        <p:txBody>
          <a:bodyPr vert="horz" wrap="none" lIns="0" tIns="0" rIns="0" bIns="0" rtlCol="0" anchor="ctr" anchorCtr="0">
            <a:spAutoFit/>
          </a:bodyPr>
          <a:lstStyle/>
          <a:p>
            <a:r>
              <a:rPr lang="en-US" altLang="ko-KR" sz="1000" b="1" dirty="0">
                <a:latin typeface="Arial" panose="020B0604020202020204" pitchFamily="34" charset="0"/>
                <a:cs typeface="Arial" panose="020B0604020202020204" pitchFamily="34" charset="0"/>
              </a:rPr>
              <a:t>TOP VIEW</a:t>
            </a:r>
            <a:endParaRPr lang="ko-KR" altLang="en-US" sz="1000" b="1" dirty="0">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40700C89-2519-CBD2-F48D-BD62E4479CF3}"/>
              </a:ext>
            </a:extLst>
          </p:cNvPr>
          <p:cNvSpPr txBox="1"/>
          <p:nvPr/>
        </p:nvSpPr>
        <p:spPr>
          <a:xfrm>
            <a:off x="4479475" y="1592262"/>
            <a:ext cx="910506" cy="153888"/>
          </a:xfrm>
          <a:prstGeom prst="rect">
            <a:avLst/>
          </a:prstGeom>
          <a:noFill/>
        </p:spPr>
        <p:txBody>
          <a:bodyPr vert="horz" wrap="none" lIns="0" tIns="0" rIns="0" bIns="0" rtlCol="0" anchor="ctr" anchorCtr="0">
            <a:spAutoFit/>
          </a:bodyPr>
          <a:lstStyle>
            <a:defPPr>
              <a:defRPr lang="en-US"/>
            </a:defPPr>
            <a:lvl1pPr>
              <a:defRPr sz="1100">
                <a:latin typeface="Arial" panose="020B0604020202020204" pitchFamily="34" charset="0"/>
                <a:cs typeface="Arial" panose="020B0604020202020204" pitchFamily="34" charset="0"/>
              </a:defRPr>
            </a:lvl1pPr>
          </a:lstStyle>
          <a:p>
            <a:r>
              <a:rPr lang="en-US" altLang="ko-KR" sz="1000" b="1" dirty="0"/>
              <a:t>BOTTOM VIEW</a:t>
            </a:r>
            <a:endParaRPr lang="ko-KR" altLang="en-US" sz="1000" b="1" dirty="0"/>
          </a:p>
        </p:txBody>
      </p:sp>
      <p:pic>
        <p:nvPicPr>
          <p:cNvPr id="9" name="그림 8">
            <a:extLst>
              <a:ext uri="{FF2B5EF4-FFF2-40B4-BE49-F238E27FC236}">
                <a16:creationId xmlns:a16="http://schemas.microsoft.com/office/drawing/2014/main" id="{02FD8DDD-4218-E119-5947-7CFC848EC676}"/>
              </a:ext>
            </a:extLst>
          </p:cNvPr>
          <p:cNvPicPr>
            <a:picLocks noChangeAspect="1"/>
          </p:cNvPicPr>
          <p:nvPr/>
        </p:nvPicPr>
        <p:blipFill>
          <a:blip r:embed="rId2"/>
          <a:stretch>
            <a:fillRect/>
          </a:stretch>
        </p:blipFill>
        <p:spPr>
          <a:xfrm>
            <a:off x="404813" y="4943255"/>
            <a:ext cx="2684442" cy="989696"/>
          </a:xfrm>
          <a:prstGeom prst="rect">
            <a:avLst/>
          </a:prstGeom>
        </p:spPr>
      </p:pic>
      <p:sp>
        <p:nvSpPr>
          <p:cNvPr id="2" name="object 84">
            <a:extLst>
              <a:ext uri="{FF2B5EF4-FFF2-40B4-BE49-F238E27FC236}">
                <a16:creationId xmlns:a16="http://schemas.microsoft.com/office/drawing/2014/main" id="{49553C9C-3EB1-76D2-3EC1-977A0C15A833}"/>
              </a:ext>
            </a:extLst>
          </p:cNvPr>
          <p:cNvSpPr txBox="1"/>
          <p:nvPr/>
        </p:nvSpPr>
        <p:spPr>
          <a:xfrm>
            <a:off x="3556004" y="8313738"/>
            <a:ext cx="3042407" cy="289823"/>
          </a:xfrm>
          <a:prstGeom prst="rect">
            <a:avLst/>
          </a:prstGeom>
        </p:spPr>
        <p:txBody>
          <a:bodyPr vert="horz" wrap="square" lIns="0" tIns="0" rIns="0" bIns="0" rtlCol="0" anchor="ctr" anchorCtr="0">
            <a:spAutoFit/>
          </a:bodyPr>
          <a:lstStyle/>
          <a:p>
            <a:pPr marL="12435" defTabSz="895327" fontAlgn="auto">
              <a:spcBef>
                <a:spcPts val="118"/>
              </a:spcBef>
              <a:spcAft>
                <a:spcPts val="0"/>
              </a:spcAft>
            </a:pPr>
            <a:r>
              <a:rPr kumimoji="0" lang="en-US" sz="900" spc="15" dirty="0">
                <a:latin typeface="Arial" panose="020B0604020202020204" pitchFamily="34" charset="0"/>
                <a:ea typeface="+mn-ea"/>
                <a:cs typeface="Arial" panose="020B0604020202020204" pitchFamily="34" charset="0"/>
              </a:rPr>
              <a:t>Note</a:t>
            </a:r>
          </a:p>
          <a:p>
            <a:pPr marL="12435" defTabSz="895327" fontAlgn="auto">
              <a:spcBef>
                <a:spcPts val="118"/>
              </a:spcBef>
              <a:spcAft>
                <a:spcPts val="0"/>
              </a:spcAft>
            </a:pPr>
            <a:r>
              <a:rPr lang="en-US" sz="900" spc="15" dirty="0">
                <a:latin typeface="Arial" panose="020B0604020202020204" pitchFamily="34" charset="0"/>
                <a:cs typeface="Arial" panose="020B0604020202020204" pitchFamily="34" charset="0"/>
              </a:rPr>
              <a:t>All Dimensions Do Not Include mold flash or Protrusions.</a:t>
            </a:r>
            <a:endParaRPr kumimoji="0" lang="en-US" sz="900" spc="15" dirty="0">
              <a:latin typeface="Arial" panose="020B0604020202020204" pitchFamily="34" charset="0"/>
              <a:ea typeface="+mn-ea"/>
              <a:cs typeface="Arial" panose="020B0604020202020204" pitchFamily="34" charset="0"/>
            </a:endParaRPr>
          </a:p>
        </p:txBody>
      </p:sp>
      <p:sp>
        <p:nvSpPr>
          <p:cNvPr id="4" name="직사각형 3">
            <a:extLst>
              <a:ext uri="{FF2B5EF4-FFF2-40B4-BE49-F238E27FC236}">
                <a16:creationId xmlns:a16="http://schemas.microsoft.com/office/drawing/2014/main" id="{1471AEBD-9BA9-1078-4052-F41330159F9E}"/>
              </a:ext>
            </a:extLst>
          </p:cNvPr>
          <p:cNvSpPr/>
          <p:nvPr/>
        </p:nvSpPr>
        <p:spPr>
          <a:xfrm>
            <a:off x="3536954" y="2057321"/>
            <a:ext cx="363790" cy="5715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7" name="그림 16">
            <a:extLst>
              <a:ext uri="{FF2B5EF4-FFF2-40B4-BE49-F238E27FC236}">
                <a16:creationId xmlns:a16="http://schemas.microsoft.com/office/drawing/2014/main" id="{70F19BF5-FE86-8607-C86B-BE365181E3BB}"/>
              </a:ext>
            </a:extLst>
          </p:cNvPr>
          <p:cNvPicPr>
            <a:picLocks noChangeAspect="1"/>
          </p:cNvPicPr>
          <p:nvPr/>
        </p:nvPicPr>
        <p:blipFill>
          <a:blip r:embed="rId3"/>
          <a:stretch>
            <a:fillRect/>
          </a:stretch>
        </p:blipFill>
        <p:spPr>
          <a:xfrm>
            <a:off x="3718849" y="1790812"/>
            <a:ext cx="2970031" cy="2850164"/>
          </a:xfrm>
          <a:prstGeom prst="rect">
            <a:avLst/>
          </a:prstGeom>
        </p:spPr>
      </p:pic>
    </p:spTree>
    <p:extLst>
      <p:ext uri="{BB962C8B-B14F-4D97-AF65-F5344CB8AC3E}">
        <p14:creationId xmlns:p14="http://schemas.microsoft.com/office/powerpoint/2010/main" val="24319634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13545" y="774866"/>
            <a:ext cx="6039890"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Recommended Footprint</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9591E58-643D-71CA-18A8-8C8A710F928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pic>
        <p:nvPicPr>
          <p:cNvPr id="2" name="그림 1">
            <a:extLst>
              <a:ext uri="{FF2B5EF4-FFF2-40B4-BE49-F238E27FC236}">
                <a16:creationId xmlns:a16="http://schemas.microsoft.com/office/drawing/2014/main" id="{50DD466F-9B47-792A-F435-9A24E8AC7310}"/>
              </a:ext>
            </a:extLst>
          </p:cNvPr>
          <p:cNvPicPr>
            <a:picLocks noChangeAspect="1"/>
          </p:cNvPicPr>
          <p:nvPr/>
        </p:nvPicPr>
        <p:blipFill>
          <a:blip r:embed="rId2"/>
          <a:stretch>
            <a:fillRect/>
          </a:stretch>
        </p:blipFill>
        <p:spPr>
          <a:xfrm>
            <a:off x="336089" y="1497985"/>
            <a:ext cx="3493136" cy="2842803"/>
          </a:xfrm>
          <a:prstGeom prst="rect">
            <a:avLst/>
          </a:prstGeom>
        </p:spPr>
      </p:pic>
      <p:grpSp>
        <p:nvGrpSpPr>
          <p:cNvPr id="6" name="그룹 5">
            <a:extLst>
              <a:ext uri="{FF2B5EF4-FFF2-40B4-BE49-F238E27FC236}">
                <a16:creationId xmlns:a16="http://schemas.microsoft.com/office/drawing/2014/main" id="{E446668B-293A-3483-CAD4-0C200CA3B1DF}"/>
              </a:ext>
            </a:extLst>
          </p:cNvPr>
          <p:cNvGrpSpPr/>
          <p:nvPr/>
        </p:nvGrpSpPr>
        <p:grpSpPr>
          <a:xfrm>
            <a:off x="404813" y="6815467"/>
            <a:ext cx="6048622" cy="2069900"/>
            <a:chOff x="291219" y="7274365"/>
            <a:chExt cx="6048622" cy="2069900"/>
          </a:xfrm>
        </p:grpSpPr>
        <p:grpSp>
          <p:nvGrpSpPr>
            <p:cNvPr id="7" name="그룹 6">
              <a:extLst>
                <a:ext uri="{FF2B5EF4-FFF2-40B4-BE49-F238E27FC236}">
                  <a16:creationId xmlns:a16="http://schemas.microsoft.com/office/drawing/2014/main" id="{9C5D1598-38F6-135A-3CCD-4A17839DBE12}"/>
                </a:ext>
              </a:extLst>
            </p:cNvPr>
            <p:cNvGrpSpPr/>
            <p:nvPr/>
          </p:nvGrpSpPr>
          <p:grpSpPr>
            <a:xfrm>
              <a:off x="291219" y="7274365"/>
              <a:ext cx="6048622" cy="2069900"/>
              <a:chOff x="291219" y="7274365"/>
              <a:chExt cx="6048622" cy="2069900"/>
            </a:xfrm>
          </p:grpSpPr>
          <p:sp>
            <p:nvSpPr>
              <p:cNvPr id="11" name="Rectangle 12">
                <a:extLst>
                  <a:ext uri="{FF2B5EF4-FFF2-40B4-BE49-F238E27FC236}">
                    <a16:creationId xmlns:a16="http://schemas.microsoft.com/office/drawing/2014/main" id="{201D264A-6AF6-1CDB-4950-FC82C16BB403}"/>
                  </a:ext>
                </a:extLst>
              </p:cNvPr>
              <p:cNvSpPr>
                <a:spLocks noChangeArrowheads="1"/>
              </p:cNvSpPr>
              <p:nvPr/>
            </p:nvSpPr>
            <p:spPr bwMode="auto">
              <a:xfrm>
                <a:off x="291219" y="7274365"/>
                <a:ext cx="6048622" cy="55399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altLang="ko-KR" sz="600" dirty="0">
                    <a:latin typeface="Arial" panose="020B0604020202020204" pitchFamily="34" charset="0"/>
                    <a:ea typeface="맑은 고딕" panose="020B0503020000020004" pitchFamily="50" charset="-127"/>
                    <a:cs typeface="Arial" panose="020B0604020202020204" pitchFamily="34" charset="0"/>
                  </a:rPr>
                  <a:t>    is the trademark of Global Technologies Co., Ltd. or its subsidiaries in the Republic of Korea and/or other countries. The products of Global Technologies reserve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Global Technologies does not convey any license under its patent rights nor the rights of others.</a:t>
                </a:r>
                <a:endParaRPr lang="en-US" altLang="ko-KR" sz="600" dirty="0">
                  <a:latin typeface="Arial" panose="020B0604020202020204" pitchFamily="34" charset="0"/>
                  <a:cs typeface="Arial" panose="020B0604020202020204" pitchFamily="34" charset="0"/>
                </a:endParaRPr>
              </a:p>
            </p:txBody>
          </p:sp>
          <p:sp>
            <p:nvSpPr>
              <p:cNvPr id="12" name="Rectangle 15">
                <a:extLst>
                  <a:ext uri="{FF2B5EF4-FFF2-40B4-BE49-F238E27FC236}">
                    <a16:creationId xmlns:a16="http://schemas.microsoft.com/office/drawing/2014/main" id="{704F35AC-A487-7546-1D39-F10B838E7C60}"/>
                  </a:ext>
                </a:extLst>
              </p:cNvPr>
              <p:cNvSpPr>
                <a:spLocks noChangeArrowheads="1"/>
              </p:cNvSpPr>
              <p:nvPr/>
            </p:nvSpPr>
            <p:spPr bwMode="auto">
              <a:xfrm>
                <a:off x="291219" y="7866937"/>
                <a:ext cx="6048622" cy="147732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altLang="ko-KR" sz="600" dirty="0">
                    <a:latin typeface="Arial" panose="020B0604020202020204" pitchFamily="34" charset="0"/>
                    <a:ea typeface="맑은 고딕" panose="020B0503020000020004" pitchFamily="50" charset="-127"/>
                    <a:cs typeface="Arial" panose="020B0604020202020204" pitchFamily="34" charset="0"/>
                  </a:rPr>
                  <a:t>    is the trademark of Global Technologies Co., Ltd. or its subsidiaries in the Republic of Korea and/or other countries. Global Technologies owns the rights to a number of patents, trademarks, copyrights, trade secrets, and other intellectual property.  Global Technologies reserves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Buyer is responsible for its products and applications using Global Technologies products, including compliance with all laws, regulations and safety requirements or standards, regardless of any support or applications information provided by Global Technologies. “Typical” parameters which may be provided in Global Technologies data sheets and/or specifications can and do vary in different applications and actual performance may vary over time. All operating parameters, including “Typical” must be validated for each customer application by customer’s technical experts. Global Technologies does not convey any license under its patent rights nor the rights of others. Global Technologies products are not designed, intended, or authorized for use as a critical component in life support systems or any FDA Class 3 medical devices or medical devices with a same or similar classification in a foreign jurisdiction or any devices intended for implantation in the human body. Should Buyer purchase or use Global Technologies products for any such unintended or unauthorized application, Buyer shall indemnify and hold Global Technologies and its officers, employees, subsidiaries, affiliates, and distributors harmless against all claims, costs, damages, and expenses, and reasonable attorney fees arising out of, directly or indirectly, any claim of personal injury or death associated with such unintended or unauthorized use, even if such claim alleges that Global Technologies was negligent regarding the design or manufacture of the part. Global Technologies is an Equal Opportunity/Affirmative Action Employer. This literature is subject to all applicable copyright laws and is not for resale in any manner.</a:t>
                </a:r>
                <a:endParaRPr lang="en-US" altLang="ko-KR" sz="600" dirty="0">
                  <a:latin typeface="Arial" panose="020B0604020202020204" pitchFamily="34" charset="0"/>
                  <a:cs typeface="Arial" panose="020B0604020202020204" pitchFamily="34" charset="0"/>
                </a:endParaRPr>
              </a:p>
            </p:txBody>
          </p:sp>
        </p:grpSp>
        <p:pic>
          <p:nvPicPr>
            <p:cNvPr id="8" name="그림 1">
              <a:extLst>
                <a:ext uri="{FF2B5EF4-FFF2-40B4-BE49-F238E27FC236}">
                  <a16:creationId xmlns:a16="http://schemas.microsoft.com/office/drawing/2014/main" id="{99D8BFCE-6ABA-3771-675E-7278D23840F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3798" y="7299145"/>
              <a:ext cx="100553" cy="146962"/>
            </a:xfrm>
            <a:prstGeom prst="rect">
              <a:avLst/>
            </a:prstGeom>
            <a:noFill/>
            <a:extLst>
              <a:ext uri="{909E8E84-426E-40DD-AFC4-6F175D3DCCD1}">
                <a14:hiddenFill xmlns:a14="http://schemas.microsoft.com/office/drawing/2010/main">
                  <a:solidFill>
                    <a:srgbClr val="FFFFFF"/>
                  </a:solidFill>
                </a14:hiddenFill>
              </a:ext>
            </a:extLst>
          </p:spPr>
        </p:pic>
        <p:pic>
          <p:nvPicPr>
            <p:cNvPr id="10" name="그림 1">
              <a:extLst>
                <a:ext uri="{FF2B5EF4-FFF2-40B4-BE49-F238E27FC236}">
                  <a16:creationId xmlns:a16="http://schemas.microsoft.com/office/drawing/2014/main" id="{C8D5D4AD-C951-8E40-EC01-1A2F6B57C6D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5670" y="7896850"/>
              <a:ext cx="91652" cy="133953"/>
            </a:xfrm>
            <a:prstGeom prst="rect">
              <a:avLst/>
            </a:prstGeom>
            <a:noFill/>
            <a:extLst>
              <a:ext uri="{909E8E84-426E-40DD-AFC4-6F175D3DCCD1}">
                <a14:hiddenFill xmlns:a14="http://schemas.microsoft.com/office/drawing/2010/main">
                  <a:solidFill>
                    <a:srgbClr val="FFFFFF"/>
                  </a:solidFill>
                </a14:hiddenFill>
              </a:ext>
            </a:extLst>
          </p:spPr>
        </p:pic>
      </p:grpSp>
      <p:sp>
        <p:nvSpPr>
          <p:cNvPr id="16" name="object 7">
            <a:extLst>
              <a:ext uri="{FF2B5EF4-FFF2-40B4-BE49-F238E27FC236}">
                <a16:creationId xmlns:a16="http://schemas.microsoft.com/office/drawing/2014/main" id="{C3D957A8-A41B-4D1D-2A10-D63EDA8DD481}"/>
              </a:ext>
            </a:extLst>
          </p:cNvPr>
          <p:cNvSpPr txBox="1"/>
          <p:nvPr/>
        </p:nvSpPr>
        <p:spPr>
          <a:xfrm>
            <a:off x="404813" y="6097478"/>
            <a:ext cx="6048621" cy="302647"/>
          </a:xfrm>
          <a:prstGeom prst="rect">
            <a:avLst/>
          </a:prstGeom>
        </p:spPr>
        <p:txBody>
          <a:bodyPr vert="horz" wrap="square" lIns="0" tIns="0" rIns="0" bIns="0" rtlCol="0" anchor="ctr" anchorCtr="0">
            <a:spAutoFit/>
          </a:bodyPr>
          <a:lstStyle/>
          <a:p>
            <a:pPr marL="11286" marR="4515" defTabSz="895327" fontAlgn="auto">
              <a:spcBef>
                <a:spcPts val="156"/>
              </a:spcBef>
              <a:spcAft>
                <a:spcPts val="0"/>
              </a:spcAft>
            </a:pPr>
            <a:r>
              <a:rPr kumimoji="0" sz="900" spc="-5" dirty="0">
                <a:solidFill>
                  <a:prstClr val="black"/>
                </a:solidFill>
                <a:latin typeface="Arial"/>
                <a:ea typeface="+mn-ea"/>
                <a:cs typeface="Arial"/>
              </a:rPr>
              <a:t>Note: The</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reflow</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peak</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soldering</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temperature</a:t>
            </a:r>
            <a:r>
              <a:rPr kumimoji="0" sz="900" spc="14" dirty="0">
                <a:solidFill>
                  <a:prstClr val="black"/>
                </a:solidFill>
                <a:latin typeface="Arial"/>
                <a:ea typeface="+mn-ea"/>
                <a:cs typeface="Arial"/>
              </a:rPr>
              <a:t> </a:t>
            </a:r>
            <a:r>
              <a:rPr kumimoji="0" sz="900" spc="-9" dirty="0">
                <a:solidFill>
                  <a:prstClr val="black"/>
                </a:solidFill>
                <a:latin typeface="Arial"/>
                <a:ea typeface="+mn-ea"/>
                <a:cs typeface="Arial"/>
              </a:rPr>
              <a:t>is</a:t>
            </a:r>
            <a:r>
              <a:rPr kumimoji="0" sz="900" spc="23" dirty="0">
                <a:solidFill>
                  <a:prstClr val="black"/>
                </a:solidFill>
                <a:latin typeface="Arial"/>
                <a:ea typeface="+mn-ea"/>
                <a:cs typeface="Arial"/>
              </a:rPr>
              <a:t> </a:t>
            </a:r>
            <a:r>
              <a:rPr kumimoji="0" sz="900" spc="-9" dirty="0">
                <a:solidFill>
                  <a:prstClr val="black"/>
                </a:solidFill>
                <a:latin typeface="Arial"/>
                <a:ea typeface="+mn-ea"/>
                <a:cs typeface="Arial"/>
              </a:rPr>
              <a:t>peak</a:t>
            </a:r>
            <a:r>
              <a:rPr kumimoji="0" sz="900" spc="26" dirty="0">
                <a:solidFill>
                  <a:prstClr val="black"/>
                </a:solidFill>
                <a:latin typeface="Arial"/>
                <a:ea typeface="+mn-ea"/>
                <a:cs typeface="Arial"/>
              </a:rPr>
              <a:t> </a:t>
            </a:r>
            <a:r>
              <a:rPr kumimoji="0" sz="900" spc="-5" dirty="0">
                <a:solidFill>
                  <a:prstClr val="black"/>
                </a:solidFill>
                <a:latin typeface="Arial"/>
                <a:ea typeface="+mn-ea"/>
                <a:cs typeface="Arial"/>
              </a:rPr>
              <a:t>260°C</a:t>
            </a:r>
            <a:r>
              <a:rPr kumimoji="0" sz="900" spc="17" dirty="0">
                <a:solidFill>
                  <a:prstClr val="black"/>
                </a:solidFill>
                <a:latin typeface="Arial"/>
                <a:ea typeface="+mn-ea"/>
                <a:cs typeface="Arial"/>
              </a:rPr>
              <a:t> </a:t>
            </a:r>
            <a:r>
              <a:rPr kumimoji="0" sz="900" spc="-5" dirty="0">
                <a:solidFill>
                  <a:prstClr val="black"/>
                </a:solidFill>
                <a:latin typeface="Arial"/>
                <a:ea typeface="+mn-ea"/>
                <a:cs typeface="Arial"/>
              </a:rPr>
              <a:t>and</a:t>
            </a:r>
            <a:r>
              <a:rPr kumimoji="0" sz="900" spc="14" dirty="0">
                <a:solidFill>
                  <a:prstClr val="black"/>
                </a:solidFill>
                <a:latin typeface="Arial"/>
                <a:ea typeface="+mn-ea"/>
                <a:cs typeface="Arial"/>
              </a:rPr>
              <a:t> </a:t>
            </a:r>
            <a:r>
              <a:rPr kumimoji="0" sz="900" spc="-9" dirty="0">
                <a:solidFill>
                  <a:prstClr val="black"/>
                </a:solidFill>
                <a:latin typeface="Arial"/>
                <a:ea typeface="+mn-ea"/>
                <a:cs typeface="Arial"/>
              </a:rPr>
              <a:t>it</a:t>
            </a:r>
            <a:r>
              <a:rPr kumimoji="0" sz="900" spc="17" dirty="0">
                <a:solidFill>
                  <a:prstClr val="black"/>
                </a:solidFill>
                <a:latin typeface="Arial"/>
                <a:ea typeface="+mn-ea"/>
                <a:cs typeface="Arial"/>
              </a:rPr>
              <a:t> </a:t>
            </a:r>
            <a:r>
              <a:rPr kumimoji="0" sz="900" spc="-9" dirty="0">
                <a:solidFill>
                  <a:prstClr val="black"/>
                </a:solidFill>
                <a:latin typeface="Arial"/>
                <a:ea typeface="+mn-ea"/>
                <a:cs typeface="Arial"/>
              </a:rPr>
              <a:t>is</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specified</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based</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on</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IPC/JEDEC</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J-STD- </a:t>
            </a:r>
            <a:r>
              <a:rPr kumimoji="0" sz="900" spc="-231" dirty="0">
                <a:solidFill>
                  <a:prstClr val="black"/>
                </a:solidFill>
                <a:latin typeface="Arial"/>
                <a:ea typeface="+mn-ea"/>
                <a:cs typeface="Arial"/>
              </a:rPr>
              <a:t> </a:t>
            </a:r>
            <a:r>
              <a:rPr kumimoji="0" sz="900" spc="-9" dirty="0">
                <a:solidFill>
                  <a:prstClr val="black"/>
                </a:solidFill>
                <a:latin typeface="Arial"/>
                <a:ea typeface="+mn-ea"/>
                <a:cs typeface="Arial"/>
              </a:rPr>
              <a:t>020</a:t>
            </a:r>
            <a:endParaRPr lang="en-US" sz="900" spc="-9" dirty="0">
              <a:solidFill>
                <a:prstClr val="black"/>
              </a:solidFill>
              <a:latin typeface="Arial"/>
              <a:cs typeface="Arial"/>
            </a:endParaRPr>
          </a:p>
          <a:p>
            <a:pPr marL="11286" marR="4515" defTabSz="895327" fontAlgn="auto">
              <a:spcBef>
                <a:spcPts val="156"/>
              </a:spcBef>
              <a:spcAft>
                <a:spcPts val="0"/>
              </a:spcAft>
            </a:pPr>
            <a:r>
              <a:rPr kumimoji="0" lang="en-US" sz="900" spc="-9" dirty="0">
                <a:solidFill>
                  <a:prstClr val="black"/>
                </a:solidFill>
                <a:latin typeface="Arial"/>
                <a:ea typeface="+mn-ea"/>
                <a:cs typeface="Arial"/>
              </a:rPr>
              <a:t>          </a:t>
            </a:r>
            <a:r>
              <a:rPr kumimoji="0" sz="900" spc="-5" dirty="0">
                <a:solidFill>
                  <a:prstClr val="black"/>
                </a:solidFill>
                <a:latin typeface="Arial"/>
                <a:ea typeface="+mn-ea"/>
                <a:cs typeface="Arial"/>
              </a:rPr>
              <a:t>“Moisture/Reflow</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Sensitivity</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Classification</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for</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Non-Hermetic</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Solid</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State</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Surface </a:t>
            </a:r>
            <a:r>
              <a:rPr kumimoji="0" sz="900" spc="-5" dirty="0">
                <a:solidFill>
                  <a:prstClr val="black"/>
                </a:solidFill>
                <a:latin typeface="Arial"/>
                <a:ea typeface="+mn-ea"/>
                <a:cs typeface="Arial"/>
              </a:rPr>
              <a:t>Mount</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Devices”</a:t>
            </a:r>
          </a:p>
        </p:txBody>
      </p:sp>
      <p:graphicFrame>
        <p:nvGraphicFramePr>
          <p:cNvPr id="14" name="object 2">
            <a:extLst>
              <a:ext uri="{FF2B5EF4-FFF2-40B4-BE49-F238E27FC236}">
                <a16:creationId xmlns:a16="http://schemas.microsoft.com/office/drawing/2014/main" id="{0DA3FDB8-0BB8-62D3-FA2F-DE8AFC70CBAD}"/>
              </a:ext>
            </a:extLst>
          </p:cNvPr>
          <p:cNvGraphicFramePr>
            <a:graphicFrameLocks noGrp="1"/>
          </p:cNvGraphicFramePr>
          <p:nvPr>
            <p:extLst>
              <p:ext uri="{D42A27DB-BD31-4B8C-83A1-F6EECF244321}">
                <p14:modId xmlns:p14="http://schemas.microsoft.com/office/powerpoint/2010/main" val="225491152"/>
              </p:ext>
            </p:extLst>
          </p:nvPr>
        </p:nvGraphicFramePr>
        <p:xfrm>
          <a:off x="4775344" y="1565464"/>
          <a:ext cx="1716147" cy="3331205"/>
        </p:xfrm>
        <a:graphic>
          <a:graphicData uri="http://schemas.openxmlformats.org/drawingml/2006/table">
            <a:tbl>
              <a:tblPr firstRow="1" bandRow="1">
                <a:tableStyleId>{2D5ABB26-0587-4C30-8999-92F81FD0307C}</a:tableStyleId>
              </a:tblPr>
              <a:tblGrid>
                <a:gridCol w="500380">
                  <a:extLst>
                    <a:ext uri="{9D8B030D-6E8A-4147-A177-3AD203B41FA5}">
                      <a16:colId xmlns:a16="http://schemas.microsoft.com/office/drawing/2014/main" val="20000"/>
                    </a:ext>
                  </a:extLst>
                </a:gridCol>
                <a:gridCol w="607830">
                  <a:extLst>
                    <a:ext uri="{9D8B030D-6E8A-4147-A177-3AD203B41FA5}">
                      <a16:colId xmlns:a16="http://schemas.microsoft.com/office/drawing/2014/main" val="20001"/>
                    </a:ext>
                  </a:extLst>
                </a:gridCol>
                <a:gridCol w="607937">
                  <a:extLst>
                    <a:ext uri="{9D8B030D-6E8A-4147-A177-3AD203B41FA5}">
                      <a16:colId xmlns:a16="http://schemas.microsoft.com/office/drawing/2014/main" val="20002"/>
                    </a:ext>
                  </a:extLst>
                </a:gridCol>
              </a:tblGrid>
              <a:tr h="296388">
                <a:tc rowSpan="2">
                  <a:txBody>
                    <a:bodyPr/>
                    <a:lstStyle/>
                    <a:p>
                      <a:pPr marL="63500" algn="ctr">
                        <a:lnSpc>
                          <a:spcPct val="100000"/>
                        </a:lnSpc>
                        <a:spcBef>
                          <a:spcPts val="185"/>
                        </a:spcBef>
                      </a:pPr>
                      <a:r>
                        <a:rPr lang="en-US" sz="900" b="1" spc="-10" dirty="0">
                          <a:latin typeface="Arial" panose="020B0604020202020204" pitchFamily="34" charset="0"/>
                          <a:cs typeface="Arial" panose="020B0604020202020204" pitchFamily="34" charset="0"/>
                        </a:rPr>
                        <a:t>Symbol</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2">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Dimensions in mm</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marL="64135" algn="ctr">
                        <a:lnSpc>
                          <a:spcPct val="100000"/>
                        </a:lnSpc>
                        <a:spcBef>
                          <a:spcPts val="185"/>
                        </a:spcBef>
                      </a:pPr>
                      <a:endParaRPr sz="900" b="0"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250209">
                <a:tc vMerge="1">
                  <a:txBody>
                    <a:bodyPr/>
                    <a:lstStyle/>
                    <a:p>
                      <a:pPr marL="63500" algn="ctr">
                        <a:lnSpc>
                          <a:spcPct val="100000"/>
                        </a:lnSpc>
                        <a:spcBef>
                          <a:spcPts val="185"/>
                        </a:spcBef>
                      </a:pP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Value</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64135" algn="ctr">
                        <a:lnSpc>
                          <a:spcPct val="100000"/>
                        </a:lnSpc>
                        <a:spcBef>
                          <a:spcPts val="185"/>
                        </a:spcBef>
                      </a:pPr>
                      <a:r>
                        <a:rPr lang="en-US" sz="900" b="1" dirty="0">
                          <a:latin typeface="Arial" panose="020B0604020202020204" pitchFamily="34" charset="0"/>
                          <a:cs typeface="Arial" panose="020B0604020202020204" pitchFamily="34" charset="0"/>
                        </a:rPr>
                        <a:t>Margin</a:t>
                      </a:r>
                    </a:p>
                    <a:p>
                      <a:pPr marL="64135" algn="ctr">
                        <a:lnSpc>
                          <a:spcPct val="100000"/>
                        </a:lnSpc>
                        <a:spcBef>
                          <a:spcPts val="185"/>
                        </a:spcBef>
                      </a:pPr>
                      <a:r>
                        <a:rPr lang="en-US" sz="900" b="1" dirty="0">
                          <a:latin typeface="Arial" panose="020B0604020202020204" pitchFamily="34" charset="0"/>
                          <a:cs typeface="Arial" panose="020B0604020202020204" pitchFamily="34" charset="0"/>
                        </a:rPr>
                        <a:t>(Typ+)</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55896170"/>
                  </a:ext>
                </a:extLst>
              </a:tr>
              <a:tr h="169353">
                <a:tc>
                  <a:txBody>
                    <a:bodyPr/>
                    <a:lstStyle/>
                    <a:p>
                      <a:pPr marL="63500" algn="ctr">
                        <a:lnSpc>
                          <a:spcPct val="100000"/>
                        </a:lnSpc>
                        <a:spcBef>
                          <a:spcPts val="185"/>
                        </a:spcBef>
                      </a:pPr>
                      <a:r>
                        <a:rPr sz="900" b="0" dirty="0">
                          <a:latin typeface="Arial" panose="020B0604020202020204" pitchFamily="34" charset="0"/>
                          <a:cs typeface="Arial" panose="020B0604020202020204" pitchFamily="34" charset="0"/>
                        </a:rPr>
                        <a:t>X</a:t>
                      </a: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0.5</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69353">
                <a:tc>
                  <a:txBody>
                    <a:bodyPr/>
                    <a:lstStyle/>
                    <a:p>
                      <a:pPr marL="63500" algn="ctr">
                        <a:lnSpc>
                          <a:spcPct val="100000"/>
                        </a:lnSpc>
                        <a:spcBef>
                          <a:spcPts val="185"/>
                        </a:spcBef>
                      </a:pPr>
                      <a:r>
                        <a:rPr sz="900" b="0" dirty="0">
                          <a:latin typeface="Arial" panose="020B0604020202020204" pitchFamily="34" charset="0"/>
                          <a:cs typeface="Arial" panose="020B0604020202020204" pitchFamily="34" charset="0"/>
                        </a:rPr>
                        <a:t>Y</a:t>
                      </a: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169353">
                <a:tc>
                  <a:txBody>
                    <a:bodyPr/>
                    <a:lstStyle/>
                    <a:p>
                      <a:pPr marL="63500" algn="ctr">
                        <a:lnSpc>
                          <a:spcPct val="100000"/>
                        </a:lnSpc>
                        <a:spcBef>
                          <a:spcPts val="185"/>
                        </a:spcBef>
                      </a:pPr>
                      <a:r>
                        <a:rPr sz="900" b="0" dirty="0">
                          <a:latin typeface="Arial" panose="020B0604020202020204" pitchFamily="34" charset="0"/>
                          <a:cs typeface="Arial" panose="020B0604020202020204" pitchFamily="34" charset="0"/>
                        </a:rPr>
                        <a:t>C</a:t>
                      </a: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69353">
                <a:tc>
                  <a:txBody>
                    <a:bodyPr/>
                    <a:lstStyle/>
                    <a:p>
                      <a:pPr marL="63500" algn="ctr">
                        <a:lnSpc>
                          <a:spcPct val="100000"/>
                        </a:lnSpc>
                        <a:spcBef>
                          <a:spcPts val="185"/>
                        </a:spcBef>
                      </a:pPr>
                      <a:r>
                        <a:rPr sz="900" b="0" spc="-10" dirty="0">
                          <a:latin typeface="Arial" panose="020B0604020202020204" pitchFamily="34" charset="0"/>
                          <a:cs typeface="Arial" panose="020B0604020202020204" pitchFamily="34" charset="0"/>
                        </a:rPr>
                        <a:t>X1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0.5</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169353">
                <a:tc>
                  <a:txBody>
                    <a:bodyPr/>
                    <a:lstStyle/>
                    <a:p>
                      <a:pPr marL="63500" algn="ctr">
                        <a:lnSpc>
                          <a:spcPct val="100000"/>
                        </a:lnSpc>
                        <a:spcBef>
                          <a:spcPts val="185"/>
                        </a:spcBef>
                      </a:pPr>
                      <a:r>
                        <a:rPr sz="900" b="0" spc="-15" dirty="0">
                          <a:latin typeface="Arial" panose="020B0604020202020204" pitchFamily="34" charset="0"/>
                          <a:cs typeface="Arial" panose="020B0604020202020204" pitchFamily="34" charset="0"/>
                        </a:rPr>
                        <a:t>Y1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0.5</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169353">
                <a:tc>
                  <a:txBody>
                    <a:bodyPr/>
                    <a:lstStyle/>
                    <a:p>
                      <a:pPr marL="63500" algn="ctr">
                        <a:lnSpc>
                          <a:spcPct val="100000"/>
                        </a:lnSpc>
                        <a:spcBef>
                          <a:spcPts val="185"/>
                        </a:spcBef>
                      </a:pPr>
                      <a:r>
                        <a:rPr sz="900" b="0" spc="-10" dirty="0">
                          <a:latin typeface="Arial" panose="020B0604020202020204" pitchFamily="34" charset="0"/>
                          <a:cs typeface="Arial" panose="020B0604020202020204" pitchFamily="34" charset="0"/>
                        </a:rPr>
                        <a:t>X2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1.3</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169353">
                <a:tc>
                  <a:txBody>
                    <a:bodyPr/>
                    <a:lstStyle/>
                    <a:p>
                      <a:pPr marL="63500" algn="ctr">
                        <a:lnSpc>
                          <a:spcPct val="100000"/>
                        </a:lnSpc>
                        <a:spcBef>
                          <a:spcPts val="185"/>
                        </a:spcBef>
                      </a:pPr>
                      <a:r>
                        <a:rPr sz="900" b="0" spc="-15" dirty="0">
                          <a:latin typeface="Arial" panose="020B0604020202020204" pitchFamily="34" charset="0"/>
                          <a:cs typeface="Arial" panose="020B0604020202020204" pitchFamily="34" charset="0"/>
                        </a:rPr>
                        <a:t>Y2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1.8</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169353">
                <a:tc>
                  <a:txBody>
                    <a:bodyPr/>
                    <a:lstStyle/>
                    <a:p>
                      <a:pPr marL="63500" algn="ctr">
                        <a:lnSpc>
                          <a:spcPct val="100000"/>
                        </a:lnSpc>
                        <a:spcBef>
                          <a:spcPts val="185"/>
                        </a:spcBef>
                      </a:pPr>
                      <a:r>
                        <a:rPr sz="900" b="0" spc="-10" dirty="0">
                          <a:latin typeface="Arial" panose="020B0604020202020204" pitchFamily="34" charset="0"/>
                          <a:cs typeface="Arial" panose="020B0604020202020204" pitchFamily="34" charset="0"/>
                        </a:rPr>
                        <a:t>X3</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1.1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169353">
                <a:tc>
                  <a:txBody>
                    <a:bodyPr/>
                    <a:lstStyle/>
                    <a:p>
                      <a:pPr marL="63500" algn="ctr">
                        <a:lnSpc>
                          <a:spcPct val="100000"/>
                        </a:lnSpc>
                        <a:spcBef>
                          <a:spcPts val="185"/>
                        </a:spcBef>
                      </a:pPr>
                      <a:r>
                        <a:rPr sz="900" b="0" spc="-15" dirty="0">
                          <a:latin typeface="Arial" panose="020B0604020202020204" pitchFamily="34" charset="0"/>
                          <a:cs typeface="Arial" panose="020B0604020202020204" pitchFamily="34" charset="0"/>
                        </a:rPr>
                        <a:t>Y3</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1.6</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169353">
                <a:tc>
                  <a:txBody>
                    <a:bodyPr/>
                    <a:lstStyle/>
                    <a:p>
                      <a:pPr marL="63500" algn="ctr">
                        <a:lnSpc>
                          <a:spcPct val="100000"/>
                        </a:lnSpc>
                        <a:spcBef>
                          <a:spcPts val="185"/>
                        </a:spcBef>
                      </a:pPr>
                      <a:r>
                        <a:rPr sz="900" b="0" spc="-10" dirty="0">
                          <a:latin typeface="Arial" panose="020B0604020202020204" pitchFamily="34" charset="0"/>
                          <a:cs typeface="Arial" panose="020B0604020202020204" pitchFamily="34" charset="0"/>
                        </a:rPr>
                        <a:t>X4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3.4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r h="169353">
                <a:tc>
                  <a:txBody>
                    <a:bodyPr/>
                    <a:lstStyle/>
                    <a:p>
                      <a:pPr marL="63500" algn="ctr">
                        <a:lnSpc>
                          <a:spcPct val="100000"/>
                        </a:lnSpc>
                        <a:spcBef>
                          <a:spcPts val="185"/>
                        </a:spcBef>
                      </a:pPr>
                      <a:r>
                        <a:rPr sz="900" b="0" spc="-15" dirty="0">
                          <a:latin typeface="Arial" panose="020B0604020202020204" pitchFamily="34" charset="0"/>
                          <a:cs typeface="Arial" panose="020B0604020202020204" pitchFamily="34" charset="0"/>
                        </a:rPr>
                        <a:t>Y4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3.4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r h="169353">
                <a:tc>
                  <a:txBody>
                    <a:bodyPr/>
                    <a:lstStyle/>
                    <a:p>
                      <a:pPr marL="63500" algn="ctr">
                        <a:lnSpc>
                          <a:spcPct val="100000"/>
                        </a:lnSpc>
                        <a:spcBef>
                          <a:spcPts val="185"/>
                        </a:spcBef>
                      </a:pPr>
                      <a:r>
                        <a:rPr sz="900" b="0" dirty="0">
                          <a:latin typeface="Arial" panose="020B0604020202020204" pitchFamily="34" charset="0"/>
                          <a:cs typeface="Arial" panose="020B0604020202020204" pitchFamily="34" charset="0"/>
                        </a:rPr>
                        <a:t>G</a:t>
                      </a: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4"/>
                  </a:ext>
                </a:extLst>
              </a:tr>
              <a:tr h="169964">
                <a:tc>
                  <a:txBody>
                    <a:bodyPr/>
                    <a:lstStyle/>
                    <a:p>
                      <a:pPr marL="63500" algn="ctr">
                        <a:lnSpc>
                          <a:spcPct val="100000"/>
                        </a:lnSpc>
                        <a:spcBef>
                          <a:spcPts val="190"/>
                        </a:spcBef>
                      </a:pPr>
                      <a:r>
                        <a:rPr sz="900" b="0" spc="-10" dirty="0">
                          <a:latin typeface="Arial" panose="020B0604020202020204" pitchFamily="34" charset="0"/>
                          <a:cs typeface="Arial" panose="020B0604020202020204" pitchFamily="34" charset="0"/>
                        </a:rPr>
                        <a:t>G1</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90"/>
                        </a:spcBef>
                      </a:pPr>
                      <a:r>
                        <a:rPr lang="en-US" sz="900" b="0" dirty="0">
                          <a:latin typeface="Arial" panose="020B0604020202020204" pitchFamily="34" charset="0"/>
                          <a:cs typeface="Arial" panose="020B0604020202020204" pitchFamily="34" charset="0"/>
                        </a:rPr>
                        <a:t>0.3</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90"/>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5"/>
                  </a:ext>
                </a:extLst>
              </a:tr>
              <a:tr h="169964">
                <a:tc>
                  <a:txBody>
                    <a:bodyPr/>
                    <a:lstStyle/>
                    <a:p>
                      <a:pPr marL="63500" algn="ctr">
                        <a:lnSpc>
                          <a:spcPct val="100000"/>
                        </a:lnSpc>
                        <a:spcBef>
                          <a:spcPts val="190"/>
                        </a:spcBef>
                      </a:pPr>
                      <a:r>
                        <a:rPr sz="900" b="0" spc="-10" dirty="0">
                          <a:latin typeface="Arial" panose="020B0604020202020204" pitchFamily="34" charset="0"/>
                          <a:cs typeface="Arial" panose="020B0604020202020204" pitchFamily="34" charset="0"/>
                        </a:rPr>
                        <a:t>G2</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90"/>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90"/>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6"/>
                  </a:ext>
                </a:extLst>
              </a:tr>
              <a:tr h="169964">
                <a:tc>
                  <a:txBody>
                    <a:bodyPr/>
                    <a:lstStyle/>
                    <a:p>
                      <a:pPr marL="63500" algn="ctr">
                        <a:lnSpc>
                          <a:spcPct val="100000"/>
                        </a:lnSpc>
                        <a:spcBef>
                          <a:spcPts val="190"/>
                        </a:spcBef>
                      </a:pPr>
                      <a:r>
                        <a:rPr sz="900" b="0" spc="-10" dirty="0">
                          <a:latin typeface="Arial" panose="020B0604020202020204" pitchFamily="34" charset="0"/>
                          <a:cs typeface="Arial" panose="020B0604020202020204" pitchFamily="34" charset="0"/>
                        </a:rPr>
                        <a:t>G3</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90"/>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90"/>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7"/>
                  </a:ext>
                </a:extLst>
              </a:tr>
              <a:tr h="169964">
                <a:tc>
                  <a:txBody>
                    <a:bodyPr/>
                    <a:lstStyle/>
                    <a:p>
                      <a:pPr marL="63500" algn="ctr">
                        <a:lnSpc>
                          <a:spcPct val="100000"/>
                        </a:lnSpc>
                        <a:spcBef>
                          <a:spcPts val="190"/>
                        </a:spcBef>
                      </a:pPr>
                      <a:r>
                        <a:rPr sz="900" b="0" spc="-15" dirty="0">
                          <a:latin typeface="Arial" panose="020B0604020202020204" pitchFamily="34" charset="0"/>
                          <a:cs typeface="Arial" panose="020B0604020202020204" pitchFamily="34" charset="0"/>
                        </a:rPr>
                        <a:t>G4</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90"/>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90"/>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8"/>
                  </a:ext>
                </a:extLst>
              </a:tr>
            </a:tbl>
          </a:graphicData>
        </a:graphic>
      </p:graphicFrame>
      <p:sp>
        <p:nvSpPr>
          <p:cNvPr id="18" name="object 84">
            <a:extLst>
              <a:ext uri="{FF2B5EF4-FFF2-40B4-BE49-F238E27FC236}">
                <a16:creationId xmlns:a16="http://schemas.microsoft.com/office/drawing/2014/main" id="{E30F228C-2DA5-3423-A961-6C3D1420DF3F}"/>
              </a:ext>
            </a:extLst>
          </p:cNvPr>
          <p:cNvSpPr txBox="1"/>
          <p:nvPr/>
        </p:nvSpPr>
        <p:spPr>
          <a:xfrm>
            <a:off x="1074047" y="4686880"/>
            <a:ext cx="2017219"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16. Recommended Footprint</a:t>
            </a:r>
          </a:p>
        </p:txBody>
      </p:sp>
    </p:spTree>
    <p:extLst>
      <p:ext uri="{BB962C8B-B14F-4D97-AF65-F5344CB8AC3E}">
        <p14:creationId xmlns:p14="http://schemas.microsoft.com/office/powerpoint/2010/main" val="1970544529"/>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문서" ma:contentTypeID="0x010100AFC4A675C1E113449D0248043CD1C0F7" ma:contentTypeVersion="4" ma:contentTypeDescription="새 문서를 만듭니다." ma:contentTypeScope="" ma:versionID="b5bb315d749e6b00b177ef1d11898eef">
  <xsd:schema xmlns:xsd="http://www.w3.org/2001/XMLSchema" xmlns:xs="http://www.w3.org/2001/XMLSchema" xmlns:p="http://schemas.microsoft.com/office/2006/metadata/properties" xmlns:ns3="b68af7c0-9cef-4e12-8243-523fceba86ee" targetNamespace="http://schemas.microsoft.com/office/2006/metadata/properties" ma:root="true" ma:fieldsID="3390cc5023201d4da9fc1987b8c9f5b3" ns3:_="">
    <xsd:import namespace="b68af7c0-9cef-4e12-8243-523fceba86ee"/>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8af7c0-9cef-4e12-8243-523fceba86e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F6F863B-59A5-4DCE-B63F-FE618623F17F}">
  <ds:schemaRefs>
    <ds:schemaRef ds:uri="http://purl.org/dc/terms/"/>
    <ds:schemaRef ds:uri="http://schemas.microsoft.com/office/2006/documentManagement/types"/>
    <ds:schemaRef ds:uri="http://www.w3.org/XML/1998/namespace"/>
    <ds:schemaRef ds:uri="http://schemas.openxmlformats.org/package/2006/metadata/core-properties"/>
    <ds:schemaRef ds:uri="b68af7c0-9cef-4e12-8243-523fceba86ee"/>
    <ds:schemaRef ds:uri="http://purl.org/dc/dcmitype/"/>
    <ds:schemaRef ds:uri="http://schemas.microsoft.com/office/infopath/2007/PartnerControls"/>
    <ds:schemaRef ds:uri="http://schemas.microsoft.com/office/2006/metadata/properties"/>
    <ds:schemaRef ds:uri="http://purl.org/dc/elements/1.1/"/>
  </ds:schemaRefs>
</ds:datastoreItem>
</file>

<file path=customXml/itemProps2.xml><?xml version="1.0" encoding="utf-8"?>
<ds:datastoreItem xmlns:ds="http://schemas.openxmlformats.org/officeDocument/2006/customXml" ds:itemID="{E4F76A09-908A-4E45-A9CC-081CB8515A48}">
  <ds:schemaRefs>
    <ds:schemaRef ds:uri="http://schemas.microsoft.com/sharepoint/v3/contenttype/forms"/>
  </ds:schemaRefs>
</ds:datastoreItem>
</file>

<file path=customXml/itemProps3.xml><?xml version="1.0" encoding="utf-8"?>
<ds:datastoreItem xmlns:ds="http://schemas.openxmlformats.org/officeDocument/2006/customXml" ds:itemID="{198F8765-65A5-4E5A-8F42-35C584A4DA0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68af7c0-9cef-4e12-8243-523fceba86e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62655</TotalTime>
  <Words>11737</Words>
  <Application>Microsoft Office PowerPoint</Application>
  <PresentationFormat>A4 용지(210x297mm)</PresentationFormat>
  <Paragraphs>3736</Paragraphs>
  <Slides>44</Slides>
  <Notes>2</Notes>
  <HiddenSlides>0</HiddenSlides>
  <MMClips>0</MMClips>
  <ScaleCrop>false</ScaleCrop>
  <HeadingPairs>
    <vt:vector size="6" baseType="variant">
      <vt:variant>
        <vt:lpstr>사용한 글꼴</vt:lpstr>
      </vt:variant>
      <vt:variant>
        <vt:i4>7</vt:i4>
      </vt:variant>
      <vt:variant>
        <vt:lpstr>테마</vt:lpstr>
      </vt:variant>
      <vt:variant>
        <vt:i4>1</vt:i4>
      </vt:variant>
      <vt:variant>
        <vt:lpstr>슬라이드 제목</vt:lpstr>
      </vt:variant>
      <vt:variant>
        <vt:i4>44</vt:i4>
      </vt:variant>
    </vt:vector>
  </HeadingPairs>
  <TitlesOfParts>
    <vt:vector size="52" baseType="lpstr">
      <vt:lpstr>Microsoft GothicNeo</vt:lpstr>
      <vt:lpstr>굴림</vt:lpstr>
      <vt:lpstr>맑은 고딕</vt:lpstr>
      <vt:lpstr>Aptos Narrow</vt:lpstr>
      <vt:lpstr>Arial</vt:lpstr>
      <vt:lpstr>Calibri</vt:lpstr>
      <vt:lpstr>Wingdings</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엄윤섭</dc:creator>
  <cp:lastModifiedBy>moonki cho</cp:lastModifiedBy>
  <cp:revision>1980</cp:revision>
  <cp:lastPrinted>2025-09-16T00:33:36Z</cp:lastPrinted>
  <dcterms:created xsi:type="dcterms:W3CDTF">2020-06-17T04:27:48Z</dcterms:created>
  <dcterms:modified xsi:type="dcterms:W3CDTF">2026-08-20T04:51:42Z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0x010100AFC4A675C1E113449D0248043CD1C0F7</vt:lpwstr>
  </property>
</Properties>
</file>