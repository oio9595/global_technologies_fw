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633" r:id="rId3"/>
    <p:sldId id="648" r:id="rId4"/>
    <p:sldId id="635" r:id="rId5"/>
    <p:sldId id="639" r:id="rId6"/>
    <p:sldId id="637" r:id="rId7"/>
    <p:sldId id="638" r:id="rId8"/>
    <p:sldId id="649" r:id="rId9"/>
    <p:sldId id="643" r:id="rId10"/>
    <p:sldId id="644" r:id="rId11"/>
    <p:sldId id="650" r:id="rId12"/>
    <p:sldId id="641" r:id="rId13"/>
    <p:sldId id="646" r:id="rId14"/>
    <p:sldId id="634" r:id="rId15"/>
    <p:sldId id="642" r:id="rId16"/>
    <p:sldId id="645" r:id="rId17"/>
    <p:sldId id="647" r:id="rId18"/>
    <p:sldId id="640" r:id="rId19"/>
  </p:sldIdLst>
  <p:sldSz cx="12192000" cy="6858000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5E55BAA-E778-4D9E-8E7B-161A8380F078}">
          <p14:sldIdLst>
            <p14:sldId id="256"/>
          </p14:sldIdLst>
        </p14:section>
        <p14:section name="제목 없는 구역" id="{A2D38DCB-7601-4C53-BAA7-A7272C8608C1}">
          <p14:sldIdLst>
            <p14:sldId id="633"/>
            <p14:sldId id="648"/>
            <p14:sldId id="635"/>
            <p14:sldId id="639"/>
            <p14:sldId id="637"/>
            <p14:sldId id="638"/>
            <p14:sldId id="649"/>
            <p14:sldId id="643"/>
            <p14:sldId id="644"/>
            <p14:sldId id="650"/>
            <p14:sldId id="641"/>
            <p14:sldId id="646"/>
            <p14:sldId id="634"/>
            <p14:sldId id="642"/>
            <p14:sldId id="645"/>
            <p14:sldId id="647"/>
            <p14:sldId id="6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4" autoAdjust="0"/>
    <p:restoredTop sz="94660"/>
  </p:normalViewPr>
  <p:slideViewPr>
    <p:cSldViewPr snapToGrid="0">
      <p:cViewPr>
        <p:scale>
          <a:sx n="125" d="100"/>
          <a:sy n="125" d="100"/>
        </p:scale>
        <p:origin x="668" y="6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17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790764-53BA-8E8C-48E9-7C02E7B1CB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7AA493-D2F6-1464-79FF-4F52D23BF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0FE8-DA16-4310-A798-C8BB96DEB63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DDB875-97B2-F75E-165B-DE5D177EE6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74E59C-F8F1-425D-E3F7-86826F96F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B0E6-E5AA-445E-8217-7070CA1E76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654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A34C-D423-4D55-BB20-4205E9FE39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9107E-7DB7-4441-B3C2-D34527397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08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7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B664B-F9BB-94DC-204A-EE2662FB4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162F3B-0B73-4408-9CF1-78A8FA07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68DF-3C37-24EE-DBCF-DB18723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F794F-1F1B-651E-7396-33F8C8F6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70D92-9DE6-5AAD-8CFE-859D1CB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710D-7E32-A5B9-7BB4-2CC892FA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191AE-71B8-78BD-0B35-B10B7CC0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57E6-BBFA-2748-1FF4-68D51AA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92B-17F4-F8F5-5F70-A80153C4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320BE-7F00-3D1F-0AD5-FF2F3A69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3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FC23F-5A5C-3CF4-30AB-8D22205A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9CDCF-5643-D716-08C4-39BE6A0BA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CC47D-9E20-8DD1-8771-76369C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1C119-A08D-9068-3C50-08B02E4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28F5E-E4C4-CD5D-C2F6-1FDFAD3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6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E393E-1D50-75AB-0978-6D238F3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4173-0952-7319-8120-51D3CF43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B8AA9-E4A4-4745-4498-BC5CDCD8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99842-7C28-6AFC-7451-1A5B499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100BE-4DBB-6F9A-5D73-5DD0F9E6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FD6A5-49A2-7382-02E0-1AC666F4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FE297-F653-0AF6-1B48-CB63EC0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10100-3818-F0B4-7E3E-EE82452A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27A6C0-F607-D1D0-8C98-CEC976A6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2EB52-EFA7-3BEF-383A-2B7A7CDC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F8F23F-681B-BFFA-0F28-A53A8B600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049164-C608-8177-801A-92088799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278D0-2EBD-0D0C-42CD-08C27583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35B3-52A5-5AAE-AB1D-4985B32A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4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FC65-20E3-3B61-8F81-85E2E70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47C8D3-4F28-8328-0F57-616DFACF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81D0E3-C3AF-89D4-2CE2-FD193CCE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A549B1-0D65-6847-07C7-AD658AE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AB00-90CA-017F-3EC8-F74DF374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348CE-44D2-32D4-20F1-98AACBE3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F0B09-4A22-3151-9A61-2D40A589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238F-D74B-C261-7B9A-E9E65594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A3EC-BB15-0806-64AD-40A6D823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EC65F-924C-A898-C7A8-3CF5C0C6F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6A25B-A837-21EB-98B6-B6D6F580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F563-4EE6-335A-154F-3CD11366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38FB2-3ACB-4563-4A3A-545B43C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5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0EA1C-2571-12BF-77DC-24B4865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EFDBA-F139-2795-73A8-618D5B57D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F5FC2-CC4D-86DD-8ADA-0569917D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9F761-3307-9420-A017-78F991CF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DC650-DEB5-3983-6E86-ABAC9C3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87D22B-C7A8-7F3B-286A-151B8294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35C9-12C8-EC72-B947-9E24C9F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5B020-F24E-DDC2-F4EE-3D8D88718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5C4E3-BFE9-6E4C-5735-1A12BADA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9EABA-A261-B6E5-3F36-0FECF36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4B01-866F-F2D8-06F6-05C71A5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D5AC3-907A-DA38-DCD8-52F5D3FF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ACB82-F21D-8939-3324-5000CF24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6E191-55F1-281A-3AD4-887CD80F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DE24A-E40C-F499-3505-FBC858B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6953D-BA95-B674-35F0-2E0E74E1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2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82E126-0249-21AB-0480-DD7AE82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48B8F-2992-95D0-79EA-98C1264B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4EF20-9980-6892-1783-0DB74A89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2FC31-4F4E-6C10-4362-56E740078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87D-6292-E4E5-153F-97CC2859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Visio_Drawing1.vsd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3756-78A1-9234-0287-211841525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810" y="1122362"/>
            <a:ext cx="10681335" cy="3472498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XDR(GT1009A1R0)</a:t>
            </a:r>
            <a:r>
              <a:rPr lang="ko-KR" altLang="en-US" sz="4800" dirty="0"/>
              <a:t> </a:t>
            </a:r>
            <a:r>
              <a:rPr lang="en-US" altLang="ko-KR" sz="4800" dirty="0"/>
              <a:t>design </a:t>
            </a:r>
            <a:r>
              <a:rPr lang="ko-KR" altLang="en-US" sz="4800" dirty="0"/>
              <a:t>정리</a:t>
            </a:r>
            <a:br>
              <a:rPr lang="en-US" altLang="ko-KR" dirty="0"/>
            </a:br>
            <a:br>
              <a:rPr lang="en-US" altLang="ko-KR" dirty="0"/>
            </a:b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4201A-E197-AB9D-AC9D-4583B45B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9159"/>
            <a:ext cx="9144000" cy="1400175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2026. 05. 07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753D4-8B45-76E2-F772-B59AE11A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5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1AC560-9420-A9FD-9AFD-1CCFB2381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80106" y="6370497"/>
            <a:ext cx="2743200" cy="365125"/>
          </a:xfrm>
        </p:spPr>
        <p:txBody>
          <a:bodyPr/>
          <a:lstStyle/>
          <a:p>
            <a:fld id="{83D7C3DD-38B7-4D6D-B394-0849C77A12E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260B2B7-7DC9-80F3-8664-86027058C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75" y="65088"/>
            <a:ext cx="10515600" cy="439737"/>
          </a:xfrm>
        </p:spPr>
        <p:txBody>
          <a:bodyPr/>
          <a:lstStyle/>
          <a:p>
            <a:r>
              <a:rPr lang="ko-KR" altLang="en-US" dirty="0"/>
              <a:t>지원 </a:t>
            </a:r>
            <a:r>
              <a:rPr lang="en-US" altLang="ko-KR" dirty="0"/>
              <a:t>TYPE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7BF9E2-D831-B426-897F-002D3E7858D9}"/>
              </a:ext>
            </a:extLst>
          </p:cNvPr>
          <p:cNvSpPr txBox="1"/>
          <p:nvPr/>
        </p:nvSpPr>
        <p:spPr>
          <a:xfrm>
            <a:off x="554539" y="115926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E1E471-044D-1A90-B66A-4B200A9ABCE9}"/>
              </a:ext>
            </a:extLst>
          </p:cNvPr>
          <p:cNvSpPr txBox="1"/>
          <p:nvPr/>
        </p:nvSpPr>
        <p:spPr>
          <a:xfrm>
            <a:off x="971193" y="115926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602483-9857-F50D-9F1A-E63C83B18759}"/>
              </a:ext>
            </a:extLst>
          </p:cNvPr>
          <p:cNvSpPr txBox="1"/>
          <p:nvPr/>
        </p:nvSpPr>
        <p:spPr>
          <a:xfrm>
            <a:off x="1440976" y="1159262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70C0"/>
                </a:solidFill>
              </a:rPr>
              <a:t>B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54445D-035D-3AB9-670B-1EDF69198787}"/>
              </a:ext>
            </a:extLst>
          </p:cNvPr>
          <p:cNvSpPr txBox="1"/>
          <p:nvPr/>
        </p:nvSpPr>
        <p:spPr>
          <a:xfrm>
            <a:off x="406103" y="594187"/>
            <a:ext cx="43630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1. RRGB</a:t>
            </a:r>
            <a:r>
              <a:rPr lang="ko-KR" altLang="en-US" sz="1600" dirty="0"/>
              <a:t> </a:t>
            </a:r>
            <a:r>
              <a:rPr lang="en-US" altLang="ko-KR" sz="1600" dirty="0"/>
              <a:t>type ( 3-color, pad </a:t>
            </a:r>
            <a:r>
              <a:rPr lang="ko-KR" altLang="en-US" sz="1600" dirty="0"/>
              <a:t>위치 가변 가능 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951FC9-6809-2B2F-5166-9952279905A3}"/>
              </a:ext>
            </a:extLst>
          </p:cNvPr>
          <p:cNvSpPr txBox="1"/>
          <p:nvPr/>
        </p:nvSpPr>
        <p:spPr>
          <a:xfrm>
            <a:off x="2471147" y="1132285"/>
            <a:ext cx="1258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Pixel </a:t>
            </a:r>
            <a:r>
              <a:rPr lang="ko-KR" altLang="en-US" sz="1000" dirty="0"/>
              <a:t>당 </a:t>
            </a:r>
            <a:r>
              <a:rPr lang="en-US" altLang="ko-KR" sz="1000" dirty="0"/>
              <a:t>3 </a:t>
            </a:r>
            <a:r>
              <a:rPr lang="en-US" altLang="ko-KR" sz="1000" dirty="0" err="1"/>
              <a:t>ch.</a:t>
            </a:r>
            <a:r>
              <a:rPr lang="en-US" altLang="ko-KR" sz="1000" dirty="0"/>
              <a:t>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r>
              <a:rPr lang="en-US" altLang="ko-KR" sz="1000" dirty="0"/>
              <a:t>(1</a:t>
            </a:r>
            <a:r>
              <a:rPr lang="ko-KR" altLang="en-US" sz="1000" dirty="0"/>
              <a:t>회 시분할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D0E524-E0FB-8790-74FA-D84B67C265A5}"/>
              </a:ext>
            </a:extLst>
          </p:cNvPr>
          <p:cNvSpPr txBox="1"/>
          <p:nvPr/>
        </p:nvSpPr>
        <p:spPr>
          <a:xfrm>
            <a:off x="324577" y="2217617"/>
            <a:ext cx="5269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2. RGBC / RRGBC</a:t>
            </a:r>
            <a:r>
              <a:rPr lang="ko-KR" altLang="en-US" sz="1600" dirty="0"/>
              <a:t> </a:t>
            </a:r>
            <a:r>
              <a:rPr lang="en-US" altLang="ko-KR" sz="1600" dirty="0"/>
              <a:t>type ( 4-color, pad </a:t>
            </a:r>
            <a:r>
              <a:rPr lang="ko-KR" altLang="en-US" sz="1600" dirty="0"/>
              <a:t>위치 가변 가능 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8B446A-1AAD-AA4E-DA4D-CF57CF5C2D41}"/>
              </a:ext>
            </a:extLst>
          </p:cNvPr>
          <p:cNvSpPr txBox="1"/>
          <p:nvPr/>
        </p:nvSpPr>
        <p:spPr>
          <a:xfrm>
            <a:off x="1056908" y="271453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637788-8C64-B36D-9FC5-8B1D059989F2}"/>
              </a:ext>
            </a:extLst>
          </p:cNvPr>
          <p:cNvSpPr txBox="1"/>
          <p:nvPr/>
        </p:nvSpPr>
        <p:spPr>
          <a:xfrm>
            <a:off x="1604422" y="2695174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70C0"/>
                </a:solidFill>
              </a:rPr>
              <a:t>B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98C99B-473F-C0F7-406F-8E67DF34747E}"/>
              </a:ext>
            </a:extLst>
          </p:cNvPr>
          <p:cNvSpPr txBox="1"/>
          <p:nvPr/>
        </p:nvSpPr>
        <p:spPr>
          <a:xfrm>
            <a:off x="2736792" y="2694951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B0F0"/>
                </a:solidFill>
              </a:rPr>
              <a:t>C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2ACEE9-08A7-0AAD-A9B6-057F658722C4}"/>
              </a:ext>
            </a:extLst>
          </p:cNvPr>
          <p:cNvSpPr txBox="1"/>
          <p:nvPr/>
        </p:nvSpPr>
        <p:spPr>
          <a:xfrm>
            <a:off x="3990709" y="2665912"/>
            <a:ext cx="1305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Pixel </a:t>
            </a:r>
            <a:r>
              <a:rPr lang="ko-KR" altLang="en-US" sz="1000" dirty="0"/>
              <a:t>당 </a:t>
            </a:r>
            <a:r>
              <a:rPr lang="en-US" altLang="ko-KR" sz="1000" dirty="0"/>
              <a:t>3 </a:t>
            </a:r>
            <a:r>
              <a:rPr lang="en-US" altLang="ko-KR" sz="1000" dirty="0" err="1"/>
              <a:t>ch.</a:t>
            </a:r>
            <a:r>
              <a:rPr lang="en-US" altLang="ko-KR" sz="1000" dirty="0"/>
              <a:t>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r>
              <a:rPr lang="en-US" altLang="ko-KR" sz="1000" dirty="0"/>
              <a:t>(2</a:t>
            </a:r>
            <a:r>
              <a:rPr lang="ko-KR" altLang="en-US" sz="1000" dirty="0"/>
              <a:t>회 시분할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4F4D96-9828-0D19-E90F-8B72FC2FAAC8}"/>
              </a:ext>
            </a:extLst>
          </p:cNvPr>
          <p:cNvSpPr txBox="1"/>
          <p:nvPr/>
        </p:nvSpPr>
        <p:spPr>
          <a:xfrm>
            <a:off x="616121" y="348126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920649-F323-01B6-DD8B-0DF6F4B8E18A}"/>
              </a:ext>
            </a:extLst>
          </p:cNvPr>
          <p:cNvSpPr txBox="1"/>
          <p:nvPr/>
        </p:nvSpPr>
        <p:spPr>
          <a:xfrm>
            <a:off x="1032775" y="348126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55C545-2FCD-CE1A-E355-E66F2C341DF6}"/>
              </a:ext>
            </a:extLst>
          </p:cNvPr>
          <p:cNvSpPr txBox="1"/>
          <p:nvPr/>
        </p:nvSpPr>
        <p:spPr>
          <a:xfrm>
            <a:off x="1622793" y="3470005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70C0"/>
                </a:solidFill>
              </a:rPr>
              <a:t>B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679B95-446A-3D5C-BC37-A47DC643744D}"/>
              </a:ext>
            </a:extLst>
          </p:cNvPr>
          <p:cNvSpPr txBox="1"/>
          <p:nvPr/>
        </p:nvSpPr>
        <p:spPr>
          <a:xfrm>
            <a:off x="2717417" y="3469782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B0F0"/>
                </a:solidFill>
              </a:rPr>
              <a:t>C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1B8E0F-00C7-713A-70BB-E19AC9F2010A}"/>
              </a:ext>
            </a:extLst>
          </p:cNvPr>
          <p:cNvSpPr txBox="1"/>
          <p:nvPr/>
        </p:nvSpPr>
        <p:spPr>
          <a:xfrm>
            <a:off x="4013277" y="3440743"/>
            <a:ext cx="1246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Pixel </a:t>
            </a:r>
            <a:r>
              <a:rPr lang="ko-KR" altLang="en-US" sz="1000" dirty="0"/>
              <a:t>당 </a:t>
            </a:r>
            <a:r>
              <a:rPr lang="en-US" altLang="ko-KR" sz="1000" dirty="0"/>
              <a:t>4 </a:t>
            </a:r>
            <a:r>
              <a:rPr lang="en-US" altLang="ko-KR" sz="1000" dirty="0" err="1"/>
              <a:t>ch.</a:t>
            </a:r>
            <a:r>
              <a:rPr lang="en-US" altLang="ko-KR" sz="1000" dirty="0"/>
              <a:t>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r>
              <a:rPr lang="en-US" altLang="ko-KR" sz="1000" dirty="0"/>
              <a:t>(2</a:t>
            </a:r>
            <a:r>
              <a:rPr lang="ko-KR" altLang="en-US" sz="1000" dirty="0"/>
              <a:t>회 시분할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C8C077-105A-0773-8526-C9ABB13D6A34}"/>
              </a:ext>
            </a:extLst>
          </p:cNvPr>
          <p:cNvSpPr txBox="1"/>
          <p:nvPr/>
        </p:nvSpPr>
        <p:spPr>
          <a:xfrm>
            <a:off x="1221424" y="1145982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6A6DC3A-76C9-EB42-F008-AD527B006964}"/>
              </a:ext>
            </a:extLst>
          </p:cNvPr>
          <p:cNvSpPr txBox="1"/>
          <p:nvPr/>
        </p:nvSpPr>
        <p:spPr>
          <a:xfrm>
            <a:off x="1330948" y="2684359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173419-B9C4-4525-3A45-2EE6FB3B25C4}"/>
              </a:ext>
            </a:extLst>
          </p:cNvPr>
          <p:cNvSpPr txBox="1"/>
          <p:nvPr/>
        </p:nvSpPr>
        <p:spPr>
          <a:xfrm>
            <a:off x="2469209" y="2654936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537383-27D0-256D-1D3C-716EB7A47480}"/>
              </a:ext>
            </a:extLst>
          </p:cNvPr>
          <p:cNvSpPr txBox="1"/>
          <p:nvPr/>
        </p:nvSpPr>
        <p:spPr>
          <a:xfrm>
            <a:off x="1365353" y="3455231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35A198-6178-1DD2-459F-B7D78935852F}"/>
              </a:ext>
            </a:extLst>
          </p:cNvPr>
          <p:cNvSpPr txBox="1"/>
          <p:nvPr/>
        </p:nvSpPr>
        <p:spPr>
          <a:xfrm>
            <a:off x="2496120" y="3455231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636D0AB-CEC6-A16A-00A2-3FCC9A6C1974}"/>
              </a:ext>
            </a:extLst>
          </p:cNvPr>
          <p:cNvSpPr/>
          <p:nvPr/>
        </p:nvSpPr>
        <p:spPr>
          <a:xfrm>
            <a:off x="450113" y="914095"/>
            <a:ext cx="3455787" cy="855165"/>
          </a:xfrm>
          <a:prstGeom prst="rect">
            <a:avLst/>
          </a:prstGeom>
          <a:noFill/>
          <a:ln w="31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66B7172D-B4EA-CF0C-1F98-E6953FCC75B5}"/>
              </a:ext>
            </a:extLst>
          </p:cNvPr>
          <p:cNvSpPr/>
          <p:nvPr/>
        </p:nvSpPr>
        <p:spPr>
          <a:xfrm>
            <a:off x="406104" y="2580316"/>
            <a:ext cx="9589380" cy="1255275"/>
          </a:xfrm>
          <a:prstGeom prst="rect">
            <a:avLst/>
          </a:prstGeom>
          <a:noFill/>
          <a:ln w="31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519CCB-4CAE-840C-CB5A-E00495D88D06}"/>
              </a:ext>
            </a:extLst>
          </p:cNvPr>
          <p:cNvSpPr txBox="1"/>
          <p:nvPr/>
        </p:nvSpPr>
        <p:spPr>
          <a:xfrm>
            <a:off x="5378410" y="3450483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2E31B-970A-7C9F-A7AC-A08D2F235424}"/>
              </a:ext>
            </a:extLst>
          </p:cNvPr>
          <p:cNvSpPr txBox="1"/>
          <p:nvPr/>
        </p:nvSpPr>
        <p:spPr>
          <a:xfrm>
            <a:off x="6267796" y="2734113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87E8B-0984-DD9B-8BCD-A1E8C1ACFBEB}"/>
              </a:ext>
            </a:extLst>
          </p:cNvPr>
          <p:cNvSpPr txBox="1"/>
          <p:nvPr/>
        </p:nvSpPr>
        <p:spPr>
          <a:xfrm>
            <a:off x="6815310" y="2714755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70C0"/>
                </a:solidFill>
              </a:rPr>
              <a:t>B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964EF-EC5E-B287-2776-BD17A614DBD4}"/>
              </a:ext>
            </a:extLst>
          </p:cNvPr>
          <p:cNvSpPr txBox="1"/>
          <p:nvPr/>
        </p:nvSpPr>
        <p:spPr>
          <a:xfrm>
            <a:off x="7851213" y="2714532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F0"/>
                </a:solidFill>
              </a:rPr>
              <a:t>C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16F66-763C-D8BE-D2BB-980BBF3E10C8}"/>
              </a:ext>
            </a:extLst>
          </p:cNvPr>
          <p:cNvSpPr txBox="1"/>
          <p:nvPr/>
        </p:nvSpPr>
        <p:spPr>
          <a:xfrm>
            <a:off x="8496936" y="2703940"/>
            <a:ext cx="1305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Pixel </a:t>
            </a:r>
            <a:r>
              <a:rPr lang="ko-KR" altLang="en-US" sz="1000" dirty="0"/>
              <a:t>당 </a:t>
            </a:r>
            <a:r>
              <a:rPr lang="en-US" altLang="ko-KR" sz="1000" dirty="0"/>
              <a:t>3 </a:t>
            </a:r>
            <a:r>
              <a:rPr lang="en-US" altLang="ko-KR" sz="1000" dirty="0" err="1"/>
              <a:t>ch.</a:t>
            </a:r>
            <a:r>
              <a:rPr lang="en-US" altLang="ko-KR" sz="1000" dirty="0"/>
              <a:t>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r>
              <a:rPr lang="en-US" altLang="ko-KR" sz="1000" dirty="0"/>
              <a:t>(1</a:t>
            </a:r>
            <a:r>
              <a:rPr lang="ko-KR" altLang="en-US" sz="1000" dirty="0"/>
              <a:t>회 시분할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7AF589-FA16-4400-15BF-E158FC5880B8}"/>
              </a:ext>
            </a:extLst>
          </p:cNvPr>
          <p:cNvSpPr txBox="1"/>
          <p:nvPr/>
        </p:nvSpPr>
        <p:spPr>
          <a:xfrm>
            <a:off x="5885735" y="350084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AA5949-3272-127F-7C10-2D4618CE538B}"/>
              </a:ext>
            </a:extLst>
          </p:cNvPr>
          <p:cNvSpPr txBox="1"/>
          <p:nvPr/>
        </p:nvSpPr>
        <p:spPr>
          <a:xfrm>
            <a:off x="6281417" y="350084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4965D2-E3CC-88A4-17A4-9123C9FE42BA}"/>
              </a:ext>
            </a:extLst>
          </p:cNvPr>
          <p:cNvSpPr txBox="1"/>
          <p:nvPr/>
        </p:nvSpPr>
        <p:spPr>
          <a:xfrm>
            <a:off x="6779157" y="348958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70C0"/>
                </a:solidFill>
              </a:rPr>
              <a:t>B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874323-A5A3-DC5C-A31B-850165116D13}"/>
              </a:ext>
            </a:extLst>
          </p:cNvPr>
          <p:cNvSpPr txBox="1"/>
          <p:nvPr/>
        </p:nvSpPr>
        <p:spPr>
          <a:xfrm>
            <a:off x="7873781" y="3489363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F0"/>
                </a:solidFill>
              </a:rPr>
              <a:t>C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9A45D6-D8B5-F3DD-2904-8D114D89306F}"/>
              </a:ext>
            </a:extLst>
          </p:cNvPr>
          <p:cNvSpPr txBox="1"/>
          <p:nvPr/>
        </p:nvSpPr>
        <p:spPr>
          <a:xfrm>
            <a:off x="8505776" y="3423615"/>
            <a:ext cx="1246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Pixel </a:t>
            </a:r>
            <a:r>
              <a:rPr lang="ko-KR" altLang="en-US" sz="1000" dirty="0"/>
              <a:t>당 </a:t>
            </a:r>
            <a:r>
              <a:rPr lang="en-US" altLang="ko-KR" sz="1000" dirty="0"/>
              <a:t>4 </a:t>
            </a:r>
            <a:r>
              <a:rPr lang="en-US" altLang="ko-KR" sz="1000" dirty="0" err="1"/>
              <a:t>ch.</a:t>
            </a:r>
            <a:r>
              <a:rPr lang="en-US" altLang="ko-KR" sz="1000" dirty="0"/>
              <a:t>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r>
              <a:rPr lang="en-US" altLang="ko-KR" sz="1000" dirty="0"/>
              <a:t>(1</a:t>
            </a:r>
            <a:r>
              <a:rPr lang="ko-KR" altLang="en-US" sz="1000" dirty="0"/>
              <a:t>회 시분할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3127F-E2D7-9AC2-2D43-C82035F2E8BD}"/>
              </a:ext>
            </a:extLst>
          </p:cNvPr>
          <p:cNvSpPr txBox="1"/>
          <p:nvPr/>
        </p:nvSpPr>
        <p:spPr>
          <a:xfrm>
            <a:off x="6541836" y="2703940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A8F47C-1AF8-530C-9F74-BCD4809773BF}"/>
              </a:ext>
            </a:extLst>
          </p:cNvPr>
          <p:cNvSpPr txBox="1"/>
          <p:nvPr/>
        </p:nvSpPr>
        <p:spPr>
          <a:xfrm>
            <a:off x="7583630" y="2674517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661E3-DCDB-1372-8D76-7F52A7765249}"/>
              </a:ext>
            </a:extLst>
          </p:cNvPr>
          <p:cNvSpPr txBox="1"/>
          <p:nvPr/>
        </p:nvSpPr>
        <p:spPr>
          <a:xfrm>
            <a:off x="6521717" y="3474812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A05C60-9EE5-40A1-6CE3-C1C565AC513A}"/>
              </a:ext>
            </a:extLst>
          </p:cNvPr>
          <p:cNvSpPr txBox="1"/>
          <p:nvPr/>
        </p:nvSpPr>
        <p:spPr>
          <a:xfrm>
            <a:off x="7652484" y="3474812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00327C-8802-AFB1-FF53-870CBE769CCA}"/>
              </a:ext>
            </a:extLst>
          </p:cNvPr>
          <p:cNvSpPr txBox="1"/>
          <p:nvPr/>
        </p:nvSpPr>
        <p:spPr>
          <a:xfrm>
            <a:off x="324577" y="4462385"/>
            <a:ext cx="5690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3. RGBCM / RRGBCM</a:t>
            </a:r>
            <a:r>
              <a:rPr lang="ko-KR" altLang="en-US" sz="1600" dirty="0"/>
              <a:t> </a:t>
            </a:r>
            <a:r>
              <a:rPr lang="en-US" altLang="ko-KR" sz="1600" dirty="0"/>
              <a:t>type ( 5-color,</a:t>
            </a:r>
            <a:r>
              <a:rPr lang="ko-KR" altLang="en-US" sz="1600" dirty="0"/>
              <a:t> </a:t>
            </a:r>
            <a:r>
              <a:rPr lang="en-US" altLang="ko-KR" sz="1600" dirty="0"/>
              <a:t>pad</a:t>
            </a:r>
            <a:r>
              <a:rPr lang="ko-KR" altLang="en-US" sz="1600" dirty="0"/>
              <a:t> 위치 가변 가능 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38112E-BF83-9D47-F8E2-C194D5AA6140}"/>
              </a:ext>
            </a:extLst>
          </p:cNvPr>
          <p:cNvSpPr txBox="1"/>
          <p:nvPr/>
        </p:nvSpPr>
        <p:spPr>
          <a:xfrm>
            <a:off x="854650" y="491959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17FA0F-314D-EC17-90F1-ED69B61CA06A}"/>
              </a:ext>
            </a:extLst>
          </p:cNvPr>
          <p:cNvSpPr txBox="1"/>
          <p:nvPr/>
        </p:nvSpPr>
        <p:spPr>
          <a:xfrm>
            <a:off x="1427328" y="4922984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70C0"/>
                </a:solidFill>
              </a:rPr>
              <a:t>B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FA5E30-D059-08A6-9169-C6C7BA5DBAFC}"/>
              </a:ext>
            </a:extLst>
          </p:cNvPr>
          <p:cNvSpPr txBox="1"/>
          <p:nvPr/>
        </p:nvSpPr>
        <p:spPr>
          <a:xfrm>
            <a:off x="2559698" y="4922761"/>
            <a:ext cx="973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F0"/>
                </a:solidFill>
              </a:rPr>
              <a:t>C</a:t>
            </a:r>
            <a:r>
              <a:rPr lang="en-US" altLang="ko-KR" sz="1400" dirty="0">
                <a:solidFill>
                  <a:srgbClr val="FF00FF"/>
                </a:solidFill>
              </a:rPr>
              <a:t>M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821517-6DD2-062B-3129-E938229B0C80}"/>
              </a:ext>
            </a:extLst>
          </p:cNvPr>
          <p:cNvSpPr txBox="1"/>
          <p:nvPr/>
        </p:nvSpPr>
        <p:spPr>
          <a:xfrm>
            <a:off x="1119660" y="4896676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8E2218-E6B8-44EA-F324-6A9AAD0D2760}"/>
              </a:ext>
            </a:extLst>
          </p:cNvPr>
          <p:cNvSpPr txBox="1"/>
          <p:nvPr/>
        </p:nvSpPr>
        <p:spPr>
          <a:xfrm>
            <a:off x="2308063" y="4919597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EFFFA5-FDF0-9A94-137D-840BBC473079}"/>
              </a:ext>
            </a:extLst>
          </p:cNvPr>
          <p:cNvSpPr txBox="1"/>
          <p:nvPr/>
        </p:nvSpPr>
        <p:spPr>
          <a:xfrm>
            <a:off x="5918787" y="5017604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EB9B53-F78A-F3C7-E96B-94C591F798BB}"/>
              </a:ext>
            </a:extLst>
          </p:cNvPr>
          <p:cNvSpPr txBox="1"/>
          <p:nvPr/>
        </p:nvSpPr>
        <p:spPr>
          <a:xfrm>
            <a:off x="6409043" y="5035268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B0F0"/>
                </a:solidFill>
              </a:rPr>
              <a:t>C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AA28D3-D139-D6CA-0005-D90419A00B97}"/>
              </a:ext>
            </a:extLst>
          </p:cNvPr>
          <p:cNvSpPr txBox="1"/>
          <p:nvPr/>
        </p:nvSpPr>
        <p:spPr>
          <a:xfrm>
            <a:off x="7539953" y="5013445"/>
            <a:ext cx="9637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B</a:t>
            </a:r>
            <a:r>
              <a:rPr lang="en-US" altLang="ko-KR" sz="1400" dirty="0">
                <a:solidFill>
                  <a:srgbClr val="FF00FF"/>
                </a:solidFill>
              </a:rPr>
              <a:t>M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6AAF78-BBD4-5BD1-513E-6145ABBE3471}"/>
              </a:ext>
            </a:extLst>
          </p:cNvPr>
          <p:cNvSpPr txBox="1"/>
          <p:nvPr/>
        </p:nvSpPr>
        <p:spPr>
          <a:xfrm>
            <a:off x="6158633" y="4994683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DE875A-9DDA-0BD2-1BCF-A26CD1B227EC}"/>
              </a:ext>
            </a:extLst>
          </p:cNvPr>
          <p:cNvSpPr txBox="1"/>
          <p:nvPr/>
        </p:nvSpPr>
        <p:spPr>
          <a:xfrm>
            <a:off x="7288318" y="4996634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6528EA-A87B-5CA2-A480-C71D2EBADDFF}"/>
              </a:ext>
            </a:extLst>
          </p:cNvPr>
          <p:cNvSpPr txBox="1"/>
          <p:nvPr/>
        </p:nvSpPr>
        <p:spPr>
          <a:xfrm>
            <a:off x="4964797" y="4998258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9A7717-F2EB-AA4A-8771-DDAE5FC97223}"/>
              </a:ext>
            </a:extLst>
          </p:cNvPr>
          <p:cNvSpPr txBox="1"/>
          <p:nvPr/>
        </p:nvSpPr>
        <p:spPr>
          <a:xfrm>
            <a:off x="1440976" y="5673266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70C0"/>
                </a:solidFill>
              </a:rPr>
              <a:t>B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BD81D8-27FA-AFFD-CAC1-EDE8D5AA8696}"/>
              </a:ext>
            </a:extLst>
          </p:cNvPr>
          <p:cNvSpPr txBox="1"/>
          <p:nvPr/>
        </p:nvSpPr>
        <p:spPr>
          <a:xfrm>
            <a:off x="2573346" y="5673043"/>
            <a:ext cx="973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F0"/>
                </a:solidFill>
              </a:rPr>
              <a:t>C</a:t>
            </a:r>
            <a:r>
              <a:rPr lang="en-US" altLang="ko-KR" sz="1400" dirty="0">
                <a:solidFill>
                  <a:srgbClr val="FF00FF"/>
                </a:solidFill>
              </a:rPr>
              <a:t>M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3BB293-91F9-C238-4675-D80394B74B24}"/>
              </a:ext>
            </a:extLst>
          </p:cNvPr>
          <p:cNvSpPr txBox="1"/>
          <p:nvPr/>
        </p:nvSpPr>
        <p:spPr>
          <a:xfrm>
            <a:off x="1133308" y="5646958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5984FA-4714-2FE0-A171-82F4203A4DAB}"/>
              </a:ext>
            </a:extLst>
          </p:cNvPr>
          <p:cNvSpPr txBox="1"/>
          <p:nvPr/>
        </p:nvSpPr>
        <p:spPr>
          <a:xfrm>
            <a:off x="2321711" y="5669879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97B0AB-67A4-8016-7299-6F89A1BA3EC6}"/>
              </a:ext>
            </a:extLst>
          </p:cNvPr>
          <p:cNvSpPr txBox="1"/>
          <p:nvPr/>
        </p:nvSpPr>
        <p:spPr>
          <a:xfrm>
            <a:off x="6443079" y="5798395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G</a:t>
            </a:r>
            <a:r>
              <a:rPr lang="en-US" altLang="ko-KR" sz="1400" dirty="0">
                <a:solidFill>
                  <a:srgbClr val="00B0F0"/>
                </a:solidFill>
              </a:rPr>
              <a:t>C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8D1D34-BEE0-EAE3-1DA8-A32B5531F205}"/>
              </a:ext>
            </a:extLst>
          </p:cNvPr>
          <p:cNvSpPr txBox="1"/>
          <p:nvPr/>
        </p:nvSpPr>
        <p:spPr>
          <a:xfrm>
            <a:off x="7535860" y="5770877"/>
            <a:ext cx="9637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B</a:t>
            </a:r>
            <a:r>
              <a:rPr lang="en-US" altLang="ko-KR" sz="1400" dirty="0">
                <a:solidFill>
                  <a:srgbClr val="FF00FF"/>
                </a:solidFill>
              </a:rPr>
              <a:t>M</a:t>
            </a:r>
            <a:r>
              <a:rPr lang="en-US" altLang="ko-KR" sz="1100" dirty="0"/>
              <a:t>(</a:t>
            </a:r>
            <a:r>
              <a:rPr lang="ko-KR" altLang="en-US" sz="1100" dirty="0"/>
              <a:t>시분할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C6258D-F28A-4FF7-1A0B-1D3F57EA496C}"/>
              </a:ext>
            </a:extLst>
          </p:cNvPr>
          <p:cNvSpPr txBox="1"/>
          <p:nvPr/>
        </p:nvSpPr>
        <p:spPr>
          <a:xfrm>
            <a:off x="6165440" y="5731145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F7B83B-62C4-B244-54CE-15B7C0427D05}"/>
              </a:ext>
            </a:extLst>
          </p:cNvPr>
          <p:cNvSpPr txBox="1"/>
          <p:nvPr/>
        </p:nvSpPr>
        <p:spPr>
          <a:xfrm>
            <a:off x="7275125" y="5726772"/>
            <a:ext cx="32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767037-AECD-FAB3-D341-47B62587D660}"/>
              </a:ext>
            </a:extLst>
          </p:cNvPr>
          <p:cNvSpPr txBox="1"/>
          <p:nvPr/>
        </p:nvSpPr>
        <p:spPr>
          <a:xfrm>
            <a:off x="4956266" y="5718563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B5BF7C-F181-8F95-812C-DDA838A55DA2}"/>
              </a:ext>
            </a:extLst>
          </p:cNvPr>
          <p:cNvSpPr txBox="1"/>
          <p:nvPr/>
        </p:nvSpPr>
        <p:spPr>
          <a:xfrm>
            <a:off x="419569" y="569078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548633-509A-AF69-4B09-BAB767A12686}"/>
              </a:ext>
            </a:extLst>
          </p:cNvPr>
          <p:cNvSpPr txBox="1"/>
          <p:nvPr/>
        </p:nvSpPr>
        <p:spPr>
          <a:xfrm>
            <a:off x="836223" y="569078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46A032-46EC-2F1D-A7B4-C7A2244063FD}"/>
              </a:ext>
            </a:extLst>
          </p:cNvPr>
          <p:cNvSpPr txBox="1"/>
          <p:nvPr/>
        </p:nvSpPr>
        <p:spPr>
          <a:xfrm>
            <a:off x="5523684" y="577614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E75B12C-A393-FFA5-424D-6E68BD06B5EF}"/>
              </a:ext>
            </a:extLst>
          </p:cNvPr>
          <p:cNvSpPr txBox="1"/>
          <p:nvPr/>
        </p:nvSpPr>
        <p:spPr>
          <a:xfrm>
            <a:off x="5940338" y="577614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516A031-7DAC-6C98-D4E5-625C03F206FC}"/>
              </a:ext>
            </a:extLst>
          </p:cNvPr>
          <p:cNvSpPr/>
          <p:nvPr/>
        </p:nvSpPr>
        <p:spPr>
          <a:xfrm>
            <a:off x="420437" y="4791518"/>
            <a:ext cx="9537295" cy="1368947"/>
          </a:xfrm>
          <a:prstGeom prst="rect">
            <a:avLst/>
          </a:prstGeom>
          <a:noFill/>
          <a:ln w="31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FB781C2-EC10-DBE7-A199-A035C4C5AEDF}"/>
              </a:ext>
            </a:extLst>
          </p:cNvPr>
          <p:cNvSpPr txBox="1"/>
          <p:nvPr/>
        </p:nvSpPr>
        <p:spPr>
          <a:xfrm>
            <a:off x="8559361" y="5053279"/>
            <a:ext cx="1258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Pixel </a:t>
            </a:r>
            <a:r>
              <a:rPr lang="ko-KR" altLang="en-US" sz="1000" dirty="0"/>
              <a:t>당 </a:t>
            </a:r>
            <a:r>
              <a:rPr lang="en-US" altLang="ko-KR" sz="1000" dirty="0"/>
              <a:t>3 </a:t>
            </a:r>
            <a:r>
              <a:rPr lang="en-US" altLang="ko-KR" sz="1000" dirty="0" err="1"/>
              <a:t>ch.</a:t>
            </a:r>
            <a:r>
              <a:rPr lang="en-US" altLang="ko-KR" sz="1000" dirty="0"/>
              <a:t>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r>
              <a:rPr lang="en-US" altLang="ko-KR" sz="1000" dirty="0"/>
              <a:t>(2</a:t>
            </a:r>
            <a:r>
              <a:rPr lang="ko-KR" altLang="en-US" sz="1000" dirty="0"/>
              <a:t>회 시분할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815C93E-EC53-F7F1-647B-4FD8814EDB06}"/>
              </a:ext>
            </a:extLst>
          </p:cNvPr>
          <p:cNvSpPr txBox="1"/>
          <p:nvPr/>
        </p:nvSpPr>
        <p:spPr>
          <a:xfrm>
            <a:off x="8569019" y="5698678"/>
            <a:ext cx="1258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Pixel </a:t>
            </a:r>
            <a:r>
              <a:rPr lang="ko-KR" altLang="en-US" sz="1000" dirty="0"/>
              <a:t>당 </a:t>
            </a:r>
            <a:r>
              <a:rPr lang="en-US" altLang="ko-KR" sz="1000" dirty="0"/>
              <a:t>4 </a:t>
            </a:r>
            <a:r>
              <a:rPr lang="en-US" altLang="ko-KR" sz="1000" dirty="0" err="1"/>
              <a:t>ch.</a:t>
            </a:r>
            <a:r>
              <a:rPr lang="en-US" altLang="ko-KR" sz="1000" dirty="0"/>
              <a:t>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r>
              <a:rPr lang="en-US" altLang="ko-KR" sz="1000" dirty="0"/>
              <a:t>(2</a:t>
            </a:r>
            <a:r>
              <a:rPr lang="ko-KR" altLang="en-US" sz="1000" dirty="0"/>
              <a:t>회 시분할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A9AC79-B60A-1680-0AD9-424430A48D94}"/>
              </a:ext>
            </a:extLst>
          </p:cNvPr>
          <p:cNvSpPr txBox="1"/>
          <p:nvPr/>
        </p:nvSpPr>
        <p:spPr>
          <a:xfrm>
            <a:off x="3583499" y="4958324"/>
            <a:ext cx="1305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Pixel </a:t>
            </a:r>
            <a:r>
              <a:rPr lang="ko-KR" altLang="en-US" sz="1000" dirty="0"/>
              <a:t>당 </a:t>
            </a:r>
            <a:r>
              <a:rPr lang="en-US" altLang="ko-KR" sz="1000" dirty="0"/>
              <a:t>3 </a:t>
            </a:r>
            <a:r>
              <a:rPr lang="en-US" altLang="ko-KR" sz="1000" dirty="0" err="1"/>
              <a:t>ch.</a:t>
            </a:r>
            <a:r>
              <a:rPr lang="en-US" altLang="ko-KR" sz="1000" dirty="0"/>
              <a:t>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r>
              <a:rPr lang="en-US" altLang="ko-KR" sz="1000" dirty="0"/>
              <a:t>(2</a:t>
            </a:r>
            <a:r>
              <a:rPr lang="ko-KR" altLang="en-US" sz="1000" dirty="0"/>
              <a:t>회 시분할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AD27C5F-6F6D-13AE-8572-AA0EB660AB33}"/>
              </a:ext>
            </a:extLst>
          </p:cNvPr>
          <p:cNvSpPr txBox="1"/>
          <p:nvPr/>
        </p:nvSpPr>
        <p:spPr>
          <a:xfrm>
            <a:off x="3549912" y="5654091"/>
            <a:ext cx="1246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Pixel </a:t>
            </a:r>
            <a:r>
              <a:rPr lang="ko-KR" altLang="en-US" sz="1000" dirty="0"/>
              <a:t>당 </a:t>
            </a:r>
            <a:r>
              <a:rPr lang="en-US" altLang="ko-KR" sz="1000" dirty="0"/>
              <a:t>4 </a:t>
            </a:r>
            <a:r>
              <a:rPr lang="en-US" altLang="ko-KR" sz="1000" dirty="0" err="1"/>
              <a:t>ch.</a:t>
            </a:r>
            <a:r>
              <a:rPr lang="en-US" altLang="ko-KR" sz="1000" dirty="0"/>
              <a:t>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r>
              <a:rPr lang="en-US" altLang="ko-KR" sz="1000" dirty="0"/>
              <a:t>(2</a:t>
            </a:r>
            <a:r>
              <a:rPr lang="ko-KR" altLang="en-US" sz="1000" dirty="0"/>
              <a:t>회 시분할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601540-1942-BEA1-4D35-0FA50FDB6FA7}"/>
              </a:ext>
            </a:extLst>
          </p:cNvPr>
          <p:cNvSpPr txBox="1"/>
          <p:nvPr/>
        </p:nvSpPr>
        <p:spPr>
          <a:xfrm>
            <a:off x="5427892" y="2719329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2084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0FB7B-C24F-0E78-5062-FFF67710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PIN_PAD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CE42026-0896-3527-C182-0F38FAAA7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E482FA-4C66-2EE2-0A0D-EECE14120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8126"/>
            <a:ext cx="12192000" cy="408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4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DA4B161-85A4-3EC1-1641-68D670A53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6AD865A-26AB-ACA1-5F58-FFF740143CC6}"/>
              </a:ext>
            </a:extLst>
          </p:cNvPr>
          <p:cNvSpPr txBox="1">
            <a:spLocks/>
          </p:cNvSpPr>
          <p:nvPr/>
        </p:nvSpPr>
        <p:spPr>
          <a:xfrm>
            <a:off x="145158" y="37350"/>
            <a:ext cx="10515600" cy="440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GT1009A0R0 </a:t>
            </a:r>
            <a:r>
              <a:rPr lang="ko-KR" altLang="en-US" dirty="0"/>
              <a:t>대비 주요 수정 사항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17D3EFD-29CF-5A1F-212A-129A55364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14780"/>
              </p:ext>
            </p:extLst>
          </p:nvPr>
        </p:nvGraphicFramePr>
        <p:xfrm>
          <a:off x="1493492" y="940586"/>
          <a:ext cx="7669830" cy="4351338"/>
        </p:xfrm>
        <a:graphic>
          <a:graphicData uri="http://schemas.openxmlformats.org/drawingml/2006/table">
            <a:tbl>
              <a:tblPr/>
              <a:tblGrid>
                <a:gridCol w="2103943">
                  <a:extLst>
                    <a:ext uri="{9D8B030D-6E8A-4147-A177-3AD203B41FA5}">
                      <a16:colId xmlns:a16="http://schemas.microsoft.com/office/drawing/2014/main" val="152159049"/>
                    </a:ext>
                  </a:extLst>
                </a:gridCol>
                <a:gridCol w="5565887">
                  <a:extLst>
                    <a:ext uri="{9D8B030D-6E8A-4147-A177-3AD203B41FA5}">
                      <a16:colId xmlns:a16="http://schemas.microsoft.com/office/drawing/2014/main" val="3098737347"/>
                    </a:ext>
                  </a:extLst>
                </a:gridCol>
              </a:tblGrid>
              <a:tr h="3442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 dimming method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Support Type2 (R/GB, 6CH), Type3 (MONO, 12CH) : Type1(R/G/B, 12CH)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 지원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744549"/>
                  </a:ext>
                </a:extLst>
              </a:tr>
              <a:tr h="3729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Flexible Data mapping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 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개별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사용으로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single /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time_sharing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ch.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가능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665495"/>
                  </a:ext>
                </a:extLst>
              </a:tr>
              <a:tr h="291683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4-5 color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 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RGBC / RRGBC type, RGBCM / RRGBCM type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783473"/>
                  </a:ext>
                </a:extLst>
              </a:tr>
              <a:tr h="3347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따른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max. 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Level / VREF 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개별 지원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861854"/>
                  </a:ext>
                </a:extLst>
              </a:tr>
              <a:tr h="310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증가로 인한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FB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방법 변경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356798"/>
                  </a:ext>
                </a:extLst>
              </a:tr>
              <a:tr h="320373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GT1009A0R0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표현하지 못하는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data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존재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개선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417677"/>
                  </a:ext>
                </a:extLst>
              </a:tr>
              <a:tr h="2964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parity ( LD transfer 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개선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54416"/>
                  </a:ext>
                </a:extLst>
              </a:tr>
              <a:tr h="2964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방법 변경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981753"/>
                  </a:ext>
                </a:extLst>
              </a:tr>
              <a:tr h="2964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분주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확대 적용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(EMI 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소비 전류 개선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776933"/>
                  </a:ext>
                </a:extLst>
              </a:tr>
              <a:tr h="301246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강화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design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SCAN TEST 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39696"/>
                  </a:ext>
                </a:extLst>
              </a:tr>
              <a:tr h="3251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 clock : full function test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 off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926679"/>
                  </a:ext>
                </a:extLst>
              </a:tr>
              <a:tr h="2916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Logic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HVS TEST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LDO off,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전원 사용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23744"/>
                  </a:ext>
                </a:extLst>
              </a:tr>
              <a:tr h="282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 / OPEN / SHORT serial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503845"/>
                  </a:ext>
                </a:extLst>
              </a:tr>
              <a:tr h="2869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Trimming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간편화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 SW_SEL, TEST : setting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만으로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ch.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offset trimming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782" marR="4782" marT="47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355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378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1D265-B324-818C-7D3D-8885815B6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CD6CC73-0ADE-1DE6-B2A7-A6000DBF0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75" y="65088"/>
            <a:ext cx="10515600" cy="439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GT1009A0R0 </a:t>
            </a:r>
            <a:r>
              <a:rPr lang="ko-KR" altLang="en-US" dirty="0"/>
              <a:t>대비 </a:t>
            </a:r>
            <a:r>
              <a:rPr lang="en-US" altLang="ko-KR" dirty="0"/>
              <a:t>Block</a:t>
            </a:r>
            <a:r>
              <a:rPr lang="ko-KR" altLang="en-US" dirty="0"/>
              <a:t> 별 수정 사항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58D2CC1-C3F9-87BC-D6D4-2C289E78C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734572"/>
              </p:ext>
            </p:extLst>
          </p:nvPr>
        </p:nvGraphicFramePr>
        <p:xfrm>
          <a:off x="1081365" y="1188063"/>
          <a:ext cx="4207310" cy="4351333"/>
        </p:xfrm>
        <a:graphic>
          <a:graphicData uri="http://schemas.openxmlformats.org/drawingml/2006/table">
            <a:tbl>
              <a:tblPr/>
              <a:tblGrid>
                <a:gridCol w="730657">
                  <a:extLst>
                    <a:ext uri="{9D8B030D-6E8A-4147-A177-3AD203B41FA5}">
                      <a16:colId xmlns:a16="http://schemas.microsoft.com/office/drawing/2014/main" val="1327367627"/>
                    </a:ext>
                  </a:extLst>
                </a:gridCol>
                <a:gridCol w="394283">
                  <a:extLst>
                    <a:ext uri="{9D8B030D-6E8A-4147-A177-3AD203B41FA5}">
                      <a16:colId xmlns:a16="http://schemas.microsoft.com/office/drawing/2014/main" val="2660063214"/>
                    </a:ext>
                  </a:extLst>
                </a:gridCol>
                <a:gridCol w="3082370">
                  <a:extLst>
                    <a:ext uri="{9D8B030D-6E8A-4147-A177-3AD203B41FA5}">
                      <a16:colId xmlns:a16="http://schemas.microsoft.com/office/drawing/2014/main" val="819071160"/>
                    </a:ext>
                  </a:extLst>
                </a:gridCol>
              </a:tblGrid>
              <a:tr h="28379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FLL_CONTROL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( 1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분주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--&gt; 2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분주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clock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259463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 bypass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추가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153897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O_OSC_CCTL bit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398471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register default value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249221"/>
                  </a:ext>
                </a:extLst>
              </a:tr>
              <a:tr h="28379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DIN_DECODER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O_DIN_DONE async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error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674708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LD_SIZE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변경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설정된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LD_SIZE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만큼만 유효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648555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timeout_counter bit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( 10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 --&gt; 11 bit )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578143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flag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O_TIMEOUT_EXPIRED_FLAG, O_CHECKSUM_ERR_FLAG )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015705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parity ( LD transfer )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개선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986847"/>
                  </a:ext>
                </a:extLst>
              </a:tr>
              <a:tr h="283798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DOUT_ENCODER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추가에 따른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853573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OPEN_DET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시점 변경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 falling --&gt; PWM rising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시점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546215"/>
                  </a:ext>
                </a:extLst>
              </a:tr>
              <a:tr h="37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error flag reset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변경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 fault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미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 flag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해당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 fault read / reg. fault read --&gt; onlyt reg. fault read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676005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register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변경에 따른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register read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854089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OPEN_FB_EN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추가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164603"/>
                  </a:ext>
                </a:extLst>
              </a:tr>
              <a:tr h="283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 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CH. 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 / OPEN / SHORT serial 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 TEST )</a:t>
                      </a:r>
                    </a:p>
                  </a:txBody>
                  <a:tcPr marL="3547" marR="3547" marT="35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94608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6DCB2E6-943F-1BB6-388F-3F6D563C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191005"/>
              </p:ext>
            </p:extLst>
          </p:nvPr>
        </p:nvGraphicFramePr>
        <p:xfrm>
          <a:off x="5732222" y="1188063"/>
          <a:ext cx="4837906" cy="4351333"/>
        </p:xfrm>
        <a:graphic>
          <a:graphicData uri="http://schemas.openxmlformats.org/drawingml/2006/table">
            <a:tbl>
              <a:tblPr/>
              <a:tblGrid>
                <a:gridCol w="995749">
                  <a:extLst>
                    <a:ext uri="{9D8B030D-6E8A-4147-A177-3AD203B41FA5}">
                      <a16:colId xmlns:a16="http://schemas.microsoft.com/office/drawing/2014/main" val="325488343"/>
                    </a:ext>
                  </a:extLst>
                </a:gridCol>
                <a:gridCol w="578840">
                  <a:extLst>
                    <a:ext uri="{9D8B030D-6E8A-4147-A177-3AD203B41FA5}">
                      <a16:colId xmlns:a16="http://schemas.microsoft.com/office/drawing/2014/main" val="4285716886"/>
                    </a:ext>
                  </a:extLst>
                </a:gridCol>
                <a:gridCol w="3263317">
                  <a:extLst>
                    <a:ext uri="{9D8B030D-6E8A-4147-A177-3AD203B41FA5}">
                      <a16:colId xmlns:a16="http://schemas.microsoft.com/office/drawing/2014/main" val="2848918702"/>
                    </a:ext>
                  </a:extLst>
                </a:gridCol>
              </a:tblGrid>
              <a:tr h="31842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FRAME_BUFFER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flexible data mapping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추가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92282"/>
                  </a:ext>
                </a:extLst>
              </a:tr>
              <a:tr h="318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 1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818006"/>
                  </a:ext>
                </a:extLst>
              </a:tr>
              <a:tr h="318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 buffer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단수 축소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( 3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--&gt; 2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184476"/>
                  </a:ext>
                </a:extLst>
              </a:tr>
              <a:tr h="31842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EFUSE CONTROL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efuse type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( 64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bit, #4 --&gt; 128 bit, #2)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523025"/>
                  </a:ext>
                </a:extLst>
              </a:tr>
              <a:tr h="318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trimming register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826655"/>
                  </a:ext>
                </a:extLst>
              </a:tr>
              <a:tr h="31842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CONTROLLER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register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07144"/>
                  </a:ext>
                </a:extLst>
              </a:tr>
              <a:tr h="318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register write PROTECTION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781825"/>
                  </a:ext>
                </a:extLst>
              </a:tr>
              <a:tr h="3184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FSYNC_CONTROLLER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SVSYNC falling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변경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SV_MAKS counter value --&gt; SVSYNC falling edge )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824420"/>
                  </a:ext>
                </a:extLst>
              </a:tr>
              <a:tr h="31842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PWM_CONTROLLER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표현하지 못하는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data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존재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개선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601992"/>
                  </a:ext>
                </a:extLst>
              </a:tr>
              <a:tr h="318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 1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726893"/>
                  </a:ext>
                </a:extLst>
              </a:tr>
              <a:tr h="318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추가에 따른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VREF etc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ch. mapping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310910"/>
                  </a:ext>
                </a:extLst>
              </a:tr>
              <a:tr h="3192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TRMMING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방법 변경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( 5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VREF/LEVEL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SVSYNC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없이 설정 가능 하도록 변경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049433"/>
                  </a:ext>
                </a:extLst>
              </a:tr>
              <a:tr h="529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CH_DELAY_EN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추가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LD_MODE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CH_DELAY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기존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SVSYNC NO.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따라서 변경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'-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16 </a:t>
                      </a:r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SVSYNC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LD_MODE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CH_DEALY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1/2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축소</a:t>
                      </a:r>
                    </a:p>
                  </a:txBody>
                  <a:tcPr marL="3980" marR="3980" marT="39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162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79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798F-A343-2CB5-27F5-31012CBC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Type </a:t>
            </a:r>
            <a:r>
              <a:rPr lang="ko-KR" altLang="en-US" dirty="0"/>
              <a:t>별 </a:t>
            </a:r>
            <a:r>
              <a:rPr lang="en-US" altLang="ko-KR" dirty="0"/>
              <a:t>VREF / CURR LEVEL / FB</a:t>
            </a:r>
            <a:r>
              <a:rPr lang="ko-KR" altLang="en-US" dirty="0"/>
              <a:t> </a:t>
            </a:r>
            <a:r>
              <a:rPr lang="en-US" altLang="ko-KR" dirty="0"/>
              <a:t>LEVEL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SHORT</a:t>
            </a:r>
            <a:r>
              <a:rPr lang="ko-KR" altLang="en-US" dirty="0"/>
              <a:t> </a:t>
            </a:r>
            <a:r>
              <a:rPr lang="en-US" altLang="ko-KR" dirty="0"/>
              <a:t>LEVEL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52665B7-3B3B-E13B-493C-B1B2C9EBD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3B51EC4-C3D1-9354-C079-13BA625C3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181570"/>
              </p:ext>
            </p:extLst>
          </p:nvPr>
        </p:nvGraphicFramePr>
        <p:xfrm>
          <a:off x="1102446" y="715033"/>
          <a:ext cx="2714538" cy="1273158"/>
        </p:xfrm>
        <a:graphic>
          <a:graphicData uri="http://schemas.openxmlformats.org/drawingml/2006/table">
            <a:tbl>
              <a:tblPr/>
              <a:tblGrid>
                <a:gridCol w="2714538">
                  <a:extLst>
                    <a:ext uri="{9D8B030D-6E8A-4147-A177-3AD203B41FA5}">
                      <a16:colId xmlns:a16="http://schemas.microsoft.com/office/drawing/2014/main" val="282196833"/>
                    </a:ext>
                  </a:extLst>
                </a:gridCol>
              </a:tblGrid>
              <a:tr h="256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MAX_CURR1_VREF [11:0]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980464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MAX_CURR2_VREF [11:0]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934836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MAX_CURR3_VREF [11:0]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6213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MAX_CURR4_VREF [11:0]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54651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MAX_CURR5_VREF [11:0]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12488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ACC73E6-D689-D36C-5A35-6292C6085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568944"/>
              </p:ext>
            </p:extLst>
          </p:nvPr>
        </p:nvGraphicFramePr>
        <p:xfrm>
          <a:off x="1102446" y="2155842"/>
          <a:ext cx="2714538" cy="1273158"/>
        </p:xfrm>
        <a:graphic>
          <a:graphicData uri="http://schemas.openxmlformats.org/drawingml/2006/table">
            <a:tbl>
              <a:tblPr/>
              <a:tblGrid>
                <a:gridCol w="2714538">
                  <a:extLst>
                    <a:ext uri="{9D8B030D-6E8A-4147-A177-3AD203B41FA5}">
                      <a16:colId xmlns:a16="http://schemas.microsoft.com/office/drawing/2014/main" val="3472341763"/>
                    </a:ext>
                  </a:extLst>
                </a:gridCol>
              </a:tblGrid>
              <a:tr h="256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MAX_CURR1_LEVEL 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097783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MAX_CURR2_LEVEL 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678517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MAX_CURR3_LEVEL 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546276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MAX_CURR4_LEVEL 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90176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MAX_CURR5_LEVEL 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26225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396A24E-C498-4898-44DB-5A6EA063F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17066"/>
              </p:ext>
            </p:extLst>
          </p:nvPr>
        </p:nvGraphicFramePr>
        <p:xfrm>
          <a:off x="1102446" y="3596651"/>
          <a:ext cx="2714538" cy="1273158"/>
        </p:xfrm>
        <a:graphic>
          <a:graphicData uri="http://schemas.openxmlformats.org/drawingml/2006/table">
            <a:tbl>
              <a:tblPr/>
              <a:tblGrid>
                <a:gridCol w="2714538">
                  <a:extLst>
                    <a:ext uri="{9D8B030D-6E8A-4147-A177-3AD203B41FA5}">
                      <a16:colId xmlns:a16="http://schemas.microsoft.com/office/drawing/2014/main" val="1030560614"/>
                    </a:ext>
                  </a:extLst>
                </a:gridCol>
              </a:tblGrid>
              <a:tr h="256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FB_LEVEL1[3:0]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466978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FB_LEVEL2[3:0]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8672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FB_LEVEL3[3:0]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614634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FB_LEVEL4 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960082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FB_LEVEL5 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5057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E7CDF52-9E6B-0847-3C83-8B465A7F4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015534"/>
              </p:ext>
            </p:extLst>
          </p:nvPr>
        </p:nvGraphicFramePr>
        <p:xfrm>
          <a:off x="1102446" y="5037460"/>
          <a:ext cx="2714538" cy="1273158"/>
        </p:xfrm>
        <a:graphic>
          <a:graphicData uri="http://schemas.openxmlformats.org/drawingml/2006/table">
            <a:tbl>
              <a:tblPr/>
              <a:tblGrid>
                <a:gridCol w="2714538">
                  <a:extLst>
                    <a:ext uri="{9D8B030D-6E8A-4147-A177-3AD203B41FA5}">
                      <a16:colId xmlns:a16="http://schemas.microsoft.com/office/drawing/2014/main" val="1030560614"/>
                    </a:ext>
                  </a:extLst>
                </a:gridCol>
              </a:tblGrid>
              <a:tr h="256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SHORT_LEVEL1[3:0]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466978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SHORT_LEVEL2[3:0]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8672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SHORT_LEVEL3[3:0]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614634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SHORT_LEVEL4 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960082"/>
                  </a:ext>
                </a:extLst>
              </a:tr>
              <a:tr h="2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SHORT_LEVEL5 [3:0]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50578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23CB22D-6448-CD0D-E386-0294AA836660}"/>
              </a:ext>
            </a:extLst>
          </p:cNvPr>
          <p:cNvCxnSpPr/>
          <p:nvPr/>
        </p:nvCxnSpPr>
        <p:spPr>
          <a:xfrm>
            <a:off x="3938624" y="847288"/>
            <a:ext cx="2768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395162-075D-082F-726C-7C1D1698B854}"/>
              </a:ext>
            </a:extLst>
          </p:cNvPr>
          <p:cNvSpPr txBox="1"/>
          <p:nvPr/>
        </p:nvSpPr>
        <p:spPr>
          <a:xfrm>
            <a:off x="4278378" y="708788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Single data</a:t>
            </a:r>
            <a:endParaRPr lang="ko-KR" altLang="en-US" sz="1200" dirty="0"/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791E26FD-512A-BDB1-729E-D02CF1D3BD46}"/>
              </a:ext>
            </a:extLst>
          </p:cNvPr>
          <p:cNvSpPr/>
          <p:nvPr/>
        </p:nvSpPr>
        <p:spPr>
          <a:xfrm>
            <a:off x="3926041" y="1061209"/>
            <a:ext cx="188752" cy="364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97884C26-C8CD-76D4-E753-092C315BF5AA}"/>
              </a:ext>
            </a:extLst>
          </p:cNvPr>
          <p:cNvSpPr/>
          <p:nvPr/>
        </p:nvSpPr>
        <p:spPr>
          <a:xfrm>
            <a:off x="3925026" y="1560480"/>
            <a:ext cx="188752" cy="364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A3AAC-C808-FE45-BACE-010C6186C66F}"/>
              </a:ext>
            </a:extLst>
          </p:cNvPr>
          <p:cNvSpPr txBox="1"/>
          <p:nvPr/>
        </p:nvSpPr>
        <p:spPr>
          <a:xfrm>
            <a:off x="4278377" y="1105043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 분할</a:t>
            </a:r>
            <a:r>
              <a:rPr lang="en-US" altLang="ko-KR" sz="1200" dirty="0"/>
              <a:t> data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A22758-A9AB-23ED-5CCA-9B60D0455BB4}"/>
              </a:ext>
            </a:extLst>
          </p:cNvPr>
          <p:cNvSpPr txBox="1"/>
          <p:nvPr/>
        </p:nvSpPr>
        <p:spPr>
          <a:xfrm>
            <a:off x="4278377" y="1604314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 분할</a:t>
            </a:r>
            <a:r>
              <a:rPr lang="en-US" altLang="ko-KR" sz="1200" dirty="0"/>
              <a:t> data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3169DEA-4892-6DC8-80CF-A8E57DA1EA19}"/>
              </a:ext>
            </a:extLst>
          </p:cNvPr>
          <p:cNvCxnSpPr/>
          <p:nvPr/>
        </p:nvCxnSpPr>
        <p:spPr>
          <a:xfrm>
            <a:off x="6198850" y="1601043"/>
            <a:ext cx="2768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5F4D60F-15A4-90FD-1CF5-CA6E1D63DF07}"/>
              </a:ext>
            </a:extLst>
          </p:cNvPr>
          <p:cNvSpPr txBox="1"/>
          <p:nvPr/>
        </p:nvSpPr>
        <p:spPr>
          <a:xfrm>
            <a:off x="6551187" y="1459620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Single data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CC462A-7A70-ADD2-A0DD-95A03637909B}"/>
              </a:ext>
            </a:extLst>
          </p:cNvPr>
          <p:cNvSpPr txBox="1"/>
          <p:nvPr/>
        </p:nvSpPr>
        <p:spPr>
          <a:xfrm>
            <a:off x="5362974" y="1616105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OR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12ED89-E3F4-CA8F-C1C1-EDFEBD0F107C}"/>
              </a:ext>
            </a:extLst>
          </p:cNvPr>
          <p:cNvSpPr txBox="1"/>
          <p:nvPr/>
        </p:nvSpPr>
        <p:spPr>
          <a:xfrm>
            <a:off x="8375018" y="3058042"/>
            <a:ext cx="2576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1-pixels </a:t>
            </a:r>
            <a:r>
              <a:rPr lang="ko-KR" altLang="en-US" sz="1600" dirty="0"/>
              <a:t>당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Single data max.</a:t>
            </a:r>
            <a:r>
              <a:rPr lang="ko-KR" altLang="en-US" sz="1600" dirty="0"/>
              <a:t> </a:t>
            </a:r>
            <a:r>
              <a:rPr lang="en-US" altLang="ko-KR" sz="1600" dirty="0"/>
              <a:t>#2 </a:t>
            </a:r>
            <a:r>
              <a:rPr lang="ko-KR" altLang="en-US" sz="1600" dirty="0"/>
              <a:t>지원</a:t>
            </a:r>
            <a:endParaRPr lang="en-US" altLang="ko-KR" sz="1600" dirty="0"/>
          </a:p>
          <a:p>
            <a:r>
              <a:rPr lang="ko-KR" altLang="en-US" sz="1600" dirty="0"/>
              <a:t>시분할 </a:t>
            </a:r>
            <a:r>
              <a:rPr lang="en-US" altLang="ko-KR" sz="1600" dirty="0"/>
              <a:t>data</a:t>
            </a:r>
            <a:r>
              <a:rPr lang="ko-KR" altLang="en-US" sz="1600" dirty="0"/>
              <a:t> </a:t>
            </a:r>
            <a:r>
              <a:rPr lang="en-US" altLang="ko-KR" sz="1600" dirty="0"/>
              <a:t>max.</a:t>
            </a:r>
            <a:r>
              <a:rPr lang="ko-KR" altLang="en-US" sz="1600" dirty="0"/>
              <a:t> </a:t>
            </a:r>
            <a:r>
              <a:rPr lang="en-US" altLang="ko-KR" sz="1600" dirty="0"/>
              <a:t>#2</a:t>
            </a:r>
            <a:r>
              <a:rPr lang="ko-KR" altLang="en-US" sz="1600" dirty="0"/>
              <a:t> 지원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8E7729B-2A5B-8358-0A13-53D7AD15F4D7}"/>
              </a:ext>
            </a:extLst>
          </p:cNvPr>
          <p:cNvCxnSpPr/>
          <p:nvPr/>
        </p:nvCxnSpPr>
        <p:spPr>
          <a:xfrm>
            <a:off x="3952222" y="2290863"/>
            <a:ext cx="2768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FDC83BF-EE63-A8B9-B7E2-85E42D211CEE}"/>
              </a:ext>
            </a:extLst>
          </p:cNvPr>
          <p:cNvSpPr txBox="1"/>
          <p:nvPr/>
        </p:nvSpPr>
        <p:spPr>
          <a:xfrm>
            <a:off x="4291976" y="2152363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Single data</a:t>
            </a:r>
            <a:endParaRPr lang="ko-KR" altLang="en-US" sz="1200" dirty="0"/>
          </a:p>
        </p:txBody>
      </p:sp>
      <p:sp>
        <p:nvSpPr>
          <p:cNvPr id="47" name="오른쪽 중괄호 46">
            <a:extLst>
              <a:ext uri="{FF2B5EF4-FFF2-40B4-BE49-F238E27FC236}">
                <a16:creationId xmlns:a16="http://schemas.microsoft.com/office/drawing/2014/main" id="{545DA55A-95F7-C319-36D2-DCE15A81CC54}"/>
              </a:ext>
            </a:extLst>
          </p:cNvPr>
          <p:cNvSpPr/>
          <p:nvPr/>
        </p:nvSpPr>
        <p:spPr>
          <a:xfrm>
            <a:off x="3939639" y="2504784"/>
            <a:ext cx="188752" cy="364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중괄호 47">
            <a:extLst>
              <a:ext uri="{FF2B5EF4-FFF2-40B4-BE49-F238E27FC236}">
                <a16:creationId xmlns:a16="http://schemas.microsoft.com/office/drawing/2014/main" id="{610967E8-830F-8585-4A7C-046E657E6A01}"/>
              </a:ext>
            </a:extLst>
          </p:cNvPr>
          <p:cNvSpPr/>
          <p:nvPr/>
        </p:nvSpPr>
        <p:spPr>
          <a:xfrm>
            <a:off x="3938624" y="3004055"/>
            <a:ext cx="188752" cy="364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EDE773-5770-81F5-C4D6-F8A5719C54BA}"/>
              </a:ext>
            </a:extLst>
          </p:cNvPr>
          <p:cNvSpPr txBox="1"/>
          <p:nvPr/>
        </p:nvSpPr>
        <p:spPr>
          <a:xfrm>
            <a:off x="4291975" y="2548618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 분할</a:t>
            </a:r>
            <a:r>
              <a:rPr lang="en-US" altLang="ko-KR" sz="1200" dirty="0"/>
              <a:t> data</a:t>
            </a:r>
            <a:endParaRPr lang="ko-KR" alt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BD2E6A-863C-74E9-2F67-C04542263F25}"/>
              </a:ext>
            </a:extLst>
          </p:cNvPr>
          <p:cNvSpPr txBox="1"/>
          <p:nvPr/>
        </p:nvSpPr>
        <p:spPr>
          <a:xfrm>
            <a:off x="4291975" y="3047889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 분할</a:t>
            </a:r>
            <a:r>
              <a:rPr lang="en-US" altLang="ko-KR" sz="1200" dirty="0"/>
              <a:t> data</a:t>
            </a:r>
            <a:endParaRPr lang="ko-KR" altLang="en-US" sz="1200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9DD9727-ABFA-BDF1-0A59-1AC0DA22373C}"/>
              </a:ext>
            </a:extLst>
          </p:cNvPr>
          <p:cNvCxnSpPr/>
          <p:nvPr/>
        </p:nvCxnSpPr>
        <p:spPr>
          <a:xfrm>
            <a:off x="6212448" y="3044618"/>
            <a:ext cx="2768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E2D1279-C8F1-E059-B0D1-95369AA62251}"/>
              </a:ext>
            </a:extLst>
          </p:cNvPr>
          <p:cNvSpPr txBox="1"/>
          <p:nvPr/>
        </p:nvSpPr>
        <p:spPr>
          <a:xfrm>
            <a:off x="6564785" y="2903195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Single data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5AEBCA-983A-0E48-AAFC-D45F23B911B0}"/>
              </a:ext>
            </a:extLst>
          </p:cNvPr>
          <p:cNvSpPr txBox="1"/>
          <p:nvPr/>
        </p:nvSpPr>
        <p:spPr>
          <a:xfrm>
            <a:off x="5376572" y="3059680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OR</a:t>
            </a:r>
            <a:endParaRPr lang="ko-KR" altLang="en-US" sz="12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3021BC6-C8BB-A2C4-7D98-DF0B533AC01B}"/>
              </a:ext>
            </a:extLst>
          </p:cNvPr>
          <p:cNvCxnSpPr/>
          <p:nvPr/>
        </p:nvCxnSpPr>
        <p:spPr>
          <a:xfrm>
            <a:off x="3952222" y="3713116"/>
            <a:ext cx="2768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00E2BF7-55F6-65A1-F46C-CB928A521DE2}"/>
              </a:ext>
            </a:extLst>
          </p:cNvPr>
          <p:cNvSpPr txBox="1"/>
          <p:nvPr/>
        </p:nvSpPr>
        <p:spPr>
          <a:xfrm>
            <a:off x="4291976" y="3574616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Single data</a:t>
            </a:r>
            <a:endParaRPr lang="ko-KR" altLang="en-US" sz="1200" dirty="0"/>
          </a:p>
        </p:txBody>
      </p:sp>
      <p:sp>
        <p:nvSpPr>
          <p:cNvPr id="56" name="오른쪽 중괄호 55">
            <a:extLst>
              <a:ext uri="{FF2B5EF4-FFF2-40B4-BE49-F238E27FC236}">
                <a16:creationId xmlns:a16="http://schemas.microsoft.com/office/drawing/2014/main" id="{491DE3CC-D209-2559-58DF-A67857DA5872}"/>
              </a:ext>
            </a:extLst>
          </p:cNvPr>
          <p:cNvSpPr/>
          <p:nvPr/>
        </p:nvSpPr>
        <p:spPr>
          <a:xfrm>
            <a:off x="3939639" y="3927037"/>
            <a:ext cx="188752" cy="364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오른쪽 중괄호 56">
            <a:extLst>
              <a:ext uri="{FF2B5EF4-FFF2-40B4-BE49-F238E27FC236}">
                <a16:creationId xmlns:a16="http://schemas.microsoft.com/office/drawing/2014/main" id="{11B48408-E60F-BF9E-B467-CF64C134AB70}"/>
              </a:ext>
            </a:extLst>
          </p:cNvPr>
          <p:cNvSpPr/>
          <p:nvPr/>
        </p:nvSpPr>
        <p:spPr>
          <a:xfrm>
            <a:off x="3938624" y="4426308"/>
            <a:ext cx="188752" cy="364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FDB985-F51D-0D04-11A6-CAA974340147}"/>
              </a:ext>
            </a:extLst>
          </p:cNvPr>
          <p:cNvSpPr txBox="1"/>
          <p:nvPr/>
        </p:nvSpPr>
        <p:spPr>
          <a:xfrm>
            <a:off x="4291975" y="3970871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 분할</a:t>
            </a:r>
            <a:r>
              <a:rPr lang="en-US" altLang="ko-KR" sz="1200" dirty="0"/>
              <a:t> data</a:t>
            </a:r>
            <a:endParaRPr lang="ko-KR" altLang="en-US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97C399-E22B-A383-9266-CFB9455C94F6}"/>
              </a:ext>
            </a:extLst>
          </p:cNvPr>
          <p:cNvSpPr txBox="1"/>
          <p:nvPr/>
        </p:nvSpPr>
        <p:spPr>
          <a:xfrm>
            <a:off x="4291975" y="4470142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 분할</a:t>
            </a:r>
            <a:r>
              <a:rPr lang="en-US" altLang="ko-KR" sz="1200" dirty="0"/>
              <a:t> data</a:t>
            </a:r>
            <a:endParaRPr lang="ko-KR" altLang="en-US" sz="12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ED34240-1238-C4F3-CD1D-FE063735BA98}"/>
              </a:ext>
            </a:extLst>
          </p:cNvPr>
          <p:cNvCxnSpPr/>
          <p:nvPr/>
        </p:nvCxnSpPr>
        <p:spPr>
          <a:xfrm>
            <a:off x="6212448" y="4466871"/>
            <a:ext cx="2768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9920A81-EFA1-4607-4C46-8FE3C7312286}"/>
              </a:ext>
            </a:extLst>
          </p:cNvPr>
          <p:cNvSpPr txBox="1"/>
          <p:nvPr/>
        </p:nvSpPr>
        <p:spPr>
          <a:xfrm>
            <a:off x="6564785" y="4325448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Single data</a:t>
            </a:r>
            <a:endParaRPr lang="ko-KR" alt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C95A23-0F4F-22F9-D971-E0EB54730091}"/>
              </a:ext>
            </a:extLst>
          </p:cNvPr>
          <p:cNvSpPr txBox="1"/>
          <p:nvPr/>
        </p:nvSpPr>
        <p:spPr>
          <a:xfrm>
            <a:off x="5376572" y="4481933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OR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ACA9EB4-D313-5C1E-C8B5-2E0DAA5E14D5}"/>
              </a:ext>
            </a:extLst>
          </p:cNvPr>
          <p:cNvCxnSpPr/>
          <p:nvPr/>
        </p:nvCxnSpPr>
        <p:spPr>
          <a:xfrm>
            <a:off x="3938624" y="5165177"/>
            <a:ext cx="2768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9544258-A1B1-EBF6-B3D8-EC13913A7081}"/>
              </a:ext>
            </a:extLst>
          </p:cNvPr>
          <p:cNvSpPr txBox="1"/>
          <p:nvPr/>
        </p:nvSpPr>
        <p:spPr>
          <a:xfrm>
            <a:off x="4278378" y="5026677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Single data</a:t>
            </a:r>
            <a:endParaRPr lang="ko-KR" altLang="en-US" sz="1200" dirty="0"/>
          </a:p>
        </p:txBody>
      </p:sp>
      <p:sp>
        <p:nvSpPr>
          <p:cNvPr id="65" name="오른쪽 중괄호 64">
            <a:extLst>
              <a:ext uri="{FF2B5EF4-FFF2-40B4-BE49-F238E27FC236}">
                <a16:creationId xmlns:a16="http://schemas.microsoft.com/office/drawing/2014/main" id="{06F65BD2-2710-03BC-339B-860EB574EDD8}"/>
              </a:ext>
            </a:extLst>
          </p:cNvPr>
          <p:cNvSpPr/>
          <p:nvPr/>
        </p:nvSpPr>
        <p:spPr>
          <a:xfrm>
            <a:off x="3926041" y="5379098"/>
            <a:ext cx="188752" cy="364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오른쪽 중괄호 65">
            <a:extLst>
              <a:ext uri="{FF2B5EF4-FFF2-40B4-BE49-F238E27FC236}">
                <a16:creationId xmlns:a16="http://schemas.microsoft.com/office/drawing/2014/main" id="{26847BC2-FDD5-2FDF-6D20-84706A44655F}"/>
              </a:ext>
            </a:extLst>
          </p:cNvPr>
          <p:cNvSpPr/>
          <p:nvPr/>
        </p:nvSpPr>
        <p:spPr>
          <a:xfrm>
            <a:off x="3925026" y="5878369"/>
            <a:ext cx="188752" cy="364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E27430-3408-A512-49EA-B3080718945E}"/>
              </a:ext>
            </a:extLst>
          </p:cNvPr>
          <p:cNvSpPr txBox="1"/>
          <p:nvPr/>
        </p:nvSpPr>
        <p:spPr>
          <a:xfrm>
            <a:off x="4278377" y="5422932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 분할</a:t>
            </a:r>
            <a:r>
              <a:rPr lang="en-US" altLang="ko-KR" sz="1200" dirty="0"/>
              <a:t> data</a:t>
            </a:r>
            <a:endParaRPr lang="ko-KR" altLang="en-US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9EAEF6-7A63-DDE6-8C91-1436D0AB0226}"/>
              </a:ext>
            </a:extLst>
          </p:cNvPr>
          <p:cNvSpPr txBox="1"/>
          <p:nvPr/>
        </p:nvSpPr>
        <p:spPr>
          <a:xfrm>
            <a:off x="4278377" y="5922203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 분할</a:t>
            </a:r>
            <a:r>
              <a:rPr lang="en-US" altLang="ko-KR" sz="1200" dirty="0"/>
              <a:t> data</a:t>
            </a:r>
            <a:endParaRPr lang="ko-KR" altLang="en-US" sz="1200" dirty="0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2578FB5-2E50-456A-1CE6-666A6FCFEB92}"/>
              </a:ext>
            </a:extLst>
          </p:cNvPr>
          <p:cNvCxnSpPr/>
          <p:nvPr/>
        </p:nvCxnSpPr>
        <p:spPr>
          <a:xfrm>
            <a:off x="6198850" y="5918932"/>
            <a:ext cx="2768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3EAACF-B4A0-0FB5-1430-9C801B80BF79}"/>
              </a:ext>
            </a:extLst>
          </p:cNvPr>
          <p:cNvSpPr txBox="1"/>
          <p:nvPr/>
        </p:nvSpPr>
        <p:spPr>
          <a:xfrm>
            <a:off x="6551187" y="5777509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Single data</a:t>
            </a:r>
            <a:endParaRPr lang="ko-KR" alt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33C6D6-660C-638D-AE2A-DFFC1FEDB99B}"/>
              </a:ext>
            </a:extLst>
          </p:cNvPr>
          <p:cNvSpPr txBox="1"/>
          <p:nvPr/>
        </p:nvSpPr>
        <p:spPr>
          <a:xfrm>
            <a:off x="5362974" y="5933994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74369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24F1845-1A93-23AA-3568-3A4D3DE03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032311C-9D57-1946-8799-FB40C922B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75" y="10029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Flexible Data type </a:t>
            </a:r>
            <a:r>
              <a:rPr lang="ko-KR" altLang="en-US" sz="2000" dirty="0"/>
              <a:t>선택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0E79380-5B47-AE06-E9DE-0561DBF90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122136"/>
              </p:ext>
            </p:extLst>
          </p:nvPr>
        </p:nvGraphicFramePr>
        <p:xfrm>
          <a:off x="732660" y="838200"/>
          <a:ext cx="7670796" cy="2590800"/>
        </p:xfrm>
        <a:graphic>
          <a:graphicData uri="http://schemas.openxmlformats.org/drawingml/2006/table">
            <a:tbl>
              <a:tblPr/>
              <a:tblGrid>
                <a:gridCol w="498193">
                  <a:extLst>
                    <a:ext uri="{9D8B030D-6E8A-4147-A177-3AD203B41FA5}">
                      <a16:colId xmlns:a16="http://schemas.microsoft.com/office/drawing/2014/main" val="2621960171"/>
                    </a:ext>
                  </a:extLst>
                </a:gridCol>
                <a:gridCol w="621035">
                  <a:extLst>
                    <a:ext uri="{9D8B030D-6E8A-4147-A177-3AD203B41FA5}">
                      <a16:colId xmlns:a16="http://schemas.microsoft.com/office/drawing/2014/main" val="2264662220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2498654242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603576338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1556812508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2894854231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2459811332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995340106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2354346556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4014774776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935230511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1695685277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361339838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3371881115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CHx_LD_TYPE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091255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 sequence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259206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LD_SIZE = 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9569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071432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CHx_LD_TYPE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271011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 sequence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155900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LD_SIZE = 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0676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795038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CHx_LD_TYPE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00723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 sequence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788703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LD_SIZE = 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4393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means the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CHx_EN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62951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A8C46DB-E764-E106-5EB9-7AD39D0FF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229"/>
              </p:ext>
            </p:extLst>
          </p:nvPr>
        </p:nvGraphicFramePr>
        <p:xfrm>
          <a:off x="814544" y="3670753"/>
          <a:ext cx="7588912" cy="2740660"/>
        </p:xfrm>
        <a:graphic>
          <a:graphicData uri="http://schemas.openxmlformats.org/drawingml/2006/table">
            <a:tbl>
              <a:tblPr/>
              <a:tblGrid>
                <a:gridCol w="492875">
                  <a:extLst>
                    <a:ext uri="{9D8B030D-6E8A-4147-A177-3AD203B41FA5}">
                      <a16:colId xmlns:a16="http://schemas.microsoft.com/office/drawing/2014/main" val="2724498196"/>
                    </a:ext>
                  </a:extLst>
                </a:gridCol>
                <a:gridCol w="614405">
                  <a:extLst>
                    <a:ext uri="{9D8B030D-6E8A-4147-A177-3AD203B41FA5}">
                      <a16:colId xmlns:a16="http://schemas.microsoft.com/office/drawing/2014/main" val="3834184188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37524035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2241060183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2694386878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3370625169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3237411978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2574709981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752495710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3404929212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2216045396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1511953326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657490016"/>
                    </a:ext>
                  </a:extLst>
                </a:gridCol>
                <a:gridCol w="540136">
                  <a:extLst>
                    <a:ext uri="{9D8B030D-6E8A-4147-A177-3AD203B41FA5}">
                      <a16:colId xmlns:a16="http://schemas.microsoft.com/office/drawing/2014/main" val="459542567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CHx_LD_TYPE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371485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 sequence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41196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LD_SIZE = 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01763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930817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CHx_LD_TYPE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070761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 sequence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328200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LD_SIZE = 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635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530203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CHx_LD_TYPE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208134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 sequence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11330"/>
                  </a:ext>
                </a:extLst>
              </a:tr>
              <a:tr h="215900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LD_SIZE = 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86059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means the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CHx_EN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85483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9EFA76-7FE0-1A26-72E0-557E690D9EAE}"/>
              </a:ext>
            </a:extLst>
          </p:cNvPr>
          <p:cNvSpPr txBox="1"/>
          <p:nvPr/>
        </p:nvSpPr>
        <p:spPr>
          <a:xfrm>
            <a:off x="8564112" y="2925553"/>
            <a:ext cx="2003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R+GB TYPE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DF262-59E9-A70A-8783-F3BB3970C5F7}"/>
              </a:ext>
            </a:extLst>
          </p:cNvPr>
          <p:cNvSpPr txBox="1"/>
          <p:nvPr/>
        </p:nvSpPr>
        <p:spPr>
          <a:xfrm>
            <a:off x="8564112" y="5758235"/>
            <a:ext cx="2003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BGB TYPE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015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D6E8821-69C0-4270-260D-E4D06A49B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5F2D1E7-DBC2-B94A-A058-439D2DC143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75" y="65088"/>
            <a:ext cx="10515600" cy="439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FF4EB8-825B-9D9A-733F-0C08EC2E2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70" y="764817"/>
            <a:ext cx="9906859" cy="532836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D1F8C9F-EC84-27FC-AD0E-095999F76239}"/>
              </a:ext>
            </a:extLst>
          </p:cNvPr>
          <p:cNvSpPr/>
          <p:nvPr/>
        </p:nvSpPr>
        <p:spPr>
          <a:xfrm>
            <a:off x="1142570" y="2583809"/>
            <a:ext cx="8479602" cy="99829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B0941-A258-A783-6A80-329AB8BD08FA}"/>
              </a:ext>
            </a:extLst>
          </p:cNvPr>
          <p:cNvSpPr txBox="1"/>
          <p:nvPr/>
        </p:nvSpPr>
        <p:spPr>
          <a:xfrm>
            <a:off x="7950200" y="3567341"/>
            <a:ext cx="2566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12/14 bit</a:t>
            </a:r>
            <a:r>
              <a:rPr lang="ko-KR" altLang="en-US" sz="1200" dirty="0"/>
              <a:t> 에 따라</a:t>
            </a:r>
            <a:r>
              <a:rPr lang="en-US" altLang="ko-KR" sz="1200" dirty="0"/>
              <a:t> </a:t>
            </a:r>
            <a:r>
              <a:rPr lang="ko-KR" altLang="en-US" sz="1200" dirty="0"/>
              <a:t>전송 </a:t>
            </a:r>
            <a:r>
              <a:rPr lang="en-US" altLang="ko-KR" sz="1200" dirty="0"/>
              <a:t>bit </a:t>
            </a:r>
            <a:r>
              <a:rPr lang="ko-KR" altLang="en-US" sz="1200" dirty="0"/>
              <a:t>가 다름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FA7371-7CE9-A8FA-3B16-AEC623ED6C30}"/>
              </a:ext>
            </a:extLst>
          </p:cNvPr>
          <p:cNvSpPr txBox="1"/>
          <p:nvPr/>
        </p:nvSpPr>
        <p:spPr>
          <a:xfrm>
            <a:off x="8620760" y="1845822"/>
            <a:ext cx="3205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0x1B, REG_RD_EN setting </a:t>
            </a:r>
            <a:r>
              <a:rPr lang="ko-KR" altLang="en-US" sz="1000" dirty="0"/>
              <a:t>이후에 </a:t>
            </a:r>
            <a:r>
              <a:rPr lang="en-US" altLang="ko-KR" sz="1000" dirty="0"/>
              <a:t>register read </a:t>
            </a:r>
            <a:r>
              <a:rPr lang="ko-KR" altLang="en-US" sz="1000" dirty="0"/>
              <a:t>가능</a:t>
            </a:r>
          </a:p>
        </p:txBody>
      </p:sp>
    </p:spTree>
    <p:extLst>
      <p:ext uri="{BB962C8B-B14F-4D97-AF65-F5344CB8AC3E}">
        <p14:creationId xmlns:p14="http://schemas.microsoft.com/office/powerpoint/2010/main" val="350849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B0B3F-F445-3CC2-791B-DB57C71B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 Dimming Timing Diagram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B50A248-7E46-BC57-E7B6-4F23C5E79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60C0091-85F3-44A6-1025-62F76A13B977}"/>
              </a:ext>
            </a:extLst>
          </p:cNvPr>
          <p:cNvGrpSpPr/>
          <p:nvPr/>
        </p:nvGrpSpPr>
        <p:grpSpPr>
          <a:xfrm>
            <a:off x="1694405" y="654653"/>
            <a:ext cx="3006000" cy="2106000"/>
            <a:chOff x="1864615" y="3049000"/>
            <a:chExt cx="3006000" cy="2106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6BFAB29-D4BA-55F7-0ADB-9309D32F30D5}"/>
                </a:ext>
              </a:extLst>
            </p:cNvPr>
            <p:cNvSpPr/>
            <p:nvPr/>
          </p:nvSpPr>
          <p:spPr>
            <a:xfrm>
              <a:off x="3280068" y="4451193"/>
              <a:ext cx="1412909" cy="529332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511CAD8-4010-3525-6A0F-CEE5F0BADA8D}"/>
                </a:ext>
              </a:extLst>
            </p:cNvPr>
            <p:cNvCxnSpPr>
              <a:cxnSpLocks/>
            </p:cNvCxnSpPr>
            <p:nvPr/>
          </p:nvCxnSpPr>
          <p:spPr>
            <a:xfrm>
              <a:off x="3090244" y="4041260"/>
              <a:ext cx="0" cy="324365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0B54ABC1-87B4-0780-26A7-4F262B9C580F}"/>
                </a:ext>
              </a:extLst>
            </p:cNvPr>
            <p:cNvCxnSpPr/>
            <p:nvPr/>
          </p:nvCxnSpPr>
          <p:spPr>
            <a:xfrm>
              <a:off x="3337763" y="4120859"/>
              <a:ext cx="179219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BA20355-969C-88CB-FF9F-56A44FB5D879}"/>
                </a:ext>
              </a:extLst>
            </p:cNvPr>
            <p:cNvCxnSpPr/>
            <p:nvPr/>
          </p:nvCxnSpPr>
          <p:spPr>
            <a:xfrm>
              <a:off x="3534308" y="4120858"/>
              <a:ext cx="179219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F3FB78B-F2D5-3BD9-5DDA-5FA638089DC3}"/>
                </a:ext>
              </a:extLst>
            </p:cNvPr>
            <p:cNvCxnSpPr/>
            <p:nvPr/>
          </p:nvCxnSpPr>
          <p:spPr>
            <a:xfrm>
              <a:off x="3732696" y="4117441"/>
              <a:ext cx="179218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60F7BB9-9018-FD04-1C85-C804DD171FB5}"/>
                </a:ext>
              </a:extLst>
            </p:cNvPr>
            <p:cNvCxnSpPr>
              <a:cxnSpLocks/>
            </p:cNvCxnSpPr>
            <p:nvPr/>
          </p:nvCxnSpPr>
          <p:spPr>
            <a:xfrm>
              <a:off x="3136900" y="3897471"/>
              <a:ext cx="1407584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3F26B89-D759-4E3F-421F-A029BEC7065C}"/>
                </a:ext>
              </a:extLst>
            </p:cNvPr>
            <p:cNvCxnSpPr/>
            <p:nvPr/>
          </p:nvCxnSpPr>
          <p:spPr>
            <a:xfrm>
              <a:off x="1986006" y="3318458"/>
              <a:ext cx="2183309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BDE9F0EB-2A01-C244-516F-4C2BE0996BEA}"/>
                </a:ext>
              </a:extLst>
            </p:cNvPr>
            <p:cNvCxnSpPr/>
            <p:nvPr/>
          </p:nvCxnSpPr>
          <p:spPr>
            <a:xfrm>
              <a:off x="2957351" y="3968796"/>
              <a:ext cx="264644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F20B15F9-5D33-31F5-849C-6001EDC94473}"/>
                </a:ext>
              </a:extLst>
            </p:cNvPr>
            <p:cNvCxnSpPr/>
            <p:nvPr/>
          </p:nvCxnSpPr>
          <p:spPr>
            <a:xfrm>
              <a:off x="3022371" y="4031665"/>
              <a:ext cx="132322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3B0BE39-77BC-3098-02E8-3234E00A7D82}"/>
                </a:ext>
              </a:extLst>
            </p:cNvPr>
            <p:cNvCxnSpPr/>
            <p:nvPr/>
          </p:nvCxnSpPr>
          <p:spPr>
            <a:xfrm rot="5400000" flipH="1" flipV="1">
              <a:off x="2999780" y="3930073"/>
              <a:ext cx="63177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6BDE737-9527-8B3F-A934-5DE2964BEADA}"/>
                </a:ext>
              </a:extLst>
            </p:cNvPr>
            <p:cNvCxnSpPr/>
            <p:nvPr/>
          </p:nvCxnSpPr>
          <p:spPr>
            <a:xfrm rot="5400000">
              <a:off x="3110646" y="3928482"/>
              <a:ext cx="63177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A3A248F-69DA-07DB-8E9D-8A3CC88F4ECB}"/>
                </a:ext>
              </a:extLst>
            </p:cNvPr>
            <p:cNvCxnSpPr/>
            <p:nvPr/>
          </p:nvCxnSpPr>
          <p:spPr>
            <a:xfrm>
              <a:off x="3137277" y="3897985"/>
              <a:ext cx="132321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D617BC85-0075-B7E4-A449-93DACD219C4C}"/>
                </a:ext>
              </a:extLst>
            </p:cNvPr>
            <p:cNvCxnSpPr/>
            <p:nvPr/>
          </p:nvCxnSpPr>
          <p:spPr>
            <a:xfrm>
              <a:off x="2909358" y="3900372"/>
              <a:ext cx="132321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E544B1D-62B2-C8AE-C4E2-CE0B65323313}"/>
                </a:ext>
              </a:extLst>
            </p:cNvPr>
            <p:cNvCxnSpPr/>
            <p:nvPr/>
          </p:nvCxnSpPr>
          <p:spPr>
            <a:xfrm>
              <a:off x="2632026" y="3693673"/>
              <a:ext cx="264644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DAAB495-687C-AFF2-2F33-2B2A12F75FD2}"/>
                </a:ext>
              </a:extLst>
            </p:cNvPr>
            <p:cNvCxnSpPr/>
            <p:nvPr/>
          </p:nvCxnSpPr>
          <p:spPr>
            <a:xfrm>
              <a:off x="2697046" y="3754161"/>
              <a:ext cx="132322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17F38329-6806-8938-86BC-CB4BAF13005E}"/>
                </a:ext>
              </a:extLst>
            </p:cNvPr>
            <p:cNvCxnSpPr/>
            <p:nvPr/>
          </p:nvCxnSpPr>
          <p:spPr>
            <a:xfrm rot="5400000" flipH="1" flipV="1">
              <a:off x="2674455" y="3652568"/>
              <a:ext cx="63177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832F221-F1C3-6D46-DC1F-661A4B5F3720}"/>
                </a:ext>
              </a:extLst>
            </p:cNvPr>
            <p:cNvCxnSpPr/>
            <p:nvPr/>
          </p:nvCxnSpPr>
          <p:spPr>
            <a:xfrm rot="5400000">
              <a:off x="2785321" y="3650977"/>
              <a:ext cx="63177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14FDC6E-3EA7-F149-E73E-7947EF60C75F}"/>
                </a:ext>
              </a:extLst>
            </p:cNvPr>
            <p:cNvCxnSpPr/>
            <p:nvPr/>
          </p:nvCxnSpPr>
          <p:spPr>
            <a:xfrm>
              <a:off x="2809572" y="3620480"/>
              <a:ext cx="132321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3115075A-8E2B-3EAE-9821-023FA107C00F}"/>
                </a:ext>
              </a:extLst>
            </p:cNvPr>
            <p:cNvCxnSpPr/>
            <p:nvPr/>
          </p:nvCxnSpPr>
          <p:spPr>
            <a:xfrm>
              <a:off x="2584033" y="3622868"/>
              <a:ext cx="132321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90E6EA9-7D6C-F2C9-0C4F-DBD1067F963D}"/>
                </a:ext>
              </a:extLst>
            </p:cNvPr>
            <p:cNvCxnSpPr/>
            <p:nvPr/>
          </p:nvCxnSpPr>
          <p:spPr>
            <a:xfrm flipH="1" flipV="1">
              <a:off x="3430947" y="4126388"/>
              <a:ext cx="0" cy="315887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8E2E4081-BA68-4846-9B81-5C5FED90C396}"/>
                </a:ext>
              </a:extLst>
            </p:cNvPr>
            <p:cNvCxnSpPr/>
            <p:nvPr/>
          </p:nvCxnSpPr>
          <p:spPr>
            <a:xfrm flipH="1" flipV="1">
              <a:off x="3621000" y="4128776"/>
              <a:ext cx="0" cy="126355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CF8C7D33-A0D2-C8AF-CFA2-935CFA4B5224}"/>
                </a:ext>
              </a:extLst>
            </p:cNvPr>
            <p:cNvCxnSpPr/>
            <p:nvPr/>
          </p:nvCxnSpPr>
          <p:spPr>
            <a:xfrm flipH="1" flipV="1">
              <a:off x="3815223" y="4123202"/>
              <a:ext cx="0" cy="126355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15A90E97-A94A-2A5F-CE52-CF2DA0C60B10}"/>
                </a:ext>
              </a:extLst>
            </p:cNvPr>
            <p:cNvCxnSpPr/>
            <p:nvPr/>
          </p:nvCxnSpPr>
          <p:spPr>
            <a:xfrm flipH="1" flipV="1">
              <a:off x="3430113" y="3316913"/>
              <a:ext cx="0" cy="699422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8DBECC9-D06B-3C40-57BF-B0119F68DF27}"/>
                </a:ext>
              </a:extLst>
            </p:cNvPr>
            <p:cNvCxnSpPr/>
            <p:nvPr/>
          </p:nvCxnSpPr>
          <p:spPr>
            <a:xfrm flipH="1" flipV="1">
              <a:off x="3623501" y="3605814"/>
              <a:ext cx="0" cy="410654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87BD0EF-027A-30F6-963F-40849F5D80E3}"/>
                </a:ext>
              </a:extLst>
            </p:cNvPr>
            <p:cNvCxnSpPr/>
            <p:nvPr/>
          </p:nvCxnSpPr>
          <p:spPr>
            <a:xfrm flipV="1">
              <a:off x="3809388" y="3886043"/>
              <a:ext cx="0" cy="122587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09824B09-E74E-DC44-3C5E-54415E748FE8}"/>
                </a:ext>
              </a:extLst>
            </p:cNvPr>
            <p:cNvCxnSpPr/>
            <p:nvPr/>
          </p:nvCxnSpPr>
          <p:spPr>
            <a:xfrm>
              <a:off x="2923769" y="3619110"/>
              <a:ext cx="1422459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13942FD3-62D8-B14B-4D25-9992A2D34FAE}"/>
                </a:ext>
              </a:extLst>
            </p:cNvPr>
            <p:cNvCxnSpPr>
              <a:cxnSpLocks/>
            </p:cNvCxnSpPr>
            <p:nvPr/>
          </p:nvCxnSpPr>
          <p:spPr>
            <a:xfrm>
              <a:off x="2000250" y="3897938"/>
              <a:ext cx="908366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445E29A3-1ACE-7245-9A8F-4E43CDAA2B31}"/>
                </a:ext>
              </a:extLst>
            </p:cNvPr>
            <p:cNvCxnSpPr/>
            <p:nvPr/>
          </p:nvCxnSpPr>
          <p:spPr>
            <a:xfrm>
              <a:off x="1995176" y="3622059"/>
              <a:ext cx="661609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56D9EDB2-89B1-51F6-51B9-65F39C33612B}"/>
                </a:ext>
              </a:extLst>
            </p:cNvPr>
            <p:cNvCxnSpPr/>
            <p:nvPr/>
          </p:nvCxnSpPr>
          <p:spPr>
            <a:xfrm>
              <a:off x="3619813" y="4249766"/>
              <a:ext cx="198483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55C844E-341A-DE67-9F0A-8E3D19DE63C6}"/>
                </a:ext>
              </a:extLst>
            </p:cNvPr>
            <p:cNvCxnSpPr>
              <a:cxnSpLocks/>
            </p:cNvCxnSpPr>
            <p:nvPr/>
          </p:nvCxnSpPr>
          <p:spPr>
            <a:xfrm>
              <a:off x="2757416" y="3749132"/>
              <a:ext cx="0" cy="42123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7F9F6627-AE78-D767-AEE9-F511E08F3283}"/>
                </a:ext>
              </a:extLst>
            </p:cNvPr>
            <p:cNvCxnSpPr>
              <a:cxnSpLocks/>
            </p:cNvCxnSpPr>
            <p:nvPr/>
          </p:nvCxnSpPr>
          <p:spPr>
            <a:xfrm>
              <a:off x="2001838" y="4366026"/>
              <a:ext cx="1089025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2C616C54-E0D9-23FF-91CF-AB81C8B0BE3E}"/>
                </a:ext>
              </a:extLst>
            </p:cNvPr>
            <p:cNvCxnSpPr>
              <a:cxnSpLocks/>
            </p:cNvCxnSpPr>
            <p:nvPr/>
          </p:nvCxnSpPr>
          <p:spPr>
            <a:xfrm>
              <a:off x="2008188" y="4169416"/>
              <a:ext cx="752475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7" name="TextBox 121">
              <a:extLst>
                <a:ext uri="{FF2B5EF4-FFF2-40B4-BE49-F238E27FC236}">
                  <a16:creationId xmlns:a16="http://schemas.microsoft.com/office/drawing/2014/main" id="{14F1BB84-52FE-EAAD-ADC4-2B9DE0A3FE4D}"/>
                </a:ext>
              </a:extLst>
            </p:cNvPr>
            <p:cNvSpPr txBox="1"/>
            <p:nvPr/>
          </p:nvSpPr>
          <p:spPr>
            <a:xfrm>
              <a:off x="2021376" y="4042357"/>
              <a:ext cx="279223" cy="12361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900" kern="0" dirty="0">
                  <a:solidFill>
                    <a:sysClr val="windowText" lastClr="000000"/>
                  </a:solidFill>
                  <a:latin typeface="Aptos Narrow" panose="02110004020202020204"/>
                </a:rPr>
                <a:t>GATE2</a:t>
              </a:r>
              <a:endParaRPr lang="ko-KR" altLang="en-US" sz="900" kern="0" dirty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sp>
          <p:nvSpPr>
            <p:cNvPr id="38" name="TextBox 122">
              <a:extLst>
                <a:ext uri="{FF2B5EF4-FFF2-40B4-BE49-F238E27FC236}">
                  <a16:creationId xmlns:a16="http://schemas.microsoft.com/office/drawing/2014/main" id="{85675E54-42F4-588E-B3B0-7DBD2AE3DB65}"/>
                </a:ext>
              </a:extLst>
            </p:cNvPr>
            <p:cNvSpPr txBox="1"/>
            <p:nvPr/>
          </p:nvSpPr>
          <p:spPr>
            <a:xfrm>
              <a:off x="2019114" y="4239761"/>
              <a:ext cx="279223" cy="12361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900" kern="0" dirty="0">
                  <a:solidFill>
                    <a:sysClr val="windowText" lastClr="000000"/>
                  </a:solidFill>
                  <a:latin typeface="Aptos Narrow" panose="02110004020202020204"/>
                </a:rPr>
                <a:t>GATE3</a:t>
              </a:r>
              <a:endParaRPr lang="ko-KR" altLang="en-US" sz="900" kern="0" dirty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sp>
          <p:nvSpPr>
            <p:cNvPr id="39" name="TextBox 123">
              <a:extLst>
                <a:ext uri="{FF2B5EF4-FFF2-40B4-BE49-F238E27FC236}">
                  <a16:creationId xmlns:a16="http://schemas.microsoft.com/office/drawing/2014/main" id="{F0A4FBAF-3F95-F247-59D9-A80FA1450E74}"/>
                </a:ext>
              </a:extLst>
            </p:cNvPr>
            <p:cNvSpPr txBox="1"/>
            <p:nvPr/>
          </p:nvSpPr>
          <p:spPr>
            <a:xfrm>
              <a:off x="2019704" y="3185080"/>
              <a:ext cx="717146" cy="12361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900" kern="0" dirty="0">
                  <a:solidFill>
                    <a:sysClr val="windowText" lastClr="000000"/>
                  </a:solidFill>
                  <a:latin typeface="Aptos Narrow" panose="02110004020202020204"/>
                </a:rPr>
                <a:t>VLED1 (: GATE1)</a:t>
              </a:r>
              <a:endParaRPr lang="ko-KR" altLang="en-US" sz="900" kern="0" dirty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sp>
          <p:nvSpPr>
            <p:cNvPr id="40" name="TextBox 124">
              <a:extLst>
                <a:ext uri="{FF2B5EF4-FFF2-40B4-BE49-F238E27FC236}">
                  <a16:creationId xmlns:a16="http://schemas.microsoft.com/office/drawing/2014/main" id="{E7AD8590-E2F6-D8E0-1660-9F2F3E0C7582}"/>
                </a:ext>
              </a:extLst>
            </p:cNvPr>
            <p:cNvSpPr txBox="1"/>
            <p:nvPr/>
          </p:nvSpPr>
          <p:spPr>
            <a:xfrm>
              <a:off x="2022204" y="3478005"/>
              <a:ext cx="278987" cy="12361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900" kern="0" dirty="0">
                  <a:solidFill>
                    <a:sysClr val="windowText" lastClr="000000"/>
                  </a:solidFill>
                  <a:latin typeface="Aptos Narrow" panose="02110004020202020204"/>
                </a:rPr>
                <a:t>VLED2</a:t>
              </a:r>
              <a:endParaRPr lang="ko-KR" altLang="en-US" sz="900" kern="0" dirty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sp>
          <p:nvSpPr>
            <p:cNvPr id="41" name="TextBox 125">
              <a:extLst>
                <a:ext uri="{FF2B5EF4-FFF2-40B4-BE49-F238E27FC236}">
                  <a16:creationId xmlns:a16="http://schemas.microsoft.com/office/drawing/2014/main" id="{44E10AE5-B66C-3F7E-B9BC-2F818FBD2A1C}"/>
                </a:ext>
              </a:extLst>
            </p:cNvPr>
            <p:cNvSpPr txBox="1"/>
            <p:nvPr/>
          </p:nvSpPr>
          <p:spPr>
            <a:xfrm>
              <a:off x="2033040" y="3758987"/>
              <a:ext cx="278987" cy="12361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900" kern="0">
                  <a:solidFill>
                    <a:sysClr val="windowText" lastClr="000000"/>
                  </a:solidFill>
                  <a:latin typeface="Aptos Narrow" panose="02110004020202020204"/>
                </a:rPr>
                <a:t>VLED3</a:t>
              </a:r>
              <a:endParaRPr lang="ko-KR" altLang="en-US" sz="900" kern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sp>
          <p:nvSpPr>
            <p:cNvPr id="42" name="TextBox 126">
              <a:extLst>
                <a:ext uri="{FF2B5EF4-FFF2-40B4-BE49-F238E27FC236}">
                  <a16:creationId xmlns:a16="http://schemas.microsoft.com/office/drawing/2014/main" id="{36E4F808-8A26-139A-B1B3-59C536200B47}"/>
                </a:ext>
              </a:extLst>
            </p:cNvPr>
            <p:cNvSpPr txBox="1"/>
            <p:nvPr/>
          </p:nvSpPr>
          <p:spPr>
            <a:xfrm>
              <a:off x="3368429" y="4476964"/>
              <a:ext cx="178645" cy="12361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900" kern="0">
                  <a:solidFill>
                    <a:sysClr val="windowText" lastClr="000000"/>
                  </a:solidFill>
                  <a:latin typeface="Aptos Narrow" panose="02110004020202020204"/>
                </a:rPr>
                <a:t>CHx</a:t>
              </a:r>
              <a:endParaRPr lang="ko-KR" altLang="en-US" sz="900" kern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89D7D101-752C-A8D1-8D75-DCE553BBA448}"/>
                </a:ext>
              </a:extLst>
            </p:cNvPr>
            <p:cNvCxnSpPr/>
            <p:nvPr/>
          </p:nvCxnSpPr>
          <p:spPr>
            <a:xfrm>
              <a:off x="4069642" y="4115288"/>
              <a:ext cx="179219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457BF8CE-3DC3-9406-B072-E47D34C2A7D9}"/>
                </a:ext>
              </a:extLst>
            </p:cNvPr>
            <p:cNvCxnSpPr/>
            <p:nvPr/>
          </p:nvCxnSpPr>
          <p:spPr>
            <a:xfrm>
              <a:off x="4266186" y="4115287"/>
              <a:ext cx="179219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0DF4A3A2-9A95-954C-681A-4962F33C92CF}"/>
                </a:ext>
              </a:extLst>
            </p:cNvPr>
            <p:cNvCxnSpPr/>
            <p:nvPr/>
          </p:nvCxnSpPr>
          <p:spPr>
            <a:xfrm>
              <a:off x="4464574" y="4111868"/>
              <a:ext cx="179218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B63EB05B-F81E-3875-39DD-DCD4668D15DF}"/>
                </a:ext>
              </a:extLst>
            </p:cNvPr>
            <p:cNvCxnSpPr/>
            <p:nvPr/>
          </p:nvCxnSpPr>
          <p:spPr>
            <a:xfrm flipH="1" flipV="1">
              <a:off x="4162825" y="4124796"/>
              <a:ext cx="0" cy="315887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FA88DA8B-8D0F-BF08-73A2-36E7E770C690}"/>
                </a:ext>
              </a:extLst>
            </p:cNvPr>
            <p:cNvCxnSpPr/>
            <p:nvPr/>
          </p:nvCxnSpPr>
          <p:spPr>
            <a:xfrm flipH="1" flipV="1">
              <a:off x="4352878" y="4123203"/>
              <a:ext cx="0" cy="126355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A5E491F3-7177-EDED-7F74-110A11BB2E79}"/>
                </a:ext>
              </a:extLst>
            </p:cNvPr>
            <p:cNvCxnSpPr/>
            <p:nvPr/>
          </p:nvCxnSpPr>
          <p:spPr>
            <a:xfrm flipH="1" flipV="1">
              <a:off x="4551597" y="4117631"/>
              <a:ext cx="0" cy="126355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F734198A-3F55-133E-52D6-266F0838F50B}"/>
                </a:ext>
              </a:extLst>
            </p:cNvPr>
            <p:cNvCxnSpPr/>
            <p:nvPr/>
          </p:nvCxnSpPr>
          <p:spPr>
            <a:xfrm flipH="1" flipV="1">
              <a:off x="4161738" y="3317570"/>
              <a:ext cx="0" cy="70181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BC5BD35C-ABB2-90E1-3469-C914608FB418}"/>
                </a:ext>
              </a:extLst>
            </p:cNvPr>
            <p:cNvCxnSpPr/>
            <p:nvPr/>
          </p:nvCxnSpPr>
          <p:spPr>
            <a:xfrm flipH="1" flipV="1">
              <a:off x="4355380" y="3614994"/>
              <a:ext cx="0" cy="410654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B68902A2-A916-3FEF-DB3E-931681EF930E}"/>
                </a:ext>
              </a:extLst>
            </p:cNvPr>
            <p:cNvCxnSpPr/>
            <p:nvPr/>
          </p:nvCxnSpPr>
          <p:spPr>
            <a:xfrm>
              <a:off x="4360029" y="4244193"/>
              <a:ext cx="198483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52" name="TextBox 136">
              <a:extLst>
                <a:ext uri="{FF2B5EF4-FFF2-40B4-BE49-F238E27FC236}">
                  <a16:creationId xmlns:a16="http://schemas.microsoft.com/office/drawing/2014/main" id="{AE4FA7D4-CAD6-F329-DD8A-970EEEA019A4}"/>
                </a:ext>
              </a:extLst>
            </p:cNvPr>
            <p:cNvSpPr txBox="1"/>
            <p:nvPr/>
          </p:nvSpPr>
          <p:spPr>
            <a:xfrm>
              <a:off x="3625169" y="4475373"/>
              <a:ext cx="286115" cy="12361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900" kern="0">
                  <a:solidFill>
                    <a:sysClr val="windowText" lastClr="000000"/>
                  </a:solidFill>
                  <a:latin typeface="Aptos Narrow" panose="02110004020202020204"/>
                </a:rPr>
                <a:t>CHx+1</a:t>
              </a:r>
              <a:endParaRPr lang="ko-KR" altLang="en-US" sz="900" kern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547AD960-2396-74E0-F8C8-56CFD2F6892B}"/>
                </a:ext>
              </a:extLst>
            </p:cNvPr>
            <p:cNvSpPr/>
            <p:nvPr/>
          </p:nvSpPr>
          <p:spPr>
            <a:xfrm>
              <a:off x="3780213" y="3870124"/>
              <a:ext cx="66161" cy="63177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51AD9590-53CD-FE9B-DD25-A168F1BD2400}"/>
                </a:ext>
              </a:extLst>
            </p:cNvPr>
            <p:cNvSpPr/>
            <p:nvPr/>
          </p:nvSpPr>
          <p:spPr>
            <a:xfrm>
              <a:off x="3590992" y="3593917"/>
              <a:ext cx="66161" cy="63177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21E514A3-3C47-E3F1-B01A-B090628D695B}"/>
                </a:ext>
              </a:extLst>
            </p:cNvPr>
            <p:cNvSpPr/>
            <p:nvPr/>
          </p:nvSpPr>
          <p:spPr>
            <a:xfrm>
              <a:off x="3397604" y="3281890"/>
              <a:ext cx="66161" cy="63177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7B58634-5B4E-FEBB-F877-007B5B3609AA}"/>
                </a:ext>
              </a:extLst>
            </p:cNvPr>
            <p:cNvSpPr/>
            <p:nvPr/>
          </p:nvSpPr>
          <p:spPr>
            <a:xfrm>
              <a:off x="3686853" y="4222746"/>
              <a:ext cx="66161" cy="63177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7A4E8F25-23DF-5151-F278-B106CDDC5674}"/>
                </a:ext>
              </a:extLst>
            </p:cNvPr>
            <p:cNvSpPr/>
            <p:nvPr/>
          </p:nvSpPr>
          <p:spPr>
            <a:xfrm>
              <a:off x="4427069" y="4221153"/>
              <a:ext cx="66161" cy="63177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F4659DBB-4735-410A-EE94-A1F08343EDB4}"/>
                </a:ext>
              </a:extLst>
            </p:cNvPr>
            <p:cNvCxnSpPr/>
            <p:nvPr/>
          </p:nvCxnSpPr>
          <p:spPr>
            <a:xfrm flipV="1">
              <a:off x="4545762" y="3891755"/>
              <a:ext cx="0" cy="122587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6622F106-5548-6797-513D-FB8784085553}"/>
                </a:ext>
              </a:extLst>
            </p:cNvPr>
            <p:cNvCxnSpPr/>
            <p:nvPr/>
          </p:nvCxnSpPr>
          <p:spPr>
            <a:xfrm flipH="1" flipV="1">
              <a:off x="4463744" y="4252949"/>
              <a:ext cx="0" cy="18953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A4ED6BC2-D70E-32CD-F7C3-DCA0F0A510BA}"/>
                </a:ext>
              </a:extLst>
            </p:cNvPr>
            <p:cNvCxnSpPr/>
            <p:nvPr/>
          </p:nvCxnSpPr>
          <p:spPr>
            <a:xfrm flipH="1" flipV="1">
              <a:off x="3724363" y="4251357"/>
              <a:ext cx="0" cy="18953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61" name="TextBox 145">
              <a:extLst>
                <a:ext uri="{FF2B5EF4-FFF2-40B4-BE49-F238E27FC236}">
                  <a16:creationId xmlns:a16="http://schemas.microsoft.com/office/drawing/2014/main" id="{3E7CEEBB-DA42-3005-058B-99228B77543C}"/>
                </a:ext>
              </a:extLst>
            </p:cNvPr>
            <p:cNvSpPr txBox="1"/>
            <p:nvPr/>
          </p:nvSpPr>
          <p:spPr>
            <a:xfrm>
              <a:off x="4071131" y="4479351"/>
              <a:ext cx="178645" cy="12361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900" kern="0">
                  <a:solidFill>
                    <a:sysClr val="windowText" lastClr="000000"/>
                  </a:solidFill>
                  <a:latin typeface="Aptos Narrow" panose="02110004020202020204"/>
                </a:rPr>
                <a:t>CHy</a:t>
              </a:r>
              <a:endParaRPr lang="ko-KR" altLang="en-US" sz="900" kern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sp>
          <p:nvSpPr>
            <p:cNvPr id="62" name="TextBox 146">
              <a:extLst>
                <a:ext uri="{FF2B5EF4-FFF2-40B4-BE49-F238E27FC236}">
                  <a16:creationId xmlns:a16="http://schemas.microsoft.com/office/drawing/2014/main" id="{A7C4E61D-F22F-6BA8-F45F-AB2FA259B266}"/>
                </a:ext>
              </a:extLst>
            </p:cNvPr>
            <p:cNvSpPr txBox="1"/>
            <p:nvPr/>
          </p:nvSpPr>
          <p:spPr>
            <a:xfrm>
              <a:off x="4327872" y="4477760"/>
              <a:ext cx="286115" cy="12361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900" kern="0">
                  <a:solidFill>
                    <a:sysClr val="windowText" lastClr="000000"/>
                  </a:solidFill>
                  <a:latin typeface="Aptos Narrow" panose="02110004020202020204"/>
                </a:rPr>
                <a:t>CHy+1</a:t>
              </a:r>
              <a:endParaRPr lang="ko-KR" altLang="en-US" sz="900" kern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1AF25A92-7C12-F902-EE27-6FD381E93CB9}"/>
                </a:ext>
              </a:extLst>
            </p:cNvPr>
            <p:cNvSpPr/>
            <p:nvPr/>
          </p:nvSpPr>
          <p:spPr>
            <a:xfrm>
              <a:off x="1864615" y="3049000"/>
              <a:ext cx="3006000" cy="2106000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64" name="TextBox 263">
              <a:extLst>
                <a:ext uri="{FF2B5EF4-FFF2-40B4-BE49-F238E27FC236}">
                  <a16:creationId xmlns:a16="http://schemas.microsoft.com/office/drawing/2014/main" id="{838EDE67-770D-1A07-80A0-79A31B3D2602}"/>
                </a:ext>
              </a:extLst>
            </p:cNvPr>
            <p:cNvSpPr txBox="1"/>
            <p:nvPr/>
          </p:nvSpPr>
          <p:spPr>
            <a:xfrm>
              <a:off x="3794526" y="4727562"/>
              <a:ext cx="323575" cy="136149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1000" b="1" kern="0" dirty="0">
                  <a:solidFill>
                    <a:sysClr val="windowText" lastClr="000000"/>
                  </a:solidFill>
                  <a:latin typeface="Aptos Narrow" panose="02110004020202020204"/>
                </a:rPr>
                <a:t>XD12R</a:t>
              </a:r>
              <a:endParaRPr lang="ko-KR" altLang="en-US" sz="1000" b="1" kern="0" dirty="0">
                <a:solidFill>
                  <a:sysClr val="windowText" lastClr="000000"/>
                </a:solidFill>
                <a:latin typeface="Aptos Narrow" panose="02110004020202020204"/>
              </a:endParaRPr>
            </a:p>
          </p:txBody>
        </p:sp>
        <p:sp>
          <p:nvSpPr>
            <p:cNvPr id="65" name="이등변 삼각형 64">
              <a:extLst>
                <a:ext uri="{FF2B5EF4-FFF2-40B4-BE49-F238E27FC236}">
                  <a16:creationId xmlns:a16="http://schemas.microsoft.com/office/drawing/2014/main" id="{94FB8A87-3059-7F33-AD88-64D5CABD91C2}"/>
                </a:ext>
              </a:extLst>
            </p:cNvPr>
            <p:cNvSpPr/>
            <p:nvPr/>
          </p:nvSpPr>
          <p:spPr>
            <a:xfrm rot="10800000">
              <a:off x="3345464" y="4015634"/>
              <a:ext cx="165433" cy="94675"/>
            </a:xfrm>
            <a:prstGeom prst="triangle">
              <a:avLst/>
            </a:prstGeom>
            <a:solidFill>
              <a:srgbClr val="FFD1D1"/>
            </a:solidFill>
            <a:ln w="3175" cap="flat" cmpd="sng" algn="ctr">
              <a:solidFill>
                <a:srgbClr val="FFD1D1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66" name="이등변 삼각형 65">
              <a:extLst>
                <a:ext uri="{FF2B5EF4-FFF2-40B4-BE49-F238E27FC236}">
                  <a16:creationId xmlns:a16="http://schemas.microsoft.com/office/drawing/2014/main" id="{9CB70E71-9673-53DF-7592-A568F64BB4D7}"/>
                </a:ext>
              </a:extLst>
            </p:cNvPr>
            <p:cNvSpPr/>
            <p:nvPr/>
          </p:nvSpPr>
          <p:spPr>
            <a:xfrm rot="10800000">
              <a:off x="3540845" y="4015635"/>
              <a:ext cx="165433" cy="94675"/>
            </a:xfrm>
            <a:prstGeom prst="triangle">
              <a:avLst/>
            </a:prstGeom>
            <a:solidFill>
              <a:srgbClr val="B3FFB3"/>
            </a:solidFill>
            <a:ln w="3175" cap="flat" cmpd="sng" algn="ctr">
              <a:solidFill>
                <a:srgbClr val="B3FFB3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67" name="이등변 삼각형 66">
              <a:extLst>
                <a:ext uri="{FF2B5EF4-FFF2-40B4-BE49-F238E27FC236}">
                  <a16:creationId xmlns:a16="http://schemas.microsoft.com/office/drawing/2014/main" id="{14D56814-370C-5FBF-2EF3-4560FA33E04D}"/>
                </a:ext>
              </a:extLst>
            </p:cNvPr>
            <p:cNvSpPr/>
            <p:nvPr/>
          </p:nvSpPr>
          <p:spPr>
            <a:xfrm rot="10800000">
              <a:off x="3729875" y="4015634"/>
              <a:ext cx="165433" cy="94676"/>
            </a:xfrm>
            <a:prstGeom prst="triangle">
              <a:avLst/>
            </a:prstGeom>
            <a:solidFill>
              <a:srgbClr val="BDD8FF"/>
            </a:solidFill>
            <a:ln w="3175" cap="flat" cmpd="sng" algn="ctr">
              <a:solidFill>
                <a:srgbClr val="BDD8FF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68" name="이등변 삼각형 67">
              <a:extLst>
                <a:ext uri="{FF2B5EF4-FFF2-40B4-BE49-F238E27FC236}">
                  <a16:creationId xmlns:a16="http://schemas.microsoft.com/office/drawing/2014/main" id="{D2A39197-1A7B-68DC-C5C3-137BB219BFE8}"/>
                </a:ext>
              </a:extLst>
            </p:cNvPr>
            <p:cNvSpPr/>
            <p:nvPr/>
          </p:nvSpPr>
          <p:spPr>
            <a:xfrm rot="10800000">
              <a:off x="4086291" y="4011399"/>
              <a:ext cx="165433" cy="94675"/>
            </a:xfrm>
            <a:prstGeom prst="triangle">
              <a:avLst/>
            </a:prstGeom>
            <a:solidFill>
              <a:srgbClr val="FFD1D1"/>
            </a:solidFill>
            <a:ln w="3175" cap="flat" cmpd="sng" algn="ctr">
              <a:solidFill>
                <a:srgbClr val="FFD1D1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69" name="이등변 삼각형 68">
              <a:extLst>
                <a:ext uri="{FF2B5EF4-FFF2-40B4-BE49-F238E27FC236}">
                  <a16:creationId xmlns:a16="http://schemas.microsoft.com/office/drawing/2014/main" id="{1CA3D195-5EFC-0C28-567F-5E12D8313347}"/>
                </a:ext>
              </a:extLst>
            </p:cNvPr>
            <p:cNvSpPr/>
            <p:nvPr/>
          </p:nvSpPr>
          <p:spPr>
            <a:xfrm rot="10800000">
              <a:off x="4275322" y="4011400"/>
              <a:ext cx="165433" cy="94675"/>
            </a:xfrm>
            <a:prstGeom prst="triangle">
              <a:avLst/>
            </a:prstGeom>
            <a:solidFill>
              <a:srgbClr val="B3FFB3"/>
            </a:solidFill>
            <a:ln w="3175" cap="flat" cmpd="sng" algn="ctr">
              <a:solidFill>
                <a:srgbClr val="B3FFB3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  <p:sp>
          <p:nvSpPr>
            <p:cNvPr id="70" name="이등변 삼각형 69">
              <a:extLst>
                <a:ext uri="{FF2B5EF4-FFF2-40B4-BE49-F238E27FC236}">
                  <a16:creationId xmlns:a16="http://schemas.microsoft.com/office/drawing/2014/main" id="{F99E2AB7-81BD-3E48-E051-2ABE0D6FFC92}"/>
                </a:ext>
              </a:extLst>
            </p:cNvPr>
            <p:cNvSpPr/>
            <p:nvPr/>
          </p:nvSpPr>
          <p:spPr>
            <a:xfrm rot="10800000">
              <a:off x="4467527" y="4011399"/>
              <a:ext cx="165433" cy="94676"/>
            </a:xfrm>
            <a:prstGeom prst="triangle">
              <a:avLst/>
            </a:prstGeom>
            <a:solidFill>
              <a:srgbClr val="BDD8FF"/>
            </a:solidFill>
            <a:ln w="3175" cap="flat" cmpd="sng" algn="ctr">
              <a:solidFill>
                <a:srgbClr val="BDD8FF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 kern="0">
                <a:solidFill>
                  <a:sysClr val="window" lastClr="FFFFFF"/>
                </a:solidFill>
                <a:latin typeface="Aptos Narrow" panose="02110004020202020204"/>
              </a:endParaRPr>
            </a:p>
          </p:txBody>
        </p:sp>
      </p:grpSp>
      <p:pic>
        <p:nvPicPr>
          <p:cNvPr id="71" name="그림 70">
            <a:extLst>
              <a:ext uri="{FF2B5EF4-FFF2-40B4-BE49-F238E27FC236}">
                <a16:creationId xmlns:a16="http://schemas.microsoft.com/office/drawing/2014/main" id="{C5265096-0D38-8BA6-E39B-FF842FF8E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0" y="2986016"/>
            <a:ext cx="5573699" cy="2898106"/>
          </a:xfrm>
          <a:prstGeom prst="rect">
            <a:avLst/>
          </a:prstGeom>
        </p:spPr>
      </p:pic>
      <p:grpSp>
        <p:nvGrpSpPr>
          <p:cNvPr id="72" name="그룹 71">
            <a:extLst>
              <a:ext uri="{FF2B5EF4-FFF2-40B4-BE49-F238E27FC236}">
                <a16:creationId xmlns:a16="http://schemas.microsoft.com/office/drawing/2014/main" id="{D0EE525D-1E86-92EB-6ACC-0A3A80FF0F0C}"/>
              </a:ext>
            </a:extLst>
          </p:cNvPr>
          <p:cNvGrpSpPr/>
          <p:nvPr/>
        </p:nvGrpSpPr>
        <p:grpSpPr>
          <a:xfrm>
            <a:off x="8099570" y="607157"/>
            <a:ext cx="2748149" cy="2029609"/>
            <a:chOff x="1893554" y="2519097"/>
            <a:chExt cx="3265487" cy="2387600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725E2F31-D6D7-A9FB-BE40-019A1023387B}"/>
                </a:ext>
              </a:extLst>
            </p:cNvPr>
            <p:cNvSpPr/>
            <p:nvPr/>
          </p:nvSpPr>
          <p:spPr>
            <a:xfrm>
              <a:off x="3431841" y="4112947"/>
              <a:ext cx="1536700" cy="603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9FA608D9-1727-98B8-78DD-5527CB4D3244}"/>
                </a:ext>
              </a:extLst>
            </p:cNvPr>
            <p:cNvCxnSpPr>
              <a:cxnSpLocks/>
            </p:cNvCxnSpPr>
            <p:nvPr/>
          </p:nvCxnSpPr>
          <p:spPr>
            <a:xfrm>
              <a:off x="3157204" y="3647809"/>
              <a:ext cx="0" cy="31221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4E00572A-0C5C-F071-EFF7-45F139A471DC}"/>
                </a:ext>
              </a:extLst>
            </p:cNvPr>
            <p:cNvCxnSpPr/>
            <p:nvPr/>
          </p:nvCxnSpPr>
          <p:spPr>
            <a:xfrm>
              <a:off x="3592179" y="3738297"/>
              <a:ext cx="195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2C88A984-2F08-BBCD-37F3-5540EBCBD91D}"/>
                </a:ext>
              </a:extLst>
            </p:cNvPr>
            <p:cNvCxnSpPr/>
            <p:nvPr/>
          </p:nvCxnSpPr>
          <p:spPr>
            <a:xfrm>
              <a:off x="3809666" y="3735122"/>
              <a:ext cx="1952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4680054C-3A62-E8A9-B30C-EA2A1F328115}"/>
                </a:ext>
              </a:extLst>
            </p:cNvPr>
            <p:cNvCxnSpPr>
              <a:cxnSpLocks/>
            </p:cNvCxnSpPr>
            <p:nvPr/>
          </p:nvCxnSpPr>
          <p:spPr>
            <a:xfrm>
              <a:off x="3245644" y="3482709"/>
              <a:ext cx="145778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147DEBD2-EF27-840B-22EB-3490D09EC811}"/>
                </a:ext>
              </a:extLst>
            </p:cNvPr>
            <p:cNvCxnSpPr/>
            <p:nvPr/>
          </p:nvCxnSpPr>
          <p:spPr>
            <a:xfrm>
              <a:off x="3012741" y="3566847"/>
              <a:ext cx="2873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057CF8A9-439C-A928-8AE9-DBB682183C4C}"/>
                </a:ext>
              </a:extLst>
            </p:cNvPr>
            <p:cNvCxnSpPr/>
            <p:nvPr/>
          </p:nvCxnSpPr>
          <p:spPr>
            <a:xfrm>
              <a:off x="3082591" y="3636697"/>
              <a:ext cx="14446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0DA33496-4DB3-44B9-6F76-F1F1407CA31E}"/>
                </a:ext>
              </a:extLst>
            </p:cNvPr>
            <p:cNvCxnSpPr/>
            <p:nvPr/>
          </p:nvCxnSpPr>
          <p:spPr>
            <a:xfrm rot="5400000" flipH="1" flipV="1">
              <a:off x="3057191" y="3522397"/>
              <a:ext cx="714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DCB140C4-BA22-35A1-601A-6DDD00947690}"/>
                </a:ext>
              </a:extLst>
            </p:cNvPr>
            <p:cNvCxnSpPr/>
            <p:nvPr/>
          </p:nvCxnSpPr>
          <p:spPr>
            <a:xfrm rot="5400000">
              <a:off x="3177841" y="3520809"/>
              <a:ext cx="714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D77DDE91-CEBF-DAE2-46DE-A10F43F164A2}"/>
                </a:ext>
              </a:extLst>
            </p:cNvPr>
            <p:cNvCxnSpPr/>
            <p:nvPr/>
          </p:nvCxnSpPr>
          <p:spPr>
            <a:xfrm>
              <a:off x="3205622" y="3485884"/>
              <a:ext cx="1428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913E34DC-E3BF-F96E-365B-02F441AACF47}"/>
                </a:ext>
              </a:extLst>
            </p:cNvPr>
            <p:cNvCxnSpPr/>
            <p:nvPr/>
          </p:nvCxnSpPr>
          <p:spPr>
            <a:xfrm>
              <a:off x="2961941" y="3489059"/>
              <a:ext cx="1428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9ECF0E6E-8336-B705-F230-D63BD79304AB}"/>
                </a:ext>
              </a:extLst>
            </p:cNvPr>
            <p:cNvCxnSpPr/>
            <p:nvPr/>
          </p:nvCxnSpPr>
          <p:spPr>
            <a:xfrm>
              <a:off x="2726991" y="3252522"/>
              <a:ext cx="2889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0503E836-2F62-2A61-88D2-A0D728A2AD33}"/>
                </a:ext>
              </a:extLst>
            </p:cNvPr>
            <p:cNvCxnSpPr/>
            <p:nvPr/>
          </p:nvCxnSpPr>
          <p:spPr>
            <a:xfrm>
              <a:off x="2798429" y="3322372"/>
              <a:ext cx="1428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B9F1958E-B0E1-A4C6-1BA8-E417CFA00D8C}"/>
                </a:ext>
              </a:extLst>
            </p:cNvPr>
            <p:cNvCxnSpPr/>
            <p:nvPr/>
          </p:nvCxnSpPr>
          <p:spPr>
            <a:xfrm rot="5400000" flipH="1" flipV="1">
              <a:off x="2773029" y="3208072"/>
              <a:ext cx="7143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CE989FE5-7661-F676-DD0C-B21FF3798F87}"/>
                </a:ext>
              </a:extLst>
            </p:cNvPr>
            <p:cNvCxnSpPr/>
            <p:nvPr/>
          </p:nvCxnSpPr>
          <p:spPr>
            <a:xfrm rot="5400000">
              <a:off x="2893679" y="3206484"/>
              <a:ext cx="7143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6C584B61-56EA-660D-69EB-C66CF8A53FA9}"/>
                </a:ext>
              </a:extLst>
            </p:cNvPr>
            <p:cNvCxnSpPr/>
            <p:nvPr/>
          </p:nvCxnSpPr>
          <p:spPr>
            <a:xfrm>
              <a:off x="2919872" y="3171559"/>
              <a:ext cx="14446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0C72733B-4921-0A67-3427-6FC37AD64AC5}"/>
                </a:ext>
              </a:extLst>
            </p:cNvPr>
            <p:cNvCxnSpPr/>
            <p:nvPr/>
          </p:nvCxnSpPr>
          <p:spPr>
            <a:xfrm>
              <a:off x="2674604" y="3174734"/>
              <a:ext cx="14446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A10F1765-8FE4-4F41-63EE-2CC9C11A093A}"/>
                </a:ext>
              </a:extLst>
            </p:cNvPr>
            <p:cNvCxnSpPr/>
            <p:nvPr/>
          </p:nvCxnSpPr>
          <p:spPr>
            <a:xfrm flipH="1" flipV="1">
              <a:off x="3689016" y="3747822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8E4E2672-081C-E47F-D668-D641A55B9F6B}"/>
                </a:ext>
              </a:extLst>
            </p:cNvPr>
            <p:cNvCxnSpPr/>
            <p:nvPr/>
          </p:nvCxnSpPr>
          <p:spPr>
            <a:xfrm flipH="1" flipV="1">
              <a:off x="3900154" y="3741472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56427474-7839-373F-CEA5-CF7DFDD6AABA}"/>
                </a:ext>
              </a:extLst>
            </p:cNvPr>
            <p:cNvCxnSpPr/>
            <p:nvPr/>
          </p:nvCxnSpPr>
          <p:spPr>
            <a:xfrm flipH="1" flipV="1">
              <a:off x="3692191" y="3154097"/>
              <a:ext cx="0" cy="4683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DF62399D-0193-CDAF-5FAE-B693EB8EB043}"/>
                </a:ext>
              </a:extLst>
            </p:cNvPr>
            <p:cNvCxnSpPr>
              <a:cxnSpLocks/>
              <a:stCxn id="126" idx="3"/>
            </p:cNvCxnSpPr>
            <p:nvPr/>
          </p:nvCxnSpPr>
          <p:spPr>
            <a:xfrm flipH="1" flipV="1">
              <a:off x="3893804" y="3471597"/>
              <a:ext cx="1752" cy="15539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74C02531-30FB-D809-6E62-A8BA6F864F72}"/>
                </a:ext>
              </a:extLst>
            </p:cNvPr>
            <p:cNvCxnSpPr/>
            <p:nvPr/>
          </p:nvCxnSpPr>
          <p:spPr>
            <a:xfrm>
              <a:off x="3044491" y="3169972"/>
              <a:ext cx="14541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08EC4D6B-C8C6-279D-196A-06892424F0AA}"/>
                </a:ext>
              </a:extLst>
            </p:cNvPr>
            <p:cNvCxnSpPr>
              <a:cxnSpLocks/>
            </p:cNvCxnSpPr>
            <p:nvPr/>
          </p:nvCxnSpPr>
          <p:spPr>
            <a:xfrm>
              <a:off x="2088356" y="3485884"/>
              <a:ext cx="91168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A40E346C-9477-5C9B-1A37-8C3F271B6645}"/>
                </a:ext>
              </a:extLst>
            </p:cNvPr>
            <p:cNvCxnSpPr>
              <a:cxnSpLocks/>
            </p:cNvCxnSpPr>
            <p:nvPr/>
          </p:nvCxnSpPr>
          <p:spPr>
            <a:xfrm>
              <a:off x="2095500" y="3173147"/>
              <a:ext cx="66006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AC6A01D2-C3AC-243C-F689-975C85F5C891}"/>
                </a:ext>
              </a:extLst>
            </p:cNvPr>
            <p:cNvCxnSpPr/>
            <p:nvPr/>
          </p:nvCxnSpPr>
          <p:spPr>
            <a:xfrm>
              <a:off x="3687429" y="3884347"/>
              <a:ext cx="2159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F953F469-CC49-74F6-0443-38B5AF7FFA01}"/>
                </a:ext>
              </a:extLst>
            </p:cNvPr>
            <p:cNvCxnSpPr>
              <a:cxnSpLocks/>
            </p:cNvCxnSpPr>
            <p:nvPr/>
          </p:nvCxnSpPr>
          <p:spPr>
            <a:xfrm>
              <a:off x="2863516" y="3317609"/>
              <a:ext cx="0" cy="473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257FA4C9-A679-66A3-0ABB-B44AF2F5455C}"/>
                </a:ext>
              </a:extLst>
            </p:cNvPr>
            <p:cNvCxnSpPr>
              <a:cxnSpLocks/>
            </p:cNvCxnSpPr>
            <p:nvPr/>
          </p:nvCxnSpPr>
          <p:spPr>
            <a:xfrm>
              <a:off x="2084054" y="3784335"/>
              <a:ext cx="779796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812E6A46-DD3B-E694-C63D-F56C8947DA82}"/>
                </a:ext>
              </a:extLst>
            </p:cNvPr>
            <p:cNvCxnSpPr>
              <a:cxnSpLocks/>
            </p:cNvCxnSpPr>
            <p:nvPr/>
          </p:nvCxnSpPr>
          <p:spPr>
            <a:xfrm>
              <a:off x="2084054" y="3960546"/>
              <a:ext cx="107110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304">
              <a:extLst>
                <a:ext uri="{FF2B5EF4-FFF2-40B4-BE49-F238E27FC236}">
                  <a16:creationId xmlns:a16="http://schemas.microsoft.com/office/drawing/2014/main" id="{9376BEC6-F526-4A61-BF41-8B5384E8CB01}"/>
                </a:ext>
              </a:extLst>
            </p:cNvPr>
            <p:cNvSpPr txBox="1"/>
            <p:nvPr/>
          </p:nvSpPr>
          <p:spPr>
            <a:xfrm>
              <a:off x="2099930" y="3806560"/>
              <a:ext cx="303212" cy="141287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i="0" dirty="0">
                  <a:solidFill>
                    <a:schemeClr val="tx1"/>
                  </a:solidFill>
                </a:rPr>
                <a:t>GATE3</a:t>
              </a:r>
              <a:endParaRPr lang="ko-KR" altLang="en-US" sz="900" i="0" dirty="0">
                <a:solidFill>
                  <a:schemeClr val="tx1"/>
                </a:solidFill>
              </a:endParaRPr>
            </a:p>
          </p:txBody>
        </p:sp>
        <p:sp>
          <p:nvSpPr>
            <p:cNvPr id="102" name="TextBox 305">
              <a:extLst>
                <a:ext uri="{FF2B5EF4-FFF2-40B4-BE49-F238E27FC236}">
                  <a16:creationId xmlns:a16="http://schemas.microsoft.com/office/drawing/2014/main" id="{14622F6D-04D2-AFD0-D71C-053E2C3E46D8}"/>
                </a:ext>
              </a:extLst>
            </p:cNvPr>
            <p:cNvSpPr txBox="1"/>
            <p:nvPr/>
          </p:nvSpPr>
          <p:spPr>
            <a:xfrm>
              <a:off x="2103104" y="3639872"/>
              <a:ext cx="303212" cy="141288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i="0">
                  <a:solidFill>
                    <a:schemeClr val="tx1"/>
                  </a:solidFill>
                </a:rPr>
                <a:t>GATE2</a:t>
              </a:r>
              <a:endParaRPr lang="ko-KR" altLang="en-US" sz="900" i="0">
                <a:solidFill>
                  <a:schemeClr val="tx1"/>
                </a:solidFill>
              </a:endParaRPr>
            </a:p>
          </p:txBody>
        </p:sp>
        <p:sp>
          <p:nvSpPr>
            <p:cNvPr id="103" name="TextBox 307">
              <a:extLst>
                <a:ext uri="{FF2B5EF4-FFF2-40B4-BE49-F238E27FC236}">
                  <a16:creationId xmlns:a16="http://schemas.microsoft.com/office/drawing/2014/main" id="{C3CD4161-7C0A-D7D6-AEDC-B0C4222251D3}"/>
                </a:ext>
              </a:extLst>
            </p:cNvPr>
            <p:cNvSpPr txBox="1"/>
            <p:nvPr/>
          </p:nvSpPr>
          <p:spPr>
            <a:xfrm>
              <a:off x="2107867" y="3028684"/>
              <a:ext cx="303212" cy="139700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i="0" dirty="0">
                  <a:solidFill>
                    <a:schemeClr val="tx1"/>
                  </a:solidFill>
                </a:rPr>
                <a:t>VLED2</a:t>
              </a:r>
              <a:endParaRPr lang="ko-KR" altLang="en-US" sz="900" i="0" dirty="0">
                <a:solidFill>
                  <a:schemeClr val="tx1"/>
                </a:solidFill>
              </a:endParaRPr>
            </a:p>
          </p:txBody>
        </p: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5833E8F4-B930-E896-87AD-9C6A43D8045A}"/>
                </a:ext>
              </a:extLst>
            </p:cNvPr>
            <p:cNvCxnSpPr/>
            <p:nvPr/>
          </p:nvCxnSpPr>
          <p:spPr>
            <a:xfrm>
              <a:off x="4387516" y="3731947"/>
              <a:ext cx="1952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6C6AA1F5-D3D7-C15F-1755-0112C6DB4F62}"/>
                </a:ext>
              </a:extLst>
            </p:cNvPr>
            <p:cNvCxnSpPr/>
            <p:nvPr/>
          </p:nvCxnSpPr>
          <p:spPr>
            <a:xfrm>
              <a:off x="4605004" y="3728772"/>
              <a:ext cx="195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8DA71027-7027-6867-D716-9504399357A5}"/>
                </a:ext>
              </a:extLst>
            </p:cNvPr>
            <p:cNvCxnSpPr/>
            <p:nvPr/>
          </p:nvCxnSpPr>
          <p:spPr>
            <a:xfrm flipH="1" flipV="1">
              <a:off x="4484354" y="3741472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266FEB61-C18B-8E64-7696-F23F4869A370}"/>
                </a:ext>
              </a:extLst>
            </p:cNvPr>
            <p:cNvCxnSpPr/>
            <p:nvPr/>
          </p:nvCxnSpPr>
          <p:spPr>
            <a:xfrm flipH="1" flipV="1">
              <a:off x="4700254" y="3735122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9F2884E4-A0C1-96FA-9537-2E1953602C53}"/>
                </a:ext>
              </a:extLst>
            </p:cNvPr>
            <p:cNvCxnSpPr/>
            <p:nvPr/>
          </p:nvCxnSpPr>
          <p:spPr>
            <a:xfrm flipH="1" flipV="1">
              <a:off x="4485941" y="3165209"/>
              <a:ext cx="0" cy="4667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C739EA2B-B563-F667-EA28-DA59ABBBF9C1}"/>
                </a:ext>
              </a:extLst>
            </p:cNvPr>
            <p:cNvCxnSpPr/>
            <p:nvPr/>
          </p:nvCxnSpPr>
          <p:spPr>
            <a:xfrm>
              <a:off x="4490704" y="3877997"/>
              <a:ext cx="2159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322">
              <a:extLst>
                <a:ext uri="{FF2B5EF4-FFF2-40B4-BE49-F238E27FC236}">
                  <a16:creationId xmlns:a16="http://schemas.microsoft.com/office/drawing/2014/main" id="{2D528E81-CCB0-C4C6-9A2F-1501038398C2}"/>
                </a:ext>
              </a:extLst>
            </p:cNvPr>
            <p:cNvSpPr txBox="1"/>
            <p:nvPr/>
          </p:nvSpPr>
          <p:spPr>
            <a:xfrm>
              <a:off x="3716004" y="4141522"/>
              <a:ext cx="193675" cy="139700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i="0">
                  <a:solidFill>
                    <a:schemeClr val="tx1"/>
                  </a:solidFill>
                </a:rPr>
                <a:t>CHx</a:t>
              </a:r>
              <a:endParaRPr lang="ko-KR" altLang="en-US" sz="900" i="0">
                <a:solidFill>
                  <a:schemeClr val="tx1"/>
                </a:solidFill>
              </a:endParaRPr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B913D205-0165-586A-1965-07A3584DF358}"/>
                </a:ext>
              </a:extLst>
            </p:cNvPr>
            <p:cNvSpPr/>
            <p:nvPr/>
          </p:nvSpPr>
          <p:spPr>
            <a:xfrm>
              <a:off x="3862054" y="3454134"/>
              <a:ext cx="71437" cy="714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2F9D07AD-11B1-94A3-D5F1-936A1AE88FB1}"/>
                </a:ext>
              </a:extLst>
            </p:cNvPr>
            <p:cNvSpPr/>
            <p:nvPr/>
          </p:nvSpPr>
          <p:spPr>
            <a:xfrm>
              <a:off x="3657266" y="3141397"/>
              <a:ext cx="71438" cy="714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0C21ACFE-2851-E27E-461E-E124945FA246}"/>
                </a:ext>
              </a:extLst>
            </p:cNvPr>
            <p:cNvSpPr/>
            <p:nvPr/>
          </p:nvSpPr>
          <p:spPr>
            <a:xfrm>
              <a:off x="3760454" y="3854184"/>
              <a:ext cx="73025" cy="714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6496BA54-4B34-10D3-F6CF-AAD9C098B2F9}"/>
                </a:ext>
              </a:extLst>
            </p:cNvPr>
            <p:cNvSpPr/>
            <p:nvPr/>
          </p:nvSpPr>
          <p:spPr>
            <a:xfrm>
              <a:off x="4563729" y="3852597"/>
              <a:ext cx="73025" cy="714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6FA446C1-AC10-E903-B13B-EC3932A2EA94}"/>
                </a:ext>
              </a:extLst>
            </p:cNvPr>
            <p:cNvCxnSpPr/>
            <p:nvPr/>
          </p:nvCxnSpPr>
          <p:spPr>
            <a:xfrm flipV="1">
              <a:off x="4690729" y="3481122"/>
              <a:ext cx="0" cy="1397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FE0C4429-6D3B-8395-B4AA-87FABFB81009}"/>
                </a:ext>
              </a:extLst>
            </p:cNvPr>
            <p:cNvCxnSpPr/>
            <p:nvPr/>
          </p:nvCxnSpPr>
          <p:spPr>
            <a:xfrm flipH="1" flipV="1">
              <a:off x="4605004" y="3887522"/>
              <a:ext cx="0" cy="2159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C350FD80-E840-8C64-DB3B-5427083B37C0}"/>
                </a:ext>
              </a:extLst>
            </p:cNvPr>
            <p:cNvCxnSpPr/>
            <p:nvPr/>
          </p:nvCxnSpPr>
          <p:spPr>
            <a:xfrm flipH="1" flipV="1">
              <a:off x="3800141" y="3885934"/>
              <a:ext cx="0" cy="2159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332">
              <a:extLst>
                <a:ext uri="{FF2B5EF4-FFF2-40B4-BE49-F238E27FC236}">
                  <a16:creationId xmlns:a16="http://schemas.microsoft.com/office/drawing/2014/main" id="{2C72F4BB-A4D2-62B6-2B78-2FD309EC0E1E}"/>
                </a:ext>
              </a:extLst>
            </p:cNvPr>
            <p:cNvSpPr txBox="1"/>
            <p:nvPr/>
          </p:nvSpPr>
          <p:spPr>
            <a:xfrm>
              <a:off x="4514516" y="4144697"/>
              <a:ext cx="195263" cy="138112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i="0">
                  <a:solidFill>
                    <a:schemeClr val="tx1"/>
                  </a:solidFill>
                </a:rPr>
                <a:t>CHy</a:t>
              </a:r>
              <a:endParaRPr lang="ko-KR" altLang="en-US" sz="900" i="0">
                <a:solidFill>
                  <a:schemeClr val="tx1"/>
                </a:solidFill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7C284B43-C1F7-D2D8-1614-B217DD719C75}"/>
                </a:ext>
              </a:extLst>
            </p:cNvPr>
            <p:cNvSpPr/>
            <p:nvPr/>
          </p:nvSpPr>
          <p:spPr>
            <a:xfrm>
              <a:off x="1893554" y="2519097"/>
              <a:ext cx="3265487" cy="23876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20" name="TextBox 335">
              <a:extLst>
                <a:ext uri="{FF2B5EF4-FFF2-40B4-BE49-F238E27FC236}">
                  <a16:creationId xmlns:a16="http://schemas.microsoft.com/office/drawing/2014/main" id="{53851582-7C68-06B9-31BD-2CAFD5E800B2}"/>
                </a:ext>
              </a:extLst>
            </p:cNvPr>
            <p:cNvSpPr txBox="1"/>
            <p:nvPr/>
          </p:nvSpPr>
          <p:spPr>
            <a:xfrm>
              <a:off x="4001859" y="4427272"/>
              <a:ext cx="352425" cy="155575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b="1" i="0" dirty="0">
                  <a:solidFill>
                    <a:schemeClr val="tx1"/>
                  </a:solidFill>
                </a:rPr>
                <a:t>XD12R_A</a:t>
              </a:r>
              <a:endParaRPr lang="ko-KR" altLang="en-US" sz="1000" b="1" i="0" dirty="0">
                <a:solidFill>
                  <a:schemeClr val="tx1"/>
                </a:solidFill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2D5EA156-EE66-4133-6C83-C0479E509657}"/>
                </a:ext>
              </a:extLst>
            </p:cNvPr>
            <p:cNvSpPr/>
            <p:nvPr/>
          </p:nvSpPr>
          <p:spPr>
            <a:xfrm>
              <a:off x="3582654" y="3344597"/>
              <a:ext cx="203200" cy="741362"/>
            </a:xfrm>
            <a:prstGeom prst="rect">
              <a:avLst/>
            </a:prstGeom>
            <a:noFill/>
            <a:ln w="317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B455EED1-989F-5534-23CC-C557BAEB5FFF}"/>
                </a:ext>
              </a:extLst>
            </p:cNvPr>
            <p:cNvSpPr/>
            <p:nvPr/>
          </p:nvSpPr>
          <p:spPr>
            <a:xfrm>
              <a:off x="3816016" y="3339834"/>
              <a:ext cx="203200" cy="741363"/>
            </a:xfrm>
            <a:prstGeom prst="rect">
              <a:avLst/>
            </a:prstGeom>
            <a:noFill/>
            <a:ln w="317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B070C868-069B-6352-10A6-1F430A8D4A02}"/>
                </a:ext>
              </a:extLst>
            </p:cNvPr>
            <p:cNvSpPr/>
            <p:nvPr/>
          </p:nvSpPr>
          <p:spPr>
            <a:xfrm>
              <a:off x="4382754" y="3336659"/>
              <a:ext cx="203200" cy="739775"/>
            </a:xfrm>
            <a:prstGeom prst="rect">
              <a:avLst/>
            </a:prstGeom>
            <a:noFill/>
            <a:ln w="317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924C110B-28DD-5073-85B1-B05CAB16DEF1}"/>
                </a:ext>
              </a:extLst>
            </p:cNvPr>
            <p:cNvSpPr/>
            <p:nvPr/>
          </p:nvSpPr>
          <p:spPr>
            <a:xfrm>
              <a:off x="4614529" y="3331897"/>
              <a:ext cx="203200" cy="741362"/>
            </a:xfrm>
            <a:prstGeom prst="rect">
              <a:avLst/>
            </a:prstGeom>
            <a:noFill/>
            <a:ln w="317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125" name="이등변 삼각형 124">
              <a:extLst>
                <a:ext uri="{FF2B5EF4-FFF2-40B4-BE49-F238E27FC236}">
                  <a16:creationId xmlns:a16="http://schemas.microsoft.com/office/drawing/2014/main" id="{89F59CB7-FB6F-3A8E-D0A7-898DA6FCDCDB}"/>
                </a:ext>
              </a:extLst>
            </p:cNvPr>
            <p:cNvSpPr/>
            <p:nvPr/>
          </p:nvSpPr>
          <p:spPr>
            <a:xfrm rot="10800000">
              <a:off x="3607134" y="3625688"/>
              <a:ext cx="165433" cy="94675"/>
            </a:xfrm>
            <a:prstGeom prst="triangle">
              <a:avLst/>
            </a:prstGeom>
            <a:solidFill>
              <a:srgbClr val="B3FFB3"/>
            </a:solidFill>
            <a:ln w="3175" cap="flat" cmpd="sng" algn="ctr">
              <a:solidFill>
                <a:srgbClr val="B3FFB3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6" name="이등변 삼각형 125">
              <a:extLst>
                <a:ext uri="{FF2B5EF4-FFF2-40B4-BE49-F238E27FC236}">
                  <a16:creationId xmlns:a16="http://schemas.microsoft.com/office/drawing/2014/main" id="{5B4244EC-F886-2561-890B-FC29D6B12AEC}"/>
                </a:ext>
              </a:extLst>
            </p:cNvPr>
            <p:cNvSpPr/>
            <p:nvPr/>
          </p:nvSpPr>
          <p:spPr>
            <a:xfrm rot="10800000">
              <a:off x="3812840" y="3626995"/>
              <a:ext cx="165433" cy="94676"/>
            </a:xfrm>
            <a:prstGeom prst="triangle">
              <a:avLst/>
            </a:prstGeom>
            <a:solidFill>
              <a:srgbClr val="BDD8FF"/>
            </a:solidFill>
            <a:ln w="3175" cap="flat" cmpd="sng" algn="ctr">
              <a:solidFill>
                <a:srgbClr val="BDD8FF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7" name="이등변 삼각형 126">
              <a:extLst>
                <a:ext uri="{FF2B5EF4-FFF2-40B4-BE49-F238E27FC236}">
                  <a16:creationId xmlns:a16="http://schemas.microsoft.com/office/drawing/2014/main" id="{75C5BBBC-F97A-C268-BFE0-D963C477AE6C}"/>
                </a:ext>
              </a:extLst>
            </p:cNvPr>
            <p:cNvSpPr/>
            <p:nvPr/>
          </p:nvSpPr>
          <p:spPr>
            <a:xfrm rot="10800000">
              <a:off x="4408349" y="3624194"/>
              <a:ext cx="165433" cy="94675"/>
            </a:xfrm>
            <a:prstGeom prst="triangle">
              <a:avLst/>
            </a:prstGeom>
            <a:solidFill>
              <a:srgbClr val="B3FFB3"/>
            </a:solidFill>
            <a:ln w="3175" cap="flat" cmpd="sng" algn="ctr">
              <a:solidFill>
                <a:srgbClr val="B3FFB3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8" name="이등변 삼각형 127">
              <a:extLst>
                <a:ext uri="{FF2B5EF4-FFF2-40B4-BE49-F238E27FC236}">
                  <a16:creationId xmlns:a16="http://schemas.microsoft.com/office/drawing/2014/main" id="{3B879B55-2475-16AF-51DA-9F502F4FA506}"/>
                </a:ext>
              </a:extLst>
            </p:cNvPr>
            <p:cNvSpPr/>
            <p:nvPr/>
          </p:nvSpPr>
          <p:spPr>
            <a:xfrm rot="10800000">
              <a:off x="4608972" y="3623351"/>
              <a:ext cx="165433" cy="94676"/>
            </a:xfrm>
            <a:prstGeom prst="triangle">
              <a:avLst/>
            </a:prstGeom>
            <a:solidFill>
              <a:srgbClr val="BDD8FF"/>
            </a:solidFill>
            <a:ln w="3175" cap="flat" cmpd="sng" algn="ctr">
              <a:solidFill>
                <a:srgbClr val="BDD8FF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9" name="TextBox 307">
              <a:extLst>
                <a:ext uri="{FF2B5EF4-FFF2-40B4-BE49-F238E27FC236}">
                  <a16:creationId xmlns:a16="http://schemas.microsoft.com/office/drawing/2014/main" id="{5DEA7F9F-C953-58C9-3074-1E6C170F6737}"/>
                </a:ext>
              </a:extLst>
            </p:cNvPr>
            <p:cNvSpPr txBox="1"/>
            <p:nvPr/>
          </p:nvSpPr>
          <p:spPr>
            <a:xfrm>
              <a:off x="2111042" y="3336501"/>
              <a:ext cx="303212" cy="139700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i="0" dirty="0">
                  <a:solidFill>
                    <a:schemeClr val="tx1"/>
                  </a:solidFill>
                </a:rPr>
                <a:t>VLED</a:t>
              </a:r>
              <a:r>
                <a:rPr lang="en-US" altLang="ko-KR" sz="900" dirty="0"/>
                <a:t>3</a:t>
              </a:r>
              <a:endParaRPr lang="ko-KR" altLang="en-US" sz="900" i="0" dirty="0">
                <a:solidFill>
                  <a:schemeClr val="tx1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EF1B30B3-F818-101B-31F2-CCC2C17358DE}"/>
              </a:ext>
            </a:extLst>
          </p:cNvPr>
          <p:cNvSpPr txBox="1"/>
          <p:nvPr/>
        </p:nvSpPr>
        <p:spPr>
          <a:xfrm>
            <a:off x="6986542" y="5044049"/>
            <a:ext cx="3958776" cy="138499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12435" defTabSz="895327" fontAlgn="auto">
              <a:spcBef>
                <a:spcPts val="118"/>
              </a:spcBef>
              <a:spcAft>
                <a:spcPts val="0"/>
              </a:spcAft>
              <a:defRPr kumimoji="0" sz="881" b="1" spc="15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435" marR="0" lvl="0" indent="0" defTabSz="895327" eaLnBrk="1" fontAlgn="auto" latinLnBrk="0" hangingPunct="1">
              <a:lnSpc>
                <a:spcPct val="100000"/>
              </a:lnSpc>
              <a:spcBef>
                <a:spcPts val="11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Figure. 8  PWM Dimming sequence @ LD_DIR = 0, SYNC_MODE = 0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628DFA85-1620-F63C-C34F-9A68D00E7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93" y="3068619"/>
            <a:ext cx="6040456" cy="182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7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E1264-D9D7-AFA3-D9BD-09DB17F9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 LD data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A216317-0CFF-97C2-003E-2D8A75E8F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22DFCE-11AC-98BC-D0BC-732C1DEFD257}"/>
              </a:ext>
            </a:extLst>
          </p:cNvPr>
          <p:cNvSpPr txBox="1"/>
          <p:nvPr/>
        </p:nvSpPr>
        <p:spPr>
          <a:xfrm>
            <a:off x="2758716" y="3203757"/>
            <a:ext cx="1532471" cy="1384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6. PWM Configuration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104554-522C-5473-F8B5-DB141D2FCBFC}"/>
              </a:ext>
            </a:extLst>
          </p:cNvPr>
          <p:cNvSpPr txBox="1"/>
          <p:nvPr/>
        </p:nvSpPr>
        <p:spPr>
          <a:xfrm>
            <a:off x="4291711" y="2955388"/>
            <a:ext cx="6607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latin typeface="Calibri" panose="020F0502020204030204"/>
              </a:rPr>
              <a:t>don’t care</a:t>
            </a:r>
            <a:endParaRPr lang="ko-KR" alt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3F01B6-D3B0-D0E5-7259-423F64D6E1A6}"/>
              </a:ext>
            </a:extLst>
          </p:cNvPr>
          <p:cNvSpPr/>
          <p:nvPr/>
        </p:nvSpPr>
        <p:spPr>
          <a:xfrm>
            <a:off x="4237187" y="3016804"/>
            <a:ext cx="108000" cy="108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DF7980-A650-C82D-26FE-78873F02EB87}"/>
              </a:ext>
            </a:extLst>
          </p:cNvPr>
          <p:cNvSpPr/>
          <p:nvPr/>
        </p:nvSpPr>
        <p:spPr>
          <a:xfrm>
            <a:off x="4230301" y="2573272"/>
            <a:ext cx="108000" cy="108000"/>
          </a:xfrm>
          <a:prstGeom prst="rect">
            <a:avLst/>
          </a:prstGeom>
          <a:solidFill>
            <a:srgbClr val="FFD1D1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77AD80-32FE-C2B0-5C48-679A06990B99}"/>
              </a:ext>
            </a:extLst>
          </p:cNvPr>
          <p:cNvSpPr txBox="1"/>
          <p:nvPr/>
        </p:nvSpPr>
        <p:spPr>
          <a:xfrm>
            <a:off x="4288536" y="2511856"/>
            <a:ext cx="15199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latin typeface="Calibri" panose="020F0502020204030204"/>
              </a:rPr>
              <a:t>sub-frames # with max. duty</a:t>
            </a:r>
            <a:endParaRPr lang="ko-KR" alt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049EDF-345E-B288-D951-46ECE0FD7D36}"/>
              </a:ext>
            </a:extLst>
          </p:cNvPr>
          <p:cNvSpPr/>
          <p:nvPr/>
        </p:nvSpPr>
        <p:spPr>
          <a:xfrm>
            <a:off x="4228654" y="2802229"/>
            <a:ext cx="108000" cy="108000"/>
          </a:xfrm>
          <a:prstGeom prst="rect">
            <a:avLst/>
          </a:prstGeom>
          <a:solidFill>
            <a:srgbClr val="FFFFEB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8FD05-0A12-02D9-D075-A122688DE438}"/>
              </a:ext>
            </a:extLst>
          </p:cNvPr>
          <p:cNvSpPr txBox="1"/>
          <p:nvPr/>
        </p:nvSpPr>
        <p:spPr>
          <a:xfrm>
            <a:off x="4286451" y="2740813"/>
            <a:ext cx="19855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altLang="ko-KR" sz="900">
                <a:solidFill>
                  <a:prstClr val="black"/>
                </a:solidFill>
                <a:latin typeface="Calibri" panose="020F0502020204030204"/>
              </a:rPr>
              <a:t>tep </a:t>
            </a:r>
            <a:r>
              <a:rPr lang="en-US" altLang="ko-KR" sz="900" dirty="0">
                <a:solidFill>
                  <a:prstClr val="black"/>
                </a:solidFill>
                <a:latin typeface="Calibri" panose="020F0502020204030204"/>
              </a:rPr>
              <a:t># in sub-frame without max. duty</a:t>
            </a:r>
            <a:endParaRPr lang="ko-KR" alt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6E982D5-0007-52A2-184E-3BDE8CDB3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27399"/>
              </p:ext>
            </p:extLst>
          </p:nvPr>
        </p:nvGraphicFramePr>
        <p:xfrm>
          <a:off x="524667" y="877020"/>
          <a:ext cx="5915026" cy="1542214"/>
        </p:xfrm>
        <a:graphic>
          <a:graphicData uri="http://schemas.openxmlformats.org/drawingml/2006/table">
            <a:tbl>
              <a:tblPr/>
              <a:tblGrid>
                <a:gridCol w="430436">
                  <a:extLst>
                    <a:ext uri="{9D8B030D-6E8A-4147-A177-3AD203B41FA5}">
                      <a16:colId xmlns:a16="http://schemas.microsoft.com/office/drawing/2014/main" val="3531318785"/>
                    </a:ext>
                  </a:extLst>
                </a:gridCol>
                <a:gridCol w="430436">
                  <a:extLst>
                    <a:ext uri="{9D8B030D-6E8A-4147-A177-3AD203B41FA5}">
                      <a16:colId xmlns:a16="http://schemas.microsoft.com/office/drawing/2014/main" val="2912788013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693301796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2052919037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4087507781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127666806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3361233993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2066667105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3098939016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1074266879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2200393420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714494251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4231617388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2238012840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1152859303"/>
                    </a:ext>
                  </a:extLst>
                </a:gridCol>
                <a:gridCol w="361011">
                  <a:extLst>
                    <a:ext uri="{9D8B030D-6E8A-4147-A177-3AD203B41FA5}">
                      <a16:colId xmlns:a16="http://schemas.microsoft.com/office/drawing/2014/main" val="53892738"/>
                    </a:ext>
                  </a:extLst>
                </a:gridCol>
              </a:tblGrid>
              <a:tr h="15287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</a:t>
                      </a:r>
                    </a:p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sub-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frame #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 gridSpan="1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LD data[13:0]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362232"/>
                  </a:ext>
                </a:extLst>
              </a:tr>
              <a:tr h="1528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273553"/>
                  </a:ext>
                </a:extLst>
              </a:tr>
              <a:tr h="152872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(12-bit)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392315"/>
                  </a:ext>
                </a:extLst>
              </a:tr>
              <a:tr h="1528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66361"/>
                  </a:ext>
                </a:extLst>
              </a:tr>
              <a:tr h="1528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943505"/>
                  </a:ext>
                </a:extLst>
              </a:tr>
              <a:tr h="1513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028779"/>
                  </a:ext>
                </a:extLst>
              </a:tr>
              <a:tr h="152872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(14-bit)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920354"/>
                  </a:ext>
                </a:extLst>
              </a:tr>
              <a:tr h="1528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183003"/>
                  </a:ext>
                </a:extLst>
              </a:tr>
              <a:tr h="1528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26347"/>
                  </a:ext>
                </a:extLst>
              </a:tr>
              <a:tr h="1679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27263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2E98F195-8F64-9E31-D6CF-6C9E7090F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54" y="3806184"/>
            <a:ext cx="10553700" cy="16700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3323F02-E85B-291D-80EC-E1E41DF81D5F}"/>
              </a:ext>
            </a:extLst>
          </p:cNvPr>
          <p:cNvSpPr txBox="1"/>
          <p:nvPr/>
        </p:nvSpPr>
        <p:spPr>
          <a:xfrm>
            <a:off x="8577835" y="5686246"/>
            <a:ext cx="2329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RED : sub-frames # with max. duty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r"/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GREEN : sub-frames # with max. duty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r"/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BLUE : sub-frames # with max. duty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684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37869-D659-E938-CBCC-C734DC86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X8 mode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DE0B8D7-4119-9AC4-BB8C-80465D4B3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07A43EF3-E8B1-DB48-8A62-AA1E94B4E6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636510"/>
              </p:ext>
            </p:extLst>
          </p:nvPr>
        </p:nvGraphicFramePr>
        <p:xfrm>
          <a:off x="3053080" y="4472404"/>
          <a:ext cx="6221040" cy="1558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69096" imgH="1695606" progId="Visio.Drawing.15">
                  <p:embed/>
                </p:oleObj>
              </mc:Choice>
              <mc:Fallback>
                <p:oleObj name="Visio" r:id="rId2" imgW="6769096" imgH="1695606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53080" y="4472404"/>
                        <a:ext cx="6221040" cy="1558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612183-B0DC-A927-1EEF-E4373CF36019}"/>
              </a:ext>
            </a:extLst>
          </p:cNvPr>
          <p:cNvSpPr txBox="1"/>
          <p:nvPr/>
        </p:nvSpPr>
        <p:spPr>
          <a:xfrm>
            <a:off x="5826760" y="6020246"/>
            <a:ext cx="42931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X8 mode setting</a:t>
            </a:r>
            <a:r>
              <a:rPr lang="ko-KR" altLang="en-US" sz="1200" dirty="0"/>
              <a:t> 은 </a:t>
            </a:r>
            <a:r>
              <a:rPr lang="en-US" altLang="ko-KR" sz="1200" dirty="0"/>
              <a:t>1-frame </a:t>
            </a:r>
            <a:r>
              <a:rPr lang="ko-KR" altLang="en-US" sz="1200" dirty="0"/>
              <a:t>내에 완료 되도록 </a:t>
            </a:r>
            <a:r>
              <a:rPr lang="en-US" altLang="ko-KR" sz="1200" dirty="0"/>
              <a:t>setting </a:t>
            </a:r>
            <a:r>
              <a:rPr lang="ko-KR" altLang="en-US" sz="1200" dirty="0"/>
              <a:t>필요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66B59-37D0-6AC7-2B4E-1C92146EDBBF}"/>
              </a:ext>
            </a:extLst>
          </p:cNvPr>
          <p:cNvSpPr txBox="1"/>
          <p:nvPr/>
        </p:nvSpPr>
        <p:spPr>
          <a:xfrm>
            <a:off x="643890" y="699254"/>
            <a:ext cx="6144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동일 </a:t>
            </a:r>
            <a:r>
              <a:rPr lang="en-US" altLang="ko-KR" sz="1200" dirty="0" err="1"/>
              <a:t>ld</a:t>
            </a:r>
            <a:r>
              <a:rPr lang="en-US" altLang="ko-KR" sz="1200" dirty="0"/>
              <a:t> data</a:t>
            </a:r>
            <a:r>
              <a:rPr lang="ko-KR" altLang="en-US" sz="1200" dirty="0"/>
              <a:t>를 </a:t>
            </a:r>
            <a:r>
              <a:rPr lang="en-US" altLang="ko-KR" sz="1200" dirty="0"/>
              <a:t>8</a:t>
            </a:r>
            <a:r>
              <a:rPr lang="ko-KR" altLang="en-US" sz="1200" dirty="0"/>
              <a:t>번 반복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sv_no</a:t>
            </a:r>
            <a:r>
              <a:rPr lang="en-US" altLang="ko-KR" sz="1200" dirty="0"/>
              <a:t>=8</a:t>
            </a:r>
            <a:endParaRPr lang="ko-KR" altLang="en-US" sz="1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8FA5C2-C27D-26D7-61B2-E0AB0BB80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999" y="586688"/>
            <a:ext cx="6050281" cy="380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F4F35-0161-36B5-3C80-EE29C0CE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Setting </a:t>
            </a:r>
            <a:r>
              <a:rPr lang="ko-KR" altLang="en-US" dirty="0"/>
              <a:t>고려 사항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7FC66-808B-4A90-AA5B-85D362301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096D5-2804-5178-1280-3B7681977DC4}"/>
              </a:ext>
            </a:extLst>
          </p:cNvPr>
          <p:cNvSpPr txBox="1"/>
          <p:nvPr/>
        </p:nvSpPr>
        <p:spPr>
          <a:xfrm>
            <a:off x="805274" y="2500461"/>
            <a:ext cx="3028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Sub-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Vsync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 number (4 / 8 / 16 / 32)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EFD17-67A0-EB33-EB4F-A8CA0429C13E}"/>
              </a:ext>
            </a:extLst>
          </p:cNvPr>
          <p:cNvSpPr txBox="1"/>
          <p:nvPr/>
        </p:nvSpPr>
        <p:spPr>
          <a:xfrm>
            <a:off x="853566" y="3832443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FPWM_DIV1/2/3 </a:t>
            </a:r>
            <a:r>
              <a:rPr lang="ko-KR" altLang="en-US" sz="14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값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5314C-4C26-3432-21C9-F2720B937AD7}"/>
              </a:ext>
            </a:extLst>
          </p:cNvPr>
          <p:cNvSpPr txBox="1"/>
          <p:nvPr/>
        </p:nvSpPr>
        <p:spPr>
          <a:xfrm>
            <a:off x="853565" y="5405735"/>
            <a:ext cx="5471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SYNC_MODE ( </a:t>
            </a:r>
            <a:r>
              <a:rPr lang="en-US" altLang="ko-KR" sz="1400" b="1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vsync</a:t>
            </a:r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generation : SVSYNC(pad) or command)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92ABF-878A-7689-A562-15D40EF2C397}"/>
              </a:ext>
            </a:extLst>
          </p:cNvPr>
          <p:cNvSpPr txBox="1"/>
          <p:nvPr/>
        </p:nvSpPr>
        <p:spPr>
          <a:xfrm>
            <a:off x="765532" y="1152276"/>
            <a:ext cx="3842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Pixel color ( single / time-division 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ch.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선정 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B16AF3E8-4CAF-4E35-66EE-77B824B2947C}"/>
              </a:ext>
            </a:extLst>
          </p:cNvPr>
          <p:cNvSpPr/>
          <p:nvPr/>
        </p:nvSpPr>
        <p:spPr>
          <a:xfrm>
            <a:off x="4608251" y="830003"/>
            <a:ext cx="342652" cy="11398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89510-2A95-C5B1-5E29-BC0640690354}"/>
              </a:ext>
            </a:extLst>
          </p:cNvPr>
          <p:cNvSpPr txBox="1"/>
          <p:nvPr/>
        </p:nvSpPr>
        <p:spPr>
          <a:xfrm>
            <a:off x="4971825" y="690908"/>
            <a:ext cx="64546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CHx_LD_TYPE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[1:0]</a:t>
            </a:r>
          </a:p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 : 2’b00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(single data1), 2’b01(single data2), 2’b10 (time-div. data1), 2’b11 (time-div, data2)</a:t>
            </a:r>
          </a:p>
          <a:p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CHx_EN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사용되는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CH. Enable )</a:t>
            </a:r>
          </a:p>
          <a:p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3. LD SIZE : LD data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의 총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# (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예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, GB-GB type : #24 )</a:t>
            </a:r>
          </a:p>
          <a:p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3. MAX_CURR1~5_VREF, </a:t>
            </a:r>
            <a:r>
              <a:rPr lang="en-US" altLang="ko-KR" sz="1000" dirty="0"/>
              <a:t>SHORT1~5_LEVEL, FB1~5_LEVEL, MAX_CURR1~5_LEVEL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3721D-8DFD-6678-9EC1-0191E5FA65CE}"/>
              </a:ext>
            </a:extLst>
          </p:cNvPr>
          <p:cNvSpPr txBox="1"/>
          <p:nvPr/>
        </p:nvSpPr>
        <p:spPr>
          <a:xfrm>
            <a:off x="4250915" y="2356531"/>
            <a:ext cx="69609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SV_NO[5:0] : (</a:t>
            </a:r>
            <a:r>
              <a:rPr lang="en-US" altLang="ko-KR" sz="1000" b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 : #4 sub-frames, 8 : #8 sub-frames, 16: #16 sub-frames, 32: #32 sub-frames)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582210EC-7880-1ED5-5A84-379332EEFD93}"/>
              </a:ext>
            </a:extLst>
          </p:cNvPr>
          <p:cNvSpPr/>
          <p:nvPr/>
        </p:nvSpPr>
        <p:spPr>
          <a:xfrm>
            <a:off x="3833667" y="2421405"/>
            <a:ext cx="342652" cy="46110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4CD79F-6A56-BAC3-5BE4-083D30A668AD}"/>
              </a:ext>
            </a:extLst>
          </p:cNvPr>
          <p:cNvSpPr txBox="1"/>
          <p:nvPr/>
        </p:nvSpPr>
        <p:spPr>
          <a:xfrm>
            <a:off x="4250915" y="2669739"/>
            <a:ext cx="4666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DELAY_CHx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[4:0] : max. ( SV_NO – 1 ).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예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) 16 sub-sync delay : 15 setting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왼쪽 중괄호 15">
            <a:extLst>
              <a:ext uri="{FF2B5EF4-FFF2-40B4-BE49-F238E27FC236}">
                <a16:creationId xmlns:a16="http://schemas.microsoft.com/office/drawing/2014/main" id="{24FAC9AC-BE47-C5BD-CF2C-7FC226853DF3}"/>
              </a:ext>
            </a:extLst>
          </p:cNvPr>
          <p:cNvSpPr/>
          <p:nvPr/>
        </p:nvSpPr>
        <p:spPr>
          <a:xfrm>
            <a:off x="2722126" y="3487009"/>
            <a:ext cx="342652" cy="95076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E94BC3-C7E5-3141-4F77-94E42E5CEF56}"/>
              </a:ext>
            </a:extLst>
          </p:cNvPr>
          <p:cNvSpPr txBox="1"/>
          <p:nvPr/>
        </p:nvSpPr>
        <p:spPr>
          <a:xfrm>
            <a:off x="3023533" y="3348511"/>
            <a:ext cx="614493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FPWM_DIV1[7:0] : </a:t>
            </a:r>
            <a:r>
              <a:rPr lang="en-US" altLang="ko-KR" sz="1000" b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PWM reference clock 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RED LED (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single data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0" i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 defTabSz="685800">
              <a:defRPr/>
            </a:pP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FPWM_DIV2/3[7:0] : </a:t>
            </a:r>
            <a:r>
              <a:rPr lang="en-US" altLang="ko-KR" sz="1000" b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PWM reference clock 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GREEN/BLUE LED ( time-division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time-division </a:t>
            </a:r>
            <a:r>
              <a:rPr lang="ko-KR" altLang="en-US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간격은 </a:t>
            </a:r>
            <a:r>
              <a:rPr lang="en-US" altLang="ko-KR" sz="1000" b="0" i="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max_current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의 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normalization </a:t>
            </a:r>
            <a:r>
              <a:rPr lang="ko-KR" altLang="en-US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값을 근거로 선택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 SVSYNC width area </a:t>
            </a:r>
            <a:r>
              <a:rPr lang="ko-KR" altLang="en-US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는 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dimming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계산 구간</a:t>
            </a:r>
            <a:r>
              <a:rPr lang="ko-KR" altLang="en-US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에 미 포함</a:t>
            </a: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i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시분할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data / single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는 동일한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FPWM_DIV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를 사용함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1000" b="0" i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5B8C6F65-6A05-F7E0-C452-726099A25498}"/>
              </a:ext>
            </a:extLst>
          </p:cNvPr>
          <p:cNvSpPr/>
          <p:nvPr/>
        </p:nvSpPr>
        <p:spPr>
          <a:xfrm>
            <a:off x="6288845" y="5060301"/>
            <a:ext cx="342652" cy="88102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13721D-8DFD-6678-9EC1-0191E5FA65CE}"/>
              </a:ext>
            </a:extLst>
          </p:cNvPr>
          <p:cNvSpPr txBox="1"/>
          <p:nvPr/>
        </p:nvSpPr>
        <p:spPr>
          <a:xfrm>
            <a:off x="6631497" y="5002566"/>
            <a:ext cx="52303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SVSYNC(pad)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에서 입력 받는 방법과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command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로 입력 받는 방법 중 선택</a:t>
            </a:r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SYNC_MODE</a:t>
            </a: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V_MASK</a:t>
            </a: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SV_MASK_EN</a:t>
            </a:r>
          </a:p>
          <a:p>
            <a:pPr marL="0" marR="0" lvl="0" indent="0" algn="just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SV_MASK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064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A6A7C-89A2-CA23-B0AB-78E6F649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Sequence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1BD9B89-B9BC-0285-8371-3225F0D68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E1D926-17F8-2F33-BBEE-1A1B851EB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698" y="2384951"/>
            <a:ext cx="7526439" cy="37408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B13861-6ED3-04AB-6DAE-33C542FE7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279" y="6184263"/>
            <a:ext cx="5268286" cy="1408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2E8B42-0F59-80D0-0155-475C796303F7}"/>
              </a:ext>
            </a:extLst>
          </p:cNvPr>
          <p:cNvSpPr txBox="1"/>
          <p:nvPr/>
        </p:nvSpPr>
        <p:spPr>
          <a:xfrm>
            <a:off x="978555" y="2187983"/>
            <a:ext cx="2473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(initial setting, setting</a:t>
            </a:r>
            <a:r>
              <a:rPr lang="ko-KR" altLang="en-US" sz="1200" dirty="0"/>
              <a:t> 순서 무관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8B5B2798-6C49-DC26-6F22-E950B0910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268488"/>
              </p:ext>
            </p:extLst>
          </p:nvPr>
        </p:nvGraphicFramePr>
        <p:xfrm>
          <a:off x="3023416" y="580427"/>
          <a:ext cx="5299974" cy="1552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1252324" imgH="3295689" progId="Visio.Drawing.15">
                  <p:embed/>
                </p:oleObj>
              </mc:Choice>
              <mc:Fallback>
                <p:oleObj name="Visio" r:id="rId4" imgW="11252324" imgH="329568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23416" y="580427"/>
                        <a:ext cx="5299974" cy="1552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4978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D5A16-2D56-90A2-617F-6DC8672C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FAULT </a:t>
            </a:r>
            <a:r>
              <a:rPr lang="ko-KR" altLang="en-US" dirty="0"/>
              <a:t>변경 사항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AB9E96E-2EF9-EFD3-415D-81B2962BC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8A436A-8A23-3170-EAF9-5DA00B990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945" y="590536"/>
            <a:ext cx="5464349" cy="1469561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B6DE1FEF-81AB-74FF-5C05-8D2C46003D90}"/>
              </a:ext>
            </a:extLst>
          </p:cNvPr>
          <p:cNvSpPr/>
          <p:nvPr/>
        </p:nvSpPr>
        <p:spPr>
          <a:xfrm>
            <a:off x="4968803" y="2145225"/>
            <a:ext cx="484632" cy="9116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EB3833-4B35-3170-5FB1-06658DEEE2A2}"/>
              </a:ext>
            </a:extLst>
          </p:cNvPr>
          <p:cNvSpPr txBox="1"/>
          <p:nvPr/>
        </p:nvSpPr>
        <p:spPr>
          <a:xfrm>
            <a:off x="5557707" y="2369589"/>
            <a:ext cx="334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Register</a:t>
            </a:r>
            <a:r>
              <a:rPr lang="ko-KR" altLang="en-US" dirty="0"/>
              <a:t> 설정으로 다양성 확보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66A741-CA62-BB47-DBE2-508D9B0B3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287" y="3102857"/>
            <a:ext cx="7542839" cy="322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14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EE029-21F7-6D9F-C0D5-F4C1A8F1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Trimming</a:t>
            </a:r>
            <a:r>
              <a:rPr lang="ko-KR" altLang="en-US" dirty="0"/>
              <a:t> </a:t>
            </a:r>
            <a:r>
              <a:rPr lang="en-US" altLang="ko-KR" dirty="0"/>
              <a:t>Sequence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23030E-371C-2291-188E-B06AA473F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0372C75-2C14-DD7E-FE00-7DA25CF21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799903"/>
              </p:ext>
            </p:extLst>
          </p:nvPr>
        </p:nvGraphicFramePr>
        <p:xfrm>
          <a:off x="422944" y="653373"/>
          <a:ext cx="11376173" cy="3877409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1363778634"/>
                    </a:ext>
                  </a:extLst>
                </a:gridCol>
                <a:gridCol w="523903">
                  <a:extLst>
                    <a:ext uri="{9D8B030D-6E8A-4147-A177-3AD203B41FA5}">
                      <a16:colId xmlns:a16="http://schemas.microsoft.com/office/drawing/2014/main" val="1218625860"/>
                    </a:ext>
                  </a:extLst>
                </a:gridCol>
                <a:gridCol w="743627">
                  <a:extLst>
                    <a:ext uri="{9D8B030D-6E8A-4147-A177-3AD203B41FA5}">
                      <a16:colId xmlns:a16="http://schemas.microsoft.com/office/drawing/2014/main" val="2109899829"/>
                    </a:ext>
                  </a:extLst>
                </a:gridCol>
                <a:gridCol w="844119">
                  <a:extLst>
                    <a:ext uri="{9D8B030D-6E8A-4147-A177-3AD203B41FA5}">
                      <a16:colId xmlns:a16="http://schemas.microsoft.com/office/drawing/2014/main" val="217253611"/>
                    </a:ext>
                  </a:extLst>
                </a:gridCol>
                <a:gridCol w="1021076">
                  <a:extLst>
                    <a:ext uri="{9D8B030D-6E8A-4147-A177-3AD203B41FA5}">
                      <a16:colId xmlns:a16="http://schemas.microsoft.com/office/drawing/2014/main" val="3533087649"/>
                    </a:ext>
                  </a:extLst>
                </a:gridCol>
                <a:gridCol w="956924">
                  <a:extLst>
                    <a:ext uri="{9D8B030D-6E8A-4147-A177-3AD203B41FA5}">
                      <a16:colId xmlns:a16="http://schemas.microsoft.com/office/drawing/2014/main" val="3080850248"/>
                    </a:ext>
                  </a:extLst>
                </a:gridCol>
                <a:gridCol w="956924">
                  <a:extLst>
                    <a:ext uri="{9D8B030D-6E8A-4147-A177-3AD203B41FA5}">
                      <a16:colId xmlns:a16="http://schemas.microsoft.com/office/drawing/2014/main" val="2379864306"/>
                    </a:ext>
                  </a:extLst>
                </a:gridCol>
                <a:gridCol w="785945">
                  <a:extLst>
                    <a:ext uri="{9D8B030D-6E8A-4147-A177-3AD203B41FA5}">
                      <a16:colId xmlns:a16="http://schemas.microsoft.com/office/drawing/2014/main" val="3438244382"/>
                    </a:ext>
                  </a:extLst>
                </a:gridCol>
                <a:gridCol w="1592755">
                  <a:extLst>
                    <a:ext uri="{9D8B030D-6E8A-4147-A177-3AD203B41FA5}">
                      <a16:colId xmlns:a16="http://schemas.microsoft.com/office/drawing/2014/main" val="116648255"/>
                    </a:ext>
                  </a:extLst>
                </a:gridCol>
                <a:gridCol w="898365">
                  <a:extLst>
                    <a:ext uri="{9D8B030D-6E8A-4147-A177-3AD203B41FA5}">
                      <a16:colId xmlns:a16="http://schemas.microsoft.com/office/drawing/2014/main" val="1877908920"/>
                    </a:ext>
                  </a:extLst>
                </a:gridCol>
                <a:gridCol w="1213530">
                  <a:extLst>
                    <a:ext uri="{9D8B030D-6E8A-4147-A177-3AD203B41FA5}">
                      <a16:colId xmlns:a16="http://schemas.microsoft.com/office/drawing/2014/main" val="1924697399"/>
                    </a:ext>
                  </a:extLst>
                </a:gridCol>
                <a:gridCol w="1213530">
                  <a:extLst>
                    <a:ext uri="{9D8B030D-6E8A-4147-A177-3AD203B41FA5}">
                      <a16:colId xmlns:a16="http://schemas.microsoft.com/office/drawing/2014/main" val="1406812867"/>
                    </a:ext>
                  </a:extLst>
                </a:gridCol>
              </a:tblGrid>
              <a:tr h="10257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Trimming</a:t>
                      </a:r>
                    </a:p>
                  </a:txBody>
                  <a:tcPr marL="2931" marR="2931" marT="29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 NO</a:t>
                      </a:r>
                    </a:p>
                  </a:txBody>
                  <a:tcPr marL="2931" marR="2931" marT="29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 NAME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 PIN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TARGET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VDD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 CONDITION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 TYPE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SET REG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TRIM REG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NOTE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208576"/>
                  </a:ext>
                </a:extLst>
              </a:tr>
              <a:tr h="169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31" marR="2931" marT="29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Current REF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1.4V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High - Z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Voltage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TEST_EN = 1'd : 1</a:t>
                      </a:r>
                      <a:b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TEST_ANA_EN[2:0] = 3'd : 0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IREF_CTL[4:0]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Current reference Voltage trimming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659176"/>
                  </a:ext>
                </a:extLst>
              </a:tr>
              <a:tr h="169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31" marR="2931" marT="29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LDO(Digital)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1.5V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High - Z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Voltage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TEST_EN = 1'd : 1</a:t>
                      </a:r>
                      <a:b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TEST_ANA_EN[2:0] = 3'd : 2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LDO_CTL[3:0]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Digital LDO Voltage trimming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**signed binary**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767767"/>
                  </a:ext>
                </a:extLst>
              </a:tr>
              <a:tr h="169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31" marR="2931" marT="29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LDO(DAC)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1.5V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High - Z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Voltage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TEST_EN = 1'd : 1</a:t>
                      </a:r>
                      <a:b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TEST_ANA_EN[2:0] = 3'd : 1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LDO_DAC_CTL[4:0]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DAC LDO Voltage trimming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942319"/>
                  </a:ext>
                </a:extLst>
              </a:tr>
              <a:tr h="169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31" marR="2931" marT="29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LDO(FLL)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1.5V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High - Z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Voltage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TEST_EN = 1'd : 1</a:t>
                      </a:r>
                      <a:b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TEST_ANA_EN[2:0] = 3'd : 5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LDO_OSC_CTL[3:0]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FLL LDO Voltage trimming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011255"/>
                  </a:ext>
                </a:extLst>
              </a:tr>
              <a:tr h="424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31" marR="2931" marT="29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OSC Frequency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DOUT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40/64 = 0.625MHz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Frequency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TEST_EN = 1'd : 1</a:t>
                      </a:r>
                      <a:b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MCLK64_O = 1'd : 1</a:t>
                      </a:r>
                      <a:b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OSC_MAN_EN = 1'd : 1</a:t>
                      </a:r>
                      <a:b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OSC_FLL_MAN [15:0] = </a:t>
                      </a:r>
                      <a:b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sv-S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16'b : 1000000000000000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OSC_RCTL[3:0]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Frequency trimming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* 1/64 Divided out *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76932"/>
                  </a:ext>
                </a:extLst>
              </a:tr>
              <a:tr h="1125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31" marR="2931" marT="29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CH_GAIN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IOUT CH(N)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P2 - P1 = 4.688mA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NL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P1 : 300 , P2 : 1500</a:t>
                      </a:r>
                      <a:br>
                        <a:rPr lang="nl-NL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nl-NL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VLED = 1V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Current (Sink)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CH(N)_EN : 1'd : 1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SW_SEL : 1~5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PWMOUT_FULL : 1'd : 1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MAX_CURR_LEVEL_CH(N)[3:0] = 4'd : 3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---P1---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MAX_CURR_VREF_CH(N)[11:0] = 12'd : (P1)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---P2---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MAX_CURR_VREF_CH(N)[11:0] = 12'd : (P2)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GAIN_CH(N)[6:0]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Gain trimming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* MAX 16mA Setting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563128"/>
                  </a:ext>
                </a:extLst>
              </a:tr>
              <a:tr h="11312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31" marR="2931" marT="29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CH_OFFSET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IOUT CH(N)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(P3+P4)/2 = 1.172mA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NL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P3 : 200 , P4 : 400</a:t>
                      </a:r>
                      <a:br>
                        <a:rPr lang="nl-NL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nl-NL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VLED = 1V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Current (Sink)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CH(N)_EN : 1'd : 1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SW_SEL : 1~5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PWMOUT_FULL : 1'd : 1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MAX_CURR_LEVEL_CH(N)[3:0] = 4'd : 3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---P3---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MAX_CURR_VREF_CH(N)[11:0] = 12'd : (P3)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---P4---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MAX_CURR_VREF_CH(N)[11:0] = 12'd : (P4)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OFS_CH(N)[8:0]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Offset trimming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* MAX 16mA Setting</a:t>
                      </a:r>
                    </a:p>
                  </a:txBody>
                  <a:tcPr marL="2931" marR="2931" marT="2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852957"/>
                  </a:ext>
                </a:extLst>
              </a:tr>
              <a:tr h="102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31" marR="2931" marT="293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eFuse Write</a:t>
                      </a: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5.5</a:t>
                      </a: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eFuse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가이드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31" marR="2931" marT="29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451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906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B293AE-580E-67D0-2EB5-4DB14D672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2A0DD2D-C547-87F5-7DF1-91F52698A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967736"/>
              </p:ext>
            </p:extLst>
          </p:nvPr>
        </p:nvGraphicFramePr>
        <p:xfrm>
          <a:off x="1754312" y="1160108"/>
          <a:ext cx="4589127" cy="4838933"/>
        </p:xfrm>
        <a:graphic>
          <a:graphicData uri="http://schemas.openxmlformats.org/drawingml/2006/table">
            <a:tbl>
              <a:tblPr/>
              <a:tblGrid>
                <a:gridCol w="901251">
                  <a:extLst>
                    <a:ext uri="{9D8B030D-6E8A-4147-A177-3AD203B41FA5}">
                      <a16:colId xmlns:a16="http://schemas.microsoft.com/office/drawing/2014/main" val="3588304089"/>
                    </a:ext>
                  </a:extLst>
                </a:gridCol>
                <a:gridCol w="797658">
                  <a:extLst>
                    <a:ext uri="{9D8B030D-6E8A-4147-A177-3AD203B41FA5}">
                      <a16:colId xmlns:a16="http://schemas.microsoft.com/office/drawing/2014/main" val="3372131290"/>
                    </a:ext>
                  </a:extLst>
                </a:gridCol>
                <a:gridCol w="538679">
                  <a:extLst>
                    <a:ext uri="{9D8B030D-6E8A-4147-A177-3AD203B41FA5}">
                      <a16:colId xmlns:a16="http://schemas.microsoft.com/office/drawing/2014/main" val="1401772636"/>
                    </a:ext>
                  </a:extLst>
                </a:gridCol>
                <a:gridCol w="538679">
                  <a:extLst>
                    <a:ext uri="{9D8B030D-6E8A-4147-A177-3AD203B41FA5}">
                      <a16:colId xmlns:a16="http://schemas.microsoft.com/office/drawing/2014/main" val="1642858259"/>
                    </a:ext>
                  </a:extLst>
                </a:gridCol>
                <a:gridCol w="1812860">
                  <a:extLst>
                    <a:ext uri="{9D8B030D-6E8A-4147-A177-3AD203B41FA5}">
                      <a16:colId xmlns:a16="http://schemas.microsoft.com/office/drawing/2014/main" val="2839889619"/>
                    </a:ext>
                  </a:extLst>
                </a:gridCol>
              </a:tblGrid>
              <a:tr h="204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OTP Bits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Signla</a:t>
                      </a: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Name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Bitwidth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default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08243"/>
                  </a:ext>
                </a:extLst>
              </a:tr>
              <a:tr h="136308">
                <a:tc rowSpan="18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OTP1_DATA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[127:0]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7'h40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602330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4361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GAIN_CH3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CH3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113367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GAIN_CH4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CH4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229578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GAIN_CH5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CH5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305733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GAIN_CH6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CH6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760960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077009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GAIN_CH8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CH8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141901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12186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GAIN_CH10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CH10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924161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GAIN_CH11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CH11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459565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GAIN_CH12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CH12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94797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LDO_OSC_CTL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4'h8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LDO OSC control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955772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LDO_CTL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4'h0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LDO control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37643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9'h0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743832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077418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OFS_CH3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CH3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729038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OFS_CH4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CH4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979484"/>
                  </a:ext>
                </a:extLst>
              </a:tr>
              <a:tr h="136308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OTP2_DATA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[127:0]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OFS_CH5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CH5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043339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OFS_CH6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CH6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323377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CH7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1229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OFS_CH8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CH8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856337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565270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OFS_CH10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CH10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962683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OFS_CH11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CH11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377370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OFS_CH12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 trimming bit of CH12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043921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LDO_DAC_CTL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5'h10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LDO DAC control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899680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IREF_CTL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5'h10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reference current control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527242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BGR_CTL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5'h10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BGR contgrol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800744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CHIP_INFO0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12'h0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chip information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835045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CHIP_INFO1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12'h0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chip information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071959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OTP_PG_DONE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1'b0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236023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3'h0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921090"/>
                  </a:ext>
                </a:extLst>
              </a:tr>
              <a:tr h="13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CHECKSUM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8'h0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checksum</a:t>
                      </a:r>
                    </a:p>
                  </a:txBody>
                  <a:tcPr marL="3605" marR="3605" marT="3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7254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4CE661-9BC9-27EB-F20B-59B0C1F7E9AC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eFuse</a:t>
            </a:r>
            <a:r>
              <a:rPr lang="ko-KR" altLang="en-US" dirty="0"/>
              <a:t> </a:t>
            </a:r>
            <a:r>
              <a:rPr lang="en-US" altLang="ko-KR" dirty="0"/>
              <a:t>Trimming Signal (128 x 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0439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92847-A342-E977-423D-8B931868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Parity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Protection Key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1389C6C-40F0-8475-A6C0-1517AC75E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02748-B440-5F85-0795-316F3F93DE45}"/>
              </a:ext>
            </a:extLst>
          </p:cNvPr>
          <p:cNvSpPr txBox="1"/>
          <p:nvPr/>
        </p:nvSpPr>
        <p:spPr>
          <a:xfrm>
            <a:off x="267796" y="1082938"/>
            <a:ext cx="6047999" cy="153888"/>
          </a:xfrm>
          <a:prstGeom prst="rect">
            <a:avLst/>
          </a:prstGeom>
          <a:noFill/>
        </p:spPr>
        <p:txBody>
          <a:bodyPr wrap="square" lIns="0" tIns="0" rIns="36000" bIns="0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The XD12R_A supports parity function for interface communication with XC24R.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A18A04-0538-A467-086C-5CFD3A620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96" y="2775023"/>
            <a:ext cx="5772150" cy="1905106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5641EE0-EB55-B883-A6AC-04F3285D1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874297"/>
              </p:ext>
            </p:extLst>
          </p:nvPr>
        </p:nvGraphicFramePr>
        <p:xfrm>
          <a:off x="318596" y="1385708"/>
          <a:ext cx="5170486" cy="998189"/>
        </p:xfrm>
        <a:graphic>
          <a:graphicData uri="http://schemas.openxmlformats.org/drawingml/2006/table">
            <a:tbl>
              <a:tblPr/>
              <a:tblGrid>
                <a:gridCol w="837472">
                  <a:extLst>
                    <a:ext uri="{9D8B030D-6E8A-4147-A177-3AD203B41FA5}">
                      <a16:colId xmlns:a16="http://schemas.microsoft.com/office/drawing/2014/main" val="1029587374"/>
                    </a:ext>
                  </a:extLst>
                </a:gridCol>
                <a:gridCol w="4333014">
                  <a:extLst>
                    <a:ext uri="{9D8B030D-6E8A-4147-A177-3AD203B41FA5}">
                      <a16:colId xmlns:a16="http://schemas.microsoft.com/office/drawing/2014/main" val="3325282042"/>
                    </a:ext>
                  </a:extLst>
                </a:gridCol>
              </a:tblGrid>
              <a:tr h="2512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marL="4614" marR="4614" marT="46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EVEN PARITY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If the number of 1s in the data bits is odd, the parity bit is set to 1.</a:t>
                      </a:r>
                    </a:p>
                  </a:txBody>
                  <a:tcPr marL="4614" marR="4614" marT="46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266691"/>
                  </a:ext>
                </a:extLst>
              </a:tr>
              <a:tr h="2512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</a:p>
                  </a:txBody>
                  <a:tcPr marL="4614" marR="4614" marT="46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Supporting all commands except LD transfer command.</a:t>
                      </a:r>
                    </a:p>
                  </a:txBody>
                  <a:tcPr marL="4614" marR="4614" marT="46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878742"/>
                  </a:ext>
                </a:extLst>
              </a:tr>
              <a:tr h="2646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RANGE</a:t>
                      </a:r>
                    </a:p>
                  </a:txBody>
                  <a:tcPr marL="4614" marR="4614" marT="46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All area of protocol.</a:t>
                      </a:r>
                    </a:p>
                  </a:txBody>
                  <a:tcPr marL="4614" marR="4614" marT="46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416695"/>
                  </a:ext>
                </a:extLst>
              </a:tr>
              <a:tr h="23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FAIL</a:t>
                      </a:r>
                    </a:p>
                  </a:txBody>
                  <a:tcPr marL="4614" marR="4614" marT="46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If the parity does not match, the command is not executed (daisy transmission is stopped).</a:t>
                      </a:r>
                    </a:p>
                  </a:txBody>
                  <a:tcPr marL="4614" marR="4614" marT="46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3329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B859446-313B-818C-DF88-461C9A8609F7}"/>
              </a:ext>
            </a:extLst>
          </p:cNvPr>
          <p:cNvSpPr txBox="1"/>
          <p:nvPr/>
        </p:nvSpPr>
        <p:spPr>
          <a:xfrm>
            <a:off x="6194001" y="1033683"/>
            <a:ext cx="61449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1. 0xAAA : MAX_CURR_VREF1/2/3/4/5 </a:t>
            </a:r>
            <a:r>
              <a:rPr lang="ko-KR" altLang="en-US" sz="1000" dirty="0"/>
              <a:t>만 </a:t>
            </a:r>
            <a:r>
              <a:rPr lang="en-US" altLang="ko-KR" sz="1000" dirty="0"/>
              <a:t>writable</a:t>
            </a:r>
          </a:p>
          <a:p>
            <a:pPr marL="342900" indent="-342900">
              <a:buAutoNum type="arabicPeriod"/>
            </a:pPr>
            <a:endParaRPr lang="en-US" altLang="ko-KR" sz="1000" dirty="0"/>
          </a:p>
          <a:p>
            <a:r>
              <a:rPr lang="en-US" altLang="ko-KR" sz="1000" dirty="0"/>
              <a:t>2. 0xCCC : LD_CONTROL, FLLCNT1/2, PWMCLK_DIV1/2/3, MAX_CURR_VREF1/2/3/4/5 </a:t>
            </a:r>
            <a:r>
              <a:rPr lang="ko-KR" altLang="en-US" sz="1000" dirty="0"/>
              <a:t>만 </a:t>
            </a:r>
            <a:r>
              <a:rPr lang="en-US" altLang="ko-KR" sz="1000" dirty="0"/>
              <a:t>writable</a:t>
            </a:r>
          </a:p>
          <a:p>
            <a:endParaRPr lang="en-US" altLang="ko-KR" sz="1000" dirty="0"/>
          </a:p>
          <a:p>
            <a:r>
              <a:rPr lang="en-US" altLang="ko-KR" sz="1000" dirty="0"/>
              <a:t>3. 0x555 : all reg writable</a:t>
            </a:r>
          </a:p>
          <a:p>
            <a:endParaRPr lang="en-US" altLang="ko-KR" sz="1000" dirty="0"/>
          </a:p>
          <a:p>
            <a:r>
              <a:rPr lang="en-US" altLang="ko-KR" sz="1000" dirty="0"/>
              <a:t>4. others : un-writable</a:t>
            </a:r>
          </a:p>
          <a:p>
            <a:endParaRPr lang="en-US" altLang="ko-KR" sz="1000" dirty="0"/>
          </a:p>
          <a:p>
            <a:r>
              <a:rPr lang="en-US" altLang="ko-KR" sz="1000" dirty="0"/>
              <a:t>5. WR_PROTECT reg always writable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94011F-9C54-75B7-A8E5-86FBB0936EE1}"/>
              </a:ext>
            </a:extLst>
          </p:cNvPr>
          <p:cNvSpPr txBox="1"/>
          <p:nvPr/>
        </p:nvSpPr>
        <p:spPr>
          <a:xfrm>
            <a:off x="2122415" y="721453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 Parity &gt;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216BE9-2BA8-F952-DC7E-C5E7D25564A4}"/>
              </a:ext>
            </a:extLst>
          </p:cNvPr>
          <p:cNvSpPr txBox="1"/>
          <p:nvPr/>
        </p:nvSpPr>
        <p:spPr>
          <a:xfrm>
            <a:off x="7574673" y="667457"/>
            <a:ext cx="2189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 Protection Key 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5366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A12CD0-2B0B-C8C2-BA43-C767A3398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04657F3-086F-A588-7DC7-7D8BC11DAE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75" y="65088"/>
            <a:ext cx="10515600" cy="439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</a:t>
            </a:r>
            <a:r>
              <a:rPr lang="en-US" altLang="ko-KR" dirty="0"/>
              <a:t>REGISTER </a:t>
            </a:r>
            <a:r>
              <a:rPr lang="ko-KR" altLang="en-US" dirty="0"/>
              <a:t>설명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9615AC-6A08-12C2-B3EB-0CAA944F6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30" y="804333"/>
            <a:ext cx="6015616" cy="49005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703BF4-554D-2C2A-C85E-6F47A9A60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428" y="804333"/>
            <a:ext cx="5384292" cy="405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92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59225</TotalTime>
  <Words>2960</Words>
  <Application>Microsoft Office PowerPoint</Application>
  <PresentationFormat>와이드스크린</PresentationFormat>
  <Paragraphs>917</Paragraphs>
  <Slides>18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Aptos Narrow</vt:lpstr>
      <vt:lpstr>Arial</vt:lpstr>
      <vt:lpstr>Calibri</vt:lpstr>
      <vt:lpstr>Office 테마</vt:lpstr>
      <vt:lpstr>Microsoft Visio 드로잉</vt:lpstr>
      <vt:lpstr>XDR(GT1009A1R0) design 정리  </vt:lpstr>
      <vt:lpstr>지원 TYPE</vt:lpstr>
      <vt:lpstr>PIN_PAD</vt:lpstr>
      <vt:lpstr>PowerPoint 프레젠테이션</vt:lpstr>
      <vt:lpstr>GT1009A0R0 대비 Block 별 수정 사항</vt:lpstr>
      <vt:lpstr>Data Type 별 VREF / CURR LEVEL / FB LEVEL / SHORT LEVEL</vt:lpstr>
      <vt:lpstr>Flexible Data type 선택</vt:lpstr>
      <vt:lpstr>Serializer/De-serializer Protocol</vt:lpstr>
      <vt:lpstr>PWM Dimming Timing Diagram</vt:lpstr>
      <vt:lpstr>PWM LD data</vt:lpstr>
      <vt:lpstr>X8 mode</vt:lpstr>
      <vt:lpstr>주요 Setting 고려 사항</vt:lpstr>
      <vt:lpstr>Power Sequence</vt:lpstr>
      <vt:lpstr>FAULT 변경 사항</vt:lpstr>
      <vt:lpstr>Trimming Sequence</vt:lpstr>
      <vt:lpstr>PowerPoint 프레젠테이션</vt:lpstr>
      <vt:lpstr>Parity &amp; Protection Key</vt:lpstr>
      <vt:lpstr> REGISTER 설명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관식</dc:creator>
  <cp:lastModifiedBy>moonki cho</cp:lastModifiedBy>
  <cp:revision>80</cp:revision>
  <cp:lastPrinted>2026-04-20T05:45:50Z</cp:lastPrinted>
  <dcterms:created xsi:type="dcterms:W3CDTF">2024-06-18T04:48:30Z</dcterms:created>
  <dcterms:modified xsi:type="dcterms:W3CDTF">2026-05-07T04:36:41Z</dcterms:modified>
</cp:coreProperties>
</file>